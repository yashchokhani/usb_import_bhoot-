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heme/themeOverride1.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99" r:id="rId2"/>
    <p:sldMasterId id="2147483707" r:id="rId3"/>
  </p:sldMasterIdLst>
  <p:notesMasterIdLst>
    <p:notesMasterId r:id="rId84"/>
  </p:notesMasterIdLst>
  <p:handoutMasterIdLst>
    <p:handoutMasterId r:id="rId85"/>
  </p:handoutMasterIdLst>
  <p:sldIdLst>
    <p:sldId id="341" r:id="rId4"/>
    <p:sldId id="352" r:id="rId5"/>
    <p:sldId id="351" r:id="rId6"/>
    <p:sldId id="291" r:id="rId7"/>
    <p:sldId id="355" r:id="rId8"/>
    <p:sldId id="308" r:id="rId9"/>
    <p:sldId id="309" r:id="rId10"/>
    <p:sldId id="319" r:id="rId11"/>
    <p:sldId id="310" r:id="rId12"/>
    <p:sldId id="356" r:id="rId13"/>
    <p:sldId id="311" r:id="rId14"/>
    <p:sldId id="342" r:id="rId15"/>
    <p:sldId id="343" r:id="rId16"/>
    <p:sldId id="344" r:id="rId17"/>
    <p:sldId id="357" r:id="rId18"/>
    <p:sldId id="320" r:id="rId19"/>
    <p:sldId id="321" r:id="rId20"/>
    <p:sldId id="322" r:id="rId21"/>
    <p:sldId id="312" r:id="rId22"/>
    <p:sldId id="323" r:id="rId23"/>
    <p:sldId id="324" r:id="rId24"/>
    <p:sldId id="313" r:id="rId25"/>
    <p:sldId id="314" r:id="rId26"/>
    <p:sldId id="315" r:id="rId27"/>
    <p:sldId id="316" r:id="rId28"/>
    <p:sldId id="317" r:id="rId29"/>
    <p:sldId id="318" r:id="rId30"/>
    <p:sldId id="358"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59" r:id="rId44"/>
    <p:sldId id="325" r:id="rId45"/>
    <p:sldId id="363"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45" r:id="rId62"/>
    <p:sldId id="346" r:id="rId63"/>
    <p:sldId id="347" r:id="rId64"/>
    <p:sldId id="348" r:id="rId65"/>
    <p:sldId id="349" r:id="rId66"/>
    <p:sldId id="350" r:id="rId67"/>
    <p:sldId id="307" r:id="rId68"/>
    <p:sldId id="271" r:id="rId69"/>
    <p:sldId id="257" r:id="rId70"/>
    <p:sldId id="268" r:id="rId71"/>
    <p:sldId id="258" r:id="rId72"/>
    <p:sldId id="259" r:id="rId73"/>
    <p:sldId id="260" r:id="rId74"/>
    <p:sldId id="261" r:id="rId75"/>
    <p:sldId id="263" r:id="rId76"/>
    <p:sldId id="264" r:id="rId77"/>
    <p:sldId id="262" r:id="rId78"/>
    <p:sldId id="265" r:id="rId79"/>
    <p:sldId id="266" r:id="rId80"/>
    <p:sldId id="267" r:id="rId81"/>
    <p:sldId id="360" r:id="rId82"/>
    <p:sldId id="269"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883" autoAdjust="0"/>
  </p:normalViewPr>
  <p:slideViewPr>
    <p:cSldViewPr snapToGrid="0">
      <p:cViewPr varScale="1">
        <p:scale>
          <a:sx n="165" d="100"/>
          <a:sy n="165" d="100"/>
        </p:scale>
        <p:origin x="14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C837FD-1300-49D2-9641-3BB749A16C95}" type="datetimeFigureOut">
              <a:rPr lang="en-US" smtClean="0"/>
              <a:t>10/22/2025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F615DF-AFCF-4B79-AE0B-4E160B47C8AB}" type="slidenum">
              <a:rPr lang="en-US" smtClean="0"/>
              <a:t>‹#›</a:t>
            </a:fld>
            <a:endParaRPr lang="en-US"/>
          </a:p>
        </p:txBody>
      </p:sp>
    </p:spTree>
    <p:extLst>
      <p:ext uri="{BB962C8B-B14F-4D97-AF65-F5344CB8AC3E}">
        <p14:creationId xmlns:p14="http://schemas.microsoft.com/office/powerpoint/2010/main" val="392481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161C7-4FB7-4FF2-91B1-6AB833939A2C}"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6796-0515-42DB-9676-72112D58AE68}" type="slidenum">
              <a:rPr lang="en-US" smtClean="0"/>
              <a:t>‹#›</a:t>
            </a:fld>
            <a:endParaRPr lang="en-US"/>
          </a:p>
        </p:txBody>
      </p:sp>
    </p:spTree>
    <p:extLst>
      <p:ext uri="{BB962C8B-B14F-4D97-AF65-F5344CB8AC3E}">
        <p14:creationId xmlns:p14="http://schemas.microsoft.com/office/powerpoint/2010/main" val="143925341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2</a:t>
            </a:fld>
            <a:endParaRPr lang="en-US"/>
          </a:p>
        </p:txBody>
      </p:sp>
    </p:spTree>
    <p:extLst>
      <p:ext uri="{BB962C8B-B14F-4D97-AF65-F5344CB8AC3E}">
        <p14:creationId xmlns:p14="http://schemas.microsoft.com/office/powerpoint/2010/main" val="2808279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High-Performance Wireline &amp; Optical Links: Fundamentals to Advanced Design</a:t>
            </a:r>
          </a:p>
          <a:p>
            <a:r>
              <a:rPr lang="en-US" b="1" dirty="0" smtClean="0"/>
              <a:t>Presentation Roadmap 🚀</a:t>
            </a:r>
          </a:p>
          <a:p>
            <a:r>
              <a:rPr lang="en-US" dirty="0" smtClean="0"/>
              <a:t>1️⃣ </a:t>
            </a:r>
            <a:r>
              <a:rPr lang="en-US" b="1" dirty="0" smtClean="0"/>
              <a:t>Why This Matters?</a:t>
            </a:r>
            <a:endParaRPr lang="en-US" dirty="0" smtClean="0"/>
          </a:p>
          <a:p>
            <a:r>
              <a:rPr lang="en-US" dirty="0" smtClean="0"/>
              <a:t>We live in a world where data moves at lightning speed—whether it's cloud computing, AI, or high-speed communication networks.</a:t>
            </a:r>
          </a:p>
          <a:p>
            <a:r>
              <a:rPr lang="en-US" dirty="0" smtClean="0"/>
              <a:t>Understanding high-performance wireline and optical links is </a:t>
            </a:r>
            <a:r>
              <a:rPr lang="en-US" b="1" dirty="0" smtClean="0"/>
              <a:t>crucial</a:t>
            </a:r>
            <a:r>
              <a:rPr lang="en-US" dirty="0" smtClean="0"/>
              <a:t> for modern communication systems.</a:t>
            </a:r>
          </a:p>
          <a:p>
            <a:r>
              <a:rPr lang="en-US" dirty="0" smtClean="0"/>
              <a:t>The goal? </a:t>
            </a:r>
            <a:r>
              <a:rPr lang="en-US" b="1" dirty="0" smtClean="0"/>
              <a:t>Reliable, high-speed, and power-efficient data transmission.</a:t>
            </a:r>
            <a:endParaRPr lang="en-US" dirty="0" smtClean="0"/>
          </a:p>
          <a:p>
            <a:r>
              <a:rPr lang="en-US" dirty="0" smtClean="0"/>
              <a:t>2️⃣ </a:t>
            </a:r>
            <a:r>
              <a:rPr lang="en-US" b="1" dirty="0" smtClean="0"/>
              <a:t>Wireline vs. Optical Links</a:t>
            </a:r>
            <a:endParaRPr lang="en-US" dirty="0" smtClean="0"/>
          </a:p>
          <a:p>
            <a:r>
              <a:rPr lang="en-US" dirty="0" smtClean="0"/>
              <a:t>Think of </a:t>
            </a:r>
            <a:r>
              <a:rPr lang="en-US" b="1" dirty="0" smtClean="0"/>
              <a:t>wireline links</a:t>
            </a:r>
            <a:r>
              <a:rPr lang="en-US" dirty="0" smtClean="0"/>
              <a:t> as super-fast highways made of copper, while </a:t>
            </a:r>
            <a:r>
              <a:rPr lang="en-US" b="1" dirty="0" smtClean="0"/>
              <a:t>optical links</a:t>
            </a:r>
            <a:r>
              <a:rPr lang="en-US" dirty="0" smtClean="0"/>
              <a:t> are like fiber-optic bullet trains.</a:t>
            </a:r>
          </a:p>
          <a:p>
            <a:r>
              <a:rPr lang="en-US" dirty="0" smtClean="0"/>
              <a:t>Each has its strengths—wireline is robust in short-reach applications, while optical links shine for long-distance, high-bandwidth communication.</a:t>
            </a:r>
          </a:p>
          <a:p>
            <a:r>
              <a:rPr lang="en-US" dirty="0" smtClean="0"/>
              <a:t>We’ll compare their </a:t>
            </a:r>
            <a:r>
              <a:rPr lang="en-US" b="1" dirty="0" smtClean="0"/>
              <a:t>losses, speed, and noise handling capabilities.</a:t>
            </a:r>
            <a:endParaRPr lang="en-US" dirty="0" smtClean="0"/>
          </a:p>
          <a:p>
            <a:r>
              <a:rPr lang="en-US" dirty="0" smtClean="0"/>
              <a:t>3️⃣ </a:t>
            </a:r>
            <a:r>
              <a:rPr lang="en-US" b="1" dirty="0" smtClean="0"/>
              <a:t>How Do Wireline Links Work?</a:t>
            </a:r>
            <a:endParaRPr lang="en-US" dirty="0" smtClean="0"/>
          </a:p>
          <a:p>
            <a:r>
              <a:rPr lang="en-US" dirty="0" smtClean="0"/>
              <a:t>Fundamentals of </a:t>
            </a:r>
            <a:r>
              <a:rPr lang="en-US" b="1" dirty="0" smtClean="0"/>
              <a:t>signal transmission, reflections, losses, and bandwidth limitations.</a:t>
            </a:r>
            <a:endParaRPr lang="en-US" dirty="0" smtClean="0"/>
          </a:p>
          <a:p>
            <a:r>
              <a:rPr lang="en-US" dirty="0" smtClean="0"/>
              <a:t>What happens when a signal travels down a PCB trace or a cable?</a:t>
            </a:r>
          </a:p>
          <a:p>
            <a:r>
              <a:rPr lang="en-US" dirty="0" smtClean="0"/>
              <a:t>Why </a:t>
            </a:r>
            <a:r>
              <a:rPr lang="en-US" b="1" dirty="0" smtClean="0"/>
              <a:t>attenuation and distortion</a:t>
            </a:r>
            <a:r>
              <a:rPr lang="en-US" dirty="0" smtClean="0"/>
              <a:t> are key concerns in wireline systems.</a:t>
            </a:r>
          </a:p>
          <a:p>
            <a:r>
              <a:rPr lang="en-US" dirty="0" smtClean="0"/>
              <a:t>4️⃣ </a:t>
            </a:r>
            <a:r>
              <a:rPr lang="en-US" b="1" dirty="0" smtClean="0"/>
              <a:t>Equalizers: The Game-Changers!</a:t>
            </a:r>
            <a:endParaRPr lang="en-US" dirty="0" smtClean="0"/>
          </a:p>
          <a:p>
            <a:r>
              <a:rPr lang="en-US" dirty="0" smtClean="0"/>
              <a:t>Imagine trying to hear a distant sound—sometimes you need </a:t>
            </a:r>
            <a:r>
              <a:rPr lang="en-US" b="1" dirty="0" smtClean="0"/>
              <a:t>a hearing aid (amplifier), and other times you need to remove noise (equalization).</a:t>
            </a:r>
            <a:endParaRPr lang="en-US" dirty="0" smtClean="0"/>
          </a:p>
          <a:p>
            <a:r>
              <a:rPr lang="en-US" dirty="0" smtClean="0"/>
              <a:t>Equalizers </a:t>
            </a:r>
            <a:r>
              <a:rPr lang="en-US" b="1" dirty="0" smtClean="0"/>
              <a:t>compensate for frequency-dependent losses</a:t>
            </a:r>
            <a:r>
              <a:rPr lang="en-US" dirty="0" smtClean="0"/>
              <a:t> in both wireline and optical links.</a:t>
            </a:r>
          </a:p>
          <a:p>
            <a:r>
              <a:rPr lang="en-US" dirty="0" smtClean="0"/>
              <a:t>We’ll look at </a:t>
            </a:r>
            <a:r>
              <a:rPr lang="en-US" b="1" dirty="0" smtClean="0"/>
              <a:t>CTLEs, DFE, and FFE</a:t>
            </a:r>
            <a:r>
              <a:rPr lang="en-US" dirty="0" smtClean="0"/>
              <a:t> and their roles in signal recovery.</a:t>
            </a:r>
          </a:p>
          <a:p>
            <a:r>
              <a:rPr lang="en-US" dirty="0" smtClean="0"/>
              <a:t>5️⃣ </a:t>
            </a:r>
            <a:r>
              <a:rPr lang="en-US" b="1" dirty="0" smtClean="0"/>
              <a:t>Inside an Optical Transceiver</a:t>
            </a:r>
            <a:endParaRPr lang="en-US" dirty="0" smtClean="0"/>
          </a:p>
          <a:p>
            <a:r>
              <a:rPr lang="en-US" dirty="0" smtClean="0"/>
              <a:t>Breaking down an optical transceiver:</a:t>
            </a:r>
            <a:br>
              <a:rPr lang="en-US" dirty="0" smtClean="0"/>
            </a:br>
            <a:r>
              <a:rPr lang="en-US" dirty="0" smtClean="0"/>
              <a:t>🔹 </a:t>
            </a:r>
            <a:r>
              <a:rPr lang="en-US" b="1" dirty="0" smtClean="0"/>
              <a:t>Laser Driver &amp; Modulator</a:t>
            </a:r>
            <a:r>
              <a:rPr lang="en-US" dirty="0" smtClean="0"/>
              <a:t> – Converts electrical signals to optical.</a:t>
            </a:r>
            <a:br>
              <a:rPr lang="en-US" dirty="0" smtClean="0"/>
            </a:br>
            <a:r>
              <a:rPr lang="en-US" dirty="0" smtClean="0"/>
              <a:t>🔹 </a:t>
            </a:r>
            <a:r>
              <a:rPr lang="en-US" b="1" dirty="0" smtClean="0"/>
              <a:t>Optical Fiber</a:t>
            </a:r>
            <a:r>
              <a:rPr lang="en-US" dirty="0" smtClean="0"/>
              <a:t> – The transmission medium.</a:t>
            </a:r>
            <a:br>
              <a:rPr lang="en-US" dirty="0" smtClean="0"/>
            </a:br>
            <a:r>
              <a:rPr lang="en-US" dirty="0" smtClean="0"/>
              <a:t>🔹 </a:t>
            </a:r>
            <a:r>
              <a:rPr lang="en-US" b="1" dirty="0" smtClean="0"/>
              <a:t>Photodetector &amp; Receiver</a:t>
            </a:r>
            <a:r>
              <a:rPr lang="en-US" dirty="0" smtClean="0"/>
              <a:t> – Converts optical signals back to electrical.</a:t>
            </a:r>
          </a:p>
          <a:p>
            <a:r>
              <a:rPr lang="en-US" dirty="0" smtClean="0"/>
              <a:t>Where do </a:t>
            </a:r>
            <a:r>
              <a:rPr lang="en-US" b="1" dirty="0" smtClean="0"/>
              <a:t>losses and impairments</a:t>
            </a:r>
            <a:r>
              <a:rPr lang="en-US" dirty="0" smtClean="0"/>
              <a:t> occur?</a:t>
            </a:r>
          </a:p>
          <a:p>
            <a:r>
              <a:rPr lang="en-US" dirty="0" smtClean="0"/>
              <a:t>6️⃣ </a:t>
            </a:r>
            <a:r>
              <a:rPr lang="en-US" b="1" dirty="0" smtClean="0"/>
              <a:t>Why Optical Receiver Design is Critical?</a:t>
            </a:r>
            <a:endParaRPr lang="en-US" dirty="0" smtClean="0"/>
          </a:p>
          <a:p>
            <a:r>
              <a:rPr lang="en-US" dirty="0" smtClean="0"/>
              <a:t>The </a:t>
            </a:r>
            <a:r>
              <a:rPr lang="en-US" b="1" dirty="0" smtClean="0"/>
              <a:t>receiver front-end</a:t>
            </a:r>
            <a:r>
              <a:rPr lang="en-US" dirty="0" smtClean="0"/>
              <a:t> is the heart of an optical link—small distortions here can cause huge errors.</a:t>
            </a:r>
          </a:p>
          <a:p>
            <a:r>
              <a:rPr lang="en-US" dirty="0" smtClean="0"/>
              <a:t>We’ll discuss </a:t>
            </a:r>
            <a:r>
              <a:rPr lang="en-US" b="1" dirty="0" smtClean="0"/>
              <a:t>noise, sensitivity, bandwidth limitations, and dynamic range trade-offs.</a:t>
            </a:r>
            <a:endParaRPr lang="en-US" dirty="0" smtClean="0"/>
          </a:p>
          <a:p>
            <a:r>
              <a:rPr lang="en-US" dirty="0" smtClean="0"/>
              <a:t>What makes </a:t>
            </a:r>
            <a:r>
              <a:rPr lang="en-US" b="1" dirty="0" smtClean="0"/>
              <a:t>TIA (</a:t>
            </a:r>
            <a:r>
              <a:rPr lang="en-US" b="1" dirty="0" err="1" smtClean="0"/>
              <a:t>Transimpedance</a:t>
            </a:r>
            <a:r>
              <a:rPr lang="en-US" b="1" dirty="0" smtClean="0"/>
              <a:t> Amplifier) design so challenging?</a:t>
            </a:r>
            <a:endParaRPr lang="en-US" dirty="0" smtClean="0"/>
          </a:p>
          <a:p>
            <a:r>
              <a:rPr lang="en-US" dirty="0" smtClean="0"/>
              <a:t>7️⃣ </a:t>
            </a:r>
            <a:r>
              <a:rPr lang="en-US" b="1" dirty="0" smtClean="0"/>
              <a:t>Pushing the Limits: Inverter-Based Design for Bandwidth &amp; Gain</a:t>
            </a:r>
            <a:endParaRPr lang="en-US" dirty="0" smtClean="0"/>
          </a:p>
          <a:p>
            <a:r>
              <a:rPr lang="en-US" dirty="0" smtClean="0"/>
              <a:t>Inverter-based analog front-ends are an </a:t>
            </a:r>
            <a:r>
              <a:rPr lang="en-US" b="1" dirty="0" smtClean="0"/>
              <a:t>innovative way to optimize high-speed optical receivers.</a:t>
            </a:r>
            <a:endParaRPr lang="en-US" dirty="0" smtClean="0"/>
          </a:p>
          <a:p>
            <a:r>
              <a:rPr lang="en-US" dirty="0" smtClean="0"/>
              <a:t>We’ll explore how inverters can provide </a:t>
            </a:r>
            <a:r>
              <a:rPr lang="en-US" b="1" dirty="0" smtClean="0"/>
              <a:t>high gain, better bandwidth, and lower power consumption.</a:t>
            </a:r>
            <a:endParaRPr lang="en-US" dirty="0" smtClean="0"/>
          </a:p>
          <a:p>
            <a:r>
              <a:rPr lang="en-US" dirty="0" smtClean="0"/>
              <a:t>Practical design insights and </a:t>
            </a:r>
            <a:r>
              <a:rPr lang="en-US" b="1" dirty="0" smtClean="0"/>
              <a:t>how they compare to traditional differential pairs.</a:t>
            </a:r>
            <a:endParaRPr lang="en-US" dirty="0" smtClean="0"/>
          </a:p>
          <a:p>
            <a:r>
              <a:rPr lang="en-US" dirty="0" smtClean="0"/>
              <a:t>8️⃣  </a:t>
            </a:r>
            <a:r>
              <a:rPr lang="en-US" b="1" dirty="0" smtClean="0"/>
              <a:t>Wrapping Up &amp; Key Takeaways!</a:t>
            </a:r>
            <a:endParaRPr lang="en-US" dirty="0" smtClean="0"/>
          </a:p>
          <a:p>
            <a:r>
              <a:rPr lang="en-US" dirty="0" smtClean="0"/>
              <a:t>Summarizing </a:t>
            </a:r>
            <a:r>
              <a:rPr lang="en-US" b="1" dirty="0" smtClean="0"/>
              <a:t>key learnings</a:t>
            </a:r>
            <a:r>
              <a:rPr lang="en-US" dirty="0" smtClean="0"/>
              <a:t> and the </a:t>
            </a:r>
            <a:r>
              <a:rPr lang="en-US" b="1" dirty="0" smtClean="0"/>
              <a:t>future trends</a:t>
            </a:r>
            <a:r>
              <a:rPr lang="en-US" dirty="0" smtClean="0"/>
              <a:t> in high-performance link design.</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3</a:t>
            </a:fld>
            <a:endParaRPr lang="en-US"/>
          </a:p>
        </p:txBody>
      </p:sp>
    </p:spTree>
    <p:extLst>
      <p:ext uri="{BB962C8B-B14F-4D97-AF65-F5344CB8AC3E}">
        <p14:creationId xmlns:p14="http://schemas.microsoft.com/office/powerpoint/2010/main" val="4258953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big-bang of the internet powering AI/ML, video conferencing, IoT, blockchain and cloud storage applications have continuously increased the demand on data-centers with faster, lower-cost and energy-efficient solutions. Such solutions for optical links, in particular are in high demand for 100+ Gb/s links. This was also heavily emphasized from yesterday’s keynote talk by Dr. Eric Carl from Intel that moving the data out of the package and going optical as early as possible with high density is required to meet such demand. Our </a:t>
            </a:r>
            <a:r>
              <a:rPr lang="en-US" dirty="0" smtClean="0"/>
              <a:t>work </a:t>
            </a:r>
            <a:r>
              <a:rPr lang="en-US" dirty="0"/>
              <a:t>in particular focuses on the 400Gig and 800Gig ethernet applications</a:t>
            </a:r>
            <a:r>
              <a:rPr lang="en-US" dirty="0" smtClean="0"/>
              <a:t>.</a:t>
            </a:r>
          </a:p>
          <a:p>
            <a:endParaRPr lang="en-US" dirty="0" smtClean="0"/>
          </a:p>
          <a:p>
            <a:r>
              <a:rPr lang="en-US" dirty="0" smtClean="0"/>
              <a:t>🌐 </a:t>
            </a:r>
            <a:r>
              <a:rPr lang="en-US" b="1" dirty="0" smtClean="0"/>
              <a:t>Why do we need faster datacenter communication links?</a:t>
            </a:r>
            <a:endParaRPr lang="en-US" dirty="0" smtClean="0"/>
          </a:p>
          <a:p>
            <a:r>
              <a:rPr lang="en-US" dirty="0" smtClean="0"/>
              <a:t>Imagine you’re streaming a movie, making a video call, or using cloud storage. All of this happens because massive data centers process and transfer information at lightning speed. But as our internet usage explodes, today’s infrastructure is struggling to keep up.</a:t>
            </a:r>
          </a:p>
          <a:p>
            <a:r>
              <a:rPr lang="en-US" dirty="0" smtClean="0"/>
              <a:t>🔺 </a:t>
            </a:r>
            <a:r>
              <a:rPr lang="en-US" b="1" dirty="0" smtClean="0"/>
              <a:t>Speed matters!</a:t>
            </a:r>
            <a:r>
              <a:rPr lang="en-US" dirty="0" smtClean="0"/>
              <a:t/>
            </a:r>
            <a:br>
              <a:rPr lang="en-US" dirty="0" smtClean="0"/>
            </a:br>
            <a:r>
              <a:rPr lang="en-US" dirty="0" smtClean="0"/>
              <a:t>Modern applications like AI, cloud computing, and big data demand </a:t>
            </a:r>
            <a:r>
              <a:rPr lang="en-US" b="1" dirty="0" smtClean="0"/>
              <a:t>100+ Gb/s per wavelength</a:t>
            </a:r>
            <a:r>
              <a:rPr lang="en-US" dirty="0" smtClean="0"/>
              <a:t> to handle massive amounts of information efficiently. Without this, networks slow down, causing bottlenecks.</a:t>
            </a:r>
          </a:p>
          <a:p>
            <a:r>
              <a:rPr lang="en-US" dirty="0" smtClean="0"/>
              <a:t>🔻 </a:t>
            </a:r>
            <a:r>
              <a:rPr lang="en-US" b="1" dirty="0" smtClean="0"/>
              <a:t>But speed isn’t everything...</a:t>
            </a:r>
            <a:r>
              <a:rPr lang="en-US" dirty="0" smtClean="0"/>
              <a:t/>
            </a:r>
            <a:br>
              <a:rPr lang="en-US" dirty="0" smtClean="0"/>
            </a:br>
            <a:r>
              <a:rPr lang="en-US" dirty="0" smtClean="0"/>
              <a:t>If we only focus on increasing speed, it could lead to </a:t>
            </a:r>
            <a:r>
              <a:rPr lang="en-US" b="1" dirty="0" smtClean="0"/>
              <a:t>higher costs and power consumption</a:t>
            </a:r>
            <a:r>
              <a:rPr lang="en-US" dirty="0" smtClean="0"/>
              <a:t>, making these systems unsustainable. The challenge is to </a:t>
            </a:r>
            <a:r>
              <a:rPr lang="en-US" b="1" dirty="0" smtClean="0"/>
              <a:t>increase speed while reducing cost and energy use</a:t>
            </a:r>
            <a:r>
              <a:rPr lang="en-US" dirty="0" smtClean="0"/>
              <a:t>—a balancing act that engineers are solving with smarter optical communication technologies.</a:t>
            </a:r>
          </a:p>
          <a:p>
            <a:r>
              <a:rPr lang="en-US" dirty="0" smtClean="0"/>
              <a:t>⚡ </a:t>
            </a:r>
            <a:r>
              <a:rPr lang="en-US" b="1" dirty="0" smtClean="0"/>
              <a:t>What’s the future?</a:t>
            </a:r>
            <a:r>
              <a:rPr lang="en-US" dirty="0" smtClean="0"/>
              <a:t/>
            </a:r>
            <a:br>
              <a:rPr lang="en-US" dirty="0" smtClean="0"/>
            </a:br>
            <a:r>
              <a:rPr lang="en-US" dirty="0" smtClean="0"/>
              <a:t>The industry is moving toward </a:t>
            </a:r>
            <a:r>
              <a:rPr lang="en-US" b="1" dirty="0" smtClean="0"/>
              <a:t>400G and 800G Ethernet links</a:t>
            </a:r>
            <a:r>
              <a:rPr lang="en-US" dirty="0" smtClean="0"/>
              <a:t> (like </a:t>
            </a:r>
            <a:r>
              <a:rPr lang="en-US" b="1" dirty="0" smtClean="0"/>
              <a:t>400G-DR4, FR4, LR4, and 800G-DR8</a:t>
            </a:r>
            <a:r>
              <a:rPr lang="en-US" dirty="0" smtClean="0"/>
              <a:t>) to meet this demand. These technologies enable faster, more energy-efficient data centers, ensuring smooth and seamless digital experiences for all of us.</a:t>
            </a:r>
          </a:p>
          <a:p>
            <a:r>
              <a:rPr lang="en-US" dirty="0" smtClean="0"/>
              <a:t>💡 </a:t>
            </a:r>
            <a:r>
              <a:rPr lang="en-US" b="1" dirty="0" smtClean="0"/>
              <a:t>Why does this matter to you?</a:t>
            </a:r>
            <a:r>
              <a:rPr lang="en-US" dirty="0" smtClean="0"/>
              <a:t/>
            </a:r>
            <a:br>
              <a:rPr lang="en-US" dirty="0" smtClean="0"/>
            </a:br>
            <a:r>
              <a:rPr lang="en-US" dirty="0" smtClean="0"/>
              <a:t>Because everything from your favorite apps to future innovations in AI, cloud, and </a:t>
            </a:r>
            <a:r>
              <a:rPr lang="en-US" dirty="0" err="1" smtClean="0"/>
              <a:t>IoT</a:t>
            </a:r>
            <a:r>
              <a:rPr lang="en-US" dirty="0" smtClean="0"/>
              <a:t> depends on how well we solve these challenges today!</a:t>
            </a:r>
          </a:p>
          <a:p>
            <a:pPr marL="228600" indent="-228600">
              <a:buFont typeface="+mj-lt"/>
              <a:buAutoNum type="arabicPeriod"/>
            </a:pPr>
            <a:endParaRPr lang="en-US" dirty="0"/>
          </a:p>
        </p:txBody>
      </p:sp>
      <p:sp>
        <p:nvSpPr>
          <p:cNvPr id="4" name="Date Placeholder 3">
            <a:extLst>
              <a:ext uri="{FF2B5EF4-FFF2-40B4-BE49-F238E27FC236}">
                <a16:creationId xmlns:a16="http://schemas.microsoft.com/office/drawing/2014/main" id="{2E4050CE-BC0B-AA49-8BCA-309FB7E4BE5E}"/>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2F224A4E-E48B-7547-B0F4-157E56447978}"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3A9B935-4900-494E-8060-333E63F6D00A}"/>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Header Placeholder 5">
            <a:extLst>
              <a:ext uri="{FF2B5EF4-FFF2-40B4-BE49-F238E27FC236}">
                <a16:creationId xmlns:a16="http://schemas.microsoft.com/office/drawing/2014/main" id="{BEA59A57-A622-0944-A914-A2C289C1FCE0}"/>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5963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assembled prototype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1CB6C08C-3E57-3F4B-904C-3B245190B05F}"/>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EC64885-8EEB-D647-9AD5-B5C1E3E29679}"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258CEC3-79D9-2041-B5E1-897392A42332}"/>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6EF88E8D-4B24-0B4E-901A-E42A8B4AB29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3880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some concise </a:t>
            </a:r>
            <a:r>
              <a:rPr lang="en-US" b="1" dirty="0" smtClean="0"/>
              <a:t>speaker notes</a:t>
            </a:r>
            <a:r>
              <a:rPr lang="en-US" dirty="0" smtClean="0"/>
              <a:t> you can use while presenting the </a:t>
            </a:r>
            <a:r>
              <a:rPr lang="en-US" b="1" dirty="0" smtClean="0"/>
              <a:t>"Consumer High-Speed Serial Links"</a:t>
            </a:r>
            <a:r>
              <a:rPr lang="en-US" dirty="0" smtClean="0"/>
              <a:t> slide:</a:t>
            </a:r>
          </a:p>
          <a:p>
            <a:r>
              <a:rPr lang="en-US" b="1" dirty="0" smtClean="0"/>
              <a:t>Speaker Notes:</a:t>
            </a:r>
          </a:p>
          <a:p>
            <a:pPr>
              <a:buFont typeface="+mj-lt"/>
              <a:buAutoNum type="arabicPeriod"/>
            </a:pPr>
            <a:r>
              <a:rPr lang="en-US" b="1" dirty="0" smtClean="0"/>
              <a:t>Introduction to High-Speed Serial Links</a:t>
            </a:r>
            <a:endParaRPr lang="en-US" dirty="0" smtClean="0"/>
          </a:p>
          <a:p>
            <a:pPr marL="742950" lvl="1" indent="-285750">
              <a:buFont typeface="+mj-lt"/>
              <a:buAutoNum type="arabicPeriod"/>
            </a:pPr>
            <a:r>
              <a:rPr lang="en-US" dirty="0" smtClean="0"/>
              <a:t>In modern consumer electronics, high-speed serial links play a crucial role in enabling efficient data transfer.</a:t>
            </a:r>
          </a:p>
          <a:p>
            <a:pPr marL="742950" lvl="1" indent="-285750">
              <a:buFont typeface="+mj-lt"/>
              <a:buAutoNum type="arabicPeriod"/>
            </a:pPr>
            <a:r>
              <a:rPr lang="en-US" dirty="0" smtClean="0"/>
              <a:t>Two well-known examples are </a:t>
            </a:r>
            <a:r>
              <a:rPr lang="en-US" b="1" dirty="0" smtClean="0"/>
              <a:t>HDMI™ and Thunderbolt™</a:t>
            </a:r>
            <a:r>
              <a:rPr lang="en-US" dirty="0" smtClean="0"/>
              <a:t>.</a:t>
            </a:r>
          </a:p>
          <a:p>
            <a:pPr>
              <a:buFont typeface="+mj-lt"/>
              <a:buAutoNum type="arabicPeriod"/>
            </a:pPr>
            <a:r>
              <a:rPr lang="en-US" b="1" dirty="0" smtClean="0"/>
              <a:t>HDMI™ Overview</a:t>
            </a:r>
            <a:endParaRPr lang="en-US" dirty="0" smtClean="0"/>
          </a:p>
          <a:p>
            <a:pPr marL="742950" lvl="1" indent="-285750">
              <a:buFont typeface="+mj-lt"/>
              <a:buAutoNum type="arabicPeriod"/>
            </a:pPr>
            <a:r>
              <a:rPr lang="en-US" b="1" dirty="0" smtClean="0"/>
              <a:t>HDMI</a:t>
            </a:r>
            <a:r>
              <a:rPr lang="en-US" dirty="0" smtClean="0"/>
              <a:t> (High-Definition Multimedia Interface) is widely used for audio-video transmission.</a:t>
            </a:r>
          </a:p>
          <a:p>
            <a:pPr marL="742950" lvl="1" indent="-285750">
              <a:buFont typeface="+mj-lt"/>
              <a:buAutoNum type="arabicPeriod"/>
            </a:pPr>
            <a:r>
              <a:rPr lang="en-US" dirty="0" smtClean="0"/>
              <a:t>Connects devices like </a:t>
            </a:r>
            <a:r>
              <a:rPr lang="en-US" b="1" dirty="0" smtClean="0"/>
              <a:t>laptops, gaming consoles, projectors, and monitors</a:t>
            </a:r>
            <a:r>
              <a:rPr lang="en-US" dirty="0" smtClean="0"/>
              <a:t> to displays.</a:t>
            </a:r>
          </a:p>
          <a:p>
            <a:pPr marL="742950" lvl="1" indent="-285750">
              <a:buFont typeface="+mj-lt"/>
              <a:buAutoNum type="arabicPeriod"/>
            </a:pPr>
            <a:r>
              <a:rPr lang="en-US" dirty="0" smtClean="0"/>
              <a:t>Supports high-resolution video, multi-channel audio, and features like </a:t>
            </a:r>
            <a:r>
              <a:rPr lang="en-US" b="1" dirty="0" smtClean="0"/>
              <a:t>ARC (Audio Return Channel)</a:t>
            </a:r>
            <a:r>
              <a:rPr lang="en-US" dirty="0" smtClean="0"/>
              <a:t>.</a:t>
            </a:r>
          </a:p>
          <a:p>
            <a:pPr>
              <a:buFont typeface="+mj-lt"/>
              <a:buAutoNum type="arabicPeriod"/>
            </a:pPr>
            <a:r>
              <a:rPr lang="en-US" b="1" dirty="0" smtClean="0"/>
              <a:t>Thunderbolt™ Overview</a:t>
            </a:r>
            <a:endParaRPr lang="en-US" dirty="0" smtClean="0"/>
          </a:p>
          <a:p>
            <a:pPr marL="742950" lvl="1" indent="-285750">
              <a:buFont typeface="+mj-lt"/>
              <a:buAutoNum type="arabicPeriod"/>
            </a:pPr>
            <a:r>
              <a:rPr lang="en-US" b="1" dirty="0" smtClean="0"/>
              <a:t>Thunderbolt™ 3/4</a:t>
            </a:r>
            <a:r>
              <a:rPr lang="en-US" dirty="0" smtClean="0"/>
              <a:t> combines power, data, and display into a single USB-C connector.</a:t>
            </a:r>
          </a:p>
          <a:p>
            <a:pPr marL="742950" lvl="1" indent="-285750">
              <a:buFont typeface="+mj-lt"/>
              <a:buAutoNum type="arabicPeriod"/>
            </a:pPr>
            <a:r>
              <a:rPr lang="en-US" dirty="0" smtClean="0"/>
              <a:t>Provides </a:t>
            </a:r>
            <a:r>
              <a:rPr lang="en-US" b="1" dirty="0" smtClean="0"/>
              <a:t>high-speed data transfer (up to 40 </a:t>
            </a:r>
            <a:r>
              <a:rPr lang="en-US" b="1" dirty="0" err="1" smtClean="0"/>
              <a:t>Gbps</a:t>
            </a:r>
            <a:r>
              <a:rPr lang="en-US" b="1" dirty="0" smtClean="0"/>
              <a:t>)</a:t>
            </a:r>
            <a:r>
              <a:rPr lang="en-US" dirty="0" smtClean="0"/>
              <a:t>, supporting </a:t>
            </a:r>
            <a:r>
              <a:rPr lang="en-US" b="1" dirty="0" smtClean="0"/>
              <a:t>dual 4K displays @ 60Hz</a:t>
            </a:r>
            <a:r>
              <a:rPr lang="en-US" dirty="0" smtClean="0"/>
              <a:t>.</a:t>
            </a:r>
          </a:p>
          <a:p>
            <a:pPr marL="742950" lvl="1" indent="-285750">
              <a:buFont typeface="+mj-lt"/>
              <a:buAutoNum type="arabicPeriod"/>
            </a:pPr>
            <a:r>
              <a:rPr lang="en-US" dirty="0" smtClean="0"/>
              <a:t>Enables </a:t>
            </a:r>
            <a:r>
              <a:rPr lang="en-US" b="1" dirty="0" smtClean="0"/>
              <a:t>device charging (up to 100W)</a:t>
            </a:r>
            <a:r>
              <a:rPr lang="en-US" dirty="0" smtClean="0"/>
              <a:t> and supports multiple protocols (USB, </a:t>
            </a:r>
            <a:r>
              <a:rPr lang="en-US" dirty="0" err="1" smtClean="0"/>
              <a:t>PCIe</a:t>
            </a:r>
            <a:r>
              <a:rPr lang="en-US" dirty="0" smtClean="0"/>
              <a:t>, DisplayPort).</a:t>
            </a:r>
          </a:p>
          <a:p>
            <a:pPr>
              <a:buFont typeface="+mj-lt"/>
              <a:buAutoNum type="arabicPeriod"/>
            </a:pPr>
            <a:r>
              <a:rPr lang="en-US" b="1" dirty="0" smtClean="0"/>
              <a:t>Key Takeaways</a:t>
            </a:r>
            <a:endParaRPr lang="en-US" dirty="0" smtClean="0"/>
          </a:p>
          <a:p>
            <a:pPr marL="742950" lvl="1" indent="-285750">
              <a:buFont typeface="+mj-lt"/>
              <a:buAutoNum type="arabicPeriod"/>
            </a:pPr>
            <a:r>
              <a:rPr lang="en-US" dirty="0" smtClean="0"/>
              <a:t>Both HDMI and Thunderbolt are </a:t>
            </a:r>
            <a:r>
              <a:rPr lang="en-US" b="1" dirty="0" smtClean="0"/>
              <a:t>point-to-point serial links</a:t>
            </a:r>
            <a:r>
              <a:rPr lang="en-US" dirty="0" smtClean="0"/>
              <a:t> for high-speed communication.</a:t>
            </a:r>
          </a:p>
          <a:p>
            <a:pPr marL="742950" lvl="1" indent="-285750">
              <a:buFont typeface="+mj-lt"/>
              <a:buAutoNum type="arabicPeriod"/>
            </a:pPr>
            <a:r>
              <a:rPr lang="en-US" dirty="0" smtClean="0"/>
              <a:t>HDMI is </a:t>
            </a:r>
            <a:r>
              <a:rPr lang="en-US" b="1" dirty="0" smtClean="0"/>
              <a:t>specialized for media</a:t>
            </a:r>
            <a:r>
              <a:rPr lang="en-US" dirty="0" smtClean="0"/>
              <a:t>, whereas Thunderbolt is </a:t>
            </a:r>
            <a:r>
              <a:rPr lang="en-US" b="1" dirty="0" smtClean="0"/>
              <a:t>versatile for power, data, and video</a:t>
            </a:r>
            <a:r>
              <a:rPr lang="en-US" dirty="0" smtClean="0"/>
              <a:t>.</a:t>
            </a:r>
          </a:p>
          <a:p>
            <a:pPr marL="742950" lvl="1" indent="-285750">
              <a:buFont typeface="+mj-lt"/>
              <a:buAutoNum type="arabicPeriod"/>
            </a:pPr>
            <a:r>
              <a:rPr lang="en-US" dirty="0" smtClean="0"/>
              <a:t>Understanding these links helps in selecting the right interface for different applications.</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6</a:t>
            </a:fld>
            <a:endParaRPr lang="en-US"/>
          </a:p>
        </p:txBody>
      </p:sp>
    </p:spTree>
    <p:extLst>
      <p:ext uri="{BB962C8B-B14F-4D97-AF65-F5344CB8AC3E}">
        <p14:creationId xmlns:p14="http://schemas.microsoft.com/office/powerpoint/2010/main" val="2404986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Industry High-Speed Serial Links</a:t>
            </a:r>
          </a:p>
          <a:p>
            <a:r>
              <a:rPr lang="en-US" dirty="0" smtClean="0"/>
              <a:t>📌 </a:t>
            </a:r>
            <a:r>
              <a:rPr lang="en-US" b="1" dirty="0" smtClean="0"/>
              <a:t>Where are high-speed links used?</a:t>
            </a:r>
            <a:endParaRPr lang="en-US" dirty="0" smtClean="0"/>
          </a:p>
          <a:p>
            <a:r>
              <a:rPr lang="en-US" b="1" dirty="0" smtClean="0"/>
              <a:t>Backplane &amp; chip-to-chip communication</a:t>
            </a:r>
            <a:r>
              <a:rPr lang="en-US" dirty="0" smtClean="0"/>
              <a:t> (e.g., processor, memory)</a:t>
            </a:r>
          </a:p>
          <a:p>
            <a:r>
              <a:rPr lang="en-US" b="1" dirty="0" smtClean="0"/>
              <a:t>Data center networks</a:t>
            </a:r>
            <a:r>
              <a:rPr lang="en-US" dirty="0" smtClean="0"/>
              <a:t> (e.g., Ethernet, fiber optics)</a:t>
            </a:r>
          </a:p>
          <a:p>
            <a:r>
              <a:rPr lang="en-US" dirty="0" smtClean="0"/>
              <a:t>📌 </a:t>
            </a:r>
            <a:r>
              <a:rPr lang="en-US" b="1" dirty="0" smtClean="0"/>
              <a:t>Challenges in high-speed links</a:t>
            </a:r>
            <a:endParaRPr lang="en-US" dirty="0" smtClean="0"/>
          </a:p>
          <a:p>
            <a:r>
              <a:rPr lang="en-US" dirty="0" smtClean="0"/>
              <a:t>Signal degradation over long PCB traces</a:t>
            </a:r>
          </a:p>
          <a:p>
            <a:r>
              <a:rPr lang="en-US" dirty="0" smtClean="0"/>
              <a:t>Loss, reflections, and crosstalk affecting data integrity</a:t>
            </a:r>
          </a:p>
          <a:p>
            <a:r>
              <a:rPr lang="en-US" dirty="0" smtClean="0"/>
              <a:t>Need for equalization and advanced receiver design</a:t>
            </a:r>
          </a:p>
          <a:p>
            <a:r>
              <a:rPr lang="en-US" dirty="0" smtClean="0"/>
              <a:t>📌 </a:t>
            </a:r>
            <a:r>
              <a:rPr lang="en-US" b="1" dirty="0" smtClean="0"/>
              <a:t>Why optical links?</a:t>
            </a:r>
            <a:endParaRPr lang="en-US" dirty="0" smtClean="0"/>
          </a:p>
          <a:p>
            <a:r>
              <a:rPr lang="en-US" dirty="0" smtClean="0"/>
              <a:t>Lower loss &amp; higher speed for long-distance communication</a:t>
            </a:r>
          </a:p>
          <a:p>
            <a:r>
              <a:rPr lang="en-US" dirty="0" smtClean="0"/>
              <a:t>Essential for scaling modern data centers</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7</a:t>
            </a:fld>
            <a:endParaRPr lang="en-US"/>
          </a:p>
        </p:txBody>
      </p:sp>
    </p:spTree>
    <p:extLst>
      <p:ext uri="{BB962C8B-B14F-4D97-AF65-F5344CB8AC3E}">
        <p14:creationId xmlns:p14="http://schemas.microsoft.com/office/powerpoint/2010/main" val="2825868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Datacenters &amp; Optical Interconnects</a:t>
            </a:r>
          </a:p>
          <a:p>
            <a:r>
              <a:rPr lang="en-US" dirty="0" smtClean="0"/>
              <a:t>📌 </a:t>
            </a:r>
            <a:r>
              <a:rPr lang="en-US" b="1" dirty="0" smtClean="0"/>
              <a:t>Why are optical links essential?</a:t>
            </a:r>
            <a:endParaRPr lang="en-US" dirty="0" smtClean="0"/>
          </a:p>
          <a:p>
            <a:pPr>
              <a:buFont typeface="Arial" panose="020B0604020202020204" pitchFamily="34" charset="0"/>
              <a:buChar char="•"/>
            </a:pPr>
            <a:r>
              <a:rPr lang="en-US" dirty="0" smtClean="0"/>
              <a:t>Enable </a:t>
            </a:r>
            <a:r>
              <a:rPr lang="en-US" b="1" dirty="0" smtClean="0"/>
              <a:t>high-speed, low-latency</a:t>
            </a:r>
            <a:r>
              <a:rPr lang="en-US" dirty="0" smtClean="0"/>
              <a:t> communication.</a:t>
            </a:r>
          </a:p>
          <a:p>
            <a:pPr>
              <a:buFont typeface="Arial" panose="020B0604020202020204" pitchFamily="34" charset="0"/>
              <a:buChar char="•"/>
            </a:pPr>
            <a:r>
              <a:rPr lang="en-US" dirty="0" smtClean="0"/>
              <a:t>Scale efficiently across different deployment distances.</a:t>
            </a:r>
          </a:p>
          <a:p>
            <a:r>
              <a:rPr lang="en-US" dirty="0" smtClean="0"/>
              <a:t>📌 </a:t>
            </a:r>
            <a:r>
              <a:rPr lang="en-US" b="1" dirty="0" smtClean="0"/>
              <a:t>Types of Optical Interconnect Deployment:</a:t>
            </a:r>
            <a:endParaRPr lang="en-US" dirty="0" smtClean="0"/>
          </a:p>
          <a:p>
            <a:pPr>
              <a:buFont typeface="Arial" panose="020B0604020202020204" pitchFamily="34" charset="0"/>
              <a:buChar char="•"/>
            </a:pPr>
            <a:r>
              <a:rPr lang="en-US" b="1" dirty="0" smtClean="0"/>
              <a:t>Long-haul (&gt;100Km):</a:t>
            </a:r>
            <a:r>
              <a:rPr lang="en-US" dirty="0" smtClean="0"/>
              <a:t> Terrestrial &amp; undersea fiber for global connectivity.</a:t>
            </a:r>
          </a:p>
          <a:p>
            <a:pPr>
              <a:buFont typeface="Arial" panose="020B0604020202020204" pitchFamily="34" charset="0"/>
              <a:buChar char="•"/>
            </a:pPr>
            <a:r>
              <a:rPr lang="en-US" b="1" dirty="0" smtClean="0"/>
              <a:t>Metro (10-100Km):</a:t>
            </a:r>
            <a:r>
              <a:rPr lang="en-US" dirty="0" smtClean="0"/>
              <a:t> Between datacenters &amp; central offices.</a:t>
            </a:r>
          </a:p>
          <a:p>
            <a:pPr>
              <a:buFont typeface="Arial" panose="020B0604020202020204" pitchFamily="34" charset="0"/>
              <a:buChar char="•"/>
            </a:pPr>
            <a:r>
              <a:rPr lang="en-US" b="1" dirty="0" smtClean="0"/>
              <a:t>Intra-datacenter (&lt;10Km):</a:t>
            </a:r>
            <a:r>
              <a:rPr lang="en-US" dirty="0" smtClean="0"/>
              <a:t> Connecting racks &amp; servers.</a:t>
            </a:r>
          </a:p>
          <a:p>
            <a:pPr>
              <a:buFont typeface="Arial" panose="020B0604020202020204" pitchFamily="34" charset="0"/>
              <a:buChar char="•"/>
            </a:pPr>
            <a:r>
              <a:rPr lang="en-US" b="1" dirty="0" smtClean="0"/>
              <a:t>On-chip &amp; within servers:</a:t>
            </a:r>
            <a:r>
              <a:rPr lang="en-US" dirty="0" smtClean="0"/>
              <a:t> Short-range high-speed links (e.g., </a:t>
            </a:r>
            <a:r>
              <a:rPr lang="en-US" dirty="0" err="1" smtClean="0"/>
              <a:t>SoCs</a:t>
            </a:r>
            <a:r>
              <a:rPr lang="en-US" dirty="0" smtClean="0"/>
              <a:t>).</a:t>
            </a:r>
          </a:p>
          <a:p>
            <a:r>
              <a:rPr lang="en-US" dirty="0" smtClean="0"/>
              <a:t>📌 </a:t>
            </a:r>
            <a:r>
              <a:rPr lang="en-US" b="1" dirty="0" smtClean="0"/>
              <a:t>Pluggable Optical Modules:</a:t>
            </a:r>
            <a:endParaRPr lang="en-US" dirty="0" smtClean="0"/>
          </a:p>
          <a:p>
            <a:pPr>
              <a:buFont typeface="Arial" panose="020B0604020202020204" pitchFamily="34" charset="0"/>
              <a:buChar char="•"/>
            </a:pPr>
            <a:r>
              <a:rPr lang="en-US" dirty="0" smtClean="0"/>
              <a:t>Provide </a:t>
            </a:r>
            <a:r>
              <a:rPr lang="en-US" b="1" dirty="0" smtClean="0"/>
              <a:t>scalability &amp; flexibility</a:t>
            </a:r>
            <a:r>
              <a:rPr lang="en-US" dirty="0" smtClean="0"/>
              <a:t> for upgrading datacenter links.</a:t>
            </a:r>
          </a:p>
          <a:p>
            <a:pPr>
              <a:buFont typeface="Arial" panose="020B0604020202020204" pitchFamily="34" charset="0"/>
              <a:buChar char="•"/>
            </a:pPr>
            <a:r>
              <a:rPr lang="en-US" dirty="0" smtClean="0"/>
              <a:t>Support </a:t>
            </a:r>
            <a:r>
              <a:rPr lang="en-US" b="1" dirty="0" smtClean="0"/>
              <a:t>hot-swapping</a:t>
            </a:r>
            <a:r>
              <a:rPr lang="en-US" dirty="0" smtClean="0"/>
              <a:t> to adapt to bandwidth demands.</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8</a:t>
            </a:fld>
            <a:endParaRPr lang="en-US"/>
          </a:p>
        </p:txBody>
      </p:sp>
    </p:spTree>
    <p:extLst>
      <p:ext uri="{BB962C8B-B14F-4D97-AF65-F5344CB8AC3E}">
        <p14:creationId xmlns:p14="http://schemas.microsoft.com/office/powerpoint/2010/main" val="1291253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assembled prototype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1CB6C08C-3E57-3F4B-904C-3B245190B05F}"/>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EC64885-8EEB-D647-9AD5-B5C1E3E29679}"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258CEC3-79D9-2041-B5E1-897392A42332}"/>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6EF88E8D-4B24-0B4E-901A-E42A8B4AB29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0999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b="1" dirty="0" smtClean="0"/>
              <a:t>Why is this important?</a:t>
            </a:r>
            <a:endParaRPr lang="en-US" dirty="0" smtClean="0"/>
          </a:p>
          <a:p>
            <a:r>
              <a:rPr lang="en-US" dirty="0" smtClean="0"/>
              <a:t>Enables high-speed data transmission over electrical channels.</a:t>
            </a:r>
          </a:p>
          <a:p>
            <a:r>
              <a:rPr lang="en-US" dirty="0" smtClean="0"/>
              <a:t>Compensates for signal degradation due to loss, noise, and dispersion.</a:t>
            </a:r>
          </a:p>
          <a:p>
            <a:r>
              <a:rPr lang="en-US" dirty="0" smtClean="0"/>
              <a:t>📌 </a:t>
            </a:r>
            <a:r>
              <a:rPr lang="en-US" b="1" dirty="0" smtClean="0"/>
              <a:t>Key Components:</a:t>
            </a:r>
            <a:endParaRPr lang="en-US" dirty="0" smtClean="0"/>
          </a:p>
          <a:p>
            <a:r>
              <a:rPr lang="en-US" b="1" dirty="0" smtClean="0"/>
              <a:t>Transmitter (TX)</a:t>
            </a:r>
          </a:p>
          <a:p>
            <a:r>
              <a:rPr lang="en-US" b="1" dirty="0" smtClean="0"/>
              <a:t>MUX:</a:t>
            </a:r>
            <a:r>
              <a:rPr lang="en-US" dirty="0" smtClean="0"/>
              <a:t> Serializes multiple data streams into a high-speed output.</a:t>
            </a:r>
          </a:p>
          <a:p>
            <a:r>
              <a:rPr lang="en-US" b="1" dirty="0" smtClean="0"/>
              <a:t>FFE (Feed-Forward Equalization):</a:t>
            </a:r>
            <a:r>
              <a:rPr lang="en-US" dirty="0" smtClean="0"/>
              <a:t> Pre-emphasizes signal to combat channel loss.</a:t>
            </a:r>
          </a:p>
          <a:p>
            <a:r>
              <a:rPr lang="en-US" b="1" dirty="0" smtClean="0"/>
              <a:t>DRV (Driver):</a:t>
            </a:r>
            <a:r>
              <a:rPr lang="en-US" dirty="0" smtClean="0"/>
              <a:t> Buffers and drives the signal onto the channel.</a:t>
            </a:r>
          </a:p>
          <a:p>
            <a:r>
              <a:rPr lang="en-US" b="1" dirty="0" smtClean="0"/>
              <a:t>Clock Gen (BUFs, DIVs):</a:t>
            </a:r>
            <a:r>
              <a:rPr lang="en-US" dirty="0" smtClean="0"/>
              <a:t> Generates timing signals for precise data transmission.</a:t>
            </a:r>
          </a:p>
          <a:p>
            <a:r>
              <a:rPr lang="en-US" b="1" dirty="0" smtClean="0"/>
              <a:t>Channel</a:t>
            </a:r>
          </a:p>
          <a:p>
            <a:r>
              <a:rPr lang="en-US" dirty="0" smtClean="0"/>
              <a:t>The medium (PCB traces, cables) that introduces loss, reflections, and interference.</a:t>
            </a:r>
          </a:p>
          <a:p>
            <a:r>
              <a:rPr lang="en-US" b="1" dirty="0" smtClean="0"/>
              <a:t>Receiver (RX)</a:t>
            </a:r>
          </a:p>
          <a:p>
            <a:r>
              <a:rPr lang="en-US" b="1" dirty="0" smtClean="0"/>
              <a:t>VGA (Variable Gain Amplifier):</a:t>
            </a:r>
            <a:r>
              <a:rPr lang="en-US" dirty="0" smtClean="0"/>
              <a:t> Adjusts signal amplitude.</a:t>
            </a:r>
          </a:p>
          <a:p>
            <a:r>
              <a:rPr lang="en-US" b="1" dirty="0" smtClean="0"/>
              <a:t>CTLE (Continuous-Time Linear Equalizer):</a:t>
            </a:r>
            <a:r>
              <a:rPr lang="en-US" dirty="0" smtClean="0"/>
              <a:t> Compensates for frequency-dependent loss.</a:t>
            </a:r>
          </a:p>
          <a:p>
            <a:r>
              <a:rPr lang="en-US" b="1" dirty="0" smtClean="0"/>
              <a:t>DFE (Decision Feedback Equalizer):</a:t>
            </a:r>
            <a:r>
              <a:rPr lang="en-US" dirty="0" smtClean="0"/>
              <a:t> Cancels post-cursor ISI (Inter-Symbol Interference).</a:t>
            </a:r>
          </a:p>
          <a:p>
            <a:r>
              <a:rPr lang="en-US" b="1" dirty="0" smtClean="0"/>
              <a:t>CDR (Clock and Data Recovery):</a:t>
            </a:r>
            <a:r>
              <a:rPr lang="en-US" dirty="0" smtClean="0"/>
              <a:t> Extracts timing and aligns received data.</a:t>
            </a:r>
          </a:p>
          <a:p>
            <a:r>
              <a:rPr lang="en-US" b="1" dirty="0" smtClean="0"/>
              <a:t>DMUX:</a:t>
            </a:r>
            <a:r>
              <a:rPr lang="en-US" dirty="0" smtClean="0"/>
              <a:t> Converts high-speed serial data back into multiple parallel streams.</a:t>
            </a:r>
          </a:p>
          <a:p>
            <a:r>
              <a:rPr lang="en-US" dirty="0" smtClean="0"/>
              <a:t>📌 </a:t>
            </a:r>
            <a:r>
              <a:rPr lang="en-US" b="1" dirty="0" smtClean="0"/>
              <a:t>PLL &amp; Frequency Generation:</a:t>
            </a:r>
            <a:endParaRPr lang="en-US" dirty="0" smtClean="0"/>
          </a:p>
          <a:p>
            <a:r>
              <a:rPr lang="en-US" dirty="0" smtClean="0"/>
              <a:t>Generates precise clock signals to maintain synchronization between TX and RX</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12</a:t>
            </a:fld>
            <a:endParaRPr lang="en-US"/>
          </a:p>
        </p:txBody>
      </p:sp>
    </p:spTree>
    <p:extLst>
      <p:ext uri="{BB962C8B-B14F-4D97-AF65-F5344CB8AC3E}">
        <p14:creationId xmlns:p14="http://schemas.microsoft.com/office/powerpoint/2010/main" val="3600804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assembled prototype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1CB6C08C-3E57-3F4B-904C-3B245190B05F}"/>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EC64885-8EEB-D647-9AD5-B5C1E3E29679}"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258CEC3-79D9-2041-B5E1-897392A42332}"/>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6EF88E8D-4B24-0B4E-901A-E42A8B4AB29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126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Electrical I/O Channel Loss → ISI</a:t>
            </a:r>
          </a:p>
          <a:p>
            <a:r>
              <a:rPr lang="en-US" dirty="0" smtClean="0"/>
              <a:t>📌 </a:t>
            </a:r>
            <a:r>
              <a:rPr lang="en-US" b="1" dirty="0" smtClean="0"/>
              <a:t>Why does this matter?</a:t>
            </a:r>
            <a:endParaRPr lang="en-US" dirty="0" smtClean="0"/>
          </a:p>
          <a:p>
            <a:pPr>
              <a:buFont typeface="Arial" panose="020B0604020202020204" pitchFamily="34" charset="0"/>
              <a:buChar char="•"/>
            </a:pPr>
            <a:r>
              <a:rPr lang="en-US" dirty="0" smtClean="0"/>
              <a:t>Signal integrity degrades due to channel loss, leading to </a:t>
            </a:r>
            <a:r>
              <a:rPr lang="en-US" b="1" dirty="0" smtClean="0"/>
              <a:t>Inter-Symbol Interference (ISI)</a:t>
            </a:r>
            <a:r>
              <a:rPr lang="en-US" dirty="0" smtClean="0"/>
              <a:t>.</a:t>
            </a:r>
          </a:p>
          <a:p>
            <a:pPr>
              <a:buFont typeface="Arial" panose="020B0604020202020204" pitchFamily="34" charset="0"/>
              <a:buChar char="•"/>
            </a:pPr>
            <a:r>
              <a:rPr lang="en-US" dirty="0" smtClean="0"/>
              <a:t>ISI causes data-dependent jitter and bit errors in high-speed links.</a:t>
            </a:r>
          </a:p>
          <a:p>
            <a:r>
              <a:rPr lang="en-US" dirty="0" smtClean="0"/>
              <a:t>📌 </a:t>
            </a:r>
            <a:r>
              <a:rPr lang="en-US" b="1" dirty="0" smtClean="0"/>
              <a:t>Key Takeaways:</a:t>
            </a:r>
            <a:endParaRPr lang="en-US" dirty="0" smtClean="0"/>
          </a:p>
          <a:p>
            <a:r>
              <a:rPr lang="en-US" dirty="0" smtClean="0"/>
              <a:t>🔺 </a:t>
            </a:r>
            <a:r>
              <a:rPr lang="en-US" b="1" dirty="0" smtClean="0"/>
              <a:t>Frequency-dependent loss in Cu interconnects creates ISI.</a:t>
            </a:r>
            <a:r>
              <a:rPr lang="en-US" dirty="0" smtClean="0"/>
              <a:t/>
            </a:r>
            <a:br>
              <a:rPr lang="en-US" dirty="0" smtClean="0"/>
            </a:br>
            <a:r>
              <a:rPr lang="en-US" dirty="0" smtClean="0"/>
              <a:t>🔺 </a:t>
            </a:r>
            <a:r>
              <a:rPr lang="en-US" b="1" dirty="0" smtClean="0"/>
              <a:t>Loss increases at higher data rates.</a:t>
            </a:r>
            <a:r>
              <a:rPr lang="en-US" dirty="0" smtClean="0"/>
              <a:t/>
            </a:r>
            <a:br>
              <a:rPr lang="en-US" dirty="0" smtClean="0"/>
            </a:br>
            <a:r>
              <a:rPr lang="en-US" dirty="0" smtClean="0"/>
              <a:t>🔺 </a:t>
            </a:r>
            <a:r>
              <a:rPr lang="en-US" b="1" dirty="0" smtClean="0"/>
              <a:t>Longer interconnects suffer more signal attenuation.</a:t>
            </a:r>
            <a:endParaRPr lang="en-US" dirty="0" smtClean="0"/>
          </a:p>
          <a:p>
            <a:r>
              <a:rPr lang="en-US" dirty="0" smtClean="0"/>
              <a:t>📌 </a:t>
            </a:r>
            <a:r>
              <a:rPr lang="en-US" b="1" dirty="0" smtClean="0"/>
              <a:t>Mitigation Strategy:</a:t>
            </a:r>
            <a:r>
              <a:rPr lang="en-US" dirty="0" smtClean="0"/>
              <a:t/>
            </a:r>
            <a:br>
              <a:rPr lang="en-US" dirty="0" smtClean="0"/>
            </a:br>
            <a:r>
              <a:rPr lang="en-US" dirty="0" smtClean="0"/>
              <a:t>✔ </a:t>
            </a:r>
            <a:r>
              <a:rPr lang="en-US" b="1" dirty="0" smtClean="0"/>
              <a:t>Equalization (CTLE, DFE) helps compensate for loss</a:t>
            </a:r>
            <a:r>
              <a:rPr lang="en-US" dirty="0" smtClean="0"/>
              <a:t> but </a:t>
            </a:r>
            <a:r>
              <a:rPr lang="en-US" b="1" dirty="0" smtClean="0"/>
              <a:t>consumes power</a:t>
            </a:r>
            <a:r>
              <a:rPr lang="en-US" dirty="0" smtClean="0"/>
              <a:t>.</a:t>
            </a:r>
          </a:p>
          <a:p>
            <a:r>
              <a:rPr lang="en-US" dirty="0" smtClean="0"/>
              <a:t>Understanding these effects is critical for designing high-speed, power-efficient wireline receivers. Let me know if you need refinements!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16</a:t>
            </a:fld>
            <a:endParaRPr lang="en-US"/>
          </a:p>
        </p:txBody>
      </p:sp>
    </p:spTree>
    <p:extLst>
      <p:ext uri="{BB962C8B-B14F-4D97-AF65-F5344CB8AC3E}">
        <p14:creationId xmlns:p14="http://schemas.microsoft.com/office/powerpoint/2010/main" val="1044117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Electrical I/O Channel Loss → ISI (Inter-Symbol Interference)</a:t>
            </a:r>
          </a:p>
          <a:p>
            <a:r>
              <a:rPr lang="en-US" b="1" dirty="0" smtClean="0"/>
              <a:t>🎤 Analogy: Singing Through a Wall</a:t>
            </a:r>
          </a:p>
          <a:p>
            <a:r>
              <a:rPr lang="en-US" dirty="0" smtClean="0"/>
              <a:t>Imagine you're at a concert, but you're standing outside the hall.</a:t>
            </a:r>
          </a:p>
          <a:p>
            <a:pPr>
              <a:buFont typeface="Arial" panose="020B0604020202020204" pitchFamily="34" charset="0"/>
              <a:buChar char="•"/>
            </a:pPr>
            <a:r>
              <a:rPr lang="en-US" dirty="0" smtClean="0"/>
              <a:t>If the </a:t>
            </a:r>
            <a:r>
              <a:rPr lang="en-US" b="1" dirty="0" smtClean="0"/>
              <a:t>wall is thin</a:t>
            </a:r>
            <a:r>
              <a:rPr lang="en-US" dirty="0" smtClean="0"/>
              <a:t>, you can still hear the song clearly.</a:t>
            </a:r>
          </a:p>
          <a:p>
            <a:pPr>
              <a:buFont typeface="Arial" panose="020B0604020202020204" pitchFamily="34" charset="0"/>
              <a:buChar char="•"/>
            </a:pPr>
            <a:r>
              <a:rPr lang="en-US" dirty="0" smtClean="0"/>
              <a:t>If the </a:t>
            </a:r>
            <a:r>
              <a:rPr lang="en-US" b="1" dirty="0" smtClean="0"/>
              <a:t>wall is thick</a:t>
            </a:r>
            <a:r>
              <a:rPr lang="en-US" dirty="0" smtClean="0"/>
              <a:t>, the sound gets muffled—high-pitched notes fade out first, while low-pitched sounds remain somewhat audible.</a:t>
            </a:r>
          </a:p>
          <a:p>
            <a:r>
              <a:rPr lang="en-US" dirty="0" smtClean="0"/>
              <a:t>🟢 </a:t>
            </a:r>
            <a:r>
              <a:rPr lang="en-US" b="1" dirty="0" smtClean="0"/>
              <a:t>In high-speed links, the copper channel acts like that wall.</a:t>
            </a:r>
            <a:endParaRPr lang="en-US" dirty="0" smtClean="0"/>
          </a:p>
          <a:p>
            <a:pPr>
              <a:buFont typeface="Arial" panose="020B0604020202020204" pitchFamily="34" charset="0"/>
              <a:buChar char="•"/>
            </a:pPr>
            <a:r>
              <a:rPr lang="en-US" b="1" dirty="0" smtClean="0"/>
              <a:t>High frequencies</a:t>
            </a:r>
            <a:r>
              <a:rPr lang="en-US" dirty="0" smtClean="0"/>
              <a:t> (sharp transitions in signals) experience more loss.</a:t>
            </a:r>
          </a:p>
          <a:p>
            <a:pPr>
              <a:buFont typeface="Arial" panose="020B0604020202020204" pitchFamily="34" charset="0"/>
              <a:buChar char="•"/>
            </a:pPr>
            <a:r>
              <a:rPr lang="en-US" dirty="0" smtClean="0"/>
              <a:t>The signal gets distorted, leading to </a:t>
            </a:r>
            <a:r>
              <a:rPr lang="en-US" b="1" dirty="0" smtClean="0"/>
              <a:t>Inter-Symbol Interference (ISI)</a:t>
            </a:r>
            <a:r>
              <a:rPr lang="en-US" dirty="0" smtClean="0"/>
              <a:t>—previous bits "leak" into the next ones.</a:t>
            </a:r>
          </a:p>
          <a:p>
            <a:r>
              <a:rPr lang="en-US" b="1" dirty="0" smtClean="0"/>
              <a:t>🚗 Another Analogy: Driving on a Foggy Road</a:t>
            </a:r>
          </a:p>
          <a:p>
            <a:pPr>
              <a:buFont typeface="Arial" panose="020B0604020202020204" pitchFamily="34" charset="0"/>
              <a:buChar char="•"/>
            </a:pPr>
            <a:r>
              <a:rPr lang="en-US" dirty="0" smtClean="0"/>
              <a:t>Imagine driving on a highway at </a:t>
            </a:r>
            <a:r>
              <a:rPr lang="en-US" b="1" dirty="0" smtClean="0"/>
              <a:t>low speed</a:t>
            </a:r>
            <a:r>
              <a:rPr lang="en-US" dirty="0" smtClean="0"/>
              <a:t>—you can see road signs clearly.</a:t>
            </a:r>
          </a:p>
          <a:p>
            <a:pPr>
              <a:buFont typeface="Arial" panose="020B0604020202020204" pitchFamily="34" charset="0"/>
              <a:buChar char="•"/>
            </a:pPr>
            <a:r>
              <a:rPr lang="en-US" dirty="0" smtClean="0"/>
              <a:t>But at </a:t>
            </a:r>
            <a:r>
              <a:rPr lang="en-US" b="1" dirty="0" smtClean="0"/>
              <a:t>high speed</a:t>
            </a:r>
            <a:r>
              <a:rPr lang="en-US" dirty="0" smtClean="0"/>
              <a:t>, things blur, and you start confusing one sign with another.</a:t>
            </a:r>
          </a:p>
          <a:p>
            <a:pPr>
              <a:buFont typeface="Arial" panose="020B0604020202020204" pitchFamily="34" charset="0"/>
              <a:buChar char="•"/>
            </a:pPr>
            <a:r>
              <a:rPr lang="en-US" dirty="0" smtClean="0"/>
              <a:t>The </a:t>
            </a:r>
            <a:r>
              <a:rPr lang="en-US" b="1" dirty="0" smtClean="0"/>
              <a:t>longer the road (interconnect length)</a:t>
            </a:r>
            <a:r>
              <a:rPr lang="en-US" dirty="0" smtClean="0"/>
              <a:t>, the harder it is to see clearly.</a:t>
            </a:r>
          </a:p>
          <a:p>
            <a:r>
              <a:rPr lang="en-US" dirty="0" smtClean="0"/>
              <a:t>🟢 </a:t>
            </a:r>
            <a:r>
              <a:rPr lang="en-US" b="1" dirty="0" smtClean="0"/>
              <a:t>Equalizers = Fog Lights</a:t>
            </a:r>
            <a:r>
              <a:rPr lang="en-US" dirty="0" smtClean="0"/>
              <a:t> → They help recover details but consume extra power.</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17</a:t>
            </a:fld>
            <a:endParaRPr lang="en-US"/>
          </a:p>
        </p:txBody>
      </p:sp>
    </p:spTree>
    <p:extLst>
      <p:ext uri="{BB962C8B-B14F-4D97-AF65-F5344CB8AC3E}">
        <p14:creationId xmlns:p14="http://schemas.microsoft.com/office/powerpoint/2010/main" val="22429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NRZ vs. PAM4 Eye Diagrams</a:t>
            </a:r>
          </a:p>
          <a:p>
            <a:r>
              <a:rPr lang="en-US" dirty="0" smtClean="0"/>
              <a:t>📌 </a:t>
            </a:r>
            <a:r>
              <a:rPr lang="en-US" b="1" dirty="0" smtClean="0"/>
              <a:t>Why does this matter?</a:t>
            </a:r>
            <a:endParaRPr lang="en-US" dirty="0" smtClean="0"/>
          </a:p>
          <a:p>
            <a:r>
              <a:rPr lang="en-US" b="1" dirty="0" smtClean="0"/>
              <a:t>Eye diagrams</a:t>
            </a:r>
            <a:r>
              <a:rPr lang="en-US" dirty="0" smtClean="0"/>
              <a:t> visualize signal integrity and timing margins in high-speed links.</a:t>
            </a:r>
          </a:p>
          <a:p>
            <a:r>
              <a:rPr lang="en-US" b="1" dirty="0" smtClean="0"/>
              <a:t>NRZ (Non-Return-to-Zero)</a:t>
            </a:r>
            <a:r>
              <a:rPr lang="en-US" dirty="0" smtClean="0"/>
              <a:t> uses </a:t>
            </a:r>
            <a:r>
              <a:rPr lang="en-US" b="1" dirty="0" smtClean="0"/>
              <a:t>1 bit per symbol</a:t>
            </a:r>
            <a:r>
              <a:rPr lang="en-US" dirty="0" smtClean="0"/>
              <a:t>, while </a:t>
            </a:r>
            <a:r>
              <a:rPr lang="en-US" b="1" dirty="0" smtClean="0"/>
              <a:t>PAM4 (Pulse Amplitude Modulation 4)</a:t>
            </a:r>
            <a:r>
              <a:rPr lang="en-US" dirty="0" smtClean="0"/>
              <a:t> packs </a:t>
            </a:r>
            <a:r>
              <a:rPr lang="en-US" b="1" dirty="0" smtClean="0"/>
              <a:t>2 bits per symbol</a:t>
            </a:r>
            <a:r>
              <a:rPr lang="en-US" dirty="0" smtClean="0"/>
              <a:t> for higher data rates.</a:t>
            </a:r>
          </a:p>
          <a:p>
            <a:r>
              <a:rPr lang="en-US" dirty="0" smtClean="0"/>
              <a:t>📌 </a:t>
            </a:r>
            <a:r>
              <a:rPr lang="en-US" b="1" dirty="0" smtClean="0"/>
              <a:t>Key Takeaways:</a:t>
            </a:r>
            <a:endParaRPr lang="en-US" dirty="0" smtClean="0"/>
          </a:p>
          <a:p>
            <a:r>
              <a:rPr lang="en-US" dirty="0" smtClean="0"/>
              <a:t>🔹 </a:t>
            </a:r>
            <a:r>
              <a:rPr lang="en-US" b="1" dirty="0" smtClean="0"/>
              <a:t>NRZ Eye Diagram</a:t>
            </a:r>
            <a:r>
              <a:rPr lang="en-US" dirty="0" smtClean="0"/>
              <a:t/>
            </a:r>
            <a:br>
              <a:rPr lang="en-US" dirty="0" smtClean="0"/>
            </a:br>
            <a:r>
              <a:rPr lang="en-US" dirty="0" smtClean="0"/>
              <a:t>✔ </a:t>
            </a:r>
            <a:r>
              <a:rPr lang="en-US" b="1" dirty="0" smtClean="0"/>
              <a:t>Two levels (0 &amp; 1)</a:t>
            </a:r>
            <a:r>
              <a:rPr lang="en-US" dirty="0" smtClean="0"/>
              <a:t> → Larger eye opening, better noise margin.</a:t>
            </a:r>
            <a:br>
              <a:rPr lang="en-US" dirty="0" smtClean="0"/>
            </a:br>
            <a:r>
              <a:rPr lang="en-US" dirty="0" smtClean="0"/>
              <a:t>✔ Simpler to implement, robust against noise.</a:t>
            </a:r>
          </a:p>
          <a:p>
            <a:r>
              <a:rPr lang="en-US" dirty="0" smtClean="0"/>
              <a:t>🔹 </a:t>
            </a:r>
            <a:r>
              <a:rPr lang="en-US" b="1" dirty="0" smtClean="0"/>
              <a:t>PAM4 Eye Diagram</a:t>
            </a:r>
            <a:r>
              <a:rPr lang="en-US" dirty="0" smtClean="0"/>
              <a:t/>
            </a:r>
            <a:br>
              <a:rPr lang="en-US" dirty="0" smtClean="0"/>
            </a:br>
            <a:r>
              <a:rPr lang="en-US" dirty="0" smtClean="0"/>
              <a:t>✔ </a:t>
            </a:r>
            <a:r>
              <a:rPr lang="en-US" b="1" dirty="0" smtClean="0"/>
              <a:t>Four levels (0, 1/3, 2/3, 1)</a:t>
            </a:r>
            <a:r>
              <a:rPr lang="en-US" dirty="0" smtClean="0"/>
              <a:t> → Higher data rate at the same </a:t>
            </a:r>
            <a:r>
              <a:rPr lang="en-US" dirty="0" err="1" smtClean="0"/>
              <a:t>Nyquist</a:t>
            </a:r>
            <a:r>
              <a:rPr lang="en-US" dirty="0" smtClean="0"/>
              <a:t> frequency.</a:t>
            </a:r>
            <a:br>
              <a:rPr lang="en-US" dirty="0" smtClean="0"/>
            </a:br>
            <a:r>
              <a:rPr lang="en-US" dirty="0" smtClean="0"/>
              <a:t>✔ </a:t>
            </a:r>
            <a:r>
              <a:rPr lang="en-US" b="1" dirty="0" smtClean="0"/>
              <a:t>Three eye openings</a:t>
            </a:r>
            <a:r>
              <a:rPr lang="en-US" dirty="0" smtClean="0"/>
              <a:t> → Smaller noise margin, more susceptible to distortions.</a:t>
            </a:r>
          </a:p>
          <a:p>
            <a:r>
              <a:rPr lang="en-US" dirty="0" smtClean="0"/>
              <a:t>📌 </a:t>
            </a:r>
            <a:r>
              <a:rPr lang="en-US" b="1" dirty="0" smtClean="0"/>
              <a:t>Trade-off:</a:t>
            </a:r>
            <a:r>
              <a:rPr lang="en-US" dirty="0" smtClean="0"/>
              <a:t/>
            </a:r>
            <a:br>
              <a:rPr lang="en-US" dirty="0" smtClean="0"/>
            </a:br>
            <a:r>
              <a:rPr lang="en-US" dirty="0" smtClean="0"/>
              <a:t>✔ PAM4 increases </a:t>
            </a:r>
            <a:r>
              <a:rPr lang="en-US" b="1" dirty="0" smtClean="0"/>
              <a:t>data bandwidth efficiency</a:t>
            </a:r>
            <a:r>
              <a:rPr lang="en-US" dirty="0" smtClean="0"/>
              <a:t>, but requires </a:t>
            </a:r>
            <a:r>
              <a:rPr lang="en-US" b="1" dirty="0" smtClean="0"/>
              <a:t>higher linearity and better equalization</a:t>
            </a:r>
            <a:r>
              <a:rPr lang="en-US" dirty="0" smtClean="0"/>
              <a:t> for signal recovery.</a:t>
            </a:r>
          </a:p>
          <a:p>
            <a:r>
              <a:rPr lang="en-US" dirty="0" smtClean="0"/>
              <a:t>Let me know if you want refinements!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19</a:t>
            </a:fld>
            <a:endParaRPr lang="en-US"/>
          </a:p>
        </p:txBody>
      </p:sp>
    </p:spTree>
    <p:extLst>
      <p:ext uri="{BB962C8B-B14F-4D97-AF65-F5344CB8AC3E}">
        <p14:creationId xmlns:p14="http://schemas.microsoft.com/office/powerpoint/2010/main" val="2634894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2️⃣ NRZ vs. PAM4 Eye Diagram Intuition</a:t>
            </a:r>
          </a:p>
          <a:p>
            <a:r>
              <a:rPr lang="en-US" b="1" dirty="0" smtClean="0"/>
              <a:t>📦 Analogy: Packing Boxes in a Truck</a:t>
            </a:r>
          </a:p>
          <a:p>
            <a:r>
              <a:rPr lang="en-US" dirty="0" smtClean="0"/>
              <a:t>Imagine you’re moving houses and need to pack a truck with boxes.</a:t>
            </a:r>
          </a:p>
          <a:p>
            <a:pPr>
              <a:buFont typeface="Arial" panose="020B0604020202020204" pitchFamily="34" charset="0"/>
              <a:buChar char="•"/>
            </a:pPr>
            <a:r>
              <a:rPr lang="en-US" b="1" dirty="0" smtClean="0"/>
              <a:t>NRZ = One big box per trip.</a:t>
            </a:r>
            <a:endParaRPr lang="en-US" dirty="0" smtClean="0"/>
          </a:p>
          <a:p>
            <a:pPr marL="742950" lvl="1" indent="-285750">
              <a:buFont typeface="Arial" panose="020B0604020202020204" pitchFamily="34" charset="0"/>
              <a:buChar char="•"/>
            </a:pPr>
            <a:r>
              <a:rPr lang="en-US" dirty="0" smtClean="0"/>
              <a:t>Two levels: </a:t>
            </a:r>
            <a:r>
              <a:rPr lang="en-US" b="1" dirty="0" smtClean="0"/>
              <a:t>Box fits or doesn’t (0 or 1).</a:t>
            </a:r>
            <a:endParaRPr lang="en-US" dirty="0" smtClean="0"/>
          </a:p>
          <a:p>
            <a:pPr marL="742950" lvl="1" indent="-285750">
              <a:buFont typeface="Arial" panose="020B0604020202020204" pitchFamily="34" charset="0"/>
              <a:buChar char="•"/>
            </a:pPr>
            <a:r>
              <a:rPr lang="en-US" dirty="0" smtClean="0"/>
              <a:t>Fewer mistakes, simpler handling.</a:t>
            </a:r>
          </a:p>
          <a:p>
            <a:pPr>
              <a:buFont typeface="Arial" panose="020B0604020202020204" pitchFamily="34" charset="0"/>
              <a:buChar char="•"/>
            </a:pPr>
            <a:r>
              <a:rPr lang="en-US" b="1" dirty="0" smtClean="0"/>
              <a:t>PAM4 = Two smaller boxes stacked in the same trip.</a:t>
            </a:r>
            <a:endParaRPr lang="en-US" dirty="0" smtClean="0"/>
          </a:p>
          <a:p>
            <a:pPr marL="742950" lvl="1" indent="-285750">
              <a:buFont typeface="Arial" panose="020B0604020202020204" pitchFamily="34" charset="0"/>
              <a:buChar char="•"/>
            </a:pPr>
            <a:r>
              <a:rPr lang="en-US" dirty="0" smtClean="0"/>
              <a:t>Four levels: </a:t>
            </a:r>
            <a:r>
              <a:rPr lang="en-US" b="1" dirty="0" smtClean="0"/>
              <a:t>Box could be empty, 1/3 full, 2/3 full, or full.</a:t>
            </a:r>
            <a:endParaRPr lang="en-US" dirty="0" smtClean="0"/>
          </a:p>
          <a:p>
            <a:pPr marL="742950" lvl="1" indent="-285750">
              <a:buFont typeface="Arial" panose="020B0604020202020204" pitchFamily="34" charset="0"/>
              <a:buChar char="•"/>
            </a:pPr>
            <a:r>
              <a:rPr lang="en-US" dirty="0" smtClean="0"/>
              <a:t>More efficient use of space (higher data rate), but requires </a:t>
            </a:r>
            <a:r>
              <a:rPr lang="en-US" b="1" dirty="0" smtClean="0"/>
              <a:t>more careful handling</a:t>
            </a:r>
            <a:r>
              <a:rPr lang="en-US" dirty="0" smtClean="0"/>
              <a:t>—if a box gets slightly crushed, it’s harder to tell how full it was.</a:t>
            </a:r>
          </a:p>
          <a:p>
            <a:r>
              <a:rPr lang="en-US" b="1" dirty="0" smtClean="0"/>
              <a:t>👀 Eye Diagram = Road Visibility Test</a:t>
            </a:r>
          </a:p>
          <a:p>
            <a:pPr>
              <a:buFont typeface="Arial" panose="020B0604020202020204" pitchFamily="34" charset="0"/>
              <a:buChar char="•"/>
            </a:pPr>
            <a:r>
              <a:rPr lang="en-US" dirty="0" smtClean="0"/>
              <a:t>If you’re driving at night, a </a:t>
            </a:r>
            <a:r>
              <a:rPr lang="en-US" b="1" dirty="0" smtClean="0"/>
              <a:t>wide-open road</a:t>
            </a:r>
            <a:r>
              <a:rPr lang="en-US" dirty="0" smtClean="0"/>
              <a:t> (NRZ eye diagram) means clear vision.</a:t>
            </a:r>
          </a:p>
          <a:p>
            <a:pPr>
              <a:buFont typeface="Arial" panose="020B0604020202020204" pitchFamily="34" charset="0"/>
              <a:buChar char="•"/>
            </a:pPr>
            <a:r>
              <a:rPr lang="en-US" dirty="0" smtClean="0"/>
              <a:t>A </a:t>
            </a:r>
            <a:r>
              <a:rPr lang="en-US" b="1" dirty="0" smtClean="0"/>
              <a:t>cluttered, foggy road</a:t>
            </a:r>
            <a:r>
              <a:rPr lang="en-US" dirty="0" smtClean="0"/>
              <a:t> (PAM4 eye diagram) makes it harder to distinguish lane markings.</a:t>
            </a:r>
          </a:p>
          <a:p>
            <a:r>
              <a:rPr lang="en-US" dirty="0" smtClean="0"/>
              <a:t>🟢 </a:t>
            </a:r>
            <a:r>
              <a:rPr lang="en-US" b="1" dirty="0" smtClean="0"/>
              <a:t>More eye openings = More opportunities for errors.</a:t>
            </a:r>
            <a:r>
              <a:rPr lang="en-US" dirty="0" smtClean="0"/>
              <a:t> That’s why </a:t>
            </a:r>
            <a:r>
              <a:rPr lang="en-US" b="1" dirty="0" smtClean="0"/>
              <a:t>PAM4 needs better receivers and equalization.</a:t>
            </a:r>
            <a:endParaRPr lang="en-US" dirty="0" smtClean="0"/>
          </a:p>
          <a:p>
            <a:r>
              <a:rPr lang="en-US" b="1" dirty="0" smtClean="0"/>
              <a:t>🔑 Final Takeaway:</a:t>
            </a:r>
          </a:p>
          <a:p>
            <a:r>
              <a:rPr lang="en-US" dirty="0" smtClean="0"/>
              <a:t>✔ </a:t>
            </a:r>
            <a:r>
              <a:rPr lang="en-US" b="1" dirty="0" smtClean="0"/>
              <a:t>Higher speeds &amp; longer channels cause loss → leading to ISI</a:t>
            </a:r>
            <a:r>
              <a:rPr lang="en-US" dirty="0" smtClean="0"/>
              <a:t/>
            </a:r>
            <a:br>
              <a:rPr lang="en-US" dirty="0" smtClean="0"/>
            </a:br>
            <a:r>
              <a:rPr lang="en-US" dirty="0" smtClean="0"/>
              <a:t>✔ </a:t>
            </a:r>
            <a:r>
              <a:rPr lang="en-US" b="1" dirty="0" smtClean="0"/>
              <a:t>NRZ is simple but limited in bandwidth</a:t>
            </a:r>
            <a:r>
              <a:rPr lang="en-US" dirty="0" smtClean="0"/>
              <a:t/>
            </a:r>
            <a:br>
              <a:rPr lang="en-US" dirty="0" smtClean="0"/>
            </a:br>
            <a:r>
              <a:rPr lang="en-US" dirty="0" smtClean="0"/>
              <a:t>✔ </a:t>
            </a:r>
            <a:r>
              <a:rPr lang="en-US" b="1" dirty="0" smtClean="0"/>
              <a:t>PAM4 packs more data but requires better handling</a:t>
            </a:r>
            <a:endParaRPr lang="en-US" dirty="0" smtClean="0"/>
          </a:p>
          <a:p>
            <a:r>
              <a:rPr lang="en-US" dirty="0" smtClean="0"/>
              <a:t>Would you like more depth on any of these?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20</a:t>
            </a:fld>
            <a:endParaRPr lang="en-US"/>
          </a:p>
        </p:txBody>
      </p:sp>
    </p:spTree>
    <p:extLst>
      <p:ext uri="{BB962C8B-B14F-4D97-AF65-F5344CB8AC3E}">
        <p14:creationId xmlns:p14="http://schemas.microsoft.com/office/powerpoint/2010/main" val="3714863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Eye Diagram &amp; Inter-Symbol Interference (ISI)</a:t>
            </a:r>
          </a:p>
          <a:p>
            <a:r>
              <a:rPr lang="en-US" b="1" dirty="0" smtClean="0"/>
              <a:t>What is an Eye Diagram?</a:t>
            </a:r>
            <a:endParaRPr lang="en-US" dirty="0" smtClean="0"/>
          </a:p>
          <a:p>
            <a:pPr lvl="1"/>
            <a:r>
              <a:rPr lang="en-US" dirty="0" smtClean="0"/>
              <a:t>An eye diagram is a visualization of a signal’s quality over multiple bit periods.</a:t>
            </a:r>
          </a:p>
          <a:p>
            <a:pPr lvl="1"/>
            <a:r>
              <a:rPr lang="en-US" dirty="0" smtClean="0"/>
              <a:t>A wider and more open eye indicates better signal integrity.</a:t>
            </a:r>
          </a:p>
          <a:p>
            <a:r>
              <a:rPr lang="en-US" b="1" dirty="0" smtClean="0"/>
              <a:t>Impact of ISI on Eye Diagram:</a:t>
            </a:r>
            <a:endParaRPr lang="en-US" dirty="0" smtClean="0"/>
          </a:p>
          <a:p>
            <a:pPr lvl="1"/>
            <a:r>
              <a:rPr lang="en-US" b="1" dirty="0" smtClean="0"/>
              <a:t>Small ISI (Upper Eye Diagram)</a:t>
            </a:r>
            <a:endParaRPr lang="en-US" dirty="0" smtClean="0"/>
          </a:p>
          <a:p>
            <a:pPr lvl="2"/>
            <a:r>
              <a:rPr lang="en-US" dirty="0" smtClean="0"/>
              <a:t>Minimal distortion from previous bits.</a:t>
            </a:r>
          </a:p>
          <a:p>
            <a:pPr lvl="2"/>
            <a:r>
              <a:rPr lang="en-US" b="1" dirty="0" smtClean="0"/>
              <a:t>Larger noise margin</a:t>
            </a:r>
            <a:r>
              <a:rPr lang="en-US" dirty="0" smtClean="0"/>
              <a:t> → Better signal detection.</a:t>
            </a:r>
          </a:p>
          <a:p>
            <a:pPr lvl="1"/>
            <a:r>
              <a:rPr lang="en-US" b="1" dirty="0" smtClean="0"/>
              <a:t>Large ISI (Lower Eye Diagram)</a:t>
            </a:r>
            <a:endParaRPr lang="en-US" dirty="0" smtClean="0"/>
          </a:p>
          <a:p>
            <a:pPr lvl="2"/>
            <a:r>
              <a:rPr lang="en-US" dirty="0" smtClean="0"/>
              <a:t>Strong inter-symbol interference distorts the waveform.</a:t>
            </a:r>
          </a:p>
          <a:p>
            <a:pPr lvl="2"/>
            <a:r>
              <a:rPr lang="en-US" b="1" dirty="0" smtClean="0"/>
              <a:t>Smaller noise margin</a:t>
            </a:r>
            <a:r>
              <a:rPr lang="en-US" dirty="0" smtClean="0"/>
              <a:t> → Higher probability of bit errors.</a:t>
            </a:r>
          </a:p>
          <a:p>
            <a:r>
              <a:rPr lang="en-US" b="1" dirty="0" smtClean="0"/>
              <a:t>Key Takeaway:</a:t>
            </a:r>
            <a:endParaRPr lang="en-US" dirty="0" smtClean="0"/>
          </a:p>
          <a:p>
            <a:pPr lvl="1"/>
            <a:r>
              <a:rPr lang="en-US" dirty="0" smtClean="0"/>
              <a:t>ISI </a:t>
            </a:r>
            <a:r>
              <a:rPr lang="en-US" b="1" dirty="0" smtClean="0"/>
              <a:t>reduces the eye opening</a:t>
            </a:r>
            <a:r>
              <a:rPr lang="en-US" dirty="0" smtClean="0"/>
              <a:t>, leading to </a:t>
            </a:r>
            <a:r>
              <a:rPr lang="en-US" b="1" dirty="0" smtClean="0"/>
              <a:t>degraded signal quality</a:t>
            </a:r>
            <a:r>
              <a:rPr lang="en-US" dirty="0" smtClean="0"/>
              <a:t> and </a:t>
            </a:r>
            <a:r>
              <a:rPr lang="en-US" b="1" dirty="0" smtClean="0"/>
              <a:t>higher BER (Bit Error Rate).</a:t>
            </a:r>
            <a:endParaRPr lang="en-US" dirty="0" smtClean="0"/>
          </a:p>
          <a:p>
            <a:pPr lvl="1"/>
            <a:r>
              <a:rPr lang="en-US" dirty="0" smtClean="0"/>
              <a:t>To mitigate ISI, techniques such as equalization, pulse shaping, and pre-emphasis are used.</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21</a:t>
            </a:fld>
            <a:endParaRPr lang="en-US"/>
          </a:p>
        </p:txBody>
      </p:sp>
    </p:spTree>
    <p:extLst>
      <p:ext uri="{BB962C8B-B14F-4D97-AF65-F5344CB8AC3E}">
        <p14:creationId xmlns:p14="http://schemas.microsoft.com/office/powerpoint/2010/main" val="1946236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Intuition Behind BER (Bit Error Rate)</a:t>
            </a:r>
          </a:p>
          <a:p>
            <a:r>
              <a:rPr lang="en-US" dirty="0" smtClean="0"/>
              <a:t>BER measures how often bits are </a:t>
            </a:r>
            <a:r>
              <a:rPr lang="en-US" b="1" dirty="0" smtClean="0"/>
              <a:t>received incorrectly</a:t>
            </a:r>
            <a:r>
              <a:rPr lang="en-US" dirty="0" smtClean="0"/>
              <a:t> due to noise, distortion, or signal degradation.</a:t>
            </a:r>
          </a:p>
          <a:p>
            <a:r>
              <a:rPr lang="en-US" b="1" dirty="0" smtClean="0"/>
              <a:t>📬 Analogy: Delivering Messages in a Noisy Room</a:t>
            </a:r>
          </a:p>
          <a:p>
            <a:r>
              <a:rPr lang="en-US" dirty="0" smtClean="0"/>
              <a:t>Imagine you are in a </a:t>
            </a:r>
            <a:r>
              <a:rPr lang="en-US" b="1" dirty="0" smtClean="0"/>
              <a:t>crowded, noisy room</a:t>
            </a:r>
            <a:r>
              <a:rPr lang="en-US" dirty="0" smtClean="0"/>
              <a:t> trying to communicate a message to a friend:</a:t>
            </a:r>
          </a:p>
          <a:p>
            <a:pPr>
              <a:buFont typeface="Arial" panose="020B0604020202020204" pitchFamily="34" charset="0"/>
              <a:buChar char="•"/>
            </a:pPr>
            <a:r>
              <a:rPr lang="en-US" dirty="0" smtClean="0"/>
              <a:t>If the room is </a:t>
            </a:r>
            <a:r>
              <a:rPr lang="en-US" b="1" dirty="0" smtClean="0"/>
              <a:t>quiet</a:t>
            </a:r>
            <a:r>
              <a:rPr lang="en-US" dirty="0" smtClean="0"/>
              <a:t>, your friend hears you perfectly—zero errors.</a:t>
            </a:r>
          </a:p>
          <a:p>
            <a:pPr>
              <a:buFont typeface="Arial" panose="020B0604020202020204" pitchFamily="34" charset="0"/>
              <a:buChar char="•"/>
            </a:pPr>
            <a:r>
              <a:rPr lang="en-US" dirty="0" smtClean="0"/>
              <a:t>If the room is </a:t>
            </a:r>
            <a:r>
              <a:rPr lang="en-US" b="1" dirty="0" smtClean="0"/>
              <a:t>noisy</a:t>
            </a:r>
            <a:r>
              <a:rPr lang="en-US" dirty="0" smtClean="0"/>
              <a:t>, your friend might mishear words, leading to errors.</a:t>
            </a:r>
          </a:p>
          <a:p>
            <a:r>
              <a:rPr lang="en-US" dirty="0" smtClean="0"/>
              <a:t>In communication systems:</a:t>
            </a:r>
          </a:p>
          <a:p>
            <a:pPr>
              <a:buFont typeface="Arial" panose="020B0604020202020204" pitchFamily="34" charset="0"/>
              <a:buChar char="•"/>
            </a:pPr>
            <a:r>
              <a:rPr lang="en-US" dirty="0" smtClean="0"/>
              <a:t>A </a:t>
            </a:r>
            <a:r>
              <a:rPr lang="en-US" b="1" dirty="0" smtClean="0"/>
              <a:t>"0" bit might be mistaken for a "1"</a:t>
            </a:r>
            <a:r>
              <a:rPr lang="en-US" dirty="0" smtClean="0"/>
              <a:t>, or vice versa, due to noise in the channel.</a:t>
            </a:r>
          </a:p>
          <a:p>
            <a:pPr>
              <a:buFont typeface="Arial" panose="020B0604020202020204" pitchFamily="34" charset="0"/>
              <a:buChar char="•"/>
            </a:pPr>
            <a:r>
              <a:rPr lang="en-US" dirty="0" smtClean="0"/>
              <a:t>More errors mean a </a:t>
            </a:r>
            <a:r>
              <a:rPr lang="en-US" b="1" dirty="0" smtClean="0"/>
              <a:t>higher BER</a:t>
            </a:r>
            <a:r>
              <a:rPr lang="en-US" dirty="0" smtClean="0"/>
              <a:t> → worse signal integrity.</a:t>
            </a:r>
          </a:p>
          <a:p>
            <a:r>
              <a:rPr lang="en-US" b="1" dirty="0" smtClean="0"/>
              <a:t>📉 BER Formula:</a:t>
            </a:r>
          </a:p>
          <a:p>
            <a:pPr>
              <a:buFont typeface="Arial" panose="020B0604020202020204" pitchFamily="34" charset="0"/>
              <a:buChar char="•"/>
            </a:pPr>
            <a:r>
              <a:rPr lang="en-US" dirty="0" smtClean="0"/>
              <a:t>BER=Number of Bit </a:t>
            </a:r>
            <a:r>
              <a:rPr lang="en-US" dirty="0" err="1" smtClean="0"/>
              <a:t>ErrorsTotal</a:t>
            </a:r>
            <a:r>
              <a:rPr lang="en-US" dirty="0" smtClean="0"/>
              <a:t> Transmitted </a:t>
            </a:r>
            <a:r>
              <a:rPr lang="en-US" dirty="0" err="1" smtClean="0"/>
              <a:t>BitsBER</a:t>
            </a:r>
            <a:r>
              <a:rPr lang="en-US" dirty="0" smtClean="0"/>
              <a:t> = \</a:t>
            </a:r>
            <a:r>
              <a:rPr lang="en-US" dirty="0" err="1" smtClean="0"/>
              <a:t>frac</a:t>
            </a:r>
            <a:r>
              <a:rPr lang="en-US" dirty="0" smtClean="0"/>
              <a:t>{\text{Number of Bit Errors}}{\text{Total Transmitted Bits}}BER=Total Transmitted </a:t>
            </a:r>
            <a:r>
              <a:rPr lang="en-US" dirty="0" err="1" smtClean="0"/>
              <a:t>BitsNumber</a:t>
            </a:r>
            <a:r>
              <a:rPr lang="en-US" dirty="0" smtClean="0"/>
              <a:t> of Bit Errors​</a:t>
            </a:r>
            <a:r>
              <a:rPr lang="en-US" b="1" dirty="0" smtClean="0"/>
              <a:t>Lower BER</a:t>
            </a:r>
            <a:r>
              <a:rPr lang="en-US" dirty="0" smtClean="0"/>
              <a:t> = </a:t>
            </a:r>
            <a:r>
              <a:rPr lang="en-US" b="1" dirty="0" smtClean="0"/>
              <a:t>Better signal quality</a:t>
            </a:r>
            <a:endParaRPr lang="en-US" dirty="0" smtClean="0"/>
          </a:p>
          <a:p>
            <a:pPr>
              <a:buFont typeface="Arial" panose="020B0604020202020204" pitchFamily="34" charset="0"/>
              <a:buChar char="•"/>
            </a:pPr>
            <a:r>
              <a:rPr lang="en-US" b="1" dirty="0" smtClean="0"/>
              <a:t>Higher BER</a:t>
            </a:r>
            <a:r>
              <a:rPr lang="en-US" dirty="0" smtClean="0"/>
              <a:t> = </a:t>
            </a:r>
            <a:r>
              <a:rPr lang="en-US" b="1" dirty="0" smtClean="0"/>
              <a:t>More corruption in data</a:t>
            </a:r>
            <a:endParaRPr lang="en-US" dirty="0" smtClean="0"/>
          </a:p>
          <a:p>
            <a:r>
              <a:rPr lang="en-US" b="1" dirty="0" smtClean="0"/>
              <a:t>🔹 Eye Diagram and BER</a:t>
            </a:r>
          </a:p>
          <a:p>
            <a:r>
              <a:rPr lang="en-US" dirty="0" smtClean="0"/>
              <a:t>An </a:t>
            </a:r>
            <a:r>
              <a:rPr lang="en-US" b="1" dirty="0" smtClean="0"/>
              <a:t>Eye Diagram</a:t>
            </a:r>
            <a:r>
              <a:rPr lang="en-US" dirty="0" smtClean="0"/>
              <a:t> shows how clean or distorted a signal is:</a:t>
            </a:r>
          </a:p>
          <a:p>
            <a:pPr>
              <a:buFont typeface="Arial" panose="020B0604020202020204" pitchFamily="34" charset="0"/>
              <a:buChar char="•"/>
            </a:pPr>
            <a:r>
              <a:rPr lang="en-US" b="1" dirty="0" smtClean="0"/>
              <a:t>A wide-open eye</a:t>
            </a:r>
            <a:r>
              <a:rPr lang="en-US" dirty="0" smtClean="0"/>
              <a:t> → Clear distinction between 1s and 0s → </a:t>
            </a:r>
            <a:r>
              <a:rPr lang="en-US" b="1" dirty="0" smtClean="0"/>
              <a:t>Low BER</a:t>
            </a:r>
            <a:endParaRPr lang="en-US" dirty="0" smtClean="0"/>
          </a:p>
          <a:p>
            <a:pPr>
              <a:buFont typeface="Arial" panose="020B0604020202020204" pitchFamily="34" charset="0"/>
              <a:buChar char="•"/>
            </a:pPr>
            <a:r>
              <a:rPr lang="en-US" b="1" dirty="0" smtClean="0"/>
              <a:t>A closed eye (distorted signal)</a:t>
            </a:r>
            <a:r>
              <a:rPr lang="en-US" dirty="0" smtClean="0"/>
              <a:t> → Hard to differentiate bits → </a:t>
            </a:r>
            <a:r>
              <a:rPr lang="en-US" b="1" dirty="0" smtClean="0"/>
              <a:t>High BER</a:t>
            </a:r>
            <a:endParaRPr lang="en-US" dirty="0" smtClean="0"/>
          </a:p>
          <a:p>
            <a:r>
              <a:rPr lang="en-US" dirty="0" smtClean="0"/>
              <a:t>In the eye diagram:</a:t>
            </a:r>
          </a:p>
          <a:p>
            <a:pPr>
              <a:buFont typeface="Arial" panose="020B0604020202020204" pitchFamily="34" charset="0"/>
              <a:buChar char="•"/>
            </a:pPr>
            <a:r>
              <a:rPr lang="en-US" b="1" dirty="0" smtClean="0"/>
              <a:t>Red &amp; blue areas</a:t>
            </a:r>
            <a:r>
              <a:rPr lang="en-US" dirty="0" smtClean="0"/>
              <a:t> show the probability of </a:t>
            </a:r>
            <a:r>
              <a:rPr lang="en-US" b="1" dirty="0" smtClean="0"/>
              <a:t>bit flipping</a:t>
            </a:r>
            <a:r>
              <a:rPr lang="en-US" dirty="0" smtClean="0"/>
              <a:t>.</a:t>
            </a:r>
          </a:p>
          <a:p>
            <a:pPr marL="742950" lvl="1" indent="-285750">
              <a:buFont typeface="Arial" panose="020B0604020202020204" pitchFamily="34" charset="0"/>
              <a:buChar char="•"/>
            </a:pPr>
            <a:r>
              <a:rPr lang="en-US" b="1" dirty="0" smtClean="0"/>
              <a:t>Red</a:t>
            </a:r>
            <a:r>
              <a:rPr lang="en-US" dirty="0" smtClean="0"/>
              <a:t> = A "0" mistakenly read as "1".</a:t>
            </a:r>
          </a:p>
          <a:p>
            <a:pPr marL="742950" lvl="1" indent="-285750">
              <a:buFont typeface="Arial" panose="020B0604020202020204" pitchFamily="34" charset="0"/>
              <a:buChar char="•"/>
            </a:pPr>
            <a:r>
              <a:rPr lang="en-US" b="1" dirty="0" smtClean="0"/>
              <a:t>Blue</a:t>
            </a:r>
            <a:r>
              <a:rPr lang="en-US" dirty="0" smtClean="0"/>
              <a:t> = A "1" mistakenly read as "0".</a:t>
            </a:r>
          </a:p>
          <a:p>
            <a:pPr>
              <a:buFont typeface="Arial" panose="020B0604020202020204" pitchFamily="34" charset="0"/>
              <a:buChar char="•"/>
            </a:pPr>
            <a:r>
              <a:rPr lang="en-US" dirty="0" smtClean="0"/>
              <a:t>The </a:t>
            </a:r>
            <a:r>
              <a:rPr lang="en-US" b="1" dirty="0" smtClean="0"/>
              <a:t>threshold voltage VDTHV_{DTH}VDTH​</a:t>
            </a:r>
            <a:r>
              <a:rPr lang="en-US" dirty="0" smtClean="0"/>
              <a:t> acts like a decision boundary:</a:t>
            </a:r>
          </a:p>
          <a:p>
            <a:pPr marL="742950" lvl="1" indent="-285750">
              <a:buFont typeface="Arial" panose="020B0604020202020204" pitchFamily="34" charset="0"/>
              <a:buChar char="•"/>
            </a:pPr>
            <a:r>
              <a:rPr lang="en-US" dirty="0" smtClean="0"/>
              <a:t>If the signal is </a:t>
            </a:r>
            <a:r>
              <a:rPr lang="en-US" b="1" dirty="0" smtClean="0"/>
              <a:t>above VDTHV_{DTH}VDTH​</a:t>
            </a:r>
            <a:r>
              <a:rPr lang="en-US" dirty="0" smtClean="0"/>
              <a:t> → Read as "1".</a:t>
            </a:r>
          </a:p>
          <a:p>
            <a:pPr marL="742950" lvl="1" indent="-285750">
              <a:buFont typeface="Arial" panose="020B0604020202020204" pitchFamily="34" charset="0"/>
              <a:buChar char="•"/>
            </a:pPr>
            <a:r>
              <a:rPr lang="en-US" dirty="0" smtClean="0"/>
              <a:t>If the signal is </a:t>
            </a:r>
            <a:r>
              <a:rPr lang="en-US" b="1" dirty="0" smtClean="0"/>
              <a:t>below VDTHV_{DTH}VDTH​</a:t>
            </a:r>
            <a:r>
              <a:rPr lang="en-US" dirty="0" smtClean="0"/>
              <a:t> → Read as "0".</a:t>
            </a:r>
          </a:p>
          <a:p>
            <a:pPr marL="742950" lvl="1" indent="-285750">
              <a:buFont typeface="Arial" panose="020B0604020202020204" pitchFamily="34" charset="0"/>
              <a:buChar char="•"/>
            </a:pPr>
            <a:r>
              <a:rPr lang="en-US" dirty="0" smtClean="0"/>
              <a:t>Noise &amp; jitter cause overlap → Errors increase.</a:t>
            </a:r>
          </a:p>
          <a:p>
            <a:r>
              <a:rPr lang="en-US" b="1" dirty="0" smtClean="0"/>
              <a:t>🔹 🚦 Another Analogy: Traffic Light in Fog</a:t>
            </a:r>
          </a:p>
          <a:p>
            <a:pPr>
              <a:buFont typeface="Arial" panose="020B0604020202020204" pitchFamily="34" charset="0"/>
              <a:buChar char="•"/>
            </a:pPr>
            <a:r>
              <a:rPr lang="en-US" dirty="0" smtClean="0"/>
              <a:t>A </a:t>
            </a:r>
            <a:r>
              <a:rPr lang="en-US" b="1" dirty="0" smtClean="0"/>
              <a:t>clear traffic light (open eye)</a:t>
            </a:r>
            <a:r>
              <a:rPr lang="en-US" dirty="0" smtClean="0"/>
              <a:t> → Drivers easily see red, yellow, or green.</a:t>
            </a:r>
          </a:p>
          <a:p>
            <a:pPr>
              <a:buFont typeface="Arial" panose="020B0604020202020204" pitchFamily="34" charset="0"/>
              <a:buChar char="•"/>
            </a:pPr>
            <a:r>
              <a:rPr lang="en-US" dirty="0" smtClean="0"/>
              <a:t>A </a:t>
            </a:r>
            <a:r>
              <a:rPr lang="en-US" b="1" dirty="0" smtClean="0"/>
              <a:t>blurry or flickering light (closed eye)</a:t>
            </a:r>
            <a:r>
              <a:rPr lang="en-US" dirty="0" smtClean="0"/>
              <a:t> → Confusion leads to errors (misreading the signal).</a:t>
            </a:r>
          </a:p>
          <a:p>
            <a:r>
              <a:rPr lang="en-US" dirty="0" smtClean="0"/>
              <a:t>💡 </a:t>
            </a:r>
            <a:r>
              <a:rPr lang="en-US" b="1" dirty="0" smtClean="0"/>
              <a:t>More distortion = More confusion = Higher BER!</a:t>
            </a:r>
            <a:endParaRPr lang="en-US" dirty="0" smtClean="0"/>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23</a:t>
            </a:fld>
            <a:endParaRPr lang="en-US"/>
          </a:p>
        </p:txBody>
      </p:sp>
    </p:spTree>
    <p:extLst>
      <p:ext uri="{BB962C8B-B14F-4D97-AF65-F5344CB8AC3E}">
        <p14:creationId xmlns:p14="http://schemas.microsoft.com/office/powerpoint/2010/main" val="1493716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assembled prototype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1CB6C08C-3E57-3F4B-904C-3B245190B05F}"/>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EC64885-8EEB-D647-9AD5-B5C1E3E29679}"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258CEC3-79D9-2041-B5E1-897392A42332}"/>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6EF88E8D-4B24-0B4E-901A-E42A8B4AB29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4417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31</a:t>
            </a:fld>
            <a:endParaRPr lang="en-US"/>
          </a:p>
        </p:txBody>
      </p:sp>
    </p:spTree>
    <p:extLst>
      <p:ext uri="{BB962C8B-B14F-4D97-AF65-F5344CB8AC3E}">
        <p14:creationId xmlns:p14="http://schemas.microsoft.com/office/powerpoint/2010/main" val="2299123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Intuition Behind Active CTLE (Continuous-Time Linear Equalizer)</a:t>
            </a:r>
          </a:p>
          <a:p>
            <a:r>
              <a:rPr lang="en-US" dirty="0" smtClean="0"/>
              <a:t>A </a:t>
            </a:r>
            <a:r>
              <a:rPr lang="en-US" b="1" dirty="0" smtClean="0"/>
              <a:t>CTLE</a:t>
            </a:r>
            <a:r>
              <a:rPr lang="en-US" dirty="0" smtClean="0"/>
              <a:t> is used in </a:t>
            </a:r>
            <a:r>
              <a:rPr lang="en-US" b="1" dirty="0" smtClean="0"/>
              <a:t>high-speed receivers</a:t>
            </a:r>
            <a:r>
              <a:rPr lang="en-US" dirty="0" smtClean="0"/>
              <a:t> to compensate for channel losses by </a:t>
            </a:r>
            <a:r>
              <a:rPr lang="en-US" b="1" dirty="0" smtClean="0"/>
              <a:t>boosting high-frequency components</a:t>
            </a:r>
            <a:r>
              <a:rPr lang="en-US" dirty="0" smtClean="0"/>
              <a:t> while </a:t>
            </a:r>
            <a:r>
              <a:rPr lang="en-US" b="1" dirty="0" smtClean="0"/>
              <a:t>attenuating low-frequency components</a:t>
            </a:r>
            <a:r>
              <a:rPr lang="en-US" dirty="0" smtClean="0"/>
              <a:t>. This improves the signal quality before further amplification or detection.</a:t>
            </a:r>
          </a:p>
          <a:p>
            <a:r>
              <a:rPr lang="en-US" b="1" dirty="0" smtClean="0"/>
              <a:t>📬 Analogy: Tuning a Radio for Clear Sound</a:t>
            </a:r>
          </a:p>
          <a:p>
            <a:r>
              <a:rPr lang="en-US" dirty="0" smtClean="0"/>
              <a:t>Imagine you're listening to a </a:t>
            </a:r>
            <a:r>
              <a:rPr lang="en-US" b="1" dirty="0" smtClean="0"/>
              <a:t>radio station</a:t>
            </a:r>
            <a:r>
              <a:rPr lang="en-US" dirty="0" smtClean="0"/>
              <a:t> with both </a:t>
            </a:r>
            <a:r>
              <a:rPr lang="en-US" b="1" dirty="0" smtClean="0"/>
              <a:t>bass (low frequency)</a:t>
            </a:r>
            <a:r>
              <a:rPr lang="en-US" dirty="0" smtClean="0"/>
              <a:t> and </a:t>
            </a:r>
            <a:r>
              <a:rPr lang="en-US" b="1" dirty="0" smtClean="0"/>
              <a:t>treble (high frequency)</a:t>
            </a:r>
            <a:r>
              <a:rPr lang="en-US" dirty="0" smtClean="0"/>
              <a:t>:</a:t>
            </a:r>
          </a:p>
          <a:p>
            <a:pPr>
              <a:buFont typeface="Arial" panose="020B0604020202020204" pitchFamily="34" charset="0"/>
              <a:buChar char="•"/>
            </a:pPr>
            <a:r>
              <a:rPr lang="en-US" dirty="0" smtClean="0"/>
              <a:t>If there's </a:t>
            </a:r>
            <a:r>
              <a:rPr lang="en-US" b="1" dirty="0" smtClean="0"/>
              <a:t>too much bass</a:t>
            </a:r>
            <a:r>
              <a:rPr lang="en-US" dirty="0" smtClean="0"/>
              <a:t>, the sound feels </a:t>
            </a:r>
            <a:r>
              <a:rPr lang="en-US" b="1" dirty="0" smtClean="0"/>
              <a:t>muffled</a:t>
            </a:r>
            <a:r>
              <a:rPr lang="en-US" dirty="0" smtClean="0"/>
              <a:t>.</a:t>
            </a:r>
          </a:p>
          <a:p>
            <a:pPr>
              <a:buFont typeface="Arial" panose="020B0604020202020204" pitchFamily="34" charset="0"/>
              <a:buChar char="•"/>
            </a:pPr>
            <a:r>
              <a:rPr lang="en-US" dirty="0" smtClean="0"/>
              <a:t>If there's </a:t>
            </a:r>
            <a:r>
              <a:rPr lang="en-US" b="1" dirty="0" smtClean="0"/>
              <a:t>too little bass</a:t>
            </a:r>
            <a:r>
              <a:rPr lang="en-US" dirty="0" smtClean="0"/>
              <a:t>, the sound feels </a:t>
            </a:r>
            <a:r>
              <a:rPr lang="en-US" b="1" dirty="0" smtClean="0"/>
              <a:t>thin</a:t>
            </a:r>
            <a:r>
              <a:rPr lang="en-US" dirty="0" smtClean="0"/>
              <a:t> and lacks depth.</a:t>
            </a:r>
          </a:p>
          <a:p>
            <a:pPr>
              <a:buFont typeface="Arial" panose="020B0604020202020204" pitchFamily="34" charset="0"/>
              <a:buChar char="•"/>
            </a:pPr>
            <a:r>
              <a:rPr lang="en-US" dirty="0" smtClean="0"/>
              <a:t>The </a:t>
            </a:r>
            <a:r>
              <a:rPr lang="en-US" b="1" dirty="0" smtClean="0"/>
              <a:t>CTLE acts like a tone control</a:t>
            </a:r>
            <a:r>
              <a:rPr lang="en-US" dirty="0" smtClean="0"/>
              <a:t>, selectively reducing </a:t>
            </a:r>
            <a:r>
              <a:rPr lang="en-US" b="1" dirty="0" smtClean="0"/>
              <a:t>excess low frequencies</a:t>
            </a:r>
            <a:r>
              <a:rPr lang="en-US" dirty="0" smtClean="0"/>
              <a:t> while keeping the </a:t>
            </a:r>
            <a:r>
              <a:rPr lang="en-US" b="1" dirty="0" smtClean="0"/>
              <a:t>high frequencies intact</a:t>
            </a:r>
            <a:r>
              <a:rPr lang="en-US" dirty="0" smtClean="0"/>
              <a:t>.</a:t>
            </a:r>
          </a:p>
          <a:p>
            <a:r>
              <a:rPr lang="en-US" b="1" dirty="0" smtClean="0"/>
              <a:t>🔹 How Does It Work?</a:t>
            </a:r>
          </a:p>
          <a:p>
            <a:r>
              <a:rPr lang="en-US" dirty="0" smtClean="0"/>
              <a:t>The </a:t>
            </a:r>
            <a:r>
              <a:rPr lang="en-US" b="1" dirty="0" smtClean="0"/>
              <a:t>active CTLE</a:t>
            </a:r>
            <a:r>
              <a:rPr lang="en-US" dirty="0" smtClean="0"/>
              <a:t> uses </a:t>
            </a:r>
            <a:r>
              <a:rPr lang="en-US" b="1" dirty="0" smtClean="0"/>
              <a:t>frequency-selective source degeneration</a:t>
            </a:r>
            <a:r>
              <a:rPr lang="en-US" dirty="0" smtClean="0"/>
              <a:t>, achieved by adding a </a:t>
            </a:r>
            <a:r>
              <a:rPr lang="en-US" b="1" dirty="0" smtClean="0"/>
              <a:t>resistor (RSR_S) and capacitor (CSC_S) in series</a:t>
            </a:r>
            <a:r>
              <a:rPr lang="en-US" dirty="0" smtClean="0"/>
              <a:t> at the source of the transistor.</a:t>
            </a:r>
          </a:p>
          <a:p>
            <a:r>
              <a:rPr lang="en-US" b="1" dirty="0" smtClean="0"/>
              <a:t>1️⃣ Low-Frequency Gain is Reduced</a:t>
            </a:r>
          </a:p>
          <a:p>
            <a:pPr>
              <a:buFont typeface="Arial" panose="020B0604020202020204" pitchFamily="34" charset="0"/>
              <a:buChar char="•"/>
            </a:pPr>
            <a:r>
              <a:rPr lang="en-US" dirty="0" smtClean="0"/>
              <a:t>At low frequencies, CS is </a:t>
            </a:r>
            <a:r>
              <a:rPr lang="en-US" b="1" dirty="0" smtClean="0"/>
              <a:t>open-circuit</a:t>
            </a:r>
            <a:r>
              <a:rPr lang="en-US" dirty="0" smtClean="0"/>
              <a:t>, so RS provides </a:t>
            </a:r>
            <a:r>
              <a:rPr lang="en-US" b="1" dirty="0" smtClean="0"/>
              <a:t>degeneration</a:t>
            </a:r>
            <a:r>
              <a:rPr lang="en-US" dirty="0" smtClean="0"/>
              <a:t>, reducing the gain by a factor of 1+0.5gmRS1</a:t>
            </a:r>
          </a:p>
          <a:p>
            <a:pPr>
              <a:buFont typeface="Arial" panose="020B0604020202020204" pitchFamily="34" charset="0"/>
              <a:buChar char="•"/>
            </a:pPr>
            <a:r>
              <a:rPr lang="en-US" b="1" dirty="0" smtClean="0"/>
              <a:t>Key takeaway:</a:t>
            </a:r>
            <a:r>
              <a:rPr lang="en-US" dirty="0" smtClean="0"/>
              <a:t> </a:t>
            </a:r>
            <a:r>
              <a:rPr lang="en-US" b="1" dirty="0" smtClean="0"/>
              <a:t>Low-frequency components are attenuated</a:t>
            </a:r>
            <a:r>
              <a:rPr lang="en-US" dirty="0" smtClean="0"/>
              <a:t>.</a:t>
            </a:r>
          </a:p>
          <a:p>
            <a:r>
              <a:rPr lang="en-US" b="1" dirty="0" smtClean="0"/>
              <a:t>2️⃣ High-Frequency Gain is Maintained</a:t>
            </a:r>
          </a:p>
          <a:p>
            <a:pPr>
              <a:buFont typeface="Arial" panose="020B0604020202020204" pitchFamily="34" charset="0"/>
              <a:buChar char="•"/>
            </a:pPr>
            <a:r>
              <a:rPr lang="en-US" dirty="0" smtClean="0"/>
              <a:t>At high frequencies, CS behaves like a </a:t>
            </a:r>
            <a:r>
              <a:rPr lang="en-US" b="1" dirty="0" smtClean="0"/>
              <a:t>short circuit</a:t>
            </a:r>
            <a:r>
              <a:rPr lang="en-US" dirty="0" smtClean="0"/>
              <a:t>, bypassing RS, effectively removing degeneration.</a:t>
            </a:r>
          </a:p>
          <a:p>
            <a:pPr>
              <a:buFont typeface="Arial" panose="020B0604020202020204" pitchFamily="34" charset="0"/>
              <a:buChar char="•"/>
            </a:pPr>
            <a:r>
              <a:rPr lang="en-US" b="1" dirty="0" smtClean="0"/>
              <a:t>Key takeaway:</a:t>
            </a:r>
            <a:r>
              <a:rPr lang="en-US" dirty="0" smtClean="0"/>
              <a:t> </a:t>
            </a:r>
            <a:r>
              <a:rPr lang="en-US" b="1" dirty="0" smtClean="0"/>
              <a:t>High-frequency components remain strong</a:t>
            </a:r>
            <a:r>
              <a:rPr lang="en-US" dirty="0" smtClean="0"/>
              <a:t>.</a:t>
            </a:r>
          </a:p>
          <a:p>
            <a:r>
              <a:rPr lang="en-US" b="1" dirty="0" smtClean="0"/>
              <a:t>3️⃣ Pole-Zero Behavior Shapes the Frequency Response</a:t>
            </a:r>
          </a:p>
          <a:p>
            <a:pPr>
              <a:buFont typeface="Arial" panose="020B0604020202020204" pitchFamily="34" charset="0"/>
              <a:buChar char="•"/>
            </a:pPr>
            <a:r>
              <a:rPr lang="en-US" dirty="0" smtClean="0"/>
              <a:t>The system introduces a </a:t>
            </a:r>
            <a:r>
              <a:rPr lang="en-US" b="1" dirty="0" smtClean="0"/>
              <a:t>zero at</a:t>
            </a:r>
            <a:r>
              <a:rPr lang="en-US" dirty="0" smtClean="0"/>
              <a:t> </a:t>
            </a:r>
            <a:r>
              <a:rPr lang="en-US" dirty="0" err="1" smtClean="0"/>
              <a:t>ωz</a:t>
            </a:r>
            <a:r>
              <a:rPr lang="en-US" dirty="0" smtClean="0"/>
              <a:t>=1RSCS\</a:t>
            </a:r>
            <a:r>
              <a:rPr lang="en-US" dirty="0" err="1" smtClean="0"/>
              <a:t>omega_z</a:t>
            </a:r>
            <a:r>
              <a:rPr lang="en-US" dirty="0" smtClean="0"/>
              <a:t> = \</a:t>
            </a:r>
            <a:r>
              <a:rPr lang="en-US" dirty="0" err="1" smtClean="0"/>
              <a:t>frac</a:t>
            </a:r>
            <a:r>
              <a:rPr lang="en-US" dirty="0" smtClean="0"/>
              <a:t>{1}{R_S C_S}, boosting gain at higher frequencies.</a:t>
            </a:r>
          </a:p>
          <a:p>
            <a:pPr>
              <a:buFont typeface="Arial" panose="020B0604020202020204" pitchFamily="34" charset="0"/>
              <a:buChar char="•"/>
            </a:pPr>
            <a:r>
              <a:rPr lang="en-US" dirty="0" smtClean="0"/>
              <a:t>A </a:t>
            </a:r>
            <a:r>
              <a:rPr lang="en-US" b="1" dirty="0" smtClean="0"/>
              <a:t>dominant pole</a:t>
            </a:r>
            <a:r>
              <a:rPr lang="en-US" dirty="0" smtClean="0"/>
              <a:t> at ωp1\omega_{p1} limits the gain beyond a certain frequency.</a:t>
            </a:r>
          </a:p>
          <a:p>
            <a:pPr>
              <a:buFont typeface="Arial" panose="020B0604020202020204" pitchFamily="34" charset="0"/>
              <a:buChar char="•"/>
            </a:pPr>
            <a:r>
              <a:rPr lang="en-US" b="1" dirty="0" smtClean="0"/>
              <a:t>Overall effect:</a:t>
            </a:r>
            <a:r>
              <a:rPr lang="en-US" dirty="0" smtClean="0"/>
              <a:t> Boosting of high frequencies while suppressing low frequencies → </a:t>
            </a:r>
            <a:r>
              <a:rPr lang="en-US" b="1" dirty="0" smtClean="0"/>
              <a:t>equalization effect!</a:t>
            </a:r>
            <a:endParaRPr lang="en-US" dirty="0" smtClean="0"/>
          </a:p>
          <a:p>
            <a:r>
              <a:rPr lang="en-US" b="1" dirty="0" smtClean="0"/>
              <a:t>🔹 🚦 Another Analogy: Slope Adjustment on a Mountain Road</a:t>
            </a:r>
          </a:p>
          <a:p>
            <a:r>
              <a:rPr lang="en-US" dirty="0" smtClean="0"/>
              <a:t>Imagine you're driving on a </a:t>
            </a:r>
            <a:r>
              <a:rPr lang="en-US" b="1" dirty="0" smtClean="0"/>
              <a:t>mountain road</a:t>
            </a:r>
            <a:r>
              <a:rPr lang="en-US" dirty="0" smtClean="0"/>
              <a:t>:</a:t>
            </a:r>
          </a:p>
          <a:p>
            <a:pPr>
              <a:buFont typeface="Arial" panose="020B0604020202020204" pitchFamily="34" charset="0"/>
              <a:buChar char="•"/>
            </a:pPr>
            <a:r>
              <a:rPr lang="en-US" b="1" dirty="0" smtClean="0"/>
              <a:t>Flat areas (low frequencies) slow you down</a:t>
            </a:r>
            <a:r>
              <a:rPr lang="en-US" dirty="0" smtClean="0"/>
              <a:t> due to friction.</a:t>
            </a:r>
          </a:p>
          <a:p>
            <a:pPr>
              <a:buFont typeface="Arial" panose="020B0604020202020204" pitchFamily="34" charset="0"/>
              <a:buChar char="•"/>
            </a:pPr>
            <a:r>
              <a:rPr lang="en-US" b="1" dirty="0" smtClean="0"/>
              <a:t>Steep slopes (high frequencies) help you accelerate</a:t>
            </a:r>
            <a:r>
              <a:rPr lang="en-US" dirty="0" smtClean="0"/>
              <a:t>.</a:t>
            </a:r>
          </a:p>
          <a:p>
            <a:pPr>
              <a:buFont typeface="Arial" panose="020B0604020202020204" pitchFamily="34" charset="0"/>
              <a:buChar char="•"/>
            </a:pPr>
            <a:r>
              <a:rPr lang="en-US" dirty="0" smtClean="0"/>
              <a:t>The </a:t>
            </a:r>
            <a:r>
              <a:rPr lang="en-US" b="1" dirty="0" smtClean="0"/>
              <a:t>CTLE adjusts the road's slope</a:t>
            </a:r>
            <a:r>
              <a:rPr lang="en-US" dirty="0" smtClean="0"/>
              <a:t> so that low-speed areas (low frequencies) don’t dominate, keeping motion smooth.</a:t>
            </a:r>
          </a:p>
          <a:p>
            <a:r>
              <a:rPr lang="en-US" dirty="0" smtClean="0"/>
              <a:t>💡 </a:t>
            </a:r>
            <a:r>
              <a:rPr lang="en-US" b="1" dirty="0" smtClean="0"/>
              <a:t>By suppressing low frequencies and maintaining high-frequency components, the CTLE ensures clearer signal transmission at high speeds!</a:t>
            </a:r>
            <a:endParaRPr lang="en-US" dirty="0" smtClean="0"/>
          </a:p>
          <a:p>
            <a:r>
              <a:rPr lang="en-US" dirty="0" smtClean="0"/>
              <a:t>Would you like a complete slide recreation similar to your existing format?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32</a:t>
            </a:fld>
            <a:endParaRPr lang="en-US"/>
          </a:p>
        </p:txBody>
      </p:sp>
    </p:spTree>
    <p:extLst>
      <p:ext uri="{BB962C8B-B14F-4D97-AF65-F5344CB8AC3E}">
        <p14:creationId xmlns:p14="http://schemas.microsoft.com/office/powerpoint/2010/main" val="5058962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explains </a:t>
            </a:r>
            <a:r>
              <a:rPr lang="en-US" b="1" dirty="0" smtClean="0"/>
              <a:t>Feed Forward Equalization (FFE)</a:t>
            </a:r>
            <a:r>
              <a:rPr lang="en-US" dirty="0" smtClean="0"/>
              <a:t> and its role in compensating channel loss. Here’s a breakdown:</a:t>
            </a:r>
          </a:p>
          <a:p>
            <a:r>
              <a:rPr lang="en-US" b="1" dirty="0" smtClean="0"/>
              <a:t>Key Concepts</a:t>
            </a:r>
          </a:p>
          <a:p>
            <a:r>
              <a:rPr lang="en-US" b="1" dirty="0" smtClean="0"/>
              <a:t>Feed Forward Equalization (FFE) Acts as a High-Pass Filter (HPF)</a:t>
            </a:r>
            <a:endParaRPr lang="en-US" dirty="0" smtClean="0"/>
          </a:p>
          <a:p>
            <a:pPr lvl="1"/>
            <a:r>
              <a:rPr lang="en-US" dirty="0" smtClean="0"/>
              <a:t>The blue graph shows that FFE boosts high-frequency components while suppressing low frequencies.</a:t>
            </a:r>
          </a:p>
          <a:p>
            <a:r>
              <a:rPr lang="en-US" b="1" dirty="0" smtClean="0"/>
              <a:t>The Channel Acts as a Low-Pass Filter (LPF)</a:t>
            </a:r>
            <a:endParaRPr lang="en-US" dirty="0" smtClean="0"/>
          </a:p>
          <a:p>
            <a:pPr lvl="1"/>
            <a:r>
              <a:rPr lang="en-US" dirty="0" smtClean="0"/>
              <a:t>The red graph shows how the transmission medium attenuates high-frequency signals, leading to signal degradation.</a:t>
            </a:r>
          </a:p>
          <a:p>
            <a:r>
              <a:rPr lang="en-US" b="1" dirty="0" smtClean="0"/>
              <a:t>Overall System Response Becomes Flat</a:t>
            </a:r>
            <a:endParaRPr lang="en-US" dirty="0" smtClean="0"/>
          </a:p>
          <a:p>
            <a:pPr lvl="1"/>
            <a:r>
              <a:rPr lang="en-US" dirty="0" smtClean="0"/>
              <a:t>The green graph shows that by applying FFE before transmission, the signal distortion caused by the LPF nature of the channel is mitigated, resulting in a relatively flat response.</a:t>
            </a:r>
          </a:p>
          <a:p>
            <a:r>
              <a:rPr lang="en-US" b="1" dirty="0" smtClean="0"/>
              <a:t>Main Takeaways</a:t>
            </a:r>
          </a:p>
          <a:p>
            <a:r>
              <a:rPr lang="en-US" b="1" dirty="0" smtClean="0"/>
              <a:t>FFE helps compensate for inter-symbol interference (ISI)</a:t>
            </a:r>
            <a:r>
              <a:rPr lang="en-US" dirty="0" smtClean="0"/>
              <a:t> by pre-emphasizing high-frequency content.</a:t>
            </a:r>
          </a:p>
          <a:p>
            <a:r>
              <a:rPr lang="en-US" b="1" dirty="0" smtClean="0"/>
              <a:t>The combination of FFE (HPF) and the channel (LPF) results in a balanced response</a:t>
            </a:r>
            <a:r>
              <a:rPr lang="en-US" dirty="0" smtClean="0"/>
              <a:t> across the signal bandwidth.</a:t>
            </a:r>
          </a:p>
          <a:p>
            <a:r>
              <a:rPr lang="en-US" b="1" dirty="0" smtClean="0"/>
              <a:t>This technique is widely used in high-speed serial links</a:t>
            </a:r>
            <a:r>
              <a:rPr lang="en-US" dirty="0" smtClean="0"/>
              <a:t> to improve signal integrity.</a:t>
            </a:r>
          </a:p>
          <a:p>
            <a:r>
              <a:rPr lang="en-US" dirty="0" smtClean="0"/>
              <a:t>Would you like me to format this into a proper slide like the previous one? 😊</a:t>
            </a:r>
          </a:p>
          <a:p>
            <a:r>
              <a:rPr lang="en-US" dirty="0" smtClean="0"/>
              <a:t>4o</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33</a:t>
            </a:fld>
            <a:endParaRPr lang="en-US"/>
          </a:p>
        </p:txBody>
      </p:sp>
    </p:spTree>
    <p:extLst>
      <p:ext uri="{BB962C8B-B14F-4D97-AF65-F5344CB8AC3E}">
        <p14:creationId xmlns:p14="http://schemas.microsoft.com/office/powerpoint/2010/main" val="2903846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Why Equalization is Needed?</a:t>
            </a:r>
            <a:endParaRPr lang="en-US" dirty="0" smtClean="0"/>
          </a:p>
          <a:p>
            <a:pPr>
              <a:buFont typeface="Arial" panose="020B0604020202020204" pitchFamily="34" charset="0"/>
              <a:buChar char="•"/>
            </a:pPr>
            <a:r>
              <a:rPr lang="en-US" dirty="0" smtClean="0"/>
              <a:t>Without equalization, high-speed signals suffer from </a:t>
            </a:r>
            <a:r>
              <a:rPr lang="en-US" b="1" dirty="0" smtClean="0"/>
              <a:t>Inter-Symbol Interference (ISI)</a:t>
            </a:r>
            <a:r>
              <a:rPr lang="en-US" dirty="0" smtClean="0"/>
              <a:t> due to channel impairments.</a:t>
            </a:r>
          </a:p>
          <a:p>
            <a:pPr>
              <a:buFont typeface="Arial" panose="020B0604020202020204" pitchFamily="34" charset="0"/>
              <a:buChar char="•"/>
            </a:pPr>
            <a:r>
              <a:rPr lang="en-US" dirty="0" smtClean="0"/>
              <a:t>This leads to </a:t>
            </a:r>
            <a:r>
              <a:rPr lang="en-US" b="1" dirty="0" smtClean="0"/>
              <a:t>distorted eye diagrams</a:t>
            </a:r>
            <a:r>
              <a:rPr lang="en-US" dirty="0" smtClean="0"/>
              <a:t> and errors in data recovery.</a:t>
            </a:r>
          </a:p>
          <a:p>
            <a:r>
              <a:rPr lang="en-US" b="1" dirty="0" smtClean="0"/>
              <a:t>Concept of Feed Forward Equalization (FFE)</a:t>
            </a:r>
            <a:endParaRPr lang="en-US" dirty="0" smtClean="0"/>
          </a:p>
          <a:p>
            <a:pPr>
              <a:buFont typeface="Arial" panose="020B0604020202020204" pitchFamily="34" charset="0"/>
              <a:buChar char="•"/>
            </a:pPr>
            <a:r>
              <a:rPr lang="en-US" dirty="0" smtClean="0"/>
              <a:t>FFE is a </a:t>
            </a:r>
            <a:r>
              <a:rPr lang="en-US" b="1" dirty="0" smtClean="0"/>
              <a:t>Finite Impulse Response (FIR) filter</a:t>
            </a:r>
            <a:r>
              <a:rPr lang="en-US" dirty="0" smtClean="0"/>
              <a:t> that </a:t>
            </a:r>
            <a:r>
              <a:rPr lang="en-US" b="1" dirty="0" smtClean="0"/>
              <a:t>pre-emphasizes</a:t>
            </a:r>
            <a:r>
              <a:rPr lang="en-US" dirty="0" smtClean="0"/>
              <a:t> the transmitted signal.</a:t>
            </a:r>
          </a:p>
          <a:p>
            <a:pPr>
              <a:buFont typeface="Arial" panose="020B0604020202020204" pitchFamily="34" charset="0"/>
              <a:buChar char="•"/>
            </a:pPr>
            <a:r>
              <a:rPr lang="en-US" dirty="0" smtClean="0"/>
              <a:t>It works by adding a </a:t>
            </a:r>
            <a:r>
              <a:rPr lang="en-US" b="1" dirty="0" smtClean="0"/>
              <a:t>weighted sum of previous symbols</a:t>
            </a:r>
            <a:r>
              <a:rPr lang="en-US" dirty="0" smtClean="0"/>
              <a:t> to the current symbol.</a:t>
            </a:r>
          </a:p>
          <a:p>
            <a:r>
              <a:rPr lang="en-US" b="1" dirty="0" smtClean="0"/>
              <a:t>How FFE Cancels ISI?</a:t>
            </a:r>
            <a:endParaRPr lang="en-US" dirty="0" smtClean="0"/>
          </a:p>
          <a:p>
            <a:pPr>
              <a:buFont typeface="Arial" panose="020B0604020202020204" pitchFamily="34" charset="0"/>
              <a:buChar char="•"/>
            </a:pPr>
            <a:r>
              <a:rPr lang="en-US" dirty="0" smtClean="0"/>
              <a:t>The filter applies </a:t>
            </a:r>
            <a:r>
              <a:rPr lang="en-US" b="1" dirty="0" smtClean="0"/>
              <a:t>negative peaking</a:t>
            </a:r>
            <a:r>
              <a:rPr lang="en-US" dirty="0" smtClean="0"/>
              <a:t> to </a:t>
            </a:r>
            <a:r>
              <a:rPr lang="en-US" b="1" dirty="0" smtClean="0"/>
              <a:t>counteract channel distortion</a:t>
            </a:r>
            <a:r>
              <a:rPr lang="en-US" dirty="0" smtClean="0"/>
              <a:t>.</a:t>
            </a:r>
          </a:p>
          <a:p>
            <a:pPr>
              <a:buFont typeface="Arial" panose="020B0604020202020204" pitchFamily="34" charset="0"/>
              <a:buChar char="•"/>
            </a:pPr>
            <a:r>
              <a:rPr lang="en-US" dirty="0" smtClean="0"/>
              <a:t>The resulting signal is </a:t>
            </a:r>
            <a:r>
              <a:rPr lang="en-US" b="1" dirty="0" smtClean="0"/>
              <a:t>closer to the ideal pulse</a:t>
            </a:r>
            <a:r>
              <a:rPr lang="en-US" dirty="0" smtClean="0"/>
              <a:t>, reducing </a:t>
            </a:r>
            <a:r>
              <a:rPr lang="en-US" b="1" dirty="0" smtClean="0"/>
              <a:t>ISI</a:t>
            </a:r>
            <a:r>
              <a:rPr lang="en-US" dirty="0" smtClean="0"/>
              <a:t> and improving detection.</a:t>
            </a:r>
          </a:p>
          <a:p>
            <a:r>
              <a:rPr lang="en-US" b="1" dirty="0" smtClean="0"/>
              <a:t>Key Takeaways</a:t>
            </a:r>
            <a:endParaRPr lang="en-US" dirty="0" smtClean="0"/>
          </a:p>
          <a:p>
            <a:pPr>
              <a:buFont typeface="Arial" panose="020B0604020202020204" pitchFamily="34" charset="0"/>
              <a:buChar char="•"/>
            </a:pPr>
            <a:r>
              <a:rPr lang="en-US" dirty="0" smtClean="0"/>
              <a:t>FFE improves data integrity by </a:t>
            </a:r>
            <a:r>
              <a:rPr lang="en-US" b="1" dirty="0" smtClean="0"/>
              <a:t>compensating for channel losses</a:t>
            </a:r>
            <a:r>
              <a:rPr lang="en-US" dirty="0" smtClean="0"/>
              <a:t>.</a:t>
            </a:r>
          </a:p>
          <a:p>
            <a:pPr>
              <a:buFont typeface="Arial" panose="020B0604020202020204" pitchFamily="34" charset="0"/>
              <a:buChar char="•"/>
            </a:pPr>
            <a:r>
              <a:rPr lang="en-US" dirty="0" smtClean="0"/>
              <a:t>It is commonly used in </a:t>
            </a:r>
            <a:r>
              <a:rPr lang="en-US" b="1" dirty="0" smtClean="0"/>
              <a:t>wireline and optical links</a:t>
            </a:r>
            <a:r>
              <a:rPr lang="en-US" dirty="0" smtClean="0"/>
              <a:t> for </a:t>
            </a:r>
            <a:r>
              <a:rPr lang="en-US" b="1" dirty="0" smtClean="0"/>
              <a:t>high-speed data transmission</a:t>
            </a:r>
            <a:r>
              <a:rPr lang="en-US" dirty="0" smtClean="0"/>
              <a:t>.</a:t>
            </a:r>
          </a:p>
          <a:p>
            <a:pPr>
              <a:buFont typeface="Arial" panose="020B0604020202020204" pitchFamily="34" charset="0"/>
              <a:buChar char="•"/>
            </a:pPr>
            <a:r>
              <a:rPr lang="en-US" dirty="0" smtClean="0"/>
              <a:t>Proper </a:t>
            </a:r>
            <a:r>
              <a:rPr lang="en-US" b="1" dirty="0" smtClean="0"/>
              <a:t>coefficient tuning</a:t>
            </a:r>
            <a:r>
              <a:rPr lang="en-US" dirty="0" smtClean="0"/>
              <a:t> is critical to achieving optimal performance.</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34</a:t>
            </a:fld>
            <a:endParaRPr lang="en-US"/>
          </a:p>
        </p:txBody>
      </p:sp>
    </p:spTree>
    <p:extLst>
      <p:ext uri="{BB962C8B-B14F-4D97-AF65-F5344CB8AC3E}">
        <p14:creationId xmlns:p14="http://schemas.microsoft.com/office/powerpoint/2010/main" val="315129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Introduction to Multi-Tap FFE</a:t>
            </a:r>
            <a:endParaRPr lang="en-US" dirty="0" smtClean="0"/>
          </a:p>
          <a:p>
            <a:pPr>
              <a:buFont typeface="Arial" panose="020B0604020202020204" pitchFamily="34" charset="0"/>
              <a:buChar char="•"/>
            </a:pPr>
            <a:r>
              <a:rPr lang="en-US" dirty="0" smtClean="0"/>
              <a:t>The previous slide introduced the concept of </a:t>
            </a:r>
            <a:r>
              <a:rPr lang="en-US" b="1" dirty="0" smtClean="0"/>
              <a:t>feed-forward equalization (FFE)</a:t>
            </a:r>
            <a:r>
              <a:rPr lang="en-US" dirty="0" smtClean="0"/>
              <a:t> to </a:t>
            </a:r>
            <a:r>
              <a:rPr lang="en-US" b="1" dirty="0" smtClean="0"/>
              <a:t>combat ISI</a:t>
            </a:r>
            <a:r>
              <a:rPr lang="en-US" dirty="0" smtClean="0"/>
              <a:t>.</a:t>
            </a:r>
          </a:p>
          <a:p>
            <a:pPr>
              <a:buFont typeface="Arial" panose="020B0604020202020204" pitchFamily="34" charset="0"/>
              <a:buChar char="•"/>
            </a:pPr>
            <a:r>
              <a:rPr lang="en-US" dirty="0" smtClean="0"/>
              <a:t>Here, we extend the idea by introducing a </a:t>
            </a:r>
            <a:r>
              <a:rPr lang="en-US" b="1" dirty="0" smtClean="0"/>
              <a:t>2-tap FFE</a:t>
            </a:r>
            <a:r>
              <a:rPr lang="en-US" dirty="0" smtClean="0"/>
              <a:t>, which applies filtering over </a:t>
            </a:r>
            <a:r>
              <a:rPr lang="en-US" b="1" dirty="0" smtClean="0"/>
              <a:t>multiple past symbols</a:t>
            </a:r>
            <a:r>
              <a:rPr lang="en-US" dirty="0" smtClean="0"/>
              <a:t>.</a:t>
            </a:r>
          </a:p>
          <a:p>
            <a:r>
              <a:rPr lang="en-US" b="1" dirty="0" smtClean="0"/>
              <a:t>Understanding the Diagram</a:t>
            </a:r>
            <a:endParaRPr lang="en-US" dirty="0" smtClean="0"/>
          </a:p>
          <a:p>
            <a:pPr>
              <a:buFont typeface="Arial" panose="020B0604020202020204" pitchFamily="34" charset="0"/>
              <a:buChar char="•"/>
            </a:pPr>
            <a:r>
              <a:rPr lang="en-US" dirty="0" smtClean="0"/>
              <a:t>The </a:t>
            </a:r>
            <a:r>
              <a:rPr lang="en-US" b="1" dirty="0" smtClean="0"/>
              <a:t>main tap (W₀)</a:t>
            </a:r>
            <a:r>
              <a:rPr lang="en-US" dirty="0" smtClean="0"/>
              <a:t> (blue) represents the current symbol contribution.</a:t>
            </a:r>
          </a:p>
          <a:p>
            <a:pPr>
              <a:buFont typeface="Arial" panose="020B0604020202020204" pitchFamily="34" charset="0"/>
              <a:buChar char="•"/>
            </a:pPr>
            <a:r>
              <a:rPr lang="en-US" dirty="0" smtClean="0"/>
              <a:t>The </a:t>
            </a:r>
            <a:r>
              <a:rPr lang="en-US" b="1" dirty="0" smtClean="0"/>
              <a:t>post-cursor tap (W₁)</a:t>
            </a:r>
            <a:r>
              <a:rPr lang="en-US" dirty="0" smtClean="0"/>
              <a:t> (green) compensates for </a:t>
            </a:r>
            <a:r>
              <a:rPr lang="en-US" b="1" dirty="0" smtClean="0"/>
              <a:t>ISI caused by previous symbols</a:t>
            </a:r>
            <a:r>
              <a:rPr lang="en-US" dirty="0" smtClean="0"/>
              <a:t>.</a:t>
            </a:r>
          </a:p>
          <a:p>
            <a:pPr>
              <a:buFont typeface="Arial" panose="020B0604020202020204" pitchFamily="34" charset="0"/>
              <a:buChar char="•"/>
            </a:pPr>
            <a:r>
              <a:rPr lang="en-US" dirty="0" smtClean="0"/>
              <a:t>The final </a:t>
            </a:r>
            <a:r>
              <a:rPr lang="en-US" b="1" dirty="0" smtClean="0"/>
              <a:t>transmitter output (red)</a:t>
            </a:r>
            <a:r>
              <a:rPr lang="en-US" dirty="0" smtClean="0"/>
              <a:t> is the sum of these weighted contributions.</a:t>
            </a:r>
          </a:p>
          <a:p>
            <a:r>
              <a:rPr lang="en-US" b="1" dirty="0" smtClean="0"/>
              <a:t>How Does 2-Tap FFE Work?</a:t>
            </a:r>
            <a:endParaRPr lang="en-US" dirty="0" smtClean="0"/>
          </a:p>
          <a:p>
            <a:pPr>
              <a:buFont typeface="Arial" panose="020B0604020202020204" pitchFamily="34" charset="0"/>
              <a:buChar char="•"/>
            </a:pPr>
            <a:r>
              <a:rPr lang="en-US" dirty="0" smtClean="0"/>
              <a:t>Each symbol is delayed and weighted before summation.</a:t>
            </a:r>
          </a:p>
          <a:p>
            <a:pPr>
              <a:buFont typeface="Arial" panose="020B0604020202020204" pitchFamily="34" charset="0"/>
              <a:buChar char="•"/>
            </a:pPr>
            <a:r>
              <a:rPr lang="en-US" dirty="0" smtClean="0"/>
              <a:t>The post-cursor tap applies </a:t>
            </a:r>
            <a:r>
              <a:rPr lang="en-US" b="1" dirty="0" smtClean="0"/>
              <a:t>a controlled negative peak</a:t>
            </a:r>
            <a:r>
              <a:rPr lang="en-US" dirty="0" smtClean="0"/>
              <a:t> to </a:t>
            </a:r>
            <a:r>
              <a:rPr lang="en-US" b="1" dirty="0" smtClean="0"/>
              <a:t>cancel the tail of the previous pulse</a:t>
            </a:r>
            <a:r>
              <a:rPr lang="en-US" dirty="0" smtClean="0"/>
              <a:t>.</a:t>
            </a:r>
          </a:p>
          <a:p>
            <a:pPr>
              <a:buFont typeface="Arial" panose="020B0604020202020204" pitchFamily="34" charset="0"/>
              <a:buChar char="•"/>
            </a:pPr>
            <a:r>
              <a:rPr lang="en-US" dirty="0" smtClean="0"/>
              <a:t>This method improves pulse shaping, leading to </a:t>
            </a:r>
            <a:r>
              <a:rPr lang="en-US" b="1" dirty="0" smtClean="0"/>
              <a:t>a clearer eye diagram</a:t>
            </a:r>
            <a:r>
              <a:rPr lang="en-US" dirty="0" smtClean="0"/>
              <a:t>.</a:t>
            </a:r>
          </a:p>
          <a:p>
            <a:r>
              <a:rPr lang="en-US" b="1" dirty="0" smtClean="0"/>
              <a:t>Key Takeaways</a:t>
            </a:r>
            <a:endParaRPr lang="en-US" dirty="0" smtClean="0"/>
          </a:p>
          <a:p>
            <a:pPr>
              <a:buFont typeface="Arial" panose="020B0604020202020204" pitchFamily="34" charset="0"/>
              <a:buChar char="•"/>
            </a:pPr>
            <a:r>
              <a:rPr lang="en-US" b="1" dirty="0" smtClean="0"/>
              <a:t>More taps = Better ISI cancellation</a:t>
            </a:r>
            <a:r>
              <a:rPr lang="en-US" dirty="0" smtClean="0"/>
              <a:t>, but </a:t>
            </a:r>
            <a:r>
              <a:rPr lang="en-US" b="1" dirty="0" smtClean="0"/>
              <a:t>higher complexity</a:t>
            </a:r>
            <a:r>
              <a:rPr lang="en-US" dirty="0" smtClean="0"/>
              <a:t>.</a:t>
            </a:r>
          </a:p>
          <a:p>
            <a:pPr>
              <a:buFont typeface="Arial" panose="020B0604020202020204" pitchFamily="34" charset="0"/>
              <a:buChar char="•"/>
            </a:pPr>
            <a:r>
              <a:rPr lang="en-US" b="1" dirty="0" smtClean="0"/>
              <a:t>Tap weights (W₀, W₁, …) are optimized</a:t>
            </a:r>
            <a:r>
              <a:rPr lang="en-US" dirty="0" smtClean="0"/>
              <a:t> based on the channel response.</a:t>
            </a:r>
          </a:p>
          <a:p>
            <a:pPr>
              <a:buFont typeface="Arial" panose="020B0604020202020204" pitchFamily="34" charset="0"/>
              <a:buChar char="•"/>
            </a:pPr>
            <a:r>
              <a:rPr lang="en-US" dirty="0" smtClean="0"/>
              <a:t>This approach is </a:t>
            </a:r>
            <a:r>
              <a:rPr lang="en-US" b="1" dirty="0" smtClean="0"/>
              <a:t>widely used in </a:t>
            </a:r>
            <a:r>
              <a:rPr lang="en-US" b="1" dirty="0" err="1" smtClean="0"/>
              <a:t>SerDes</a:t>
            </a:r>
            <a:r>
              <a:rPr lang="en-US" b="1" dirty="0" smtClean="0"/>
              <a:t>, optical, and wireline communications</a:t>
            </a:r>
            <a:r>
              <a:rPr lang="en-US" dirty="0" smtClean="0"/>
              <a:t>.</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35</a:t>
            </a:fld>
            <a:endParaRPr lang="en-US"/>
          </a:p>
        </p:txBody>
      </p:sp>
    </p:spTree>
    <p:extLst>
      <p:ext uri="{BB962C8B-B14F-4D97-AF65-F5344CB8AC3E}">
        <p14:creationId xmlns:p14="http://schemas.microsoft.com/office/powerpoint/2010/main" val="2291252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assembled prototype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1CB6C08C-3E57-3F4B-904C-3B245190B05F}"/>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EC64885-8EEB-D647-9AD5-B5C1E3E29679}"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258CEC3-79D9-2041-B5E1-897392A42332}"/>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6EF88E8D-4B24-0B4E-901A-E42A8B4AB29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46535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Optical Fiber – The Superhighway of Data! 🚀</a:t>
            </a:r>
          </a:p>
          <a:p>
            <a:r>
              <a:rPr lang="en-US" dirty="0" smtClean="0"/>
              <a:t>Imagine a </a:t>
            </a:r>
            <a:r>
              <a:rPr lang="en-US" b="1" dirty="0" smtClean="0"/>
              <a:t>high-speed highway</a:t>
            </a:r>
            <a:r>
              <a:rPr lang="en-US" dirty="0" smtClean="0"/>
              <a:t> where cars (data) travel at </a:t>
            </a:r>
            <a:r>
              <a:rPr lang="en-US" b="1" dirty="0" smtClean="0"/>
              <a:t>light speed</a:t>
            </a:r>
            <a:r>
              <a:rPr lang="en-US" dirty="0" smtClean="0"/>
              <a:t> with </a:t>
            </a:r>
            <a:r>
              <a:rPr lang="en-US" b="1" dirty="0" smtClean="0"/>
              <a:t>minimal traffic jams (signal loss)</a:t>
            </a:r>
            <a:r>
              <a:rPr lang="en-US" dirty="0" smtClean="0"/>
              <a:t>. That’s what </a:t>
            </a:r>
            <a:r>
              <a:rPr lang="en-US" b="1" dirty="0" smtClean="0"/>
              <a:t>optical fiber</a:t>
            </a:r>
            <a:r>
              <a:rPr lang="en-US" dirty="0" smtClean="0"/>
              <a:t> does for communication networks! 🌍✨</a:t>
            </a:r>
          </a:p>
          <a:p>
            <a:r>
              <a:rPr lang="en-US" b="1" dirty="0" smtClean="0"/>
              <a:t>Why Optical Fiber is Awesome?</a:t>
            </a:r>
          </a:p>
          <a:p>
            <a:r>
              <a:rPr lang="en-US" dirty="0" smtClean="0"/>
              <a:t>📌 </a:t>
            </a:r>
            <a:r>
              <a:rPr lang="en-US" b="1" dirty="0" smtClean="0"/>
              <a:t>Lower Loss, Longer Reach:</a:t>
            </a:r>
            <a:r>
              <a:rPr lang="en-US" dirty="0" smtClean="0"/>
              <a:t> Unlike copper (Cu) wires, which lose energy like heat in a </a:t>
            </a:r>
            <a:r>
              <a:rPr lang="en-US" b="1" dirty="0" smtClean="0"/>
              <a:t>rusty water pipe</a:t>
            </a:r>
            <a:r>
              <a:rPr lang="en-US" dirty="0" smtClean="0"/>
              <a:t>, fiber only loses </a:t>
            </a:r>
            <a:r>
              <a:rPr lang="en-US" b="1" dirty="0" smtClean="0"/>
              <a:t>~0.2-0.4 dB/km</a:t>
            </a:r>
            <a:r>
              <a:rPr lang="en-US" dirty="0" smtClean="0"/>
              <a:t>—allowing data to travel miles without much weakening!</a:t>
            </a:r>
          </a:p>
          <a:p>
            <a:r>
              <a:rPr lang="en-US" dirty="0" smtClean="0"/>
              <a:t>📌 </a:t>
            </a:r>
            <a:r>
              <a:rPr lang="en-US" b="1" dirty="0" smtClean="0"/>
              <a:t>Less Crosstalk, More Clarity:</a:t>
            </a:r>
            <a:r>
              <a:rPr lang="en-US" dirty="0" smtClean="0"/>
              <a:t> Think of copper as </a:t>
            </a:r>
            <a:r>
              <a:rPr lang="en-US" b="1" dirty="0" smtClean="0"/>
              <a:t>a crowded street with honking cars (electromagnetic interference)</a:t>
            </a:r>
            <a:r>
              <a:rPr lang="en-US" dirty="0" smtClean="0"/>
              <a:t>, while fiber is a </a:t>
            </a:r>
            <a:r>
              <a:rPr lang="en-US" b="1" dirty="0" smtClean="0"/>
              <a:t>silent, underground bullet train</a:t>
            </a:r>
            <a:r>
              <a:rPr lang="en-US" dirty="0" smtClean="0"/>
              <a:t>—no noise, just smooth transmission! 🚆</a:t>
            </a:r>
          </a:p>
          <a:p>
            <a:r>
              <a:rPr lang="en-US" dirty="0" smtClean="0"/>
              <a:t>📌 </a:t>
            </a:r>
            <a:r>
              <a:rPr lang="en-US" b="1" dirty="0" smtClean="0"/>
              <a:t>Wavelength Division Multiplexing (WDM) – The Multi-Lane Highway!</a:t>
            </a:r>
            <a:endParaRPr lang="en-US" dirty="0" smtClean="0"/>
          </a:p>
          <a:p>
            <a:pPr>
              <a:buFont typeface="Arial" panose="020B0604020202020204" pitchFamily="34" charset="0"/>
              <a:buChar char="•"/>
            </a:pPr>
            <a:r>
              <a:rPr lang="en-US" dirty="0" smtClean="0"/>
              <a:t>In fiber, multiple colors (wavelengths) of light carry different data streams </a:t>
            </a:r>
            <a:r>
              <a:rPr lang="en-US" b="1" dirty="0" smtClean="0"/>
              <a:t>simultaneously</a:t>
            </a:r>
            <a:r>
              <a:rPr lang="en-US" dirty="0" smtClean="0"/>
              <a:t>—just like having </a:t>
            </a:r>
            <a:r>
              <a:rPr lang="en-US" b="1" dirty="0" smtClean="0"/>
              <a:t>separate lanes for different types of vehicles</a:t>
            </a:r>
            <a:r>
              <a:rPr lang="en-US" dirty="0" smtClean="0"/>
              <a:t>! 🚗🚛🚲</a:t>
            </a:r>
          </a:p>
          <a:p>
            <a:r>
              <a:rPr lang="en-US" dirty="0" smtClean="0"/>
              <a:t>📌 </a:t>
            </a:r>
            <a:r>
              <a:rPr lang="en-US" b="1" dirty="0" smtClean="0"/>
              <a:t>Flexible and Easy to Manage:</a:t>
            </a:r>
            <a:r>
              <a:rPr lang="en-US" dirty="0" smtClean="0"/>
              <a:t> Optical fiber is </a:t>
            </a:r>
            <a:r>
              <a:rPr lang="en-US" b="1" dirty="0" smtClean="0"/>
              <a:t>thin and lightweight</a:t>
            </a:r>
            <a:r>
              <a:rPr lang="en-US" dirty="0" smtClean="0"/>
              <a:t>—imagine rolling up a </a:t>
            </a:r>
            <a:r>
              <a:rPr lang="en-US" b="1" dirty="0" smtClean="0"/>
              <a:t>super-strong fishing line</a:t>
            </a:r>
            <a:r>
              <a:rPr lang="en-US" dirty="0" smtClean="0"/>
              <a:t> instead of dealing with heavy copper cables! 🎣</a:t>
            </a:r>
          </a:p>
          <a:p>
            <a:r>
              <a:rPr lang="en-US" dirty="0" smtClean="0"/>
              <a:t>💡 </a:t>
            </a:r>
            <a:r>
              <a:rPr lang="en-US" b="1" dirty="0" smtClean="0"/>
              <a:t>Bottom Line:</a:t>
            </a:r>
            <a:r>
              <a:rPr lang="en-US" dirty="0" smtClean="0"/>
              <a:t> Optical fiber is the ultimate </a:t>
            </a:r>
            <a:r>
              <a:rPr lang="en-US" b="1" dirty="0" smtClean="0"/>
              <a:t>fast, efficient, and scalable</a:t>
            </a:r>
            <a:r>
              <a:rPr lang="en-US" dirty="0" smtClean="0"/>
              <a:t> solution for modern communication, from data centers to undersea cables!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42</a:t>
            </a:fld>
            <a:endParaRPr lang="en-US"/>
          </a:p>
        </p:txBody>
      </p:sp>
    </p:spTree>
    <p:extLst>
      <p:ext uri="{BB962C8B-B14F-4D97-AF65-F5344CB8AC3E}">
        <p14:creationId xmlns:p14="http://schemas.microsoft.com/office/powerpoint/2010/main" val="3286837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Taking this as motivation, We target our Optical receiver solution with Proposed TIA in CMOS with package substrate housing both the commercially available photodetector, the PD and the CMOS chip flip attached with optimized interconnect between them for best performance. Overall, this co-packaged flip-chip architecture can support high-integration while posing low </a:t>
            </a:r>
            <a:r>
              <a:rPr lang="en-US" dirty="0" err="1"/>
              <a:t>parasitics</a:t>
            </a:r>
            <a:r>
              <a:rPr lang="en-US" dirty="0"/>
              <a:t>. And of course, this heterogeneous integration offers flexibility of choosing best suitable technology for both CMOS and PD to achieve superior performance. </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D81BA2CD-433F-2949-B7DF-36A46CF15D2A}"/>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142DC2F1-4249-CC4A-8C25-C06A36348AA7}"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DA6FDDC8-1906-944F-ABEC-7D5001270E16}"/>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45E7DE31-01CE-7440-BE9D-B4838EC5E165}"/>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494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dive into one of the key features of this work of optimizing the PD-to-RX interconnect.</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360CDE6A-B8E1-BA4F-BA1F-CD3464647546}"/>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F7BB4285-256E-D14A-93DF-F3CDF4638AB0}"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09E8F6A-7823-A642-9535-0B2ECC5D6F90}"/>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35EDE540-7C0E-EE4D-B929-91C08999B161}"/>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49421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PD-to-RX interconnect being in the high-speed signal path, its design impacts the overall TIA BW. In this flip-chip co-packaged architecture, this interconnect is fabricated on the package substrate as a </a:t>
            </a:r>
            <a:r>
              <a:rPr lang="en-US" b="1" dirty="0"/>
              <a:t>micro-strip</a:t>
            </a:r>
            <a:r>
              <a:rPr lang="en-US" dirty="0"/>
              <a:t> structure.</a:t>
            </a:r>
          </a:p>
          <a:p>
            <a:r>
              <a:rPr lang="en-US" dirty="0"/>
              <a:t>We first, recognize the opportunity of utilizing the inductive property of this PD-to-RX interconnect for the series peaking to extend the BW. This can be observed by simply seeing the interconnect as an ideal transmission line and for simplicity whose characteristics impedance can be written as square root of inductance over capacitance per unit length. By simply reducing the interconnect width or in other words, increasing its characteristics impedance, we can give rise to its inductance and lower its capacitance. Having right amount of inductance between two relatively large capacitive elements which are the PD output and RX IC input can help reduce effective capacitance seen by the TIA in RX chip and extend the passive front-end BW. We optimize the PD-to-RX interconnect’s characteristics impedance for a given length to maximize the BW.</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051B1757-88D3-A74A-ACE9-94157DBFC7F1}"/>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74B8764A-883B-1D4E-ACD2-2614CFED6CA3}"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8BD01092-3D5F-AE47-89DE-EE882B5B662F}"/>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63A4AE34-035E-F340-A58E-86EA506D0445}"/>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3792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perform more accurate PD-to-RX interconnect optimization, we derive the necessary passive test bench model. We first extract the input impedance model of our proposed TIA which we will see in a bit, with 1-st order RC components. We also insert the ESD diode worth of 80 </a:t>
            </a:r>
            <a:r>
              <a:rPr lang="en-US" dirty="0" err="1"/>
              <a:t>fF</a:t>
            </a:r>
            <a:r>
              <a:rPr lang="en-US" dirty="0"/>
              <a:t> at the input for increased reliability and protection and extract the RX input bump pad capacitance of 100 </a:t>
            </a:r>
            <a:r>
              <a:rPr lang="en-US" dirty="0" err="1"/>
              <a:t>fF.</a:t>
            </a:r>
            <a:r>
              <a:rPr lang="en-US" dirty="0"/>
              <a:t> To reduce the effective capacitance imposed by ESD and bump pad, we include the series multi-layer multi-turn 20umx20um compact t-coil between them where it helps increase the BW by 2x.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this PD-to-RX interconnect we extract the s-parameters from the layout using ADS tool. Lastly, we include the PD model provided by the vendor and LC based bump model to complete the overall front-end passive test bench. With the PD-to-RX interconnect under the spotlight of the optimization, we sweep the characteristics impedance for a fixed length and observe the transfer characteristics from the optical input in dBm to the resulting voltage at the TIA input. Nevertheless, the TIA input impedance model and selected T-coil depends on the TIA design, therefore the overall co-design may entail iterative optimization.</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9122CAD1-AB41-C94E-8AD8-FDB008968C47}"/>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52146A73-7BC9-3348-9813-09FFE31458C7}"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9EFCD51-EFC3-C04E-970B-D3B51EB5A0F7}"/>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7FF537E8-5A6D-264D-81C0-97A1FF09EBC7}"/>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0201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perform these simulations for two different interconnect lengths: 250 µm and 500 µm and these are the simulation results. The optimum characteristics impedance of a given interconnect length is selected by the one that provides flattest possible DC gain with highest BW.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would first like to highlight the simulation with interconnect with length 0 µm (that is 0 distance between PD and RX which results in lowest BW as there is no inductive component between the PD capacitance and RX pad capacitance.</a:t>
            </a:r>
          </a:p>
          <a:p>
            <a:endParaRPr lang="en-US" dirty="0"/>
          </a:p>
          <a:p>
            <a:r>
              <a:rPr lang="en-US" dirty="0"/>
              <a:t>For 250um interconnect length, characteristics impedance of 80 </a:t>
            </a:r>
            <a:r>
              <a:rPr lang="en-US" dirty="0" err="1"/>
              <a:t>Ω</a:t>
            </a:r>
            <a:r>
              <a:rPr lang="en-US" dirty="0"/>
              <a:t> provided maximum BW. However, due to manufacturing limitations, 75 </a:t>
            </a:r>
            <a:r>
              <a:rPr lang="en-US" dirty="0" err="1"/>
              <a:t>Ω</a:t>
            </a:r>
            <a:r>
              <a:rPr lang="en-US" dirty="0"/>
              <a:t> was fabricated, instead. On the other side for the 500 µm length, characteristics impedance of 50 </a:t>
            </a:r>
            <a:r>
              <a:rPr lang="en-US" dirty="0" err="1"/>
              <a:t>Ω</a:t>
            </a:r>
            <a:r>
              <a:rPr lang="en-US" dirty="0"/>
              <a:t> achieved the max BW. In both cases, BW from optical input to the TIA input was extended at or beyond 60 GHz. We will later showcase the measurement results from the fabricated prototypes considering these two different interconnect lengths.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7C041690-CE6B-3D46-B07B-D38511A8A294}"/>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12A49D92-979E-1340-A992-374527F59301}"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FE6089BC-F2D5-1043-8A69-23DD4BE8AC4D}"/>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41134EAF-50E9-6B44-AF81-B63297BFE9FA}"/>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8703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explore our proposed TIA design.</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CC53C58D-BC9D-1142-926E-247321907338}"/>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8EB85131-86AB-E647-BDA6-5625387EC02F}"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12E4E7A9-B00A-CA4A-AE2B-BB1F46FD8026}"/>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DCB44368-4CA4-AF4F-8C37-EB578DD19CCC}"/>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20368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dirty="0"/>
              <a:t>We will go </a:t>
            </a:r>
            <a:r>
              <a:rPr lang="en-US" dirty="0" err="1"/>
              <a:t>thorugh</a:t>
            </a:r>
            <a:r>
              <a:rPr lang="en-US" dirty="0"/>
              <a:t> some design choices we made for our TIA. We first select the inverter as a foundational block for the TIA chain as it offers low-voltage operation with higher linear swing, it is power efficient amplifier giving 2gm for the same drain current, is compatible with </a:t>
            </a:r>
            <a:r>
              <a:rPr lang="en-US" dirty="0" err="1"/>
              <a:t>cherryhopper</a:t>
            </a:r>
            <a:r>
              <a:rPr lang="en-US" dirty="0"/>
              <a:t> style high-BW amplification. Shunt-feedback self-biases inverters which are supported by the advanced technology with </a:t>
            </a:r>
            <a:r>
              <a:rPr lang="en-US" dirty="0" err="1"/>
              <a:t>nmos</a:t>
            </a:r>
            <a:r>
              <a:rPr lang="en-US" dirty="0"/>
              <a:t> and </a:t>
            </a:r>
            <a:r>
              <a:rPr lang="en-US" dirty="0" err="1"/>
              <a:t>pmos</a:t>
            </a:r>
            <a:r>
              <a:rPr lang="en-US" dirty="0"/>
              <a:t> having matched drive strength biasing them at mid-rail. They have no internal parasitic poles, and offers easy design and layout iterations and it scales well with technology also. Nevertheless, they are sensitive to PVT but its impact can be minimized by the use of LDO regulators. </a:t>
            </a:r>
          </a:p>
          <a:p>
            <a:endParaRPr lang="en-US" dirty="0"/>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BF351C53-E0E6-0C47-A5F9-427291A94616}"/>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6D18B304-1EBE-6B49-902A-6B3AB27609E0}"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100F00C1-A3AC-6548-85FF-F883ED7FC7DD}"/>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3B018A96-21B4-6342-B00E-42173016F6EA}"/>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482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achieve high-BW we require programmable CTLE in the TIA chain. The conventional CML CTLE needs higher supply to operate in linear region, and its performance does not scale well with process and non-ideal tail current limiting its high-frequency operation. we choose the following Inverter-Based cherry-hooper style CTLE. It has low-</a:t>
            </a:r>
            <a:r>
              <a:rPr lang="en-US" dirty="0" err="1"/>
              <a:t>freq</a:t>
            </a:r>
            <a:r>
              <a:rPr lang="en-US" dirty="0"/>
              <a:t> path for DC gain, and CR high-pass filtered path for high-</a:t>
            </a:r>
            <a:r>
              <a:rPr lang="en-US" dirty="0" err="1"/>
              <a:t>freq</a:t>
            </a:r>
            <a:r>
              <a:rPr lang="en-US" dirty="0"/>
              <a:t> gain. The TIS stage converts the previous </a:t>
            </a:r>
            <a:r>
              <a:rPr lang="en-US" dirty="0" err="1"/>
              <a:t>transconductor</a:t>
            </a:r>
            <a:r>
              <a:rPr lang="en-US" dirty="0"/>
              <a:t> stages’ current back to volage.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7E26B264-8F5A-4A45-ABD5-26114C77F500}"/>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141382A-562B-8744-906B-E3FBBAFC1A0A}"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F007DD9-02A2-DD4E-A0FF-1826F4F53B7B}"/>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260E902F-3C63-F745-99D5-D5EF4D61A4D5}"/>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09005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achieve high-BW low-noise TIA, we follow similar approach as multiple previous work with our proposed CTLE. Here we have Low-BW shunt-feedback as 1st stage followed by the CTLE. This is achieved by having Low-BW high-gain first TIS stage followed by the CTLE. The high-gain in the first stage by having higher feedback resistor lowers its input referred thermal noise. The targeted BW is then recovered by the CTLE where CTLE input-ref. noise is suppressed by the high gain of the 1</a:t>
            </a:r>
            <a:r>
              <a:rPr lang="en-US" baseline="30000" dirty="0"/>
              <a:t>st</a:t>
            </a:r>
            <a:r>
              <a:rPr lang="en-US" dirty="0"/>
              <a:t> stage, lowering the overall input referred noise while achieving desired BW.</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956E8FFF-096B-3046-BF0D-0D47B9BC8CD6}"/>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04952E41-0EEA-EC41-A2B3-63C327A3419E}"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4BDF014A-3CB0-4241-B0D8-C0CA64B526FE}"/>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EF8418F8-FBD0-E547-B81E-1BF673FB13F6}"/>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84254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overview of the our of proposed inverter-based TIA.</a:t>
            </a:r>
          </a:p>
          <a:p>
            <a:endParaRPr lang="en-US" dirty="0"/>
          </a:p>
          <a:p>
            <a:r>
              <a:rPr lang="en-US" dirty="0"/>
              <a:t>It consists of three stages operating at 0.9 V supply. First stage is a </a:t>
            </a:r>
            <a:r>
              <a:rPr lang="en-US" b="1" dirty="0"/>
              <a:t>BW limited </a:t>
            </a:r>
            <a:r>
              <a:rPr lang="en-US" dirty="0"/>
              <a:t>shunt-feedback inverter stage, second stage is inverter-based CTLE and third stage has another CTLE in parallel with VGA. we have inverter based LPF in feedback to subtract DC current from PD. We provide on-chip RC filter for PD bias which helps decouple PD bias noise to the chip ground.</a:t>
            </a:r>
          </a:p>
          <a:p>
            <a:endParaRPr lang="en-US" dirty="0"/>
          </a:p>
          <a:p>
            <a:r>
              <a:rPr lang="en-US" dirty="0"/>
              <a:t>For </a:t>
            </a:r>
            <a:r>
              <a:rPr lang="en-US" dirty="0" smtClean="0"/>
              <a:t>measurement </a:t>
            </a:r>
            <a:r>
              <a:rPr lang="en-US" dirty="0"/>
              <a:t>purpose, we have linear CML buffers followed by required T-coil and ESD diodes to drive 50Ω load of the test equipment</a:t>
            </a:r>
            <a:r>
              <a:rPr lang="en-US" dirty="0" smtClean="0"/>
              <a:t>.</a:t>
            </a:r>
          </a:p>
          <a:p>
            <a:endParaRPr lang="en-US" dirty="0" smtClean="0"/>
          </a:p>
          <a:p>
            <a:r>
              <a:rPr lang="en-US" b="1" dirty="0" smtClean="0"/>
              <a:t>🔍 Proposed TIA Architecture: Breaking Down the Design</a:t>
            </a:r>
          </a:p>
          <a:p>
            <a:r>
              <a:rPr lang="en-US" dirty="0" smtClean="0"/>
              <a:t>A </a:t>
            </a:r>
            <a:r>
              <a:rPr lang="en-US" b="1" dirty="0" smtClean="0"/>
              <a:t>low-power, high-bandwidth</a:t>
            </a:r>
            <a:r>
              <a:rPr lang="en-US" dirty="0" smtClean="0"/>
              <a:t> </a:t>
            </a:r>
            <a:r>
              <a:rPr lang="en-US" dirty="0" err="1" smtClean="0"/>
              <a:t>Transimpedance</a:t>
            </a:r>
            <a:r>
              <a:rPr lang="en-US" dirty="0" smtClean="0"/>
              <a:t> Amplifier (TIA) is critical for next-gen optical receivers, especially at </a:t>
            </a:r>
            <a:r>
              <a:rPr lang="en-US" b="1" dirty="0" smtClean="0"/>
              <a:t>112G/224G PAM-4</a:t>
            </a:r>
            <a:r>
              <a:rPr lang="en-US" dirty="0" smtClean="0"/>
              <a:t> speeds. This design leverages a </a:t>
            </a:r>
            <a:r>
              <a:rPr lang="en-US" b="1" dirty="0" smtClean="0"/>
              <a:t>three-stage architecture with embedded equalization</a:t>
            </a:r>
            <a:r>
              <a:rPr lang="en-US" dirty="0" smtClean="0"/>
              <a:t> to optimize performance.</a:t>
            </a:r>
          </a:p>
          <a:p>
            <a:r>
              <a:rPr lang="en-US" b="1" dirty="0" smtClean="0"/>
              <a:t>📡 Key Building Blocks</a:t>
            </a:r>
          </a:p>
          <a:p>
            <a:r>
              <a:rPr lang="en-US" dirty="0" smtClean="0"/>
              <a:t>✔ </a:t>
            </a:r>
            <a:r>
              <a:rPr lang="en-US" b="1" dirty="0" smtClean="0"/>
              <a:t>Photodiode (PD) &amp; Input Matching</a:t>
            </a:r>
            <a:endParaRPr lang="en-US" dirty="0" smtClean="0"/>
          </a:p>
          <a:p>
            <a:r>
              <a:rPr lang="en-US" dirty="0" smtClean="0"/>
              <a:t>The PD converts optical power into a current signal (</a:t>
            </a:r>
            <a:r>
              <a:rPr lang="en-US" b="1" dirty="0" err="1" smtClean="0"/>
              <a:t>i_PD</a:t>
            </a:r>
            <a:r>
              <a:rPr lang="en-US" dirty="0" smtClean="0"/>
              <a:t>).</a:t>
            </a:r>
          </a:p>
          <a:p>
            <a:r>
              <a:rPr lang="en-US" dirty="0" smtClean="0"/>
              <a:t>Proper impedance matching (</a:t>
            </a:r>
            <a:r>
              <a:rPr lang="en-US" b="1" dirty="0" smtClean="0"/>
              <a:t>L, Z₀</a:t>
            </a:r>
            <a:r>
              <a:rPr lang="en-US" dirty="0" smtClean="0"/>
              <a:t>) ensures signal integrity.</a:t>
            </a:r>
          </a:p>
          <a:p>
            <a:r>
              <a:rPr lang="en-US" dirty="0" smtClean="0"/>
              <a:t>✔ </a:t>
            </a:r>
            <a:r>
              <a:rPr lang="en-US" b="1" dirty="0" smtClean="0"/>
              <a:t>TIA Stage 1: Front-End Amplification (TIS1)</a:t>
            </a:r>
            <a:endParaRPr lang="en-US" dirty="0" smtClean="0"/>
          </a:p>
          <a:p>
            <a:r>
              <a:rPr lang="en-US" b="1" dirty="0" smtClean="0"/>
              <a:t>Low-noise design</a:t>
            </a:r>
            <a:r>
              <a:rPr lang="en-US" dirty="0" smtClean="0"/>
              <a:t> to maximize SNR.</a:t>
            </a:r>
          </a:p>
          <a:p>
            <a:r>
              <a:rPr lang="en-US" b="1" dirty="0" smtClean="0"/>
              <a:t>DC Offset Correction (DCOC) Loop</a:t>
            </a:r>
            <a:r>
              <a:rPr lang="en-US" dirty="0" smtClean="0"/>
              <a:t> prevents baseline wander.</a:t>
            </a:r>
          </a:p>
          <a:p>
            <a:r>
              <a:rPr lang="en-US" b="1" dirty="0" smtClean="0"/>
              <a:t>Received Signal Strength Indicator (RSSI)</a:t>
            </a:r>
            <a:r>
              <a:rPr lang="en-US" dirty="0" smtClean="0"/>
              <a:t> for power monitoring.</a:t>
            </a:r>
          </a:p>
          <a:p>
            <a:r>
              <a:rPr lang="en-US" dirty="0" smtClean="0"/>
              <a:t>✔ </a:t>
            </a:r>
            <a:r>
              <a:rPr lang="en-US" b="1" dirty="0" smtClean="0"/>
              <a:t>TIA Stage 2: Equalization &amp; Gain Control (TIS2 + CTLE1)</a:t>
            </a:r>
            <a:endParaRPr lang="en-US" dirty="0" smtClean="0"/>
          </a:p>
          <a:p>
            <a:r>
              <a:rPr lang="en-US" b="1" dirty="0" smtClean="0"/>
              <a:t>Continuous-Time Linear Equalizer (CTLE1)</a:t>
            </a:r>
            <a:r>
              <a:rPr lang="en-US" dirty="0" smtClean="0"/>
              <a:t> compensates for high-frequency losses.</a:t>
            </a:r>
          </a:p>
          <a:p>
            <a:r>
              <a:rPr lang="en-US" b="1" dirty="0" smtClean="0"/>
              <a:t>Second-stage gain boost</a:t>
            </a:r>
            <a:r>
              <a:rPr lang="en-US" dirty="0" smtClean="0"/>
              <a:t> for better eye opening.</a:t>
            </a:r>
          </a:p>
          <a:p>
            <a:r>
              <a:rPr lang="en-US" dirty="0" smtClean="0"/>
              <a:t>✔ </a:t>
            </a:r>
            <a:r>
              <a:rPr lang="en-US" b="1" dirty="0" smtClean="0"/>
              <a:t>TIA Stage 3: VGA &amp; Final Stage (TIS3 + CTLE2 + VGA)</a:t>
            </a:r>
            <a:endParaRPr lang="en-US" dirty="0" smtClean="0"/>
          </a:p>
          <a:p>
            <a:r>
              <a:rPr lang="en-US" b="1" dirty="0" smtClean="0"/>
              <a:t>Variable Gain Amplifier (VGA)</a:t>
            </a:r>
            <a:r>
              <a:rPr lang="en-US" dirty="0" smtClean="0"/>
              <a:t> for adaptive gain control.</a:t>
            </a:r>
          </a:p>
          <a:p>
            <a:r>
              <a:rPr lang="en-US" b="1" dirty="0" smtClean="0"/>
              <a:t>Inductive peaking for bandwidth enhancement.</a:t>
            </a:r>
            <a:endParaRPr lang="en-US" dirty="0" smtClean="0"/>
          </a:p>
          <a:p>
            <a:r>
              <a:rPr lang="en-US" dirty="0" smtClean="0"/>
              <a:t>✔ </a:t>
            </a:r>
            <a:r>
              <a:rPr lang="en-US" b="1" dirty="0" smtClean="0"/>
              <a:t>CML Buffer &amp; Output Stage</a:t>
            </a:r>
            <a:endParaRPr lang="en-US" dirty="0" smtClean="0"/>
          </a:p>
          <a:p>
            <a:r>
              <a:rPr lang="en-US" dirty="0" smtClean="0"/>
              <a:t>Converts signals to </a:t>
            </a:r>
            <a:r>
              <a:rPr lang="en-US" b="1" dirty="0" smtClean="0"/>
              <a:t>high-speed CML (Current Mode Logic) outputs</a:t>
            </a:r>
            <a:r>
              <a:rPr lang="en-US" dirty="0" smtClean="0"/>
              <a:t>.</a:t>
            </a:r>
          </a:p>
          <a:p>
            <a:r>
              <a:rPr lang="en-US" b="1" dirty="0" smtClean="0"/>
              <a:t>1.2V Output Swing</a:t>
            </a:r>
            <a:r>
              <a:rPr lang="en-US" dirty="0" smtClean="0"/>
              <a:t> ensures compatibility with </a:t>
            </a:r>
            <a:r>
              <a:rPr lang="en-US" dirty="0" err="1" smtClean="0"/>
              <a:t>SerDes</a:t>
            </a:r>
            <a:r>
              <a:rPr lang="en-US" dirty="0" smtClean="0"/>
              <a:t> input stages.</a:t>
            </a:r>
          </a:p>
          <a:p>
            <a:r>
              <a:rPr lang="en-US" b="1" dirty="0" smtClean="0"/>
              <a:t>⚡ Why This TIA?</a:t>
            </a:r>
          </a:p>
          <a:p>
            <a:r>
              <a:rPr lang="en-US" dirty="0" smtClean="0"/>
              <a:t>✔ </a:t>
            </a:r>
            <a:r>
              <a:rPr lang="en-US" b="1" dirty="0" smtClean="0"/>
              <a:t>Low-Voltage (0.9V) CMOS Design:</a:t>
            </a:r>
            <a:r>
              <a:rPr lang="en-US" dirty="0" smtClean="0"/>
              <a:t> Power-efficient for high-speed applications.</a:t>
            </a:r>
            <a:br>
              <a:rPr lang="en-US" dirty="0" smtClean="0"/>
            </a:br>
            <a:r>
              <a:rPr lang="en-US" dirty="0" smtClean="0"/>
              <a:t>✔ </a:t>
            </a:r>
            <a:r>
              <a:rPr lang="en-US" b="1" dirty="0" smtClean="0"/>
              <a:t>Embedded Equalization:</a:t>
            </a:r>
            <a:r>
              <a:rPr lang="en-US" dirty="0" smtClean="0"/>
              <a:t> CTLE stages compensate for fiber/channel loss.</a:t>
            </a:r>
            <a:br>
              <a:rPr lang="en-US" dirty="0" smtClean="0"/>
            </a:br>
            <a:r>
              <a:rPr lang="en-US" dirty="0" smtClean="0"/>
              <a:t>✔ </a:t>
            </a:r>
            <a:r>
              <a:rPr lang="en-US" b="1" dirty="0" smtClean="0"/>
              <a:t>Inductor Peaking &amp; VGA Control:</a:t>
            </a:r>
            <a:r>
              <a:rPr lang="en-US" dirty="0" smtClean="0"/>
              <a:t> Optimized for high-bandwidth and adaptive gain.</a:t>
            </a:r>
            <a:br>
              <a:rPr lang="en-US" dirty="0" smtClean="0"/>
            </a:br>
            <a:r>
              <a:rPr lang="en-US" dirty="0" smtClean="0"/>
              <a:t>✔ </a:t>
            </a:r>
            <a:r>
              <a:rPr lang="en-US" b="1" dirty="0" smtClean="0"/>
              <a:t>Robust ESD Protection:</a:t>
            </a:r>
            <a:r>
              <a:rPr lang="en-US" dirty="0" smtClean="0"/>
              <a:t> Ensures reliability in real-world deployment.</a:t>
            </a:r>
          </a:p>
          <a:p>
            <a:r>
              <a:rPr lang="en-US" dirty="0" smtClean="0"/>
              <a:t>This architecture ensures </a:t>
            </a:r>
            <a:r>
              <a:rPr lang="en-US" b="1" dirty="0" smtClean="0"/>
              <a:t>high sensitivity, wide bandwidth, and low power consumption</a:t>
            </a:r>
            <a:r>
              <a:rPr lang="en-US" dirty="0" smtClean="0"/>
              <a:t>, making it ideal for next-generation </a:t>
            </a:r>
            <a:r>
              <a:rPr lang="en-US" b="1" dirty="0" smtClean="0"/>
              <a:t>112G/224G optical links</a:t>
            </a:r>
            <a:r>
              <a:rPr lang="en-US" dirty="0" smtClean="0"/>
              <a:t>. 🚀</a:t>
            </a:r>
          </a:p>
          <a:p>
            <a:endParaRPr lang="en-US" dirty="0"/>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82BA0610-4D70-6E42-9C69-6774A8AF8177}"/>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A45D4D7A-B7F7-F741-83E6-E392CD27AA7D}"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20960341-D133-2040-B9A3-D81F3945572A}"/>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EE07ABBE-5A15-F647-B403-3346AB87D8B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3918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into further detail of the TIA schematic:</a:t>
            </a:r>
          </a:p>
          <a:p>
            <a:r>
              <a:rPr lang="en-US" dirty="0"/>
              <a:t>We design our first shunt-feedback inverter stage with 10 GHz BW (which is roughly 1/3 of the overall BW) to allow maximum possible value for feedback resistor to maximize DC gain and lower the thermal noise contribution as discussed before.</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A4B7E15D-ECB9-D44E-9037-09A2DB489D30}"/>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0BE9CC78-3E19-4840-80FD-0E5C6968F187}"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31C6D1E5-76FC-AC49-8054-04A1F0E57107}"/>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54CC12E5-4BD9-6B49-B79C-EFBC6A6AE844}"/>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87246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stage, which is a cherry-hooper style, inverter-based CTLE stage which helps restore the targeted BW. Peaking frequency is adjusted by these tunable resistors. NMOS and PMOS transistors of CTLE are biased separated with diode-connected inverter for more programmability which also helps tune-out any ringing in the frequency response arising from process variation or packaging related </a:t>
            </a:r>
            <a:r>
              <a:rPr lang="en-US" dirty="0" err="1"/>
              <a:t>parasitics</a:t>
            </a:r>
            <a:r>
              <a:rPr lang="en-US" dirty="0"/>
              <a:t>. And this Transimpedance stage converts the </a:t>
            </a:r>
            <a:r>
              <a:rPr lang="en-US" dirty="0" err="1"/>
              <a:t>transconductors</a:t>
            </a:r>
            <a:r>
              <a:rPr lang="en-US" dirty="0"/>
              <a:t> output current back to voltage. Second stage is capable of providing maximum of 4 dB boost at 25 GHz. </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E510A6BE-6C0E-D044-8E56-A90A7484D93B}"/>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26664861-4846-5847-9E6C-13F5D1FF45AB}"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4F49A015-7775-9D4F-BD89-21062EBFE678}"/>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2DC68452-2FCF-FE47-A214-C1C80FFBA42D}"/>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563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3rd stage comprises a programmable inverter-based VGA, with another CTLE similar to the 2</a:t>
            </a:r>
            <a:r>
              <a:rPr lang="en-US" baseline="30000" dirty="0"/>
              <a:t>nd</a:t>
            </a:r>
            <a:r>
              <a:rPr lang="en-US" dirty="0"/>
              <a:t> stage in parallel for further equalization. Last portion of 3</a:t>
            </a:r>
            <a:r>
              <a:rPr lang="en-US" baseline="30000" dirty="0"/>
              <a:t>rd</a:t>
            </a:r>
            <a:r>
              <a:rPr lang="en-US" dirty="0"/>
              <a:t> stage has a large TIS with L1 in series and L2 in shunt-feedback providing further BW extension. Overall, this 3</a:t>
            </a:r>
            <a:r>
              <a:rPr lang="en-US" baseline="30000" dirty="0"/>
              <a:t>rd</a:t>
            </a:r>
            <a:r>
              <a:rPr lang="en-US" dirty="0"/>
              <a:t> stage provides ~7 dB boost at 30 GHz.</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FF74B202-50B1-DF46-B37E-75CA8C407A92}"/>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7C9A3065-BCCF-DF4F-8317-6F747E7CEB3F}"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DAF73A6A-5159-3C4A-B106-367D4F090405}"/>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BEA9565C-989C-E24C-AA47-56A2EE900F8D}"/>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99120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back to the 3rd stage, the output node DN and input node DP of the final TIS stage forms TIA’s </a:t>
            </a:r>
            <a:r>
              <a:rPr lang="en-US" dirty="0" err="1"/>
              <a:t>psueudo</a:t>
            </a:r>
            <a:r>
              <a:rPr lang="en-US" dirty="0"/>
              <a:t>-differential output. Compare, to single-ended TIA output, this pseudo differential conversion provides swing boost of 15%. Differing Single-ended to differential conversion at the end allows for lower power and lower noise TIA.</a:t>
            </a: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BB37BFC0-7135-F94B-AA1F-6B49316CD296}"/>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C784062E-2281-A647-9B0D-94EDABD5CD22}"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D59A9B56-8033-AB4F-B999-2A05FF57B94B}"/>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44ECBDF1-7029-B940-8214-954E203C1D57}"/>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22996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This is the post-layout simulations of TIA which includes the PD model, optimized interconnect</a:t>
            </a:r>
            <a:r>
              <a:rPr lang="en-US" sz="1200" kern="1200" dirty="0">
                <a:solidFill>
                  <a:schemeClr val="tx1"/>
                </a:solidFill>
                <a:effectLst/>
                <a:latin typeface="+mn-lt"/>
                <a:ea typeface="+mn-ea"/>
                <a:cs typeface="+mn-cs"/>
              </a:rPr>
              <a:t>, CML buffers and 50 </a:t>
            </a:r>
            <a:r>
              <a:rPr lang="en-US" sz="1200" kern="1200" dirty="0" err="1">
                <a:solidFill>
                  <a:schemeClr val="tx1"/>
                </a:solidFill>
                <a:effectLst/>
                <a:latin typeface="+mn-lt"/>
                <a:ea typeface="+mn-ea"/>
                <a:cs typeface="+mn-cs"/>
              </a:rPr>
              <a:t>Ω</a:t>
            </a:r>
            <a:r>
              <a:rPr lang="en-US" sz="1200" kern="1200" dirty="0">
                <a:solidFill>
                  <a:schemeClr val="tx1"/>
                </a:solidFill>
                <a:effectLst/>
                <a:latin typeface="+mn-lt"/>
                <a:ea typeface="+mn-ea"/>
                <a:cs typeface="+mn-cs"/>
              </a:rPr>
              <a:t> load. Here we can see stage 1 giving low bandwidth of 10 GHz with Stages 2 and 3 combined together, helps restore the BW.</a:t>
            </a:r>
            <a:endParaRPr lang="en-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DFF362D4-5DD5-1441-A093-8EF5773AF7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6091FB0B-9CCE-2348-B304-C0A77ADF0955}"/>
              </a:ext>
            </a:extLst>
          </p:cNvPr>
          <p:cNvSpPr>
            <a:spLocks noGrp="1"/>
          </p:cNvSpPr>
          <p:nvPr>
            <p:ph type="dt" idx="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73DA7124-C9CF-E740-90E7-E3E51551943E}" type="datetime1">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2025-10-22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F9CD6B21-AD96-7742-BB9B-9F71A4CC3A7A}"/>
              </a:ext>
            </a:extLst>
          </p:cNvPr>
          <p:cNvSpPr>
            <a:spLocks noGrp="1"/>
          </p:cNvSpPr>
          <p:nvPr>
            <p:ph type="ftr" sz="quarter" idx="4"/>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9EBE2161-EE78-3046-A635-0A6FD6083C18}"/>
              </a:ext>
            </a:extLst>
          </p:cNvPr>
          <p:cNvSpPr>
            <a:spLocks noGrp="1"/>
          </p:cNvSpPr>
          <p:nvPr>
            <p:ph type="hdr" sz="quarter"/>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45008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Inverter-Based TIA: Key Insights</a:t>
            </a:r>
          </a:p>
          <a:p>
            <a:pPr>
              <a:buFont typeface="Arial" panose="020B0604020202020204" pitchFamily="34" charset="0"/>
              <a:buChar char="•"/>
            </a:pPr>
            <a:r>
              <a:rPr lang="en-US" b="1" dirty="0" smtClean="0"/>
              <a:t>Why Inverter-Based TIAs?</a:t>
            </a:r>
            <a:endParaRPr lang="en-US" dirty="0" smtClean="0"/>
          </a:p>
          <a:p>
            <a:pPr marL="742950" lvl="1" indent="-285750">
              <a:buFont typeface="Arial" panose="020B0604020202020204" pitchFamily="34" charset="0"/>
              <a:buChar char="•"/>
            </a:pPr>
            <a:r>
              <a:rPr lang="en-US" dirty="0" smtClean="0"/>
              <a:t>Popular choice for high-speed optical receivers in advanced technology nodes.</a:t>
            </a:r>
          </a:p>
          <a:p>
            <a:pPr marL="742950" lvl="1" indent="-285750">
              <a:buFont typeface="Arial" panose="020B0604020202020204" pitchFamily="34" charset="0"/>
              <a:buChar char="•"/>
            </a:pPr>
            <a:r>
              <a:rPr lang="en-US" dirty="0" smtClean="0"/>
              <a:t>Utilizes CMOS inverters for amplification, enabling high gain and bandwidth.</a:t>
            </a:r>
          </a:p>
          <a:p>
            <a:pPr>
              <a:buFont typeface="Arial" panose="020B0604020202020204" pitchFamily="34" charset="0"/>
              <a:buChar char="•"/>
            </a:pPr>
            <a:r>
              <a:rPr lang="en-US" b="1" dirty="0" smtClean="0"/>
              <a:t>Challenges of Multi-Stage Inverter-Based TIAs:</a:t>
            </a:r>
            <a:endParaRPr lang="en-US" dirty="0" smtClean="0"/>
          </a:p>
          <a:p>
            <a:pPr marL="742950" lvl="1" indent="-285750">
              <a:buFont typeface="Arial" panose="020B0604020202020204" pitchFamily="34" charset="0"/>
              <a:buChar char="•"/>
            </a:pPr>
            <a:r>
              <a:rPr lang="en-US" b="1" dirty="0" smtClean="0"/>
              <a:t>Increased Power Consumption</a:t>
            </a:r>
            <a:r>
              <a:rPr lang="en-US" dirty="0" smtClean="0"/>
              <a:t> → More stages lead to higher static and dynamic power.</a:t>
            </a:r>
          </a:p>
          <a:p>
            <a:pPr marL="742950" lvl="1" indent="-285750">
              <a:buFont typeface="Arial" panose="020B0604020202020204" pitchFamily="34" charset="0"/>
              <a:buChar char="•"/>
            </a:pPr>
            <a:r>
              <a:rPr lang="en-US" b="1" dirty="0" smtClean="0"/>
              <a:t>DC Variation Across Stages</a:t>
            </a:r>
            <a:r>
              <a:rPr lang="en-US" dirty="0" smtClean="0"/>
              <a:t> → Accumulated offsets impact performance.</a:t>
            </a:r>
          </a:p>
          <a:p>
            <a:pPr marL="742950" lvl="1" indent="-285750">
              <a:buFont typeface="Arial" panose="020B0604020202020204" pitchFamily="34" charset="0"/>
              <a:buChar char="•"/>
            </a:pPr>
            <a:r>
              <a:rPr lang="en-US" b="1" dirty="0" smtClean="0"/>
              <a:t>Degraded Power Supply Rejection</a:t>
            </a:r>
            <a:r>
              <a:rPr lang="en-US" dirty="0" smtClean="0"/>
              <a:t> → Higher susceptibility to supply noise with more stages.</a:t>
            </a:r>
          </a:p>
          <a:p>
            <a:pPr>
              <a:buFont typeface="Arial" panose="020B0604020202020204" pitchFamily="34" charset="0"/>
              <a:buChar char="•"/>
            </a:pPr>
            <a:r>
              <a:rPr lang="en-US" b="1" dirty="0" smtClean="0"/>
              <a:t>Key Trade-offs:</a:t>
            </a:r>
            <a:endParaRPr lang="en-US" dirty="0" smtClean="0"/>
          </a:p>
          <a:p>
            <a:pPr marL="742950" lvl="1" indent="-285750">
              <a:buFont typeface="Arial" panose="020B0604020202020204" pitchFamily="34" charset="0"/>
              <a:buChar char="•"/>
            </a:pPr>
            <a:r>
              <a:rPr lang="en-US" dirty="0" smtClean="0"/>
              <a:t>Gain vs. Bandwidth: More stages enhance gain but can limit bandwidth.</a:t>
            </a:r>
          </a:p>
          <a:p>
            <a:pPr marL="742950" lvl="1" indent="-285750">
              <a:buFont typeface="Arial" panose="020B0604020202020204" pitchFamily="34" charset="0"/>
              <a:buChar char="•"/>
            </a:pPr>
            <a:r>
              <a:rPr lang="en-US" dirty="0" smtClean="0"/>
              <a:t>Power vs. Noise: High-speed operation demands careful power optimization.</a:t>
            </a:r>
          </a:p>
          <a:p>
            <a:pPr>
              <a:buFont typeface="Arial" panose="020B0604020202020204" pitchFamily="34" charset="0"/>
              <a:buChar char="•"/>
            </a:pPr>
            <a:r>
              <a:rPr lang="en-US" b="1" dirty="0" smtClean="0"/>
              <a:t>Takeaway:</a:t>
            </a:r>
            <a:endParaRPr lang="en-US" dirty="0" smtClean="0"/>
          </a:p>
          <a:p>
            <a:pPr marL="742950" lvl="1" indent="-285750">
              <a:buFont typeface="Arial" panose="020B0604020202020204" pitchFamily="34" charset="0"/>
              <a:buChar char="•"/>
            </a:pPr>
            <a:r>
              <a:rPr lang="en-US" dirty="0" smtClean="0"/>
              <a:t>While inverter-based TIAs are well-suited for scaled technologies, </a:t>
            </a:r>
            <a:r>
              <a:rPr lang="en-US" b="1" dirty="0" smtClean="0"/>
              <a:t>designing for optimal gain, bandwidth, and power efficiency requires careful stage balancing and compensation techniques.</a:t>
            </a:r>
            <a:endParaRPr lang="en-US" dirty="0" smtClean="0"/>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59</a:t>
            </a:fld>
            <a:endParaRPr lang="en-US"/>
          </a:p>
        </p:txBody>
      </p:sp>
    </p:spTree>
    <p:extLst>
      <p:ext uri="{BB962C8B-B14F-4D97-AF65-F5344CB8AC3E}">
        <p14:creationId xmlns:p14="http://schemas.microsoft.com/office/powerpoint/2010/main" val="36423611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Intuitive Breakdown of the Proposed TIA</a:t>
            </a:r>
          </a:p>
          <a:p>
            <a:r>
              <a:rPr lang="en-US" dirty="0" smtClean="0"/>
              <a:t>Designing a high-speed </a:t>
            </a:r>
            <a:r>
              <a:rPr lang="en-US" b="1" dirty="0" smtClean="0"/>
              <a:t>TIA (</a:t>
            </a:r>
            <a:r>
              <a:rPr lang="en-US" b="1" dirty="0" err="1" smtClean="0"/>
              <a:t>Transimpedance</a:t>
            </a:r>
            <a:r>
              <a:rPr lang="en-US" b="1" dirty="0" smtClean="0"/>
              <a:t> Amplifier)</a:t>
            </a:r>
            <a:r>
              <a:rPr lang="en-US" dirty="0" smtClean="0"/>
              <a:t> is like crafting a </a:t>
            </a:r>
            <a:r>
              <a:rPr lang="en-US" b="1" dirty="0" smtClean="0"/>
              <a:t>highway system</a:t>
            </a:r>
            <a:r>
              <a:rPr lang="en-US" dirty="0" smtClean="0"/>
              <a:t> for electrical signals—where gain is like </a:t>
            </a:r>
            <a:r>
              <a:rPr lang="en-US" b="1" dirty="0" smtClean="0"/>
              <a:t>amplifying road signs</a:t>
            </a:r>
            <a:r>
              <a:rPr lang="en-US" dirty="0" smtClean="0"/>
              <a:t>, bandwidth is </a:t>
            </a:r>
            <a:r>
              <a:rPr lang="en-US" b="1" dirty="0" smtClean="0"/>
              <a:t>keeping traffic moving</a:t>
            </a:r>
            <a:r>
              <a:rPr lang="en-US" dirty="0" smtClean="0"/>
              <a:t>, and power efficiency is </a:t>
            </a:r>
            <a:r>
              <a:rPr lang="en-US" b="1" dirty="0" smtClean="0"/>
              <a:t>fuel economy</a:t>
            </a:r>
            <a:r>
              <a:rPr lang="en-US" dirty="0" smtClean="0"/>
              <a:t>. Let’s break down how this proposed TIA achieves </a:t>
            </a:r>
            <a:r>
              <a:rPr lang="en-US" b="1" dirty="0" smtClean="0"/>
              <a:t>high gain, wide bandwidth, and low power consumption</a:t>
            </a:r>
            <a:r>
              <a:rPr lang="en-US" dirty="0" smtClean="0"/>
              <a:t> using clever design choices.</a:t>
            </a:r>
          </a:p>
          <a:p>
            <a:r>
              <a:rPr lang="en-US" b="1" dirty="0" smtClean="0"/>
              <a:t>🚀 T-Coils: Boosting Speed Without Traffic Jams</a:t>
            </a:r>
          </a:p>
          <a:p>
            <a:r>
              <a:rPr lang="en-US" b="1" dirty="0" smtClean="0"/>
              <a:t>Analogy:</a:t>
            </a:r>
            <a:r>
              <a:rPr lang="en-US" dirty="0" smtClean="0"/>
              <a:t> Think of </a:t>
            </a:r>
            <a:r>
              <a:rPr lang="en-US" b="1" dirty="0" smtClean="0"/>
              <a:t>T-coils</a:t>
            </a:r>
            <a:r>
              <a:rPr lang="en-US" dirty="0" smtClean="0"/>
              <a:t> as </a:t>
            </a:r>
            <a:r>
              <a:rPr lang="en-US" b="1" dirty="0" smtClean="0"/>
              <a:t>flyovers in a highway</a:t>
            </a:r>
            <a:r>
              <a:rPr lang="en-US" dirty="0" smtClean="0"/>
              <a:t>—they allow signals (cars) to pass smoothly without bunching up at bottlenecks.</a:t>
            </a:r>
          </a:p>
          <a:p>
            <a:pPr>
              <a:buFont typeface="Arial" panose="020B0604020202020204" pitchFamily="34" charset="0"/>
              <a:buChar char="•"/>
            </a:pPr>
            <a:r>
              <a:rPr lang="en-US" b="1" dirty="0" smtClean="0"/>
              <a:t>How They Help:</a:t>
            </a:r>
            <a:r>
              <a:rPr lang="en-US" dirty="0" smtClean="0"/>
              <a:t> Inductors </a:t>
            </a:r>
            <a:r>
              <a:rPr lang="en-US" b="1" dirty="0" smtClean="0"/>
              <a:t>cancel</a:t>
            </a:r>
            <a:r>
              <a:rPr lang="en-US" dirty="0" smtClean="0"/>
              <a:t> some of the parasitic capacitance, allowing </a:t>
            </a:r>
            <a:r>
              <a:rPr lang="en-US" b="1" dirty="0" smtClean="0"/>
              <a:t>faster signal transitions</a:t>
            </a:r>
            <a:r>
              <a:rPr lang="en-US" dirty="0" smtClean="0"/>
              <a:t> and extending bandwidth beyond </a:t>
            </a:r>
            <a:r>
              <a:rPr lang="en-US" b="1" dirty="0" smtClean="0"/>
              <a:t>30 GHz</a:t>
            </a:r>
            <a:r>
              <a:rPr lang="en-US" dirty="0" smtClean="0"/>
              <a:t> without excessive power.</a:t>
            </a:r>
          </a:p>
          <a:p>
            <a:pPr>
              <a:buFont typeface="Arial" panose="020B0604020202020204" pitchFamily="34" charset="0"/>
              <a:buChar char="•"/>
            </a:pPr>
            <a:r>
              <a:rPr lang="en-US" b="1" dirty="0" smtClean="0"/>
              <a:t>Result:</a:t>
            </a:r>
            <a:r>
              <a:rPr lang="en-US" dirty="0" smtClean="0"/>
              <a:t> A high-speed, low-loss path for signals.</a:t>
            </a:r>
          </a:p>
          <a:p>
            <a:r>
              <a:rPr lang="en-US" b="1" dirty="0" smtClean="0"/>
              <a:t>💡 Fewer Inverter Stages = More Efficient Design</a:t>
            </a:r>
          </a:p>
          <a:p>
            <a:r>
              <a:rPr lang="en-US" b="1" dirty="0" smtClean="0"/>
              <a:t>Analogy:</a:t>
            </a:r>
            <a:r>
              <a:rPr lang="en-US" dirty="0" smtClean="0"/>
              <a:t> Imagine a </a:t>
            </a:r>
            <a:r>
              <a:rPr lang="en-US" b="1" dirty="0" smtClean="0"/>
              <a:t>relay race</a:t>
            </a:r>
            <a:r>
              <a:rPr lang="en-US" dirty="0" smtClean="0"/>
              <a:t>—the fewer handovers (stages), the faster and more efficient the race.</a:t>
            </a:r>
          </a:p>
          <a:p>
            <a:pPr>
              <a:buFont typeface="Arial" panose="020B0604020202020204" pitchFamily="34" charset="0"/>
              <a:buChar char="•"/>
            </a:pPr>
            <a:r>
              <a:rPr lang="en-US" dirty="0" smtClean="0"/>
              <a:t>Traditional inverter-based TIAs need </a:t>
            </a:r>
            <a:r>
              <a:rPr lang="en-US" b="1" dirty="0" smtClean="0"/>
              <a:t>many stages</a:t>
            </a:r>
            <a:r>
              <a:rPr lang="en-US" dirty="0" smtClean="0"/>
              <a:t> to achieve high gain.</a:t>
            </a:r>
          </a:p>
          <a:p>
            <a:pPr>
              <a:buFont typeface="Arial" panose="020B0604020202020204" pitchFamily="34" charset="0"/>
              <a:buChar char="•"/>
            </a:pPr>
            <a:r>
              <a:rPr lang="en-US" dirty="0" smtClean="0"/>
              <a:t>This design uses </a:t>
            </a:r>
            <a:r>
              <a:rPr lang="en-US" b="1" dirty="0" smtClean="0"/>
              <a:t>just three stages</a:t>
            </a:r>
            <a:r>
              <a:rPr lang="en-US" dirty="0" smtClean="0"/>
              <a:t>, thanks to </a:t>
            </a:r>
            <a:r>
              <a:rPr lang="en-US" b="1" dirty="0" smtClean="0"/>
              <a:t>T-coils enhancing gain</a:t>
            </a:r>
            <a:r>
              <a:rPr lang="en-US" dirty="0" smtClean="0"/>
              <a:t> and </a:t>
            </a:r>
            <a:r>
              <a:rPr lang="en-US" b="1" dirty="0" smtClean="0"/>
              <a:t>better device sizing</a:t>
            </a:r>
            <a:r>
              <a:rPr lang="en-US" dirty="0" smtClean="0"/>
              <a:t> (20μm × 20μm, 25μm × 25μm).</a:t>
            </a:r>
          </a:p>
          <a:p>
            <a:pPr>
              <a:buFont typeface="Arial" panose="020B0604020202020204" pitchFamily="34" charset="0"/>
              <a:buChar char="•"/>
            </a:pPr>
            <a:r>
              <a:rPr lang="en-US" b="1" dirty="0" smtClean="0"/>
              <a:t>Result:</a:t>
            </a:r>
            <a:r>
              <a:rPr lang="en-US" dirty="0" smtClean="0"/>
              <a:t> Lower </a:t>
            </a:r>
            <a:r>
              <a:rPr lang="en-US" b="1" dirty="0" smtClean="0"/>
              <a:t>power consumption</a:t>
            </a:r>
            <a:r>
              <a:rPr lang="en-US" dirty="0" smtClean="0"/>
              <a:t> without sacrificing performance.</a:t>
            </a:r>
          </a:p>
          <a:p>
            <a:r>
              <a:rPr lang="en-US" b="1" dirty="0" smtClean="0"/>
              <a:t>🔋 Regulated Supply = Smooth Power, No Noise</a:t>
            </a:r>
          </a:p>
          <a:p>
            <a:r>
              <a:rPr lang="en-US" b="1" dirty="0" smtClean="0"/>
              <a:t>Analogy:</a:t>
            </a:r>
            <a:r>
              <a:rPr lang="en-US" dirty="0" smtClean="0"/>
              <a:t> If an entire city ran directly on an unstable power grid, lights would flicker and appliances would fail. A </a:t>
            </a:r>
            <a:r>
              <a:rPr lang="en-US" b="1" dirty="0" smtClean="0"/>
              <a:t>power stabilizer (regulator)</a:t>
            </a:r>
            <a:r>
              <a:rPr lang="en-US" dirty="0" smtClean="0"/>
              <a:t> ensures steady voltage delivery.</a:t>
            </a:r>
          </a:p>
          <a:p>
            <a:pPr>
              <a:buFont typeface="Arial" panose="020B0604020202020204" pitchFamily="34" charset="0"/>
              <a:buChar char="•"/>
            </a:pPr>
            <a:r>
              <a:rPr lang="en-US" b="1" dirty="0" smtClean="0"/>
              <a:t>Why it Matters:</a:t>
            </a:r>
            <a:r>
              <a:rPr lang="en-US" dirty="0" smtClean="0"/>
              <a:t> Inverter-based TIAs suffer from </a:t>
            </a:r>
            <a:r>
              <a:rPr lang="en-US" b="1" dirty="0" smtClean="0"/>
              <a:t>power supply noise (TIS issue)</a:t>
            </a:r>
            <a:r>
              <a:rPr lang="en-US" dirty="0" smtClean="0"/>
              <a:t>, causing gain fluctuations.</a:t>
            </a:r>
          </a:p>
          <a:p>
            <a:pPr>
              <a:buFont typeface="Arial" panose="020B0604020202020204" pitchFamily="34" charset="0"/>
              <a:buChar char="•"/>
            </a:pPr>
            <a:r>
              <a:rPr lang="en-US" b="1" dirty="0" smtClean="0"/>
              <a:t>Solution:</a:t>
            </a:r>
            <a:r>
              <a:rPr lang="en-US" dirty="0" smtClean="0"/>
              <a:t> A </a:t>
            </a:r>
            <a:r>
              <a:rPr lang="en-US" b="1" dirty="0" smtClean="0"/>
              <a:t>regulated 0.9V supply</a:t>
            </a:r>
            <a:r>
              <a:rPr lang="en-US" dirty="0" smtClean="0"/>
              <a:t> isolates the TIA from </a:t>
            </a:r>
            <a:r>
              <a:rPr lang="en-US" b="1" dirty="0" smtClean="0"/>
              <a:t>1.2V supply variations</a:t>
            </a:r>
            <a:r>
              <a:rPr lang="en-US" dirty="0" smtClean="0"/>
              <a:t>, improving noise rejection and ensuring </a:t>
            </a:r>
            <a:r>
              <a:rPr lang="en-US" b="1" dirty="0" smtClean="0"/>
              <a:t>consistent performance</a:t>
            </a:r>
            <a:r>
              <a:rPr lang="en-US" dirty="0" smtClean="0"/>
              <a:t>.</a:t>
            </a:r>
          </a:p>
          <a:p>
            <a:pPr>
              <a:buFont typeface="Arial" panose="020B0604020202020204" pitchFamily="34" charset="0"/>
              <a:buChar char="•"/>
            </a:pPr>
            <a:r>
              <a:rPr lang="en-US" b="1" dirty="0" smtClean="0"/>
              <a:t>Result:</a:t>
            </a:r>
            <a:r>
              <a:rPr lang="en-US" dirty="0" smtClean="0"/>
              <a:t> </a:t>
            </a:r>
            <a:r>
              <a:rPr lang="en-US" b="1" dirty="0" smtClean="0"/>
              <a:t>Reliable signal amplification</a:t>
            </a:r>
            <a:r>
              <a:rPr lang="en-US" dirty="0" smtClean="0"/>
              <a:t> with reduced jitter and interference.</a:t>
            </a:r>
          </a:p>
          <a:p>
            <a:r>
              <a:rPr lang="en-US" b="1" dirty="0" smtClean="0"/>
              <a:t>✨ Key Takeaways</a:t>
            </a:r>
          </a:p>
          <a:p>
            <a:r>
              <a:rPr lang="en-US" dirty="0" smtClean="0"/>
              <a:t>✔ </a:t>
            </a:r>
            <a:r>
              <a:rPr lang="en-US" b="1" dirty="0" smtClean="0"/>
              <a:t>T-coils</a:t>
            </a:r>
            <a:r>
              <a:rPr lang="en-US" dirty="0" smtClean="0"/>
              <a:t> extend bandwidth by reducing capacitance effects.</a:t>
            </a:r>
            <a:br>
              <a:rPr lang="en-US" dirty="0" smtClean="0"/>
            </a:br>
            <a:r>
              <a:rPr lang="en-US" dirty="0" smtClean="0"/>
              <a:t>✔ </a:t>
            </a:r>
            <a:r>
              <a:rPr lang="en-US" b="1" dirty="0" smtClean="0"/>
              <a:t>Fewer inverter stages</a:t>
            </a:r>
            <a:r>
              <a:rPr lang="en-US" dirty="0" smtClean="0"/>
              <a:t> improve power efficiency.</a:t>
            </a:r>
            <a:br>
              <a:rPr lang="en-US" dirty="0" smtClean="0"/>
            </a:br>
            <a:r>
              <a:rPr lang="en-US" dirty="0" smtClean="0"/>
              <a:t>✔ </a:t>
            </a:r>
            <a:r>
              <a:rPr lang="en-US" b="1" dirty="0" smtClean="0"/>
              <a:t>Regulated supply</a:t>
            </a:r>
            <a:r>
              <a:rPr lang="en-US" dirty="0" smtClean="0"/>
              <a:t> reduces noise and gain variations.</a:t>
            </a:r>
          </a:p>
          <a:p>
            <a:r>
              <a:rPr lang="en-US" dirty="0" smtClean="0"/>
              <a:t>This design </a:t>
            </a:r>
            <a:r>
              <a:rPr lang="en-US" b="1" dirty="0" smtClean="0"/>
              <a:t>optimizes the balance between speed, gain, and power</a:t>
            </a:r>
            <a:r>
              <a:rPr lang="en-US" dirty="0" smtClean="0"/>
              <a:t>, making it </a:t>
            </a:r>
            <a:r>
              <a:rPr lang="en-US" b="1" dirty="0" smtClean="0"/>
              <a:t>ideal for next-gen optical receivers</a:t>
            </a:r>
            <a:r>
              <a:rPr lang="en-US" dirty="0" smtClean="0"/>
              <a:t> at </a:t>
            </a:r>
            <a:r>
              <a:rPr lang="en-US" b="1" dirty="0" smtClean="0"/>
              <a:t>112G NRZ and 224G PAM-4</a:t>
            </a:r>
            <a:r>
              <a:rPr lang="en-US" dirty="0" smtClean="0"/>
              <a:t> speeds.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60</a:t>
            </a:fld>
            <a:endParaRPr lang="en-US"/>
          </a:p>
        </p:txBody>
      </p:sp>
    </p:spTree>
    <p:extLst>
      <p:ext uri="{BB962C8B-B14F-4D97-AF65-F5344CB8AC3E}">
        <p14:creationId xmlns:p14="http://schemas.microsoft.com/office/powerpoint/2010/main" val="28116143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Intuitive Breakdown of the TIA Architecture</a:t>
            </a:r>
          </a:p>
          <a:p>
            <a:r>
              <a:rPr lang="en-US" dirty="0" smtClean="0"/>
              <a:t>Designing a </a:t>
            </a:r>
            <a:r>
              <a:rPr lang="en-US" b="1" dirty="0" smtClean="0"/>
              <a:t>high-speed TIA (</a:t>
            </a:r>
            <a:r>
              <a:rPr lang="en-US" b="1" dirty="0" err="1" smtClean="0"/>
              <a:t>Transimpedance</a:t>
            </a:r>
            <a:r>
              <a:rPr lang="en-US" b="1" dirty="0" smtClean="0"/>
              <a:t> Amplifier)</a:t>
            </a:r>
            <a:r>
              <a:rPr lang="en-US" dirty="0" smtClean="0"/>
              <a:t> is like tuning a </a:t>
            </a:r>
            <a:r>
              <a:rPr lang="en-US" b="1" dirty="0" smtClean="0"/>
              <a:t>high-performance sports car</a:t>
            </a:r>
            <a:r>
              <a:rPr lang="en-US" dirty="0" smtClean="0"/>
              <a:t>—you need </a:t>
            </a:r>
            <a:r>
              <a:rPr lang="en-US" b="1" dirty="0" smtClean="0"/>
              <a:t>speed (bandwidth), power efficiency, and control (gain tuning)</a:t>
            </a:r>
            <a:r>
              <a:rPr lang="en-US" dirty="0" smtClean="0"/>
              <a:t> to achieve </a:t>
            </a:r>
            <a:r>
              <a:rPr lang="en-US" b="1" dirty="0" smtClean="0"/>
              <a:t>smooth, noise-free performance</a:t>
            </a:r>
            <a:r>
              <a:rPr lang="en-US" dirty="0" smtClean="0"/>
              <a:t>. This architecture achieves all three with </a:t>
            </a:r>
            <a:r>
              <a:rPr lang="en-US" b="1" dirty="0" smtClean="0"/>
              <a:t>smart circuit tricks</a:t>
            </a:r>
            <a:r>
              <a:rPr lang="en-US" dirty="0" smtClean="0"/>
              <a:t>.</a:t>
            </a:r>
          </a:p>
          <a:p>
            <a:r>
              <a:rPr lang="en-US" b="1" dirty="0" smtClean="0"/>
              <a:t>💡 Single-Ended Inverter-Based TIA: Faster &amp; More Efficient</a:t>
            </a:r>
          </a:p>
          <a:p>
            <a:r>
              <a:rPr lang="en-US" b="1" dirty="0" smtClean="0"/>
              <a:t>Analogy:</a:t>
            </a:r>
            <a:r>
              <a:rPr lang="en-US" dirty="0" smtClean="0"/>
              <a:t> Think of an inverter-based TIA as a </a:t>
            </a:r>
            <a:r>
              <a:rPr lang="en-US" b="1" dirty="0" smtClean="0"/>
              <a:t>lightweight sports car</a:t>
            </a:r>
            <a:r>
              <a:rPr lang="en-US" dirty="0" smtClean="0"/>
              <a:t>—it’s </a:t>
            </a:r>
            <a:r>
              <a:rPr lang="en-US" b="1" dirty="0" smtClean="0"/>
              <a:t>fast, efficient, and doesn’t carry extra bulk</a:t>
            </a:r>
            <a:r>
              <a:rPr lang="en-US" dirty="0" smtClean="0"/>
              <a:t>.</a:t>
            </a:r>
          </a:p>
          <a:p>
            <a:pPr>
              <a:buFont typeface="Arial" panose="020B0604020202020204" pitchFamily="34" charset="0"/>
              <a:buChar char="•"/>
            </a:pPr>
            <a:r>
              <a:rPr lang="en-US" dirty="0" smtClean="0"/>
              <a:t>Traditional TIAs rely on differential pairs, which consume more power.</a:t>
            </a:r>
          </a:p>
          <a:p>
            <a:pPr>
              <a:buFont typeface="Arial" panose="020B0604020202020204" pitchFamily="34" charset="0"/>
              <a:buChar char="•"/>
            </a:pPr>
            <a:r>
              <a:rPr lang="en-US" dirty="0" smtClean="0"/>
              <a:t>This </a:t>
            </a:r>
            <a:r>
              <a:rPr lang="en-US" b="1" dirty="0" smtClean="0"/>
              <a:t>single-ended inverter-based design</a:t>
            </a:r>
            <a:r>
              <a:rPr lang="en-US" dirty="0" smtClean="0"/>
              <a:t> leverages </a:t>
            </a:r>
            <a:r>
              <a:rPr lang="en-US" b="1" dirty="0" smtClean="0"/>
              <a:t>gm/C scaling</a:t>
            </a:r>
            <a:r>
              <a:rPr lang="en-US" dirty="0" smtClean="0"/>
              <a:t>, meaning the </a:t>
            </a:r>
            <a:r>
              <a:rPr lang="en-US" b="1" dirty="0" smtClean="0"/>
              <a:t>gain-bandwidth product improves naturally</a:t>
            </a:r>
            <a:r>
              <a:rPr lang="en-US" dirty="0" smtClean="0"/>
              <a:t> as transistor size scales.</a:t>
            </a:r>
          </a:p>
          <a:p>
            <a:pPr>
              <a:buFont typeface="Arial" panose="020B0604020202020204" pitchFamily="34" charset="0"/>
              <a:buChar char="•"/>
            </a:pPr>
            <a:r>
              <a:rPr lang="en-US" b="1" dirty="0" smtClean="0"/>
              <a:t>Result:</a:t>
            </a:r>
            <a:r>
              <a:rPr lang="en-US" dirty="0" smtClean="0"/>
              <a:t> </a:t>
            </a:r>
            <a:r>
              <a:rPr lang="en-US" b="1" dirty="0" smtClean="0"/>
              <a:t>Higher bandwidth (&gt;35 GHz) with lower power consumption.</a:t>
            </a:r>
            <a:endParaRPr lang="en-US" dirty="0" smtClean="0"/>
          </a:p>
          <a:p>
            <a:r>
              <a:rPr lang="en-US" b="1" dirty="0" smtClean="0"/>
              <a:t>🔄 T-Coil Peaking: Keeping the Signal Sharp</a:t>
            </a:r>
          </a:p>
          <a:p>
            <a:r>
              <a:rPr lang="en-US" b="1" dirty="0" smtClean="0"/>
              <a:t>Analogy:</a:t>
            </a:r>
            <a:r>
              <a:rPr lang="en-US" dirty="0" smtClean="0"/>
              <a:t> Imagine a </a:t>
            </a:r>
            <a:r>
              <a:rPr lang="en-US" b="1" dirty="0" smtClean="0"/>
              <a:t>suspension system in a car</a:t>
            </a:r>
            <a:r>
              <a:rPr lang="en-US" dirty="0" smtClean="0"/>
              <a:t>—T-coils act like </a:t>
            </a:r>
            <a:r>
              <a:rPr lang="en-US" b="1" dirty="0" smtClean="0"/>
              <a:t>shock absorbers</a:t>
            </a:r>
            <a:r>
              <a:rPr lang="en-US" dirty="0" smtClean="0"/>
              <a:t>, preventing excessive delay and signal distortion.</a:t>
            </a:r>
          </a:p>
          <a:p>
            <a:pPr>
              <a:buFont typeface="Arial" panose="020B0604020202020204" pitchFamily="34" charset="0"/>
              <a:buChar char="•"/>
            </a:pPr>
            <a:r>
              <a:rPr lang="en-US" dirty="0" smtClean="0"/>
              <a:t>At high frequencies, circuit </a:t>
            </a:r>
            <a:r>
              <a:rPr lang="en-US" dirty="0" err="1" smtClean="0"/>
              <a:t>parasitics</a:t>
            </a:r>
            <a:r>
              <a:rPr lang="en-US" dirty="0" smtClean="0"/>
              <a:t> slow down the response.</a:t>
            </a:r>
          </a:p>
          <a:p>
            <a:pPr>
              <a:buFont typeface="Arial" panose="020B0604020202020204" pitchFamily="34" charset="0"/>
              <a:buChar char="•"/>
            </a:pPr>
            <a:r>
              <a:rPr lang="en-US" dirty="0" smtClean="0"/>
              <a:t>T-coils </a:t>
            </a:r>
            <a:r>
              <a:rPr lang="en-US" b="1" dirty="0" smtClean="0"/>
              <a:t>counteract parasitic capacitance</a:t>
            </a:r>
            <a:r>
              <a:rPr lang="en-US" dirty="0" smtClean="0"/>
              <a:t>, ensuring smooth, </a:t>
            </a:r>
            <a:r>
              <a:rPr lang="en-US" b="1" dirty="0" smtClean="0"/>
              <a:t>high-speed signal transmission</a:t>
            </a:r>
            <a:r>
              <a:rPr lang="en-US" dirty="0" smtClean="0"/>
              <a:t>.</a:t>
            </a:r>
          </a:p>
          <a:p>
            <a:pPr>
              <a:buFont typeface="Arial" panose="020B0604020202020204" pitchFamily="34" charset="0"/>
              <a:buChar char="•"/>
            </a:pPr>
            <a:r>
              <a:rPr lang="en-US" b="1" dirty="0" smtClean="0"/>
              <a:t>Result:</a:t>
            </a:r>
            <a:r>
              <a:rPr lang="en-US" dirty="0" smtClean="0"/>
              <a:t> </a:t>
            </a:r>
            <a:r>
              <a:rPr lang="en-US" b="1" dirty="0" smtClean="0"/>
              <a:t>Fewer amplifier stages, lower power, and better performance.</a:t>
            </a:r>
            <a:endParaRPr lang="en-US" dirty="0" smtClean="0"/>
          </a:p>
          <a:p>
            <a:r>
              <a:rPr lang="en-US" b="1" dirty="0" smtClean="0"/>
              <a:t>🎚️ Programmable NMOS-Based Resistor: Adaptive Control</a:t>
            </a:r>
          </a:p>
          <a:p>
            <a:r>
              <a:rPr lang="en-US" b="1" dirty="0" smtClean="0"/>
              <a:t>Analogy:</a:t>
            </a:r>
            <a:r>
              <a:rPr lang="en-US" dirty="0" smtClean="0"/>
              <a:t> This is like an </a:t>
            </a:r>
            <a:r>
              <a:rPr lang="en-US" b="1" dirty="0" smtClean="0"/>
              <a:t>adjustable suspension system</a:t>
            </a:r>
            <a:r>
              <a:rPr lang="en-US" dirty="0" smtClean="0"/>
              <a:t> in a race car—you can fine-tune the ride based on road conditions.</a:t>
            </a:r>
          </a:p>
          <a:p>
            <a:pPr>
              <a:buFont typeface="Arial" panose="020B0604020202020204" pitchFamily="34" charset="0"/>
              <a:buChar char="•"/>
            </a:pPr>
            <a:r>
              <a:rPr lang="en-US" dirty="0" smtClean="0"/>
              <a:t>A </a:t>
            </a:r>
            <a:r>
              <a:rPr lang="en-US" b="1" dirty="0" smtClean="0"/>
              <a:t>programmable NMOS-based resistor</a:t>
            </a:r>
            <a:r>
              <a:rPr lang="en-US" dirty="0" smtClean="0"/>
              <a:t> controls </a:t>
            </a:r>
            <a:r>
              <a:rPr lang="en-US" b="1" dirty="0" smtClean="0"/>
              <a:t>gain and bandwidth</a:t>
            </a:r>
            <a:r>
              <a:rPr lang="en-US" dirty="0" smtClean="0"/>
              <a:t> dynamically.</a:t>
            </a:r>
          </a:p>
          <a:p>
            <a:pPr>
              <a:buFont typeface="Arial" panose="020B0604020202020204" pitchFamily="34" charset="0"/>
              <a:buChar char="•"/>
            </a:pPr>
            <a:r>
              <a:rPr lang="en-US" dirty="0" smtClean="0"/>
              <a:t>Resistor tuning (from </a:t>
            </a:r>
            <a:r>
              <a:rPr lang="en-US" b="1" dirty="0" smtClean="0"/>
              <a:t>0.2 </a:t>
            </a:r>
            <a:r>
              <a:rPr lang="en-US" b="1" dirty="0" err="1" smtClean="0"/>
              <a:t>kΩ</a:t>
            </a:r>
            <a:r>
              <a:rPr lang="en-US" b="1" dirty="0" smtClean="0"/>
              <a:t> to 1.5 </a:t>
            </a:r>
            <a:r>
              <a:rPr lang="en-US" b="1" dirty="0" err="1" smtClean="0"/>
              <a:t>kΩ</a:t>
            </a:r>
            <a:r>
              <a:rPr lang="en-US" dirty="0" smtClean="0"/>
              <a:t>) adjusts the </a:t>
            </a:r>
            <a:r>
              <a:rPr lang="en-US" b="1" dirty="0" smtClean="0"/>
              <a:t>feedback network</a:t>
            </a:r>
            <a:r>
              <a:rPr lang="en-US" dirty="0" smtClean="0"/>
              <a:t>, optimizing TIA performance.</a:t>
            </a:r>
          </a:p>
          <a:p>
            <a:pPr>
              <a:buFont typeface="Arial" panose="020B0604020202020204" pitchFamily="34" charset="0"/>
              <a:buChar char="•"/>
            </a:pPr>
            <a:r>
              <a:rPr lang="en-US" b="1" dirty="0" smtClean="0"/>
              <a:t>Result:</a:t>
            </a:r>
            <a:r>
              <a:rPr lang="en-US" dirty="0" smtClean="0"/>
              <a:t> </a:t>
            </a:r>
            <a:r>
              <a:rPr lang="en-US" b="1" dirty="0" smtClean="0"/>
              <a:t>Flexible design that adapts to different data rates and optical input conditions.</a:t>
            </a:r>
            <a:endParaRPr lang="en-US" dirty="0" smtClean="0"/>
          </a:p>
          <a:p>
            <a:r>
              <a:rPr lang="en-US" b="1" dirty="0" smtClean="0"/>
              <a:t>📊 Performance Highlights</a:t>
            </a:r>
          </a:p>
          <a:p>
            <a:r>
              <a:rPr lang="en-US" dirty="0" smtClean="0"/>
              <a:t>✔ </a:t>
            </a:r>
            <a:r>
              <a:rPr lang="en-US" b="1" dirty="0" smtClean="0"/>
              <a:t>High </a:t>
            </a:r>
            <a:r>
              <a:rPr lang="en-US" b="1" dirty="0" err="1" smtClean="0"/>
              <a:t>transimpedance</a:t>
            </a:r>
            <a:r>
              <a:rPr lang="en-US" b="1" dirty="0" smtClean="0"/>
              <a:t> gain (4kΩ - 6kΩ)</a:t>
            </a:r>
            <a:r>
              <a:rPr lang="en-US" dirty="0" smtClean="0"/>
              <a:t> ensures strong signal amplification.</a:t>
            </a:r>
            <a:br>
              <a:rPr lang="en-US" dirty="0" smtClean="0"/>
            </a:br>
            <a:r>
              <a:rPr lang="en-US" dirty="0" smtClean="0"/>
              <a:t>✔ </a:t>
            </a:r>
            <a:r>
              <a:rPr lang="en-US" b="1" dirty="0" smtClean="0"/>
              <a:t>Bandwidth &gt;35 GHz</a:t>
            </a:r>
            <a:r>
              <a:rPr lang="en-US" dirty="0" smtClean="0"/>
              <a:t> means it can handle ultra-high-speed optical data.</a:t>
            </a:r>
            <a:br>
              <a:rPr lang="en-US" dirty="0" smtClean="0"/>
            </a:br>
            <a:r>
              <a:rPr lang="en-US" dirty="0" smtClean="0"/>
              <a:t>✔ </a:t>
            </a:r>
            <a:r>
              <a:rPr lang="en-US" b="1" dirty="0" smtClean="0"/>
              <a:t>Integrated noise &lt;3 µA</a:t>
            </a:r>
            <a:r>
              <a:rPr lang="en-US" dirty="0" smtClean="0"/>
              <a:t>, ensuring a clean, low-noise signal.</a:t>
            </a:r>
          </a:p>
          <a:p>
            <a:r>
              <a:rPr lang="en-US" dirty="0" smtClean="0"/>
              <a:t>This </a:t>
            </a:r>
            <a:r>
              <a:rPr lang="en-US" b="1" dirty="0" smtClean="0"/>
              <a:t>TIA is a perfect balance of speed, efficiency, and adaptability</a:t>
            </a:r>
            <a:r>
              <a:rPr lang="en-US" dirty="0" smtClean="0"/>
              <a:t>, making it </a:t>
            </a:r>
            <a:r>
              <a:rPr lang="en-US" b="1" dirty="0" smtClean="0"/>
              <a:t>ideal for next-generation 112G NRZ and 224G PAM-4 optical receivers</a:t>
            </a:r>
            <a:r>
              <a:rPr lang="en-US" dirty="0" smtClean="0"/>
              <a:t>.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61</a:t>
            </a:fld>
            <a:endParaRPr lang="en-US"/>
          </a:p>
        </p:txBody>
      </p:sp>
    </p:spTree>
    <p:extLst>
      <p:ext uri="{BB962C8B-B14F-4D97-AF65-F5344CB8AC3E}">
        <p14:creationId xmlns:p14="http://schemas.microsoft.com/office/powerpoint/2010/main" val="37938510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TIA Low-Noise Design: Breaking It Down Intuitively</a:t>
            </a:r>
          </a:p>
          <a:p>
            <a:r>
              <a:rPr lang="en-US" dirty="0" smtClean="0"/>
              <a:t>Designing a </a:t>
            </a:r>
            <a:r>
              <a:rPr lang="en-US" b="1" dirty="0" smtClean="0"/>
              <a:t>low-noise TIA</a:t>
            </a:r>
            <a:r>
              <a:rPr lang="en-US" dirty="0" smtClean="0"/>
              <a:t> is like </a:t>
            </a:r>
            <a:r>
              <a:rPr lang="en-US" b="1" dirty="0" smtClean="0"/>
              <a:t>fine-tuning a high-sensitivity microphone</a:t>
            </a:r>
            <a:r>
              <a:rPr lang="en-US" dirty="0" smtClean="0"/>
              <a:t>—you want to capture the signal </a:t>
            </a:r>
            <a:r>
              <a:rPr lang="en-US" b="1" dirty="0" smtClean="0"/>
              <a:t>without amplifying unwanted noise</a:t>
            </a:r>
            <a:r>
              <a:rPr lang="en-US" dirty="0" smtClean="0"/>
              <a:t>. Here’s how this architecture tackles noise and ensures clean signal amplification.</a:t>
            </a:r>
          </a:p>
          <a:p>
            <a:r>
              <a:rPr lang="en-US" b="1" dirty="0" smtClean="0"/>
              <a:t>🔊 First Inverter: The Main Noise Culprit</a:t>
            </a:r>
          </a:p>
          <a:p>
            <a:r>
              <a:rPr lang="en-US" b="1" dirty="0" smtClean="0"/>
              <a:t>Analogy:</a:t>
            </a:r>
            <a:r>
              <a:rPr lang="en-US" dirty="0" smtClean="0"/>
              <a:t> Imagine you're using a </a:t>
            </a:r>
            <a:r>
              <a:rPr lang="en-US" b="1" dirty="0" smtClean="0"/>
              <a:t>microphone near a noisy speaker</a:t>
            </a:r>
            <a:r>
              <a:rPr lang="en-US" dirty="0" smtClean="0"/>
              <a:t>—it amplifies both the voice and unwanted feedback.</a:t>
            </a:r>
          </a:p>
          <a:p>
            <a:pPr>
              <a:buFont typeface="Arial" panose="020B0604020202020204" pitchFamily="34" charset="0"/>
              <a:buChar char="•"/>
            </a:pPr>
            <a:r>
              <a:rPr lang="en-US" dirty="0" smtClean="0"/>
              <a:t>The </a:t>
            </a:r>
            <a:r>
              <a:rPr lang="en-US" b="1" dirty="0" smtClean="0"/>
              <a:t>first inverter stage dominates the noise</a:t>
            </a:r>
            <a:r>
              <a:rPr lang="en-US" dirty="0" smtClean="0"/>
              <a:t> due to peaking from </a:t>
            </a:r>
            <a:r>
              <a:rPr lang="en-US" b="1" dirty="0" err="1" smtClean="0"/>
              <a:t>Cin</a:t>
            </a:r>
            <a:r>
              <a:rPr lang="en-US" b="1" dirty="0" smtClean="0"/>
              <a:t> (input capacitance)</a:t>
            </a:r>
            <a:r>
              <a:rPr lang="en-US" dirty="0" smtClean="0"/>
              <a:t>.</a:t>
            </a:r>
          </a:p>
          <a:p>
            <a:pPr>
              <a:buFont typeface="Arial" panose="020B0604020202020204" pitchFamily="34" charset="0"/>
              <a:buChar char="•"/>
            </a:pPr>
            <a:r>
              <a:rPr lang="en-US" dirty="0" smtClean="0"/>
              <a:t>The noise current is proportional to </a:t>
            </a:r>
            <a:r>
              <a:rPr lang="en-US" b="1" dirty="0" smtClean="0"/>
              <a:t>(</a:t>
            </a:r>
            <a:r>
              <a:rPr lang="en-US" b="1" dirty="0" err="1" smtClean="0"/>
              <a:t>Cin</a:t>
            </a:r>
            <a:r>
              <a:rPr lang="en-US" b="1" dirty="0" smtClean="0"/>
              <a:t> ω / gm)²</a:t>
            </a:r>
            <a:r>
              <a:rPr lang="en-US" dirty="0" smtClean="0"/>
              <a:t>, meaning </a:t>
            </a:r>
            <a:r>
              <a:rPr lang="en-US" b="1" dirty="0" smtClean="0"/>
              <a:t>larger </a:t>
            </a:r>
            <a:r>
              <a:rPr lang="en-US" b="1" dirty="0" err="1" smtClean="0"/>
              <a:t>Cin</a:t>
            </a:r>
            <a:r>
              <a:rPr lang="en-US" b="1" dirty="0" smtClean="0"/>
              <a:t> = higher noise</a:t>
            </a:r>
            <a:r>
              <a:rPr lang="en-US" dirty="0" smtClean="0"/>
              <a:t>.</a:t>
            </a:r>
          </a:p>
          <a:p>
            <a:pPr>
              <a:buFont typeface="Arial" panose="020B0604020202020204" pitchFamily="34" charset="0"/>
              <a:buChar char="•"/>
            </a:pPr>
            <a:r>
              <a:rPr lang="en-US" b="1" dirty="0" smtClean="0"/>
              <a:t>Solution:</a:t>
            </a:r>
            <a:r>
              <a:rPr lang="en-US" dirty="0" smtClean="0"/>
              <a:t> </a:t>
            </a:r>
            <a:r>
              <a:rPr lang="en-US" b="1" dirty="0" smtClean="0"/>
              <a:t>Reduce </a:t>
            </a:r>
            <a:r>
              <a:rPr lang="en-US" b="1" dirty="0" err="1" smtClean="0"/>
              <a:t>Cin</a:t>
            </a:r>
            <a:r>
              <a:rPr lang="en-US" b="1" dirty="0" smtClean="0"/>
              <a:t> and increase gm carefully.</a:t>
            </a:r>
            <a:endParaRPr lang="en-US" dirty="0" smtClean="0"/>
          </a:p>
          <a:p>
            <a:r>
              <a:rPr lang="en-US" b="1" dirty="0" smtClean="0"/>
              <a:t>🛠️ Reducing </a:t>
            </a:r>
            <a:r>
              <a:rPr lang="en-US" b="1" dirty="0" err="1" smtClean="0"/>
              <a:t>Cin</a:t>
            </a:r>
            <a:r>
              <a:rPr lang="en-US" b="1" dirty="0" smtClean="0"/>
              <a:t>: Minimizing Unwanted Capacitance</a:t>
            </a:r>
          </a:p>
          <a:p>
            <a:r>
              <a:rPr lang="en-US" b="1" dirty="0" smtClean="0"/>
              <a:t>Analogy:</a:t>
            </a:r>
            <a:r>
              <a:rPr lang="en-US" dirty="0" smtClean="0"/>
              <a:t> Think of </a:t>
            </a:r>
            <a:r>
              <a:rPr lang="en-US" b="1" dirty="0" err="1" smtClean="0"/>
              <a:t>Cin</a:t>
            </a:r>
            <a:r>
              <a:rPr lang="en-US" b="1" dirty="0" smtClean="0"/>
              <a:t> as extra baggage on a high-speed train</a:t>
            </a:r>
            <a:r>
              <a:rPr lang="en-US" dirty="0" smtClean="0"/>
              <a:t>—it slows things down and increases energy waste.</a:t>
            </a:r>
          </a:p>
          <a:p>
            <a:pPr>
              <a:buFont typeface="Arial" panose="020B0604020202020204" pitchFamily="34" charset="0"/>
              <a:buChar char="•"/>
            </a:pPr>
            <a:r>
              <a:rPr lang="en-US" b="1" dirty="0" smtClean="0"/>
              <a:t>Waveguide-based photodiodes</a:t>
            </a:r>
            <a:r>
              <a:rPr lang="en-US" dirty="0" smtClean="0"/>
              <a:t> help minimize </a:t>
            </a:r>
            <a:r>
              <a:rPr lang="en-US" dirty="0" err="1" smtClean="0"/>
              <a:t>Cin</a:t>
            </a:r>
            <a:r>
              <a:rPr lang="en-US" dirty="0" smtClean="0"/>
              <a:t>.</a:t>
            </a:r>
          </a:p>
          <a:p>
            <a:pPr>
              <a:buFont typeface="Arial" panose="020B0604020202020204" pitchFamily="34" charset="0"/>
              <a:buChar char="•"/>
            </a:pPr>
            <a:r>
              <a:rPr lang="en-US" b="1" dirty="0" smtClean="0"/>
              <a:t>No Power Grid (PG) under the bump</a:t>
            </a:r>
            <a:r>
              <a:rPr lang="en-US" dirty="0" smtClean="0"/>
              <a:t> reduces parasitic capacitance.</a:t>
            </a:r>
          </a:p>
          <a:p>
            <a:pPr>
              <a:buFont typeface="Arial" panose="020B0604020202020204" pitchFamily="34" charset="0"/>
              <a:buChar char="•"/>
            </a:pPr>
            <a:r>
              <a:rPr lang="en-US" b="1" dirty="0" smtClean="0"/>
              <a:t>Result:</a:t>
            </a:r>
            <a:r>
              <a:rPr lang="en-US" dirty="0" smtClean="0"/>
              <a:t> </a:t>
            </a:r>
            <a:r>
              <a:rPr lang="en-US" b="1" dirty="0" smtClean="0"/>
              <a:t>Lower input-referred noise, better TIA performance.</a:t>
            </a:r>
            <a:endParaRPr lang="en-US" dirty="0" smtClean="0"/>
          </a:p>
          <a:p>
            <a:r>
              <a:rPr lang="en-US" b="1" dirty="0" smtClean="0"/>
              <a:t>📈 Boosting gm Without Increasing </a:t>
            </a:r>
            <a:r>
              <a:rPr lang="en-US" b="1" dirty="0" err="1" smtClean="0"/>
              <a:t>Cin</a:t>
            </a:r>
            <a:endParaRPr lang="en-US" b="1" dirty="0" smtClean="0"/>
          </a:p>
          <a:p>
            <a:r>
              <a:rPr lang="en-US" b="1" dirty="0" smtClean="0"/>
              <a:t>Analogy:</a:t>
            </a:r>
            <a:r>
              <a:rPr lang="en-US" dirty="0" smtClean="0"/>
              <a:t> Increasing </a:t>
            </a:r>
            <a:r>
              <a:rPr lang="en-US" b="1" dirty="0" smtClean="0"/>
              <a:t>gm is like improving an engine’s power</a:t>
            </a:r>
            <a:r>
              <a:rPr lang="en-US" dirty="0" smtClean="0"/>
              <a:t>, but if you add too much weight (</a:t>
            </a:r>
            <a:r>
              <a:rPr lang="en-US" dirty="0" err="1" smtClean="0"/>
              <a:t>Cin</a:t>
            </a:r>
            <a:r>
              <a:rPr lang="en-US" dirty="0" smtClean="0"/>
              <a:t>), you lose efficiency.</a:t>
            </a:r>
          </a:p>
          <a:p>
            <a:pPr>
              <a:buFont typeface="Arial" panose="020B0604020202020204" pitchFamily="34" charset="0"/>
              <a:buChar char="•"/>
            </a:pPr>
            <a:r>
              <a:rPr lang="en-US" dirty="0" smtClean="0"/>
              <a:t>Increasing </a:t>
            </a:r>
            <a:r>
              <a:rPr lang="en-US" b="1" dirty="0" smtClean="0"/>
              <a:t>gm (</a:t>
            </a:r>
            <a:r>
              <a:rPr lang="en-US" b="1" dirty="0" err="1" smtClean="0"/>
              <a:t>transconductance</a:t>
            </a:r>
            <a:r>
              <a:rPr lang="en-US" b="1" dirty="0" smtClean="0"/>
              <a:t>)</a:t>
            </a:r>
            <a:r>
              <a:rPr lang="en-US" dirty="0" smtClean="0"/>
              <a:t> helps reduce noise.</a:t>
            </a:r>
          </a:p>
          <a:p>
            <a:pPr>
              <a:buFont typeface="Arial" panose="020B0604020202020204" pitchFamily="34" charset="0"/>
              <a:buChar char="•"/>
            </a:pPr>
            <a:r>
              <a:rPr lang="en-US" dirty="0" smtClean="0"/>
              <a:t>However, </a:t>
            </a:r>
            <a:r>
              <a:rPr lang="en-US" b="1" dirty="0" smtClean="0"/>
              <a:t>beyond a point, higher gm increases </a:t>
            </a:r>
            <a:r>
              <a:rPr lang="en-US" b="1" dirty="0" err="1" smtClean="0"/>
              <a:t>Cin</a:t>
            </a:r>
            <a:r>
              <a:rPr lang="en-US" dirty="0" smtClean="0"/>
              <a:t>, leading to diminishing returns.</a:t>
            </a:r>
          </a:p>
          <a:p>
            <a:pPr>
              <a:buFont typeface="Arial" panose="020B0604020202020204" pitchFamily="34" charset="0"/>
              <a:buChar char="•"/>
            </a:pPr>
            <a:r>
              <a:rPr lang="en-US" b="1" dirty="0" smtClean="0"/>
              <a:t>Optimal balance</a:t>
            </a:r>
            <a:r>
              <a:rPr lang="en-US" dirty="0" smtClean="0"/>
              <a:t> is needed between </a:t>
            </a:r>
            <a:r>
              <a:rPr lang="en-US" b="1" dirty="0" smtClean="0"/>
              <a:t>gm and </a:t>
            </a:r>
            <a:r>
              <a:rPr lang="en-US" b="1" dirty="0" err="1" smtClean="0"/>
              <a:t>Cin</a:t>
            </a:r>
            <a:r>
              <a:rPr lang="en-US" dirty="0" smtClean="0"/>
              <a:t>.</a:t>
            </a:r>
          </a:p>
          <a:p>
            <a:r>
              <a:rPr lang="en-US" b="1" dirty="0" smtClean="0"/>
              <a:t>⚡ Parasitic &amp; Gate Resistance Reduction: Keeping It Clean</a:t>
            </a:r>
          </a:p>
          <a:p>
            <a:r>
              <a:rPr lang="en-US" b="1" dirty="0" smtClean="0"/>
              <a:t>Analogy:</a:t>
            </a:r>
            <a:r>
              <a:rPr lang="en-US" dirty="0" smtClean="0"/>
              <a:t> Think of </a:t>
            </a:r>
            <a:r>
              <a:rPr lang="en-US" b="1" dirty="0" smtClean="0"/>
              <a:t>gate resistance as friction</a:t>
            </a:r>
            <a:r>
              <a:rPr lang="en-US" dirty="0" smtClean="0"/>
              <a:t> in a mechanical system—too much, and you lose efficiency.</a:t>
            </a:r>
          </a:p>
          <a:p>
            <a:pPr>
              <a:buFont typeface="Arial" panose="020B0604020202020204" pitchFamily="34" charset="0"/>
              <a:buChar char="•"/>
            </a:pPr>
            <a:r>
              <a:rPr lang="en-US" b="1" dirty="0" err="1" smtClean="0"/>
              <a:t>Parasitics</a:t>
            </a:r>
            <a:r>
              <a:rPr lang="en-US" b="1" dirty="0" smtClean="0"/>
              <a:t> in the photodiode path add unnecessary noise</a:t>
            </a:r>
            <a:r>
              <a:rPr lang="en-US" dirty="0" smtClean="0"/>
              <a:t>.</a:t>
            </a:r>
          </a:p>
          <a:p>
            <a:pPr>
              <a:buFont typeface="Arial" panose="020B0604020202020204" pitchFamily="34" charset="0"/>
              <a:buChar char="•"/>
            </a:pPr>
            <a:r>
              <a:rPr lang="en-US" b="1" dirty="0" smtClean="0"/>
              <a:t>Using low-Fin MOSFETs reduces gate resistance</a:t>
            </a:r>
            <a:r>
              <a:rPr lang="en-US" dirty="0" smtClean="0"/>
              <a:t>, improving noise performance.</a:t>
            </a:r>
          </a:p>
          <a:p>
            <a:pPr>
              <a:buFont typeface="Arial" panose="020B0604020202020204" pitchFamily="34" charset="0"/>
              <a:buChar char="•"/>
            </a:pPr>
            <a:r>
              <a:rPr lang="en-US" b="1" dirty="0" smtClean="0"/>
              <a:t>Result:</a:t>
            </a:r>
            <a:r>
              <a:rPr lang="en-US" dirty="0" smtClean="0"/>
              <a:t> </a:t>
            </a:r>
            <a:r>
              <a:rPr lang="en-US" b="1" dirty="0" smtClean="0"/>
              <a:t>Cleaner, low-noise amplification at high speeds.</a:t>
            </a:r>
            <a:endParaRPr lang="en-US" dirty="0" smtClean="0"/>
          </a:p>
          <a:p>
            <a:r>
              <a:rPr lang="en-US" b="1" dirty="0" smtClean="0"/>
              <a:t>📊 Key Takeaways</a:t>
            </a:r>
          </a:p>
          <a:p>
            <a:r>
              <a:rPr lang="en-US" dirty="0" smtClean="0"/>
              <a:t>✔ </a:t>
            </a:r>
            <a:r>
              <a:rPr lang="en-US" b="1" dirty="0" smtClean="0"/>
              <a:t>Lower </a:t>
            </a:r>
            <a:r>
              <a:rPr lang="en-US" b="1" dirty="0" err="1" smtClean="0"/>
              <a:t>Cin</a:t>
            </a:r>
            <a:r>
              <a:rPr lang="en-US" b="1" dirty="0" smtClean="0"/>
              <a:t> = Lower Noise</a:t>
            </a:r>
            <a:r>
              <a:rPr lang="en-US" dirty="0" smtClean="0"/>
              <a:t>—optimized layout and waveguide-based PDs help.</a:t>
            </a:r>
            <a:br>
              <a:rPr lang="en-US" dirty="0" smtClean="0"/>
            </a:br>
            <a:r>
              <a:rPr lang="en-US" dirty="0" smtClean="0"/>
              <a:t>✔ </a:t>
            </a:r>
            <a:r>
              <a:rPr lang="en-US" b="1" dirty="0" smtClean="0"/>
              <a:t>Smart gm scaling</a:t>
            </a:r>
            <a:r>
              <a:rPr lang="en-US" dirty="0" smtClean="0"/>
              <a:t>—boost gm only until noise improves without increasing </a:t>
            </a:r>
            <a:r>
              <a:rPr lang="en-US" dirty="0" err="1" smtClean="0"/>
              <a:t>Cin</a:t>
            </a:r>
            <a:r>
              <a:rPr lang="en-US" dirty="0" smtClean="0"/>
              <a:t>.</a:t>
            </a:r>
            <a:br>
              <a:rPr lang="en-US" dirty="0" smtClean="0"/>
            </a:br>
            <a:r>
              <a:rPr lang="en-US" dirty="0" smtClean="0"/>
              <a:t>✔ </a:t>
            </a:r>
            <a:r>
              <a:rPr lang="en-US" b="1" dirty="0" smtClean="0"/>
              <a:t>Low-Fin MOSFETs reduce resistance and parasitic noise.</a:t>
            </a:r>
            <a:endParaRPr lang="en-US" dirty="0" smtClean="0"/>
          </a:p>
          <a:p>
            <a:r>
              <a:rPr lang="en-US" dirty="0" smtClean="0"/>
              <a:t>This </a:t>
            </a:r>
            <a:r>
              <a:rPr lang="en-US" b="1" dirty="0" smtClean="0"/>
              <a:t>low-noise TIA architecture is optimized for high-speed optical receivers</a:t>
            </a:r>
            <a:r>
              <a:rPr lang="en-US" dirty="0" smtClean="0"/>
              <a:t>, ensuring </a:t>
            </a:r>
            <a:r>
              <a:rPr lang="en-US" b="1" dirty="0" smtClean="0"/>
              <a:t>high sensitivity, low noise, and robust performance for 112G/224G applications.</a:t>
            </a:r>
            <a:r>
              <a:rPr lang="en-US" dirty="0" smtClean="0"/>
              <a:t>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62</a:t>
            </a:fld>
            <a:endParaRPr lang="en-US"/>
          </a:p>
        </p:txBody>
      </p:sp>
    </p:spTree>
    <p:extLst>
      <p:ext uri="{BB962C8B-B14F-4D97-AF65-F5344CB8AC3E}">
        <p14:creationId xmlns:p14="http://schemas.microsoft.com/office/powerpoint/2010/main" val="38088865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High-Speed RX Architecture: Breaking It Down</a:t>
            </a:r>
          </a:p>
          <a:p>
            <a:r>
              <a:rPr lang="en-US" dirty="0" smtClean="0"/>
              <a:t>A </a:t>
            </a:r>
            <a:r>
              <a:rPr lang="en-US" b="1" dirty="0" smtClean="0"/>
              <a:t>high-speed optical receiver</a:t>
            </a:r>
            <a:r>
              <a:rPr lang="en-US" dirty="0" smtClean="0"/>
              <a:t> is like a </a:t>
            </a:r>
            <a:r>
              <a:rPr lang="en-US" b="1" dirty="0" smtClean="0"/>
              <a:t>precision radar system</a:t>
            </a:r>
            <a:r>
              <a:rPr lang="en-US" dirty="0" smtClean="0"/>
              <a:t>—it needs to </a:t>
            </a:r>
            <a:r>
              <a:rPr lang="en-US" b="1" dirty="0" smtClean="0"/>
              <a:t>capture weak signals</a:t>
            </a:r>
            <a:r>
              <a:rPr lang="en-US" dirty="0" smtClean="0"/>
              <a:t>, </a:t>
            </a:r>
            <a:r>
              <a:rPr lang="en-US" b="1" dirty="0" smtClean="0"/>
              <a:t>filter out noise</a:t>
            </a:r>
            <a:r>
              <a:rPr lang="en-US" dirty="0" smtClean="0"/>
              <a:t>, and </a:t>
            </a:r>
            <a:r>
              <a:rPr lang="en-US" b="1" dirty="0" smtClean="0"/>
              <a:t>deliver clean data to the next stage</a:t>
            </a:r>
            <a:r>
              <a:rPr lang="en-US" dirty="0" smtClean="0"/>
              <a:t>. Let’s break down how this </a:t>
            </a:r>
            <a:r>
              <a:rPr lang="en-US" b="1" dirty="0" smtClean="0"/>
              <a:t>RX architecture</a:t>
            </a:r>
            <a:r>
              <a:rPr lang="en-US" dirty="0" smtClean="0"/>
              <a:t> achieves that.</a:t>
            </a:r>
          </a:p>
          <a:p>
            <a:r>
              <a:rPr lang="en-US" b="1" dirty="0" smtClean="0"/>
              <a:t>🔍 The Front-End: Detecting &amp; Amplifying the Signal</a:t>
            </a:r>
          </a:p>
          <a:p>
            <a:r>
              <a:rPr lang="en-US" b="1" dirty="0" smtClean="0"/>
              <a:t>Analogy:</a:t>
            </a:r>
            <a:r>
              <a:rPr lang="en-US" dirty="0" smtClean="0"/>
              <a:t> Think of a </a:t>
            </a:r>
            <a:r>
              <a:rPr lang="en-US" b="1" dirty="0" smtClean="0"/>
              <a:t>photo diode (PD) as a telescope lens</a:t>
            </a:r>
            <a:r>
              <a:rPr lang="en-US" dirty="0" smtClean="0"/>
              <a:t>—it collects incoming light and converts it into an electrical signal.</a:t>
            </a:r>
          </a:p>
          <a:p>
            <a:pPr>
              <a:buFont typeface="Arial" panose="020B0604020202020204" pitchFamily="34" charset="0"/>
              <a:buChar char="•"/>
            </a:pPr>
            <a:r>
              <a:rPr lang="en-US" dirty="0" smtClean="0"/>
              <a:t>The </a:t>
            </a:r>
            <a:r>
              <a:rPr lang="en-US" b="1" dirty="0" smtClean="0"/>
              <a:t>photo diode generates a current (~0.9 A/W)</a:t>
            </a:r>
            <a:r>
              <a:rPr lang="en-US" dirty="0" smtClean="0"/>
              <a:t> proportional to the received light.</a:t>
            </a:r>
          </a:p>
          <a:p>
            <a:pPr>
              <a:buFont typeface="Arial" panose="020B0604020202020204" pitchFamily="34" charset="0"/>
              <a:buChar char="•"/>
            </a:pPr>
            <a:r>
              <a:rPr lang="en-US" b="1" dirty="0" smtClean="0"/>
              <a:t>Parasitic capacitance (25fF + 10fF)</a:t>
            </a:r>
            <a:r>
              <a:rPr lang="en-US" dirty="0" smtClean="0"/>
              <a:t> adds unwanted noise, so careful layout is critical.</a:t>
            </a:r>
          </a:p>
          <a:p>
            <a:pPr>
              <a:buFont typeface="Arial" panose="020B0604020202020204" pitchFamily="34" charset="0"/>
              <a:buChar char="•"/>
            </a:pPr>
            <a:r>
              <a:rPr lang="en-US" dirty="0" smtClean="0"/>
              <a:t>The </a:t>
            </a:r>
            <a:r>
              <a:rPr lang="en-US" b="1" dirty="0" smtClean="0"/>
              <a:t>TIA (</a:t>
            </a:r>
            <a:r>
              <a:rPr lang="en-US" b="1" dirty="0" err="1" smtClean="0"/>
              <a:t>Transimpedance</a:t>
            </a:r>
            <a:r>
              <a:rPr lang="en-US" b="1" dirty="0" smtClean="0"/>
              <a:t> Amplifier)</a:t>
            </a:r>
            <a:r>
              <a:rPr lang="en-US" dirty="0" smtClean="0"/>
              <a:t> converts the weak current into a voltage signal.</a:t>
            </a:r>
          </a:p>
          <a:p>
            <a:r>
              <a:rPr lang="en-US" dirty="0" smtClean="0"/>
              <a:t>✔ </a:t>
            </a:r>
            <a:r>
              <a:rPr lang="en-US" b="1" dirty="0" smtClean="0"/>
              <a:t>Key Focus:</a:t>
            </a:r>
            <a:r>
              <a:rPr lang="en-US" dirty="0" smtClean="0"/>
              <a:t> Minimize </a:t>
            </a:r>
            <a:r>
              <a:rPr lang="en-US" b="1" dirty="0" smtClean="0"/>
              <a:t>PD </a:t>
            </a:r>
            <a:r>
              <a:rPr lang="en-US" b="1" dirty="0" err="1" smtClean="0"/>
              <a:t>parasitics</a:t>
            </a:r>
            <a:r>
              <a:rPr lang="en-US" dirty="0" smtClean="0"/>
              <a:t> and optimize </a:t>
            </a:r>
            <a:r>
              <a:rPr lang="en-US" b="1" dirty="0" smtClean="0"/>
              <a:t>TIA bandwidth</a:t>
            </a:r>
            <a:r>
              <a:rPr lang="en-US" dirty="0" smtClean="0"/>
              <a:t> for high-speed performance.</a:t>
            </a:r>
          </a:p>
          <a:p>
            <a:r>
              <a:rPr lang="en-US" b="1" dirty="0" smtClean="0"/>
              <a:t>🔊 Noise &amp; Common-Mode Handling</a:t>
            </a:r>
          </a:p>
          <a:p>
            <a:r>
              <a:rPr lang="en-US" b="1" dirty="0" smtClean="0"/>
              <a:t>Analogy:</a:t>
            </a:r>
            <a:r>
              <a:rPr lang="en-US" dirty="0" smtClean="0"/>
              <a:t> Imagine </a:t>
            </a:r>
            <a:r>
              <a:rPr lang="en-US" b="1" dirty="0" smtClean="0"/>
              <a:t>balancing a seesaw</a:t>
            </a:r>
            <a:r>
              <a:rPr lang="en-US" dirty="0" smtClean="0"/>
              <a:t>—you need to maintain symmetry to keep it stable.</a:t>
            </a:r>
          </a:p>
          <a:p>
            <a:pPr>
              <a:buFont typeface="Arial" panose="020B0604020202020204" pitchFamily="34" charset="0"/>
              <a:buChar char="•"/>
            </a:pPr>
            <a:r>
              <a:rPr lang="en-US" b="1" dirty="0" smtClean="0"/>
              <a:t>gm stages (gm1, gm2, gm3)</a:t>
            </a:r>
            <a:r>
              <a:rPr lang="en-US" dirty="0" smtClean="0"/>
              <a:t> provide voltage gain while keeping noise low.</a:t>
            </a:r>
          </a:p>
          <a:p>
            <a:pPr>
              <a:buFont typeface="Arial" panose="020B0604020202020204" pitchFamily="34" charset="0"/>
              <a:buChar char="•"/>
            </a:pPr>
            <a:r>
              <a:rPr lang="en-US" b="1" dirty="0" smtClean="0"/>
              <a:t>Common-mode generator</a:t>
            </a:r>
            <a:r>
              <a:rPr lang="en-US" dirty="0" smtClean="0"/>
              <a:t> ensures a stable voltage reference (</a:t>
            </a:r>
            <a:r>
              <a:rPr lang="en-US" b="1" dirty="0" err="1" smtClean="0"/>
              <a:t>Vcm</a:t>
            </a:r>
            <a:r>
              <a:rPr lang="en-US" dirty="0" smtClean="0"/>
              <a:t>).</a:t>
            </a:r>
          </a:p>
          <a:p>
            <a:pPr>
              <a:buFont typeface="Arial" panose="020B0604020202020204" pitchFamily="34" charset="0"/>
              <a:buChar char="•"/>
            </a:pPr>
            <a:r>
              <a:rPr lang="en-US" b="1" dirty="0" smtClean="0"/>
              <a:t>OTA-based feedback cancels average PD current</a:t>
            </a:r>
            <a:r>
              <a:rPr lang="en-US" dirty="0" smtClean="0"/>
              <a:t>, improving PSRR (Power Supply Rejection Ratio).</a:t>
            </a:r>
          </a:p>
          <a:p>
            <a:r>
              <a:rPr lang="en-US" dirty="0" smtClean="0"/>
              <a:t>✔ </a:t>
            </a:r>
            <a:r>
              <a:rPr lang="en-US" b="1" dirty="0" smtClean="0"/>
              <a:t>Key Focus:</a:t>
            </a:r>
            <a:r>
              <a:rPr lang="en-US" dirty="0" smtClean="0"/>
              <a:t> Reduce </a:t>
            </a:r>
            <a:r>
              <a:rPr lang="en-US" b="1" dirty="0" smtClean="0"/>
              <a:t>kickback noise</a:t>
            </a:r>
            <a:r>
              <a:rPr lang="en-US" dirty="0" smtClean="0"/>
              <a:t> and ensure </a:t>
            </a:r>
            <a:r>
              <a:rPr lang="en-US" b="1" dirty="0" smtClean="0"/>
              <a:t>matched common-mode rejection</a:t>
            </a:r>
            <a:r>
              <a:rPr lang="en-US" dirty="0" smtClean="0"/>
              <a:t> for cleaner signals.</a:t>
            </a:r>
          </a:p>
          <a:p>
            <a:r>
              <a:rPr lang="en-US" b="1" dirty="0" smtClean="0"/>
              <a:t>📡 High-Speed Clocking &amp; Data Processing</a:t>
            </a:r>
          </a:p>
          <a:p>
            <a:r>
              <a:rPr lang="en-US" b="1" dirty="0" smtClean="0"/>
              <a:t>Analogy:</a:t>
            </a:r>
            <a:r>
              <a:rPr lang="en-US" dirty="0" smtClean="0"/>
              <a:t> Think of this as a </a:t>
            </a:r>
            <a:r>
              <a:rPr lang="en-US" b="1" dirty="0" smtClean="0"/>
              <a:t>highway with multiple lanes</a:t>
            </a:r>
            <a:r>
              <a:rPr lang="en-US" dirty="0" smtClean="0"/>
              <a:t>—data moves in parallel to maintain speed.</a:t>
            </a:r>
          </a:p>
          <a:p>
            <a:pPr>
              <a:buFont typeface="Arial" panose="020B0604020202020204" pitchFamily="34" charset="0"/>
              <a:buChar char="•"/>
            </a:pPr>
            <a:r>
              <a:rPr lang="en-US" b="1" dirty="0" smtClean="0"/>
              <a:t>125 GHz clock</a:t>
            </a:r>
            <a:r>
              <a:rPr lang="en-US" dirty="0" smtClean="0"/>
              <a:t> ensures rapid sampling.</a:t>
            </a:r>
          </a:p>
          <a:p>
            <a:pPr>
              <a:buFont typeface="Arial" panose="020B0604020202020204" pitchFamily="34" charset="0"/>
              <a:buChar char="•"/>
            </a:pPr>
            <a:r>
              <a:rPr lang="en-US" b="1" dirty="0" err="1" smtClean="0"/>
              <a:t>Deserializers</a:t>
            </a:r>
            <a:r>
              <a:rPr lang="en-US" b="1" dirty="0" smtClean="0"/>
              <a:t> split data (64+16) into smaller chunks</a:t>
            </a:r>
            <a:r>
              <a:rPr lang="en-US" dirty="0" smtClean="0"/>
              <a:t> for processing.</a:t>
            </a:r>
          </a:p>
          <a:p>
            <a:pPr>
              <a:buFont typeface="Arial" panose="020B0604020202020204" pitchFamily="34" charset="0"/>
              <a:buChar char="•"/>
            </a:pPr>
            <a:r>
              <a:rPr lang="en-US" b="1" dirty="0" smtClean="0"/>
              <a:t>Four data slicers + error slicer</a:t>
            </a:r>
            <a:r>
              <a:rPr lang="en-US" dirty="0" smtClean="0"/>
              <a:t> recover the original high-speed data.</a:t>
            </a:r>
          </a:p>
          <a:p>
            <a:r>
              <a:rPr lang="en-US" dirty="0" smtClean="0"/>
              <a:t>✔ </a:t>
            </a:r>
            <a:r>
              <a:rPr lang="en-US" b="1" dirty="0" smtClean="0"/>
              <a:t>Key Focus:</a:t>
            </a:r>
            <a:r>
              <a:rPr lang="en-US" dirty="0" smtClean="0"/>
              <a:t> </a:t>
            </a:r>
            <a:r>
              <a:rPr lang="en-US" b="1" dirty="0" smtClean="0"/>
              <a:t>Optimize clocking and slicers</a:t>
            </a:r>
            <a:r>
              <a:rPr lang="en-US" dirty="0" smtClean="0"/>
              <a:t> to minimize jitter and maximize data integrity.</a:t>
            </a:r>
          </a:p>
          <a:p>
            <a:r>
              <a:rPr lang="en-US" b="1" dirty="0" smtClean="0"/>
              <a:t>🔑 Key Takeaways</a:t>
            </a:r>
          </a:p>
          <a:p>
            <a:r>
              <a:rPr lang="en-US" dirty="0" smtClean="0"/>
              <a:t>✔ </a:t>
            </a:r>
            <a:r>
              <a:rPr lang="en-US" b="1" dirty="0" smtClean="0"/>
              <a:t>Minimize PD </a:t>
            </a:r>
            <a:r>
              <a:rPr lang="en-US" b="1" dirty="0" err="1" smtClean="0"/>
              <a:t>parasitics</a:t>
            </a:r>
            <a:r>
              <a:rPr lang="en-US" dirty="0" smtClean="0"/>
              <a:t> for better bandwidth.</a:t>
            </a:r>
            <a:br>
              <a:rPr lang="en-US" dirty="0" smtClean="0"/>
            </a:br>
            <a:r>
              <a:rPr lang="en-US" dirty="0" smtClean="0"/>
              <a:t>✔ </a:t>
            </a:r>
            <a:r>
              <a:rPr lang="en-US" b="1" dirty="0" smtClean="0"/>
              <a:t>Optimize gain stages (gm1–gm3) to balance noise and speed.</a:t>
            </a:r>
            <a:r>
              <a:rPr lang="en-US" dirty="0" smtClean="0"/>
              <a:t/>
            </a:r>
            <a:br>
              <a:rPr lang="en-US" dirty="0" smtClean="0"/>
            </a:br>
            <a:r>
              <a:rPr lang="en-US" dirty="0" smtClean="0"/>
              <a:t>✔ </a:t>
            </a:r>
            <a:r>
              <a:rPr lang="en-US" b="1" dirty="0" smtClean="0"/>
              <a:t>Common-mode control improves PSRR and noise immunity.</a:t>
            </a:r>
            <a:r>
              <a:rPr lang="en-US" dirty="0" smtClean="0"/>
              <a:t/>
            </a:r>
            <a:br>
              <a:rPr lang="en-US" dirty="0" smtClean="0"/>
            </a:br>
            <a:r>
              <a:rPr lang="en-US" dirty="0" smtClean="0"/>
              <a:t>✔ </a:t>
            </a:r>
            <a:r>
              <a:rPr lang="en-US" b="1" dirty="0" smtClean="0"/>
              <a:t>High-speed deserialization and CDR ensure accurate data recovery.</a:t>
            </a:r>
            <a:endParaRPr lang="en-US" dirty="0" smtClean="0"/>
          </a:p>
          <a:p>
            <a:r>
              <a:rPr lang="en-US" dirty="0" smtClean="0"/>
              <a:t>This </a:t>
            </a:r>
            <a:r>
              <a:rPr lang="en-US" b="1" dirty="0" smtClean="0"/>
              <a:t>RX architecture is designed for ultra-high-speed optical communications (112G/224G+), ensuring reliable signal detection, amplification, and data extraction.</a:t>
            </a:r>
            <a:r>
              <a:rPr lang="en-US" dirty="0" smtClean="0"/>
              <a:t>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63</a:t>
            </a:fld>
            <a:endParaRPr lang="en-US"/>
          </a:p>
        </p:txBody>
      </p:sp>
    </p:spTree>
    <p:extLst>
      <p:ext uri="{BB962C8B-B14F-4D97-AF65-F5344CB8AC3E}">
        <p14:creationId xmlns:p14="http://schemas.microsoft.com/office/powerpoint/2010/main" val="12707451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Why Skip DFE in High-Speed RX Design?</a:t>
            </a:r>
          </a:p>
          <a:p>
            <a:r>
              <a:rPr lang="en-US" dirty="0" smtClean="0"/>
              <a:t>High-speed receivers often face a </a:t>
            </a:r>
            <a:r>
              <a:rPr lang="en-US" b="1" dirty="0" smtClean="0"/>
              <a:t>bandwidth vs. noise trade-off</a:t>
            </a:r>
            <a:r>
              <a:rPr lang="en-US" dirty="0" smtClean="0"/>
              <a:t>. Traditionally, a </a:t>
            </a:r>
            <a:r>
              <a:rPr lang="en-US" b="1" dirty="0" smtClean="0"/>
              <a:t>low-bandwidth TIA and DFE (Decision Feedback Equalizer)</a:t>
            </a:r>
            <a:r>
              <a:rPr lang="en-US" dirty="0" smtClean="0"/>
              <a:t> help break this trade-off. However, at extreme speeds, </a:t>
            </a:r>
            <a:r>
              <a:rPr lang="en-US" b="1" dirty="0" smtClean="0"/>
              <a:t>DFE becomes power-hungry and costly to implement</a:t>
            </a:r>
            <a:r>
              <a:rPr lang="en-US" dirty="0" smtClean="0"/>
              <a:t>.</a:t>
            </a:r>
          </a:p>
          <a:p>
            <a:r>
              <a:rPr lang="en-US" b="1" dirty="0" smtClean="0"/>
              <a:t>📉 The Problem with DFE at High Speeds</a:t>
            </a:r>
          </a:p>
          <a:p>
            <a:r>
              <a:rPr lang="en-US" dirty="0" smtClean="0"/>
              <a:t>✔ </a:t>
            </a:r>
            <a:r>
              <a:rPr lang="en-US" b="1" dirty="0" smtClean="0"/>
              <a:t>DFE increases power consumption significantly.</a:t>
            </a:r>
            <a:r>
              <a:rPr lang="en-US" dirty="0" smtClean="0"/>
              <a:t/>
            </a:r>
            <a:br>
              <a:rPr lang="en-US" dirty="0" smtClean="0"/>
            </a:br>
            <a:r>
              <a:rPr lang="en-US" dirty="0" smtClean="0"/>
              <a:t>✔ </a:t>
            </a:r>
            <a:r>
              <a:rPr lang="en-US" b="1" dirty="0" smtClean="0"/>
              <a:t>DFE complexity grows non-linearly with speed, making it impractical for 224G systems.</a:t>
            </a:r>
            <a:r>
              <a:rPr lang="en-US" dirty="0" smtClean="0"/>
              <a:t/>
            </a:r>
            <a:br>
              <a:rPr lang="en-US" dirty="0" smtClean="0"/>
            </a:br>
            <a:r>
              <a:rPr lang="en-US" dirty="0" smtClean="0"/>
              <a:t>✔ </a:t>
            </a:r>
            <a:r>
              <a:rPr lang="en-US" b="1" dirty="0" smtClean="0"/>
              <a:t>DFE requires precise adaptation, which is challenging in process variations.</a:t>
            </a:r>
            <a:endParaRPr lang="en-US" dirty="0" smtClean="0"/>
          </a:p>
          <a:p>
            <a:r>
              <a:rPr lang="en-US" b="1" dirty="0" smtClean="0"/>
              <a:t>🛠 The Alternative: Leveraging TX Over-Peaking</a:t>
            </a:r>
          </a:p>
          <a:p>
            <a:r>
              <a:rPr lang="en-US" dirty="0" smtClean="0"/>
              <a:t>Instead of relying on </a:t>
            </a:r>
            <a:r>
              <a:rPr lang="en-US" b="1" dirty="0" smtClean="0"/>
              <a:t>DFE</a:t>
            </a:r>
            <a:r>
              <a:rPr lang="en-US" dirty="0" smtClean="0"/>
              <a:t>, a smart approach is to </a:t>
            </a:r>
            <a:r>
              <a:rPr lang="en-US" b="1" dirty="0" smtClean="0"/>
              <a:t>apply controlled over-peaking at the transmitter</a:t>
            </a:r>
            <a:r>
              <a:rPr lang="en-US" dirty="0" smtClean="0"/>
              <a:t>:</a:t>
            </a:r>
          </a:p>
          <a:p>
            <a:pPr>
              <a:buFont typeface="Arial" panose="020B0604020202020204" pitchFamily="34" charset="0"/>
              <a:buChar char="•"/>
            </a:pPr>
            <a:r>
              <a:rPr lang="en-US" b="1" dirty="0" smtClean="0"/>
              <a:t>Over-peaked TX compensates for RX bandwidth limitations.</a:t>
            </a:r>
            <a:endParaRPr lang="en-US" dirty="0" smtClean="0"/>
          </a:p>
          <a:p>
            <a:pPr>
              <a:buFont typeface="Arial" panose="020B0604020202020204" pitchFamily="34" charset="0"/>
              <a:buChar char="•"/>
            </a:pPr>
            <a:r>
              <a:rPr lang="en-US" b="1" dirty="0" smtClean="0"/>
              <a:t>This allows the RX to operate with a lower bandwidth</a:t>
            </a:r>
            <a:r>
              <a:rPr lang="en-US" dirty="0" smtClean="0"/>
              <a:t>, reducing noise without sacrificing modulation amplitude.</a:t>
            </a:r>
          </a:p>
          <a:p>
            <a:pPr>
              <a:buFont typeface="Arial" panose="020B0604020202020204" pitchFamily="34" charset="0"/>
              <a:buChar char="•"/>
            </a:pPr>
            <a:r>
              <a:rPr lang="en-US" b="1" dirty="0" smtClean="0"/>
              <a:t>Result: A cleaner, wider RX eye opening with lower power consumption.</a:t>
            </a:r>
            <a:endParaRPr lang="en-US" dirty="0" smtClean="0"/>
          </a:p>
          <a:p>
            <a:r>
              <a:rPr lang="en-US" b="1" dirty="0" smtClean="0"/>
              <a:t>🔑 Key Takeaways</a:t>
            </a:r>
          </a:p>
          <a:p>
            <a:r>
              <a:rPr lang="en-US" dirty="0" smtClean="0"/>
              <a:t>✔ </a:t>
            </a:r>
            <a:r>
              <a:rPr lang="en-US" b="1" dirty="0" smtClean="0"/>
              <a:t>DFE is not always the best option for ultra-high-speed links.</a:t>
            </a:r>
            <a:r>
              <a:rPr lang="en-US" dirty="0" smtClean="0"/>
              <a:t/>
            </a:r>
            <a:br>
              <a:rPr lang="en-US" dirty="0" smtClean="0"/>
            </a:br>
            <a:r>
              <a:rPr lang="en-US" dirty="0" smtClean="0"/>
              <a:t>✔ </a:t>
            </a:r>
            <a:r>
              <a:rPr lang="en-US" b="1" dirty="0" smtClean="0"/>
              <a:t>TX-side equalization (over-peaking) helps RX reduce bandwidth without excessive noise.</a:t>
            </a:r>
            <a:r>
              <a:rPr lang="en-US" dirty="0" smtClean="0"/>
              <a:t/>
            </a:r>
            <a:br>
              <a:rPr lang="en-US" dirty="0" smtClean="0"/>
            </a:br>
            <a:r>
              <a:rPr lang="en-US" dirty="0" smtClean="0"/>
              <a:t>✔ </a:t>
            </a:r>
            <a:r>
              <a:rPr lang="en-US" b="1" dirty="0" smtClean="0"/>
              <a:t>This approach ensures lower power, lower complexity, and a better eye diagram.</a:t>
            </a:r>
            <a:endParaRPr lang="en-US" dirty="0" smtClean="0"/>
          </a:p>
          <a:p>
            <a:r>
              <a:rPr lang="en-US" dirty="0" smtClean="0"/>
              <a:t>For 112G/224G PAM-4 systems, </a:t>
            </a:r>
            <a:r>
              <a:rPr lang="en-US" b="1" dirty="0" smtClean="0"/>
              <a:t>eliminating DFE in favor of TX-side compensation can significantly improve efficiency</a:t>
            </a:r>
            <a:r>
              <a:rPr lang="en-US" dirty="0" smtClean="0"/>
              <a:t>.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64</a:t>
            </a:fld>
            <a:endParaRPr lang="en-US"/>
          </a:p>
        </p:txBody>
      </p:sp>
    </p:spTree>
    <p:extLst>
      <p:ext uri="{BB962C8B-B14F-4D97-AF65-F5344CB8AC3E}">
        <p14:creationId xmlns:p14="http://schemas.microsoft.com/office/powerpoint/2010/main" val="887222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Electro-Optical Link – Turning Electrical Pulses into Laser-Fast Data! 🚀</a:t>
            </a:r>
          </a:p>
          <a:p>
            <a:r>
              <a:rPr lang="en-US" dirty="0" smtClean="0"/>
              <a:t>Think of an </a:t>
            </a:r>
            <a:r>
              <a:rPr lang="en-US" b="1" dirty="0" smtClean="0"/>
              <a:t>electro-optical link</a:t>
            </a:r>
            <a:r>
              <a:rPr lang="en-US" dirty="0" smtClean="0"/>
              <a:t> as a </a:t>
            </a:r>
            <a:r>
              <a:rPr lang="en-US" b="1" dirty="0" smtClean="0"/>
              <a:t>data relay race</a:t>
            </a:r>
            <a:r>
              <a:rPr lang="en-US" dirty="0" smtClean="0"/>
              <a:t> where electrical signals (runners) pass the baton to optical signals (sprinters) for ultra-fast transmission through fiber! 🏃💡</a:t>
            </a:r>
          </a:p>
          <a:p>
            <a:r>
              <a:rPr lang="en-US" b="1" dirty="0" smtClean="0"/>
              <a:t>Step-by-Step Journey of Data</a:t>
            </a:r>
          </a:p>
          <a:p>
            <a:r>
              <a:rPr lang="en-US" dirty="0" smtClean="0"/>
              <a:t>📌 </a:t>
            </a:r>
            <a:r>
              <a:rPr lang="en-US" b="1" dirty="0" smtClean="0"/>
              <a:t>Step 1: Electrical Signal Generation (The Starting Line) 🏁</a:t>
            </a:r>
            <a:endParaRPr lang="en-US" dirty="0" smtClean="0"/>
          </a:p>
          <a:p>
            <a:pPr>
              <a:buFont typeface="Arial" panose="020B0604020202020204" pitchFamily="34" charset="0"/>
              <a:buChar char="•"/>
            </a:pPr>
            <a:r>
              <a:rPr lang="en-US" dirty="0" smtClean="0"/>
              <a:t>Data starts as </a:t>
            </a:r>
            <a:r>
              <a:rPr lang="en-US" b="1" dirty="0" smtClean="0"/>
              <a:t>electrical pulses</a:t>
            </a:r>
            <a:r>
              <a:rPr lang="en-US" dirty="0" smtClean="0"/>
              <a:t> (0s and 1s) at the </a:t>
            </a:r>
            <a:r>
              <a:rPr lang="en-US" b="1" dirty="0" smtClean="0"/>
              <a:t>transmitter (TX)</a:t>
            </a:r>
            <a:r>
              <a:rPr lang="en-US" dirty="0" smtClean="0"/>
              <a:t>.</a:t>
            </a:r>
          </a:p>
          <a:p>
            <a:pPr>
              <a:buFont typeface="Arial" panose="020B0604020202020204" pitchFamily="34" charset="0"/>
              <a:buChar char="•"/>
            </a:pPr>
            <a:r>
              <a:rPr lang="en-US" dirty="0" smtClean="0"/>
              <a:t>A </a:t>
            </a:r>
            <a:r>
              <a:rPr lang="en-US" b="1" dirty="0" smtClean="0"/>
              <a:t>pre-driver and driver</a:t>
            </a:r>
            <a:r>
              <a:rPr lang="en-US" dirty="0" smtClean="0"/>
              <a:t> boost these signals—like a coach getting an athlete ready to sprint! 🏋️</a:t>
            </a:r>
          </a:p>
          <a:p>
            <a:r>
              <a:rPr lang="en-US" dirty="0" smtClean="0"/>
              <a:t>📌 </a:t>
            </a:r>
            <a:r>
              <a:rPr lang="en-US" b="1" dirty="0" smtClean="0"/>
              <a:t>Step 2: Converting Electrical to Optical (The Baton Pass) 🔄</a:t>
            </a:r>
            <a:endParaRPr lang="en-US" dirty="0" smtClean="0"/>
          </a:p>
          <a:p>
            <a:pPr>
              <a:buFont typeface="Arial" panose="020B0604020202020204" pitchFamily="34" charset="0"/>
              <a:buChar char="•"/>
            </a:pPr>
            <a:r>
              <a:rPr lang="en-US" dirty="0" smtClean="0"/>
              <a:t>A </a:t>
            </a:r>
            <a:r>
              <a:rPr lang="en-US" b="1" dirty="0" smtClean="0"/>
              <a:t>laser</a:t>
            </a:r>
            <a:r>
              <a:rPr lang="en-US" dirty="0" smtClean="0"/>
              <a:t> (the sprinter) takes over, but it needs to be controlled!</a:t>
            </a:r>
          </a:p>
          <a:p>
            <a:pPr>
              <a:buFont typeface="Arial" panose="020B0604020202020204" pitchFamily="34" charset="0"/>
              <a:buChar char="•"/>
            </a:pPr>
            <a:r>
              <a:rPr lang="en-US" dirty="0" smtClean="0"/>
              <a:t>The </a:t>
            </a:r>
            <a:r>
              <a:rPr lang="en-US" b="1" dirty="0" smtClean="0"/>
              <a:t>modulator</a:t>
            </a:r>
            <a:r>
              <a:rPr lang="en-US" dirty="0" smtClean="0"/>
              <a:t> encodes the data onto light, just like a sprinter adjusting pace to match the baton pass! 🏃‍♂️💨</a:t>
            </a:r>
          </a:p>
          <a:p>
            <a:pPr>
              <a:buFont typeface="Arial" panose="020B0604020202020204" pitchFamily="34" charset="0"/>
              <a:buChar char="•"/>
            </a:pPr>
            <a:r>
              <a:rPr lang="en-US" dirty="0" smtClean="0"/>
              <a:t>The modulated light travels down the </a:t>
            </a:r>
            <a:r>
              <a:rPr lang="en-US" b="1" dirty="0" smtClean="0"/>
              <a:t>optical fiber</a:t>
            </a:r>
            <a:r>
              <a:rPr lang="en-US" dirty="0" smtClean="0"/>
              <a:t>, carrying data at </a:t>
            </a:r>
            <a:r>
              <a:rPr lang="en-US" b="1" dirty="0" smtClean="0"/>
              <a:t>near-light speed!</a:t>
            </a:r>
            <a:r>
              <a:rPr lang="en-US" dirty="0" smtClean="0"/>
              <a:t> 🚀</a:t>
            </a:r>
          </a:p>
          <a:p>
            <a:r>
              <a:rPr lang="en-US" dirty="0" smtClean="0"/>
              <a:t>📌 </a:t>
            </a:r>
            <a:r>
              <a:rPr lang="en-US" b="1" dirty="0" smtClean="0"/>
              <a:t>Step 3: Optical to Electrical Conversion (The Finish Line) 🏁</a:t>
            </a:r>
            <a:endParaRPr lang="en-US" dirty="0" smtClean="0"/>
          </a:p>
          <a:p>
            <a:pPr>
              <a:buFont typeface="Arial" panose="020B0604020202020204" pitchFamily="34" charset="0"/>
              <a:buChar char="•"/>
            </a:pPr>
            <a:r>
              <a:rPr lang="en-US" dirty="0" smtClean="0"/>
              <a:t>At the </a:t>
            </a:r>
            <a:r>
              <a:rPr lang="en-US" b="1" dirty="0" smtClean="0"/>
              <a:t>receiver (RX)</a:t>
            </a:r>
            <a:r>
              <a:rPr lang="en-US" dirty="0" smtClean="0"/>
              <a:t>, the </a:t>
            </a:r>
            <a:r>
              <a:rPr lang="en-US" b="1" dirty="0" smtClean="0"/>
              <a:t>photodetector (PD)</a:t>
            </a:r>
            <a:r>
              <a:rPr lang="en-US" dirty="0" smtClean="0"/>
              <a:t> catches the incoming light pulses and converts them back into electrical signals—like a runner handing the baton to the next teammate! 👏</a:t>
            </a:r>
          </a:p>
          <a:p>
            <a:pPr>
              <a:buFont typeface="Arial" panose="020B0604020202020204" pitchFamily="34" charset="0"/>
              <a:buChar char="•"/>
            </a:pPr>
            <a:r>
              <a:rPr lang="en-US" dirty="0" smtClean="0"/>
              <a:t>A </a:t>
            </a:r>
            <a:r>
              <a:rPr lang="en-US" b="1" dirty="0" err="1" smtClean="0"/>
              <a:t>transimpedance</a:t>
            </a:r>
            <a:r>
              <a:rPr lang="en-US" b="1" dirty="0" smtClean="0"/>
              <a:t> amplifier (TIA)</a:t>
            </a:r>
            <a:r>
              <a:rPr lang="en-US" dirty="0" smtClean="0"/>
              <a:t> strengthens the weak signal, and a </a:t>
            </a:r>
            <a:r>
              <a:rPr lang="en-US" b="1" dirty="0" smtClean="0"/>
              <a:t>limiting amplifier</a:t>
            </a:r>
            <a:r>
              <a:rPr lang="en-US" dirty="0" smtClean="0"/>
              <a:t> cleans it up, making it readable again!</a:t>
            </a:r>
          </a:p>
          <a:p>
            <a:r>
              <a:rPr lang="en-US" dirty="0" smtClean="0"/>
              <a:t>📌 </a:t>
            </a:r>
            <a:r>
              <a:rPr lang="en-US" b="1" dirty="0" smtClean="0"/>
              <a:t>Step 4: Back to Electrical Data (Victory Lap! 🏆)</a:t>
            </a:r>
            <a:endParaRPr lang="en-US" dirty="0" smtClean="0"/>
          </a:p>
          <a:p>
            <a:pPr>
              <a:buFont typeface="Arial" panose="020B0604020202020204" pitchFamily="34" charset="0"/>
              <a:buChar char="•"/>
            </a:pPr>
            <a:r>
              <a:rPr lang="en-US" dirty="0" smtClean="0"/>
              <a:t>The </a:t>
            </a:r>
            <a:r>
              <a:rPr lang="en-US" b="1" dirty="0" smtClean="0"/>
              <a:t>amplified signal</a:t>
            </a:r>
            <a:r>
              <a:rPr lang="en-US" dirty="0" smtClean="0"/>
              <a:t> is sent to the final electrical output, ready for processing—just like the relay team crossing the finish line with a strong handoff!</a:t>
            </a:r>
          </a:p>
          <a:p>
            <a:r>
              <a:rPr lang="en-US" dirty="0" smtClean="0"/>
              <a:t>💡 </a:t>
            </a:r>
            <a:r>
              <a:rPr lang="en-US" b="1" dirty="0" smtClean="0"/>
              <a:t>Bottom Line:</a:t>
            </a:r>
            <a:r>
              <a:rPr lang="en-US" dirty="0" smtClean="0"/>
              <a:t> This electro-optical link is </a:t>
            </a:r>
            <a:r>
              <a:rPr lang="en-US" b="1" dirty="0" smtClean="0"/>
              <a:t>the backbone of high-speed communication</a:t>
            </a:r>
            <a:r>
              <a:rPr lang="en-US" dirty="0" smtClean="0"/>
              <a:t>, ensuring data races across networks with </a:t>
            </a:r>
            <a:r>
              <a:rPr lang="en-US" b="1" dirty="0" smtClean="0"/>
              <a:t>minimal loss, maximum speed, and ultra-high efficiency!</a:t>
            </a:r>
            <a:r>
              <a:rPr lang="en-US" dirty="0" smtClean="0"/>
              <a:t> 🚀🔗</a:t>
            </a:r>
          </a:p>
          <a:p>
            <a:endParaRPr lang="en-US" dirty="0"/>
          </a:p>
        </p:txBody>
      </p:sp>
      <p:sp>
        <p:nvSpPr>
          <p:cNvPr id="4" name="Slide Number Placeholder 3"/>
          <p:cNvSpPr>
            <a:spLocks noGrp="1"/>
          </p:cNvSpPr>
          <p:nvPr>
            <p:ph type="sldNum" sz="quarter" idx="10"/>
          </p:nvPr>
        </p:nvSpPr>
        <p:spPr/>
        <p:txBody>
          <a:bodyPr/>
          <a:lstStyle/>
          <a:p>
            <a:fld id="{A1546796-0515-42DB-9676-72112D58AE68}" type="slidenum">
              <a:rPr lang="en-US" smtClean="0"/>
              <a:t>79</a:t>
            </a:fld>
            <a:endParaRPr lang="en-US"/>
          </a:p>
        </p:txBody>
      </p:sp>
    </p:spTree>
    <p:extLst>
      <p:ext uri="{BB962C8B-B14F-4D97-AF65-F5344CB8AC3E}">
        <p14:creationId xmlns:p14="http://schemas.microsoft.com/office/powerpoint/2010/main" val="251881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
        <p:nvSpPr>
          <p:cNvPr id="6" name="Slide Number Placeholder 5"/>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1061261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
        <p:nvSpPr>
          <p:cNvPr id="6" name="Slide Number Placeholder 5"/>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1697523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
        <p:nvSpPr>
          <p:cNvPr id="6" name="Slide Number Placeholder 5"/>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305539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
        <p:nvSpPr>
          <p:cNvPr id="7" name="Slide Number Placeholder 6"/>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164888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Feburary 28, 2025</a:t>
            </a:r>
            <a:endParaRPr lang="en-US"/>
          </a:p>
        </p:txBody>
      </p:sp>
      <p:sp>
        <p:nvSpPr>
          <p:cNvPr id="8" name="Footer Placeholder 7"/>
          <p:cNvSpPr>
            <a:spLocks noGrp="1"/>
          </p:cNvSpPr>
          <p:nvPr>
            <p:ph type="ftr" sz="quarter" idx="11"/>
          </p:nvPr>
        </p:nvSpPr>
        <p:spPr/>
        <p:txBody>
          <a:bodyPr/>
          <a:lstStyle/>
          <a:p>
            <a:r>
              <a:rPr lang="en-US" smtClean="0"/>
              <a:t>Workshop "Robust and Reliable VLSI Circuits"</a:t>
            </a:r>
            <a:endParaRPr lang="en-US"/>
          </a:p>
        </p:txBody>
      </p:sp>
      <p:sp>
        <p:nvSpPr>
          <p:cNvPr id="9" name="Slide Number Placeholder 8"/>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1059902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4" name="Footer Placeholder 3"/>
          <p:cNvSpPr>
            <a:spLocks noGrp="1"/>
          </p:cNvSpPr>
          <p:nvPr>
            <p:ph type="ftr" sz="quarter" idx="11"/>
          </p:nvPr>
        </p:nvSpPr>
        <p:spPr/>
        <p:txBody>
          <a:bodyPr/>
          <a:lstStyle/>
          <a:p>
            <a:r>
              <a:rPr lang="en-US" smtClean="0"/>
              <a:t>Workshop "Robust and Reliable VLSI Circuits"</a:t>
            </a:r>
            <a:endParaRPr lang="en-US"/>
          </a:p>
        </p:txBody>
      </p:sp>
      <p:sp>
        <p:nvSpPr>
          <p:cNvPr id="5" name="Slide Number Placeholder 4"/>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1095044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Feburary 28, 2025</a:t>
            </a:r>
            <a:endParaRPr lang="en-US"/>
          </a:p>
        </p:txBody>
      </p:sp>
      <p:sp>
        <p:nvSpPr>
          <p:cNvPr id="3" name="Footer Placeholder 2"/>
          <p:cNvSpPr>
            <a:spLocks noGrp="1"/>
          </p:cNvSpPr>
          <p:nvPr>
            <p:ph type="ftr" sz="quarter" idx="11"/>
          </p:nvPr>
        </p:nvSpPr>
        <p:spPr/>
        <p:txBody>
          <a:bodyPr/>
          <a:lstStyle/>
          <a:p>
            <a:r>
              <a:rPr lang="en-US" smtClean="0"/>
              <a:t>Workshop "Robust and Reliable VLSI Circuits"</a:t>
            </a:r>
            <a:endParaRPr lang="en-US"/>
          </a:p>
        </p:txBody>
      </p:sp>
      <p:sp>
        <p:nvSpPr>
          <p:cNvPr id="4" name="Slide Number Placeholder 3"/>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1253745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
        <p:nvSpPr>
          <p:cNvPr id="7" name="Slide Number Placeholder 6"/>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4291525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
        <p:nvSpPr>
          <p:cNvPr id="7" name="Slide Number Placeholder 6"/>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2001309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
        <p:nvSpPr>
          <p:cNvPr id="6" name="Slide Number Placeholder 5"/>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3729230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
        <p:nvSpPr>
          <p:cNvPr id="6" name="Slide Number Placeholder 5"/>
          <p:cNvSpPr>
            <a:spLocks noGrp="1"/>
          </p:cNvSpPr>
          <p:nvPr>
            <p:ph type="sldNum" sz="quarter" idx="12"/>
          </p:nvPr>
        </p:nvSpPr>
        <p:spPr/>
        <p:txBody>
          <a:bodyPr/>
          <a:lstStyle/>
          <a:p>
            <a:fld id="{81A3699F-279E-4EDA-A470-7DA0E35FD13B}" type="slidenum">
              <a:rPr lang="en-US" smtClean="0"/>
              <a:t>‹#›</a:t>
            </a:fld>
            <a:endParaRPr lang="en-US"/>
          </a:p>
        </p:txBody>
      </p:sp>
    </p:spTree>
    <p:extLst>
      <p:ext uri="{BB962C8B-B14F-4D97-AF65-F5344CB8AC3E}">
        <p14:creationId xmlns:p14="http://schemas.microsoft.com/office/powerpoint/2010/main" val="491417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20" name="제목 1">
            <a:extLst>
              <a:ext uri="{FF2B5EF4-FFF2-40B4-BE49-F238E27FC236}">
                <a16:creationId xmlns:a16="http://schemas.microsoft.com/office/drawing/2014/main" id="{C2B98D60-6BB7-134E-A3F3-3262A2904BB0}"/>
              </a:ext>
            </a:extLst>
          </p:cNvPr>
          <p:cNvSpPr>
            <a:spLocks noGrp="1"/>
          </p:cNvSpPr>
          <p:nvPr>
            <p:ph type="ctrTitle" hasCustomPrompt="1"/>
          </p:nvPr>
        </p:nvSpPr>
        <p:spPr>
          <a:xfrm>
            <a:off x="777025" y="647700"/>
            <a:ext cx="10637950" cy="2056863"/>
          </a:xfrm>
        </p:spPr>
        <p:txBody>
          <a:bodyPr anchor="ctr">
            <a:normAutofit/>
          </a:bodyPr>
          <a:lstStyle>
            <a:lvl1pPr algn="ctr">
              <a:defRPr sz="4400" baseline="0">
                <a:latin typeface="+mn-lt"/>
              </a:defRPr>
            </a:lvl1pPr>
          </a:lstStyle>
          <a:p>
            <a:r>
              <a:rPr lang="en-US" altLang="ko-KR" dirty="0"/>
              <a:t>Click to edit Master title style</a:t>
            </a:r>
            <a:endParaRPr lang="ko-KR" altLang="en-US" dirty="0"/>
          </a:p>
        </p:txBody>
      </p:sp>
      <p:sp>
        <p:nvSpPr>
          <p:cNvPr id="21" name="부제목 2">
            <a:extLst>
              <a:ext uri="{FF2B5EF4-FFF2-40B4-BE49-F238E27FC236}">
                <a16:creationId xmlns:a16="http://schemas.microsoft.com/office/drawing/2014/main" id="{945326FA-26D5-1A45-A174-3BB574D3DF1D}"/>
              </a:ext>
            </a:extLst>
          </p:cNvPr>
          <p:cNvSpPr>
            <a:spLocks noGrp="1"/>
          </p:cNvSpPr>
          <p:nvPr>
            <p:ph type="subTitle" idx="1" hasCustomPrompt="1"/>
          </p:nvPr>
        </p:nvSpPr>
        <p:spPr>
          <a:xfrm>
            <a:off x="777025" y="2874694"/>
            <a:ext cx="10637950" cy="1413971"/>
          </a:xfrm>
        </p:spPr>
        <p:txBody>
          <a:bodyPr anchor="ctr">
            <a:normAutofit/>
          </a:bodyPr>
          <a:lstStyle>
            <a:lvl1pPr marL="0" indent="0" algn="ctr">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dirty="0"/>
              <a:t>Click to add author name(s)</a:t>
            </a:r>
            <a:endParaRPr lang="ko-KR" altLang="en-US" dirty="0"/>
          </a:p>
        </p:txBody>
      </p:sp>
      <p:pic>
        <p:nvPicPr>
          <p:cNvPr id="22" name="Picture 4" descr="IEEE Solid-State Circuits Society">
            <a:extLst>
              <a:ext uri="{FF2B5EF4-FFF2-40B4-BE49-F238E27FC236}">
                <a16:creationId xmlns:a16="http://schemas.microsoft.com/office/drawing/2014/main" id="{7DBF0ED4-9F34-CC45-89EA-B9628933120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72356" b="12000"/>
          <a:stretch/>
        </p:blipFill>
        <p:spPr bwMode="auto">
          <a:xfrm>
            <a:off x="451033" y="160160"/>
            <a:ext cx="856475" cy="727040"/>
          </a:xfrm>
          <a:prstGeom prst="rect">
            <a:avLst/>
          </a:prstGeom>
          <a:noFill/>
          <a:extLst>
            <a:ext uri="{909E8E84-426E-40DD-AFC4-6F175D3DCCD1}">
              <a14:hiddenFill xmlns:a14="http://schemas.microsoft.com/office/drawing/2010/main">
                <a:solidFill>
                  <a:srgbClr val="FFFFFF"/>
                </a:solidFill>
              </a14:hiddenFill>
            </a:ext>
          </a:extLst>
        </p:spPr>
      </p:pic>
      <p:sp>
        <p:nvSpPr>
          <p:cNvPr id="24" name="텍스트 개체 틀 2">
            <a:extLst>
              <a:ext uri="{FF2B5EF4-FFF2-40B4-BE49-F238E27FC236}">
                <a16:creationId xmlns:a16="http://schemas.microsoft.com/office/drawing/2014/main" id="{73AB01AA-861F-424E-964F-1B4FF707AA03}"/>
              </a:ext>
            </a:extLst>
          </p:cNvPr>
          <p:cNvSpPr>
            <a:spLocks noGrp="1"/>
          </p:cNvSpPr>
          <p:nvPr>
            <p:ph type="body" idx="10" hasCustomPrompt="1"/>
          </p:nvPr>
        </p:nvSpPr>
        <p:spPr>
          <a:xfrm>
            <a:off x="831850" y="4589463"/>
            <a:ext cx="10515600" cy="1500187"/>
          </a:xfrm>
        </p:spPr>
        <p:txBody>
          <a:bodyPr anchor="ctr">
            <a:normAutofit/>
          </a:bodyPr>
          <a:lstStyle>
            <a:lvl1pPr marL="0" indent="0" algn="ctr">
              <a:buNone/>
              <a:defRPr lang="en-US" altLang="ko-KR" sz="2400" b="1" kern="1200" dirty="0" smtClean="0">
                <a:solidFill>
                  <a:schemeClr val="tx1"/>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dirty="0"/>
              <a:t>Click to add affiliation(s)</a:t>
            </a:r>
          </a:p>
        </p:txBody>
      </p:sp>
      <p:pic>
        <p:nvPicPr>
          <p:cNvPr id="25" name="그림 9">
            <a:extLst>
              <a:ext uri="{FF2B5EF4-FFF2-40B4-BE49-F238E27FC236}">
                <a16:creationId xmlns:a16="http://schemas.microsoft.com/office/drawing/2014/main" id="{3FC4B547-FEE1-274A-8866-BA829EA7FE84}"/>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0" b="100000" l="179" r="100000">
                        <a14:foregroundMark x1="31725" y1="23827" x2="26631" y2="14982"/>
                        <a14:foregroundMark x1="19124" y1="10650" x2="22341" y2="10830"/>
                        <a14:foregroundMark x1="27078" y1="14801" x2="26631" y2="12455"/>
                        <a14:foregroundMark x1="23592" y1="10469" x2="25648" y2="12094"/>
                        <a14:foregroundMark x1="19482" y1="85921" x2="6881" y2="75451"/>
                        <a14:foregroundMark x1="18141" y1="89531" x2="10277" y2="83935"/>
                        <a14:foregroundMark x1="21537" y1="61733" x2="83914" y2="59567"/>
                        <a14:foregroundMark x1="36193" y1="47112" x2="83557" y2="47653"/>
                        <a14:foregroundMark x1="85970" y1="47473" x2="84718" y2="70939"/>
                        <a14:foregroundMark x1="83646" y1="74007" x2="26273" y2="74368"/>
                        <a14:foregroundMark x1="29223" y1="90975" x2="51385" y2="85018"/>
                        <a14:foregroundMark x1="47096" y1="92238" x2="72654" y2="88989"/>
                        <a14:foregroundMark x1="74084" y1="86462" x2="89544" y2="84838"/>
                        <a14:foregroundMark x1="49866" y1="44224" x2="85612" y2="44946"/>
                        <a14:foregroundMark x1="86416" y1="47292" x2="86059" y2="44404"/>
                        <a14:foregroundMark x1="36282" y1="44224" x2="86595" y2="43141"/>
                        <a14:foregroundMark x1="87310" y1="45668" x2="87042" y2="43321"/>
                        <a14:foregroundMark x1="70777" y1="81408" x2="66667" y2="89170"/>
                        <a14:foregroundMark x1="97676" y1="85921" x2="91600" y2="85018"/>
                        <a14:backgroundMark x1="6971" y1="93321" x2="3128" y2="83574"/>
                        <a14:backgroundMark x1="12064" y1="96751" x2="18945" y2="97834"/>
                        <a14:backgroundMark x1="21001" y1="98375" x2="18409" y2="97292"/>
                      </a14:backgroundRemoval>
                    </a14:imgEffect>
                  </a14:imgLayer>
                </a14:imgProps>
              </a:ext>
            </a:extLst>
          </a:blip>
          <a:srcRect b="9287"/>
          <a:stretch/>
        </p:blipFill>
        <p:spPr>
          <a:xfrm>
            <a:off x="10108202" y="55775"/>
            <a:ext cx="1675495" cy="752475"/>
          </a:xfrm>
          <a:prstGeom prst="rect">
            <a:avLst/>
          </a:prstGeom>
        </p:spPr>
      </p:pic>
      <p:pic>
        <p:nvPicPr>
          <p:cNvPr id="26" name="Picture 4" descr="IEEE Solid-State Circuits Society">
            <a:extLst>
              <a:ext uri="{FF2B5EF4-FFF2-40B4-BE49-F238E27FC236}">
                <a16:creationId xmlns:a16="http://schemas.microsoft.com/office/drawing/2014/main" id="{C764A5E8-513E-8C40-8E6C-5E22B13AED2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72356" b="12000"/>
          <a:stretch/>
        </p:blipFill>
        <p:spPr bwMode="auto">
          <a:xfrm>
            <a:off x="451033" y="160160"/>
            <a:ext cx="856475" cy="727040"/>
          </a:xfrm>
          <a:prstGeom prst="rect">
            <a:avLst/>
          </a:prstGeom>
          <a:noFill/>
          <a:extLst>
            <a:ext uri="{909E8E84-426E-40DD-AFC4-6F175D3DCCD1}">
              <a14:hiddenFill xmlns:a14="http://schemas.microsoft.com/office/drawing/2010/main">
                <a:solidFill>
                  <a:srgbClr val="FFFFFF"/>
                </a:solidFill>
              </a14:hiddenFill>
            </a:ext>
          </a:extLst>
        </p:spPr>
      </p:pic>
      <p:pic>
        <p:nvPicPr>
          <p:cNvPr id="27" name="그림 9">
            <a:extLst>
              <a:ext uri="{FF2B5EF4-FFF2-40B4-BE49-F238E27FC236}">
                <a16:creationId xmlns:a16="http://schemas.microsoft.com/office/drawing/2014/main" id="{DBFD8D7E-4BF8-054E-915D-B12DDC1BB79A}"/>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0" b="100000" l="179" r="100000">
                        <a14:foregroundMark x1="31725" y1="23827" x2="26631" y2="14982"/>
                        <a14:foregroundMark x1="19124" y1="10650" x2="22341" y2="10830"/>
                        <a14:foregroundMark x1="27078" y1="14801" x2="26631" y2="12455"/>
                        <a14:foregroundMark x1="23592" y1="10469" x2="25648" y2="12094"/>
                        <a14:foregroundMark x1="19482" y1="85921" x2="6881" y2="75451"/>
                        <a14:foregroundMark x1="18141" y1="89531" x2="10277" y2="83935"/>
                        <a14:foregroundMark x1="21537" y1="61733" x2="83914" y2="59567"/>
                        <a14:foregroundMark x1="36193" y1="47112" x2="83557" y2="47653"/>
                        <a14:foregroundMark x1="85970" y1="47473" x2="84718" y2="70939"/>
                        <a14:foregroundMark x1="83646" y1="74007" x2="26273" y2="74368"/>
                        <a14:foregroundMark x1="29223" y1="90975" x2="51385" y2="85018"/>
                        <a14:foregroundMark x1="47096" y1="92238" x2="72654" y2="88989"/>
                        <a14:foregroundMark x1="74084" y1="86462" x2="89544" y2="84838"/>
                        <a14:foregroundMark x1="49866" y1="44224" x2="85612" y2="44946"/>
                        <a14:foregroundMark x1="86416" y1="47292" x2="86059" y2="44404"/>
                        <a14:foregroundMark x1="36282" y1="44224" x2="86595" y2="43141"/>
                        <a14:foregroundMark x1="87310" y1="45668" x2="87042" y2="43321"/>
                        <a14:foregroundMark x1="70777" y1="81408" x2="66667" y2="89170"/>
                        <a14:foregroundMark x1="97676" y1="85921" x2="91600" y2="85018"/>
                        <a14:backgroundMark x1="6971" y1="93321" x2="3128" y2="83574"/>
                        <a14:backgroundMark x1="12064" y1="96751" x2="18945" y2="97834"/>
                        <a14:backgroundMark x1="21001" y1="98375" x2="18409" y2="97292"/>
                      </a14:backgroundRemoval>
                    </a14:imgEffect>
                  </a14:imgLayer>
                </a14:imgProps>
              </a:ext>
            </a:extLst>
          </a:blip>
          <a:srcRect b="9287"/>
          <a:stretch/>
        </p:blipFill>
        <p:spPr>
          <a:xfrm>
            <a:off x="10108202" y="55775"/>
            <a:ext cx="1675495" cy="752475"/>
          </a:xfrm>
          <a:prstGeom prst="rect">
            <a:avLst/>
          </a:prstGeom>
        </p:spPr>
      </p:pic>
      <p:sp>
        <p:nvSpPr>
          <p:cNvPr id="29" name="바닥글 개체 틀 4">
            <a:extLst>
              <a:ext uri="{FF2B5EF4-FFF2-40B4-BE49-F238E27FC236}">
                <a16:creationId xmlns:a16="http://schemas.microsoft.com/office/drawing/2014/main" id="{5DCDFC98-2DDE-0E4B-A3C9-BA89C2BAACF1}"/>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968842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or Divider Slide option">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BB624568-01F6-AA49-9DFD-DB19AC977622}"/>
              </a:ext>
            </a:extLst>
          </p:cNvPr>
          <p:cNvSpPr>
            <a:spLocks noGrp="1"/>
          </p:cNvSpPr>
          <p:nvPr>
            <p:ph type="title" hasCustomPrompt="1"/>
          </p:nvPr>
        </p:nvSpPr>
        <p:spPr>
          <a:xfrm>
            <a:off x="838200" y="3029899"/>
            <a:ext cx="10515600" cy="827759"/>
          </a:xfrm>
        </p:spPr>
        <p:txBody>
          <a:bodyPr anchor="ctr">
            <a:normAutofit/>
          </a:bodyPr>
          <a:lstStyle>
            <a:lvl1pPr>
              <a:defRPr sz="4400" i="0">
                <a:solidFill>
                  <a:schemeClr val="tx1"/>
                </a:solidFill>
              </a:defRPr>
            </a:lvl1pPr>
          </a:lstStyle>
          <a:p>
            <a:r>
              <a:rPr lang="en-US" dirty="0"/>
              <a:t>Divider Title</a:t>
            </a:r>
          </a:p>
        </p:txBody>
      </p:sp>
      <p:sp>
        <p:nvSpPr>
          <p:cNvPr id="20" name="Text Placeholder 2">
            <a:extLst>
              <a:ext uri="{FF2B5EF4-FFF2-40B4-BE49-F238E27FC236}">
                <a16:creationId xmlns:a16="http://schemas.microsoft.com/office/drawing/2014/main" id="{1CC199E7-51F6-BF42-909E-9CC80F5D2B91}"/>
              </a:ext>
            </a:extLst>
          </p:cNvPr>
          <p:cNvSpPr>
            <a:spLocks noGrp="1"/>
          </p:cNvSpPr>
          <p:nvPr>
            <p:ph type="body" idx="1" hasCustomPrompt="1"/>
          </p:nvPr>
        </p:nvSpPr>
        <p:spPr>
          <a:xfrm>
            <a:off x="838200" y="3884641"/>
            <a:ext cx="10515600" cy="672451"/>
          </a:xfrm>
        </p:spPr>
        <p:txBody>
          <a:bodyPr anchor="ctr">
            <a:normAutofit/>
          </a:bodyPr>
          <a:lstStyle>
            <a:lvl1pPr marL="0" indent="0" algn="ctr">
              <a:buNone/>
              <a:defRPr sz="2800" b="1" i="1">
                <a:solidFill>
                  <a:schemeClr val="tx1"/>
                </a:solidFill>
              </a:defRPr>
            </a:lvl1pPr>
            <a:lvl2pPr marL="457166" indent="0">
              <a:buNone/>
              <a:defRPr sz="2000">
                <a:solidFill>
                  <a:schemeClr val="tx1">
                    <a:tint val="75000"/>
                  </a:schemeClr>
                </a:solidFill>
              </a:defRPr>
            </a:lvl2pPr>
            <a:lvl3pPr marL="914332" indent="0">
              <a:buNone/>
              <a:defRPr sz="1801">
                <a:solidFill>
                  <a:schemeClr val="tx1">
                    <a:tint val="75000"/>
                  </a:schemeClr>
                </a:solidFill>
              </a:defRPr>
            </a:lvl3pPr>
            <a:lvl4pPr marL="1371496"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6" indent="0">
              <a:buNone/>
              <a:defRPr sz="1600">
                <a:solidFill>
                  <a:schemeClr val="tx1">
                    <a:tint val="75000"/>
                  </a:schemeClr>
                </a:solidFill>
              </a:defRPr>
            </a:lvl9pPr>
          </a:lstStyle>
          <a:p>
            <a:pPr lvl="0"/>
            <a:r>
              <a:rPr lang="en-US" dirty="0"/>
              <a:t>Subhead</a:t>
            </a:r>
          </a:p>
        </p:txBody>
      </p:sp>
      <p:sp>
        <p:nvSpPr>
          <p:cNvPr id="16" name="날짜 개체 틀 6">
            <a:extLst>
              <a:ext uri="{FF2B5EF4-FFF2-40B4-BE49-F238E27FC236}">
                <a16:creationId xmlns:a16="http://schemas.microsoft.com/office/drawing/2014/main" id="{98D4ECF1-67F3-7644-9041-B203E2D1320D}"/>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Slide Number Placeholder 5">
            <a:extLst>
              <a:ext uri="{FF2B5EF4-FFF2-40B4-BE49-F238E27FC236}">
                <a16:creationId xmlns:a16="http://schemas.microsoft.com/office/drawing/2014/main" id="{589394E8-5171-8241-BD9C-03F802966E5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바닥글 개체 틀 4">
            <a:extLst>
              <a:ext uri="{FF2B5EF4-FFF2-40B4-BE49-F238E27FC236}">
                <a16:creationId xmlns:a16="http://schemas.microsoft.com/office/drawing/2014/main" id="{E3AF7199-371B-F24B-8842-EEC9BB18058E}"/>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24206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lue tint Single column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Topic</a:t>
            </a:r>
          </a:p>
        </p:txBody>
      </p:sp>
      <p:sp>
        <p:nvSpPr>
          <p:cNvPr id="14" name="Text Placeholder 13"/>
          <p:cNvSpPr>
            <a:spLocks noGrp="1"/>
          </p:cNvSpPr>
          <p:nvPr>
            <p:ph type="body" sz="quarter" idx="13"/>
          </p:nvPr>
        </p:nvSpPr>
        <p:spPr>
          <a:xfrm>
            <a:off x="838201" y="1383489"/>
            <a:ext cx="10515600" cy="4234675"/>
          </a:xfrm>
        </p:spPr>
        <p:txBody>
          <a:bodyPr>
            <a:normAutofit/>
          </a:bodyPr>
          <a:lstStyle>
            <a:lvl1pPr marL="228584" indent="-228584">
              <a:buClr>
                <a:schemeClr val="tx1"/>
              </a:buClr>
              <a:buFont typeface="Arial" panose="020B0604020202020204" pitchFamily="34" charset="0"/>
              <a:buChar char="•"/>
              <a:defRPr sz="2667">
                <a:solidFill>
                  <a:schemeClr val="tx1"/>
                </a:solidFill>
              </a:defRPr>
            </a:lvl1pPr>
            <a:lvl2pPr>
              <a:buClr>
                <a:schemeClr val="tx1"/>
              </a:buClr>
              <a:defRPr sz="2133">
                <a:solidFill>
                  <a:schemeClr val="tx1"/>
                </a:solidFill>
              </a:defRPr>
            </a:lvl2pPr>
            <a:lvl3pPr>
              <a:buClr>
                <a:schemeClr val="tx1"/>
              </a:buClr>
              <a:defRPr sz="2133">
                <a:solidFill>
                  <a:schemeClr val="tx1"/>
                </a:solidFill>
              </a:defRPr>
            </a:lvl3pPr>
            <a:lvl4pPr>
              <a:buClr>
                <a:schemeClr val="tx1"/>
              </a:buClr>
              <a:defRPr sz="2133">
                <a:solidFill>
                  <a:schemeClr val="tx1"/>
                </a:solidFill>
              </a:defRPr>
            </a:lvl4pPr>
            <a:lvl5pPr>
              <a:buClr>
                <a:schemeClr val="tx1"/>
              </a:buClr>
              <a:defRPr sz="2133">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251C8BA3-5016-A742-9C85-2B98B1D816A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6" name="바닥글 개체 틀 4">
            <a:extLst>
              <a:ext uri="{FF2B5EF4-FFF2-40B4-BE49-F238E27FC236}">
                <a16:creationId xmlns:a16="http://schemas.microsoft.com/office/drawing/2014/main" id="{18BE47A2-69AB-5E46-B250-98DB6B44E1F6}"/>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날짜 개체 틀 6">
            <a:extLst>
              <a:ext uri="{FF2B5EF4-FFF2-40B4-BE49-F238E27FC236}">
                <a16:creationId xmlns:a16="http://schemas.microsoft.com/office/drawing/2014/main" id="{C08EA2F6-5405-2C4E-8209-D4812C265438}"/>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964756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ue tint Single column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200"/>
            </a:lvl1pPr>
          </a:lstStyle>
          <a:p>
            <a:r>
              <a:rPr lang="en-US" dirty="0"/>
              <a:t>Topic</a:t>
            </a:r>
          </a:p>
        </p:txBody>
      </p:sp>
      <p:sp>
        <p:nvSpPr>
          <p:cNvPr id="14" name="Text Placeholder 13"/>
          <p:cNvSpPr>
            <a:spLocks noGrp="1"/>
          </p:cNvSpPr>
          <p:nvPr>
            <p:ph type="body" sz="quarter" idx="13"/>
          </p:nvPr>
        </p:nvSpPr>
        <p:spPr>
          <a:xfrm>
            <a:off x="838201" y="1825625"/>
            <a:ext cx="10515600" cy="3792539"/>
          </a:xfrm>
        </p:spPr>
        <p:txBody>
          <a:bodyPr>
            <a:normAutofit/>
          </a:bodyPr>
          <a:lstStyle>
            <a:lvl1pPr marL="228584" indent="-228584">
              <a:buClr>
                <a:schemeClr val="tx1"/>
              </a:buClr>
              <a:buFont typeface="Arial" panose="020B0604020202020204" pitchFamily="34" charset="0"/>
              <a:buChar char="•"/>
              <a:defRPr sz="2667"/>
            </a:lvl1pPr>
            <a:lvl2pPr>
              <a:buClr>
                <a:schemeClr val="tx1"/>
              </a:buClr>
              <a:defRPr sz="2133"/>
            </a:lvl2pPr>
            <a:lvl3pPr>
              <a:buClr>
                <a:schemeClr val="tx1"/>
              </a:buClr>
              <a:defRPr sz="2133"/>
            </a:lvl3pPr>
            <a:lvl4pPr>
              <a:buClr>
                <a:schemeClr val="tx1"/>
              </a:buClr>
              <a:defRPr sz="2133"/>
            </a:lvl4pPr>
            <a:lvl5pPr>
              <a:buClr>
                <a:schemeClr val="tx1"/>
              </a:buClr>
              <a:defRPr sz="21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6" hasCustomPrompt="1"/>
          </p:nvPr>
        </p:nvSpPr>
        <p:spPr>
          <a:xfrm>
            <a:off x="838201" y="1106197"/>
            <a:ext cx="10515600" cy="356843"/>
          </a:xfrm>
        </p:spPr>
        <p:txBody>
          <a:bodyPr>
            <a:normAutofit/>
          </a:bodyPr>
          <a:lstStyle>
            <a:lvl1pPr marL="0" indent="0">
              <a:buNone/>
              <a:defRPr sz="2400" b="1" i="1">
                <a:solidFill>
                  <a:schemeClr val="tx1">
                    <a:lumMod val="50000"/>
                    <a:lumOff val="50000"/>
                  </a:schemeClr>
                </a:solidFill>
              </a:defRPr>
            </a:lvl1pPr>
          </a:lstStyle>
          <a:p>
            <a:pPr lvl="0"/>
            <a:r>
              <a:rPr lang="en-US" dirty="0"/>
              <a:t>Subhead</a:t>
            </a:r>
          </a:p>
        </p:txBody>
      </p:sp>
      <p:sp>
        <p:nvSpPr>
          <p:cNvPr id="17" name="Slide Number Placeholder 5">
            <a:extLst>
              <a:ext uri="{FF2B5EF4-FFF2-40B4-BE49-F238E27FC236}">
                <a16:creationId xmlns:a16="http://schemas.microsoft.com/office/drawing/2014/main" id="{F882D628-03AF-F049-9F00-33EAFDDD3AD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바닥글 개체 틀 4">
            <a:extLst>
              <a:ext uri="{FF2B5EF4-FFF2-40B4-BE49-F238E27FC236}">
                <a16:creationId xmlns:a16="http://schemas.microsoft.com/office/drawing/2014/main" id="{13B8C5FB-B0B0-3044-8306-AE9152781FDF}"/>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9" name="날짜 개체 틀 6">
            <a:extLst>
              <a:ext uri="{FF2B5EF4-FFF2-40B4-BE49-F238E27FC236}">
                <a16:creationId xmlns:a16="http://schemas.microsoft.com/office/drawing/2014/main" id="{0BD0BC54-8693-2048-BE7D-87959D7B7FBA}"/>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595434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with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Topic</a:t>
            </a:r>
          </a:p>
        </p:txBody>
      </p:sp>
      <p:sp>
        <p:nvSpPr>
          <p:cNvPr id="14" name="Text Placeholder 13"/>
          <p:cNvSpPr>
            <a:spLocks noGrp="1"/>
          </p:cNvSpPr>
          <p:nvPr>
            <p:ph type="body" sz="quarter" idx="13"/>
          </p:nvPr>
        </p:nvSpPr>
        <p:spPr>
          <a:xfrm>
            <a:off x="838201" y="1825625"/>
            <a:ext cx="5181600" cy="3792539"/>
          </a:xfrm>
        </p:spPr>
        <p:txBody>
          <a:bodyPr/>
          <a:lstStyle>
            <a:lvl1pPr marL="228584" indent="-228584">
              <a:buClr>
                <a:schemeClr val="tx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6" hasCustomPrompt="1"/>
          </p:nvPr>
        </p:nvSpPr>
        <p:spPr>
          <a:xfrm>
            <a:off x="838201" y="1106197"/>
            <a:ext cx="10515600" cy="356843"/>
          </a:xfrm>
        </p:spPr>
        <p:txBody>
          <a:bodyPr>
            <a:normAutofit/>
          </a:bodyPr>
          <a:lstStyle>
            <a:lvl1pPr marL="0" indent="0">
              <a:buNone/>
              <a:defRPr sz="2400" b="1" i="1">
                <a:solidFill>
                  <a:schemeClr val="tx1">
                    <a:lumMod val="50000"/>
                    <a:lumOff val="50000"/>
                  </a:schemeClr>
                </a:solidFill>
              </a:defRPr>
            </a:lvl1pPr>
          </a:lstStyle>
          <a:p>
            <a:pPr lvl="0"/>
            <a:r>
              <a:rPr lang="en-US" dirty="0"/>
              <a:t>Subhead</a:t>
            </a:r>
          </a:p>
        </p:txBody>
      </p:sp>
      <p:sp>
        <p:nvSpPr>
          <p:cNvPr id="16" name="Text Placeholder 13">
            <a:extLst>
              <a:ext uri="{FF2B5EF4-FFF2-40B4-BE49-F238E27FC236}">
                <a16:creationId xmlns:a16="http://schemas.microsoft.com/office/drawing/2014/main" id="{BD93F922-DBB1-924F-82DA-99727D3C50B7}"/>
              </a:ext>
            </a:extLst>
          </p:cNvPr>
          <p:cNvSpPr>
            <a:spLocks noGrp="1"/>
          </p:cNvSpPr>
          <p:nvPr>
            <p:ph type="body" sz="quarter" idx="17"/>
          </p:nvPr>
        </p:nvSpPr>
        <p:spPr>
          <a:xfrm>
            <a:off x="6179121" y="1825625"/>
            <a:ext cx="5181600" cy="3792539"/>
          </a:xfrm>
        </p:spPr>
        <p:txBody>
          <a:bodyPr/>
          <a:lstStyle>
            <a:lvl1pPr marL="228584" indent="-228584">
              <a:buClr>
                <a:schemeClr val="tx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Slide Number Placeholder 5">
            <a:extLst>
              <a:ext uri="{FF2B5EF4-FFF2-40B4-BE49-F238E27FC236}">
                <a16:creationId xmlns:a16="http://schemas.microsoft.com/office/drawing/2014/main" id="{08EE1323-E515-B74A-8D91-546F3B87098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0" name="바닥글 개체 틀 4">
            <a:extLst>
              <a:ext uri="{FF2B5EF4-FFF2-40B4-BE49-F238E27FC236}">
                <a16:creationId xmlns:a16="http://schemas.microsoft.com/office/drawing/2014/main" id="{5EFA1B84-EAD2-9B4A-A632-83A1EB49B87B}"/>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1" name="날짜 개체 틀 6">
            <a:extLst>
              <a:ext uri="{FF2B5EF4-FFF2-40B4-BE49-F238E27FC236}">
                <a16:creationId xmlns:a16="http://schemas.microsoft.com/office/drawing/2014/main" id="{9F495B90-80AD-3948-AAEB-D4EB234BDC97}"/>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854785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BF86DF-2880-784C-A2AF-96C7FD8EB800}"/>
              </a:ext>
            </a:extLst>
          </p:cNvPr>
          <p:cNvSpPr>
            <a:spLocks noGrp="1"/>
          </p:cNvSpPr>
          <p:nvPr>
            <p:ph type="title" hasCustomPrompt="1"/>
          </p:nvPr>
        </p:nvSpPr>
        <p:spPr>
          <a:xfrm>
            <a:off x="733010" y="3015120"/>
            <a:ext cx="10515600" cy="827759"/>
          </a:xfrm>
        </p:spPr>
        <p:txBody>
          <a:bodyPr anchor="ctr">
            <a:normAutofit/>
          </a:bodyPr>
          <a:lstStyle>
            <a:lvl1pPr>
              <a:defRPr sz="4400" i="0">
                <a:solidFill>
                  <a:schemeClr val="tx1"/>
                </a:solidFill>
              </a:defRPr>
            </a:lvl1pPr>
          </a:lstStyle>
          <a:p>
            <a:r>
              <a:rPr lang="en-US" dirty="0"/>
              <a:t>Thank You!</a:t>
            </a:r>
          </a:p>
        </p:txBody>
      </p:sp>
      <p:sp>
        <p:nvSpPr>
          <p:cNvPr id="16" name="바닥글 개체 틀 4">
            <a:extLst>
              <a:ext uri="{FF2B5EF4-FFF2-40B4-BE49-F238E27FC236}">
                <a16:creationId xmlns:a16="http://schemas.microsoft.com/office/drawing/2014/main" id="{EF78DB2E-0E4F-CE43-AD63-8B9560324040}"/>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날짜 개체 틀 6">
            <a:extLst>
              <a:ext uri="{FF2B5EF4-FFF2-40B4-BE49-F238E27FC236}">
                <a16:creationId xmlns:a16="http://schemas.microsoft.com/office/drawing/2014/main" id="{9E965FFA-CFAF-2C45-8750-46E5D8A9DF3E}"/>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Slide Number Placeholder 5">
            <a:extLst>
              <a:ext uri="{FF2B5EF4-FFF2-40B4-BE49-F238E27FC236}">
                <a16:creationId xmlns:a16="http://schemas.microsoft.com/office/drawing/2014/main" id="{6508EDAD-C71C-EB4E-944A-17F1CA6F45D9}"/>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3774122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400" b="0" i="0">
                <a:solidFill>
                  <a:srgbClr val="BFBFB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3335">
              <a:lnSpc>
                <a:spcPct val="100000"/>
              </a:lnSpc>
              <a:spcBef>
                <a:spcPts val="105"/>
              </a:spcBef>
            </a:pPr>
            <a:r>
              <a:rPr lang="en-US" smtClean="0"/>
              <a:t>Workshop "Robust and Reliable VLSI Circuits"</a:t>
            </a:r>
            <a:endParaRPr spc="-10" dirty="0"/>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r>
              <a:rPr lang="en-US" smtClean="0"/>
              <a:t>Feburary 28, 2025</a:t>
            </a:r>
            <a:endParaRPr spc="-10" dirty="0"/>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5255">
              <a:lnSpc>
                <a:spcPct val="100000"/>
              </a:lnSpc>
              <a:spcBef>
                <a:spcPts val="110"/>
              </a:spcBef>
            </a:pPr>
            <a:fld id="{81D60167-4931-47E6-BA6A-407CBD079E47}" type="slidenum">
              <a:rPr spc="-50" dirty="0"/>
              <a:t>‹#›</a:t>
            </a:fld>
            <a:endParaRPr spc="-50" dirty="0"/>
          </a:p>
        </p:txBody>
      </p:sp>
    </p:spTree>
    <p:extLst>
      <p:ext uri="{BB962C8B-B14F-4D97-AF65-F5344CB8AC3E}">
        <p14:creationId xmlns:p14="http://schemas.microsoft.com/office/powerpoint/2010/main" val="1165973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20" name="제목 1">
            <a:extLst>
              <a:ext uri="{FF2B5EF4-FFF2-40B4-BE49-F238E27FC236}">
                <a16:creationId xmlns:a16="http://schemas.microsoft.com/office/drawing/2014/main" id="{C2B98D60-6BB7-134E-A3F3-3262A2904BB0}"/>
              </a:ext>
            </a:extLst>
          </p:cNvPr>
          <p:cNvSpPr>
            <a:spLocks noGrp="1"/>
          </p:cNvSpPr>
          <p:nvPr>
            <p:ph type="ctrTitle" hasCustomPrompt="1"/>
          </p:nvPr>
        </p:nvSpPr>
        <p:spPr>
          <a:xfrm>
            <a:off x="777025" y="647700"/>
            <a:ext cx="10637950" cy="2056863"/>
          </a:xfrm>
        </p:spPr>
        <p:txBody>
          <a:bodyPr anchor="ctr">
            <a:normAutofit/>
          </a:bodyPr>
          <a:lstStyle>
            <a:lvl1pPr algn="ctr">
              <a:defRPr sz="4400" baseline="0">
                <a:latin typeface="+mn-lt"/>
              </a:defRPr>
            </a:lvl1pPr>
          </a:lstStyle>
          <a:p>
            <a:r>
              <a:rPr lang="en-US" altLang="ko-KR" dirty="0"/>
              <a:t>Click to edit Master title style</a:t>
            </a:r>
            <a:endParaRPr lang="ko-KR" altLang="en-US" dirty="0"/>
          </a:p>
        </p:txBody>
      </p:sp>
      <p:sp>
        <p:nvSpPr>
          <p:cNvPr id="21" name="부제목 2">
            <a:extLst>
              <a:ext uri="{FF2B5EF4-FFF2-40B4-BE49-F238E27FC236}">
                <a16:creationId xmlns:a16="http://schemas.microsoft.com/office/drawing/2014/main" id="{945326FA-26D5-1A45-A174-3BB574D3DF1D}"/>
              </a:ext>
            </a:extLst>
          </p:cNvPr>
          <p:cNvSpPr>
            <a:spLocks noGrp="1"/>
          </p:cNvSpPr>
          <p:nvPr>
            <p:ph type="subTitle" idx="1" hasCustomPrompt="1"/>
          </p:nvPr>
        </p:nvSpPr>
        <p:spPr>
          <a:xfrm>
            <a:off x="777025" y="2874694"/>
            <a:ext cx="10637950" cy="1413971"/>
          </a:xfrm>
        </p:spPr>
        <p:txBody>
          <a:bodyPr anchor="ctr">
            <a:normAutofit/>
          </a:bodyPr>
          <a:lstStyle>
            <a:lvl1pPr marL="0" indent="0" algn="ctr">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dirty="0"/>
              <a:t>Click to add author name(s)</a:t>
            </a:r>
            <a:endParaRPr lang="ko-KR" altLang="en-US" dirty="0"/>
          </a:p>
        </p:txBody>
      </p:sp>
      <p:pic>
        <p:nvPicPr>
          <p:cNvPr id="22" name="Picture 4" descr="IEEE Solid-State Circuits Society">
            <a:extLst>
              <a:ext uri="{FF2B5EF4-FFF2-40B4-BE49-F238E27FC236}">
                <a16:creationId xmlns:a16="http://schemas.microsoft.com/office/drawing/2014/main" id="{7DBF0ED4-9F34-CC45-89EA-B9628933120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72356" b="12000"/>
          <a:stretch/>
        </p:blipFill>
        <p:spPr bwMode="auto">
          <a:xfrm>
            <a:off x="451033" y="160160"/>
            <a:ext cx="856475" cy="727040"/>
          </a:xfrm>
          <a:prstGeom prst="rect">
            <a:avLst/>
          </a:prstGeom>
          <a:noFill/>
          <a:extLst>
            <a:ext uri="{909E8E84-426E-40DD-AFC4-6F175D3DCCD1}">
              <a14:hiddenFill xmlns:a14="http://schemas.microsoft.com/office/drawing/2010/main">
                <a:solidFill>
                  <a:srgbClr val="FFFFFF"/>
                </a:solidFill>
              </a14:hiddenFill>
            </a:ext>
          </a:extLst>
        </p:spPr>
      </p:pic>
      <p:sp>
        <p:nvSpPr>
          <p:cNvPr id="24" name="텍스트 개체 틀 2">
            <a:extLst>
              <a:ext uri="{FF2B5EF4-FFF2-40B4-BE49-F238E27FC236}">
                <a16:creationId xmlns:a16="http://schemas.microsoft.com/office/drawing/2014/main" id="{73AB01AA-861F-424E-964F-1B4FF707AA03}"/>
              </a:ext>
            </a:extLst>
          </p:cNvPr>
          <p:cNvSpPr>
            <a:spLocks noGrp="1"/>
          </p:cNvSpPr>
          <p:nvPr>
            <p:ph type="body" idx="10" hasCustomPrompt="1"/>
          </p:nvPr>
        </p:nvSpPr>
        <p:spPr>
          <a:xfrm>
            <a:off x="831850" y="4589463"/>
            <a:ext cx="10515600" cy="1500187"/>
          </a:xfrm>
        </p:spPr>
        <p:txBody>
          <a:bodyPr anchor="ctr">
            <a:normAutofit/>
          </a:bodyPr>
          <a:lstStyle>
            <a:lvl1pPr marL="0" indent="0" algn="ctr">
              <a:buNone/>
              <a:defRPr lang="en-US" altLang="ko-KR" sz="2400" b="1" kern="1200" dirty="0" smtClean="0">
                <a:solidFill>
                  <a:schemeClr val="tx1"/>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dirty="0"/>
              <a:t>Click to add affiliation(s)</a:t>
            </a:r>
          </a:p>
        </p:txBody>
      </p:sp>
      <p:pic>
        <p:nvPicPr>
          <p:cNvPr id="25" name="그림 9">
            <a:extLst>
              <a:ext uri="{FF2B5EF4-FFF2-40B4-BE49-F238E27FC236}">
                <a16:creationId xmlns:a16="http://schemas.microsoft.com/office/drawing/2014/main" id="{3FC4B547-FEE1-274A-8866-BA829EA7FE84}"/>
              </a:ext>
            </a:extLst>
          </p:cNvPr>
          <p:cNvPicPr>
            <a:picLocks noChangeAspect="1"/>
          </p:cNvPicPr>
          <p:nvPr userDrawn="1"/>
        </p:nvPicPr>
        <p:blipFill rotWithShape="1">
          <a:blip r:embed="rId3">
            <a:extLst/>
          </a:blip>
          <a:srcRect b="9287"/>
          <a:stretch/>
        </p:blipFill>
        <p:spPr>
          <a:xfrm>
            <a:off x="10108202" y="55775"/>
            <a:ext cx="1675495" cy="752475"/>
          </a:xfrm>
          <a:prstGeom prst="rect">
            <a:avLst/>
          </a:prstGeom>
        </p:spPr>
      </p:pic>
      <p:pic>
        <p:nvPicPr>
          <p:cNvPr id="26" name="Picture 4" descr="IEEE Solid-State Circuits Society">
            <a:extLst>
              <a:ext uri="{FF2B5EF4-FFF2-40B4-BE49-F238E27FC236}">
                <a16:creationId xmlns:a16="http://schemas.microsoft.com/office/drawing/2014/main" id="{C764A5E8-513E-8C40-8E6C-5E22B13AED2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72356" b="12000"/>
          <a:stretch/>
        </p:blipFill>
        <p:spPr bwMode="auto">
          <a:xfrm>
            <a:off x="451033" y="160160"/>
            <a:ext cx="856475" cy="727040"/>
          </a:xfrm>
          <a:prstGeom prst="rect">
            <a:avLst/>
          </a:prstGeom>
          <a:noFill/>
          <a:extLst>
            <a:ext uri="{909E8E84-426E-40DD-AFC4-6F175D3DCCD1}">
              <a14:hiddenFill xmlns:a14="http://schemas.microsoft.com/office/drawing/2010/main">
                <a:solidFill>
                  <a:srgbClr val="FFFFFF"/>
                </a:solidFill>
              </a14:hiddenFill>
            </a:ext>
          </a:extLst>
        </p:spPr>
      </p:pic>
      <p:pic>
        <p:nvPicPr>
          <p:cNvPr id="27" name="그림 9">
            <a:extLst>
              <a:ext uri="{FF2B5EF4-FFF2-40B4-BE49-F238E27FC236}">
                <a16:creationId xmlns:a16="http://schemas.microsoft.com/office/drawing/2014/main" id="{DBFD8D7E-4BF8-054E-915D-B12DDC1BB79A}"/>
              </a:ext>
            </a:extLst>
          </p:cNvPr>
          <p:cNvPicPr>
            <a:picLocks noChangeAspect="1"/>
          </p:cNvPicPr>
          <p:nvPr userDrawn="1"/>
        </p:nvPicPr>
        <p:blipFill rotWithShape="1">
          <a:blip r:embed="rId3">
            <a:extLst/>
          </a:blip>
          <a:srcRect b="9287"/>
          <a:stretch/>
        </p:blipFill>
        <p:spPr>
          <a:xfrm>
            <a:off x="10108202" y="55775"/>
            <a:ext cx="1675495" cy="752475"/>
          </a:xfrm>
          <a:prstGeom prst="rect">
            <a:avLst/>
          </a:prstGeom>
        </p:spPr>
      </p:pic>
      <p:sp>
        <p:nvSpPr>
          <p:cNvPr id="29" name="바닥글 개체 틀 4">
            <a:extLst>
              <a:ext uri="{FF2B5EF4-FFF2-40B4-BE49-F238E27FC236}">
                <a16:creationId xmlns:a16="http://schemas.microsoft.com/office/drawing/2014/main" id="{5DCDFC98-2DDE-0E4B-A3C9-BA89C2BAACF1}"/>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110465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or Divider Slide option">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BB624568-01F6-AA49-9DFD-DB19AC977622}"/>
              </a:ext>
            </a:extLst>
          </p:cNvPr>
          <p:cNvSpPr>
            <a:spLocks noGrp="1"/>
          </p:cNvSpPr>
          <p:nvPr>
            <p:ph type="title" hasCustomPrompt="1"/>
          </p:nvPr>
        </p:nvSpPr>
        <p:spPr>
          <a:xfrm>
            <a:off x="838200" y="3029899"/>
            <a:ext cx="10515600" cy="827759"/>
          </a:xfrm>
        </p:spPr>
        <p:txBody>
          <a:bodyPr anchor="ctr">
            <a:normAutofit/>
          </a:bodyPr>
          <a:lstStyle>
            <a:lvl1pPr>
              <a:defRPr sz="4400" i="0">
                <a:solidFill>
                  <a:schemeClr val="tx1"/>
                </a:solidFill>
              </a:defRPr>
            </a:lvl1pPr>
          </a:lstStyle>
          <a:p>
            <a:r>
              <a:rPr lang="en-US" dirty="0"/>
              <a:t>Divider Title</a:t>
            </a:r>
          </a:p>
        </p:txBody>
      </p:sp>
      <p:sp>
        <p:nvSpPr>
          <p:cNvPr id="20" name="Text Placeholder 2">
            <a:extLst>
              <a:ext uri="{FF2B5EF4-FFF2-40B4-BE49-F238E27FC236}">
                <a16:creationId xmlns:a16="http://schemas.microsoft.com/office/drawing/2014/main" id="{1CC199E7-51F6-BF42-909E-9CC80F5D2B91}"/>
              </a:ext>
            </a:extLst>
          </p:cNvPr>
          <p:cNvSpPr>
            <a:spLocks noGrp="1"/>
          </p:cNvSpPr>
          <p:nvPr>
            <p:ph type="body" idx="1" hasCustomPrompt="1"/>
          </p:nvPr>
        </p:nvSpPr>
        <p:spPr>
          <a:xfrm>
            <a:off x="838200" y="3884641"/>
            <a:ext cx="10515600" cy="672451"/>
          </a:xfrm>
        </p:spPr>
        <p:txBody>
          <a:bodyPr anchor="ctr">
            <a:normAutofit/>
          </a:bodyPr>
          <a:lstStyle>
            <a:lvl1pPr marL="0" indent="0" algn="ctr">
              <a:buNone/>
              <a:defRPr sz="2800" b="1" i="1">
                <a:solidFill>
                  <a:schemeClr val="tx1"/>
                </a:solidFill>
              </a:defRPr>
            </a:lvl1pPr>
            <a:lvl2pPr marL="457166" indent="0">
              <a:buNone/>
              <a:defRPr sz="2000">
                <a:solidFill>
                  <a:schemeClr val="tx1">
                    <a:tint val="75000"/>
                  </a:schemeClr>
                </a:solidFill>
              </a:defRPr>
            </a:lvl2pPr>
            <a:lvl3pPr marL="914332" indent="0">
              <a:buNone/>
              <a:defRPr sz="1801">
                <a:solidFill>
                  <a:schemeClr val="tx1">
                    <a:tint val="75000"/>
                  </a:schemeClr>
                </a:solidFill>
              </a:defRPr>
            </a:lvl3pPr>
            <a:lvl4pPr marL="1371496"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6" indent="0">
              <a:buNone/>
              <a:defRPr sz="1600">
                <a:solidFill>
                  <a:schemeClr val="tx1">
                    <a:tint val="75000"/>
                  </a:schemeClr>
                </a:solidFill>
              </a:defRPr>
            </a:lvl9pPr>
          </a:lstStyle>
          <a:p>
            <a:pPr lvl="0"/>
            <a:r>
              <a:rPr lang="en-US" dirty="0"/>
              <a:t>Subhead</a:t>
            </a:r>
          </a:p>
        </p:txBody>
      </p:sp>
      <p:sp>
        <p:nvSpPr>
          <p:cNvPr id="16" name="날짜 개체 틀 6">
            <a:extLst>
              <a:ext uri="{FF2B5EF4-FFF2-40B4-BE49-F238E27FC236}">
                <a16:creationId xmlns:a16="http://schemas.microsoft.com/office/drawing/2014/main" id="{98D4ECF1-67F3-7644-9041-B203E2D1320D}"/>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Slide Number Placeholder 5">
            <a:extLst>
              <a:ext uri="{FF2B5EF4-FFF2-40B4-BE49-F238E27FC236}">
                <a16:creationId xmlns:a16="http://schemas.microsoft.com/office/drawing/2014/main" id="{589394E8-5171-8241-BD9C-03F802966E5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바닥글 개체 틀 4">
            <a:extLst>
              <a:ext uri="{FF2B5EF4-FFF2-40B4-BE49-F238E27FC236}">
                <a16:creationId xmlns:a16="http://schemas.microsoft.com/office/drawing/2014/main" id="{E3AF7199-371B-F24B-8842-EEC9BB18058E}"/>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904758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ue tint Single column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Topic</a:t>
            </a:r>
          </a:p>
        </p:txBody>
      </p:sp>
      <p:sp>
        <p:nvSpPr>
          <p:cNvPr id="14" name="Text Placeholder 13"/>
          <p:cNvSpPr>
            <a:spLocks noGrp="1"/>
          </p:cNvSpPr>
          <p:nvPr>
            <p:ph type="body" sz="quarter" idx="13"/>
          </p:nvPr>
        </p:nvSpPr>
        <p:spPr>
          <a:xfrm>
            <a:off x="838201" y="1383489"/>
            <a:ext cx="10515600" cy="4234675"/>
          </a:xfrm>
        </p:spPr>
        <p:txBody>
          <a:bodyPr>
            <a:normAutofit/>
          </a:bodyPr>
          <a:lstStyle>
            <a:lvl1pPr marL="228584" indent="-228584">
              <a:buClr>
                <a:schemeClr val="tx1"/>
              </a:buClr>
              <a:buFont typeface="Arial" panose="020B0604020202020204" pitchFamily="34" charset="0"/>
              <a:buChar char="•"/>
              <a:defRPr sz="2667">
                <a:solidFill>
                  <a:schemeClr val="tx1"/>
                </a:solidFill>
              </a:defRPr>
            </a:lvl1pPr>
            <a:lvl2pPr>
              <a:buClr>
                <a:schemeClr val="tx1"/>
              </a:buClr>
              <a:defRPr sz="2133">
                <a:solidFill>
                  <a:schemeClr val="tx1"/>
                </a:solidFill>
              </a:defRPr>
            </a:lvl2pPr>
            <a:lvl3pPr>
              <a:buClr>
                <a:schemeClr val="tx1"/>
              </a:buClr>
              <a:defRPr sz="2133">
                <a:solidFill>
                  <a:schemeClr val="tx1"/>
                </a:solidFill>
              </a:defRPr>
            </a:lvl3pPr>
            <a:lvl4pPr>
              <a:buClr>
                <a:schemeClr val="tx1"/>
              </a:buClr>
              <a:defRPr sz="2133">
                <a:solidFill>
                  <a:schemeClr val="tx1"/>
                </a:solidFill>
              </a:defRPr>
            </a:lvl4pPr>
            <a:lvl5pPr>
              <a:buClr>
                <a:schemeClr val="tx1"/>
              </a:buClr>
              <a:defRPr sz="2133">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251C8BA3-5016-A742-9C85-2B98B1D816A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6" name="바닥글 개체 틀 4">
            <a:extLst>
              <a:ext uri="{FF2B5EF4-FFF2-40B4-BE49-F238E27FC236}">
                <a16:creationId xmlns:a16="http://schemas.microsoft.com/office/drawing/2014/main" id="{18BE47A2-69AB-5E46-B250-98DB6B44E1F6}"/>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날짜 개체 틀 6">
            <a:extLst>
              <a:ext uri="{FF2B5EF4-FFF2-40B4-BE49-F238E27FC236}">
                <a16:creationId xmlns:a16="http://schemas.microsoft.com/office/drawing/2014/main" id="{C08EA2F6-5405-2C4E-8209-D4812C265438}"/>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7019816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 tint Single column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200"/>
            </a:lvl1pPr>
          </a:lstStyle>
          <a:p>
            <a:r>
              <a:rPr lang="en-US" dirty="0"/>
              <a:t>Topic</a:t>
            </a:r>
          </a:p>
        </p:txBody>
      </p:sp>
      <p:sp>
        <p:nvSpPr>
          <p:cNvPr id="14" name="Text Placeholder 13"/>
          <p:cNvSpPr>
            <a:spLocks noGrp="1"/>
          </p:cNvSpPr>
          <p:nvPr>
            <p:ph type="body" sz="quarter" idx="13"/>
          </p:nvPr>
        </p:nvSpPr>
        <p:spPr>
          <a:xfrm>
            <a:off x="838201" y="1825625"/>
            <a:ext cx="10515600" cy="3792539"/>
          </a:xfrm>
        </p:spPr>
        <p:txBody>
          <a:bodyPr>
            <a:normAutofit/>
          </a:bodyPr>
          <a:lstStyle>
            <a:lvl1pPr marL="228584" indent="-228584">
              <a:buClr>
                <a:schemeClr val="tx1"/>
              </a:buClr>
              <a:buFont typeface="Arial" panose="020B0604020202020204" pitchFamily="34" charset="0"/>
              <a:buChar char="•"/>
              <a:defRPr sz="2667"/>
            </a:lvl1pPr>
            <a:lvl2pPr>
              <a:buClr>
                <a:schemeClr val="tx1"/>
              </a:buClr>
              <a:defRPr sz="2133"/>
            </a:lvl2pPr>
            <a:lvl3pPr>
              <a:buClr>
                <a:schemeClr val="tx1"/>
              </a:buClr>
              <a:defRPr sz="2133"/>
            </a:lvl3pPr>
            <a:lvl4pPr>
              <a:buClr>
                <a:schemeClr val="tx1"/>
              </a:buClr>
              <a:defRPr sz="2133"/>
            </a:lvl4pPr>
            <a:lvl5pPr>
              <a:buClr>
                <a:schemeClr val="tx1"/>
              </a:buClr>
              <a:defRPr sz="21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6" hasCustomPrompt="1"/>
          </p:nvPr>
        </p:nvSpPr>
        <p:spPr>
          <a:xfrm>
            <a:off x="838201" y="1106197"/>
            <a:ext cx="10515600" cy="356843"/>
          </a:xfrm>
        </p:spPr>
        <p:txBody>
          <a:bodyPr>
            <a:normAutofit/>
          </a:bodyPr>
          <a:lstStyle>
            <a:lvl1pPr marL="0" indent="0">
              <a:buNone/>
              <a:defRPr sz="2400" b="1" i="1">
                <a:solidFill>
                  <a:schemeClr val="tx1">
                    <a:lumMod val="50000"/>
                    <a:lumOff val="50000"/>
                  </a:schemeClr>
                </a:solidFill>
              </a:defRPr>
            </a:lvl1pPr>
          </a:lstStyle>
          <a:p>
            <a:pPr lvl="0"/>
            <a:r>
              <a:rPr lang="en-US" dirty="0"/>
              <a:t>Subhead</a:t>
            </a:r>
          </a:p>
        </p:txBody>
      </p:sp>
      <p:sp>
        <p:nvSpPr>
          <p:cNvPr id="17" name="Slide Number Placeholder 5">
            <a:extLst>
              <a:ext uri="{FF2B5EF4-FFF2-40B4-BE49-F238E27FC236}">
                <a16:creationId xmlns:a16="http://schemas.microsoft.com/office/drawing/2014/main" id="{F882D628-03AF-F049-9F00-33EAFDDD3AD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바닥글 개체 틀 4">
            <a:extLst>
              <a:ext uri="{FF2B5EF4-FFF2-40B4-BE49-F238E27FC236}">
                <a16:creationId xmlns:a16="http://schemas.microsoft.com/office/drawing/2014/main" id="{13B8C5FB-B0B0-3044-8306-AE9152781FDF}"/>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9" name="날짜 개체 틀 6">
            <a:extLst>
              <a:ext uri="{FF2B5EF4-FFF2-40B4-BE49-F238E27FC236}">
                <a16:creationId xmlns:a16="http://schemas.microsoft.com/office/drawing/2014/main" id="{0BD0BC54-8693-2048-BE7D-87959D7B7FBA}"/>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759295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s with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Topic</a:t>
            </a:r>
          </a:p>
        </p:txBody>
      </p:sp>
      <p:sp>
        <p:nvSpPr>
          <p:cNvPr id="14" name="Text Placeholder 13"/>
          <p:cNvSpPr>
            <a:spLocks noGrp="1"/>
          </p:cNvSpPr>
          <p:nvPr>
            <p:ph type="body" sz="quarter" idx="13"/>
          </p:nvPr>
        </p:nvSpPr>
        <p:spPr>
          <a:xfrm>
            <a:off x="838201" y="1825625"/>
            <a:ext cx="5181600" cy="3792539"/>
          </a:xfrm>
        </p:spPr>
        <p:txBody>
          <a:bodyPr/>
          <a:lstStyle>
            <a:lvl1pPr marL="228584" indent="-228584">
              <a:buClr>
                <a:schemeClr val="tx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6" hasCustomPrompt="1"/>
          </p:nvPr>
        </p:nvSpPr>
        <p:spPr>
          <a:xfrm>
            <a:off x="838201" y="1106197"/>
            <a:ext cx="10515600" cy="356843"/>
          </a:xfrm>
        </p:spPr>
        <p:txBody>
          <a:bodyPr>
            <a:normAutofit/>
          </a:bodyPr>
          <a:lstStyle>
            <a:lvl1pPr marL="0" indent="0">
              <a:buNone/>
              <a:defRPr sz="2400" b="1" i="1">
                <a:solidFill>
                  <a:schemeClr val="tx1">
                    <a:lumMod val="50000"/>
                    <a:lumOff val="50000"/>
                  </a:schemeClr>
                </a:solidFill>
              </a:defRPr>
            </a:lvl1pPr>
          </a:lstStyle>
          <a:p>
            <a:pPr lvl="0"/>
            <a:r>
              <a:rPr lang="en-US" dirty="0"/>
              <a:t>Subhead</a:t>
            </a:r>
          </a:p>
        </p:txBody>
      </p:sp>
      <p:sp>
        <p:nvSpPr>
          <p:cNvPr id="16" name="Text Placeholder 13">
            <a:extLst>
              <a:ext uri="{FF2B5EF4-FFF2-40B4-BE49-F238E27FC236}">
                <a16:creationId xmlns:a16="http://schemas.microsoft.com/office/drawing/2014/main" id="{BD93F922-DBB1-924F-82DA-99727D3C50B7}"/>
              </a:ext>
            </a:extLst>
          </p:cNvPr>
          <p:cNvSpPr>
            <a:spLocks noGrp="1"/>
          </p:cNvSpPr>
          <p:nvPr>
            <p:ph type="body" sz="quarter" idx="17"/>
          </p:nvPr>
        </p:nvSpPr>
        <p:spPr>
          <a:xfrm>
            <a:off x="6179121" y="1825625"/>
            <a:ext cx="5181600" cy="3792539"/>
          </a:xfrm>
        </p:spPr>
        <p:txBody>
          <a:bodyPr/>
          <a:lstStyle>
            <a:lvl1pPr marL="228584" indent="-228584">
              <a:buClr>
                <a:schemeClr val="tx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Slide Number Placeholder 5">
            <a:extLst>
              <a:ext uri="{FF2B5EF4-FFF2-40B4-BE49-F238E27FC236}">
                <a16:creationId xmlns:a16="http://schemas.microsoft.com/office/drawing/2014/main" id="{08EE1323-E515-B74A-8D91-546F3B87098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0" name="바닥글 개체 틀 4">
            <a:extLst>
              <a:ext uri="{FF2B5EF4-FFF2-40B4-BE49-F238E27FC236}">
                <a16:creationId xmlns:a16="http://schemas.microsoft.com/office/drawing/2014/main" id="{5EFA1B84-EAD2-9B4A-A632-83A1EB49B87B}"/>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1" name="날짜 개체 틀 6">
            <a:extLst>
              <a:ext uri="{FF2B5EF4-FFF2-40B4-BE49-F238E27FC236}">
                <a16:creationId xmlns:a16="http://schemas.microsoft.com/office/drawing/2014/main" id="{9F495B90-80AD-3948-AAEB-D4EB234BDC97}"/>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42065826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BF86DF-2880-784C-A2AF-96C7FD8EB800}"/>
              </a:ext>
            </a:extLst>
          </p:cNvPr>
          <p:cNvSpPr>
            <a:spLocks noGrp="1"/>
          </p:cNvSpPr>
          <p:nvPr>
            <p:ph type="title" hasCustomPrompt="1"/>
          </p:nvPr>
        </p:nvSpPr>
        <p:spPr>
          <a:xfrm>
            <a:off x="733010" y="3015120"/>
            <a:ext cx="10515600" cy="827759"/>
          </a:xfrm>
        </p:spPr>
        <p:txBody>
          <a:bodyPr anchor="ctr">
            <a:normAutofit/>
          </a:bodyPr>
          <a:lstStyle>
            <a:lvl1pPr>
              <a:defRPr sz="4400" i="0">
                <a:solidFill>
                  <a:schemeClr val="tx1"/>
                </a:solidFill>
              </a:defRPr>
            </a:lvl1pPr>
          </a:lstStyle>
          <a:p>
            <a:r>
              <a:rPr lang="en-US" dirty="0"/>
              <a:t>Thank You!</a:t>
            </a:r>
          </a:p>
        </p:txBody>
      </p:sp>
      <p:sp>
        <p:nvSpPr>
          <p:cNvPr id="16" name="바닥글 개체 틀 4">
            <a:extLst>
              <a:ext uri="{FF2B5EF4-FFF2-40B4-BE49-F238E27FC236}">
                <a16:creationId xmlns:a16="http://schemas.microsoft.com/office/drawing/2014/main" id="{EF78DB2E-0E4F-CE43-AD63-8B9560324040}"/>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날짜 개체 틀 6">
            <a:extLst>
              <a:ext uri="{FF2B5EF4-FFF2-40B4-BE49-F238E27FC236}">
                <a16:creationId xmlns:a16="http://schemas.microsoft.com/office/drawing/2014/main" id="{9E965FFA-CFAF-2C45-8750-46E5D8A9DF3E}"/>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Slide Number Placeholder 5">
            <a:extLst>
              <a:ext uri="{FF2B5EF4-FFF2-40B4-BE49-F238E27FC236}">
                <a16:creationId xmlns:a16="http://schemas.microsoft.com/office/drawing/2014/main" id="{6508EDAD-C71C-EB4E-944A-17F1CA6F45D9}"/>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063174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Feburary 28, 2025</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Workshop "Robust and Reliable VLSI Circuits"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3699F-279E-4EDA-A470-7DA0E35FD13B}" type="slidenum">
              <a:rPr lang="en-US" smtClean="0"/>
              <a:t>‹#›</a:t>
            </a:fld>
            <a:endParaRPr lang="en-US"/>
          </a:p>
        </p:txBody>
      </p:sp>
    </p:spTree>
    <p:extLst>
      <p:ext uri="{BB962C8B-B14F-4D97-AF65-F5344CB8AC3E}">
        <p14:creationId xmlns:p14="http://schemas.microsoft.com/office/powerpoint/2010/main" val="2627223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25583BE3-7F27-474B-8977-CB25A2A7B5C3}"/>
              </a:ext>
            </a:extLst>
          </p:cNvPr>
          <p:cNvSpPr/>
          <p:nvPr/>
        </p:nvSpPr>
        <p:spPr>
          <a:xfrm>
            <a:off x="330200" y="1278590"/>
            <a:ext cx="11544300" cy="5055535"/>
          </a:xfrm>
          <a:prstGeom prst="rect">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white"/>
              </a:solidFill>
              <a:effectLst/>
              <a:uLnTx/>
              <a:uFillTx/>
              <a:latin typeface="Arial"/>
              <a:ea typeface="맑은 고딕"/>
              <a:cs typeface="+mn-cs"/>
            </a:endParaRPr>
          </a:p>
        </p:txBody>
      </p:sp>
      <p:sp>
        <p:nvSpPr>
          <p:cNvPr id="2" name="제목 개체 틀 1"/>
          <p:cNvSpPr>
            <a:spLocks noGrp="1"/>
          </p:cNvSpPr>
          <p:nvPr>
            <p:ph type="title"/>
          </p:nvPr>
        </p:nvSpPr>
        <p:spPr>
          <a:xfrm>
            <a:off x="342431" y="111351"/>
            <a:ext cx="11519369" cy="922762"/>
          </a:xfrm>
          <a:prstGeom prst="rect">
            <a:avLst/>
          </a:prstGeom>
        </p:spPr>
        <p:txBody>
          <a:bodyPr vert="horz" lIns="91440" tIns="45720" rIns="91440" bIns="45720" rtlCol="0" anchor="ctr">
            <a:normAutofit/>
          </a:bodyPr>
          <a:lstStyle/>
          <a:p>
            <a:r>
              <a:rPr lang="en-US" altLang="ko-KR" dirty="0"/>
              <a:t>Click to edit Master title style</a:t>
            </a:r>
            <a:endParaRPr lang="ko-KR" altLang="en-US" dirty="0"/>
          </a:p>
        </p:txBody>
      </p:sp>
      <p:sp>
        <p:nvSpPr>
          <p:cNvPr id="3" name="텍스트 개체 틀 2"/>
          <p:cNvSpPr>
            <a:spLocks noGrp="1"/>
          </p:cNvSpPr>
          <p:nvPr>
            <p:ph type="body" idx="1"/>
          </p:nvPr>
        </p:nvSpPr>
        <p:spPr>
          <a:xfrm>
            <a:off x="614698" y="1502044"/>
            <a:ext cx="10962604" cy="467332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 name="바닥글 개체 틀 4"/>
          <p:cNvSpPr>
            <a:spLocks noGrp="1"/>
          </p:cNvSpPr>
          <p:nvPr>
            <p:ph type="ftr" sz="quarter" idx="3"/>
          </p:nvPr>
        </p:nvSpPr>
        <p:spPr>
          <a:xfrm>
            <a:off x="3632718" y="6442075"/>
            <a:ext cx="4520682"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9" name="Slide Number Placeholder 5"/>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1" name="날짜 개체 틀 6"/>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7" name="Oval 5">
            <a:extLst>
              <a:ext uri="{FF2B5EF4-FFF2-40B4-BE49-F238E27FC236}">
                <a16:creationId xmlns:a16="http://schemas.microsoft.com/office/drawing/2014/main" id="{04A06D53-9DAE-4569-9D66-F45836299465}"/>
              </a:ext>
            </a:extLst>
          </p:cNvPr>
          <p:cNvSpPr>
            <a:spLocks noChangeArrowheads="1"/>
          </p:cNvSpPr>
          <p:nvPr/>
        </p:nvSpPr>
        <p:spPr bwMode="auto">
          <a:xfrm>
            <a:off x="339725" y="1068161"/>
            <a:ext cx="101600" cy="104775"/>
          </a:xfrm>
          <a:prstGeom prst="ellipse">
            <a:avLst/>
          </a:prstGeom>
          <a:solidFill>
            <a:srgbClr val="1620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8" name="Freeform 6">
            <a:extLst>
              <a:ext uri="{FF2B5EF4-FFF2-40B4-BE49-F238E27FC236}">
                <a16:creationId xmlns:a16="http://schemas.microsoft.com/office/drawing/2014/main" id="{152B1177-EA1E-44CC-B53C-21DE83E23190}"/>
              </a:ext>
            </a:extLst>
          </p:cNvPr>
          <p:cNvSpPr>
            <a:spLocks/>
          </p:cNvSpPr>
          <p:nvPr/>
        </p:nvSpPr>
        <p:spPr bwMode="auto">
          <a:xfrm>
            <a:off x="420688" y="1003300"/>
            <a:ext cx="11450638" cy="116537"/>
          </a:xfrm>
          <a:custGeom>
            <a:avLst/>
            <a:gdLst>
              <a:gd name="T0" fmla="*/ 0 w 7213"/>
              <a:gd name="T1" fmla="*/ 205 h 205"/>
              <a:gd name="T2" fmla="*/ 210 w 7213"/>
              <a:gd name="T3" fmla="*/ 205 h 205"/>
              <a:gd name="T4" fmla="*/ 408 w 7213"/>
              <a:gd name="T5" fmla="*/ 0 h 205"/>
              <a:gd name="T6" fmla="*/ 7213 w 7213"/>
              <a:gd name="T7" fmla="*/ 0 h 205"/>
            </a:gdLst>
            <a:ahLst/>
            <a:cxnLst>
              <a:cxn ang="0">
                <a:pos x="T0" y="T1"/>
              </a:cxn>
              <a:cxn ang="0">
                <a:pos x="T2" y="T3"/>
              </a:cxn>
              <a:cxn ang="0">
                <a:pos x="T4" y="T5"/>
              </a:cxn>
              <a:cxn ang="0">
                <a:pos x="T6" y="T7"/>
              </a:cxn>
            </a:cxnLst>
            <a:rect l="0" t="0" r="r" b="b"/>
            <a:pathLst>
              <a:path w="7213" h="205">
                <a:moveTo>
                  <a:pt x="0" y="205"/>
                </a:moveTo>
                <a:lnTo>
                  <a:pt x="210" y="205"/>
                </a:lnTo>
                <a:lnTo>
                  <a:pt x="408" y="0"/>
                </a:lnTo>
                <a:lnTo>
                  <a:pt x="7213" y="0"/>
                </a:lnTo>
              </a:path>
            </a:pathLst>
          </a:custGeom>
          <a:noFill/>
          <a:ln w="14288" cap="rnd">
            <a:solidFill>
              <a:srgbClr val="16204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13" name="Oval 5">
            <a:extLst>
              <a:ext uri="{FF2B5EF4-FFF2-40B4-BE49-F238E27FC236}">
                <a16:creationId xmlns:a16="http://schemas.microsoft.com/office/drawing/2014/main" id="{5FD7F483-9F4A-8943-8A9D-CFBEAE5ACCCD}"/>
              </a:ext>
            </a:extLst>
          </p:cNvPr>
          <p:cNvSpPr>
            <a:spLocks noChangeArrowheads="1"/>
          </p:cNvSpPr>
          <p:nvPr userDrawn="1"/>
        </p:nvSpPr>
        <p:spPr bwMode="auto">
          <a:xfrm>
            <a:off x="339725" y="1068161"/>
            <a:ext cx="101600" cy="104775"/>
          </a:xfrm>
          <a:prstGeom prst="ellipse">
            <a:avLst/>
          </a:prstGeom>
          <a:solidFill>
            <a:srgbClr val="1620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14" name="Freeform 6">
            <a:extLst>
              <a:ext uri="{FF2B5EF4-FFF2-40B4-BE49-F238E27FC236}">
                <a16:creationId xmlns:a16="http://schemas.microsoft.com/office/drawing/2014/main" id="{CD527920-E2C3-294C-8B27-64BAB8327C7D}"/>
              </a:ext>
            </a:extLst>
          </p:cNvPr>
          <p:cNvSpPr>
            <a:spLocks/>
          </p:cNvSpPr>
          <p:nvPr userDrawn="1"/>
        </p:nvSpPr>
        <p:spPr bwMode="auto">
          <a:xfrm>
            <a:off x="420688" y="1003300"/>
            <a:ext cx="11450638" cy="116537"/>
          </a:xfrm>
          <a:custGeom>
            <a:avLst/>
            <a:gdLst>
              <a:gd name="T0" fmla="*/ 0 w 7213"/>
              <a:gd name="T1" fmla="*/ 205 h 205"/>
              <a:gd name="T2" fmla="*/ 210 w 7213"/>
              <a:gd name="T3" fmla="*/ 205 h 205"/>
              <a:gd name="T4" fmla="*/ 408 w 7213"/>
              <a:gd name="T5" fmla="*/ 0 h 205"/>
              <a:gd name="T6" fmla="*/ 7213 w 7213"/>
              <a:gd name="T7" fmla="*/ 0 h 205"/>
            </a:gdLst>
            <a:ahLst/>
            <a:cxnLst>
              <a:cxn ang="0">
                <a:pos x="T0" y="T1"/>
              </a:cxn>
              <a:cxn ang="0">
                <a:pos x="T2" y="T3"/>
              </a:cxn>
              <a:cxn ang="0">
                <a:pos x="T4" y="T5"/>
              </a:cxn>
              <a:cxn ang="0">
                <a:pos x="T6" y="T7"/>
              </a:cxn>
            </a:cxnLst>
            <a:rect l="0" t="0" r="r" b="b"/>
            <a:pathLst>
              <a:path w="7213" h="205">
                <a:moveTo>
                  <a:pt x="0" y="205"/>
                </a:moveTo>
                <a:lnTo>
                  <a:pt x="210" y="205"/>
                </a:lnTo>
                <a:lnTo>
                  <a:pt x="408" y="0"/>
                </a:lnTo>
                <a:lnTo>
                  <a:pt x="7213" y="0"/>
                </a:lnTo>
              </a:path>
            </a:pathLst>
          </a:custGeom>
          <a:noFill/>
          <a:ln w="14288" cap="rnd">
            <a:solidFill>
              <a:srgbClr val="16204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Tree>
    <p:extLst>
      <p:ext uri="{BB962C8B-B14F-4D97-AF65-F5344CB8AC3E}">
        <p14:creationId xmlns:p14="http://schemas.microsoft.com/office/powerpoint/2010/main" val="377500162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Lst>
  <p:hf hdr="0"/>
  <p:txStyles>
    <p:titleStyle>
      <a:lvl1pPr algn="ctr" defTabSz="914400" rtl="0" eaLnBrk="1" latinLnBrk="1" hangingPunct="1">
        <a:lnSpc>
          <a:spcPct val="90000"/>
        </a:lnSpc>
        <a:spcBef>
          <a:spcPct val="0"/>
        </a:spcBef>
        <a:buNone/>
        <a:defRPr sz="4000" b="1" kern="1200" baseline="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25583BE3-7F27-474B-8977-CB25A2A7B5C3}"/>
              </a:ext>
            </a:extLst>
          </p:cNvPr>
          <p:cNvSpPr/>
          <p:nvPr/>
        </p:nvSpPr>
        <p:spPr>
          <a:xfrm>
            <a:off x="330200" y="1278590"/>
            <a:ext cx="11544300" cy="5055535"/>
          </a:xfrm>
          <a:prstGeom prst="rect">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white"/>
              </a:solidFill>
              <a:effectLst/>
              <a:uLnTx/>
              <a:uFillTx/>
              <a:latin typeface="Arial"/>
              <a:ea typeface="맑은 고딕"/>
              <a:cs typeface="+mn-cs"/>
            </a:endParaRPr>
          </a:p>
        </p:txBody>
      </p:sp>
      <p:sp>
        <p:nvSpPr>
          <p:cNvPr id="2" name="제목 개체 틀 1"/>
          <p:cNvSpPr>
            <a:spLocks noGrp="1"/>
          </p:cNvSpPr>
          <p:nvPr>
            <p:ph type="title"/>
          </p:nvPr>
        </p:nvSpPr>
        <p:spPr>
          <a:xfrm>
            <a:off x="342431" y="111351"/>
            <a:ext cx="11519369" cy="922762"/>
          </a:xfrm>
          <a:prstGeom prst="rect">
            <a:avLst/>
          </a:prstGeom>
        </p:spPr>
        <p:txBody>
          <a:bodyPr vert="horz" lIns="91440" tIns="45720" rIns="91440" bIns="45720" rtlCol="0" anchor="ctr">
            <a:normAutofit/>
          </a:bodyPr>
          <a:lstStyle/>
          <a:p>
            <a:r>
              <a:rPr lang="en-US" altLang="ko-KR" dirty="0"/>
              <a:t>Click to edit Master title style</a:t>
            </a:r>
            <a:endParaRPr lang="ko-KR" altLang="en-US" dirty="0"/>
          </a:p>
        </p:txBody>
      </p:sp>
      <p:sp>
        <p:nvSpPr>
          <p:cNvPr id="3" name="텍스트 개체 틀 2"/>
          <p:cNvSpPr>
            <a:spLocks noGrp="1"/>
          </p:cNvSpPr>
          <p:nvPr>
            <p:ph type="body" idx="1"/>
          </p:nvPr>
        </p:nvSpPr>
        <p:spPr>
          <a:xfrm>
            <a:off x="614698" y="1502044"/>
            <a:ext cx="10962604" cy="467332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 name="바닥글 개체 틀 4"/>
          <p:cNvSpPr>
            <a:spLocks noGrp="1"/>
          </p:cNvSpPr>
          <p:nvPr>
            <p:ph type="ftr" sz="quarter" idx="3"/>
          </p:nvPr>
        </p:nvSpPr>
        <p:spPr>
          <a:xfrm>
            <a:off x="3632718" y="6442075"/>
            <a:ext cx="4520682"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9" name="Slide Number Placeholder 5"/>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1" name="날짜 개체 틀 6"/>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7" name="Oval 5">
            <a:extLst>
              <a:ext uri="{FF2B5EF4-FFF2-40B4-BE49-F238E27FC236}">
                <a16:creationId xmlns:a16="http://schemas.microsoft.com/office/drawing/2014/main" id="{04A06D53-9DAE-4569-9D66-F45836299465}"/>
              </a:ext>
            </a:extLst>
          </p:cNvPr>
          <p:cNvSpPr>
            <a:spLocks noChangeArrowheads="1"/>
          </p:cNvSpPr>
          <p:nvPr/>
        </p:nvSpPr>
        <p:spPr bwMode="auto">
          <a:xfrm>
            <a:off x="339725" y="1068161"/>
            <a:ext cx="101600" cy="104775"/>
          </a:xfrm>
          <a:prstGeom prst="ellipse">
            <a:avLst/>
          </a:prstGeom>
          <a:solidFill>
            <a:srgbClr val="1620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8" name="Freeform 6">
            <a:extLst>
              <a:ext uri="{FF2B5EF4-FFF2-40B4-BE49-F238E27FC236}">
                <a16:creationId xmlns:a16="http://schemas.microsoft.com/office/drawing/2014/main" id="{152B1177-EA1E-44CC-B53C-21DE83E23190}"/>
              </a:ext>
            </a:extLst>
          </p:cNvPr>
          <p:cNvSpPr>
            <a:spLocks/>
          </p:cNvSpPr>
          <p:nvPr/>
        </p:nvSpPr>
        <p:spPr bwMode="auto">
          <a:xfrm>
            <a:off x="420688" y="1003300"/>
            <a:ext cx="11450638" cy="116537"/>
          </a:xfrm>
          <a:custGeom>
            <a:avLst/>
            <a:gdLst>
              <a:gd name="T0" fmla="*/ 0 w 7213"/>
              <a:gd name="T1" fmla="*/ 205 h 205"/>
              <a:gd name="T2" fmla="*/ 210 w 7213"/>
              <a:gd name="T3" fmla="*/ 205 h 205"/>
              <a:gd name="T4" fmla="*/ 408 w 7213"/>
              <a:gd name="T5" fmla="*/ 0 h 205"/>
              <a:gd name="T6" fmla="*/ 7213 w 7213"/>
              <a:gd name="T7" fmla="*/ 0 h 205"/>
            </a:gdLst>
            <a:ahLst/>
            <a:cxnLst>
              <a:cxn ang="0">
                <a:pos x="T0" y="T1"/>
              </a:cxn>
              <a:cxn ang="0">
                <a:pos x="T2" y="T3"/>
              </a:cxn>
              <a:cxn ang="0">
                <a:pos x="T4" y="T5"/>
              </a:cxn>
              <a:cxn ang="0">
                <a:pos x="T6" y="T7"/>
              </a:cxn>
            </a:cxnLst>
            <a:rect l="0" t="0" r="r" b="b"/>
            <a:pathLst>
              <a:path w="7213" h="205">
                <a:moveTo>
                  <a:pt x="0" y="205"/>
                </a:moveTo>
                <a:lnTo>
                  <a:pt x="210" y="205"/>
                </a:lnTo>
                <a:lnTo>
                  <a:pt x="408" y="0"/>
                </a:lnTo>
                <a:lnTo>
                  <a:pt x="7213" y="0"/>
                </a:lnTo>
              </a:path>
            </a:pathLst>
          </a:custGeom>
          <a:noFill/>
          <a:ln w="14288" cap="rnd">
            <a:solidFill>
              <a:srgbClr val="16204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13" name="Oval 5">
            <a:extLst>
              <a:ext uri="{FF2B5EF4-FFF2-40B4-BE49-F238E27FC236}">
                <a16:creationId xmlns:a16="http://schemas.microsoft.com/office/drawing/2014/main" id="{5FD7F483-9F4A-8943-8A9D-CFBEAE5ACCCD}"/>
              </a:ext>
            </a:extLst>
          </p:cNvPr>
          <p:cNvSpPr>
            <a:spLocks noChangeArrowheads="1"/>
          </p:cNvSpPr>
          <p:nvPr userDrawn="1"/>
        </p:nvSpPr>
        <p:spPr bwMode="auto">
          <a:xfrm>
            <a:off x="339725" y="1068161"/>
            <a:ext cx="101600" cy="104775"/>
          </a:xfrm>
          <a:prstGeom prst="ellipse">
            <a:avLst/>
          </a:prstGeom>
          <a:solidFill>
            <a:srgbClr val="1620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14" name="Freeform 6">
            <a:extLst>
              <a:ext uri="{FF2B5EF4-FFF2-40B4-BE49-F238E27FC236}">
                <a16:creationId xmlns:a16="http://schemas.microsoft.com/office/drawing/2014/main" id="{CD527920-E2C3-294C-8B27-64BAB8327C7D}"/>
              </a:ext>
            </a:extLst>
          </p:cNvPr>
          <p:cNvSpPr>
            <a:spLocks/>
          </p:cNvSpPr>
          <p:nvPr userDrawn="1"/>
        </p:nvSpPr>
        <p:spPr bwMode="auto">
          <a:xfrm>
            <a:off x="420688" y="1003300"/>
            <a:ext cx="11450638" cy="116537"/>
          </a:xfrm>
          <a:custGeom>
            <a:avLst/>
            <a:gdLst>
              <a:gd name="T0" fmla="*/ 0 w 7213"/>
              <a:gd name="T1" fmla="*/ 205 h 205"/>
              <a:gd name="T2" fmla="*/ 210 w 7213"/>
              <a:gd name="T3" fmla="*/ 205 h 205"/>
              <a:gd name="T4" fmla="*/ 408 w 7213"/>
              <a:gd name="T5" fmla="*/ 0 h 205"/>
              <a:gd name="T6" fmla="*/ 7213 w 7213"/>
              <a:gd name="T7" fmla="*/ 0 h 205"/>
            </a:gdLst>
            <a:ahLst/>
            <a:cxnLst>
              <a:cxn ang="0">
                <a:pos x="T0" y="T1"/>
              </a:cxn>
              <a:cxn ang="0">
                <a:pos x="T2" y="T3"/>
              </a:cxn>
              <a:cxn ang="0">
                <a:pos x="T4" y="T5"/>
              </a:cxn>
              <a:cxn ang="0">
                <a:pos x="T6" y="T7"/>
              </a:cxn>
            </a:cxnLst>
            <a:rect l="0" t="0" r="r" b="b"/>
            <a:pathLst>
              <a:path w="7213" h="205">
                <a:moveTo>
                  <a:pt x="0" y="205"/>
                </a:moveTo>
                <a:lnTo>
                  <a:pt x="210" y="205"/>
                </a:lnTo>
                <a:lnTo>
                  <a:pt x="408" y="0"/>
                </a:lnTo>
                <a:lnTo>
                  <a:pt x="7213" y="0"/>
                </a:lnTo>
              </a:path>
            </a:pathLst>
          </a:custGeom>
          <a:noFill/>
          <a:ln w="14288" cap="rnd">
            <a:solidFill>
              <a:srgbClr val="16204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Tree>
    <p:extLst>
      <p:ext uri="{BB962C8B-B14F-4D97-AF65-F5344CB8AC3E}">
        <p14:creationId xmlns:p14="http://schemas.microsoft.com/office/powerpoint/2010/main" val="274818634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Lst>
  <p:hf hdr="0" ftr="0"/>
  <p:txStyles>
    <p:titleStyle>
      <a:lvl1pPr algn="ctr" defTabSz="914400" rtl="0" eaLnBrk="1" latinLnBrk="1" hangingPunct="1">
        <a:lnSpc>
          <a:spcPct val="90000"/>
        </a:lnSpc>
        <a:spcBef>
          <a:spcPct val="0"/>
        </a:spcBef>
        <a:buNone/>
        <a:defRPr sz="4000" b="1" kern="1200" baseline="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3" Type="http://schemas.openxmlformats.org/officeDocument/2006/relationships/image" Target="../media/image12.svg"/><Relationship Id="rId18" Type="http://schemas.openxmlformats.org/officeDocument/2006/relationships/image" Target="../media/image10.png"/><Relationship Id="rId26" Type="http://schemas.openxmlformats.org/officeDocument/2006/relationships/image" Target="../media/image14.png"/><Relationship Id="rId3" Type="http://schemas.openxmlformats.org/officeDocument/2006/relationships/notesSlide" Target="../notesSlides/notesSlide3.xml"/><Relationship Id="rId21" Type="http://schemas.openxmlformats.org/officeDocument/2006/relationships/image" Target="../media/image20.svg"/><Relationship Id="rId34" Type="http://schemas.openxmlformats.org/officeDocument/2006/relationships/image" Target="../media/image19.png"/><Relationship Id="rId7" Type="http://schemas.openxmlformats.org/officeDocument/2006/relationships/image" Target="../media/image6.svg"/><Relationship Id="rId12" Type="http://schemas.openxmlformats.org/officeDocument/2006/relationships/image" Target="../media/image7.png"/><Relationship Id="rId17" Type="http://schemas.openxmlformats.org/officeDocument/2006/relationships/image" Target="../media/image16.svg"/><Relationship Id="rId25" Type="http://schemas.openxmlformats.org/officeDocument/2006/relationships/image" Target="../media/image24.svg"/><Relationship Id="rId33" Type="http://schemas.openxmlformats.org/officeDocument/2006/relationships/image" Target="../media/image18.png"/><Relationship Id="rId2" Type="http://schemas.openxmlformats.org/officeDocument/2006/relationships/slideLayout" Target="../slideLayouts/slideLayout14.xml"/><Relationship Id="rId16" Type="http://schemas.openxmlformats.org/officeDocument/2006/relationships/image" Target="../media/image9.png"/><Relationship Id="rId20" Type="http://schemas.openxmlformats.org/officeDocument/2006/relationships/image" Target="../media/image11.png"/><Relationship Id="rId29" Type="http://schemas.openxmlformats.org/officeDocument/2006/relationships/image" Target="../media/image28.svg"/><Relationship Id="rId1" Type="http://schemas.openxmlformats.org/officeDocument/2006/relationships/tags" Target="../tags/tag1.xml"/><Relationship Id="rId6" Type="http://schemas.openxmlformats.org/officeDocument/2006/relationships/image" Target="../media/image4.png"/><Relationship Id="rId11" Type="http://schemas.openxmlformats.org/officeDocument/2006/relationships/image" Target="../media/image10.svg"/><Relationship Id="rId24" Type="http://schemas.openxmlformats.org/officeDocument/2006/relationships/image" Target="../media/image13.png"/><Relationship Id="rId32" Type="http://schemas.openxmlformats.org/officeDocument/2006/relationships/image" Target="../media/image17.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15.png"/><Relationship Id="rId10" Type="http://schemas.openxmlformats.org/officeDocument/2006/relationships/image" Target="../media/image6.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8.png"/><Relationship Id="rId22" Type="http://schemas.openxmlformats.org/officeDocument/2006/relationships/image" Target="../media/image12.png"/><Relationship Id="rId27" Type="http://schemas.openxmlformats.org/officeDocument/2006/relationships/image" Target="../media/image26.svg"/><Relationship Id="rId30" Type="http://schemas.openxmlformats.org/officeDocument/2006/relationships/image" Target="../media/image16.png"/><Relationship Id="rId35" Type="http://schemas.openxmlformats.org/officeDocument/2006/relationships/image" Target="../media/image32.sv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8.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jpg"/><Relationship Id="rId4" Type="http://schemas.openxmlformats.org/officeDocument/2006/relationships/image" Target="../media/image30.png"/><Relationship Id="rId9"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8.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12.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18.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8.xml"/><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65.jp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image" Target="../media/image70.jpg"/><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g"/><Relationship Id="rId1" Type="http://schemas.openxmlformats.org/officeDocument/2006/relationships/slideLayout" Target="../slideLayouts/slideLayout18.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3.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9.jpg"/><Relationship Id="rId4" Type="http://schemas.openxmlformats.org/officeDocument/2006/relationships/image" Target="../media/image78.jpg"/></Relationships>
</file>

<file path=ppt/slides/_rels/slide24.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image" Target="../media/image80.jp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8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3" Type="http://schemas.openxmlformats.org/officeDocument/2006/relationships/image" Target="../media/image85.png"/><Relationship Id="rId21" Type="http://schemas.openxmlformats.org/officeDocument/2006/relationships/image" Target="../media/image103.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image" Target="../media/image84.png"/><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18.xml"/><Relationship Id="rId6" Type="http://schemas.openxmlformats.org/officeDocument/2006/relationships/image" Target="../media/image88.png"/><Relationship Id="rId11" Type="http://schemas.openxmlformats.org/officeDocument/2006/relationships/image" Target="../media/image93.png"/><Relationship Id="rId24" Type="http://schemas.openxmlformats.org/officeDocument/2006/relationships/image" Target="../media/image106.pn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05.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104.png"/></Relationships>
</file>

<file path=ppt/slides/_rels/slide30.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18" Type="http://schemas.openxmlformats.org/officeDocument/2006/relationships/image" Target="../media/image123.png"/><Relationship Id="rId3" Type="http://schemas.openxmlformats.org/officeDocument/2006/relationships/image" Target="../media/image108.png"/><Relationship Id="rId21" Type="http://schemas.openxmlformats.org/officeDocument/2006/relationships/image" Target="../media/image126.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122.png"/><Relationship Id="rId2" Type="http://schemas.openxmlformats.org/officeDocument/2006/relationships/image" Target="../media/image107.png"/><Relationship Id="rId16" Type="http://schemas.openxmlformats.org/officeDocument/2006/relationships/image" Target="../media/image121.png"/><Relationship Id="rId20" Type="http://schemas.openxmlformats.org/officeDocument/2006/relationships/image" Target="../media/image125.png"/><Relationship Id="rId1" Type="http://schemas.openxmlformats.org/officeDocument/2006/relationships/slideLayout" Target="../slideLayouts/slideLayout18.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19" Type="http://schemas.openxmlformats.org/officeDocument/2006/relationships/image" Target="../media/image124.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31.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33.png"/><Relationship Id="rId18" Type="http://schemas.openxmlformats.org/officeDocument/2006/relationships/image" Target="../media/image137.png"/><Relationship Id="rId3" Type="http://schemas.openxmlformats.org/officeDocument/2006/relationships/image" Target="../media/image127.png"/><Relationship Id="rId21" Type="http://schemas.openxmlformats.org/officeDocument/2006/relationships/image" Target="../media/image140.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136.png"/><Relationship Id="rId2" Type="http://schemas.openxmlformats.org/officeDocument/2006/relationships/notesSlide" Target="../notesSlides/notesSlide18.xml"/><Relationship Id="rId16" Type="http://schemas.openxmlformats.org/officeDocument/2006/relationships/image" Target="../media/image135.png"/><Relationship Id="rId20" Type="http://schemas.openxmlformats.org/officeDocument/2006/relationships/image" Target="../media/image139.png"/><Relationship Id="rId1" Type="http://schemas.openxmlformats.org/officeDocument/2006/relationships/slideLayout" Target="../slideLayouts/slideLayout18.xml"/><Relationship Id="rId6" Type="http://schemas.openxmlformats.org/officeDocument/2006/relationships/image" Target="../media/image129.png"/><Relationship Id="rId11" Type="http://schemas.openxmlformats.org/officeDocument/2006/relationships/image" Target="../media/image132.png"/><Relationship Id="rId5" Type="http://schemas.openxmlformats.org/officeDocument/2006/relationships/image" Target="../media/image128.png"/><Relationship Id="rId15" Type="http://schemas.openxmlformats.org/officeDocument/2006/relationships/image" Target="../media/image119.png"/><Relationship Id="rId10" Type="http://schemas.openxmlformats.org/officeDocument/2006/relationships/image" Target="../media/image131.png"/><Relationship Id="rId19" Type="http://schemas.openxmlformats.org/officeDocument/2006/relationships/image" Target="../media/image138.png"/><Relationship Id="rId4" Type="http://schemas.openxmlformats.org/officeDocument/2006/relationships/image" Target="../media/image109.png"/><Relationship Id="rId9" Type="http://schemas.openxmlformats.org/officeDocument/2006/relationships/image" Target="../media/image130.png"/><Relationship Id="rId14" Type="http://schemas.openxmlformats.org/officeDocument/2006/relationships/image" Target="../media/image134.png"/><Relationship Id="rId22" Type="http://schemas.openxmlformats.org/officeDocument/2006/relationships/image" Target="../media/image141.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18" Type="http://schemas.openxmlformats.org/officeDocument/2006/relationships/image" Target="../media/image159.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image" Target="../media/image153.png"/><Relationship Id="rId17" Type="http://schemas.openxmlformats.org/officeDocument/2006/relationships/image" Target="../media/image158.png"/><Relationship Id="rId2" Type="http://schemas.openxmlformats.org/officeDocument/2006/relationships/notesSlide" Target="../notesSlides/notesSlide20.xml"/><Relationship Id="rId16" Type="http://schemas.openxmlformats.org/officeDocument/2006/relationships/image" Target="../media/image157.png"/><Relationship Id="rId20" Type="http://schemas.openxmlformats.org/officeDocument/2006/relationships/image" Target="../media/image161.png"/><Relationship Id="rId1" Type="http://schemas.openxmlformats.org/officeDocument/2006/relationships/slideLayout" Target="../slideLayouts/slideLayout18.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5" Type="http://schemas.openxmlformats.org/officeDocument/2006/relationships/image" Target="../media/image156.png"/><Relationship Id="rId10" Type="http://schemas.openxmlformats.org/officeDocument/2006/relationships/image" Target="../media/image151.png"/><Relationship Id="rId19" Type="http://schemas.openxmlformats.org/officeDocument/2006/relationships/image" Target="../media/image160.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s>
</file>

<file path=ppt/slides/_rels/slide34.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21.xml"/><Relationship Id="rId16" Type="http://schemas.openxmlformats.org/officeDocument/2006/relationships/image" Target="../media/image175.png"/><Relationship Id="rId1" Type="http://schemas.openxmlformats.org/officeDocument/2006/relationships/slideLayout" Target="../slideLayouts/slideLayout18.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5" Type="http://schemas.openxmlformats.org/officeDocument/2006/relationships/image" Target="../media/image17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35.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notesSlide" Target="../notesSlides/notesSlide22.xml"/><Relationship Id="rId1" Type="http://schemas.openxmlformats.org/officeDocument/2006/relationships/slideLayout" Target="../slideLayouts/slideLayout18.xml"/><Relationship Id="rId6" Type="http://schemas.openxmlformats.org/officeDocument/2006/relationships/image" Target="../media/image179.png"/><Relationship Id="rId5" Type="http://schemas.openxmlformats.org/officeDocument/2006/relationships/image" Target="../media/image178.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s>
</file>

<file path=ppt/slides/_rels/slide36.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18.xml"/><Relationship Id="rId4" Type="http://schemas.openxmlformats.org/officeDocument/2006/relationships/image" Target="../media/image186.png"/></Relationships>
</file>

<file path=ppt/slides/_rels/slide37.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85.png"/><Relationship Id="rId3" Type="http://schemas.openxmlformats.org/officeDocument/2006/relationships/image" Target="../media/image188.png"/><Relationship Id="rId7" Type="http://schemas.openxmlformats.org/officeDocument/2006/relationships/image" Target="../media/image192.png"/><Relationship Id="rId12" Type="http://schemas.openxmlformats.org/officeDocument/2006/relationships/image" Target="../media/image184.png"/><Relationship Id="rId2" Type="http://schemas.openxmlformats.org/officeDocument/2006/relationships/image" Target="../media/image187.png"/><Relationship Id="rId1" Type="http://schemas.openxmlformats.org/officeDocument/2006/relationships/slideLayout" Target="../slideLayouts/slideLayout18.xml"/><Relationship Id="rId6" Type="http://schemas.openxmlformats.org/officeDocument/2006/relationships/image" Target="../media/image191.png"/><Relationship Id="rId11" Type="http://schemas.openxmlformats.org/officeDocument/2006/relationships/image" Target="../media/image196.png"/><Relationship Id="rId5" Type="http://schemas.openxmlformats.org/officeDocument/2006/relationships/image" Target="../media/image190.png"/><Relationship Id="rId10" Type="http://schemas.openxmlformats.org/officeDocument/2006/relationships/image" Target="../media/image195.png"/><Relationship Id="rId4" Type="http://schemas.openxmlformats.org/officeDocument/2006/relationships/image" Target="../media/image189.png"/><Relationship Id="rId9" Type="http://schemas.openxmlformats.org/officeDocument/2006/relationships/image" Target="../media/image194.png"/><Relationship Id="rId14" Type="http://schemas.openxmlformats.org/officeDocument/2006/relationships/image" Target="../media/image186.png"/></Relationships>
</file>

<file path=ppt/slides/_rels/slide38.xml.rels><?xml version="1.0" encoding="UTF-8" standalone="yes"?>
<Relationships xmlns="http://schemas.openxmlformats.org/package/2006/relationships"><Relationship Id="rId8" Type="http://schemas.openxmlformats.org/officeDocument/2006/relationships/image" Target="../media/image201.png"/><Relationship Id="rId13" Type="http://schemas.openxmlformats.org/officeDocument/2006/relationships/image" Target="../media/image206.png"/><Relationship Id="rId3" Type="http://schemas.openxmlformats.org/officeDocument/2006/relationships/image" Target="../media/image198.png"/><Relationship Id="rId7" Type="http://schemas.openxmlformats.org/officeDocument/2006/relationships/image" Target="../media/image200.png"/><Relationship Id="rId12" Type="http://schemas.openxmlformats.org/officeDocument/2006/relationships/image" Target="../media/image205.png"/><Relationship Id="rId2" Type="http://schemas.openxmlformats.org/officeDocument/2006/relationships/image" Target="../media/image197.png"/><Relationship Id="rId16" Type="http://schemas.openxmlformats.org/officeDocument/2006/relationships/image" Target="../media/image186.png"/><Relationship Id="rId1" Type="http://schemas.openxmlformats.org/officeDocument/2006/relationships/slideLayout" Target="../slideLayouts/slideLayout18.xml"/><Relationship Id="rId6" Type="http://schemas.openxmlformats.org/officeDocument/2006/relationships/image" Target="../media/image199.png"/><Relationship Id="rId11" Type="http://schemas.openxmlformats.org/officeDocument/2006/relationships/image" Target="../media/image204.png"/><Relationship Id="rId5" Type="http://schemas.openxmlformats.org/officeDocument/2006/relationships/image" Target="../media/image189.png"/><Relationship Id="rId15" Type="http://schemas.openxmlformats.org/officeDocument/2006/relationships/image" Target="../media/image185.png"/><Relationship Id="rId10" Type="http://schemas.openxmlformats.org/officeDocument/2006/relationships/image" Target="../media/image203.png"/><Relationship Id="rId4" Type="http://schemas.openxmlformats.org/officeDocument/2006/relationships/image" Target="../media/image188.png"/><Relationship Id="rId9" Type="http://schemas.openxmlformats.org/officeDocument/2006/relationships/image" Target="../media/image202.png"/><Relationship Id="rId14" Type="http://schemas.openxmlformats.org/officeDocument/2006/relationships/image" Target="../media/image184.png"/></Relationships>
</file>

<file path=ppt/slides/_rels/slide39.xml.rels><?xml version="1.0" encoding="UTF-8" standalone="yes"?>
<Relationships xmlns="http://schemas.openxmlformats.org/package/2006/relationships"><Relationship Id="rId8" Type="http://schemas.openxmlformats.org/officeDocument/2006/relationships/image" Target="../media/image201.png"/><Relationship Id="rId13" Type="http://schemas.openxmlformats.org/officeDocument/2006/relationships/image" Target="../media/image207.png"/><Relationship Id="rId3" Type="http://schemas.openxmlformats.org/officeDocument/2006/relationships/image" Target="../media/image198.png"/><Relationship Id="rId7" Type="http://schemas.openxmlformats.org/officeDocument/2006/relationships/image" Target="../media/image200.png"/><Relationship Id="rId12" Type="http://schemas.openxmlformats.org/officeDocument/2006/relationships/image" Target="../media/image205.png"/><Relationship Id="rId2" Type="http://schemas.openxmlformats.org/officeDocument/2006/relationships/image" Target="../media/image197.png"/><Relationship Id="rId16" Type="http://schemas.openxmlformats.org/officeDocument/2006/relationships/image" Target="../media/image186.png"/><Relationship Id="rId1" Type="http://schemas.openxmlformats.org/officeDocument/2006/relationships/slideLayout" Target="../slideLayouts/slideLayout18.xml"/><Relationship Id="rId6" Type="http://schemas.openxmlformats.org/officeDocument/2006/relationships/image" Target="../media/image199.png"/><Relationship Id="rId11" Type="http://schemas.openxmlformats.org/officeDocument/2006/relationships/image" Target="../media/image204.png"/><Relationship Id="rId5" Type="http://schemas.openxmlformats.org/officeDocument/2006/relationships/image" Target="../media/image189.png"/><Relationship Id="rId15" Type="http://schemas.openxmlformats.org/officeDocument/2006/relationships/image" Target="../media/image185.png"/><Relationship Id="rId10" Type="http://schemas.openxmlformats.org/officeDocument/2006/relationships/image" Target="../media/image203.png"/><Relationship Id="rId4" Type="http://schemas.openxmlformats.org/officeDocument/2006/relationships/image" Target="../media/image188.png"/><Relationship Id="rId9" Type="http://schemas.openxmlformats.org/officeDocument/2006/relationships/image" Target="../media/image202.png"/><Relationship Id="rId14" Type="http://schemas.openxmlformats.org/officeDocument/2006/relationships/image" Target="../media/image184.png"/></Relationships>
</file>

<file path=ppt/slides/_rels/slide40.xml.rels><?xml version="1.0" encoding="UTF-8" standalone="yes"?>
<Relationships xmlns="http://schemas.openxmlformats.org/package/2006/relationships"><Relationship Id="rId8" Type="http://schemas.openxmlformats.org/officeDocument/2006/relationships/image" Target="../media/image214.png"/><Relationship Id="rId13" Type="http://schemas.openxmlformats.org/officeDocument/2006/relationships/image" Target="../media/image219.png"/><Relationship Id="rId18" Type="http://schemas.openxmlformats.org/officeDocument/2006/relationships/image" Target="../media/image223.png"/><Relationship Id="rId26" Type="http://schemas.openxmlformats.org/officeDocument/2006/relationships/image" Target="../media/image231.png"/><Relationship Id="rId3" Type="http://schemas.openxmlformats.org/officeDocument/2006/relationships/image" Target="../media/image209.png"/><Relationship Id="rId21" Type="http://schemas.openxmlformats.org/officeDocument/2006/relationships/image" Target="../media/image226.png"/><Relationship Id="rId7" Type="http://schemas.openxmlformats.org/officeDocument/2006/relationships/image" Target="../media/image213.png"/><Relationship Id="rId12" Type="http://schemas.openxmlformats.org/officeDocument/2006/relationships/image" Target="../media/image218.png"/><Relationship Id="rId17" Type="http://schemas.openxmlformats.org/officeDocument/2006/relationships/image" Target="../media/image222.png"/><Relationship Id="rId25" Type="http://schemas.openxmlformats.org/officeDocument/2006/relationships/image" Target="../media/image230.png"/><Relationship Id="rId2" Type="http://schemas.openxmlformats.org/officeDocument/2006/relationships/image" Target="../media/image208.png"/><Relationship Id="rId16" Type="http://schemas.openxmlformats.org/officeDocument/2006/relationships/image" Target="../media/image205.png"/><Relationship Id="rId20" Type="http://schemas.openxmlformats.org/officeDocument/2006/relationships/image" Target="../media/image225.png"/><Relationship Id="rId1" Type="http://schemas.openxmlformats.org/officeDocument/2006/relationships/slideLayout" Target="../slideLayouts/slideLayout18.xml"/><Relationship Id="rId6" Type="http://schemas.openxmlformats.org/officeDocument/2006/relationships/image" Target="../media/image212.png"/><Relationship Id="rId11" Type="http://schemas.openxmlformats.org/officeDocument/2006/relationships/image" Target="../media/image217.png"/><Relationship Id="rId24" Type="http://schemas.openxmlformats.org/officeDocument/2006/relationships/image" Target="../media/image229.png"/><Relationship Id="rId5" Type="http://schemas.openxmlformats.org/officeDocument/2006/relationships/image" Target="../media/image211.png"/><Relationship Id="rId15" Type="http://schemas.openxmlformats.org/officeDocument/2006/relationships/image" Target="../media/image221.png"/><Relationship Id="rId23" Type="http://schemas.openxmlformats.org/officeDocument/2006/relationships/image" Target="../media/image228.png"/><Relationship Id="rId10" Type="http://schemas.openxmlformats.org/officeDocument/2006/relationships/image" Target="../media/image216.png"/><Relationship Id="rId19" Type="http://schemas.openxmlformats.org/officeDocument/2006/relationships/image" Target="../media/image224.png"/><Relationship Id="rId4" Type="http://schemas.openxmlformats.org/officeDocument/2006/relationships/image" Target="../media/image210.png"/><Relationship Id="rId9" Type="http://schemas.openxmlformats.org/officeDocument/2006/relationships/image" Target="../media/image215.png"/><Relationship Id="rId14" Type="http://schemas.openxmlformats.org/officeDocument/2006/relationships/image" Target="../media/image220.png"/><Relationship Id="rId22" Type="http://schemas.openxmlformats.org/officeDocument/2006/relationships/image" Target="../media/image22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32.jp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8" Type="http://schemas.openxmlformats.org/officeDocument/2006/relationships/image" Target="../media/image239.png"/><Relationship Id="rId13" Type="http://schemas.openxmlformats.org/officeDocument/2006/relationships/image" Target="../media/image243.jpg"/><Relationship Id="rId3" Type="http://schemas.openxmlformats.org/officeDocument/2006/relationships/image" Target="../media/image234.png"/><Relationship Id="rId7" Type="http://schemas.openxmlformats.org/officeDocument/2006/relationships/image" Target="../media/image238.png"/><Relationship Id="rId12" Type="http://schemas.openxmlformats.org/officeDocument/2006/relationships/image" Target="../media/image242.jpg"/><Relationship Id="rId2" Type="http://schemas.openxmlformats.org/officeDocument/2006/relationships/image" Target="../media/image233.jpg"/><Relationship Id="rId1" Type="http://schemas.openxmlformats.org/officeDocument/2006/relationships/slideLayout" Target="../slideLayouts/slideLayout18.xml"/><Relationship Id="rId6" Type="http://schemas.openxmlformats.org/officeDocument/2006/relationships/image" Target="../media/image237.png"/><Relationship Id="rId11" Type="http://schemas.openxmlformats.org/officeDocument/2006/relationships/image" Target="../media/image241.jpg"/><Relationship Id="rId5" Type="http://schemas.openxmlformats.org/officeDocument/2006/relationships/image" Target="../media/image236.png"/><Relationship Id="rId10" Type="http://schemas.openxmlformats.org/officeDocument/2006/relationships/image" Target="../media/image24.jpg"/><Relationship Id="rId4" Type="http://schemas.openxmlformats.org/officeDocument/2006/relationships/image" Target="../media/image235.png"/><Relationship Id="rId9" Type="http://schemas.openxmlformats.org/officeDocument/2006/relationships/image" Target="../media/image240.jp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44.emf"/><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350.png"/></Relationships>
</file>

<file path=ppt/slides/_rels/slide47.xml.rels><?xml version="1.0" encoding="UTF-8" standalone="yes"?>
<Relationships xmlns="http://schemas.openxmlformats.org/package/2006/relationships"><Relationship Id="rId3" Type="http://schemas.openxmlformats.org/officeDocument/2006/relationships/image" Target="../media/image245.emf"/><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246.emf"/></Relationships>
</file>

<file path=ppt/slides/_rels/slide48.xml.rels><?xml version="1.0" encoding="UTF-8" standalone="yes"?>
<Relationships xmlns="http://schemas.openxmlformats.org/package/2006/relationships"><Relationship Id="rId3" Type="http://schemas.openxmlformats.org/officeDocument/2006/relationships/image" Target="../media/image247.emf"/><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248.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252.emf"/><Relationship Id="rId3" Type="http://schemas.openxmlformats.org/officeDocument/2006/relationships/image" Target="../media/image249.png"/><Relationship Id="rId7" Type="http://schemas.openxmlformats.org/officeDocument/2006/relationships/image" Target="../media/image251.emf"/><Relationship Id="rId2" Type="http://schemas.openxmlformats.org/officeDocument/2006/relationships/notesSlide" Target="../notesSlides/notesSlide31.xml"/><Relationship Id="rId1" Type="http://schemas.openxmlformats.org/officeDocument/2006/relationships/slideLayout" Target="../slideLayouts/slideLayout14.xml"/><Relationship Id="rId6" Type="http://schemas.openxmlformats.org/officeDocument/2006/relationships/image" Target="../media/image42.svg"/><Relationship Id="rId5" Type="http://schemas.openxmlformats.org/officeDocument/2006/relationships/image" Target="../media/image250.png"/><Relationship Id="rId4" Type="http://schemas.openxmlformats.org/officeDocument/2006/relationships/image" Target="../media/image40.svg"/><Relationship Id="rId9" Type="http://schemas.openxmlformats.org/officeDocument/2006/relationships/image" Target="../media/image253.emf"/></Relationships>
</file>

<file path=ppt/slides/_rels/slide51.xml.rels><?xml version="1.0" encoding="UTF-8" standalone="yes"?>
<Relationships xmlns="http://schemas.openxmlformats.org/package/2006/relationships"><Relationship Id="rId3" Type="http://schemas.openxmlformats.org/officeDocument/2006/relationships/image" Target="../media/image254.emf"/><Relationship Id="rId2" Type="http://schemas.openxmlformats.org/officeDocument/2006/relationships/notesSlide" Target="../notesSlides/notesSlide32.xml"/><Relationship Id="rId1" Type="http://schemas.openxmlformats.org/officeDocument/2006/relationships/slideLayout" Target="../slideLayouts/slideLayout16.xml"/><Relationship Id="rId4" Type="http://schemas.openxmlformats.org/officeDocument/2006/relationships/image" Target="../media/image255.emf"/></Relationships>
</file>

<file path=ppt/slides/_rels/slide52.xml.rels><?xml version="1.0" encoding="UTF-8" standalone="yes"?>
<Relationships xmlns="http://schemas.openxmlformats.org/package/2006/relationships"><Relationship Id="rId3" Type="http://schemas.openxmlformats.org/officeDocument/2006/relationships/image" Target="../media/image256.emf"/><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257.emf"/><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themeOverride" Target="../theme/themeOverride1.xml"/><Relationship Id="rId4" Type="http://schemas.openxmlformats.org/officeDocument/2006/relationships/image" Target="../media/image258.emf"/></Relationships>
</file>

<file path=ppt/slides/_rels/slide56.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259.emf"/></Relationships>
</file>

<file path=ppt/slides/_rels/slide58.xml.rels><?xml version="1.0" encoding="UTF-8" standalone="yes"?>
<Relationships xmlns="http://schemas.openxmlformats.org/package/2006/relationships"><Relationship Id="rId3" Type="http://schemas.openxmlformats.org/officeDocument/2006/relationships/image" Target="../media/image260.emf"/><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8" Type="http://schemas.openxmlformats.org/officeDocument/2006/relationships/image" Target="../media/image266.png"/><Relationship Id="rId3" Type="http://schemas.openxmlformats.org/officeDocument/2006/relationships/image" Target="../media/image261.png"/><Relationship Id="rId7" Type="http://schemas.openxmlformats.org/officeDocument/2006/relationships/image" Target="../media/image265.png"/><Relationship Id="rId12" Type="http://schemas.openxmlformats.org/officeDocument/2006/relationships/image" Target="../media/image270.png"/><Relationship Id="rId2" Type="http://schemas.openxmlformats.org/officeDocument/2006/relationships/notesSlide" Target="../notesSlides/notesSlide40.xml"/><Relationship Id="rId1" Type="http://schemas.openxmlformats.org/officeDocument/2006/relationships/slideLayout" Target="../slideLayouts/slideLayout18.xml"/><Relationship Id="rId6" Type="http://schemas.openxmlformats.org/officeDocument/2006/relationships/image" Target="../media/image264.png"/><Relationship Id="rId11" Type="http://schemas.openxmlformats.org/officeDocument/2006/relationships/image" Target="../media/image269.png"/><Relationship Id="rId5" Type="http://schemas.openxmlformats.org/officeDocument/2006/relationships/image" Target="../media/image263.png"/><Relationship Id="rId10" Type="http://schemas.openxmlformats.org/officeDocument/2006/relationships/image" Target="../media/image268.png"/><Relationship Id="rId4" Type="http://schemas.openxmlformats.org/officeDocument/2006/relationships/image" Target="../media/image262.png"/><Relationship Id="rId9" Type="http://schemas.openxmlformats.org/officeDocument/2006/relationships/image" Target="../media/image267.png"/></Relationships>
</file>

<file path=ppt/slides/_rels/slide60.xml.rels><?xml version="1.0" encoding="UTF-8" standalone="yes"?>
<Relationships xmlns="http://schemas.openxmlformats.org/package/2006/relationships"><Relationship Id="rId8" Type="http://schemas.openxmlformats.org/officeDocument/2006/relationships/image" Target="../media/image276.png"/><Relationship Id="rId3" Type="http://schemas.openxmlformats.org/officeDocument/2006/relationships/image" Target="../media/image271.png"/><Relationship Id="rId7" Type="http://schemas.openxmlformats.org/officeDocument/2006/relationships/image" Target="../media/image275.png"/><Relationship Id="rId12" Type="http://schemas.openxmlformats.org/officeDocument/2006/relationships/image" Target="../media/image280.png"/><Relationship Id="rId2" Type="http://schemas.openxmlformats.org/officeDocument/2006/relationships/notesSlide" Target="../notesSlides/notesSlide41.xml"/><Relationship Id="rId1" Type="http://schemas.openxmlformats.org/officeDocument/2006/relationships/slideLayout" Target="../slideLayouts/slideLayout18.xml"/><Relationship Id="rId6" Type="http://schemas.openxmlformats.org/officeDocument/2006/relationships/image" Target="../media/image274.png"/><Relationship Id="rId11" Type="http://schemas.openxmlformats.org/officeDocument/2006/relationships/image" Target="../media/image279.png"/><Relationship Id="rId5" Type="http://schemas.openxmlformats.org/officeDocument/2006/relationships/image" Target="../media/image273.png"/><Relationship Id="rId10" Type="http://schemas.openxmlformats.org/officeDocument/2006/relationships/image" Target="../media/image278.png"/><Relationship Id="rId4" Type="http://schemas.openxmlformats.org/officeDocument/2006/relationships/image" Target="../media/image272.png"/><Relationship Id="rId9" Type="http://schemas.openxmlformats.org/officeDocument/2006/relationships/image" Target="../media/image277.png"/></Relationships>
</file>

<file path=ppt/slides/_rels/slide61.xml.rels><?xml version="1.0" encoding="UTF-8" standalone="yes"?>
<Relationships xmlns="http://schemas.openxmlformats.org/package/2006/relationships"><Relationship Id="rId8" Type="http://schemas.openxmlformats.org/officeDocument/2006/relationships/image" Target="../media/image286.png"/><Relationship Id="rId13" Type="http://schemas.openxmlformats.org/officeDocument/2006/relationships/image" Target="../media/image291.png"/><Relationship Id="rId3" Type="http://schemas.openxmlformats.org/officeDocument/2006/relationships/image" Target="../media/image281.png"/><Relationship Id="rId7" Type="http://schemas.openxmlformats.org/officeDocument/2006/relationships/image" Target="../media/image285.png"/><Relationship Id="rId12" Type="http://schemas.openxmlformats.org/officeDocument/2006/relationships/image" Target="../media/image290.png"/><Relationship Id="rId2" Type="http://schemas.openxmlformats.org/officeDocument/2006/relationships/notesSlide" Target="../notesSlides/notesSlide42.xml"/><Relationship Id="rId1" Type="http://schemas.openxmlformats.org/officeDocument/2006/relationships/slideLayout" Target="../slideLayouts/slideLayout18.xml"/><Relationship Id="rId6" Type="http://schemas.openxmlformats.org/officeDocument/2006/relationships/image" Target="../media/image284.png"/><Relationship Id="rId11" Type="http://schemas.openxmlformats.org/officeDocument/2006/relationships/image" Target="../media/image289.png"/><Relationship Id="rId5" Type="http://schemas.openxmlformats.org/officeDocument/2006/relationships/image" Target="../media/image283.png"/><Relationship Id="rId10" Type="http://schemas.openxmlformats.org/officeDocument/2006/relationships/image" Target="../media/image288.png"/><Relationship Id="rId4" Type="http://schemas.openxmlformats.org/officeDocument/2006/relationships/image" Target="../media/image282.png"/><Relationship Id="rId9" Type="http://schemas.openxmlformats.org/officeDocument/2006/relationships/image" Target="../media/image287.png"/></Relationships>
</file>

<file path=ppt/slides/_rels/slide62.xml.rels><?xml version="1.0" encoding="UTF-8" standalone="yes"?>
<Relationships xmlns="http://schemas.openxmlformats.org/package/2006/relationships"><Relationship Id="rId8" Type="http://schemas.openxmlformats.org/officeDocument/2006/relationships/image" Target="../media/image297.png"/><Relationship Id="rId13" Type="http://schemas.openxmlformats.org/officeDocument/2006/relationships/image" Target="../media/image302.png"/><Relationship Id="rId3" Type="http://schemas.openxmlformats.org/officeDocument/2006/relationships/image" Target="../media/image292.png"/><Relationship Id="rId7" Type="http://schemas.openxmlformats.org/officeDocument/2006/relationships/image" Target="../media/image296.png"/><Relationship Id="rId12" Type="http://schemas.openxmlformats.org/officeDocument/2006/relationships/image" Target="../media/image301.png"/><Relationship Id="rId2" Type="http://schemas.openxmlformats.org/officeDocument/2006/relationships/notesSlide" Target="../notesSlides/notesSlide43.xml"/><Relationship Id="rId1" Type="http://schemas.openxmlformats.org/officeDocument/2006/relationships/slideLayout" Target="../slideLayouts/slideLayout18.xml"/><Relationship Id="rId6" Type="http://schemas.openxmlformats.org/officeDocument/2006/relationships/image" Target="../media/image295.png"/><Relationship Id="rId11" Type="http://schemas.openxmlformats.org/officeDocument/2006/relationships/image" Target="../media/image300.png"/><Relationship Id="rId5" Type="http://schemas.openxmlformats.org/officeDocument/2006/relationships/image" Target="../media/image294.png"/><Relationship Id="rId10" Type="http://schemas.openxmlformats.org/officeDocument/2006/relationships/image" Target="../media/image299.png"/><Relationship Id="rId4" Type="http://schemas.openxmlformats.org/officeDocument/2006/relationships/image" Target="../media/image293.png"/><Relationship Id="rId9" Type="http://schemas.openxmlformats.org/officeDocument/2006/relationships/image" Target="../media/image298.png"/></Relationships>
</file>

<file path=ppt/slides/_rels/slide63.xml.rels><?xml version="1.0" encoding="UTF-8" standalone="yes"?>
<Relationships xmlns="http://schemas.openxmlformats.org/package/2006/relationships"><Relationship Id="rId8" Type="http://schemas.openxmlformats.org/officeDocument/2006/relationships/image" Target="../media/image308.png"/><Relationship Id="rId13" Type="http://schemas.openxmlformats.org/officeDocument/2006/relationships/image" Target="../media/image313.png"/><Relationship Id="rId3" Type="http://schemas.openxmlformats.org/officeDocument/2006/relationships/image" Target="../media/image303.png"/><Relationship Id="rId7" Type="http://schemas.openxmlformats.org/officeDocument/2006/relationships/image" Target="../media/image307.png"/><Relationship Id="rId12" Type="http://schemas.openxmlformats.org/officeDocument/2006/relationships/image" Target="../media/image312.png"/><Relationship Id="rId2" Type="http://schemas.openxmlformats.org/officeDocument/2006/relationships/notesSlide" Target="../notesSlides/notesSlide44.xml"/><Relationship Id="rId1" Type="http://schemas.openxmlformats.org/officeDocument/2006/relationships/slideLayout" Target="../slideLayouts/slideLayout18.xml"/><Relationship Id="rId6" Type="http://schemas.openxmlformats.org/officeDocument/2006/relationships/image" Target="../media/image306.png"/><Relationship Id="rId11" Type="http://schemas.openxmlformats.org/officeDocument/2006/relationships/image" Target="../media/image311.png"/><Relationship Id="rId5" Type="http://schemas.openxmlformats.org/officeDocument/2006/relationships/image" Target="../media/image305.png"/><Relationship Id="rId10" Type="http://schemas.openxmlformats.org/officeDocument/2006/relationships/image" Target="../media/image310.png"/><Relationship Id="rId4" Type="http://schemas.openxmlformats.org/officeDocument/2006/relationships/image" Target="../media/image304.png"/><Relationship Id="rId9" Type="http://schemas.openxmlformats.org/officeDocument/2006/relationships/image" Target="../media/image309.png"/><Relationship Id="rId14" Type="http://schemas.openxmlformats.org/officeDocument/2006/relationships/image" Target="../media/image314.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0.png"/><Relationship Id="rId7" Type="http://schemas.openxmlformats.org/officeDocument/2006/relationships/image" Target="../media/image440.png"/><Relationship Id="rId2" Type="http://schemas.openxmlformats.org/officeDocument/2006/relationships/image" Target="../media/image3100.png"/><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image" Target="../media/image610.png"/><Relationship Id="rId4" Type="http://schemas.openxmlformats.org/officeDocument/2006/relationships/image" Target="../media/image51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236.png"/><Relationship Id="rId13" Type="http://schemas.openxmlformats.org/officeDocument/2006/relationships/image" Target="../media/image242.jpg"/><Relationship Id="rId3" Type="http://schemas.openxmlformats.org/officeDocument/2006/relationships/image" Target="../media/image234.png"/><Relationship Id="rId7" Type="http://schemas.openxmlformats.org/officeDocument/2006/relationships/image" Target="../media/image235.png"/><Relationship Id="rId12" Type="http://schemas.openxmlformats.org/officeDocument/2006/relationships/image" Target="../media/image240.jp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33.jpg"/><Relationship Id="rId11" Type="http://schemas.openxmlformats.org/officeDocument/2006/relationships/image" Target="../media/image239.png"/><Relationship Id="rId5" Type="http://schemas.openxmlformats.org/officeDocument/2006/relationships/image" Target="../media/image241.jpg"/><Relationship Id="rId10" Type="http://schemas.openxmlformats.org/officeDocument/2006/relationships/image" Target="../media/image238.png"/><Relationship Id="rId4" Type="http://schemas.openxmlformats.org/officeDocument/2006/relationships/image" Target="../media/image24.jpg"/><Relationship Id="rId9" Type="http://schemas.openxmlformats.org/officeDocument/2006/relationships/image" Target="../media/image237.png"/><Relationship Id="rId14" Type="http://schemas.openxmlformats.org/officeDocument/2006/relationships/image" Target="../media/image243.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1</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Title 1">
            <a:extLst>
              <a:ext uri="{FF2B5EF4-FFF2-40B4-BE49-F238E27FC236}">
                <a16:creationId xmlns:a16="http://schemas.microsoft.com/office/drawing/2014/main" id="{54FEBB1F-AC64-0741-A7D9-262F8F9915F7}"/>
              </a:ext>
            </a:extLst>
          </p:cNvPr>
          <p:cNvSpPr txBox="1">
            <a:spLocks/>
          </p:cNvSpPr>
          <p:nvPr/>
        </p:nvSpPr>
        <p:spPr>
          <a:xfrm>
            <a:off x="761972" y="2516516"/>
            <a:ext cx="11290328" cy="2056863"/>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b="1" kern="1200" baseline="0">
                <a:solidFill>
                  <a:schemeClr val="tx1"/>
                </a:solidFill>
                <a:latin typeface="Arial" panose="020B0604020202020204" pitchFamily="34" charset="0"/>
                <a:ea typeface="+mj-ea"/>
                <a:cs typeface="Arial" panose="020B0604020202020204" pitchFamily="34" charset="0"/>
              </a:defRPr>
            </a:lvl1pPr>
          </a:lstStyle>
          <a:p>
            <a:r>
              <a:rPr lang="en-US" sz="4000" dirty="0">
                <a:solidFill>
                  <a:srgbClr val="00B050"/>
                </a:solidFill>
              </a:rPr>
              <a:t>High-Performance Inverter-Based </a:t>
            </a:r>
            <a:r>
              <a:rPr lang="en-US" sz="4000" dirty="0" smtClean="0">
                <a:solidFill>
                  <a:srgbClr val="00B050"/>
                </a:solidFill>
              </a:rPr>
              <a:t>AFE Design </a:t>
            </a:r>
            <a:r>
              <a:rPr lang="en-US" sz="4000" dirty="0">
                <a:solidFill>
                  <a:srgbClr val="00B050"/>
                </a:solidFill>
              </a:rPr>
              <a:t>Methodologies for </a:t>
            </a:r>
            <a:r>
              <a:rPr lang="en-US" sz="4000" dirty="0" smtClean="0">
                <a:solidFill>
                  <a:srgbClr val="00B050"/>
                </a:solidFill>
              </a:rPr>
              <a:t>Wireline/Optical </a:t>
            </a:r>
            <a:r>
              <a:rPr lang="en-US" sz="4000" dirty="0">
                <a:solidFill>
                  <a:srgbClr val="00B050"/>
                </a:solidFill>
              </a:rPr>
              <a:t>Receivers</a:t>
            </a:r>
          </a:p>
        </p:txBody>
      </p:sp>
      <p:sp>
        <p:nvSpPr>
          <p:cNvPr id="7" name="Subtitle 2">
            <a:extLst>
              <a:ext uri="{FF2B5EF4-FFF2-40B4-BE49-F238E27FC236}">
                <a16:creationId xmlns:a16="http://schemas.microsoft.com/office/drawing/2014/main" id="{7693AE84-C536-5448-A21C-D4ECC18CB037}"/>
              </a:ext>
            </a:extLst>
          </p:cNvPr>
          <p:cNvSpPr txBox="1">
            <a:spLocks/>
          </p:cNvSpPr>
          <p:nvPr/>
        </p:nvSpPr>
        <p:spPr>
          <a:xfrm>
            <a:off x="959058" y="4749541"/>
            <a:ext cx="10637950" cy="141397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000" b="1" dirty="0" smtClean="0">
                <a:solidFill>
                  <a:schemeClr val="accent4">
                    <a:lumMod val="75000"/>
                  </a:schemeClr>
                </a:solidFill>
              </a:rPr>
              <a:t>Neeraj Mishra </a:t>
            </a:r>
          </a:p>
          <a:p>
            <a:pPr marL="0" indent="0" algn="ctr">
              <a:lnSpc>
                <a:spcPct val="110000"/>
              </a:lnSpc>
              <a:spcBef>
                <a:spcPts val="0"/>
              </a:spcBef>
              <a:buNone/>
            </a:pPr>
            <a:r>
              <a:rPr lang="en-US" sz="1700" b="1" dirty="0" smtClean="0">
                <a:solidFill>
                  <a:schemeClr val="accent4">
                    <a:lumMod val="50000"/>
                  </a:schemeClr>
                </a:solidFill>
              </a:rPr>
              <a:t>Faculty Member </a:t>
            </a:r>
          </a:p>
          <a:p>
            <a:pPr marL="0" indent="0" algn="ctr">
              <a:lnSpc>
                <a:spcPct val="110000"/>
              </a:lnSpc>
              <a:spcBef>
                <a:spcPts val="0"/>
              </a:spcBef>
              <a:buNone/>
            </a:pPr>
            <a:r>
              <a:rPr lang="en-US" sz="1700" b="1" dirty="0" smtClean="0">
                <a:solidFill>
                  <a:schemeClr val="accent4">
                    <a:lumMod val="50000"/>
                  </a:schemeClr>
                </a:solidFill>
              </a:rPr>
              <a:t>EEE Department </a:t>
            </a:r>
          </a:p>
          <a:p>
            <a:pPr marL="0" indent="0" algn="ctr">
              <a:lnSpc>
                <a:spcPct val="110000"/>
              </a:lnSpc>
              <a:spcBef>
                <a:spcPts val="0"/>
              </a:spcBef>
              <a:buNone/>
            </a:pPr>
            <a:r>
              <a:rPr lang="en-US" sz="1700" b="1" dirty="0" smtClean="0">
                <a:solidFill>
                  <a:schemeClr val="accent4">
                    <a:lumMod val="50000"/>
                  </a:schemeClr>
                </a:solidFill>
              </a:rPr>
              <a:t>BITs </a:t>
            </a:r>
            <a:r>
              <a:rPr lang="en-US" sz="1700" b="1" dirty="0" err="1" smtClean="0">
                <a:solidFill>
                  <a:schemeClr val="accent4">
                    <a:lumMod val="50000"/>
                  </a:schemeClr>
                </a:solidFill>
              </a:rPr>
              <a:t>Pilani</a:t>
            </a:r>
            <a:r>
              <a:rPr lang="en-US" sz="1700" b="1" dirty="0" smtClean="0">
                <a:solidFill>
                  <a:schemeClr val="accent4">
                    <a:lumMod val="50000"/>
                  </a:schemeClr>
                </a:solidFill>
              </a:rPr>
              <a:t>, </a:t>
            </a:r>
            <a:r>
              <a:rPr lang="en-US" sz="1700" b="1" dirty="0" err="1" smtClean="0">
                <a:solidFill>
                  <a:schemeClr val="accent4">
                    <a:lumMod val="50000"/>
                  </a:schemeClr>
                </a:solidFill>
              </a:rPr>
              <a:t>Pilani</a:t>
            </a:r>
            <a:r>
              <a:rPr lang="en-US" sz="1700" b="1" dirty="0" smtClean="0">
                <a:solidFill>
                  <a:schemeClr val="accent4">
                    <a:lumMod val="50000"/>
                  </a:schemeClr>
                </a:solidFill>
              </a:rPr>
              <a:t> Campus</a:t>
            </a:r>
          </a:p>
          <a:p>
            <a:pPr marL="0" indent="0">
              <a:buNone/>
            </a:pPr>
            <a:endParaRPr lang="en-US" sz="3000" baseline="30000" dirty="0"/>
          </a:p>
        </p:txBody>
      </p:sp>
      <p:sp>
        <p:nvSpPr>
          <p:cNvPr id="9" name="Rectangle 8"/>
          <p:cNvSpPr/>
          <p:nvPr/>
        </p:nvSpPr>
        <p:spPr>
          <a:xfrm>
            <a:off x="2049090" y="1273492"/>
            <a:ext cx="8093819" cy="523220"/>
          </a:xfrm>
          <a:prstGeom prst="rect">
            <a:avLst/>
          </a:prstGeom>
        </p:spPr>
        <p:txBody>
          <a:bodyPr wrap="none">
            <a:spAutoFit/>
          </a:bodyPr>
          <a:lstStyle/>
          <a:p>
            <a:r>
              <a:rPr lang="en-US" sz="2800" b="1" dirty="0">
                <a:solidFill>
                  <a:schemeClr val="accent5">
                    <a:lumMod val="50000"/>
                  </a:schemeClr>
                </a:solidFill>
                <a:latin typeface="arial" panose="020B0604020202020204" pitchFamily="34" charset="0"/>
              </a:rPr>
              <a:t>W</a:t>
            </a:r>
            <a:r>
              <a:rPr lang="en-US" sz="2800" b="1" dirty="0" smtClean="0">
                <a:solidFill>
                  <a:schemeClr val="accent5">
                    <a:lumMod val="50000"/>
                  </a:schemeClr>
                </a:solidFill>
                <a:latin typeface="arial" panose="020B0604020202020204" pitchFamily="34" charset="0"/>
              </a:rPr>
              <a:t>orkshop  </a:t>
            </a:r>
            <a:r>
              <a:rPr lang="en-US" sz="2800" b="1" dirty="0">
                <a:solidFill>
                  <a:schemeClr val="accent5">
                    <a:lumMod val="50000"/>
                  </a:schemeClr>
                </a:solidFill>
                <a:latin typeface="arial" panose="020B0604020202020204" pitchFamily="34" charset="0"/>
              </a:rPr>
              <a:t>"Robust and Reliable VLSI Circuits</a:t>
            </a:r>
            <a:endParaRPr lang="en-US" sz="2800" b="1" dirty="0">
              <a:solidFill>
                <a:schemeClr val="accent5">
                  <a:lumMod val="50000"/>
                </a:schemeClr>
              </a:solidFill>
            </a:endParaRPr>
          </a:p>
        </p:txBody>
      </p:sp>
      <p:sp>
        <p:nvSpPr>
          <p:cNvPr id="10" name="Rectangle 9"/>
          <p:cNvSpPr/>
          <p:nvPr/>
        </p:nvSpPr>
        <p:spPr>
          <a:xfrm>
            <a:off x="4758937" y="2197603"/>
            <a:ext cx="2539862" cy="461665"/>
          </a:xfrm>
          <a:prstGeom prst="rect">
            <a:avLst/>
          </a:prstGeom>
        </p:spPr>
        <p:txBody>
          <a:bodyPr wrap="none">
            <a:spAutoFit/>
          </a:bodyPr>
          <a:lstStyle/>
          <a:p>
            <a:r>
              <a:rPr lang="en-US" sz="2400" dirty="0" smtClean="0">
                <a:solidFill>
                  <a:schemeClr val="accent5">
                    <a:lumMod val="50000"/>
                  </a:schemeClr>
                </a:solidFill>
                <a:latin typeface="arial" panose="020B0604020202020204" pitchFamily="34" charset="0"/>
              </a:rPr>
              <a:t>Presents Talk on </a:t>
            </a:r>
            <a:endParaRPr lang="en-US" sz="2400" dirty="0">
              <a:solidFill>
                <a:schemeClr val="accent5">
                  <a:lumMod val="50000"/>
                </a:schemeClr>
              </a:solidFill>
            </a:endParaRPr>
          </a:p>
        </p:txBody>
      </p:sp>
      <p:sp>
        <p:nvSpPr>
          <p:cNvPr id="11" name="Date Placeholder 10"/>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2" name="Footer Placeholder 11"/>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5569915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9427681" y="6370666"/>
            <a:ext cx="2514600" cy="365125"/>
          </a:xfrm>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a:xfrm>
            <a:off x="3338062" y="6370666"/>
            <a:ext cx="5358925" cy="365125"/>
          </a:xfrm>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Date Placeholder 5"/>
          <p:cNvSpPr>
            <a:spLocks noGrp="1"/>
          </p:cNvSpPr>
          <p:nvPr>
            <p:ph type="dt" sz="half" idx="2"/>
          </p:nvPr>
        </p:nvSpPr>
        <p:spPr>
          <a:xfrm>
            <a:off x="327702" y="6417376"/>
            <a:ext cx="2743200" cy="365125"/>
          </a:xfrm>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1" name="Rectangle 20">
            <a:extLst>
              <a:ext uri="{FF2B5EF4-FFF2-40B4-BE49-F238E27FC236}">
                <a16:creationId xmlns:a16="http://schemas.microsoft.com/office/drawing/2014/main" id="{7C22748E-041F-05D7-03A2-8BF437154DD7}"/>
              </a:ext>
            </a:extLst>
          </p:cNvPr>
          <p:cNvSpPr/>
          <p:nvPr/>
        </p:nvSpPr>
        <p:spPr>
          <a:xfrm>
            <a:off x="334369" y="1025144"/>
            <a:ext cx="11557767" cy="332643"/>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5EF86C9-C400-C66A-48A6-F88F73EF6FF2}"/>
              </a:ext>
            </a:extLst>
          </p:cNvPr>
          <p:cNvSpPr/>
          <p:nvPr/>
        </p:nvSpPr>
        <p:spPr>
          <a:xfrm>
            <a:off x="298869" y="5680377"/>
            <a:ext cx="11550643" cy="690289"/>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C22748E-041F-05D7-03A2-8BF437154DD7}"/>
              </a:ext>
            </a:extLst>
          </p:cNvPr>
          <p:cNvSpPr/>
          <p:nvPr/>
        </p:nvSpPr>
        <p:spPr>
          <a:xfrm>
            <a:off x="334368" y="523745"/>
            <a:ext cx="11557767" cy="332643"/>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13BACAB0-C661-BC42-9A7C-EF9E7B2CBB31}"/>
              </a:ext>
            </a:extLst>
          </p:cNvPr>
          <p:cNvSpPr/>
          <p:nvPr/>
        </p:nvSpPr>
        <p:spPr>
          <a:xfrm>
            <a:off x="279763" y="4659869"/>
            <a:ext cx="11550643" cy="873259"/>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DE7C132F-AFE1-7B7A-869C-E1C74AE3D045}"/>
              </a:ext>
            </a:extLst>
          </p:cNvPr>
          <p:cNvSpPr/>
          <p:nvPr/>
        </p:nvSpPr>
        <p:spPr>
          <a:xfrm>
            <a:off x="279765" y="3465953"/>
            <a:ext cx="11550641" cy="1071885"/>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F7986401-13A7-8E6B-CFFC-6B7EFA4C8E26}"/>
              </a:ext>
            </a:extLst>
          </p:cNvPr>
          <p:cNvSpPr/>
          <p:nvPr/>
        </p:nvSpPr>
        <p:spPr>
          <a:xfrm>
            <a:off x="298869" y="2279624"/>
            <a:ext cx="11593267" cy="1034475"/>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E9DBE212-C176-577B-A925-3989FE877BC6}"/>
              </a:ext>
            </a:extLst>
          </p:cNvPr>
          <p:cNvSpPr/>
          <p:nvPr/>
        </p:nvSpPr>
        <p:spPr>
          <a:xfrm>
            <a:off x="336178" y="1552851"/>
            <a:ext cx="11557771" cy="527159"/>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C71226CC-133F-4D45-373E-3EBCC5802165}"/>
              </a:ext>
            </a:extLst>
          </p:cNvPr>
          <p:cNvSpPr>
            <a:spLocks noChangeArrowheads="1"/>
          </p:cNvSpPr>
          <p:nvPr/>
        </p:nvSpPr>
        <p:spPr bwMode="auto">
          <a:xfrm>
            <a:off x="71457" y="2"/>
            <a:ext cx="2479928"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GB" sz="3200" b="1" dirty="0">
                <a:solidFill>
                  <a:srgbClr val="44546A"/>
                </a:solidFill>
                <a:cs typeface="Arial" pitchFamily="34" charset="0"/>
              </a:rPr>
              <a:t>Bio-Sketch</a:t>
            </a:r>
            <a:endParaRPr lang="en-US" sz="3200" b="1" dirty="0">
              <a:solidFill>
                <a:srgbClr val="44546A"/>
              </a:solidFill>
              <a:cs typeface="Arial" panose="020B0604020202020204" pitchFamily="34" charset="0"/>
            </a:endParaRPr>
          </a:p>
        </p:txBody>
      </p:sp>
      <p:sp>
        <p:nvSpPr>
          <p:cNvPr id="30" name="TextBox 29">
            <a:extLst>
              <a:ext uri="{FF2B5EF4-FFF2-40B4-BE49-F238E27FC236}">
                <a16:creationId xmlns:a16="http://schemas.microsoft.com/office/drawing/2014/main" id="{C8F7DA08-747A-E764-721F-63DE9B47F4A5}"/>
              </a:ext>
            </a:extLst>
          </p:cNvPr>
          <p:cNvSpPr txBox="1"/>
          <p:nvPr/>
        </p:nvSpPr>
        <p:spPr>
          <a:xfrm>
            <a:off x="0" y="495373"/>
            <a:ext cx="11892136" cy="5826210"/>
          </a:xfrm>
          <a:prstGeom prst="rect">
            <a:avLst/>
          </a:prstGeom>
          <a:noFill/>
        </p:spPr>
        <p:txBody>
          <a:bodyPr wrap="square" rtlCol="0">
            <a:spAutoFit/>
          </a:bodyPr>
          <a:lstStyle/>
          <a:p>
            <a:pPr marL="285744" indent="-285744">
              <a:buFont typeface="Wingdings" panose="05000000000000000000" pitchFamily="2" charset="2"/>
              <a:buChar char="q"/>
            </a:pPr>
            <a:r>
              <a:rPr lang="en-GB" sz="1620" b="1" u="sng" dirty="0">
                <a:solidFill>
                  <a:srgbClr val="00B050"/>
                </a:solidFill>
                <a:cs typeface="Arial" panose="020B0604020202020204" pitchFamily="34" charset="0"/>
              </a:rPr>
              <a:t>Name</a:t>
            </a:r>
            <a:r>
              <a:rPr lang="en-GB" sz="1620" dirty="0">
                <a:solidFill>
                  <a:prstClr val="black"/>
                </a:solidFill>
                <a:cs typeface="Arial" panose="020B0604020202020204" pitchFamily="34" charset="0"/>
              </a:rPr>
              <a:t>: Neeraj </a:t>
            </a:r>
            <a:r>
              <a:rPr lang="en-GB" sz="1620" dirty="0" smtClean="0">
                <a:solidFill>
                  <a:prstClr val="black"/>
                </a:solidFill>
                <a:cs typeface="Arial" panose="020B0604020202020204" pitchFamily="34" charset="0"/>
              </a:rPr>
              <a:t>Mishra</a:t>
            </a:r>
          </a:p>
          <a:p>
            <a:pPr marL="285744" indent="-285744">
              <a:buFont typeface="Wingdings" panose="05000000000000000000" pitchFamily="2" charset="2"/>
              <a:buChar char="q"/>
            </a:pPr>
            <a:endParaRPr lang="en-GB" sz="1620" dirty="0">
              <a:solidFill>
                <a:prstClr val="black"/>
              </a:solidFill>
              <a:cs typeface="Arial" panose="020B0604020202020204" pitchFamily="34" charset="0"/>
            </a:endParaRPr>
          </a:p>
          <a:p>
            <a:pPr marL="285744" indent="-285744">
              <a:buFont typeface="Wingdings" panose="05000000000000000000" pitchFamily="2" charset="2"/>
              <a:buChar char="q"/>
            </a:pPr>
            <a:r>
              <a:rPr lang="en-GB" sz="1620" b="1" u="sng" dirty="0" smtClean="0">
                <a:solidFill>
                  <a:srgbClr val="00B050"/>
                </a:solidFill>
                <a:cs typeface="Arial" panose="020B0604020202020204" pitchFamily="34" charset="0"/>
              </a:rPr>
              <a:t>Faculty Member</a:t>
            </a:r>
            <a:r>
              <a:rPr lang="en-GB" sz="1620" dirty="0" smtClean="0">
                <a:solidFill>
                  <a:prstClr val="black"/>
                </a:solidFill>
                <a:cs typeface="Arial" panose="020B0604020202020204" pitchFamily="34" charset="0"/>
              </a:rPr>
              <a:t>: EEE Department BITs </a:t>
            </a:r>
            <a:r>
              <a:rPr lang="en-GB" sz="1620" dirty="0" err="1" smtClean="0">
                <a:solidFill>
                  <a:prstClr val="black"/>
                </a:solidFill>
                <a:cs typeface="Arial" panose="020B0604020202020204" pitchFamily="34" charset="0"/>
              </a:rPr>
              <a:t>Pilani</a:t>
            </a:r>
            <a:r>
              <a:rPr lang="en-GB" sz="1620" dirty="0" smtClean="0">
                <a:solidFill>
                  <a:prstClr val="black"/>
                </a:solidFill>
                <a:cs typeface="Arial" panose="020B0604020202020204" pitchFamily="34" charset="0"/>
              </a:rPr>
              <a:t>, </a:t>
            </a:r>
            <a:r>
              <a:rPr lang="en-GB" sz="1620" dirty="0" err="1" smtClean="0">
                <a:solidFill>
                  <a:prstClr val="black"/>
                </a:solidFill>
                <a:cs typeface="Arial" panose="020B0604020202020204" pitchFamily="34" charset="0"/>
              </a:rPr>
              <a:t>Pilani</a:t>
            </a:r>
            <a:r>
              <a:rPr lang="en-GB" sz="1620" dirty="0" smtClean="0">
                <a:solidFill>
                  <a:prstClr val="black"/>
                </a:solidFill>
                <a:cs typeface="Arial" panose="020B0604020202020204" pitchFamily="34" charset="0"/>
              </a:rPr>
              <a:t> Campus. (04 Dec 2024-)</a:t>
            </a:r>
            <a:endParaRPr lang="en-GB" sz="1620" dirty="0">
              <a:solidFill>
                <a:prstClr val="black"/>
              </a:solidFill>
              <a:cs typeface="Arial" panose="020B0604020202020204" pitchFamily="34" charset="0"/>
            </a:endParaRPr>
          </a:p>
          <a:p>
            <a:pPr marL="285744" indent="-285744">
              <a:buFont typeface="Wingdings" panose="05000000000000000000" pitchFamily="2" charset="2"/>
              <a:buChar char="q"/>
            </a:pPr>
            <a:endParaRPr lang="en-GB" sz="1620" dirty="0">
              <a:solidFill>
                <a:prstClr val="black"/>
              </a:solidFill>
              <a:cs typeface="Arial" panose="020B0604020202020204" pitchFamily="34" charset="0"/>
            </a:endParaRPr>
          </a:p>
          <a:p>
            <a:pPr marL="285744" indent="-285744">
              <a:buFont typeface="Wingdings" panose="05000000000000000000" pitchFamily="2" charset="2"/>
              <a:buChar char="q"/>
            </a:pPr>
            <a:r>
              <a:rPr lang="en-GB" sz="1620" b="1" u="sng" dirty="0">
                <a:solidFill>
                  <a:srgbClr val="00B050"/>
                </a:solidFill>
                <a:cs typeface="Arial" panose="020B0604020202020204" pitchFamily="34" charset="0"/>
              </a:rPr>
              <a:t>Senior Researcher</a:t>
            </a:r>
            <a:r>
              <a:rPr lang="en-GB" sz="1620" dirty="0">
                <a:solidFill>
                  <a:prstClr val="black"/>
                </a:solidFill>
                <a:cs typeface="Arial" panose="020B0604020202020204" pitchFamily="34" charset="0"/>
              </a:rPr>
              <a:t>:  Analog Mixed Signal IC Designer focus on high speed CMOS Design at ID Lab of </a:t>
            </a:r>
            <a:r>
              <a:rPr lang="en-GB" sz="1620" dirty="0" err="1">
                <a:solidFill>
                  <a:prstClr val="black"/>
                </a:solidFill>
                <a:cs typeface="Arial" panose="020B0604020202020204" pitchFamily="34" charset="0"/>
              </a:rPr>
              <a:t>imec</a:t>
            </a:r>
            <a:r>
              <a:rPr lang="en-GB" sz="1620" dirty="0">
                <a:solidFill>
                  <a:prstClr val="black"/>
                </a:solidFill>
                <a:cs typeface="Arial" panose="020B0604020202020204" pitchFamily="34" charset="0"/>
              </a:rPr>
              <a:t> &amp; Ghent University Belgium (</a:t>
            </a:r>
            <a:r>
              <a:rPr lang="en-GB" sz="1620" dirty="0" smtClean="0">
                <a:solidFill>
                  <a:prstClr val="black"/>
                </a:solidFill>
                <a:cs typeface="Arial" panose="020B0604020202020204" pitchFamily="34" charset="0"/>
              </a:rPr>
              <a:t>1 April 2023-20 Nov 2024)</a:t>
            </a:r>
            <a:endParaRPr lang="en-GB" sz="1620" dirty="0">
              <a:solidFill>
                <a:prstClr val="black"/>
              </a:solidFill>
              <a:cs typeface="Arial" panose="020B0604020202020204" pitchFamily="34" charset="0"/>
            </a:endParaRPr>
          </a:p>
          <a:p>
            <a:pPr marL="285744" indent="-285744">
              <a:buFont typeface="Wingdings" panose="05000000000000000000" pitchFamily="2" charset="2"/>
              <a:buChar char="q"/>
            </a:pPr>
            <a:endParaRPr lang="en-GB" sz="1620" dirty="0">
              <a:solidFill>
                <a:prstClr val="black"/>
              </a:solidFill>
              <a:cs typeface="Arial" panose="020B0604020202020204" pitchFamily="34" charset="0"/>
            </a:endParaRPr>
          </a:p>
          <a:p>
            <a:pPr marL="285744" indent="-285744">
              <a:buFont typeface="Wingdings" panose="05000000000000000000" pitchFamily="2" charset="2"/>
              <a:buChar char="q"/>
            </a:pPr>
            <a:r>
              <a:rPr lang="en-IN" sz="1620" b="1" u="sng" dirty="0">
                <a:solidFill>
                  <a:srgbClr val="00B050"/>
                </a:solidFill>
                <a:cs typeface="Arial" panose="020B0604020202020204" pitchFamily="34" charset="0"/>
              </a:rPr>
              <a:t>Post-Doc</a:t>
            </a:r>
            <a:r>
              <a:rPr lang="en-IN" sz="1620" dirty="0">
                <a:solidFill>
                  <a:prstClr val="black"/>
                </a:solidFill>
                <a:cs typeface="Arial" panose="020B0604020202020204" pitchFamily="34" charset="0"/>
              </a:rPr>
              <a:t>: ADVISE Group, ESAT Department, </a:t>
            </a:r>
            <a:r>
              <a:rPr lang="en-IN" sz="1620" b="1" dirty="0">
                <a:solidFill>
                  <a:prstClr val="black"/>
                </a:solidFill>
                <a:cs typeface="Arial" panose="020B0604020202020204" pitchFamily="34" charset="0"/>
              </a:rPr>
              <a:t>KU Leuven </a:t>
            </a:r>
            <a:r>
              <a:rPr lang="en-IN" sz="1620" dirty="0">
                <a:solidFill>
                  <a:prstClr val="black"/>
                </a:solidFill>
                <a:cs typeface="Arial" panose="020B0604020202020204" pitchFamily="34" charset="0"/>
              </a:rPr>
              <a:t>( Nov 2021-Nov 2022). </a:t>
            </a:r>
            <a:r>
              <a:rPr lang="en-IN" sz="1620" b="1" dirty="0">
                <a:solidFill>
                  <a:prstClr val="black"/>
                </a:solidFill>
                <a:cs typeface="Arial" panose="020B0604020202020204" pitchFamily="34" charset="0"/>
              </a:rPr>
              <a:t>(</a:t>
            </a:r>
            <a:r>
              <a:rPr lang="en-IN" sz="1620" b="1" dirty="0">
                <a:solidFill>
                  <a:srgbClr val="70AD47">
                    <a:lumMod val="75000"/>
                  </a:srgbClr>
                </a:solidFill>
                <a:cs typeface="Arial" panose="020B0604020202020204" pitchFamily="34" charset="0"/>
              </a:rPr>
              <a:t>QS World = 76</a:t>
            </a:r>
            <a:r>
              <a:rPr lang="en-IN" sz="1620" b="1" baseline="30000" dirty="0">
                <a:solidFill>
                  <a:srgbClr val="70AD47">
                    <a:lumMod val="75000"/>
                  </a:srgbClr>
                </a:solidFill>
                <a:cs typeface="Arial" panose="020B0604020202020204" pitchFamily="34" charset="0"/>
              </a:rPr>
              <a:t>th </a:t>
            </a:r>
            <a:r>
              <a:rPr lang="en-IN" sz="1620" b="1" dirty="0">
                <a:solidFill>
                  <a:srgbClr val="70AD47">
                    <a:lumMod val="75000"/>
                  </a:srgbClr>
                </a:solidFill>
                <a:cs typeface="Arial" panose="020B0604020202020204" pitchFamily="34" charset="0"/>
              </a:rPr>
              <a:t>Rank, QS Electrical &amp; Electronics =39</a:t>
            </a:r>
            <a:r>
              <a:rPr lang="en-IN" sz="1620" b="1" baseline="30000" dirty="0">
                <a:solidFill>
                  <a:srgbClr val="70AD47">
                    <a:lumMod val="75000"/>
                  </a:srgbClr>
                </a:solidFill>
                <a:cs typeface="Arial" panose="020B0604020202020204" pitchFamily="34" charset="0"/>
              </a:rPr>
              <a:t>th</a:t>
            </a:r>
            <a:r>
              <a:rPr lang="en-IN" sz="1620" b="1" dirty="0">
                <a:solidFill>
                  <a:srgbClr val="70AD47">
                    <a:lumMod val="75000"/>
                  </a:srgbClr>
                </a:solidFill>
                <a:cs typeface="Arial" panose="020B0604020202020204" pitchFamily="34" charset="0"/>
              </a:rPr>
              <a:t> Rank</a:t>
            </a:r>
            <a:r>
              <a:rPr lang="en-IN" sz="1620" b="1" dirty="0">
                <a:solidFill>
                  <a:prstClr val="black"/>
                </a:solidFill>
                <a:cs typeface="Arial" panose="020B0604020202020204" pitchFamily="34" charset="0"/>
              </a:rPr>
              <a:t>).</a:t>
            </a:r>
          </a:p>
          <a:p>
            <a:r>
              <a:rPr lang="en-GB" sz="1620" dirty="0">
                <a:solidFill>
                  <a:prstClr val="black"/>
                </a:solidFill>
                <a:cs typeface="Arial" panose="020B0604020202020204" pitchFamily="34" charset="0"/>
              </a:rPr>
              <a:t>                      </a:t>
            </a:r>
            <a:r>
              <a:rPr lang="en-GB" sz="1620" b="1" dirty="0">
                <a:solidFill>
                  <a:prstClr val="black"/>
                </a:solidFill>
                <a:cs typeface="Arial" panose="020B0604020202020204" pitchFamily="34" charset="0"/>
              </a:rPr>
              <a:t>Research Topic</a:t>
            </a:r>
            <a:r>
              <a:rPr lang="en-GB" sz="1620" dirty="0">
                <a:solidFill>
                  <a:prstClr val="black"/>
                </a:solidFill>
                <a:cs typeface="Arial" panose="020B0604020202020204" pitchFamily="34" charset="0"/>
              </a:rPr>
              <a:t>: Radiation-hardened Time-to-Digital Conversion (RADTIME).</a:t>
            </a:r>
          </a:p>
          <a:p>
            <a:r>
              <a:rPr lang="en-IN" sz="1620" dirty="0">
                <a:solidFill>
                  <a:prstClr val="black"/>
                </a:solidFill>
                <a:cs typeface="Arial" panose="020B0604020202020204" pitchFamily="34" charset="0"/>
              </a:rPr>
              <a:t>                      </a:t>
            </a:r>
            <a:r>
              <a:rPr lang="en-IN" sz="1620" b="1" dirty="0">
                <a:solidFill>
                  <a:prstClr val="black"/>
                </a:solidFill>
                <a:cs typeface="Arial" panose="020B0604020202020204" pitchFamily="34" charset="0"/>
              </a:rPr>
              <a:t>Advisor</a:t>
            </a:r>
            <a:r>
              <a:rPr lang="en-IN" sz="1620" dirty="0">
                <a:solidFill>
                  <a:prstClr val="black"/>
                </a:solidFill>
                <a:cs typeface="Arial" panose="020B0604020202020204" pitchFamily="34" charset="0"/>
              </a:rPr>
              <a:t>: </a:t>
            </a:r>
            <a:r>
              <a:rPr lang="pt-BR" sz="1620" dirty="0">
                <a:solidFill>
                  <a:prstClr val="black"/>
                </a:solidFill>
                <a:cs typeface="Arial" panose="020B0604020202020204" pitchFamily="34" charset="0"/>
              </a:rPr>
              <a:t>Prof. dr. ir. Paul Leroux.</a:t>
            </a:r>
          </a:p>
          <a:p>
            <a:endParaRPr lang="en-IN" sz="1620" dirty="0">
              <a:solidFill>
                <a:prstClr val="black"/>
              </a:solidFill>
              <a:cs typeface="Arial" panose="020B0604020202020204" pitchFamily="34" charset="0"/>
            </a:endParaRPr>
          </a:p>
          <a:p>
            <a:pPr marL="285744" indent="-285744">
              <a:buFont typeface="Wingdings" panose="05000000000000000000" pitchFamily="2" charset="2"/>
              <a:buChar char="q"/>
            </a:pPr>
            <a:r>
              <a:rPr lang="en-IN" sz="1620" b="1" u="sng" dirty="0">
                <a:solidFill>
                  <a:srgbClr val="00B050"/>
                </a:solidFill>
                <a:cs typeface="Arial" panose="020B0604020202020204" pitchFamily="34" charset="0"/>
              </a:rPr>
              <a:t>PhD</a:t>
            </a:r>
            <a:r>
              <a:rPr lang="en-IN" sz="1620" b="1" u="sng" dirty="0">
                <a:solidFill>
                  <a:prstClr val="black"/>
                </a:solidFill>
                <a:cs typeface="Arial" panose="020B0604020202020204" pitchFamily="34" charset="0"/>
              </a:rPr>
              <a:t> </a:t>
            </a:r>
            <a:r>
              <a:rPr lang="en-IN" sz="1620" dirty="0">
                <a:solidFill>
                  <a:prstClr val="black"/>
                </a:solidFill>
                <a:cs typeface="Arial" panose="020B0604020202020204" pitchFamily="34" charset="0"/>
              </a:rPr>
              <a:t>:        </a:t>
            </a:r>
            <a:r>
              <a:rPr lang="en-IN" sz="1620" b="1" dirty="0">
                <a:solidFill>
                  <a:prstClr val="black"/>
                </a:solidFill>
                <a:cs typeface="Arial" panose="020B0604020202020204" pitchFamily="34" charset="0"/>
              </a:rPr>
              <a:t>IIT Roorkee </a:t>
            </a:r>
            <a:r>
              <a:rPr lang="en-IN" sz="1620" dirty="0">
                <a:solidFill>
                  <a:prstClr val="black"/>
                </a:solidFill>
                <a:cs typeface="Arial" panose="020B0604020202020204" pitchFamily="34" charset="0"/>
              </a:rPr>
              <a:t>(</a:t>
            </a:r>
            <a:r>
              <a:rPr lang="en-GB" sz="1620" dirty="0">
                <a:solidFill>
                  <a:prstClr val="black"/>
                </a:solidFill>
                <a:cs typeface="Arial" panose="020B0604020202020204" pitchFamily="34" charset="0"/>
              </a:rPr>
              <a:t>Visvesvaraya PhD Scheme for Electronics &amp; IT) (2015-2021).</a:t>
            </a:r>
            <a:r>
              <a:rPr lang="en-IN" sz="1620" dirty="0">
                <a:solidFill>
                  <a:prstClr val="black"/>
                </a:solidFill>
                <a:cs typeface="Arial" panose="020B0604020202020204" pitchFamily="34" charset="0"/>
              </a:rPr>
              <a:t> </a:t>
            </a:r>
            <a:r>
              <a:rPr lang="en-IN" sz="1620" b="1" dirty="0">
                <a:solidFill>
                  <a:prstClr val="black"/>
                </a:solidFill>
                <a:cs typeface="Arial" panose="020B0604020202020204" pitchFamily="34" charset="0"/>
              </a:rPr>
              <a:t>(</a:t>
            </a:r>
            <a:r>
              <a:rPr lang="en-IN" sz="1620" b="1" dirty="0">
                <a:solidFill>
                  <a:srgbClr val="70AD47">
                    <a:lumMod val="75000"/>
                  </a:srgbClr>
                </a:solidFill>
                <a:cs typeface="Arial" panose="020B0604020202020204" pitchFamily="34" charset="0"/>
              </a:rPr>
              <a:t>QS World = 369</a:t>
            </a:r>
            <a:r>
              <a:rPr lang="en-IN" sz="1620" b="1" baseline="30000" dirty="0">
                <a:solidFill>
                  <a:srgbClr val="70AD47">
                    <a:lumMod val="75000"/>
                  </a:srgbClr>
                </a:solidFill>
                <a:cs typeface="Arial" panose="020B0604020202020204" pitchFamily="34" charset="0"/>
              </a:rPr>
              <a:t>th </a:t>
            </a:r>
            <a:r>
              <a:rPr lang="en-IN" sz="1620" b="1" dirty="0">
                <a:solidFill>
                  <a:srgbClr val="70AD47">
                    <a:lumMod val="75000"/>
                  </a:srgbClr>
                </a:solidFill>
                <a:cs typeface="Arial" panose="020B0604020202020204" pitchFamily="34" charset="0"/>
              </a:rPr>
              <a:t>Rank,  QS     Electrical &amp; Electronics = (150-200)</a:t>
            </a:r>
            <a:r>
              <a:rPr lang="en-IN" sz="1620" b="1" baseline="30000" dirty="0" err="1">
                <a:solidFill>
                  <a:srgbClr val="70AD47">
                    <a:lumMod val="75000"/>
                  </a:srgbClr>
                </a:solidFill>
                <a:cs typeface="Arial" panose="020B0604020202020204" pitchFamily="34" charset="0"/>
              </a:rPr>
              <a:t>th</a:t>
            </a:r>
            <a:r>
              <a:rPr lang="en-IN" sz="1620" b="1" dirty="0">
                <a:solidFill>
                  <a:srgbClr val="70AD47">
                    <a:lumMod val="75000"/>
                  </a:srgbClr>
                </a:solidFill>
                <a:cs typeface="Arial" panose="020B0604020202020204" pitchFamily="34" charset="0"/>
              </a:rPr>
              <a:t> Rank</a:t>
            </a:r>
            <a:r>
              <a:rPr lang="en-IN" sz="1620" b="1" dirty="0">
                <a:solidFill>
                  <a:prstClr val="black"/>
                </a:solidFill>
                <a:cs typeface="Arial" panose="020B0604020202020204" pitchFamily="34" charset="0"/>
              </a:rPr>
              <a:t>)</a:t>
            </a:r>
            <a:endParaRPr lang="en-GB" sz="1620" b="1" dirty="0">
              <a:solidFill>
                <a:prstClr val="black"/>
              </a:solidFill>
              <a:cs typeface="Arial" panose="020B0604020202020204" pitchFamily="34" charset="0"/>
            </a:endParaRPr>
          </a:p>
          <a:p>
            <a:r>
              <a:rPr lang="en-GB" sz="1620" dirty="0">
                <a:solidFill>
                  <a:prstClr val="black"/>
                </a:solidFill>
                <a:cs typeface="Arial" panose="020B0604020202020204" pitchFamily="34" charset="0"/>
              </a:rPr>
              <a:t>                     </a:t>
            </a:r>
            <a:r>
              <a:rPr lang="en-GB" sz="1620" b="1" dirty="0">
                <a:solidFill>
                  <a:prstClr val="black"/>
                </a:solidFill>
                <a:cs typeface="Arial" panose="020B0604020202020204" pitchFamily="34" charset="0"/>
              </a:rPr>
              <a:t>Research Topic</a:t>
            </a:r>
            <a:r>
              <a:rPr lang="en-GB" sz="1620" dirty="0">
                <a:solidFill>
                  <a:prstClr val="black"/>
                </a:solidFill>
                <a:cs typeface="Arial" panose="020B0604020202020204" pitchFamily="34" charset="0"/>
              </a:rPr>
              <a:t>: High-Performance Ring Oscillator Using Separately Driven Inputs.</a:t>
            </a:r>
          </a:p>
          <a:p>
            <a:r>
              <a:rPr lang="en-IN" sz="1620" dirty="0">
                <a:solidFill>
                  <a:prstClr val="black"/>
                </a:solidFill>
                <a:cs typeface="Arial" panose="020B0604020202020204" pitchFamily="34" charset="0"/>
              </a:rPr>
              <a:t>                     </a:t>
            </a:r>
            <a:r>
              <a:rPr lang="en-IN" sz="1620" b="1" dirty="0">
                <a:solidFill>
                  <a:prstClr val="black"/>
                </a:solidFill>
                <a:cs typeface="Arial" panose="020B0604020202020204" pitchFamily="34" charset="0"/>
              </a:rPr>
              <a:t>Advisor</a:t>
            </a:r>
            <a:r>
              <a:rPr lang="en-IN" sz="1620" dirty="0">
                <a:solidFill>
                  <a:prstClr val="black"/>
                </a:solidFill>
                <a:cs typeface="Arial" panose="020B0604020202020204" pitchFamily="34" charset="0"/>
              </a:rPr>
              <a:t>: Prof. Anand </a:t>
            </a:r>
            <a:r>
              <a:rPr lang="en-IN" sz="1620" dirty="0" err="1">
                <a:solidFill>
                  <a:prstClr val="black"/>
                </a:solidFill>
                <a:cs typeface="Arial" panose="020B0604020202020204" pitchFamily="34" charset="0"/>
              </a:rPr>
              <a:t>Bulusu</a:t>
            </a:r>
            <a:r>
              <a:rPr lang="en-IN" sz="1620" dirty="0">
                <a:solidFill>
                  <a:prstClr val="black"/>
                </a:solidFill>
                <a:cs typeface="Arial" panose="020B0604020202020204" pitchFamily="34" charset="0"/>
              </a:rPr>
              <a:t>.</a:t>
            </a:r>
          </a:p>
          <a:p>
            <a:endParaRPr lang="en-IN" sz="1620" dirty="0">
              <a:solidFill>
                <a:prstClr val="black"/>
              </a:solidFill>
              <a:cs typeface="Arial" panose="020B0604020202020204" pitchFamily="34" charset="0"/>
            </a:endParaRPr>
          </a:p>
          <a:p>
            <a:pPr marL="285744" indent="-285744">
              <a:buFont typeface="Wingdings" panose="05000000000000000000" pitchFamily="2" charset="2"/>
              <a:buChar char="q"/>
            </a:pPr>
            <a:r>
              <a:rPr lang="en-GB" sz="1620" b="1" u="sng" dirty="0">
                <a:solidFill>
                  <a:srgbClr val="00B050"/>
                </a:solidFill>
                <a:cs typeface="Arial" panose="020B0604020202020204" pitchFamily="34" charset="0"/>
              </a:rPr>
              <a:t>M Tech </a:t>
            </a:r>
            <a:r>
              <a:rPr lang="en-GB" sz="1620" dirty="0">
                <a:solidFill>
                  <a:prstClr val="black"/>
                </a:solidFill>
                <a:cs typeface="Arial" panose="020B0604020202020204" pitchFamily="34" charset="0"/>
              </a:rPr>
              <a:t>:   </a:t>
            </a:r>
            <a:r>
              <a:rPr lang="en-GB" sz="1620" b="1" dirty="0">
                <a:solidFill>
                  <a:prstClr val="black"/>
                </a:solidFill>
                <a:cs typeface="Arial" panose="020B0604020202020204" pitchFamily="34" charset="0"/>
              </a:rPr>
              <a:t>IIT Roorkee </a:t>
            </a:r>
            <a:r>
              <a:rPr lang="en-GB" sz="1620" dirty="0">
                <a:solidFill>
                  <a:prstClr val="black"/>
                </a:solidFill>
                <a:cs typeface="Arial" panose="020B0604020202020204" pitchFamily="34" charset="0"/>
              </a:rPr>
              <a:t>(2013-2015). (</a:t>
            </a:r>
            <a:r>
              <a:rPr lang="en-GB" sz="1620" b="1" dirty="0">
                <a:solidFill>
                  <a:srgbClr val="70AD47">
                    <a:lumMod val="75000"/>
                  </a:srgbClr>
                </a:solidFill>
                <a:cs typeface="Arial" panose="020B0604020202020204" pitchFamily="34" charset="0"/>
              </a:rPr>
              <a:t>Gate Rank 346 in ECE</a:t>
            </a:r>
            <a:r>
              <a:rPr lang="en-GB" sz="1620" dirty="0">
                <a:solidFill>
                  <a:prstClr val="black"/>
                </a:solidFill>
                <a:cs typeface="Arial" panose="020B0604020202020204" pitchFamily="34" charset="0"/>
              </a:rPr>
              <a:t>)</a:t>
            </a:r>
          </a:p>
          <a:p>
            <a:r>
              <a:rPr lang="en-GB" sz="1620" dirty="0">
                <a:solidFill>
                  <a:prstClr val="black"/>
                </a:solidFill>
                <a:cs typeface="Arial" panose="020B0604020202020204" pitchFamily="34" charset="0"/>
              </a:rPr>
              <a:t>                      </a:t>
            </a:r>
            <a:r>
              <a:rPr lang="en-GB" sz="1620" b="1" dirty="0">
                <a:solidFill>
                  <a:prstClr val="black"/>
                </a:solidFill>
                <a:cs typeface="Arial" panose="020B0604020202020204" pitchFamily="34" charset="0"/>
              </a:rPr>
              <a:t>Research Topic</a:t>
            </a:r>
            <a:r>
              <a:rPr lang="en-GB" sz="1620" dirty="0">
                <a:solidFill>
                  <a:prstClr val="black"/>
                </a:solidFill>
                <a:cs typeface="Arial" panose="020B0604020202020204" pitchFamily="34" charset="0"/>
              </a:rPr>
              <a:t>: Mechanical Stress aware design and layout of basic Analog building blocks.</a:t>
            </a:r>
          </a:p>
          <a:p>
            <a:r>
              <a:rPr lang="en-IN" sz="1620" dirty="0">
                <a:solidFill>
                  <a:prstClr val="black"/>
                </a:solidFill>
                <a:cs typeface="Arial" panose="020B0604020202020204" pitchFamily="34" charset="0"/>
              </a:rPr>
              <a:t>                      </a:t>
            </a:r>
            <a:r>
              <a:rPr lang="en-IN" sz="1620" b="1" dirty="0">
                <a:solidFill>
                  <a:prstClr val="black"/>
                </a:solidFill>
                <a:cs typeface="Arial" panose="020B0604020202020204" pitchFamily="34" charset="0"/>
              </a:rPr>
              <a:t>Advisor</a:t>
            </a:r>
            <a:r>
              <a:rPr lang="en-IN" sz="1620" dirty="0">
                <a:solidFill>
                  <a:prstClr val="black"/>
                </a:solidFill>
                <a:cs typeface="Arial" panose="020B0604020202020204" pitchFamily="34" charset="0"/>
              </a:rPr>
              <a:t>: Prof. Anand </a:t>
            </a:r>
            <a:r>
              <a:rPr lang="en-IN" sz="1620" dirty="0" err="1">
                <a:solidFill>
                  <a:prstClr val="black"/>
                </a:solidFill>
                <a:cs typeface="Arial" panose="020B0604020202020204" pitchFamily="34" charset="0"/>
              </a:rPr>
              <a:t>Bulusu</a:t>
            </a:r>
            <a:r>
              <a:rPr lang="en-IN" sz="1620" dirty="0">
                <a:solidFill>
                  <a:prstClr val="black"/>
                </a:solidFill>
                <a:cs typeface="Arial" panose="020B0604020202020204" pitchFamily="34" charset="0"/>
              </a:rPr>
              <a:t>.</a:t>
            </a:r>
          </a:p>
          <a:p>
            <a:endParaRPr lang="en-GB" sz="1620" dirty="0">
              <a:solidFill>
                <a:prstClr val="black"/>
              </a:solidFill>
              <a:cs typeface="Arial" panose="020B0604020202020204" pitchFamily="34" charset="0"/>
            </a:endParaRPr>
          </a:p>
          <a:p>
            <a:pPr marL="285744" indent="-285744">
              <a:buFont typeface="Wingdings" panose="05000000000000000000" pitchFamily="2" charset="2"/>
              <a:buChar char="q"/>
            </a:pPr>
            <a:r>
              <a:rPr lang="en-GB" sz="1620" b="1" u="sng" dirty="0">
                <a:solidFill>
                  <a:srgbClr val="00B050"/>
                </a:solidFill>
                <a:cs typeface="Arial" panose="020B0604020202020204" pitchFamily="34" charset="0"/>
              </a:rPr>
              <a:t>Job </a:t>
            </a:r>
            <a:r>
              <a:rPr lang="en-GB" sz="1620" b="1" dirty="0">
                <a:solidFill>
                  <a:srgbClr val="00B050"/>
                </a:solidFill>
                <a:cs typeface="Arial" panose="020B0604020202020204" pitchFamily="34" charset="0"/>
              </a:rPr>
              <a:t>: (a) </a:t>
            </a:r>
            <a:r>
              <a:rPr lang="en-GB" sz="1620" dirty="0">
                <a:solidFill>
                  <a:prstClr val="black"/>
                </a:solidFill>
                <a:cs typeface="Arial" panose="020B0604020202020204" pitchFamily="34" charset="0"/>
              </a:rPr>
              <a:t>Engineer in </a:t>
            </a:r>
            <a:r>
              <a:rPr lang="en-GB" sz="1620" b="1" dirty="0">
                <a:solidFill>
                  <a:srgbClr val="70AD47">
                    <a:lumMod val="75000"/>
                  </a:srgbClr>
                </a:solidFill>
                <a:cs typeface="Arial" panose="020B0604020202020204" pitchFamily="34" charset="0"/>
              </a:rPr>
              <a:t>Alcatel and Lucent Managed Solution Limited</a:t>
            </a:r>
            <a:r>
              <a:rPr lang="en-GB" sz="1620" dirty="0">
                <a:solidFill>
                  <a:prstClr val="black"/>
                </a:solidFill>
                <a:cs typeface="Arial" panose="020B0604020202020204" pitchFamily="34" charset="0"/>
              </a:rPr>
              <a:t>. (March 10 - May 13).</a:t>
            </a:r>
          </a:p>
          <a:p>
            <a:r>
              <a:rPr lang="en-GB" sz="1620" b="1" dirty="0">
                <a:solidFill>
                  <a:srgbClr val="00B050"/>
                </a:solidFill>
                <a:cs typeface="Arial" panose="020B0604020202020204" pitchFamily="34" charset="0"/>
              </a:rPr>
              <a:t>               (b) </a:t>
            </a:r>
            <a:r>
              <a:rPr lang="en-GB" sz="1620" dirty="0">
                <a:solidFill>
                  <a:prstClr val="black"/>
                </a:solidFill>
                <a:cs typeface="Arial" panose="020B0604020202020204" pitchFamily="34" charset="0"/>
              </a:rPr>
              <a:t>Engineer in </a:t>
            </a:r>
            <a:r>
              <a:rPr lang="en-GB" sz="1620" b="1" dirty="0" err="1">
                <a:solidFill>
                  <a:srgbClr val="70AD47">
                    <a:lumMod val="75000"/>
                  </a:srgbClr>
                </a:solidFill>
                <a:cs typeface="Arial" panose="020B0604020202020204" pitchFamily="34" charset="0"/>
              </a:rPr>
              <a:t>Railtel</a:t>
            </a:r>
            <a:r>
              <a:rPr lang="en-GB" sz="1620" b="1" dirty="0">
                <a:solidFill>
                  <a:srgbClr val="70AD47">
                    <a:lumMod val="75000"/>
                  </a:srgbClr>
                </a:solidFill>
                <a:cs typeface="Arial" panose="020B0604020202020204" pitchFamily="34" charset="0"/>
              </a:rPr>
              <a:t> Corporation of India Limited </a:t>
            </a:r>
            <a:r>
              <a:rPr lang="en-GB" sz="1620" dirty="0">
                <a:solidFill>
                  <a:prstClr val="black"/>
                </a:solidFill>
                <a:cs typeface="Arial" panose="020B0604020202020204" pitchFamily="34" charset="0"/>
              </a:rPr>
              <a:t>(PSU Under Ministry of Railways). (June 08 - Feb 10).</a:t>
            </a:r>
          </a:p>
        </p:txBody>
      </p:sp>
    </p:spTree>
    <p:extLst>
      <p:ext uri="{BB962C8B-B14F-4D97-AF65-F5344CB8AC3E}">
        <p14:creationId xmlns:p14="http://schemas.microsoft.com/office/powerpoint/2010/main" val="17463969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Areas Covered in this Talk</a:t>
            </a:r>
            <a:endParaRPr lang="en-US" dirty="0"/>
          </a:p>
        </p:txBody>
      </p:sp>
      <p:sp>
        <p:nvSpPr>
          <p:cNvPr id="3" name="Text Placeholder 2"/>
          <p:cNvSpPr>
            <a:spLocks noGrp="1"/>
          </p:cNvSpPr>
          <p:nvPr>
            <p:ph type="body" sz="quarter" idx="13"/>
          </p:nvPr>
        </p:nvSpPr>
        <p:spPr/>
        <p:txBody>
          <a:bodyPr>
            <a:normAutofit/>
          </a:bodyPr>
          <a:lstStyle/>
          <a:p>
            <a:pPr marL="514350" indent="-514350">
              <a:buAutoNum type="arabicPeriod"/>
            </a:pPr>
            <a:r>
              <a:rPr lang="en-US" b="1" dirty="0" smtClean="0"/>
              <a:t>Motivation</a:t>
            </a:r>
          </a:p>
          <a:p>
            <a:pPr marL="514350" indent="-514350">
              <a:buAutoNum type="arabicPeriod"/>
            </a:pPr>
            <a:r>
              <a:rPr lang="en-US" b="1" dirty="0" smtClean="0"/>
              <a:t> </a:t>
            </a:r>
            <a:r>
              <a:rPr lang="en-US" b="1" dirty="0"/>
              <a:t>Importance of Wireline/Optical </a:t>
            </a:r>
            <a:r>
              <a:rPr lang="en-US" b="1" dirty="0" smtClean="0"/>
              <a:t>Links</a:t>
            </a:r>
          </a:p>
          <a:p>
            <a:pPr marL="514350" indent="-514350">
              <a:buAutoNum type="arabicPeriod"/>
            </a:pPr>
            <a:r>
              <a:rPr lang="en-US" b="1" dirty="0" smtClean="0"/>
              <a:t>Wireline </a:t>
            </a:r>
            <a:r>
              <a:rPr lang="en-US" b="1" dirty="0"/>
              <a:t>Link </a:t>
            </a:r>
            <a:r>
              <a:rPr lang="en-US" b="1" dirty="0" smtClean="0"/>
              <a:t>Fundamentals</a:t>
            </a:r>
            <a:endParaRPr lang="en-US" dirty="0" smtClean="0"/>
          </a:p>
          <a:p>
            <a:pPr marL="514350" indent="-514350">
              <a:buAutoNum type="arabicPeriod"/>
            </a:pPr>
            <a:r>
              <a:rPr lang="en-US" b="1" dirty="0" smtClean="0"/>
              <a:t>Role </a:t>
            </a:r>
            <a:r>
              <a:rPr lang="en-US" b="1" dirty="0"/>
              <a:t>of Equalizers in Wireline/Optical </a:t>
            </a:r>
            <a:r>
              <a:rPr lang="en-US" b="1" dirty="0" smtClean="0"/>
              <a:t>Links</a:t>
            </a:r>
            <a:endParaRPr lang="en-US" dirty="0" smtClean="0"/>
          </a:p>
          <a:p>
            <a:pPr marL="514350" indent="-514350">
              <a:buAutoNum type="arabicPeriod"/>
            </a:pPr>
            <a:r>
              <a:rPr lang="en-US" b="1" dirty="0" smtClean="0"/>
              <a:t>Optical </a:t>
            </a:r>
            <a:r>
              <a:rPr lang="en-US" b="1" dirty="0"/>
              <a:t>Transceiver </a:t>
            </a:r>
            <a:r>
              <a:rPr lang="en-US" b="1" dirty="0" smtClean="0"/>
              <a:t>Basics</a:t>
            </a:r>
            <a:endParaRPr lang="en-US" dirty="0" smtClean="0"/>
          </a:p>
          <a:p>
            <a:pPr marL="514350" indent="-514350">
              <a:buAutoNum type="arabicPeriod"/>
            </a:pPr>
            <a:r>
              <a:rPr lang="en-US" b="1" dirty="0" smtClean="0"/>
              <a:t>Criticality </a:t>
            </a:r>
            <a:r>
              <a:rPr lang="en-US" b="1" dirty="0"/>
              <a:t>of Optical Receiver </a:t>
            </a:r>
            <a:r>
              <a:rPr lang="en-US" b="1" dirty="0" smtClean="0"/>
              <a:t>Design</a:t>
            </a:r>
            <a:endParaRPr lang="en-US" dirty="0" smtClean="0"/>
          </a:p>
          <a:p>
            <a:pPr marL="514350" indent="-514350">
              <a:buAutoNum type="arabicPeriod"/>
            </a:pPr>
            <a:r>
              <a:rPr lang="en-US" b="1" dirty="0" smtClean="0"/>
              <a:t>Inverter-Based </a:t>
            </a:r>
            <a:r>
              <a:rPr lang="en-US" b="1" dirty="0"/>
              <a:t>Design for Bandwidth &amp; </a:t>
            </a:r>
            <a:r>
              <a:rPr lang="en-US" b="1" dirty="0" smtClean="0"/>
              <a:t>Gain</a:t>
            </a:r>
            <a:endParaRPr lang="en-US" dirty="0" smtClean="0"/>
          </a:p>
          <a:p>
            <a:pPr marL="514350" indent="-514350">
              <a:buAutoNum type="arabicPeriod"/>
            </a:pPr>
            <a:r>
              <a:rPr lang="en-US" b="1" dirty="0" smtClean="0"/>
              <a:t>Conclusion</a:t>
            </a:r>
            <a:endParaRPr lang="en-US" dirty="0"/>
          </a:p>
        </p:txBody>
      </p:sp>
      <p:sp>
        <p:nvSpPr>
          <p:cNvPr id="4" name="Slide Number Placeholder 3"/>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Date Placeholder 5"/>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6137559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C9640-5C72-496F-B0A8-6B95CE91413D}"/>
              </a:ext>
            </a:extLst>
          </p:cNvPr>
          <p:cNvSpPr>
            <a:spLocks noGrp="1"/>
          </p:cNvSpPr>
          <p:nvPr>
            <p:ph type="title"/>
          </p:nvPr>
        </p:nvSpPr>
        <p:spPr/>
        <p:txBody>
          <a:bodyPr/>
          <a:lstStyle/>
          <a:p>
            <a:r>
              <a:rPr lang="en-US" dirty="0"/>
              <a:t>Motivation</a:t>
            </a:r>
          </a:p>
        </p:txBody>
      </p:sp>
      <p:sp>
        <p:nvSpPr>
          <p:cNvPr id="3" name="Text Placeholder 2">
            <a:extLst>
              <a:ext uri="{FF2B5EF4-FFF2-40B4-BE49-F238E27FC236}">
                <a16:creationId xmlns:a16="http://schemas.microsoft.com/office/drawing/2014/main" id="{7F3C80CB-87D5-4B78-A2BA-4BAF737BA63B}"/>
              </a:ext>
            </a:extLst>
          </p:cNvPr>
          <p:cNvSpPr>
            <a:spLocks noGrp="1"/>
          </p:cNvSpPr>
          <p:nvPr>
            <p:ph type="body" sz="quarter" idx="13"/>
          </p:nvPr>
        </p:nvSpPr>
        <p:spPr>
          <a:xfrm>
            <a:off x="609600" y="1333566"/>
            <a:ext cx="11252200" cy="4961217"/>
          </a:xfrm>
        </p:spPr>
        <p:txBody>
          <a:bodyPr>
            <a:noAutofit/>
          </a:bodyPr>
          <a:lstStyle/>
          <a:p>
            <a:r>
              <a:rPr lang="en-US" sz="2800" dirty="0"/>
              <a:t>Next-generation datacenter communication links require:</a:t>
            </a:r>
          </a:p>
          <a:p>
            <a:pPr marL="0" indent="0">
              <a:buNone/>
            </a:pPr>
            <a:endParaRPr lang="en-US" sz="2800" dirty="0"/>
          </a:p>
          <a:p>
            <a:pPr marL="0" indent="0">
              <a:buNone/>
            </a:pPr>
            <a:endParaRPr lang="en-US" sz="2800" dirty="0"/>
          </a:p>
          <a:p>
            <a:endParaRPr lang="en-US" sz="2800" dirty="0"/>
          </a:p>
          <a:p>
            <a:endParaRPr lang="en-US" sz="2800" dirty="0"/>
          </a:p>
          <a:p>
            <a:pPr marL="0" indent="0">
              <a:buNone/>
            </a:pPr>
            <a:endParaRPr lang="en-US" sz="2800" dirty="0"/>
          </a:p>
          <a:p>
            <a:endParaRPr lang="en-US" sz="2800" dirty="0"/>
          </a:p>
          <a:p>
            <a:endParaRPr lang="en-US" sz="2800" dirty="0"/>
          </a:p>
          <a:p>
            <a:r>
              <a:rPr lang="en-US" sz="2800" dirty="0"/>
              <a:t>100+ Gb/s optical links are in high demand for </a:t>
            </a:r>
            <a:r>
              <a:rPr lang="en-CA" sz="2800" b="1" dirty="0"/>
              <a:t>400G-DR4/FR4/LR4 </a:t>
            </a:r>
            <a:r>
              <a:rPr lang="en-CA" sz="2800" dirty="0"/>
              <a:t>and </a:t>
            </a:r>
            <a:r>
              <a:rPr lang="en-CA" sz="2800" b="1" dirty="0"/>
              <a:t>800G-DR8</a:t>
            </a:r>
            <a:r>
              <a:rPr lang="en-CA" sz="2800" dirty="0"/>
              <a:t> ethernet </a:t>
            </a:r>
            <a:r>
              <a:rPr lang="en-US" sz="2800" dirty="0"/>
              <a:t>applications</a:t>
            </a:r>
          </a:p>
          <a:p>
            <a:pPr marL="0" indent="0">
              <a:buNone/>
            </a:pPr>
            <a:endParaRPr lang="en-US" sz="2800" dirty="0"/>
          </a:p>
        </p:txBody>
      </p:sp>
      <p:pic>
        <p:nvPicPr>
          <p:cNvPr id="32" name="Graphic 31" descr="Arrow: Straight with solid fill">
            <a:extLst>
              <a:ext uri="{FF2B5EF4-FFF2-40B4-BE49-F238E27FC236}">
                <a16:creationId xmlns:a16="http://schemas.microsoft.com/office/drawing/2014/main" id="{D8BAE9C8-823A-5D4F-ACFE-C407AD57C2DC}"/>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flipH="1">
            <a:off x="3900501" y="3125682"/>
            <a:ext cx="2679512" cy="983643"/>
          </a:xfrm>
          <a:prstGeom prst="rect">
            <a:avLst/>
          </a:prstGeom>
        </p:spPr>
      </p:pic>
      <p:grpSp>
        <p:nvGrpSpPr>
          <p:cNvPr id="34" name="Group 33">
            <a:extLst>
              <a:ext uri="{FF2B5EF4-FFF2-40B4-BE49-F238E27FC236}">
                <a16:creationId xmlns:a16="http://schemas.microsoft.com/office/drawing/2014/main" id="{B7239D12-949C-BA44-B6E8-47EC05688F37}"/>
              </a:ext>
            </a:extLst>
          </p:cNvPr>
          <p:cNvGrpSpPr/>
          <p:nvPr/>
        </p:nvGrpSpPr>
        <p:grpSpPr>
          <a:xfrm>
            <a:off x="1334941" y="1750912"/>
            <a:ext cx="3701821" cy="3740652"/>
            <a:chOff x="177356" y="832169"/>
            <a:chExt cx="3720049" cy="3759071"/>
          </a:xfrm>
        </p:grpSpPr>
        <p:grpSp>
          <p:nvGrpSpPr>
            <p:cNvPr id="36" name="Group 35">
              <a:extLst>
                <a:ext uri="{FF2B5EF4-FFF2-40B4-BE49-F238E27FC236}">
                  <a16:creationId xmlns:a16="http://schemas.microsoft.com/office/drawing/2014/main" id="{440F7253-046B-164C-B636-ED5B57E71AFB}"/>
                </a:ext>
              </a:extLst>
            </p:cNvPr>
            <p:cNvGrpSpPr/>
            <p:nvPr/>
          </p:nvGrpSpPr>
          <p:grpSpPr>
            <a:xfrm>
              <a:off x="177356" y="832169"/>
              <a:ext cx="3720049" cy="3759071"/>
              <a:chOff x="5338746" y="813667"/>
              <a:chExt cx="3720049" cy="3759071"/>
            </a:xfrm>
          </p:grpSpPr>
          <p:sp>
            <p:nvSpPr>
              <p:cNvPr id="63" name="32-Point Star 62">
                <a:extLst>
                  <a:ext uri="{FF2B5EF4-FFF2-40B4-BE49-F238E27FC236}">
                    <a16:creationId xmlns:a16="http://schemas.microsoft.com/office/drawing/2014/main" id="{938E886B-FE7E-CD48-8329-9E1116705EC7}"/>
                  </a:ext>
                </a:extLst>
              </p:cNvPr>
              <p:cNvSpPr/>
              <p:nvPr/>
            </p:nvSpPr>
            <p:spPr>
              <a:xfrm>
                <a:off x="5338746" y="813667"/>
                <a:ext cx="3720049" cy="3759071"/>
              </a:xfrm>
              <a:prstGeom prst="star32">
                <a:avLst>
                  <a:gd name="adj" fmla="val 26219"/>
                </a:avLst>
              </a:prstGeom>
              <a:solidFill>
                <a:srgbClr val="FFEC9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sp>
            <p:nvSpPr>
              <p:cNvPr id="64" name="32-Point Star 63">
                <a:extLst>
                  <a:ext uri="{FF2B5EF4-FFF2-40B4-BE49-F238E27FC236}">
                    <a16:creationId xmlns:a16="http://schemas.microsoft.com/office/drawing/2014/main" id="{BF3044CD-1256-DE48-AF2C-84EA859DBB83}"/>
                  </a:ext>
                </a:extLst>
              </p:cNvPr>
              <p:cNvSpPr/>
              <p:nvPr/>
            </p:nvSpPr>
            <p:spPr>
              <a:xfrm>
                <a:off x="6055297" y="1546970"/>
                <a:ext cx="2286946" cy="2310936"/>
              </a:xfrm>
              <a:prstGeom prst="star32">
                <a:avLst>
                  <a:gd name="adj" fmla="val 32156"/>
                </a:avLst>
              </a:prstGeom>
              <a:solidFill>
                <a:srgbClr val="FFC73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sp>
            <p:nvSpPr>
              <p:cNvPr id="65" name="32-Point Star 64">
                <a:extLst>
                  <a:ext uri="{FF2B5EF4-FFF2-40B4-BE49-F238E27FC236}">
                    <a16:creationId xmlns:a16="http://schemas.microsoft.com/office/drawing/2014/main" id="{E8FCA7E1-0301-0541-9C04-F10C47F7A9FC}"/>
                  </a:ext>
                </a:extLst>
              </p:cNvPr>
              <p:cNvSpPr/>
              <p:nvPr/>
            </p:nvSpPr>
            <p:spPr>
              <a:xfrm>
                <a:off x="6493056" y="1983212"/>
                <a:ext cx="1405240" cy="1419980"/>
              </a:xfrm>
              <a:prstGeom prst="star32">
                <a:avLst>
                  <a:gd name="adj" fmla="val 31560"/>
                </a:avLst>
              </a:prstGeom>
              <a:solidFill>
                <a:srgbClr val="FF9A48"/>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grpSp>
        <p:grpSp>
          <p:nvGrpSpPr>
            <p:cNvPr id="37" name="Group 36">
              <a:extLst>
                <a:ext uri="{FF2B5EF4-FFF2-40B4-BE49-F238E27FC236}">
                  <a16:creationId xmlns:a16="http://schemas.microsoft.com/office/drawing/2014/main" id="{8EF6D2A9-1671-D248-AF00-6167D73831D6}"/>
                </a:ext>
              </a:extLst>
            </p:cNvPr>
            <p:cNvGrpSpPr/>
            <p:nvPr/>
          </p:nvGrpSpPr>
          <p:grpSpPr>
            <a:xfrm>
              <a:off x="1459414" y="1965128"/>
              <a:ext cx="1268951" cy="1304862"/>
              <a:chOff x="1440650" y="2006881"/>
              <a:chExt cx="1570730" cy="1615180"/>
            </a:xfrm>
            <a:solidFill>
              <a:srgbClr val="0D6A1A"/>
            </a:solidFill>
          </p:grpSpPr>
          <p:pic>
            <p:nvPicPr>
              <p:cNvPr id="60" name="Graphic 59" descr="Upload with solid fill">
                <a:extLst>
                  <a:ext uri="{FF2B5EF4-FFF2-40B4-BE49-F238E27FC236}">
                    <a16:creationId xmlns:a16="http://schemas.microsoft.com/office/drawing/2014/main" id="{C6D42A8E-1ACE-9F4E-B0F1-91112882602A}"/>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778350" y="2006881"/>
                <a:ext cx="914400" cy="914400"/>
              </a:xfrm>
              <a:prstGeom prst="rect">
                <a:avLst/>
              </a:prstGeom>
            </p:spPr>
          </p:pic>
          <p:pic>
            <p:nvPicPr>
              <p:cNvPr id="61" name="Graphic 60" descr="Server with solid fill">
                <a:extLst>
                  <a:ext uri="{FF2B5EF4-FFF2-40B4-BE49-F238E27FC236}">
                    <a16:creationId xmlns:a16="http://schemas.microsoft.com/office/drawing/2014/main" id="{03027393-F31C-AD47-A783-9ACAD3B2D167}"/>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1440650" y="2707661"/>
                <a:ext cx="914400" cy="914400"/>
              </a:xfrm>
              <a:prstGeom prst="rect">
                <a:avLst/>
              </a:prstGeom>
            </p:spPr>
          </p:pic>
          <p:pic>
            <p:nvPicPr>
              <p:cNvPr id="62" name="Graphic 61" descr="Server with solid fill">
                <a:extLst>
                  <a:ext uri="{FF2B5EF4-FFF2-40B4-BE49-F238E27FC236}">
                    <a16:creationId xmlns:a16="http://schemas.microsoft.com/office/drawing/2014/main" id="{BC53970D-9F9D-5B4A-869B-600191EB5937}"/>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2096980" y="2707661"/>
                <a:ext cx="914400" cy="914400"/>
              </a:xfrm>
              <a:prstGeom prst="rect">
                <a:avLst/>
              </a:prstGeom>
            </p:spPr>
          </p:pic>
        </p:grpSp>
        <p:grpSp>
          <p:nvGrpSpPr>
            <p:cNvPr id="39" name="Group 38">
              <a:extLst>
                <a:ext uri="{FF2B5EF4-FFF2-40B4-BE49-F238E27FC236}">
                  <a16:creationId xmlns:a16="http://schemas.microsoft.com/office/drawing/2014/main" id="{676819C4-9D95-074F-89EA-F9E5AF074382}"/>
                </a:ext>
              </a:extLst>
            </p:cNvPr>
            <p:cNvGrpSpPr/>
            <p:nvPr/>
          </p:nvGrpSpPr>
          <p:grpSpPr>
            <a:xfrm>
              <a:off x="554302" y="1125771"/>
              <a:ext cx="3001369" cy="3060293"/>
              <a:chOff x="4779336" y="1304554"/>
              <a:chExt cx="3001369" cy="3060293"/>
            </a:xfrm>
            <a:solidFill>
              <a:srgbClr val="0D6A1A"/>
            </a:solidFill>
          </p:grpSpPr>
          <p:pic>
            <p:nvPicPr>
              <p:cNvPr id="52" name="Graphic 51" descr="Artificial Intelligence outline">
                <a:extLst>
                  <a:ext uri="{FF2B5EF4-FFF2-40B4-BE49-F238E27FC236}">
                    <a16:creationId xmlns:a16="http://schemas.microsoft.com/office/drawing/2014/main" id="{3E9846B4-860C-D04D-84A2-23988213F3DD}"/>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a:off x="5005679" y="1706432"/>
                <a:ext cx="720000" cy="720000"/>
              </a:xfrm>
              <a:prstGeom prst="rect">
                <a:avLst/>
              </a:prstGeom>
            </p:spPr>
          </p:pic>
          <p:pic>
            <p:nvPicPr>
              <p:cNvPr id="53" name="Graphic 52" descr="Online meeting with solid fill">
                <a:extLst>
                  <a:ext uri="{FF2B5EF4-FFF2-40B4-BE49-F238E27FC236}">
                    <a16:creationId xmlns:a16="http://schemas.microsoft.com/office/drawing/2014/main" id="{23496AF4-F229-5B48-B174-6EDD45CC607F}"/>
                  </a:ext>
                </a:extLst>
              </p:cNvPr>
              <p:cNvPicPr>
                <a:picLocks noChangeAspect="1"/>
              </p:cNvPicPr>
              <p:nvPr/>
            </p:nvPicPr>
            <p:blipFill>
              <a:blip r:embed="rId12">
                <a:extLst>
                  <a:ext uri="{96DAC541-7B7A-43D3-8B79-37D633B846F1}">
                    <asvg:svgBlip xmlns="" xmlns:asvg="http://schemas.microsoft.com/office/drawing/2016/SVG/main" r:embed="rId13"/>
                  </a:ext>
                </a:extLst>
              </a:blip>
              <a:stretch>
                <a:fillRect/>
              </a:stretch>
            </p:blipFill>
            <p:spPr>
              <a:xfrm>
                <a:off x="5938360" y="3644847"/>
                <a:ext cx="720000" cy="720000"/>
              </a:xfrm>
              <a:prstGeom prst="rect">
                <a:avLst/>
              </a:prstGeom>
            </p:spPr>
          </p:pic>
          <p:pic>
            <p:nvPicPr>
              <p:cNvPr id="54" name="Graphic 53" descr="Database outline">
                <a:extLst>
                  <a:ext uri="{FF2B5EF4-FFF2-40B4-BE49-F238E27FC236}">
                    <a16:creationId xmlns:a16="http://schemas.microsoft.com/office/drawing/2014/main" id="{3BB48EBF-C1B4-D146-B454-A76686F2C9FD}"/>
                  </a:ext>
                </a:extLst>
              </p:cNvPr>
              <p:cNvPicPr>
                <a:picLocks noChangeAspect="1"/>
              </p:cNvPicPr>
              <p:nvPr/>
            </p:nvPicPr>
            <p:blipFill>
              <a:blip r:embed="rId14">
                <a:extLst>
                  <a:ext uri="{96DAC541-7B7A-43D3-8B79-37D633B846F1}">
                    <asvg:svgBlip xmlns="" xmlns:asvg="http://schemas.microsoft.com/office/drawing/2016/SVG/main" r:embed="rId15"/>
                  </a:ext>
                </a:extLst>
              </a:blip>
              <a:stretch>
                <a:fillRect/>
              </a:stretch>
            </p:blipFill>
            <p:spPr>
              <a:xfrm>
                <a:off x="4779336" y="2578907"/>
                <a:ext cx="720000" cy="720000"/>
              </a:xfrm>
              <a:prstGeom prst="rect">
                <a:avLst/>
              </a:prstGeom>
            </p:spPr>
          </p:pic>
          <p:pic>
            <p:nvPicPr>
              <p:cNvPr id="55" name="Graphic 54" descr="Meeting outline">
                <a:extLst>
                  <a:ext uri="{FF2B5EF4-FFF2-40B4-BE49-F238E27FC236}">
                    <a16:creationId xmlns:a16="http://schemas.microsoft.com/office/drawing/2014/main" id="{371433A9-1599-0F4F-B6C9-E7AED6B86A64}"/>
                  </a:ext>
                </a:extLst>
              </p:cNvPr>
              <p:cNvPicPr>
                <a:picLocks noChangeAspect="1"/>
              </p:cNvPicPr>
              <p:nvPr/>
            </p:nvPicPr>
            <p:blipFill>
              <a:blip r:embed="rId16">
                <a:extLst>
                  <a:ext uri="{96DAC541-7B7A-43D3-8B79-37D633B846F1}">
                    <asvg:svgBlip xmlns="" xmlns:asvg="http://schemas.microsoft.com/office/drawing/2016/SVG/main" r:embed="rId17"/>
                  </a:ext>
                </a:extLst>
              </a:blip>
              <a:stretch>
                <a:fillRect/>
              </a:stretch>
            </p:blipFill>
            <p:spPr>
              <a:xfrm>
                <a:off x="5902415" y="1304554"/>
                <a:ext cx="720000" cy="720000"/>
              </a:xfrm>
              <a:prstGeom prst="rect">
                <a:avLst/>
              </a:prstGeom>
            </p:spPr>
          </p:pic>
          <p:pic>
            <p:nvPicPr>
              <p:cNvPr id="56" name="Graphic 55" descr="Blockchain outline">
                <a:extLst>
                  <a:ext uri="{FF2B5EF4-FFF2-40B4-BE49-F238E27FC236}">
                    <a16:creationId xmlns:a16="http://schemas.microsoft.com/office/drawing/2014/main" id="{05C796C1-8683-D34A-9B46-E780691B47B3}"/>
                  </a:ext>
                </a:extLst>
              </p:cNvPr>
              <p:cNvPicPr>
                <a:picLocks noChangeAspect="1"/>
              </p:cNvPicPr>
              <p:nvPr/>
            </p:nvPicPr>
            <p:blipFill>
              <a:blip r:embed="rId18">
                <a:extLst>
                  <a:ext uri="{96DAC541-7B7A-43D3-8B79-37D633B846F1}">
                    <asvg:svgBlip xmlns="" xmlns:asvg="http://schemas.microsoft.com/office/drawing/2016/SVG/main" r:embed="rId19"/>
                  </a:ext>
                </a:extLst>
              </a:blip>
              <a:stretch>
                <a:fillRect/>
              </a:stretch>
            </p:blipFill>
            <p:spPr>
              <a:xfrm>
                <a:off x="5060886" y="3436504"/>
                <a:ext cx="720000" cy="720000"/>
              </a:xfrm>
              <a:prstGeom prst="rect">
                <a:avLst/>
              </a:prstGeom>
            </p:spPr>
          </p:pic>
          <p:pic>
            <p:nvPicPr>
              <p:cNvPr id="57" name="Graphic 56" descr="Work from home Wi-Fi outline">
                <a:extLst>
                  <a:ext uri="{FF2B5EF4-FFF2-40B4-BE49-F238E27FC236}">
                    <a16:creationId xmlns:a16="http://schemas.microsoft.com/office/drawing/2014/main" id="{95EEF345-31B0-3940-B085-B62C46C822D1}"/>
                  </a:ext>
                </a:extLst>
              </p:cNvPr>
              <p:cNvPicPr>
                <a:picLocks noChangeAspect="1"/>
              </p:cNvPicPr>
              <p:nvPr/>
            </p:nvPicPr>
            <p:blipFill>
              <a:blip r:embed="rId20">
                <a:extLst>
                  <a:ext uri="{96DAC541-7B7A-43D3-8B79-37D633B846F1}">
                    <asvg:svgBlip xmlns="" xmlns:asvg="http://schemas.microsoft.com/office/drawing/2016/SVG/main" r:embed="rId21"/>
                  </a:ext>
                </a:extLst>
              </a:blip>
              <a:stretch>
                <a:fillRect/>
              </a:stretch>
            </p:blipFill>
            <p:spPr>
              <a:xfrm>
                <a:off x="7060705" y="2520360"/>
                <a:ext cx="720000" cy="720000"/>
              </a:xfrm>
              <a:prstGeom prst="rect">
                <a:avLst/>
              </a:prstGeom>
            </p:spPr>
          </p:pic>
          <p:pic>
            <p:nvPicPr>
              <p:cNvPr id="58" name="Graphic 57" descr="Bitcoin outline">
                <a:extLst>
                  <a:ext uri="{FF2B5EF4-FFF2-40B4-BE49-F238E27FC236}">
                    <a16:creationId xmlns:a16="http://schemas.microsoft.com/office/drawing/2014/main" id="{37517924-4D01-7446-AA99-EFAB696DC0C5}"/>
                  </a:ext>
                </a:extLst>
              </p:cNvPr>
              <p:cNvPicPr>
                <a:picLocks noChangeAspect="1"/>
              </p:cNvPicPr>
              <p:nvPr/>
            </p:nvPicPr>
            <p:blipFill>
              <a:blip r:embed="rId22">
                <a:extLst>
                  <a:ext uri="{96DAC541-7B7A-43D3-8B79-37D633B846F1}">
                    <asvg:svgBlip xmlns="" xmlns:asvg="http://schemas.microsoft.com/office/drawing/2016/SVG/main" r:embed="rId23"/>
                  </a:ext>
                </a:extLst>
              </a:blip>
              <a:stretch>
                <a:fillRect/>
              </a:stretch>
            </p:blipFill>
            <p:spPr>
              <a:xfrm>
                <a:off x="6867774" y="3429179"/>
                <a:ext cx="720000" cy="720000"/>
              </a:xfrm>
              <a:prstGeom prst="rect">
                <a:avLst/>
              </a:prstGeom>
            </p:spPr>
          </p:pic>
          <p:pic>
            <p:nvPicPr>
              <p:cNvPr id="59" name="Graphic 58" descr="Internet Of Things outline">
                <a:extLst>
                  <a:ext uri="{FF2B5EF4-FFF2-40B4-BE49-F238E27FC236}">
                    <a16:creationId xmlns:a16="http://schemas.microsoft.com/office/drawing/2014/main" id="{7E9F540E-E22E-664F-8DEB-F87E435520BF}"/>
                  </a:ext>
                </a:extLst>
              </p:cNvPr>
              <p:cNvPicPr>
                <a:picLocks noChangeAspect="1"/>
              </p:cNvPicPr>
              <p:nvPr/>
            </p:nvPicPr>
            <p:blipFill>
              <a:blip r:embed="rId24">
                <a:extLst>
                  <a:ext uri="{96DAC541-7B7A-43D3-8B79-37D633B846F1}">
                    <asvg:svgBlip xmlns="" xmlns:asvg="http://schemas.microsoft.com/office/drawing/2016/SVG/main" r:embed="rId25"/>
                  </a:ext>
                </a:extLst>
              </a:blip>
              <a:stretch>
                <a:fillRect/>
              </a:stretch>
            </p:blipFill>
            <p:spPr>
              <a:xfrm>
                <a:off x="6873096" y="1642537"/>
                <a:ext cx="720000" cy="720000"/>
              </a:xfrm>
              <a:prstGeom prst="rect">
                <a:avLst/>
              </a:prstGeom>
            </p:spPr>
          </p:pic>
        </p:grpSp>
        <p:cxnSp>
          <p:nvCxnSpPr>
            <p:cNvPr id="40" name="Straight Arrow Connector 39">
              <a:extLst>
                <a:ext uri="{FF2B5EF4-FFF2-40B4-BE49-F238E27FC236}">
                  <a16:creationId xmlns:a16="http://schemas.microsoft.com/office/drawing/2014/main" id="{B0663100-AE7A-DF4F-8D6B-D82DB9514EE2}"/>
                </a:ext>
              </a:extLst>
            </p:cNvPr>
            <p:cNvCxnSpPr>
              <a:cxnSpLocks/>
            </p:cNvCxnSpPr>
            <p:nvPr/>
          </p:nvCxnSpPr>
          <p:spPr>
            <a:xfrm flipV="1">
              <a:off x="2079848" y="1883270"/>
              <a:ext cx="0" cy="163715"/>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Arrow Connector 40">
              <a:extLst>
                <a:ext uri="{FF2B5EF4-FFF2-40B4-BE49-F238E27FC236}">
                  <a16:creationId xmlns:a16="http://schemas.microsoft.com/office/drawing/2014/main" id="{809FE2A4-5C0A-F142-BC79-3BD4983B3F41}"/>
                </a:ext>
              </a:extLst>
            </p:cNvPr>
            <p:cNvCxnSpPr>
              <a:cxnSpLocks/>
            </p:cNvCxnSpPr>
            <p:nvPr/>
          </p:nvCxnSpPr>
          <p:spPr>
            <a:xfrm flipV="1">
              <a:off x="2494537" y="2158856"/>
              <a:ext cx="172717" cy="150363"/>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Arrow Connector 41">
              <a:extLst>
                <a:ext uri="{FF2B5EF4-FFF2-40B4-BE49-F238E27FC236}">
                  <a16:creationId xmlns:a16="http://schemas.microsoft.com/office/drawing/2014/main" id="{365C95B8-63DC-D642-84DE-BADD52C363EC}"/>
                </a:ext>
              </a:extLst>
            </p:cNvPr>
            <p:cNvCxnSpPr>
              <a:cxnSpLocks/>
            </p:cNvCxnSpPr>
            <p:nvPr/>
          </p:nvCxnSpPr>
          <p:spPr>
            <a:xfrm flipV="1">
              <a:off x="2719423" y="2701577"/>
              <a:ext cx="153033" cy="3202"/>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Arrow Connector 44">
              <a:extLst>
                <a:ext uri="{FF2B5EF4-FFF2-40B4-BE49-F238E27FC236}">
                  <a16:creationId xmlns:a16="http://schemas.microsoft.com/office/drawing/2014/main" id="{A0EE8AE1-2C1E-7544-BB02-429E84AB24D0}"/>
                </a:ext>
              </a:extLst>
            </p:cNvPr>
            <p:cNvCxnSpPr>
              <a:cxnSpLocks/>
            </p:cNvCxnSpPr>
            <p:nvPr/>
          </p:nvCxnSpPr>
          <p:spPr>
            <a:xfrm flipH="1" flipV="1">
              <a:off x="1202856" y="2711705"/>
              <a:ext cx="153033" cy="3202"/>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Arrow Connector 47">
              <a:extLst>
                <a:ext uri="{FF2B5EF4-FFF2-40B4-BE49-F238E27FC236}">
                  <a16:creationId xmlns:a16="http://schemas.microsoft.com/office/drawing/2014/main" id="{B60ECF1B-EAF3-3645-AAC8-FF190E942E80}"/>
                </a:ext>
              </a:extLst>
            </p:cNvPr>
            <p:cNvCxnSpPr>
              <a:cxnSpLocks/>
            </p:cNvCxnSpPr>
            <p:nvPr/>
          </p:nvCxnSpPr>
          <p:spPr>
            <a:xfrm flipH="1" flipV="1">
              <a:off x="1413702" y="2082380"/>
              <a:ext cx="172717" cy="150363"/>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Arrow Connector 48">
              <a:extLst>
                <a:ext uri="{FF2B5EF4-FFF2-40B4-BE49-F238E27FC236}">
                  <a16:creationId xmlns:a16="http://schemas.microsoft.com/office/drawing/2014/main" id="{D44EDF90-CA56-C347-8FBF-12999283450F}"/>
                </a:ext>
              </a:extLst>
            </p:cNvPr>
            <p:cNvCxnSpPr>
              <a:cxnSpLocks/>
            </p:cNvCxnSpPr>
            <p:nvPr/>
          </p:nvCxnSpPr>
          <p:spPr>
            <a:xfrm>
              <a:off x="2510530" y="3164428"/>
              <a:ext cx="172717" cy="150363"/>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Arrow Connector 49">
              <a:extLst>
                <a:ext uri="{FF2B5EF4-FFF2-40B4-BE49-F238E27FC236}">
                  <a16:creationId xmlns:a16="http://schemas.microsoft.com/office/drawing/2014/main" id="{6C8DBE87-EDBE-CE41-9803-5045A0F25873}"/>
                </a:ext>
              </a:extLst>
            </p:cNvPr>
            <p:cNvCxnSpPr>
              <a:cxnSpLocks/>
            </p:cNvCxnSpPr>
            <p:nvPr/>
          </p:nvCxnSpPr>
          <p:spPr>
            <a:xfrm flipH="1">
              <a:off x="1403191" y="3180716"/>
              <a:ext cx="172717" cy="150363"/>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Arrow Connector 50">
              <a:extLst>
                <a:ext uri="{FF2B5EF4-FFF2-40B4-BE49-F238E27FC236}">
                  <a16:creationId xmlns:a16="http://schemas.microsoft.com/office/drawing/2014/main" id="{7CF20219-3AF7-EC42-BE4D-04AB60107147}"/>
                </a:ext>
              </a:extLst>
            </p:cNvPr>
            <p:cNvCxnSpPr>
              <a:cxnSpLocks/>
            </p:cNvCxnSpPr>
            <p:nvPr/>
          </p:nvCxnSpPr>
          <p:spPr>
            <a:xfrm>
              <a:off x="2079848" y="3393706"/>
              <a:ext cx="0" cy="163715"/>
            </a:xfrm>
            <a:prstGeom prst="straightConnector1">
              <a:avLst/>
            </a:prstGeom>
            <a:solidFill>
              <a:srgbClr val="0073AE"/>
            </a:solidFill>
            <a:ln>
              <a:solidFill>
                <a:srgbClr val="0D6A1A"/>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grpSp>
        <p:nvGrpSpPr>
          <p:cNvPr id="22" name="Group 21">
            <a:extLst>
              <a:ext uri="{FF2B5EF4-FFF2-40B4-BE49-F238E27FC236}">
                <a16:creationId xmlns:a16="http://schemas.microsoft.com/office/drawing/2014/main" id="{38C423F4-7C95-744E-955C-1276B719FE61}"/>
              </a:ext>
            </a:extLst>
          </p:cNvPr>
          <p:cNvGrpSpPr/>
          <p:nvPr/>
        </p:nvGrpSpPr>
        <p:grpSpPr>
          <a:xfrm>
            <a:off x="3925968" y="2291099"/>
            <a:ext cx="6931090" cy="3586337"/>
            <a:chOff x="-998010" y="1568651"/>
            <a:chExt cx="6145047" cy="3179618"/>
          </a:xfrm>
        </p:grpSpPr>
        <p:pic>
          <p:nvPicPr>
            <p:cNvPr id="10" name="Graphic 9" descr="Dollar with solid fill">
              <a:extLst>
                <a:ext uri="{FF2B5EF4-FFF2-40B4-BE49-F238E27FC236}">
                  <a16:creationId xmlns:a16="http://schemas.microsoft.com/office/drawing/2014/main" id="{E3B77E52-2DF6-0E40-8616-EBAF044102D8}"/>
                </a:ext>
              </a:extLst>
            </p:cNvPr>
            <p:cNvPicPr>
              <a:picLocks noChangeAspect="1"/>
            </p:cNvPicPr>
            <p:nvPr/>
          </p:nvPicPr>
          <p:blipFill>
            <a:blip r:embed="rId26" cstate="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1925342" y="3037481"/>
              <a:ext cx="775895" cy="775895"/>
            </a:xfrm>
            <a:prstGeom prst="rect">
              <a:avLst/>
            </a:prstGeom>
          </p:spPr>
        </p:pic>
        <p:pic>
          <p:nvPicPr>
            <p:cNvPr id="11" name="Graphic 10" descr="Empty battery with solid fill">
              <a:extLst>
                <a:ext uri="{FF2B5EF4-FFF2-40B4-BE49-F238E27FC236}">
                  <a16:creationId xmlns:a16="http://schemas.microsoft.com/office/drawing/2014/main" id="{E2E6746A-CB05-CF4B-A29D-6BF1CBD96C62}"/>
                </a:ext>
              </a:extLst>
            </p:cNvPr>
            <p:cNvPicPr>
              <a:picLocks noChangeAspect="1"/>
            </p:cNvPicPr>
            <p:nvPr/>
          </p:nvPicPr>
          <p:blipFill>
            <a:blip r:embed="rId28" cstate="print">
              <a:extLst>
                <a:ext uri="{28A0092B-C50C-407E-A947-70E740481C1C}">
                  <a14:useLocalDpi xmlns:a14="http://schemas.microsoft.com/office/drawing/2010/main" val="0"/>
                </a:ext>
                <a:ext uri="{96DAC541-7B7A-43D3-8B79-37D633B846F1}">
                  <asvg:svgBlip xmlns="" xmlns:asvg="http://schemas.microsoft.com/office/drawing/2016/SVG/main" r:embed="rId29"/>
                </a:ext>
              </a:extLst>
            </a:blip>
            <a:stretch>
              <a:fillRect/>
            </a:stretch>
          </p:blipFill>
          <p:spPr>
            <a:xfrm>
              <a:off x="3817499" y="2873278"/>
              <a:ext cx="914400" cy="914400"/>
            </a:xfrm>
            <a:prstGeom prst="rect">
              <a:avLst/>
            </a:prstGeom>
          </p:spPr>
        </p:pic>
        <p:pic>
          <p:nvPicPr>
            <p:cNvPr id="12" name="Graphic 11" descr="Gauge with solid fill">
              <a:extLst>
                <a:ext uri="{FF2B5EF4-FFF2-40B4-BE49-F238E27FC236}">
                  <a16:creationId xmlns:a16="http://schemas.microsoft.com/office/drawing/2014/main" id="{CE58B8AA-E329-9545-B1B6-0F6FA83AD046}"/>
                </a:ext>
              </a:extLst>
            </p:cNvPr>
            <p:cNvPicPr>
              <a:picLocks noChangeAspect="1"/>
            </p:cNvPicPr>
            <p:nvPr/>
          </p:nvPicPr>
          <p:blipFill>
            <a:blip r:embed="rId30" cstate="print">
              <a:extLst>
                <a:ext uri="{28A0092B-C50C-407E-A947-70E740481C1C}">
                  <a14:useLocalDpi xmlns:a14="http://schemas.microsoft.com/office/drawing/2010/main" val="0"/>
                </a:ext>
                <a:ext uri="{96DAC541-7B7A-43D3-8B79-37D633B846F1}">
                  <asvg:svgBlip xmlns="" xmlns:asvg="http://schemas.microsoft.com/office/drawing/2016/SVG/main" r:embed="rId31"/>
                </a:ext>
              </a:extLst>
            </a:blip>
            <a:stretch>
              <a:fillRect/>
            </a:stretch>
          </p:blipFill>
          <p:spPr>
            <a:xfrm>
              <a:off x="2211991" y="1568651"/>
              <a:ext cx="914400" cy="914400"/>
            </a:xfrm>
            <a:prstGeom prst="rect">
              <a:avLst/>
            </a:prstGeom>
          </p:spPr>
        </p:pic>
        <p:sp>
          <p:nvSpPr>
            <p:cNvPr id="13" name="Striped Right Arrow 12">
              <a:extLst>
                <a:ext uri="{FF2B5EF4-FFF2-40B4-BE49-F238E27FC236}">
                  <a16:creationId xmlns:a16="http://schemas.microsoft.com/office/drawing/2014/main" id="{F32AF9D5-4225-234F-88E0-5A3C69DD6396}"/>
                </a:ext>
              </a:extLst>
            </p:cNvPr>
            <p:cNvSpPr/>
            <p:nvPr/>
          </p:nvSpPr>
          <p:spPr>
            <a:xfrm rot="16200000">
              <a:off x="1384893" y="1868809"/>
              <a:ext cx="903587" cy="542080"/>
            </a:xfrm>
            <a:prstGeom prst="stripedRightArrow">
              <a:avLst/>
            </a:prstGeom>
            <a:solidFill>
              <a:srgbClr val="C0000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sp>
          <p:nvSpPr>
            <p:cNvPr id="14" name="Striped Right Arrow 13">
              <a:extLst>
                <a:ext uri="{FF2B5EF4-FFF2-40B4-BE49-F238E27FC236}">
                  <a16:creationId xmlns:a16="http://schemas.microsoft.com/office/drawing/2014/main" id="{EDDC3419-D1BF-214A-80F0-5DE4F53EF3E7}"/>
                </a:ext>
              </a:extLst>
            </p:cNvPr>
            <p:cNvSpPr/>
            <p:nvPr/>
          </p:nvSpPr>
          <p:spPr>
            <a:xfrm rot="5400000">
              <a:off x="1389209" y="3242994"/>
              <a:ext cx="894266" cy="542080"/>
            </a:xfrm>
            <a:prstGeom prst="stripedRightArrow">
              <a:avLst/>
            </a:prstGeom>
            <a:solidFill>
              <a:srgbClr val="00B05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sp>
          <p:nvSpPr>
            <p:cNvPr id="15" name="TextBox 14">
              <a:extLst>
                <a:ext uri="{FF2B5EF4-FFF2-40B4-BE49-F238E27FC236}">
                  <a16:creationId xmlns:a16="http://schemas.microsoft.com/office/drawing/2014/main" id="{994682FB-51C6-1642-B67C-946C0F8750B7}"/>
                </a:ext>
              </a:extLst>
            </p:cNvPr>
            <p:cNvSpPr txBox="1"/>
            <p:nvPr/>
          </p:nvSpPr>
          <p:spPr>
            <a:xfrm>
              <a:off x="3682478" y="3446642"/>
              <a:ext cx="1464559" cy="533140"/>
            </a:xfrm>
            <a:prstGeom prst="rect">
              <a:avLst/>
            </a:prstGeom>
          </p:spPr>
          <p:txBody>
            <a:bodyPr wrap="squar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a:ea typeface="맑은 고딕"/>
                  <a:cs typeface="+mn-cs"/>
                </a:rPr>
                <a:t>energy</a:t>
              </a:r>
            </a:p>
          </p:txBody>
        </p:sp>
        <p:sp>
          <p:nvSpPr>
            <p:cNvPr id="16" name="TextBox 15">
              <a:extLst>
                <a:ext uri="{FF2B5EF4-FFF2-40B4-BE49-F238E27FC236}">
                  <a16:creationId xmlns:a16="http://schemas.microsoft.com/office/drawing/2014/main" id="{5BBBB24D-42A9-CB4D-AF6C-4DFF8A1E0F0B}"/>
                </a:ext>
              </a:extLst>
            </p:cNvPr>
            <p:cNvSpPr txBox="1"/>
            <p:nvPr/>
          </p:nvSpPr>
          <p:spPr>
            <a:xfrm>
              <a:off x="2115397" y="2201670"/>
              <a:ext cx="1533269" cy="465374"/>
            </a:xfrm>
            <a:prstGeom prst="rect">
              <a:avLst/>
            </a:prstGeom>
          </p:spPr>
          <p:txBody>
            <a:bodyPr wrap="squar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prstClr val="black"/>
                  </a:solidFill>
                  <a:effectLst/>
                  <a:uLnTx/>
                  <a:uFillTx/>
                  <a:latin typeface="Arial"/>
                  <a:ea typeface="맑은 고딕"/>
                  <a:cs typeface="+mn-cs"/>
                </a:rPr>
                <a:t>Gb/s/</a:t>
              </a:r>
              <a:r>
                <a:rPr kumimoji="0" lang="en-US" sz="2500" b="1" i="0" u="none" strike="noStrike" kern="1200" cap="none" spc="0" normalizeH="0" baseline="0" noProof="0" dirty="0" err="1">
                  <a:ln>
                    <a:noFill/>
                  </a:ln>
                  <a:solidFill>
                    <a:prstClr val="black"/>
                  </a:solidFill>
                  <a:effectLst/>
                  <a:uLnTx/>
                  <a:uFillTx/>
                  <a:latin typeface="Arial"/>
                  <a:ea typeface="맑은 고딕"/>
                  <a:cs typeface="+mn-cs"/>
                </a:rPr>
                <a:t>λ</a:t>
              </a:r>
              <a:endParaRPr kumimoji="0" lang="en-US" sz="2500" b="1" i="0" u="none" strike="noStrike" kern="1200" cap="none" spc="0" normalizeH="0" baseline="0" noProof="0" dirty="0">
                <a:ln>
                  <a:noFill/>
                </a:ln>
                <a:solidFill>
                  <a:prstClr val="black"/>
                </a:solidFill>
                <a:effectLst/>
                <a:uLnTx/>
                <a:uFillTx/>
                <a:latin typeface="Arial"/>
                <a:ea typeface="맑은 고딕"/>
                <a:cs typeface="+mn-cs"/>
              </a:endParaRPr>
            </a:p>
          </p:txBody>
        </p:sp>
        <p:pic>
          <p:nvPicPr>
            <p:cNvPr id="17" name="Graphic 16" descr="Dollar with solid fill">
              <a:extLst>
                <a:ext uri="{FF2B5EF4-FFF2-40B4-BE49-F238E27FC236}">
                  <a16:creationId xmlns:a16="http://schemas.microsoft.com/office/drawing/2014/main" id="{F3125B33-E343-0B4D-946F-0A6926BEB7B8}"/>
                </a:ext>
              </a:extLst>
            </p:cNvPr>
            <p:cNvPicPr>
              <a:picLocks noChangeAspect="1"/>
            </p:cNvPicPr>
            <p:nvPr/>
          </p:nvPicPr>
          <p:blipFill>
            <a:blip r:embed="rId32" cstate="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2398143" y="3256270"/>
              <a:ext cx="542081" cy="542081"/>
            </a:xfrm>
            <a:prstGeom prst="rect">
              <a:avLst/>
            </a:prstGeom>
          </p:spPr>
        </p:pic>
        <p:sp>
          <p:nvSpPr>
            <p:cNvPr id="18" name="Striped Right Arrow 17">
              <a:extLst>
                <a:ext uri="{FF2B5EF4-FFF2-40B4-BE49-F238E27FC236}">
                  <a16:creationId xmlns:a16="http://schemas.microsoft.com/office/drawing/2014/main" id="{90617C01-092B-9346-8518-F484EF6D3BC4}"/>
                </a:ext>
              </a:extLst>
            </p:cNvPr>
            <p:cNvSpPr/>
            <p:nvPr/>
          </p:nvSpPr>
          <p:spPr>
            <a:xfrm rot="5400000">
              <a:off x="3003120" y="3247654"/>
              <a:ext cx="894266" cy="542080"/>
            </a:xfrm>
            <a:prstGeom prst="stripedRightArrow">
              <a:avLst/>
            </a:prstGeom>
            <a:solidFill>
              <a:srgbClr val="00B05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sp>
          <p:nvSpPr>
            <p:cNvPr id="20" name="Rectangle 19">
              <a:extLst>
                <a:ext uri="{FF2B5EF4-FFF2-40B4-BE49-F238E27FC236}">
                  <a16:creationId xmlns:a16="http://schemas.microsoft.com/office/drawing/2014/main" id="{8907A947-7B23-8E42-918B-A64EB3A8E5A0}"/>
                </a:ext>
              </a:extLst>
            </p:cNvPr>
            <p:cNvSpPr/>
            <p:nvPr/>
          </p:nvSpPr>
          <p:spPr>
            <a:xfrm rot="3125041">
              <a:off x="-254918" y="938697"/>
              <a:ext cx="3066480" cy="4552664"/>
            </a:xfrm>
            <a:prstGeom prst="rect">
              <a:avLst/>
            </a:prstGeom>
            <a:noFill/>
            <a:effectLst/>
          </p:spPr>
          <p:txBody>
            <a:bodyPr spcFirstLastPara="1" wrap="none" lIns="121920" tIns="60960" rIns="121920" bIns="60960" numCol="1">
              <a:prstTxWarp prst="textArchUp">
                <a:avLst/>
              </a:prstTxWarp>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a:ea typeface="맑은 고딕"/>
                  <a:cs typeface="+mn-cs"/>
                </a:rPr>
                <a:t>  100+</a:t>
              </a:r>
            </a:p>
          </p:txBody>
        </p:sp>
        <p:pic>
          <p:nvPicPr>
            <p:cNvPr id="67" name="Graphic 66" descr="Dollar with solid fill">
              <a:extLst>
                <a:ext uri="{FF2B5EF4-FFF2-40B4-BE49-F238E27FC236}">
                  <a16:creationId xmlns:a16="http://schemas.microsoft.com/office/drawing/2014/main" id="{DD5B8EE0-3D44-FA4F-B77A-E24F73C74B3A}"/>
                </a:ext>
              </a:extLst>
            </p:cNvPr>
            <p:cNvPicPr>
              <a:picLocks noChangeAspect="1"/>
            </p:cNvPicPr>
            <p:nvPr/>
          </p:nvPicPr>
          <p:blipFill>
            <a:blip r:embed="rId33" cstate="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2725273" y="3378711"/>
              <a:ext cx="406288" cy="406288"/>
            </a:xfrm>
            <a:prstGeom prst="rect">
              <a:avLst/>
            </a:prstGeom>
          </p:spPr>
        </p:pic>
        <p:pic>
          <p:nvPicPr>
            <p:cNvPr id="68" name="Graphic 67" descr="Empty battery with solid fill">
              <a:extLst>
                <a:ext uri="{FF2B5EF4-FFF2-40B4-BE49-F238E27FC236}">
                  <a16:creationId xmlns:a16="http://schemas.microsoft.com/office/drawing/2014/main" id="{33E3FB10-A848-5845-BF54-B6758A51AC3B}"/>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 xmlns:asvg="http://schemas.microsoft.com/office/drawing/2016/SVG/main" r:embed="rId35"/>
                </a:ext>
              </a:extLst>
            </a:blip>
            <a:srcRect l="12719" t="39296" r="78284" b="36244"/>
            <a:stretch/>
          </p:blipFill>
          <p:spPr>
            <a:xfrm>
              <a:off x="3894179" y="3184477"/>
              <a:ext cx="201120" cy="291999"/>
            </a:xfrm>
            <a:prstGeom prst="rect">
              <a:avLst/>
            </a:prstGeom>
          </p:spPr>
        </p:pic>
      </p:grpSp>
      <p:sp>
        <p:nvSpPr>
          <p:cNvPr id="9" name="Slide Number Placeholder 8">
            <a:extLst>
              <a:ext uri="{FF2B5EF4-FFF2-40B4-BE49-F238E27FC236}">
                <a16:creationId xmlns:a16="http://schemas.microsoft.com/office/drawing/2014/main" id="{A99B6019-6943-2648-A55B-40A03556D2C0}"/>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custDataLst>
      <p:tags r:id="rId1"/>
    </p:custDataLst>
    <p:extLst>
      <p:ext uri="{BB962C8B-B14F-4D97-AF65-F5344CB8AC3E}">
        <p14:creationId xmlns:p14="http://schemas.microsoft.com/office/powerpoint/2010/main" val="69697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p:txBody>
          <a:bodyPr/>
          <a:lstStyle/>
          <a:p>
            <a:r>
              <a:rPr lang="en-US" dirty="0"/>
              <a:t>Importance of Wireline/Optical Links</a:t>
            </a:r>
          </a:p>
        </p:txBody>
      </p:sp>
      <p:sp>
        <p:nvSpPr>
          <p:cNvPr id="4" name="Date Placeholder 3">
            <a:extLst>
              <a:ext uri="{FF2B5EF4-FFF2-40B4-BE49-F238E27FC236}">
                <a16:creationId xmlns:a16="http://schemas.microsoft.com/office/drawing/2014/main" id="{C9BAE22F-9A95-6E47-BBA6-65EDD894AA26}"/>
              </a:ext>
            </a:extLst>
          </p:cNvPr>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Slide Number Placeholder 5">
            <a:extLst>
              <a:ext uri="{FF2B5EF4-FFF2-40B4-BE49-F238E27FC236}">
                <a16:creationId xmlns:a16="http://schemas.microsoft.com/office/drawing/2014/main" id="{3F6BF20A-4150-A04F-B584-430820875AE7}"/>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a:extLst>
              <a:ext uri="{FF2B5EF4-FFF2-40B4-BE49-F238E27FC236}">
                <a16:creationId xmlns:a16="http://schemas.microsoft.com/office/drawing/2014/main" id="{E416D04B-E0A7-5849-88CB-2A3326CBCE37}"/>
              </a:ext>
            </a:extLst>
          </p:cNvPr>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6656767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Consumer</a:t>
            </a:r>
            <a:r>
              <a:rPr spc="-120" dirty="0"/>
              <a:t> </a:t>
            </a:r>
            <a:r>
              <a:rPr spc="-10" dirty="0"/>
              <a:t>High-</a:t>
            </a:r>
            <a:r>
              <a:rPr dirty="0"/>
              <a:t>Speed</a:t>
            </a:r>
            <a:r>
              <a:rPr spc="-125" dirty="0"/>
              <a:t> </a:t>
            </a:r>
            <a:r>
              <a:rPr dirty="0"/>
              <a:t>Serial</a:t>
            </a:r>
            <a:r>
              <a:rPr spc="-100" dirty="0"/>
              <a:t> </a:t>
            </a:r>
            <a:r>
              <a:rPr spc="-10" dirty="0"/>
              <a:t>Links</a:t>
            </a:r>
          </a:p>
        </p:txBody>
      </p:sp>
      <p:grpSp>
        <p:nvGrpSpPr>
          <p:cNvPr id="3" name="object 3"/>
          <p:cNvGrpSpPr/>
          <p:nvPr/>
        </p:nvGrpSpPr>
        <p:grpSpPr>
          <a:xfrm>
            <a:off x="1023378" y="1139189"/>
            <a:ext cx="4472305" cy="3903345"/>
            <a:chOff x="1023378" y="1139189"/>
            <a:chExt cx="4472305" cy="3903345"/>
          </a:xfrm>
        </p:grpSpPr>
        <p:pic>
          <p:nvPicPr>
            <p:cNvPr id="4" name="object 4"/>
            <p:cNvPicPr/>
            <p:nvPr/>
          </p:nvPicPr>
          <p:blipFill>
            <a:blip r:embed="rId3" cstate="print"/>
            <a:stretch>
              <a:fillRect/>
            </a:stretch>
          </p:blipFill>
          <p:spPr>
            <a:xfrm>
              <a:off x="1023378" y="1295328"/>
              <a:ext cx="4472165" cy="3746825"/>
            </a:xfrm>
            <a:prstGeom prst="rect">
              <a:avLst/>
            </a:prstGeom>
          </p:spPr>
        </p:pic>
        <p:sp>
          <p:nvSpPr>
            <p:cNvPr id="5" name="object 5"/>
            <p:cNvSpPr/>
            <p:nvPr/>
          </p:nvSpPr>
          <p:spPr>
            <a:xfrm>
              <a:off x="2057400" y="1139189"/>
              <a:ext cx="2278380" cy="373380"/>
            </a:xfrm>
            <a:custGeom>
              <a:avLst/>
              <a:gdLst/>
              <a:ahLst/>
              <a:cxnLst/>
              <a:rect l="l" t="t" r="r" b="b"/>
              <a:pathLst>
                <a:path w="2278379" h="373380">
                  <a:moveTo>
                    <a:pt x="2278379" y="373379"/>
                  </a:moveTo>
                  <a:lnTo>
                    <a:pt x="2278379" y="0"/>
                  </a:lnTo>
                  <a:lnTo>
                    <a:pt x="0" y="0"/>
                  </a:lnTo>
                  <a:lnTo>
                    <a:pt x="0" y="373379"/>
                  </a:lnTo>
                  <a:lnTo>
                    <a:pt x="2278379" y="373379"/>
                  </a:lnTo>
                  <a:close/>
                </a:path>
              </a:pathLst>
            </a:custGeom>
            <a:solidFill>
              <a:srgbClr val="FFFFFF"/>
            </a:solidFill>
          </p:spPr>
          <p:txBody>
            <a:bodyPr wrap="square" lIns="0" tIns="0" rIns="0" bIns="0" rtlCol="0"/>
            <a:lstStyle/>
            <a:p>
              <a:endParaRPr/>
            </a:p>
          </p:txBody>
        </p:sp>
      </p:grpSp>
      <p:sp>
        <p:nvSpPr>
          <p:cNvPr id="6" name="object 6"/>
          <p:cNvSpPr txBox="1"/>
          <p:nvPr/>
        </p:nvSpPr>
        <p:spPr>
          <a:xfrm>
            <a:off x="2763011" y="2103882"/>
            <a:ext cx="878840" cy="1256665"/>
          </a:xfrm>
          <a:prstGeom prst="rect">
            <a:avLst/>
          </a:prstGeom>
          <a:solidFill>
            <a:srgbClr val="000000"/>
          </a:solidFill>
        </p:spPr>
        <p:txBody>
          <a:bodyPr vert="horz" wrap="square" lIns="0" tIns="193040" rIns="0" bIns="0" rtlCol="0">
            <a:spAutoFit/>
          </a:bodyPr>
          <a:lstStyle/>
          <a:p>
            <a:pPr>
              <a:lnSpc>
                <a:spcPct val="100000"/>
              </a:lnSpc>
              <a:spcBef>
                <a:spcPts val="1520"/>
              </a:spcBef>
            </a:pPr>
            <a:endParaRPr sz="2000" dirty="0">
              <a:latin typeface="Times New Roman"/>
              <a:cs typeface="Times New Roman"/>
            </a:endParaRPr>
          </a:p>
          <a:p>
            <a:pPr marL="84455">
              <a:lnSpc>
                <a:spcPct val="100000"/>
              </a:lnSpc>
            </a:pPr>
            <a:r>
              <a:rPr sz="2000" spc="-20" dirty="0">
                <a:solidFill>
                  <a:srgbClr val="FFFFFF"/>
                </a:solidFill>
                <a:latin typeface="Verdana"/>
                <a:cs typeface="Verdana"/>
              </a:rPr>
              <a:t>HDMI</a:t>
            </a:r>
            <a:endParaRPr sz="2000" dirty="0">
              <a:latin typeface="Verdana"/>
              <a:cs typeface="Verdana"/>
            </a:endParaRPr>
          </a:p>
        </p:txBody>
      </p:sp>
      <p:sp>
        <p:nvSpPr>
          <p:cNvPr id="7" name="object 7"/>
          <p:cNvSpPr txBox="1"/>
          <p:nvPr/>
        </p:nvSpPr>
        <p:spPr>
          <a:xfrm>
            <a:off x="834644" y="4969255"/>
            <a:ext cx="9758045" cy="1175385"/>
          </a:xfrm>
          <a:prstGeom prst="rect">
            <a:avLst/>
          </a:prstGeom>
        </p:spPr>
        <p:txBody>
          <a:bodyPr vert="horz" wrap="square" lIns="0" tIns="66675" rIns="0" bIns="0" rtlCol="0">
            <a:spAutoFit/>
          </a:bodyPr>
          <a:lstStyle/>
          <a:p>
            <a:pPr marL="362585" algn="ctr">
              <a:lnSpc>
                <a:spcPct val="100000"/>
              </a:lnSpc>
              <a:spcBef>
                <a:spcPts val="525"/>
              </a:spcBef>
            </a:pPr>
            <a:r>
              <a:rPr sz="1200" dirty="0">
                <a:latin typeface="Verdana"/>
                <a:cs typeface="Verdana"/>
              </a:rPr>
              <a:t>Courtesy:</a:t>
            </a:r>
            <a:r>
              <a:rPr sz="1200" spc="-90" dirty="0">
                <a:latin typeface="Verdana"/>
                <a:cs typeface="Verdana"/>
              </a:rPr>
              <a:t> </a:t>
            </a:r>
            <a:r>
              <a:rPr sz="1200" spc="-10" dirty="0">
                <a:latin typeface="Verdana"/>
                <a:cs typeface="Verdana"/>
              </a:rPr>
              <a:t>Internet</a:t>
            </a:r>
            <a:endParaRPr sz="1200" dirty="0">
              <a:latin typeface="Verdana"/>
              <a:cs typeface="Verdana"/>
            </a:endParaRPr>
          </a:p>
          <a:p>
            <a:pPr marL="482600" indent="-469900">
              <a:lnSpc>
                <a:spcPct val="100000"/>
              </a:lnSpc>
              <a:spcBef>
                <a:spcPts val="850"/>
              </a:spcBef>
              <a:buClr>
                <a:srgbClr val="CC0000"/>
              </a:buClr>
              <a:buSzPct val="79166"/>
              <a:buFont typeface="Wingdings"/>
              <a:buChar char=""/>
              <a:tabLst>
                <a:tab pos="482600" algn="l"/>
              </a:tabLst>
            </a:pPr>
            <a:r>
              <a:rPr sz="2400" dirty="0">
                <a:latin typeface="Verdana"/>
                <a:cs typeface="Verdana"/>
              </a:rPr>
              <a:t>Examples</a:t>
            </a:r>
            <a:r>
              <a:rPr sz="2400" spc="-55" dirty="0">
                <a:latin typeface="Verdana"/>
                <a:cs typeface="Verdana"/>
              </a:rPr>
              <a:t> </a:t>
            </a:r>
            <a:r>
              <a:rPr sz="2400" dirty="0">
                <a:latin typeface="Verdana"/>
                <a:cs typeface="Verdana"/>
              </a:rPr>
              <a:t>are</a:t>
            </a:r>
            <a:r>
              <a:rPr sz="2400" spc="-70" dirty="0">
                <a:latin typeface="Verdana"/>
                <a:cs typeface="Verdana"/>
              </a:rPr>
              <a:t> </a:t>
            </a:r>
            <a:r>
              <a:rPr sz="2400" dirty="0">
                <a:latin typeface="Verdana"/>
                <a:cs typeface="Verdana"/>
              </a:rPr>
              <a:t>e.</a:t>
            </a:r>
            <a:r>
              <a:rPr sz="2400" spc="-50" dirty="0">
                <a:latin typeface="Verdana"/>
                <a:cs typeface="Verdana"/>
              </a:rPr>
              <a:t> </a:t>
            </a:r>
            <a:r>
              <a:rPr sz="2400" dirty="0">
                <a:latin typeface="Verdana"/>
                <a:cs typeface="Verdana"/>
              </a:rPr>
              <a:t>g.</a:t>
            </a:r>
            <a:r>
              <a:rPr sz="2400" spc="-55" dirty="0">
                <a:latin typeface="Verdana"/>
                <a:cs typeface="Verdana"/>
              </a:rPr>
              <a:t> </a:t>
            </a:r>
            <a:r>
              <a:rPr sz="2400" dirty="0">
                <a:latin typeface="Verdana"/>
                <a:cs typeface="Verdana"/>
              </a:rPr>
              <a:t>HDMI™</a:t>
            </a:r>
            <a:r>
              <a:rPr sz="2400" spc="-50" dirty="0">
                <a:latin typeface="Verdana"/>
                <a:cs typeface="Verdana"/>
              </a:rPr>
              <a:t> </a:t>
            </a:r>
            <a:r>
              <a:rPr sz="2400" dirty="0">
                <a:latin typeface="Verdana"/>
                <a:cs typeface="Verdana"/>
              </a:rPr>
              <a:t>and</a:t>
            </a:r>
            <a:r>
              <a:rPr sz="2400" spc="-55" dirty="0">
                <a:latin typeface="Verdana"/>
                <a:cs typeface="Verdana"/>
              </a:rPr>
              <a:t> </a:t>
            </a:r>
            <a:r>
              <a:rPr sz="2400" dirty="0">
                <a:latin typeface="Verdana"/>
                <a:cs typeface="Verdana"/>
              </a:rPr>
              <a:t>Thunderbolt™</a:t>
            </a:r>
            <a:r>
              <a:rPr sz="2400" spc="-25" dirty="0">
                <a:latin typeface="Verdana"/>
                <a:cs typeface="Verdana"/>
              </a:rPr>
              <a:t> </a:t>
            </a:r>
            <a:r>
              <a:rPr sz="2400" spc="-10" dirty="0">
                <a:latin typeface="Verdana"/>
                <a:cs typeface="Verdana"/>
              </a:rPr>
              <a:t>infrastructure</a:t>
            </a:r>
            <a:endParaRPr sz="2400" dirty="0">
              <a:latin typeface="Verdana"/>
              <a:cs typeface="Verdana"/>
            </a:endParaRPr>
          </a:p>
          <a:p>
            <a:pPr marL="482600" indent="-469900">
              <a:lnSpc>
                <a:spcPct val="100000"/>
              </a:lnSpc>
              <a:spcBef>
                <a:spcPts val="580"/>
              </a:spcBef>
              <a:buClr>
                <a:srgbClr val="CC0000"/>
              </a:buClr>
              <a:buSzPct val="79166"/>
              <a:buFont typeface="Wingdings"/>
              <a:buChar char=""/>
              <a:tabLst>
                <a:tab pos="482600" algn="l"/>
              </a:tabLst>
            </a:pPr>
            <a:r>
              <a:rPr sz="2400" dirty="0">
                <a:latin typeface="Verdana"/>
                <a:cs typeface="Verdana"/>
              </a:rPr>
              <a:t>Both</a:t>
            </a:r>
            <a:r>
              <a:rPr sz="2400" spc="15" dirty="0">
                <a:latin typeface="Verdana"/>
                <a:cs typeface="Verdana"/>
              </a:rPr>
              <a:t> </a:t>
            </a:r>
            <a:r>
              <a:rPr sz="2400" dirty="0">
                <a:latin typeface="Verdana"/>
                <a:cs typeface="Verdana"/>
              </a:rPr>
              <a:t>are</a:t>
            </a:r>
            <a:r>
              <a:rPr sz="2400" spc="-15" dirty="0">
                <a:latin typeface="Verdana"/>
                <a:cs typeface="Verdana"/>
              </a:rPr>
              <a:t> </a:t>
            </a:r>
            <a:r>
              <a:rPr sz="2400" spc="-20" dirty="0">
                <a:latin typeface="Verdana"/>
                <a:cs typeface="Verdana"/>
              </a:rPr>
              <a:t>point-to-</a:t>
            </a:r>
            <a:r>
              <a:rPr sz="2400" dirty="0">
                <a:latin typeface="Verdana"/>
                <a:cs typeface="Verdana"/>
              </a:rPr>
              <a:t>point</a:t>
            </a:r>
            <a:r>
              <a:rPr sz="2400" spc="15" dirty="0">
                <a:latin typeface="Verdana"/>
                <a:cs typeface="Verdana"/>
              </a:rPr>
              <a:t> </a:t>
            </a:r>
            <a:r>
              <a:rPr sz="2400" spc="-10" dirty="0">
                <a:latin typeface="Verdana"/>
                <a:cs typeface="Verdana"/>
              </a:rPr>
              <a:t>links</a:t>
            </a:r>
            <a:endParaRPr sz="2400" dirty="0">
              <a:latin typeface="Verdana"/>
              <a:cs typeface="Verdana"/>
            </a:endParaRPr>
          </a:p>
        </p:txBody>
      </p:sp>
      <p:pic>
        <p:nvPicPr>
          <p:cNvPr id="8" name="object 8"/>
          <p:cNvPicPr/>
          <p:nvPr/>
        </p:nvPicPr>
        <p:blipFill>
          <a:blip r:embed="rId4" cstate="print"/>
          <a:stretch>
            <a:fillRect/>
          </a:stretch>
        </p:blipFill>
        <p:spPr>
          <a:xfrm>
            <a:off x="5843015" y="1389888"/>
            <a:ext cx="6210299" cy="3376422"/>
          </a:xfrm>
          <a:prstGeom prst="rect">
            <a:avLst/>
          </a:prstGeom>
        </p:spPr>
      </p:pic>
      <p:sp>
        <p:nvSpPr>
          <p:cNvPr id="9" name="Slide Number Placeholder 3"/>
          <p:cNvSpPr>
            <a:spLocks noGrp="1"/>
          </p:cNvSpPr>
          <p:nvPr>
            <p:ph type="sldNum" sz="quarter" idx="4294967295"/>
          </p:nvPr>
        </p:nvSpPr>
        <p:spPr>
          <a:xfrm>
            <a:off x="9409089" y="6419849"/>
            <a:ext cx="2514600" cy="365125"/>
          </a:xfrm>
          <a:prstGeom prst="rect">
            <a:avLst/>
          </a:prstGeom>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r>
              <a:rPr lang="en-US" sz="1400" b="1" dirty="0">
                <a:solidFill>
                  <a:prstClr val="black">
                    <a:lumMod val="75000"/>
                    <a:lumOff val="25000"/>
                  </a:prstClr>
                </a:solidFill>
                <a:latin typeface="Arial" panose="020B0604020202020204" pitchFamily="34" charset="0"/>
                <a:ea typeface="맑은 고딕"/>
                <a:cs typeface="Arial" panose="020B0604020202020204" pitchFamily="34" charset="0"/>
              </a:rPr>
              <a:t>6</a:t>
            </a:r>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0" name="Date Placeholder 9"/>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 name="Footer Placeholder 1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4545392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Industry</a:t>
            </a:r>
            <a:r>
              <a:rPr spc="-65" dirty="0"/>
              <a:t> </a:t>
            </a:r>
            <a:r>
              <a:rPr spc="-10" dirty="0"/>
              <a:t>High-</a:t>
            </a:r>
            <a:r>
              <a:rPr dirty="0"/>
              <a:t>Speed</a:t>
            </a:r>
            <a:r>
              <a:rPr spc="-65" dirty="0"/>
              <a:t> </a:t>
            </a:r>
            <a:r>
              <a:rPr dirty="0"/>
              <a:t>Serial</a:t>
            </a:r>
            <a:r>
              <a:rPr spc="-25" dirty="0"/>
              <a:t> </a:t>
            </a:r>
            <a:r>
              <a:rPr spc="-10" dirty="0"/>
              <a:t>Links</a:t>
            </a:r>
          </a:p>
        </p:txBody>
      </p:sp>
      <p:pic>
        <p:nvPicPr>
          <p:cNvPr id="3" name="object 3"/>
          <p:cNvPicPr/>
          <p:nvPr/>
        </p:nvPicPr>
        <p:blipFill>
          <a:blip r:embed="rId3" cstate="print"/>
          <a:stretch>
            <a:fillRect/>
          </a:stretch>
        </p:blipFill>
        <p:spPr>
          <a:xfrm>
            <a:off x="1284235" y="1383942"/>
            <a:ext cx="4722257" cy="3657855"/>
          </a:xfrm>
          <a:prstGeom prst="rect">
            <a:avLst/>
          </a:prstGeom>
        </p:spPr>
      </p:pic>
      <p:sp>
        <p:nvSpPr>
          <p:cNvPr id="4" name="object 4"/>
          <p:cNvSpPr txBox="1"/>
          <p:nvPr/>
        </p:nvSpPr>
        <p:spPr>
          <a:xfrm>
            <a:off x="834644" y="4970017"/>
            <a:ext cx="10309860" cy="1175385"/>
          </a:xfrm>
          <a:prstGeom prst="rect">
            <a:avLst/>
          </a:prstGeom>
        </p:spPr>
        <p:txBody>
          <a:bodyPr vert="horz" wrap="square" lIns="0" tIns="66675" rIns="0" bIns="0" rtlCol="0">
            <a:spAutoFit/>
          </a:bodyPr>
          <a:lstStyle/>
          <a:p>
            <a:pPr marR="180975" algn="ctr">
              <a:lnSpc>
                <a:spcPct val="100000"/>
              </a:lnSpc>
              <a:spcBef>
                <a:spcPts val="525"/>
              </a:spcBef>
            </a:pPr>
            <a:r>
              <a:rPr sz="1200" dirty="0">
                <a:latin typeface="Verdana"/>
                <a:cs typeface="Verdana"/>
              </a:rPr>
              <a:t>Courtesy:</a:t>
            </a:r>
            <a:r>
              <a:rPr sz="1200" spc="-90" dirty="0">
                <a:latin typeface="Verdana"/>
                <a:cs typeface="Verdana"/>
              </a:rPr>
              <a:t> </a:t>
            </a:r>
            <a:r>
              <a:rPr sz="1200" spc="-10" dirty="0">
                <a:latin typeface="Verdana"/>
                <a:cs typeface="Verdana"/>
              </a:rPr>
              <a:t>Internet</a:t>
            </a:r>
            <a:endParaRPr sz="1200" dirty="0">
              <a:latin typeface="Verdana"/>
              <a:cs typeface="Verdana"/>
            </a:endParaRPr>
          </a:p>
          <a:p>
            <a:pPr marL="482600" indent="-469900">
              <a:lnSpc>
                <a:spcPct val="100000"/>
              </a:lnSpc>
              <a:spcBef>
                <a:spcPts val="850"/>
              </a:spcBef>
              <a:buClr>
                <a:srgbClr val="CC0000"/>
              </a:buClr>
              <a:buSzPct val="79166"/>
              <a:buFont typeface="Wingdings"/>
              <a:buChar char=""/>
              <a:tabLst>
                <a:tab pos="482600" algn="l"/>
              </a:tabLst>
            </a:pPr>
            <a:r>
              <a:rPr sz="2400" dirty="0">
                <a:latin typeface="Verdana"/>
                <a:cs typeface="Verdana"/>
              </a:rPr>
              <a:t>Backplane</a:t>
            </a:r>
            <a:r>
              <a:rPr sz="2400" spc="-50" dirty="0">
                <a:latin typeface="Verdana"/>
                <a:cs typeface="Verdana"/>
              </a:rPr>
              <a:t> </a:t>
            </a:r>
            <a:r>
              <a:rPr sz="2400" dirty="0">
                <a:latin typeface="Verdana"/>
                <a:cs typeface="Verdana"/>
              </a:rPr>
              <a:t>and</a:t>
            </a:r>
            <a:r>
              <a:rPr sz="2400" spc="-65" dirty="0">
                <a:latin typeface="Verdana"/>
                <a:cs typeface="Verdana"/>
              </a:rPr>
              <a:t> </a:t>
            </a:r>
            <a:r>
              <a:rPr sz="2400" spc="-25" dirty="0">
                <a:latin typeface="Verdana"/>
                <a:cs typeface="Verdana"/>
              </a:rPr>
              <a:t>chip-to-</a:t>
            </a:r>
            <a:r>
              <a:rPr sz="2400" dirty="0">
                <a:latin typeface="Verdana"/>
                <a:cs typeface="Verdana"/>
              </a:rPr>
              <a:t>chip</a:t>
            </a:r>
            <a:r>
              <a:rPr sz="2400" spc="-50" dirty="0">
                <a:latin typeface="Verdana"/>
                <a:cs typeface="Verdana"/>
              </a:rPr>
              <a:t> </a:t>
            </a:r>
            <a:r>
              <a:rPr sz="2400" dirty="0">
                <a:latin typeface="Verdana"/>
                <a:cs typeface="Verdana"/>
              </a:rPr>
              <a:t>(e.g.</a:t>
            </a:r>
            <a:r>
              <a:rPr sz="2400" spc="-75" dirty="0">
                <a:latin typeface="Verdana"/>
                <a:cs typeface="Verdana"/>
              </a:rPr>
              <a:t> </a:t>
            </a:r>
            <a:r>
              <a:rPr sz="2400" dirty="0">
                <a:latin typeface="Verdana"/>
                <a:cs typeface="Verdana"/>
              </a:rPr>
              <a:t>processor,</a:t>
            </a:r>
            <a:r>
              <a:rPr sz="2400" spc="-50" dirty="0">
                <a:latin typeface="Verdana"/>
                <a:cs typeface="Verdana"/>
              </a:rPr>
              <a:t> </a:t>
            </a:r>
            <a:r>
              <a:rPr sz="2400" dirty="0">
                <a:latin typeface="Verdana"/>
                <a:cs typeface="Verdana"/>
              </a:rPr>
              <a:t>memory,</a:t>
            </a:r>
            <a:r>
              <a:rPr sz="2400" spc="-60" dirty="0">
                <a:latin typeface="Verdana"/>
                <a:cs typeface="Verdana"/>
              </a:rPr>
              <a:t> </a:t>
            </a:r>
            <a:r>
              <a:rPr sz="2400" spc="-25" dirty="0">
                <a:latin typeface="Verdana"/>
                <a:cs typeface="Verdana"/>
              </a:rPr>
              <a:t>…)</a:t>
            </a:r>
            <a:endParaRPr sz="2400" dirty="0">
              <a:latin typeface="Verdana"/>
              <a:cs typeface="Verdana"/>
            </a:endParaRPr>
          </a:p>
          <a:p>
            <a:pPr marL="482600" indent="-469900">
              <a:lnSpc>
                <a:spcPct val="100000"/>
              </a:lnSpc>
              <a:spcBef>
                <a:spcPts val="575"/>
              </a:spcBef>
              <a:buClr>
                <a:srgbClr val="CC0000"/>
              </a:buClr>
              <a:buSzPct val="79166"/>
              <a:buFont typeface="Wingdings"/>
              <a:buChar char=""/>
              <a:tabLst>
                <a:tab pos="482600" algn="l"/>
              </a:tabLst>
            </a:pPr>
            <a:r>
              <a:rPr sz="2400" dirty="0">
                <a:latin typeface="Verdana"/>
                <a:cs typeface="Verdana"/>
              </a:rPr>
              <a:t>Data</a:t>
            </a:r>
            <a:r>
              <a:rPr sz="2400" spc="-65" dirty="0">
                <a:latin typeface="Verdana"/>
                <a:cs typeface="Verdana"/>
              </a:rPr>
              <a:t> </a:t>
            </a:r>
            <a:r>
              <a:rPr sz="2400" dirty="0">
                <a:latin typeface="Verdana"/>
                <a:cs typeface="Verdana"/>
              </a:rPr>
              <a:t>center</a:t>
            </a:r>
            <a:r>
              <a:rPr sz="2400" spc="-65" dirty="0">
                <a:latin typeface="Verdana"/>
                <a:cs typeface="Verdana"/>
              </a:rPr>
              <a:t> </a:t>
            </a:r>
            <a:r>
              <a:rPr sz="2400" dirty="0">
                <a:latin typeface="Verdana"/>
                <a:cs typeface="Verdana"/>
              </a:rPr>
              <a:t>networks</a:t>
            </a:r>
            <a:r>
              <a:rPr sz="2400" spc="-65" dirty="0">
                <a:latin typeface="Verdana"/>
                <a:cs typeface="Verdana"/>
              </a:rPr>
              <a:t> </a:t>
            </a:r>
            <a:r>
              <a:rPr sz="2400" dirty="0">
                <a:latin typeface="Verdana"/>
                <a:cs typeface="Verdana"/>
              </a:rPr>
              <a:t>(e.g.</a:t>
            </a:r>
            <a:r>
              <a:rPr sz="2400" spc="-65" dirty="0">
                <a:latin typeface="Verdana"/>
                <a:cs typeface="Verdana"/>
              </a:rPr>
              <a:t> </a:t>
            </a:r>
            <a:r>
              <a:rPr sz="2400" dirty="0">
                <a:latin typeface="Verdana"/>
                <a:cs typeface="Verdana"/>
              </a:rPr>
              <a:t>Ethernet,</a:t>
            </a:r>
            <a:r>
              <a:rPr sz="2400" spc="-55" dirty="0">
                <a:latin typeface="Verdana"/>
                <a:cs typeface="Verdana"/>
              </a:rPr>
              <a:t> </a:t>
            </a:r>
            <a:r>
              <a:rPr sz="2400" dirty="0">
                <a:latin typeface="Verdana"/>
                <a:cs typeface="Verdana"/>
              </a:rPr>
              <a:t>fiber</a:t>
            </a:r>
            <a:r>
              <a:rPr sz="2400" spc="-55" dirty="0">
                <a:latin typeface="Verdana"/>
                <a:cs typeface="Verdana"/>
              </a:rPr>
              <a:t> </a:t>
            </a:r>
            <a:r>
              <a:rPr sz="2400" dirty="0">
                <a:latin typeface="Verdana"/>
                <a:cs typeface="Verdana"/>
              </a:rPr>
              <a:t>optical</a:t>
            </a:r>
            <a:r>
              <a:rPr sz="2400" spc="-60" dirty="0">
                <a:latin typeface="Verdana"/>
                <a:cs typeface="Verdana"/>
              </a:rPr>
              <a:t> </a:t>
            </a:r>
            <a:r>
              <a:rPr sz="2400" dirty="0">
                <a:latin typeface="Verdana"/>
                <a:cs typeface="Verdana"/>
              </a:rPr>
              <a:t>networks,</a:t>
            </a:r>
            <a:r>
              <a:rPr sz="2400" spc="-55" dirty="0">
                <a:latin typeface="Verdana"/>
                <a:cs typeface="Verdana"/>
              </a:rPr>
              <a:t> </a:t>
            </a:r>
            <a:r>
              <a:rPr sz="2400" dirty="0">
                <a:latin typeface="Verdana"/>
                <a:cs typeface="Verdana"/>
              </a:rPr>
              <a:t>…</a:t>
            </a:r>
            <a:r>
              <a:rPr sz="2400" spc="-60" dirty="0">
                <a:latin typeface="Verdana"/>
                <a:cs typeface="Verdana"/>
              </a:rPr>
              <a:t> </a:t>
            </a:r>
            <a:r>
              <a:rPr sz="2400" spc="-50" dirty="0">
                <a:latin typeface="Verdana"/>
                <a:cs typeface="Verdana"/>
              </a:rPr>
              <a:t>)</a:t>
            </a:r>
            <a:endParaRPr sz="2400" dirty="0">
              <a:latin typeface="Verdana"/>
              <a:cs typeface="Verdana"/>
            </a:endParaRPr>
          </a:p>
        </p:txBody>
      </p:sp>
      <p:pic>
        <p:nvPicPr>
          <p:cNvPr id="5" name="object 5"/>
          <p:cNvPicPr/>
          <p:nvPr/>
        </p:nvPicPr>
        <p:blipFill>
          <a:blip r:embed="rId4" cstate="print"/>
          <a:stretch>
            <a:fillRect/>
          </a:stretch>
        </p:blipFill>
        <p:spPr>
          <a:xfrm>
            <a:off x="6685026" y="1712213"/>
            <a:ext cx="5097779" cy="2978658"/>
          </a:xfrm>
          <a:prstGeom prst="rect">
            <a:avLst/>
          </a:prstGeom>
        </p:spPr>
      </p:pic>
      <p:sp>
        <p:nvSpPr>
          <p:cNvPr id="6" name="Slide Number Placeholder 5"/>
          <p:cNvSpPr>
            <a:spLocks noGrp="1"/>
          </p:cNvSpPr>
          <p:nvPr>
            <p:ph type="sldNum" sz="quarter" idx="7"/>
          </p:nvPr>
        </p:nvSpPr>
        <p:spPr/>
        <p:txBody>
          <a:bodyPr/>
          <a:lstStyle/>
          <a:p>
            <a:pPr marL="135255">
              <a:lnSpc>
                <a:spcPct val="100000"/>
              </a:lnSpc>
              <a:spcBef>
                <a:spcPts val="110"/>
              </a:spcBef>
            </a:pPr>
            <a:r>
              <a:rPr lang="en-US" b="1" dirty="0">
                <a:solidFill>
                  <a:prstClr val="black">
                    <a:lumMod val="75000"/>
                    <a:lumOff val="25000"/>
                  </a:prstClr>
                </a:solidFill>
              </a:rPr>
              <a:t>Slide </a:t>
            </a:r>
            <a:fld id="{81D60167-4931-47E6-BA6A-407CBD079E47}" type="slidenum">
              <a:rPr lang="en-US" b="1" spc="-50" smtClean="0"/>
              <a:t>7</a:t>
            </a:fld>
            <a:endParaRPr lang="en-US" b="1" spc="-50" dirty="0"/>
          </a:p>
        </p:txBody>
      </p:sp>
      <p:sp>
        <p:nvSpPr>
          <p:cNvPr id="7" name="Date Placeholder 6"/>
          <p:cNvSpPr>
            <a:spLocks noGrp="1"/>
          </p:cNvSpPr>
          <p:nvPr>
            <p:ph type="dt" sz="half" idx="6"/>
          </p:nvPr>
        </p:nvSpPr>
        <p:spPr/>
        <p:txBody>
          <a:bodyPr/>
          <a:lstStyle/>
          <a:p>
            <a:pPr marL="12700">
              <a:lnSpc>
                <a:spcPct val="100000"/>
              </a:lnSpc>
              <a:spcBef>
                <a:spcPts val="105"/>
              </a:spcBef>
            </a:pPr>
            <a:r>
              <a:rPr lang="en-US" dirty="0" err="1" smtClean="0"/>
              <a:t>Feburary</a:t>
            </a:r>
            <a:r>
              <a:rPr lang="en-US" dirty="0" smtClean="0"/>
              <a:t> 28, 2025</a:t>
            </a:r>
            <a:endParaRPr lang="en-US" spc="-10" dirty="0"/>
          </a:p>
        </p:txBody>
      </p:sp>
      <p:sp>
        <p:nvSpPr>
          <p:cNvPr id="8" name="Footer Placeholder 7"/>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21848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844550" y="302006"/>
            <a:ext cx="2947035" cy="604520"/>
          </a:xfrm>
          <a:prstGeom prst="rect">
            <a:avLst/>
          </a:prstGeom>
        </p:spPr>
        <p:txBody>
          <a:bodyPr vert="horz" wrap="square" lIns="0" tIns="12065" rIns="0" bIns="0" rtlCol="0">
            <a:spAutoFit/>
          </a:bodyPr>
          <a:lstStyle/>
          <a:p>
            <a:pPr marL="12700">
              <a:lnSpc>
                <a:spcPct val="100000"/>
              </a:lnSpc>
              <a:spcBef>
                <a:spcPts val="95"/>
              </a:spcBef>
            </a:pPr>
            <a:r>
              <a:rPr spc="-5" dirty="0"/>
              <a:t>Datacenters</a:t>
            </a:r>
          </a:p>
        </p:txBody>
      </p:sp>
      <p:sp>
        <p:nvSpPr>
          <p:cNvPr id="5" name="object 3"/>
          <p:cNvSpPr txBox="1"/>
          <p:nvPr/>
        </p:nvSpPr>
        <p:spPr>
          <a:xfrm>
            <a:off x="834644" y="4299149"/>
            <a:ext cx="5960110" cy="1568450"/>
          </a:xfrm>
          <a:prstGeom prst="rect">
            <a:avLst/>
          </a:prstGeom>
        </p:spPr>
        <p:txBody>
          <a:bodyPr vert="horz" wrap="square" lIns="0" tIns="43180" rIns="0" bIns="0" rtlCol="0">
            <a:spAutoFit/>
          </a:bodyPr>
          <a:lstStyle/>
          <a:p>
            <a:pPr marL="482600" indent="-470534">
              <a:lnSpc>
                <a:spcPct val="100000"/>
              </a:lnSpc>
              <a:spcBef>
                <a:spcPts val="340"/>
              </a:spcBef>
              <a:buClr>
                <a:srgbClr val="CC0000"/>
              </a:buClr>
              <a:buFont typeface="Wingdings"/>
              <a:buChar char=""/>
              <a:tabLst>
                <a:tab pos="482600" algn="l"/>
                <a:tab pos="483234" algn="l"/>
              </a:tabLst>
            </a:pPr>
            <a:r>
              <a:rPr sz="2000" spc="-5" dirty="0">
                <a:latin typeface="Verdana"/>
                <a:cs typeface="Verdana"/>
              </a:rPr>
              <a:t>Deployment</a:t>
            </a:r>
            <a:endParaRPr sz="2000" dirty="0">
              <a:latin typeface="Verdana"/>
              <a:cs typeface="Verdana"/>
            </a:endParaRPr>
          </a:p>
          <a:p>
            <a:pPr marL="920750" lvl="1" indent="-438150">
              <a:lnSpc>
                <a:spcPct val="100000"/>
              </a:lnSpc>
              <a:spcBef>
                <a:spcPts val="215"/>
              </a:spcBef>
              <a:buClr>
                <a:srgbClr val="CC0000"/>
              </a:buClr>
              <a:buFont typeface="Wingdings"/>
              <a:buChar char=""/>
              <a:tabLst>
                <a:tab pos="920750" algn="l"/>
                <a:tab pos="921385" algn="l"/>
              </a:tabLst>
            </a:pPr>
            <a:r>
              <a:rPr sz="1800" dirty="0">
                <a:latin typeface="Verdana"/>
                <a:cs typeface="Verdana"/>
              </a:rPr>
              <a:t>Long</a:t>
            </a:r>
            <a:r>
              <a:rPr sz="1800" spc="-20" dirty="0">
                <a:latin typeface="Verdana"/>
                <a:cs typeface="Verdana"/>
              </a:rPr>
              <a:t> </a:t>
            </a:r>
            <a:r>
              <a:rPr sz="1800" dirty="0">
                <a:latin typeface="Verdana"/>
                <a:cs typeface="Verdana"/>
              </a:rPr>
              <a:t>haul</a:t>
            </a:r>
            <a:r>
              <a:rPr sz="1800" spc="-20" dirty="0">
                <a:latin typeface="Verdana"/>
                <a:cs typeface="Verdana"/>
              </a:rPr>
              <a:t> </a:t>
            </a:r>
            <a:r>
              <a:rPr sz="1800" spc="-5" dirty="0">
                <a:latin typeface="Verdana"/>
                <a:cs typeface="Verdana"/>
              </a:rPr>
              <a:t>terrestrial </a:t>
            </a:r>
            <a:r>
              <a:rPr sz="1800" dirty="0">
                <a:latin typeface="Verdana"/>
                <a:cs typeface="Verdana"/>
              </a:rPr>
              <a:t>and</a:t>
            </a:r>
            <a:r>
              <a:rPr sz="1800" spc="-20" dirty="0">
                <a:latin typeface="Verdana"/>
                <a:cs typeface="Verdana"/>
              </a:rPr>
              <a:t> </a:t>
            </a:r>
            <a:r>
              <a:rPr sz="1800" dirty="0">
                <a:latin typeface="Verdana"/>
                <a:cs typeface="Verdana"/>
              </a:rPr>
              <a:t>undersea</a:t>
            </a:r>
          </a:p>
          <a:p>
            <a:pPr marL="920750" lvl="1" indent="-438150">
              <a:lnSpc>
                <a:spcPct val="100000"/>
              </a:lnSpc>
              <a:spcBef>
                <a:spcPts val="219"/>
              </a:spcBef>
              <a:buClr>
                <a:srgbClr val="CC0000"/>
              </a:buClr>
              <a:buFont typeface="Wingdings"/>
              <a:buChar char=""/>
              <a:tabLst>
                <a:tab pos="920750" algn="l"/>
                <a:tab pos="921385" algn="l"/>
              </a:tabLst>
            </a:pPr>
            <a:r>
              <a:rPr sz="1800" dirty="0">
                <a:latin typeface="Verdana"/>
                <a:cs typeface="Verdana"/>
              </a:rPr>
              <a:t>Metro:</a:t>
            </a:r>
            <a:r>
              <a:rPr sz="1800" spc="-35" dirty="0">
                <a:latin typeface="Verdana"/>
                <a:cs typeface="Verdana"/>
              </a:rPr>
              <a:t> </a:t>
            </a:r>
            <a:r>
              <a:rPr sz="1800" dirty="0">
                <a:latin typeface="Verdana"/>
                <a:cs typeface="Verdana"/>
              </a:rPr>
              <a:t>Between</a:t>
            </a:r>
            <a:r>
              <a:rPr sz="1800" spc="-15" dirty="0">
                <a:latin typeface="Verdana"/>
                <a:cs typeface="Verdana"/>
              </a:rPr>
              <a:t> </a:t>
            </a:r>
            <a:r>
              <a:rPr sz="1800" spc="-5" dirty="0">
                <a:latin typeface="Verdana"/>
                <a:cs typeface="Verdana"/>
              </a:rPr>
              <a:t>datacenters,</a:t>
            </a:r>
            <a:r>
              <a:rPr sz="1800" spc="-15" dirty="0">
                <a:latin typeface="Verdana"/>
                <a:cs typeface="Verdana"/>
              </a:rPr>
              <a:t> </a:t>
            </a:r>
            <a:r>
              <a:rPr sz="1800" spc="-5" dirty="0">
                <a:latin typeface="Verdana"/>
                <a:cs typeface="Verdana"/>
              </a:rPr>
              <a:t>central</a:t>
            </a:r>
            <a:r>
              <a:rPr sz="1800" spc="-15" dirty="0">
                <a:latin typeface="Verdana"/>
                <a:cs typeface="Verdana"/>
              </a:rPr>
              <a:t> </a:t>
            </a:r>
            <a:r>
              <a:rPr sz="1800" spc="-5" dirty="0">
                <a:latin typeface="Verdana"/>
                <a:cs typeface="Verdana"/>
              </a:rPr>
              <a:t>offices</a:t>
            </a:r>
            <a:endParaRPr sz="1800" dirty="0">
              <a:latin typeface="Verdana"/>
              <a:cs typeface="Verdana"/>
            </a:endParaRPr>
          </a:p>
          <a:p>
            <a:pPr marL="920750" lvl="1" indent="-438150">
              <a:lnSpc>
                <a:spcPct val="100000"/>
              </a:lnSpc>
              <a:spcBef>
                <a:spcPts val="215"/>
              </a:spcBef>
              <a:buClr>
                <a:srgbClr val="CC0000"/>
              </a:buClr>
              <a:buFont typeface="Wingdings"/>
              <a:buChar char=""/>
              <a:tabLst>
                <a:tab pos="920750" algn="l"/>
                <a:tab pos="921385" algn="l"/>
              </a:tabLst>
            </a:pPr>
            <a:r>
              <a:rPr sz="1800" dirty="0">
                <a:latin typeface="Verdana"/>
                <a:cs typeface="Verdana"/>
              </a:rPr>
              <a:t>Datacenters:</a:t>
            </a:r>
            <a:r>
              <a:rPr sz="1800" spc="-35" dirty="0">
                <a:latin typeface="Verdana"/>
                <a:cs typeface="Verdana"/>
              </a:rPr>
              <a:t> </a:t>
            </a:r>
            <a:r>
              <a:rPr sz="1800" dirty="0">
                <a:latin typeface="Verdana"/>
                <a:cs typeface="Verdana"/>
              </a:rPr>
              <a:t>Between</a:t>
            </a:r>
            <a:r>
              <a:rPr sz="1800" spc="-15" dirty="0">
                <a:latin typeface="Verdana"/>
                <a:cs typeface="Verdana"/>
              </a:rPr>
              <a:t> </a:t>
            </a:r>
            <a:r>
              <a:rPr sz="1800" dirty="0">
                <a:latin typeface="Verdana"/>
                <a:cs typeface="Verdana"/>
              </a:rPr>
              <a:t>racks,</a:t>
            </a:r>
            <a:r>
              <a:rPr sz="1800" spc="-30" dirty="0">
                <a:latin typeface="Verdana"/>
                <a:cs typeface="Verdana"/>
              </a:rPr>
              <a:t> </a:t>
            </a:r>
            <a:r>
              <a:rPr sz="1800" spc="-5" dirty="0">
                <a:latin typeface="Verdana"/>
                <a:cs typeface="Verdana"/>
              </a:rPr>
              <a:t>servers</a:t>
            </a:r>
            <a:endParaRPr sz="1800" dirty="0">
              <a:latin typeface="Verdana"/>
              <a:cs typeface="Verdana"/>
            </a:endParaRPr>
          </a:p>
          <a:p>
            <a:pPr marL="920750" lvl="1" indent="-438150">
              <a:lnSpc>
                <a:spcPct val="100000"/>
              </a:lnSpc>
              <a:spcBef>
                <a:spcPts val="215"/>
              </a:spcBef>
              <a:buClr>
                <a:srgbClr val="CC0000"/>
              </a:buClr>
              <a:buFont typeface="Wingdings"/>
              <a:buChar char=""/>
              <a:tabLst>
                <a:tab pos="920750" algn="l"/>
                <a:tab pos="921385" algn="l"/>
              </a:tabLst>
            </a:pPr>
            <a:r>
              <a:rPr sz="1800" dirty="0">
                <a:latin typeface="Verdana"/>
                <a:cs typeface="Verdana"/>
              </a:rPr>
              <a:t>Within</a:t>
            </a:r>
            <a:r>
              <a:rPr sz="1800" spc="-5" dirty="0">
                <a:latin typeface="Verdana"/>
                <a:cs typeface="Verdana"/>
              </a:rPr>
              <a:t> servers</a:t>
            </a:r>
            <a:r>
              <a:rPr sz="1800" spc="-30" dirty="0">
                <a:latin typeface="Verdana"/>
                <a:cs typeface="Verdana"/>
              </a:rPr>
              <a:t> </a:t>
            </a:r>
            <a:r>
              <a:rPr sz="1800" dirty="0">
                <a:latin typeface="Verdana"/>
                <a:cs typeface="Verdana"/>
              </a:rPr>
              <a:t>and</a:t>
            </a:r>
            <a:r>
              <a:rPr sz="1800" spc="-15" dirty="0">
                <a:latin typeface="Verdana"/>
                <a:cs typeface="Verdana"/>
              </a:rPr>
              <a:t> </a:t>
            </a:r>
            <a:r>
              <a:rPr sz="1800" spc="-5" dirty="0">
                <a:latin typeface="Verdana"/>
                <a:cs typeface="Verdana"/>
              </a:rPr>
              <a:t>system-on-chips</a:t>
            </a:r>
            <a:r>
              <a:rPr sz="1800" spc="-20" dirty="0">
                <a:latin typeface="Verdana"/>
                <a:cs typeface="Verdana"/>
              </a:rPr>
              <a:t> </a:t>
            </a:r>
            <a:r>
              <a:rPr sz="1800" spc="-5" dirty="0">
                <a:latin typeface="Verdana"/>
                <a:cs typeface="Verdana"/>
              </a:rPr>
              <a:t>(SoCs)</a:t>
            </a:r>
            <a:endParaRPr sz="1800" dirty="0">
              <a:latin typeface="Verdana"/>
              <a:cs typeface="Verdana"/>
            </a:endParaRPr>
          </a:p>
        </p:txBody>
      </p:sp>
      <p:pic>
        <p:nvPicPr>
          <p:cNvPr id="6" name="object 4"/>
          <p:cNvPicPr/>
          <p:nvPr/>
        </p:nvPicPr>
        <p:blipFill>
          <a:blip r:embed="rId3" cstate="print"/>
          <a:stretch>
            <a:fillRect/>
          </a:stretch>
        </p:blipFill>
        <p:spPr>
          <a:xfrm>
            <a:off x="4127753" y="1916429"/>
            <a:ext cx="2914650" cy="1524000"/>
          </a:xfrm>
          <a:prstGeom prst="rect">
            <a:avLst/>
          </a:prstGeom>
        </p:spPr>
      </p:pic>
      <p:sp>
        <p:nvSpPr>
          <p:cNvPr id="7" name="object 5"/>
          <p:cNvSpPr txBox="1"/>
          <p:nvPr/>
        </p:nvSpPr>
        <p:spPr>
          <a:xfrm>
            <a:off x="4467859" y="3554221"/>
            <a:ext cx="2252980" cy="330200"/>
          </a:xfrm>
          <a:prstGeom prst="rect">
            <a:avLst/>
          </a:prstGeom>
        </p:spPr>
        <p:txBody>
          <a:bodyPr vert="horz" wrap="square" lIns="0" tIns="12065" rIns="0" bIns="0" rtlCol="0">
            <a:spAutoFit/>
          </a:bodyPr>
          <a:lstStyle/>
          <a:p>
            <a:pPr marL="12700">
              <a:lnSpc>
                <a:spcPct val="100000"/>
              </a:lnSpc>
              <a:spcBef>
                <a:spcPts val="95"/>
              </a:spcBef>
            </a:pPr>
            <a:r>
              <a:rPr sz="2000" spc="-10" dirty="0">
                <a:latin typeface="Verdana"/>
                <a:cs typeface="Verdana"/>
              </a:rPr>
              <a:t>Pluggable</a:t>
            </a:r>
            <a:r>
              <a:rPr sz="2000" spc="-20" dirty="0">
                <a:latin typeface="Verdana"/>
                <a:cs typeface="Verdana"/>
              </a:rPr>
              <a:t> </a:t>
            </a:r>
            <a:r>
              <a:rPr sz="2000" spc="-10" dirty="0">
                <a:latin typeface="Verdana"/>
                <a:cs typeface="Verdana"/>
              </a:rPr>
              <a:t>Module</a:t>
            </a:r>
            <a:endParaRPr sz="2000">
              <a:latin typeface="Verdana"/>
              <a:cs typeface="Verdana"/>
            </a:endParaRPr>
          </a:p>
        </p:txBody>
      </p:sp>
      <p:grpSp>
        <p:nvGrpSpPr>
          <p:cNvPr id="8" name="object 6"/>
          <p:cNvGrpSpPr/>
          <p:nvPr/>
        </p:nvGrpSpPr>
        <p:grpSpPr>
          <a:xfrm>
            <a:off x="7343393" y="1198314"/>
            <a:ext cx="4460875" cy="4789805"/>
            <a:chOff x="7343393" y="1198314"/>
            <a:chExt cx="4460875" cy="4789805"/>
          </a:xfrm>
        </p:grpSpPr>
        <p:sp>
          <p:nvSpPr>
            <p:cNvPr id="9" name="object 7"/>
            <p:cNvSpPr/>
            <p:nvPr/>
          </p:nvSpPr>
          <p:spPr>
            <a:xfrm>
              <a:off x="7343393" y="3833622"/>
              <a:ext cx="4460875" cy="2154555"/>
            </a:xfrm>
            <a:custGeom>
              <a:avLst/>
              <a:gdLst/>
              <a:ahLst/>
              <a:cxnLst/>
              <a:rect l="l" t="t" r="r" b="b"/>
              <a:pathLst>
                <a:path w="4460875" h="2154554">
                  <a:moveTo>
                    <a:pt x="4460748" y="2154174"/>
                  </a:moveTo>
                  <a:lnTo>
                    <a:pt x="4460748" y="0"/>
                  </a:lnTo>
                  <a:lnTo>
                    <a:pt x="0" y="0"/>
                  </a:lnTo>
                  <a:lnTo>
                    <a:pt x="0" y="2154174"/>
                  </a:lnTo>
                  <a:lnTo>
                    <a:pt x="4460748" y="2154174"/>
                  </a:lnTo>
                  <a:close/>
                </a:path>
              </a:pathLst>
            </a:custGeom>
            <a:solidFill>
              <a:srgbClr val="DAEDF2"/>
            </a:solidFill>
          </p:spPr>
          <p:txBody>
            <a:bodyPr wrap="square" lIns="0" tIns="0" rIns="0" bIns="0" rtlCol="0"/>
            <a:lstStyle/>
            <a:p>
              <a:endParaRPr/>
            </a:p>
          </p:txBody>
        </p:sp>
        <p:pic>
          <p:nvPicPr>
            <p:cNvPr id="10" name="object 8"/>
            <p:cNvPicPr/>
            <p:nvPr/>
          </p:nvPicPr>
          <p:blipFill>
            <a:blip r:embed="rId4" cstate="print"/>
            <a:stretch>
              <a:fillRect/>
            </a:stretch>
          </p:blipFill>
          <p:spPr>
            <a:xfrm>
              <a:off x="7458906" y="2977895"/>
              <a:ext cx="4174096" cy="2500433"/>
            </a:xfrm>
            <a:prstGeom prst="rect">
              <a:avLst/>
            </a:prstGeom>
          </p:spPr>
        </p:pic>
        <p:sp>
          <p:nvSpPr>
            <p:cNvPr id="11" name="object 9"/>
            <p:cNvSpPr/>
            <p:nvPr/>
          </p:nvSpPr>
          <p:spPr>
            <a:xfrm>
              <a:off x="8302751" y="2914650"/>
              <a:ext cx="26034" cy="32384"/>
            </a:xfrm>
            <a:custGeom>
              <a:avLst/>
              <a:gdLst/>
              <a:ahLst/>
              <a:cxnLst/>
              <a:rect l="l" t="t" r="r" b="b"/>
              <a:pathLst>
                <a:path w="26034" h="32385">
                  <a:moveTo>
                    <a:pt x="25907" y="32003"/>
                  </a:moveTo>
                  <a:lnTo>
                    <a:pt x="25907" y="0"/>
                  </a:lnTo>
                  <a:lnTo>
                    <a:pt x="0" y="0"/>
                  </a:lnTo>
                  <a:lnTo>
                    <a:pt x="0" y="32003"/>
                  </a:lnTo>
                  <a:lnTo>
                    <a:pt x="25907" y="32003"/>
                  </a:lnTo>
                  <a:close/>
                </a:path>
              </a:pathLst>
            </a:custGeom>
            <a:solidFill>
              <a:srgbClr val="AA8419"/>
            </a:solidFill>
          </p:spPr>
          <p:txBody>
            <a:bodyPr wrap="square" lIns="0" tIns="0" rIns="0" bIns="0" rtlCol="0"/>
            <a:lstStyle/>
            <a:p>
              <a:endParaRPr/>
            </a:p>
          </p:txBody>
        </p:sp>
        <p:pic>
          <p:nvPicPr>
            <p:cNvPr id="12" name="object 10"/>
            <p:cNvPicPr/>
            <p:nvPr/>
          </p:nvPicPr>
          <p:blipFill>
            <a:blip r:embed="rId5" cstate="print"/>
            <a:stretch>
              <a:fillRect/>
            </a:stretch>
          </p:blipFill>
          <p:spPr>
            <a:xfrm>
              <a:off x="8302751" y="1198314"/>
              <a:ext cx="2486405" cy="1635563"/>
            </a:xfrm>
            <a:prstGeom prst="rect">
              <a:avLst/>
            </a:prstGeom>
          </p:spPr>
        </p:pic>
        <p:sp>
          <p:nvSpPr>
            <p:cNvPr id="13" name="object 11"/>
            <p:cNvSpPr/>
            <p:nvPr/>
          </p:nvSpPr>
          <p:spPr>
            <a:xfrm>
              <a:off x="8302752" y="2849117"/>
              <a:ext cx="2486660" cy="88900"/>
            </a:xfrm>
            <a:custGeom>
              <a:avLst/>
              <a:gdLst/>
              <a:ahLst/>
              <a:cxnLst/>
              <a:rect l="l" t="t" r="r" b="b"/>
              <a:pathLst>
                <a:path w="2486659" h="88900">
                  <a:moveTo>
                    <a:pt x="25908" y="9144"/>
                  </a:moveTo>
                  <a:lnTo>
                    <a:pt x="0" y="9144"/>
                  </a:lnTo>
                  <a:lnTo>
                    <a:pt x="0" y="41148"/>
                  </a:lnTo>
                  <a:lnTo>
                    <a:pt x="25908" y="41148"/>
                  </a:lnTo>
                  <a:lnTo>
                    <a:pt x="25908" y="9144"/>
                  </a:lnTo>
                  <a:close/>
                </a:path>
                <a:path w="2486659" h="88900">
                  <a:moveTo>
                    <a:pt x="2486406" y="56388"/>
                  </a:moveTo>
                  <a:lnTo>
                    <a:pt x="2460498" y="56388"/>
                  </a:lnTo>
                  <a:lnTo>
                    <a:pt x="2460498" y="88392"/>
                  </a:lnTo>
                  <a:lnTo>
                    <a:pt x="2486406" y="88392"/>
                  </a:lnTo>
                  <a:lnTo>
                    <a:pt x="2486406" y="56388"/>
                  </a:lnTo>
                  <a:close/>
                </a:path>
                <a:path w="2486659" h="88900">
                  <a:moveTo>
                    <a:pt x="2486406" y="0"/>
                  </a:moveTo>
                  <a:lnTo>
                    <a:pt x="2460498" y="0"/>
                  </a:lnTo>
                  <a:lnTo>
                    <a:pt x="2460498" y="32004"/>
                  </a:lnTo>
                  <a:lnTo>
                    <a:pt x="2486406" y="32004"/>
                  </a:lnTo>
                  <a:lnTo>
                    <a:pt x="2486406" y="0"/>
                  </a:lnTo>
                  <a:close/>
                </a:path>
              </a:pathLst>
            </a:custGeom>
            <a:solidFill>
              <a:srgbClr val="AA8419"/>
            </a:solidFill>
          </p:spPr>
          <p:txBody>
            <a:bodyPr wrap="square" lIns="0" tIns="0" rIns="0" bIns="0" rtlCol="0"/>
            <a:lstStyle/>
            <a:p>
              <a:endParaRPr/>
            </a:p>
          </p:txBody>
        </p:sp>
      </p:grpSp>
      <p:sp>
        <p:nvSpPr>
          <p:cNvPr id="14" name="object 12"/>
          <p:cNvSpPr txBox="1"/>
          <p:nvPr/>
        </p:nvSpPr>
        <p:spPr>
          <a:xfrm>
            <a:off x="8151876" y="5364302"/>
            <a:ext cx="363220" cy="386715"/>
          </a:xfrm>
          <a:prstGeom prst="rect">
            <a:avLst/>
          </a:prstGeom>
        </p:spPr>
        <p:txBody>
          <a:bodyPr vert="horz" wrap="square" lIns="0" tIns="14604" rIns="0" bIns="0" rtlCol="0">
            <a:spAutoFit/>
          </a:bodyPr>
          <a:lstStyle/>
          <a:p>
            <a:pPr>
              <a:lnSpc>
                <a:spcPct val="100000"/>
              </a:lnSpc>
              <a:spcBef>
                <a:spcPts val="114"/>
              </a:spcBef>
            </a:pPr>
            <a:r>
              <a:rPr sz="2350" spc="25" dirty="0">
                <a:latin typeface="Calibri"/>
                <a:cs typeface="Calibri"/>
              </a:rPr>
              <a:t>DC</a:t>
            </a:r>
            <a:endParaRPr sz="2350">
              <a:latin typeface="Calibri"/>
              <a:cs typeface="Calibri"/>
            </a:endParaRPr>
          </a:p>
        </p:txBody>
      </p:sp>
      <p:sp>
        <p:nvSpPr>
          <p:cNvPr id="15" name="object 13"/>
          <p:cNvSpPr txBox="1"/>
          <p:nvPr/>
        </p:nvSpPr>
        <p:spPr>
          <a:xfrm>
            <a:off x="10632814" y="5364302"/>
            <a:ext cx="363220" cy="386715"/>
          </a:xfrm>
          <a:prstGeom prst="rect">
            <a:avLst/>
          </a:prstGeom>
        </p:spPr>
        <p:txBody>
          <a:bodyPr vert="horz" wrap="square" lIns="0" tIns="14604" rIns="0" bIns="0" rtlCol="0">
            <a:spAutoFit/>
          </a:bodyPr>
          <a:lstStyle/>
          <a:p>
            <a:pPr>
              <a:lnSpc>
                <a:spcPct val="100000"/>
              </a:lnSpc>
              <a:spcBef>
                <a:spcPts val="114"/>
              </a:spcBef>
            </a:pPr>
            <a:r>
              <a:rPr sz="2350" spc="25" dirty="0">
                <a:latin typeface="Calibri"/>
                <a:cs typeface="Calibri"/>
              </a:rPr>
              <a:t>DC</a:t>
            </a:r>
            <a:endParaRPr sz="2350">
              <a:latin typeface="Calibri"/>
              <a:cs typeface="Calibri"/>
            </a:endParaRPr>
          </a:p>
        </p:txBody>
      </p:sp>
      <p:sp>
        <p:nvSpPr>
          <p:cNvPr id="16" name="object 14"/>
          <p:cNvSpPr txBox="1"/>
          <p:nvPr/>
        </p:nvSpPr>
        <p:spPr>
          <a:xfrm>
            <a:off x="9366763" y="2714827"/>
            <a:ext cx="377190" cy="386715"/>
          </a:xfrm>
          <a:prstGeom prst="rect">
            <a:avLst/>
          </a:prstGeom>
        </p:spPr>
        <p:txBody>
          <a:bodyPr vert="horz" wrap="square" lIns="0" tIns="14604" rIns="0" bIns="0" rtlCol="0">
            <a:spAutoFit/>
          </a:bodyPr>
          <a:lstStyle/>
          <a:p>
            <a:pPr marL="12700">
              <a:lnSpc>
                <a:spcPct val="100000"/>
              </a:lnSpc>
              <a:spcBef>
                <a:spcPts val="114"/>
              </a:spcBef>
            </a:pPr>
            <a:r>
              <a:rPr sz="2350" spc="30" dirty="0">
                <a:latin typeface="Calibri"/>
                <a:cs typeface="Calibri"/>
              </a:rPr>
              <a:t>DC</a:t>
            </a:r>
            <a:endParaRPr sz="2350">
              <a:latin typeface="Calibri"/>
              <a:cs typeface="Calibri"/>
            </a:endParaRPr>
          </a:p>
        </p:txBody>
      </p:sp>
      <p:sp>
        <p:nvSpPr>
          <p:cNvPr id="17" name="object 15"/>
          <p:cNvSpPr txBox="1"/>
          <p:nvPr/>
        </p:nvSpPr>
        <p:spPr>
          <a:xfrm>
            <a:off x="10827511" y="2674427"/>
            <a:ext cx="859790" cy="318770"/>
          </a:xfrm>
          <a:prstGeom prst="rect">
            <a:avLst/>
          </a:prstGeom>
        </p:spPr>
        <p:txBody>
          <a:bodyPr vert="horz" wrap="square" lIns="0" tIns="15240" rIns="0" bIns="0" rtlCol="0">
            <a:spAutoFit/>
          </a:bodyPr>
          <a:lstStyle/>
          <a:p>
            <a:pPr marL="12700">
              <a:lnSpc>
                <a:spcPct val="100000"/>
              </a:lnSpc>
              <a:spcBef>
                <a:spcPts val="120"/>
              </a:spcBef>
            </a:pPr>
            <a:r>
              <a:rPr sz="1900" spc="80" dirty="0">
                <a:latin typeface="Calibri"/>
                <a:cs typeface="Calibri"/>
              </a:rPr>
              <a:t>&gt;</a:t>
            </a:r>
            <a:r>
              <a:rPr sz="1900" spc="-80" dirty="0">
                <a:latin typeface="Calibri"/>
                <a:cs typeface="Calibri"/>
              </a:rPr>
              <a:t>1</a:t>
            </a:r>
            <a:r>
              <a:rPr sz="1900" spc="70" dirty="0">
                <a:latin typeface="Calibri"/>
                <a:cs typeface="Calibri"/>
              </a:rPr>
              <a:t>00</a:t>
            </a:r>
            <a:r>
              <a:rPr sz="1900" spc="40" dirty="0">
                <a:latin typeface="Calibri"/>
                <a:cs typeface="Calibri"/>
              </a:rPr>
              <a:t>K</a:t>
            </a:r>
            <a:r>
              <a:rPr sz="1900" spc="15" dirty="0">
                <a:latin typeface="Calibri"/>
                <a:cs typeface="Calibri"/>
              </a:rPr>
              <a:t>m</a:t>
            </a:r>
            <a:endParaRPr sz="1900">
              <a:latin typeface="Calibri"/>
              <a:cs typeface="Calibri"/>
            </a:endParaRPr>
          </a:p>
        </p:txBody>
      </p:sp>
      <p:sp>
        <p:nvSpPr>
          <p:cNvPr id="18" name="object 16"/>
          <p:cNvSpPr txBox="1"/>
          <p:nvPr/>
        </p:nvSpPr>
        <p:spPr>
          <a:xfrm>
            <a:off x="9134107" y="4729540"/>
            <a:ext cx="847725" cy="318770"/>
          </a:xfrm>
          <a:prstGeom prst="rect">
            <a:avLst/>
          </a:prstGeom>
        </p:spPr>
        <p:txBody>
          <a:bodyPr vert="horz" wrap="square" lIns="0" tIns="15240" rIns="0" bIns="0" rtlCol="0">
            <a:spAutoFit/>
          </a:bodyPr>
          <a:lstStyle/>
          <a:p>
            <a:pPr>
              <a:lnSpc>
                <a:spcPct val="100000"/>
              </a:lnSpc>
              <a:spcBef>
                <a:spcPts val="120"/>
              </a:spcBef>
            </a:pPr>
            <a:r>
              <a:rPr sz="1900" spc="85" dirty="0">
                <a:latin typeface="Calibri"/>
                <a:cs typeface="Calibri"/>
              </a:rPr>
              <a:t>&lt;</a:t>
            </a:r>
            <a:r>
              <a:rPr sz="1900" spc="-80" dirty="0">
                <a:latin typeface="Calibri"/>
                <a:cs typeface="Calibri"/>
              </a:rPr>
              <a:t>1</a:t>
            </a:r>
            <a:r>
              <a:rPr sz="1900" spc="65" dirty="0">
                <a:latin typeface="Calibri"/>
                <a:cs typeface="Calibri"/>
              </a:rPr>
              <a:t>0</a:t>
            </a:r>
            <a:r>
              <a:rPr sz="1900" spc="70" dirty="0">
                <a:latin typeface="Calibri"/>
                <a:cs typeface="Calibri"/>
              </a:rPr>
              <a:t>0</a:t>
            </a:r>
            <a:r>
              <a:rPr sz="1900" spc="45" dirty="0">
                <a:latin typeface="Calibri"/>
                <a:cs typeface="Calibri"/>
              </a:rPr>
              <a:t>K</a:t>
            </a:r>
            <a:r>
              <a:rPr sz="1900" spc="15" dirty="0">
                <a:latin typeface="Calibri"/>
                <a:cs typeface="Calibri"/>
              </a:rPr>
              <a:t>m</a:t>
            </a:r>
            <a:endParaRPr sz="1900">
              <a:latin typeface="Calibri"/>
              <a:cs typeface="Calibri"/>
            </a:endParaRPr>
          </a:p>
        </p:txBody>
      </p:sp>
      <p:sp>
        <p:nvSpPr>
          <p:cNvPr id="19" name="object 17"/>
          <p:cNvSpPr txBox="1"/>
          <p:nvPr/>
        </p:nvSpPr>
        <p:spPr>
          <a:xfrm>
            <a:off x="8863583" y="5530418"/>
            <a:ext cx="1333500" cy="386715"/>
          </a:xfrm>
          <a:prstGeom prst="rect">
            <a:avLst/>
          </a:prstGeom>
        </p:spPr>
        <p:txBody>
          <a:bodyPr vert="horz" wrap="square" lIns="0" tIns="14604" rIns="0" bIns="0" rtlCol="0">
            <a:spAutoFit/>
          </a:bodyPr>
          <a:lstStyle/>
          <a:p>
            <a:pPr>
              <a:lnSpc>
                <a:spcPct val="100000"/>
              </a:lnSpc>
              <a:spcBef>
                <a:spcPts val="114"/>
              </a:spcBef>
            </a:pPr>
            <a:r>
              <a:rPr sz="2350" spc="5" dirty="0">
                <a:latin typeface="Calibri"/>
                <a:cs typeface="Calibri"/>
              </a:rPr>
              <a:t>Co-located</a:t>
            </a:r>
            <a:endParaRPr sz="2350">
              <a:latin typeface="Calibri"/>
              <a:cs typeface="Calibri"/>
            </a:endParaRPr>
          </a:p>
        </p:txBody>
      </p:sp>
      <p:sp>
        <p:nvSpPr>
          <p:cNvPr id="20" name="object 18"/>
          <p:cNvSpPr txBox="1"/>
          <p:nvPr/>
        </p:nvSpPr>
        <p:spPr>
          <a:xfrm>
            <a:off x="6114541" y="2686303"/>
            <a:ext cx="467359" cy="185420"/>
          </a:xfrm>
          <a:prstGeom prst="rect">
            <a:avLst/>
          </a:prstGeom>
        </p:spPr>
        <p:txBody>
          <a:bodyPr vert="horz" wrap="square" lIns="0" tIns="12700" rIns="0" bIns="0" rtlCol="0">
            <a:spAutoFit/>
          </a:bodyPr>
          <a:lstStyle/>
          <a:p>
            <a:pPr marL="12700">
              <a:lnSpc>
                <a:spcPct val="100000"/>
              </a:lnSpc>
              <a:spcBef>
                <a:spcPts val="100"/>
              </a:spcBef>
            </a:pPr>
            <a:r>
              <a:rPr sz="1050" spc="-5" dirty="0">
                <a:latin typeface="Verdana"/>
                <a:cs typeface="Verdana"/>
              </a:rPr>
              <a:t>©Intel</a:t>
            </a:r>
            <a:endParaRPr sz="1050">
              <a:latin typeface="Verdana"/>
              <a:cs typeface="Verdana"/>
            </a:endParaRPr>
          </a:p>
        </p:txBody>
      </p:sp>
      <p:sp>
        <p:nvSpPr>
          <p:cNvPr id="2" name="Slide Number Placeholder 1"/>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8</a:t>
            </a:fld>
            <a:endParaRPr lang="en-US" spc="-50" dirty="0"/>
          </a:p>
        </p:txBody>
      </p:sp>
      <p:sp>
        <p:nvSpPr>
          <p:cNvPr id="3" name="Date Placeholder 2"/>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21" name="Footer Placeholder 2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43071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4" grpId="0"/>
      <p:bldP spid="15" grpId="0"/>
      <p:bldP spid="16" grpId="0"/>
      <p:bldP spid="17" grpId="0"/>
      <p:bldP spid="18" grpId="0"/>
      <p:bldP spid="19"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Trend</a:t>
            </a:r>
            <a:r>
              <a:rPr spc="-40" dirty="0"/>
              <a:t> </a:t>
            </a:r>
            <a:r>
              <a:rPr dirty="0"/>
              <a:t>of</a:t>
            </a:r>
            <a:r>
              <a:rPr spc="-30" dirty="0"/>
              <a:t> </a:t>
            </a:r>
            <a:r>
              <a:rPr spc="-10" dirty="0"/>
              <a:t>Ever-</a:t>
            </a:r>
            <a:r>
              <a:rPr dirty="0"/>
              <a:t>Increasing</a:t>
            </a:r>
            <a:r>
              <a:rPr spc="-35" dirty="0"/>
              <a:t> </a:t>
            </a:r>
            <a:r>
              <a:rPr dirty="0"/>
              <a:t>Data</a:t>
            </a:r>
            <a:r>
              <a:rPr spc="-35" dirty="0"/>
              <a:t> </a:t>
            </a:r>
            <a:r>
              <a:rPr spc="-20" dirty="0"/>
              <a:t>Rate</a:t>
            </a:r>
          </a:p>
        </p:txBody>
      </p:sp>
      <p:sp>
        <p:nvSpPr>
          <p:cNvPr id="3" name="object 3"/>
          <p:cNvSpPr txBox="1"/>
          <p:nvPr/>
        </p:nvSpPr>
        <p:spPr>
          <a:xfrm>
            <a:off x="834644" y="4803140"/>
            <a:ext cx="10168255" cy="1342390"/>
          </a:xfrm>
          <a:prstGeom prst="rect">
            <a:avLst/>
          </a:prstGeom>
        </p:spPr>
        <p:txBody>
          <a:bodyPr vert="horz" wrap="square" lIns="0" tIns="85725" rIns="0" bIns="0" rtlCol="0">
            <a:spAutoFit/>
          </a:bodyPr>
          <a:lstStyle/>
          <a:p>
            <a:pPr marL="482600" indent="-469900">
              <a:lnSpc>
                <a:spcPct val="100000"/>
              </a:lnSpc>
              <a:spcBef>
                <a:spcPts val="675"/>
              </a:spcBef>
              <a:buClr>
                <a:srgbClr val="CC0000"/>
              </a:buClr>
              <a:buSzPct val="79166"/>
              <a:buFont typeface="Wingdings"/>
              <a:buChar char=""/>
              <a:tabLst>
                <a:tab pos="482600" algn="l"/>
              </a:tabLst>
            </a:pPr>
            <a:r>
              <a:rPr sz="2400" dirty="0">
                <a:solidFill>
                  <a:srgbClr val="FFC000"/>
                </a:solidFill>
                <a:latin typeface="Verdana"/>
                <a:cs typeface="Verdana"/>
              </a:rPr>
              <a:t>PAM4</a:t>
            </a:r>
            <a:r>
              <a:rPr sz="2400" spc="-65" dirty="0">
                <a:solidFill>
                  <a:srgbClr val="FFC000"/>
                </a:solidFill>
                <a:latin typeface="Verdana"/>
                <a:cs typeface="Verdana"/>
              </a:rPr>
              <a:t> </a:t>
            </a:r>
            <a:r>
              <a:rPr sz="2400" dirty="0">
                <a:latin typeface="Verdana"/>
                <a:cs typeface="Verdana"/>
              </a:rPr>
              <a:t>based</a:t>
            </a:r>
            <a:r>
              <a:rPr sz="2400" spc="-55" dirty="0">
                <a:latin typeface="Verdana"/>
                <a:cs typeface="Verdana"/>
              </a:rPr>
              <a:t> </a:t>
            </a:r>
            <a:r>
              <a:rPr sz="2400" dirty="0">
                <a:latin typeface="Verdana"/>
                <a:cs typeface="Verdana"/>
              </a:rPr>
              <a:t>transceivers</a:t>
            </a:r>
            <a:r>
              <a:rPr sz="2400" spc="-55" dirty="0">
                <a:latin typeface="Verdana"/>
                <a:cs typeface="Verdana"/>
              </a:rPr>
              <a:t> </a:t>
            </a:r>
            <a:r>
              <a:rPr sz="2400" dirty="0">
                <a:latin typeface="Verdana"/>
                <a:cs typeface="Verdana"/>
              </a:rPr>
              <a:t>drive</a:t>
            </a:r>
            <a:r>
              <a:rPr sz="2400" spc="-60" dirty="0">
                <a:latin typeface="Verdana"/>
                <a:cs typeface="Verdana"/>
              </a:rPr>
              <a:t> </a:t>
            </a:r>
            <a:r>
              <a:rPr sz="2400" dirty="0">
                <a:latin typeface="Verdana"/>
                <a:cs typeface="Verdana"/>
              </a:rPr>
              <a:t>the</a:t>
            </a:r>
            <a:r>
              <a:rPr sz="2400" spc="-55" dirty="0">
                <a:latin typeface="Verdana"/>
                <a:cs typeface="Verdana"/>
              </a:rPr>
              <a:t> </a:t>
            </a:r>
            <a:r>
              <a:rPr sz="2400" dirty="0">
                <a:latin typeface="Verdana"/>
                <a:cs typeface="Verdana"/>
              </a:rPr>
              <a:t>data</a:t>
            </a:r>
            <a:r>
              <a:rPr sz="2400" spc="-55" dirty="0">
                <a:latin typeface="Verdana"/>
                <a:cs typeface="Verdana"/>
              </a:rPr>
              <a:t> </a:t>
            </a:r>
            <a:r>
              <a:rPr sz="2400" dirty="0">
                <a:latin typeface="Verdana"/>
                <a:cs typeface="Verdana"/>
              </a:rPr>
              <a:t>rate</a:t>
            </a:r>
            <a:r>
              <a:rPr sz="2400" spc="-70" dirty="0">
                <a:latin typeface="Verdana"/>
                <a:cs typeface="Verdana"/>
              </a:rPr>
              <a:t> </a:t>
            </a:r>
            <a:r>
              <a:rPr sz="2400" dirty="0">
                <a:latin typeface="Verdana"/>
                <a:cs typeface="Verdana"/>
              </a:rPr>
              <a:t>beyond</a:t>
            </a:r>
            <a:r>
              <a:rPr sz="2400" spc="-65" dirty="0">
                <a:latin typeface="Verdana"/>
                <a:cs typeface="Verdana"/>
              </a:rPr>
              <a:t> </a:t>
            </a:r>
            <a:r>
              <a:rPr sz="2400" spc="-10" dirty="0">
                <a:solidFill>
                  <a:srgbClr val="FFC000"/>
                </a:solidFill>
                <a:latin typeface="Verdana"/>
                <a:cs typeface="Verdana"/>
              </a:rPr>
              <a:t>100GBit/s</a:t>
            </a:r>
            <a:endParaRPr sz="2400" dirty="0">
              <a:latin typeface="Verdana"/>
              <a:cs typeface="Verdana"/>
            </a:endParaRPr>
          </a:p>
          <a:p>
            <a:pPr marL="482600" indent="-469900">
              <a:lnSpc>
                <a:spcPct val="100000"/>
              </a:lnSpc>
              <a:spcBef>
                <a:spcPts val="575"/>
              </a:spcBef>
              <a:buClr>
                <a:srgbClr val="CC0000"/>
              </a:buClr>
              <a:buSzPct val="79166"/>
              <a:buFont typeface="Wingdings"/>
              <a:buChar char=""/>
              <a:tabLst>
                <a:tab pos="482600" algn="l"/>
              </a:tabLst>
            </a:pPr>
            <a:r>
              <a:rPr sz="2400" dirty="0">
                <a:solidFill>
                  <a:srgbClr val="FFC000"/>
                </a:solidFill>
                <a:latin typeface="Verdana"/>
                <a:cs typeface="Verdana"/>
              </a:rPr>
              <a:t>7nm</a:t>
            </a:r>
            <a:r>
              <a:rPr sz="2400" spc="-60" dirty="0">
                <a:solidFill>
                  <a:srgbClr val="FFC000"/>
                </a:solidFill>
                <a:latin typeface="Verdana"/>
                <a:cs typeface="Verdana"/>
              </a:rPr>
              <a:t> </a:t>
            </a:r>
            <a:r>
              <a:rPr sz="2400" dirty="0">
                <a:solidFill>
                  <a:srgbClr val="FFC000"/>
                </a:solidFill>
                <a:latin typeface="Verdana"/>
                <a:cs typeface="Verdana"/>
              </a:rPr>
              <a:t>CMOS</a:t>
            </a:r>
            <a:r>
              <a:rPr sz="2400" spc="-90" dirty="0">
                <a:solidFill>
                  <a:srgbClr val="FFC000"/>
                </a:solidFill>
                <a:latin typeface="Verdana"/>
                <a:cs typeface="Verdana"/>
              </a:rPr>
              <a:t> </a:t>
            </a:r>
            <a:r>
              <a:rPr sz="2400" dirty="0">
                <a:latin typeface="Verdana"/>
                <a:cs typeface="Verdana"/>
              </a:rPr>
              <a:t>technology</a:t>
            </a:r>
            <a:r>
              <a:rPr sz="2400" spc="-45" dirty="0">
                <a:latin typeface="Verdana"/>
                <a:cs typeface="Verdana"/>
              </a:rPr>
              <a:t> </a:t>
            </a:r>
            <a:r>
              <a:rPr sz="2400" dirty="0">
                <a:latin typeface="Verdana"/>
                <a:cs typeface="Verdana"/>
              </a:rPr>
              <a:t>enables</a:t>
            </a:r>
            <a:r>
              <a:rPr sz="2400" spc="-60" dirty="0">
                <a:latin typeface="Verdana"/>
                <a:cs typeface="Verdana"/>
              </a:rPr>
              <a:t> </a:t>
            </a:r>
            <a:r>
              <a:rPr sz="2400" spc="-20" dirty="0">
                <a:latin typeface="Verdana"/>
                <a:cs typeface="Verdana"/>
              </a:rPr>
              <a:t>power-</a:t>
            </a:r>
            <a:r>
              <a:rPr sz="2400" dirty="0">
                <a:latin typeface="Verdana"/>
                <a:cs typeface="Verdana"/>
              </a:rPr>
              <a:t>efficiency</a:t>
            </a:r>
            <a:r>
              <a:rPr sz="2400" spc="-55" dirty="0">
                <a:latin typeface="Verdana"/>
                <a:cs typeface="Verdana"/>
              </a:rPr>
              <a:t> </a:t>
            </a:r>
            <a:r>
              <a:rPr sz="2400" spc="-10" dirty="0">
                <a:solidFill>
                  <a:srgbClr val="FFC000"/>
                </a:solidFill>
                <a:latin typeface="Verdana"/>
                <a:cs typeface="Verdana"/>
              </a:rPr>
              <a:t>&lt;10pJ/conv.</a:t>
            </a:r>
            <a:endParaRPr sz="2400" dirty="0">
              <a:latin typeface="Verdana"/>
              <a:cs typeface="Verdana"/>
            </a:endParaRPr>
          </a:p>
          <a:p>
            <a:pPr marL="482600" indent="-469900">
              <a:lnSpc>
                <a:spcPct val="100000"/>
              </a:lnSpc>
              <a:spcBef>
                <a:spcPts val="575"/>
              </a:spcBef>
              <a:buClr>
                <a:srgbClr val="CC0000"/>
              </a:buClr>
              <a:buSzPct val="79166"/>
              <a:buFont typeface="Wingdings"/>
              <a:buChar char=""/>
              <a:tabLst>
                <a:tab pos="482600" algn="l"/>
              </a:tabLst>
            </a:pPr>
            <a:r>
              <a:rPr sz="2400" dirty="0">
                <a:latin typeface="Verdana"/>
                <a:cs typeface="Verdana"/>
              </a:rPr>
              <a:t>Details</a:t>
            </a:r>
            <a:r>
              <a:rPr sz="2400" spc="-70" dirty="0">
                <a:latin typeface="Verdana"/>
                <a:cs typeface="Verdana"/>
              </a:rPr>
              <a:t> </a:t>
            </a:r>
            <a:r>
              <a:rPr sz="2400" dirty="0">
                <a:latin typeface="Verdana"/>
                <a:cs typeface="Verdana"/>
              </a:rPr>
              <a:t>of</a:t>
            </a:r>
            <a:r>
              <a:rPr sz="2400" spc="-70" dirty="0">
                <a:latin typeface="Verdana"/>
                <a:cs typeface="Verdana"/>
              </a:rPr>
              <a:t> </a:t>
            </a:r>
            <a:r>
              <a:rPr sz="2400" dirty="0">
                <a:latin typeface="Verdana"/>
                <a:cs typeface="Verdana"/>
              </a:rPr>
              <a:t>the</a:t>
            </a:r>
            <a:r>
              <a:rPr sz="2400" spc="-70" dirty="0">
                <a:latin typeface="Verdana"/>
                <a:cs typeface="Verdana"/>
              </a:rPr>
              <a:t> </a:t>
            </a:r>
            <a:r>
              <a:rPr sz="2400" dirty="0">
                <a:latin typeface="Verdana"/>
                <a:cs typeface="Verdana"/>
              </a:rPr>
              <a:t>wireline</a:t>
            </a:r>
            <a:r>
              <a:rPr sz="2400" spc="-55" dirty="0">
                <a:latin typeface="Verdana"/>
                <a:cs typeface="Verdana"/>
              </a:rPr>
              <a:t> </a:t>
            </a:r>
            <a:r>
              <a:rPr sz="2400" dirty="0">
                <a:latin typeface="Verdana"/>
                <a:cs typeface="Verdana"/>
              </a:rPr>
              <a:t>transceiver</a:t>
            </a:r>
            <a:r>
              <a:rPr sz="2400" spc="-70" dirty="0">
                <a:latin typeface="Verdana"/>
                <a:cs typeface="Verdana"/>
              </a:rPr>
              <a:t> </a:t>
            </a:r>
            <a:r>
              <a:rPr sz="2400" dirty="0">
                <a:latin typeface="Verdana"/>
                <a:cs typeface="Verdana"/>
              </a:rPr>
              <a:t>survey:</a:t>
            </a:r>
            <a:r>
              <a:rPr sz="2400" spc="-70" dirty="0">
                <a:latin typeface="Verdana"/>
                <a:cs typeface="Verdana"/>
              </a:rPr>
              <a:t> </a:t>
            </a:r>
            <a:r>
              <a:rPr sz="2400" dirty="0">
                <a:latin typeface="Verdana"/>
                <a:cs typeface="Verdana"/>
              </a:rPr>
              <a:t>[1],</a:t>
            </a:r>
            <a:r>
              <a:rPr sz="2400" spc="-85" dirty="0">
                <a:latin typeface="Verdana"/>
                <a:cs typeface="Verdana"/>
              </a:rPr>
              <a:t> </a:t>
            </a:r>
            <a:r>
              <a:rPr sz="2400" spc="-25" dirty="0">
                <a:latin typeface="Verdana"/>
                <a:cs typeface="Verdana"/>
              </a:rPr>
              <a:t>[2]</a:t>
            </a:r>
            <a:endParaRPr sz="2400" dirty="0">
              <a:latin typeface="Verdana"/>
              <a:cs typeface="Verdana"/>
            </a:endParaRPr>
          </a:p>
        </p:txBody>
      </p:sp>
      <p:grpSp>
        <p:nvGrpSpPr>
          <p:cNvPr id="4" name="object 4"/>
          <p:cNvGrpSpPr/>
          <p:nvPr/>
        </p:nvGrpSpPr>
        <p:grpSpPr>
          <a:xfrm>
            <a:off x="689609" y="1141475"/>
            <a:ext cx="11252200" cy="3705860"/>
            <a:chOff x="689609" y="1141475"/>
            <a:chExt cx="11252200" cy="3705860"/>
          </a:xfrm>
        </p:grpSpPr>
        <p:pic>
          <p:nvPicPr>
            <p:cNvPr id="5" name="object 5"/>
            <p:cNvPicPr/>
            <p:nvPr/>
          </p:nvPicPr>
          <p:blipFill>
            <a:blip r:embed="rId2" cstate="print"/>
            <a:stretch>
              <a:fillRect/>
            </a:stretch>
          </p:blipFill>
          <p:spPr>
            <a:xfrm>
              <a:off x="689609" y="1171955"/>
              <a:ext cx="11251692" cy="3675126"/>
            </a:xfrm>
            <a:prstGeom prst="rect">
              <a:avLst/>
            </a:prstGeom>
          </p:spPr>
        </p:pic>
        <p:sp>
          <p:nvSpPr>
            <p:cNvPr id="6" name="object 6"/>
            <p:cNvSpPr/>
            <p:nvPr/>
          </p:nvSpPr>
          <p:spPr>
            <a:xfrm>
              <a:off x="3027426" y="1677161"/>
              <a:ext cx="8243570" cy="1891030"/>
            </a:xfrm>
            <a:custGeom>
              <a:avLst/>
              <a:gdLst/>
              <a:ahLst/>
              <a:cxnLst/>
              <a:rect l="l" t="t" r="r" b="b"/>
              <a:pathLst>
                <a:path w="8243570" h="1891029">
                  <a:moveTo>
                    <a:pt x="1682496" y="216408"/>
                  </a:moveTo>
                  <a:lnTo>
                    <a:pt x="1662684" y="25908"/>
                  </a:lnTo>
                  <a:lnTo>
                    <a:pt x="1522476" y="156210"/>
                  </a:lnTo>
                  <a:lnTo>
                    <a:pt x="1575676" y="176225"/>
                  </a:lnTo>
                  <a:lnTo>
                    <a:pt x="1557528" y="224790"/>
                  </a:lnTo>
                  <a:lnTo>
                    <a:pt x="1538478" y="272796"/>
                  </a:lnTo>
                  <a:lnTo>
                    <a:pt x="1501140" y="363474"/>
                  </a:lnTo>
                  <a:lnTo>
                    <a:pt x="1482090" y="406908"/>
                  </a:lnTo>
                  <a:lnTo>
                    <a:pt x="1463802" y="449580"/>
                  </a:lnTo>
                  <a:lnTo>
                    <a:pt x="1427226" y="530352"/>
                  </a:lnTo>
                  <a:lnTo>
                    <a:pt x="1390650" y="606552"/>
                  </a:lnTo>
                  <a:lnTo>
                    <a:pt x="1371600" y="643128"/>
                  </a:lnTo>
                  <a:lnTo>
                    <a:pt x="1353312" y="678942"/>
                  </a:lnTo>
                  <a:lnTo>
                    <a:pt x="1334262" y="713994"/>
                  </a:lnTo>
                  <a:lnTo>
                    <a:pt x="1295400" y="781812"/>
                  </a:lnTo>
                  <a:lnTo>
                    <a:pt x="1255776" y="847344"/>
                  </a:lnTo>
                  <a:lnTo>
                    <a:pt x="1213866" y="911352"/>
                  </a:lnTo>
                  <a:lnTo>
                    <a:pt x="1170432" y="973836"/>
                  </a:lnTo>
                  <a:lnTo>
                    <a:pt x="1124712" y="1036320"/>
                  </a:lnTo>
                  <a:lnTo>
                    <a:pt x="1076706" y="1098804"/>
                  </a:lnTo>
                  <a:lnTo>
                    <a:pt x="1051560" y="1130046"/>
                  </a:lnTo>
                  <a:lnTo>
                    <a:pt x="998220" y="1194054"/>
                  </a:lnTo>
                  <a:lnTo>
                    <a:pt x="970788" y="1226058"/>
                  </a:lnTo>
                  <a:lnTo>
                    <a:pt x="942594" y="1258062"/>
                  </a:lnTo>
                  <a:lnTo>
                    <a:pt x="915162" y="1288542"/>
                  </a:lnTo>
                  <a:lnTo>
                    <a:pt x="886968" y="1318260"/>
                  </a:lnTo>
                  <a:lnTo>
                    <a:pt x="858774" y="1347216"/>
                  </a:lnTo>
                  <a:lnTo>
                    <a:pt x="803148" y="1401318"/>
                  </a:lnTo>
                  <a:lnTo>
                    <a:pt x="774954" y="1427226"/>
                  </a:lnTo>
                  <a:lnTo>
                    <a:pt x="718566" y="1475232"/>
                  </a:lnTo>
                  <a:lnTo>
                    <a:pt x="661416" y="1520190"/>
                  </a:lnTo>
                  <a:lnTo>
                    <a:pt x="603504" y="1562100"/>
                  </a:lnTo>
                  <a:lnTo>
                    <a:pt x="516636" y="1618488"/>
                  </a:lnTo>
                  <a:lnTo>
                    <a:pt x="456438" y="1652778"/>
                  </a:lnTo>
                  <a:lnTo>
                    <a:pt x="396240" y="1684782"/>
                  </a:lnTo>
                  <a:lnTo>
                    <a:pt x="333756" y="1714500"/>
                  </a:lnTo>
                  <a:lnTo>
                    <a:pt x="270510" y="1741932"/>
                  </a:lnTo>
                  <a:lnTo>
                    <a:pt x="205740" y="1767840"/>
                  </a:lnTo>
                  <a:lnTo>
                    <a:pt x="139446" y="1791462"/>
                  </a:lnTo>
                  <a:lnTo>
                    <a:pt x="70866" y="1814322"/>
                  </a:lnTo>
                  <a:lnTo>
                    <a:pt x="0" y="1835658"/>
                  </a:lnTo>
                  <a:lnTo>
                    <a:pt x="16764" y="1890522"/>
                  </a:lnTo>
                  <a:lnTo>
                    <a:pt x="87630" y="1869186"/>
                  </a:lnTo>
                  <a:lnTo>
                    <a:pt x="156972" y="1845564"/>
                  </a:lnTo>
                  <a:lnTo>
                    <a:pt x="224790" y="1821180"/>
                  </a:lnTo>
                  <a:lnTo>
                    <a:pt x="291846" y="1795272"/>
                  </a:lnTo>
                  <a:lnTo>
                    <a:pt x="356616" y="1767078"/>
                  </a:lnTo>
                  <a:lnTo>
                    <a:pt x="420624" y="1736598"/>
                  </a:lnTo>
                  <a:lnTo>
                    <a:pt x="483108" y="1703070"/>
                  </a:lnTo>
                  <a:lnTo>
                    <a:pt x="544830" y="1668018"/>
                  </a:lnTo>
                  <a:lnTo>
                    <a:pt x="605790" y="1629918"/>
                  </a:lnTo>
                  <a:lnTo>
                    <a:pt x="665988" y="1588008"/>
                  </a:lnTo>
                  <a:lnTo>
                    <a:pt x="754380" y="1519428"/>
                  </a:lnTo>
                  <a:lnTo>
                    <a:pt x="812292" y="1469898"/>
                  </a:lnTo>
                  <a:lnTo>
                    <a:pt x="841248" y="1443228"/>
                  </a:lnTo>
                  <a:lnTo>
                    <a:pt x="870204" y="1415796"/>
                  </a:lnTo>
                  <a:lnTo>
                    <a:pt x="899160" y="1387602"/>
                  </a:lnTo>
                  <a:lnTo>
                    <a:pt x="927354" y="1358646"/>
                  </a:lnTo>
                  <a:lnTo>
                    <a:pt x="956310" y="1328166"/>
                  </a:lnTo>
                  <a:lnTo>
                    <a:pt x="985266" y="1296924"/>
                  </a:lnTo>
                  <a:lnTo>
                    <a:pt x="1041654" y="1231392"/>
                  </a:lnTo>
                  <a:lnTo>
                    <a:pt x="1069086" y="1198626"/>
                  </a:lnTo>
                  <a:lnTo>
                    <a:pt x="1120902" y="1134618"/>
                  </a:lnTo>
                  <a:lnTo>
                    <a:pt x="1170432" y="1071372"/>
                  </a:lnTo>
                  <a:lnTo>
                    <a:pt x="1216914" y="1007364"/>
                  </a:lnTo>
                  <a:lnTo>
                    <a:pt x="1261110" y="943356"/>
                  </a:lnTo>
                  <a:lnTo>
                    <a:pt x="1303782" y="878586"/>
                  </a:lnTo>
                  <a:lnTo>
                    <a:pt x="1344168" y="811530"/>
                  </a:lnTo>
                  <a:lnTo>
                    <a:pt x="1383792" y="742188"/>
                  </a:lnTo>
                  <a:lnTo>
                    <a:pt x="1422654" y="669798"/>
                  </a:lnTo>
                  <a:lnTo>
                    <a:pt x="1479042" y="554736"/>
                  </a:lnTo>
                  <a:lnTo>
                    <a:pt x="1516380" y="472440"/>
                  </a:lnTo>
                  <a:lnTo>
                    <a:pt x="1534668" y="429768"/>
                  </a:lnTo>
                  <a:lnTo>
                    <a:pt x="1553718" y="386334"/>
                  </a:lnTo>
                  <a:lnTo>
                    <a:pt x="1591056" y="294132"/>
                  </a:lnTo>
                  <a:lnTo>
                    <a:pt x="1628940" y="196265"/>
                  </a:lnTo>
                  <a:lnTo>
                    <a:pt x="1639062" y="200075"/>
                  </a:lnTo>
                  <a:lnTo>
                    <a:pt x="1682496" y="216408"/>
                  </a:lnTo>
                  <a:close/>
                </a:path>
                <a:path w="8243570" h="1891029">
                  <a:moveTo>
                    <a:pt x="8243316" y="1094994"/>
                  </a:moveTo>
                  <a:lnTo>
                    <a:pt x="8118348" y="949452"/>
                  </a:lnTo>
                  <a:lnTo>
                    <a:pt x="8096339" y="1001814"/>
                  </a:lnTo>
                  <a:lnTo>
                    <a:pt x="5720334" y="0"/>
                  </a:lnTo>
                  <a:lnTo>
                    <a:pt x="5698236" y="52578"/>
                  </a:lnTo>
                  <a:lnTo>
                    <a:pt x="8074241" y="1054392"/>
                  </a:lnTo>
                  <a:lnTo>
                    <a:pt x="8052054" y="1107186"/>
                  </a:lnTo>
                  <a:lnTo>
                    <a:pt x="8122158" y="1102728"/>
                  </a:lnTo>
                  <a:lnTo>
                    <a:pt x="8243316" y="1094994"/>
                  </a:lnTo>
                  <a:close/>
                </a:path>
              </a:pathLst>
            </a:custGeom>
            <a:solidFill>
              <a:srgbClr val="FF0000"/>
            </a:solidFill>
          </p:spPr>
          <p:txBody>
            <a:bodyPr wrap="square" lIns="0" tIns="0" rIns="0" bIns="0" rtlCol="0"/>
            <a:lstStyle/>
            <a:p>
              <a:endParaRPr/>
            </a:p>
          </p:txBody>
        </p:sp>
        <p:sp>
          <p:nvSpPr>
            <p:cNvPr id="7" name="object 7"/>
            <p:cNvSpPr/>
            <p:nvPr/>
          </p:nvSpPr>
          <p:spPr>
            <a:xfrm>
              <a:off x="10015728" y="1146047"/>
              <a:ext cx="1794510" cy="646430"/>
            </a:xfrm>
            <a:custGeom>
              <a:avLst/>
              <a:gdLst/>
              <a:ahLst/>
              <a:cxnLst/>
              <a:rect l="l" t="t" r="r" b="b"/>
              <a:pathLst>
                <a:path w="1794509" h="646430">
                  <a:moveTo>
                    <a:pt x="1794510" y="646176"/>
                  </a:moveTo>
                  <a:lnTo>
                    <a:pt x="1794510" y="0"/>
                  </a:lnTo>
                  <a:lnTo>
                    <a:pt x="0" y="0"/>
                  </a:lnTo>
                  <a:lnTo>
                    <a:pt x="0" y="646176"/>
                  </a:lnTo>
                  <a:lnTo>
                    <a:pt x="1794510" y="646176"/>
                  </a:lnTo>
                  <a:close/>
                </a:path>
              </a:pathLst>
            </a:custGeom>
            <a:solidFill>
              <a:srgbClr val="FFFFFF"/>
            </a:solidFill>
          </p:spPr>
          <p:txBody>
            <a:bodyPr wrap="square" lIns="0" tIns="0" rIns="0" bIns="0" rtlCol="0"/>
            <a:lstStyle/>
            <a:p>
              <a:endParaRPr/>
            </a:p>
          </p:txBody>
        </p:sp>
        <p:sp>
          <p:nvSpPr>
            <p:cNvPr id="8" name="object 8"/>
            <p:cNvSpPr/>
            <p:nvPr/>
          </p:nvSpPr>
          <p:spPr>
            <a:xfrm>
              <a:off x="10011155" y="1141475"/>
              <a:ext cx="1804670" cy="655320"/>
            </a:xfrm>
            <a:custGeom>
              <a:avLst/>
              <a:gdLst/>
              <a:ahLst/>
              <a:cxnLst/>
              <a:rect l="l" t="t" r="r" b="b"/>
              <a:pathLst>
                <a:path w="1804670" h="655319">
                  <a:moveTo>
                    <a:pt x="1804416" y="653796"/>
                  </a:moveTo>
                  <a:lnTo>
                    <a:pt x="1804416" y="2286"/>
                  </a:lnTo>
                  <a:lnTo>
                    <a:pt x="1802130" y="0"/>
                  </a:lnTo>
                  <a:lnTo>
                    <a:pt x="2285" y="0"/>
                  </a:lnTo>
                  <a:lnTo>
                    <a:pt x="0" y="2286"/>
                  </a:lnTo>
                  <a:lnTo>
                    <a:pt x="0" y="653796"/>
                  </a:lnTo>
                  <a:lnTo>
                    <a:pt x="2286" y="655320"/>
                  </a:lnTo>
                  <a:lnTo>
                    <a:pt x="4572" y="655320"/>
                  </a:lnTo>
                  <a:lnTo>
                    <a:pt x="4572" y="9144"/>
                  </a:lnTo>
                  <a:lnTo>
                    <a:pt x="9143" y="4572"/>
                  </a:lnTo>
                  <a:lnTo>
                    <a:pt x="9143" y="9144"/>
                  </a:lnTo>
                  <a:lnTo>
                    <a:pt x="1794510" y="9144"/>
                  </a:lnTo>
                  <a:lnTo>
                    <a:pt x="1794510" y="4572"/>
                  </a:lnTo>
                  <a:lnTo>
                    <a:pt x="1799082" y="9144"/>
                  </a:lnTo>
                  <a:lnTo>
                    <a:pt x="1799082" y="655320"/>
                  </a:lnTo>
                  <a:lnTo>
                    <a:pt x="1802130" y="655320"/>
                  </a:lnTo>
                  <a:lnTo>
                    <a:pt x="1804416" y="653796"/>
                  </a:lnTo>
                  <a:close/>
                </a:path>
                <a:path w="1804670" h="655319">
                  <a:moveTo>
                    <a:pt x="9143" y="9144"/>
                  </a:moveTo>
                  <a:lnTo>
                    <a:pt x="9143" y="4572"/>
                  </a:lnTo>
                  <a:lnTo>
                    <a:pt x="4572" y="9144"/>
                  </a:lnTo>
                  <a:lnTo>
                    <a:pt x="9143" y="9144"/>
                  </a:lnTo>
                  <a:close/>
                </a:path>
                <a:path w="1804670" h="655319">
                  <a:moveTo>
                    <a:pt x="9143" y="646176"/>
                  </a:moveTo>
                  <a:lnTo>
                    <a:pt x="9143" y="9144"/>
                  </a:lnTo>
                  <a:lnTo>
                    <a:pt x="4572" y="9144"/>
                  </a:lnTo>
                  <a:lnTo>
                    <a:pt x="4572" y="646176"/>
                  </a:lnTo>
                  <a:lnTo>
                    <a:pt x="9143" y="646176"/>
                  </a:lnTo>
                  <a:close/>
                </a:path>
                <a:path w="1804670" h="655319">
                  <a:moveTo>
                    <a:pt x="1799082" y="646176"/>
                  </a:moveTo>
                  <a:lnTo>
                    <a:pt x="4572" y="646176"/>
                  </a:lnTo>
                  <a:lnTo>
                    <a:pt x="9143" y="650747"/>
                  </a:lnTo>
                  <a:lnTo>
                    <a:pt x="9143" y="655320"/>
                  </a:lnTo>
                  <a:lnTo>
                    <a:pt x="1794510" y="655320"/>
                  </a:lnTo>
                  <a:lnTo>
                    <a:pt x="1794510" y="650748"/>
                  </a:lnTo>
                  <a:lnTo>
                    <a:pt x="1799082" y="646176"/>
                  </a:lnTo>
                  <a:close/>
                </a:path>
                <a:path w="1804670" h="655319">
                  <a:moveTo>
                    <a:pt x="9143" y="655320"/>
                  </a:moveTo>
                  <a:lnTo>
                    <a:pt x="9143" y="650747"/>
                  </a:lnTo>
                  <a:lnTo>
                    <a:pt x="4572" y="646176"/>
                  </a:lnTo>
                  <a:lnTo>
                    <a:pt x="4572" y="655320"/>
                  </a:lnTo>
                  <a:lnTo>
                    <a:pt x="9143" y="655320"/>
                  </a:lnTo>
                  <a:close/>
                </a:path>
                <a:path w="1804670" h="655319">
                  <a:moveTo>
                    <a:pt x="1799082" y="9144"/>
                  </a:moveTo>
                  <a:lnTo>
                    <a:pt x="1794510" y="4572"/>
                  </a:lnTo>
                  <a:lnTo>
                    <a:pt x="1794510" y="9144"/>
                  </a:lnTo>
                  <a:lnTo>
                    <a:pt x="1799082" y="9144"/>
                  </a:lnTo>
                  <a:close/>
                </a:path>
                <a:path w="1804670" h="655319">
                  <a:moveTo>
                    <a:pt x="1799082" y="646176"/>
                  </a:moveTo>
                  <a:lnTo>
                    <a:pt x="1799082" y="9144"/>
                  </a:lnTo>
                  <a:lnTo>
                    <a:pt x="1794510" y="9144"/>
                  </a:lnTo>
                  <a:lnTo>
                    <a:pt x="1794510" y="646176"/>
                  </a:lnTo>
                  <a:lnTo>
                    <a:pt x="1799082" y="646176"/>
                  </a:lnTo>
                  <a:close/>
                </a:path>
                <a:path w="1804670" h="655319">
                  <a:moveTo>
                    <a:pt x="1799082" y="655320"/>
                  </a:moveTo>
                  <a:lnTo>
                    <a:pt x="1799082" y="646176"/>
                  </a:lnTo>
                  <a:lnTo>
                    <a:pt x="1794510" y="650748"/>
                  </a:lnTo>
                  <a:lnTo>
                    <a:pt x="1794510" y="655320"/>
                  </a:lnTo>
                  <a:lnTo>
                    <a:pt x="1799082" y="655320"/>
                  </a:lnTo>
                  <a:close/>
                </a:path>
              </a:pathLst>
            </a:custGeom>
            <a:solidFill>
              <a:srgbClr val="000000"/>
            </a:solidFill>
          </p:spPr>
          <p:txBody>
            <a:bodyPr wrap="square" lIns="0" tIns="0" rIns="0" bIns="0" rtlCol="0"/>
            <a:lstStyle/>
            <a:p>
              <a:endParaRPr/>
            </a:p>
          </p:txBody>
        </p:sp>
      </p:grpSp>
      <p:sp>
        <p:nvSpPr>
          <p:cNvPr id="9" name="object 9"/>
          <p:cNvSpPr txBox="1"/>
          <p:nvPr/>
        </p:nvSpPr>
        <p:spPr>
          <a:xfrm>
            <a:off x="10095230" y="1178305"/>
            <a:ext cx="1621155" cy="574040"/>
          </a:xfrm>
          <a:prstGeom prst="rect">
            <a:avLst/>
          </a:prstGeom>
        </p:spPr>
        <p:txBody>
          <a:bodyPr vert="horz" wrap="square" lIns="0" tIns="12700" rIns="0" bIns="0" rtlCol="0">
            <a:spAutoFit/>
          </a:bodyPr>
          <a:lstStyle/>
          <a:p>
            <a:pPr marL="137160" indent="-133350">
              <a:lnSpc>
                <a:spcPct val="100000"/>
              </a:lnSpc>
              <a:spcBef>
                <a:spcPts val="100"/>
              </a:spcBef>
              <a:buClr>
                <a:srgbClr val="0000FF"/>
              </a:buClr>
              <a:buSzPct val="91666"/>
              <a:buChar char="•"/>
              <a:tabLst>
                <a:tab pos="137160" algn="l"/>
              </a:tabLst>
            </a:pPr>
            <a:r>
              <a:rPr sz="1800" dirty="0">
                <a:latin typeface="Verdana"/>
                <a:cs typeface="Verdana"/>
              </a:rPr>
              <a:t>28nm:</a:t>
            </a:r>
            <a:r>
              <a:rPr sz="1800" spc="-55" dirty="0">
                <a:latin typeface="Verdana"/>
                <a:cs typeface="Verdana"/>
              </a:rPr>
              <a:t> </a:t>
            </a:r>
            <a:r>
              <a:rPr sz="1800" spc="-25" dirty="0">
                <a:solidFill>
                  <a:srgbClr val="0000FF"/>
                </a:solidFill>
                <a:latin typeface="Verdana"/>
                <a:cs typeface="Verdana"/>
              </a:rPr>
              <a:t>NRZ</a:t>
            </a:r>
            <a:endParaRPr sz="1800">
              <a:latin typeface="Verdana"/>
              <a:cs typeface="Verdana"/>
            </a:endParaRPr>
          </a:p>
          <a:p>
            <a:pPr marL="137160" indent="-133350">
              <a:lnSpc>
                <a:spcPct val="100000"/>
              </a:lnSpc>
              <a:buClr>
                <a:srgbClr val="FFC000"/>
              </a:buClr>
              <a:buSzPct val="91666"/>
              <a:buChar char="•"/>
              <a:tabLst>
                <a:tab pos="137160" algn="l"/>
              </a:tabLst>
            </a:pPr>
            <a:r>
              <a:rPr sz="1800" dirty="0">
                <a:latin typeface="Verdana"/>
                <a:cs typeface="Verdana"/>
              </a:rPr>
              <a:t>28nm:</a:t>
            </a:r>
            <a:r>
              <a:rPr sz="1800" spc="-60" dirty="0">
                <a:latin typeface="Verdana"/>
                <a:cs typeface="Verdana"/>
              </a:rPr>
              <a:t> </a:t>
            </a:r>
            <a:r>
              <a:rPr sz="1800" spc="-20" dirty="0">
                <a:solidFill>
                  <a:srgbClr val="FFC000"/>
                </a:solidFill>
                <a:latin typeface="Verdana"/>
                <a:cs typeface="Verdana"/>
              </a:rPr>
              <a:t>PAM4</a:t>
            </a:r>
            <a:endParaRPr sz="1800">
              <a:latin typeface="Verdana"/>
              <a:cs typeface="Verdana"/>
            </a:endParaRPr>
          </a:p>
        </p:txBody>
      </p:sp>
      <p:sp>
        <p:nvSpPr>
          <p:cNvPr id="10" name="Slide Number Placeholder 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9</a:t>
            </a:fld>
            <a:endParaRPr lang="en-US" spc="-50" dirty="0"/>
          </a:p>
        </p:txBody>
      </p:sp>
      <p:sp>
        <p:nvSpPr>
          <p:cNvPr id="11" name="Date Placeholder 1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2" name="Footer Placeholder 1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91596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p:txBody>
          <a:bodyPr/>
          <a:lstStyle/>
          <a:p>
            <a:r>
              <a:rPr lang="en-US" dirty="0"/>
              <a:t>Wireline Link Fundamentals</a:t>
            </a:r>
          </a:p>
        </p:txBody>
      </p:sp>
      <p:sp>
        <p:nvSpPr>
          <p:cNvPr id="4" name="Date Placeholder 3">
            <a:extLst>
              <a:ext uri="{FF2B5EF4-FFF2-40B4-BE49-F238E27FC236}">
                <a16:creationId xmlns:a16="http://schemas.microsoft.com/office/drawing/2014/main" id="{C9BAE22F-9A95-6E47-BBA6-65EDD894AA26}"/>
              </a:ext>
            </a:extLst>
          </p:cNvPr>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Slide Number Placeholder 5">
            <a:extLst>
              <a:ext uri="{FF2B5EF4-FFF2-40B4-BE49-F238E27FC236}">
                <a16:creationId xmlns:a16="http://schemas.microsoft.com/office/drawing/2014/main" id="{3F6BF20A-4150-A04F-B584-430820875AE7}"/>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a:extLst>
              <a:ext uri="{FF2B5EF4-FFF2-40B4-BE49-F238E27FC236}">
                <a16:creationId xmlns:a16="http://schemas.microsoft.com/office/drawing/2014/main" id="{E416D04B-E0A7-5849-88CB-2A3326CBCE37}"/>
              </a:ext>
            </a:extLst>
          </p:cNvPr>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0194786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Basic</a:t>
            </a:r>
            <a:r>
              <a:rPr spc="-30" dirty="0"/>
              <a:t> </a:t>
            </a:r>
            <a:r>
              <a:rPr dirty="0"/>
              <a:t>Wireline</a:t>
            </a:r>
            <a:r>
              <a:rPr spc="5" dirty="0"/>
              <a:t> </a:t>
            </a:r>
            <a:r>
              <a:rPr dirty="0"/>
              <a:t>Link</a:t>
            </a:r>
            <a:r>
              <a:rPr spc="-30" dirty="0"/>
              <a:t> </a:t>
            </a:r>
            <a:r>
              <a:rPr dirty="0"/>
              <a:t>-</a:t>
            </a:r>
            <a:r>
              <a:rPr spc="-15" dirty="0"/>
              <a:t> </a:t>
            </a:r>
            <a:r>
              <a:rPr spc="-10" dirty="0"/>
              <a:t>SerDes</a:t>
            </a:r>
          </a:p>
        </p:txBody>
      </p:sp>
      <p:sp>
        <p:nvSpPr>
          <p:cNvPr id="3" name="object 3"/>
          <p:cNvSpPr txBox="1"/>
          <p:nvPr/>
        </p:nvSpPr>
        <p:spPr>
          <a:xfrm>
            <a:off x="834644" y="3559555"/>
            <a:ext cx="10497820" cy="2434590"/>
          </a:xfrm>
          <a:prstGeom prst="rect">
            <a:avLst/>
          </a:prstGeom>
        </p:spPr>
        <p:txBody>
          <a:bodyPr vert="horz" wrap="square" lIns="0" tIns="28575" rIns="0" bIns="0" rtlCol="0">
            <a:spAutoFit/>
          </a:bodyPr>
          <a:lstStyle/>
          <a:p>
            <a:pPr marL="482600" marR="5080" indent="-470534">
              <a:lnSpc>
                <a:spcPts val="2840"/>
              </a:lnSpc>
              <a:spcBef>
                <a:spcPts val="225"/>
              </a:spcBef>
              <a:buClr>
                <a:srgbClr val="CC0000"/>
              </a:buClr>
              <a:buSzPct val="79166"/>
              <a:buFont typeface="Wingdings"/>
              <a:buChar char=""/>
              <a:tabLst>
                <a:tab pos="482600" algn="l"/>
              </a:tabLst>
            </a:pPr>
            <a:r>
              <a:rPr sz="2400" dirty="0">
                <a:solidFill>
                  <a:srgbClr val="0000FF"/>
                </a:solidFill>
                <a:latin typeface="Verdana"/>
                <a:cs typeface="Verdana"/>
              </a:rPr>
              <a:t>Transmitter</a:t>
            </a:r>
            <a:r>
              <a:rPr sz="2400" spc="-65" dirty="0">
                <a:solidFill>
                  <a:srgbClr val="0000FF"/>
                </a:solidFill>
                <a:latin typeface="Verdana"/>
                <a:cs typeface="Verdana"/>
              </a:rPr>
              <a:t> </a:t>
            </a:r>
            <a:r>
              <a:rPr sz="2400" dirty="0">
                <a:solidFill>
                  <a:srgbClr val="0000FF"/>
                </a:solidFill>
                <a:latin typeface="Verdana"/>
                <a:cs typeface="Verdana"/>
              </a:rPr>
              <a:t>(TX):</a:t>
            </a:r>
            <a:r>
              <a:rPr sz="2400" spc="-90" dirty="0">
                <a:solidFill>
                  <a:srgbClr val="0000FF"/>
                </a:solidFill>
                <a:latin typeface="Verdana"/>
                <a:cs typeface="Verdana"/>
              </a:rPr>
              <a:t> </a:t>
            </a:r>
            <a:r>
              <a:rPr sz="2400" dirty="0">
                <a:latin typeface="Verdana"/>
                <a:cs typeface="Verdana"/>
              </a:rPr>
              <a:t>Converts</a:t>
            </a:r>
            <a:r>
              <a:rPr sz="2400" spc="-65" dirty="0">
                <a:latin typeface="Verdana"/>
                <a:cs typeface="Verdana"/>
              </a:rPr>
              <a:t> </a:t>
            </a:r>
            <a:r>
              <a:rPr sz="2400" dirty="0">
                <a:latin typeface="Verdana"/>
                <a:cs typeface="Verdana"/>
              </a:rPr>
              <a:t>the</a:t>
            </a:r>
            <a:r>
              <a:rPr sz="2400" spc="-60" dirty="0">
                <a:latin typeface="Verdana"/>
                <a:cs typeface="Verdana"/>
              </a:rPr>
              <a:t> </a:t>
            </a:r>
            <a:r>
              <a:rPr sz="2400" dirty="0">
                <a:latin typeface="Verdana"/>
                <a:cs typeface="Verdana"/>
              </a:rPr>
              <a:t>digital</a:t>
            </a:r>
            <a:r>
              <a:rPr sz="2400" spc="-70" dirty="0">
                <a:latin typeface="Verdana"/>
                <a:cs typeface="Verdana"/>
              </a:rPr>
              <a:t> </a:t>
            </a:r>
            <a:r>
              <a:rPr sz="2400" spc="-25" dirty="0">
                <a:latin typeface="Verdana"/>
                <a:cs typeface="Verdana"/>
              </a:rPr>
              <a:t>(time-</a:t>
            </a:r>
            <a:r>
              <a:rPr sz="2400" dirty="0">
                <a:latin typeface="Verdana"/>
                <a:cs typeface="Verdana"/>
              </a:rPr>
              <a:t>discrete)</a:t>
            </a:r>
            <a:r>
              <a:rPr sz="2400" spc="-65" dirty="0">
                <a:latin typeface="Verdana"/>
                <a:cs typeface="Verdana"/>
              </a:rPr>
              <a:t> </a:t>
            </a:r>
            <a:r>
              <a:rPr sz="2400" dirty="0">
                <a:latin typeface="Verdana"/>
                <a:cs typeface="Verdana"/>
              </a:rPr>
              <a:t>data</a:t>
            </a:r>
            <a:r>
              <a:rPr sz="2400" spc="-60" dirty="0">
                <a:latin typeface="Verdana"/>
                <a:cs typeface="Verdana"/>
              </a:rPr>
              <a:t> </a:t>
            </a:r>
            <a:r>
              <a:rPr sz="2400" dirty="0">
                <a:latin typeface="Verdana"/>
                <a:cs typeface="Verdana"/>
              </a:rPr>
              <a:t>into</a:t>
            </a:r>
            <a:r>
              <a:rPr sz="2400" spc="-65" dirty="0">
                <a:latin typeface="Verdana"/>
                <a:cs typeface="Verdana"/>
              </a:rPr>
              <a:t> </a:t>
            </a:r>
            <a:r>
              <a:rPr sz="2400" spc="-50" dirty="0">
                <a:latin typeface="Verdana"/>
                <a:cs typeface="Verdana"/>
              </a:rPr>
              <a:t>a </a:t>
            </a:r>
            <a:r>
              <a:rPr sz="2400" spc="-25" dirty="0">
                <a:latin typeface="Verdana"/>
                <a:cs typeface="Verdana"/>
              </a:rPr>
              <a:t>(time-</a:t>
            </a:r>
            <a:r>
              <a:rPr sz="2400" dirty="0">
                <a:latin typeface="Verdana"/>
                <a:cs typeface="Verdana"/>
              </a:rPr>
              <a:t>continuous)</a:t>
            </a:r>
            <a:r>
              <a:rPr sz="2400" spc="-60" dirty="0">
                <a:latin typeface="Verdana"/>
                <a:cs typeface="Verdana"/>
              </a:rPr>
              <a:t> </a:t>
            </a:r>
            <a:r>
              <a:rPr sz="2400" dirty="0">
                <a:latin typeface="Verdana"/>
                <a:cs typeface="Verdana"/>
              </a:rPr>
              <a:t>analog</a:t>
            </a:r>
            <a:r>
              <a:rPr sz="2400" spc="-55" dirty="0">
                <a:latin typeface="Verdana"/>
                <a:cs typeface="Verdana"/>
              </a:rPr>
              <a:t> </a:t>
            </a:r>
            <a:r>
              <a:rPr sz="2400" dirty="0">
                <a:latin typeface="Verdana"/>
                <a:cs typeface="Verdana"/>
              </a:rPr>
              <a:t>electrical</a:t>
            </a:r>
            <a:r>
              <a:rPr sz="2400" spc="-55" dirty="0">
                <a:latin typeface="Verdana"/>
                <a:cs typeface="Verdana"/>
              </a:rPr>
              <a:t> </a:t>
            </a:r>
            <a:r>
              <a:rPr sz="2400" dirty="0">
                <a:latin typeface="Verdana"/>
                <a:cs typeface="Verdana"/>
              </a:rPr>
              <a:t>signal</a:t>
            </a:r>
            <a:r>
              <a:rPr sz="2400" spc="-35" dirty="0">
                <a:latin typeface="Verdana"/>
                <a:cs typeface="Verdana"/>
              </a:rPr>
              <a:t> </a:t>
            </a:r>
            <a:r>
              <a:rPr sz="2400" dirty="0">
                <a:solidFill>
                  <a:srgbClr val="FF0000"/>
                </a:solidFill>
                <a:latin typeface="Wingdings"/>
                <a:cs typeface="Wingdings"/>
              </a:rPr>
              <a:t></a:t>
            </a:r>
            <a:r>
              <a:rPr sz="2400" spc="165" dirty="0">
                <a:solidFill>
                  <a:srgbClr val="FF0000"/>
                </a:solidFill>
                <a:latin typeface="Times New Roman"/>
                <a:cs typeface="Times New Roman"/>
              </a:rPr>
              <a:t> </a:t>
            </a:r>
            <a:r>
              <a:rPr sz="2400" spc="-20" dirty="0">
                <a:solidFill>
                  <a:srgbClr val="FF0000"/>
                </a:solidFill>
                <a:latin typeface="Verdana"/>
                <a:cs typeface="Verdana"/>
              </a:rPr>
              <a:t>D-to-</a:t>
            </a:r>
            <a:r>
              <a:rPr sz="2400" dirty="0">
                <a:solidFill>
                  <a:srgbClr val="FF0000"/>
                </a:solidFill>
                <a:latin typeface="Verdana"/>
                <a:cs typeface="Verdana"/>
              </a:rPr>
              <a:t>A</a:t>
            </a:r>
            <a:r>
              <a:rPr sz="2400" spc="-70" dirty="0">
                <a:solidFill>
                  <a:srgbClr val="FF0000"/>
                </a:solidFill>
                <a:latin typeface="Verdana"/>
                <a:cs typeface="Verdana"/>
              </a:rPr>
              <a:t> </a:t>
            </a:r>
            <a:r>
              <a:rPr sz="2400" spc="-10" dirty="0">
                <a:solidFill>
                  <a:srgbClr val="FF0000"/>
                </a:solidFill>
                <a:latin typeface="Verdana"/>
                <a:cs typeface="Verdana"/>
              </a:rPr>
              <a:t>conversion</a:t>
            </a:r>
            <a:endParaRPr sz="2400" dirty="0">
              <a:latin typeface="Verdana"/>
              <a:cs typeface="Verdana"/>
            </a:endParaRPr>
          </a:p>
          <a:p>
            <a:pPr marL="482600" indent="-469900">
              <a:lnSpc>
                <a:spcPct val="100000"/>
              </a:lnSpc>
              <a:spcBef>
                <a:spcPts val="530"/>
              </a:spcBef>
              <a:buClr>
                <a:srgbClr val="CC0000"/>
              </a:buClr>
              <a:buSzPct val="79166"/>
              <a:buFont typeface="Wingdings"/>
              <a:buChar char=""/>
              <a:tabLst>
                <a:tab pos="482600" algn="l"/>
              </a:tabLst>
            </a:pPr>
            <a:r>
              <a:rPr sz="2400" dirty="0">
                <a:solidFill>
                  <a:srgbClr val="00B050"/>
                </a:solidFill>
                <a:latin typeface="Verdana"/>
                <a:cs typeface="Verdana"/>
              </a:rPr>
              <a:t>Channel</a:t>
            </a:r>
            <a:r>
              <a:rPr sz="2400" dirty="0">
                <a:latin typeface="Verdana"/>
                <a:cs typeface="Verdana"/>
              </a:rPr>
              <a:t>:</a:t>
            </a:r>
            <a:r>
              <a:rPr sz="2400" spc="-90" dirty="0">
                <a:latin typeface="Verdana"/>
                <a:cs typeface="Verdana"/>
              </a:rPr>
              <a:t> </a:t>
            </a:r>
            <a:r>
              <a:rPr sz="2400" dirty="0">
                <a:latin typeface="Verdana"/>
                <a:cs typeface="Verdana"/>
              </a:rPr>
              <a:t>Transmission</a:t>
            </a:r>
            <a:r>
              <a:rPr sz="2400" spc="-75" dirty="0">
                <a:latin typeface="Verdana"/>
                <a:cs typeface="Verdana"/>
              </a:rPr>
              <a:t> </a:t>
            </a:r>
            <a:r>
              <a:rPr sz="2400" dirty="0">
                <a:latin typeface="Verdana"/>
                <a:cs typeface="Verdana"/>
              </a:rPr>
              <a:t>media</a:t>
            </a:r>
            <a:r>
              <a:rPr sz="2400" spc="-85" dirty="0">
                <a:latin typeface="Verdana"/>
                <a:cs typeface="Verdana"/>
              </a:rPr>
              <a:t> </a:t>
            </a:r>
            <a:r>
              <a:rPr sz="2400" dirty="0">
                <a:latin typeface="Verdana"/>
                <a:cs typeface="Verdana"/>
              </a:rPr>
              <a:t>for</a:t>
            </a:r>
            <a:r>
              <a:rPr sz="2400" spc="-85" dirty="0">
                <a:latin typeface="Verdana"/>
                <a:cs typeface="Verdana"/>
              </a:rPr>
              <a:t> </a:t>
            </a:r>
            <a:r>
              <a:rPr sz="2400" dirty="0">
                <a:latin typeface="Verdana"/>
                <a:cs typeface="Verdana"/>
              </a:rPr>
              <a:t>the</a:t>
            </a:r>
            <a:r>
              <a:rPr sz="2400" spc="-90" dirty="0">
                <a:latin typeface="Verdana"/>
                <a:cs typeface="Verdana"/>
              </a:rPr>
              <a:t> </a:t>
            </a:r>
            <a:r>
              <a:rPr sz="2400" dirty="0">
                <a:latin typeface="Verdana"/>
                <a:cs typeface="Verdana"/>
              </a:rPr>
              <a:t>analog</a:t>
            </a:r>
            <a:r>
              <a:rPr sz="2400" spc="-90" dirty="0">
                <a:latin typeface="Verdana"/>
                <a:cs typeface="Verdana"/>
              </a:rPr>
              <a:t> </a:t>
            </a:r>
            <a:r>
              <a:rPr sz="2400" spc="-10" dirty="0">
                <a:latin typeface="Verdana"/>
                <a:cs typeface="Verdana"/>
              </a:rPr>
              <a:t>signal</a:t>
            </a:r>
            <a:endParaRPr sz="2400" dirty="0">
              <a:latin typeface="Verdana"/>
              <a:cs typeface="Verdana"/>
            </a:endParaRPr>
          </a:p>
          <a:p>
            <a:pPr marL="482600" marR="163195" indent="-470534">
              <a:lnSpc>
                <a:spcPts val="2840"/>
              </a:lnSpc>
              <a:spcBef>
                <a:spcPts val="705"/>
              </a:spcBef>
              <a:buClr>
                <a:srgbClr val="CC0000"/>
              </a:buClr>
              <a:buSzPct val="79166"/>
              <a:buFont typeface="Wingdings"/>
              <a:buChar char=""/>
              <a:tabLst>
                <a:tab pos="482600" algn="l"/>
              </a:tabLst>
            </a:pPr>
            <a:r>
              <a:rPr sz="2400" dirty="0">
                <a:solidFill>
                  <a:srgbClr val="FF0000"/>
                </a:solidFill>
                <a:latin typeface="Verdana"/>
                <a:cs typeface="Verdana"/>
              </a:rPr>
              <a:t>Receiver</a:t>
            </a:r>
            <a:r>
              <a:rPr sz="2400" spc="-70" dirty="0">
                <a:solidFill>
                  <a:srgbClr val="FF0000"/>
                </a:solidFill>
                <a:latin typeface="Verdana"/>
                <a:cs typeface="Verdana"/>
              </a:rPr>
              <a:t> </a:t>
            </a:r>
            <a:r>
              <a:rPr sz="2400" dirty="0">
                <a:solidFill>
                  <a:srgbClr val="FF0000"/>
                </a:solidFill>
                <a:latin typeface="Verdana"/>
                <a:cs typeface="Verdana"/>
              </a:rPr>
              <a:t>(RX)</a:t>
            </a:r>
            <a:r>
              <a:rPr sz="2400" dirty="0">
                <a:latin typeface="Verdana"/>
                <a:cs typeface="Verdana"/>
              </a:rPr>
              <a:t>:</a:t>
            </a:r>
            <a:r>
              <a:rPr sz="2400" spc="-70" dirty="0">
                <a:latin typeface="Verdana"/>
                <a:cs typeface="Verdana"/>
              </a:rPr>
              <a:t> </a:t>
            </a:r>
            <a:r>
              <a:rPr sz="2400" dirty="0">
                <a:latin typeface="Verdana"/>
                <a:cs typeface="Verdana"/>
              </a:rPr>
              <a:t>Digitizes</a:t>
            </a:r>
            <a:r>
              <a:rPr sz="2400" spc="-50" dirty="0">
                <a:latin typeface="Verdana"/>
                <a:cs typeface="Verdana"/>
              </a:rPr>
              <a:t> </a:t>
            </a:r>
            <a:r>
              <a:rPr sz="2400" dirty="0">
                <a:latin typeface="Verdana"/>
                <a:cs typeface="Verdana"/>
              </a:rPr>
              <a:t>the</a:t>
            </a:r>
            <a:r>
              <a:rPr sz="2400" spc="-70" dirty="0">
                <a:latin typeface="Verdana"/>
                <a:cs typeface="Verdana"/>
              </a:rPr>
              <a:t> </a:t>
            </a:r>
            <a:r>
              <a:rPr sz="2400" dirty="0">
                <a:latin typeface="Verdana"/>
                <a:cs typeface="Verdana"/>
              </a:rPr>
              <a:t>analog</a:t>
            </a:r>
            <a:r>
              <a:rPr sz="2400" spc="-65" dirty="0">
                <a:latin typeface="Verdana"/>
                <a:cs typeface="Verdana"/>
              </a:rPr>
              <a:t> </a:t>
            </a:r>
            <a:r>
              <a:rPr sz="2400" dirty="0">
                <a:latin typeface="Verdana"/>
                <a:cs typeface="Verdana"/>
              </a:rPr>
              <a:t>signal</a:t>
            </a:r>
            <a:r>
              <a:rPr sz="2400" spc="-55" dirty="0">
                <a:latin typeface="Verdana"/>
                <a:cs typeface="Verdana"/>
              </a:rPr>
              <a:t> </a:t>
            </a:r>
            <a:r>
              <a:rPr sz="2400" dirty="0">
                <a:latin typeface="Verdana"/>
                <a:cs typeface="Verdana"/>
              </a:rPr>
              <a:t>back</a:t>
            </a:r>
            <a:r>
              <a:rPr sz="2400" spc="-70" dirty="0">
                <a:latin typeface="Verdana"/>
                <a:cs typeface="Verdana"/>
              </a:rPr>
              <a:t> </a:t>
            </a:r>
            <a:r>
              <a:rPr sz="2400" dirty="0">
                <a:latin typeface="Verdana"/>
                <a:cs typeface="Verdana"/>
              </a:rPr>
              <a:t>to</a:t>
            </a:r>
            <a:r>
              <a:rPr sz="2400" spc="-70" dirty="0">
                <a:latin typeface="Verdana"/>
                <a:cs typeface="Verdana"/>
              </a:rPr>
              <a:t> </a:t>
            </a:r>
            <a:r>
              <a:rPr sz="2400" dirty="0">
                <a:latin typeface="Verdana"/>
                <a:cs typeface="Verdana"/>
              </a:rPr>
              <a:t>bits</a:t>
            </a:r>
            <a:r>
              <a:rPr sz="2400" spc="-65" dirty="0">
                <a:latin typeface="Verdana"/>
                <a:cs typeface="Verdana"/>
              </a:rPr>
              <a:t> </a:t>
            </a:r>
            <a:r>
              <a:rPr sz="2400" spc="-10" dirty="0">
                <a:latin typeface="Verdana"/>
                <a:cs typeface="Verdana"/>
              </a:rPr>
              <a:t>(quantize </a:t>
            </a:r>
            <a:r>
              <a:rPr sz="2400" dirty="0">
                <a:latin typeface="Verdana"/>
                <a:cs typeface="Verdana"/>
              </a:rPr>
              <a:t>in</a:t>
            </a:r>
            <a:r>
              <a:rPr sz="2400" spc="-20" dirty="0">
                <a:latin typeface="Verdana"/>
                <a:cs typeface="Verdana"/>
              </a:rPr>
              <a:t> </a:t>
            </a:r>
            <a:r>
              <a:rPr sz="2400" dirty="0">
                <a:latin typeface="Verdana"/>
                <a:cs typeface="Verdana"/>
              </a:rPr>
              <a:t>voltage</a:t>
            </a:r>
            <a:r>
              <a:rPr sz="2400" spc="-20" dirty="0">
                <a:latin typeface="Verdana"/>
                <a:cs typeface="Verdana"/>
              </a:rPr>
              <a:t> </a:t>
            </a:r>
            <a:r>
              <a:rPr sz="2400" dirty="0">
                <a:latin typeface="Verdana"/>
                <a:cs typeface="Verdana"/>
              </a:rPr>
              <a:t>and</a:t>
            </a:r>
            <a:r>
              <a:rPr sz="2400" spc="-20" dirty="0">
                <a:latin typeface="Verdana"/>
                <a:cs typeface="Verdana"/>
              </a:rPr>
              <a:t> </a:t>
            </a:r>
            <a:r>
              <a:rPr sz="2400" dirty="0">
                <a:latin typeface="Verdana"/>
                <a:cs typeface="Verdana"/>
              </a:rPr>
              <a:t>time)</a:t>
            </a:r>
            <a:r>
              <a:rPr sz="2400" spc="-40" dirty="0">
                <a:latin typeface="Verdana"/>
                <a:cs typeface="Verdana"/>
              </a:rPr>
              <a:t> </a:t>
            </a:r>
            <a:r>
              <a:rPr sz="2400" dirty="0">
                <a:solidFill>
                  <a:srgbClr val="FF0000"/>
                </a:solidFill>
                <a:latin typeface="Wingdings"/>
                <a:cs typeface="Wingdings"/>
              </a:rPr>
              <a:t></a:t>
            </a:r>
            <a:r>
              <a:rPr sz="2400" spc="210" dirty="0">
                <a:solidFill>
                  <a:srgbClr val="FF0000"/>
                </a:solidFill>
                <a:latin typeface="Times New Roman"/>
                <a:cs typeface="Times New Roman"/>
              </a:rPr>
              <a:t> </a:t>
            </a:r>
            <a:r>
              <a:rPr sz="2400" spc="-20" dirty="0">
                <a:solidFill>
                  <a:srgbClr val="FF0000"/>
                </a:solidFill>
                <a:latin typeface="Verdana"/>
                <a:cs typeface="Verdana"/>
              </a:rPr>
              <a:t>A-to-</a:t>
            </a:r>
            <a:r>
              <a:rPr sz="2400" dirty="0">
                <a:solidFill>
                  <a:srgbClr val="FF0000"/>
                </a:solidFill>
                <a:latin typeface="Verdana"/>
                <a:cs typeface="Verdana"/>
              </a:rPr>
              <a:t>D</a:t>
            </a:r>
            <a:r>
              <a:rPr sz="2400" spc="-35" dirty="0">
                <a:solidFill>
                  <a:srgbClr val="FF0000"/>
                </a:solidFill>
                <a:latin typeface="Verdana"/>
                <a:cs typeface="Verdana"/>
              </a:rPr>
              <a:t> </a:t>
            </a:r>
            <a:r>
              <a:rPr sz="2400" spc="-10" dirty="0">
                <a:solidFill>
                  <a:srgbClr val="FF0000"/>
                </a:solidFill>
                <a:latin typeface="Verdana"/>
                <a:cs typeface="Verdana"/>
              </a:rPr>
              <a:t>conversion</a:t>
            </a:r>
            <a:endParaRPr sz="2400" dirty="0">
              <a:latin typeface="Verdana"/>
              <a:cs typeface="Verdana"/>
            </a:endParaRPr>
          </a:p>
          <a:p>
            <a:pPr marL="482600" indent="-469900">
              <a:lnSpc>
                <a:spcPct val="100000"/>
              </a:lnSpc>
              <a:spcBef>
                <a:spcPts val="484"/>
              </a:spcBef>
              <a:buClr>
                <a:srgbClr val="CC0000"/>
              </a:buClr>
              <a:buSzPct val="79166"/>
              <a:buFont typeface="Wingdings"/>
              <a:buChar char=""/>
              <a:tabLst>
                <a:tab pos="482600" algn="l"/>
              </a:tabLst>
            </a:pPr>
            <a:r>
              <a:rPr sz="2400" dirty="0">
                <a:solidFill>
                  <a:srgbClr val="0000FF"/>
                </a:solidFill>
                <a:latin typeface="Verdana"/>
                <a:cs typeface="Verdana"/>
              </a:rPr>
              <a:t>Serialize</a:t>
            </a:r>
            <a:r>
              <a:rPr sz="2400" spc="-5" dirty="0">
                <a:solidFill>
                  <a:srgbClr val="0000FF"/>
                </a:solidFill>
                <a:latin typeface="Verdana"/>
                <a:cs typeface="Verdana"/>
              </a:rPr>
              <a:t> </a:t>
            </a:r>
            <a:r>
              <a:rPr sz="2400" dirty="0">
                <a:solidFill>
                  <a:srgbClr val="0000FF"/>
                </a:solidFill>
                <a:latin typeface="Verdana"/>
                <a:cs typeface="Verdana"/>
              </a:rPr>
              <a:t>(TX)</a:t>
            </a:r>
            <a:r>
              <a:rPr sz="2400" spc="-30" dirty="0">
                <a:solidFill>
                  <a:srgbClr val="0000FF"/>
                </a:solidFill>
                <a:latin typeface="Verdana"/>
                <a:cs typeface="Verdana"/>
              </a:rPr>
              <a:t> </a:t>
            </a:r>
            <a:r>
              <a:rPr sz="2400" dirty="0">
                <a:latin typeface="Verdana"/>
                <a:cs typeface="Verdana"/>
              </a:rPr>
              <a:t>–</a:t>
            </a:r>
            <a:r>
              <a:rPr sz="2400" spc="-20" dirty="0">
                <a:latin typeface="Verdana"/>
                <a:cs typeface="Verdana"/>
              </a:rPr>
              <a:t> </a:t>
            </a:r>
            <a:r>
              <a:rPr sz="2400" dirty="0">
                <a:solidFill>
                  <a:srgbClr val="FF0000"/>
                </a:solidFill>
                <a:latin typeface="Verdana"/>
                <a:cs typeface="Verdana"/>
              </a:rPr>
              <a:t>Deserialize</a:t>
            </a:r>
            <a:r>
              <a:rPr sz="2400" spc="-15" dirty="0">
                <a:solidFill>
                  <a:srgbClr val="FF0000"/>
                </a:solidFill>
                <a:latin typeface="Verdana"/>
                <a:cs typeface="Verdana"/>
              </a:rPr>
              <a:t> </a:t>
            </a:r>
            <a:r>
              <a:rPr sz="2400" dirty="0">
                <a:solidFill>
                  <a:srgbClr val="FF0000"/>
                </a:solidFill>
                <a:latin typeface="Verdana"/>
                <a:cs typeface="Verdana"/>
              </a:rPr>
              <a:t>(RX)</a:t>
            </a:r>
            <a:r>
              <a:rPr sz="2400" spc="-25" dirty="0">
                <a:solidFill>
                  <a:srgbClr val="FF0000"/>
                </a:solidFill>
                <a:latin typeface="Verdana"/>
                <a:cs typeface="Verdana"/>
              </a:rPr>
              <a:t> </a:t>
            </a:r>
            <a:r>
              <a:rPr sz="2400" dirty="0">
                <a:solidFill>
                  <a:srgbClr val="FF0000"/>
                </a:solidFill>
                <a:latin typeface="Wingdings"/>
                <a:cs typeface="Wingdings"/>
              </a:rPr>
              <a:t></a:t>
            </a:r>
            <a:r>
              <a:rPr sz="2400" spc="220" dirty="0">
                <a:solidFill>
                  <a:srgbClr val="FF0000"/>
                </a:solidFill>
                <a:latin typeface="Times New Roman"/>
                <a:cs typeface="Times New Roman"/>
              </a:rPr>
              <a:t> </a:t>
            </a:r>
            <a:r>
              <a:rPr sz="2400" spc="-10" dirty="0">
                <a:latin typeface="Verdana"/>
                <a:cs typeface="Verdana"/>
              </a:rPr>
              <a:t>“SerDes”</a:t>
            </a:r>
            <a:endParaRPr sz="2400" dirty="0">
              <a:latin typeface="Verdana"/>
              <a:cs typeface="Verdana"/>
            </a:endParaRPr>
          </a:p>
        </p:txBody>
      </p:sp>
      <p:sp>
        <p:nvSpPr>
          <p:cNvPr id="7" name="object 7"/>
          <p:cNvSpPr/>
          <p:nvPr/>
        </p:nvSpPr>
        <p:spPr>
          <a:xfrm>
            <a:off x="5259324" y="2052827"/>
            <a:ext cx="63500" cy="0"/>
          </a:xfrm>
          <a:custGeom>
            <a:avLst/>
            <a:gdLst/>
            <a:ahLst/>
            <a:cxnLst/>
            <a:rect l="l" t="t" r="r" b="b"/>
            <a:pathLst>
              <a:path w="63500">
                <a:moveTo>
                  <a:pt x="63246" y="0"/>
                </a:moveTo>
                <a:lnTo>
                  <a:pt x="0" y="0"/>
                </a:lnTo>
              </a:path>
            </a:pathLst>
          </a:custGeom>
          <a:ln w="37084">
            <a:solidFill>
              <a:srgbClr val="000000"/>
            </a:solidFill>
          </a:ln>
        </p:spPr>
        <p:txBody>
          <a:bodyPr wrap="square" lIns="0" tIns="0" rIns="0" bIns="0" rtlCol="0"/>
          <a:lstStyle/>
          <a:p>
            <a:endParaRPr/>
          </a:p>
        </p:txBody>
      </p:sp>
      <p:sp>
        <p:nvSpPr>
          <p:cNvPr id="8" name="object 8"/>
          <p:cNvSpPr/>
          <p:nvPr/>
        </p:nvSpPr>
        <p:spPr>
          <a:xfrm>
            <a:off x="5259324" y="1946909"/>
            <a:ext cx="1311910" cy="212090"/>
          </a:xfrm>
          <a:custGeom>
            <a:avLst/>
            <a:gdLst/>
            <a:ahLst/>
            <a:cxnLst/>
            <a:rect l="l" t="t" r="r" b="b"/>
            <a:pathLst>
              <a:path w="1311909" h="212089">
                <a:moveTo>
                  <a:pt x="1247394" y="211836"/>
                </a:moveTo>
                <a:lnTo>
                  <a:pt x="1272182" y="203537"/>
                </a:lnTo>
                <a:lnTo>
                  <a:pt x="1292542" y="180879"/>
                </a:lnTo>
                <a:lnTo>
                  <a:pt x="1306329" y="147220"/>
                </a:lnTo>
                <a:lnTo>
                  <a:pt x="1311402" y="105918"/>
                </a:lnTo>
                <a:lnTo>
                  <a:pt x="1306329" y="64615"/>
                </a:lnTo>
                <a:lnTo>
                  <a:pt x="1292542" y="30956"/>
                </a:lnTo>
                <a:lnTo>
                  <a:pt x="1272182" y="8298"/>
                </a:lnTo>
                <a:lnTo>
                  <a:pt x="1247394" y="0"/>
                </a:lnTo>
                <a:lnTo>
                  <a:pt x="63246" y="0"/>
                </a:lnTo>
                <a:lnTo>
                  <a:pt x="38576" y="8298"/>
                </a:lnTo>
                <a:lnTo>
                  <a:pt x="18478" y="30956"/>
                </a:lnTo>
                <a:lnTo>
                  <a:pt x="4953" y="64615"/>
                </a:lnTo>
                <a:lnTo>
                  <a:pt x="0" y="105918"/>
                </a:lnTo>
                <a:lnTo>
                  <a:pt x="4953" y="147220"/>
                </a:lnTo>
                <a:lnTo>
                  <a:pt x="18478" y="180879"/>
                </a:lnTo>
                <a:lnTo>
                  <a:pt x="38576" y="203537"/>
                </a:lnTo>
                <a:lnTo>
                  <a:pt x="63246" y="211836"/>
                </a:lnTo>
                <a:lnTo>
                  <a:pt x="1247394" y="211836"/>
                </a:lnTo>
                <a:close/>
              </a:path>
            </a:pathLst>
          </a:custGeom>
          <a:ln w="37083">
            <a:solidFill>
              <a:srgbClr val="0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5304027" y="1928367"/>
            <a:ext cx="101091" cy="248919"/>
          </a:xfrm>
          <a:prstGeom prst="rect">
            <a:avLst/>
          </a:prstGeom>
        </p:spPr>
      </p:pic>
      <p:sp>
        <p:nvSpPr>
          <p:cNvPr id="10" name="object 10"/>
          <p:cNvSpPr/>
          <p:nvPr/>
        </p:nvSpPr>
        <p:spPr>
          <a:xfrm>
            <a:off x="1567434" y="1533143"/>
            <a:ext cx="0" cy="1039494"/>
          </a:xfrm>
          <a:custGeom>
            <a:avLst/>
            <a:gdLst/>
            <a:ahLst/>
            <a:cxnLst/>
            <a:rect l="l" t="t" r="r" b="b"/>
            <a:pathLst>
              <a:path h="1039494">
                <a:moveTo>
                  <a:pt x="0" y="0"/>
                </a:moveTo>
                <a:lnTo>
                  <a:pt x="0" y="1039368"/>
                </a:lnTo>
              </a:path>
            </a:pathLst>
          </a:custGeom>
          <a:ln w="37084">
            <a:solidFill>
              <a:srgbClr val="000000"/>
            </a:solidFill>
          </a:ln>
        </p:spPr>
        <p:txBody>
          <a:bodyPr wrap="square" lIns="0" tIns="0" rIns="0" bIns="0" rtlCol="0"/>
          <a:lstStyle/>
          <a:p>
            <a:endParaRPr/>
          </a:p>
        </p:txBody>
      </p:sp>
      <p:sp>
        <p:nvSpPr>
          <p:cNvPr id="11" name="object 11"/>
          <p:cNvSpPr/>
          <p:nvPr/>
        </p:nvSpPr>
        <p:spPr>
          <a:xfrm>
            <a:off x="1944623" y="1677161"/>
            <a:ext cx="0" cy="751840"/>
          </a:xfrm>
          <a:custGeom>
            <a:avLst/>
            <a:gdLst/>
            <a:ahLst/>
            <a:cxnLst/>
            <a:rect l="l" t="t" r="r" b="b"/>
            <a:pathLst>
              <a:path h="751839">
                <a:moveTo>
                  <a:pt x="0" y="0"/>
                </a:moveTo>
                <a:lnTo>
                  <a:pt x="0" y="751332"/>
                </a:lnTo>
              </a:path>
            </a:pathLst>
          </a:custGeom>
          <a:ln w="37084">
            <a:solidFill>
              <a:srgbClr val="000000"/>
            </a:solidFill>
          </a:ln>
        </p:spPr>
        <p:txBody>
          <a:bodyPr wrap="square" lIns="0" tIns="0" rIns="0" bIns="0" rtlCol="0"/>
          <a:lstStyle/>
          <a:p>
            <a:endParaRPr/>
          </a:p>
        </p:txBody>
      </p:sp>
      <p:sp>
        <p:nvSpPr>
          <p:cNvPr id="12" name="object 12"/>
          <p:cNvSpPr/>
          <p:nvPr/>
        </p:nvSpPr>
        <p:spPr>
          <a:xfrm>
            <a:off x="1567434" y="2428493"/>
            <a:ext cx="377190" cy="144145"/>
          </a:xfrm>
          <a:custGeom>
            <a:avLst/>
            <a:gdLst/>
            <a:ahLst/>
            <a:cxnLst/>
            <a:rect l="l" t="t" r="r" b="b"/>
            <a:pathLst>
              <a:path w="377189" h="144144">
                <a:moveTo>
                  <a:pt x="377190" y="0"/>
                </a:moveTo>
                <a:lnTo>
                  <a:pt x="0" y="144018"/>
                </a:lnTo>
              </a:path>
            </a:pathLst>
          </a:custGeom>
          <a:ln w="37211">
            <a:solidFill>
              <a:srgbClr val="000000"/>
            </a:solidFill>
          </a:ln>
        </p:spPr>
        <p:txBody>
          <a:bodyPr wrap="square" lIns="0" tIns="0" rIns="0" bIns="0" rtlCol="0"/>
          <a:lstStyle/>
          <a:p>
            <a:endParaRPr/>
          </a:p>
        </p:txBody>
      </p:sp>
      <p:sp>
        <p:nvSpPr>
          <p:cNvPr id="13" name="object 13"/>
          <p:cNvSpPr/>
          <p:nvPr/>
        </p:nvSpPr>
        <p:spPr>
          <a:xfrm>
            <a:off x="1567434" y="1533143"/>
            <a:ext cx="377190" cy="144145"/>
          </a:xfrm>
          <a:custGeom>
            <a:avLst/>
            <a:gdLst/>
            <a:ahLst/>
            <a:cxnLst/>
            <a:rect l="l" t="t" r="r" b="b"/>
            <a:pathLst>
              <a:path w="377189" h="144144">
                <a:moveTo>
                  <a:pt x="0" y="0"/>
                </a:moveTo>
                <a:lnTo>
                  <a:pt x="377190" y="144017"/>
                </a:lnTo>
              </a:path>
            </a:pathLst>
          </a:custGeom>
          <a:ln w="37211">
            <a:solidFill>
              <a:srgbClr val="000000"/>
            </a:solidFill>
          </a:ln>
        </p:spPr>
        <p:txBody>
          <a:bodyPr wrap="square" lIns="0" tIns="0" rIns="0" bIns="0" rtlCol="0"/>
          <a:lstStyle/>
          <a:p>
            <a:endParaRPr/>
          </a:p>
        </p:txBody>
      </p:sp>
      <p:sp>
        <p:nvSpPr>
          <p:cNvPr id="14" name="object 14"/>
          <p:cNvSpPr/>
          <p:nvPr/>
        </p:nvSpPr>
        <p:spPr>
          <a:xfrm>
            <a:off x="1341120" y="1661159"/>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5" name="object 15"/>
          <p:cNvSpPr/>
          <p:nvPr/>
        </p:nvSpPr>
        <p:spPr>
          <a:xfrm>
            <a:off x="1341120" y="1856993"/>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6" name="object 16"/>
          <p:cNvSpPr/>
          <p:nvPr/>
        </p:nvSpPr>
        <p:spPr>
          <a:xfrm>
            <a:off x="1341120" y="2052827"/>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7" name="object 17"/>
          <p:cNvSpPr/>
          <p:nvPr/>
        </p:nvSpPr>
        <p:spPr>
          <a:xfrm>
            <a:off x="1341120" y="2248661"/>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8" name="object 18"/>
          <p:cNvSpPr/>
          <p:nvPr/>
        </p:nvSpPr>
        <p:spPr>
          <a:xfrm>
            <a:off x="1341120" y="2444495"/>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grpSp>
        <p:nvGrpSpPr>
          <p:cNvPr id="184" name="Group 183"/>
          <p:cNvGrpSpPr/>
          <p:nvPr/>
        </p:nvGrpSpPr>
        <p:grpSpPr>
          <a:xfrm>
            <a:off x="774445" y="1169162"/>
            <a:ext cx="4102736" cy="2304287"/>
            <a:chOff x="774445" y="1169162"/>
            <a:chExt cx="4102736" cy="2304287"/>
          </a:xfrm>
        </p:grpSpPr>
        <p:sp>
          <p:nvSpPr>
            <p:cNvPr id="5" name="object 5"/>
            <p:cNvSpPr/>
            <p:nvPr/>
          </p:nvSpPr>
          <p:spPr>
            <a:xfrm>
              <a:off x="1221486" y="1196339"/>
              <a:ext cx="3655695" cy="2277110"/>
            </a:xfrm>
            <a:custGeom>
              <a:avLst/>
              <a:gdLst/>
              <a:ahLst/>
              <a:cxnLst/>
              <a:rect l="l" t="t" r="r" b="b"/>
              <a:pathLst>
                <a:path w="3655695" h="2277110">
                  <a:moveTo>
                    <a:pt x="28194" y="2262378"/>
                  </a:moveTo>
                  <a:lnTo>
                    <a:pt x="28194" y="2148078"/>
                  </a:lnTo>
                  <a:lnTo>
                    <a:pt x="0" y="2148078"/>
                  </a:lnTo>
                  <a:lnTo>
                    <a:pt x="0" y="2262378"/>
                  </a:lnTo>
                  <a:lnTo>
                    <a:pt x="28194" y="2262378"/>
                  </a:lnTo>
                  <a:close/>
                </a:path>
                <a:path w="3655695" h="2277110">
                  <a:moveTo>
                    <a:pt x="28194" y="2061972"/>
                  </a:moveTo>
                  <a:lnTo>
                    <a:pt x="28194" y="1947672"/>
                  </a:lnTo>
                  <a:lnTo>
                    <a:pt x="0" y="1947672"/>
                  </a:lnTo>
                  <a:lnTo>
                    <a:pt x="0" y="2061972"/>
                  </a:lnTo>
                  <a:lnTo>
                    <a:pt x="28194" y="2061972"/>
                  </a:lnTo>
                  <a:close/>
                </a:path>
                <a:path w="3655695" h="2277110">
                  <a:moveTo>
                    <a:pt x="28194" y="1862328"/>
                  </a:moveTo>
                  <a:lnTo>
                    <a:pt x="28194" y="1748028"/>
                  </a:lnTo>
                  <a:lnTo>
                    <a:pt x="0" y="1748028"/>
                  </a:lnTo>
                  <a:lnTo>
                    <a:pt x="0" y="1862328"/>
                  </a:lnTo>
                  <a:lnTo>
                    <a:pt x="28194" y="1862328"/>
                  </a:lnTo>
                  <a:close/>
                </a:path>
                <a:path w="3655695" h="2277110">
                  <a:moveTo>
                    <a:pt x="28194" y="1662684"/>
                  </a:moveTo>
                  <a:lnTo>
                    <a:pt x="28194" y="1548384"/>
                  </a:lnTo>
                  <a:lnTo>
                    <a:pt x="0" y="1548384"/>
                  </a:lnTo>
                  <a:lnTo>
                    <a:pt x="0" y="1662684"/>
                  </a:lnTo>
                  <a:lnTo>
                    <a:pt x="28194" y="1662684"/>
                  </a:lnTo>
                  <a:close/>
                </a:path>
                <a:path w="3655695" h="2277110">
                  <a:moveTo>
                    <a:pt x="28194" y="1462278"/>
                  </a:moveTo>
                  <a:lnTo>
                    <a:pt x="28194" y="1347978"/>
                  </a:lnTo>
                  <a:lnTo>
                    <a:pt x="0" y="1347978"/>
                  </a:lnTo>
                  <a:lnTo>
                    <a:pt x="0" y="1462278"/>
                  </a:lnTo>
                  <a:lnTo>
                    <a:pt x="28194" y="1462278"/>
                  </a:lnTo>
                  <a:close/>
                </a:path>
                <a:path w="3655695" h="2277110">
                  <a:moveTo>
                    <a:pt x="28194" y="1262634"/>
                  </a:moveTo>
                  <a:lnTo>
                    <a:pt x="28194" y="1148334"/>
                  </a:lnTo>
                  <a:lnTo>
                    <a:pt x="0" y="1148334"/>
                  </a:lnTo>
                  <a:lnTo>
                    <a:pt x="0" y="1262634"/>
                  </a:lnTo>
                  <a:lnTo>
                    <a:pt x="28194" y="1262634"/>
                  </a:lnTo>
                  <a:close/>
                </a:path>
                <a:path w="3655695" h="2277110">
                  <a:moveTo>
                    <a:pt x="28194" y="1062228"/>
                  </a:moveTo>
                  <a:lnTo>
                    <a:pt x="28194" y="947928"/>
                  </a:lnTo>
                  <a:lnTo>
                    <a:pt x="0" y="947928"/>
                  </a:lnTo>
                  <a:lnTo>
                    <a:pt x="0" y="1062228"/>
                  </a:lnTo>
                  <a:lnTo>
                    <a:pt x="28194" y="1062228"/>
                  </a:lnTo>
                  <a:close/>
                </a:path>
                <a:path w="3655695" h="2277110">
                  <a:moveTo>
                    <a:pt x="28194" y="862584"/>
                  </a:moveTo>
                  <a:lnTo>
                    <a:pt x="28194" y="748284"/>
                  </a:lnTo>
                  <a:lnTo>
                    <a:pt x="0" y="748284"/>
                  </a:lnTo>
                  <a:lnTo>
                    <a:pt x="0" y="862584"/>
                  </a:lnTo>
                  <a:lnTo>
                    <a:pt x="28194" y="862584"/>
                  </a:lnTo>
                  <a:close/>
                </a:path>
                <a:path w="3655695" h="2277110">
                  <a:moveTo>
                    <a:pt x="28194" y="662178"/>
                  </a:moveTo>
                  <a:lnTo>
                    <a:pt x="28194" y="547878"/>
                  </a:lnTo>
                  <a:lnTo>
                    <a:pt x="0" y="547878"/>
                  </a:lnTo>
                  <a:lnTo>
                    <a:pt x="0" y="662178"/>
                  </a:lnTo>
                  <a:lnTo>
                    <a:pt x="28194" y="662178"/>
                  </a:lnTo>
                  <a:close/>
                </a:path>
                <a:path w="3655695" h="2277110">
                  <a:moveTo>
                    <a:pt x="28194" y="462534"/>
                  </a:moveTo>
                  <a:lnTo>
                    <a:pt x="28194" y="348234"/>
                  </a:lnTo>
                  <a:lnTo>
                    <a:pt x="0" y="348234"/>
                  </a:lnTo>
                  <a:lnTo>
                    <a:pt x="0" y="462534"/>
                  </a:lnTo>
                  <a:lnTo>
                    <a:pt x="28194" y="462534"/>
                  </a:lnTo>
                  <a:close/>
                </a:path>
                <a:path w="3655695" h="2277110">
                  <a:moveTo>
                    <a:pt x="28193" y="262128"/>
                  </a:moveTo>
                  <a:lnTo>
                    <a:pt x="28193" y="147828"/>
                  </a:lnTo>
                  <a:lnTo>
                    <a:pt x="0" y="147828"/>
                  </a:lnTo>
                  <a:lnTo>
                    <a:pt x="0" y="262128"/>
                  </a:lnTo>
                  <a:lnTo>
                    <a:pt x="28193" y="262128"/>
                  </a:lnTo>
                  <a:close/>
                </a:path>
                <a:path w="3655695" h="2277110">
                  <a:moveTo>
                    <a:pt x="80009" y="28194"/>
                  </a:moveTo>
                  <a:lnTo>
                    <a:pt x="80009" y="0"/>
                  </a:lnTo>
                  <a:lnTo>
                    <a:pt x="6095" y="0"/>
                  </a:lnTo>
                  <a:lnTo>
                    <a:pt x="0" y="6096"/>
                  </a:lnTo>
                  <a:lnTo>
                    <a:pt x="0" y="62484"/>
                  </a:lnTo>
                  <a:lnTo>
                    <a:pt x="14477" y="62484"/>
                  </a:lnTo>
                  <a:lnTo>
                    <a:pt x="14477" y="28194"/>
                  </a:lnTo>
                  <a:lnTo>
                    <a:pt x="28193" y="14478"/>
                  </a:lnTo>
                  <a:lnTo>
                    <a:pt x="28193" y="28194"/>
                  </a:lnTo>
                  <a:lnTo>
                    <a:pt x="80009" y="28194"/>
                  </a:lnTo>
                  <a:close/>
                </a:path>
                <a:path w="3655695" h="2277110">
                  <a:moveTo>
                    <a:pt x="28193" y="28194"/>
                  </a:moveTo>
                  <a:lnTo>
                    <a:pt x="28193" y="14478"/>
                  </a:lnTo>
                  <a:lnTo>
                    <a:pt x="14477" y="28194"/>
                  </a:lnTo>
                  <a:lnTo>
                    <a:pt x="28193" y="28194"/>
                  </a:lnTo>
                  <a:close/>
                </a:path>
                <a:path w="3655695" h="2277110">
                  <a:moveTo>
                    <a:pt x="28193" y="62484"/>
                  </a:moveTo>
                  <a:lnTo>
                    <a:pt x="28193" y="28194"/>
                  </a:lnTo>
                  <a:lnTo>
                    <a:pt x="14477" y="28194"/>
                  </a:lnTo>
                  <a:lnTo>
                    <a:pt x="14477" y="62484"/>
                  </a:lnTo>
                  <a:lnTo>
                    <a:pt x="28193" y="62484"/>
                  </a:lnTo>
                  <a:close/>
                </a:path>
                <a:path w="3655695" h="2277110">
                  <a:moveTo>
                    <a:pt x="280416" y="28193"/>
                  </a:moveTo>
                  <a:lnTo>
                    <a:pt x="280416" y="0"/>
                  </a:lnTo>
                  <a:lnTo>
                    <a:pt x="166115" y="0"/>
                  </a:lnTo>
                  <a:lnTo>
                    <a:pt x="166115" y="28194"/>
                  </a:lnTo>
                  <a:lnTo>
                    <a:pt x="280416" y="28193"/>
                  </a:lnTo>
                  <a:close/>
                </a:path>
                <a:path w="3655695" h="2277110">
                  <a:moveTo>
                    <a:pt x="480060" y="28193"/>
                  </a:moveTo>
                  <a:lnTo>
                    <a:pt x="480060" y="0"/>
                  </a:lnTo>
                  <a:lnTo>
                    <a:pt x="365759" y="0"/>
                  </a:lnTo>
                  <a:lnTo>
                    <a:pt x="365759" y="28193"/>
                  </a:lnTo>
                  <a:lnTo>
                    <a:pt x="480060" y="28193"/>
                  </a:lnTo>
                  <a:close/>
                </a:path>
                <a:path w="3655695" h="2277110">
                  <a:moveTo>
                    <a:pt x="680465" y="28193"/>
                  </a:moveTo>
                  <a:lnTo>
                    <a:pt x="680465" y="0"/>
                  </a:lnTo>
                  <a:lnTo>
                    <a:pt x="566165" y="0"/>
                  </a:lnTo>
                  <a:lnTo>
                    <a:pt x="566165" y="28193"/>
                  </a:lnTo>
                  <a:lnTo>
                    <a:pt x="680465" y="28193"/>
                  </a:lnTo>
                  <a:close/>
                </a:path>
                <a:path w="3655695" h="2277110">
                  <a:moveTo>
                    <a:pt x="880109" y="28193"/>
                  </a:moveTo>
                  <a:lnTo>
                    <a:pt x="880109" y="0"/>
                  </a:lnTo>
                  <a:lnTo>
                    <a:pt x="765809" y="0"/>
                  </a:lnTo>
                  <a:lnTo>
                    <a:pt x="765809" y="28193"/>
                  </a:lnTo>
                  <a:lnTo>
                    <a:pt x="880109" y="28193"/>
                  </a:lnTo>
                  <a:close/>
                </a:path>
                <a:path w="3655695" h="2277110">
                  <a:moveTo>
                    <a:pt x="1080515" y="28193"/>
                  </a:moveTo>
                  <a:lnTo>
                    <a:pt x="1080515" y="0"/>
                  </a:lnTo>
                  <a:lnTo>
                    <a:pt x="966215" y="0"/>
                  </a:lnTo>
                  <a:lnTo>
                    <a:pt x="966215" y="28193"/>
                  </a:lnTo>
                  <a:lnTo>
                    <a:pt x="1080515" y="28193"/>
                  </a:lnTo>
                  <a:close/>
                </a:path>
                <a:path w="3655695" h="2277110">
                  <a:moveTo>
                    <a:pt x="1280159" y="28193"/>
                  </a:moveTo>
                  <a:lnTo>
                    <a:pt x="1280159" y="0"/>
                  </a:lnTo>
                  <a:lnTo>
                    <a:pt x="1165859" y="0"/>
                  </a:lnTo>
                  <a:lnTo>
                    <a:pt x="1165859" y="28193"/>
                  </a:lnTo>
                  <a:lnTo>
                    <a:pt x="1280159" y="28193"/>
                  </a:lnTo>
                  <a:close/>
                </a:path>
                <a:path w="3655695" h="2277110">
                  <a:moveTo>
                    <a:pt x="1480565" y="28193"/>
                  </a:moveTo>
                  <a:lnTo>
                    <a:pt x="1480565" y="0"/>
                  </a:lnTo>
                  <a:lnTo>
                    <a:pt x="1366265" y="0"/>
                  </a:lnTo>
                  <a:lnTo>
                    <a:pt x="1366265" y="28193"/>
                  </a:lnTo>
                  <a:lnTo>
                    <a:pt x="1480565" y="28193"/>
                  </a:lnTo>
                  <a:close/>
                </a:path>
                <a:path w="3655695" h="2277110">
                  <a:moveTo>
                    <a:pt x="1680209" y="28193"/>
                  </a:moveTo>
                  <a:lnTo>
                    <a:pt x="1680209" y="0"/>
                  </a:lnTo>
                  <a:lnTo>
                    <a:pt x="1565909" y="0"/>
                  </a:lnTo>
                  <a:lnTo>
                    <a:pt x="1565909" y="28193"/>
                  </a:lnTo>
                  <a:lnTo>
                    <a:pt x="1680209" y="28193"/>
                  </a:lnTo>
                  <a:close/>
                </a:path>
                <a:path w="3655695" h="2277110">
                  <a:moveTo>
                    <a:pt x="1880615" y="28193"/>
                  </a:moveTo>
                  <a:lnTo>
                    <a:pt x="1880615" y="0"/>
                  </a:lnTo>
                  <a:lnTo>
                    <a:pt x="1766315" y="0"/>
                  </a:lnTo>
                  <a:lnTo>
                    <a:pt x="1766315" y="28193"/>
                  </a:lnTo>
                  <a:lnTo>
                    <a:pt x="1880615" y="28193"/>
                  </a:lnTo>
                  <a:close/>
                </a:path>
                <a:path w="3655695" h="2277110">
                  <a:moveTo>
                    <a:pt x="2080260" y="28193"/>
                  </a:moveTo>
                  <a:lnTo>
                    <a:pt x="2080260" y="0"/>
                  </a:lnTo>
                  <a:lnTo>
                    <a:pt x="1965959" y="0"/>
                  </a:lnTo>
                  <a:lnTo>
                    <a:pt x="1965959" y="28193"/>
                  </a:lnTo>
                  <a:lnTo>
                    <a:pt x="2080260" y="28193"/>
                  </a:lnTo>
                  <a:close/>
                </a:path>
                <a:path w="3655695" h="2277110">
                  <a:moveTo>
                    <a:pt x="2280666" y="28193"/>
                  </a:moveTo>
                  <a:lnTo>
                    <a:pt x="2280666" y="0"/>
                  </a:lnTo>
                  <a:lnTo>
                    <a:pt x="2166366" y="0"/>
                  </a:lnTo>
                  <a:lnTo>
                    <a:pt x="2166366" y="28193"/>
                  </a:lnTo>
                  <a:lnTo>
                    <a:pt x="2280666" y="28193"/>
                  </a:lnTo>
                  <a:close/>
                </a:path>
                <a:path w="3655695" h="2277110">
                  <a:moveTo>
                    <a:pt x="2480310" y="28193"/>
                  </a:moveTo>
                  <a:lnTo>
                    <a:pt x="2480310" y="0"/>
                  </a:lnTo>
                  <a:lnTo>
                    <a:pt x="2366010" y="0"/>
                  </a:lnTo>
                  <a:lnTo>
                    <a:pt x="2366010" y="28193"/>
                  </a:lnTo>
                  <a:lnTo>
                    <a:pt x="2480310" y="28193"/>
                  </a:lnTo>
                  <a:close/>
                </a:path>
                <a:path w="3655695" h="2277110">
                  <a:moveTo>
                    <a:pt x="2680716" y="28193"/>
                  </a:moveTo>
                  <a:lnTo>
                    <a:pt x="2680716" y="0"/>
                  </a:lnTo>
                  <a:lnTo>
                    <a:pt x="2566416" y="0"/>
                  </a:lnTo>
                  <a:lnTo>
                    <a:pt x="2566416" y="28193"/>
                  </a:lnTo>
                  <a:lnTo>
                    <a:pt x="2680716" y="28193"/>
                  </a:lnTo>
                  <a:close/>
                </a:path>
                <a:path w="3655695" h="2277110">
                  <a:moveTo>
                    <a:pt x="2880360" y="28193"/>
                  </a:moveTo>
                  <a:lnTo>
                    <a:pt x="2880360" y="0"/>
                  </a:lnTo>
                  <a:lnTo>
                    <a:pt x="2766060" y="0"/>
                  </a:lnTo>
                  <a:lnTo>
                    <a:pt x="2766060" y="28193"/>
                  </a:lnTo>
                  <a:lnTo>
                    <a:pt x="2880360" y="28193"/>
                  </a:lnTo>
                  <a:close/>
                </a:path>
                <a:path w="3655695" h="2277110">
                  <a:moveTo>
                    <a:pt x="3080004" y="28193"/>
                  </a:moveTo>
                  <a:lnTo>
                    <a:pt x="3080004" y="0"/>
                  </a:lnTo>
                  <a:lnTo>
                    <a:pt x="2965704" y="0"/>
                  </a:lnTo>
                  <a:lnTo>
                    <a:pt x="2965704" y="28193"/>
                  </a:lnTo>
                  <a:lnTo>
                    <a:pt x="3080004" y="28193"/>
                  </a:lnTo>
                  <a:close/>
                </a:path>
                <a:path w="3655695" h="2277110">
                  <a:moveTo>
                    <a:pt x="3280410" y="28193"/>
                  </a:moveTo>
                  <a:lnTo>
                    <a:pt x="3280410" y="0"/>
                  </a:lnTo>
                  <a:lnTo>
                    <a:pt x="3166110" y="0"/>
                  </a:lnTo>
                  <a:lnTo>
                    <a:pt x="3166110" y="28193"/>
                  </a:lnTo>
                  <a:lnTo>
                    <a:pt x="3280410" y="28193"/>
                  </a:lnTo>
                  <a:close/>
                </a:path>
                <a:path w="3655695" h="2277110">
                  <a:moveTo>
                    <a:pt x="3480054" y="28193"/>
                  </a:moveTo>
                  <a:lnTo>
                    <a:pt x="3480054" y="0"/>
                  </a:lnTo>
                  <a:lnTo>
                    <a:pt x="3365754" y="0"/>
                  </a:lnTo>
                  <a:lnTo>
                    <a:pt x="3365754" y="28193"/>
                  </a:lnTo>
                  <a:lnTo>
                    <a:pt x="3480054" y="28193"/>
                  </a:lnTo>
                  <a:close/>
                </a:path>
                <a:path w="3655695" h="2277110">
                  <a:moveTo>
                    <a:pt x="3655314" y="53339"/>
                  </a:moveTo>
                  <a:lnTo>
                    <a:pt x="3655314" y="6095"/>
                  </a:lnTo>
                  <a:lnTo>
                    <a:pt x="3649217" y="0"/>
                  </a:lnTo>
                  <a:lnTo>
                    <a:pt x="3566160" y="0"/>
                  </a:lnTo>
                  <a:lnTo>
                    <a:pt x="3566160" y="28193"/>
                  </a:lnTo>
                  <a:lnTo>
                    <a:pt x="3627119" y="28193"/>
                  </a:lnTo>
                  <a:lnTo>
                    <a:pt x="3627119" y="14477"/>
                  </a:lnTo>
                  <a:lnTo>
                    <a:pt x="3640836" y="28193"/>
                  </a:lnTo>
                  <a:lnTo>
                    <a:pt x="3640836" y="53339"/>
                  </a:lnTo>
                  <a:lnTo>
                    <a:pt x="3655314" y="53339"/>
                  </a:lnTo>
                  <a:close/>
                </a:path>
                <a:path w="3655695" h="2277110">
                  <a:moveTo>
                    <a:pt x="3640836" y="28193"/>
                  </a:moveTo>
                  <a:lnTo>
                    <a:pt x="3627119" y="14477"/>
                  </a:lnTo>
                  <a:lnTo>
                    <a:pt x="3627119" y="28193"/>
                  </a:lnTo>
                  <a:lnTo>
                    <a:pt x="3640836" y="28193"/>
                  </a:lnTo>
                  <a:close/>
                </a:path>
                <a:path w="3655695" h="2277110">
                  <a:moveTo>
                    <a:pt x="3640836" y="53339"/>
                  </a:moveTo>
                  <a:lnTo>
                    <a:pt x="3640836" y="28193"/>
                  </a:lnTo>
                  <a:lnTo>
                    <a:pt x="3627119" y="28193"/>
                  </a:lnTo>
                  <a:lnTo>
                    <a:pt x="3627119" y="53339"/>
                  </a:lnTo>
                  <a:lnTo>
                    <a:pt x="3640836" y="53339"/>
                  </a:lnTo>
                  <a:close/>
                </a:path>
                <a:path w="3655695" h="2277110">
                  <a:moveTo>
                    <a:pt x="3655314" y="253745"/>
                  </a:moveTo>
                  <a:lnTo>
                    <a:pt x="3655314" y="139445"/>
                  </a:lnTo>
                  <a:lnTo>
                    <a:pt x="3627119" y="139445"/>
                  </a:lnTo>
                  <a:lnTo>
                    <a:pt x="3627119" y="253745"/>
                  </a:lnTo>
                  <a:lnTo>
                    <a:pt x="3655314" y="253745"/>
                  </a:lnTo>
                  <a:close/>
                </a:path>
                <a:path w="3655695" h="2277110">
                  <a:moveTo>
                    <a:pt x="3655314" y="453389"/>
                  </a:moveTo>
                  <a:lnTo>
                    <a:pt x="3655314" y="339089"/>
                  </a:lnTo>
                  <a:lnTo>
                    <a:pt x="3627119" y="339089"/>
                  </a:lnTo>
                  <a:lnTo>
                    <a:pt x="3627119" y="453389"/>
                  </a:lnTo>
                  <a:lnTo>
                    <a:pt x="3655314" y="453389"/>
                  </a:lnTo>
                  <a:close/>
                </a:path>
                <a:path w="3655695" h="2277110">
                  <a:moveTo>
                    <a:pt x="3655314" y="653033"/>
                  </a:moveTo>
                  <a:lnTo>
                    <a:pt x="3655314" y="539495"/>
                  </a:lnTo>
                  <a:lnTo>
                    <a:pt x="3627119" y="539495"/>
                  </a:lnTo>
                  <a:lnTo>
                    <a:pt x="3627119" y="653033"/>
                  </a:lnTo>
                  <a:lnTo>
                    <a:pt x="3655314" y="653033"/>
                  </a:lnTo>
                  <a:close/>
                </a:path>
                <a:path w="3655695" h="2277110">
                  <a:moveTo>
                    <a:pt x="3655314" y="853439"/>
                  </a:moveTo>
                  <a:lnTo>
                    <a:pt x="3655314" y="739139"/>
                  </a:lnTo>
                  <a:lnTo>
                    <a:pt x="3627119" y="739139"/>
                  </a:lnTo>
                  <a:lnTo>
                    <a:pt x="3627119" y="853439"/>
                  </a:lnTo>
                  <a:lnTo>
                    <a:pt x="3655314" y="853439"/>
                  </a:lnTo>
                  <a:close/>
                </a:path>
                <a:path w="3655695" h="2277110">
                  <a:moveTo>
                    <a:pt x="3655314" y="1053083"/>
                  </a:moveTo>
                  <a:lnTo>
                    <a:pt x="3655314" y="938783"/>
                  </a:lnTo>
                  <a:lnTo>
                    <a:pt x="3627119" y="938783"/>
                  </a:lnTo>
                  <a:lnTo>
                    <a:pt x="3627119" y="1053083"/>
                  </a:lnTo>
                  <a:lnTo>
                    <a:pt x="3655314" y="1053083"/>
                  </a:lnTo>
                  <a:close/>
                </a:path>
                <a:path w="3655695" h="2277110">
                  <a:moveTo>
                    <a:pt x="3655314" y="1253489"/>
                  </a:moveTo>
                  <a:lnTo>
                    <a:pt x="3655314" y="1139189"/>
                  </a:lnTo>
                  <a:lnTo>
                    <a:pt x="3627119" y="1139189"/>
                  </a:lnTo>
                  <a:lnTo>
                    <a:pt x="3627119" y="1253489"/>
                  </a:lnTo>
                  <a:lnTo>
                    <a:pt x="3655314" y="1253489"/>
                  </a:lnTo>
                  <a:close/>
                </a:path>
                <a:path w="3655695" h="2277110">
                  <a:moveTo>
                    <a:pt x="3655314" y="1453133"/>
                  </a:moveTo>
                  <a:lnTo>
                    <a:pt x="3655314" y="1338833"/>
                  </a:lnTo>
                  <a:lnTo>
                    <a:pt x="3627119" y="1338833"/>
                  </a:lnTo>
                  <a:lnTo>
                    <a:pt x="3627119" y="1453133"/>
                  </a:lnTo>
                  <a:lnTo>
                    <a:pt x="3655314" y="1453133"/>
                  </a:lnTo>
                  <a:close/>
                </a:path>
                <a:path w="3655695" h="2277110">
                  <a:moveTo>
                    <a:pt x="3655314" y="1653539"/>
                  </a:moveTo>
                  <a:lnTo>
                    <a:pt x="3655314" y="1539239"/>
                  </a:lnTo>
                  <a:lnTo>
                    <a:pt x="3627119" y="1539239"/>
                  </a:lnTo>
                  <a:lnTo>
                    <a:pt x="3627119" y="1653539"/>
                  </a:lnTo>
                  <a:lnTo>
                    <a:pt x="3655314" y="1653539"/>
                  </a:lnTo>
                  <a:close/>
                </a:path>
                <a:path w="3655695" h="2277110">
                  <a:moveTo>
                    <a:pt x="3655314" y="1853183"/>
                  </a:moveTo>
                  <a:lnTo>
                    <a:pt x="3655314" y="1738883"/>
                  </a:lnTo>
                  <a:lnTo>
                    <a:pt x="3627119" y="1738883"/>
                  </a:lnTo>
                  <a:lnTo>
                    <a:pt x="3627119" y="1853183"/>
                  </a:lnTo>
                  <a:lnTo>
                    <a:pt x="3655314" y="1853183"/>
                  </a:lnTo>
                  <a:close/>
                </a:path>
                <a:path w="3655695" h="2277110">
                  <a:moveTo>
                    <a:pt x="3655314" y="2053589"/>
                  </a:moveTo>
                  <a:lnTo>
                    <a:pt x="3655314" y="1939289"/>
                  </a:lnTo>
                  <a:lnTo>
                    <a:pt x="3627119" y="1939289"/>
                  </a:lnTo>
                  <a:lnTo>
                    <a:pt x="3627119" y="2053589"/>
                  </a:lnTo>
                  <a:lnTo>
                    <a:pt x="3655314" y="2053589"/>
                  </a:lnTo>
                  <a:close/>
                </a:path>
                <a:path w="3655695" h="2277110">
                  <a:moveTo>
                    <a:pt x="3655314" y="2253234"/>
                  </a:moveTo>
                  <a:lnTo>
                    <a:pt x="3655314" y="2138934"/>
                  </a:lnTo>
                  <a:lnTo>
                    <a:pt x="3627119" y="2138934"/>
                  </a:lnTo>
                  <a:lnTo>
                    <a:pt x="3627119" y="2253234"/>
                  </a:lnTo>
                  <a:lnTo>
                    <a:pt x="3655314" y="2253234"/>
                  </a:lnTo>
                  <a:close/>
                </a:path>
                <a:path w="3655695" h="2277110">
                  <a:moveTo>
                    <a:pt x="3564636" y="2276855"/>
                  </a:moveTo>
                  <a:lnTo>
                    <a:pt x="3564636" y="2247900"/>
                  </a:lnTo>
                  <a:lnTo>
                    <a:pt x="3450336" y="2247900"/>
                  </a:lnTo>
                  <a:lnTo>
                    <a:pt x="3450336" y="2276855"/>
                  </a:lnTo>
                  <a:lnTo>
                    <a:pt x="3564636" y="2276855"/>
                  </a:lnTo>
                  <a:close/>
                </a:path>
                <a:path w="3655695" h="2277110">
                  <a:moveTo>
                    <a:pt x="3364229" y="2276855"/>
                  </a:moveTo>
                  <a:lnTo>
                    <a:pt x="3364229" y="2247900"/>
                  </a:lnTo>
                  <a:lnTo>
                    <a:pt x="3249929" y="2247900"/>
                  </a:lnTo>
                  <a:lnTo>
                    <a:pt x="3249929" y="2276855"/>
                  </a:lnTo>
                  <a:lnTo>
                    <a:pt x="3364229" y="2276855"/>
                  </a:lnTo>
                  <a:close/>
                </a:path>
                <a:path w="3655695" h="2277110">
                  <a:moveTo>
                    <a:pt x="3164586" y="2276855"/>
                  </a:moveTo>
                  <a:lnTo>
                    <a:pt x="3164586" y="2247900"/>
                  </a:lnTo>
                  <a:lnTo>
                    <a:pt x="3050286" y="2247900"/>
                  </a:lnTo>
                  <a:lnTo>
                    <a:pt x="3050286" y="2276855"/>
                  </a:lnTo>
                  <a:lnTo>
                    <a:pt x="3164586" y="2276855"/>
                  </a:lnTo>
                  <a:close/>
                </a:path>
                <a:path w="3655695" h="2277110">
                  <a:moveTo>
                    <a:pt x="2964179" y="2276855"/>
                  </a:moveTo>
                  <a:lnTo>
                    <a:pt x="2964179" y="2247900"/>
                  </a:lnTo>
                  <a:lnTo>
                    <a:pt x="2849879" y="2247900"/>
                  </a:lnTo>
                  <a:lnTo>
                    <a:pt x="2849879" y="2276855"/>
                  </a:lnTo>
                  <a:lnTo>
                    <a:pt x="2964179" y="2276855"/>
                  </a:lnTo>
                  <a:close/>
                </a:path>
                <a:path w="3655695" h="2277110">
                  <a:moveTo>
                    <a:pt x="2764536" y="2276855"/>
                  </a:moveTo>
                  <a:lnTo>
                    <a:pt x="2764536" y="2247900"/>
                  </a:lnTo>
                  <a:lnTo>
                    <a:pt x="2650236" y="2247900"/>
                  </a:lnTo>
                  <a:lnTo>
                    <a:pt x="2650236" y="2276855"/>
                  </a:lnTo>
                  <a:lnTo>
                    <a:pt x="2764536" y="2276855"/>
                  </a:lnTo>
                  <a:close/>
                </a:path>
                <a:path w="3655695" h="2277110">
                  <a:moveTo>
                    <a:pt x="2564129" y="2276855"/>
                  </a:moveTo>
                  <a:lnTo>
                    <a:pt x="2564129" y="2247900"/>
                  </a:lnTo>
                  <a:lnTo>
                    <a:pt x="2449829" y="2247900"/>
                  </a:lnTo>
                  <a:lnTo>
                    <a:pt x="2449829" y="2276855"/>
                  </a:lnTo>
                  <a:lnTo>
                    <a:pt x="2564129" y="2276855"/>
                  </a:lnTo>
                  <a:close/>
                </a:path>
                <a:path w="3655695" h="2277110">
                  <a:moveTo>
                    <a:pt x="2364486" y="2276855"/>
                  </a:moveTo>
                  <a:lnTo>
                    <a:pt x="2364486" y="2247900"/>
                  </a:lnTo>
                  <a:lnTo>
                    <a:pt x="2250186" y="2247900"/>
                  </a:lnTo>
                  <a:lnTo>
                    <a:pt x="2250186" y="2276855"/>
                  </a:lnTo>
                  <a:lnTo>
                    <a:pt x="2364486" y="2276855"/>
                  </a:lnTo>
                  <a:close/>
                </a:path>
                <a:path w="3655695" h="2277110">
                  <a:moveTo>
                    <a:pt x="2164079" y="2276855"/>
                  </a:moveTo>
                  <a:lnTo>
                    <a:pt x="2164079" y="2247900"/>
                  </a:lnTo>
                  <a:lnTo>
                    <a:pt x="2049779" y="2247900"/>
                  </a:lnTo>
                  <a:lnTo>
                    <a:pt x="2049779" y="2276855"/>
                  </a:lnTo>
                  <a:lnTo>
                    <a:pt x="2164079" y="2276855"/>
                  </a:lnTo>
                  <a:close/>
                </a:path>
                <a:path w="3655695" h="2277110">
                  <a:moveTo>
                    <a:pt x="1964436" y="2276855"/>
                  </a:moveTo>
                  <a:lnTo>
                    <a:pt x="1964436" y="2247900"/>
                  </a:lnTo>
                  <a:lnTo>
                    <a:pt x="1850136" y="2247900"/>
                  </a:lnTo>
                  <a:lnTo>
                    <a:pt x="1850136" y="2276855"/>
                  </a:lnTo>
                  <a:lnTo>
                    <a:pt x="1964436" y="2276855"/>
                  </a:lnTo>
                  <a:close/>
                </a:path>
                <a:path w="3655695" h="2277110">
                  <a:moveTo>
                    <a:pt x="1764030" y="2276855"/>
                  </a:moveTo>
                  <a:lnTo>
                    <a:pt x="1764030" y="2247900"/>
                  </a:lnTo>
                  <a:lnTo>
                    <a:pt x="1650492" y="2247900"/>
                  </a:lnTo>
                  <a:lnTo>
                    <a:pt x="1650492" y="2276855"/>
                  </a:lnTo>
                  <a:lnTo>
                    <a:pt x="1764030" y="2276855"/>
                  </a:lnTo>
                  <a:close/>
                </a:path>
                <a:path w="3655695" h="2277110">
                  <a:moveTo>
                    <a:pt x="1564386" y="2276855"/>
                  </a:moveTo>
                  <a:lnTo>
                    <a:pt x="1564386" y="2247900"/>
                  </a:lnTo>
                  <a:lnTo>
                    <a:pt x="1450086" y="2247900"/>
                  </a:lnTo>
                  <a:lnTo>
                    <a:pt x="1450086" y="2276855"/>
                  </a:lnTo>
                  <a:lnTo>
                    <a:pt x="1564386" y="2276855"/>
                  </a:lnTo>
                  <a:close/>
                </a:path>
                <a:path w="3655695" h="2277110">
                  <a:moveTo>
                    <a:pt x="1364742" y="2276855"/>
                  </a:moveTo>
                  <a:lnTo>
                    <a:pt x="1364742" y="2247900"/>
                  </a:lnTo>
                  <a:lnTo>
                    <a:pt x="1250442" y="2247900"/>
                  </a:lnTo>
                  <a:lnTo>
                    <a:pt x="1250442" y="2276855"/>
                  </a:lnTo>
                  <a:lnTo>
                    <a:pt x="1364742" y="2276855"/>
                  </a:lnTo>
                  <a:close/>
                </a:path>
                <a:path w="3655695" h="2277110">
                  <a:moveTo>
                    <a:pt x="1164336" y="2276855"/>
                  </a:moveTo>
                  <a:lnTo>
                    <a:pt x="1164336" y="2247900"/>
                  </a:lnTo>
                  <a:lnTo>
                    <a:pt x="1050036" y="2247900"/>
                  </a:lnTo>
                  <a:lnTo>
                    <a:pt x="1050036" y="2276855"/>
                  </a:lnTo>
                  <a:lnTo>
                    <a:pt x="1164336" y="2276855"/>
                  </a:lnTo>
                  <a:close/>
                </a:path>
                <a:path w="3655695" h="2277110">
                  <a:moveTo>
                    <a:pt x="964692" y="2276855"/>
                  </a:moveTo>
                  <a:lnTo>
                    <a:pt x="964692" y="2247900"/>
                  </a:lnTo>
                  <a:lnTo>
                    <a:pt x="850392" y="2247900"/>
                  </a:lnTo>
                  <a:lnTo>
                    <a:pt x="850392" y="2276855"/>
                  </a:lnTo>
                  <a:lnTo>
                    <a:pt x="964692" y="2276855"/>
                  </a:lnTo>
                  <a:close/>
                </a:path>
                <a:path w="3655695" h="2277110">
                  <a:moveTo>
                    <a:pt x="764286" y="2276855"/>
                  </a:moveTo>
                  <a:lnTo>
                    <a:pt x="764286" y="2247900"/>
                  </a:lnTo>
                  <a:lnTo>
                    <a:pt x="649986" y="2247900"/>
                  </a:lnTo>
                  <a:lnTo>
                    <a:pt x="649986" y="2276855"/>
                  </a:lnTo>
                  <a:lnTo>
                    <a:pt x="764286" y="2276855"/>
                  </a:lnTo>
                  <a:close/>
                </a:path>
                <a:path w="3655695" h="2277110">
                  <a:moveTo>
                    <a:pt x="564642" y="2276855"/>
                  </a:moveTo>
                  <a:lnTo>
                    <a:pt x="564642" y="2247900"/>
                  </a:lnTo>
                  <a:lnTo>
                    <a:pt x="450342" y="2247900"/>
                  </a:lnTo>
                  <a:lnTo>
                    <a:pt x="450342" y="2276855"/>
                  </a:lnTo>
                  <a:lnTo>
                    <a:pt x="564642" y="2276855"/>
                  </a:lnTo>
                  <a:close/>
                </a:path>
                <a:path w="3655695" h="2277110">
                  <a:moveTo>
                    <a:pt x="364236" y="2276855"/>
                  </a:moveTo>
                  <a:lnTo>
                    <a:pt x="364236" y="2247900"/>
                  </a:lnTo>
                  <a:lnTo>
                    <a:pt x="249936" y="2247900"/>
                  </a:lnTo>
                  <a:lnTo>
                    <a:pt x="249936" y="2276855"/>
                  </a:lnTo>
                  <a:lnTo>
                    <a:pt x="364236" y="2276855"/>
                  </a:lnTo>
                  <a:close/>
                </a:path>
                <a:path w="3655695" h="2277110">
                  <a:moveTo>
                    <a:pt x="164592" y="2276855"/>
                  </a:moveTo>
                  <a:lnTo>
                    <a:pt x="164592" y="2247900"/>
                  </a:lnTo>
                  <a:lnTo>
                    <a:pt x="50292" y="2247900"/>
                  </a:lnTo>
                  <a:lnTo>
                    <a:pt x="50292" y="2276855"/>
                  </a:lnTo>
                  <a:lnTo>
                    <a:pt x="164592" y="2276855"/>
                  </a:lnTo>
                  <a:close/>
                </a:path>
              </a:pathLst>
            </a:custGeom>
            <a:solidFill>
              <a:srgbClr val="0000FF"/>
            </a:solidFill>
          </p:spPr>
          <p:txBody>
            <a:bodyPr wrap="square" lIns="0" tIns="0" rIns="0" bIns="0" rtlCol="0"/>
            <a:lstStyle/>
            <a:p>
              <a:endParaRPr/>
            </a:p>
          </p:txBody>
        </p:sp>
        <p:sp>
          <p:nvSpPr>
            <p:cNvPr id="19" name="object 19"/>
            <p:cNvSpPr txBox="1"/>
            <p:nvPr/>
          </p:nvSpPr>
          <p:spPr>
            <a:xfrm>
              <a:off x="774445" y="1169162"/>
              <a:ext cx="355600" cy="330200"/>
            </a:xfrm>
            <a:prstGeom prst="rect">
              <a:avLst/>
            </a:prstGeom>
          </p:spPr>
          <p:txBody>
            <a:bodyPr vert="horz" wrap="square" lIns="0" tIns="12065" rIns="0" bIns="0" rtlCol="0">
              <a:spAutoFit/>
            </a:bodyPr>
            <a:lstStyle/>
            <a:p>
              <a:pPr marL="12700">
                <a:lnSpc>
                  <a:spcPct val="100000"/>
                </a:lnSpc>
                <a:spcBef>
                  <a:spcPts val="95"/>
                </a:spcBef>
              </a:pPr>
              <a:r>
                <a:rPr sz="2000" spc="-25" dirty="0">
                  <a:solidFill>
                    <a:srgbClr val="0000FF"/>
                  </a:solidFill>
                  <a:latin typeface="Verdana"/>
                  <a:cs typeface="Verdana"/>
                </a:rPr>
                <a:t>TX</a:t>
              </a:r>
              <a:endParaRPr sz="2000">
                <a:latin typeface="Verdana"/>
                <a:cs typeface="Verdana"/>
              </a:endParaRPr>
            </a:p>
          </p:txBody>
        </p:sp>
      </p:grpSp>
      <p:grpSp>
        <p:nvGrpSpPr>
          <p:cNvPr id="185" name="Group 184"/>
          <p:cNvGrpSpPr/>
          <p:nvPr/>
        </p:nvGrpSpPr>
        <p:grpSpPr>
          <a:xfrm>
            <a:off x="6936486" y="1188212"/>
            <a:ext cx="4159376" cy="2285237"/>
            <a:chOff x="6936486" y="1188212"/>
            <a:chExt cx="4159376" cy="2285237"/>
          </a:xfrm>
        </p:grpSpPr>
        <p:sp>
          <p:nvSpPr>
            <p:cNvPr id="6" name="object 6"/>
            <p:cNvSpPr/>
            <p:nvPr/>
          </p:nvSpPr>
          <p:spPr>
            <a:xfrm>
              <a:off x="6936486" y="1196339"/>
              <a:ext cx="3674110" cy="2277110"/>
            </a:xfrm>
            <a:custGeom>
              <a:avLst/>
              <a:gdLst/>
              <a:ahLst/>
              <a:cxnLst/>
              <a:rect l="l" t="t" r="r" b="b"/>
              <a:pathLst>
                <a:path w="3674109" h="2277110">
                  <a:moveTo>
                    <a:pt x="28955" y="2262378"/>
                  </a:moveTo>
                  <a:lnTo>
                    <a:pt x="28955" y="2148078"/>
                  </a:lnTo>
                  <a:lnTo>
                    <a:pt x="0" y="2148078"/>
                  </a:lnTo>
                  <a:lnTo>
                    <a:pt x="0" y="2262378"/>
                  </a:lnTo>
                  <a:lnTo>
                    <a:pt x="28955" y="2262378"/>
                  </a:lnTo>
                  <a:close/>
                </a:path>
                <a:path w="3674109" h="2277110">
                  <a:moveTo>
                    <a:pt x="28955" y="2061972"/>
                  </a:moveTo>
                  <a:lnTo>
                    <a:pt x="28955" y="1947672"/>
                  </a:lnTo>
                  <a:lnTo>
                    <a:pt x="0" y="1947672"/>
                  </a:lnTo>
                  <a:lnTo>
                    <a:pt x="0" y="2061972"/>
                  </a:lnTo>
                  <a:lnTo>
                    <a:pt x="28955" y="2061972"/>
                  </a:lnTo>
                  <a:close/>
                </a:path>
                <a:path w="3674109" h="2277110">
                  <a:moveTo>
                    <a:pt x="28955" y="1862328"/>
                  </a:moveTo>
                  <a:lnTo>
                    <a:pt x="28955" y="1748028"/>
                  </a:lnTo>
                  <a:lnTo>
                    <a:pt x="0" y="1748028"/>
                  </a:lnTo>
                  <a:lnTo>
                    <a:pt x="0" y="1862328"/>
                  </a:lnTo>
                  <a:lnTo>
                    <a:pt x="28955" y="1862328"/>
                  </a:lnTo>
                  <a:close/>
                </a:path>
                <a:path w="3674109" h="2277110">
                  <a:moveTo>
                    <a:pt x="28955" y="1662684"/>
                  </a:moveTo>
                  <a:lnTo>
                    <a:pt x="28955" y="1548384"/>
                  </a:lnTo>
                  <a:lnTo>
                    <a:pt x="0" y="1548384"/>
                  </a:lnTo>
                  <a:lnTo>
                    <a:pt x="0" y="1662684"/>
                  </a:lnTo>
                  <a:lnTo>
                    <a:pt x="28955" y="1662684"/>
                  </a:lnTo>
                  <a:close/>
                </a:path>
                <a:path w="3674109" h="2277110">
                  <a:moveTo>
                    <a:pt x="28955" y="1462278"/>
                  </a:moveTo>
                  <a:lnTo>
                    <a:pt x="28955" y="1347978"/>
                  </a:lnTo>
                  <a:lnTo>
                    <a:pt x="0" y="1347978"/>
                  </a:lnTo>
                  <a:lnTo>
                    <a:pt x="0" y="1462278"/>
                  </a:lnTo>
                  <a:lnTo>
                    <a:pt x="28955" y="1462278"/>
                  </a:lnTo>
                  <a:close/>
                </a:path>
                <a:path w="3674109" h="2277110">
                  <a:moveTo>
                    <a:pt x="28955" y="1262634"/>
                  </a:moveTo>
                  <a:lnTo>
                    <a:pt x="28955" y="1148334"/>
                  </a:lnTo>
                  <a:lnTo>
                    <a:pt x="0" y="1148334"/>
                  </a:lnTo>
                  <a:lnTo>
                    <a:pt x="0" y="1262634"/>
                  </a:lnTo>
                  <a:lnTo>
                    <a:pt x="28955" y="1262634"/>
                  </a:lnTo>
                  <a:close/>
                </a:path>
                <a:path w="3674109" h="2277110">
                  <a:moveTo>
                    <a:pt x="28955" y="1062228"/>
                  </a:moveTo>
                  <a:lnTo>
                    <a:pt x="28955" y="947928"/>
                  </a:lnTo>
                  <a:lnTo>
                    <a:pt x="0" y="947928"/>
                  </a:lnTo>
                  <a:lnTo>
                    <a:pt x="0" y="1062228"/>
                  </a:lnTo>
                  <a:lnTo>
                    <a:pt x="28955" y="1062228"/>
                  </a:lnTo>
                  <a:close/>
                </a:path>
                <a:path w="3674109" h="2277110">
                  <a:moveTo>
                    <a:pt x="28955" y="862584"/>
                  </a:moveTo>
                  <a:lnTo>
                    <a:pt x="28955" y="748284"/>
                  </a:lnTo>
                  <a:lnTo>
                    <a:pt x="0" y="748284"/>
                  </a:lnTo>
                  <a:lnTo>
                    <a:pt x="0" y="862584"/>
                  </a:lnTo>
                  <a:lnTo>
                    <a:pt x="28955" y="862584"/>
                  </a:lnTo>
                  <a:close/>
                </a:path>
                <a:path w="3674109" h="2277110">
                  <a:moveTo>
                    <a:pt x="28955" y="662178"/>
                  </a:moveTo>
                  <a:lnTo>
                    <a:pt x="28955" y="547878"/>
                  </a:lnTo>
                  <a:lnTo>
                    <a:pt x="0" y="547878"/>
                  </a:lnTo>
                  <a:lnTo>
                    <a:pt x="0" y="662178"/>
                  </a:lnTo>
                  <a:lnTo>
                    <a:pt x="28955" y="662178"/>
                  </a:lnTo>
                  <a:close/>
                </a:path>
                <a:path w="3674109" h="2277110">
                  <a:moveTo>
                    <a:pt x="28955" y="462534"/>
                  </a:moveTo>
                  <a:lnTo>
                    <a:pt x="28955" y="348234"/>
                  </a:lnTo>
                  <a:lnTo>
                    <a:pt x="0" y="348234"/>
                  </a:lnTo>
                  <a:lnTo>
                    <a:pt x="0" y="462534"/>
                  </a:lnTo>
                  <a:lnTo>
                    <a:pt x="28955" y="462534"/>
                  </a:lnTo>
                  <a:close/>
                </a:path>
                <a:path w="3674109" h="2277110">
                  <a:moveTo>
                    <a:pt x="28955" y="262128"/>
                  </a:moveTo>
                  <a:lnTo>
                    <a:pt x="28955" y="147828"/>
                  </a:lnTo>
                  <a:lnTo>
                    <a:pt x="0" y="147828"/>
                  </a:lnTo>
                  <a:lnTo>
                    <a:pt x="0" y="262128"/>
                  </a:lnTo>
                  <a:lnTo>
                    <a:pt x="28955" y="262128"/>
                  </a:lnTo>
                  <a:close/>
                </a:path>
                <a:path w="3674109" h="2277110">
                  <a:moveTo>
                    <a:pt x="80772" y="28194"/>
                  </a:moveTo>
                  <a:lnTo>
                    <a:pt x="80772" y="0"/>
                  </a:lnTo>
                  <a:lnTo>
                    <a:pt x="6858" y="0"/>
                  </a:lnTo>
                  <a:lnTo>
                    <a:pt x="0" y="6096"/>
                  </a:lnTo>
                  <a:lnTo>
                    <a:pt x="0" y="62484"/>
                  </a:lnTo>
                  <a:lnTo>
                    <a:pt x="14478" y="62484"/>
                  </a:lnTo>
                  <a:lnTo>
                    <a:pt x="14478" y="28194"/>
                  </a:lnTo>
                  <a:lnTo>
                    <a:pt x="28956" y="14478"/>
                  </a:lnTo>
                  <a:lnTo>
                    <a:pt x="28956" y="28194"/>
                  </a:lnTo>
                  <a:lnTo>
                    <a:pt x="80772" y="28194"/>
                  </a:lnTo>
                  <a:close/>
                </a:path>
                <a:path w="3674109" h="2277110">
                  <a:moveTo>
                    <a:pt x="28956" y="28194"/>
                  </a:moveTo>
                  <a:lnTo>
                    <a:pt x="28956" y="14478"/>
                  </a:lnTo>
                  <a:lnTo>
                    <a:pt x="14478" y="28194"/>
                  </a:lnTo>
                  <a:lnTo>
                    <a:pt x="28956" y="28194"/>
                  </a:lnTo>
                  <a:close/>
                </a:path>
                <a:path w="3674109" h="2277110">
                  <a:moveTo>
                    <a:pt x="28956" y="62484"/>
                  </a:moveTo>
                  <a:lnTo>
                    <a:pt x="28956" y="28194"/>
                  </a:lnTo>
                  <a:lnTo>
                    <a:pt x="14478" y="28194"/>
                  </a:lnTo>
                  <a:lnTo>
                    <a:pt x="14478" y="62484"/>
                  </a:lnTo>
                  <a:lnTo>
                    <a:pt x="28956" y="62484"/>
                  </a:lnTo>
                  <a:close/>
                </a:path>
                <a:path w="3674109" h="2277110">
                  <a:moveTo>
                    <a:pt x="280416" y="28194"/>
                  </a:moveTo>
                  <a:lnTo>
                    <a:pt x="280416" y="0"/>
                  </a:lnTo>
                  <a:lnTo>
                    <a:pt x="166116" y="0"/>
                  </a:lnTo>
                  <a:lnTo>
                    <a:pt x="166116" y="28194"/>
                  </a:lnTo>
                  <a:lnTo>
                    <a:pt x="280416" y="28194"/>
                  </a:lnTo>
                  <a:close/>
                </a:path>
                <a:path w="3674109" h="2277110">
                  <a:moveTo>
                    <a:pt x="480822" y="28194"/>
                  </a:moveTo>
                  <a:lnTo>
                    <a:pt x="480822" y="0"/>
                  </a:lnTo>
                  <a:lnTo>
                    <a:pt x="366522" y="0"/>
                  </a:lnTo>
                  <a:lnTo>
                    <a:pt x="366522" y="28194"/>
                  </a:lnTo>
                  <a:lnTo>
                    <a:pt x="480822" y="28194"/>
                  </a:lnTo>
                  <a:close/>
                </a:path>
                <a:path w="3674109" h="2277110">
                  <a:moveTo>
                    <a:pt x="680467" y="28194"/>
                  </a:moveTo>
                  <a:lnTo>
                    <a:pt x="680467" y="0"/>
                  </a:lnTo>
                  <a:lnTo>
                    <a:pt x="566166" y="0"/>
                  </a:lnTo>
                  <a:lnTo>
                    <a:pt x="566166" y="28194"/>
                  </a:lnTo>
                  <a:lnTo>
                    <a:pt x="680467" y="28194"/>
                  </a:lnTo>
                  <a:close/>
                </a:path>
                <a:path w="3674109" h="2277110">
                  <a:moveTo>
                    <a:pt x="880872" y="28194"/>
                  </a:moveTo>
                  <a:lnTo>
                    <a:pt x="880872" y="0"/>
                  </a:lnTo>
                  <a:lnTo>
                    <a:pt x="766572" y="0"/>
                  </a:lnTo>
                  <a:lnTo>
                    <a:pt x="766572" y="28194"/>
                  </a:lnTo>
                  <a:lnTo>
                    <a:pt x="880872" y="28194"/>
                  </a:lnTo>
                  <a:close/>
                </a:path>
                <a:path w="3674109" h="2277110">
                  <a:moveTo>
                    <a:pt x="1080516" y="28194"/>
                  </a:moveTo>
                  <a:lnTo>
                    <a:pt x="1080516" y="0"/>
                  </a:lnTo>
                  <a:lnTo>
                    <a:pt x="966216" y="0"/>
                  </a:lnTo>
                  <a:lnTo>
                    <a:pt x="966216" y="28194"/>
                  </a:lnTo>
                  <a:lnTo>
                    <a:pt x="1080516" y="28194"/>
                  </a:lnTo>
                  <a:close/>
                </a:path>
                <a:path w="3674109" h="2277110">
                  <a:moveTo>
                    <a:pt x="1280922" y="28194"/>
                  </a:moveTo>
                  <a:lnTo>
                    <a:pt x="1280922" y="0"/>
                  </a:lnTo>
                  <a:lnTo>
                    <a:pt x="1166622" y="0"/>
                  </a:lnTo>
                  <a:lnTo>
                    <a:pt x="1166622" y="28194"/>
                  </a:lnTo>
                  <a:lnTo>
                    <a:pt x="1280922" y="28194"/>
                  </a:lnTo>
                  <a:close/>
                </a:path>
                <a:path w="3674109" h="2277110">
                  <a:moveTo>
                    <a:pt x="1480566" y="28194"/>
                  </a:moveTo>
                  <a:lnTo>
                    <a:pt x="1480566" y="0"/>
                  </a:lnTo>
                  <a:lnTo>
                    <a:pt x="1366266" y="0"/>
                  </a:lnTo>
                  <a:lnTo>
                    <a:pt x="1366266" y="28194"/>
                  </a:lnTo>
                  <a:lnTo>
                    <a:pt x="1480566" y="28194"/>
                  </a:lnTo>
                  <a:close/>
                </a:path>
                <a:path w="3674109" h="2277110">
                  <a:moveTo>
                    <a:pt x="1680972" y="28194"/>
                  </a:moveTo>
                  <a:lnTo>
                    <a:pt x="1680972" y="0"/>
                  </a:lnTo>
                  <a:lnTo>
                    <a:pt x="1566672" y="0"/>
                  </a:lnTo>
                  <a:lnTo>
                    <a:pt x="1566672" y="28194"/>
                  </a:lnTo>
                  <a:lnTo>
                    <a:pt x="1680972" y="28194"/>
                  </a:lnTo>
                  <a:close/>
                </a:path>
                <a:path w="3674109" h="2277110">
                  <a:moveTo>
                    <a:pt x="1880616" y="28194"/>
                  </a:moveTo>
                  <a:lnTo>
                    <a:pt x="1880616" y="0"/>
                  </a:lnTo>
                  <a:lnTo>
                    <a:pt x="1766316" y="0"/>
                  </a:lnTo>
                  <a:lnTo>
                    <a:pt x="1766316" y="28194"/>
                  </a:lnTo>
                  <a:lnTo>
                    <a:pt x="1880616" y="28194"/>
                  </a:lnTo>
                  <a:close/>
                </a:path>
                <a:path w="3674109" h="2277110">
                  <a:moveTo>
                    <a:pt x="2080260" y="28194"/>
                  </a:moveTo>
                  <a:lnTo>
                    <a:pt x="2080260" y="0"/>
                  </a:lnTo>
                  <a:lnTo>
                    <a:pt x="1966722" y="0"/>
                  </a:lnTo>
                  <a:lnTo>
                    <a:pt x="1966722" y="28194"/>
                  </a:lnTo>
                  <a:lnTo>
                    <a:pt x="2080260" y="28194"/>
                  </a:lnTo>
                  <a:close/>
                </a:path>
                <a:path w="3674109" h="2277110">
                  <a:moveTo>
                    <a:pt x="2280666" y="28194"/>
                  </a:moveTo>
                  <a:lnTo>
                    <a:pt x="2280666" y="0"/>
                  </a:lnTo>
                  <a:lnTo>
                    <a:pt x="2166366" y="0"/>
                  </a:lnTo>
                  <a:lnTo>
                    <a:pt x="2166366" y="28194"/>
                  </a:lnTo>
                  <a:lnTo>
                    <a:pt x="2280666" y="28194"/>
                  </a:lnTo>
                  <a:close/>
                </a:path>
                <a:path w="3674109" h="2277110">
                  <a:moveTo>
                    <a:pt x="2480310" y="28194"/>
                  </a:moveTo>
                  <a:lnTo>
                    <a:pt x="2480310" y="0"/>
                  </a:lnTo>
                  <a:lnTo>
                    <a:pt x="2366010" y="0"/>
                  </a:lnTo>
                  <a:lnTo>
                    <a:pt x="2366010" y="28194"/>
                  </a:lnTo>
                  <a:lnTo>
                    <a:pt x="2480310" y="28194"/>
                  </a:lnTo>
                  <a:close/>
                </a:path>
                <a:path w="3674109" h="2277110">
                  <a:moveTo>
                    <a:pt x="2680716" y="28194"/>
                  </a:moveTo>
                  <a:lnTo>
                    <a:pt x="2680716" y="0"/>
                  </a:lnTo>
                  <a:lnTo>
                    <a:pt x="2566416" y="0"/>
                  </a:lnTo>
                  <a:lnTo>
                    <a:pt x="2566416" y="28194"/>
                  </a:lnTo>
                  <a:lnTo>
                    <a:pt x="2680716" y="28194"/>
                  </a:lnTo>
                  <a:close/>
                </a:path>
                <a:path w="3674109" h="2277110">
                  <a:moveTo>
                    <a:pt x="2880360" y="28194"/>
                  </a:moveTo>
                  <a:lnTo>
                    <a:pt x="2880360" y="0"/>
                  </a:lnTo>
                  <a:lnTo>
                    <a:pt x="2766060" y="0"/>
                  </a:lnTo>
                  <a:lnTo>
                    <a:pt x="2766060" y="28194"/>
                  </a:lnTo>
                  <a:lnTo>
                    <a:pt x="2880360" y="28194"/>
                  </a:lnTo>
                  <a:close/>
                </a:path>
                <a:path w="3674109" h="2277110">
                  <a:moveTo>
                    <a:pt x="3080766" y="28194"/>
                  </a:moveTo>
                  <a:lnTo>
                    <a:pt x="3080766" y="0"/>
                  </a:lnTo>
                  <a:lnTo>
                    <a:pt x="2966466" y="0"/>
                  </a:lnTo>
                  <a:lnTo>
                    <a:pt x="2966466" y="28194"/>
                  </a:lnTo>
                  <a:lnTo>
                    <a:pt x="3080766" y="28194"/>
                  </a:lnTo>
                  <a:close/>
                </a:path>
                <a:path w="3674109" h="2277110">
                  <a:moveTo>
                    <a:pt x="3280410" y="28194"/>
                  </a:moveTo>
                  <a:lnTo>
                    <a:pt x="3280410" y="0"/>
                  </a:lnTo>
                  <a:lnTo>
                    <a:pt x="3166110" y="0"/>
                  </a:lnTo>
                  <a:lnTo>
                    <a:pt x="3166110" y="28194"/>
                  </a:lnTo>
                  <a:lnTo>
                    <a:pt x="3280410" y="28194"/>
                  </a:lnTo>
                  <a:close/>
                </a:path>
                <a:path w="3674109" h="2277110">
                  <a:moveTo>
                    <a:pt x="3480816" y="28194"/>
                  </a:moveTo>
                  <a:lnTo>
                    <a:pt x="3480816" y="0"/>
                  </a:lnTo>
                  <a:lnTo>
                    <a:pt x="3366516" y="0"/>
                  </a:lnTo>
                  <a:lnTo>
                    <a:pt x="3366516" y="28194"/>
                  </a:lnTo>
                  <a:lnTo>
                    <a:pt x="3480816" y="28194"/>
                  </a:lnTo>
                  <a:close/>
                </a:path>
                <a:path w="3674109" h="2277110">
                  <a:moveTo>
                    <a:pt x="3673602" y="35814"/>
                  </a:moveTo>
                  <a:lnTo>
                    <a:pt x="3673602" y="6096"/>
                  </a:lnTo>
                  <a:lnTo>
                    <a:pt x="3666744" y="0"/>
                  </a:lnTo>
                  <a:lnTo>
                    <a:pt x="3566160" y="0"/>
                  </a:lnTo>
                  <a:lnTo>
                    <a:pt x="3566160" y="28194"/>
                  </a:lnTo>
                  <a:lnTo>
                    <a:pt x="3644646" y="28194"/>
                  </a:lnTo>
                  <a:lnTo>
                    <a:pt x="3644646" y="14478"/>
                  </a:lnTo>
                  <a:lnTo>
                    <a:pt x="3659124" y="28194"/>
                  </a:lnTo>
                  <a:lnTo>
                    <a:pt x="3659124" y="35814"/>
                  </a:lnTo>
                  <a:lnTo>
                    <a:pt x="3673602" y="35814"/>
                  </a:lnTo>
                  <a:close/>
                </a:path>
                <a:path w="3674109" h="2277110">
                  <a:moveTo>
                    <a:pt x="3659124" y="28194"/>
                  </a:moveTo>
                  <a:lnTo>
                    <a:pt x="3644646" y="14478"/>
                  </a:lnTo>
                  <a:lnTo>
                    <a:pt x="3644646" y="28194"/>
                  </a:lnTo>
                  <a:lnTo>
                    <a:pt x="3659124" y="28194"/>
                  </a:lnTo>
                  <a:close/>
                </a:path>
                <a:path w="3674109" h="2277110">
                  <a:moveTo>
                    <a:pt x="3659124" y="35814"/>
                  </a:moveTo>
                  <a:lnTo>
                    <a:pt x="3659124" y="28194"/>
                  </a:lnTo>
                  <a:lnTo>
                    <a:pt x="3644646" y="28194"/>
                  </a:lnTo>
                  <a:lnTo>
                    <a:pt x="3644646" y="35814"/>
                  </a:lnTo>
                  <a:lnTo>
                    <a:pt x="3659124" y="35814"/>
                  </a:lnTo>
                  <a:close/>
                </a:path>
                <a:path w="3674109" h="2277110">
                  <a:moveTo>
                    <a:pt x="3673602" y="236220"/>
                  </a:moveTo>
                  <a:lnTo>
                    <a:pt x="3673602" y="121920"/>
                  </a:lnTo>
                  <a:lnTo>
                    <a:pt x="3644646" y="121920"/>
                  </a:lnTo>
                  <a:lnTo>
                    <a:pt x="3644646" y="236220"/>
                  </a:lnTo>
                  <a:lnTo>
                    <a:pt x="3673602" y="236220"/>
                  </a:lnTo>
                  <a:close/>
                </a:path>
                <a:path w="3674109" h="2277110">
                  <a:moveTo>
                    <a:pt x="3673602" y="435863"/>
                  </a:moveTo>
                  <a:lnTo>
                    <a:pt x="3673602" y="321564"/>
                  </a:lnTo>
                  <a:lnTo>
                    <a:pt x="3644646" y="321564"/>
                  </a:lnTo>
                  <a:lnTo>
                    <a:pt x="3644646" y="435863"/>
                  </a:lnTo>
                  <a:lnTo>
                    <a:pt x="3673602" y="435863"/>
                  </a:lnTo>
                  <a:close/>
                </a:path>
                <a:path w="3674109" h="2277110">
                  <a:moveTo>
                    <a:pt x="3673602" y="636270"/>
                  </a:moveTo>
                  <a:lnTo>
                    <a:pt x="3673602" y="521970"/>
                  </a:lnTo>
                  <a:lnTo>
                    <a:pt x="3644646" y="521970"/>
                  </a:lnTo>
                  <a:lnTo>
                    <a:pt x="3644646" y="636270"/>
                  </a:lnTo>
                  <a:lnTo>
                    <a:pt x="3673602" y="636270"/>
                  </a:lnTo>
                  <a:close/>
                </a:path>
                <a:path w="3674109" h="2277110">
                  <a:moveTo>
                    <a:pt x="3673602" y="835914"/>
                  </a:moveTo>
                  <a:lnTo>
                    <a:pt x="3673602" y="721614"/>
                  </a:lnTo>
                  <a:lnTo>
                    <a:pt x="3644646" y="721614"/>
                  </a:lnTo>
                  <a:lnTo>
                    <a:pt x="3644646" y="835914"/>
                  </a:lnTo>
                  <a:lnTo>
                    <a:pt x="3673602" y="835914"/>
                  </a:lnTo>
                  <a:close/>
                </a:path>
                <a:path w="3674109" h="2277110">
                  <a:moveTo>
                    <a:pt x="3673602" y="1035558"/>
                  </a:moveTo>
                  <a:lnTo>
                    <a:pt x="3673602" y="921258"/>
                  </a:lnTo>
                  <a:lnTo>
                    <a:pt x="3644646" y="921258"/>
                  </a:lnTo>
                  <a:lnTo>
                    <a:pt x="3644646" y="1035558"/>
                  </a:lnTo>
                  <a:lnTo>
                    <a:pt x="3673602" y="1035558"/>
                  </a:lnTo>
                  <a:close/>
                </a:path>
                <a:path w="3674109" h="2277110">
                  <a:moveTo>
                    <a:pt x="3673602" y="1235964"/>
                  </a:moveTo>
                  <a:lnTo>
                    <a:pt x="3673602" y="1121664"/>
                  </a:lnTo>
                  <a:lnTo>
                    <a:pt x="3644646" y="1121664"/>
                  </a:lnTo>
                  <a:lnTo>
                    <a:pt x="3644646" y="1235964"/>
                  </a:lnTo>
                  <a:lnTo>
                    <a:pt x="3673602" y="1235964"/>
                  </a:lnTo>
                  <a:close/>
                </a:path>
                <a:path w="3674109" h="2277110">
                  <a:moveTo>
                    <a:pt x="3673602" y="1435608"/>
                  </a:moveTo>
                  <a:lnTo>
                    <a:pt x="3673602" y="1321308"/>
                  </a:lnTo>
                  <a:lnTo>
                    <a:pt x="3644646" y="1321308"/>
                  </a:lnTo>
                  <a:lnTo>
                    <a:pt x="3644646" y="1435608"/>
                  </a:lnTo>
                  <a:lnTo>
                    <a:pt x="3673602" y="1435608"/>
                  </a:lnTo>
                  <a:close/>
                </a:path>
                <a:path w="3674109" h="2277110">
                  <a:moveTo>
                    <a:pt x="3673602" y="1636014"/>
                  </a:moveTo>
                  <a:lnTo>
                    <a:pt x="3673602" y="1521714"/>
                  </a:lnTo>
                  <a:lnTo>
                    <a:pt x="3644646" y="1521714"/>
                  </a:lnTo>
                  <a:lnTo>
                    <a:pt x="3644646" y="1636014"/>
                  </a:lnTo>
                  <a:lnTo>
                    <a:pt x="3673602" y="1636014"/>
                  </a:lnTo>
                  <a:close/>
                </a:path>
                <a:path w="3674109" h="2277110">
                  <a:moveTo>
                    <a:pt x="3673602" y="1835658"/>
                  </a:moveTo>
                  <a:lnTo>
                    <a:pt x="3673602" y="1721358"/>
                  </a:lnTo>
                  <a:lnTo>
                    <a:pt x="3644646" y="1721358"/>
                  </a:lnTo>
                  <a:lnTo>
                    <a:pt x="3644646" y="1835658"/>
                  </a:lnTo>
                  <a:lnTo>
                    <a:pt x="3673602" y="1835658"/>
                  </a:lnTo>
                  <a:close/>
                </a:path>
                <a:path w="3674109" h="2277110">
                  <a:moveTo>
                    <a:pt x="3673602" y="2036064"/>
                  </a:moveTo>
                  <a:lnTo>
                    <a:pt x="3673602" y="1921764"/>
                  </a:lnTo>
                  <a:lnTo>
                    <a:pt x="3644646" y="1921764"/>
                  </a:lnTo>
                  <a:lnTo>
                    <a:pt x="3644646" y="2036064"/>
                  </a:lnTo>
                  <a:lnTo>
                    <a:pt x="3673602" y="2036064"/>
                  </a:lnTo>
                  <a:close/>
                </a:path>
                <a:path w="3674109" h="2277110">
                  <a:moveTo>
                    <a:pt x="3673602" y="2235708"/>
                  </a:moveTo>
                  <a:lnTo>
                    <a:pt x="3673602" y="2121408"/>
                  </a:lnTo>
                  <a:lnTo>
                    <a:pt x="3644646" y="2121408"/>
                  </a:lnTo>
                  <a:lnTo>
                    <a:pt x="3644646" y="2235708"/>
                  </a:lnTo>
                  <a:lnTo>
                    <a:pt x="3673602" y="2235708"/>
                  </a:lnTo>
                  <a:close/>
                </a:path>
                <a:path w="3674109" h="2277110">
                  <a:moveTo>
                    <a:pt x="3599688" y="2276855"/>
                  </a:moveTo>
                  <a:lnTo>
                    <a:pt x="3599688" y="2247900"/>
                  </a:lnTo>
                  <a:lnTo>
                    <a:pt x="3485388" y="2247900"/>
                  </a:lnTo>
                  <a:lnTo>
                    <a:pt x="3485388" y="2276855"/>
                  </a:lnTo>
                  <a:lnTo>
                    <a:pt x="3599688" y="2276855"/>
                  </a:lnTo>
                  <a:close/>
                </a:path>
                <a:path w="3674109" h="2277110">
                  <a:moveTo>
                    <a:pt x="3400044" y="2276855"/>
                  </a:moveTo>
                  <a:lnTo>
                    <a:pt x="3400044" y="2247900"/>
                  </a:lnTo>
                  <a:lnTo>
                    <a:pt x="3285744" y="2247900"/>
                  </a:lnTo>
                  <a:lnTo>
                    <a:pt x="3285744" y="2276855"/>
                  </a:lnTo>
                  <a:lnTo>
                    <a:pt x="3400044" y="2276855"/>
                  </a:lnTo>
                  <a:close/>
                </a:path>
                <a:path w="3674109" h="2277110">
                  <a:moveTo>
                    <a:pt x="3199638" y="2276855"/>
                  </a:moveTo>
                  <a:lnTo>
                    <a:pt x="3199638" y="2247900"/>
                  </a:lnTo>
                  <a:lnTo>
                    <a:pt x="3085338" y="2247900"/>
                  </a:lnTo>
                  <a:lnTo>
                    <a:pt x="3085338" y="2276855"/>
                  </a:lnTo>
                  <a:lnTo>
                    <a:pt x="3199638" y="2276855"/>
                  </a:lnTo>
                  <a:close/>
                </a:path>
                <a:path w="3674109" h="2277110">
                  <a:moveTo>
                    <a:pt x="2999994" y="2276855"/>
                  </a:moveTo>
                  <a:lnTo>
                    <a:pt x="2999994" y="2247900"/>
                  </a:lnTo>
                  <a:lnTo>
                    <a:pt x="2885694" y="2247900"/>
                  </a:lnTo>
                  <a:lnTo>
                    <a:pt x="2885694" y="2276855"/>
                  </a:lnTo>
                  <a:lnTo>
                    <a:pt x="2999994" y="2276855"/>
                  </a:lnTo>
                  <a:close/>
                </a:path>
                <a:path w="3674109" h="2277110">
                  <a:moveTo>
                    <a:pt x="2799588" y="2276855"/>
                  </a:moveTo>
                  <a:lnTo>
                    <a:pt x="2799588" y="2247900"/>
                  </a:lnTo>
                  <a:lnTo>
                    <a:pt x="2685288" y="2247900"/>
                  </a:lnTo>
                  <a:lnTo>
                    <a:pt x="2685288" y="2276855"/>
                  </a:lnTo>
                  <a:lnTo>
                    <a:pt x="2799588" y="2276855"/>
                  </a:lnTo>
                  <a:close/>
                </a:path>
                <a:path w="3674109" h="2277110">
                  <a:moveTo>
                    <a:pt x="2599944" y="2276855"/>
                  </a:moveTo>
                  <a:lnTo>
                    <a:pt x="2599944" y="2247900"/>
                  </a:lnTo>
                  <a:lnTo>
                    <a:pt x="2485644" y="2247900"/>
                  </a:lnTo>
                  <a:lnTo>
                    <a:pt x="2485644" y="2276855"/>
                  </a:lnTo>
                  <a:lnTo>
                    <a:pt x="2599944" y="2276855"/>
                  </a:lnTo>
                  <a:close/>
                </a:path>
                <a:path w="3674109" h="2277110">
                  <a:moveTo>
                    <a:pt x="2399538" y="2276855"/>
                  </a:moveTo>
                  <a:lnTo>
                    <a:pt x="2399538" y="2247900"/>
                  </a:lnTo>
                  <a:lnTo>
                    <a:pt x="2285238" y="2247900"/>
                  </a:lnTo>
                  <a:lnTo>
                    <a:pt x="2285238" y="2276855"/>
                  </a:lnTo>
                  <a:lnTo>
                    <a:pt x="2399538" y="2276855"/>
                  </a:lnTo>
                  <a:close/>
                </a:path>
                <a:path w="3674109" h="2277110">
                  <a:moveTo>
                    <a:pt x="2199894" y="2276855"/>
                  </a:moveTo>
                  <a:lnTo>
                    <a:pt x="2199894" y="2247900"/>
                  </a:lnTo>
                  <a:lnTo>
                    <a:pt x="2085594" y="2247900"/>
                  </a:lnTo>
                  <a:lnTo>
                    <a:pt x="2085594" y="2276855"/>
                  </a:lnTo>
                  <a:lnTo>
                    <a:pt x="2199894" y="2276855"/>
                  </a:lnTo>
                  <a:close/>
                </a:path>
                <a:path w="3674109" h="2277110">
                  <a:moveTo>
                    <a:pt x="1999488" y="2276855"/>
                  </a:moveTo>
                  <a:lnTo>
                    <a:pt x="1999488" y="2247900"/>
                  </a:lnTo>
                  <a:lnTo>
                    <a:pt x="1885188" y="2247900"/>
                  </a:lnTo>
                  <a:lnTo>
                    <a:pt x="1885188" y="2276855"/>
                  </a:lnTo>
                  <a:lnTo>
                    <a:pt x="1999488" y="2276855"/>
                  </a:lnTo>
                  <a:close/>
                </a:path>
                <a:path w="3674109" h="2277110">
                  <a:moveTo>
                    <a:pt x="1799844" y="2276855"/>
                  </a:moveTo>
                  <a:lnTo>
                    <a:pt x="1799844" y="2247900"/>
                  </a:lnTo>
                  <a:lnTo>
                    <a:pt x="1685544" y="2247900"/>
                  </a:lnTo>
                  <a:lnTo>
                    <a:pt x="1685544" y="2276855"/>
                  </a:lnTo>
                  <a:lnTo>
                    <a:pt x="1799844" y="2276855"/>
                  </a:lnTo>
                  <a:close/>
                </a:path>
                <a:path w="3674109" h="2277110">
                  <a:moveTo>
                    <a:pt x="1599438" y="2276855"/>
                  </a:moveTo>
                  <a:lnTo>
                    <a:pt x="1599438" y="2247900"/>
                  </a:lnTo>
                  <a:lnTo>
                    <a:pt x="1485138" y="2247900"/>
                  </a:lnTo>
                  <a:lnTo>
                    <a:pt x="1485138" y="2276855"/>
                  </a:lnTo>
                  <a:lnTo>
                    <a:pt x="1599438" y="2276855"/>
                  </a:lnTo>
                  <a:close/>
                </a:path>
                <a:path w="3674109" h="2277110">
                  <a:moveTo>
                    <a:pt x="1399794" y="2276855"/>
                  </a:moveTo>
                  <a:lnTo>
                    <a:pt x="1399794" y="2247900"/>
                  </a:lnTo>
                  <a:lnTo>
                    <a:pt x="1285494" y="2247900"/>
                  </a:lnTo>
                  <a:lnTo>
                    <a:pt x="1285494" y="2276855"/>
                  </a:lnTo>
                  <a:lnTo>
                    <a:pt x="1399794" y="2276855"/>
                  </a:lnTo>
                  <a:close/>
                </a:path>
                <a:path w="3674109" h="2277110">
                  <a:moveTo>
                    <a:pt x="1199388" y="2276855"/>
                  </a:moveTo>
                  <a:lnTo>
                    <a:pt x="1199388" y="2247900"/>
                  </a:lnTo>
                  <a:lnTo>
                    <a:pt x="1085088" y="2247900"/>
                  </a:lnTo>
                  <a:lnTo>
                    <a:pt x="1085088" y="2276855"/>
                  </a:lnTo>
                  <a:lnTo>
                    <a:pt x="1199388" y="2276855"/>
                  </a:lnTo>
                  <a:close/>
                </a:path>
                <a:path w="3674109" h="2277110">
                  <a:moveTo>
                    <a:pt x="999744" y="2276855"/>
                  </a:moveTo>
                  <a:lnTo>
                    <a:pt x="999744" y="2247900"/>
                  </a:lnTo>
                  <a:lnTo>
                    <a:pt x="885444" y="2247900"/>
                  </a:lnTo>
                  <a:lnTo>
                    <a:pt x="885444" y="2276855"/>
                  </a:lnTo>
                  <a:lnTo>
                    <a:pt x="999744" y="2276855"/>
                  </a:lnTo>
                  <a:close/>
                </a:path>
                <a:path w="3674109" h="2277110">
                  <a:moveTo>
                    <a:pt x="800100" y="2276855"/>
                  </a:moveTo>
                  <a:lnTo>
                    <a:pt x="800100" y="2247900"/>
                  </a:lnTo>
                  <a:lnTo>
                    <a:pt x="685800" y="2247900"/>
                  </a:lnTo>
                  <a:lnTo>
                    <a:pt x="685800" y="2276855"/>
                  </a:lnTo>
                  <a:lnTo>
                    <a:pt x="800100" y="2276855"/>
                  </a:lnTo>
                  <a:close/>
                </a:path>
                <a:path w="3674109" h="2277110">
                  <a:moveTo>
                    <a:pt x="599694" y="2276855"/>
                  </a:moveTo>
                  <a:lnTo>
                    <a:pt x="599694" y="2247900"/>
                  </a:lnTo>
                  <a:lnTo>
                    <a:pt x="485394" y="2247900"/>
                  </a:lnTo>
                  <a:lnTo>
                    <a:pt x="485394" y="2276855"/>
                  </a:lnTo>
                  <a:lnTo>
                    <a:pt x="599694" y="2276855"/>
                  </a:lnTo>
                  <a:close/>
                </a:path>
                <a:path w="3674109" h="2277110">
                  <a:moveTo>
                    <a:pt x="400050" y="2276855"/>
                  </a:moveTo>
                  <a:lnTo>
                    <a:pt x="400050" y="2247900"/>
                  </a:lnTo>
                  <a:lnTo>
                    <a:pt x="285750" y="2247900"/>
                  </a:lnTo>
                  <a:lnTo>
                    <a:pt x="285750" y="2276855"/>
                  </a:lnTo>
                  <a:lnTo>
                    <a:pt x="400050" y="2276855"/>
                  </a:lnTo>
                  <a:close/>
                </a:path>
                <a:path w="3674109" h="2277110">
                  <a:moveTo>
                    <a:pt x="199644" y="2276855"/>
                  </a:moveTo>
                  <a:lnTo>
                    <a:pt x="199644" y="2247900"/>
                  </a:lnTo>
                  <a:lnTo>
                    <a:pt x="85344" y="2247900"/>
                  </a:lnTo>
                  <a:lnTo>
                    <a:pt x="85344" y="2276855"/>
                  </a:lnTo>
                  <a:lnTo>
                    <a:pt x="199644" y="2276855"/>
                  </a:lnTo>
                  <a:close/>
                </a:path>
              </a:pathLst>
            </a:custGeom>
            <a:solidFill>
              <a:srgbClr val="FF0000"/>
            </a:solidFill>
          </p:spPr>
          <p:txBody>
            <a:bodyPr wrap="square" lIns="0" tIns="0" rIns="0" bIns="0" rtlCol="0"/>
            <a:lstStyle/>
            <a:p>
              <a:endParaRPr/>
            </a:p>
          </p:txBody>
        </p:sp>
        <p:sp>
          <p:nvSpPr>
            <p:cNvPr id="20" name="object 20"/>
            <p:cNvSpPr txBox="1"/>
            <p:nvPr/>
          </p:nvSpPr>
          <p:spPr>
            <a:xfrm>
              <a:off x="10719307" y="1188212"/>
              <a:ext cx="376555" cy="330200"/>
            </a:xfrm>
            <a:prstGeom prst="rect">
              <a:avLst/>
            </a:prstGeom>
          </p:spPr>
          <p:txBody>
            <a:bodyPr vert="horz" wrap="square" lIns="0" tIns="12065" rIns="0" bIns="0" rtlCol="0">
              <a:spAutoFit/>
            </a:bodyPr>
            <a:lstStyle/>
            <a:p>
              <a:pPr marL="12700">
                <a:lnSpc>
                  <a:spcPct val="100000"/>
                </a:lnSpc>
                <a:spcBef>
                  <a:spcPts val="95"/>
                </a:spcBef>
              </a:pPr>
              <a:r>
                <a:rPr sz="2000" spc="-25" dirty="0">
                  <a:solidFill>
                    <a:srgbClr val="FF0000"/>
                  </a:solidFill>
                  <a:latin typeface="Verdana"/>
                  <a:cs typeface="Verdana"/>
                </a:rPr>
                <a:t>RX</a:t>
              </a:r>
              <a:endParaRPr sz="2000">
                <a:latin typeface="Verdana"/>
                <a:cs typeface="Verdana"/>
              </a:endParaRPr>
            </a:p>
          </p:txBody>
        </p:sp>
      </p:grpSp>
      <p:sp>
        <p:nvSpPr>
          <p:cNvPr id="21" name="object 21"/>
          <p:cNvSpPr txBox="1"/>
          <p:nvPr/>
        </p:nvSpPr>
        <p:spPr>
          <a:xfrm>
            <a:off x="5782564" y="1409065"/>
            <a:ext cx="300990" cy="298450"/>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Arial"/>
                <a:cs typeface="Arial"/>
              </a:rPr>
              <a:t>Z</a:t>
            </a:r>
            <a:r>
              <a:rPr sz="1725" spc="-37" baseline="-12077" dirty="0">
                <a:latin typeface="Microsoft Sans Serif"/>
                <a:cs typeface="Microsoft Sans Serif"/>
              </a:rPr>
              <a:t>L</a:t>
            </a:r>
            <a:endParaRPr sz="1725" baseline="-12077" dirty="0">
              <a:latin typeface="Microsoft Sans Serif"/>
              <a:cs typeface="Microsoft Sans Serif"/>
            </a:endParaRPr>
          </a:p>
        </p:txBody>
      </p:sp>
      <p:sp>
        <p:nvSpPr>
          <p:cNvPr id="22" name="object 22"/>
          <p:cNvSpPr txBox="1"/>
          <p:nvPr/>
        </p:nvSpPr>
        <p:spPr>
          <a:xfrm>
            <a:off x="1646358" y="1813691"/>
            <a:ext cx="254000" cy="489584"/>
          </a:xfrm>
          <a:prstGeom prst="rect">
            <a:avLst/>
          </a:prstGeom>
        </p:spPr>
        <p:txBody>
          <a:bodyPr vert="vert270" wrap="square" lIns="0" tIns="0" rIns="0" bIns="0" rtlCol="0">
            <a:spAutoFit/>
          </a:bodyPr>
          <a:lstStyle/>
          <a:p>
            <a:pPr marL="12700">
              <a:lnSpc>
                <a:spcPts val="1810"/>
              </a:lnSpc>
            </a:pPr>
            <a:r>
              <a:rPr sz="1800" spc="-25" dirty="0">
                <a:latin typeface="Calibri"/>
                <a:cs typeface="Calibri"/>
              </a:rPr>
              <a:t>MUX</a:t>
            </a:r>
            <a:endParaRPr sz="1800">
              <a:latin typeface="Calibri"/>
              <a:cs typeface="Calibri"/>
            </a:endParaRPr>
          </a:p>
        </p:txBody>
      </p:sp>
      <p:sp>
        <p:nvSpPr>
          <p:cNvPr id="23" name="object 23"/>
          <p:cNvSpPr/>
          <p:nvPr/>
        </p:nvSpPr>
        <p:spPr>
          <a:xfrm>
            <a:off x="1944623" y="2052827"/>
            <a:ext cx="180340" cy="0"/>
          </a:xfrm>
          <a:custGeom>
            <a:avLst/>
            <a:gdLst/>
            <a:ahLst/>
            <a:cxnLst/>
            <a:rect l="l" t="t" r="r" b="b"/>
            <a:pathLst>
              <a:path w="180339">
                <a:moveTo>
                  <a:pt x="0" y="0"/>
                </a:moveTo>
                <a:lnTo>
                  <a:pt x="179832" y="0"/>
                </a:lnTo>
              </a:path>
            </a:pathLst>
          </a:custGeom>
          <a:ln w="37236">
            <a:solidFill>
              <a:srgbClr val="000000"/>
            </a:solidFill>
          </a:ln>
        </p:spPr>
        <p:txBody>
          <a:bodyPr wrap="square" lIns="0" tIns="0" rIns="0" bIns="0" rtlCol="0"/>
          <a:lstStyle/>
          <a:p>
            <a:endParaRPr/>
          </a:p>
        </p:txBody>
      </p:sp>
      <p:sp>
        <p:nvSpPr>
          <p:cNvPr id="24" name="object 24"/>
          <p:cNvSpPr txBox="1"/>
          <p:nvPr/>
        </p:nvSpPr>
        <p:spPr>
          <a:xfrm>
            <a:off x="2124455" y="1834895"/>
            <a:ext cx="656590" cy="436245"/>
          </a:xfrm>
          <a:prstGeom prst="rect">
            <a:avLst/>
          </a:prstGeom>
          <a:solidFill>
            <a:srgbClr val="FFFFFF"/>
          </a:solidFill>
          <a:ln w="37236">
            <a:solidFill>
              <a:srgbClr val="000000"/>
            </a:solidFill>
          </a:ln>
        </p:spPr>
        <p:txBody>
          <a:bodyPr vert="horz" wrap="square" lIns="0" tIns="63500" rIns="0" bIns="0" rtlCol="0">
            <a:spAutoFit/>
          </a:bodyPr>
          <a:lstStyle/>
          <a:p>
            <a:pPr marL="176530">
              <a:lnSpc>
                <a:spcPct val="100000"/>
              </a:lnSpc>
              <a:spcBef>
                <a:spcPts val="500"/>
              </a:spcBef>
            </a:pPr>
            <a:r>
              <a:rPr sz="1800" spc="-25" dirty="0">
                <a:latin typeface="Calibri"/>
                <a:cs typeface="Calibri"/>
              </a:rPr>
              <a:t>Eq.</a:t>
            </a:r>
            <a:endParaRPr sz="1800">
              <a:latin typeface="Calibri"/>
              <a:cs typeface="Calibri"/>
            </a:endParaRPr>
          </a:p>
        </p:txBody>
      </p:sp>
      <p:grpSp>
        <p:nvGrpSpPr>
          <p:cNvPr id="25" name="object 25"/>
          <p:cNvGrpSpPr/>
          <p:nvPr/>
        </p:nvGrpSpPr>
        <p:grpSpPr>
          <a:xfrm>
            <a:off x="2950400" y="1541462"/>
            <a:ext cx="1057275" cy="1022985"/>
            <a:chOff x="2950400" y="1541462"/>
            <a:chExt cx="1057275" cy="1022985"/>
          </a:xfrm>
        </p:grpSpPr>
        <p:sp>
          <p:nvSpPr>
            <p:cNvPr id="26" name="object 26"/>
            <p:cNvSpPr/>
            <p:nvPr/>
          </p:nvSpPr>
          <p:spPr>
            <a:xfrm>
              <a:off x="2967228" y="1558290"/>
              <a:ext cx="1023619" cy="989330"/>
            </a:xfrm>
            <a:custGeom>
              <a:avLst/>
              <a:gdLst/>
              <a:ahLst/>
              <a:cxnLst/>
              <a:rect l="l" t="t" r="r" b="b"/>
              <a:pathLst>
                <a:path w="1023620" h="989330">
                  <a:moveTo>
                    <a:pt x="1023366" y="494537"/>
                  </a:moveTo>
                  <a:lnTo>
                    <a:pt x="0" y="0"/>
                  </a:lnTo>
                  <a:lnTo>
                    <a:pt x="0" y="989076"/>
                  </a:lnTo>
                  <a:lnTo>
                    <a:pt x="1023366" y="494537"/>
                  </a:lnTo>
                  <a:close/>
                </a:path>
              </a:pathLst>
            </a:custGeom>
            <a:solidFill>
              <a:srgbClr val="FFFFFF"/>
            </a:solidFill>
          </p:spPr>
          <p:txBody>
            <a:bodyPr wrap="square" lIns="0" tIns="0" rIns="0" bIns="0" rtlCol="0"/>
            <a:lstStyle/>
            <a:p>
              <a:endParaRPr/>
            </a:p>
          </p:txBody>
        </p:sp>
        <p:sp>
          <p:nvSpPr>
            <p:cNvPr id="27" name="object 27"/>
            <p:cNvSpPr/>
            <p:nvPr/>
          </p:nvSpPr>
          <p:spPr>
            <a:xfrm>
              <a:off x="2967228" y="1558290"/>
              <a:ext cx="1023619" cy="989330"/>
            </a:xfrm>
            <a:custGeom>
              <a:avLst/>
              <a:gdLst/>
              <a:ahLst/>
              <a:cxnLst/>
              <a:rect l="l" t="t" r="r" b="b"/>
              <a:pathLst>
                <a:path w="1023620" h="989330">
                  <a:moveTo>
                    <a:pt x="0" y="0"/>
                  </a:moveTo>
                  <a:lnTo>
                    <a:pt x="0" y="989076"/>
                  </a:lnTo>
                  <a:lnTo>
                    <a:pt x="1023366" y="494537"/>
                  </a:lnTo>
                  <a:lnTo>
                    <a:pt x="0" y="0"/>
                  </a:lnTo>
                  <a:close/>
                </a:path>
              </a:pathLst>
            </a:custGeom>
            <a:ln w="33096">
              <a:solidFill>
                <a:srgbClr val="000000"/>
              </a:solidFill>
            </a:ln>
          </p:spPr>
          <p:txBody>
            <a:bodyPr wrap="square" lIns="0" tIns="0" rIns="0" bIns="0" rtlCol="0"/>
            <a:lstStyle/>
            <a:p>
              <a:endParaRPr/>
            </a:p>
          </p:txBody>
        </p:sp>
      </p:grpSp>
      <p:sp>
        <p:nvSpPr>
          <p:cNvPr id="28" name="object 28"/>
          <p:cNvSpPr txBox="1"/>
          <p:nvPr/>
        </p:nvSpPr>
        <p:spPr>
          <a:xfrm>
            <a:off x="3017011" y="1887367"/>
            <a:ext cx="638175" cy="298450"/>
          </a:xfrm>
          <a:prstGeom prst="rect">
            <a:avLst/>
          </a:prstGeom>
        </p:spPr>
        <p:txBody>
          <a:bodyPr vert="horz" wrap="square" lIns="0" tIns="11430" rIns="0" bIns="0" rtlCol="0">
            <a:spAutoFit/>
          </a:bodyPr>
          <a:lstStyle/>
          <a:p>
            <a:pPr marL="12700">
              <a:lnSpc>
                <a:spcPct val="100000"/>
              </a:lnSpc>
              <a:spcBef>
                <a:spcPts val="90"/>
              </a:spcBef>
            </a:pPr>
            <a:r>
              <a:rPr sz="1800" spc="-10" dirty="0">
                <a:latin typeface="Microsoft Sans Serif"/>
                <a:cs typeface="Microsoft Sans Serif"/>
              </a:rPr>
              <a:t>Driver</a:t>
            </a:r>
            <a:endParaRPr sz="1800">
              <a:latin typeface="Microsoft Sans Serif"/>
              <a:cs typeface="Microsoft Sans Serif"/>
            </a:endParaRPr>
          </a:p>
        </p:txBody>
      </p:sp>
      <p:grpSp>
        <p:nvGrpSpPr>
          <p:cNvPr id="29" name="object 29"/>
          <p:cNvGrpSpPr/>
          <p:nvPr/>
        </p:nvGrpSpPr>
        <p:grpSpPr>
          <a:xfrm>
            <a:off x="3971861" y="1318831"/>
            <a:ext cx="1306195" cy="769620"/>
            <a:chOff x="3971861" y="1318831"/>
            <a:chExt cx="1306195" cy="769620"/>
          </a:xfrm>
        </p:grpSpPr>
        <p:sp>
          <p:nvSpPr>
            <p:cNvPr id="30" name="object 30"/>
            <p:cNvSpPr/>
            <p:nvPr/>
          </p:nvSpPr>
          <p:spPr>
            <a:xfrm>
              <a:off x="3990593" y="2052827"/>
              <a:ext cx="1268730" cy="0"/>
            </a:xfrm>
            <a:custGeom>
              <a:avLst/>
              <a:gdLst/>
              <a:ahLst/>
              <a:cxnLst/>
              <a:rect l="l" t="t" r="r" b="b"/>
              <a:pathLst>
                <a:path w="1268729">
                  <a:moveTo>
                    <a:pt x="0" y="0"/>
                  </a:moveTo>
                  <a:lnTo>
                    <a:pt x="815339" y="0"/>
                  </a:lnTo>
                </a:path>
                <a:path w="1268729">
                  <a:moveTo>
                    <a:pt x="943355" y="0"/>
                  </a:moveTo>
                  <a:lnTo>
                    <a:pt x="1268729" y="0"/>
                  </a:lnTo>
                </a:path>
              </a:pathLst>
            </a:custGeom>
            <a:ln w="37236">
              <a:solidFill>
                <a:srgbClr val="000000"/>
              </a:solidFill>
            </a:ln>
          </p:spPr>
          <p:txBody>
            <a:bodyPr wrap="square" lIns="0" tIns="0" rIns="0" bIns="0" rtlCol="0"/>
            <a:lstStyle/>
            <a:p>
              <a:endParaRPr/>
            </a:p>
          </p:txBody>
        </p:sp>
        <p:sp>
          <p:nvSpPr>
            <p:cNvPr id="31" name="object 31"/>
            <p:cNvSpPr/>
            <p:nvPr/>
          </p:nvSpPr>
          <p:spPr>
            <a:xfrm>
              <a:off x="4330445" y="1327404"/>
              <a:ext cx="0" cy="151130"/>
            </a:xfrm>
            <a:custGeom>
              <a:avLst/>
              <a:gdLst/>
              <a:ahLst/>
              <a:cxnLst/>
              <a:rect l="l" t="t" r="r" b="b"/>
              <a:pathLst>
                <a:path h="151130">
                  <a:moveTo>
                    <a:pt x="0" y="150875"/>
                  </a:moveTo>
                  <a:lnTo>
                    <a:pt x="0" y="0"/>
                  </a:lnTo>
                </a:path>
              </a:pathLst>
            </a:custGeom>
            <a:ln w="16548">
              <a:solidFill>
                <a:srgbClr val="000000"/>
              </a:solidFill>
            </a:ln>
          </p:spPr>
          <p:txBody>
            <a:bodyPr wrap="square" lIns="0" tIns="0" rIns="0" bIns="0" rtlCol="0"/>
            <a:lstStyle/>
            <a:p>
              <a:endParaRPr/>
            </a:p>
          </p:txBody>
        </p:sp>
        <p:sp>
          <p:nvSpPr>
            <p:cNvPr id="32" name="object 32"/>
            <p:cNvSpPr/>
            <p:nvPr/>
          </p:nvSpPr>
          <p:spPr>
            <a:xfrm>
              <a:off x="4255007" y="1478280"/>
              <a:ext cx="151130" cy="601345"/>
            </a:xfrm>
            <a:custGeom>
              <a:avLst/>
              <a:gdLst/>
              <a:ahLst/>
              <a:cxnLst/>
              <a:rect l="l" t="t" r="r" b="b"/>
              <a:pathLst>
                <a:path w="151129" h="601344">
                  <a:moveTo>
                    <a:pt x="75437" y="450341"/>
                  </a:moveTo>
                  <a:lnTo>
                    <a:pt x="75437" y="601217"/>
                  </a:lnTo>
                </a:path>
                <a:path w="151129" h="601344">
                  <a:moveTo>
                    <a:pt x="75437" y="450341"/>
                  </a:moveTo>
                  <a:lnTo>
                    <a:pt x="0" y="413003"/>
                  </a:lnTo>
                  <a:lnTo>
                    <a:pt x="150875" y="337565"/>
                  </a:lnTo>
                  <a:lnTo>
                    <a:pt x="0" y="262889"/>
                  </a:lnTo>
                  <a:lnTo>
                    <a:pt x="150875" y="187451"/>
                  </a:lnTo>
                  <a:lnTo>
                    <a:pt x="0" y="112775"/>
                  </a:lnTo>
                  <a:lnTo>
                    <a:pt x="150875" y="37337"/>
                  </a:lnTo>
                  <a:lnTo>
                    <a:pt x="75437" y="0"/>
                  </a:lnTo>
                </a:path>
              </a:pathLst>
            </a:custGeom>
            <a:ln w="16548">
              <a:solidFill>
                <a:srgbClr val="000000"/>
              </a:solidFill>
            </a:ln>
          </p:spPr>
          <p:txBody>
            <a:bodyPr wrap="square" lIns="0" tIns="0" rIns="0" bIns="0" rtlCol="0"/>
            <a:lstStyle/>
            <a:p>
              <a:endParaRPr/>
            </a:p>
          </p:txBody>
        </p:sp>
      </p:grpSp>
      <p:sp>
        <p:nvSpPr>
          <p:cNvPr id="33" name="object 33"/>
          <p:cNvSpPr txBox="1"/>
          <p:nvPr/>
        </p:nvSpPr>
        <p:spPr>
          <a:xfrm>
            <a:off x="4442459" y="1537609"/>
            <a:ext cx="334645" cy="298450"/>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Arial"/>
                <a:cs typeface="Arial"/>
              </a:rPr>
              <a:t>R</a:t>
            </a:r>
            <a:r>
              <a:rPr sz="1725" spc="-37" baseline="-12077" dirty="0">
                <a:latin typeface="Microsoft Sans Serif"/>
                <a:cs typeface="Microsoft Sans Serif"/>
              </a:rPr>
              <a:t>T</a:t>
            </a:r>
            <a:endParaRPr sz="1725" baseline="-12077">
              <a:latin typeface="Microsoft Sans Serif"/>
              <a:cs typeface="Microsoft Sans Serif"/>
            </a:endParaRPr>
          </a:p>
        </p:txBody>
      </p:sp>
      <p:grpSp>
        <p:nvGrpSpPr>
          <p:cNvPr id="34" name="object 34"/>
          <p:cNvGrpSpPr/>
          <p:nvPr/>
        </p:nvGrpSpPr>
        <p:grpSpPr>
          <a:xfrm>
            <a:off x="2761805" y="1308671"/>
            <a:ext cx="2180590" cy="1632585"/>
            <a:chOff x="2761805" y="1308671"/>
            <a:chExt cx="2180590" cy="1632585"/>
          </a:xfrm>
        </p:grpSpPr>
        <p:sp>
          <p:nvSpPr>
            <p:cNvPr id="35" name="object 35"/>
            <p:cNvSpPr/>
            <p:nvPr/>
          </p:nvSpPr>
          <p:spPr>
            <a:xfrm>
              <a:off x="2780537" y="2052827"/>
              <a:ext cx="186690" cy="0"/>
            </a:xfrm>
            <a:custGeom>
              <a:avLst/>
              <a:gdLst/>
              <a:ahLst/>
              <a:cxnLst/>
              <a:rect l="l" t="t" r="r" b="b"/>
              <a:pathLst>
                <a:path w="186689">
                  <a:moveTo>
                    <a:pt x="0" y="0"/>
                  </a:moveTo>
                  <a:lnTo>
                    <a:pt x="186690" y="0"/>
                  </a:lnTo>
                </a:path>
              </a:pathLst>
            </a:custGeom>
            <a:ln w="37236">
              <a:solidFill>
                <a:srgbClr val="000000"/>
              </a:solidFill>
            </a:ln>
          </p:spPr>
          <p:txBody>
            <a:bodyPr wrap="square" lIns="0" tIns="0" rIns="0" bIns="0" rtlCol="0"/>
            <a:lstStyle/>
            <a:p>
              <a:endParaRPr/>
            </a:p>
          </p:txBody>
        </p:sp>
        <p:pic>
          <p:nvPicPr>
            <p:cNvPr id="36" name="object 36"/>
            <p:cNvPicPr/>
            <p:nvPr/>
          </p:nvPicPr>
          <p:blipFill>
            <a:blip r:embed="rId3" cstate="print"/>
            <a:stretch>
              <a:fillRect/>
            </a:stretch>
          </p:blipFill>
          <p:spPr>
            <a:xfrm>
              <a:off x="4285157" y="2008301"/>
              <a:ext cx="89814" cy="89814"/>
            </a:xfrm>
            <a:prstGeom prst="rect">
              <a:avLst/>
            </a:prstGeom>
          </p:spPr>
        </p:pic>
        <p:sp>
          <p:nvSpPr>
            <p:cNvPr id="37" name="object 37"/>
            <p:cNvSpPr/>
            <p:nvPr/>
          </p:nvSpPr>
          <p:spPr>
            <a:xfrm>
              <a:off x="4255007" y="1327403"/>
              <a:ext cx="151130" cy="0"/>
            </a:xfrm>
            <a:custGeom>
              <a:avLst/>
              <a:gdLst/>
              <a:ahLst/>
              <a:cxnLst/>
              <a:rect l="l" t="t" r="r" b="b"/>
              <a:pathLst>
                <a:path w="151129">
                  <a:moveTo>
                    <a:pt x="0" y="0"/>
                  </a:moveTo>
                  <a:lnTo>
                    <a:pt x="150876" y="0"/>
                  </a:lnTo>
                </a:path>
              </a:pathLst>
            </a:custGeom>
            <a:ln w="37236">
              <a:solidFill>
                <a:srgbClr val="000000"/>
              </a:solidFill>
            </a:ln>
          </p:spPr>
          <p:txBody>
            <a:bodyPr wrap="square" lIns="0" tIns="0" rIns="0" bIns="0" rtlCol="0"/>
            <a:lstStyle/>
            <a:p>
              <a:endParaRPr/>
            </a:p>
          </p:txBody>
        </p:sp>
        <p:pic>
          <p:nvPicPr>
            <p:cNvPr id="38" name="object 38"/>
            <p:cNvPicPr/>
            <p:nvPr/>
          </p:nvPicPr>
          <p:blipFill>
            <a:blip r:embed="rId4" cstate="print"/>
            <a:stretch>
              <a:fillRect/>
            </a:stretch>
          </p:blipFill>
          <p:spPr>
            <a:xfrm>
              <a:off x="4797659" y="1980545"/>
              <a:ext cx="144564" cy="144564"/>
            </a:xfrm>
            <a:prstGeom prst="rect">
              <a:avLst/>
            </a:prstGeom>
          </p:spPr>
        </p:pic>
        <p:sp>
          <p:nvSpPr>
            <p:cNvPr id="39" name="object 39"/>
            <p:cNvSpPr/>
            <p:nvPr/>
          </p:nvSpPr>
          <p:spPr>
            <a:xfrm>
              <a:off x="3454907" y="2302763"/>
              <a:ext cx="0" cy="619760"/>
            </a:xfrm>
            <a:custGeom>
              <a:avLst/>
              <a:gdLst/>
              <a:ahLst/>
              <a:cxnLst/>
              <a:rect l="l" t="t" r="r" b="b"/>
              <a:pathLst>
                <a:path h="619760">
                  <a:moveTo>
                    <a:pt x="0" y="0"/>
                  </a:moveTo>
                  <a:lnTo>
                    <a:pt x="0" y="619506"/>
                  </a:lnTo>
                </a:path>
              </a:pathLst>
            </a:custGeom>
            <a:ln w="37083">
              <a:solidFill>
                <a:srgbClr val="000000"/>
              </a:solidFill>
            </a:ln>
          </p:spPr>
          <p:txBody>
            <a:bodyPr wrap="square" lIns="0" tIns="0" rIns="0" bIns="0" rtlCol="0"/>
            <a:lstStyle/>
            <a:p>
              <a:endParaRPr/>
            </a:p>
          </p:txBody>
        </p:sp>
      </p:grpSp>
      <p:sp>
        <p:nvSpPr>
          <p:cNvPr id="40" name="object 40"/>
          <p:cNvSpPr txBox="1"/>
          <p:nvPr/>
        </p:nvSpPr>
        <p:spPr>
          <a:xfrm>
            <a:off x="3127248" y="2922270"/>
            <a:ext cx="656590" cy="436245"/>
          </a:xfrm>
          <a:prstGeom prst="rect">
            <a:avLst/>
          </a:prstGeom>
          <a:solidFill>
            <a:srgbClr val="FFFFFF"/>
          </a:solidFill>
          <a:ln w="37236">
            <a:solidFill>
              <a:srgbClr val="000000"/>
            </a:solidFill>
          </a:ln>
        </p:spPr>
        <p:txBody>
          <a:bodyPr vert="horz" wrap="square" lIns="0" tIns="64135" rIns="0" bIns="0" rtlCol="0">
            <a:spAutoFit/>
          </a:bodyPr>
          <a:lstStyle/>
          <a:p>
            <a:pPr marL="174625">
              <a:lnSpc>
                <a:spcPct val="100000"/>
              </a:lnSpc>
              <a:spcBef>
                <a:spcPts val="505"/>
              </a:spcBef>
            </a:pPr>
            <a:r>
              <a:rPr sz="1800" spc="-25" dirty="0">
                <a:latin typeface="Calibri"/>
                <a:cs typeface="Calibri"/>
              </a:rPr>
              <a:t>PLL</a:t>
            </a:r>
            <a:endParaRPr sz="1800">
              <a:latin typeface="Calibri"/>
              <a:cs typeface="Calibri"/>
            </a:endParaRPr>
          </a:p>
        </p:txBody>
      </p:sp>
      <p:grpSp>
        <p:nvGrpSpPr>
          <p:cNvPr id="41" name="object 41"/>
          <p:cNvGrpSpPr/>
          <p:nvPr/>
        </p:nvGrpSpPr>
        <p:grpSpPr>
          <a:xfrm>
            <a:off x="1683575" y="1514411"/>
            <a:ext cx="8824595" cy="1258570"/>
            <a:chOff x="1683575" y="1514411"/>
            <a:chExt cx="8824595" cy="1258570"/>
          </a:xfrm>
        </p:grpSpPr>
        <p:pic>
          <p:nvPicPr>
            <p:cNvPr id="42" name="object 42"/>
            <p:cNvPicPr/>
            <p:nvPr/>
          </p:nvPicPr>
          <p:blipFill>
            <a:blip r:embed="rId5" cstate="print"/>
            <a:stretch>
              <a:fillRect/>
            </a:stretch>
          </p:blipFill>
          <p:spPr>
            <a:xfrm>
              <a:off x="3410381" y="2682671"/>
              <a:ext cx="89814" cy="89814"/>
            </a:xfrm>
            <a:prstGeom prst="rect">
              <a:avLst/>
            </a:prstGeom>
          </p:spPr>
        </p:pic>
        <p:sp>
          <p:nvSpPr>
            <p:cNvPr id="43" name="object 43"/>
            <p:cNvSpPr/>
            <p:nvPr/>
          </p:nvSpPr>
          <p:spPr>
            <a:xfrm>
              <a:off x="1702308" y="2723388"/>
              <a:ext cx="1727835" cy="8890"/>
            </a:xfrm>
            <a:custGeom>
              <a:avLst/>
              <a:gdLst/>
              <a:ahLst/>
              <a:cxnLst/>
              <a:rect l="l" t="t" r="r" b="b"/>
              <a:pathLst>
                <a:path w="1727835" h="8889">
                  <a:moveTo>
                    <a:pt x="0" y="0"/>
                  </a:moveTo>
                  <a:lnTo>
                    <a:pt x="1727454" y="8381"/>
                  </a:lnTo>
                </a:path>
              </a:pathLst>
            </a:custGeom>
            <a:ln w="37236">
              <a:solidFill>
                <a:srgbClr val="000000"/>
              </a:solidFill>
            </a:ln>
          </p:spPr>
          <p:txBody>
            <a:bodyPr wrap="square" lIns="0" tIns="0" rIns="0" bIns="0" rtlCol="0"/>
            <a:lstStyle/>
            <a:p>
              <a:endParaRPr/>
            </a:p>
          </p:txBody>
        </p:sp>
        <p:sp>
          <p:nvSpPr>
            <p:cNvPr id="44" name="object 44"/>
            <p:cNvSpPr/>
            <p:nvPr/>
          </p:nvSpPr>
          <p:spPr>
            <a:xfrm>
              <a:off x="1702308" y="2521458"/>
              <a:ext cx="0" cy="201930"/>
            </a:xfrm>
            <a:custGeom>
              <a:avLst/>
              <a:gdLst/>
              <a:ahLst/>
              <a:cxnLst/>
              <a:rect l="l" t="t" r="r" b="b"/>
              <a:pathLst>
                <a:path h="201930">
                  <a:moveTo>
                    <a:pt x="0" y="0"/>
                  </a:moveTo>
                  <a:lnTo>
                    <a:pt x="0" y="201930"/>
                  </a:lnTo>
                </a:path>
              </a:pathLst>
            </a:custGeom>
            <a:ln w="37084">
              <a:solidFill>
                <a:srgbClr val="000000"/>
              </a:solidFill>
            </a:ln>
          </p:spPr>
          <p:txBody>
            <a:bodyPr wrap="square" lIns="0" tIns="0" rIns="0" bIns="0" rtlCol="0"/>
            <a:lstStyle/>
            <a:p>
              <a:endParaRPr/>
            </a:p>
          </p:txBody>
        </p:sp>
        <p:sp>
          <p:nvSpPr>
            <p:cNvPr id="45" name="object 45"/>
            <p:cNvSpPr/>
            <p:nvPr/>
          </p:nvSpPr>
          <p:spPr>
            <a:xfrm>
              <a:off x="10262616" y="1533144"/>
              <a:ext cx="0" cy="1039494"/>
            </a:xfrm>
            <a:custGeom>
              <a:avLst/>
              <a:gdLst/>
              <a:ahLst/>
              <a:cxnLst/>
              <a:rect l="l" t="t" r="r" b="b"/>
              <a:pathLst>
                <a:path h="1039494">
                  <a:moveTo>
                    <a:pt x="0" y="0"/>
                  </a:moveTo>
                  <a:lnTo>
                    <a:pt x="0" y="1039368"/>
                  </a:lnTo>
                </a:path>
              </a:pathLst>
            </a:custGeom>
            <a:ln w="37084">
              <a:solidFill>
                <a:srgbClr val="000000"/>
              </a:solidFill>
            </a:ln>
          </p:spPr>
          <p:txBody>
            <a:bodyPr wrap="square" lIns="0" tIns="0" rIns="0" bIns="0" rtlCol="0"/>
            <a:lstStyle/>
            <a:p>
              <a:endParaRPr/>
            </a:p>
          </p:txBody>
        </p:sp>
        <p:sp>
          <p:nvSpPr>
            <p:cNvPr id="46" name="object 46"/>
            <p:cNvSpPr/>
            <p:nvPr/>
          </p:nvSpPr>
          <p:spPr>
            <a:xfrm>
              <a:off x="9885426" y="1677162"/>
              <a:ext cx="0" cy="751840"/>
            </a:xfrm>
            <a:custGeom>
              <a:avLst/>
              <a:gdLst/>
              <a:ahLst/>
              <a:cxnLst/>
              <a:rect l="l" t="t" r="r" b="b"/>
              <a:pathLst>
                <a:path h="751839">
                  <a:moveTo>
                    <a:pt x="0" y="0"/>
                  </a:moveTo>
                  <a:lnTo>
                    <a:pt x="0" y="751332"/>
                  </a:lnTo>
                </a:path>
              </a:pathLst>
            </a:custGeom>
            <a:ln w="37084">
              <a:solidFill>
                <a:srgbClr val="000000"/>
              </a:solidFill>
            </a:ln>
          </p:spPr>
          <p:txBody>
            <a:bodyPr wrap="square" lIns="0" tIns="0" rIns="0" bIns="0" rtlCol="0"/>
            <a:lstStyle/>
            <a:p>
              <a:endParaRPr/>
            </a:p>
          </p:txBody>
        </p:sp>
        <p:sp>
          <p:nvSpPr>
            <p:cNvPr id="47" name="object 47"/>
            <p:cNvSpPr/>
            <p:nvPr/>
          </p:nvSpPr>
          <p:spPr>
            <a:xfrm>
              <a:off x="9885426" y="2428494"/>
              <a:ext cx="377190" cy="144145"/>
            </a:xfrm>
            <a:custGeom>
              <a:avLst/>
              <a:gdLst/>
              <a:ahLst/>
              <a:cxnLst/>
              <a:rect l="l" t="t" r="r" b="b"/>
              <a:pathLst>
                <a:path w="377190" h="144144">
                  <a:moveTo>
                    <a:pt x="0" y="0"/>
                  </a:moveTo>
                  <a:lnTo>
                    <a:pt x="377190" y="144017"/>
                  </a:lnTo>
                </a:path>
              </a:pathLst>
            </a:custGeom>
            <a:ln w="37211">
              <a:solidFill>
                <a:srgbClr val="000000"/>
              </a:solidFill>
            </a:ln>
          </p:spPr>
          <p:txBody>
            <a:bodyPr wrap="square" lIns="0" tIns="0" rIns="0" bIns="0" rtlCol="0"/>
            <a:lstStyle/>
            <a:p>
              <a:endParaRPr/>
            </a:p>
          </p:txBody>
        </p:sp>
        <p:sp>
          <p:nvSpPr>
            <p:cNvPr id="48" name="object 48"/>
            <p:cNvSpPr/>
            <p:nvPr/>
          </p:nvSpPr>
          <p:spPr>
            <a:xfrm>
              <a:off x="9885426" y="1533144"/>
              <a:ext cx="377190" cy="144145"/>
            </a:xfrm>
            <a:custGeom>
              <a:avLst/>
              <a:gdLst/>
              <a:ahLst/>
              <a:cxnLst/>
              <a:rect l="l" t="t" r="r" b="b"/>
              <a:pathLst>
                <a:path w="377190" h="144144">
                  <a:moveTo>
                    <a:pt x="377190" y="0"/>
                  </a:moveTo>
                  <a:lnTo>
                    <a:pt x="0" y="144018"/>
                  </a:lnTo>
                </a:path>
              </a:pathLst>
            </a:custGeom>
            <a:ln w="37211">
              <a:solidFill>
                <a:srgbClr val="000000"/>
              </a:solidFill>
            </a:ln>
          </p:spPr>
          <p:txBody>
            <a:bodyPr wrap="square" lIns="0" tIns="0" rIns="0" bIns="0" rtlCol="0"/>
            <a:lstStyle/>
            <a:p>
              <a:endParaRPr/>
            </a:p>
          </p:txBody>
        </p:sp>
        <p:sp>
          <p:nvSpPr>
            <p:cNvPr id="49" name="object 49"/>
            <p:cNvSpPr/>
            <p:nvPr/>
          </p:nvSpPr>
          <p:spPr>
            <a:xfrm>
              <a:off x="10262616" y="1661160"/>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0" name="object 50"/>
            <p:cNvSpPr/>
            <p:nvPr/>
          </p:nvSpPr>
          <p:spPr>
            <a:xfrm>
              <a:off x="10262616" y="1856994"/>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1" name="object 51"/>
            <p:cNvSpPr/>
            <p:nvPr/>
          </p:nvSpPr>
          <p:spPr>
            <a:xfrm>
              <a:off x="10262616" y="2052828"/>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2" name="object 52"/>
            <p:cNvSpPr/>
            <p:nvPr/>
          </p:nvSpPr>
          <p:spPr>
            <a:xfrm>
              <a:off x="10262616" y="2248662"/>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3" name="object 53"/>
            <p:cNvSpPr/>
            <p:nvPr/>
          </p:nvSpPr>
          <p:spPr>
            <a:xfrm>
              <a:off x="10262616" y="2444496"/>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grpSp>
      <p:sp>
        <p:nvSpPr>
          <p:cNvPr id="54" name="object 54"/>
          <p:cNvSpPr txBox="1"/>
          <p:nvPr/>
        </p:nvSpPr>
        <p:spPr>
          <a:xfrm>
            <a:off x="9964350" y="1683606"/>
            <a:ext cx="254000" cy="747395"/>
          </a:xfrm>
          <a:prstGeom prst="rect">
            <a:avLst/>
          </a:prstGeom>
        </p:spPr>
        <p:txBody>
          <a:bodyPr vert="vert270" wrap="square" lIns="0" tIns="0" rIns="0" bIns="0" rtlCol="0">
            <a:spAutoFit/>
          </a:bodyPr>
          <a:lstStyle/>
          <a:p>
            <a:pPr marL="12700">
              <a:lnSpc>
                <a:spcPts val="1810"/>
              </a:lnSpc>
            </a:pPr>
            <a:r>
              <a:rPr sz="1800" spc="-10" dirty="0">
                <a:latin typeface="Calibri"/>
                <a:cs typeface="Calibri"/>
              </a:rPr>
              <a:t>DEMUX</a:t>
            </a:r>
            <a:endParaRPr sz="1800">
              <a:latin typeface="Calibri"/>
              <a:cs typeface="Calibri"/>
            </a:endParaRPr>
          </a:p>
        </p:txBody>
      </p:sp>
      <p:grpSp>
        <p:nvGrpSpPr>
          <p:cNvPr id="55" name="object 55"/>
          <p:cNvGrpSpPr/>
          <p:nvPr/>
        </p:nvGrpSpPr>
        <p:grpSpPr>
          <a:xfrm>
            <a:off x="6551993" y="1318831"/>
            <a:ext cx="3352165" cy="769620"/>
            <a:chOff x="6551993" y="1318831"/>
            <a:chExt cx="3352165" cy="769620"/>
          </a:xfrm>
        </p:grpSpPr>
        <p:sp>
          <p:nvSpPr>
            <p:cNvPr id="56" name="object 56"/>
            <p:cNvSpPr/>
            <p:nvPr/>
          </p:nvSpPr>
          <p:spPr>
            <a:xfrm>
              <a:off x="9569958" y="2052066"/>
              <a:ext cx="315595" cy="0"/>
            </a:xfrm>
            <a:custGeom>
              <a:avLst/>
              <a:gdLst/>
              <a:ahLst/>
              <a:cxnLst/>
              <a:rect l="l" t="t" r="r" b="b"/>
              <a:pathLst>
                <a:path w="315595">
                  <a:moveTo>
                    <a:pt x="315468" y="0"/>
                  </a:moveTo>
                  <a:lnTo>
                    <a:pt x="0" y="0"/>
                  </a:lnTo>
                </a:path>
              </a:pathLst>
            </a:custGeom>
            <a:ln w="37236">
              <a:solidFill>
                <a:srgbClr val="000000"/>
              </a:solidFill>
            </a:ln>
          </p:spPr>
          <p:txBody>
            <a:bodyPr wrap="square" lIns="0" tIns="0" rIns="0" bIns="0" rtlCol="0"/>
            <a:lstStyle/>
            <a:p>
              <a:endParaRPr/>
            </a:p>
          </p:txBody>
        </p:sp>
        <p:sp>
          <p:nvSpPr>
            <p:cNvPr id="57" name="object 57"/>
            <p:cNvSpPr/>
            <p:nvPr/>
          </p:nvSpPr>
          <p:spPr>
            <a:xfrm>
              <a:off x="6570726" y="2052827"/>
              <a:ext cx="1271270" cy="0"/>
            </a:xfrm>
            <a:custGeom>
              <a:avLst/>
              <a:gdLst/>
              <a:ahLst/>
              <a:cxnLst/>
              <a:rect l="l" t="t" r="r" b="b"/>
              <a:pathLst>
                <a:path w="1271270">
                  <a:moveTo>
                    <a:pt x="0" y="0"/>
                  </a:moveTo>
                  <a:lnTo>
                    <a:pt x="324612" y="0"/>
                  </a:lnTo>
                </a:path>
                <a:path w="1271270">
                  <a:moveTo>
                    <a:pt x="453390" y="0"/>
                  </a:moveTo>
                  <a:lnTo>
                    <a:pt x="1271016" y="0"/>
                  </a:lnTo>
                </a:path>
              </a:pathLst>
            </a:custGeom>
            <a:ln w="37236">
              <a:solidFill>
                <a:srgbClr val="000000"/>
              </a:solidFill>
            </a:ln>
          </p:spPr>
          <p:txBody>
            <a:bodyPr wrap="square" lIns="0" tIns="0" rIns="0" bIns="0" rtlCol="0"/>
            <a:lstStyle/>
            <a:p>
              <a:endParaRPr/>
            </a:p>
          </p:txBody>
        </p:sp>
        <p:sp>
          <p:nvSpPr>
            <p:cNvPr id="58" name="object 58"/>
            <p:cNvSpPr/>
            <p:nvPr/>
          </p:nvSpPr>
          <p:spPr>
            <a:xfrm>
              <a:off x="7499604" y="1327404"/>
              <a:ext cx="0" cy="151130"/>
            </a:xfrm>
            <a:custGeom>
              <a:avLst/>
              <a:gdLst/>
              <a:ahLst/>
              <a:cxnLst/>
              <a:rect l="l" t="t" r="r" b="b"/>
              <a:pathLst>
                <a:path h="151130">
                  <a:moveTo>
                    <a:pt x="0" y="150875"/>
                  </a:moveTo>
                  <a:lnTo>
                    <a:pt x="0" y="0"/>
                  </a:lnTo>
                </a:path>
              </a:pathLst>
            </a:custGeom>
            <a:ln w="16548">
              <a:solidFill>
                <a:srgbClr val="000000"/>
              </a:solidFill>
            </a:ln>
          </p:spPr>
          <p:txBody>
            <a:bodyPr wrap="square" lIns="0" tIns="0" rIns="0" bIns="0" rtlCol="0"/>
            <a:lstStyle/>
            <a:p>
              <a:endParaRPr/>
            </a:p>
          </p:txBody>
        </p:sp>
        <p:sp>
          <p:nvSpPr>
            <p:cNvPr id="59" name="object 59"/>
            <p:cNvSpPr/>
            <p:nvPr/>
          </p:nvSpPr>
          <p:spPr>
            <a:xfrm>
              <a:off x="7424166" y="1478280"/>
              <a:ext cx="151130" cy="601345"/>
            </a:xfrm>
            <a:custGeom>
              <a:avLst/>
              <a:gdLst/>
              <a:ahLst/>
              <a:cxnLst/>
              <a:rect l="l" t="t" r="r" b="b"/>
              <a:pathLst>
                <a:path w="151129" h="601344">
                  <a:moveTo>
                    <a:pt x="75438" y="450341"/>
                  </a:moveTo>
                  <a:lnTo>
                    <a:pt x="75438" y="601217"/>
                  </a:lnTo>
                </a:path>
                <a:path w="151129" h="601344">
                  <a:moveTo>
                    <a:pt x="75438" y="450341"/>
                  </a:moveTo>
                  <a:lnTo>
                    <a:pt x="150876" y="413003"/>
                  </a:lnTo>
                  <a:lnTo>
                    <a:pt x="0" y="337565"/>
                  </a:lnTo>
                  <a:lnTo>
                    <a:pt x="150876" y="262889"/>
                  </a:lnTo>
                  <a:lnTo>
                    <a:pt x="0" y="187451"/>
                  </a:lnTo>
                  <a:lnTo>
                    <a:pt x="150876" y="112775"/>
                  </a:lnTo>
                  <a:lnTo>
                    <a:pt x="0" y="37337"/>
                  </a:lnTo>
                  <a:lnTo>
                    <a:pt x="75438" y="0"/>
                  </a:lnTo>
                </a:path>
              </a:pathLst>
            </a:custGeom>
            <a:ln w="16548">
              <a:solidFill>
                <a:srgbClr val="000000"/>
              </a:solidFill>
            </a:ln>
          </p:spPr>
          <p:txBody>
            <a:bodyPr wrap="square" lIns="0" tIns="0" rIns="0" bIns="0" rtlCol="0"/>
            <a:lstStyle/>
            <a:p>
              <a:endParaRPr/>
            </a:p>
          </p:txBody>
        </p:sp>
      </p:grpSp>
      <p:sp>
        <p:nvSpPr>
          <p:cNvPr id="60" name="object 60"/>
          <p:cNvSpPr txBox="1"/>
          <p:nvPr/>
        </p:nvSpPr>
        <p:spPr>
          <a:xfrm>
            <a:off x="7061454" y="1537609"/>
            <a:ext cx="334645" cy="298450"/>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Arial"/>
                <a:cs typeface="Arial"/>
              </a:rPr>
              <a:t>R</a:t>
            </a:r>
            <a:r>
              <a:rPr sz="1725" spc="-37" baseline="-12077" dirty="0">
                <a:latin typeface="Microsoft Sans Serif"/>
                <a:cs typeface="Microsoft Sans Serif"/>
              </a:rPr>
              <a:t>T</a:t>
            </a:r>
            <a:endParaRPr sz="1725" baseline="-12077">
              <a:latin typeface="Microsoft Sans Serif"/>
              <a:cs typeface="Microsoft Sans Serif"/>
            </a:endParaRPr>
          </a:p>
        </p:txBody>
      </p:sp>
      <p:grpSp>
        <p:nvGrpSpPr>
          <p:cNvPr id="61" name="object 61"/>
          <p:cNvGrpSpPr/>
          <p:nvPr/>
        </p:nvGrpSpPr>
        <p:grpSpPr>
          <a:xfrm>
            <a:off x="6887064" y="1308671"/>
            <a:ext cx="2160905" cy="1416050"/>
            <a:chOff x="6887064" y="1308671"/>
            <a:chExt cx="2160905" cy="1416050"/>
          </a:xfrm>
        </p:grpSpPr>
        <p:sp>
          <p:nvSpPr>
            <p:cNvPr id="62" name="object 62"/>
            <p:cNvSpPr/>
            <p:nvPr/>
          </p:nvSpPr>
          <p:spPr>
            <a:xfrm>
              <a:off x="8497824" y="2052446"/>
              <a:ext cx="530860" cy="0"/>
            </a:xfrm>
            <a:custGeom>
              <a:avLst/>
              <a:gdLst/>
              <a:ahLst/>
              <a:cxnLst/>
              <a:rect l="l" t="t" r="r" b="b"/>
              <a:pathLst>
                <a:path w="530859">
                  <a:moveTo>
                    <a:pt x="0" y="0"/>
                  </a:moveTo>
                  <a:lnTo>
                    <a:pt x="530682" y="0"/>
                  </a:lnTo>
                </a:path>
              </a:pathLst>
            </a:custGeom>
            <a:ln w="37998">
              <a:solidFill>
                <a:srgbClr val="000000"/>
              </a:solidFill>
            </a:ln>
          </p:spPr>
          <p:txBody>
            <a:bodyPr wrap="square" lIns="0" tIns="0" rIns="0" bIns="0" rtlCol="0"/>
            <a:lstStyle/>
            <a:p>
              <a:endParaRPr/>
            </a:p>
          </p:txBody>
        </p:sp>
        <p:pic>
          <p:nvPicPr>
            <p:cNvPr id="63" name="object 63"/>
            <p:cNvPicPr/>
            <p:nvPr/>
          </p:nvPicPr>
          <p:blipFill>
            <a:blip r:embed="rId6" cstate="print"/>
            <a:stretch>
              <a:fillRect/>
            </a:stretch>
          </p:blipFill>
          <p:spPr>
            <a:xfrm>
              <a:off x="7454315" y="2008301"/>
              <a:ext cx="89814" cy="89814"/>
            </a:xfrm>
            <a:prstGeom prst="rect">
              <a:avLst/>
            </a:prstGeom>
          </p:spPr>
        </p:pic>
        <p:sp>
          <p:nvSpPr>
            <p:cNvPr id="64" name="object 64"/>
            <p:cNvSpPr/>
            <p:nvPr/>
          </p:nvSpPr>
          <p:spPr>
            <a:xfrm>
              <a:off x="7424166" y="1327403"/>
              <a:ext cx="151130" cy="0"/>
            </a:xfrm>
            <a:custGeom>
              <a:avLst/>
              <a:gdLst/>
              <a:ahLst/>
              <a:cxnLst/>
              <a:rect l="l" t="t" r="r" b="b"/>
              <a:pathLst>
                <a:path w="151129">
                  <a:moveTo>
                    <a:pt x="150875" y="0"/>
                  </a:moveTo>
                  <a:lnTo>
                    <a:pt x="0" y="0"/>
                  </a:lnTo>
                </a:path>
              </a:pathLst>
            </a:custGeom>
            <a:ln w="37236">
              <a:solidFill>
                <a:srgbClr val="000000"/>
              </a:solidFill>
            </a:ln>
          </p:spPr>
          <p:txBody>
            <a:bodyPr wrap="square" lIns="0" tIns="0" rIns="0" bIns="0" rtlCol="0"/>
            <a:lstStyle/>
            <a:p>
              <a:endParaRPr/>
            </a:p>
          </p:txBody>
        </p:sp>
        <p:pic>
          <p:nvPicPr>
            <p:cNvPr id="65" name="object 65"/>
            <p:cNvPicPr/>
            <p:nvPr/>
          </p:nvPicPr>
          <p:blipFill>
            <a:blip r:embed="rId7" cstate="print"/>
            <a:stretch>
              <a:fillRect/>
            </a:stretch>
          </p:blipFill>
          <p:spPr>
            <a:xfrm>
              <a:off x="6887064" y="1980545"/>
              <a:ext cx="145326" cy="144564"/>
            </a:xfrm>
            <a:prstGeom prst="rect">
              <a:avLst/>
            </a:prstGeom>
          </p:spPr>
        </p:pic>
        <p:sp>
          <p:nvSpPr>
            <p:cNvPr id="66" name="object 66"/>
            <p:cNvSpPr/>
            <p:nvPr/>
          </p:nvSpPr>
          <p:spPr>
            <a:xfrm>
              <a:off x="8681466" y="2052065"/>
              <a:ext cx="0" cy="654050"/>
            </a:xfrm>
            <a:custGeom>
              <a:avLst/>
              <a:gdLst/>
              <a:ahLst/>
              <a:cxnLst/>
              <a:rect l="l" t="t" r="r" b="b"/>
              <a:pathLst>
                <a:path h="654050">
                  <a:moveTo>
                    <a:pt x="0" y="0"/>
                  </a:moveTo>
                  <a:lnTo>
                    <a:pt x="0" y="653796"/>
                  </a:lnTo>
                </a:path>
              </a:pathLst>
            </a:custGeom>
            <a:ln w="37084">
              <a:solidFill>
                <a:srgbClr val="000000"/>
              </a:solidFill>
            </a:ln>
          </p:spPr>
          <p:txBody>
            <a:bodyPr wrap="square" lIns="0" tIns="0" rIns="0" bIns="0" rtlCol="0"/>
            <a:lstStyle/>
            <a:p>
              <a:endParaRPr/>
            </a:p>
          </p:txBody>
        </p:sp>
      </p:grpSp>
      <p:sp>
        <p:nvSpPr>
          <p:cNvPr id="67" name="object 67"/>
          <p:cNvSpPr txBox="1"/>
          <p:nvPr/>
        </p:nvSpPr>
        <p:spPr>
          <a:xfrm>
            <a:off x="7827644" y="2886836"/>
            <a:ext cx="656590" cy="434340"/>
          </a:xfrm>
          <a:prstGeom prst="rect">
            <a:avLst/>
          </a:prstGeom>
          <a:solidFill>
            <a:srgbClr val="FFFFFF"/>
          </a:solidFill>
          <a:ln w="37236">
            <a:solidFill>
              <a:srgbClr val="000000"/>
            </a:solidFill>
          </a:ln>
        </p:spPr>
        <p:txBody>
          <a:bodyPr vert="horz" wrap="square" lIns="0" tIns="62229" rIns="0" bIns="0" rtlCol="0">
            <a:spAutoFit/>
          </a:bodyPr>
          <a:lstStyle/>
          <a:p>
            <a:pPr marL="161925">
              <a:lnSpc>
                <a:spcPct val="100000"/>
              </a:lnSpc>
              <a:spcBef>
                <a:spcPts val="489"/>
              </a:spcBef>
            </a:pPr>
            <a:r>
              <a:rPr sz="1800" spc="-25" dirty="0">
                <a:latin typeface="Calibri"/>
                <a:cs typeface="Calibri"/>
              </a:rPr>
              <a:t>PLL</a:t>
            </a:r>
            <a:endParaRPr sz="1800">
              <a:latin typeface="Calibri"/>
              <a:cs typeface="Calibri"/>
            </a:endParaRPr>
          </a:p>
        </p:txBody>
      </p:sp>
      <p:grpSp>
        <p:nvGrpSpPr>
          <p:cNvPr id="68" name="object 68"/>
          <p:cNvGrpSpPr/>
          <p:nvPr/>
        </p:nvGrpSpPr>
        <p:grpSpPr>
          <a:xfrm>
            <a:off x="8633129" y="1753298"/>
            <a:ext cx="1513840" cy="1154430"/>
            <a:chOff x="8633129" y="1753298"/>
            <a:chExt cx="1513840" cy="1154430"/>
          </a:xfrm>
        </p:grpSpPr>
        <p:pic>
          <p:nvPicPr>
            <p:cNvPr id="69" name="object 69"/>
            <p:cNvPicPr/>
            <p:nvPr/>
          </p:nvPicPr>
          <p:blipFill>
            <a:blip r:embed="rId8" cstate="print"/>
            <a:stretch>
              <a:fillRect/>
            </a:stretch>
          </p:blipFill>
          <p:spPr>
            <a:xfrm>
              <a:off x="8633129" y="2009825"/>
              <a:ext cx="90576" cy="89814"/>
            </a:xfrm>
            <a:prstGeom prst="rect">
              <a:avLst/>
            </a:prstGeom>
          </p:spPr>
        </p:pic>
        <p:sp>
          <p:nvSpPr>
            <p:cNvPr id="70" name="object 70"/>
            <p:cNvSpPr/>
            <p:nvPr/>
          </p:nvSpPr>
          <p:spPr>
            <a:xfrm>
              <a:off x="9605771" y="2888741"/>
              <a:ext cx="521970" cy="0"/>
            </a:xfrm>
            <a:custGeom>
              <a:avLst/>
              <a:gdLst/>
              <a:ahLst/>
              <a:cxnLst/>
              <a:rect l="l" t="t" r="r" b="b"/>
              <a:pathLst>
                <a:path w="521970">
                  <a:moveTo>
                    <a:pt x="521970" y="0"/>
                  </a:moveTo>
                  <a:lnTo>
                    <a:pt x="0" y="0"/>
                  </a:lnTo>
                </a:path>
              </a:pathLst>
            </a:custGeom>
            <a:ln w="37236">
              <a:solidFill>
                <a:srgbClr val="000000"/>
              </a:solidFill>
            </a:ln>
          </p:spPr>
          <p:txBody>
            <a:bodyPr wrap="square" lIns="0" tIns="0" rIns="0" bIns="0" rtlCol="0"/>
            <a:lstStyle/>
            <a:p>
              <a:endParaRPr/>
            </a:p>
          </p:txBody>
        </p:sp>
        <p:sp>
          <p:nvSpPr>
            <p:cNvPr id="71" name="object 71"/>
            <p:cNvSpPr/>
            <p:nvPr/>
          </p:nvSpPr>
          <p:spPr>
            <a:xfrm>
              <a:off x="10127741" y="2521457"/>
              <a:ext cx="0" cy="367665"/>
            </a:xfrm>
            <a:custGeom>
              <a:avLst/>
              <a:gdLst/>
              <a:ahLst/>
              <a:cxnLst/>
              <a:rect l="l" t="t" r="r" b="b"/>
              <a:pathLst>
                <a:path h="367664">
                  <a:moveTo>
                    <a:pt x="0" y="0"/>
                  </a:moveTo>
                  <a:lnTo>
                    <a:pt x="0" y="367284"/>
                  </a:lnTo>
                </a:path>
              </a:pathLst>
            </a:custGeom>
            <a:ln w="37084">
              <a:solidFill>
                <a:srgbClr val="000000"/>
              </a:solidFill>
            </a:ln>
          </p:spPr>
          <p:txBody>
            <a:bodyPr wrap="square" lIns="0" tIns="0" rIns="0" bIns="0" rtlCol="0"/>
            <a:lstStyle/>
            <a:p>
              <a:endParaRPr/>
            </a:p>
          </p:txBody>
        </p:sp>
        <p:sp>
          <p:nvSpPr>
            <p:cNvPr id="72" name="object 72"/>
            <p:cNvSpPr/>
            <p:nvPr/>
          </p:nvSpPr>
          <p:spPr>
            <a:xfrm>
              <a:off x="9009887" y="1770125"/>
              <a:ext cx="565785" cy="563880"/>
            </a:xfrm>
            <a:custGeom>
              <a:avLst/>
              <a:gdLst/>
              <a:ahLst/>
              <a:cxnLst/>
              <a:rect l="l" t="t" r="r" b="b"/>
              <a:pathLst>
                <a:path w="565784" h="563880">
                  <a:moveTo>
                    <a:pt x="565404" y="281939"/>
                  </a:moveTo>
                  <a:lnTo>
                    <a:pt x="0" y="0"/>
                  </a:lnTo>
                  <a:lnTo>
                    <a:pt x="0" y="563880"/>
                  </a:lnTo>
                  <a:lnTo>
                    <a:pt x="565404" y="281939"/>
                  </a:lnTo>
                  <a:close/>
                </a:path>
              </a:pathLst>
            </a:custGeom>
            <a:solidFill>
              <a:srgbClr val="FFFFFF"/>
            </a:solidFill>
          </p:spPr>
          <p:txBody>
            <a:bodyPr wrap="square" lIns="0" tIns="0" rIns="0" bIns="0" rtlCol="0"/>
            <a:lstStyle/>
            <a:p>
              <a:endParaRPr/>
            </a:p>
          </p:txBody>
        </p:sp>
        <p:sp>
          <p:nvSpPr>
            <p:cNvPr id="73" name="object 73"/>
            <p:cNvSpPr/>
            <p:nvPr/>
          </p:nvSpPr>
          <p:spPr>
            <a:xfrm>
              <a:off x="9009887" y="1770125"/>
              <a:ext cx="565785" cy="563880"/>
            </a:xfrm>
            <a:custGeom>
              <a:avLst/>
              <a:gdLst/>
              <a:ahLst/>
              <a:cxnLst/>
              <a:rect l="l" t="t" r="r" b="b"/>
              <a:pathLst>
                <a:path w="565784" h="563880">
                  <a:moveTo>
                    <a:pt x="0" y="0"/>
                  </a:moveTo>
                  <a:lnTo>
                    <a:pt x="0" y="563880"/>
                  </a:lnTo>
                  <a:lnTo>
                    <a:pt x="565404" y="281939"/>
                  </a:lnTo>
                  <a:lnTo>
                    <a:pt x="0" y="0"/>
                  </a:lnTo>
                  <a:close/>
                </a:path>
              </a:pathLst>
            </a:custGeom>
            <a:ln w="33096">
              <a:solidFill>
                <a:srgbClr val="000000"/>
              </a:solidFill>
            </a:ln>
          </p:spPr>
          <p:txBody>
            <a:bodyPr wrap="square" lIns="0" tIns="0" rIns="0" bIns="0" rtlCol="0"/>
            <a:lstStyle/>
            <a:p>
              <a:endParaRPr/>
            </a:p>
          </p:txBody>
        </p:sp>
        <p:sp>
          <p:nvSpPr>
            <p:cNvPr id="74" name="object 74"/>
            <p:cNvSpPr/>
            <p:nvPr/>
          </p:nvSpPr>
          <p:spPr>
            <a:xfrm>
              <a:off x="9066275" y="1939289"/>
              <a:ext cx="170180" cy="226060"/>
            </a:xfrm>
            <a:custGeom>
              <a:avLst/>
              <a:gdLst/>
              <a:ahLst/>
              <a:cxnLst/>
              <a:rect l="l" t="t" r="r" b="b"/>
              <a:pathLst>
                <a:path w="170179" h="226060">
                  <a:moveTo>
                    <a:pt x="0" y="225551"/>
                  </a:moveTo>
                  <a:lnTo>
                    <a:pt x="56388" y="225551"/>
                  </a:lnTo>
                  <a:lnTo>
                    <a:pt x="113537" y="0"/>
                  </a:lnTo>
                  <a:lnTo>
                    <a:pt x="169926" y="0"/>
                  </a:lnTo>
                </a:path>
              </a:pathLst>
            </a:custGeom>
            <a:ln w="16548">
              <a:solidFill>
                <a:srgbClr val="000000"/>
              </a:solidFill>
            </a:ln>
          </p:spPr>
          <p:txBody>
            <a:bodyPr wrap="square" lIns="0" tIns="0" rIns="0" bIns="0" rtlCol="0"/>
            <a:lstStyle/>
            <a:p>
              <a:endParaRPr/>
            </a:p>
          </p:txBody>
        </p:sp>
      </p:grpSp>
      <p:sp>
        <p:nvSpPr>
          <p:cNvPr id="75" name="object 75"/>
          <p:cNvSpPr txBox="1"/>
          <p:nvPr/>
        </p:nvSpPr>
        <p:spPr>
          <a:xfrm>
            <a:off x="7827644" y="1834895"/>
            <a:ext cx="656590" cy="436245"/>
          </a:xfrm>
          <a:prstGeom prst="rect">
            <a:avLst/>
          </a:prstGeom>
          <a:solidFill>
            <a:srgbClr val="FFFFFF"/>
          </a:solidFill>
          <a:ln w="37236">
            <a:solidFill>
              <a:srgbClr val="000000"/>
            </a:solidFill>
          </a:ln>
        </p:spPr>
        <p:txBody>
          <a:bodyPr vert="horz" wrap="square" lIns="0" tIns="63500" rIns="0" bIns="0" rtlCol="0">
            <a:spAutoFit/>
          </a:bodyPr>
          <a:lstStyle/>
          <a:p>
            <a:pPr marL="209550">
              <a:lnSpc>
                <a:spcPct val="100000"/>
              </a:lnSpc>
              <a:spcBef>
                <a:spcPts val="500"/>
              </a:spcBef>
            </a:pPr>
            <a:r>
              <a:rPr sz="1800" spc="-25" dirty="0">
                <a:latin typeface="Calibri"/>
                <a:cs typeface="Calibri"/>
              </a:rPr>
              <a:t>Eq.</a:t>
            </a:r>
            <a:endParaRPr sz="1800">
              <a:latin typeface="Calibri"/>
              <a:cs typeface="Calibri"/>
            </a:endParaRPr>
          </a:p>
        </p:txBody>
      </p:sp>
      <p:sp>
        <p:nvSpPr>
          <p:cNvPr id="76" name="object 76"/>
          <p:cNvSpPr txBox="1"/>
          <p:nvPr/>
        </p:nvSpPr>
        <p:spPr>
          <a:xfrm>
            <a:off x="8948928" y="2535173"/>
            <a:ext cx="657225" cy="707390"/>
          </a:xfrm>
          <a:prstGeom prst="rect">
            <a:avLst/>
          </a:prstGeom>
          <a:solidFill>
            <a:srgbClr val="FFFFFF"/>
          </a:solidFill>
          <a:ln w="37236">
            <a:solidFill>
              <a:srgbClr val="000000"/>
            </a:solidFill>
          </a:ln>
        </p:spPr>
        <p:txBody>
          <a:bodyPr vert="horz" wrap="square" lIns="0" tIns="198755" rIns="0" bIns="0" rtlCol="0">
            <a:spAutoFit/>
          </a:bodyPr>
          <a:lstStyle/>
          <a:p>
            <a:pPr marL="137160">
              <a:lnSpc>
                <a:spcPct val="100000"/>
              </a:lnSpc>
              <a:spcBef>
                <a:spcPts val="1565"/>
              </a:spcBef>
            </a:pPr>
            <a:r>
              <a:rPr sz="1800" spc="-25" dirty="0">
                <a:latin typeface="Calibri"/>
                <a:cs typeface="Calibri"/>
              </a:rPr>
              <a:t>CDR</a:t>
            </a:r>
            <a:endParaRPr sz="1800">
              <a:latin typeface="Calibri"/>
              <a:cs typeface="Calibri"/>
            </a:endParaRPr>
          </a:p>
        </p:txBody>
      </p:sp>
      <p:sp>
        <p:nvSpPr>
          <p:cNvPr id="78" name="object 78"/>
          <p:cNvSpPr/>
          <p:nvPr/>
        </p:nvSpPr>
        <p:spPr>
          <a:xfrm>
            <a:off x="8681466" y="2705861"/>
            <a:ext cx="267970" cy="0"/>
          </a:xfrm>
          <a:custGeom>
            <a:avLst/>
            <a:gdLst/>
            <a:ahLst/>
            <a:cxnLst/>
            <a:rect l="l" t="t" r="r" b="b"/>
            <a:pathLst>
              <a:path w="267970">
                <a:moveTo>
                  <a:pt x="267461" y="0"/>
                </a:moveTo>
                <a:lnTo>
                  <a:pt x="0" y="0"/>
                </a:lnTo>
              </a:path>
            </a:pathLst>
          </a:custGeom>
          <a:ln w="37236">
            <a:solidFill>
              <a:srgbClr val="000000"/>
            </a:solidFill>
          </a:ln>
        </p:spPr>
        <p:txBody>
          <a:bodyPr wrap="square" lIns="0" tIns="0" rIns="0" bIns="0" rtlCol="0"/>
          <a:lstStyle/>
          <a:p>
            <a:endParaRPr/>
          </a:p>
        </p:txBody>
      </p:sp>
      <p:sp>
        <p:nvSpPr>
          <p:cNvPr id="79" name="object 79"/>
          <p:cNvSpPr/>
          <p:nvPr/>
        </p:nvSpPr>
        <p:spPr>
          <a:xfrm>
            <a:off x="8470391" y="3102863"/>
            <a:ext cx="478790" cy="0"/>
          </a:xfrm>
          <a:custGeom>
            <a:avLst/>
            <a:gdLst/>
            <a:ahLst/>
            <a:cxnLst/>
            <a:rect l="l" t="t" r="r" b="b"/>
            <a:pathLst>
              <a:path w="478790">
                <a:moveTo>
                  <a:pt x="478535" y="0"/>
                </a:moveTo>
                <a:lnTo>
                  <a:pt x="0" y="0"/>
                </a:lnTo>
              </a:path>
            </a:pathLst>
          </a:custGeom>
          <a:ln w="37236">
            <a:solidFill>
              <a:srgbClr val="000000"/>
            </a:solidFill>
          </a:ln>
        </p:spPr>
        <p:txBody>
          <a:bodyPr wrap="square" lIns="0" tIns="0" rIns="0" bIns="0" rtlCol="0"/>
          <a:lstStyle/>
          <a:p>
            <a:endParaRPr/>
          </a:p>
        </p:txBody>
      </p:sp>
      <p:sp>
        <p:nvSpPr>
          <p:cNvPr id="80" name="object 80"/>
          <p:cNvSpPr/>
          <p:nvPr/>
        </p:nvSpPr>
        <p:spPr>
          <a:xfrm>
            <a:off x="9263634" y="2207513"/>
            <a:ext cx="0" cy="327660"/>
          </a:xfrm>
          <a:custGeom>
            <a:avLst/>
            <a:gdLst/>
            <a:ahLst/>
            <a:cxnLst/>
            <a:rect l="l" t="t" r="r" b="b"/>
            <a:pathLst>
              <a:path h="327660">
                <a:moveTo>
                  <a:pt x="0" y="0"/>
                </a:moveTo>
                <a:lnTo>
                  <a:pt x="0" y="327660"/>
                </a:lnTo>
              </a:path>
            </a:pathLst>
          </a:custGeom>
          <a:ln w="37084">
            <a:solidFill>
              <a:srgbClr val="000000"/>
            </a:solidFill>
          </a:ln>
        </p:spPr>
        <p:txBody>
          <a:bodyPr wrap="square" lIns="0" tIns="0" rIns="0" bIns="0" rtlCol="0"/>
          <a:lstStyle/>
          <a:p>
            <a:endParaRPr/>
          </a:p>
        </p:txBody>
      </p:sp>
      <p:pic>
        <p:nvPicPr>
          <p:cNvPr id="81" name="object 81"/>
          <p:cNvPicPr/>
          <p:nvPr/>
        </p:nvPicPr>
        <p:blipFill>
          <a:blip r:embed="rId9" cstate="print"/>
          <a:stretch>
            <a:fillRect/>
          </a:stretch>
        </p:blipFill>
        <p:spPr>
          <a:xfrm>
            <a:off x="4970526" y="2168651"/>
            <a:ext cx="229362" cy="210312"/>
          </a:xfrm>
          <a:prstGeom prst="rect">
            <a:avLst/>
          </a:prstGeom>
        </p:spPr>
      </p:pic>
      <p:pic>
        <p:nvPicPr>
          <p:cNvPr id="82" name="object 82"/>
          <p:cNvPicPr/>
          <p:nvPr/>
        </p:nvPicPr>
        <p:blipFill>
          <a:blip r:embed="rId10" cstate="print"/>
          <a:stretch>
            <a:fillRect/>
          </a:stretch>
        </p:blipFill>
        <p:spPr>
          <a:xfrm>
            <a:off x="5190744" y="2323337"/>
            <a:ext cx="1135380" cy="856488"/>
          </a:xfrm>
          <a:prstGeom prst="rect">
            <a:avLst/>
          </a:prstGeom>
        </p:spPr>
      </p:pic>
      <p:sp>
        <p:nvSpPr>
          <p:cNvPr id="181" name="Slide Number Placeholder 180"/>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11</a:t>
            </a:fld>
            <a:endParaRPr lang="en-US" spc="-50" dirty="0"/>
          </a:p>
        </p:txBody>
      </p:sp>
      <p:sp>
        <p:nvSpPr>
          <p:cNvPr id="182" name="Date Placeholder 181"/>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83" name="Footer Placeholder 182"/>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
        <p:nvSpPr>
          <p:cNvPr id="186" name="object 6"/>
          <p:cNvSpPr/>
          <p:nvPr/>
        </p:nvSpPr>
        <p:spPr>
          <a:xfrm>
            <a:off x="5103495" y="1707515"/>
            <a:ext cx="1662284" cy="626490"/>
          </a:xfrm>
          <a:custGeom>
            <a:avLst/>
            <a:gdLst/>
            <a:ahLst/>
            <a:cxnLst/>
            <a:rect l="l" t="t" r="r" b="b"/>
            <a:pathLst>
              <a:path w="3674109" h="2277110">
                <a:moveTo>
                  <a:pt x="28955" y="2262378"/>
                </a:moveTo>
                <a:lnTo>
                  <a:pt x="28955" y="2148078"/>
                </a:lnTo>
                <a:lnTo>
                  <a:pt x="0" y="2148078"/>
                </a:lnTo>
                <a:lnTo>
                  <a:pt x="0" y="2262378"/>
                </a:lnTo>
                <a:lnTo>
                  <a:pt x="28955" y="2262378"/>
                </a:lnTo>
                <a:close/>
              </a:path>
              <a:path w="3674109" h="2277110">
                <a:moveTo>
                  <a:pt x="28955" y="2061972"/>
                </a:moveTo>
                <a:lnTo>
                  <a:pt x="28955" y="1947672"/>
                </a:lnTo>
                <a:lnTo>
                  <a:pt x="0" y="1947672"/>
                </a:lnTo>
                <a:lnTo>
                  <a:pt x="0" y="2061972"/>
                </a:lnTo>
                <a:lnTo>
                  <a:pt x="28955" y="2061972"/>
                </a:lnTo>
                <a:close/>
              </a:path>
              <a:path w="3674109" h="2277110">
                <a:moveTo>
                  <a:pt x="28955" y="1862328"/>
                </a:moveTo>
                <a:lnTo>
                  <a:pt x="28955" y="1748028"/>
                </a:lnTo>
                <a:lnTo>
                  <a:pt x="0" y="1748028"/>
                </a:lnTo>
                <a:lnTo>
                  <a:pt x="0" y="1862328"/>
                </a:lnTo>
                <a:lnTo>
                  <a:pt x="28955" y="1862328"/>
                </a:lnTo>
                <a:close/>
              </a:path>
              <a:path w="3674109" h="2277110">
                <a:moveTo>
                  <a:pt x="28955" y="1662684"/>
                </a:moveTo>
                <a:lnTo>
                  <a:pt x="28955" y="1548384"/>
                </a:lnTo>
                <a:lnTo>
                  <a:pt x="0" y="1548384"/>
                </a:lnTo>
                <a:lnTo>
                  <a:pt x="0" y="1662684"/>
                </a:lnTo>
                <a:lnTo>
                  <a:pt x="28955" y="1662684"/>
                </a:lnTo>
                <a:close/>
              </a:path>
              <a:path w="3674109" h="2277110">
                <a:moveTo>
                  <a:pt x="28955" y="1462278"/>
                </a:moveTo>
                <a:lnTo>
                  <a:pt x="28955" y="1347978"/>
                </a:lnTo>
                <a:lnTo>
                  <a:pt x="0" y="1347978"/>
                </a:lnTo>
                <a:lnTo>
                  <a:pt x="0" y="1462278"/>
                </a:lnTo>
                <a:lnTo>
                  <a:pt x="28955" y="1462278"/>
                </a:lnTo>
                <a:close/>
              </a:path>
              <a:path w="3674109" h="2277110">
                <a:moveTo>
                  <a:pt x="28955" y="1262634"/>
                </a:moveTo>
                <a:lnTo>
                  <a:pt x="28955" y="1148334"/>
                </a:lnTo>
                <a:lnTo>
                  <a:pt x="0" y="1148334"/>
                </a:lnTo>
                <a:lnTo>
                  <a:pt x="0" y="1262634"/>
                </a:lnTo>
                <a:lnTo>
                  <a:pt x="28955" y="1262634"/>
                </a:lnTo>
                <a:close/>
              </a:path>
              <a:path w="3674109" h="2277110">
                <a:moveTo>
                  <a:pt x="28955" y="1062228"/>
                </a:moveTo>
                <a:lnTo>
                  <a:pt x="28955" y="947928"/>
                </a:lnTo>
                <a:lnTo>
                  <a:pt x="0" y="947928"/>
                </a:lnTo>
                <a:lnTo>
                  <a:pt x="0" y="1062228"/>
                </a:lnTo>
                <a:lnTo>
                  <a:pt x="28955" y="1062228"/>
                </a:lnTo>
                <a:close/>
              </a:path>
              <a:path w="3674109" h="2277110">
                <a:moveTo>
                  <a:pt x="28955" y="862584"/>
                </a:moveTo>
                <a:lnTo>
                  <a:pt x="28955" y="748284"/>
                </a:lnTo>
                <a:lnTo>
                  <a:pt x="0" y="748284"/>
                </a:lnTo>
                <a:lnTo>
                  <a:pt x="0" y="862584"/>
                </a:lnTo>
                <a:lnTo>
                  <a:pt x="28955" y="862584"/>
                </a:lnTo>
                <a:close/>
              </a:path>
              <a:path w="3674109" h="2277110">
                <a:moveTo>
                  <a:pt x="28955" y="662178"/>
                </a:moveTo>
                <a:lnTo>
                  <a:pt x="28955" y="547878"/>
                </a:lnTo>
                <a:lnTo>
                  <a:pt x="0" y="547878"/>
                </a:lnTo>
                <a:lnTo>
                  <a:pt x="0" y="662178"/>
                </a:lnTo>
                <a:lnTo>
                  <a:pt x="28955" y="662178"/>
                </a:lnTo>
                <a:close/>
              </a:path>
              <a:path w="3674109" h="2277110">
                <a:moveTo>
                  <a:pt x="28955" y="462534"/>
                </a:moveTo>
                <a:lnTo>
                  <a:pt x="28955" y="348234"/>
                </a:lnTo>
                <a:lnTo>
                  <a:pt x="0" y="348234"/>
                </a:lnTo>
                <a:lnTo>
                  <a:pt x="0" y="462534"/>
                </a:lnTo>
                <a:lnTo>
                  <a:pt x="28955" y="462534"/>
                </a:lnTo>
                <a:close/>
              </a:path>
              <a:path w="3674109" h="2277110">
                <a:moveTo>
                  <a:pt x="28955" y="262128"/>
                </a:moveTo>
                <a:lnTo>
                  <a:pt x="28955" y="147828"/>
                </a:lnTo>
                <a:lnTo>
                  <a:pt x="0" y="147828"/>
                </a:lnTo>
                <a:lnTo>
                  <a:pt x="0" y="262128"/>
                </a:lnTo>
                <a:lnTo>
                  <a:pt x="28955" y="262128"/>
                </a:lnTo>
                <a:close/>
              </a:path>
              <a:path w="3674109" h="2277110">
                <a:moveTo>
                  <a:pt x="80772" y="28194"/>
                </a:moveTo>
                <a:lnTo>
                  <a:pt x="80772" y="0"/>
                </a:lnTo>
                <a:lnTo>
                  <a:pt x="6858" y="0"/>
                </a:lnTo>
                <a:lnTo>
                  <a:pt x="0" y="6096"/>
                </a:lnTo>
                <a:lnTo>
                  <a:pt x="0" y="62484"/>
                </a:lnTo>
                <a:lnTo>
                  <a:pt x="14478" y="62484"/>
                </a:lnTo>
                <a:lnTo>
                  <a:pt x="14478" y="28194"/>
                </a:lnTo>
                <a:lnTo>
                  <a:pt x="28956" y="14478"/>
                </a:lnTo>
                <a:lnTo>
                  <a:pt x="28956" y="28194"/>
                </a:lnTo>
                <a:lnTo>
                  <a:pt x="80772" y="28194"/>
                </a:lnTo>
                <a:close/>
              </a:path>
              <a:path w="3674109" h="2277110">
                <a:moveTo>
                  <a:pt x="28956" y="28194"/>
                </a:moveTo>
                <a:lnTo>
                  <a:pt x="28956" y="14478"/>
                </a:lnTo>
                <a:lnTo>
                  <a:pt x="14478" y="28194"/>
                </a:lnTo>
                <a:lnTo>
                  <a:pt x="28956" y="28194"/>
                </a:lnTo>
                <a:close/>
              </a:path>
              <a:path w="3674109" h="2277110">
                <a:moveTo>
                  <a:pt x="28956" y="62484"/>
                </a:moveTo>
                <a:lnTo>
                  <a:pt x="28956" y="28194"/>
                </a:lnTo>
                <a:lnTo>
                  <a:pt x="14478" y="28194"/>
                </a:lnTo>
                <a:lnTo>
                  <a:pt x="14478" y="62484"/>
                </a:lnTo>
                <a:lnTo>
                  <a:pt x="28956" y="62484"/>
                </a:lnTo>
                <a:close/>
              </a:path>
              <a:path w="3674109" h="2277110">
                <a:moveTo>
                  <a:pt x="280416" y="28194"/>
                </a:moveTo>
                <a:lnTo>
                  <a:pt x="280416" y="0"/>
                </a:lnTo>
                <a:lnTo>
                  <a:pt x="166116" y="0"/>
                </a:lnTo>
                <a:lnTo>
                  <a:pt x="166116" y="28194"/>
                </a:lnTo>
                <a:lnTo>
                  <a:pt x="280416" y="28194"/>
                </a:lnTo>
                <a:close/>
              </a:path>
              <a:path w="3674109" h="2277110">
                <a:moveTo>
                  <a:pt x="480822" y="28194"/>
                </a:moveTo>
                <a:lnTo>
                  <a:pt x="480822" y="0"/>
                </a:lnTo>
                <a:lnTo>
                  <a:pt x="366522" y="0"/>
                </a:lnTo>
                <a:lnTo>
                  <a:pt x="366522" y="28194"/>
                </a:lnTo>
                <a:lnTo>
                  <a:pt x="480822" y="28194"/>
                </a:lnTo>
                <a:close/>
              </a:path>
              <a:path w="3674109" h="2277110">
                <a:moveTo>
                  <a:pt x="680467" y="28194"/>
                </a:moveTo>
                <a:lnTo>
                  <a:pt x="680467" y="0"/>
                </a:lnTo>
                <a:lnTo>
                  <a:pt x="566166" y="0"/>
                </a:lnTo>
                <a:lnTo>
                  <a:pt x="566166" y="28194"/>
                </a:lnTo>
                <a:lnTo>
                  <a:pt x="680467" y="28194"/>
                </a:lnTo>
                <a:close/>
              </a:path>
              <a:path w="3674109" h="2277110">
                <a:moveTo>
                  <a:pt x="880872" y="28194"/>
                </a:moveTo>
                <a:lnTo>
                  <a:pt x="880872" y="0"/>
                </a:lnTo>
                <a:lnTo>
                  <a:pt x="766572" y="0"/>
                </a:lnTo>
                <a:lnTo>
                  <a:pt x="766572" y="28194"/>
                </a:lnTo>
                <a:lnTo>
                  <a:pt x="880872" y="28194"/>
                </a:lnTo>
                <a:close/>
              </a:path>
              <a:path w="3674109" h="2277110">
                <a:moveTo>
                  <a:pt x="1080516" y="28194"/>
                </a:moveTo>
                <a:lnTo>
                  <a:pt x="1080516" y="0"/>
                </a:lnTo>
                <a:lnTo>
                  <a:pt x="966216" y="0"/>
                </a:lnTo>
                <a:lnTo>
                  <a:pt x="966216" y="28194"/>
                </a:lnTo>
                <a:lnTo>
                  <a:pt x="1080516" y="28194"/>
                </a:lnTo>
                <a:close/>
              </a:path>
              <a:path w="3674109" h="2277110">
                <a:moveTo>
                  <a:pt x="1280922" y="28194"/>
                </a:moveTo>
                <a:lnTo>
                  <a:pt x="1280922" y="0"/>
                </a:lnTo>
                <a:lnTo>
                  <a:pt x="1166622" y="0"/>
                </a:lnTo>
                <a:lnTo>
                  <a:pt x="1166622" y="28194"/>
                </a:lnTo>
                <a:lnTo>
                  <a:pt x="1280922" y="28194"/>
                </a:lnTo>
                <a:close/>
              </a:path>
              <a:path w="3674109" h="2277110">
                <a:moveTo>
                  <a:pt x="1480566" y="28194"/>
                </a:moveTo>
                <a:lnTo>
                  <a:pt x="1480566" y="0"/>
                </a:lnTo>
                <a:lnTo>
                  <a:pt x="1366266" y="0"/>
                </a:lnTo>
                <a:lnTo>
                  <a:pt x="1366266" y="28194"/>
                </a:lnTo>
                <a:lnTo>
                  <a:pt x="1480566" y="28194"/>
                </a:lnTo>
                <a:close/>
              </a:path>
              <a:path w="3674109" h="2277110">
                <a:moveTo>
                  <a:pt x="1680972" y="28194"/>
                </a:moveTo>
                <a:lnTo>
                  <a:pt x="1680972" y="0"/>
                </a:lnTo>
                <a:lnTo>
                  <a:pt x="1566672" y="0"/>
                </a:lnTo>
                <a:lnTo>
                  <a:pt x="1566672" y="28194"/>
                </a:lnTo>
                <a:lnTo>
                  <a:pt x="1680972" y="28194"/>
                </a:lnTo>
                <a:close/>
              </a:path>
              <a:path w="3674109" h="2277110">
                <a:moveTo>
                  <a:pt x="1880616" y="28194"/>
                </a:moveTo>
                <a:lnTo>
                  <a:pt x="1880616" y="0"/>
                </a:lnTo>
                <a:lnTo>
                  <a:pt x="1766316" y="0"/>
                </a:lnTo>
                <a:lnTo>
                  <a:pt x="1766316" y="28194"/>
                </a:lnTo>
                <a:lnTo>
                  <a:pt x="1880616" y="28194"/>
                </a:lnTo>
                <a:close/>
              </a:path>
              <a:path w="3674109" h="2277110">
                <a:moveTo>
                  <a:pt x="2080260" y="28194"/>
                </a:moveTo>
                <a:lnTo>
                  <a:pt x="2080260" y="0"/>
                </a:lnTo>
                <a:lnTo>
                  <a:pt x="1966722" y="0"/>
                </a:lnTo>
                <a:lnTo>
                  <a:pt x="1966722" y="28194"/>
                </a:lnTo>
                <a:lnTo>
                  <a:pt x="2080260" y="28194"/>
                </a:lnTo>
                <a:close/>
              </a:path>
              <a:path w="3674109" h="2277110">
                <a:moveTo>
                  <a:pt x="2280666" y="28194"/>
                </a:moveTo>
                <a:lnTo>
                  <a:pt x="2280666" y="0"/>
                </a:lnTo>
                <a:lnTo>
                  <a:pt x="2166366" y="0"/>
                </a:lnTo>
                <a:lnTo>
                  <a:pt x="2166366" y="28194"/>
                </a:lnTo>
                <a:lnTo>
                  <a:pt x="2280666" y="28194"/>
                </a:lnTo>
                <a:close/>
              </a:path>
              <a:path w="3674109" h="2277110">
                <a:moveTo>
                  <a:pt x="2480310" y="28194"/>
                </a:moveTo>
                <a:lnTo>
                  <a:pt x="2480310" y="0"/>
                </a:lnTo>
                <a:lnTo>
                  <a:pt x="2366010" y="0"/>
                </a:lnTo>
                <a:lnTo>
                  <a:pt x="2366010" y="28194"/>
                </a:lnTo>
                <a:lnTo>
                  <a:pt x="2480310" y="28194"/>
                </a:lnTo>
                <a:close/>
              </a:path>
              <a:path w="3674109" h="2277110">
                <a:moveTo>
                  <a:pt x="2680716" y="28194"/>
                </a:moveTo>
                <a:lnTo>
                  <a:pt x="2680716" y="0"/>
                </a:lnTo>
                <a:lnTo>
                  <a:pt x="2566416" y="0"/>
                </a:lnTo>
                <a:lnTo>
                  <a:pt x="2566416" y="28194"/>
                </a:lnTo>
                <a:lnTo>
                  <a:pt x="2680716" y="28194"/>
                </a:lnTo>
                <a:close/>
              </a:path>
              <a:path w="3674109" h="2277110">
                <a:moveTo>
                  <a:pt x="2880360" y="28194"/>
                </a:moveTo>
                <a:lnTo>
                  <a:pt x="2880360" y="0"/>
                </a:lnTo>
                <a:lnTo>
                  <a:pt x="2766060" y="0"/>
                </a:lnTo>
                <a:lnTo>
                  <a:pt x="2766060" y="28194"/>
                </a:lnTo>
                <a:lnTo>
                  <a:pt x="2880360" y="28194"/>
                </a:lnTo>
                <a:close/>
              </a:path>
              <a:path w="3674109" h="2277110">
                <a:moveTo>
                  <a:pt x="3080766" y="28194"/>
                </a:moveTo>
                <a:lnTo>
                  <a:pt x="3080766" y="0"/>
                </a:lnTo>
                <a:lnTo>
                  <a:pt x="2966466" y="0"/>
                </a:lnTo>
                <a:lnTo>
                  <a:pt x="2966466" y="28194"/>
                </a:lnTo>
                <a:lnTo>
                  <a:pt x="3080766" y="28194"/>
                </a:lnTo>
                <a:close/>
              </a:path>
              <a:path w="3674109" h="2277110">
                <a:moveTo>
                  <a:pt x="3280410" y="28194"/>
                </a:moveTo>
                <a:lnTo>
                  <a:pt x="3280410" y="0"/>
                </a:lnTo>
                <a:lnTo>
                  <a:pt x="3166110" y="0"/>
                </a:lnTo>
                <a:lnTo>
                  <a:pt x="3166110" y="28194"/>
                </a:lnTo>
                <a:lnTo>
                  <a:pt x="3280410" y="28194"/>
                </a:lnTo>
                <a:close/>
              </a:path>
              <a:path w="3674109" h="2277110">
                <a:moveTo>
                  <a:pt x="3480816" y="28194"/>
                </a:moveTo>
                <a:lnTo>
                  <a:pt x="3480816" y="0"/>
                </a:lnTo>
                <a:lnTo>
                  <a:pt x="3366516" y="0"/>
                </a:lnTo>
                <a:lnTo>
                  <a:pt x="3366516" y="28194"/>
                </a:lnTo>
                <a:lnTo>
                  <a:pt x="3480816" y="28194"/>
                </a:lnTo>
                <a:close/>
              </a:path>
              <a:path w="3674109" h="2277110">
                <a:moveTo>
                  <a:pt x="3673602" y="35814"/>
                </a:moveTo>
                <a:lnTo>
                  <a:pt x="3673602" y="6096"/>
                </a:lnTo>
                <a:lnTo>
                  <a:pt x="3666744" y="0"/>
                </a:lnTo>
                <a:lnTo>
                  <a:pt x="3566160" y="0"/>
                </a:lnTo>
                <a:lnTo>
                  <a:pt x="3566160" y="28194"/>
                </a:lnTo>
                <a:lnTo>
                  <a:pt x="3644646" y="28194"/>
                </a:lnTo>
                <a:lnTo>
                  <a:pt x="3644646" y="14478"/>
                </a:lnTo>
                <a:lnTo>
                  <a:pt x="3659124" y="28194"/>
                </a:lnTo>
                <a:lnTo>
                  <a:pt x="3659124" y="35814"/>
                </a:lnTo>
                <a:lnTo>
                  <a:pt x="3673602" y="35814"/>
                </a:lnTo>
                <a:close/>
              </a:path>
              <a:path w="3674109" h="2277110">
                <a:moveTo>
                  <a:pt x="3659124" y="28194"/>
                </a:moveTo>
                <a:lnTo>
                  <a:pt x="3644646" y="14478"/>
                </a:lnTo>
                <a:lnTo>
                  <a:pt x="3644646" y="28194"/>
                </a:lnTo>
                <a:lnTo>
                  <a:pt x="3659124" y="28194"/>
                </a:lnTo>
                <a:close/>
              </a:path>
              <a:path w="3674109" h="2277110">
                <a:moveTo>
                  <a:pt x="3659124" y="35814"/>
                </a:moveTo>
                <a:lnTo>
                  <a:pt x="3659124" y="28194"/>
                </a:lnTo>
                <a:lnTo>
                  <a:pt x="3644646" y="28194"/>
                </a:lnTo>
                <a:lnTo>
                  <a:pt x="3644646" y="35814"/>
                </a:lnTo>
                <a:lnTo>
                  <a:pt x="3659124" y="35814"/>
                </a:lnTo>
                <a:close/>
              </a:path>
              <a:path w="3674109" h="2277110">
                <a:moveTo>
                  <a:pt x="3673602" y="236220"/>
                </a:moveTo>
                <a:lnTo>
                  <a:pt x="3673602" y="121920"/>
                </a:lnTo>
                <a:lnTo>
                  <a:pt x="3644646" y="121920"/>
                </a:lnTo>
                <a:lnTo>
                  <a:pt x="3644646" y="236220"/>
                </a:lnTo>
                <a:lnTo>
                  <a:pt x="3673602" y="236220"/>
                </a:lnTo>
                <a:close/>
              </a:path>
              <a:path w="3674109" h="2277110">
                <a:moveTo>
                  <a:pt x="3673602" y="435863"/>
                </a:moveTo>
                <a:lnTo>
                  <a:pt x="3673602" y="321564"/>
                </a:lnTo>
                <a:lnTo>
                  <a:pt x="3644646" y="321564"/>
                </a:lnTo>
                <a:lnTo>
                  <a:pt x="3644646" y="435863"/>
                </a:lnTo>
                <a:lnTo>
                  <a:pt x="3673602" y="435863"/>
                </a:lnTo>
                <a:close/>
              </a:path>
              <a:path w="3674109" h="2277110">
                <a:moveTo>
                  <a:pt x="3673602" y="636270"/>
                </a:moveTo>
                <a:lnTo>
                  <a:pt x="3673602" y="521970"/>
                </a:lnTo>
                <a:lnTo>
                  <a:pt x="3644646" y="521970"/>
                </a:lnTo>
                <a:lnTo>
                  <a:pt x="3644646" y="636270"/>
                </a:lnTo>
                <a:lnTo>
                  <a:pt x="3673602" y="636270"/>
                </a:lnTo>
                <a:close/>
              </a:path>
              <a:path w="3674109" h="2277110">
                <a:moveTo>
                  <a:pt x="3673602" y="835914"/>
                </a:moveTo>
                <a:lnTo>
                  <a:pt x="3673602" y="721614"/>
                </a:lnTo>
                <a:lnTo>
                  <a:pt x="3644646" y="721614"/>
                </a:lnTo>
                <a:lnTo>
                  <a:pt x="3644646" y="835914"/>
                </a:lnTo>
                <a:lnTo>
                  <a:pt x="3673602" y="835914"/>
                </a:lnTo>
                <a:close/>
              </a:path>
              <a:path w="3674109" h="2277110">
                <a:moveTo>
                  <a:pt x="3673602" y="1035558"/>
                </a:moveTo>
                <a:lnTo>
                  <a:pt x="3673602" y="921258"/>
                </a:lnTo>
                <a:lnTo>
                  <a:pt x="3644646" y="921258"/>
                </a:lnTo>
                <a:lnTo>
                  <a:pt x="3644646" y="1035558"/>
                </a:lnTo>
                <a:lnTo>
                  <a:pt x="3673602" y="1035558"/>
                </a:lnTo>
                <a:close/>
              </a:path>
              <a:path w="3674109" h="2277110">
                <a:moveTo>
                  <a:pt x="3673602" y="1235964"/>
                </a:moveTo>
                <a:lnTo>
                  <a:pt x="3673602" y="1121664"/>
                </a:lnTo>
                <a:lnTo>
                  <a:pt x="3644646" y="1121664"/>
                </a:lnTo>
                <a:lnTo>
                  <a:pt x="3644646" y="1235964"/>
                </a:lnTo>
                <a:lnTo>
                  <a:pt x="3673602" y="1235964"/>
                </a:lnTo>
                <a:close/>
              </a:path>
              <a:path w="3674109" h="2277110">
                <a:moveTo>
                  <a:pt x="3673602" y="1435608"/>
                </a:moveTo>
                <a:lnTo>
                  <a:pt x="3673602" y="1321308"/>
                </a:lnTo>
                <a:lnTo>
                  <a:pt x="3644646" y="1321308"/>
                </a:lnTo>
                <a:lnTo>
                  <a:pt x="3644646" y="1435608"/>
                </a:lnTo>
                <a:lnTo>
                  <a:pt x="3673602" y="1435608"/>
                </a:lnTo>
                <a:close/>
              </a:path>
              <a:path w="3674109" h="2277110">
                <a:moveTo>
                  <a:pt x="3673602" y="1636014"/>
                </a:moveTo>
                <a:lnTo>
                  <a:pt x="3673602" y="1521714"/>
                </a:lnTo>
                <a:lnTo>
                  <a:pt x="3644646" y="1521714"/>
                </a:lnTo>
                <a:lnTo>
                  <a:pt x="3644646" y="1636014"/>
                </a:lnTo>
                <a:lnTo>
                  <a:pt x="3673602" y="1636014"/>
                </a:lnTo>
                <a:close/>
              </a:path>
              <a:path w="3674109" h="2277110">
                <a:moveTo>
                  <a:pt x="3673602" y="1835658"/>
                </a:moveTo>
                <a:lnTo>
                  <a:pt x="3673602" y="1721358"/>
                </a:lnTo>
                <a:lnTo>
                  <a:pt x="3644646" y="1721358"/>
                </a:lnTo>
                <a:lnTo>
                  <a:pt x="3644646" y="1835658"/>
                </a:lnTo>
                <a:lnTo>
                  <a:pt x="3673602" y="1835658"/>
                </a:lnTo>
                <a:close/>
              </a:path>
              <a:path w="3674109" h="2277110">
                <a:moveTo>
                  <a:pt x="3673602" y="2036064"/>
                </a:moveTo>
                <a:lnTo>
                  <a:pt x="3673602" y="1921764"/>
                </a:lnTo>
                <a:lnTo>
                  <a:pt x="3644646" y="1921764"/>
                </a:lnTo>
                <a:lnTo>
                  <a:pt x="3644646" y="2036064"/>
                </a:lnTo>
                <a:lnTo>
                  <a:pt x="3673602" y="2036064"/>
                </a:lnTo>
                <a:close/>
              </a:path>
              <a:path w="3674109" h="2277110">
                <a:moveTo>
                  <a:pt x="3673602" y="2235708"/>
                </a:moveTo>
                <a:lnTo>
                  <a:pt x="3673602" y="2121408"/>
                </a:lnTo>
                <a:lnTo>
                  <a:pt x="3644646" y="2121408"/>
                </a:lnTo>
                <a:lnTo>
                  <a:pt x="3644646" y="2235708"/>
                </a:lnTo>
                <a:lnTo>
                  <a:pt x="3673602" y="2235708"/>
                </a:lnTo>
                <a:close/>
              </a:path>
              <a:path w="3674109" h="2277110">
                <a:moveTo>
                  <a:pt x="3599688" y="2276855"/>
                </a:moveTo>
                <a:lnTo>
                  <a:pt x="3599688" y="2247900"/>
                </a:lnTo>
                <a:lnTo>
                  <a:pt x="3485388" y="2247900"/>
                </a:lnTo>
                <a:lnTo>
                  <a:pt x="3485388" y="2276855"/>
                </a:lnTo>
                <a:lnTo>
                  <a:pt x="3599688" y="2276855"/>
                </a:lnTo>
                <a:close/>
              </a:path>
              <a:path w="3674109" h="2277110">
                <a:moveTo>
                  <a:pt x="3400044" y="2276855"/>
                </a:moveTo>
                <a:lnTo>
                  <a:pt x="3400044" y="2247900"/>
                </a:lnTo>
                <a:lnTo>
                  <a:pt x="3285744" y="2247900"/>
                </a:lnTo>
                <a:lnTo>
                  <a:pt x="3285744" y="2276855"/>
                </a:lnTo>
                <a:lnTo>
                  <a:pt x="3400044" y="2276855"/>
                </a:lnTo>
                <a:close/>
              </a:path>
              <a:path w="3674109" h="2277110">
                <a:moveTo>
                  <a:pt x="3199638" y="2276855"/>
                </a:moveTo>
                <a:lnTo>
                  <a:pt x="3199638" y="2247900"/>
                </a:lnTo>
                <a:lnTo>
                  <a:pt x="3085338" y="2247900"/>
                </a:lnTo>
                <a:lnTo>
                  <a:pt x="3085338" y="2276855"/>
                </a:lnTo>
                <a:lnTo>
                  <a:pt x="3199638" y="2276855"/>
                </a:lnTo>
                <a:close/>
              </a:path>
              <a:path w="3674109" h="2277110">
                <a:moveTo>
                  <a:pt x="2999994" y="2276855"/>
                </a:moveTo>
                <a:lnTo>
                  <a:pt x="2999994" y="2247900"/>
                </a:lnTo>
                <a:lnTo>
                  <a:pt x="2885694" y="2247900"/>
                </a:lnTo>
                <a:lnTo>
                  <a:pt x="2885694" y="2276855"/>
                </a:lnTo>
                <a:lnTo>
                  <a:pt x="2999994" y="2276855"/>
                </a:lnTo>
                <a:close/>
              </a:path>
              <a:path w="3674109" h="2277110">
                <a:moveTo>
                  <a:pt x="2799588" y="2276855"/>
                </a:moveTo>
                <a:lnTo>
                  <a:pt x="2799588" y="2247900"/>
                </a:lnTo>
                <a:lnTo>
                  <a:pt x="2685288" y="2247900"/>
                </a:lnTo>
                <a:lnTo>
                  <a:pt x="2685288" y="2276855"/>
                </a:lnTo>
                <a:lnTo>
                  <a:pt x="2799588" y="2276855"/>
                </a:lnTo>
                <a:close/>
              </a:path>
              <a:path w="3674109" h="2277110">
                <a:moveTo>
                  <a:pt x="2599944" y="2276855"/>
                </a:moveTo>
                <a:lnTo>
                  <a:pt x="2599944" y="2247900"/>
                </a:lnTo>
                <a:lnTo>
                  <a:pt x="2485644" y="2247900"/>
                </a:lnTo>
                <a:lnTo>
                  <a:pt x="2485644" y="2276855"/>
                </a:lnTo>
                <a:lnTo>
                  <a:pt x="2599944" y="2276855"/>
                </a:lnTo>
                <a:close/>
              </a:path>
              <a:path w="3674109" h="2277110">
                <a:moveTo>
                  <a:pt x="2399538" y="2276855"/>
                </a:moveTo>
                <a:lnTo>
                  <a:pt x="2399538" y="2247900"/>
                </a:lnTo>
                <a:lnTo>
                  <a:pt x="2285238" y="2247900"/>
                </a:lnTo>
                <a:lnTo>
                  <a:pt x="2285238" y="2276855"/>
                </a:lnTo>
                <a:lnTo>
                  <a:pt x="2399538" y="2276855"/>
                </a:lnTo>
                <a:close/>
              </a:path>
              <a:path w="3674109" h="2277110">
                <a:moveTo>
                  <a:pt x="2199894" y="2276855"/>
                </a:moveTo>
                <a:lnTo>
                  <a:pt x="2199894" y="2247900"/>
                </a:lnTo>
                <a:lnTo>
                  <a:pt x="2085594" y="2247900"/>
                </a:lnTo>
                <a:lnTo>
                  <a:pt x="2085594" y="2276855"/>
                </a:lnTo>
                <a:lnTo>
                  <a:pt x="2199894" y="2276855"/>
                </a:lnTo>
                <a:close/>
              </a:path>
              <a:path w="3674109" h="2277110">
                <a:moveTo>
                  <a:pt x="1999488" y="2276855"/>
                </a:moveTo>
                <a:lnTo>
                  <a:pt x="1999488" y="2247900"/>
                </a:lnTo>
                <a:lnTo>
                  <a:pt x="1885188" y="2247900"/>
                </a:lnTo>
                <a:lnTo>
                  <a:pt x="1885188" y="2276855"/>
                </a:lnTo>
                <a:lnTo>
                  <a:pt x="1999488" y="2276855"/>
                </a:lnTo>
                <a:close/>
              </a:path>
              <a:path w="3674109" h="2277110">
                <a:moveTo>
                  <a:pt x="1799844" y="2276855"/>
                </a:moveTo>
                <a:lnTo>
                  <a:pt x="1799844" y="2247900"/>
                </a:lnTo>
                <a:lnTo>
                  <a:pt x="1685544" y="2247900"/>
                </a:lnTo>
                <a:lnTo>
                  <a:pt x="1685544" y="2276855"/>
                </a:lnTo>
                <a:lnTo>
                  <a:pt x="1799844" y="2276855"/>
                </a:lnTo>
                <a:close/>
              </a:path>
              <a:path w="3674109" h="2277110">
                <a:moveTo>
                  <a:pt x="1599438" y="2276855"/>
                </a:moveTo>
                <a:lnTo>
                  <a:pt x="1599438" y="2247900"/>
                </a:lnTo>
                <a:lnTo>
                  <a:pt x="1485138" y="2247900"/>
                </a:lnTo>
                <a:lnTo>
                  <a:pt x="1485138" y="2276855"/>
                </a:lnTo>
                <a:lnTo>
                  <a:pt x="1599438" y="2276855"/>
                </a:lnTo>
                <a:close/>
              </a:path>
              <a:path w="3674109" h="2277110">
                <a:moveTo>
                  <a:pt x="1399794" y="2276855"/>
                </a:moveTo>
                <a:lnTo>
                  <a:pt x="1399794" y="2247900"/>
                </a:lnTo>
                <a:lnTo>
                  <a:pt x="1285494" y="2247900"/>
                </a:lnTo>
                <a:lnTo>
                  <a:pt x="1285494" y="2276855"/>
                </a:lnTo>
                <a:lnTo>
                  <a:pt x="1399794" y="2276855"/>
                </a:lnTo>
                <a:close/>
              </a:path>
              <a:path w="3674109" h="2277110">
                <a:moveTo>
                  <a:pt x="1199388" y="2276855"/>
                </a:moveTo>
                <a:lnTo>
                  <a:pt x="1199388" y="2247900"/>
                </a:lnTo>
                <a:lnTo>
                  <a:pt x="1085088" y="2247900"/>
                </a:lnTo>
                <a:lnTo>
                  <a:pt x="1085088" y="2276855"/>
                </a:lnTo>
                <a:lnTo>
                  <a:pt x="1199388" y="2276855"/>
                </a:lnTo>
                <a:close/>
              </a:path>
              <a:path w="3674109" h="2277110">
                <a:moveTo>
                  <a:pt x="999744" y="2276855"/>
                </a:moveTo>
                <a:lnTo>
                  <a:pt x="999744" y="2247900"/>
                </a:lnTo>
                <a:lnTo>
                  <a:pt x="885444" y="2247900"/>
                </a:lnTo>
                <a:lnTo>
                  <a:pt x="885444" y="2276855"/>
                </a:lnTo>
                <a:lnTo>
                  <a:pt x="999744" y="2276855"/>
                </a:lnTo>
                <a:close/>
              </a:path>
              <a:path w="3674109" h="2277110">
                <a:moveTo>
                  <a:pt x="800100" y="2276855"/>
                </a:moveTo>
                <a:lnTo>
                  <a:pt x="800100" y="2247900"/>
                </a:lnTo>
                <a:lnTo>
                  <a:pt x="685800" y="2247900"/>
                </a:lnTo>
                <a:lnTo>
                  <a:pt x="685800" y="2276855"/>
                </a:lnTo>
                <a:lnTo>
                  <a:pt x="800100" y="2276855"/>
                </a:lnTo>
                <a:close/>
              </a:path>
              <a:path w="3674109" h="2277110">
                <a:moveTo>
                  <a:pt x="599694" y="2276855"/>
                </a:moveTo>
                <a:lnTo>
                  <a:pt x="599694" y="2247900"/>
                </a:lnTo>
                <a:lnTo>
                  <a:pt x="485394" y="2247900"/>
                </a:lnTo>
                <a:lnTo>
                  <a:pt x="485394" y="2276855"/>
                </a:lnTo>
                <a:lnTo>
                  <a:pt x="599694" y="2276855"/>
                </a:lnTo>
                <a:close/>
              </a:path>
              <a:path w="3674109" h="2277110">
                <a:moveTo>
                  <a:pt x="400050" y="2276855"/>
                </a:moveTo>
                <a:lnTo>
                  <a:pt x="400050" y="2247900"/>
                </a:lnTo>
                <a:lnTo>
                  <a:pt x="285750" y="2247900"/>
                </a:lnTo>
                <a:lnTo>
                  <a:pt x="285750" y="2276855"/>
                </a:lnTo>
                <a:lnTo>
                  <a:pt x="400050" y="2276855"/>
                </a:lnTo>
                <a:close/>
              </a:path>
              <a:path w="3674109" h="2277110">
                <a:moveTo>
                  <a:pt x="199644" y="2276855"/>
                </a:moveTo>
                <a:lnTo>
                  <a:pt x="199644" y="2247900"/>
                </a:lnTo>
                <a:lnTo>
                  <a:pt x="85344" y="2247900"/>
                </a:lnTo>
                <a:lnTo>
                  <a:pt x="85344" y="2276855"/>
                </a:lnTo>
                <a:lnTo>
                  <a:pt x="199644" y="2276855"/>
                </a:lnTo>
                <a:close/>
              </a:path>
            </a:pathLst>
          </a:custGeom>
          <a:solidFill>
            <a:srgbClr val="FF0000"/>
          </a:solidFill>
          <a:ln>
            <a:solidFill>
              <a:srgbClr val="00B050"/>
            </a:solidFill>
          </a:ln>
        </p:spPr>
        <p:txBody>
          <a:bodyPr wrap="square" lIns="0" tIns="0" rIns="0" bIns="0" rtlCol="0"/>
          <a:lstStyle/>
          <a:p>
            <a:endParaRPr/>
          </a:p>
        </p:txBody>
      </p:sp>
    </p:spTree>
    <p:extLst>
      <p:ext uri="{BB962C8B-B14F-4D97-AF65-F5344CB8AC3E}">
        <p14:creationId xmlns:p14="http://schemas.microsoft.com/office/powerpoint/2010/main" val="17960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P spid="22" grpId="0"/>
      <p:bldP spid="23" grpId="0" animBg="1"/>
      <p:bldP spid="24" grpId="0" animBg="1"/>
      <p:bldP spid="28" grpId="0"/>
      <p:bldP spid="33" grpId="0"/>
      <p:bldP spid="40" grpId="0" animBg="1"/>
      <p:bldP spid="54" grpId="0"/>
      <p:bldP spid="60" grpId="0"/>
      <p:bldP spid="67" grpId="0" animBg="1"/>
      <p:bldP spid="75" grpId="0" animBg="1"/>
      <p:bldP spid="76" grpId="0" animBg="1"/>
      <p:bldP spid="18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5311" y="301244"/>
            <a:ext cx="6584315" cy="605155"/>
          </a:xfrm>
          <a:prstGeom prst="rect">
            <a:avLst/>
          </a:prstGeom>
        </p:spPr>
        <p:txBody>
          <a:bodyPr vert="horz" wrap="square" lIns="0" tIns="13335" rIns="0" bIns="0" rtlCol="0">
            <a:spAutoFit/>
          </a:bodyPr>
          <a:lstStyle/>
          <a:p>
            <a:pPr marL="12700">
              <a:lnSpc>
                <a:spcPct val="100000"/>
              </a:lnSpc>
              <a:spcBef>
                <a:spcPts val="105"/>
              </a:spcBef>
            </a:pPr>
            <a:r>
              <a:rPr dirty="0"/>
              <a:t>Anatomy</a:t>
            </a:r>
            <a:r>
              <a:rPr spc="-10" dirty="0"/>
              <a:t> </a:t>
            </a:r>
            <a:r>
              <a:rPr dirty="0"/>
              <a:t>of</a:t>
            </a:r>
            <a:r>
              <a:rPr spc="5" dirty="0"/>
              <a:t> </a:t>
            </a:r>
            <a:r>
              <a:rPr dirty="0"/>
              <a:t>a</a:t>
            </a:r>
            <a:r>
              <a:rPr spc="-5" dirty="0"/>
              <a:t> </a:t>
            </a:r>
            <a:r>
              <a:rPr dirty="0"/>
              <a:t>Wireline</a:t>
            </a:r>
            <a:r>
              <a:rPr spc="-40" dirty="0"/>
              <a:t> </a:t>
            </a:r>
            <a:r>
              <a:rPr dirty="0"/>
              <a:t>Link</a:t>
            </a:r>
          </a:p>
        </p:txBody>
      </p:sp>
      <p:sp>
        <p:nvSpPr>
          <p:cNvPr id="3" name="object 3"/>
          <p:cNvSpPr/>
          <p:nvPr/>
        </p:nvSpPr>
        <p:spPr>
          <a:xfrm>
            <a:off x="1409191" y="2259922"/>
            <a:ext cx="760730" cy="1858010"/>
          </a:xfrm>
          <a:custGeom>
            <a:avLst/>
            <a:gdLst/>
            <a:ahLst/>
            <a:cxnLst/>
            <a:rect l="l" t="t" r="r" b="b"/>
            <a:pathLst>
              <a:path w="760730" h="1858010">
                <a:moveTo>
                  <a:pt x="760476" y="1409699"/>
                </a:moveTo>
                <a:lnTo>
                  <a:pt x="760476" y="446531"/>
                </a:lnTo>
                <a:lnTo>
                  <a:pt x="21336" y="1523"/>
                </a:lnTo>
                <a:lnTo>
                  <a:pt x="18288" y="0"/>
                </a:lnTo>
                <a:lnTo>
                  <a:pt x="12191" y="0"/>
                </a:lnTo>
                <a:lnTo>
                  <a:pt x="7619" y="1523"/>
                </a:lnTo>
                <a:lnTo>
                  <a:pt x="3047" y="4571"/>
                </a:lnTo>
                <a:lnTo>
                  <a:pt x="0" y="9143"/>
                </a:lnTo>
                <a:lnTo>
                  <a:pt x="0" y="1847088"/>
                </a:lnTo>
                <a:lnTo>
                  <a:pt x="3048" y="1851659"/>
                </a:lnTo>
                <a:lnTo>
                  <a:pt x="7620" y="1854707"/>
                </a:lnTo>
                <a:lnTo>
                  <a:pt x="7620" y="25907"/>
                </a:lnTo>
                <a:lnTo>
                  <a:pt x="28955" y="13715"/>
                </a:lnTo>
                <a:lnTo>
                  <a:pt x="28955" y="38709"/>
                </a:lnTo>
                <a:lnTo>
                  <a:pt x="731520" y="460247"/>
                </a:lnTo>
                <a:lnTo>
                  <a:pt x="731520" y="452627"/>
                </a:lnTo>
                <a:lnTo>
                  <a:pt x="739140" y="464819"/>
                </a:lnTo>
                <a:lnTo>
                  <a:pt x="739140" y="1425521"/>
                </a:lnTo>
                <a:lnTo>
                  <a:pt x="752856" y="1417319"/>
                </a:lnTo>
                <a:lnTo>
                  <a:pt x="757428" y="1414271"/>
                </a:lnTo>
                <a:lnTo>
                  <a:pt x="760476" y="1409699"/>
                </a:lnTo>
                <a:close/>
              </a:path>
              <a:path w="760730" h="1858010">
                <a:moveTo>
                  <a:pt x="28955" y="38709"/>
                </a:moveTo>
                <a:lnTo>
                  <a:pt x="28955" y="13715"/>
                </a:lnTo>
                <a:lnTo>
                  <a:pt x="7620" y="25907"/>
                </a:lnTo>
                <a:lnTo>
                  <a:pt x="28955" y="38709"/>
                </a:lnTo>
                <a:close/>
              </a:path>
              <a:path w="760730" h="1858010">
                <a:moveTo>
                  <a:pt x="28956" y="1817566"/>
                </a:moveTo>
                <a:lnTo>
                  <a:pt x="28955" y="38709"/>
                </a:lnTo>
                <a:lnTo>
                  <a:pt x="7620" y="25907"/>
                </a:lnTo>
                <a:lnTo>
                  <a:pt x="7620" y="1830323"/>
                </a:lnTo>
                <a:lnTo>
                  <a:pt x="28956" y="1817566"/>
                </a:lnTo>
                <a:close/>
              </a:path>
              <a:path w="760730" h="1858010">
                <a:moveTo>
                  <a:pt x="739140" y="1392935"/>
                </a:moveTo>
                <a:lnTo>
                  <a:pt x="7620" y="1830323"/>
                </a:lnTo>
                <a:lnTo>
                  <a:pt x="28956" y="1842515"/>
                </a:lnTo>
                <a:lnTo>
                  <a:pt x="28956" y="1850151"/>
                </a:lnTo>
                <a:lnTo>
                  <a:pt x="731520" y="1430077"/>
                </a:lnTo>
                <a:lnTo>
                  <a:pt x="731520" y="1405127"/>
                </a:lnTo>
                <a:lnTo>
                  <a:pt x="739140" y="1392935"/>
                </a:lnTo>
                <a:close/>
              </a:path>
              <a:path w="760730" h="1858010">
                <a:moveTo>
                  <a:pt x="28956" y="1850151"/>
                </a:moveTo>
                <a:lnTo>
                  <a:pt x="28956" y="1842515"/>
                </a:lnTo>
                <a:lnTo>
                  <a:pt x="7620" y="1830323"/>
                </a:lnTo>
                <a:lnTo>
                  <a:pt x="7620" y="1854707"/>
                </a:lnTo>
                <a:lnTo>
                  <a:pt x="12192" y="1857755"/>
                </a:lnTo>
                <a:lnTo>
                  <a:pt x="18288" y="1857755"/>
                </a:lnTo>
                <a:lnTo>
                  <a:pt x="21336" y="1854708"/>
                </a:lnTo>
                <a:lnTo>
                  <a:pt x="28956" y="1850151"/>
                </a:lnTo>
                <a:close/>
              </a:path>
              <a:path w="760730" h="1858010">
                <a:moveTo>
                  <a:pt x="739140" y="464819"/>
                </a:moveTo>
                <a:lnTo>
                  <a:pt x="731520" y="452627"/>
                </a:lnTo>
                <a:lnTo>
                  <a:pt x="731520" y="460247"/>
                </a:lnTo>
                <a:lnTo>
                  <a:pt x="739140" y="464819"/>
                </a:lnTo>
                <a:close/>
              </a:path>
              <a:path w="760730" h="1858010">
                <a:moveTo>
                  <a:pt x="739140" y="1392935"/>
                </a:moveTo>
                <a:lnTo>
                  <a:pt x="739140" y="464819"/>
                </a:lnTo>
                <a:lnTo>
                  <a:pt x="731520" y="460247"/>
                </a:lnTo>
                <a:lnTo>
                  <a:pt x="731520" y="1397492"/>
                </a:lnTo>
                <a:lnTo>
                  <a:pt x="739140" y="1392935"/>
                </a:lnTo>
                <a:close/>
              </a:path>
              <a:path w="760730" h="1858010">
                <a:moveTo>
                  <a:pt x="739140" y="1425521"/>
                </a:moveTo>
                <a:lnTo>
                  <a:pt x="739140" y="1392935"/>
                </a:lnTo>
                <a:lnTo>
                  <a:pt x="731520" y="1405127"/>
                </a:lnTo>
                <a:lnTo>
                  <a:pt x="731520" y="1430077"/>
                </a:lnTo>
                <a:lnTo>
                  <a:pt x="739140" y="1425521"/>
                </a:lnTo>
                <a:close/>
              </a:path>
            </a:pathLst>
          </a:custGeom>
          <a:solidFill>
            <a:srgbClr val="000000"/>
          </a:solidFill>
        </p:spPr>
        <p:txBody>
          <a:bodyPr wrap="square" lIns="0" tIns="0" rIns="0" bIns="0" rtlCol="0"/>
          <a:lstStyle/>
          <a:p>
            <a:endParaRPr/>
          </a:p>
        </p:txBody>
      </p:sp>
      <p:sp>
        <p:nvSpPr>
          <p:cNvPr id="4" name="object 4"/>
          <p:cNvSpPr txBox="1"/>
          <p:nvPr/>
        </p:nvSpPr>
        <p:spPr>
          <a:xfrm>
            <a:off x="1578859" y="2829390"/>
            <a:ext cx="369332" cy="833428"/>
          </a:xfrm>
          <a:prstGeom prst="rect">
            <a:avLst/>
          </a:prstGeom>
        </p:spPr>
        <p:txBody>
          <a:bodyPr vert="vert" wrap="square" lIns="0" tIns="13970" rIns="0" bIns="0" rtlCol="0">
            <a:spAutoFit/>
          </a:bodyPr>
          <a:lstStyle/>
          <a:p>
            <a:pPr marL="12700">
              <a:lnSpc>
                <a:spcPct val="100000"/>
              </a:lnSpc>
              <a:spcBef>
                <a:spcPts val="110"/>
              </a:spcBef>
            </a:pPr>
            <a:r>
              <a:rPr sz="2400" dirty="0">
                <a:latin typeface="Verdana"/>
                <a:cs typeface="Verdana"/>
              </a:rPr>
              <a:t>MUX</a:t>
            </a:r>
          </a:p>
        </p:txBody>
      </p:sp>
      <p:sp>
        <p:nvSpPr>
          <p:cNvPr id="5" name="object 5"/>
          <p:cNvSpPr/>
          <p:nvPr/>
        </p:nvSpPr>
        <p:spPr>
          <a:xfrm>
            <a:off x="3120643" y="2764367"/>
            <a:ext cx="852169" cy="853440"/>
          </a:xfrm>
          <a:custGeom>
            <a:avLst/>
            <a:gdLst/>
            <a:ahLst/>
            <a:cxnLst/>
            <a:rect l="l" t="t" r="r" b="b"/>
            <a:pathLst>
              <a:path w="852170" h="853439">
                <a:moveTo>
                  <a:pt x="851916" y="431291"/>
                </a:moveTo>
                <a:lnTo>
                  <a:pt x="851916" y="420623"/>
                </a:lnTo>
                <a:lnTo>
                  <a:pt x="848868" y="416051"/>
                </a:lnTo>
                <a:lnTo>
                  <a:pt x="842772" y="414527"/>
                </a:lnTo>
                <a:lnTo>
                  <a:pt x="21336" y="3047"/>
                </a:lnTo>
                <a:lnTo>
                  <a:pt x="16764" y="0"/>
                </a:lnTo>
                <a:lnTo>
                  <a:pt x="10667" y="0"/>
                </a:lnTo>
                <a:lnTo>
                  <a:pt x="6095" y="3047"/>
                </a:lnTo>
                <a:lnTo>
                  <a:pt x="3047" y="6095"/>
                </a:lnTo>
                <a:lnTo>
                  <a:pt x="0" y="10667"/>
                </a:lnTo>
                <a:lnTo>
                  <a:pt x="0" y="842771"/>
                </a:lnTo>
                <a:lnTo>
                  <a:pt x="3048" y="847343"/>
                </a:lnTo>
                <a:lnTo>
                  <a:pt x="6096" y="850391"/>
                </a:lnTo>
                <a:lnTo>
                  <a:pt x="7620" y="850899"/>
                </a:lnTo>
                <a:lnTo>
                  <a:pt x="7620" y="27431"/>
                </a:lnTo>
                <a:lnTo>
                  <a:pt x="28955" y="15239"/>
                </a:lnTo>
                <a:lnTo>
                  <a:pt x="28956" y="38099"/>
                </a:lnTo>
                <a:lnTo>
                  <a:pt x="806150" y="426697"/>
                </a:lnTo>
                <a:lnTo>
                  <a:pt x="830580" y="414527"/>
                </a:lnTo>
                <a:lnTo>
                  <a:pt x="830580" y="445019"/>
                </a:lnTo>
                <a:lnTo>
                  <a:pt x="842772" y="438911"/>
                </a:lnTo>
                <a:lnTo>
                  <a:pt x="848868" y="437387"/>
                </a:lnTo>
                <a:lnTo>
                  <a:pt x="851916" y="431291"/>
                </a:lnTo>
                <a:close/>
              </a:path>
              <a:path w="852170" h="853439">
                <a:moveTo>
                  <a:pt x="28955" y="38099"/>
                </a:moveTo>
                <a:lnTo>
                  <a:pt x="28955" y="15239"/>
                </a:lnTo>
                <a:lnTo>
                  <a:pt x="7620" y="27431"/>
                </a:lnTo>
                <a:lnTo>
                  <a:pt x="28955" y="38099"/>
                </a:lnTo>
                <a:close/>
              </a:path>
              <a:path w="852170" h="853439">
                <a:moveTo>
                  <a:pt x="28956" y="813855"/>
                </a:moveTo>
                <a:lnTo>
                  <a:pt x="28955" y="38099"/>
                </a:lnTo>
                <a:lnTo>
                  <a:pt x="7620" y="27431"/>
                </a:lnTo>
                <a:lnTo>
                  <a:pt x="7620" y="824483"/>
                </a:lnTo>
                <a:lnTo>
                  <a:pt x="28956" y="813855"/>
                </a:lnTo>
                <a:close/>
              </a:path>
              <a:path w="852170" h="853439">
                <a:moveTo>
                  <a:pt x="830580" y="445019"/>
                </a:moveTo>
                <a:lnTo>
                  <a:pt x="830580" y="438911"/>
                </a:lnTo>
                <a:lnTo>
                  <a:pt x="806150" y="426697"/>
                </a:lnTo>
                <a:lnTo>
                  <a:pt x="7620" y="824483"/>
                </a:lnTo>
                <a:lnTo>
                  <a:pt x="28956" y="838199"/>
                </a:lnTo>
                <a:lnTo>
                  <a:pt x="28956" y="846574"/>
                </a:lnTo>
                <a:lnTo>
                  <a:pt x="830580" y="445019"/>
                </a:lnTo>
                <a:close/>
              </a:path>
              <a:path w="852170" h="853439">
                <a:moveTo>
                  <a:pt x="28956" y="846574"/>
                </a:moveTo>
                <a:lnTo>
                  <a:pt x="28956" y="838199"/>
                </a:lnTo>
                <a:lnTo>
                  <a:pt x="7620" y="824483"/>
                </a:lnTo>
                <a:lnTo>
                  <a:pt x="7620" y="850899"/>
                </a:lnTo>
                <a:lnTo>
                  <a:pt x="10668" y="851915"/>
                </a:lnTo>
                <a:lnTo>
                  <a:pt x="16764" y="853439"/>
                </a:lnTo>
                <a:lnTo>
                  <a:pt x="21336" y="850391"/>
                </a:lnTo>
                <a:lnTo>
                  <a:pt x="28956" y="846574"/>
                </a:lnTo>
                <a:close/>
              </a:path>
              <a:path w="852170" h="853439">
                <a:moveTo>
                  <a:pt x="830580" y="438911"/>
                </a:moveTo>
                <a:lnTo>
                  <a:pt x="830580" y="414527"/>
                </a:lnTo>
                <a:lnTo>
                  <a:pt x="806150" y="426697"/>
                </a:lnTo>
                <a:lnTo>
                  <a:pt x="830580" y="438911"/>
                </a:lnTo>
                <a:close/>
              </a:path>
            </a:pathLst>
          </a:custGeom>
          <a:solidFill>
            <a:srgbClr val="000000"/>
          </a:solidFill>
        </p:spPr>
        <p:txBody>
          <a:bodyPr wrap="square" lIns="0" tIns="0" rIns="0" bIns="0" rtlCol="0"/>
          <a:lstStyle/>
          <a:p>
            <a:endParaRPr/>
          </a:p>
        </p:txBody>
      </p:sp>
      <p:sp>
        <p:nvSpPr>
          <p:cNvPr id="6" name="object 6"/>
          <p:cNvSpPr txBox="1"/>
          <p:nvPr/>
        </p:nvSpPr>
        <p:spPr>
          <a:xfrm>
            <a:off x="3153663" y="3029035"/>
            <a:ext cx="57340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DRV</a:t>
            </a:r>
            <a:endParaRPr sz="2000">
              <a:latin typeface="Verdana"/>
              <a:cs typeface="Verdana"/>
            </a:endParaRPr>
          </a:p>
        </p:txBody>
      </p:sp>
      <p:sp>
        <p:nvSpPr>
          <p:cNvPr id="7" name="object 7"/>
          <p:cNvSpPr/>
          <p:nvPr/>
        </p:nvSpPr>
        <p:spPr>
          <a:xfrm>
            <a:off x="1040384" y="2441278"/>
            <a:ext cx="5177155" cy="1481455"/>
          </a:xfrm>
          <a:custGeom>
            <a:avLst/>
            <a:gdLst/>
            <a:ahLst/>
            <a:cxnLst/>
            <a:rect l="l" t="t" r="r" b="b"/>
            <a:pathLst>
              <a:path w="5177155" h="1481454">
                <a:moveTo>
                  <a:pt x="368808" y="1452372"/>
                </a:moveTo>
                <a:lnTo>
                  <a:pt x="0" y="1450848"/>
                </a:lnTo>
                <a:lnTo>
                  <a:pt x="0" y="1478280"/>
                </a:lnTo>
                <a:lnTo>
                  <a:pt x="368808" y="1481328"/>
                </a:lnTo>
                <a:lnTo>
                  <a:pt x="368808" y="1452372"/>
                </a:lnTo>
                <a:close/>
              </a:path>
              <a:path w="5177155" h="1481454">
                <a:moveTo>
                  <a:pt x="368808" y="1261872"/>
                </a:moveTo>
                <a:lnTo>
                  <a:pt x="0" y="1260348"/>
                </a:lnTo>
                <a:lnTo>
                  <a:pt x="0" y="1287780"/>
                </a:lnTo>
                <a:lnTo>
                  <a:pt x="368808" y="1290828"/>
                </a:lnTo>
                <a:lnTo>
                  <a:pt x="368808" y="1261872"/>
                </a:lnTo>
                <a:close/>
              </a:path>
              <a:path w="5177155" h="1481454">
                <a:moveTo>
                  <a:pt x="368808" y="1082040"/>
                </a:moveTo>
                <a:lnTo>
                  <a:pt x="0" y="1080516"/>
                </a:lnTo>
                <a:lnTo>
                  <a:pt x="0" y="1107948"/>
                </a:lnTo>
                <a:lnTo>
                  <a:pt x="368808" y="1110996"/>
                </a:lnTo>
                <a:lnTo>
                  <a:pt x="368808" y="1082040"/>
                </a:lnTo>
                <a:close/>
              </a:path>
              <a:path w="5177155" h="1481454">
                <a:moveTo>
                  <a:pt x="368808" y="902208"/>
                </a:moveTo>
                <a:lnTo>
                  <a:pt x="0" y="899160"/>
                </a:lnTo>
                <a:lnTo>
                  <a:pt x="0" y="928116"/>
                </a:lnTo>
                <a:lnTo>
                  <a:pt x="368808" y="931164"/>
                </a:lnTo>
                <a:lnTo>
                  <a:pt x="368808" y="902208"/>
                </a:lnTo>
                <a:close/>
              </a:path>
              <a:path w="5177155" h="1481454">
                <a:moveTo>
                  <a:pt x="368808" y="736092"/>
                </a:moveTo>
                <a:lnTo>
                  <a:pt x="0" y="733044"/>
                </a:lnTo>
                <a:lnTo>
                  <a:pt x="0" y="762000"/>
                </a:lnTo>
                <a:lnTo>
                  <a:pt x="368808" y="763524"/>
                </a:lnTo>
                <a:lnTo>
                  <a:pt x="368808" y="736092"/>
                </a:lnTo>
                <a:close/>
              </a:path>
              <a:path w="5177155" h="1481454">
                <a:moveTo>
                  <a:pt x="368808" y="553212"/>
                </a:moveTo>
                <a:lnTo>
                  <a:pt x="0" y="550164"/>
                </a:lnTo>
                <a:lnTo>
                  <a:pt x="0" y="579120"/>
                </a:lnTo>
                <a:lnTo>
                  <a:pt x="368808" y="582168"/>
                </a:lnTo>
                <a:lnTo>
                  <a:pt x="368808" y="553212"/>
                </a:lnTo>
                <a:close/>
              </a:path>
              <a:path w="5177155" h="1481454">
                <a:moveTo>
                  <a:pt x="368808" y="362712"/>
                </a:moveTo>
                <a:lnTo>
                  <a:pt x="0" y="359664"/>
                </a:lnTo>
                <a:lnTo>
                  <a:pt x="0" y="388620"/>
                </a:lnTo>
                <a:lnTo>
                  <a:pt x="368808" y="391668"/>
                </a:lnTo>
                <a:lnTo>
                  <a:pt x="368808" y="362712"/>
                </a:lnTo>
                <a:close/>
              </a:path>
              <a:path w="5177155" h="1481454">
                <a:moveTo>
                  <a:pt x="368808" y="182880"/>
                </a:moveTo>
                <a:lnTo>
                  <a:pt x="0" y="179832"/>
                </a:lnTo>
                <a:lnTo>
                  <a:pt x="0" y="208788"/>
                </a:lnTo>
                <a:lnTo>
                  <a:pt x="368808" y="211836"/>
                </a:lnTo>
                <a:lnTo>
                  <a:pt x="368808" y="182880"/>
                </a:lnTo>
                <a:close/>
              </a:path>
              <a:path w="5177155" h="1481454">
                <a:moveTo>
                  <a:pt x="368808" y="3048"/>
                </a:moveTo>
                <a:lnTo>
                  <a:pt x="0" y="0"/>
                </a:lnTo>
                <a:lnTo>
                  <a:pt x="0" y="28956"/>
                </a:lnTo>
                <a:lnTo>
                  <a:pt x="368808" y="30480"/>
                </a:lnTo>
                <a:lnTo>
                  <a:pt x="368808" y="3048"/>
                </a:lnTo>
                <a:close/>
              </a:path>
              <a:path w="5177155" h="1481454">
                <a:moveTo>
                  <a:pt x="2093976" y="736092"/>
                </a:moveTo>
                <a:lnTo>
                  <a:pt x="1115568" y="733044"/>
                </a:lnTo>
                <a:lnTo>
                  <a:pt x="1114044" y="762000"/>
                </a:lnTo>
                <a:lnTo>
                  <a:pt x="2093976" y="763524"/>
                </a:lnTo>
                <a:lnTo>
                  <a:pt x="2093976" y="736092"/>
                </a:lnTo>
                <a:close/>
              </a:path>
              <a:path w="5177155" h="1481454">
                <a:moveTo>
                  <a:pt x="5177028" y="752856"/>
                </a:moveTo>
                <a:lnTo>
                  <a:pt x="5169408" y="681228"/>
                </a:lnTo>
                <a:lnTo>
                  <a:pt x="5155692" y="638556"/>
                </a:lnTo>
                <a:lnTo>
                  <a:pt x="5148072" y="618744"/>
                </a:lnTo>
                <a:lnTo>
                  <a:pt x="5148072" y="754380"/>
                </a:lnTo>
                <a:lnTo>
                  <a:pt x="5145024" y="798576"/>
                </a:lnTo>
                <a:lnTo>
                  <a:pt x="5135880" y="838200"/>
                </a:lnTo>
                <a:lnTo>
                  <a:pt x="5122164" y="876300"/>
                </a:lnTo>
                <a:lnTo>
                  <a:pt x="5091684" y="920496"/>
                </a:lnTo>
                <a:lnTo>
                  <a:pt x="5055108" y="952500"/>
                </a:lnTo>
                <a:lnTo>
                  <a:pt x="5013960" y="966216"/>
                </a:lnTo>
                <a:lnTo>
                  <a:pt x="5007864" y="967740"/>
                </a:lnTo>
                <a:lnTo>
                  <a:pt x="3673056" y="967740"/>
                </a:lnTo>
                <a:lnTo>
                  <a:pt x="3677412" y="964692"/>
                </a:lnTo>
                <a:lnTo>
                  <a:pt x="3692652" y="952500"/>
                </a:lnTo>
                <a:lnTo>
                  <a:pt x="3729228" y="905256"/>
                </a:lnTo>
                <a:lnTo>
                  <a:pt x="3747516" y="867156"/>
                </a:lnTo>
                <a:lnTo>
                  <a:pt x="3759708" y="824484"/>
                </a:lnTo>
                <a:lnTo>
                  <a:pt x="3767328" y="752856"/>
                </a:lnTo>
                <a:lnTo>
                  <a:pt x="3764280" y="705612"/>
                </a:lnTo>
                <a:lnTo>
                  <a:pt x="3759708" y="681228"/>
                </a:lnTo>
                <a:lnTo>
                  <a:pt x="3753612" y="659892"/>
                </a:lnTo>
                <a:lnTo>
                  <a:pt x="3745992" y="638556"/>
                </a:lnTo>
                <a:lnTo>
                  <a:pt x="3738372" y="618744"/>
                </a:lnTo>
                <a:lnTo>
                  <a:pt x="3738372" y="731520"/>
                </a:lnTo>
                <a:lnTo>
                  <a:pt x="3738372" y="775716"/>
                </a:lnTo>
                <a:lnTo>
                  <a:pt x="3732276" y="818388"/>
                </a:lnTo>
                <a:lnTo>
                  <a:pt x="3720084" y="858012"/>
                </a:lnTo>
                <a:lnTo>
                  <a:pt x="3694176" y="906780"/>
                </a:lnTo>
                <a:lnTo>
                  <a:pt x="3659124" y="943356"/>
                </a:lnTo>
                <a:lnTo>
                  <a:pt x="3619500" y="963168"/>
                </a:lnTo>
                <a:lnTo>
                  <a:pt x="3604260" y="966216"/>
                </a:lnTo>
                <a:lnTo>
                  <a:pt x="3598164" y="967740"/>
                </a:lnTo>
                <a:lnTo>
                  <a:pt x="3582924" y="967740"/>
                </a:lnTo>
                <a:lnTo>
                  <a:pt x="3576828" y="966216"/>
                </a:lnTo>
                <a:lnTo>
                  <a:pt x="3561588" y="963168"/>
                </a:lnTo>
                <a:lnTo>
                  <a:pt x="3521964" y="941832"/>
                </a:lnTo>
                <a:lnTo>
                  <a:pt x="3488436" y="906780"/>
                </a:lnTo>
                <a:lnTo>
                  <a:pt x="3462528" y="856488"/>
                </a:lnTo>
                <a:lnTo>
                  <a:pt x="3450336" y="818388"/>
                </a:lnTo>
                <a:lnTo>
                  <a:pt x="3444240" y="775716"/>
                </a:lnTo>
                <a:lnTo>
                  <a:pt x="3444240" y="752856"/>
                </a:lnTo>
                <a:lnTo>
                  <a:pt x="3447288" y="708660"/>
                </a:lnTo>
                <a:lnTo>
                  <a:pt x="3456432" y="667512"/>
                </a:lnTo>
                <a:lnTo>
                  <a:pt x="3470148" y="630936"/>
                </a:lnTo>
                <a:lnTo>
                  <a:pt x="3500628" y="585216"/>
                </a:lnTo>
                <a:lnTo>
                  <a:pt x="3537204" y="554736"/>
                </a:lnTo>
                <a:lnTo>
                  <a:pt x="3578352" y="539496"/>
                </a:lnTo>
                <a:lnTo>
                  <a:pt x="3605784" y="539496"/>
                </a:lnTo>
                <a:lnTo>
                  <a:pt x="3648456" y="556260"/>
                </a:lnTo>
                <a:lnTo>
                  <a:pt x="3683508" y="586740"/>
                </a:lnTo>
                <a:lnTo>
                  <a:pt x="3712464" y="632460"/>
                </a:lnTo>
                <a:lnTo>
                  <a:pt x="3726180" y="669036"/>
                </a:lnTo>
                <a:lnTo>
                  <a:pt x="3738372" y="731520"/>
                </a:lnTo>
                <a:lnTo>
                  <a:pt x="3738372" y="618744"/>
                </a:lnTo>
                <a:lnTo>
                  <a:pt x="3717036" y="583692"/>
                </a:lnTo>
                <a:lnTo>
                  <a:pt x="3691128" y="553212"/>
                </a:lnTo>
                <a:lnTo>
                  <a:pt x="3673703" y="539496"/>
                </a:lnTo>
                <a:lnTo>
                  <a:pt x="5015484" y="539496"/>
                </a:lnTo>
                <a:lnTo>
                  <a:pt x="5030724" y="544068"/>
                </a:lnTo>
                <a:lnTo>
                  <a:pt x="5044440" y="548640"/>
                </a:lnTo>
                <a:lnTo>
                  <a:pt x="5056632" y="556260"/>
                </a:lnTo>
                <a:lnTo>
                  <a:pt x="5070348" y="563880"/>
                </a:lnTo>
                <a:lnTo>
                  <a:pt x="5103876" y="600456"/>
                </a:lnTo>
                <a:lnTo>
                  <a:pt x="5129784" y="650748"/>
                </a:lnTo>
                <a:lnTo>
                  <a:pt x="5141976" y="688848"/>
                </a:lnTo>
                <a:lnTo>
                  <a:pt x="5148072" y="754380"/>
                </a:lnTo>
                <a:lnTo>
                  <a:pt x="5148072" y="618744"/>
                </a:lnTo>
                <a:lnTo>
                  <a:pt x="5126736" y="583692"/>
                </a:lnTo>
                <a:lnTo>
                  <a:pt x="5100828" y="553212"/>
                </a:lnTo>
                <a:lnTo>
                  <a:pt x="5070348" y="530352"/>
                </a:lnTo>
                <a:lnTo>
                  <a:pt x="5009388" y="510540"/>
                </a:lnTo>
                <a:lnTo>
                  <a:pt x="3599688" y="510540"/>
                </a:lnTo>
                <a:lnTo>
                  <a:pt x="3581400" y="510540"/>
                </a:lnTo>
                <a:lnTo>
                  <a:pt x="3537204" y="522732"/>
                </a:lnTo>
                <a:lnTo>
                  <a:pt x="3477768" y="568452"/>
                </a:lnTo>
                <a:lnTo>
                  <a:pt x="3453384" y="601980"/>
                </a:lnTo>
                <a:lnTo>
                  <a:pt x="3436620" y="640080"/>
                </a:lnTo>
                <a:lnTo>
                  <a:pt x="3422904" y="682752"/>
                </a:lnTo>
                <a:lnTo>
                  <a:pt x="3415284" y="754380"/>
                </a:lnTo>
                <a:lnTo>
                  <a:pt x="3418332" y="801624"/>
                </a:lnTo>
                <a:lnTo>
                  <a:pt x="3429000" y="847344"/>
                </a:lnTo>
                <a:lnTo>
                  <a:pt x="3444240" y="888492"/>
                </a:lnTo>
                <a:lnTo>
                  <a:pt x="3465576" y="923544"/>
                </a:lnTo>
                <a:lnTo>
                  <a:pt x="3491484" y="954024"/>
                </a:lnTo>
                <a:lnTo>
                  <a:pt x="3521964" y="976884"/>
                </a:lnTo>
                <a:lnTo>
                  <a:pt x="3573780" y="995172"/>
                </a:lnTo>
                <a:lnTo>
                  <a:pt x="3582924" y="996696"/>
                </a:lnTo>
                <a:lnTo>
                  <a:pt x="3592068" y="996696"/>
                </a:lnTo>
                <a:lnTo>
                  <a:pt x="5001768" y="996696"/>
                </a:lnTo>
                <a:lnTo>
                  <a:pt x="5010912" y="995172"/>
                </a:lnTo>
                <a:lnTo>
                  <a:pt x="5020056" y="995172"/>
                </a:lnTo>
                <a:lnTo>
                  <a:pt x="5038344" y="990600"/>
                </a:lnTo>
                <a:lnTo>
                  <a:pt x="5087112" y="964692"/>
                </a:lnTo>
                <a:lnTo>
                  <a:pt x="5126736" y="922020"/>
                </a:lnTo>
                <a:lnTo>
                  <a:pt x="5148072" y="886968"/>
                </a:lnTo>
                <a:lnTo>
                  <a:pt x="5163312" y="845820"/>
                </a:lnTo>
                <a:lnTo>
                  <a:pt x="5173980" y="801624"/>
                </a:lnTo>
                <a:lnTo>
                  <a:pt x="5177028" y="752856"/>
                </a:lnTo>
                <a:close/>
              </a:path>
            </a:pathLst>
          </a:custGeom>
          <a:solidFill>
            <a:srgbClr val="000000"/>
          </a:solidFill>
        </p:spPr>
        <p:txBody>
          <a:bodyPr wrap="square" lIns="0" tIns="0" rIns="0" bIns="0" rtlCol="0"/>
          <a:lstStyle/>
          <a:p>
            <a:endParaRPr dirty="0"/>
          </a:p>
        </p:txBody>
      </p:sp>
      <p:sp>
        <p:nvSpPr>
          <p:cNvPr id="8" name="object 8"/>
          <p:cNvSpPr txBox="1"/>
          <p:nvPr/>
        </p:nvSpPr>
        <p:spPr>
          <a:xfrm>
            <a:off x="4884927" y="3025987"/>
            <a:ext cx="106172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Channel</a:t>
            </a:r>
          </a:p>
        </p:txBody>
      </p:sp>
      <p:sp>
        <p:nvSpPr>
          <p:cNvPr id="9" name="object 9"/>
          <p:cNvSpPr/>
          <p:nvPr/>
        </p:nvSpPr>
        <p:spPr>
          <a:xfrm>
            <a:off x="3957320" y="2259922"/>
            <a:ext cx="7056120" cy="1858010"/>
          </a:xfrm>
          <a:custGeom>
            <a:avLst/>
            <a:gdLst/>
            <a:ahLst/>
            <a:cxnLst/>
            <a:rect l="l" t="t" r="r" b="b"/>
            <a:pathLst>
              <a:path w="7056120" h="1858010">
                <a:moveTo>
                  <a:pt x="513588" y="920496"/>
                </a:moveTo>
                <a:lnTo>
                  <a:pt x="0" y="917448"/>
                </a:lnTo>
                <a:lnTo>
                  <a:pt x="0" y="944880"/>
                </a:lnTo>
                <a:lnTo>
                  <a:pt x="512064" y="949452"/>
                </a:lnTo>
                <a:lnTo>
                  <a:pt x="513588" y="920496"/>
                </a:lnTo>
                <a:close/>
              </a:path>
              <a:path w="7056120" h="1858010">
                <a:moveTo>
                  <a:pt x="5123688" y="914400"/>
                </a:moveTo>
                <a:lnTo>
                  <a:pt x="2244852" y="914400"/>
                </a:lnTo>
                <a:lnTo>
                  <a:pt x="2244852" y="943356"/>
                </a:lnTo>
                <a:lnTo>
                  <a:pt x="5123688" y="943356"/>
                </a:lnTo>
                <a:lnTo>
                  <a:pt x="5123688" y="914400"/>
                </a:lnTo>
                <a:close/>
              </a:path>
              <a:path w="7056120" h="1858010">
                <a:moveTo>
                  <a:pt x="7056120" y="9144"/>
                </a:moveTo>
                <a:lnTo>
                  <a:pt x="7053072" y="4572"/>
                </a:lnTo>
                <a:lnTo>
                  <a:pt x="7048500" y="1524"/>
                </a:lnTo>
                <a:lnTo>
                  <a:pt x="7043928" y="0"/>
                </a:lnTo>
                <a:lnTo>
                  <a:pt x="7039356" y="0"/>
                </a:lnTo>
                <a:lnTo>
                  <a:pt x="7034784" y="1524"/>
                </a:lnTo>
                <a:lnTo>
                  <a:pt x="7027164" y="6083"/>
                </a:lnTo>
                <a:lnTo>
                  <a:pt x="7027164" y="38709"/>
                </a:lnTo>
                <a:lnTo>
                  <a:pt x="7027164" y="1817573"/>
                </a:lnTo>
                <a:lnTo>
                  <a:pt x="6324600" y="1397495"/>
                </a:lnTo>
                <a:lnTo>
                  <a:pt x="6324600" y="460248"/>
                </a:lnTo>
                <a:lnTo>
                  <a:pt x="7027164" y="38709"/>
                </a:lnTo>
                <a:lnTo>
                  <a:pt x="7027164" y="6083"/>
                </a:lnTo>
                <a:lnTo>
                  <a:pt x="6303264" y="438912"/>
                </a:lnTo>
                <a:lnTo>
                  <a:pt x="6298692" y="441960"/>
                </a:lnTo>
                <a:lnTo>
                  <a:pt x="6295644" y="446532"/>
                </a:lnTo>
                <a:lnTo>
                  <a:pt x="6295644" y="1409700"/>
                </a:lnTo>
                <a:lnTo>
                  <a:pt x="6298692" y="1414272"/>
                </a:lnTo>
                <a:lnTo>
                  <a:pt x="6303264" y="1417320"/>
                </a:lnTo>
                <a:lnTo>
                  <a:pt x="6316980" y="1425524"/>
                </a:lnTo>
                <a:lnTo>
                  <a:pt x="6324600" y="1430083"/>
                </a:lnTo>
                <a:lnTo>
                  <a:pt x="7027164" y="1850161"/>
                </a:lnTo>
                <a:lnTo>
                  <a:pt x="7034784" y="1854708"/>
                </a:lnTo>
                <a:lnTo>
                  <a:pt x="7039356" y="1857756"/>
                </a:lnTo>
                <a:lnTo>
                  <a:pt x="7043928" y="1857756"/>
                </a:lnTo>
                <a:lnTo>
                  <a:pt x="7048500" y="1854708"/>
                </a:lnTo>
                <a:lnTo>
                  <a:pt x="7053072" y="1851660"/>
                </a:lnTo>
                <a:lnTo>
                  <a:pt x="7056120" y="1847088"/>
                </a:lnTo>
                <a:lnTo>
                  <a:pt x="7056120" y="9144"/>
                </a:lnTo>
                <a:close/>
              </a:path>
            </a:pathLst>
          </a:custGeom>
          <a:solidFill>
            <a:srgbClr val="000000"/>
          </a:solidFill>
        </p:spPr>
        <p:txBody>
          <a:bodyPr wrap="square" lIns="0" tIns="0" rIns="0" bIns="0" rtlCol="0"/>
          <a:lstStyle/>
          <a:p>
            <a:endParaRPr/>
          </a:p>
        </p:txBody>
      </p:sp>
      <p:sp>
        <p:nvSpPr>
          <p:cNvPr id="10" name="object 10"/>
          <p:cNvSpPr txBox="1"/>
          <p:nvPr/>
        </p:nvSpPr>
        <p:spPr>
          <a:xfrm>
            <a:off x="10473322" y="2570691"/>
            <a:ext cx="369332" cy="1092128"/>
          </a:xfrm>
          <a:prstGeom prst="rect">
            <a:avLst/>
          </a:prstGeom>
        </p:spPr>
        <p:txBody>
          <a:bodyPr vert="vert270" wrap="square" lIns="0" tIns="13970" rIns="0" bIns="0" rtlCol="0">
            <a:spAutoFit/>
          </a:bodyPr>
          <a:lstStyle/>
          <a:p>
            <a:pPr marL="12700">
              <a:lnSpc>
                <a:spcPct val="100000"/>
              </a:lnSpc>
              <a:spcBef>
                <a:spcPts val="110"/>
              </a:spcBef>
            </a:pPr>
            <a:r>
              <a:rPr sz="2400" dirty="0">
                <a:latin typeface="Verdana"/>
                <a:cs typeface="Verdana"/>
              </a:rPr>
              <a:t>DMUX</a:t>
            </a:r>
          </a:p>
        </p:txBody>
      </p:sp>
      <p:sp>
        <p:nvSpPr>
          <p:cNvPr id="11" name="object 11"/>
          <p:cNvSpPr/>
          <p:nvPr/>
        </p:nvSpPr>
        <p:spPr>
          <a:xfrm>
            <a:off x="9065768" y="2441278"/>
            <a:ext cx="2303145" cy="1481455"/>
          </a:xfrm>
          <a:custGeom>
            <a:avLst/>
            <a:gdLst/>
            <a:ahLst/>
            <a:cxnLst/>
            <a:rect l="l" t="t" r="r" b="b"/>
            <a:pathLst>
              <a:path w="2303145" h="1481454">
                <a:moveTo>
                  <a:pt x="851916" y="368808"/>
                </a:moveTo>
                <a:lnTo>
                  <a:pt x="845820" y="362712"/>
                </a:lnTo>
                <a:lnTo>
                  <a:pt x="822960" y="362712"/>
                </a:lnTo>
                <a:lnTo>
                  <a:pt x="822960" y="391668"/>
                </a:lnTo>
                <a:lnTo>
                  <a:pt x="822960" y="1094232"/>
                </a:lnTo>
                <a:lnTo>
                  <a:pt x="28956" y="1094232"/>
                </a:lnTo>
                <a:lnTo>
                  <a:pt x="28956" y="391668"/>
                </a:lnTo>
                <a:lnTo>
                  <a:pt x="822960" y="391668"/>
                </a:lnTo>
                <a:lnTo>
                  <a:pt x="822960" y="362712"/>
                </a:lnTo>
                <a:lnTo>
                  <a:pt x="7620" y="362712"/>
                </a:lnTo>
                <a:lnTo>
                  <a:pt x="0" y="368808"/>
                </a:lnTo>
                <a:lnTo>
                  <a:pt x="0" y="1115568"/>
                </a:lnTo>
                <a:lnTo>
                  <a:pt x="7620" y="1123188"/>
                </a:lnTo>
                <a:lnTo>
                  <a:pt x="15240" y="1123188"/>
                </a:lnTo>
                <a:lnTo>
                  <a:pt x="28956" y="1123188"/>
                </a:lnTo>
                <a:lnTo>
                  <a:pt x="822960" y="1123188"/>
                </a:lnTo>
                <a:lnTo>
                  <a:pt x="838200" y="1123188"/>
                </a:lnTo>
                <a:lnTo>
                  <a:pt x="845820" y="1123188"/>
                </a:lnTo>
                <a:lnTo>
                  <a:pt x="851916" y="1115568"/>
                </a:lnTo>
                <a:lnTo>
                  <a:pt x="851916" y="368808"/>
                </a:lnTo>
                <a:close/>
              </a:path>
              <a:path w="2303145" h="1481454">
                <a:moveTo>
                  <a:pt x="2302764" y="1452372"/>
                </a:moveTo>
                <a:lnTo>
                  <a:pt x="1933956" y="1450848"/>
                </a:lnTo>
                <a:lnTo>
                  <a:pt x="1932432" y="1478280"/>
                </a:lnTo>
                <a:lnTo>
                  <a:pt x="2302764" y="1481328"/>
                </a:lnTo>
                <a:lnTo>
                  <a:pt x="2302764" y="1452372"/>
                </a:lnTo>
                <a:close/>
              </a:path>
              <a:path w="2303145" h="1481454">
                <a:moveTo>
                  <a:pt x="2302764" y="1261872"/>
                </a:moveTo>
                <a:lnTo>
                  <a:pt x="1933956" y="1260348"/>
                </a:lnTo>
                <a:lnTo>
                  <a:pt x="1932432" y="1287780"/>
                </a:lnTo>
                <a:lnTo>
                  <a:pt x="2302764" y="1290828"/>
                </a:lnTo>
                <a:lnTo>
                  <a:pt x="2302764" y="1261872"/>
                </a:lnTo>
                <a:close/>
              </a:path>
              <a:path w="2303145" h="1481454">
                <a:moveTo>
                  <a:pt x="2302764" y="902208"/>
                </a:moveTo>
                <a:lnTo>
                  <a:pt x="1933956" y="899160"/>
                </a:lnTo>
                <a:lnTo>
                  <a:pt x="1932432" y="928116"/>
                </a:lnTo>
                <a:lnTo>
                  <a:pt x="2302764" y="931164"/>
                </a:lnTo>
                <a:lnTo>
                  <a:pt x="2302764" y="902208"/>
                </a:lnTo>
                <a:close/>
              </a:path>
              <a:path w="2303145" h="1481454">
                <a:moveTo>
                  <a:pt x="2302764" y="553212"/>
                </a:moveTo>
                <a:lnTo>
                  <a:pt x="1933956" y="550164"/>
                </a:lnTo>
                <a:lnTo>
                  <a:pt x="1932432" y="579120"/>
                </a:lnTo>
                <a:lnTo>
                  <a:pt x="2302764" y="582168"/>
                </a:lnTo>
                <a:lnTo>
                  <a:pt x="2302764" y="553212"/>
                </a:lnTo>
                <a:close/>
              </a:path>
              <a:path w="2303145" h="1481454">
                <a:moveTo>
                  <a:pt x="2302764" y="362712"/>
                </a:moveTo>
                <a:lnTo>
                  <a:pt x="1933956" y="359664"/>
                </a:lnTo>
                <a:lnTo>
                  <a:pt x="1932432" y="388620"/>
                </a:lnTo>
                <a:lnTo>
                  <a:pt x="2302764" y="391668"/>
                </a:lnTo>
                <a:lnTo>
                  <a:pt x="2302764" y="362712"/>
                </a:lnTo>
                <a:close/>
              </a:path>
              <a:path w="2303145" h="1481454">
                <a:moveTo>
                  <a:pt x="2302764" y="182880"/>
                </a:moveTo>
                <a:lnTo>
                  <a:pt x="1933956" y="179832"/>
                </a:lnTo>
                <a:lnTo>
                  <a:pt x="1932432" y="208788"/>
                </a:lnTo>
                <a:lnTo>
                  <a:pt x="2302764" y="211836"/>
                </a:lnTo>
                <a:lnTo>
                  <a:pt x="2302764" y="182880"/>
                </a:lnTo>
                <a:close/>
              </a:path>
              <a:path w="2303145" h="1481454">
                <a:moveTo>
                  <a:pt x="2302764" y="3048"/>
                </a:moveTo>
                <a:lnTo>
                  <a:pt x="1933956" y="0"/>
                </a:lnTo>
                <a:lnTo>
                  <a:pt x="1932432" y="28956"/>
                </a:lnTo>
                <a:lnTo>
                  <a:pt x="2302764" y="30480"/>
                </a:lnTo>
                <a:lnTo>
                  <a:pt x="2302764" y="3048"/>
                </a:lnTo>
                <a:close/>
              </a:path>
            </a:pathLst>
          </a:custGeom>
          <a:solidFill>
            <a:srgbClr val="000000"/>
          </a:solidFill>
        </p:spPr>
        <p:txBody>
          <a:bodyPr wrap="square" lIns="0" tIns="0" rIns="0" bIns="0" rtlCol="0"/>
          <a:lstStyle/>
          <a:p>
            <a:endParaRPr/>
          </a:p>
        </p:txBody>
      </p:sp>
      <p:sp>
        <p:nvSpPr>
          <p:cNvPr id="12" name="object 12"/>
          <p:cNvSpPr txBox="1"/>
          <p:nvPr/>
        </p:nvSpPr>
        <p:spPr>
          <a:xfrm>
            <a:off x="9225279" y="3000079"/>
            <a:ext cx="53022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DFE</a:t>
            </a:r>
            <a:endParaRPr sz="2000">
              <a:latin typeface="Verdana"/>
              <a:cs typeface="Verdana"/>
            </a:endParaRPr>
          </a:p>
        </p:txBody>
      </p:sp>
      <p:sp>
        <p:nvSpPr>
          <p:cNvPr id="13" name="object 13"/>
          <p:cNvSpPr/>
          <p:nvPr/>
        </p:nvSpPr>
        <p:spPr>
          <a:xfrm>
            <a:off x="9446768" y="3171274"/>
            <a:ext cx="826135" cy="836930"/>
          </a:xfrm>
          <a:custGeom>
            <a:avLst/>
            <a:gdLst/>
            <a:ahLst/>
            <a:cxnLst/>
            <a:rect l="l" t="t" r="r" b="b"/>
            <a:pathLst>
              <a:path w="826134" h="836929">
                <a:moveTo>
                  <a:pt x="86868" y="463296"/>
                </a:moveTo>
                <a:lnTo>
                  <a:pt x="44196" y="377952"/>
                </a:lnTo>
                <a:lnTo>
                  <a:pt x="0" y="463296"/>
                </a:lnTo>
                <a:lnTo>
                  <a:pt x="28956" y="463296"/>
                </a:lnTo>
                <a:lnTo>
                  <a:pt x="28956" y="836676"/>
                </a:lnTo>
                <a:lnTo>
                  <a:pt x="57912" y="836676"/>
                </a:lnTo>
                <a:lnTo>
                  <a:pt x="57912" y="463296"/>
                </a:lnTo>
                <a:lnTo>
                  <a:pt x="86868" y="463296"/>
                </a:lnTo>
                <a:close/>
              </a:path>
              <a:path w="826134" h="836929">
                <a:moveTo>
                  <a:pt x="826008" y="1524"/>
                </a:moveTo>
                <a:lnTo>
                  <a:pt x="457200" y="0"/>
                </a:lnTo>
                <a:lnTo>
                  <a:pt x="457200" y="27432"/>
                </a:lnTo>
                <a:lnTo>
                  <a:pt x="826008" y="30480"/>
                </a:lnTo>
                <a:lnTo>
                  <a:pt x="826008" y="1524"/>
                </a:lnTo>
                <a:close/>
              </a:path>
            </a:pathLst>
          </a:custGeom>
          <a:solidFill>
            <a:srgbClr val="000000"/>
          </a:solidFill>
        </p:spPr>
        <p:txBody>
          <a:bodyPr wrap="square" lIns="0" tIns="0" rIns="0" bIns="0" rtlCol="0"/>
          <a:lstStyle/>
          <a:p>
            <a:endParaRPr/>
          </a:p>
        </p:txBody>
      </p:sp>
      <p:sp>
        <p:nvSpPr>
          <p:cNvPr id="14" name="object 14"/>
          <p:cNvSpPr txBox="1"/>
          <p:nvPr/>
        </p:nvSpPr>
        <p:spPr>
          <a:xfrm>
            <a:off x="8920479" y="4188799"/>
            <a:ext cx="57785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CDR</a:t>
            </a:r>
            <a:endParaRPr sz="2000">
              <a:latin typeface="Verdana"/>
              <a:cs typeface="Verdana"/>
            </a:endParaRPr>
          </a:p>
        </p:txBody>
      </p:sp>
      <p:grpSp>
        <p:nvGrpSpPr>
          <p:cNvPr id="15" name="object 15"/>
          <p:cNvGrpSpPr/>
          <p:nvPr/>
        </p:nvGrpSpPr>
        <p:grpSpPr>
          <a:xfrm>
            <a:off x="1217168" y="1907878"/>
            <a:ext cx="9972040" cy="3238500"/>
            <a:chOff x="1132332" y="1924811"/>
            <a:chExt cx="9972040" cy="3238500"/>
          </a:xfrm>
        </p:grpSpPr>
        <p:sp>
          <p:nvSpPr>
            <p:cNvPr id="16" name="object 16"/>
            <p:cNvSpPr/>
            <p:nvPr/>
          </p:nvSpPr>
          <p:spPr>
            <a:xfrm>
              <a:off x="1132332" y="1924811"/>
              <a:ext cx="3177540" cy="3238500"/>
            </a:xfrm>
            <a:custGeom>
              <a:avLst/>
              <a:gdLst/>
              <a:ahLst/>
              <a:cxnLst/>
              <a:rect l="l" t="t" r="r" b="b"/>
              <a:pathLst>
                <a:path w="3177540" h="3238500">
                  <a:moveTo>
                    <a:pt x="27432" y="3211068"/>
                  </a:moveTo>
                  <a:lnTo>
                    <a:pt x="27432" y="3195828"/>
                  </a:lnTo>
                  <a:lnTo>
                    <a:pt x="0" y="3195828"/>
                  </a:lnTo>
                  <a:lnTo>
                    <a:pt x="0" y="3224784"/>
                  </a:lnTo>
                  <a:lnTo>
                    <a:pt x="22860" y="3224784"/>
                  </a:lnTo>
                  <a:lnTo>
                    <a:pt x="22860" y="3211068"/>
                  </a:lnTo>
                  <a:lnTo>
                    <a:pt x="27432" y="3211068"/>
                  </a:lnTo>
                  <a:close/>
                </a:path>
                <a:path w="3177540" h="3238500">
                  <a:moveTo>
                    <a:pt x="51816" y="3238500"/>
                  </a:moveTo>
                  <a:lnTo>
                    <a:pt x="51816" y="3211068"/>
                  </a:lnTo>
                  <a:lnTo>
                    <a:pt x="22860" y="3211068"/>
                  </a:lnTo>
                  <a:lnTo>
                    <a:pt x="22860" y="3224784"/>
                  </a:lnTo>
                  <a:lnTo>
                    <a:pt x="27432" y="3224784"/>
                  </a:lnTo>
                  <a:lnTo>
                    <a:pt x="27432" y="3238500"/>
                  </a:lnTo>
                  <a:lnTo>
                    <a:pt x="51816" y="3238500"/>
                  </a:lnTo>
                  <a:close/>
                </a:path>
                <a:path w="3177540" h="3238500">
                  <a:moveTo>
                    <a:pt x="27432" y="3238500"/>
                  </a:moveTo>
                  <a:lnTo>
                    <a:pt x="27432" y="3224784"/>
                  </a:lnTo>
                  <a:lnTo>
                    <a:pt x="22860" y="3224784"/>
                  </a:lnTo>
                  <a:lnTo>
                    <a:pt x="22860" y="3238500"/>
                  </a:lnTo>
                  <a:lnTo>
                    <a:pt x="27432" y="3238500"/>
                  </a:lnTo>
                  <a:close/>
                </a:path>
                <a:path w="3177540" h="3238500">
                  <a:moveTo>
                    <a:pt x="27432" y="3168396"/>
                  </a:moveTo>
                  <a:lnTo>
                    <a:pt x="27432" y="3139440"/>
                  </a:lnTo>
                  <a:lnTo>
                    <a:pt x="0" y="3139440"/>
                  </a:lnTo>
                  <a:lnTo>
                    <a:pt x="0" y="3168396"/>
                  </a:lnTo>
                  <a:lnTo>
                    <a:pt x="27432" y="3168396"/>
                  </a:lnTo>
                  <a:close/>
                </a:path>
                <a:path w="3177540" h="3238500">
                  <a:moveTo>
                    <a:pt x="27432" y="3110484"/>
                  </a:moveTo>
                  <a:lnTo>
                    <a:pt x="27432" y="3081528"/>
                  </a:lnTo>
                  <a:lnTo>
                    <a:pt x="0" y="3081528"/>
                  </a:lnTo>
                  <a:lnTo>
                    <a:pt x="0" y="3110484"/>
                  </a:lnTo>
                  <a:lnTo>
                    <a:pt x="27432" y="3110484"/>
                  </a:lnTo>
                  <a:close/>
                </a:path>
                <a:path w="3177540" h="3238500">
                  <a:moveTo>
                    <a:pt x="27432" y="3054096"/>
                  </a:moveTo>
                  <a:lnTo>
                    <a:pt x="27432" y="3025140"/>
                  </a:lnTo>
                  <a:lnTo>
                    <a:pt x="0" y="3025140"/>
                  </a:lnTo>
                  <a:lnTo>
                    <a:pt x="0" y="3054096"/>
                  </a:lnTo>
                  <a:lnTo>
                    <a:pt x="27432" y="3054096"/>
                  </a:lnTo>
                  <a:close/>
                </a:path>
                <a:path w="3177540" h="3238500">
                  <a:moveTo>
                    <a:pt x="27432" y="2996184"/>
                  </a:moveTo>
                  <a:lnTo>
                    <a:pt x="27432" y="2967228"/>
                  </a:lnTo>
                  <a:lnTo>
                    <a:pt x="0" y="2967228"/>
                  </a:lnTo>
                  <a:lnTo>
                    <a:pt x="0" y="2996184"/>
                  </a:lnTo>
                  <a:lnTo>
                    <a:pt x="27432" y="2996184"/>
                  </a:lnTo>
                  <a:close/>
                </a:path>
                <a:path w="3177540" h="3238500">
                  <a:moveTo>
                    <a:pt x="27432" y="2939796"/>
                  </a:moveTo>
                  <a:lnTo>
                    <a:pt x="27432" y="2910840"/>
                  </a:lnTo>
                  <a:lnTo>
                    <a:pt x="0" y="2910840"/>
                  </a:lnTo>
                  <a:lnTo>
                    <a:pt x="0" y="2939796"/>
                  </a:lnTo>
                  <a:lnTo>
                    <a:pt x="27432" y="2939796"/>
                  </a:lnTo>
                  <a:close/>
                </a:path>
                <a:path w="3177540" h="3238500">
                  <a:moveTo>
                    <a:pt x="27432" y="2881884"/>
                  </a:moveTo>
                  <a:lnTo>
                    <a:pt x="27432" y="2852928"/>
                  </a:lnTo>
                  <a:lnTo>
                    <a:pt x="0" y="2852928"/>
                  </a:lnTo>
                  <a:lnTo>
                    <a:pt x="0" y="2881884"/>
                  </a:lnTo>
                  <a:lnTo>
                    <a:pt x="27432" y="2881884"/>
                  </a:lnTo>
                  <a:close/>
                </a:path>
                <a:path w="3177540" h="3238500">
                  <a:moveTo>
                    <a:pt x="27432" y="2825496"/>
                  </a:moveTo>
                  <a:lnTo>
                    <a:pt x="27432" y="2796540"/>
                  </a:lnTo>
                  <a:lnTo>
                    <a:pt x="0" y="2796540"/>
                  </a:lnTo>
                  <a:lnTo>
                    <a:pt x="0" y="2825496"/>
                  </a:lnTo>
                  <a:lnTo>
                    <a:pt x="27432" y="2825496"/>
                  </a:lnTo>
                  <a:close/>
                </a:path>
                <a:path w="3177540" h="3238500">
                  <a:moveTo>
                    <a:pt x="27432" y="2767584"/>
                  </a:moveTo>
                  <a:lnTo>
                    <a:pt x="27432" y="2738628"/>
                  </a:lnTo>
                  <a:lnTo>
                    <a:pt x="0" y="2738628"/>
                  </a:lnTo>
                  <a:lnTo>
                    <a:pt x="0" y="2767584"/>
                  </a:lnTo>
                  <a:lnTo>
                    <a:pt x="27432" y="2767584"/>
                  </a:lnTo>
                  <a:close/>
                </a:path>
                <a:path w="3177540" h="3238500">
                  <a:moveTo>
                    <a:pt x="27432" y="2711196"/>
                  </a:moveTo>
                  <a:lnTo>
                    <a:pt x="27432" y="2682240"/>
                  </a:lnTo>
                  <a:lnTo>
                    <a:pt x="0" y="2682240"/>
                  </a:lnTo>
                  <a:lnTo>
                    <a:pt x="0" y="2711196"/>
                  </a:lnTo>
                  <a:lnTo>
                    <a:pt x="27432" y="2711196"/>
                  </a:lnTo>
                  <a:close/>
                </a:path>
                <a:path w="3177540" h="3238500">
                  <a:moveTo>
                    <a:pt x="27432" y="2653284"/>
                  </a:moveTo>
                  <a:lnTo>
                    <a:pt x="27432" y="2624328"/>
                  </a:lnTo>
                  <a:lnTo>
                    <a:pt x="0" y="2624328"/>
                  </a:lnTo>
                  <a:lnTo>
                    <a:pt x="0" y="2653284"/>
                  </a:lnTo>
                  <a:lnTo>
                    <a:pt x="27432" y="2653284"/>
                  </a:lnTo>
                  <a:close/>
                </a:path>
                <a:path w="3177540" h="3238500">
                  <a:moveTo>
                    <a:pt x="27432" y="2596896"/>
                  </a:moveTo>
                  <a:lnTo>
                    <a:pt x="27432" y="2567940"/>
                  </a:lnTo>
                  <a:lnTo>
                    <a:pt x="0" y="2567940"/>
                  </a:lnTo>
                  <a:lnTo>
                    <a:pt x="0" y="2596896"/>
                  </a:lnTo>
                  <a:lnTo>
                    <a:pt x="27432" y="2596896"/>
                  </a:lnTo>
                  <a:close/>
                </a:path>
                <a:path w="3177540" h="3238500">
                  <a:moveTo>
                    <a:pt x="27432" y="2538984"/>
                  </a:moveTo>
                  <a:lnTo>
                    <a:pt x="27432" y="2510028"/>
                  </a:lnTo>
                  <a:lnTo>
                    <a:pt x="0" y="2510028"/>
                  </a:lnTo>
                  <a:lnTo>
                    <a:pt x="0" y="2538984"/>
                  </a:lnTo>
                  <a:lnTo>
                    <a:pt x="27432" y="2538984"/>
                  </a:lnTo>
                  <a:close/>
                </a:path>
                <a:path w="3177540" h="3238500">
                  <a:moveTo>
                    <a:pt x="27431" y="2482596"/>
                  </a:moveTo>
                  <a:lnTo>
                    <a:pt x="27431" y="2453640"/>
                  </a:lnTo>
                  <a:lnTo>
                    <a:pt x="0" y="2453640"/>
                  </a:lnTo>
                  <a:lnTo>
                    <a:pt x="0" y="2482596"/>
                  </a:lnTo>
                  <a:lnTo>
                    <a:pt x="27431" y="2482596"/>
                  </a:lnTo>
                  <a:close/>
                </a:path>
                <a:path w="3177540" h="3238500">
                  <a:moveTo>
                    <a:pt x="27431" y="2424684"/>
                  </a:moveTo>
                  <a:lnTo>
                    <a:pt x="27431" y="2395728"/>
                  </a:lnTo>
                  <a:lnTo>
                    <a:pt x="0" y="2395728"/>
                  </a:lnTo>
                  <a:lnTo>
                    <a:pt x="0" y="2424684"/>
                  </a:lnTo>
                  <a:lnTo>
                    <a:pt x="27431" y="2424684"/>
                  </a:lnTo>
                  <a:close/>
                </a:path>
                <a:path w="3177540" h="3238500">
                  <a:moveTo>
                    <a:pt x="27431" y="2368296"/>
                  </a:moveTo>
                  <a:lnTo>
                    <a:pt x="27431" y="2339340"/>
                  </a:lnTo>
                  <a:lnTo>
                    <a:pt x="0" y="2339340"/>
                  </a:lnTo>
                  <a:lnTo>
                    <a:pt x="0" y="2368296"/>
                  </a:lnTo>
                  <a:lnTo>
                    <a:pt x="27431" y="2368296"/>
                  </a:lnTo>
                  <a:close/>
                </a:path>
                <a:path w="3177540" h="3238500">
                  <a:moveTo>
                    <a:pt x="27431" y="2310384"/>
                  </a:moveTo>
                  <a:lnTo>
                    <a:pt x="27431" y="2282952"/>
                  </a:lnTo>
                  <a:lnTo>
                    <a:pt x="0" y="2282952"/>
                  </a:lnTo>
                  <a:lnTo>
                    <a:pt x="0" y="2310384"/>
                  </a:lnTo>
                  <a:lnTo>
                    <a:pt x="27431" y="2310384"/>
                  </a:lnTo>
                  <a:close/>
                </a:path>
                <a:path w="3177540" h="3238500">
                  <a:moveTo>
                    <a:pt x="27431" y="2253996"/>
                  </a:moveTo>
                  <a:lnTo>
                    <a:pt x="27431" y="2225040"/>
                  </a:lnTo>
                  <a:lnTo>
                    <a:pt x="0" y="2225040"/>
                  </a:lnTo>
                  <a:lnTo>
                    <a:pt x="0" y="2253996"/>
                  </a:lnTo>
                  <a:lnTo>
                    <a:pt x="27431" y="2253996"/>
                  </a:lnTo>
                  <a:close/>
                </a:path>
                <a:path w="3177540" h="3238500">
                  <a:moveTo>
                    <a:pt x="27431" y="2196084"/>
                  </a:moveTo>
                  <a:lnTo>
                    <a:pt x="27431" y="2168652"/>
                  </a:lnTo>
                  <a:lnTo>
                    <a:pt x="0" y="2168652"/>
                  </a:lnTo>
                  <a:lnTo>
                    <a:pt x="0" y="2196084"/>
                  </a:lnTo>
                  <a:lnTo>
                    <a:pt x="27431" y="2196084"/>
                  </a:lnTo>
                  <a:close/>
                </a:path>
                <a:path w="3177540" h="3238500">
                  <a:moveTo>
                    <a:pt x="27431" y="2139696"/>
                  </a:moveTo>
                  <a:lnTo>
                    <a:pt x="27431" y="2110740"/>
                  </a:lnTo>
                  <a:lnTo>
                    <a:pt x="0" y="2110740"/>
                  </a:lnTo>
                  <a:lnTo>
                    <a:pt x="0" y="2139696"/>
                  </a:lnTo>
                  <a:lnTo>
                    <a:pt x="27431" y="2139696"/>
                  </a:lnTo>
                  <a:close/>
                </a:path>
                <a:path w="3177540" h="3238500">
                  <a:moveTo>
                    <a:pt x="27431" y="2081784"/>
                  </a:moveTo>
                  <a:lnTo>
                    <a:pt x="27431" y="2054352"/>
                  </a:lnTo>
                  <a:lnTo>
                    <a:pt x="0" y="2054352"/>
                  </a:lnTo>
                  <a:lnTo>
                    <a:pt x="0" y="2081784"/>
                  </a:lnTo>
                  <a:lnTo>
                    <a:pt x="27431" y="2081784"/>
                  </a:lnTo>
                  <a:close/>
                </a:path>
                <a:path w="3177540" h="3238500">
                  <a:moveTo>
                    <a:pt x="27431" y="2025396"/>
                  </a:moveTo>
                  <a:lnTo>
                    <a:pt x="27431" y="1996440"/>
                  </a:lnTo>
                  <a:lnTo>
                    <a:pt x="0" y="1996440"/>
                  </a:lnTo>
                  <a:lnTo>
                    <a:pt x="0" y="2025396"/>
                  </a:lnTo>
                  <a:lnTo>
                    <a:pt x="27431" y="2025396"/>
                  </a:lnTo>
                  <a:close/>
                </a:path>
                <a:path w="3177540" h="3238500">
                  <a:moveTo>
                    <a:pt x="27431" y="1967484"/>
                  </a:moveTo>
                  <a:lnTo>
                    <a:pt x="27431" y="1940052"/>
                  </a:lnTo>
                  <a:lnTo>
                    <a:pt x="0" y="1940052"/>
                  </a:lnTo>
                  <a:lnTo>
                    <a:pt x="0" y="1967484"/>
                  </a:lnTo>
                  <a:lnTo>
                    <a:pt x="27431" y="1967484"/>
                  </a:lnTo>
                  <a:close/>
                </a:path>
                <a:path w="3177540" h="3238500">
                  <a:moveTo>
                    <a:pt x="27431" y="1911096"/>
                  </a:moveTo>
                  <a:lnTo>
                    <a:pt x="27431" y="1882140"/>
                  </a:lnTo>
                  <a:lnTo>
                    <a:pt x="0" y="1882140"/>
                  </a:lnTo>
                  <a:lnTo>
                    <a:pt x="0" y="1911096"/>
                  </a:lnTo>
                  <a:lnTo>
                    <a:pt x="27431" y="1911096"/>
                  </a:lnTo>
                  <a:close/>
                </a:path>
                <a:path w="3177540" h="3238500">
                  <a:moveTo>
                    <a:pt x="27431" y="1853184"/>
                  </a:moveTo>
                  <a:lnTo>
                    <a:pt x="27431" y="1825752"/>
                  </a:lnTo>
                  <a:lnTo>
                    <a:pt x="0" y="1825752"/>
                  </a:lnTo>
                  <a:lnTo>
                    <a:pt x="0" y="1853184"/>
                  </a:lnTo>
                  <a:lnTo>
                    <a:pt x="27431" y="1853184"/>
                  </a:lnTo>
                  <a:close/>
                </a:path>
                <a:path w="3177540" h="3238500">
                  <a:moveTo>
                    <a:pt x="27431" y="1796796"/>
                  </a:moveTo>
                  <a:lnTo>
                    <a:pt x="27431" y="1767840"/>
                  </a:lnTo>
                  <a:lnTo>
                    <a:pt x="0" y="1767840"/>
                  </a:lnTo>
                  <a:lnTo>
                    <a:pt x="0" y="1796796"/>
                  </a:lnTo>
                  <a:lnTo>
                    <a:pt x="27431" y="1796796"/>
                  </a:lnTo>
                  <a:close/>
                </a:path>
                <a:path w="3177540" h="3238500">
                  <a:moveTo>
                    <a:pt x="27431" y="1738884"/>
                  </a:moveTo>
                  <a:lnTo>
                    <a:pt x="27431" y="1711452"/>
                  </a:lnTo>
                  <a:lnTo>
                    <a:pt x="0" y="1711452"/>
                  </a:lnTo>
                  <a:lnTo>
                    <a:pt x="0" y="1738884"/>
                  </a:lnTo>
                  <a:lnTo>
                    <a:pt x="27431" y="1738884"/>
                  </a:lnTo>
                  <a:close/>
                </a:path>
                <a:path w="3177540" h="3238500">
                  <a:moveTo>
                    <a:pt x="27431" y="1682496"/>
                  </a:moveTo>
                  <a:lnTo>
                    <a:pt x="27431" y="1653540"/>
                  </a:lnTo>
                  <a:lnTo>
                    <a:pt x="0" y="1653540"/>
                  </a:lnTo>
                  <a:lnTo>
                    <a:pt x="0" y="1682496"/>
                  </a:lnTo>
                  <a:lnTo>
                    <a:pt x="27431" y="1682496"/>
                  </a:lnTo>
                  <a:close/>
                </a:path>
                <a:path w="3177540" h="3238500">
                  <a:moveTo>
                    <a:pt x="27431" y="1624584"/>
                  </a:moveTo>
                  <a:lnTo>
                    <a:pt x="27431" y="1597152"/>
                  </a:lnTo>
                  <a:lnTo>
                    <a:pt x="0" y="1597152"/>
                  </a:lnTo>
                  <a:lnTo>
                    <a:pt x="0" y="1624584"/>
                  </a:lnTo>
                  <a:lnTo>
                    <a:pt x="27431" y="1624584"/>
                  </a:lnTo>
                  <a:close/>
                </a:path>
                <a:path w="3177540" h="3238500">
                  <a:moveTo>
                    <a:pt x="27431" y="1568196"/>
                  </a:moveTo>
                  <a:lnTo>
                    <a:pt x="27431" y="1539240"/>
                  </a:lnTo>
                  <a:lnTo>
                    <a:pt x="0" y="1539240"/>
                  </a:lnTo>
                  <a:lnTo>
                    <a:pt x="0" y="1568196"/>
                  </a:lnTo>
                  <a:lnTo>
                    <a:pt x="27431" y="1568196"/>
                  </a:lnTo>
                  <a:close/>
                </a:path>
                <a:path w="3177540" h="3238500">
                  <a:moveTo>
                    <a:pt x="27431" y="1510284"/>
                  </a:moveTo>
                  <a:lnTo>
                    <a:pt x="27431" y="1482852"/>
                  </a:lnTo>
                  <a:lnTo>
                    <a:pt x="0" y="1482852"/>
                  </a:lnTo>
                  <a:lnTo>
                    <a:pt x="0" y="1510284"/>
                  </a:lnTo>
                  <a:lnTo>
                    <a:pt x="27431" y="1510284"/>
                  </a:lnTo>
                  <a:close/>
                </a:path>
                <a:path w="3177540" h="3238500">
                  <a:moveTo>
                    <a:pt x="27431" y="1453896"/>
                  </a:moveTo>
                  <a:lnTo>
                    <a:pt x="27431" y="1424940"/>
                  </a:lnTo>
                  <a:lnTo>
                    <a:pt x="0" y="1424940"/>
                  </a:lnTo>
                  <a:lnTo>
                    <a:pt x="0" y="1453896"/>
                  </a:lnTo>
                  <a:lnTo>
                    <a:pt x="27431" y="1453896"/>
                  </a:lnTo>
                  <a:close/>
                </a:path>
                <a:path w="3177540" h="3238500">
                  <a:moveTo>
                    <a:pt x="27431" y="1395984"/>
                  </a:moveTo>
                  <a:lnTo>
                    <a:pt x="27431" y="1368552"/>
                  </a:lnTo>
                  <a:lnTo>
                    <a:pt x="0" y="1368552"/>
                  </a:lnTo>
                  <a:lnTo>
                    <a:pt x="0" y="1395984"/>
                  </a:lnTo>
                  <a:lnTo>
                    <a:pt x="27431" y="1395984"/>
                  </a:lnTo>
                  <a:close/>
                </a:path>
                <a:path w="3177540" h="3238500">
                  <a:moveTo>
                    <a:pt x="27431" y="1339596"/>
                  </a:moveTo>
                  <a:lnTo>
                    <a:pt x="27431" y="1310640"/>
                  </a:lnTo>
                  <a:lnTo>
                    <a:pt x="0" y="1310640"/>
                  </a:lnTo>
                  <a:lnTo>
                    <a:pt x="0" y="1339596"/>
                  </a:lnTo>
                  <a:lnTo>
                    <a:pt x="27431" y="1339596"/>
                  </a:lnTo>
                  <a:close/>
                </a:path>
                <a:path w="3177540" h="3238500">
                  <a:moveTo>
                    <a:pt x="27431" y="1281684"/>
                  </a:moveTo>
                  <a:lnTo>
                    <a:pt x="27431" y="1254252"/>
                  </a:lnTo>
                  <a:lnTo>
                    <a:pt x="0" y="1254252"/>
                  </a:lnTo>
                  <a:lnTo>
                    <a:pt x="0" y="1281684"/>
                  </a:lnTo>
                  <a:lnTo>
                    <a:pt x="27431" y="1281684"/>
                  </a:lnTo>
                  <a:close/>
                </a:path>
                <a:path w="3177540" h="3238500">
                  <a:moveTo>
                    <a:pt x="27431" y="1225296"/>
                  </a:moveTo>
                  <a:lnTo>
                    <a:pt x="27431" y="1196340"/>
                  </a:lnTo>
                  <a:lnTo>
                    <a:pt x="0" y="1196340"/>
                  </a:lnTo>
                  <a:lnTo>
                    <a:pt x="0" y="1225296"/>
                  </a:lnTo>
                  <a:lnTo>
                    <a:pt x="27431" y="1225296"/>
                  </a:lnTo>
                  <a:close/>
                </a:path>
                <a:path w="3177540" h="3238500">
                  <a:moveTo>
                    <a:pt x="27431" y="1167384"/>
                  </a:moveTo>
                  <a:lnTo>
                    <a:pt x="27431" y="1139952"/>
                  </a:lnTo>
                  <a:lnTo>
                    <a:pt x="0" y="1139952"/>
                  </a:lnTo>
                  <a:lnTo>
                    <a:pt x="0" y="1167384"/>
                  </a:lnTo>
                  <a:lnTo>
                    <a:pt x="27431" y="1167384"/>
                  </a:lnTo>
                  <a:close/>
                </a:path>
                <a:path w="3177540" h="3238500">
                  <a:moveTo>
                    <a:pt x="27431" y="1110996"/>
                  </a:moveTo>
                  <a:lnTo>
                    <a:pt x="27431" y="1082040"/>
                  </a:lnTo>
                  <a:lnTo>
                    <a:pt x="0" y="1082040"/>
                  </a:lnTo>
                  <a:lnTo>
                    <a:pt x="0" y="1110996"/>
                  </a:lnTo>
                  <a:lnTo>
                    <a:pt x="27431" y="1110996"/>
                  </a:lnTo>
                  <a:close/>
                </a:path>
                <a:path w="3177540" h="3238500">
                  <a:moveTo>
                    <a:pt x="27431" y="1053084"/>
                  </a:moveTo>
                  <a:lnTo>
                    <a:pt x="27431" y="1025652"/>
                  </a:lnTo>
                  <a:lnTo>
                    <a:pt x="0" y="1025652"/>
                  </a:lnTo>
                  <a:lnTo>
                    <a:pt x="0" y="1053084"/>
                  </a:lnTo>
                  <a:lnTo>
                    <a:pt x="27431" y="1053084"/>
                  </a:lnTo>
                  <a:close/>
                </a:path>
                <a:path w="3177540" h="3238500">
                  <a:moveTo>
                    <a:pt x="27431" y="996696"/>
                  </a:moveTo>
                  <a:lnTo>
                    <a:pt x="27431" y="967740"/>
                  </a:lnTo>
                  <a:lnTo>
                    <a:pt x="0" y="967740"/>
                  </a:lnTo>
                  <a:lnTo>
                    <a:pt x="0" y="996696"/>
                  </a:lnTo>
                  <a:lnTo>
                    <a:pt x="27431" y="996696"/>
                  </a:lnTo>
                  <a:close/>
                </a:path>
                <a:path w="3177540" h="3238500">
                  <a:moveTo>
                    <a:pt x="27431" y="938784"/>
                  </a:moveTo>
                  <a:lnTo>
                    <a:pt x="27431" y="911352"/>
                  </a:lnTo>
                  <a:lnTo>
                    <a:pt x="0" y="911352"/>
                  </a:lnTo>
                  <a:lnTo>
                    <a:pt x="0" y="938784"/>
                  </a:lnTo>
                  <a:lnTo>
                    <a:pt x="27431" y="938784"/>
                  </a:lnTo>
                  <a:close/>
                </a:path>
                <a:path w="3177540" h="3238500">
                  <a:moveTo>
                    <a:pt x="27431" y="882396"/>
                  </a:moveTo>
                  <a:lnTo>
                    <a:pt x="27431" y="853440"/>
                  </a:lnTo>
                  <a:lnTo>
                    <a:pt x="0" y="853440"/>
                  </a:lnTo>
                  <a:lnTo>
                    <a:pt x="0" y="882396"/>
                  </a:lnTo>
                  <a:lnTo>
                    <a:pt x="27431" y="882396"/>
                  </a:lnTo>
                  <a:close/>
                </a:path>
                <a:path w="3177540" h="3238500">
                  <a:moveTo>
                    <a:pt x="27431" y="826008"/>
                  </a:moveTo>
                  <a:lnTo>
                    <a:pt x="27431" y="797052"/>
                  </a:lnTo>
                  <a:lnTo>
                    <a:pt x="0" y="797052"/>
                  </a:lnTo>
                  <a:lnTo>
                    <a:pt x="0" y="826008"/>
                  </a:lnTo>
                  <a:lnTo>
                    <a:pt x="27431" y="826008"/>
                  </a:lnTo>
                  <a:close/>
                </a:path>
                <a:path w="3177540" h="3238500">
                  <a:moveTo>
                    <a:pt x="27431" y="768096"/>
                  </a:moveTo>
                  <a:lnTo>
                    <a:pt x="27431" y="739140"/>
                  </a:lnTo>
                  <a:lnTo>
                    <a:pt x="0" y="739140"/>
                  </a:lnTo>
                  <a:lnTo>
                    <a:pt x="0" y="768096"/>
                  </a:lnTo>
                  <a:lnTo>
                    <a:pt x="27431" y="768096"/>
                  </a:lnTo>
                  <a:close/>
                </a:path>
                <a:path w="3177540" h="3238500">
                  <a:moveTo>
                    <a:pt x="27431" y="711708"/>
                  </a:moveTo>
                  <a:lnTo>
                    <a:pt x="27431" y="682752"/>
                  </a:lnTo>
                  <a:lnTo>
                    <a:pt x="0" y="682752"/>
                  </a:lnTo>
                  <a:lnTo>
                    <a:pt x="0" y="711708"/>
                  </a:lnTo>
                  <a:lnTo>
                    <a:pt x="27431" y="711708"/>
                  </a:lnTo>
                  <a:close/>
                </a:path>
                <a:path w="3177540" h="3238500">
                  <a:moveTo>
                    <a:pt x="27431" y="653796"/>
                  </a:moveTo>
                  <a:lnTo>
                    <a:pt x="27431" y="624840"/>
                  </a:lnTo>
                  <a:lnTo>
                    <a:pt x="0" y="624840"/>
                  </a:lnTo>
                  <a:lnTo>
                    <a:pt x="0" y="653796"/>
                  </a:lnTo>
                  <a:lnTo>
                    <a:pt x="27431" y="653796"/>
                  </a:lnTo>
                  <a:close/>
                </a:path>
                <a:path w="3177540" h="3238500">
                  <a:moveTo>
                    <a:pt x="27431" y="597408"/>
                  </a:moveTo>
                  <a:lnTo>
                    <a:pt x="27431" y="568452"/>
                  </a:lnTo>
                  <a:lnTo>
                    <a:pt x="0" y="568452"/>
                  </a:lnTo>
                  <a:lnTo>
                    <a:pt x="0" y="597408"/>
                  </a:lnTo>
                  <a:lnTo>
                    <a:pt x="27431" y="597408"/>
                  </a:lnTo>
                  <a:close/>
                </a:path>
                <a:path w="3177540" h="3238500">
                  <a:moveTo>
                    <a:pt x="27431" y="539496"/>
                  </a:moveTo>
                  <a:lnTo>
                    <a:pt x="27431" y="510540"/>
                  </a:lnTo>
                  <a:lnTo>
                    <a:pt x="0" y="510540"/>
                  </a:lnTo>
                  <a:lnTo>
                    <a:pt x="0" y="539496"/>
                  </a:lnTo>
                  <a:lnTo>
                    <a:pt x="27431" y="539496"/>
                  </a:lnTo>
                  <a:close/>
                </a:path>
                <a:path w="3177540" h="3238500">
                  <a:moveTo>
                    <a:pt x="27431" y="483108"/>
                  </a:moveTo>
                  <a:lnTo>
                    <a:pt x="27431" y="454152"/>
                  </a:lnTo>
                  <a:lnTo>
                    <a:pt x="0" y="454152"/>
                  </a:lnTo>
                  <a:lnTo>
                    <a:pt x="0" y="483108"/>
                  </a:lnTo>
                  <a:lnTo>
                    <a:pt x="27431" y="483108"/>
                  </a:lnTo>
                  <a:close/>
                </a:path>
                <a:path w="3177540" h="3238500">
                  <a:moveTo>
                    <a:pt x="27431" y="425196"/>
                  </a:moveTo>
                  <a:lnTo>
                    <a:pt x="27431" y="396240"/>
                  </a:lnTo>
                  <a:lnTo>
                    <a:pt x="0" y="396240"/>
                  </a:lnTo>
                  <a:lnTo>
                    <a:pt x="0" y="425196"/>
                  </a:lnTo>
                  <a:lnTo>
                    <a:pt x="27431" y="425196"/>
                  </a:lnTo>
                  <a:close/>
                </a:path>
                <a:path w="3177540" h="3238500">
                  <a:moveTo>
                    <a:pt x="27431" y="368808"/>
                  </a:moveTo>
                  <a:lnTo>
                    <a:pt x="27431" y="339852"/>
                  </a:lnTo>
                  <a:lnTo>
                    <a:pt x="0" y="339852"/>
                  </a:lnTo>
                  <a:lnTo>
                    <a:pt x="0" y="368808"/>
                  </a:lnTo>
                  <a:lnTo>
                    <a:pt x="27431" y="368808"/>
                  </a:lnTo>
                  <a:close/>
                </a:path>
                <a:path w="3177540" h="3238500">
                  <a:moveTo>
                    <a:pt x="27431" y="310896"/>
                  </a:moveTo>
                  <a:lnTo>
                    <a:pt x="27431" y="281940"/>
                  </a:lnTo>
                  <a:lnTo>
                    <a:pt x="0" y="281940"/>
                  </a:lnTo>
                  <a:lnTo>
                    <a:pt x="0" y="310896"/>
                  </a:lnTo>
                  <a:lnTo>
                    <a:pt x="27431" y="310896"/>
                  </a:lnTo>
                  <a:close/>
                </a:path>
                <a:path w="3177540" h="3238500">
                  <a:moveTo>
                    <a:pt x="27431" y="254508"/>
                  </a:moveTo>
                  <a:lnTo>
                    <a:pt x="27431" y="225552"/>
                  </a:lnTo>
                  <a:lnTo>
                    <a:pt x="0" y="225552"/>
                  </a:lnTo>
                  <a:lnTo>
                    <a:pt x="0" y="254508"/>
                  </a:lnTo>
                  <a:lnTo>
                    <a:pt x="27431" y="254508"/>
                  </a:lnTo>
                  <a:close/>
                </a:path>
                <a:path w="3177540" h="3238500">
                  <a:moveTo>
                    <a:pt x="27431" y="196596"/>
                  </a:moveTo>
                  <a:lnTo>
                    <a:pt x="27431" y="167640"/>
                  </a:lnTo>
                  <a:lnTo>
                    <a:pt x="0" y="167640"/>
                  </a:lnTo>
                  <a:lnTo>
                    <a:pt x="0" y="196596"/>
                  </a:lnTo>
                  <a:lnTo>
                    <a:pt x="27431" y="196596"/>
                  </a:lnTo>
                  <a:close/>
                </a:path>
                <a:path w="3177540" h="3238500">
                  <a:moveTo>
                    <a:pt x="27431" y="140208"/>
                  </a:moveTo>
                  <a:lnTo>
                    <a:pt x="27431" y="111252"/>
                  </a:lnTo>
                  <a:lnTo>
                    <a:pt x="0" y="111252"/>
                  </a:lnTo>
                  <a:lnTo>
                    <a:pt x="0" y="140208"/>
                  </a:lnTo>
                  <a:lnTo>
                    <a:pt x="27431" y="140208"/>
                  </a:lnTo>
                  <a:close/>
                </a:path>
                <a:path w="3177540" h="3238500">
                  <a:moveTo>
                    <a:pt x="27431" y="82296"/>
                  </a:moveTo>
                  <a:lnTo>
                    <a:pt x="27431" y="53340"/>
                  </a:lnTo>
                  <a:lnTo>
                    <a:pt x="0" y="53340"/>
                  </a:lnTo>
                  <a:lnTo>
                    <a:pt x="0" y="82296"/>
                  </a:lnTo>
                  <a:lnTo>
                    <a:pt x="27431" y="82296"/>
                  </a:lnTo>
                  <a:close/>
                </a:path>
                <a:path w="3177540" h="3238500">
                  <a:moveTo>
                    <a:pt x="30480" y="27432"/>
                  </a:moveTo>
                  <a:lnTo>
                    <a:pt x="30480" y="0"/>
                  </a:lnTo>
                  <a:lnTo>
                    <a:pt x="6096" y="0"/>
                  </a:lnTo>
                  <a:lnTo>
                    <a:pt x="0" y="6096"/>
                  </a:lnTo>
                  <a:lnTo>
                    <a:pt x="0" y="25908"/>
                  </a:lnTo>
                  <a:lnTo>
                    <a:pt x="15240" y="25908"/>
                  </a:lnTo>
                  <a:lnTo>
                    <a:pt x="27431" y="13716"/>
                  </a:lnTo>
                  <a:lnTo>
                    <a:pt x="27431" y="27432"/>
                  </a:lnTo>
                  <a:lnTo>
                    <a:pt x="30480" y="27432"/>
                  </a:lnTo>
                  <a:close/>
                </a:path>
                <a:path w="3177540" h="3238500">
                  <a:moveTo>
                    <a:pt x="27431" y="27432"/>
                  </a:moveTo>
                  <a:lnTo>
                    <a:pt x="27431" y="25908"/>
                  </a:lnTo>
                  <a:lnTo>
                    <a:pt x="15240" y="25908"/>
                  </a:lnTo>
                  <a:lnTo>
                    <a:pt x="13715" y="27432"/>
                  </a:lnTo>
                  <a:lnTo>
                    <a:pt x="27431" y="27432"/>
                  </a:lnTo>
                  <a:close/>
                </a:path>
                <a:path w="3177540" h="3238500">
                  <a:moveTo>
                    <a:pt x="27431" y="25908"/>
                  </a:moveTo>
                  <a:lnTo>
                    <a:pt x="27431" y="13716"/>
                  </a:lnTo>
                  <a:lnTo>
                    <a:pt x="15240" y="25908"/>
                  </a:lnTo>
                  <a:lnTo>
                    <a:pt x="27431" y="25908"/>
                  </a:lnTo>
                  <a:close/>
                </a:path>
                <a:path w="3177540" h="3238500">
                  <a:moveTo>
                    <a:pt x="86868" y="27432"/>
                  </a:moveTo>
                  <a:lnTo>
                    <a:pt x="86868" y="0"/>
                  </a:lnTo>
                  <a:lnTo>
                    <a:pt x="59436" y="0"/>
                  </a:lnTo>
                  <a:lnTo>
                    <a:pt x="59436" y="27432"/>
                  </a:lnTo>
                  <a:lnTo>
                    <a:pt x="86868" y="27432"/>
                  </a:lnTo>
                  <a:close/>
                </a:path>
                <a:path w="3177540" h="3238500">
                  <a:moveTo>
                    <a:pt x="144780" y="27432"/>
                  </a:moveTo>
                  <a:lnTo>
                    <a:pt x="144780" y="0"/>
                  </a:lnTo>
                  <a:lnTo>
                    <a:pt x="115824" y="0"/>
                  </a:lnTo>
                  <a:lnTo>
                    <a:pt x="115824" y="27432"/>
                  </a:lnTo>
                  <a:lnTo>
                    <a:pt x="144780" y="27432"/>
                  </a:lnTo>
                  <a:close/>
                </a:path>
                <a:path w="3177540" h="3238500">
                  <a:moveTo>
                    <a:pt x="201168" y="27432"/>
                  </a:moveTo>
                  <a:lnTo>
                    <a:pt x="201168" y="0"/>
                  </a:lnTo>
                  <a:lnTo>
                    <a:pt x="173736" y="0"/>
                  </a:lnTo>
                  <a:lnTo>
                    <a:pt x="173736" y="27432"/>
                  </a:lnTo>
                  <a:lnTo>
                    <a:pt x="201168" y="27432"/>
                  </a:lnTo>
                  <a:close/>
                </a:path>
                <a:path w="3177540" h="3238500">
                  <a:moveTo>
                    <a:pt x="259080" y="27432"/>
                  </a:moveTo>
                  <a:lnTo>
                    <a:pt x="259080" y="0"/>
                  </a:lnTo>
                  <a:lnTo>
                    <a:pt x="230124" y="0"/>
                  </a:lnTo>
                  <a:lnTo>
                    <a:pt x="230124" y="27432"/>
                  </a:lnTo>
                  <a:lnTo>
                    <a:pt x="259080" y="27432"/>
                  </a:lnTo>
                  <a:close/>
                </a:path>
                <a:path w="3177540" h="3238500">
                  <a:moveTo>
                    <a:pt x="315468" y="27432"/>
                  </a:moveTo>
                  <a:lnTo>
                    <a:pt x="315468" y="0"/>
                  </a:lnTo>
                  <a:lnTo>
                    <a:pt x="288036" y="0"/>
                  </a:lnTo>
                  <a:lnTo>
                    <a:pt x="288036" y="27432"/>
                  </a:lnTo>
                  <a:lnTo>
                    <a:pt x="315468" y="27432"/>
                  </a:lnTo>
                  <a:close/>
                </a:path>
                <a:path w="3177540" h="3238500">
                  <a:moveTo>
                    <a:pt x="373380" y="27432"/>
                  </a:moveTo>
                  <a:lnTo>
                    <a:pt x="373380" y="0"/>
                  </a:lnTo>
                  <a:lnTo>
                    <a:pt x="344424" y="0"/>
                  </a:lnTo>
                  <a:lnTo>
                    <a:pt x="344424" y="27432"/>
                  </a:lnTo>
                  <a:lnTo>
                    <a:pt x="373380" y="27432"/>
                  </a:lnTo>
                  <a:close/>
                </a:path>
                <a:path w="3177540" h="3238500">
                  <a:moveTo>
                    <a:pt x="429768" y="27432"/>
                  </a:moveTo>
                  <a:lnTo>
                    <a:pt x="429768" y="0"/>
                  </a:lnTo>
                  <a:lnTo>
                    <a:pt x="402336" y="0"/>
                  </a:lnTo>
                  <a:lnTo>
                    <a:pt x="402336" y="27432"/>
                  </a:lnTo>
                  <a:lnTo>
                    <a:pt x="429768" y="27432"/>
                  </a:lnTo>
                  <a:close/>
                </a:path>
                <a:path w="3177540" h="3238500">
                  <a:moveTo>
                    <a:pt x="487680" y="27432"/>
                  </a:moveTo>
                  <a:lnTo>
                    <a:pt x="487680" y="0"/>
                  </a:lnTo>
                  <a:lnTo>
                    <a:pt x="458724" y="0"/>
                  </a:lnTo>
                  <a:lnTo>
                    <a:pt x="458724" y="27432"/>
                  </a:lnTo>
                  <a:lnTo>
                    <a:pt x="487680" y="27432"/>
                  </a:lnTo>
                  <a:close/>
                </a:path>
                <a:path w="3177540" h="3238500">
                  <a:moveTo>
                    <a:pt x="544067" y="27432"/>
                  </a:moveTo>
                  <a:lnTo>
                    <a:pt x="544067" y="0"/>
                  </a:lnTo>
                  <a:lnTo>
                    <a:pt x="516635" y="0"/>
                  </a:lnTo>
                  <a:lnTo>
                    <a:pt x="516635" y="27432"/>
                  </a:lnTo>
                  <a:lnTo>
                    <a:pt x="544067" y="27432"/>
                  </a:lnTo>
                  <a:close/>
                </a:path>
                <a:path w="3177540" h="3238500">
                  <a:moveTo>
                    <a:pt x="601979" y="27432"/>
                  </a:moveTo>
                  <a:lnTo>
                    <a:pt x="601979" y="0"/>
                  </a:lnTo>
                  <a:lnTo>
                    <a:pt x="573023" y="0"/>
                  </a:lnTo>
                  <a:lnTo>
                    <a:pt x="573023" y="27432"/>
                  </a:lnTo>
                  <a:lnTo>
                    <a:pt x="601979" y="27432"/>
                  </a:lnTo>
                  <a:close/>
                </a:path>
                <a:path w="3177540" h="3238500">
                  <a:moveTo>
                    <a:pt x="658367" y="27432"/>
                  </a:moveTo>
                  <a:lnTo>
                    <a:pt x="658367" y="0"/>
                  </a:lnTo>
                  <a:lnTo>
                    <a:pt x="630935" y="0"/>
                  </a:lnTo>
                  <a:lnTo>
                    <a:pt x="630935" y="27432"/>
                  </a:lnTo>
                  <a:lnTo>
                    <a:pt x="658367" y="27432"/>
                  </a:lnTo>
                  <a:close/>
                </a:path>
                <a:path w="3177540" h="3238500">
                  <a:moveTo>
                    <a:pt x="716279" y="27432"/>
                  </a:moveTo>
                  <a:lnTo>
                    <a:pt x="716279" y="0"/>
                  </a:lnTo>
                  <a:lnTo>
                    <a:pt x="687323" y="0"/>
                  </a:lnTo>
                  <a:lnTo>
                    <a:pt x="687323" y="27432"/>
                  </a:lnTo>
                  <a:lnTo>
                    <a:pt x="716279" y="27432"/>
                  </a:lnTo>
                  <a:close/>
                </a:path>
                <a:path w="3177540" h="3238500">
                  <a:moveTo>
                    <a:pt x="772667" y="27432"/>
                  </a:moveTo>
                  <a:lnTo>
                    <a:pt x="772667" y="0"/>
                  </a:lnTo>
                  <a:lnTo>
                    <a:pt x="745235" y="0"/>
                  </a:lnTo>
                  <a:lnTo>
                    <a:pt x="745235" y="27432"/>
                  </a:lnTo>
                  <a:lnTo>
                    <a:pt x="772667" y="27432"/>
                  </a:lnTo>
                  <a:close/>
                </a:path>
                <a:path w="3177540" h="3238500">
                  <a:moveTo>
                    <a:pt x="830579" y="27432"/>
                  </a:moveTo>
                  <a:lnTo>
                    <a:pt x="830579" y="0"/>
                  </a:lnTo>
                  <a:lnTo>
                    <a:pt x="801623" y="0"/>
                  </a:lnTo>
                  <a:lnTo>
                    <a:pt x="801623" y="27432"/>
                  </a:lnTo>
                  <a:lnTo>
                    <a:pt x="830579" y="27432"/>
                  </a:lnTo>
                  <a:close/>
                </a:path>
                <a:path w="3177540" h="3238500">
                  <a:moveTo>
                    <a:pt x="886967" y="27432"/>
                  </a:moveTo>
                  <a:lnTo>
                    <a:pt x="886967" y="0"/>
                  </a:lnTo>
                  <a:lnTo>
                    <a:pt x="859535" y="0"/>
                  </a:lnTo>
                  <a:lnTo>
                    <a:pt x="859535" y="27432"/>
                  </a:lnTo>
                  <a:lnTo>
                    <a:pt x="886967" y="27432"/>
                  </a:lnTo>
                  <a:close/>
                </a:path>
                <a:path w="3177540" h="3238500">
                  <a:moveTo>
                    <a:pt x="944879" y="27432"/>
                  </a:moveTo>
                  <a:lnTo>
                    <a:pt x="944879" y="0"/>
                  </a:lnTo>
                  <a:lnTo>
                    <a:pt x="915923" y="0"/>
                  </a:lnTo>
                  <a:lnTo>
                    <a:pt x="915923" y="27432"/>
                  </a:lnTo>
                  <a:lnTo>
                    <a:pt x="944879" y="27432"/>
                  </a:lnTo>
                  <a:close/>
                </a:path>
                <a:path w="3177540" h="3238500">
                  <a:moveTo>
                    <a:pt x="1001267" y="27432"/>
                  </a:moveTo>
                  <a:lnTo>
                    <a:pt x="1001267" y="0"/>
                  </a:lnTo>
                  <a:lnTo>
                    <a:pt x="973835" y="0"/>
                  </a:lnTo>
                  <a:lnTo>
                    <a:pt x="973835" y="27432"/>
                  </a:lnTo>
                  <a:lnTo>
                    <a:pt x="1001267" y="27432"/>
                  </a:lnTo>
                  <a:close/>
                </a:path>
                <a:path w="3177540" h="3238500">
                  <a:moveTo>
                    <a:pt x="1059180" y="27432"/>
                  </a:moveTo>
                  <a:lnTo>
                    <a:pt x="1059180" y="0"/>
                  </a:lnTo>
                  <a:lnTo>
                    <a:pt x="1030223" y="0"/>
                  </a:lnTo>
                  <a:lnTo>
                    <a:pt x="1030223" y="27432"/>
                  </a:lnTo>
                  <a:lnTo>
                    <a:pt x="1059180" y="27432"/>
                  </a:lnTo>
                  <a:close/>
                </a:path>
                <a:path w="3177540" h="3238500">
                  <a:moveTo>
                    <a:pt x="1115567" y="27432"/>
                  </a:moveTo>
                  <a:lnTo>
                    <a:pt x="1115567" y="0"/>
                  </a:lnTo>
                  <a:lnTo>
                    <a:pt x="1086611" y="0"/>
                  </a:lnTo>
                  <a:lnTo>
                    <a:pt x="1086611" y="27432"/>
                  </a:lnTo>
                  <a:lnTo>
                    <a:pt x="1115567" y="27432"/>
                  </a:lnTo>
                  <a:close/>
                </a:path>
                <a:path w="3177540" h="3238500">
                  <a:moveTo>
                    <a:pt x="1173480" y="27432"/>
                  </a:moveTo>
                  <a:lnTo>
                    <a:pt x="1173480" y="0"/>
                  </a:lnTo>
                  <a:lnTo>
                    <a:pt x="1144523" y="0"/>
                  </a:lnTo>
                  <a:lnTo>
                    <a:pt x="1144523" y="27432"/>
                  </a:lnTo>
                  <a:lnTo>
                    <a:pt x="1173480" y="27432"/>
                  </a:lnTo>
                  <a:close/>
                </a:path>
                <a:path w="3177540" h="3238500">
                  <a:moveTo>
                    <a:pt x="1229867" y="27432"/>
                  </a:moveTo>
                  <a:lnTo>
                    <a:pt x="1229867" y="0"/>
                  </a:lnTo>
                  <a:lnTo>
                    <a:pt x="1200911" y="0"/>
                  </a:lnTo>
                  <a:lnTo>
                    <a:pt x="1200911" y="27432"/>
                  </a:lnTo>
                  <a:lnTo>
                    <a:pt x="1229867" y="27432"/>
                  </a:lnTo>
                  <a:close/>
                </a:path>
                <a:path w="3177540" h="3238500">
                  <a:moveTo>
                    <a:pt x="1287780" y="27432"/>
                  </a:moveTo>
                  <a:lnTo>
                    <a:pt x="1287780" y="0"/>
                  </a:lnTo>
                  <a:lnTo>
                    <a:pt x="1258823" y="0"/>
                  </a:lnTo>
                  <a:lnTo>
                    <a:pt x="1258823" y="27432"/>
                  </a:lnTo>
                  <a:lnTo>
                    <a:pt x="1287780" y="27432"/>
                  </a:lnTo>
                  <a:close/>
                </a:path>
                <a:path w="3177540" h="3238500">
                  <a:moveTo>
                    <a:pt x="1344167" y="27432"/>
                  </a:moveTo>
                  <a:lnTo>
                    <a:pt x="1344167" y="0"/>
                  </a:lnTo>
                  <a:lnTo>
                    <a:pt x="1315211" y="0"/>
                  </a:lnTo>
                  <a:lnTo>
                    <a:pt x="1315211" y="27432"/>
                  </a:lnTo>
                  <a:lnTo>
                    <a:pt x="1344167" y="27432"/>
                  </a:lnTo>
                  <a:close/>
                </a:path>
                <a:path w="3177540" h="3238500">
                  <a:moveTo>
                    <a:pt x="1402080" y="27432"/>
                  </a:moveTo>
                  <a:lnTo>
                    <a:pt x="1402080" y="0"/>
                  </a:lnTo>
                  <a:lnTo>
                    <a:pt x="1373123" y="0"/>
                  </a:lnTo>
                  <a:lnTo>
                    <a:pt x="1373123" y="27432"/>
                  </a:lnTo>
                  <a:lnTo>
                    <a:pt x="1402080" y="27432"/>
                  </a:lnTo>
                  <a:close/>
                </a:path>
                <a:path w="3177540" h="3238500">
                  <a:moveTo>
                    <a:pt x="1458467" y="27432"/>
                  </a:moveTo>
                  <a:lnTo>
                    <a:pt x="1458467" y="0"/>
                  </a:lnTo>
                  <a:lnTo>
                    <a:pt x="1429511" y="0"/>
                  </a:lnTo>
                  <a:lnTo>
                    <a:pt x="1429511" y="27432"/>
                  </a:lnTo>
                  <a:lnTo>
                    <a:pt x="1458467" y="27432"/>
                  </a:lnTo>
                  <a:close/>
                </a:path>
                <a:path w="3177540" h="3238500">
                  <a:moveTo>
                    <a:pt x="1516380" y="27432"/>
                  </a:moveTo>
                  <a:lnTo>
                    <a:pt x="1516380" y="0"/>
                  </a:lnTo>
                  <a:lnTo>
                    <a:pt x="1487423" y="0"/>
                  </a:lnTo>
                  <a:lnTo>
                    <a:pt x="1487423" y="27432"/>
                  </a:lnTo>
                  <a:lnTo>
                    <a:pt x="1516380" y="27432"/>
                  </a:lnTo>
                  <a:close/>
                </a:path>
                <a:path w="3177540" h="3238500">
                  <a:moveTo>
                    <a:pt x="1572767" y="27432"/>
                  </a:moveTo>
                  <a:lnTo>
                    <a:pt x="1572767" y="0"/>
                  </a:lnTo>
                  <a:lnTo>
                    <a:pt x="1543811" y="0"/>
                  </a:lnTo>
                  <a:lnTo>
                    <a:pt x="1543811" y="27432"/>
                  </a:lnTo>
                  <a:lnTo>
                    <a:pt x="1572767" y="27432"/>
                  </a:lnTo>
                  <a:close/>
                </a:path>
                <a:path w="3177540" h="3238500">
                  <a:moveTo>
                    <a:pt x="1630679" y="27432"/>
                  </a:moveTo>
                  <a:lnTo>
                    <a:pt x="1630679" y="0"/>
                  </a:lnTo>
                  <a:lnTo>
                    <a:pt x="1601723" y="0"/>
                  </a:lnTo>
                  <a:lnTo>
                    <a:pt x="1601723" y="27432"/>
                  </a:lnTo>
                  <a:lnTo>
                    <a:pt x="1630679" y="27432"/>
                  </a:lnTo>
                  <a:close/>
                </a:path>
                <a:path w="3177540" h="3238500">
                  <a:moveTo>
                    <a:pt x="1687067" y="27432"/>
                  </a:moveTo>
                  <a:lnTo>
                    <a:pt x="1687067" y="0"/>
                  </a:lnTo>
                  <a:lnTo>
                    <a:pt x="1658112" y="0"/>
                  </a:lnTo>
                  <a:lnTo>
                    <a:pt x="1658112" y="27432"/>
                  </a:lnTo>
                  <a:lnTo>
                    <a:pt x="1687067" y="27432"/>
                  </a:lnTo>
                  <a:close/>
                </a:path>
                <a:path w="3177540" h="3238500">
                  <a:moveTo>
                    <a:pt x="1744979" y="27432"/>
                  </a:moveTo>
                  <a:lnTo>
                    <a:pt x="1744979" y="0"/>
                  </a:lnTo>
                  <a:lnTo>
                    <a:pt x="1716024" y="0"/>
                  </a:lnTo>
                  <a:lnTo>
                    <a:pt x="1716024" y="27432"/>
                  </a:lnTo>
                  <a:lnTo>
                    <a:pt x="1744979" y="27432"/>
                  </a:lnTo>
                  <a:close/>
                </a:path>
                <a:path w="3177540" h="3238500">
                  <a:moveTo>
                    <a:pt x="1801367" y="27432"/>
                  </a:moveTo>
                  <a:lnTo>
                    <a:pt x="1801367" y="0"/>
                  </a:lnTo>
                  <a:lnTo>
                    <a:pt x="1772412" y="0"/>
                  </a:lnTo>
                  <a:lnTo>
                    <a:pt x="1772412" y="27432"/>
                  </a:lnTo>
                  <a:lnTo>
                    <a:pt x="1801367" y="27432"/>
                  </a:lnTo>
                  <a:close/>
                </a:path>
                <a:path w="3177540" h="3238500">
                  <a:moveTo>
                    <a:pt x="1859279" y="27432"/>
                  </a:moveTo>
                  <a:lnTo>
                    <a:pt x="1859279" y="0"/>
                  </a:lnTo>
                  <a:lnTo>
                    <a:pt x="1830324" y="0"/>
                  </a:lnTo>
                  <a:lnTo>
                    <a:pt x="1830324" y="27432"/>
                  </a:lnTo>
                  <a:lnTo>
                    <a:pt x="1859279" y="27432"/>
                  </a:lnTo>
                  <a:close/>
                </a:path>
                <a:path w="3177540" h="3238500">
                  <a:moveTo>
                    <a:pt x="1915667" y="27432"/>
                  </a:moveTo>
                  <a:lnTo>
                    <a:pt x="1915667" y="0"/>
                  </a:lnTo>
                  <a:lnTo>
                    <a:pt x="1886712" y="0"/>
                  </a:lnTo>
                  <a:lnTo>
                    <a:pt x="1886712" y="27432"/>
                  </a:lnTo>
                  <a:lnTo>
                    <a:pt x="1915667" y="27432"/>
                  </a:lnTo>
                  <a:close/>
                </a:path>
                <a:path w="3177540" h="3238500">
                  <a:moveTo>
                    <a:pt x="1973579" y="27432"/>
                  </a:moveTo>
                  <a:lnTo>
                    <a:pt x="1973579" y="0"/>
                  </a:lnTo>
                  <a:lnTo>
                    <a:pt x="1944624" y="0"/>
                  </a:lnTo>
                  <a:lnTo>
                    <a:pt x="1944624" y="27432"/>
                  </a:lnTo>
                  <a:lnTo>
                    <a:pt x="1973579" y="27432"/>
                  </a:lnTo>
                  <a:close/>
                </a:path>
                <a:path w="3177540" h="3238500">
                  <a:moveTo>
                    <a:pt x="2029967" y="27432"/>
                  </a:moveTo>
                  <a:lnTo>
                    <a:pt x="2029967" y="0"/>
                  </a:lnTo>
                  <a:lnTo>
                    <a:pt x="2001012" y="0"/>
                  </a:lnTo>
                  <a:lnTo>
                    <a:pt x="2001012" y="27432"/>
                  </a:lnTo>
                  <a:lnTo>
                    <a:pt x="2029967" y="27432"/>
                  </a:lnTo>
                  <a:close/>
                </a:path>
                <a:path w="3177540" h="3238500">
                  <a:moveTo>
                    <a:pt x="2087879" y="27432"/>
                  </a:moveTo>
                  <a:lnTo>
                    <a:pt x="2087879" y="0"/>
                  </a:lnTo>
                  <a:lnTo>
                    <a:pt x="2058924" y="0"/>
                  </a:lnTo>
                  <a:lnTo>
                    <a:pt x="2058924" y="27432"/>
                  </a:lnTo>
                  <a:lnTo>
                    <a:pt x="2087879" y="27432"/>
                  </a:lnTo>
                  <a:close/>
                </a:path>
                <a:path w="3177540" h="3238500">
                  <a:moveTo>
                    <a:pt x="2144267" y="27432"/>
                  </a:moveTo>
                  <a:lnTo>
                    <a:pt x="2144267" y="0"/>
                  </a:lnTo>
                  <a:lnTo>
                    <a:pt x="2115312" y="0"/>
                  </a:lnTo>
                  <a:lnTo>
                    <a:pt x="2115312" y="27432"/>
                  </a:lnTo>
                  <a:lnTo>
                    <a:pt x="2144267" y="27432"/>
                  </a:lnTo>
                  <a:close/>
                </a:path>
                <a:path w="3177540" h="3238500">
                  <a:moveTo>
                    <a:pt x="2202179" y="27432"/>
                  </a:moveTo>
                  <a:lnTo>
                    <a:pt x="2202179" y="0"/>
                  </a:lnTo>
                  <a:lnTo>
                    <a:pt x="2173223" y="0"/>
                  </a:lnTo>
                  <a:lnTo>
                    <a:pt x="2173223" y="27432"/>
                  </a:lnTo>
                  <a:lnTo>
                    <a:pt x="2202179" y="27432"/>
                  </a:lnTo>
                  <a:close/>
                </a:path>
                <a:path w="3177540" h="3238500">
                  <a:moveTo>
                    <a:pt x="2258567" y="27432"/>
                  </a:moveTo>
                  <a:lnTo>
                    <a:pt x="2258567" y="0"/>
                  </a:lnTo>
                  <a:lnTo>
                    <a:pt x="2229612" y="0"/>
                  </a:lnTo>
                  <a:lnTo>
                    <a:pt x="2229612" y="27432"/>
                  </a:lnTo>
                  <a:lnTo>
                    <a:pt x="2258567" y="27432"/>
                  </a:lnTo>
                  <a:close/>
                </a:path>
                <a:path w="3177540" h="3238500">
                  <a:moveTo>
                    <a:pt x="2316479" y="27432"/>
                  </a:moveTo>
                  <a:lnTo>
                    <a:pt x="2316479" y="0"/>
                  </a:lnTo>
                  <a:lnTo>
                    <a:pt x="2287523" y="0"/>
                  </a:lnTo>
                  <a:lnTo>
                    <a:pt x="2287523" y="27432"/>
                  </a:lnTo>
                  <a:lnTo>
                    <a:pt x="2316479" y="27432"/>
                  </a:lnTo>
                  <a:close/>
                </a:path>
                <a:path w="3177540" h="3238500">
                  <a:moveTo>
                    <a:pt x="2372867" y="27432"/>
                  </a:moveTo>
                  <a:lnTo>
                    <a:pt x="2372867" y="0"/>
                  </a:lnTo>
                  <a:lnTo>
                    <a:pt x="2343912" y="0"/>
                  </a:lnTo>
                  <a:lnTo>
                    <a:pt x="2343912" y="27432"/>
                  </a:lnTo>
                  <a:lnTo>
                    <a:pt x="2372867" y="27432"/>
                  </a:lnTo>
                  <a:close/>
                </a:path>
                <a:path w="3177540" h="3238500">
                  <a:moveTo>
                    <a:pt x="2430779" y="27432"/>
                  </a:moveTo>
                  <a:lnTo>
                    <a:pt x="2430779" y="0"/>
                  </a:lnTo>
                  <a:lnTo>
                    <a:pt x="2401823" y="0"/>
                  </a:lnTo>
                  <a:lnTo>
                    <a:pt x="2401823" y="27432"/>
                  </a:lnTo>
                  <a:lnTo>
                    <a:pt x="2430779" y="27432"/>
                  </a:lnTo>
                  <a:close/>
                </a:path>
                <a:path w="3177540" h="3238500">
                  <a:moveTo>
                    <a:pt x="2487167" y="27432"/>
                  </a:moveTo>
                  <a:lnTo>
                    <a:pt x="2487167" y="0"/>
                  </a:lnTo>
                  <a:lnTo>
                    <a:pt x="2458212" y="0"/>
                  </a:lnTo>
                  <a:lnTo>
                    <a:pt x="2458212" y="27432"/>
                  </a:lnTo>
                  <a:lnTo>
                    <a:pt x="2487167" y="27432"/>
                  </a:lnTo>
                  <a:close/>
                </a:path>
                <a:path w="3177540" h="3238500">
                  <a:moveTo>
                    <a:pt x="2543555" y="27432"/>
                  </a:moveTo>
                  <a:lnTo>
                    <a:pt x="2543555" y="0"/>
                  </a:lnTo>
                  <a:lnTo>
                    <a:pt x="2516123" y="0"/>
                  </a:lnTo>
                  <a:lnTo>
                    <a:pt x="2516123" y="27432"/>
                  </a:lnTo>
                  <a:lnTo>
                    <a:pt x="2543555" y="27432"/>
                  </a:lnTo>
                  <a:close/>
                </a:path>
                <a:path w="3177540" h="3238500">
                  <a:moveTo>
                    <a:pt x="2601467" y="27432"/>
                  </a:moveTo>
                  <a:lnTo>
                    <a:pt x="2601467" y="0"/>
                  </a:lnTo>
                  <a:lnTo>
                    <a:pt x="2572512" y="0"/>
                  </a:lnTo>
                  <a:lnTo>
                    <a:pt x="2572512" y="27432"/>
                  </a:lnTo>
                  <a:lnTo>
                    <a:pt x="2601467" y="27432"/>
                  </a:lnTo>
                  <a:close/>
                </a:path>
                <a:path w="3177540" h="3238500">
                  <a:moveTo>
                    <a:pt x="2657855" y="27432"/>
                  </a:moveTo>
                  <a:lnTo>
                    <a:pt x="2657855" y="0"/>
                  </a:lnTo>
                  <a:lnTo>
                    <a:pt x="2630423" y="0"/>
                  </a:lnTo>
                  <a:lnTo>
                    <a:pt x="2630423" y="27432"/>
                  </a:lnTo>
                  <a:lnTo>
                    <a:pt x="2657855" y="27432"/>
                  </a:lnTo>
                  <a:close/>
                </a:path>
                <a:path w="3177540" h="3238500">
                  <a:moveTo>
                    <a:pt x="2715767" y="27432"/>
                  </a:moveTo>
                  <a:lnTo>
                    <a:pt x="2715767" y="0"/>
                  </a:lnTo>
                  <a:lnTo>
                    <a:pt x="2686812" y="0"/>
                  </a:lnTo>
                  <a:lnTo>
                    <a:pt x="2686812" y="27432"/>
                  </a:lnTo>
                  <a:lnTo>
                    <a:pt x="2715767" y="27432"/>
                  </a:lnTo>
                  <a:close/>
                </a:path>
                <a:path w="3177540" h="3238500">
                  <a:moveTo>
                    <a:pt x="2772155" y="27432"/>
                  </a:moveTo>
                  <a:lnTo>
                    <a:pt x="2772155" y="0"/>
                  </a:lnTo>
                  <a:lnTo>
                    <a:pt x="2744723" y="0"/>
                  </a:lnTo>
                  <a:lnTo>
                    <a:pt x="2744723" y="27432"/>
                  </a:lnTo>
                  <a:lnTo>
                    <a:pt x="2772155" y="27432"/>
                  </a:lnTo>
                  <a:close/>
                </a:path>
                <a:path w="3177540" h="3238500">
                  <a:moveTo>
                    <a:pt x="2830067" y="27432"/>
                  </a:moveTo>
                  <a:lnTo>
                    <a:pt x="2830067" y="0"/>
                  </a:lnTo>
                  <a:lnTo>
                    <a:pt x="2801112" y="0"/>
                  </a:lnTo>
                  <a:lnTo>
                    <a:pt x="2801112" y="27432"/>
                  </a:lnTo>
                  <a:lnTo>
                    <a:pt x="2830067" y="27432"/>
                  </a:lnTo>
                  <a:close/>
                </a:path>
                <a:path w="3177540" h="3238500">
                  <a:moveTo>
                    <a:pt x="2886455" y="27432"/>
                  </a:moveTo>
                  <a:lnTo>
                    <a:pt x="2886455" y="0"/>
                  </a:lnTo>
                  <a:lnTo>
                    <a:pt x="2859023" y="0"/>
                  </a:lnTo>
                  <a:lnTo>
                    <a:pt x="2859023" y="27432"/>
                  </a:lnTo>
                  <a:lnTo>
                    <a:pt x="2886455" y="27432"/>
                  </a:lnTo>
                  <a:close/>
                </a:path>
                <a:path w="3177540" h="3238500">
                  <a:moveTo>
                    <a:pt x="2944367" y="27432"/>
                  </a:moveTo>
                  <a:lnTo>
                    <a:pt x="2944367" y="0"/>
                  </a:lnTo>
                  <a:lnTo>
                    <a:pt x="2915412" y="0"/>
                  </a:lnTo>
                  <a:lnTo>
                    <a:pt x="2915412" y="27432"/>
                  </a:lnTo>
                  <a:lnTo>
                    <a:pt x="2944367" y="27432"/>
                  </a:lnTo>
                  <a:close/>
                </a:path>
                <a:path w="3177540" h="3238500">
                  <a:moveTo>
                    <a:pt x="3000755" y="27432"/>
                  </a:moveTo>
                  <a:lnTo>
                    <a:pt x="3000755" y="0"/>
                  </a:lnTo>
                  <a:lnTo>
                    <a:pt x="2973323" y="0"/>
                  </a:lnTo>
                  <a:lnTo>
                    <a:pt x="2973323" y="27432"/>
                  </a:lnTo>
                  <a:lnTo>
                    <a:pt x="3000755" y="27432"/>
                  </a:lnTo>
                  <a:close/>
                </a:path>
                <a:path w="3177540" h="3238500">
                  <a:moveTo>
                    <a:pt x="3058667" y="27432"/>
                  </a:moveTo>
                  <a:lnTo>
                    <a:pt x="3058667" y="0"/>
                  </a:lnTo>
                  <a:lnTo>
                    <a:pt x="3029712" y="0"/>
                  </a:lnTo>
                  <a:lnTo>
                    <a:pt x="3029712" y="27432"/>
                  </a:lnTo>
                  <a:lnTo>
                    <a:pt x="3058667" y="27432"/>
                  </a:lnTo>
                  <a:close/>
                </a:path>
                <a:path w="3177540" h="3238500">
                  <a:moveTo>
                    <a:pt x="3115055" y="27432"/>
                  </a:moveTo>
                  <a:lnTo>
                    <a:pt x="3115055" y="0"/>
                  </a:lnTo>
                  <a:lnTo>
                    <a:pt x="3087623" y="0"/>
                  </a:lnTo>
                  <a:lnTo>
                    <a:pt x="3087623" y="27432"/>
                  </a:lnTo>
                  <a:lnTo>
                    <a:pt x="3115055" y="27432"/>
                  </a:lnTo>
                  <a:close/>
                </a:path>
                <a:path w="3177540" h="3238500">
                  <a:moveTo>
                    <a:pt x="3177540" y="22860"/>
                  </a:moveTo>
                  <a:lnTo>
                    <a:pt x="3177540" y="6096"/>
                  </a:lnTo>
                  <a:lnTo>
                    <a:pt x="3171443" y="0"/>
                  </a:lnTo>
                  <a:lnTo>
                    <a:pt x="3144012" y="0"/>
                  </a:lnTo>
                  <a:lnTo>
                    <a:pt x="3144012" y="27432"/>
                  </a:lnTo>
                  <a:lnTo>
                    <a:pt x="3148583" y="27432"/>
                  </a:lnTo>
                  <a:lnTo>
                    <a:pt x="3148583" y="13716"/>
                  </a:lnTo>
                  <a:lnTo>
                    <a:pt x="3158743" y="22860"/>
                  </a:lnTo>
                  <a:lnTo>
                    <a:pt x="3177540" y="22860"/>
                  </a:lnTo>
                  <a:close/>
                </a:path>
                <a:path w="3177540" h="3238500">
                  <a:moveTo>
                    <a:pt x="3158743" y="22860"/>
                  </a:moveTo>
                  <a:lnTo>
                    <a:pt x="3148583" y="13716"/>
                  </a:lnTo>
                  <a:lnTo>
                    <a:pt x="3148583" y="22860"/>
                  </a:lnTo>
                  <a:lnTo>
                    <a:pt x="3158743" y="22860"/>
                  </a:lnTo>
                  <a:close/>
                </a:path>
                <a:path w="3177540" h="3238500">
                  <a:moveTo>
                    <a:pt x="3163823" y="27432"/>
                  </a:moveTo>
                  <a:lnTo>
                    <a:pt x="3158743" y="22860"/>
                  </a:lnTo>
                  <a:lnTo>
                    <a:pt x="3148583" y="22860"/>
                  </a:lnTo>
                  <a:lnTo>
                    <a:pt x="3148583" y="27432"/>
                  </a:lnTo>
                  <a:lnTo>
                    <a:pt x="3163823" y="27432"/>
                  </a:lnTo>
                  <a:close/>
                </a:path>
                <a:path w="3177540" h="3238500">
                  <a:moveTo>
                    <a:pt x="3177540" y="80772"/>
                  </a:moveTo>
                  <a:lnTo>
                    <a:pt x="3177540" y="51816"/>
                  </a:lnTo>
                  <a:lnTo>
                    <a:pt x="3148584" y="51816"/>
                  </a:lnTo>
                  <a:lnTo>
                    <a:pt x="3148584" y="80772"/>
                  </a:lnTo>
                  <a:lnTo>
                    <a:pt x="3177540" y="80772"/>
                  </a:lnTo>
                  <a:close/>
                </a:path>
                <a:path w="3177540" h="3238500">
                  <a:moveTo>
                    <a:pt x="3177540" y="137160"/>
                  </a:moveTo>
                  <a:lnTo>
                    <a:pt x="3177540" y="109728"/>
                  </a:lnTo>
                  <a:lnTo>
                    <a:pt x="3148584" y="109728"/>
                  </a:lnTo>
                  <a:lnTo>
                    <a:pt x="3148584" y="137160"/>
                  </a:lnTo>
                  <a:lnTo>
                    <a:pt x="3177540" y="137160"/>
                  </a:lnTo>
                  <a:close/>
                </a:path>
                <a:path w="3177540" h="3238500">
                  <a:moveTo>
                    <a:pt x="3177540" y="195072"/>
                  </a:moveTo>
                  <a:lnTo>
                    <a:pt x="3177540" y="166116"/>
                  </a:lnTo>
                  <a:lnTo>
                    <a:pt x="3148584" y="166116"/>
                  </a:lnTo>
                  <a:lnTo>
                    <a:pt x="3148584" y="195072"/>
                  </a:lnTo>
                  <a:lnTo>
                    <a:pt x="3177540" y="195072"/>
                  </a:lnTo>
                  <a:close/>
                </a:path>
                <a:path w="3177540" h="3238500">
                  <a:moveTo>
                    <a:pt x="3177540" y="251460"/>
                  </a:moveTo>
                  <a:lnTo>
                    <a:pt x="3177540" y="224028"/>
                  </a:lnTo>
                  <a:lnTo>
                    <a:pt x="3148584" y="224028"/>
                  </a:lnTo>
                  <a:lnTo>
                    <a:pt x="3148584" y="251460"/>
                  </a:lnTo>
                  <a:lnTo>
                    <a:pt x="3177540" y="251460"/>
                  </a:lnTo>
                  <a:close/>
                </a:path>
                <a:path w="3177540" h="3238500">
                  <a:moveTo>
                    <a:pt x="3177540" y="309372"/>
                  </a:moveTo>
                  <a:lnTo>
                    <a:pt x="3177540" y="280416"/>
                  </a:lnTo>
                  <a:lnTo>
                    <a:pt x="3148584" y="280416"/>
                  </a:lnTo>
                  <a:lnTo>
                    <a:pt x="3148584" y="309372"/>
                  </a:lnTo>
                  <a:lnTo>
                    <a:pt x="3177540" y="309372"/>
                  </a:lnTo>
                  <a:close/>
                </a:path>
                <a:path w="3177540" h="3238500">
                  <a:moveTo>
                    <a:pt x="3177540" y="365760"/>
                  </a:moveTo>
                  <a:lnTo>
                    <a:pt x="3177540" y="338328"/>
                  </a:lnTo>
                  <a:lnTo>
                    <a:pt x="3148584" y="338328"/>
                  </a:lnTo>
                  <a:lnTo>
                    <a:pt x="3148584" y="365760"/>
                  </a:lnTo>
                  <a:lnTo>
                    <a:pt x="3177540" y="365760"/>
                  </a:lnTo>
                  <a:close/>
                </a:path>
                <a:path w="3177540" h="3238500">
                  <a:moveTo>
                    <a:pt x="3177540" y="423672"/>
                  </a:moveTo>
                  <a:lnTo>
                    <a:pt x="3177540" y="394716"/>
                  </a:lnTo>
                  <a:lnTo>
                    <a:pt x="3148584" y="394716"/>
                  </a:lnTo>
                  <a:lnTo>
                    <a:pt x="3148584" y="423672"/>
                  </a:lnTo>
                  <a:lnTo>
                    <a:pt x="3177540" y="423672"/>
                  </a:lnTo>
                  <a:close/>
                </a:path>
                <a:path w="3177540" h="3238500">
                  <a:moveTo>
                    <a:pt x="3177540" y="480060"/>
                  </a:moveTo>
                  <a:lnTo>
                    <a:pt x="3177540" y="452628"/>
                  </a:lnTo>
                  <a:lnTo>
                    <a:pt x="3148584" y="452628"/>
                  </a:lnTo>
                  <a:lnTo>
                    <a:pt x="3148584" y="480060"/>
                  </a:lnTo>
                  <a:lnTo>
                    <a:pt x="3177540" y="480060"/>
                  </a:lnTo>
                  <a:close/>
                </a:path>
                <a:path w="3177540" h="3238500">
                  <a:moveTo>
                    <a:pt x="3177540" y="537972"/>
                  </a:moveTo>
                  <a:lnTo>
                    <a:pt x="3177540" y="509016"/>
                  </a:lnTo>
                  <a:lnTo>
                    <a:pt x="3148584" y="509016"/>
                  </a:lnTo>
                  <a:lnTo>
                    <a:pt x="3148584" y="537972"/>
                  </a:lnTo>
                  <a:lnTo>
                    <a:pt x="3177540" y="537972"/>
                  </a:lnTo>
                  <a:close/>
                </a:path>
                <a:path w="3177540" h="3238500">
                  <a:moveTo>
                    <a:pt x="3177540" y="594360"/>
                  </a:moveTo>
                  <a:lnTo>
                    <a:pt x="3177540" y="565404"/>
                  </a:lnTo>
                  <a:lnTo>
                    <a:pt x="3148584" y="565404"/>
                  </a:lnTo>
                  <a:lnTo>
                    <a:pt x="3148584" y="594360"/>
                  </a:lnTo>
                  <a:lnTo>
                    <a:pt x="3177540" y="594360"/>
                  </a:lnTo>
                  <a:close/>
                </a:path>
                <a:path w="3177540" h="3238500">
                  <a:moveTo>
                    <a:pt x="3177540" y="652272"/>
                  </a:moveTo>
                  <a:lnTo>
                    <a:pt x="3177540" y="623316"/>
                  </a:lnTo>
                  <a:lnTo>
                    <a:pt x="3148584" y="623316"/>
                  </a:lnTo>
                  <a:lnTo>
                    <a:pt x="3148584" y="652272"/>
                  </a:lnTo>
                  <a:lnTo>
                    <a:pt x="3177540" y="652272"/>
                  </a:lnTo>
                  <a:close/>
                </a:path>
                <a:path w="3177540" h="3238500">
                  <a:moveTo>
                    <a:pt x="3177540" y="708660"/>
                  </a:moveTo>
                  <a:lnTo>
                    <a:pt x="3177540" y="679704"/>
                  </a:lnTo>
                  <a:lnTo>
                    <a:pt x="3148584" y="679704"/>
                  </a:lnTo>
                  <a:lnTo>
                    <a:pt x="3148584" y="708660"/>
                  </a:lnTo>
                  <a:lnTo>
                    <a:pt x="3177540" y="708660"/>
                  </a:lnTo>
                  <a:close/>
                </a:path>
                <a:path w="3177540" h="3238500">
                  <a:moveTo>
                    <a:pt x="3177540" y="766572"/>
                  </a:moveTo>
                  <a:lnTo>
                    <a:pt x="3177540" y="737616"/>
                  </a:lnTo>
                  <a:lnTo>
                    <a:pt x="3148584" y="737616"/>
                  </a:lnTo>
                  <a:lnTo>
                    <a:pt x="3148584" y="766572"/>
                  </a:lnTo>
                  <a:lnTo>
                    <a:pt x="3177540" y="766572"/>
                  </a:lnTo>
                  <a:close/>
                </a:path>
                <a:path w="3177540" h="3238500">
                  <a:moveTo>
                    <a:pt x="3177540" y="822960"/>
                  </a:moveTo>
                  <a:lnTo>
                    <a:pt x="3177540" y="794004"/>
                  </a:lnTo>
                  <a:lnTo>
                    <a:pt x="3148584" y="794004"/>
                  </a:lnTo>
                  <a:lnTo>
                    <a:pt x="3148584" y="822960"/>
                  </a:lnTo>
                  <a:lnTo>
                    <a:pt x="3177540" y="822960"/>
                  </a:lnTo>
                  <a:close/>
                </a:path>
                <a:path w="3177540" h="3238500">
                  <a:moveTo>
                    <a:pt x="3177540" y="880872"/>
                  </a:moveTo>
                  <a:lnTo>
                    <a:pt x="3177540" y="851916"/>
                  </a:lnTo>
                  <a:lnTo>
                    <a:pt x="3148584" y="851916"/>
                  </a:lnTo>
                  <a:lnTo>
                    <a:pt x="3148584" y="880872"/>
                  </a:lnTo>
                  <a:lnTo>
                    <a:pt x="3177540" y="880872"/>
                  </a:lnTo>
                  <a:close/>
                </a:path>
                <a:path w="3177540" h="3238500">
                  <a:moveTo>
                    <a:pt x="3177540" y="937260"/>
                  </a:moveTo>
                  <a:lnTo>
                    <a:pt x="3177540" y="908304"/>
                  </a:lnTo>
                  <a:lnTo>
                    <a:pt x="3148584" y="908304"/>
                  </a:lnTo>
                  <a:lnTo>
                    <a:pt x="3148584" y="937260"/>
                  </a:lnTo>
                  <a:lnTo>
                    <a:pt x="3177540" y="937260"/>
                  </a:lnTo>
                  <a:close/>
                </a:path>
                <a:path w="3177540" h="3238500">
                  <a:moveTo>
                    <a:pt x="3177540" y="995172"/>
                  </a:moveTo>
                  <a:lnTo>
                    <a:pt x="3177540" y="966216"/>
                  </a:lnTo>
                  <a:lnTo>
                    <a:pt x="3148584" y="966216"/>
                  </a:lnTo>
                  <a:lnTo>
                    <a:pt x="3148584" y="995172"/>
                  </a:lnTo>
                  <a:lnTo>
                    <a:pt x="3177540" y="995172"/>
                  </a:lnTo>
                  <a:close/>
                </a:path>
                <a:path w="3177540" h="3238500">
                  <a:moveTo>
                    <a:pt x="3177540" y="1051560"/>
                  </a:moveTo>
                  <a:lnTo>
                    <a:pt x="3177540" y="1022604"/>
                  </a:lnTo>
                  <a:lnTo>
                    <a:pt x="3148584" y="1022604"/>
                  </a:lnTo>
                  <a:lnTo>
                    <a:pt x="3148584" y="1051560"/>
                  </a:lnTo>
                  <a:lnTo>
                    <a:pt x="3177540" y="1051560"/>
                  </a:lnTo>
                  <a:close/>
                </a:path>
                <a:path w="3177540" h="3238500">
                  <a:moveTo>
                    <a:pt x="3177540" y="1109472"/>
                  </a:moveTo>
                  <a:lnTo>
                    <a:pt x="3177540" y="1080516"/>
                  </a:lnTo>
                  <a:lnTo>
                    <a:pt x="3148584" y="1080516"/>
                  </a:lnTo>
                  <a:lnTo>
                    <a:pt x="3148584" y="1109472"/>
                  </a:lnTo>
                  <a:lnTo>
                    <a:pt x="3177540" y="1109472"/>
                  </a:lnTo>
                  <a:close/>
                </a:path>
                <a:path w="3177540" h="3238500">
                  <a:moveTo>
                    <a:pt x="3177540" y="1165860"/>
                  </a:moveTo>
                  <a:lnTo>
                    <a:pt x="3177540" y="1136904"/>
                  </a:lnTo>
                  <a:lnTo>
                    <a:pt x="3148584" y="1136904"/>
                  </a:lnTo>
                  <a:lnTo>
                    <a:pt x="3148584" y="1165860"/>
                  </a:lnTo>
                  <a:lnTo>
                    <a:pt x="3177540" y="1165860"/>
                  </a:lnTo>
                  <a:close/>
                </a:path>
                <a:path w="3177540" h="3238500">
                  <a:moveTo>
                    <a:pt x="3177540" y="1223772"/>
                  </a:moveTo>
                  <a:lnTo>
                    <a:pt x="3177540" y="1194816"/>
                  </a:lnTo>
                  <a:lnTo>
                    <a:pt x="3148584" y="1194816"/>
                  </a:lnTo>
                  <a:lnTo>
                    <a:pt x="3148584" y="1223772"/>
                  </a:lnTo>
                  <a:lnTo>
                    <a:pt x="3177540" y="1223772"/>
                  </a:lnTo>
                  <a:close/>
                </a:path>
                <a:path w="3177540" h="3238500">
                  <a:moveTo>
                    <a:pt x="3177540" y="1280160"/>
                  </a:moveTo>
                  <a:lnTo>
                    <a:pt x="3177540" y="1251204"/>
                  </a:lnTo>
                  <a:lnTo>
                    <a:pt x="3148584" y="1251204"/>
                  </a:lnTo>
                  <a:lnTo>
                    <a:pt x="3148584" y="1280160"/>
                  </a:lnTo>
                  <a:lnTo>
                    <a:pt x="3177540" y="1280160"/>
                  </a:lnTo>
                  <a:close/>
                </a:path>
                <a:path w="3177540" h="3238500">
                  <a:moveTo>
                    <a:pt x="3177540" y="1338072"/>
                  </a:moveTo>
                  <a:lnTo>
                    <a:pt x="3177540" y="1309116"/>
                  </a:lnTo>
                  <a:lnTo>
                    <a:pt x="3148584" y="1309116"/>
                  </a:lnTo>
                  <a:lnTo>
                    <a:pt x="3148584" y="1338072"/>
                  </a:lnTo>
                  <a:lnTo>
                    <a:pt x="3177540" y="1338072"/>
                  </a:lnTo>
                  <a:close/>
                </a:path>
                <a:path w="3177540" h="3238500">
                  <a:moveTo>
                    <a:pt x="3177540" y="1394460"/>
                  </a:moveTo>
                  <a:lnTo>
                    <a:pt x="3177540" y="1365504"/>
                  </a:lnTo>
                  <a:lnTo>
                    <a:pt x="3148584" y="1365504"/>
                  </a:lnTo>
                  <a:lnTo>
                    <a:pt x="3148584" y="1394460"/>
                  </a:lnTo>
                  <a:lnTo>
                    <a:pt x="3177540" y="1394460"/>
                  </a:lnTo>
                  <a:close/>
                </a:path>
                <a:path w="3177540" h="3238500">
                  <a:moveTo>
                    <a:pt x="3177540" y="1452372"/>
                  </a:moveTo>
                  <a:lnTo>
                    <a:pt x="3177540" y="1423416"/>
                  </a:lnTo>
                  <a:lnTo>
                    <a:pt x="3148584" y="1423416"/>
                  </a:lnTo>
                  <a:lnTo>
                    <a:pt x="3148584" y="1452372"/>
                  </a:lnTo>
                  <a:lnTo>
                    <a:pt x="3177540" y="1452372"/>
                  </a:lnTo>
                  <a:close/>
                </a:path>
                <a:path w="3177540" h="3238500">
                  <a:moveTo>
                    <a:pt x="3177540" y="1508760"/>
                  </a:moveTo>
                  <a:lnTo>
                    <a:pt x="3177540" y="1479804"/>
                  </a:lnTo>
                  <a:lnTo>
                    <a:pt x="3148584" y="1479804"/>
                  </a:lnTo>
                  <a:lnTo>
                    <a:pt x="3148584" y="1508760"/>
                  </a:lnTo>
                  <a:lnTo>
                    <a:pt x="3177540" y="1508760"/>
                  </a:lnTo>
                  <a:close/>
                </a:path>
                <a:path w="3177540" h="3238500">
                  <a:moveTo>
                    <a:pt x="3177540" y="1566672"/>
                  </a:moveTo>
                  <a:lnTo>
                    <a:pt x="3177540" y="1537716"/>
                  </a:lnTo>
                  <a:lnTo>
                    <a:pt x="3148584" y="1537716"/>
                  </a:lnTo>
                  <a:lnTo>
                    <a:pt x="3148584" y="1566672"/>
                  </a:lnTo>
                  <a:lnTo>
                    <a:pt x="3177540" y="1566672"/>
                  </a:lnTo>
                  <a:close/>
                </a:path>
                <a:path w="3177540" h="3238500">
                  <a:moveTo>
                    <a:pt x="3177540" y="1623060"/>
                  </a:moveTo>
                  <a:lnTo>
                    <a:pt x="3177540" y="1594104"/>
                  </a:lnTo>
                  <a:lnTo>
                    <a:pt x="3148584" y="1594104"/>
                  </a:lnTo>
                  <a:lnTo>
                    <a:pt x="3148584" y="1623060"/>
                  </a:lnTo>
                  <a:lnTo>
                    <a:pt x="3177540" y="1623060"/>
                  </a:lnTo>
                  <a:close/>
                </a:path>
                <a:path w="3177540" h="3238500">
                  <a:moveTo>
                    <a:pt x="3177540" y="1680972"/>
                  </a:moveTo>
                  <a:lnTo>
                    <a:pt x="3177540" y="1652016"/>
                  </a:lnTo>
                  <a:lnTo>
                    <a:pt x="3148584" y="1652016"/>
                  </a:lnTo>
                  <a:lnTo>
                    <a:pt x="3148584" y="1680972"/>
                  </a:lnTo>
                  <a:lnTo>
                    <a:pt x="3177540" y="1680972"/>
                  </a:lnTo>
                  <a:close/>
                </a:path>
                <a:path w="3177540" h="3238500">
                  <a:moveTo>
                    <a:pt x="3177540" y="1737360"/>
                  </a:moveTo>
                  <a:lnTo>
                    <a:pt x="3177540" y="1708404"/>
                  </a:lnTo>
                  <a:lnTo>
                    <a:pt x="3148584" y="1708404"/>
                  </a:lnTo>
                  <a:lnTo>
                    <a:pt x="3148584" y="1737360"/>
                  </a:lnTo>
                  <a:lnTo>
                    <a:pt x="3177540" y="1737360"/>
                  </a:lnTo>
                  <a:close/>
                </a:path>
                <a:path w="3177540" h="3238500">
                  <a:moveTo>
                    <a:pt x="3177540" y="1795272"/>
                  </a:moveTo>
                  <a:lnTo>
                    <a:pt x="3177540" y="1766316"/>
                  </a:lnTo>
                  <a:lnTo>
                    <a:pt x="3148584" y="1766316"/>
                  </a:lnTo>
                  <a:lnTo>
                    <a:pt x="3148584" y="1795272"/>
                  </a:lnTo>
                  <a:lnTo>
                    <a:pt x="3177540" y="1795272"/>
                  </a:lnTo>
                  <a:close/>
                </a:path>
                <a:path w="3177540" h="3238500">
                  <a:moveTo>
                    <a:pt x="3177540" y="1851660"/>
                  </a:moveTo>
                  <a:lnTo>
                    <a:pt x="3177540" y="1822704"/>
                  </a:lnTo>
                  <a:lnTo>
                    <a:pt x="3148584" y="1822704"/>
                  </a:lnTo>
                  <a:lnTo>
                    <a:pt x="3148584" y="1851660"/>
                  </a:lnTo>
                  <a:lnTo>
                    <a:pt x="3177540" y="1851660"/>
                  </a:lnTo>
                  <a:close/>
                </a:path>
                <a:path w="3177540" h="3238500">
                  <a:moveTo>
                    <a:pt x="3177540" y="1909572"/>
                  </a:moveTo>
                  <a:lnTo>
                    <a:pt x="3177540" y="1880616"/>
                  </a:lnTo>
                  <a:lnTo>
                    <a:pt x="3148584" y="1880616"/>
                  </a:lnTo>
                  <a:lnTo>
                    <a:pt x="3148584" y="1909572"/>
                  </a:lnTo>
                  <a:lnTo>
                    <a:pt x="3177540" y="1909572"/>
                  </a:lnTo>
                  <a:close/>
                </a:path>
                <a:path w="3177540" h="3238500">
                  <a:moveTo>
                    <a:pt x="3177540" y="1965960"/>
                  </a:moveTo>
                  <a:lnTo>
                    <a:pt x="3177540" y="1937004"/>
                  </a:lnTo>
                  <a:lnTo>
                    <a:pt x="3148584" y="1937004"/>
                  </a:lnTo>
                  <a:lnTo>
                    <a:pt x="3148584" y="1965960"/>
                  </a:lnTo>
                  <a:lnTo>
                    <a:pt x="3177540" y="1965960"/>
                  </a:lnTo>
                  <a:close/>
                </a:path>
                <a:path w="3177540" h="3238500">
                  <a:moveTo>
                    <a:pt x="3177540" y="2022348"/>
                  </a:moveTo>
                  <a:lnTo>
                    <a:pt x="3177540" y="1994916"/>
                  </a:lnTo>
                  <a:lnTo>
                    <a:pt x="3148584" y="1994916"/>
                  </a:lnTo>
                  <a:lnTo>
                    <a:pt x="3148584" y="2022348"/>
                  </a:lnTo>
                  <a:lnTo>
                    <a:pt x="3177540" y="2022348"/>
                  </a:lnTo>
                  <a:close/>
                </a:path>
                <a:path w="3177540" h="3238500">
                  <a:moveTo>
                    <a:pt x="3177540" y="2080260"/>
                  </a:moveTo>
                  <a:lnTo>
                    <a:pt x="3177540" y="2051304"/>
                  </a:lnTo>
                  <a:lnTo>
                    <a:pt x="3148584" y="2051304"/>
                  </a:lnTo>
                  <a:lnTo>
                    <a:pt x="3148584" y="2080260"/>
                  </a:lnTo>
                  <a:lnTo>
                    <a:pt x="3177540" y="2080260"/>
                  </a:lnTo>
                  <a:close/>
                </a:path>
                <a:path w="3177540" h="3238500">
                  <a:moveTo>
                    <a:pt x="3177540" y="2136648"/>
                  </a:moveTo>
                  <a:lnTo>
                    <a:pt x="3177540" y="2109216"/>
                  </a:lnTo>
                  <a:lnTo>
                    <a:pt x="3148584" y="2109216"/>
                  </a:lnTo>
                  <a:lnTo>
                    <a:pt x="3148584" y="2136648"/>
                  </a:lnTo>
                  <a:lnTo>
                    <a:pt x="3177540" y="2136648"/>
                  </a:lnTo>
                  <a:close/>
                </a:path>
                <a:path w="3177540" h="3238500">
                  <a:moveTo>
                    <a:pt x="3177540" y="2194560"/>
                  </a:moveTo>
                  <a:lnTo>
                    <a:pt x="3177540" y="2165604"/>
                  </a:lnTo>
                  <a:lnTo>
                    <a:pt x="3148584" y="2165604"/>
                  </a:lnTo>
                  <a:lnTo>
                    <a:pt x="3148584" y="2194560"/>
                  </a:lnTo>
                  <a:lnTo>
                    <a:pt x="3177540" y="2194560"/>
                  </a:lnTo>
                  <a:close/>
                </a:path>
                <a:path w="3177540" h="3238500">
                  <a:moveTo>
                    <a:pt x="3177540" y="2250948"/>
                  </a:moveTo>
                  <a:lnTo>
                    <a:pt x="3177540" y="2223516"/>
                  </a:lnTo>
                  <a:lnTo>
                    <a:pt x="3148584" y="2223516"/>
                  </a:lnTo>
                  <a:lnTo>
                    <a:pt x="3148584" y="2250948"/>
                  </a:lnTo>
                  <a:lnTo>
                    <a:pt x="3177540" y="2250948"/>
                  </a:lnTo>
                  <a:close/>
                </a:path>
                <a:path w="3177540" h="3238500">
                  <a:moveTo>
                    <a:pt x="3177540" y="2308860"/>
                  </a:moveTo>
                  <a:lnTo>
                    <a:pt x="3177540" y="2279904"/>
                  </a:lnTo>
                  <a:lnTo>
                    <a:pt x="3148584" y="2279904"/>
                  </a:lnTo>
                  <a:lnTo>
                    <a:pt x="3148584" y="2308860"/>
                  </a:lnTo>
                  <a:lnTo>
                    <a:pt x="3177540" y="2308860"/>
                  </a:lnTo>
                  <a:close/>
                </a:path>
                <a:path w="3177540" h="3238500">
                  <a:moveTo>
                    <a:pt x="3177540" y="2365248"/>
                  </a:moveTo>
                  <a:lnTo>
                    <a:pt x="3177540" y="2337816"/>
                  </a:lnTo>
                  <a:lnTo>
                    <a:pt x="3148584" y="2337816"/>
                  </a:lnTo>
                  <a:lnTo>
                    <a:pt x="3148584" y="2365248"/>
                  </a:lnTo>
                  <a:lnTo>
                    <a:pt x="3177540" y="2365248"/>
                  </a:lnTo>
                  <a:close/>
                </a:path>
                <a:path w="3177540" h="3238500">
                  <a:moveTo>
                    <a:pt x="3177540" y="2423160"/>
                  </a:moveTo>
                  <a:lnTo>
                    <a:pt x="3177540" y="2394204"/>
                  </a:lnTo>
                  <a:lnTo>
                    <a:pt x="3148584" y="2394204"/>
                  </a:lnTo>
                  <a:lnTo>
                    <a:pt x="3148584" y="2423160"/>
                  </a:lnTo>
                  <a:lnTo>
                    <a:pt x="3177540" y="2423160"/>
                  </a:lnTo>
                  <a:close/>
                </a:path>
                <a:path w="3177540" h="3238500">
                  <a:moveTo>
                    <a:pt x="3177540" y="2479548"/>
                  </a:moveTo>
                  <a:lnTo>
                    <a:pt x="3177540" y="2452116"/>
                  </a:lnTo>
                  <a:lnTo>
                    <a:pt x="3148584" y="2452116"/>
                  </a:lnTo>
                  <a:lnTo>
                    <a:pt x="3148584" y="2479548"/>
                  </a:lnTo>
                  <a:lnTo>
                    <a:pt x="3177540" y="2479548"/>
                  </a:lnTo>
                  <a:close/>
                </a:path>
                <a:path w="3177540" h="3238500">
                  <a:moveTo>
                    <a:pt x="3177540" y="2537460"/>
                  </a:moveTo>
                  <a:lnTo>
                    <a:pt x="3177540" y="2508504"/>
                  </a:lnTo>
                  <a:lnTo>
                    <a:pt x="3148584" y="2508504"/>
                  </a:lnTo>
                  <a:lnTo>
                    <a:pt x="3148584" y="2537460"/>
                  </a:lnTo>
                  <a:lnTo>
                    <a:pt x="3177540" y="2537460"/>
                  </a:lnTo>
                  <a:close/>
                </a:path>
                <a:path w="3177540" h="3238500">
                  <a:moveTo>
                    <a:pt x="3177540" y="2593848"/>
                  </a:moveTo>
                  <a:lnTo>
                    <a:pt x="3177540" y="2566416"/>
                  </a:lnTo>
                  <a:lnTo>
                    <a:pt x="3148584" y="2566416"/>
                  </a:lnTo>
                  <a:lnTo>
                    <a:pt x="3148584" y="2593848"/>
                  </a:lnTo>
                  <a:lnTo>
                    <a:pt x="3177540" y="2593848"/>
                  </a:lnTo>
                  <a:close/>
                </a:path>
                <a:path w="3177540" h="3238500">
                  <a:moveTo>
                    <a:pt x="3177540" y="2651760"/>
                  </a:moveTo>
                  <a:lnTo>
                    <a:pt x="3177540" y="2622804"/>
                  </a:lnTo>
                  <a:lnTo>
                    <a:pt x="3148584" y="2622804"/>
                  </a:lnTo>
                  <a:lnTo>
                    <a:pt x="3148584" y="2651760"/>
                  </a:lnTo>
                  <a:lnTo>
                    <a:pt x="3177540" y="2651760"/>
                  </a:lnTo>
                  <a:close/>
                </a:path>
                <a:path w="3177540" h="3238500">
                  <a:moveTo>
                    <a:pt x="3177540" y="2708148"/>
                  </a:moveTo>
                  <a:lnTo>
                    <a:pt x="3177540" y="2680716"/>
                  </a:lnTo>
                  <a:lnTo>
                    <a:pt x="3148584" y="2680716"/>
                  </a:lnTo>
                  <a:lnTo>
                    <a:pt x="3148584" y="2708148"/>
                  </a:lnTo>
                  <a:lnTo>
                    <a:pt x="3177540" y="2708148"/>
                  </a:lnTo>
                  <a:close/>
                </a:path>
                <a:path w="3177540" h="3238500">
                  <a:moveTo>
                    <a:pt x="3177540" y="2766060"/>
                  </a:moveTo>
                  <a:lnTo>
                    <a:pt x="3177540" y="2737104"/>
                  </a:lnTo>
                  <a:lnTo>
                    <a:pt x="3148584" y="2737104"/>
                  </a:lnTo>
                  <a:lnTo>
                    <a:pt x="3148584" y="2766060"/>
                  </a:lnTo>
                  <a:lnTo>
                    <a:pt x="3177540" y="2766060"/>
                  </a:lnTo>
                  <a:close/>
                </a:path>
                <a:path w="3177540" h="3238500">
                  <a:moveTo>
                    <a:pt x="3177540" y="2822448"/>
                  </a:moveTo>
                  <a:lnTo>
                    <a:pt x="3177540" y="2795016"/>
                  </a:lnTo>
                  <a:lnTo>
                    <a:pt x="3148584" y="2795016"/>
                  </a:lnTo>
                  <a:lnTo>
                    <a:pt x="3148584" y="2822448"/>
                  </a:lnTo>
                  <a:lnTo>
                    <a:pt x="3177540" y="2822448"/>
                  </a:lnTo>
                  <a:close/>
                </a:path>
                <a:path w="3177540" h="3238500">
                  <a:moveTo>
                    <a:pt x="3177540" y="2880360"/>
                  </a:moveTo>
                  <a:lnTo>
                    <a:pt x="3177540" y="2851404"/>
                  </a:lnTo>
                  <a:lnTo>
                    <a:pt x="3148584" y="2851404"/>
                  </a:lnTo>
                  <a:lnTo>
                    <a:pt x="3148584" y="2880360"/>
                  </a:lnTo>
                  <a:lnTo>
                    <a:pt x="3177540" y="2880360"/>
                  </a:lnTo>
                  <a:close/>
                </a:path>
                <a:path w="3177540" h="3238500">
                  <a:moveTo>
                    <a:pt x="3177540" y="2936748"/>
                  </a:moveTo>
                  <a:lnTo>
                    <a:pt x="3177540" y="2909316"/>
                  </a:lnTo>
                  <a:lnTo>
                    <a:pt x="3148584" y="2909316"/>
                  </a:lnTo>
                  <a:lnTo>
                    <a:pt x="3148584" y="2936748"/>
                  </a:lnTo>
                  <a:lnTo>
                    <a:pt x="3177540" y="2936748"/>
                  </a:lnTo>
                  <a:close/>
                </a:path>
                <a:path w="3177540" h="3238500">
                  <a:moveTo>
                    <a:pt x="3177540" y="2994660"/>
                  </a:moveTo>
                  <a:lnTo>
                    <a:pt x="3177540" y="2965704"/>
                  </a:lnTo>
                  <a:lnTo>
                    <a:pt x="3148584" y="2965704"/>
                  </a:lnTo>
                  <a:lnTo>
                    <a:pt x="3148584" y="2994660"/>
                  </a:lnTo>
                  <a:lnTo>
                    <a:pt x="3177540" y="2994660"/>
                  </a:lnTo>
                  <a:close/>
                </a:path>
                <a:path w="3177540" h="3238500">
                  <a:moveTo>
                    <a:pt x="3177540" y="3051048"/>
                  </a:moveTo>
                  <a:lnTo>
                    <a:pt x="3177540" y="3023616"/>
                  </a:lnTo>
                  <a:lnTo>
                    <a:pt x="3148584" y="3023616"/>
                  </a:lnTo>
                  <a:lnTo>
                    <a:pt x="3148584" y="3051048"/>
                  </a:lnTo>
                  <a:lnTo>
                    <a:pt x="3177540" y="3051048"/>
                  </a:lnTo>
                  <a:close/>
                </a:path>
                <a:path w="3177540" h="3238500">
                  <a:moveTo>
                    <a:pt x="3177540" y="3108960"/>
                  </a:moveTo>
                  <a:lnTo>
                    <a:pt x="3177540" y="3080004"/>
                  </a:lnTo>
                  <a:lnTo>
                    <a:pt x="3148584" y="3080004"/>
                  </a:lnTo>
                  <a:lnTo>
                    <a:pt x="3148584" y="3108960"/>
                  </a:lnTo>
                  <a:lnTo>
                    <a:pt x="3177540" y="3108960"/>
                  </a:lnTo>
                  <a:close/>
                </a:path>
                <a:path w="3177540" h="3238500">
                  <a:moveTo>
                    <a:pt x="3177540" y="3165348"/>
                  </a:moveTo>
                  <a:lnTo>
                    <a:pt x="3177540" y="3137916"/>
                  </a:lnTo>
                  <a:lnTo>
                    <a:pt x="3148584" y="3137916"/>
                  </a:lnTo>
                  <a:lnTo>
                    <a:pt x="3148584" y="3165348"/>
                  </a:lnTo>
                  <a:lnTo>
                    <a:pt x="3177540" y="3165348"/>
                  </a:lnTo>
                  <a:close/>
                </a:path>
                <a:path w="3177540" h="3238500">
                  <a:moveTo>
                    <a:pt x="3177540" y="3223260"/>
                  </a:moveTo>
                  <a:lnTo>
                    <a:pt x="3177540" y="3194304"/>
                  </a:lnTo>
                  <a:lnTo>
                    <a:pt x="3148584" y="3194304"/>
                  </a:lnTo>
                  <a:lnTo>
                    <a:pt x="3148584" y="3223260"/>
                  </a:lnTo>
                  <a:lnTo>
                    <a:pt x="3177540" y="3223260"/>
                  </a:lnTo>
                  <a:close/>
                </a:path>
                <a:path w="3177540" h="3238500">
                  <a:moveTo>
                    <a:pt x="3136391" y="3238500"/>
                  </a:moveTo>
                  <a:lnTo>
                    <a:pt x="3136391" y="3211068"/>
                  </a:lnTo>
                  <a:lnTo>
                    <a:pt x="3107436" y="3211068"/>
                  </a:lnTo>
                  <a:lnTo>
                    <a:pt x="3107436" y="3238500"/>
                  </a:lnTo>
                  <a:lnTo>
                    <a:pt x="3136391" y="3238500"/>
                  </a:lnTo>
                  <a:close/>
                </a:path>
                <a:path w="3177540" h="3238500">
                  <a:moveTo>
                    <a:pt x="3080004" y="3238500"/>
                  </a:moveTo>
                  <a:lnTo>
                    <a:pt x="3080004" y="3211068"/>
                  </a:lnTo>
                  <a:lnTo>
                    <a:pt x="3051048" y="3211068"/>
                  </a:lnTo>
                  <a:lnTo>
                    <a:pt x="3051048" y="3238500"/>
                  </a:lnTo>
                  <a:lnTo>
                    <a:pt x="3080004" y="3238500"/>
                  </a:lnTo>
                  <a:close/>
                </a:path>
                <a:path w="3177540" h="3238500">
                  <a:moveTo>
                    <a:pt x="3022091" y="3238500"/>
                  </a:moveTo>
                  <a:lnTo>
                    <a:pt x="3022091" y="3211068"/>
                  </a:lnTo>
                  <a:lnTo>
                    <a:pt x="2993136" y="3211068"/>
                  </a:lnTo>
                  <a:lnTo>
                    <a:pt x="2993136" y="3238500"/>
                  </a:lnTo>
                  <a:lnTo>
                    <a:pt x="3022091" y="3238500"/>
                  </a:lnTo>
                  <a:close/>
                </a:path>
                <a:path w="3177540" h="3238500">
                  <a:moveTo>
                    <a:pt x="2965704" y="3238500"/>
                  </a:moveTo>
                  <a:lnTo>
                    <a:pt x="2965704" y="3211068"/>
                  </a:lnTo>
                  <a:lnTo>
                    <a:pt x="2936748" y="3211068"/>
                  </a:lnTo>
                  <a:lnTo>
                    <a:pt x="2936748" y="3238500"/>
                  </a:lnTo>
                  <a:lnTo>
                    <a:pt x="2965704" y="3238500"/>
                  </a:lnTo>
                  <a:close/>
                </a:path>
                <a:path w="3177540" h="3238500">
                  <a:moveTo>
                    <a:pt x="2907791" y="3238500"/>
                  </a:moveTo>
                  <a:lnTo>
                    <a:pt x="2907791" y="3211068"/>
                  </a:lnTo>
                  <a:lnTo>
                    <a:pt x="2878836" y="3211068"/>
                  </a:lnTo>
                  <a:lnTo>
                    <a:pt x="2878836" y="3238500"/>
                  </a:lnTo>
                  <a:lnTo>
                    <a:pt x="2907791" y="3238500"/>
                  </a:lnTo>
                  <a:close/>
                </a:path>
                <a:path w="3177540" h="3238500">
                  <a:moveTo>
                    <a:pt x="2851404" y="3238500"/>
                  </a:moveTo>
                  <a:lnTo>
                    <a:pt x="2851404" y="3211068"/>
                  </a:lnTo>
                  <a:lnTo>
                    <a:pt x="2822448" y="3211068"/>
                  </a:lnTo>
                  <a:lnTo>
                    <a:pt x="2822448" y="3238500"/>
                  </a:lnTo>
                  <a:lnTo>
                    <a:pt x="2851404" y="3238500"/>
                  </a:lnTo>
                  <a:close/>
                </a:path>
                <a:path w="3177540" h="3238500">
                  <a:moveTo>
                    <a:pt x="2793491" y="3238500"/>
                  </a:moveTo>
                  <a:lnTo>
                    <a:pt x="2793491" y="3211068"/>
                  </a:lnTo>
                  <a:lnTo>
                    <a:pt x="2764536" y="3211068"/>
                  </a:lnTo>
                  <a:lnTo>
                    <a:pt x="2764536" y="3238500"/>
                  </a:lnTo>
                  <a:lnTo>
                    <a:pt x="2793491" y="3238500"/>
                  </a:lnTo>
                  <a:close/>
                </a:path>
                <a:path w="3177540" h="3238500">
                  <a:moveTo>
                    <a:pt x="2737104" y="3238500"/>
                  </a:moveTo>
                  <a:lnTo>
                    <a:pt x="2737104" y="3211068"/>
                  </a:lnTo>
                  <a:lnTo>
                    <a:pt x="2708148" y="3211068"/>
                  </a:lnTo>
                  <a:lnTo>
                    <a:pt x="2708148" y="3238500"/>
                  </a:lnTo>
                  <a:lnTo>
                    <a:pt x="2737104" y="3238500"/>
                  </a:lnTo>
                  <a:close/>
                </a:path>
                <a:path w="3177540" h="3238500">
                  <a:moveTo>
                    <a:pt x="2679191" y="3238500"/>
                  </a:moveTo>
                  <a:lnTo>
                    <a:pt x="2679191" y="3211068"/>
                  </a:lnTo>
                  <a:lnTo>
                    <a:pt x="2650236" y="3211068"/>
                  </a:lnTo>
                  <a:lnTo>
                    <a:pt x="2650236" y="3238500"/>
                  </a:lnTo>
                  <a:lnTo>
                    <a:pt x="2679191" y="3238500"/>
                  </a:lnTo>
                  <a:close/>
                </a:path>
                <a:path w="3177540" h="3238500">
                  <a:moveTo>
                    <a:pt x="2622804" y="3238500"/>
                  </a:moveTo>
                  <a:lnTo>
                    <a:pt x="2622804" y="3211068"/>
                  </a:lnTo>
                  <a:lnTo>
                    <a:pt x="2593848" y="3211068"/>
                  </a:lnTo>
                  <a:lnTo>
                    <a:pt x="2593848" y="3238500"/>
                  </a:lnTo>
                  <a:lnTo>
                    <a:pt x="2622804" y="3238500"/>
                  </a:lnTo>
                  <a:close/>
                </a:path>
                <a:path w="3177540" h="3238500">
                  <a:moveTo>
                    <a:pt x="2564891" y="3238500"/>
                  </a:moveTo>
                  <a:lnTo>
                    <a:pt x="2564891" y="3211068"/>
                  </a:lnTo>
                  <a:lnTo>
                    <a:pt x="2535936" y="3211068"/>
                  </a:lnTo>
                  <a:lnTo>
                    <a:pt x="2535936" y="3238500"/>
                  </a:lnTo>
                  <a:lnTo>
                    <a:pt x="2564891" y="3238500"/>
                  </a:lnTo>
                  <a:close/>
                </a:path>
                <a:path w="3177540" h="3238500">
                  <a:moveTo>
                    <a:pt x="2508504" y="3238500"/>
                  </a:moveTo>
                  <a:lnTo>
                    <a:pt x="2508504" y="3211068"/>
                  </a:lnTo>
                  <a:lnTo>
                    <a:pt x="2479548" y="3211068"/>
                  </a:lnTo>
                  <a:lnTo>
                    <a:pt x="2479548" y="3238500"/>
                  </a:lnTo>
                  <a:lnTo>
                    <a:pt x="2508504" y="3238500"/>
                  </a:lnTo>
                  <a:close/>
                </a:path>
                <a:path w="3177540" h="3238500">
                  <a:moveTo>
                    <a:pt x="2450591" y="3238500"/>
                  </a:moveTo>
                  <a:lnTo>
                    <a:pt x="2450591" y="3211068"/>
                  </a:lnTo>
                  <a:lnTo>
                    <a:pt x="2421636" y="3211068"/>
                  </a:lnTo>
                  <a:lnTo>
                    <a:pt x="2421636" y="3238500"/>
                  </a:lnTo>
                  <a:lnTo>
                    <a:pt x="2450591" y="3238500"/>
                  </a:lnTo>
                  <a:close/>
                </a:path>
                <a:path w="3177540" h="3238500">
                  <a:moveTo>
                    <a:pt x="2394204" y="3238500"/>
                  </a:moveTo>
                  <a:lnTo>
                    <a:pt x="2394204" y="3211068"/>
                  </a:lnTo>
                  <a:lnTo>
                    <a:pt x="2365248" y="3211068"/>
                  </a:lnTo>
                  <a:lnTo>
                    <a:pt x="2365248" y="3238500"/>
                  </a:lnTo>
                  <a:lnTo>
                    <a:pt x="2394204" y="3238500"/>
                  </a:lnTo>
                  <a:close/>
                </a:path>
                <a:path w="3177540" h="3238500">
                  <a:moveTo>
                    <a:pt x="2336291" y="3238500"/>
                  </a:moveTo>
                  <a:lnTo>
                    <a:pt x="2336291" y="3211068"/>
                  </a:lnTo>
                  <a:lnTo>
                    <a:pt x="2307336" y="3211068"/>
                  </a:lnTo>
                  <a:lnTo>
                    <a:pt x="2307336" y="3238500"/>
                  </a:lnTo>
                  <a:lnTo>
                    <a:pt x="2336291" y="3238500"/>
                  </a:lnTo>
                  <a:close/>
                </a:path>
                <a:path w="3177540" h="3238500">
                  <a:moveTo>
                    <a:pt x="2279904" y="3238500"/>
                  </a:moveTo>
                  <a:lnTo>
                    <a:pt x="2279904" y="3211068"/>
                  </a:lnTo>
                  <a:lnTo>
                    <a:pt x="2250948" y="3211068"/>
                  </a:lnTo>
                  <a:lnTo>
                    <a:pt x="2250948" y="3238500"/>
                  </a:lnTo>
                  <a:lnTo>
                    <a:pt x="2279904" y="3238500"/>
                  </a:lnTo>
                  <a:close/>
                </a:path>
                <a:path w="3177540" h="3238500">
                  <a:moveTo>
                    <a:pt x="2221991" y="3238500"/>
                  </a:moveTo>
                  <a:lnTo>
                    <a:pt x="2221991" y="3211068"/>
                  </a:lnTo>
                  <a:lnTo>
                    <a:pt x="2193036" y="3211068"/>
                  </a:lnTo>
                  <a:lnTo>
                    <a:pt x="2193036" y="3238500"/>
                  </a:lnTo>
                  <a:lnTo>
                    <a:pt x="2221991" y="3238500"/>
                  </a:lnTo>
                  <a:close/>
                </a:path>
                <a:path w="3177540" h="3238500">
                  <a:moveTo>
                    <a:pt x="2165604" y="3238500"/>
                  </a:moveTo>
                  <a:lnTo>
                    <a:pt x="2165604" y="3211068"/>
                  </a:lnTo>
                  <a:lnTo>
                    <a:pt x="2136648" y="3211068"/>
                  </a:lnTo>
                  <a:lnTo>
                    <a:pt x="2136648" y="3238500"/>
                  </a:lnTo>
                  <a:lnTo>
                    <a:pt x="2165604" y="3238500"/>
                  </a:lnTo>
                  <a:close/>
                </a:path>
                <a:path w="3177540" h="3238500">
                  <a:moveTo>
                    <a:pt x="2107692" y="3238500"/>
                  </a:moveTo>
                  <a:lnTo>
                    <a:pt x="2107692" y="3211068"/>
                  </a:lnTo>
                  <a:lnTo>
                    <a:pt x="2078736" y="3211068"/>
                  </a:lnTo>
                  <a:lnTo>
                    <a:pt x="2078736" y="3238500"/>
                  </a:lnTo>
                  <a:lnTo>
                    <a:pt x="2107692" y="3238500"/>
                  </a:lnTo>
                  <a:close/>
                </a:path>
                <a:path w="3177540" h="3238500">
                  <a:moveTo>
                    <a:pt x="2051304" y="3238500"/>
                  </a:moveTo>
                  <a:lnTo>
                    <a:pt x="2051304" y="3211068"/>
                  </a:lnTo>
                  <a:lnTo>
                    <a:pt x="2022348" y="3211068"/>
                  </a:lnTo>
                  <a:lnTo>
                    <a:pt x="2022348" y="3238500"/>
                  </a:lnTo>
                  <a:lnTo>
                    <a:pt x="2051304" y="3238500"/>
                  </a:lnTo>
                  <a:close/>
                </a:path>
                <a:path w="3177540" h="3238500">
                  <a:moveTo>
                    <a:pt x="1993392" y="3238500"/>
                  </a:moveTo>
                  <a:lnTo>
                    <a:pt x="1993392" y="3211068"/>
                  </a:lnTo>
                  <a:lnTo>
                    <a:pt x="1965960" y="3211068"/>
                  </a:lnTo>
                  <a:lnTo>
                    <a:pt x="1965960" y="3238500"/>
                  </a:lnTo>
                  <a:lnTo>
                    <a:pt x="1993392" y="3238500"/>
                  </a:lnTo>
                  <a:close/>
                </a:path>
                <a:path w="3177540" h="3238500">
                  <a:moveTo>
                    <a:pt x="1937004" y="3238500"/>
                  </a:moveTo>
                  <a:lnTo>
                    <a:pt x="1937004" y="3211068"/>
                  </a:lnTo>
                  <a:lnTo>
                    <a:pt x="1908048" y="3211068"/>
                  </a:lnTo>
                  <a:lnTo>
                    <a:pt x="1908048" y="3238500"/>
                  </a:lnTo>
                  <a:lnTo>
                    <a:pt x="1937004" y="3238500"/>
                  </a:lnTo>
                  <a:close/>
                </a:path>
                <a:path w="3177540" h="3238500">
                  <a:moveTo>
                    <a:pt x="1879092" y="3238500"/>
                  </a:moveTo>
                  <a:lnTo>
                    <a:pt x="1879092" y="3211068"/>
                  </a:lnTo>
                  <a:lnTo>
                    <a:pt x="1851660" y="3211068"/>
                  </a:lnTo>
                  <a:lnTo>
                    <a:pt x="1851660" y="3238500"/>
                  </a:lnTo>
                  <a:lnTo>
                    <a:pt x="1879092" y="3238500"/>
                  </a:lnTo>
                  <a:close/>
                </a:path>
                <a:path w="3177540" h="3238500">
                  <a:moveTo>
                    <a:pt x="1822704" y="3238500"/>
                  </a:moveTo>
                  <a:lnTo>
                    <a:pt x="1822704" y="3211068"/>
                  </a:lnTo>
                  <a:lnTo>
                    <a:pt x="1793748" y="3211068"/>
                  </a:lnTo>
                  <a:lnTo>
                    <a:pt x="1793748" y="3238500"/>
                  </a:lnTo>
                  <a:lnTo>
                    <a:pt x="1822704" y="3238500"/>
                  </a:lnTo>
                  <a:close/>
                </a:path>
                <a:path w="3177540" h="3238500">
                  <a:moveTo>
                    <a:pt x="1764792" y="3238500"/>
                  </a:moveTo>
                  <a:lnTo>
                    <a:pt x="1764792" y="3211068"/>
                  </a:lnTo>
                  <a:lnTo>
                    <a:pt x="1737360" y="3211068"/>
                  </a:lnTo>
                  <a:lnTo>
                    <a:pt x="1737360" y="3238500"/>
                  </a:lnTo>
                  <a:lnTo>
                    <a:pt x="1764792" y="3238500"/>
                  </a:lnTo>
                  <a:close/>
                </a:path>
                <a:path w="3177540" h="3238500">
                  <a:moveTo>
                    <a:pt x="1708404" y="3238500"/>
                  </a:moveTo>
                  <a:lnTo>
                    <a:pt x="1708404" y="3211068"/>
                  </a:lnTo>
                  <a:lnTo>
                    <a:pt x="1679448" y="3211068"/>
                  </a:lnTo>
                  <a:lnTo>
                    <a:pt x="1679448" y="3238500"/>
                  </a:lnTo>
                  <a:lnTo>
                    <a:pt x="1708404" y="3238500"/>
                  </a:lnTo>
                  <a:close/>
                </a:path>
                <a:path w="3177540" h="3238500">
                  <a:moveTo>
                    <a:pt x="1650492" y="3238500"/>
                  </a:moveTo>
                  <a:lnTo>
                    <a:pt x="1650492" y="3211068"/>
                  </a:lnTo>
                  <a:lnTo>
                    <a:pt x="1623060" y="3211068"/>
                  </a:lnTo>
                  <a:lnTo>
                    <a:pt x="1623060" y="3238500"/>
                  </a:lnTo>
                  <a:lnTo>
                    <a:pt x="1650492" y="3238500"/>
                  </a:lnTo>
                  <a:close/>
                </a:path>
                <a:path w="3177540" h="3238500">
                  <a:moveTo>
                    <a:pt x="1594104" y="3238500"/>
                  </a:moveTo>
                  <a:lnTo>
                    <a:pt x="1594104" y="3211068"/>
                  </a:lnTo>
                  <a:lnTo>
                    <a:pt x="1565148" y="3211068"/>
                  </a:lnTo>
                  <a:lnTo>
                    <a:pt x="1565148" y="3238500"/>
                  </a:lnTo>
                  <a:lnTo>
                    <a:pt x="1594104" y="3238500"/>
                  </a:lnTo>
                  <a:close/>
                </a:path>
                <a:path w="3177540" h="3238500">
                  <a:moveTo>
                    <a:pt x="1536192" y="3238500"/>
                  </a:moveTo>
                  <a:lnTo>
                    <a:pt x="1536192" y="3211068"/>
                  </a:lnTo>
                  <a:lnTo>
                    <a:pt x="1508760" y="3211068"/>
                  </a:lnTo>
                  <a:lnTo>
                    <a:pt x="1508760" y="3238500"/>
                  </a:lnTo>
                  <a:lnTo>
                    <a:pt x="1536192" y="3238500"/>
                  </a:lnTo>
                  <a:close/>
                </a:path>
                <a:path w="3177540" h="3238500">
                  <a:moveTo>
                    <a:pt x="1479804" y="3238500"/>
                  </a:moveTo>
                  <a:lnTo>
                    <a:pt x="1479804" y="3211068"/>
                  </a:lnTo>
                  <a:lnTo>
                    <a:pt x="1450848" y="3211068"/>
                  </a:lnTo>
                  <a:lnTo>
                    <a:pt x="1450848" y="3238500"/>
                  </a:lnTo>
                  <a:lnTo>
                    <a:pt x="1479804" y="3238500"/>
                  </a:lnTo>
                  <a:close/>
                </a:path>
                <a:path w="3177540" h="3238500">
                  <a:moveTo>
                    <a:pt x="1421892" y="3238500"/>
                  </a:moveTo>
                  <a:lnTo>
                    <a:pt x="1421892" y="3211068"/>
                  </a:lnTo>
                  <a:lnTo>
                    <a:pt x="1394460" y="3211068"/>
                  </a:lnTo>
                  <a:lnTo>
                    <a:pt x="1394460" y="3238500"/>
                  </a:lnTo>
                  <a:lnTo>
                    <a:pt x="1421892" y="3238500"/>
                  </a:lnTo>
                  <a:close/>
                </a:path>
                <a:path w="3177540" h="3238500">
                  <a:moveTo>
                    <a:pt x="1365504" y="3238500"/>
                  </a:moveTo>
                  <a:lnTo>
                    <a:pt x="1365504" y="3211068"/>
                  </a:lnTo>
                  <a:lnTo>
                    <a:pt x="1336548" y="3211068"/>
                  </a:lnTo>
                  <a:lnTo>
                    <a:pt x="1336548" y="3238500"/>
                  </a:lnTo>
                  <a:lnTo>
                    <a:pt x="1365504" y="3238500"/>
                  </a:lnTo>
                  <a:close/>
                </a:path>
                <a:path w="3177540" h="3238500">
                  <a:moveTo>
                    <a:pt x="1307592" y="3238500"/>
                  </a:moveTo>
                  <a:lnTo>
                    <a:pt x="1307592" y="3211068"/>
                  </a:lnTo>
                  <a:lnTo>
                    <a:pt x="1280160" y="3211068"/>
                  </a:lnTo>
                  <a:lnTo>
                    <a:pt x="1280160" y="3238500"/>
                  </a:lnTo>
                  <a:lnTo>
                    <a:pt x="1307592" y="3238500"/>
                  </a:lnTo>
                  <a:close/>
                </a:path>
                <a:path w="3177540" h="3238500">
                  <a:moveTo>
                    <a:pt x="1251204" y="3238500"/>
                  </a:moveTo>
                  <a:lnTo>
                    <a:pt x="1251204" y="3211068"/>
                  </a:lnTo>
                  <a:lnTo>
                    <a:pt x="1222248" y="3211068"/>
                  </a:lnTo>
                  <a:lnTo>
                    <a:pt x="1222248" y="3238500"/>
                  </a:lnTo>
                  <a:lnTo>
                    <a:pt x="1251204" y="3238500"/>
                  </a:lnTo>
                  <a:close/>
                </a:path>
                <a:path w="3177540" h="3238500">
                  <a:moveTo>
                    <a:pt x="1193292" y="3238500"/>
                  </a:moveTo>
                  <a:lnTo>
                    <a:pt x="1193292" y="3211068"/>
                  </a:lnTo>
                  <a:lnTo>
                    <a:pt x="1165860" y="3211068"/>
                  </a:lnTo>
                  <a:lnTo>
                    <a:pt x="1165860" y="3238500"/>
                  </a:lnTo>
                  <a:lnTo>
                    <a:pt x="1193292" y="3238500"/>
                  </a:lnTo>
                  <a:close/>
                </a:path>
                <a:path w="3177540" h="3238500">
                  <a:moveTo>
                    <a:pt x="1136904" y="3238500"/>
                  </a:moveTo>
                  <a:lnTo>
                    <a:pt x="1136904" y="3211068"/>
                  </a:lnTo>
                  <a:lnTo>
                    <a:pt x="1107948" y="3211068"/>
                  </a:lnTo>
                  <a:lnTo>
                    <a:pt x="1107948" y="3238500"/>
                  </a:lnTo>
                  <a:lnTo>
                    <a:pt x="1136904" y="3238500"/>
                  </a:lnTo>
                  <a:close/>
                </a:path>
                <a:path w="3177540" h="3238500">
                  <a:moveTo>
                    <a:pt x="1078992" y="3238500"/>
                  </a:moveTo>
                  <a:lnTo>
                    <a:pt x="1078992" y="3211068"/>
                  </a:lnTo>
                  <a:lnTo>
                    <a:pt x="1051560" y="3211068"/>
                  </a:lnTo>
                  <a:lnTo>
                    <a:pt x="1051560" y="3238500"/>
                  </a:lnTo>
                  <a:lnTo>
                    <a:pt x="1078992" y="3238500"/>
                  </a:lnTo>
                  <a:close/>
                </a:path>
                <a:path w="3177540" h="3238500">
                  <a:moveTo>
                    <a:pt x="1022604" y="3238500"/>
                  </a:moveTo>
                  <a:lnTo>
                    <a:pt x="1022604" y="3211068"/>
                  </a:lnTo>
                  <a:lnTo>
                    <a:pt x="993648" y="3211068"/>
                  </a:lnTo>
                  <a:lnTo>
                    <a:pt x="993648" y="3238500"/>
                  </a:lnTo>
                  <a:lnTo>
                    <a:pt x="1022604" y="3238500"/>
                  </a:lnTo>
                  <a:close/>
                </a:path>
                <a:path w="3177540" h="3238500">
                  <a:moveTo>
                    <a:pt x="964692" y="3238500"/>
                  </a:moveTo>
                  <a:lnTo>
                    <a:pt x="964692" y="3211068"/>
                  </a:lnTo>
                  <a:lnTo>
                    <a:pt x="937260" y="3211068"/>
                  </a:lnTo>
                  <a:lnTo>
                    <a:pt x="937260" y="3238500"/>
                  </a:lnTo>
                  <a:lnTo>
                    <a:pt x="964692" y="3238500"/>
                  </a:lnTo>
                  <a:close/>
                </a:path>
                <a:path w="3177540" h="3238500">
                  <a:moveTo>
                    <a:pt x="908304" y="3238500"/>
                  </a:moveTo>
                  <a:lnTo>
                    <a:pt x="908304" y="3211068"/>
                  </a:lnTo>
                  <a:lnTo>
                    <a:pt x="879348" y="3211068"/>
                  </a:lnTo>
                  <a:lnTo>
                    <a:pt x="879348" y="3238500"/>
                  </a:lnTo>
                  <a:lnTo>
                    <a:pt x="908304" y="3238500"/>
                  </a:lnTo>
                  <a:close/>
                </a:path>
                <a:path w="3177540" h="3238500">
                  <a:moveTo>
                    <a:pt x="850392" y="3238500"/>
                  </a:moveTo>
                  <a:lnTo>
                    <a:pt x="850392" y="3211068"/>
                  </a:lnTo>
                  <a:lnTo>
                    <a:pt x="822960" y="3211068"/>
                  </a:lnTo>
                  <a:lnTo>
                    <a:pt x="822960" y="3238500"/>
                  </a:lnTo>
                  <a:lnTo>
                    <a:pt x="850392" y="3238500"/>
                  </a:lnTo>
                  <a:close/>
                </a:path>
                <a:path w="3177540" h="3238500">
                  <a:moveTo>
                    <a:pt x="794004" y="3238500"/>
                  </a:moveTo>
                  <a:lnTo>
                    <a:pt x="794004" y="3211068"/>
                  </a:lnTo>
                  <a:lnTo>
                    <a:pt x="765048" y="3211068"/>
                  </a:lnTo>
                  <a:lnTo>
                    <a:pt x="765048" y="3238500"/>
                  </a:lnTo>
                  <a:lnTo>
                    <a:pt x="794004" y="3238500"/>
                  </a:lnTo>
                  <a:close/>
                </a:path>
                <a:path w="3177540" h="3238500">
                  <a:moveTo>
                    <a:pt x="736092" y="3238500"/>
                  </a:moveTo>
                  <a:lnTo>
                    <a:pt x="736092" y="3211068"/>
                  </a:lnTo>
                  <a:lnTo>
                    <a:pt x="708660" y="3211068"/>
                  </a:lnTo>
                  <a:lnTo>
                    <a:pt x="708660" y="3238500"/>
                  </a:lnTo>
                  <a:lnTo>
                    <a:pt x="736092" y="3238500"/>
                  </a:lnTo>
                  <a:close/>
                </a:path>
                <a:path w="3177540" h="3238500">
                  <a:moveTo>
                    <a:pt x="679704" y="3238500"/>
                  </a:moveTo>
                  <a:lnTo>
                    <a:pt x="679704" y="3211068"/>
                  </a:lnTo>
                  <a:lnTo>
                    <a:pt x="650748" y="3211068"/>
                  </a:lnTo>
                  <a:lnTo>
                    <a:pt x="650748" y="3238500"/>
                  </a:lnTo>
                  <a:lnTo>
                    <a:pt x="679704" y="3238500"/>
                  </a:lnTo>
                  <a:close/>
                </a:path>
                <a:path w="3177540" h="3238500">
                  <a:moveTo>
                    <a:pt x="621792" y="3238500"/>
                  </a:moveTo>
                  <a:lnTo>
                    <a:pt x="621792" y="3211068"/>
                  </a:lnTo>
                  <a:lnTo>
                    <a:pt x="594360" y="3211068"/>
                  </a:lnTo>
                  <a:lnTo>
                    <a:pt x="594360" y="3238500"/>
                  </a:lnTo>
                  <a:lnTo>
                    <a:pt x="621792" y="3238500"/>
                  </a:lnTo>
                  <a:close/>
                </a:path>
                <a:path w="3177540" h="3238500">
                  <a:moveTo>
                    <a:pt x="565404" y="3238500"/>
                  </a:moveTo>
                  <a:lnTo>
                    <a:pt x="565404" y="3211068"/>
                  </a:lnTo>
                  <a:lnTo>
                    <a:pt x="536448" y="3211068"/>
                  </a:lnTo>
                  <a:lnTo>
                    <a:pt x="536448" y="3238500"/>
                  </a:lnTo>
                  <a:lnTo>
                    <a:pt x="565404" y="3238500"/>
                  </a:lnTo>
                  <a:close/>
                </a:path>
                <a:path w="3177540" h="3238500">
                  <a:moveTo>
                    <a:pt x="509016" y="3238500"/>
                  </a:moveTo>
                  <a:lnTo>
                    <a:pt x="509016" y="3211068"/>
                  </a:lnTo>
                  <a:lnTo>
                    <a:pt x="480060" y="3211068"/>
                  </a:lnTo>
                  <a:lnTo>
                    <a:pt x="480060" y="3238500"/>
                  </a:lnTo>
                  <a:lnTo>
                    <a:pt x="509016" y="3238500"/>
                  </a:lnTo>
                  <a:close/>
                </a:path>
                <a:path w="3177540" h="3238500">
                  <a:moveTo>
                    <a:pt x="451104" y="3238500"/>
                  </a:moveTo>
                  <a:lnTo>
                    <a:pt x="451104" y="3211068"/>
                  </a:lnTo>
                  <a:lnTo>
                    <a:pt x="422148" y="3211068"/>
                  </a:lnTo>
                  <a:lnTo>
                    <a:pt x="422148" y="3238500"/>
                  </a:lnTo>
                  <a:lnTo>
                    <a:pt x="451104" y="3238500"/>
                  </a:lnTo>
                  <a:close/>
                </a:path>
                <a:path w="3177540" h="3238500">
                  <a:moveTo>
                    <a:pt x="394716" y="3238500"/>
                  </a:moveTo>
                  <a:lnTo>
                    <a:pt x="394716" y="3211068"/>
                  </a:lnTo>
                  <a:lnTo>
                    <a:pt x="365760" y="3211068"/>
                  </a:lnTo>
                  <a:lnTo>
                    <a:pt x="365760" y="3238500"/>
                  </a:lnTo>
                  <a:lnTo>
                    <a:pt x="394716" y="3238500"/>
                  </a:lnTo>
                  <a:close/>
                </a:path>
                <a:path w="3177540" h="3238500">
                  <a:moveTo>
                    <a:pt x="336804" y="3238500"/>
                  </a:moveTo>
                  <a:lnTo>
                    <a:pt x="336804" y="3211068"/>
                  </a:lnTo>
                  <a:lnTo>
                    <a:pt x="307848" y="3211068"/>
                  </a:lnTo>
                  <a:lnTo>
                    <a:pt x="307848" y="3238500"/>
                  </a:lnTo>
                  <a:lnTo>
                    <a:pt x="336804" y="3238500"/>
                  </a:lnTo>
                  <a:close/>
                </a:path>
                <a:path w="3177540" h="3238500">
                  <a:moveTo>
                    <a:pt x="280416" y="3238500"/>
                  </a:moveTo>
                  <a:lnTo>
                    <a:pt x="280416" y="3211068"/>
                  </a:lnTo>
                  <a:lnTo>
                    <a:pt x="251460" y="3211068"/>
                  </a:lnTo>
                  <a:lnTo>
                    <a:pt x="251460" y="3238500"/>
                  </a:lnTo>
                  <a:lnTo>
                    <a:pt x="280416" y="3238500"/>
                  </a:lnTo>
                  <a:close/>
                </a:path>
                <a:path w="3177540" h="3238500">
                  <a:moveTo>
                    <a:pt x="222504" y="3238500"/>
                  </a:moveTo>
                  <a:lnTo>
                    <a:pt x="222504" y="3211068"/>
                  </a:lnTo>
                  <a:lnTo>
                    <a:pt x="193548" y="3211068"/>
                  </a:lnTo>
                  <a:lnTo>
                    <a:pt x="193548" y="3238500"/>
                  </a:lnTo>
                  <a:lnTo>
                    <a:pt x="222504" y="3238500"/>
                  </a:lnTo>
                  <a:close/>
                </a:path>
                <a:path w="3177540" h="3238500">
                  <a:moveTo>
                    <a:pt x="166116" y="3238500"/>
                  </a:moveTo>
                  <a:lnTo>
                    <a:pt x="166116" y="3211068"/>
                  </a:lnTo>
                  <a:lnTo>
                    <a:pt x="137160" y="3211068"/>
                  </a:lnTo>
                  <a:lnTo>
                    <a:pt x="137160" y="3238500"/>
                  </a:lnTo>
                  <a:lnTo>
                    <a:pt x="166116" y="3238500"/>
                  </a:lnTo>
                  <a:close/>
                </a:path>
                <a:path w="3177540" h="3238500">
                  <a:moveTo>
                    <a:pt x="108204" y="3238500"/>
                  </a:moveTo>
                  <a:lnTo>
                    <a:pt x="108204" y="3211068"/>
                  </a:lnTo>
                  <a:lnTo>
                    <a:pt x="79248" y="3211068"/>
                  </a:lnTo>
                  <a:lnTo>
                    <a:pt x="79248" y="3238500"/>
                  </a:lnTo>
                  <a:lnTo>
                    <a:pt x="108204" y="3238500"/>
                  </a:lnTo>
                  <a:close/>
                </a:path>
              </a:pathLst>
            </a:custGeom>
            <a:solidFill>
              <a:srgbClr val="7E7E7E"/>
            </a:solidFill>
          </p:spPr>
          <p:txBody>
            <a:bodyPr wrap="square" lIns="0" tIns="0" rIns="0" bIns="0" rtlCol="0"/>
            <a:lstStyle/>
            <a:p>
              <a:endParaRPr/>
            </a:p>
          </p:txBody>
        </p:sp>
        <p:sp>
          <p:nvSpPr>
            <p:cNvPr id="17" name="object 17"/>
            <p:cNvSpPr/>
            <p:nvPr/>
          </p:nvSpPr>
          <p:spPr>
            <a:xfrm>
              <a:off x="8435339" y="3995927"/>
              <a:ext cx="1382395" cy="760730"/>
            </a:xfrm>
            <a:custGeom>
              <a:avLst/>
              <a:gdLst/>
              <a:ahLst/>
              <a:cxnLst/>
              <a:rect l="l" t="t" r="r" b="b"/>
              <a:pathLst>
                <a:path w="1382395" h="760729">
                  <a:moveTo>
                    <a:pt x="1382268" y="752855"/>
                  </a:moveTo>
                  <a:lnTo>
                    <a:pt x="1382268" y="6095"/>
                  </a:lnTo>
                  <a:lnTo>
                    <a:pt x="1376172" y="0"/>
                  </a:lnTo>
                  <a:lnTo>
                    <a:pt x="7619" y="0"/>
                  </a:lnTo>
                  <a:lnTo>
                    <a:pt x="0" y="6095"/>
                  </a:lnTo>
                  <a:lnTo>
                    <a:pt x="0" y="752855"/>
                  </a:lnTo>
                  <a:lnTo>
                    <a:pt x="7620" y="760475"/>
                  </a:lnTo>
                  <a:lnTo>
                    <a:pt x="15239" y="760475"/>
                  </a:lnTo>
                  <a:lnTo>
                    <a:pt x="15240" y="28955"/>
                  </a:lnTo>
                  <a:lnTo>
                    <a:pt x="28956" y="13715"/>
                  </a:lnTo>
                  <a:lnTo>
                    <a:pt x="28955" y="28955"/>
                  </a:lnTo>
                  <a:lnTo>
                    <a:pt x="1354836" y="28955"/>
                  </a:lnTo>
                  <a:lnTo>
                    <a:pt x="1354836" y="13715"/>
                  </a:lnTo>
                  <a:lnTo>
                    <a:pt x="1368552" y="28955"/>
                  </a:lnTo>
                  <a:lnTo>
                    <a:pt x="1368552" y="760475"/>
                  </a:lnTo>
                  <a:lnTo>
                    <a:pt x="1376172" y="760475"/>
                  </a:lnTo>
                  <a:lnTo>
                    <a:pt x="1382268" y="752855"/>
                  </a:lnTo>
                  <a:close/>
                </a:path>
                <a:path w="1382395" h="760729">
                  <a:moveTo>
                    <a:pt x="28956" y="28955"/>
                  </a:moveTo>
                  <a:lnTo>
                    <a:pt x="28956" y="13715"/>
                  </a:lnTo>
                  <a:lnTo>
                    <a:pt x="15240" y="28955"/>
                  </a:lnTo>
                  <a:lnTo>
                    <a:pt x="28956" y="28955"/>
                  </a:lnTo>
                  <a:close/>
                </a:path>
                <a:path w="1382395" h="760729">
                  <a:moveTo>
                    <a:pt x="28956" y="731519"/>
                  </a:moveTo>
                  <a:lnTo>
                    <a:pt x="28956" y="28955"/>
                  </a:lnTo>
                  <a:lnTo>
                    <a:pt x="15240" y="28955"/>
                  </a:lnTo>
                  <a:lnTo>
                    <a:pt x="15240" y="731519"/>
                  </a:lnTo>
                  <a:lnTo>
                    <a:pt x="28956" y="731519"/>
                  </a:lnTo>
                  <a:close/>
                </a:path>
                <a:path w="1382395" h="760729">
                  <a:moveTo>
                    <a:pt x="1368552" y="731519"/>
                  </a:moveTo>
                  <a:lnTo>
                    <a:pt x="15240" y="731519"/>
                  </a:lnTo>
                  <a:lnTo>
                    <a:pt x="28956" y="745235"/>
                  </a:lnTo>
                  <a:lnTo>
                    <a:pt x="28956" y="760475"/>
                  </a:lnTo>
                  <a:lnTo>
                    <a:pt x="1354836" y="760475"/>
                  </a:lnTo>
                  <a:lnTo>
                    <a:pt x="1354836" y="745235"/>
                  </a:lnTo>
                  <a:lnTo>
                    <a:pt x="1368552" y="731519"/>
                  </a:lnTo>
                  <a:close/>
                </a:path>
                <a:path w="1382395" h="760729">
                  <a:moveTo>
                    <a:pt x="28956" y="760475"/>
                  </a:moveTo>
                  <a:lnTo>
                    <a:pt x="28956" y="745235"/>
                  </a:lnTo>
                  <a:lnTo>
                    <a:pt x="15240" y="731519"/>
                  </a:lnTo>
                  <a:lnTo>
                    <a:pt x="15239" y="760475"/>
                  </a:lnTo>
                  <a:lnTo>
                    <a:pt x="28956" y="760475"/>
                  </a:lnTo>
                  <a:close/>
                </a:path>
                <a:path w="1382395" h="760729">
                  <a:moveTo>
                    <a:pt x="1368552" y="28955"/>
                  </a:moveTo>
                  <a:lnTo>
                    <a:pt x="1354836" y="13715"/>
                  </a:lnTo>
                  <a:lnTo>
                    <a:pt x="1354836" y="28955"/>
                  </a:lnTo>
                  <a:lnTo>
                    <a:pt x="1368552" y="28955"/>
                  </a:lnTo>
                  <a:close/>
                </a:path>
                <a:path w="1382395" h="760729">
                  <a:moveTo>
                    <a:pt x="1368552" y="731519"/>
                  </a:moveTo>
                  <a:lnTo>
                    <a:pt x="1368552" y="28955"/>
                  </a:lnTo>
                  <a:lnTo>
                    <a:pt x="1354836" y="28955"/>
                  </a:lnTo>
                  <a:lnTo>
                    <a:pt x="1354836" y="731519"/>
                  </a:lnTo>
                  <a:lnTo>
                    <a:pt x="1368552" y="731519"/>
                  </a:lnTo>
                  <a:close/>
                </a:path>
                <a:path w="1382395" h="760729">
                  <a:moveTo>
                    <a:pt x="1368552" y="760475"/>
                  </a:moveTo>
                  <a:lnTo>
                    <a:pt x="1368552" y="731519"/>
                  </a:lnTo>
                  <a:lnTo>
                    <a:pt x="1354836" y="745235"/>
                  </a:lnTo>
                  <a:lnTo>
                    <a:pt x="1354836" y="760475"/>
                  </a:lnTo>
                  <a:lnTo>
                    <a:pt x="1368552" y="760475"/>
                  </a:lnTo>
                  <a:close/>
                </a:path>
              </a:pathLst>
            </a:custGeom>
            <a:solidFill>
              <a:srgbClr val="000000"/>
            </a:solidFill>
          </p:spPr>
          <p:txBody>
            <a:bodyPr wrap="square" lIns="0" tIns="0" rIns="0" bIns="0" rtlCol="0"/>
            <a:lstStyle/>
            <a:p>
              <a:endParaRPr/>
            </a:p>
          </p:txBody>
        </p:sp>
        <p:pic>
          <p:nvPicPr>
            <p:cNvPr id="18" name="object 18"/>
            <p:cNvPicPr/>
            <p:nvPr/>
          </p:nvPicPr>
          <p:blipFill>
            <a:blip r:embed="rId3" cstate="print"/>
            <a:stretch>
              <a:fillRect/>
            </a:stretch>
          </p:blipFill>
          <p:spPr>
            <a:xfrm>
              <a:off x="9803891" y="4119372"/>
              <a:ext cx="245363" cy="85343"/>
            </a:xfrm>
            <a:prstGeom prst="rect">
              <a:avLst/>
            </a:prstGeom>
          </p:spPr>
        </p:pic>
        <p:sp>
          <p:nvSpPr>
            <p:cNvPr id="19" name="object 19"/>
            <p:cNvSpPr/>
            <p:nvPr/>
          </p:nvSpPr>
          <p:spPr>
            <a:xfrm>
              <a:off x="6260592" y="2028443"/>
              <a:ext cx="1205865" cy="2851785"/>
            </a:xfrm>
            <a:custGeom>
              <a:avLst/>
              <a:gdLst/>
              <a:ahLst/>
              <a:cxnLst/>
              <a:rect l="l" t="t" r="r" b="b"/>
              <a:pathLst>
                <a:path w="1205865" h="2851785">
                  <a:moveTo>
                    <a:pt x="28943" y="2822448"/>
                  </a:moveTo>
                  <a:lnTo>
                    <a:pt x="0" y="2822448"/>
                  </a:lnTo>
                  <a:lnTo>
                    <a:pt x="0" y="2851404"/>
                  </a:lnTo>
                  <a:lnTo>
                    <a:pt x="28943" y="2851404"/>
                  </a:lnTo>
                  <a:lnTo>
                    <a:pt x="28943" y="2822448"/>
                  </a:lnTo>
                  <a:close/>
                </a:path>
                <a:path w="1205865" h="2851785">
                  <a:moveTo>
                    <a:pt x="28943" y="2766060"/>
                  </a:moveTo>
                  <a:lnTo>
                    <a:pt x="0" y="2766060"/>
                  </a:lnTo>
                  <a:lnTo>
                    <a:pt x="0" y="2793492"/>
                  </a:lnTo>
                  <a:lnTo>
                    <a:pt x="28943" y="2793492"/>
                  </a:lnTo>
                  <a:lnTo>
                    <a:pt x="28943" y="2766060"/>
                  </a:lnTo>
                  <a:close/>
                </a:path>
                <a:path w="1205865" h="2851785">
                  <a:moveTo>
                    <a:pt x="28943" y="2708148"/>
                  </a:moveTo>
                  <a:lnTo>
                    <a:pt x="0" y="2708148"/>
                  </a:lnTo>
                  <a:lnTo>
                    <a:pt x="0" y="2737104"/>
                  </a:lnTo>
                  <a:lnTo>
                    <a:pt x="28943" y="2737104"/>
                  </a:lnTo>
                  <a:lnTo>
                    <a:pt x="28943" y="2708148"/>
                  </a:lnTo>
                  <a:close/>
                </a:path>
                <a:path w="1205865" h="2851785">
                  <a:moveTo>
                    <a:pt x="28943" y="2651760"/>
                  </a:moveTo>
                  <a:lnTo>
                    <a:pt x="0" y="2651760"/>
                  </a:lnTo>
                  <a:lnTo>
                    <a:pt x="0" y="2679192"/>
                  </a:lnTo>
                  <a:lnTo>
                    <a:pt x="28943" y="2679192"/>
                  </a:lnTo>
                  <a:lnTo>
                    <a:pt x="28943" y="2651760"/>
                  </a:lnTo>
                  <a:close/>
                </a:path>
                <a:path w="1205865" h="2851785">
                  <a:moveTo>
                    <a:pt x="28943" y="2593848"/>
                  </a:moveTo>
                  <a:lnTo>
                    <a:pt x="0" y="2593848"/>
                  </a:lnTo>
                  <a:lnTo>
                    <a:pt x="0" y="2622804"/>
                  </a:lnTo>
                  <a:lnTo>
                    <a:pt x="28943" y="2622804"/>
                  </a:lnTo>
                  <a:lnTo>
                    <a:pt x="28943" y="2593848"/>
                  </a:lnTo>
                  <a:close/>
                </a:path>
                <a:path w="1205865" h="2851785">
                  <a:moveTo>
                    <a:pt x="28943" y="2537460"/>
                  </a:moveTo>
                  <a:lnTo>
                    <a:pt x="0" y="2537460"/>
                  </a:lnTo>
                  <a:lnTo>
                    <a:pt x="0" y="2564892"/>
                  </a:lnTo>
                  <a:lnTo>
                    <a:pt x="28943" y="2564892"/>
                  </a:lnTo>
                  <a:lnTo>
                    <a:pt x="28943" y="2537460"/>
                  </a:lnTo>
                  <a:close/>
                </a:path>
                <a:path w="1205865" h="2851785">
                  <a:moveTo>
                    <a:pt x="28943" y="2479548"/>
                  </a:moveTo>
                  <a:lnTo>
                    <a:pt x="0" y="2479548"/>
                  </a:lnTo>
                  <a:lnTo>
                    <a:pt x="0" y="2508504"/>
                  </a:lnTo>
                  <a:lnTo>
                    <a:pt x="28943" y="2508504"/>
                  </a:lnTo>
                  <a:lnTo>
                    <a:pt x="28943" y="2479548"/>
                  </a:lnTo>
                  <a:close/>
                </a:path>
                <a:path w="1205865" h="2851785">
                  <a:moveTo>
                    <a:pt x="28943" y="2423160"/>
                  </a:moveTo>
                  <a:lnTo>
                    <a:pt x="0" y="2423160"/>
                  </a:lnTo>
                  <a:lnTo>
                    <a:pt x="0" y="2452116"/>
                  </a:lnTo>
                  <a:lnTo>
                    <a:pt x="28943" y="2452116"/>
                  </a:lnTo>
                  <a:lnTo>
                    <a:pt x="28943" y="2423160"/>
                  </a:lnTo>
                  <a:close/>
                </a:path>
                <a:path w="1205865" h="2851785">
                  <a:moveTo>
                    <a:pt x="28943" y="2365248"/>
                  </a:moveTo>
                  <a:lnTo>
                    <a:pt x="0" y="2365248"/>
                  </a:lnTo>
                  <a:lnTo>
                    <a:pt x="0" y="2394204"/>
                  </a:lnTo>
                  <a:lnTo>
                    <a:pt x="28943" y="2394204"/>
                  </a:lnTo>
                  <a:lnTo>
                    <a:pt x="28943" y="2365248"/>
                  </a:lnTo>
                  <a:close/>
                </a:path>
                <a:path w="1205865" h="2851785">
                  <a:moveTo>
                    <a:pt x="28943" y="2308860"/>
                  </a:moveTo>
                  <a:lnTo>
                    <a:pt x="0" y="2308860"/>
                  </a:lnTo>
                  <a:lnTo>
                    <a:pt x="0" y="2337816"/>
                  </a:lnTo>
                  <a:lnTo>
                    <a:pt x="28943" y="2337816"/>
                  </a:lnTo>
                  <a:lnTo>
                    <a:pt x="28943" y="2308860"/>
                  </a:lnTo>
                  <a:close/>
                </a:path>
                <a:path w="1205865" h="2851785">
                  <a:moveTo>
                    <a:pt x="28943" y="2250948"/>
                  </a:moveTo>
                  <a:lnTo>
                    <a:pt x="0" y="2250948"/>
                  </a:lnTo>
                  <a:lnTo>
                    <a:pt x="0" y="2279904"/>
                  </a:lnTo>
                  <a:lnTo>
                    <a:pt x="28943" y="2279904"/>
                  </a:lnTo>
                  <a:lnTo>
                    <a:pt x="28943" y="2250948"/>
                  </a:lnTo>
                  <a:close/>
                </a:path>
                <a:path w="1205865" h="2851785">
                  <a:moveTo>
                    <a:pt x="28943" y="2194560"/>
                  </a:moveTo>
                  <a:lnTo>
                    <a:pt x="0" y="2194560"/>
                  </a:lnTo>
                  <a:lnTo>
                    <a:pt x="0" y="2223516"/>
                  </a:lnTo>
                  <a:lnTo>
                    <a:pt x="28943" y="2223516"/>
                  </a:lnTo>
                  <a:lnTo>
                    <a:pt x="28943" y="2194560"/>
                  </a:lnTo>
                  <a:close/>
                </a:path>
                <a:path w="1205865" h="2851785">
                  <a:moveTo>
                    <a:pt x="28943" y="2136648"/>
                  </a:moveTo>
                  <a:lnTo>
                    <a:pt x="0" y="2136648"/>
                  </a:lnTo>
                  <a:lnTo>
                    <a:pt x="0" y="2165604"/>
                  </a:lnTo>
                  <a:lnTo>
                    <a:pt x="28943" y="2165604"/>
                  </a:lnTo>
                  <a:lnTo>
                    <a:pt x="28943" y="2136648"/>
                  </a:lnTo>
                  <a:close/>
                </a:path>
                <a:path w="1205865" h="2851785">
                  <a:moveTo>
                    <a:pt x="28943" y="2080260"/>
                  </a:moveTo>
                  <a:lnTo>
                    <a:pt x="0" y="2080260"/>
                  </a:lnTo>
                  <a:lnTo>
                    <a:pt x="0" y="2109216"/>
                  </a:lnTo>
                  <a:lnTo>
                    <a:pt x="28943" y="2109216"/>
                  </a:lnTo>
                  <a:lnTo>
                    <a:pt x="28943" y="2080260"/>
                  </a:lnTo>
                  <a:close/>
                </a:path>
                <a:path w="1205865" h="2851785">
                  <a:moveTo>
                    <a:pt x="28943" y="2022348"/>
                  </a:moveTo>
                  <a:lnTo>
                    <a:pt x="0" y="2022348"/>
                  </a:lnTo>
                  <a:lnTo>
                    <a:pt x="0" y="2051304"/>
                  </a:lnTo>
                  <a:lnTo>
                    <a:pt x="28943" y="2051304"/>
                  </a:lnTo>
                  <a:lnTo>
                    <a:pt x="28943" y="2022348"/>
                  </a:lnTo>
                  <a:close/>
                </a:path>
                <a:path w="1205865" h="2851785">
                  <a:moveTo>
                    <a:pt x="28943" y="1965960"/>
                  </a:moveTo>
                  <a:lnTo>
                    <a:pt x="0" y="1965960"/>
                  </a:lnTo>
                  <a:lnTo>
                    <a:pt x="0" y="1994916"/>
                  </a:lnTo>
                  <a:lnTo>
                    <a:pt x="28943" y="1994916"/>
                  </a:lnTo>
                  <a:lnTo>
                    <a:pt x="28943" y="1965960"/>
                  </a:lnTo>
                  <a:close/>
                </a:path>
                <a:path w="1205865" h="2851785">
                  <a:moveTo>
                    <a:pt x="28943" y="1908048"/>
                  </a:moveTo>
                  <a:lnTo>
                    <a:pt x="0" y="1908048"/>
                  </a:lnTo>
                  <a:lnTo>
                    <a:pt x="0" y="1937004"/>
                  </a:lnTo>
                  <a:lnTo>
                    <a:pt x="28943" y="1937004"/>
                  </a:lnTo>
                  <a:lnTo>
                    <a:pt x="28943" y="1908048"/>
                  </a:lnTo>
                  <a:close/>
                </a:path>
                <a:path w="1205865" h="2851785">
                  <a:moveTo>
                    <a:pt x="28943" y="1851660"/>
                  </a:moveTo>
                  <a:lnTo>
                    <a:pt x="0" y="1851660"/>
                  </a:lnTo>
                  <a:lnTo>
                    <a:pt x="0" y="1880616"/>
                  </a:lnTo>
                  <a:lnTo>
                    <a:pt x="28943" y="1880616"/>
                  </a:lnTo>
                  <a:lnTo>
                    <a:pt x="28943" y="1851660"/>
                  </a:lnTo>
                  <a:close/>
                </a:path>
                <a:path w="1205865" h="2851785">
                  <a:moveTo>
                    <a:pt x="28943" y="1793748"/>
                  </a:moveTo>
                  <a:lnTo>
                    <a:pt x="0" y="1793748"/>
                  </a:lnTo>
                  <a:lnTo>
                    <a:pt x="0" y="1822704"/>
                  </a:lnTo>
                  <a:lnTo>
                    <a:pt x="28943" y="1822704"/>
                  </a:lnTo>
                  <a:lnTo>
                    <a:pt x="28943" y="1793748"/>
                  </a:lnTo>
                  <a:close/>
                </a:path>
                <a:path w="1205865" h="2851785">
                  <a:moveTo>
                    <a:pt x="28943" y="1737360"/>
                  </a:moveTo>
                  <a:lnTo>
                    <a:pt x="0" y="1737360"/>
                  </a:lnTo>
                  <a:lnTo>
                    <a:pt x="0" y="1766316"/>
                  </a:lnTo>
                  <a:lnTo>
                    <a:pt x="28943" y="1766316"/>
                  </a:lnTo>
                  <a:lnTo>
                    <a:pt x="28943" y="1737360"/>
                  </a:lnTo>
                  <a:close/>
                </a:path>
                <a:path w="1205865" h="2851785">
                  <a:moveTo>
                    <a:pt x="28943" y="1679448"/>
                  </a:moveTo>
                  <a:lnTo>
                    <a:pt x="0" y="1679448"/>
                  </a:lnTo>
                  <a:lnTo>
                    <a:pt x="0" y="1708404"/>
                  </a:lnTo>
                  <a:lnTo>
                    <a:pt x="28943" y="1708404"/>
                  </a:lnTo>
                  <a:lnTo>
                    <a:pt x="28943" y="1679448"/>
                  </a:lnTo>
                  <a:close/>
                </a:path>
                <a:path w="1205865" h="2851785">
                  <a:moveTo>
                    <a:pt x="28943" y="1623060"/>
                  </a:moveTo>
                  <a:lnTo>
                    <a:pt x="0" y="1623060"/>
                  </a:lnTo>
                  <a:lnTo>
                    <a:pt x="0" y="1652016"/>
                  </a:lnTo>
                  <a:lnTo>
                    <a:pt x="28943" y="1652016"/>
                  </a:lnTo>
                  <a:lnTo>
                    <a:pt x="28943" y="1623060"/>
                  </a:lnTo>
                  <a:close/>
                </a:path>
                <a:path w="1205865" h="2851785">
                  <a:moveTo>
                    <a:pt x="28943" y="1565148"/>
                  </a:moveTo>
                  <a:lnTo>
                    <a:pt x="0" y="1565148"/>
                  </a:lnTo>
                  <a:lnTo>
                    <a:pt x="0" y="1594104"/>
                  </a:lnTo>
                  <a:lnTo>
                    <a:pt x="28943" y="1594104"/>
                  </a:lnTo>
                  <a:lnTo>
                    <a:pt x="28943" y="1565148"/>
                  </a:lnTo>
                  <a:close/>
                </a:path>
                <a:path w="1205865" h="2851785">
                  <a:moveTo>
                    <a:pt x="28943" y="1508760"/>
                  </a:moveTo>
                  <a:lnTo>
                    <a:pt x="0" y="1508760"/>
                  </a:lnTo>
                  <a:lnTo>
                    <a:pt x="0" y="1537716"/>
                  </a:lnTo>
                  <a:lnTo>
                    <a:pt x="28943" y="1537716"/>
                  </a:lnTo>
                  <a:lnTo>
                    <a:pt x="28943" y="1508760"/>
                  </a:lnTo>
                  <a:close/>
                </a:path>
                <a:path w="1205865" h="2851785">
                  <a:moveTo>
                    <a:pt x="28943" y="1450848"/>
                  </a:moveTo>
                  <a:lnTo>
                    <a:pt x="0" y="1450848"/>
                  </a:lnTo>
                  <a:lnTo>
                    <a:pt x="0" y="1479804"/>
                  </a:lnTo>
                  <a:lnTo>
                    <a:pt x="28943" y="1479804"/>
                  </a:lnTo>
                  <a:lnTo>
                    <a:pt x="28943" y="1450848"/>
                  </a:lnTo>
                  <a:close/>
                </a:path>
                <a:path w="1205865" h="2851785">
                  <a:moveTo>
                    <a:pt x="28943" y="1394460"/>
                  </a:moveTo>
                  <a:lnTo>
                    <a:pt x="0" y="1394460"/>
                  </a:lnTo>
                  <a:lnTo>
                    <a:pt x="0" y="1423416"/>
                  </a:lnTo>
                  <a:lnTo>
                    <a:pt x="28943" y="1423416"/>
                  </a:lnTo>
                  <a:lnTo>
                    <a:pt x="28943" y="1394460"/>
                  </a:lnTo>
                  <a:close/>
                </a:path>
                <a:path w="1205865" h="2851785">
                  <a:moveTo>
                    <a:pt x="28943" y="1336548"/>
                  </a:moveTo>
                  <a:lnTo>
                    <a:pt x="0" y="1336548"/>
                  </a:lnTo>
                  <a:lnTo>
                    <a:pt x="0" y="1365504"/>
                  </a:lnTo>
                  <a:lnTo>
                    <a:pt x="28943" y="1365504"/>
                  </a:lnTo>
                  <a:lnTo>
                    <a:pt x="28943" y="1336548"/>
                  </a:lnTo>
                  <a:close/>
                </a:path>
                <a:path w="1205865" h="2851785">
                  <a:moveTo>
                    <a:pt x="28943" y="1280160"/>
                  </a:moveTo>
                  <a:lnTo>
                    <a:pt x="0" y="1280160"/>
                  </a:lnTo>
                  <a:lnTo>
                    <a:pt x="0" y="1309116"/>
                  </a:lnTo>
                  <a:lnTo>
                    <a:pt x="28943" y="1309116"/>
                  </a:lnTo>
                  <a:lnTo>
                    <a:pt x="28943" y="1280160"/>
                  </a:lnTo>
                  <a:close/>
                </a:path>
                <a:path w="1205865" h="2851785">
                  <a:moveTo>
                    <a:pt x="28943" y="1222248"/>
                  </a:moveTo>
                  <a:lnTo>
                    <a:pt x="0" y="1222248"/>
                  </a:lnTo>
                  <a:lnTo>
                    <a:pt x="0" y="1251204"/>
                  </a:lnTo>
                  <a:lnTo>
                    <a:pt x="28943" y="1251204"/>
                  </a:lnTo>
                  <a:lnTo>
                    <a:pt x="28943" y="1222248"/>
                  </a:lnTo>
                  <a:close/>
                </a:path>
                <a:path w="1205865" h="2851785">
                  <a:moveTo>
                    <a:pt x="28943" y="1165860"/>
                  </a:moveTo>
                  <a:lnTo>
                    <a:pt x="0" y="1165860"/>
                  </a:lnTo>
                  <a:lnTo>
                    <a:pt x="0" y="1194816"/>
                  </a:lnTo>
                  <a:lnTo>
                    <a:pt x="28943" y="1194816"/>
                  </a:lnTo>
                  <a:lnTo>
                    <a:pt x="28943" y="1165860"/>
                  </a:lnTo>
                  <a:close/>
                </a:path>
                <a:path w="1205865" h="2851785">
                  <a:moveTo>
                    <a:pt x="28943" y="1107948"/>
                  </a:moveTo>
                  <a:lnTo>
                    <a:pt x="0" y="1107948"/>
                  </a:lnTo>
                  <a:lnTo>
                    <a:pt x="0" y="1136904"/>
                  </a:lnTo>
                  <a:lnTo>
                    <a:pt x="28943" y="1136904"/>
                  </a:lnTo>
                  <a:lnTo>
                    <a:pt x="28943" y="1107948"/>
                  </a:lnTo>
                  <a:close/>
                </a:path>
                <a:path w="1205865" h="2851785">
                  <a:moveTo>
                    <a:pt x="28943" y="1051560"/>
                  </a:moveTo>
                  <a:lnTo>
                    <a:pt x="0" y="1051560"/>
                  </a:lnTo>
                  <a:lnTo>
                    <a:pt x="0" y="1080516"/>
                  </a:lnTo>
                  <a:lnTo>
                    <a:pt x="28943" y="1080516"/>
                  </a:lnTo>
                  <a:lnTo>
                    <a:pt x="28943" y="1051560"/>
                  </a:lnTo>
                  <a:close/>
                </a:path>
                <a:path w="1205865" h="2851785">
                  <a:moveTo>
                    <a:pt x="28943" y="995172"/>
                  </a:moveTo>
                  <a:lnTo>
                    <a:pt x="0" y="995172"/>
                  </a:lnTo>
                  <a:lnTo>
                    <a:pt x="0" y="1022604"/>
                  </a:lnTo>
                  <a:lnTo>
                    <a:pt x="28943" y="1022604"/>
                  </a:lnTo>
                  <a:lnTo>
                    <a:pt x="28943" y="995172"/>
                  </a:lnTo>
                  <a:close/>
                </a:path>
                <a:path w="1205865" h="2851785">
                  <a:moveTo>
                    <a:pt x="28943" y="937260"/>
                  </a:moveTo>
                  <a:lnTo>
                    <a:pt x="0" y="937260"/>
                  </a:lnTo>
                  <a:lnTo>
                    <a:pt x="0" y="966216"/>
                  </a:lnTo>
                  <a:lnTo>
                    <a:pt x="28943" y="966216"/>
                  </a:lnTo>
                  <a:lnTo>
                    <a:pt x="28943" y="937260"/>
                  </a:lnTo>
                  <a:close/>
                </a:path>
                <a:path w="1205865" h="2851785">
                  <a:moveTo>
                    <a:pt x="28943" y="880872"/>
                  </a:moveTo>
                  <a:lnTo>
                    <a:pt x="0" y="880872"/>
                  </a:lnTo>
                  <a:lnTo>
                    <a:pt x="0" y="908304"/>
                  </a:lnTo>
                  <a:lnTo>
                    <a:pt x="28943" y="908304"/>
                  </a:lnTo>
                  <a:lnTo>
                    <a:pt x="28943" y="880872"/>
                  </a:lnTo>
                  <a:close/>
                </a:path>
                <a:path w="1205865" h="2851785">
                  <a:moveTo>
                    <a:pt x="28943" y="822960"/>
                  </a:moveTo>
                  <a:lnTo>
                    <a:pt x="0" y="822960"/>
                  </a:lnTo>
                  <a:lnTo>
                    <a:pt x="0" y="851916"/>
                  </a:lnTo>
                  <a:lnTo>
                    <a:pt x="28943" y="851916"/>
                  </a:lnTo>
                  <a:lnTo>
                    <a:pt x="28943" y="822960"/>
                  </a:lnTo>
                  <a:close/>
                </a:path>
                <a:path w="1205865" h="2851785">
                  <a:moveTo>
                    <a:pt x="28943" y="766572"/>
                  </a:moveTo>
                  <a:lnTo>
                    <a:pt x="0" y="766572"/>
                  </a:lnTo>
                  <a:lnTo>
                    <a:pt x="0" y="794004"/>
                  </a:lnTo>
                  <a:lnTo>
                    <a:pt x="28943" y="794004"/>
                  </a:lnTo>
                  <a:lnTo>
                    <a:pt x="28943" y="766572"/>
                  </a:lnTo>
                  <a:close/>
                </a:path>
                <a:path w="1205865" h="2851785">
                  <a:moveTo>
                    <a:pt x="28943" y="708660"/>
                  </a:moveTo>
                  <a:lnTo>
                    <a:pt x="0" y="708660"/>
                  </a:lnTo>
                  <a:lnTo>
                    <a:pt x="0" y="737616"/>
                  </a:lnTo>
                  <a:lnTo>
                    <a:pt x="28943" y="737616"/>
                  </a:lnTo>
                  <a:lnTo>
                    <a:pt x="28943" y="708660"/>
                  </a:lnTo>
                  <a:close/>
                </a:path>
                <a:path w="1205865" h="2851785">
                  <a:moveTo>
                    <a:pt x="28943" y="652272"/>
                  </a:moveTo>
                  <a:lnTo>
                    <a:pt x="0" y="652272"/>
                  </a:lnTo>
                  <a:lnTo>
                    <a:pt x="0" y="679704"/>
                  </a:lnTo>
                  <a:lnTo>
                    <a:pt x="28943" y="679704"/>
                  </a:lnTo>
                  <a:lnTo>
                    <a:pt x="28943" y="652272"/>
                  </a:lnTo>
                  <a:close/>
                </a:path>
                <a:path w="1205865" h="2851785">
                  <a:moveTo>
                    <a:pt x="28943" y="594360"/>
                  </a:moveTo>
                  <a:lnTo>
                    <a:pt x="0" y="594360"/>
                  </a:lnTo>
                  <a:lnTo>
                    <a:pt x="0" y="623316"/>
                  </a:lnTo>
                  <a:lnTo>
                    <a:pt x="28943" y="623316"/>
                  </a:lnTo>
                  <a:lnTo>
                    <a:pt x="28943" y="594360"/>
                  </a:lnTo>
                  <a:close/>
                </a:path>
                <a:path w="1205865" h="2851785">
                  <a:moveTo>
                    <a:pt x="28943" y="537972"/>
                  </a:moveTo>
                  <a:lnTo>
                    <a:pt x="0" y="537972"/>
                  </a:lnTo>
                  <a:lnTo>
                    <a:pt x="0" y="565404"/>
                  </a:lnTo>
                  <a:lnTo>
                    <a:pt x="28943" y="565404"/>
                  </a:lnTo>
                  <a:lnTo>
                    <a:pt x="28943" y="537972"/>
                  </a:lnTo>
                  <a:close/>
                </a:path>
                <a:path w="1205865" h="2851785">
                  <a:moveTo>
                    <a:pt x="28943" y="480060"/>
                  </a:moveTo>
                  <a:lnTo>
                    <a:pt x="0" y="480060"/>
                  </a:lnTo>
                  <a:lnTo>
                    <a:pt x="0" y="509016"/>
                  </a:lnTo>
                  <a:lnTo>
                    <a:pt x="28943" y="509016"/>
                  </a:lnTo>
                  <a:lnTo>
                    <a:pt x="28943" y="480060"/>
                  </a:lnTo>
                  <a:close/>
                </a:path>
                <a:path w="1205865" h="2851785">
                  <a:moveTo>
                    <a:pt x="28943" y="423672"/>
                  </a:moveTo>
                  <a:lnTo>
                    <a:pt x="0" y="423672"/>
                  </a:lnTo>
                  <a:lnTo>
                    <a:pt x="0" y="451104"/>
                  </a:lnTo>
                  <a:lnTo>
                    <a:pt x="28943" y="451104"/>
                  </a:lnTo>
                  <a:lnTo>
                    <a:pt x="28943" y="423672"/>
                  </a:lnTo>
                  <a:close/>
                </a:path>
                <a:path w="1205865" h="2851785">
                  <a:moveTo>
                    <a:pt x="28943" y="365760"/>
                  </a:moveTo>
                  <a:lnTo>
                    <a:pt x="0" y="365760"/>
                  </a:lnTo>
                  <a:lnTo>
                    <a:pt x="0" y="394716"/>
                  </a:lnTo>
                  <a:lnTo>
                    <a:pt x="28943" y="394716"/>
                  </a:lnTo>
                  <a:lnTo>
                    <a:pt x="28943" y="365760"/>
                  </a:lnTo>
                  <a:close/>
                </a:path>
                <a:path w="1205865" h="2851785">
                  <a:moveTo>
                    <a:pt x="28943" y="309372"/>
                  </a:moveTo>
                  <a:lnTo>
                    <a:pt x="0" y="309372"/>
                  </a:lnTo>
                  <a:lnTo>
                    <a:pt x="0" y="336804"/>
                  </a:lnTo>
                  <a:lnTo>
                    <a:pt x="28943" y="336804"/>
                  </a:lnTo>
                  <a:lnTo>
                    <a:pt x="28943" y="309372"/>
                  </a:lnTo>
                  <a:close/>
                </a:path>
                <a:path w="1205865" h="2851785">
                  <a:moveTo>
                    <a:pt x="28943" y="251460"/>
                  </a:moveTo>
                  <a:lnTo>
                    <a:pt x="0" y="251460"/>
                  </a:lnTo>
                  <a:lnTo>
                    <a:pt x="0" y="280416"/>
                  </a:lnTo>
                  <a:lnTo>
                    <a:pt x="28943" y="280416"/>
                  </a:lnTo>
                  <a:lnTo>
                    <a:pt x="28943" y="251460"/>
                  </a:lnTo>
                  <a:close/>
                </a:path>
                <a:path w="1205865" h="2851785">
                  <a:moveTo>
                    <a:pt x="28943" y="195072"/>
                  </a:moveTo>
                  <a:lnTo>
                    <a:pt x="0" y="195072"/>
                  </a:lnTo>
                  <a:lnTo>
                    <a:pt x="0" y="222504"/>
                  </a:lnTo>
                  <a:lnTo>
                    <a:pt x="28943" y="222504"/>
                  </a:lnTo>
                  <a:lnTo>
                    <a:pt x="28943" y="195072"/>
                  </a:lnTo>
                  <a:close/>
                </a:path>
                <a:path w="1205865" h="2851785">
                  <a:moveTo>
                    <a:pt x="28943" y="137160"/>
                  </a:moveTo>
                  <a:lnTo>
                    <a:pt x="0" y="137160"/>
                  </a:lnTo>
                  <a:lnTo>
                    <a:pt x="0" y="166116"/>
                  </a:lnTo>
                  <a:lnTo>
                    <a:pt x="28943" y="166116"/>
                  </a:lnTo>
                  <a:lnTo>
                    <a:pt x="28943" y="137160"/>
                  </a:lnTo>
                  <a:close/>
                </a:path>
                <a:path w="1205865" h="2851785">
                  <a:moveTo>
                    <a:pt x="28943" y="80772"/>
                  </a:moveTo>
                  <a:lnTo>
                    <a:pt x="0" y="80772"/>
                  </a:lnTo>
                  <a:lnTo>
                    <a:pt x="0" y="108204"/>
                  </a:lnTo>
                  <a:lnTo>
                    <a:pt x="28943" y="108204"/>
                  </a:lnTo>
                  <a:lnTo>
                    <a:pt x="28943" y="80772"/>
                  </a:lnTo>
                  <a:close/>
                </a:path>
                <a:path w="1205865" h="2851785">
                  <a:moveTo>
                    <a:pt x="28943" y="22860"/>
                  </a:moveTo>
                  <a:lnTo>
                    <a:pt x="0" y="22860"/>
                  </a:lnTo>
                  <a:lnTo>
                    <a:pt x="0" y="51816"/>
                  </a:lnTo>
                  <a:lnTo>
                    <a:pt x="28943" y="51816"/>
                  </a:lnTo>
                  <a:lnTo>
                    <a:pt x="28943" y="22860"/>
                  </a:lnTo>
                  <a:close/>
                </a:path>
                <a:path w="1205865" h="2851785">
                  <a:moveTo>
                    <a:pt x="62484" y="0"/>
                  </a:moveTo>
                  <a:lnTo>
                    <a:pt x="33528" y="0"/>
                  </a:lnTo>
                  <a:lnTo>
                    <a:pt x="33528" y="27432"/>
                  </a:lnTo>
                  <a:lnTo>
                    <a:pt x="62484" y="27432"/>
                  </a:lnTo>
                  <a:lnTo>
                    <a:pt x="62484" y="0"/>
                  </a:lnTo>
                  <a:close/>
                </a:path>
                <a:path w="1205865" h="2851785">
                  <a:moveTo>
                    <a:pt x="118872" y="0"/>
                  </a:moveTo>
                  <a:lnTo>
                    <a:pt x="91440" y="0"/>
                  </a:lnTo>
                  <a:lnTo>
                    <a:pt x="91440" y="27432"/>
                  </a:lnTo>
                  <a:lnTo>
                    <a:pt x="118872" y="27432"/>
                  </a:lnTo>
                  <a:lnTo>
                    <a:pt x="118872" y="0"/>
                  </a:lnTo>
                  <a:close/>
                </a:path>
                <a:path w="1205865" h="2851785">
                  <a:moveTo>
                    <a:pt x="176784" y="0"/>
                  </a:moveTo>
                  <a:lnTo>
                    <a:pt x="147828" y="0"/>
                  </a:lnTo>
                  <a:lnTo>
                    <a:pt x="147828" y="27432"/>
                  </a:lnTo>
                  <a:lnTo>
                    <a:pt x="176784" y="27432"/>
                  </a:lnTo>
                  <a:lnTo>
                    <a:pt x="176784" y="0"/>
                  </a:lnTo>
                  <a:close/>
                </a:path>
                <a:path w="1205865" h="2851785">
                  <a:moveTo>
                    <a:pt x="233172" y="0"/>
                  </a:moveTo>
                  <a:lnTo>
                    <a:pt x="205740" y="0"/>
                  </a:lnTo>
                  <a:lnTo>
                    <a:pt x="205740" y="27432"/>
                  </a:lnTo>
                  <a:lnTo>
                    <a:pt x="233172" y="27432"/>
                  </a:lnTo>
                  <a:lnTo>
                    <a:pt x="233172" y="0"/>
                  </a:lnTo>
                  <a:close/>
                </a:path>
                <a:path w="1205865" h="2851785">
                  <a:moveTo>
                    <a:pt x="291084" y="0"/>
                  </a:moveTo>
                  <a:lnTo>
                    <a:pt x="262128" y="0"/>
                  </a:lnTo>
                  <a:lnTo>
                    <a:pt x="262128" y="27432"/>
                  </a:lnTo>
                  <a:lnTo>
                    <a:pt x="291084" y="27432"/>
                  </a:lnTo>
                  <a:lnTo>
                    <a:pt x="291084" y="0"/>
                  </a:lnTo>
                  <a:close/>
                </a:path>
                <a:path w="1205865" h="2851785">
                  <a:moveTo>
                    <a:pt x="347459" y="0"/>
                  </a:moveTo>
                  <a:lnTo>
                    <a:pt x="320027" y="0"/>
                  </a:lnTo>
                  <a:lnTo>
                    <a:pt x="320027" y="27432"/>
                  </a:lnTo>
                  <a:lnTo>
                    <a:pt x="347459" y="27432"/>
                  </a:lnTo>
                  <a:lnTo>
                    <a:pt x="347459" y="0"/>
                  </a:lnTo>
                  <a:close/>
                </a:path>
                <a:path w="1205865" h="2851785">
                  <a:moveTo>
                    <a:pt x="405384" y="0"/>
                  </a:moveTo>
                  <a:lnTo>
                    <a:pt x="376428" y="0"/>
                  </a:lnTo>
                  <a:lnTo>
                    <a:pt x="376428" y="27432"/>
                  </a:lnTo>
                  <a:lnTo>
                    <a:pt x="405384" y="27432"/>
                  </a:lnTo>
                  <a:lnTo>
                    <a:pt x="405384" y="0"/>
                  </a:lnTo>
                  <a:close/>
                </a:path>
                <a:path w="1205865" h="2851785">
                  <a:moveTo>
                    <a:pt x="461759" y="0"/>
                  </a:moveTo>
                  <a:lnTo>
                    <a:pt x="434340" y="0"/>
                  </a:lnTo>
                  <a:lnTo>
                    <a:pt x="434340" y="27432"/>
                  </a:lnTo>
                  <a:lnTo>
                    <a:pt x="461759" y="27432"/>
                  </a:lnTo>
                  <a:lnTo>
                    <a:pt x="461759" y="0"/>
                  </a:lnTo>
                  <a:close/>
                </a:path>
                <a:path w="1205865" h="2851785">
                  <a:moveTo>
                    <a:pt x="519684" y="0"/>
                  </a:moveTo>
                  <a:lnTo>
                    <a:pt x="490728" y="0"/>
                  </a:lnTo>
                  <a:lnTo>
                    <a:pt x="490728" y="27432"/>
                  </a:lnTo>
                  <a:lnTo>
                    <a:pt x="519684" y="27432"/>
                  </a:lnTo>
                  <a:lnTo>
                    <a:pt x="519684" y="0"/>
                  </a:lnTo>
                  <a:close/>
                </a:path>
                <a:path w="1205865" h="2851785">
                  <a:moveTo>
                    <a:pt x="576059" y="0"/>
                  </a:moveTo>
                  <a:lnTo>
                    <a:pt x="548640" y="0"/>
                  </a:lnTo>
                  <a:lnTo>
                    <a:pt x="548640" y="27432"/>
                  </a:lnTo>
                  <a:lnTo>
                    <a:pt x="576059" y="27432"/>
                  </a:lnTo>
                  <a:lnTo>
                    <a:pt x="576059" y="0"/>
                  </a:lnTo>
                  <a:close/>
                </a:path>
                <a:path w="1205865" h="2851785">
                  <a:moveTo>
                    <a:pt x="633984" y="0"/>
                  </a:moveTo>
                  <a:lnTo>
                    <a:pt x="605028" y="0"/>
                  </a:lnTo>
                  <a:lnTo>
                    <a:pt x="605028" y="27432"/>
                  </a:lnTo>
                  <a:lnTo>
                    <a:pt x="633984" y="27432"/>
                  </a:lnTo>
                  <a:lnTo>
                    <a:pt x="633984" y="0"/>
                  </a:lnTo>
                  <a:close/>
                </a:path>
                <a:path w="1205865" h="2851785">
                  <a:moveTo>
                    <a:pt x="690359" y="0"/>
                  </a:moveTo>
                  <a:lnTo>
                    <a:pt x="662940" y="0"/>
                  </a:lnTo>
                  <a:lnTo>
                    <a:pt x="662940" y="27432"/>
                  </a:lnTo>
                  <a:lnTo>
                    <a:pt x="690359" y="27432"/>
                  </a:lnTo>
                  <a:lnTo>
                    <a:pt x="690359" y="0"/>
                  </a:lnTo>
                  <a:close/>
                </a:path>
                <a:path w="1205865" h="2851785">
                  <a:moveTo>
                    <a:pt x="748284" y="0"/>
                  </a:moveTo>
                  <a:lnTo>
                    <a:pt x="719328" y="0"/>
                  </a:lnTo>
                  <a:lnTo>
                    <a:pt x="719328" y="27432"/>
                  </a:lnTo>
                  <a:lnTo>
                    <a:pt x="748284" y="27432"/>
                  </a:lnTo>
                  <a:lnTo>
                    <a:pt x="748284" y="0"/>
                  </a:lnTo>
                  <a:close/>
                </a:path>
                <a:path w="1205865" h="2851785">
                  <a:moveTo>
                    <a:pt x="804659" y="0"/>
                  </a:moveTo>
                  <a:lnTo>
                    <a:pt x="777240" y="0"/>
                  </a:lnTo>
                  <a:lnTo>
                    <a:pt x="777240" y="27432"/>
                  </a:lnTo>
                  <a:lnTo>
                    <a:pt x="804659" y="27432"/>
                  </a:lnTo>
                  <a:lnTo>
                    <a:pt x="804659" y="0"/>
                  </a:lnTo>
                  <a:close/>
                </a:path>
                <a:path w="1205865" h="2851785">
                  <a:moveTo>
                    <a:pt x="862584" y="0"/>
                  </a:moveTo>
                  <a:lnTo>
                    <a:pt x="833628" y="0"/>
                  </a:lnTo>
                  <a:lnTo>
                    <a:pt x="833628" y="27432"/>
                  </a:lnTo>
                  <a:lnTo>
                    <a:pt x="862584" y="27432"/>
                  </a:lnTo>
                  <a:lnTo>
                    <a:pt x="862584" y="0"/>
                  </a:lnTo>
                  <a:close/>
                </a:path>
                <a:path w="1205865" h="2851785">
                  <a:moveTo>
                    <a:pt x="918959" y="0"/>
                  </a:moveTo>
                  <a:lnTo>
                    <a:pt x="891540" y="0"/>
                  </a:lnTo>
                  <a:lnTo>
                    <a:pt x="891540" y="27432"/>
                  </a:lnTo>
                  <a:lnTo>
                    <a:pt x="918959" y="27432"/>
                  </a:lnTo>
                  <a:lnTo>
                    <a:pt x="918959" y="0"/>
                  </a:lnTo>
                  <a:close/>
                </a:path>
                <a:path w="1205865" h="2851785">
                  <a:moveTo>
                    <a:pt x="976884" y="0"/>
                  </a:moveTo>
                  <a:lnTo>
                    <a:pt x="947928" y="0"/>
                  </a:lnTo>
                  <a:lnTo>
                    <a:pt x="947928" y="27432"/>
                  </a:lnTo>
                  <a:lnTo>
                    <a:pt x="976884" y="27432"/>
                  </a:lnTo>
                  <a:lnTo>
                    <a:pt x="976884" y="0"/>
                  </a:lnTo>
                  <a:close/>
                </a:path>
                <a:path w="1205865" h="2851785">
                  <a:moveTo>
                    <a:pt x="1033259" y="0"/>
                  </a:moveTo>
                  <a:lnTo>
                    <a:pt x="1004316" y="0"/>
                  </a:lnTo>
                  <a:lnTo>
                    <a:pt x="1004316" y="27432"/>
                  </a:lnTo>
                  <a:lnTo>
                    <a:pt x="1033259" y="27432"/>
                  </a:lnTo>
                  <a:lnTo>
                    <a:pt x="1033259" y="0"/>
                  </a:lnTo>
                  <a:close/>
                </a:path>
                <a:path w="1205865" h="2851785">
                  <a:moveTo>
                    <a:pt x="1091184" y="0"/>
                  </a:moveTo>
                  <a:lnTo>
                    <a:pt x="1062228" y="0"/>
                  </a:lnTo>
                  <a:lnTo>
                    <a:pt x="1062228" y="27432"/>
                  </a:lnTo>
                  <a:lnTo>
                    <a:pt x="1091184" y="27432"/>
                  </a:lnTo>
                  <a:lnTo>
                    <a:pt x="1091184" y="0"/>
                  </a:lnTo>
                  <a:close/>
                </a:path>
                <a:path w="1205865" h="2851785">
                  <a:moveTo>
                    <a:pt x="1147559" y="0"/>
                  </a:moveTo>
                  <a:lnTo>
                    <a:pt x="1118616" y="0"/>
                  </a:lnTo>
                  <a:lnTo>
                    <a:pt x="1118616" y="27432"/>
                  </a:lnTo>
                  <a:lnTo>
                    <a:pt x="1147559" y="27432"/>
                  </a:lnTo>
                  <a:lnTo>
                    <a:pt x="1147559" y="0"/>
                  </a:lnTo>
                  <a:close/>
                </a:path>
                <a:path w="1205865" h="2851785">
                  <a:moveTo>
                    <a:pt x="1205484" y="0"/>
                  </a:moveTo>
                  <a:lnTo>
                    <a:pt x="1176528" y="0"/>
                  </a:lnTo>
                  <a:lnTo>
                    <a:pt x="1176528" y="27432"/>
                  </a:lnTo>
                  <a:lnTo>
                    <a:pt x="1205484" y="27432"/>
                  </a:lnTo>
                  <a:lnTo>
                    <a:pt x="1205484" y="0"/>
                  </a:lnTo>
                  <a:close/>
                </a:path>
              </a:pathLst>
            </a:custGeom>
            <a:solidFill>
              <a:srgbClr val="7E7E7E"/>
            </a:solidFill>
          </p:spPr>
          <p:txBody>
            <a:bodyPr wrap="square" lIns="0" tIns="0" rIns="0" bIns="0" rtlCol="0"/>
            <a:lstStyle/>
            <a:p>
              <a:endParaRPr/>
            </a:p>
          </p:txBody>
        </p:sp>
        <p:sp>
          <p:nvSpPr>
            <p:cNvPr id="20" name="object 20"/>
            <p:cNvSpPr/>
            <p:nvPr/>
          </p:nvSpPr>
          <p:spPr>
            <a:xfrm>
              <a:off x="7437120" y="2028443"/>
              <a:ext cx="3667125" cy="390525"/>
            </a:xfrm>
            <a:custGeom>
              <a:avLst/>
              <a:gdLst/>
              <a:ahLst/>
              <a:cxnLst/>
              <a:rect l="l" t="t" r="r" b="b"/>
              <a:pathLst>
                <a:path w="3667125" h="390525">
                  <a:moveTo>
                    <a:pt x="28956" y="0"/>
                  </a:moveTo>
                  <a:lnTo>
                    <a:pt x="0" y="0"/>
                  </a:lnTo>
                  <a:lnTo>
                    <a:pt x="0" y="27432"/>
                  </a:lnTo>
                  <a:lnTo>
                    <a:pt x="28956" y="27432"/>
                  </a:lnTo>
                  <a:lnTo>
                    <a:pt x="28956" y="0"/>
                  </a:lnTo>
                  <a:close/>
                </a:path>
                <a:path w="3667125" h="390525">
                  <a:moveTo>
                    <a:pt x="85331" y="0"/>
                  </a:moveTo>
                  <a:lnTo>
                    <a:pt x="56388" y="0"/>
                  </a:lnTo>
                  <a:lnTo>
                    <a:pt x="56388" y="27432"/>
                  </a:lnTo>
                  <a:lnTo>
                    <a:pt x="85331" y="27432"/>
                  </a:lnTo>
                  <a:lnTo>
                    <a:pt x="85331" y="0"/>
                  </a:lnTo>
                  <a:close/>
                </a:path>
                <a:path w="3667125" h="390525">
                  <a:moveTo>
                    <a:pt x="143256" y="0"/>
                  </a:moveTo>
                  <a:lnTo>
                    <a:pt x="114300" y="0"/>
                  </a:lnTo>
                  <a:lnTo>
                    <a:pt x="114300" y="27432"/>
                  </a:lnTo>
                  <a:lnTo>
                    <a:pt x="143256" y="27432"/>
                  </a:lnTo>
                  <a:lnTo>
                    <a:pt x="143256" y="0"/>
                  </a:lnTo>
                  <a:close/>
                </a:path>
                <a:path w="3667125" h="390525">
                  <a:moveTo>
                    <a:pt x="199631" y="0"/>
                  </a:moveTo>
                  <a:lnTo>
                    <a:pt x="170688" y="0"/>
                  </a:lnTo>
                  <a:lnTo>
                    <a:pt x="170688" y="27432"/>
                  </a:lnTo>
                  <a:lnTo>
                    <a:pt x="199631" y="27432"/>
                  </a:lnTo>
                  <a:lnTo>
                    <a:pt x="199631" y="0"/>
                  </a:lnTo>
                  <a:close/>
                </a:path>
                <a:path w="3667125" h="390525">
                  <a:moveTo>
                    <a:pt x="257556" y="0"/>
                  </a:moveTo>
                  <a:lnTo>
                    <a:pt x="228600" y="0"/>
                  </a:lnTo>
                  <a:lnTo>
                    <a:pt x="228600" y="27432"/>
                  </a:lnTo>
                  <a:lnTo>
                    <a:pt x="257556" y="27432"/>
                  </a:lnTo>
                  <a:lnTo>
                    <a:pt x="257556" y="0"/>
                  </a:lnTo>
                  <a:close/>
                </a:path>
                <a:path w="3667125" h="390525">
                  <a:moveTo>
                    <a:pt x="313931" y="0"/>
                  </a:moveTo>
                  <a:lnTo>
                    <a:pt x="284988" y="0"/>
                  </a:lnTo>
                  <a:lnTo>
                    <a:pt x="284988" y="27432"/>
                  </a:lnTo>
                  <a:lnTo>
                    <a:pt x="313931" y="27432"/>
                  </a:lnTo>
                  <a:lnTo>
                    <a:pt x="313931" y="0"/>
                  </a:lnTo>
                  <a:close/>
                </a:path>
                <a:path w="3667125" h="390525">
                  <a:moveTo>
                    <a:pt x="371856" y="0"/>
                  </a:moveTo>
                  <a:lnTo>
                    <a:pt x="342900" y="0"/>
                  </a:lnTo>
                  <a:lnTo>
                    <a:pt x="342900" y="27432"/>
                  </a:lnTo>
                  <a:lnTo>
                    <a:pt x="371856" y="27432"/>
                  </a:lnTo>
                  <a:lnTo>
                    <a:pt x="371856" y="0"/>
                  </a:lnTo>
                  <a:close/>
                </a:path>
                <a:path w="3667125" h="390525">
                  <a:moveTo>
                    <a:pt x="428231" y="0"/>
                  </a:moveTo>
                  <a:lnTo>
                    <a:pt x="399288" y="0"/>
                  </a:lnTo>
                  <a:lnTo>
                    <a:pt x="399288" y="27432"/>
                  </a:lnTo>
                  <a:lnTo>
                    <a:pt x="428231" y="27432"/>
                  </a:lnTo>
                  <a:lnTo>
                    <a:pt x="428231" y="0"/>
                  </a:lnTo>
                  <a:close/>
                </a:path>
                <a:path w="3667125" h="390525">
                  <a:moveTo>
                    <a:pt x="486156" y="0"/>
                  </a:moveTo>
                  <a:lnTo>
                    <a:pt x="457200" y="0"/>
                  </a:lnTo>
                  <a:lnTo>
                    <a:pt x="457200" y="27432"/>
                  </a:lnTo>
                  <a:lnTo>
                    <a:pt x="486156" y="27432"/>
                  </a:lnTo>
                  <a:lnTo>
                    <a:pt x="486156" y="0"/>
                  </a:lnTo>
                  <a:close/>
                </a:path>
                <a:path w="3667125" h="390525">
                  <a:moveTo>
                    <a:pt x="542531" y="0"/>
                  </a:moveTo>
                  <a:lnTo>
                    <a:pt x="513588" y="0"/>
                  </a:lnTo>
                  <a:lnTo>
                    <a:pt x="513588" y="27432"/>
                  </a:lnTo>
                  <a:lnTo>
                    <a:pt x="542531" y="27432"/>
                  </a:lnTo>
                  <a:lnTo>
                    <a:pt x="542531" y="0"/>
                  </a:lnTo>
                  <a:close/>
                </a:path>
                <a:path w="3667125" h="390525">
                  <a:moveTo>
                    <a:pt x="600456" y="0"/>
                  </a:moveTo>
                  <a:lnTo>
                    <a:pt x="571500" y="0"/>
                  </a:lnTo>
                  <a:lnTo>
                    <a:pt x="571500" y="27432"/>
                  </a:lnTo>
                  <a:lnTo>
                    <a:pt x="600456" y="27432"/>
                  </a:lnTo>
                  <a:lnTo>
                    <a:pt x="600456" y="0"/>
                  </a:lnTo>
                  <a:close/>
                </a:path>
                <a:path w="3667125" h="390525">
                  <a:moveTo>
                    <a:pt x="656831" y="0"/>
                  </a:moveTo>
                  <a:lnTo>
                    <a:pt x="627888" y="0"/>
                  </a:lnTo>
                  <a:lnTo>
                    <a:pt x="627888" y="27432"/>
                  </a:lnTo>
                  <a:lnTo>
                    <a:pt x="656831" y="27432"/>
                  </a:lnTo>
                  <a:lnTo>
                    <a:pt x="656831" y="0"/>
                  </a:lnTo>
                  <a:close/>
                </a:path>
                <a:path w="3667125" h="390525">
                  <a:moveTo>
                    <a:pt x="714756" y="0"/>
                  </a:moveTo>
                  <a:lnTo>
                    <a:pt x="685800" y="0"/>
                  </a:lnTo>
                  <a:lnTo>
                    <a:pt x="685800" y="27432"/>
                  </a:lnTo>
                  <a:lnTo>
                    <a:pt x="714756" y="27432"/>
                  </a:lnTo>
                  <a:lnTo>
                    <a:pt x="714756" y="0"/>
                  </a:lnTo>
                  <a:close/>
                </a:path>
                <a:path w="3667125" h="390525">
                  <a:moveTo>
                    <a:pt x="771131" y="0"/>
                  </a:moveTo>
                  <a:lnTo>
                    <a:pt x="742188" y="0"/>
                  </a:lnTo>
                  <a:lnTo>
                    <a:pt x="742188" y="27432"/>
                  </a:lnTo>
                  <a:lnTo>
                    <a:pt x="771131" y="27432"/>
                  </a:lnTo>
                  <a:lnTo>
                    <a:pt x="771131" y="0"/>
                  </a:lnTo>
                  <a:close/>
                </a:path>
                <a:path w="3667125" h="390525">
                  <a:moveTo>
                    <a:pt x="829056" y="0"/>
                  </a:moveTo>
                  <a:lnTo>
                    <a:pt x="800100" y="0"/>
                  </a:lnTo>
                  <a:lnTo>
                    <a:pt x="800100" y="27432"/>
                  </a:lnTo>
                  <a:lnTo>
                    <a:pt x="829056" y="27432"/>
                  </a:lnTo>
                  <a:lnTo>
                    <a:pt x="829056" y="0"/>
                  </a:lnTo>
                  <a:close/>
                </a:path>
                <a:path w="3667125" h="390525">
                  <a:moveTo>
                    <a:pt x="885431" y="0"/>
                  </a:moveTo>
                  <a:lnTo>
                    <a:pt x="856488" y="0"/>
                  </a:lnTo>
                  <a:lnTo>
                    <a:pt x="856488" y="27432"/>
                  </a:lnTo>
                  <a:lnTo>
                    <a:pt x="885431" y="27432"/>
                  </a:lnTo>
                  <a:lnTo>
                    <a:pt x="885431" y="0"/>
                  </a:lnTo>
                  <a:close/>
                </a:path>
                <a:path w="3667125" h="390525">
                  <a:moveTo>
                    <a:pt x="943356" y="0"/>
                  </a:moveTo>
                  <a:lnTo>
                    <a:pt x="914400" y="0"/>
                  </a:lnTo>
                  <a:lnTo>
                    <a:pt x="914400" y="27432"/>
                  </a:lnTo>
                  <a:lnTo>
                    <a:pt x="943356" y="27432"/>
                  </a:lnTo>
                  <a:lnTo>
                    <a:pt x="943356" y="0"/>
                  </a:lnTo>
                  <a:close/>
                </a:path>
                <a:path w="3667125" h="390525">
                  <a:moveTo>
                    <a:pt x="999731" y="0"/>
                  </a:moveTo>
                  <a:lnTo>
                    <a:pt x="970788" y="0"/>
                  </a:lnTo>
                  <a:lnTo>
                    <a:pt x="970788" y="27432"/>
                  </a:lnTo>
                  <a:lnTo>
                    <a:pt x="999731" y="27432"/>
                  </a:lnTo>
                  <a:lnTo>
                    <a:pt x="999731" y="0"/>
                  </a:lnTo>
                  <a:close/>
                </a:path>
                <a:path w="3667125" h="390525">
                  <a:moveTo>
                    <a:pt x="1057656" y="0"/>
                  </a:moveTo>
                  <a:lnTo>
                    <a:pt x="1028700" y="0"/>
                  </a:lnTo>
                  <a:lnTo>
                    <a:pt x="1028700" y="27432"/>
                  </a:lnTo>
                  <a:lnTo>
                    <a:pt x="1057656" y="27432"/>
                  </a:lnTo>
                  <a:lnTo>
                    <a:pt x="1057656" y="0"/>
                  </a:lnTo>
                  <a:close/>
                </a:path>
                <a:path w="3667125" h="390525">
                  <a:moveTo>
                    <a:pt x="1114031" y="0"/>
                  </a:moveTo>
                  <a:lnTo>
                    <a:pt x="1085088" y="0"/>
                  </a:lnTo>
                  <a:lnTo>
                    <a:pt x="1085088" y="27432"/>
                  </a:lnTo>
                  <a:lnTo>
                    <a:pt x="1114031" y="27432"/>
                  </a:lnTo>
                  <a:lnTo>
                    <a:pt x="1114031" y="0"/>
                  </a:lnTo>
                  <a:close/>
                </a:path>
                <a:path w="3667125" h="390525">
                  <a:moveTo>
                    <a:pt x="1171956" y="0"/>
                  </a:moveTo>
                  <a:lnTo>
                    <a:pt x="1143000" y="0"/>
                  </a:lnTo>
                  <a:lnTo>
                    <a:pt x="1143000" y="27432"/>
                  </a:lnTo>
                  <a:lnTo>
                    <a:pt x="1171956" y="27432"/>
                  </a:lnTo>
                  <a:lnTo>
                    <a:pt x="1171956" y="0"/>
                  </a:lnTo>
                  <a:close/>
                </a:path>
                <a:path w="3667125" h="390525">
                  <a:moveTo>
                    <a:pt x="1228331" y="0"/>
                  </a:moveTo>
                  <a:lnTo>
                    <a:pt x="1199388" y="0"/>
                  </a:lnTo>
                  <a:lnTo>
                    <a:pt x="1199388" y="27432"/>
                  </a:lnTo>
                  <a:lnTo>
                    <a:pt x="1228331" y="27432"/>
                  </a:lnTo>
                  <a:lnTo>
                    <a:pt x="1228331" y="0"/>
                  </a:lnTo>
                  <a:close/>
                </a:path>
                <a:path w="3667125" h="390525">
                  <a:moveTo>
                    <a:pt x="1284732" y="0"/>
                  </a:moveTo>
                  <a:lnTo>
                    <a:pt x="1257300" y="0"/>
                  </a:lnTo>
                  <a:lnTo>
                    <a:pt x="1257300" y="27432"/>
                  </a:lnTo>
                  <a:lnTo>
                    <a:pt x="1284732" y="27432"/>
                  </a:lnTo>
                  <a:lnTo>
                    <a:pt x="1284732" y="0"/>
                  </a:lnTo>
                  <a:close/>
                </a:path>
                <a:path w="3667125" h="390525">
                  <a:moveTo>
                    <a:pt x="1342631" y="0"/>
                  </a:moveTo>
                  <a:lnTo>
                    <a:pt x="1313688" y="0"/>
                  </a:lnTo>
                  <a:lnTo>
                    <a:pt x="1313688" y="27432"/>
                  </a:lnTo>
                  <a:lnTo>
                    <a:pt x="1342631" y="27432"/>
                  </a:lnTo>
                  <a:lnTo>
                    <a:pt x="1342631" y="0"/>
                  </a:lnTo>
                  <a:close/>
                </a:path>
                <a:path w="3667125" h="390525">
                  <a:moveTo>
                    <a:pt x="1399032" y="0"/>
                  </a:moveTo>
                  <a:lnTo>
                    <a:pt x="1371600" y="0"/>
                  </a:lnTo>
                  <a:lnTo>
                    <a:pt x="1371600" y="27432"/>
                  </a:lnTo>
                  <a:lnTo>
                    <a:pt x="1399032" y="27432"/>
                  </a:lnTo>
                  <a:lnTo>
                    <a:pt x="1399032" y="0"/>
                  </a:lnTo>
                  <a:close/>
                </a:path>
                <a:path w="3667125" h="390525">
                  <a:moveTo>
                    <a:pt x="1456931" y="0"/>
                  </a:moveTo>
                  <a:lnTo>
                    <a:pt x="1427988" y="0"/>
                  </a:lnTo>
                  <a:lnTo>
                    <a:pt x="1427988" y="27432"/>
                  </a:lnTo>
                  <a:lnTo>
                    <a:pt x="1456931" y="27432"/>
                  </a:lnTo>
                  <a:lnTo>
                    <a:pt x="1456931" y="0"/>
                  </a:lnTo>
                  <a:close/>
                </a:path>
                <a:path w="3667125" h="390525">
                  <a:moveTo>
                    <a:pt x="1513332" y="0"/>
                  </a:moveTo>
                  <a:lnTo>
                    <a:pt x="1485900" y="0"/>
                  </a:lnTo>
                  <a:lnTo>
                    <a:pt x="1485900" y="27432"/>
                  </a:lnTo>
                  <a:lnTo>
                    <a:pt x="1513332" y="27432"/>
                  </a:lnTo>
                  <a:lnTo>
                    <a:pt x="1513332" y="0"/>
                  </a:lnTo>
                  <a:close/>
                </a:path>
                <a:path w="3667125" h="390525">
                  <a:moveTo>
                    <a:pt x="1571231" y="0"/>
                  </a:moveTo>
                  <a:lnTo>
                    <a:pt x="1542288" y="0"/>
                  </a:lnTo>
                  <a:lnTo>
                    <a:pt x="1542288" y="27432"/>
                  </a:lnTo>
                  <a:lnTo>
                    <a:pt x="1571231" y="27432"/>
                  </a:lnTo>
                  <a:lnTo>
                    <a:pt x="1571231" y="0"/>
                  </a:lnTo>
                  <a:close/>
                </a:path>
                <a:path w="3667125" h="390525">
                  <a:moveTo>
                    <a:pt x="1627632" y="0"/>
                  </a:moveTo>
                  <a:lnTo>
                    <a:pt x="1600200" y="0"/>
                  </a:lnTo>
                  <a:lnTo>
                    <a:pt x="1600200" y="27432"/>
                  </a:lnTo>
                  <a:lnTo>
                    <a:pt x="1627632" y="27432"/>
                  </a:lnTo>
                  <a:lnTo>
                    <a:pt x="1627632" y="0"/>
                  </a:lnTo>
                  <a:close/>
                </a:path>
                <a:path w="3667125" h="390525">
                  <a:moveTo>
                    <a:pt x="1685531" y="0"/>
                  </a:moveTo>
                  <a:lnTo>
                    <a:pt x="1656588" y="0"/>
                  </a:lnTo>
                  <a:lnTo>
                    <a:pt x="1656588" y="27432"/>
                  </a:lnTo>
                  <a:lnTo>
                    <a:pt x="1685531" y="27432"/>
                  </a:lnTo>
                  <a:lnTo>
                    <a:pt x="1685531" y="0"/>
                  </a:lnTo>
                  <a:close/>
                </a:path>
                <a:path w="3667125" h="390525">
                  <a:moveTo>
                    <a:pt x="1741932" y="0"/>
                  </a:moveTo>
                  <a:lnTo>
                    <a:pt x="1714500" y="0"/>
                  </a:lnTo>
                  <a:lnTo>
                    <a:pt x="1714500" y="27432"/>
                  </a:lnTo>
                  <a:lnTo>
                    <a:pt x="1741932" y="27432"/>
                  </a:lnTo>
                  <a:lnTo>
                    <a:pt x="1741932" y="0"/>
                  </a:lnTo>
                  <a:close/>
                </a:path>
                <a:path w="3667125" h="390525">
                  <a:moveTo>
                    <a:pt x="1799831" y="0"/>
                  </a:moveTo>
                  <a:lnTo>
                    <a:pt x="1770888" y="0"/>
                  </a:lnTo>
                  <a:lnTo>
                    <a:pt x="1770888" y="27432"/>
                  </a:lnTo>
                  <a:lnTo>
                    <a:pt x="1799831" y="27432"/>
                  </a:lnTo>
                  <a:lnTo>
                    <a:pt x="1799831" y="0"/>
                  </a:lnTo>
                  <a:close/>
                </a:path>
                <a:path w="3667125" h="390525">
                  <a:moveTo>
                    <a:pt x="1856232" y="0"/>
                  </a:moveTo>
                  <a:lnTo>
                    <a:pt x="1828800" y="0"/>
                  </a:lnTo>
                  <a:lnTo>
                    <a:pt x="1828800" y="27432"/>
                  </a:lnTo>
                  <a:lnTo>
                    <a:pt x="1856232" y="27432"/>
                  </a:lnTo>
                  <a:lnTo>
                    <a:pt x="1856232" y="0"/>
                  </a:lnTo>
                  <a:close/>
                </a:path>
                <a:path w="3667125" h="390525">
                  <a:moveTo>
                    <a:pt x="1914131" y="0"/>
                  </a:moveTo>
                  <a:lnTo>
                    <a:pt x="1885188" y="0"/>
                  </a:lnTo>
                  <a:lnTo>
                    <a:pt x="1885188" y="27432"/>
                  </a:lnTo>
                  <a:lnTo>
                    <a:pt x="1914131" y="27432"/>
                  </a:lnTo>
                  <a:lnTo>
                    <a:pt x="1914131" y="0"/>
                  </a:lnTo>
                  <a:close/>
                </a:path>
                <a:path w="3667125" h="390525">
                  <a:moveTo>
                    <a:pt x="1970532" y="0"/>
                  </a:moveTo>
                  <a:lnTo>
                    <a:pt x="1943100" y="0"/>
                  </a:lnTo>
                  <a:lnTo>
                    <a:pt x="1943100" y="27432"/>
                  </a:lnTo>
                  <a:lnTo>
                    <a:pt x="1970532" y="27432"/>
                  </a:lnTo>
                  <a:lnTo>
                    <a:pt x="1970532" y="0"/>
                  </a:lnTo>
                  <a:close/>
                </a:path>
                <a:path w="3667125" h="390525">
                  <a:moveTo>
                    <a:pt x="2028431" y="0"/>
                  </a:moveTo>
                  <a:lnTo>
                    <a:pt x="1999488" y="0"/>
                  </a:lnTo>
                  <a:lnTo>
                    <a:pt x="1999488" y="27432"/>
                  </a:lnTo>
                  <a:lnTo>
                    <a:pt x="2028431" y="27432"/>
                  </a:lnTo>
                  <a:lnTo>
                    <a:pt x="2028431" y="0"/>
                  </a:lnTo>
                  <a:close/>
                </a:path>
                <a:path w="3667125" h="390525">
                  <a:moveTo>
                    <a:pt x="2084832" y="0"/>
                  </a:moveTo>
                  <a:lnTo>
                    <a:pt x="2057400" y="0"/>
                  </a:lnTo>
                  <a:lnTo>
                    <a:pt x="2057400" y="27432"/>
                  </a:lnTo>
                  <a:lnTo>
                    <a:pt x="2084832" y="27432"/>
                  </a:lnTo>
                  <a:lnTo>
                    <a:pt x="2084832" y="0"/>
                  </a:lnTo>
                  <a:close/>
                </a:path>
                <a:path w="3667125" h="390525">
                  <a:moveTo>
                    <a:pt x="2142731" y="0"/>
                  </a:moveTo>
                  <a:lnTo>
                    <a:pt x="2113788" y="0"/>
                  </a:lnTo>
                  <a:lnTo>
                    <a:pt x="2113788" y="27432"/>
                  </a:lnTo>
                  <a:lnTo>
                    <a:pt x="2142731" y="27432"/>
                  </a:lnTo>
                  <a:lnTo>
                    <a:pt x="2142731" y="0"/>
                  </a:lnTo>
                  <a:close/>
                </a:path>
                <a:path w="3667125" h="390525">
                  <a:moveTo>
                    <a:pt x="2199132" y="0"/>
                  </a:moveTo>
                  <a:lnTo>
                    <a:pt x="2171700" y="0"/>
                  </a:lnTo>
                  <a:lnTo>
                    <a:pt x="2171700" y="27432"/>
                  </a:lnTo>
                  <a:lnTo>
                    <a:pt x="2199132" y="27432"/>
                  </a:lnTo>
                  <a:lnTo>
                    <a:pt x="2199132" y="0"/>
                  </a:lnTo>
                  <a:close/>
                </a:path>
                <a:path w="3667125" h="390525">
                  <a:moveTo>
                    <a:pt x="2257031" y="0"/>
                  </a:moveTo>
                  <a:lnTo>
                    <a:pt x="2228088" y="0"/>
                  </a:lnTo>
                  <a:lnTo>
                    <a:pt x="2228088" y="27432"/>
                  </a:lnTo>
                  <a:lnTo>
                    <a:pt x="2257031" y="27432"/>
                  </a:lnTo>
                  <a:lnTo>
                    <a:pt x="2257031" y="0"/>
                  </a:lnTo>
                  <a:close/>
                </a:path>
                <a:path w="3667125" h="390525">
                  <a:moveTo>
                    <a:pt x="2313432" y="0"/>
                  </a:moveTo>
                  <a:lnTo>
                    <a:pt x="2286000" y="0"/>
                  </a:lnTo>
                  <a:lnTo>
                    <a:pt x="2286000" y="27432"/>
                  </a:lnTo>
                  <a:lnTo>
                    <a:pt x="2313432" y="27432"/>
                  </a:lnTo>
                  <a:lnTo>
                    <a:pt x="2313432" y="0"/>
                  </a:lnTo>
                  <a:close/>
                </a:path>
                <a:path w="3667125" h="390525">
                  <a:moveTo>
                    <a:pt x="2371331" y="0"/>
                  </a:moveTo>
                  <a:lnTo>
                    <a:pt x="2342388" y="0"/>
                  </a:lnTo>
                  <a:lnTo>
                    <a:pt x="2342388" y="27432"/>
                  </a:lnTo>
                  <a:lnTo>
                    <a:pt x="2371331" y="27432"/>
                  </a:lnTo>
                  <a:lnTo>
                    <a:pt x="2371331" y="0"/>
                  </a:lnTo>
                  <a:close/>
                </a:path>
                <a:path w="3667125" h="390525">
                  <a:moveTo>
                    <a:pt x="2427732" y="0"/>
                  </a:moveTo>
                  <a:lnTo>
                    <a:pt x="2400300" y="0"/>
                  </a:lnTo>
                  <a:lnTo>
                    <a:pt x="2400300" y="27432"/>
                  </a:lnTo>
                  <a:lnTo>
                    <a:pt x="2427732" y="27432"/>
                  </a:lnTo>
                  <a:lnTo>
                    <a:pt x="2427732" y="0"/>
                  </a:lnTo>
                  <a:close/>
                </a:path>
                <a:path w="3667125" h="390525">
                  <a:moveTo>
                    <a:pt x="2485631" y="0"/>
                  </a:moveTo>
                  <a:lnTo>
                    <a:pt x="2456688" y="0"/>
                  </a:lnTo>
                  <a:lnTo>
                    <a:pt x="2456688" y="27432"/>
                  </a:lnTo>
                  <a:lnTo>
                    <a:pt x="2485631" y="27432"/>
                  </a:lnTo>
                  <a:lnTo>
                    <a:pt x="2485631" y="0"/>
                  </a:lnTo>
                  <a:close/>
                </a:path>
                <a:path w="3667125" h="390525">
                  <a:moveTo>
                    <a:pt x="2542032" y="0"/>
                  </a:moveTo>
                  <a:lnTo>
                    <a:pt x="2514600" y="0"/>
                  </a:lnTo>
                  <a:lnTo>
                    <a:pt x="2514600" y="27432"/>
                  </a:lnTo>
                  <a:lnTo>
                    <a:pt x="2542032" y="27432"/>
                  </a:lnTo>
                  <a:lnTo>
                    <a:pt x="2542032" y="0"/>
                  </a:lnTo>
                  <a:close/>
                </a:path>
                <a:path w="3667125" h="390525">
                  <a:moveTo>
                    <a:pt x="2599931" y="0"/>
                  </a:moveTo>
                  <a:lnTo>
                    <a:pt x="2570988" y="0"/>
                  </a:lnTo>
                  <a:lnTo>
                    <a:pt x="2570988" y="27432"/>
                  </a:lnTo>
                  <a:lnTo>
                    <a:pt x="2599931" y="27432"/>
                  </a:lnTo>
                  <a:lnTo>
                    <a:pt x="2599931" y="0"/>
                  </a:lnTo>
                  <a:close/>
                </a:path>
                <a:path w="3667125" h="390525">
                  <a:moveTo>
                    <a:pt x="2656332" y="0"/>
                  </a:moveTo>
                  <a:lnTo>
                    <a:pt x="2628900" y="0"/>
                  </a:lnTo>
                  <a:lnTo>
                    <a:pt x="2628900" y="27432"/>
                  </a:lnTo>
                  <a:lnTo>
                    <a:pt x="2656332" y="27432"/>
                  </a:lnTo>
                  <a:lnTo>
                    <a:pt x="2656332" y="0"/>
                  </a:lnTo>
                  <a:close/>
                </a:path>
                <a:path w="3667125" h="390525">
                  <a:moveTo>
                    <a:pt x="2714231" y="0"/>
                  </a:moveTo>
                  <a:lnTo>
                    <a:pt x="2685288" y="0"/>
                  </a:lnTo>
                  <a:lnTo>
                    <a:pt x="2685288" y="27432"/>
                  </a:lnTo>
                  <a:lnTo>
                    <a:pt x="2714231" y="27432"/>
                  </a:lnTo>
                  <a:lnTo>
                    <a:pt x="2714231" y="0"/>
                  </a:lnTo>
                  <a:close/>
                </a:path>
                <a:path w="3667125" h="390525">
                  <a:moveTo>
                    <a:pt x="2770632" y="0"/>
                  </a:moveTo>
                  <a:lnTo>
                    <a:pt x="2741676" y="0"/>
                  </a:lnTo>
                  <a:lnTo>
                    <a:pt x="2741676" y="27432"/>
                  </a:lnTo>
                  <a:lnTo>
                    <a:pt x="2770632" y="27432"/>
                  </a:lnTo>
                  <a:lnTo>
                    <a:pt x="2770632" y="0"/>
                  </a:lnTo>
                  <a:close/>
                </a:path>
                <a:path w="3667125" h="390525">
                  <a:moveTo>
                    <a:pt x="2828531" y="0"/>
                  </a:moveTo>
                  <a:lnTo>
                    <a:pt x="2799588" y="0"/>
                  </a:lnTo>
                  <a:lnTo>
                    <a:pt x="2799588" y="27432"/>
                  </a:lnTo>
                  <a:lnTo>
                    <a:pt x="2828531" y="27432"/>
                  </a:lnTo>
                  <a:lnTo>
                    <a:pt x="2828531" y="0"/>
                  </a:lnTo>
                  <a:close/>
                </a:path>
                <a:path w="3667125" h="390525">
                  <a:moveTo>
                    <a:pt x="2884932" y="0"/>
                  </a:moveTo>
                  <a:lnTo>
                    <a:pt x="2855976" y="0"/>
                  </a:lnTo>
                  <a:lnTo>
                    <a:pt x="2855976" y="27432"/>
                  </a:lnTo>
                  <a:lnTo>
                    <a:pt x="2884932" y="27432"/>
                  </a:lnTo>
                  <a:lnTo>
                    <a:pt x="2884932" y="0"/>
                  </a:lnTo>
                  <a:close/>
                </a:path>
                <a:path w="3667125" h="390525">
                  <a:moveTo>
                    <a:pt x="2942831" y="0"/>
                  </a:moveTo>
                  <a:lnTo>
                    <a:pt x="2913888" y="0"/>
                  </a:lnTo>
                  <a:lnTo>
                    <a:pt x="2913888" y="27432"/>
                  </a:lnTo>
                  <a:lnTo>
                    <a:pt x="2942831" y="27432"/>
                  </a:lnTo>
                  <a:lnTo>
                    <a:pt x="2942831" y="0"/>
                  </a:lnTo>
                  <a:close/>
                </a:path>
                <a:path w="3667125" h="390525">
                  <a:moveTo>
                    <a:pt x="2999232" y="0"/>
                  </a:moveTo>
                  <a:lnTo>
                    <a:pt x="2970276" y="0"/>
                  </a:lnTo>
                  <a:lnTo>
                    <a:pt x="2970276" y="27432"/>
                  </a:lnTo>
                  <a:lnTo>
                    <a:pt x="2999232" y="27432"/>
                  </a:lnTo>
                  <a:lnTo>
                    <a:pt x="2999232" y="0"/>
                  </a:lnTo>
                  <a:close/>
                </a:path>
                <a:path w="3667125" h="390525">
                  <a:moveTo>
                    <a:pt x="3057131" y="0"/>
                  </a:moveTo>
                  <a:lnTo>
                    <a:pt x="3028188" y="0"/>
                  </a:lnTo>
                  <a:lnTo>
                    <a:pt x="3028188" y="27432"/>
                  </a:lnTo>
                  <a:lnTo>
                    <a:pt x="3057131" y="27432"/>
                  </a:lnTo>
                  <a:lnTo>
                    <a:pt x="3057131" y="0"/>
                  </a:lnTo>
                  <a:close/>
                </a:path>
                <a:path w="3667125" h="390525">
                  <a:moveTo>
                    <a:pt x="3113532" y="0"/>
                  </a:moveTo>
                  <a:lnTo>
                    <a:pt x="3084576" y="0"/>
                  </a:lnTo>
                  <a:lnTo>
                    <a:pt x="3084576" y="27432"/>
                  </a:lnTo>
                  <a:lnTo>
                    <a:pt x="3113532" y="27432"/>
                  </a:lnTo>
                  <a:lnTo>
                    <a:pt x="3113532" y="0"/>
                  </a:lnTo>
                  <a:close/>
                </a:path>
                <a:path w="3667125" h="390525">
                  <a:moveTo>
                    <a:pt x="3171431" y="0"/>
                  </a:moveTo>
                  <a:lnTo>
                    <a:pt x="3142488" y="0"/>
                  </a:lnTo>
                  <a:lnTo>
                    <a:pt x="3142488" y="27432"/>
                  </a:lnTo>
                  <a:lnTo>
                    <a:pt x="3171431" y="27432"/>
                  </a:lnTo>
                  <a:lnTo>
                    <a:pt x="3171431" y="0"/>
                  </a:lnTo>
                  <a:close/>
                </a:path>
                <a:path w="3667125" h="390525">
                  <a:moveTo>
                    <a:pt x="3227832" y="0"/>
                  </a:moveTo>
                  <a:lnTo>
                    <a:pt x="3198876" y="0"/>
                  </a:lnTo>
                  <a:lnTo>
                    <a:pt x="3198876" y="27432"/>
                  </a:lnTo>
                  <a:lnTo>
                    <a:pt x="3227832" y="27432"/>
                  </a:lnTo>
                  <a:lnTo>
                    <a:pt x="3227832" y="0"/>
                  </a:lnTo>
                  <a:close/>
                </a:path>
                <a:path w="3667125" h="390525">
                  <a:moveTo>
                    <a:pt x="3285731" y="0"/>
                  </a:moveTo>
                  <a:lnTo>
                    <a:pt x="3256788" y="0"/>
                  </a:lnTo>
                  <a:lnTo>
                    <a:pt x="3256788" y="27432"/>
                  </a:lnTo>
                  <a:lnTo>
                    <a:pt x="3285731" y="27432"/>
                  </a:lnTo>
                  <a:lnTo>
                    <a:pt x="3285731" y="0"/>
                  </a:lnTo>
                  <a:close/>
                </a:path>
                <a:path w="3667125" h="390525">
                  <a:moveTo>
                    <a:pt x="3342132" y="0"/>
                  </a:moveTo>
                  <a:lnTo>
                    <a:pt x="3313176" y="0"/>
                  </a:lnTo>
                  <a:lnTo>
                    <a:pt x="3313176" y="27432"/>
                  </a:lnTo>
                  <a:lnTo>
                    <a:pt x="3342132" y="27432"/>
                  </a:lnTo>
                  <a:lnTo>
                    <a:pt x="3342132" y="0"/>
                  </a:lnTo>
                  <a:close/>
                </a:path>
                <a:path w="3667125" h="390525">
                  <a:moveTo>
                    <a:pt x="3400031" y="0"/>
                  </a:moveTo>
                  <a:lnTo>
                    <a:pt x="3371088" y="0"/>
                  </a:lnTo>
                  <a:lnTo>
                    <a:pt x="3371088" y="27432"/>
                  </a:lnTo>
                  <a:lnTo>
                    <a:pt x="3400031" y="27432"/>
                  </a:lnTo>
                  <a:lnTo>
                    <a:pt x="3400031" y="0"/>
                  </a:lnTo>
                  <a:close/>
                </a:path>
                <a:path w="3667125" h="390525">
                  <a:moveTo>
                    <a:pt x="3456432" y="0"/>
                  </a:moveTo>
                  <a:lnTo>
                    <a:pt x="3427476" y="0"/>
                  </a:lnTo>
                  <a:lnTo>
                    <a:pt x="3427476" y="27432"/>
                  </a:lnTo>
                  <a:lnTo>
                    <a:pt x="3456432" y="27432"/>
                  </a:lnTo>
                  <a:lnTo>
                    <a:pt x="3456432" y="0"/>
                  </a:lnTo>
                  <a:close/>
                </a:path>
                <a:path w="3667125" h="390525">
                  <a:moveTo>
                    <a:pt x="3514331" y="0"/>
                  </a:moveTo>
                  <a:lnTo>
                    <a:pt x="3485388" y="0"/>
                  </a:lnTo>
                  <a:lnTo>
                    <a:pt x="3485388" y="27432"/>
                  </a:lnTo>
                  <a:lnTo>
                    <a:pt x="3514331" y="27432"/>
                  </a:lnTo>
                  <a:lnTo>
                    <a:pt x="3514331" y="0"/>
                  </a:lnTo>
                  <a:close/>
                </a:path>
                <a:path w="3667125" h="390525">
                  <a:moveTo>
                    <a:pt x="3570732" y="0"/>
                  </a:moveTo>
                  <a:lnTo>
                    <a:pt x="3541776" y="0"/>
                  </a:lnTo>
                  <a:lnTo>
                    <a:pt x="3541776" y="27432"/>
                  </a:lnTo>
                  <a:lnTo>
                    <a:pt x="3570732" y="27432"/>
                  </a:lnTo>
                  <a:lnTo>
                    <a:pt x="3570732" y="0"/>
                  </a:lnTo>
                  <a:close/>
                </a:path>
                <a:path w="3667125" h="390525">
                  <a:moveTo>
                    <a:pt x="3628631" y="0"/>
                  </a:moveTo>
                  <a:lnTo>
                    <a:pt x="3599688" y="0"/>
                  </a:lnTo>
                  <a:lnTo>
                    <a:pt x="3599688" y="27432"/>
                  </a:lnTo>
                  <a:lnTo>
                    <a:pt x="3628631" y="27432"/>
                  </a:lnTo>
                  <a:lnTo>
                    <a:pt x="3628631" y="0"/>
                  </a:lnTo>
                  <a:close/>
                </a:path>
                <a:path w="3667125" h="390525">
                  <a:moveTo>
                    <a:pt x="3666744" y="361188"/>
                  </a:moveTo>
                  <a:lnTo>
                    <a:pt x="3637788" y="361188"/>
                  </a:lnTo>
                  <a:lnTo>
                    <a:pt x="3637788" y="390144"/>
                  </a:lnTo>
                  <a:lnTo>
                    <a:pt x="3666744" y="390144"/>
                  </a:lnTo>
                  <a:lnTo>
                    <a:pt x="3666744" y="361188"/>
                  </a:lnTo>
                  <a:close/>
                </a:path>
                <a:path w="3667125" h="390525">
                  <a:moveTo>
                    <a:pt x="3666744" y="303276"/>
                  </a:moveTo>
                  <a:lnTo>
                    <a:pt x="3637788" y="303276"/>
                  </a:lnTo>
                  <a:lnTo>
                    <a:pt x="3637788" y="332232"/>
                  </a:lnTo>
                  <a:lnTo>
                    <a:pt x="3666744" y="332232"/>
                  </a:lnTo>
                  <a:lnTo>
                    <a:pt x="3666744" y="303276"/>
                  </a:lnTo>
                  <a:close/>
                </a:path>
                <a:path w="3667125" h="390525">
                  <a:moveTo>
                    <a:pt x="3666744" y="246888"/>
                  </a:moveTo>
                  <a:lnTo>
                    <a:pt x="3637788" y="246888"/>
                  </a:lnTo>
                  <a:lnTo>
                    <a:pt x="3637788" y="275844"/>
                  </a:lnTo>
                  <a:lnTo>
                    <a:pt x="3666744" y="275844"/>
                  </a:lnTo>
                  <a:lnTo>
                    <a:pt x="3666744" y="246888"/>
                  </a:lnTo>
                  <a:close/>
                </a:path>
                <a:path w="3667125" h="390525">
                  <a:moveTo>
                    <a:pt x="3666744" y="188976"/>
                  </a:moveTo>
                  <a:lnTo>
                    <a:pt x="3637788" y="188976"/>
                  </a:lnTo>
                  <a:lnTo>
                    <a:pt x="3637788" y="217932"/>
                  </a:lnTo>
                  <a:lnTo>
                    <a:pt x="3666744" y="217932"/>
                  </a:lnTo>
                  <a:lnTo>
                    <a:pt x="3666744" y="188976"/>
                  </a:lnTo>
                  <a:close/>
                </a:path>
                <a:path w="3667125" h="390525">
                  <a:moveTo>
                    <a:pt x="3666744" y="132588"/>
                  </a:moveTo>
                  <a:lnTo>
                    <a:pt x="3637788" y="132588"/>
                  </a:lnTo>
                  <a:lnTo>
                    <a:pt x="3637788" y="161544"/>
                  </a:lnTo>
                  <a:lnTo>
                    <a:pt x="3666744" y="161544"/>
                  </a:lnTo>
                  <a:lnTo>
                    <a:pt x="3666744" y="132588"/>
                  </a:lnTo>
                  <a:close/>
                </a:path>
                <a:path w="3667125" h="390525">
                  <a:moveTo>
                    <a:pt x="3666744" y="74676"/>
                  </a:moveTo>
                  <a:lnTo>
                    <a:pt x="3637788" y="74676"/>
                  </a:lnTo>
                  <a:lnTo>
                    <a:pt x="3637788" y="103632"/>
                  </a:lnTo>
                  <a:lnTo>
                    <a:pt x="3666744" y="103632"/>
                  </a:lnTo>
                  <a:lnTo>
                    <a:pt x="3666744" y="74676"/>
                  </a:lnTo>
                  <a:close/>
                </a:path>
                <a:path w="3667125" h="390525">
                  <a:moveTo>
                    <a:pt x="3666744" y="18288"/>
                  </a:moveTo>
                  <a:lnTo>
                    <a:pt x="3637788" y="18288"/>
                  </a:lnTo>
                  <a:lnTo>
                    <a:pt x="3637788" y="47244"/>
                  </a:lnTo>
                  <a:lnTo>
                    <a:pt x="3666744" y="47244"/>
                  </a:lnTo>
                  <a:lnTo>
                    <a:pt x="3666744" y="18288"/>
                  </a:lnTo>
                  <a:close/>
                </a:path>
              </a:pathLst>
            </a:custGeom>
            <a:solidFill>
              <a:srgbClr val="7E7E7E"/>
            </a:solidFill>
          </p:spPr>
          <p:txBody>
            <a:bodyPr wrap="square" lIns="0" tIns="0" rIns="0" bIns="0" rtlCol="0"/>
            <a:lstStyle/>
            <a:p>
              <a:endParaRPr/>
            </a:p>
          </p:txBody>
        </p:sp>
        <p:sp>
          <p:nvSpPr>
            <p:cNvPr id="21" name="object 21"/>
            <p:cNvSpPr/>
            <p:nvPr/>
          </p:nvSpPr>
          <p:spPr>
            <a:xfrm>
              <a:off x="9552432" y="2389631"/>
              <a:ext cx="1551940" cy="2504440"/>
            </a:xfrm>
            <a:custGeom>
              <a:avLst/>
              <a:gdLst/>
              <a:ahLst/>
              <a:cxnLst/>
              <a:rect l="l" t="t" r="r" b="b"/>
              <a:pathLst>
                <a:path w="1551940" h="2504440">
                  <a:moveTo>
                    <a:pt x="27432" y="2476500"/>
                  </a:moveTo>
                  <a:lnTo>
                    <a:pt x="0" y="2476500"/>
                  </a:lnTo>
                  <a:lnTo>
                    <a:pt x="0" y="2503932"/>
                  </a:lnTo>
                  <a:lnTo>
                    <a:pt x="27432" y="2503932"/>
                  </a:lnTo>
                  <a:lnTo>
                    <a:pt x="27432" y="2476500"/>
                  </a:lnTo>
                  <a:close/>
                </a:path>
                <a:path w="1551940" h="2504440">
                  <a:moveTo>
                    <a:pt x="85344" y="2476500"/>
                  </a:moveTo>
                  <a:lnTo>
                    <a:pt x="56388" y="2476500"/>
                  </a:lnTo>
                  <a:lnTo>
                    <a:pt x="56388" y="2503932"/>
                  </a:lnTo>
                  <a:lnTo>
                    <a:pt x="85344" y="2503932"/>
                  </a:lnTo>
                  <a:lnTo>
                    <a:pt x="85344" y="2476500"/>
                  </a:lnTo>
                  <a:close/>
                </a:path>
                <a:path w="1551940" h="2504440">
                  <a:moveTo>
                    <a:pt x="141732" y="2476500"/>
                  </a:moveTo>
                  <a:lnTo>
                    <a:pt x="114300" y="2476500"/>
                  </a:lnTo>
                  <a:lnTo>
                    <a:pt x="114300" y="2503932"/>
                  </a:lnTo>
                  <a:lnTo>
                    <a:pt x="141732" y="2503932"/>
                  </a:lnTo>
                  <a:lnTo>
                    <a:pt x="141732" y="2476500"/>
                  </a:lnTo>
                  <a:close/>
                </a:path>
                <a:path w="1551940" h="2504440">
                  <a:moveTo>
                    <a:pt x="199644" y="2476500"/>
                  </a:moveTo>
                  <a:lnTo>
                    <a:pt x="170688" y="2476500"/>
                  </a:lnTo>
                  <a:lnTo>
                    <a:pt x="170688" y="2503932"/>
                  </a:lnTo>
                  <a:lnTo>
                    <a:pt x="199644" y="2503932"/>
                  </a:lnTo>
                  <a:lnTo>
                    <a:pt x="199644" y="2476500"/>
                  </a:lnTo>
                  <a:close/>
                </a:path>
                <a:path w="1551940" h="2504440">
                  <a:moveTo>
                    <a:pt x="256032" y="2476500"/>
                  </a:moveTo>
                  <a:lnTo>
                    <a:pt x="227076" y="2476500"/>
                  </a:lnTo>
                  <a:lnTo>
                    <a:pt x="227076" y="2503932"/>
                  </a:lnTo>
                  <a:lnTo>
                    <a:pt x="256032" y="2503932"/>
                  </a:lnTo>
                  <a:lnTo>
                    <a:pt x="256032" y="2476500"/>
                  </a:lnTo>
                  <a:close/>
                </a:path>
                <a:path w="1551940" h="2504440">
                  <a:moveTo>
                    <a:pt x="313944" y="2476500"/>
                  </a:moveTo>
                  <a:lnTo>
                    <a:pt x="284988" y="2476500"/>
                  </a:lnTo>
                  <a:lnTo>
                    <a:pt x="284988" y="2503932"/>
                  </a:lnTo>
                  <a:lnTo>
                    <a:pt x="313944" y="2503932"/>
                  </a:lnTo>
                  <a:lnTo>
                    <a:pt x="313944" y="2476500"/>
                  </a:lnTo>
                  <a:close/>
                </a:path>
                <a:path w="1551940" h="2504440">
                  <a:moveTo>
                    <a:pt x="370332" y="2476500"/>
                  </a:moveTo>
                  <a:lnTo>
                    <a:pt x="341376" y="2476500"/>
                  </a:lnTo>
                  <a:lnTo>
                    <a:pt x="341376" y="2503932"/>
                  </a:lnTo>
                  <a:lnTo>
                    <a:pt x="370332" y="2503932"/>
                  </a:lnTo>
                  <a:lnTo>
                    <a:pt x="370332" y="2476500"/>
                  </a:lnTo>
                  <a:close/>
                </a:path>
                <a:path w="1551940" h="2504440">
                  <a:moveTo>
                    <a:pt x="428244" y="2476500"/>
                  </a:moveTo>
                  <a:lnTo>
                    <a:pt x="399288" y="2476500"/>
                  </a:lnTo>
                  <a:lnTo>
                    <a:pt x="399288" y="2503932"/>
                  </a:lnTo>
                  <a:lnTo>
                    <a:pt x="428244" y="2503932"/>
                  </a:lnTo>
                  <a:lnTo>
                    <a:pt x="428244" y="2476500"/>
                  </a:lnTo>
                  <a:close/>
                </a:path>
                <a:path w="1551940" h="2504440">
                  <a:moveTo>
                    <a:pt x="484632" y="2476500"/>
                  </a:moveTo>
                  <a:lnTo>
                    <a:pt x="455676" y="2476500"/>
                  </a:lnTo>
                  <a:lnTo>
                    <a:pt x="455676" y="2503932"/>
                  </a:lnTo>
                  <a:lnTo>
                    <a:pt x="484632" y="2503932"/>
                  </a:lnTo>
                  <a:lnTo>
                    <a:pt x="484632" y="2476500"/>
                  </a:lnTo>
                  <a:close/>
                </a:path>
                <a:path w="1551940" h="2504440">
                  <a:moveTo>
                    <a:pt x="542544" y="2476500"/>
                  </a:moveTo>
                  <a:lnTo>
                    <a:pt x="513588" y="2476500"/>
                  </a:lnTo>
                  <a:lnTo>
                    <a:pt x="513588" y="2503932"/>
                  </a:lnTo>
                  <a:lnTo>
                    <a:pt x="542544" y="2503932"/>
                  </a:lnTo>
                  <a:lnTo>
                    <a:pt x="542544" y="2476500"/>
                  </a:lnTo>
                  <a:close/>
                </a:path>
                <a:path w="1551940" h="2504440">
                  <a:moveTo>
                    <a:pt x="598932" y="2476500"/>
                  </a:moveTo>
                  <a:lnTo>
                    <a:pt x="569976" y="2476500"/>
                  </a:lnTo>
                  <a:lnTo>
                    <a:pt x="569976" y="2503932"/>
                  </a:lnTo>
                  <a:lnTo>
                    <a:pt x="598932" y="2503932"/>
                  </a:lnTo>
                  <a:lnTo>
                    <a:pt x="598932" y="2476500"/>
                  </a:lnTo>
                  <a:close/>
                </a:path>
                <a:path w="1551940" h="2504440">
                  <a:moveTo>
                    <a:pt x="656844" y="2476500"/>
                  </a:moveTo>
                  <a:lnTo>
                    <a:pt x="627888" y="2476500"/>
                  </a:lnTo>
                  <a:lnTo>
                    <a:pt x="627888" y="2503932"/>
                  </a:lnTo>
                  <a:lnTo>
                    <a:pt x="656844" y="2503932"/>
                  </a:lnTo>
                  <a:lnTo>
                    <a:pt x="656844" y="2476500"/>
                  </a:lnTo>
                  <a:close/>
                </a:path>
                <a:path w="1551940" h="2504440">
                  <a:moveTo>
                    <a:pt x="713232" y="2476500"/>
                  </a:moveTo>
                  <a:lnTo>
                    <a:pt x="684276" y="2476500"/>
                  </a:lnTo>
                  <a:lnTo>
                    <a:pt x="684276" y="2503932"/>
                  </a:lnTo>
                  <a:lnTo>
                    <a:pt x="713232" y="2503932"/>
                  </a:lnTo>
                  <a:lnTo>
                    <a:pt x="713232" y="2476500"/>
                  </a:lnTo>
                  <a:close/>
                </a:path>
                <a:path w="1551940" h="2504440">
                  <a:moveTo>
                    <a:pt x="771144" y="2476500"/>
                  </a:moveTo>
                  <a:lnTo>
                    <a:pt x="742188" y="2476500"/>
                  </a:lnTo>
                  <a:lnTo>
                    <a:pt x="742188" y="2503932"/>
                  </a:lnTo>
                  <a:lnTo>
                    <a:pt x="771144" y="2503932"/>
                  </a:lnTo>
                  <a:lnTo>
                    <a:pt x="771144" y="2476500"/>
                  </a:lnTo>
                  <a:close/>
                </a:path>
                <a:path w="1551940" h="2504440">
                  <a:moveTo>
                    <a:pt x="827532" y="2476500"/>
                  </a:moveTo>
                  <a:lnTo>
                    <a:pt x="798576" y="2476500"/>
                  </a:lnTo>
                  <a:lnTo>
                    <a:pt x="798576" y="2503932"/>
                  </a:lnTo>
                  <a:lnTo>
                    <a:pt x="827532" y="2503932"/>
                  </a:lnTo>
                  <a:lnTo>
                    <a:pt x="827532" y="2476500"/>
                  </a:lnTo>
                  <a:close/>
                </a:path>
                <a:path w="1551940" h="2504440">
                  <a:moveTo>
                    <a:pt x="885444" y="2476500"/>
                  </a:moveTo>
                  <a:lnTo>
                    <a:pt x="856488" y="2476500"/>
                  </a:lnTo>
                  <a:lnTo>
                    <a:pt x="856488" y="2503932"/>
                  </a:lnTo>
                  <a:lnTo>
                    <a:pt x="885444" y="2503932"/>
                  </a:lnTo>
                  <a:lnTo>
                    <a:pt x="885444" y="2476500"/>
                  </a:lnTo>
                  <a:close/>
                </a:path>
                <a:path w="1551940" h="2504440">
                  <a:moveTo>
                    <a:pt x="941832" y="2476500"/>
                  </a:moveTo>
                  <a:lnTo>
                    <a:pt x="912876" y="2476500"/>
                  </a:lnTo>
                  <a:lnTo>
                    <a:pt x="912876" y="2503932"/>
                  </a:lnTo>
                  <a:lnTo>
                    <a:pt x="941832" y="2503932"/>
                  </a:lnTo>
                  <a:lnTo>
                    <a:pt x="941832" y="2476500"/>
                  </a:lnTo>
                  <a:close/>
                </a:path>
                <a:path w="1551940" h="2504440">
                  <a:moveTo>
                    <a:pt x="999744" y="2476500"/>
                  </a:moveTo>
                  <a:lnTo>
                    <a:pt x="970788" y="2476500"/>
                  </a:lnTo>
                  <a:lnTo>
                    <a:pt x="970788" y="2503932"/>
                  </a:lnTo>
                  <a:lnTo>
                    <a:pt x="999744" y="2503932"/>
                  </a:lnTo>
                  <a:lnTo>
                    <a:pt x="999744" y="2476500"/>
                  </a:lnTo>
                  <a:close/>
                </a:path>
                <a:path w="1551940" h="2504440">
                  <a:moveTo>
                    <a:pt x="1056132" y="2476500"/>
                  </a:moveTo>
                  <a:lnTo>
                    <a:pt x="1027176" y="2476500"/>
                  </a:lnTo>
                  <a:lnTo>
                    <a:pt x="1027176" y="2503932"/>
                  </a:lnTo>
                  <a:lnTo>
                    <a:pt x="1056132" y="2503932"/>
                  </a:lnTo>
                  <a:lnTo>
                    <a:pt x="1056132" y="2476500"/>
                  </a:lnTo>
                  <a:close/>
                </a:path>
                <a:path w="1551940" h="2504440">
                  <a:moveTo>
                    <a:pt x="1114044" y="2476500"/>
                  </a:moveTo>
                  <a:lnTo>
                    <a:pt x="1085088" y="2476500"/>
                  </a:lnTo>
                  <a:lnTo>
                    <a:pt x="1085088" y="2503932"/>
                  </a:lnTo>
                  <a:lnTo>
                    <a:pt x="1114044" y="2503932"/>
                  </a:lnTo>
                  <a:lnTo>
                    <a:pt x="1114044" y="2476500"/>
                  </a:lnTo>
                  <a:close/>
                </a:path>
                <a:path w="1551940" h="2504440">
                  <a:moveTo>
                    <a:pt x="1170432" y="2476500"/>
                  </a:moveTo>
                  <a:lnTo>
                    <a:pt x="1141476" y="2476500"/>
                  </a:lnTo>
                  <a:lnTo>
                    <a:pt x="1141476" y="2503932"/>
                  </a:lnTo>
                  <a:lnTo>
                    <a:pt x="1170432" y="2503932"/>
                  </a:lnTo>
                  <a:lnTo>
                    <a:pt x="1170432" y="2476500"/>
                  </a:lnTo>
                  <a:close/>
                </a:path>
                <a:path w="1551940" h="2504440">
                  <a:moveTo>
                    <a:pt x="1228344" y="2476500"/>
                  </a:moveTo>
                  <a:lnTo>
                    <a:pt x="1199388" y="2476500"/>
                  </a:lnTo>
                  <a:lnTo>
                    <a:pt x="1199388" y="2503932"/>
                  </a:lnTo>
                  <a:lnTo>
                    <a:pt x="1228344" y="2503932"/>
                  </a:lnTo>
                  <a:lnTo>
                    <a:pt x="1228344" y="2476500"/>
                  </a:lnTo>
                  <a:close/>
                </a:path>
                <a:path w="1551940" h="2504440">
                  <a:moveTo>
                    <a:pt x="1284732" y="2476500"/>
                  </a:moveTo>
                  <a:lnTo>
                    <a:pt x="1255776" y="2476500"/>
                  </a:lnTo>
                  <a:lnTo>
                    <a:pt x="1255776" y="2503932"/>
                  </a:lnTo>
                  <a:lnTo>
                    <a:pt x="1284732" y="2503932"/>
                  </a:lnTo>
                  <a:lnTo>
                    <a:pt x="1284732" y="2476500"/>
                  </a:lnTo>
                  <a:close/>
                </a:path>
                <a:path w="1551940" h="2504440">
                  <a:moveTo>
                    <a:pt x="1342644" y="2476500"/>
                  </a:moveTo>
                  <a:lnTo>
                    <a:pt x="1313688" y="2476500"/>
                  </a:lnTo>
                  <a:lnTo>
                    <a:pt x="1313688" y="2503932"/>
                  </a:lnTo>
                  <a:lnTo>
                    <a:pt x="1342644" y="2503932"/>
                  </a:lnTo>
                  <a:lnTo>
                    <a:pt x="1342644" y="2476500"/>
                  </a:lnTo>
                  <a:close/>
                </a:path>
                <a:path w="1551940" h="2504440">
                  <a:moveTo>
                    <a:pt x="1399032" y="2476500"/>
                  </a:moveTo>
                  <a:lnTo>
                    <a:pt x="1370076" y="2476500"/>
                  </a:lnTo>
                  <a:lnTo>
                    <a:pt x="1370076" y="2503932"/>
                  </a:lnTo>
                  <a:lnTo>
                    <a:pt x="1399032" y="2503932"/>
                  </a:lnTo>
                  <a:lnTo>
                    <a:pt x="1399032" y="2476500"/>
                  </a:lnTo>
                  <a:close/>
                </a:path>
                <a:path w="1551940" h="2504440">
                  <a:moveTo>
                    <a:pt x="1456944" y="2476500"/>
                  </a:moveTo>
                  <a:lnTo>
                    <a:pt x="1427988" y="2476500"/>
                  </a:lnTo>
                  <a:lnTo>
                    <a:pt x="1427988" y="2503932"/>
                  </a:lnTo>
                  <a:lnTo>
                    <a:pt x="1456944" y="2503932"/>
                  </a:lnTo>
                  <a:lnTo>
                    <a:pt x="1456944" y="2476500"/>
                  </a:lnTo>
                  <a:close/>
                </a:path>
                <a:path w="1551940" h="2504440">
                  <a:moveTo>
                    <a:pt x="1513332" y="2476500"/>
                  </a:moveTo>
                  <a:lnTo>
                    <a:pt x="1484376" y="2476500"/>
                  </a:lnTo>
                  <a:lnTo>
                    <a:pt x="1484376" y="2503932"/>
                  </a:lnTo>
                  <a:lnTo>
                    <a:pt x="1513332" y="2503932"/>
                  </a:lnTo>
                  <a:lnTo>
                    <a:pt x="1513332" y="2476500"/>
                  </a:lnTo>
                  <a:close/>
                </a:path>
                <a:path w="1551940" h="2504440">
                  <a:moveTo>
                    <a:pt x="1551432" y="2456688"/>
                  </a:moveTo>
                  <a:lnTo>
                    <a:pt x="1522476" y="2456688"/>
                  </a:lnTo>
                  <a:lnTo>
                    <a:pt x="1522476" y="2485644"/>
                  </a:lnTo>
                  <a:lnTo>
                    <a:pt x="1551432" y="2485644"/>
                  </a:lnTo>
                  <a:lnTo>
                    <a:pt x="1551432" y="2456688"/>
                  </a:lnTo>
                  <a:close/>
                </a:path>
                <a:path w="1551940" h="2504440">
                  <a:moveTo>
                    <a:pt x="1551432" y="2398776"/>
                  </a:moveTo>
                  <a:lnTo>
                    <a:pt x="1522476" y="2398776"/>
                  </a:lnTo>
                  <a:lnTo>
                    <a:pt x="1522476" y="2427732"/>
                  </a:lnTo>
                  <a:lnTo>
                    <a:pt x="1551432" y="2427732"/>
                  </a:lnTo>
                  <a:lnTo>
                    <a:pt x="1551432" y="2398776"/>
                  </a:lnTo>
                  <a:close/>
                </a:path>
                <a:path w="1551940" h="2504440">
                  <a:moveTo>
                    <a:pt x="1551432" y="2342388"/>
                  </a:moveTo>
                  <a:lnTo>
                    <a:pt x="1522476" y="2342388"/>
                  </a:lnTo>
                  <a:lnTo>
                    <a:pt x="1522476" y="2371344"/>
                  </a:lnTo>
                  <a:lnTo>
                    <a:pt x="1551432" y="2371344"/>
                  </a:lnTo>
                  <a:lnTo>
                    <a:pt x="1551432" y="2342388"/>
                  </a:lnTo>
                  <a:close/>
                </a:path>
                <a:path w="1551940" h="2504440">
                  <a:moveTo>
                    <a:pt x="1551432" y="2284476"/>
                  </a:moveTo>
                  <a:lnTo>
                    <a:pt x="1522476" y="2284476"/>
                  </a:lnTo>
                  <a:lnTo>
                    <a:pt x="1522476" y="2313432"/>
                  </a:lnTo>
                  <a:lnTo>
                    <a:pt x="1551432" y="2313432"/>
                  </a:lnTo>
                  <a:lnTo>
                    <a:pt x="1551432" y="2284476"/>
                  </a:lnTo>
                  <a:close/>
                </a:path>
                <a:path w="1551940" h="2504440">
                  <a:moveTo>
                    <a:pt x="1551432" y="2228088"/>
                  </a:moveTo>
                  <a:lnTo>
                    <a:pt x="1522476" y="2228088"/>
                  </a:lnTo>
                  <a:lnTo>
                    <a:pt x="1522476" y="2257044"/>
                  </a:lnTo>
                  <a:lnTo>
                    <a:pt x="1551432" y="2257044"/>
                  </a:lnTo>
                  <a:lnTo>
                    <a:pt x="1551432" y="2228088"/>
                  </a:lnTo>
                  <a:close/>
                </a:path>
                <a:path w="1551940" h="2504440">
                  <a:moveTo>
                    <a:pt x="1551432" y="2170176"/>
                  </a:moveTo>
                  <a:lnTo>
                    <a:pt x="1522476" y="2170176"/>
                  </a:lnTo>
                  <a:lnTo>
                    <a:pt x="1522476" y="2199132"/>
                  </a:lnTo>
                  <a:lnTo>
                    <a:pt x="1551432" y="2199132"/>
                  </a:lnTo>
                  <a:lnTo>
                    <a:pt x="1551432" y="2170176"/>
                  </a:lnTo>
                  <a:close/>
                </a:path>
                <a:path w="1551940" h="2504440">
                  <a:moveTo>
                    <a:pt x="1551432" y="2113788"/>
                  </a:moveTo>
                  <a:lnTo>
                    <a:pt x="1522476" y="2113788"/>
                  </a:lnTo>
                  <a:lnTo>
                    <a:pt x="1522476" y="2142744"/>
                  </a:lnTo>
                  <a:lnTo>
                    <a:pt x="1551432" y="2142744"/>
                  </a:lnTo>
                  <a:lnTo>
                    <a:pt x="1551432" y="2113788"/>
                  </a:lnTo>
                  <a:close/>
                </a:path>
                <a:path w="1551940" h="2504440">
                  <a:moveTo>
                    <a:pt x="1551432" y="2057400"/>
                  </a:moveTo>
                  <a:lnTo>
                    <a:pt x="1522476" y="2057400"/>
                  </a:lnTo>
                  <a:lnTo>
                    <a:pt x="1522476" y="2084832"/>
                  </a:lnTo>
                  <a:lnTo>
                    <a:pt x="1551432" y="2084832"/>
                  </a:lnTo>
                  <a:lnTo>
                    <a:pt x="1551432" y="2057400"/>
                  </a:lnTo>
                  <a:close/>
                </a:path>
                <a:path w="1551940" h="2504440">
                  <a:moveTo>
                    <a:pt x="1551432" y="1999488"/>
                  </a:moveTo>
                  <a:lnTo>
                    <a:pt x="1522476" y="1999488"/>
                  </a:lnTo>
                  <a:lnTo>
                    <a:pt x="1522476" y="2028444"/>
                  </a:lnTo>
                  <a:lnTo>
                    <a:pt x="1551432" y="2028444"/>
                  </a:lnTo>
                  <a:lnTo>
                    <a:pt x="1551432" y="1999488"/>
                  </a:lnTo>
                  <a:close/>
                </a:path>
                <a:path w="1551940" h="2504440">
                  <a:moveTo>
                    <a:pt x="1551432" y="1943100"/>
                  </a:moveTo>
                  <a:lnTo>
                    <a:pt x="1522476" y="1943100"/>
                  </a:lnTo>
                  <a:lnTo>
                    <a:pt x="1522476" y="1970532"/>
                  </a:lnTo>
                  <a:lnTo>
                    <a:pt x="1551432" y="1970532"/>
                  </a:lnTo>
                  <a:lnTo>
                    <a:pt x="1551432" y="1943100"/>
                  </a:lnTo>
                  <a:close/>
                </a:path>
                <a:path w="1551940" h="2504440">
                  <a:moveTo>
                    <a:pt x="1551432" y="1885188"/>
                  </a:moveTo>
                  <a:lnTo>
                    <a:pt x="1522476" y="1885188"/>
                  </a:lnTo>
                  <a:lnTo>
                    <a:pt x="1522476" y="1914144"/>
                  </a:lnTo>
                  <a:lnTo>
                    <a:pt x="1551432" y="1914144"/>
                  </a:lnTo>
                  <a:lnTo>
                    <a:pt x="1551432" y="1885188"/>
                  </a:lnTo>
                  <a:close/>
                </a:path>
                <a:path w="1551940" h="2504440">
                  <a:moveTo>
                    <a:pt x="1551432" y="1828800"/>
                  </a:moveTo>
                  <a:lnTo>
                    <a:pt x="1522476" y="1828800"/>
                  </a:lnTo>
                  <a:lnTo>
                    <a:pt x="1522476" y="1856232"/>
                  </a:lnTo>
                  <a:lnTo>
                    <a:pt x="1551432" y="1856232"/>
                  </a:lnTo>
                  <a:lnTo>
                    <a:pt x="1551432" y="1828800"/>
                  </a:lnTo>
                  <a:close/>
                </a:path>
                <a:path w="1551940" h="2504440">
                  <a:moveTo>
                    <a:pt x="1551432" y="1770888"/>
                  </a:moveTo>
                  <a:lnTo>
                    <a:pt x="1522476" y="1770888"/>
                  </a:lnTo>
                  <a:lnTo>
                    <a:pt x="1522476" y="1799844"/>
                  </a:lnTo>
                  <a:lnTo>
                    <a:pt x="1551432" y="1799844"/>
                  </a:lnTo>
                  <a:lnTo>
                    <a:pt x="1551432" y="1770888"/>
                  </a:lnTo>
                  <a:close/>
                </a:path>
                <a:path w="1551940" h="2504440">
                  <a:moveTo>
                    <a:pt x="1551432" y="1714500"/>
                  </a:moveTo>
                  <a:lnTo>
                    <a:pt x="1522476" y="1714500"/>
                  </a:lnTo>
                  <a:lnTo>
                    <a:pt x="1522476" y="1741932"/>
                  </a:lnTo>
                  <a:lnTo>
                    <a:pt x="1551432" y="1741932"/>
                  </a:lnTo>
                  <a:lnTo>
                    <a:pt x="1551432" y="1714500"/>
                  </a:lnTo>
                  <a:close/>
                </a:path>
                <a:path w="1551940" h="2504440">
                  <a:moveTo>
                    <a:pt x="1551432" y="1656588"/>
                  </a:moveTo>
                  <a:lnTo>
                    <a:pt x="1522476" y="1656588"/>
                  </a:lnTo>
                  <a:lnTo>
                    <a:pt x="1522476" y="1685544"/>
                  </a:lnTo>
                  <a:lnTo>
                    <a:pt x="1551432" y="1685544"/>
                  </a:lnTo>
                  <a:lnTo>
                    <a:pt x="1551432" y="1656588"/>
                  </a:lnTo>
                  <a:close/>
                </a:path>
                <a:path w="1551940" h="2504440">
                  <a:moveTo>
                    <a:pt x="1551432" y="1600200"/>
                  </a:moveTo>
                  <a:lnTo>
                    <a:pt x="1522476" y="1600200"/>
                  </a:lnTo>
                  <a:lnTo>
                    <a:pt x="1522476" y="1627632"/>
                  </a:lnTo>
                  <a:lnTo>
                    <a:pt x="1551432" y="1627632"/>
                  </a:lnTo>
                  <a:lnTo>
                    <a:pt x="1551432" y="1600200"/>
                  </a:lnTo>
                  <a:close/>
                </a:path>
                <a:path w="1551940" h="2504440">
                  <a:moveTo>
                    <a:pt x="1551432" y="1542288"/>
                  </a:moveTo>
                  <a:lnTo>
                    <a:pt x="1522476" y="1542288"/>
                  </a:lnTo>
                  <a:lnTo>
                    <a:pt x="1522476" y="1571244"/>
                  </a:lnTo>
                  <a:lnTo>
                    <a:pt x="1551432" y="1571244"/>
                  </a:lnTo>
                  <a:lnTo>
                    <a:pt x="1551432" y="1542288"/>
                  </a:lnTo>
                  <a:close/>
                </a:path>
                <a:path w="1551940" h="2504440">
                  <a:moveTo>
                    <a:pt x="1551432" y="1485900"/>
                  </a:moveTo>
                  <a:lnTo>
                    <a:pt x="1522476" y="1485900"/>
                  </a:lnTo>
                  <a:lnTo>
                    <a:pt x="1522476" y="1513332"/>
                  </a:lnTo>
                  <a:lnTo>
                    <a:pt x="1551432" y="1513332"/>
                  </a:lnTo>
                  <a:lnTo>
                    <a:pt x="1551432" y="1485900"/>
                  </a:lnTo>
                  <a:close/>
                </a:path>
                <a:path w="1551940" h="2504440">
                  <a:moveTo>
                    <a:pt x="1551432" y="1427988"/>
                  </a:moveTo>
                  <a:lnTo>
                    <a:pt x="1522476" y="1427988"/>
                  </a:lnTo>
                  <a:lnTo>
                    <a:pt x="1522476" y="1456944"/>
                  </a:lnTo>
                  <a:lnTo>
                    <a:pt x="1551432" y="1456944"/>
                  </a:lnTo>
                  <a:lnTo>
                    <a:pt x="1551432" y="1427988"/>
                  </a:lnTo>
                  <a:close/>
                </a:path>
                <a:path w="1551940" h="2504440">
                  <a:moveTo>
                    <a:pt x="1551432" y="1371600"/>
                  </a:moveTo>
                  <a:lnTo>
                    <a:pt x="1522476" y="1371600"/>
                  </a:lnTo>
                  <a:lnTo>
                    <a:pt x="1522476" y="1399032"/>
                  </a:lnTo>
                  <a:lnTo>
                    <a:pt x="1551432" y="1399032"/>
                  </a:lnTo>
                  <a:lnTo>
                    <a:pt x="1551432" y="1371600"/>
                  </a:lnTo>
                  <a:close/>
                </a:path>
                <a:path w="1551940" h="2504440">
                  <a:moveTo>
                    <a:pt x="1551432" y="1313688"/>
                  </a:moveTo>
                  <a:lnTo>
                    <a:pt x="1522476" y="1313688"/>
                  </a:lnTo>
                  <a:lnTo>
                    <a:pt x="1522476" y="1342644"/>
                  </a:lnTo>
                  <a:lnTo>
                    <a:pt x="1551432" y="1342644"/>
                  </a:lnTo>
                  <a:lnTo>
                    <a:pt x="1551432" y="1313688"/>
                  </a:lnTo>
                  <a:close/>
                </a:path>
                <a:path w="1551940" h="2504440">
                  <a:moveTo>
                    <a:pt x="1551432" y="1257300"/>
                  </a:moveTo>
                  <a:lnTo>
                    <a:pt x="1522476" y="1257300"/>
                  </a:lnTo>
                  <a:lnTo>
                    <a:pt x="1522476" y="1284732"/>
                  </a:lnTo>
                  <a:lnTo>
                    <a:pt x="1551432" y="1284732"/>
                  </a:lnTo>
                  <a:lnTo>
                    <a:pt x="1551432" y="1257300"/>
                  </a:lnTo>
                  <a:close/>
                </a:path>
                <a:path w="1551940" h="2504440">
                  <a:moveTo>
                    <a:pt x="1551432" y="1199388"/>
                  </a:moveTo>
                  <a:lnTo>
                    <a:pt x="1522476" y="1199388"/>
                  </a:lnTo>
                  <a:lnTo>
                    <a:pt x="1522476" y="1228344"/>
                  </a:lnTo>
                  <a:lnTo>
                    <a:pt x="1551432" y="1228344"/>
                  </a:lnTo>
                  <a:lnTo>
                    <a:pt x="1551432" y="1199388"/>
                  </a:lnTo>
                  <a:close/>
                </a:path>
                <a:path w="1551940" h="2504440">
                  <a:moveTo>
                    <a:pt x="1551432" y="1143000"/>
                  </a:moveTo>
                  <a:lnTo>
                    <a:pt x="1522476" y="1143000"/>
                  </a:lnTo>
                  <a:lnTo>
                    <a:pt x="1522476" y="1170432"/>
                  </a:lnTo>
                  <a:lnTo>
                    <a:pt x="1551432" y="1170432"/>
                  </a:lnTo>
                  <a:lnTo>
                    <a:pt x="1551432" y="1143000"/>
                  </a:lnTo>
                  <a:close/>
                </a:path>
                <a:path w="1551940" h="2504440">
                  <a:moveTo>
                    <a:pt x="1551432" y="1085088"/>
                  </a:moveTo>
                  <a:lnTo>
                    <a:pt x="1522476" y="1085088"/>
                  </a:lnTo>
                  <a:lnTo>
                    <a:pt x="1522476" y="1114044"/>
                  </a:lnTo>
                  <a:lnTo>
                    <a:pt x="1551432" y="1114044"/>
                  </a:lnTo>
                  <a:lnTo>
                    <a:pt x="1551432" y="1085088"/>
                  </a:lnTo>
                  <a:close/>
                </a:path>
                <a:path w="1551940" h="2504440">
                  <a:moveTo>
                    <a:pt x="1551432" y="1028700"/>
                  </a:moveTo>
                  <a:lnTo>
                    <a:pt x="1522476" y="1028700"/>
                  </a:lnTo>
                  <a:lnTo>
                    <a:pt x="1522476" y="1056132"/>
                  </a:lnTo>
                  <a:lnTo>
                    <a:pt x="1551432" y="1056132"/>
                  </a:lnTo>
                  <a:lnTo>
                    <a:pt x="1551432" y="1028700"/>
                  </a:lnTo>
                  <a:close/>
                </a:path>
                <a:path w="1551940" h="2504440">
                  <a:moveTo>
                    <a:pt x="1551432" y="970788"/>
                  </a:moveTo>
                  <a:lnTo>
                    <a:pt x="1522476" y="970788"/>
                  </a:lnTo>
                  <a:lnTo>
                    <a:pt x="1522476" y="999744"/>
                  </a:lnTo>
                  <a:lnTo>
                    <a:pt x="1551432" y="999744"/>
                  </a:lnTo>
                  <a:lnTo>
                    <a:pt x="1551432" y="970788"/>
                  </a:lnTo>
                  <a:close/>
                </a:path>
                <a:path w="1551940" h="2504440">
                  <a:moveTo>
                    <a:pt x="1551432" y="914400"/>
                  </a:moveTo>
                  <a:lnTo>
                    <a:pt x="1522476" y="914400"/>
                  </a:lnTo>
                  <a:lnTo>
                    <a:pt x="1522476" y="941832"/>
                  </a:lnTo>
                  <a:lnTo>
                    <a:pt x="1551432" y="941832"/>
                  </a:lnTo>
                  <a:lnTo>
                    <a:pt x="1551432" y="914400"/>
                  </a:lnTo>
                  <a:close/>
                </a:path>
                <a:path w="1551940" h="2504440">
                  <a:moveTo>
                    <a:pt x="1551432" y="856488"/>
                  </a:moveTo>
                  <a:lnTo>
                    <a:pt x="1522476" y="856488"/>
                  </a:lnTo>
                  <a:lnTo>
                    <a:pt x="1522476" y="885444"/>
                  </a:lnTo>
                  <a:lnTo>
                    <a:pt x="1551432" y="885444"/>
                  </a:lnTo>
                  <a:lnTo>
                    <a:pt x="1551432" y="856488"/>
                  </a:lnTo>
                  <a:close/>
                </a:path>
                <a:path w="1551940" h="2504440">
                  <a:moveTo>
                    <a:pt x="1551432" y="800100"/>
                  </a:moveTo>
                  <a:lnTo>
                    <a:pt x="1522476" y="800100"/>
                  </a:lnTo>
                  <a:lnTo>
                    <a:pt x="1522476" y="827532"/>
                  </a:lnTo>
                  <a:lnTo>
                    <a:pt x="1551432" y="827532"/>
                  </a:lnTo>
                  <a:lnTo>
                    <a:pt x="1551432" y="800100"/>
                  </a:lnTo>
                  <a:close/>
                </a:path>
                <a:path w="1551940" h="2504440">
                  <a:moveTo>
                    <a:pt x="1551432" y="742188"/>
                  </a:moveTo>
                  <a:lnTo>
                    <a:pt x="1522476" y="742188"/>
                  </a:lnTo>
                  <a:lnTo>
                    <a:pt x="1522476" y="771144"/>
                  </a:lnTo>
                  <a:lnTo>
                    <a:pt x="1551432" y="771144"/>
                  </a:lnTo>
                  <a:lnTo>
                    <a:pt x="1551432" y="742188"/>
                  </a:lnTo>
                  <a:close/>
                </a:path>
                <a:path w="1551940" h="2504440">
                  <a:moveTo>
                    <a:pt x="1551432" y="685800"/>
                  </a:moveTo>
                  <a:lnTo>
                    <a:pt x="1522476" y="685800"/>
                  </a:lnTo>
                  <a:lnTo>
                    <a:pt x="1522476" y="713232"/>
                  </a:lnTo>
                  <a:lnTo>
                    <a:pt x="1551432" y="713232"/>
                  </a:lnTo>
                  <a:lnTo>
                    <a:pt x="1551432" y="685800"/>
                  </a:lnTo>
                  <a:close/>
                </a:path>
                <a:path w="1551940" h="2504440">
                  <a:moveTo>
                    <a:pt x="1551432" y="627888"/>
                  </a:moveTo>
                  <a:lnTo>
                    <a:pt x="1522476" y="627888"/>
                  </a:lnTo>
                  <a:lnTo>
                    <a:pt x="1522476" y="656844"/>
                  </a:lnTo>
                  <a:lnTo>
                    <a:pt x="1551432" y="656844"/>
                  </a:lnTo>
                  <a:lnTo>
                    <a:pt x="1551432" y="627888"/>
                  </a:lnTo>
                  <a:close/>
                </a:path>
                <a:path w="1551940" h="2504440">
                  <a:moveTo>
                    <a:pt x="1551432" y="571500"/>
                  </a:moveTo>
                  <a:lnTo>
                    <a:pt x="1522476" y="571500"/>
                  </a:lnTo>
                  <a:lnTo>
                    <a:pt x="1522476" y="600456"/>
                  </a:lnTo>
                  <a:lnTo>
                    <a:pt x="1551432" y="600456"/>
                  </a:lnTo>
                  <a:lnTo>
                    <a:pt x="1551432" y="571500"/>
                  </a:lnTo>
                  <a:close/>
                </a:path>
                <a:path w="1551940" h="2504440">
                  <a:moveTo>
                    <a:pt x="1551432" y="513588"/>
                  </a:moveTo>
                  <a:lnTo>
                    <a:pt x="1522476" y="513588"/>
                  </a:lnTo>
                  <a:lnTo>
                    <a:pt x="1522476" y="542544"/>
                  </a:lnTo>
                  <a:lnTo>
                    <a:pt x="1551432" y="542544"/>
                  </a:lnTo>
                  <a:lnTo>
                    <a:pt x="1551432" y="513588"/>
                  </a:lnTo>
                  <a:close/>
                </a:path>
                <a:path w="1551940" h="2504440">
                  <a:moveTo>
                    <a:pt x="1551432" y="457200"/>
                  </a:moveTo>
                  <a:lnTo>
                    <a:pt x="1522476" y="457200"/>
                  </a:lnTo>
                  <a:lnTo>
                    <a:pt x="1522476" y="486156"/>
                  </a:lnTo>
                  <a:lnTo>
                    <a:pt x="1551432" y="486156"/>
                  </a:lnTo>
                  <a:lnTo>
                    <a:pt x="1551432" y="457200"/>
                  </a:lnTo>
                  <a:close/>
                </a:path>
                <a:path w="1551940" h="2504440">
                  <a:moveTo>
                    <a:pt x="1551432" y="399288"/>
                  </a:moveTo>
                  <a:lnTo>
                    <a:pt x="1522476" y="399288"/>
                  </a:lnTo>
                  <a:lnTo>
                    <a:pt x="1522476" y="428244"/>
                  </a:lnTo>
                  <a:lnTo>
                    <a:pt x="1551432" y="428244"/>
                  </a:lnTo>
                  <a:lnTo>
                    <a:pt x="1551432" y="399288"/>
                  </a:lnTo>
                  <a:close/>
                </a:path>
                <a:path w="1551940" h="2504440">
                  <a:moveTo>
                    <a:pt x="1551432" y="342900"/>
                  </a:moveTo>
                  <a:lnTo>
                    <a:pt x="1522476" y="342900"/>
                  </a:lnTo>
                  <a:lnTo>
                    <a:pt x="1522476" y="371856"/>
                  </a:lnTo>
                  <a:lnTo>
                    <a:pt x="1551432" y="371856"/>
                  </a:lnTo>
                  <a:lnTo>
                    <a:pt x="1551432" y="342900"/>
                  </a:lnTo>
                  <a:close/>
                </a:path>
                <a:path w="1551940" h="2504440">
                  <a:moveTo>
                    <a:pt x="1551432" y="284988"/>
                  </a:moveTo>
                  <a:lnTo>
                    <a:pt x="1522476" y="284988"/>
                  </a:lnTo>
                  <a:lnTo>
                    <a:pt x="1522476" y="313944"/>
                  </a:lnTo>
                  <a:lnTo>
                    <a:pt x="1551432" y="313944"/>
                  </a:lnTo>
                  <a:lnTo>
                    <a:pt x="1551432" y="284988"/>
                  </a:lnTo>
                  <a:close/>
                </a:path>
                <a:path w="1551940" h="2504440">
                  <a:moveTo>
                    <a:pt x="1551432" y="228600"/>
                  </a:moveTo>
                  <a:lnTo>
                    <a:pt x="1522476" y="228600"/>
                  </a:lnTo>
                  <a:lnTo>
                    <a:pt x="1522476" y="257556"/>
                  </a:lnTo>
                  <a:lnTo>
                    <a:pt x="1551432" y="257556"/>
                  </a:lnTo>
                  <a:lnTo>
                    <a:pt x="1551432" y="228600"/>
                  </a:lnTo>
                  <a:close/>
                </a:path>
                <a:path w="1551940" h="2504440">
                  <a:moveTo>
                    <a:pt x="1551432" y="170688"/>
                  </a:moveTo>
                  <a:lnTo>
                    <a:pt x="1522476" y="170688"/>
                  </a:lnTo>
                  <a:lnTo>
                    <a:pt x="1522476" y="199644"/>
                  </a:lnTo>
                  <a:lnTo>
                    <a:pt x="1551432" y="199644"/>
                  </a:lnTo>
                  <a:lnTo>
                    <a:pt x="1551432" y="170688"/>
                  </a:lnTo>
                  <a:close/>
                </a:path>
                <a:path w="1551940" h="2504440">
                  <a:moveTo>
                    <a:pt x="1551432" y="114300"/>
                  </a:moveTo>
                  <a:lnTo>
                    <a:pt x="1522476" y="114300"/>
                  </a:lnTo>
                  <a:lnTo>
                    <a:pt x="1522476" y="143256"/>
                  </a:lnTo>
                  <a:lnTo>
                    <a:pt x="1551432" y="143256"/>
                  </a:lnTo>
                  <a:lnTo>
                    <a:pt x="1551432" y="114300"/>
                  </a:lnTo>
                  <a:close/>
                </a:path>
                <a:path w="1551940" h="2504440">
                  <a:moveTo>
                    <a:pt x="1551432" y="56388"/>
                  </a:moveTo>
                  <a:lnTo>
                    <a:pt x="1522476" y="56388"/>
                  </a:lnTo>
                  <a:lnTo>
                    <a:pt x="1522476" y="85344"/>
                  </a:lnTo>
                  <a:lnTo>
                    <a:pt x="1551432" y="85344"/>
                  </a:lnTo>
                  <a:lnTo>
                    <a:pt x="1551432" y="56388"/>
                  </a:lnTo>
                  <a:close/>
                </a:path>
                <a:path w="1551940" h="2504440">
                  <a:moveTo>
                    <a:pt x="1551432" y="0"/>
                  </a:moveTo>
                  <a:lnTo>
                    <a:pt x="1522476" y="0"/>
                  </a:lnTo>
                  <a:lnTo>
                    <a:pt x="1522476" y="28956"/>
                  </a:lnTo>
                  <a:lnTo>
                    <a:pt x="1551432" y="28956"/>
                  </a:lnTo>
                  <a:lnTo>
                    <a:pt x="1551432" y="0"/>
                  </a:lnTo>
                  <a:close/>
                </a:path>
              </a:pathLst>
            </a:custGeom>
            <a:solidFill>
              <a:srgbClr val="7E7E7E"/>
            </a:solidFill>
          </p:spPr>
          <p:txBody>
            <a:bodyPr wrap="square" lIns="0" tIns="0" rIns="0" bIns="0" rtlCol="0"/>
            <a:lstStyle/>
            <a:p>
              <a:endParaRPr/>
            </a:p>
          </p:txBody>
        </p:sp>
        <p:sp>
          <p:nvSpPr>
            <p:cNvPr id="22" name="object 22"/>
            <p:cNvSpPr/>
            <p:nvPr/>
          </p:nvSpPr>
          <p:spPr>
            <a:xfrm>
              <a:off x="6295631" y="4866131"/>
              <a:ext cx="3284854" cy="27940"/>
            </a:xfrm>
            <a:custGeom>
              <a:avLst/>
              <a:gdLst/>
              <a:ahLst/>
              <a:cxnLst/>
              <a:rect l="l" t="t" r="r" b="b"/>
              <a:pathLst>
                <a:path w="3284854" h="27939">
                  <a:moveTo>
                    <a:pt x="27444" y="0"/>
                  </a:moveTo>
                  <a:lnTo>
                    <a:pt x="0" y="0"/>
                  </a:lnTo>
                  <a:lnTo>
                    <a:pt x="0" y="27432"/>
                  </a:lnTo>
                  <a:lnTo>
                    <a:pt x="27444" y="27432"/>
                  </a:lnTo>
                  <a:lnTo>
                    <a:pt x="27444" y="0"/>
                  </a:lnTo>
                  <a:close/>
                </a:path>
                <a:path w="3284854" h="27939">
                  <a:moveTo>
                    <a:pt x="85356" y="0"/>
                  </a:moveTo>
                  <a:lnTo>
                    <a:pt x="56400" y="0"/>
                  </a:lnTo>
                  <a:lnTo>
                    <a:pt x="56400" y="27432"/>
                  </a:lnTo>
                  <a:lnTo>
                    <a:pt x="85356" y="27432"/>
                  </a:lnTo>
                  <a:lnTo>
                    <a:pt x="85356" y="0"/>
                  </a:lnTo>
                  <a:close/>
                </a:path>
                <a:path w="3284854" h="27939">
                  <a:moveTo>
                    <a:pt x="141744" y="0"/>
                  </a:moveTo>
                  <a:lnTo>
                    <a:pt x="114300" y="0"/>
                  </a:lnTo>
                  <a:lnTo>
                    <a:pt x="114300" y="27432"/>
                  </a:lnTo>
                  <a:lnTo>
                    <a:pt x="141744" y="27432"/>
                  </a:lnTo>
                  <a:lnTo>
                    <a:pt x="141744" y="0"/>
                  </a:lnTo>
                  <a:close/>
                </a:path>
                <a:path w="3284854" h="27939">
                  <a:moveTo>
                    <a:pt x="199656" y="0"/>
                  </a:moveTo>
                  <a:lnTo>
                    <a:pt x="170700" y="0"/>
                  </a:lnTo>
                  <a:lnTo>
                    <a:pt x="170700" y="27432"/>
                  </a:lnTo>
                  <a:lnTo>
                    <a:pt x="199656" y="27432"/>
                  </a:lnTo>
                  <a:lnTo>
                    <a:pt x="199656" y="0"/>
                  </a:lnTo>
                  <a:close/>
                </a:path>
                <a:path w="3284854" h="27939">
                  <a:moveTo>
                    <a:pt x="256044" y="0"/>
                  </a:moveTo>
                  <a:lnTo>
                    <a:pt x="228612" y="0"/>
                  </a:lnTo>
                  <a:lnTo>
                    <a:pt x="228612" y="27432"/>
                  </a:lnTo>
                  <a:lnTo>
                    <a:pt x="256044" y="27432"/>
                  </a:lnTo>
                  <a:lnTo>
                    <a:pt x="256044" y="0"/>
                  </a:lnTo>
                  <a:close/>
                </a:path>
                <a:path w="3284854" h="27939">
                  <a:moveTo>
                    <a:pt x="313956" y="0"/>
                  </a:moveTo>
                  <a:lnTo>
                    <a:pt x="285000" y="0"/>
                  </a:lnTo>
                  <a:lnTo>
                    <a:pt x="285000" y="27432"/>
                  </a:lnTo>
                  <a:lnTo>
                    <a:pt x="313956" y="27432"/>
                  </a:lnTo>
                  <a:lnTo>
                    <a:pt x="313956" y="0"/>
                  </a:lnTo>
                  <a:close/>
                </a:path>
                <a:path w="3284854" h="27939">
                  <a:moveTo>
                    <a:pt x="370344" y="0"/>
                  </a:moveTo>
                  <a:lnTo>
                    <a:pt x="342912" y="0"/>
                  </a:lnTo>
                  <a:lnTo>
                    <a:pt x="342912" y="27432"/>
                  </a:lnTo>
                  <a:lnTo>
                    <a:pt x="370344" y="27432"/>
                  </a:lnTo>
                  <a:lnTo>
                    <a:pt x="370344" y="0"/>
                  </a:lnTo>
                  <a:close/>
                </a:path>
                <a:path w="3284854" h="27939">
                  <a:moveTo>
                    <a:pt x="428256" y="0"/>
                  </a:moveTo>
                  <a:lnTo>
                    <a:pt x="399300" y="0"/>
                  </a:lnTo>
                  <a:lnTo>
                    <a:pt x="399300" y="27432"/>
                  </a:lnTo>
                  <a:lnTo>
                    <a:pt x="428256" y="27432"/>
                  </a:lnTo>
                  <a:lnTo>
                    <a:pt x="428256" y="0"/>
                  </a:lnTo>
                  <a:close/>
                </a:path>
                <a:path w="3284854" h="27939">
                  <a:moveTo>
                    <a:pt x="484644" y="0"/>
                  </a:moveTo>
                  <a:lnTo>
                    <a:pt x="455688" y="0"/>
                  </a:lnTo>
                  <a:lnTo>
                    <a:pt x="455688" y="27432"/>
                  </a:lnTo>
                  <a:lnTo>
                    <a:pt x="484644" y="27432"/>
                  </a:lnTo>
                  <a:lnTo>
                    <a:pt x="484644" y="0"/>
                  </a:lnTo>
                  <a:close/>
                </a:path>
                <a:path w="3284854" h="27939">
                  <a:moveTo>
                    <a:pt x="542556" y="0"/>
                  </a:moveTo>
                  <a:lnTo>
                    <a:pt x="513600" y="0"/>
                  </a:lnTo>
                  <a:lnTo>
                    <a:pt x="513600" y="27432"/>
                  </a:lnTo>
                  <a:lnTo>
                    <a:pt x="542556" y="27432"/>
                  </a:lnTo>
                  <a:lnTo>
                    <a:pt x="542556" y="0"/>
                  </a:lnTo>
                  <a:close/>
                </a:path>
                <a:path w="3284854" h="27939">
                  <a:moveTo>
                    <a:pt x="598944" y="0"/>
                  </a:moveTo>
                  <a:lnTo>
                    <a:pt x="569988" y="0"/>
                  </a:lnTo>
                  <a:lnTo>
                    <a:pt x="569988" y="27432"/>
                  </a:lnTo>
                  <a:lnTo>
                    <a:pt x="598944" y="27432"/>
                  </a:lnTo>
                  <a:lnTo>
                    <a:pt x="598944" y="0"/>
                  </a:lnTo>
                  <a:close/>
                </a:path>
                <a:path w="3284854" h="27939">
                  <a:moveTo>
                    <a:pt x="656856" y="0"/>
                  </a:moveTo>
                  <a:lnTo>
                    <a:pt x="627900" y="0"/>
                  </a:lnTo>
                  <a:lnTo>
                    <a:pt x="627900" y="27432"/>
                  </a:lnTo>
                  <a:lnTo>
                    <a:pt x="656856" y="27432"/>
                  </a:lnTo>
                  <a:lnTo>
                    <a:pt x="656856" y="0"/>
                  </a:lnTo>
                  <a:close/>
                </a:path>
                <a:path w="3284854" h="27939">
                  <a:moveTo>
                    <a:pt x="713244" y="0"/>
                  </a:moveTo>
                  <a:lnTo>
                    <a:pt x="684288" y="0"/>
                  </a:lnTo>
                  <a:lnTo>
                    <a:pt x="684288" y="27432"/>
                  </a:lnTo>
                  <a:lnTo>
                    <a:pt x="713244" y="27432"/>
                  </a:lnTo>
                  <a:lnTo>
                    <a:pt x="713244" y="0"/>
                  </a:lnTo>
                  <a:close/>
                </a:path>
                <a:path w="3284854" h="27939">
                  <a:moveTo>
                    <a:pt x="771156" y="0"/>
                  </a:moveTo>
                  <a:lnTo>
                    <a:pt x="742200" y="0"/>
                  </a:lnTo>
                  <a:lnTo>
                    <a:pt x="742200" y="27432"/>
                  </a:lnTo>
                  <a:lnTo>
                    <a:pt x="771156" y="27432"/>
                  </a:lnTo>
                  <a:lnTo>
                    <a:pt x="771156" y="0"/>
                  </a:lnTo>
                  <a:close/>
                </a:path>
                <a:path w="3284854" h="27939">
                  <a:moveTo>
                    <a:pt x="827544" y="0"/>
                  </a:moveTo>
                  <a:lnTo>
                    <a:pt x="798588" y="0"/>
                  </a:lnTo>
                  <a:lnTo>
                    <a:pt x="798588" y="27432"/>
                  </a:lnTo>
                  <a:lnTo>
                    <a:pt x="827544" y="27432"/>
                  </a:lnTo>
                  <a:lnTo>
                    <a:pt x="827544" y="0"/>
                  </a:lnTo>
                  <a:close/>
                </a:path>
                <a:path w="3284854" h="27939">
                  <a:moveTo>
                    <a:pt x="885456" y="0"/>
                  </a:moveTo>
                  <a:lnTo>
                    <a:pt x="856500" y="0"/>
                  </a:lnTo>
                  <a:lnTo>
                    <a:pt x="856500" y="27432"/>
                  </a:lnTo>
                  <a:lnTo>
                    <a:pt x="885456" y="27432"/>
                  </a:lnTo>
                  <a:lnTo>
                    <a:pt x="885456" y="0"/>
                  </a:lnTo>
                  <a:close/>
                </a:path>
                <a:path w="3284854" h="27939">
                  <a:moveTo>
                    <a:pt x="941844" y="0"/>
                  </a:moveTo>
                  <a:lnTo>
                    <a:pt x="912888" y="0"/>
                  </a:lnTo>
                  <a:lnTo>
                    <a:pt x="912888" y="27432"/>
                  </a:lnTo>
                  <a:lnTo>
                    <a:pt x="941844" y="27432"/>
                  </a:lnTo>
                  <a:lnTo>
                    <a:pt x="941844" y="0"/>
                  </a:lnTo>
                  <a:close/>
                </a:path>
                <a:path w="3284854" h="27939">
                  <a:moveTo>
                    <a:pt x="999756" y="0"/>
                  </a:moveTo>
                  <a:lnTo>
                    <a:pt x="970800" y="0"/>
                  </a:lnTo>
                  <a:lnTo>
                    <a:pt x="970800" y="27432"/>
                  </a:lnTo>
                  <a:lnTo>
                    <a:pt x="999756" y="27432"/>
                  </a:lnTo>
                  <a:lnTo>
                    <a:pt x="999756" y="0"/>
                  </a:lnTo>
                  <a:close/>
                </a:path>
                <a:path w="3284854" h="27939">
                  <a:moveTo>
                    <a:pt x="1056144" y="0"/>
                  </a:moveTo>
                  <a:lnTo>
                    <a:pt x="1027188" y="0"/>
                  </a:lnTo>
                  <a:lnTo>
                    <a:pt x="1027188" y="27432"/>
                  </a:lnTo>
                  <a:lnTo>
                    <a:pt x="1056144" y="27432"/>
                  </a:lnTo>
                  <a:lnTo>
                    <a:pt x="1056144" y="0"/>
                  </a:lnTo>
                  <a:close/>
                </a:path>
                <a:path w="3284854" h="27939">
                  <a:moveTo>
                    <a:pt x="1114056" y="0"/>
                  </a:moveTo>
                  <a:lnTo>
                    <a:pt x="1085100" y="0"/>
                  </a:lnTo>
                  <a:lnTo>
                    <a:pt x="1085100" y="27432"/>
                  </a:lnTo>
                  <a:lnTo>
                    <a:pt x="1114056" y="27432"/>
                  </a:lnTo>
                  <a:lnTo>
                    <a:pt x="1114056" y="0"/>
                  </a:lnTo>
                  <a:close/>
                </a:path>
                <a:path w="3284854" h="27939">
                  <a:moveTo>
                    <a:pt x="1170444" y="0"/>
                  </a:moveTo>
                  <a:lnTo>
                    <a:pt x="1141488" y="0"/>
                  </a:lnTo>
                  <a:lnTo>
                    <a:pt x="1141488" y="27432"/>
                  </a:lnTo>
                  <a:lnTo>
                    <a:pt x="1170444" y="27432"/>
                  </a:lnTo>
                  <a:lnTo>
                    <a:pt x="1170444" y="0"/>
                  </a:lnTo>
                  <a:close/>
                </a:path>
                <a:path w="3284854" h="27939">
                  <a:moveTo>
                    <a:pt x="1228356" y="0"/>
                  </a:moveTo>
                  <a:lnTo>
                    <a:pt x="1199400" y="0"/>
                  </a:lnTo>
                  <a:lnTo>
                    <a:pt x="1199400" y="27432"/>
                  </a:lnTo>
                  <a:lnTo>
                    <a:pt x="1228356" y="27432"/>
                  </a:lnTo>
                  <a:lnTo>
                    <a:pt x="1228356" y="0"/>
                  </a:lnTo>
                  <a:close/>
                </a:path>
                <a:path w="3284854" h="27939">
                  <a:moveTo>
                    <a:pt x="1284744" y="0"/>
                  </a:moveTo>
                  <a:lnTo>
                    <a:pt x="1255788" y="0"/>
                  </a:lnTo>
                  <a:lnTo>
                    <a:pt x="1255788" y="27432"/>
                  </a:lnTo>
                  <a:lnTo>
                    <a:pt x="1284744" y="27432"/>
                  </a:lnTo>
                  <a:lnTo>
                    <a:pt x="1284744" y="0"/>
                  </a:lnTo>
                  <a:close/>
                </a:path>
                <a:path w="3284854" h="27939">
                  <a:moveTo>
                    <a:pt x="1342656" y="0"/>
                  </a:moveTo>
                  <a:lnTo>
                    <a:pt x="1313700" y="0"/>
                  </a:lnTo>
                  <a:lnTo>
                    <a:pt x="1313700" y="27432"/>
                  </a:lnTo>
                  <a:lnTo>
                    <a:pt x="1342656" y="27432"/>
                  </a:lnTo>
                  <a:lnTo>
                    <a:pt x="1342656" y="0"/>
                  </a:lnTo>
                  <a:close/>
                </a:path>
                <a:path w="3284854" h="27939">
                  <a:moveTo>
                    <a:pt x="1399044" y="0"/>
                  </a:moveTo>
                  <a:lnTo>
                    <a:pt x="1370088" y="0"/>
                  </a:lnTo>
                  <a:lnTo>
                    <a:pt x="1370088" y="27432"/>
                  </a:lnTo>
                  <a:lnTo>
                    <a:pt x="1399044" y="27432"/>
                  </a:lnTo>
                  <a:lnTo>
                    <a:pt x="1399044" y="0"/>
                  </a:lnTo>
                  <a:close/>
                </a:path>
                <a:path w="3284854" h="27939">
                  <a:moveTo>
                    <a:pt x="1456956" y="0"/>
                  </a:moveTo>
                  <a:lnTo>
                    <a:pt x="1428000" y="0"/>
                  </a:lnTo>
                  <a:lnTo>
                    <a:pt x="1428000" y="27432"/>
                  </a:lnTo>
                  <a:lnTo>
                    <a:pt x="1456956" y="27432"/>
                  </a:lnTo>
                  <a:lnTo>
                    <a:pt x="1456956" y="0"/>
                  </a:lnTo>
                  <a:close/>
                </a:path>
                <a:path w="3284854" h="27939">
                  <a:moveTo>
                    <a:pt x="1513344" y="0"/>
                  </a:moveTo>
                  <a:lnTo>
                    <a:pt x="1484388" y="0"/>
                  </a:lnTo>
                  <a:lnTo>
                    <a:pt x="1484388" y="27432"/>
                  </a:lnTo>
                  <a:lnTo>
                    <a:pt x="1513344" y="27432"/>
                  </a:lnTo>
                  <a:lnTo>
                    <a:pt x="1513344" y="0"/>
                  </a:lnTo>
                  <a:close/>
                </a:path>
                <a:path w="3284854" h="27939">
                  <a:moveTo>
                    <a:pt x="1571256" y="0"/>
                  </a:moveTo>
                  <a:lnTo>
                    <a:pt x="1542300" y="0"/>
                  </a:lnTo>
                  <a:lnTo>
                    <a:pt x="1542300" y="27432"/>
                  </a:lnTo>
                  <a:lnTo>
                    <a:pt x="1571256" y="27432"/>
                  </a:lnTo>
                  <a:lnTo>
                    <a:pt x="1571256" y="0"/>
                  </a:lnTo>
                  <a:close/>
                </a:path>
                <a:path w="3284854" h="27939">
                  <a:moveTo>
                    <a:pt x="1627644" y="0"/>
                  </a:moveTo>
                  <a:lnTo>
                    <a:pt x="1598688" y="0"/>
                  </a:lnTo>
                  <a:lnTo>
                    <a:pt x="1598688" y="27432"/>
                  </a:lnTo>
                  <a:lnTo>
                    <a:pt x="1627644" y="27432"/>
                  </a:lnTo>
                  <a:lnTo>
                    <a:pt x="1627644" y="0"/>
                  </a:lnTo>
                  <a:close/>
                </a:path>
                <a:path w="3284854" h="27939">
                  <a:moveTo>
                    <a:pt x="1685556" y="0"/>
                  </a:moveTo>
                  <a:lnTo>
                    <a:pt x="1656600" y="0"/>
                  </a:lnTo>
                  <a:lnTo>
                    <a:pt x="1656600" y="27432"/>
                  </a:lnTo>
                  <a:lnTo>
                    <a:pt x="1685556" y="27432"/>
                  </a:lnTo>
                  <a:lnTo>
                    <a:pt x="1685556" y="0"/>
                  </a:lnTo>
                  <a:close/>
                </a:path>
                <a:path w="3284854" h="27939">
                  <a:moveTo>
                    <a:pt x="1741944" y="0"/>
                  </a:moveTo>
                  <a:lnTo>
                    <a:pt x="1712988" y="0"/>
                  </a:lnTo>
                  <a:lnTo>
                    <a:pt x="1712988" y="27432"/>
                  </a:lnTo>
                  <a:lnTo>
                    <a:pt x="1741944" y="27432"/>
                  </a:lnTo>
                  <a:lnTo>
                    <a:pt x="1741944" y="0"/>
                  </a:lnTo>
                  <a:close/>
                </a:path>
                <a:path w="3284854" h="27939">
                  <a:moveTo>
                    <a:pt x="1799856" y="0"/>
                  </a:moveTo>
                  <a:lnTo>
                    <a:pt x="1770900" y="0"/>
                  </a:lnTo>
                  <a:lnTo>
                    <a:pt x="1770900" y="27432"/>
                  </a:lnTo>
                  <a:lnTo>
                    <a:pt x="1799856" y="27432"/>
                  </a:lnTo>
                  <a:lnTo>
                    <a:pt x="1799856" y="0"/>
                  </a:lnTo>
                  <a:close/>
                </a:path>
                <a:path w="3284854" h="27939">
                  <a:moveTo>
                    <a:pt x="1856244" y="0"/>
                  </a:moveTo>
                  <a:lnTo>
                    <a:pt x="1827288" y="0"/>
                  </a:lnTo>
                  <a:lnTo>
                    <a:pt x="1827288" y="27432"/>
                  </a:lnTo>
                  <a:lnTo>
                    <a:pt x="1856244" y="27432"/>
                  </a:lnTo>
                  <a:lnTo>
                    <a:pt x="1856244" y="0"/>
                  </a:lnTo>
                  <a:close/>
                </a:path>
                <a:path w="3284854" h="27939">
                  <a:moveTo>
                    <a:pt x="1912632" y="0"/>
                  </a:moveTo>
                  <a:lnTo>
                    <a:pt x="1885200" y="0"/>
                  </a:lnTo>
                  <a:lnTo>
                    <a:pt x="1885200" y="27432"/>
                  </a:lnTo>
                  <a:lnTo>
                    <a:pt x="1912632" y="27432"/>
                  </a:lnTo>
                  <a:lnTo>
                    <a:pt x="1912632" y="0"/>
                  </a:lnTo>
                  <a:close/>
                </a:path>
                <a:path w="3284854" h="27939">
                  <a:moveTo>
                    <a:pt x="1970544" y="0"/>
                  </a:moveTo>
                  <a:lnTo>
                    <a:pt x="1941588" y="0"/>
                  </a:lnTo>
                  <a:lnTo>
                    <a:pt x="1941588" y="27432"/>
                  </a:lnTo>
                  <a:lnTo>
                    <a:pt x="1970544" y="27432"/>
                  </a:lnTo>
                  <a:lnTo>
                    <a:pt x="1970544" y="0"/>
                  </a:lnTo>
                  <a:close/>
                </a:path>
                <a:path w="3284854" h="27939">
                  <a:moveTo>
                    <a:pt x="2026932" y="0"/>
                  </a:moveTo>
                  <a:lnTo>
                    <a:pt x="1999500" y="0"/>
                  </a:lnTo>
                  <a:lnTo>
                    <a:pt x="1999500" y="27432"/>
                  </a:lnTo>
                  <a:lnTo>
                    <a:pt x="2026932" y="27432"/>
                  </a:lnTo>
                  <a:lnTo>
                    <a:pt x="2026932" y="0"/>
                  </a:lnTo>
                  <a:close/>
                </a:path>
                <a:path w="3284854" h="27939">
                  <a:moveTo>
                    <a:pt x="2084844" y="0"/>
                  </a:moveTo>
                  <a:lnTo>
                    <a:pt x="2055888" y="0"/>
                  </a:lnTo>
                  <a:lnTo>
                    <a:pt x="2055888" y="27432"/>
                  </a:lnTo>
                  <a:lnTo>
                    <a:pt x="2084844" y="27432"/>
                  </a:lnTo>
                  <a:lnTo>
                    <a:pt x="2084844" y="0"/>
                  </a:lnTo>
                  <a:close/>
                </a:path>
                <a:path w="3284854" h="27939">
                  <a:moveTo>
                    <a:pt x="2141232" y="0"/>
                  </a:moveTo>
                  <a:lnTo>
                    <a:pt x="2113800" y="0"/>
                  </a:lnTo>
                  <a:lnTo>
                    <a:pt x="2113800" y="27432"/>
                  </a:lnTo>
                  <a:lnTo>
                    <a:pt x="2141232" y="27432"/>
                  </a:lnTo>
                  <a:lnTo>
                    <a:pt x="2141232" y="0"/>
                  </a:lnTo>
                  <a:close/>
                </a:path>
                <a:path w="3284854" h="27939">
                  <a:moveTo>
                    <a:pt x="2199144" y="0"/>
                  </a:moveTo>
                  <a:lnTo>
                    <a:pt x="2170188" y="0"/>
                  </a:lnTo>
                  <a:lnTo>
                    <a:pt x="2170188" y="27432"/>
                  </a:lnTo>
                  <a:lnTo>
                    <a:pt x="2199144" y="27432"/>
                  </a:lnTo>
                  <a:lnTo>
                    <a:pt x="2199144" y="0"/>
                  </a:lnTo>
                  <a:close/>
                </a:path>
                <a:path w="3284854" h="27939">
                  <a:moveTo>
                    <a:pt x="2255532" y="0"/>
                  </a:moveTo>
                  <a:lnTo>
                    <a:pt x="2228100" y="0"/>
                  </a:lnTo>
                  <a:lnTo>
                    <a:pt x="2228100" y="27432"/>
                  </a:lnTo>
                  <a:lnTo>
                    <a:pt x="2255532" y="27432"/>
                  </a:lnTo>
                  <a:lnTo>
                    <a:pt x="2255532" y="0"/>
                  </a:lnTo>
                  <a:close/>
                </a:path>
                <a:path w="3284854" h="27939">
                  <a:moveTo>
                    <a:pt x="2313444" y="0"/>
                  </a:moveTo>
                  <a:lnTo>
                    <a:pt x="2284488" y="0"/>
                  </a:lnTo>
                  <a:lnTo>
                    <a:pt x="2284488" y="27432"/>
                  </a:lnTo>
                  <a:lnTo>
                    <a:pt x="2313444" y="27432"/>
                  </a:lnTo>
                  <a:lnTo>
                    <a:pt x="2313444" y="0"/>
                  </a:lnTo>
                  <a:close/>
                </a:path>
                <a:path w="3284854" h="27939">
                  <a:moveTo>
                    <a:pt x="2369832" y="0"/>
                  </a:moveTo>
                  <a:lnTo>
                    <a:pt x="2342400" y="0"/>
                  </a:lnTo>
                  <a:lnTo>
                    <a:pt x="2342400" y="27432"/>
                  </a:lnTo>
                  <a:lnTo>
                    <a:pt x="2369832" y="27432"/>
                  </a:lnTo>
                  <a:lnTo>
                    <a:pt x="2369832" y="0"/>
                  </a:lnTo>
                  <a:close/>
                </a:path>
                <a:path w="3284854" h="27939">
                  <a:moveTo>
                    <a:pt x="2427744" y="0"/>
                  </a:moveTo>
                  <a:lnTo>
                    <a:pt x="2398788" y="0"/>
                  </a:lnTo>
                  <a:lnTo>
                    <a:pt x="2398788" y="27432"/>
                  </a:lnTo>
                  <a:lnTo>
                    <a:pt x="2427744" y="27432"/>
                  </a:lnTo>
                  <a:lnTo>
                    <a:pt x="2427744" y="0"/>
                  </a:lnTo>
                  <a:close/>
                </a:path>
                <a:path w="3284854" h="27939">
                  <a:moveTo>
                    <a:pt x="2484132" y="0"/>
                  </a:moveTo>
                  <a:lnTo>
                    <a:pt x="2456700" y="0"/>
                  </a:lnTo>
                  <a:lnTo>
                    <a:pt x="2456700" y="27432"/>
                  </a:lnTo>
                  <a:lnTo>
                    <a:pt x="2484132" y="27432"/>
                  </a:lnTo>
                  <a:lnTo>
                    <a:pt x="2484132" y="0"/>
                  </a:lnTo>
                  <a:close/>
                </a:path>
                <a:path w="3284854" h="27939">
                  <a:moveTo>
                    <a:pt x="2542044" y="0"/>
                  </a:moveTo>
                  <a:lnTo>
                    <a:pt x="2513088" y="0"/>
                  </a:lnTo>
                  <a:lnTo>
                    <a:pt x="2513088" y="27432"/>
                  </a:lnTo>
                  <a:lnTo>
                    <a:pt x="2542044" y="27432"/>
                  </a:lnTo>
                  <a:lnTo>
                    <a:pt x="2542044" y="0"/>
                  </a:lnTo>
                  <a:close/>
                </a:path>
                <a:path w="3284854" h="27939">
                  <a:moveTo>
                    <a:pt x="2598432" y="0"/>
                  </a:moveTo>
                  <a:lnTo>
                    <a:pt x="2571000" y="0"/>
                  </a:lnTo>
                  <a:lnTo>
                    <a:pt x="2571000" y="27432"/>
                  </a:lnTo>
                  <a:lnTo>
                    <a:pt x="2598432" y="27432"/>
                  </a:lnTo>
                  <a:lnTo>
                    <a:pt x="2598432" y="0"/>
                  </a:lnTo>
                  <a:close/>
                </a:path>
                <a:path w="3284854" h="27939">
                  <a:moveTo>
                    <a:pt x="2656344" y="0"/>
                  </a:moveTo>
                  <a:lnTo>
                    <a:pt x="2627388" y="0"/>
                  </a:lnTo>
                  <a:lnTo>
                    <a:pt x="2627388" y="27432"/>
                  </a:lnTo>
                  <a:lnTo>
                    <a:pt x="2656344" y="27432"/>
                  </a:lnTo>
                  <a:lnTo>
                    <a:pt x="2656344" y="0"/>
                  </a:lnTo>
                  <a:close/>
                </a:path>
                <a:path w="3284854" h="27939">
                  <a:moveTo>
                    <a:pt x="2712732" y="0"/>
                  </a:moveTo>
                  <a:lnTo>
                    <a:pt x="2685300" y="0"/>
                  </a:lnTo>
                  <a:lnTo>
                    <a:pt x="2685300" y="27432"/>
                  </a:lnTo>
                  <a:lnTo>
                    <a:pt x="2712732" y="27432"/>
                  </a:lnTo>
                  <a:lnTo>
                    <a:pt x="2712732" y="0"/>
                  </a:lnTo>
                  <a:close/>
                </a:path>
                <a:path w="3284854" h="27939">
                  <a:moveTo>
                    <a:pt x="2770644" y="0"/>
                  </a:moveTo>
                  <a:lnTo>
                    <a:pt x="2741688" y="0"/>
                  </a:lnTo>
                  <a:lnTo>
                    <a:pt x="2741688" y="27432"/>
                  </a:lnTo>
                  <a:lnTo>
                    <a:pt x="2770644" y="27432"/>
                  </a:lnTo>
                  <a:lnTo>
                    <a:pt x="2770644" y="0"/>
                  </a:lnTo>
                  <a:close/>
                </a:path>
                <a:path w="3284854" h="27939">
                  <a:moveTo>
                    <a:pt x="2827032" y="0"/>
                  </a:moveTo>
                  <a:lnTo>
                    <a:pt x="2799600" y="0"/>
                  </a:lnTo>
                  <a:lnTo>
                    <a:pt x="2799600" y="27432"/>
                  </a:lnTo>
                  <a:lnTo>
                    <a:pt x="2827032" y="27432"/>
                  </a:lnTo>
                  <a:lnTo>
                    <a:pt x="2827032" y="0"/>
                  </a:lnTo>
                  <a:close/>
                </a:path>
                <a:path w="3284854" h="27939">
                  <a:moveTo>
                    <a:pt x="2884944" y="0"/>
                  </a:moveTo>
                  <a:lnTo>
                    <a:pt x="2855988" y="0"/>
                  </a:lnTo>
                  <a:lnTo>
                    <a:pt x="2855988" y="27432"/>
                  </a:lnTo>
                  <a:lnTo>
                    <a:pt x="2884944" y="27432"/>
                  </a:lnTo>
                  <a:lnTo>
                    <a:pt x="2884944" y="0"/>
                  </a:lnTo>
                  <a:close/>
                </a:path>
                <a:path w="3284854" h="27939">
                  <a:moveTo>
                    <a:pt x="2941332" y="0"/>
                  </a:moveTo>
                  <a:lnTo>
                    <a:pt x="2913900" y="0"/>
                  </a:lnTo>
                  <a:lnTo>
                    <a:pt x="2913900" y="27432"/>
                  </a:lnTo>
                  <a:lnTo>
                    <a:pt x="2941332" y="27432"/>
                  </a:lnTo>
                  <a:lnTo>
                    <a:pt x="2941332" y="0"/>
                  </a:lnTo>
                  <a:close/>
                </a:path>
                <a:path w="3284854" h="27939">
                  <a:moveTo>
                    <a:pt x="2999244" y="0"/>
                  </a:moveTo>
                  <a:lnTo>
                    <a:pt x="2970288" y="0"/>
                  </a:lnTo>
                  <a:lnTo>
                    <a:pt x="2970288" y="27432"/>
                  </a:lnTo>
                  <a:lnTo>
                    <a:pt x="2999244" y="27432"/>
                  </a:lnTo>
                  <a:lnTo>
                    <a:pt x="2999244" y="0"/>
                  </a:lnTo>
                  <a:close/>
                </a:path>
                <a:path w="3284854" h="27939">
                  <a:moveTo>
                    <a:pt x="3055632" y="0"/>
                  </a:moveTo>
                  <a:lnTo>
                    <a:pt x="3028200" y="0"/>
                  </a:lnTo>
                  <a:lnTo>
                    <a:pt x="3028200" y="27432"/>
                  </a:lnTo>
                  <a:lnTo>
                    <a:pt x="3055632" y="27432"/>
                  </a:lnTo>
                  <a:lnTo>
                    <a:pt x="3055632" y="0"/>
                  </a:lnTo>
                  <a:close/>
                </a:path>
                <a:path w="3284854" h="27939">
                  <a:moveTo>
                    <a:pt x="3113544" y="0"/>
                  </a:moveTo>
                  <a:lnTo>
                    <a:pt x="3084588" y="0"/>
                  </a:lnTo>
                  <a:lnTo>
                    <a:pt x="3084588" y="27432"/>
                  </a:lnTo>
                  <a:lnTo>
                    <a:pt x="3113544" y="27432"/>
                  </a:lnTo>
                  <a:lnTo>
                    <a:pt x="3113544" y="0"/>
                  </a:lnTo>
                  <a:close/>
                </a:path>
                <a:path w="3284854" h="27939">
                  <a:moveTo>
                    <a:pt x="3169932" y="0"/>
                  </a:moveTo>
                  <a:lnTo>
                    <a:pt x="3142500" y="0"/>
                  </a:lnTo>
                  <a:lnTo>
                    <a:pt x="3142500" y="27432"/>
                  </a:lnTo>
                  <a:lnTo>
                    <a:pt x="3169932" y="27432"/>
                  </a:lnTo>
                  <a:lnTo>
                    <a:pt x="3169932" y="0"/>
                  </a:lnTo>
                  <a:close/>
                </a:path>
                <a:path w="3284854" h="27939">
                  <a:moveTo>
                    <a:pt x="3227844" y="0"/>
                  </a:moveTo>
                  <a:lnTo>
                    <a:pt x="3198888" y="0"/>
                  </a:lnTo>
                  <a:lnTo>
                    <a:pt x="3198888" y="27432"/>
                  </a:lnTo>
                  <a:lnTo>
                    <a:pt x="3227844" y="27432"/>
                  </a:lnTo>
                  <a:lnTo>
                    <a:pt x="3227844" y="0"/>
                  </a:lnTo>
                  <a:close/>
                </a:path>
                <a:path w="3284854" h="27939">
                  <a:moveTo>
                    <a:pt x="3284232" y="0"/>
                  </a:moveTo>
                  <a:lnTo>
                    <a:pt x="3256800" y="0"/>
                  </a:lnTo>
                  <a:lnTo>
                    <a:pt x="3256800" y="27432"/>
                  </a:lnTo>
                  <a:lnTo>
                    <a:pt x="3284232" y="27432"/>
                  </a:lnTo>
                  <a:lnTo>
                    <a:pt x="3284232" y="0"/>
                  </a:lnTo>
                  <a:close/>
                </a:path>
              </a:pathLst>
            </a:custGeom>
            <a:solidFill>
              <a:srgbClr val="7E7E7E"/>
            </a:solidFill>
          </p:spPr>
          <p:txBody>
            <a:bodyPr wrap="square" lIns="0" tIns="0" rIns="0" bIns="0" rtlCol="0"/>
            <a:lstStyle/>
            <a:p>
              <a:endParaRPr/>
            </a:p>
          </p:txBody>
        </p:sp>
      </p:grpSp>
      <p:sp>
        <p:nvSpPr>
          <p:cNvPr id="23" name="object 23"/>
          <p:cNvSpPr txBox="1"/>
          <p:nvPr/>
        </p:nvSpPr>
        <p:spPr>
          <a:xfrm>
            <a:off x="2621787" y="1491319"/>
            <a:ext cx="42164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Verdana"/>
                <a:cs typeface="Verdana"/>
              </a:rPr>
              <a:t>TX</a:t>
            </a:r>
            <a:endParaRPr sz="2400">
              <a:latin typeface="Verdana"/>
              <a:cs typeface="Verdana"/>
            </a:endParaRPr>
          </a:p>
        </p:txBody>
      </p:sp>
      <p:sp>
        <p:nvSpPr>
          <p:cNvPr id="24" name="object 24"/>
          <p:cNvSpPr txBox="1"/>
          <p:nvPr/>
        </p:nvSpPr>
        <p:spPr>
          <a:xfrm>
            <a:off x="9121631" y="1491319"/>
            <a:ext cx="4457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Verdana"/>
                <a:cs typeface="Verdana"/>
              </a:rPr>
              <a:t>RX</a:t>
            </a:r>
            <a:endParaRPr sz="2400">
              <a:latin typeface="Verdana"/>
              <a:cs typeface="Verdana"/>
            </a:endParaRPr>
          </a:p>
        </p:txBody>
      </p:sp>
      <p:sp>
        <p:nvSpPr>
          <p:cNvPr id="25" name="object 25"/>
          <p:cNvSpPr txBox="1"/>
          <p:nvPr/>
        </p:nvSpPr>
        <p:spPr>
          <a:xfrm>
            <a:off x="285621" y="2770208"/>
            <a:ext cx="747395" cy="756920"/>
          </a:xfrm>
          <a:prstGeom prst="rect">
            <a:avLst/>
          </a:prstGeom>
        </p:spPr>
        <p:txBody>
          <a:bodyPr vert="horz" wrap="square" lIns="0" tIns="12700" rIns="0" bIns="0" rtlCol="0">
            <a:spAutoFit/>
          </a:bodyPr>
          <a:lstStyle/>
          <a:p>
            <a:pPr marL="212090" marR="5080" indent="-200025">
              <a:lnSpc>
                <a:spcPct val="100000"/>
              </a:lnSpc>
              <a:spcBef>
                <a:spcPts val="100"/>
              </a:spcBef>
            </a:pPr>
            <a:r>
              <a:rPr sz="2400" dirty="0">
                <a:latin typeface="Verdana"/>
                <a:cs typeface="Verdana"/>
              </a:rPr>
              <a:t>Data  </a:t>
            </a:r>
            <a:r>
              <a:rPr sz="2400" spc="-5" dirty="0">
                <a:latin typeface="Verdana"/>
                <a:cs typeface="Verdana"/>
              </a:rPr>
              <a:t>In</a:t>
            </a:r>
            <a:endParaRPr sz="2400" dirty="0">
              <a:latin typeface="Verdana"/>
              <a:cs typeface="Verdana"/>
            </a:endParaRPr>
          </a:p>
        </p:txBody>
      </p:sp>
      <p:sp>
        <p:nvSpPr>
          <p:cNvPr id="26" name="object 26"/>
          <p:cNvSpPr txBox="1"/>
          <p:nvPr/>
        </p:nvSpPr>
        <p:spPr>
          <a:xfrm>
            <a:off x="10985500" y="2811102"/>
            <a:ext cx="1206500" cy="391160"/>
          </a:xfrm>
          <a:prstGeom prst="rect">
            <a:avLst/>
          </a:prstGeom>
        </p:spPr>
        <p:txBody>
          <a:bodyPr vert="horz" wrap="square" lIns="0" tIns="12700" rIns="0" bIns="0" rtlCol="0">
            <a:spAutoFit/>
          </a:bodyPr>
          <a:lstStyle/>
          <a:p>
            <a:pPr marL="12700">
              <a:lnSpc>
                <a:spcPct val="100000"/>
              </a:lnSpc>
              <a:spcBef>
                <a:spcPts val="100"/>
              </a:spcBef>
              <a:tabLst>
                <a:tab pos="382270" algn="l"/>
              </a:tabLst>
            </a:pPr>
            <a:r>
              <a:rPr sz="2400" u="heavy" dirty="0">
                <a:uFill>
                  <a:solidFill>
                    <a:srgbClr val="000000"/>
                  </a:solidFill>
                </a:uFill>
                <a:latin typeface="Verdana"/>
                <a:cs typeface="Verdana"/>
              </a:rPr>
              <a:t> 	</a:t>
            </a:r>
            <a:r>
              <a:rPr sz="2400" spc="-150" dirty="0">
                <a:latin typeface="Verdana"/>
                <a:cs typeface="Verdana"/>
              </a:rPr>
              <a:t> </a:t>
            </a:r>
            <a:r>
              <a:rPr sz="2400" dirty="0">
                <a:latin typeface="Verdana"/>
                <a:cs typeface="Verdana"/>
              </a:rPr>
              <a:t>Data</a:t>
            </a:r>
            <a:endParaRPr sz="2400">
              <a:latin typeface="Verdana"/>
              <a:cs typeface="Verdana"/>
            </a:endParaRPr>
          </a:p>
        </p:txBody>
      </p:sp>
      <p:sp>
        <p:nvSpPr>
          <p:cNvPr id="27" name="object 27"/>
          <p:cNvSpPr txBox="1"/>
          <p:nvPr/>
        </p:nvSpPr>
        <p:spPr>
          <a:xfrm>
            <a:off x="10985500" y="3176863"/>
            <a:ext cx="1121410" cy="391160"/>
          </a:xfrm>
          <a:prstGeom prst="rect">
            <a:avLst/>
          </a:prstGeom>
        </p:spPr>
        <p:txBody>
          <a:bodyPr vert="horz" wrap="square" lIns="0" tIns="12700" rIns="0" bIns="0" rtlCol="0">
            <a:spAutoFit/>
          </a:bodyPr>
          <a:lstStyle/>
          <a:p>
            <a:pPr marL="12700">
              <a:lnSpc>
                <a:spcPct val="100000"/>
              </a:lnSpc>
              <a:spcBef>
                <a:spcPts val="100"/>
              </a:spcBef>
              <a:tabLst>
                <a:tab pos="382270" algn="l"/>
                <a:tab pos="554990" algn="l"/>
              </a:tabLst>
            </a:pPr>
            <a:r>
              <a:rPr sz="2400" u="heavy" dirty="0">
                <a:uFill>
                  <a:solidFill>
                    <a:srgbClr val="000000"/>
                  </a:solidFill>
                </a:uFill>
                <a:latin typeface="Verdana"/>
                <a:cs typeface="Verdana"/>
              </a:rPr>
              <a:t> 	</a:t>
            </a:r>
            <a:r>
              <a:rPr sz="2400" dirty="0">
                <a:latin typeface="Verdana"/>
                <a:cs typeface="Verdana"/>
              </a:rPr>
              <a:t>	Out</a:t>
            </a:r>
            <a:endParaRPr sz="2400">
              <a:latin typeface="Verdana"/>
              <a:cs typeface="Verdana"/>
            </a:endParaRPr>
          </a:p>
        </p:txBody>
      </p:sp>
      <p:sp>
        <p:nvSpPr>
          <p:cNvPr id="28" name="object 28"/>
          <p:cNvSpPr/>
          <p:nvPr/>
        </p:nvSpPr>
        <p:spPr>
          <a:xfrm>
            <a:off x="4681220" y="4737946"/>
            <a:ext cx="1423670" cy="1039494"/>
          </a:xfrm>
          <a:custGeom>
            <a:avLst/>
            <a:gdLst/>
            <a:ahLst/>
            <a:cxnLst/>
            <a:rect l="l" t="t" r="r" b="b"/>
            <a:pathLst>
              <a:path w="1423670" h="1039495">
                <a:moveTo>
                  <a:pt x="1423416" y="1033272"/>
                </a:moveTo>
                <a:lnTo>
                  <a:pt x="1423416" y="7620"/>
                </a:lnTo>
                <a:lnTo>
                  <a:pt x="1417320" y="0"/>
                </a:lnTo>
                <a:lnTo>
                  <a:pt x="6095" y="0"/>
                </a:lnTo>
                <a:lnTo>
                  <a:pt x="0" y="7620"/>
                </a:lnTo>
                <a:lnTo>
                  <a:pt x="0" y="1033272"/>
                </a:lnTo>
                <a:lnTo>
                  <a:pt x="6096" y="1039368"/>
                </a:lnTo>
                <a:lnTo>
                  <a:pt x="13716" y="1039368"/>
                </a:lnTo>
                <a:lnTo>
                  <a:pt x="13716" y="28956"/>
                </a:lnTo>
                <a:lnTo>
                  <a:pt x="28955" y="15240"/>
                </a:lnTo>
                <a:lnTo>
                  <a:pt x="28955" y="28956"/>
                </a:lnTo>
                <a:lnTo>
                  <a:pt x="1394460" y="28956"/>
                </a:lnTo>
                <a:lnTo>
                  <a:pt x="1394460" y="15240"/>
                </a:lnTo>
                <a:lnTo>
                  <a:pt x="1408176" y="28956"/>
                </a:lnTo>
                <a:lnTo>
                  <a:pt x="1408176" y="1039368"/>
                </a:lnTo>
                <a:lnTo>
                  <a:pt x="1417320" y="1039368"/>
                </a:lnTo>
                <a:lnTo>
                  <a:pt x="1423416" y="1033272"/>
                </a:lnTo>
                <a:close/>
              </a:path>
              <a:path w="1423670" h="1039495">
                <a:moveTo>
                  <a:pt x="28955" y="28956"/>
                </a:moveTo>
                <a:lnTo>
                  <a:pt x="28955" y="15240"/>
                </a:lnTo>
                <a:lnTo>
                  <a:pt x="13716" y="28956"/>
                </a:lnTo>
                <a:lnTo>
                  <a:pt x="28955" y="28956"/>
                </a:lnTo>
                <a:close/>
              </a:path>
              <a:path w="1423670" h="1039495">
                <a:moveTo>
                  <a:pt x="28955" y="1010412"/>
                </a:moveTo>
                <a:lnTo>
                  <a:pt x="28955" y="28956"/>
                </a:lnTo>
                <a:lnTo>
                  <a:pt x="13716" y="28956"/>
                </a:lnTo>
                <a:lnTo>
                  <a:pt x="13716" y="1010412"/>
                </a:lnTo>
                <a:lnTo>
                  <a:pt x="28955" y="1010412"/>
                </a:lnTo>
                <a:close/>
              </a:path>
              <a:path w="1423670" h="1039495">
                <a:moveTo>
                  <a:pt x="1408176" y="1010412"/>
                </a:moveTo>
                <a:lnTo>
                  <a:pt x="13716" y="1010412"/>
                </a:lnTo>
                <a:lnTo>
                  <a:pt x="28955" y="1024128"/>
                </a:lnTo>
                <a:lnTo>
                  <a:pt x="28955" y="1039368"/>
                </a:lnTo>
                <a:lnTo>
                  <a:pt x="1394460" y="1039368"/>
                </a:lnTo>
                <a:lnTo>
                  <a:pt x="1394460" y="1024128"/>
                </a:lnTo>
                <a:lnTo>
                  <a:pt x="1408176" y="1010412"/>
                </a:lnTo>
                <a:close/>
              </a:path>
              <a:path w="1423670" h="1039495">
                <a:moveTo>
                  <a:pt x="28955" y="1039368"/>
                </a:moveTo>
                <a:lnTo>
                  <a:pt x="28955" y="1024128"/>
                </a:lnTo>
                <a:lnTo>
                  <a:pt x="13716" y="1010412"/>
                </a:lnTo>
                <a:lnTo>
                  <a:pt x="13716" y="1039368"/>
                </a:lnTo>
                <a:lnTo>
                  <a:pt x="28955" y="1039368"/>
                </a:lnTo>
                <a:close/>
              </a:path>
              <a:path w="1423670" h="1039495">
                <a:moveTo>
                  <a:pt x="1408176" y="28956"/>
                </a:moveTo>
                <a:lnTo>
                  <a:pt x="1394460" y="15240"/>
                </a:lnTo>
                <a:lnTo>
                  <a:pt x="1394460" y="28956"/>
                </a:lnTo>
                <a:lnTo>
                  <a:pt x="1408176" y="28956"/>
                </a:lnTo>
                <a:close/>
              </a:path>
              <a:path w="1423670" h="1039495">
                <a:moveTo>
                  <a:pt x="1408176" y="1010412"/>
                </a:moveTo>
                <a:lnTo>
                  <a:pt x="1408176" y="28956"/>
                </a:lnTo>
                <a:lnTo>
                  <a:pt x="1394460" y="28956"/>
                </a:lnTo>
                <a:lnTo>
                  <a:pt x="1394460" y="1010412"/>
                </a:lnTo>
                <a:lnTo>
                  <a:pt x="1408176" y="1010412"/>
                </a:lnTo>
                <a:close/>
              </a:path>
              <a:path w="1423670" h="1039495">
                <a:moveTo>
                  <a:pt x="1408176" y="1039368"/>
                </a:moveTo>
                <a:lnTo>
                  <a:pt x="1408176" y="1010412"/>
                </a:lnTo>
                <a:lnTo>
                  <a:pt x="1394460" y="1024128"/>
                </a:lnTo>
                <a:lnTo>
                  <a:pt x="1394460" y="1039368"/>
                </a:lnTo>
                <a:lnTo>
                  <a:pt x="1408176" y="1039368"/>
                </a:lnTo>
                <a:close/>
              </a:path>
            </a:pathLst>
          </a:custGeom>
          <a:solidFill>
            <a:srgbClr val="000000"/>
          </a:solidFill>
        </p:spPr>
        <p:txBody>
          <a:bodyPr wrap="square" lIns="0" tIns="0" rIns="0" bIns="0" rtlCol="0"/>
          <a:lstStyle/>
          <a:p>
            <a:endParaRPr/>
          </a:p>
        </p:txBody>
      </p:sp>
      <p:sp>
        <p:nvSpPr>
          <p:cNvPr id="29" name="object 29"/>
          <p:cNvSpPr txBox="1"/>
          <p:nvPr/>
        </p:nvSpPr>
        <p:spPr>
          <a:xfrm>
            <a:off x="4798059" y="4799922"/>
            <a:ext cx="1185545" cy="879475"/>
          </a:xfrm>
          <a:prstGeom prst="rect">
            <a:avLst/>
          </a:prstGeom>
        </p:spPr>
        <p:txBody>
          <a:bodyPr vert="horz" wrap="square" lIns="0" tIns="47625" rIns="0" bIns="0" rtlCol="0">
            <a:spAutoFit/>
          </a:bodyPr>
          <a:lstStyle/>
          <a:p>
            <a:pPr marL="100965" marR="5080" indent="-88900">
              <a:lnSpc>
                <a:spcPts val="2160"/>
              </a:lnSpc>
              <a:spcBef>
                <a:spcPts val="375"/>
              </a:spcBef>
            </a:pPr>
            <a:r>
              <a:rPr sz="2000" spc="-5" dirty="0">
                <a:latin typeface="Verdana"/>
                <a:cs typeface="Verdana"/>
              </a:rPr>
              <a:t>Freq</a:t>
            </a:r>
            <a:r>
              <a:rPr sz="2000" spc="-85" dirty="0">
                <a:latin typeface="Verdana"/>
                <a:cs typeface="Verdana"/>
              </a:rPr>
              <a:t> </a:t>
            </a:r>
            <a:r>
              <a:rPr sz="2000" spc="-10" dirty="0">
                <a:latin typeface="Verdana"/>
                <a:cs typeface="Verdana"/>
              </a:rPr>
              <a:t>Gen </a:t>
            </a:r>
            <a:r>
              <a:rPr sz="2000" spc="-690" dirty="0">
                <a:latin typeface="Verdana"/>
                <a:cs typeface="Verdana"/>
              </a:rPr>
              <a:t> </a:t>
            </a:r>
            <a:r>
              <a:rPr sz="2000" dirty="0">
                <a:latin typeface="Verdana"/>
                <a:cs typeface="Verdana"/>
              </a:rPr>
              <a:t>(PLL w/ </a:t>
            </a:r>
            <a:r>
              <a:rPr sz="2000" spc="5" dirty="0">
                <a:latin typeface="Verdana"/>
                <a:cs typeface="Verdana"/>
              </a:rPr>
              <a:t> </a:t>
            </a:r>
            <a:r>
              <a:rPr sz="2000" spc="-5" dirty="0">
                <a:latin typeface="Verdana"/>
                <a:cs typeface="Verdana"/>
              </a:rPr>
              <a:t>LCVCO)</a:t>
            </a:r>
            <a:endParaRPr sz="2000">
              <a:latin typeface="Verdana"/>
              <a:cs typeface="Verdana"/>
            </a:endParaRPr>
          </a:p>
        </p:txBody>
      </p:sp>
      <p:sp>
        <p:nvSpPr>
          <p:cNvPr id="30" name="object 30"/>
          <p:cNvSpPr/>
          <p:nvPr/>
        </p:nvSpPr>
        <p:spPr>
          <a:xfrm>
            <a:off x="1621028" y="4212167"/>
            <a:ext cx="6914515" cy="774700"/>
          </a:xfrm>
          <a:custGeom>
            <a:avLst/>
            <a:gdLst/>
            <a:ahLst/>
            <a:cxnLst/>
            <a:rect l="l" t="t" r="r" b="b"/>
            <a:pathLst>
              <a:path w="6914515" h="774700">
                <a:moveTo>
                  <a:pt x="6914388" y="146304"/>
                </a:moveTo>
                <a:lnTo>
                  <a:pt x="6829044" y="103632"/>
                </a:lnTo>
                <a:lnTo>
                  <a:pt x="6829044" y="132588"/>
                </a:lnTo>
                <a:lnTo>
                  <a:pt x="2209800" y="132588"/>
                </a:lnTo>
                <a:lnTo>
                  <a:pt x="2209800" y="103632"/>
                </a:lnTo>
                <a:lnTo>
                  <a:pt x="2138172" y="139446"/>
                </a:lnTo>
                <a:lnTo>
                  <a:pt x="2138172" y="6096"/>
                </a:lnTo>
                <a:lnTo>
                  <a:pt x="2132076" y="0"/>
                </a:lnTo>
                <a:lnTo>
                  <a:pt x="2109216" y="0"/>
                </a:lnTo>
                <a:lnTo>
                  <a:pt x="2109216" y="27432"/>
                </a:lnTo>
                <a:lnTo>
                  <a:pt x="2109216" y="745236"/>
                </a:lnTo>
                <a:lnTo>
                  <a:pt x="28956" y="745236"/>
                </a:lnTo>
                <a:lnTo>
                  <a:pt x="28956" y="27432"/>
                </a:lnTo>
                <a:lnTo>
                  <a:pt x="2109216" y="27432"/>
                </a:lnTo>
                <a:lnTo>
                  <a:pt x="2109216" y="0"/>
                </a:lnTo>
                <a:lnTo>
                  <a:pt x="6096" y="0"/>
                </a:lnTo>
                <a:lnTo>
                  <a:pt x="0" y="6096"/>
                </a:lnTo>
                <a:lnTo>
                  <a:pt x="0" y="768096"/>
                </a:lnTo>
                <a:lnTo>
                  <a:pt x="6096" y="774192"/>
                </a:lnTo>
                <a:lnTo>
                  <a:pt x="15240" y="774192"/>
                </a:lnTo>
                <a:lnTo>
                  <a:pt x="28956" y="774192"/>
                </a:lnTo>
                <a:lnTo>
                  <a:pt x="2109216" y="774192"/>
                </a:lnTo>
                <a:lnTo>
                  <a:pt x="2124456" y="774192"/>
                </a:lnTo>
                <a:lnTo>
                  <a:pt x="2132076" y="774192"/>
                </a:lnTo>
                <a:lnTo>
                  <a:pt x="2138172" y="768096"/>
                </a:lnTo>
                <a:lnTo>
                  <a:pt x="2138172" y="153162"/>
                </a:lnTo>
                <a:lnTo>
                  <a:pt x="2196084" y="182118"/>
                </a:lnTo>
                <a:lnTo>
                  <a:pt x="2209800" y="188976"/>
                </a:lnTo>
                <a:lnTo>
                  <a:pt x="2209800" y="161544"/>
                </a:lnTo>
                <a:lnTo>
                  <a:pt x="3756660" y="161544"/>
                </a:lnTo>
                <a:lnTo>
                  <a:pt x="3756660" y="541020"/>
                </a:lnTo>
                <a:lnTo>
                  <a:pt x="3785603" y="541020"/>
                </a:lnTo>
                <a:lnTo>
                  <a:pt x="3785603" y="161544"/>
                </a:lnTo>
                <a:lnTo>
                  <a:pt x="6829044" y="161544"/>
                </a:lnTo>
                <a:lnTo>
                  <a:pt x="6829044" y="188976"/>
                </a:lnTo>
                <a:lnTo>
                  <a:pt x="6842760" y="182118"/>
                </a:lnTo>
                <a:lnTo>
                  <a:pt x="6914388" y="146304"/>
                </a:lnTo>
                <a:close/>
              </a:path>
            </a:pathLst>
          </a:custGeom>
          <a:solidFill>
            <a:srgbClr val="000000"/>
          </a:solidFill>
        </p:spPr>
        <p:txBody>
          <a:bodyPr wrap="square" lIns="0" tIns="0" rIns="0" bIns="0" rtlCol="0"/>
          <a:lstStyle/>
          <a:p>
            <a:endParaRPr/>
          </a:p>
        </p:txBody>
      </p:sp>
      <p:sp>
        <p:nvSpPr>
          <p:cNvPr id="31" name="object 31"/>
          <p:cNvSpPr txBox="1"/>
          <p:nvPr/>
        </p:nvSpPr>
        <p:spPr>
          <a:xfrm>
            <a:off x="1847599" y="4216831"/>
            <a:ext cx="1685925" cy="696595"/>
          </a:xfrm>
          <a:prstGeom prst="rect">
            <a:avLst/>
          </a:prstGeom>
        </p:spPr>
        <p:txBody>
          <a:bodyPr vert="horz" wrap="square" lIns="0" tIns="12700" rIns="0" bIns="0" rtlCol="0">
            <a:spAutoFit/>
          </a:bodyPr>
          <a:lstStyle/>
          <a:p>
            <a:pPr marL="12700" marR="5080" indent="188595">
              <a:lnSpc>
                <a:spcPct val="110000"/>
              </a:lnSpc>
              <a:spcBef>
                <a:spcPts val="100"/>
              </a:spcBef>
            </a:pPr>
            <a:r>
              <a:rPr sz="2000" spc="-5" dirty="0">
                <a:latin typeface="Verdana"/>
                <a:cs typeface="Verdana"/>
              </a:rPr>
              <a:t>Clock Gen </a:t>
            </a:r>
            <a:r>
              <a:rPr sz="2000" dirty="0">
                <a:latin typeface="Verdana"/>
                <a:cs typeface="Verdana"/>
              </a:rPr>
              <a:t> </a:t>
            </a:r>
            <a:r>
              <a:rPr sz="2000" spc="-5" dirty="0">
                <a:latin typeface="Verdana"/>
                <a:cs typeface="Verdana"/>
              </a:rPr>
              <a:t>(BUFs,</a:t>
            </a:r>
            <a:r>
              <a:rPr sz="2000" spc="-80" dirty="0">
                <a:latin typeface="Verdana"/>
                <a:cs typeface="Verdana"/>
              </a:rPr>
              <a:t> </a:t>
            </a:r>
            <a:r>
              <a:rPr sz="2000" spc="-5" dirty="0">
                <a:latin typeface="Verdana"/>
                <a:cs typeface="Verdana"/>
              </a:rPr>
              <a:t>DIVs)</a:t>
            </a:r>
            <a:endParaRPr sz="2000" dirty="0">
              <a:latin typeface="Verdana"/>
              <a:cs typeface="Verdana"/>
            </a:endParaRPr>
          </a:p>
        </p:txBody>
      </p:sp>
      <p:grpSp>
        <p:nvGrpSpPr>
          <p:cNvPr id="32" name="object 32"/>
          <p:cNvGrpSpPr/>
          <p:nvPr/>
        </p:nvGrpSpPr>
        <p:grpSpPr>
          <a:xfrm>
            <a:off x="1745996" y="2803990"/>
            <a:ext cx="8930640" cy="1569720"/>
            <a:chOff x="1661160" y="2820923"/>
            <a:chExt cx="8930640" cy="1569720"/>
          </a:xfrm>
        </p:grpSpPr>
        <p:sp>
          <p:nvSpPr>
            <p:cNvPr id="33" name="object 33"/>
            <p:cNvSpPr/>
            <p:nvPr/>
          </p:nvSpPr>
          <p:spPr>
            <a:xfrm>
              <a:off x="1661160" y="3200399"/>
              <a:ext cx="8930640" cy="1190625"/>
            </a:xfrm>
            <a:custGeom>
              <a:avLst/>
              <a:gdLst/>
              <a:ahLst/>
              <a:cxnLst/>
              <a:rect l="l" t="t" r="r" b="b"/>
              <a:pathLst>
                <a:path w="8930640" h="1190625">
                  <a:moveTo>
                    <a:pt x="86868" y="786384"/>
                  </a:moveTo>
                  <a:lnTo>
                    <a:pt x="44196" y="699516"/>
                  </a:lnTo>
                  <a:lnTo>
                    <a:pt x="0" y="786384"/>
                  </a:lnTo>
                  <a:lnTo>
                    <a:pt x="28956" y="786384"/>
                  </a:lnTo>
                  <a:lnTo>
                    <a:pt x="28956" y="1042416"/>
                  </a:lnTo>
                  <a:lnTo>
                    <a:pt x="57912" y="1042416"/>
                  </a:lnTo>
                  <a:lnTo>
                    <a:pt x="57912" y="786384"/>
                  </a:lnTo>
                  <a:lnTo>
                    <a:pt x="86868" y="786384"/>
                  </a:lnTo>
                  <a:close/>
                </a:path>
                <a:path w="8930640" h="1190625">
                  <a:moveTo>
                    <a:pt x="1776984" y="342900"/>
                  </a:moveTo>
                  <a:lnTo>
                    <a:pt x="1734312" y="256032"/>
                  </a:lnTo>
                  <a:lnTo>
                    <a:pt x="1691640" y="342900"/>
                  </a:lnTo>
                  <a:lnTo>
                    <a:pt x="1720596" y="342900"/>
                  </a:lnTo>
                  <a:lnTo>
                    <a:pt x="1720596" y="1042416"/>
                  </a:lnTo>
                  <a:lnTo>
                    <a:pt x="1748028" y="1042416"/>
                  </a:lnTo>
                  <a:lnTo>
                    <a:pt x="1748028" y="342900"/>
                  </a:lnTo>
                  <a:lnTo>
                    <a:pt x="1776984" y="342900"/>
                  </a:lnTo>
                  <a:close/>
                </a:path>
                <a:path w="8930640" h="1190625">
                  <a:moveTo>
                    <a:pt x="8401812" y="0"/>
                  </a:moveTo>
                  <a:lnTo>
                    <a:pt x="8374380" y="0"/>
                  </a:lnTo>
                  <a:lnTo>
                    <a:pt x="8374380" y="961644"/>
                  </a:lnTo>
                  <a:lnTo>
                    <a:pt x="8401812" y="961644"/>
                  </a:lnTo>
                  <a:lnTo>
                    <a:pt x="8401812" y="0"/>
                  </a:lnTo>
                  <a:close/>
                </a:path>
                <a:path w="8930640" h="1190625">
                  <a:moveTo>
                    <a:pt x="8930640" y="786384"/>
                  </a:moveTo>
                  <a:lnTo>
                    <a:pt x="8887968" y="699516"/>
                  </a:lnTo>
                  <a:lnTo>
                    <a:pt x="8843772" y="786384"/>
                  </a:lnTo>
                  <a:lnTo>
                    <a:pt x="8872728" y="786384"/>
                  </a:lnTo>
                  <a:lnTo>
                    <a:pt x="8872728" y="1161288"/>
                  </a:lnTo>
                  <a:lnTo>
                    <a:pt x="8157972" y="1161288"/>
                  </a:lnTo>
                  <a:lnTo>
                    <a:pt x="8157972" y="1190244"/>
                  </a:lnTo>
                  <a:lnTo>
                    <a:pt x="8887968" y="1190244"/>
                  </a:lnTo>
                  <a:lnTo>
                    <a:pt x="8887968" y="1184148"/>
                  </a:lnTo>
                  <a:lnTo>
                    <a:pt x="8901684" y="1184148"/>
                  </a:lnTo>
                  <a:lnTo>
                    <a:pt x="8901684" y="786384"/>
                  </a:lnTo>
                  <a:lnTo>
                    <a:pt x="8930640" y="786384"/>
                  </a:lnTo>
                  <a:close/>
                </a:path>
              </a:pathLst>
            </a:custGeom>
            <a:solidFill>
              <a:srgbClr val="000000"/>
            </a:solidFill>
          </p:spPr>
          <p:txBody>
            <a:bodyPr wrap="square" lIns="0" tIns="0" rIns="0" bIns="0" rtlCol="0"/>
            <a:lstStyle/>
            <a:p>
              <a:endParaRPr/>
            </a:p>
          </p:txBody>
        </p:sp>
        <p:sp>
          <p:nvSpPr>
            <p:cNvPr id="34" name="object 34"/>
            <p:cNvSpPr/>
            <p:nvPr/>
          </p:nvSpPr>
          <p:spPr>
            <a:xfrm>
              <a:off x="2225040" y="2834639"/>
              <a:ext cx="675640" cy="731520"/>
            </a:xfrm>
            <a:custGeom>
              <a:avLst/>
              <a:gdLst/>
              <a:ahLst/>
              <a:cxnLst/>
              <a:rect l="l" t="t" r="r" b="b"/>
              <a:pathLst>
                <a:path w="675639" h="731520">
                  <a:moveTo>
                    <a:pt x="675132" y="731520"/>
                  </a:moveTo>
                  <a:lnTo>
                    <a:pt x="675132" y="0"/>
                  </a:lnTo>
                  <a:lnTo>
                    <a:pt x="0" y="0"/>
                  </a:lnTo>
                  <a:lnTo>
                    <a:pt x="0" y="731520"/>
                  </a:lnTo>
                  <a:lnTo>
                    <a:pt x="675132" y="731520"/>
                  </a:lnTo>
                  <a:close/>
                </a:path>
              </a:pathLst>
            </a:custGeom>
            <a:solidFill>
              <a:srgbClr val="FFFFFF"/>
            </a:solidFill>
          </p:spPr>
          <p:txBody>
            <a:bodyPr wrap="square" lIns="0" tIns="0" rIns="0" bIns="0" rtlCol="0"/>
            <a:lstStyle/>
            <a:p>
              <a:endParaRPr dirty="0"/>
            </a:p>
          </p:txBody>
        </p:sp>
        <p:sp>
          <p:nvSpPr>
            <p:cNvPr id="35" name="object 35"/>
            <p:cNvSpPr/>
            <p:nvPr/>
          </p:nvSpPr>
          <p:spPr>
            <a:xfrm>
              <a:off x="2211324" y="2820923"/>
              <a:ext cx="704215" cy="760730"/>
            </a:xfrm>
            <a:custGeom>
              <a:avLst/>
              <a:gdLst/>
              <a:ahLst/>
              <a:cxnLst/>
              <a:rect l="l" t="t" r="r" b="b"/>
              <a:pathLst>
                <a:path w="704214" h="760729">
                  <a:moveTo>
                    <a:pt x="704088" y="752855"/>
                  </a:moveTo>
                  <a:lnTo>
                    <a:pt x="704088" y="6095"/>
                  </a:lnTo>
                  <a:lnTo>
                    <a:pt x="696468" y="0"/>
                  </a:lnTo>
                  <a:lnTo>
                    <a:pt x="6095" y="0"/>
                  </a:lnTo>
                  <a:lnTo>
                    <a:pt x="0" y="6095"/>
                  </a:lnTo>
                  <a:lnTo>
                    <a:pt x="0" y="752855"/>
                  </a:lnTo>
                  <a:lnTo>
                    <a:pt x="6096" y="760475"/>
                  </a:lnTo>
                  <a:lnTo>
                    <a:pt x="13716" y="760475"/>
                  </a:lnTo>
                  <a:lnTo>
                    <a:pt x="13716" y="28955"/>
                  </a:lnTo>
                  <a:lnTo>
                    <a:pt x="28956" y="13715"/>
                  </a:lnTo>
                  <a:lnTo>
                    <a:pt x="28956" y="28955"/>
                  </a:lnTo>
                  <a:lnTo>
                    <a:pt x="675132" y="28955"/>
                  </a:lnTo>
                  <a:lnTo>
                    <a:pt x="675132" y="13715"/>
                  </a:lnTo>
                  <a:lnTo>
                    <a:pt x="688848" y="28955"/>
                  </a:lnTo>
                  <a:lnTo>
                    <a:pt x="688848" y="760475"/>
                  </a:lnTo>
                  <a:lnTo>
                    <a:pt x="696468" y="760475"/>
                  </a:lnTo>
                  <a:lnTo>
                    <a:pt x="704088" y="752855"/>
                  </a:lnTo>
                  <a:close/>
                </a:path>
                <a:path w="704214" h="760729">
                  <a:moveTo>
                    <a:pt x="28956" y="28955"/>
                  </a:moveTo>
                  <a:lnTo>
                    <a:pt x="28956" y="13715"/>
                  </a:lnTo>
                  <a:lnTo>
                    <a:pt x="13716" y="28955"/>
                  </a:lnTo>
                  <a:lnTo>
                    <a:pt x="28956" y="28955"/>
                  </a:lnTo>
                  <a:close/>
                </a:path>
                <a:path w="704214" h="760729">
                  <a:moveTo>
                    <a:pt x="28956" y="731519"/>
                  </a:moveTo>
                  <a:lnTo>
                    <a:pt x="28956" y="28955"/>
                  </a:lnTo>
                  <a:lnTo>
                    <a:pt x="13716" y="28955"/>
                  </a:lnTo>
                  <a:lnTo>
                    <a:pt x="13716" y="731519"/>
                  </a:lnTo>
                  <a:lnTo>
                    <a:pt x="28956" y="731519"/>
                  </a:lnTo>
                  <a:close/>
                </a:path>
                <a:path w="704214" h="760729">
                  <a:moveTo>
                    <a:pt x="688848" y="731519"/>
                  </a:moveTo>
                  <a:lnTo>
                    <a:pt x="13716" y="731519"/>
                  </a:lnTo>
                  <a:lnTo>
                    <a:pt x="28956" y="745235"/>
                  </a:lnTo>
                  <a:lnTo>
                    <a:pt x="28956" y="760475"/>
                  </a:lnTo>
                  <a:lnTo>
                    <a:pt x="675132" y="760475"/>
                  </a:lnTo>
                  <a:lnTo>
                    <a:pt x="675132" y="745235"/>
                  </a:lnTo>
                  <a:lnTo>
                    <a:pt x="688848" y="731519"/>
                  </a:lnTo>
                  <a:close/>
                </a:path>
                <a:path w="704214" h="760729">
                  <a:moveTo>
                    <a:pt x="28956" y="760475"/>
                  </a:moveTo>
                  <a:lnTo>
                    <a:pt x="28956" y="745235"/>
                  </a:lnTo>
                  <a:lnTo>
                    <a:pt x="13716" y="731519"/>
                  </a:lnTo>
                  <a:lnTo>
                    <a:pt x="13716" y="760475"/>
                  </a:lnTo>
                  <a:lnTo>
                    <a:pt x="28956" y="760475"/>
                  </a:lnTo>
                  <a:close/>
                </a:path>
                <a:path w="704214" h="760729">
                  <a:moveTo>
                    <a:pt x="688848" y="28955"/>
                  </a:moveTo>
                  <a:lnTo>
                    <a:pt x="675132" y="13715"/>
                  </a:lnTo>
                  <a:lnTo>
                    <a:pt x="675132" y="28955"/>
                  </a:lnTo>
                  <a:lnTo>
                    <a:pt x="688848" y="28955"/>
                  </a:lnTo>
                  <a:close/>
                </a:path>
                <a:path w="704214" h="760729">
                  <a:moveTo>
                    <a:pt x="688848" y="731519"/>
                  </a:moveTo>
                  <a:lnTo>
                    <a:pt x="688848" y="28955"/>
                  </a:lnTo>
                  <a:lnTo>
                    <a:pt x="675132" y="28955"/>
                  </a:lnTo>
                  <a:lnTo>
                    <a:pt x="675132" y="731519"/>
                  </a:lnTo>
                  <a:lnTo>
                    <a:pt x="688848" y="731519"/>
                  </a:lnTo>
                  <a:close/>
                </a:path>
                <a:path w="704214" h="760729">
                  <a:moveTo>
                    <a:pt x="688848" y="760475"/>
                  </a:moveTo>
                  <a:lnTo>
                    <a:pt x="688848" y="731519"/>
                  </a:lnTo>
                  <a:lnTo>
                    <a:pt x="675132" y="745235"/>
                  </a:lnTo>
                  <a:lnTo>
                    <a:pt x="675132" y="760475"/>
                  </a:lnTo>
                  <a:lnTo>
                    <a:pt x="688848" y="760475"/>
                  </a:lnTo>
                  <a:close/>
                </a:path>
              </a:pathLst>
            </a:custGeom>
            <a:solidFill>
              <a:srgbClr val="000000"/>
            </a:solidFill>
          </p:spPr>
          <p:txBody>
            <a:bodyPr wrap="square" lIns="0" tIns="0" rIns="0" bIns="0" rtlCol="0"/>
            <a:lstStyle/>
            <a:p>
              <a:endParaRPr/>
            </a:p>
          </p:txBody>
        </p:sp>
      </p:grpSp>
      <p:sp>
        <p:nvSpPr>
          <p:cNvPr id="36" name="object 36"/>
          <p:cNvSpPr txBox="1"/>
          <p:nvPr/>
        </p:nvSpPr>
        <p:spPr>
          <a:xfrm>
            <a:off x="2309875" y="2817706"/>
            <a:ext cx="675640" cy="731520"/>
          </a:xfrm>
          <a:prstGeom prst="rect">
            <a:avLst/>
          </a:prstGeom>
        </p:spPr>
        <p:txBody>
          <a:bodyPr vert="horz" wrap="square" lIns="0" tIns="195580" rIns="0" bIns="0" rtlCol="0">
            <a:spAutoFit/>
          </a:bodyPr>
          <a:lstStyle/>
          <a:p>
            <a:pPr marL="109220">
              <a:lnSpc>
                <a:spcPct val="100000"/>
              </a:lnSpc>
              <a:spcBef>
                <a:spcPts val="1540"/>
              </a:spcBef>
            </a:pPr>
            <a:r>
              <a:rPr sz="2000" dirty="0">
                <a:latin typeface="Verdana"/>
                <a:cs typeface="Verdana"/>
              </a:rPr>
              <a:t>FFE</a:t>
            </a:r>
            <a:endParaRPr sz="2000">
              <a:latin typeface="Verdana"/>
              <a:cs typeface="Verdana"/>
            </a:endParaRPr>
          </a:p>
        </p:txBody>
      </p:sp>
      <p:grpSp>
        <p:nvGrpSpPr>
          <p:cNvPr id="37" name="object 37"/>
          <p:cNvGrpSpPr/>
          <p:nvPr/>
        </p:nvGrpSpPr>
        <p:grpSpPr>
          <a:xfrm>
            <a:off x="2605531" y="2768939"/>
            <a:ext cx="5256530" cy="1457325"/>
            <a:chOff x="2520695" y="2785872"/>
            <a:chExt cx="5256530" cy="1457325"/>
          </a:xfrm>
        </p:grpSpPr>
        <p:sp>
          <p:nvSpPr>
            <p:cNvPr id="38" name="object 38"/>
            <p:cNvSpPr/>
            <p:nvPr/>
          </p:nvSpPr>
          <p:spPr>
            <a:xfrm>
              <a:off x="2520695" y="3566159"/>
              <a:ext cx="85725" cy="676910"/>
            </a:xfrm>
            <a:custGeom>
              <a:avLst/>
              <a:gdLst/>
              <a:ahLst/>
              <a:cxnLst/>
              <a:rect l="l" t="t" r="r" b="b"/>
              <a:pathLst>
                <a:path w="85725" h="676910">
                  <a:moveTo>
                    <a:pt x="85343" y="85343"/>
                  </a:moveTo>
                  <a:lnTo>
                    <a:pt x="42672" y="0"/>
                  </a:lnTo>
                  <a:lnTo>
                    <a:pt x="0" y="85343"/>
                  </a:lnTo>
                  <a:lnTo>
                    <a:pt x="27431" y="85343"/>
                  </a:lnTo>
                  <a:lnTo>
                    <a:pt x="27431" y="71627"/>
                  </a:lnTo>
                  <a:lnTo>
                    <a:pt x="56387" y="71627"/>
                  </a:lnTo>
                  <a:lnTo>
                    <a:pt x="56387" y="85343"/>
                  </a:lnTo>
                  <a:lnTo>
                    <a:pt x="85343" y="85343"/>
                  </a:lnTo>
                  <a:close/>
                </a:path>
                <a:path w="85725" h="676910">
                  <a:moveTo>
                    <a:pt x="56387" y="85343"/>
                  </a:moveTo>
                  <a:lnTo>
                    <a:pt x="56387" y="71627"/>
                  </a:lnTo>
                  <a:lnTo>
                    <a:pt x="27431" y="71627"/>
                  </a:lnTo>
                  <a:lnTo>
                    <a:pt x="27431" y="85343"/>
                  </a:lnTo>
                  <a:lnTo>
                    <a:pt x="56387" y="85343"/>
                  </a:lnTo>
                  <a:close/>
                </a:path>
                <a:path w="85725" h="676910">
                  <a:moveTo>
                    <a:pt x="56387" y="676655"/>
                  </a:moveTo>
                  <a:lnTo>
                    <a:pt x="56387" y="85343"/>
                  </a:lnTo>
                  <a:lnTo>
                    <a:pt x="27431" y="85343"/>
                  </a:lnTo>
                  <a:lnTo>
                    <a:pt x="27431" y="676655"/>
                  </a:lnTo>
                  <a:lnTo>
                    <a:pt x="56387" y="676655"/>
                  </a:lnTo>
                  <a:close/>
                </a:path>
              </a:pathLst>
            </a:custGeom>
            <a:solidFill>
              <a:srgbClr val="000000"/>
            </a:solidFill>
          </p:spPr>
          <p:txBody>
            <a:bodyPr wrap="square" lIns="0" tIns="0" rIns="0" bIns="0" rtlCol="0"/>
            <a:lstStyle/>
            <a:p>
              <a:endParaRPr/>
            </a:p>
          </p:txBody>
        </p:sp>
        <p:sp>
          <p:nvSpPr>
            <p:cNvPr id="39" name="object 39"/>
            <p:cNvSpPr/>
            <p:nvPr/>
          </p:nvSpPr>
          <p:spPr>
            <a:xfrm>
              <a:off x="6940295" y="2799588"/>
              <a:ext cx="822960" cy="822960"/>
            </a:xfrm>
            <a:custGeom>
              <a:avLst/>
              <a:gdLst/>
              <a:ahLst/>
              <a:cxnLst/>
              <a:rect l="l" t="t" r="r" b="b"/>
              <a:pathLst>
                <a:path w="822959" h="822960">
                  <a:moveTo>
                    <a:pt x="822960" y="411479"/>
                  </a:moveTo>
                  <a:lnTo>
                    <a:pt x="0" y="0"/>
                  </a:lnTo>
                  <a:lnTo>
                    <a:pt x="0" y="822960"/>
                  </a:lnTo>
                  <a:lnTo>
                    <a:pt x="822960" y="411479"/>
                  </a:lnTo>
                  <a:close/>
                </a:path>
              </a:pathLst>
            </a:custGeom>
            <a:solidFill>
              <a:srgbClr val="FFFFFF"/>
            </a:solidFill>
          </p:spPr>
          <p:txBody>
            <a:bodyPr wrap="square" lIns="0" tIns="0" rIns="0" bIns="0" rtlCol="0"/>
            <a:lstStyle/>
            <a:p>
              <a:endParaRPr/>
            </a:p>
          </p:txBody>
        </p:sp>
        <p:sp>
          <p:nvSpPr>
            <p:cNvPr id="40" name="object 40"/>
            <p:cNvSpPr/>
            <p:nvPr/>
          </p:nvSpPr>
          <p:spPr>
            <a:xfrm>
              <a:off x="6925055" y="2785872"/>
              <a:ext cx="852169" cy="852169"/>
            </a:xfrm>
            <a:custGeom>
              <a:avLst/>
              <a:gdLst/>
              <a:ahLst/>
              <a:cxnLst/>
              <a:rect l="l" t="t" r="r" b="b"/>
              <a:pathLst>
                <a:path w="852170" h="852170">
                  <a:moveTo>
                    <a:pt x="851916" y="431291"/>
                  </a:moveTo>
                  <a:lnTo>
                    <a:pt x="851916" y="420623"/>
                  </a:lnTo>
                  <a:lnTo>
                    <a:pt x="848868" y="416051"/>
                  </a:lnTo>
                  <a:lnTo>
                    <a:pt x="844296" y="413003"/>
                  </a:lnTo>
                  <a:lnTo>
                    <a:pt x="21336" y="1523"/>
                  </a:lnTo>
                  <a:lnTo>
                    <a:pt x="16764" y="0"/>
                  </a:lnTo>
                  <a:lnTo>
                    <a:pt x="10667" y="0"/>
                  </a:lnTo>
                  <a:lnTo>
                    <a:pt x="7619" y="1523"/>
                  </a:lnTo>
                  <a:lnTo>
                    <a:pt x="3047" y="4571"/>
                  </a:lnTo>
                  <a:lnTo>
                    <a:pt x="0" y="9143"/>
                  </a:lnTo>
                  <a:lnTo>
                    <a:pt x="0" y="842771"/>
                  </a:lnTo>
                  <a:lnTo>
                    <a:pt x="3048" y="847343"/>
                  </a:lnTo>
                  <a:lnTo>
                    <a:pt x="7620" y="848867"/>
                  </a:lnTo>
                  <a:lnTo>
                    <a:pt x="7620" y="27431"/>
                  </a:lnTo>
                  <a:lnTo>
                    <a:pt x="28955" y="13715"/>
                  </a:lnTo>
                  <a:lnTo>
                    <a:pt x="28955" y="38099"/>
                  </a:lnTo>
                  <a:lnTo>
                    <a:pt x="804672" y="425957"/>
                  </a:lnTo>
                  <a:lnTo>
                    <a:pt x="830580" y="413003"/>
                  </a:lnTo>
                  <a:lnTo>
                    <a:pt x="830580" y="445769"/>
                  </a:lnTo>
                  <a:lnTo>
                    <a:pt x="844296" y="438911"/>
                  </a:lnTo>
                  <a:lnTo>
                    <a:pt x="848868" y="435863"/>
                  </a:lnTo>
                  <a:lnTo>
                    <a:pt x="851916" y="431291"/>
                  </a:lnTo>
                  <a:close/>
                </a:path>
                <a:path w="852170" h="852170">
                  <a:moveTo>
                    <a:pt x="28955" y="38099"/>
                  </a:moveTo>
                  <a:lnTo>
                    <a:pt x="28955" y="13715"/>
                  </a:lnTo>
                  <a:lnTo>
                    <a:pt x="7620" y="27431"/>
                  </a:lnTo>
                  <a:lnTo>
                    <a:pt x="28955" y="38099"/>
                  </a:lnTo>
                  <a:close/>
                </a:path>
                <a:path w="852170" h="852170">
                  <a:moveTo>
                    <a:pt x="28956" y="813815"/>
                  </a:moveTo>
                  <a:lnTo>
                    <a:pt x="28955" y="38099"/>
                  </a:lnTo>
                  <a:lnTo>
                    <a:pt x="7620" y="27431"/>
                  </a:lnTo>
                  <a:lnTo>
                    <a:pt x="7620" y="824483"/>
                  </a:lnTo>
                  <a:lnTo>
                    <a:pt x="28956" y="813815"/>
                  </a:lnTo>
                  <a:close/>
                </a:path>
                <a:path w="852170" h="852170">
                  <a:moveTo>
                    <a:pt x="830580" y="445769"/>
                  </a:moveTo>
                  <a:lnTo>
                    <a:pt x="830580" y="438911"/>
                  </a:lnTo>
                  <a:lnTo>
                    <a:pt x="804672" y="425957"/>
                  </a:lnTo>
                  <a:lnTo>
                    <a:pt x="7620" y="824483"/>
                  </a:lnTo>
                  <a:lnTo>
                    <a:pt x="28956" y="836675"/>
                  </a:lnTo>
                  <a:lnTo>
                    <a:pt x="28956" y="846581"/>
                  </a:lnTo>
                  <a:lnTo>
                    <a:pt x="830580" y="445769"/>
                  </a:lnTo>
                  <a:close/>
                </a:path>
                <a:path w="852170" h="852170">
                  <a:moveTo>
                    <a:pt x="28956" y="846581"/>
                  </a:moveTo>
                  <a:lnTo>
                    <a:pt x="28956" y="836675"/>
                  </a:lnTo>
                  <a:lnTo>
                    <a:pt x="7620" y="824483"/>
                  </a:lnTo>
                  <a:lnTo>
                    <a:pt x="7620" y="848867"/>
                  </a:lnTo>
                  <a:lnTo>
                    <a:pt x="10668" y="851915"/>
                  </a:lnTo>
                  <a:lnTo>
                    <a:pt x="16764" y="851915"/>
                  </a:lnTo>
                  <a:lnTo>
                    <a:pt x="21336" y="850391"/>
                  </a:lnTo>
                  <a:lnTo>
                    <a:pt x="28956" y="846581"/>
                  </a:lnTo>
                  <a:close/>
                </a:path>
                <a:path w="852170" h="852170">
                  <a:moveTo>
                    <a:pt x="830580" y="438911"/>
                  </a:moveTo>
                  <a:lnTo>
                    <a:pt x="830580" y="413003"/>
                  </a:lnTo>
                  <a:lnTo>
                    <a:pt x="804672" y="425957"/>
                  </a:lnTo>
                  <a:lnTo>
                    <a:pt x="830580" y="438911"/>
                  </a:lnTo>
                  <a:close/>
                </a:path>
              </a:pathLst>
            </a:custGeom>
            <a:solidFill>
              <a:srgbClr val="000000"/>
            </a:solidFill>
          </p:spPr>
          <p:txBody>
            <a:bodyPr wrap="square" lIns="0" tIns="0" rIns="0" bIns="0" rtlCol="0"/>
            <a:lstStyle/>
            <a:p>
              <a:endParaRPr/>
            </a:p>
          </p:txBody>
        </p:sp>
      </p:grpSp>
      <p:sp>
        <p:nvSpPr>
          <p:cNvPr id="41" name="object 41"/>
          <p:cNvSpPr txBox="1"/>
          <p:nvPr/>
        </p:nvSpPr>
        <p:spPr>
          <a:xfrm>
            <a:off x="7042910" y="3033606"/>
            <a:ext cx="56959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Verdana"/>
                <a:cs typeface="Verdana"/>
              </a:rPr>
              <a:t>VGA</a:t>
            </a:r>
            <a:endParaRPr sz="2000">
              <a:latin typeface="Verdana"/>
              <a:cs typeface="Verdana"/>
            </a:endParaRPr>
          </a:p>
        </p:txBody>
      </p:sp>
      <p:grpSp>
        <p:nvGrpSpPr>
          <p:cNvPr id="42" name="object 42"/>
          <p:cNvGrpSpPr/>
          <p:nvPr/>
        </p:nvGrpSpPr>
        <p:grpSpPr>
          <a:xfrm>
            <a:off x="8046212" y="2768939"/>
            <a:ext cx="852169" cy="852169"/>
            <a:chOff x="7961376" y="2785872"/>
            <a:chExt cx="852169" cy="852169"/>
          </a:xfrm>
        </p:grpSpPr>
        <p:sp>
          <p:nvSpPr>
            <p:cNvPr id="43" name="object 43"/>
            <p:cNvSpPr/>
            <p:nvPr/>
          </p:nvSpPr>
          <p:spPr>
            <a:xfrm>
              <a:off x="7976616" y="2799588"/>
              <a:ext cx="821690" cy="822960"/>
            </a:xfrm>
            <a:custGeom>
              <a:avLst/>
              <a:gdLst/>
              <a:ahLst/>
              <a:cxnLst/>
              <a:rect l="l" t="t" r="r" b="b"/>
              <a:pathLst>
                <a:path w="821690" h="822960">
                  <a:moveTo>
                    <a:pt x="821436" y="411479"/>
                  </a:moveTo>
                  <a:lnTo>
                    <a:pt x="0" y="0"/>
                  </a:lnTo>
                  <a:lnTo>
                    <a:pt x="0" y="822960"/>
                  </a:lnTo>
                  <a:lnTo>
                    <a:pt x="821436" y="411479"/>
                  </a:lnTo>
                  <a:close/>
                </a:path>
              </a:pathLst>
            </a:custGeom>
            <a:solidFill>
              <a:srgbClr val="FFFFFF"/>
            </a:solidFill>
          </p:spPr>
          <p:txBody>
            <a:bodyPr wrap="square" lIns="0" tIns="0" rIns="0" bIns="0" rtlCol="0"/>
            <a:lstStyle/>
            <a:p>
              <a:endParaRPr/>
            </a:p>
          </p:txBody>
        </p:sp>
        <p:sp>
          <p:nvSpPr>
            <p:cNvPr id="44" name="object 44"/>
            <p:cNvSpPr/>
            <p:nvPr/>
          </p:nvSpPr>
          <p:spPr>
            <a:xfrm>
              <a:off x="7961376" y="2785872"/>
              <a:ext cx="852169" cy="852169"/>
            </a:xfrm>
            <a:custGeom>
              <a:avLst/>
              <a:gdLst/>
              <a:ahLst/>
              <a:cxnLst/>
              <a:rect l="l" t="t" r="r" b="b"/>
              <a:pathLst>
                <a:path w="852170" h="852170">
                  <a:moveTo>
                    <a:pt x="851916" y="431291"/>
                  </a:moveTo>
                  <a:lnTo>
                    <a:pt x="851916" y="420623"/>
                  </a:lnTo>
                  <a:lnTo>
                    <a:pt x="848868" y="416051"/>
                  </a:lnTo>
                  <a:lnTo>
                    <a:pt x="844296" y="413003"/>
                  </a:lnTo>
                  <a:lnTo>
                    <a:pt x="21336" y="1523"/>
                  </a:lnTo>
                  <a:lnTo>
                    <a:pt x="16764" y="0"/>
                  </a:lnTo>
                  <a:lnTo>
                    <a:pt x="10667" y="0"/>
                  </a:lnTo>
                  <a:lnTo>
                    <a:pt x="7619" y="1523"/>
                  </a:lnTo>
                  <a:lnTo>
                    <a:pt x="3047" y="4571"/>
                  </a:lnTo>
                  <a:lnTo>
                    <a:pt x="0" y="9143"/>
                  </a:lnTo>
                  <a:lnTo>
                    <a:pt x="0" y="842771"/>
                  </a:lnTo>
                  <a:lnTo>
                    <a:pt x="3048" y="847343"/>
                  </a:lnTo>
                  <a:lnTo>
                    <a:pt x="7620" y="848867"/>
                  </a:lnTo>
                  <a:lnTo>
                    <a:pt x="7620" y="27431"/>
                  </a:lnTo>
                  <a:lnTo>
                    <a:pt x="28955" y="13715"/>
                  </a:lnTo>
                  <a:lnTo>
                    <a:pt x="28955" y="38099"/>
                  </a:lnTo>
                  <a:lnTo>
                    <a:pt x="804672" y="425957"/>
                  </a:lnTo>
                  <a:lnTo>
                    <a:pt x="830580" y="413003"/>
                  </a:lnTo>
                  <a:lnTo>
                    <a:pt x="830580" y="445769"/>
                  </a:lnTo>
                  <a:lnTo>
                    <a:pt x="844296" y="438911"/>
                  </a:lnTo>
                  <a:lnTo>
                    <a:pt x="848868" y="435863"/>
                  </a:lnTo>
                  <a:lnTo>
                    <a:pt x="851916" y="431291"/>
                  </a:lnTo>
                  <a:close/>
                </a:path>
                <a:path w="852170" h="852170">
                  <a:moveTo>
                    <a:pt x="28955" y="38099"/>
                  </a:moveTo>
                  <a:lnTo>
                    <a:pt x="28955" y="13715"/>
                  </a:lnTo>
                  <a:lnTo>
                    <a:pt x="7620" y="27431"/>
                  </a:lnTo>
                  <a:lnTo>
                    <a:pt x="28955" y="38099"/>
                  </a:lnTo>
                  <a:close/>
                </a:path>
                <a:path w="852170" h="852170">
                  <a:moveTo>
                    <a:pt x="28956" y="813815"/>
                  </a:moveTo>
                  <a:lnTo>
                    <a:pt x="28955" y="38099"/>
                  </a:lnTo>
                  <a:lnTo>
                    <a:pt x="7620" y="27431"/>
                  </a:lnTo>
                  <a:lnTo>
                    <a:pt x="7620" y="824483"/>
                  </a:lnTo>
                  <a:lnTo>
                    <a:pt x="28956" y="813815"/>
                  </a:lnTo>
                  <a:close/>
                </a:path>
                <a:path w="852170" h="852170">
                  <a:moveTo>
                    <a:pt x="830580" y="445769"/>
                  </a:moveTo>
                  <a:lnTo>
                    <a:pt x="830580" y="438911"/>
                  </a:lnTo>
                  <a:lnTo>
                    <a:pt x="804672" y="425957"/>
                  </a:lnTo>
                  <a:lnTo>
                    <a:pt x="7620" y="824483"/>
                  </a:lnTo>
                  <a:lnTo>
                    <a:pt x="28956" y="836675"/>
                  </a:lnTo>
                  <a:lnTo>
                    <a:pt x="28956" y="846581"/>
                  </a:lnTo>
                  <a:lnTo>
                    <a:pt x="830580" y="445769"/>
                  </a:lnTo>
                  <a:close/>
                </a:path>
                <a:path w="852170" h="852170">
                  <a:moveTo>
                    <a:pt x="28956" y="846581"/>
                  </a:moveTo>
                  <a:lnTo>
                    <a:pt x="28956" y="836675"/>
                  </a:lnTo>
                  <a:lnTo>
                    <a:pt x="7620" y="824483"/>
                  </a:lnTo>
                  <a:lnTo>
                    <a:pt x="7620" y="848867"/>
                  </a:lnTo>
                  <a:lnTo>
                    <a:pt x="10668" y="851915"/>
                  </a:lnTo>
                  <a:lnTo>
                    <a:pt x="16764" y="851915"/>
                  </a:lnTo>
                  <a:lnTo>
                    <a:pt x="21336" y="850391"/>
                  </a:lnTo>
                  <a:lnTo>
                    <a:pt x="28956" y="846581"/>
                  </a:lnTo>
                  <a:close/>
                </a:path>
                <a:path w="852170" h="852170">
                  <a:moveTo>
                    <a:pt x="830580" y="438911"/>
                  </a:moveTo>
                  <a:lnTo>
                    <a:pt x="830580" y="413003"/>
                  </a:lnTo>
                  <a:lnTo>
                    <a:pt x="804672" y="425957"/>
                  </a:lnTo>
                  <a:lnTo>
                    <a:pt x="830580" y="438911"/>
                  </a:lnTo>
                  <a:close/>
                </a:path>
              </a:pathLst>
            </a:custGeom>
            <a:solidFill>
              <a:srgbClr val="000000"/>
            </a:solidFill>
          </p:spPr>
          <p:txBody>
            <a:bodyPr wrap="square" lIns="0" tIns="0" rIns="0" bIns="0" rtlCol="0"/>
            <a:lstStyle/>
            <a:p>
              <a:endParaRPr/>
            </a:p>
          </p:txBody>
        </p:sp>
      </p:grpSp>
      <p:sp>
        <p:nvSpPr>
          <p:cNvPr id="45" name="object 45"/>
          <p:cNvSpPr txBox="1"/>
          <p:nvPr/>
        </p:nvSpPr>
        <p:spPr>
          <a:xfrm>
            <a:off x="8047228" y="3022939"/>
            <a:ext cx="66357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CTLE</a:t>
            </a:r>
            <a:endParaRPr sz="2000">
              <a:latin typeface="Verdana"/>
              <a:cs typeface="Verdana"/>
            </a:endParaRPr>
          </a:p>
        </p:txBody>
      </p:sp>
      <p:sp>
        <p:nvSpPr>
          <p:cNvPr id="46" name="object 46"/>
          <p:cNvSpPr/>
          <p:nvPr/>
        </p:nvSpPr>
        <p:spPr>
          <a:xfrm>
            <a:off x="3943603" y="2128859"/>
            <a:ext cx="384175" cy="867410"/>
          </a:xfrm>
          <a:custGeom>
            <a:avLst/>
            <a:gdLst/>
            <a:ahLst/>
            <a:cxnLst/>
            <a:rect l="l" t="t" r="r" b="b"/>
            <a:pathLst>
              <a:path w="384175" h="867410">
                <a:moveTo>
                  <a:pt x="384048" y="861059"/>
                </a:moveTo>
                <a:lnTo>
                  <a:pt x="384048" y="7619"/>
                </a:lnTo>
                <a:lnTo>
                  <a:pt x="377952" y="0"/>
                </a:lnTo>
                <a:lnTo>
                  <a:pt x="6095" y="0"/>
                </a:lnTo>
                <a:lnTo>
                  <a:pt x="0" y="7619"/>
                </a:lnTo>
                <a:lnTo>
                  <a:pt x="0" y="861059"/>
                </a:lnTo>
                <a:lnTo>
                  <a:pt x="6096" y="867155"/>
                </a:lnTo>
                <a:lnTo>
                  <a:pt x="13716" y="867155"/>
                </a:lnTo>
                <a:lnTo>
                  <a:pt x="13716" y="28955"/>
                </a:lnTo>
                <a:lnTo>
                  <a:pt x="28956" y="15239"/>
                </a:lnTo>
                <a:lnTo>
                  <a:pt x="28956" y="28955"/>
                </a:lnTo>
                <a:lnTo>
                  <a:pt x="355092" y="28955"/>
                </a:lnTo>
                <a:lnTo>
                  <a:pt x="355092" y="15239"/>
                </a:lnTo>
                <a:lnTo>
                  <a:pt x="368808" y="28955"/>
                </a:lnTo>
                <a:lnTo>
                  <a:pt x="368808" y="867155"/>
                </a:lnTo>
                <a:lnTo>
                  <a:pt x="377952" y="867155"/>
                </a:lnTo>
                <a:lnTo>
                  <a:pt x="384048" y="861059"/>
                </a:lnTo>
                <a:close/>
              </a:path>
              <a:path w="384175" h="867410">
                <a:moveTo>
                  <a:pt x="28956" y="28955"/>
                </a:moveTo>
                <a:lnTo>
                  <a:pt x="28956" y="15239"/>
                </a:lnTo>
                <a:lnTo>
                  <a:pt x="13716" y="28955"/>
                </a:lnTo>
                <a:lnTo>
                  <a:pt x="28956" y="28955"/>
                </a:lnTo>
                <a:close/>
              </a:path>
              <a:path w="384175" h="867410">
                <a:moveTo>
                  <a:pt x="28956" y="839723"/>
                </a:moveTo>
                <a:lnTo>
                  <a:pt x="28956" y="28955"/>
                </a:lnTo>
                <a:lnTo>
                  <a:pt x="13716" y="28955"/>
                </a:lnTo>
                <a:lnTo>
                  <a:pt x="13716" y="839723"/>
                </a:lnTo>
                <a:lnTo>
                  <a:pt x="28956" y="839723"/>
                </a:lnTo>
                <a:close/>
              </a:path>
              <a:path w="384175" h="867410">
                <a:moveTo>
                  <a:pt x="368808" y="839723"/>
                </a:moveTo>
                <a:lnTo>
                  <a:pt x="13716" y="839723"/>
                </a:lnTo>
                <a:lnTo>
                  <a:pt x="28956" y="853439"/>
                </a:lnTo>
                <a:lnTo>
                  <a:pt x="28956" y="867155"/>
                </a:lnTo>
                <a:lnTo>
                  <a:pt x="355092" y="867155"/>
                </a:lnTo>
                <a:lnTo>
                  <a:pt x="355092" y="853439"/>
                </a:lnTo>
                <a:lnTo>
                  <a:pt x="368808" y="839723"/>
                </a:lnTo>
                <a:close/>
              </a:path>
              <a:path w="384175" h="867410">
                <a:moveTo>
                  <a:pt x="28956" y="867155"/>
                </a:moveTo>
                <a:lnTo>
                  <a:pt x="28956" y="853439"/>
                </a:lnTo>
                <a:lnTo>
                  <a:pt x="13716" y="839723"/>
                </a:lnTo>
                <a:lnTo>
                  <a:pt x="13716" y="867155"/>
                </a:lnTo>
                <a:lnTo>
                  <a:pt x="28956" y="867155"/>
                </a:lnTo>
                <a:close/>
              </a:path>
              <a:path w="384175" h="867410">
                <a:moveTo>
                  <a:pt x="368808" y="28955"/>
                </a:moveTo>
                <a:lnTo>
                  <a:pt x="355092" y="15239"/>
                </a:lnTo>
                <a:lnTo>
                  <a:pt x="355092" y="28955"/>
                </a:lnTo>
                <a:lnTo>
                  <a:pt x="368808" y="28955"/>
                </a:lnTo>
                <a:close/>
              </a:path>
              <a:path w="384175" h="867410">
                <a:moveTo>
                  <a:pt x="368808" y="839723"/>
                </a:moveTo>
                <a:lnTo>
                  <a:pt x="368808" y="28955"/>
                </a:lnTo>
                <a:lnTo>
                  <a:pt x="355092" y="28955"/>
                </a:lnTo>
                <a:lnTo>
                  <a:pt x="355092" y="839723"/>
                </a:lnTo>
                <a:lnTo>
                  <a:pt x="368808" y="839723"/>
                </a:lnTo>
                <a:close/>
              </a:path>
              <a:path w="384175" h="867410">
                <a:moveTo>
                  <a:pt x="368808" y="867155"/>
                </a:moveTo>
                <a:lnTo>
                  <a:pt x="368808" y="839723"/>
                </a:lnTo>
                <a:lnTo>
                  <a:pt x="355092" y="853439"/>
                </a:lnTo>
                <a:lnTo>
                  <a:pt x="355092" y="867155"/>
                </a:lnTo>
                <a:lnTo>
                  <a:pt x="368808" y="867155"/>
                </a:lnTo>
                <a:close/>
              </a:path>
            </a:pathLst>
          </a:custGeom>
          <a:solidFill>
            <a:srgbClr val="000000"/>
          </a:solidFill>
        </p:spPr>
        <p:txBody>
          <a:bodyPr wrap="square" lIns="0" tIns="0" rIns="0" bIns="0" rtlCol="0"/>
          <a:lstStyle/>
          <a:p>
            <a:endParaRPr/>
          </a:p>
        </p:txBody>
      </p:sp>
      <p:sp>
        <p:nvSpPr>
          <p:cNvPr id="47" name="object 47"/>
          <p:cNvSpPr txBox="1"/>
          <p:nvPr/>
        </p:nvSpPr>
        <p:spPr>
          <a:xfrm>
            <a:off x="4023858" y="2105491"/>
            <a:ext cx="221615" cy="879475"/>
          </a:xfrm>
          <a:prstGeom prst="rect">
            <a:avLst/>
          </a:prstGeom>
        </p:spPr>
        <p:txBody>
          <a:bodyPr vert="horz" wrap="square" lIns="0" tIns="47625" rIns="0" bIns="0" rtlCol="0">
            <a:spAutoFit/>
          </a:bodyPr>
          <a:lstStyle/>
          <a:p>
            <a:pPr marL="12700" marR="5080" indent="4445" algn="just">
              <a:lnSpc>
                <a:spcPts val="2160"/>
              </a:lnSpc>
              <a:spcBef>
                <a:spcPts val="375"/>
              </a:spcBef>
            </a:pPr>
            <a:r>
              <a:rPr sz="2000" dirty="0">
                <a:latin typeface="Verdana"/>
                <a:cs typeface="Verdana"/>
              </a:rPr>
              <a:t>E </a:t>
            </a:r>
            <a:r>
              <a:rPr sz="2000" spc="-695" dirty="0">
                <a:latin typeface="Verdana"/>
                <a:cs typeface="Verdana"/>
              </a:rPr>
              <a:t> </a:t>
            </a:r>
            <a:r>
              <a:rPr sz="2000" dirty="0">
                <a:latin typeface="Verdana"/>
                <a:cs typeface="Verdana"/>
              </a:rPr>
              <a:t>S </a:t>
            </a:r>
            <a:r>
              <a:rPr sz="2000" spc="-695" dirty="0">
                <a:latin typeface="Verdana"/>
                <a:cs typeface="Verdana"/>
              </a:rPr>
              <a:t> </a:t>
            </a:r>
            <a:r>
              <a:rPr sz="2000" dirty="0">
                <a:latin typeface="Verdana"/>
                <a:cs typeface="Verdana"/>
              </a:rPr>
              <a:t>D</a:t>
            </a:r>
            <a:endParaRPr sz="2000">
              <a:latin typeface="Verdana"/>
              <a:cs typeface="Verdana"/>
            </a:endParaRPr>
          </a:p>
        </p:txBody>
      </p:sp>
      <p:sp>
        <p:nvSpPr>
          <p:cNvPr id="48" name="object 48"/>
          <p:cNvSpPr/>
          <p:nvPr/>
        </p:nvSpPr>
        <p:spPr>
          <a:xfrm>
            <a:off x="6435344" y="2128859"/>
            <a:ext cx="384175" cy="867410"/>
          </a:xfrm>
          <a:custGeom>
            <a:avLst/>
            <a:gdLst/>
            <a:ahLst/>
            <a:cxnLst/>
            <a:rect l="l" t="t" r="r" b="b"/>
            <a:pathLst>
              <a:path w="384175" h="867410">
                <a:moveTo>
                  <a:pt x="384048" y="861059"/>
                </a:moveTo>
                <a:lnTo>
                  <a:pt x="384048" y="7619"/>
                </a:lnTo>
                <a:lnTo>
                  <a:pt x="377952" y="0"/>
                </a:lnTo>
                <a:lnTo>
                  <a:pt x="6095" y="0"/>
                </a:lnTo>
                <a:lnTo>
                  <a:pt x="0" y="7619"/>
                </a:lnTo>
                <a:lnTo>
                  <a:pt x="0" y="861059"/>
                </a:lnTo>
                <a:lnTo>
                  <a:pt x="6096" y="867155"/>
                </a:lnTo>
                <a:lnTo>
                  <a:pt x="15240" y="867155"/>
                </a:lnTo>
                <a:lnTo>
                  <a:pt x="15240" y="28955"/>
                </a:lnTo>
                <a:lnTo>
                  <a:pt x="28956" y="15239"/>
                </a:lnTo>
                <a:lnTo>
                  <a:pt x="28956" y="28955"/>
                </a:lnTo>
                <a:lnTo>
                  <a:pt x="355092" y="28955"/>
                </a:lnTo>
                <a:lnTo>
                  <a:pt x="355092" y="15239"/>
                </a:lnTo>
                <a:lnTo>
                  <a:pt x="370332" y="28955"/>
                </a:lnTo>
                <a:lnTo>
                  <a:pt x="370332" y="867155"/>
                </a:lnTo>
                <a:lnTo>
                  <a:pt x="377952" y="867155"/>
                </a:lnTo>
                <a:lnTo>
                  <a:pt x="384048" y="861059"/>
                </a:lnTo>
                <a:close/>
              </a:path>
              <a:path w="384175" h="867410">
                <a:moveTo>
                  <a:pt x="28956" y="28955"/>
                </a:moveTo>
                <a:lnTo>
                  <a:pt x="28956" y="15239"/>
                </a:lnTo>
                <a:lnTo>
                  <a:pt x="15240" y="28955"/>
                </a:lnTo>
                <a:lnTo>
                  <a:pt x="28956" y="28955"/>
                </a:lnTo>
                <a:close/>
              </a:path>
              <a:path w="384175" h="867410">
                <a:moveTo>
                  <a:pt x="28956" y="839723"/>
                </a:moveTo>
                <a:lnTo>
                  <a:pt x="28956" y="28955"/>
                </a:lnTo>
                <a:lnTo>
                  <a:pt x="15240" y="28955"/>
                </a:lnTo>
                <a:lnTo>
                  <a:pt x="15240" y="839723"/>
                </a:lnTo>
                <a:lnTo>
                  <a:pt x="28956" y="839723"/>
                </a:lnTo>
                <a:close/>
              </a:path>
              <a:path w="384175" h="867410">
                <a:moveTo>
                  <a:pt x="370332" y="839723"/>
                </a:moveTo>
                <a:lnTo>
                  <a:pt x="15240" y="839723"/>
                </a:lnTo>
                <a:lnTo>
                  <a:pt x="28956" y="853439"/>
                </a:lnTo>
                <a:lnTo>
                  <a:pt x="28956" y="867155"/>
                </a:lnTo>
                <a:lnTo>
                  <a:pt x="355092" y="867155"/>
                </a:lnTo>
                <a:lnTo>
                  <a:pt x="355092" y="853439"/>
                </a:lnTo>
                <a:lnTo>
                  <a:pt x="370332" y="839723"/>
                </a:lnTo>
                <a:close/>
              </a:path>
              <a:path w="384175" h="867410">
                <a:moveTo>
                  <a:pt x="28956" y="867155"/>
                </a:moveTo>
                <a:lnTo>
                  <a:pt x="28956" y="853439"/>
                </a:lnTo>
                <a:lnTo>
                  <a:pt x="15240" y="839723"/>
                </a:lnTo>
                <a:lnTo>
                  <a:pt x="15240" y="867155"/>
                </a:lnTo>
                <a:lnTo>
                  <a:pt x="28956" y="867155"/>
                </a:lnTo>
                <a:close/>
              </a:path>
              <a:path w="384175" h="867410">
                <a:moveTo>
                  <a:pt x="370332" y="28955"/>
                </a:moveTo>
                <a:lnTo>
                  <a:pt x="355092" y="15239"/>
                </a:lnTo>
                <a:lnTo>
                  <a:pt x="355092" y="28955"/>
                </a:lnTo>
                <a:lnTo>
                  <a:pt x="370332" y="28955"/>
                </a:lnTo>
                <a:close/>
              </a:path>
              <a:path w="384175" h="867410">
                <a:moveTo>
                  <a:pt x="370332" y="839723"/>
                </a:moveTo>
                <a:lnTo>
                  <a:pt x="370332" y="28955"/>
                </a:lnTo>
                <a:lnTo>
                  <a:pt x="355092" y="28955"/>
                </a:lnTo>
                <a:lnTo>
                  <a:pt x="355092" y="839723"/>
                </a:lnTo>
                <a:lnTo>
                  <a:pt x="370332" y="839723"/>
                </a:lnTo>
                <a:close/>
              </a:path>
              <a:path w="384175" h="867410">
                <a:moveTo>
                  <a:pt x="370332" y="867155"/>
                </a:moveTo>
                <a:lnTo>
                  <a:pt x="370332" y="839723"/>
                </a:lnTo>
                <a:lnTo>
                  <a:pt x="355092" y="853439"/>
                </a:lnTo>
                <a:lnTo>
                  <a:pt x="355092" y="867155"/>
                </a:lnTo>
                <a:lnTo>
                  <a:pt x="370332" y="867155"/>
                </a:lnTo>
                <a:close/>
              </a:path>
            </a:pathLst>
          </a:custGeom>
          <a:solidFill>
            <a:srgbClr val="000000"/>
          </a:solidFill>
        </p:spPr>
        <p:txBody>
          <a:bodyPr wrap="square" lIns="0" tIns="0" rIns="0" bIns="0" rtlCol="0"/>
          <a:lstStyle/>
          <a:p>
            <a:endParaRPr/>
          </a:p>
        </p:txBody>
      </p:sp>
      <p:sp>
        <p:nvSpPr>
          <p:cNvPr id="49" name="object 49"/>
          <p:cNvSpPr txBox="1"/>
          <p:nvPr/>
        </p:nvSpPr>
        <p:spPr>
          <a:xfrm>
            <a:off x="6517122" y="2105491"/>
            <a:ext cx="221615" cy="879475"/>
          </a:xfrm>
          <a:prstGeom prst="rect">
            <a:avLst/>
          </a:prstGeom>
        </p:spPr>
        <p:txBody>
          <a:bodyPr vert="horz" wrap="square" lIns="0" tIns="47625" rIns="0" bIns="0" rtlCol="0">
            <a:spAutoFit/>
          </a:bodyPr>
          <a:lstStyle/>
          <a:p>
            <a:pPr marL="12700" marR="5080" indent="4445" algn="just">
              <a:lnSpc>
                <a:spcPts val="2160"/>
              </a:lnSpc>
              <a:spcBef>
                <a:spcPts val="375"/>
              </a:spcBef>
            </a:pPr>
            <a:r>
              <a:rPr sz="2000" dirty="0">
                <a:latin typeface="Verdana"/>
                <a:cs typeface="Verdana"/>
              </a:rPr>
              <a:t>E </a:t>
            </a:r>
            <a:r>
              <a:rPr sz="2000" spc="-695" dirty="0">
                <a:latin typeface="Verdana"/>
                <a:cs typeface="Verdana"/>
              </a:rPr>
              <a:t> </a:t>
            </a:r>
            <a:r>
              <a:rPr sz="2000" dirty="0">
                <a:latin typeface="Verdana"/>
                <a:cs typeface="Verdana"/>
              </a:rPr>
              <a:t>S </a:t>
            </a:r>
            <a:r>
              <a:rPr sz="2000" spc="-695" dirty="0">
                <a:latin typeface="Verdana"/>
                <a:cs typeface="Verdana"/>
              </a:rPr>
              <a:t> </a:t>
            </a:r>
            <a:r>
              <a:rPr sz="2000" dirty="0">
                <a:latin typeface="Verdana"/>
                <a:cs typeface="Verdana"/>
              </a:rPr>
              <a:t>D</a:t>
            </a:r>
            <a:endParaRPr sz="2000">
              <a:latin typeface="Verdana"/>
              <a:cs typeface="Verdana"/>
            </a:endParaRPr>
          </a:p>
        </p:txBody>
      </p:sp>
      <p:sp>
        <p:nvSpPr>
          <p:cNvPr id="50" name="object 50"/>
          <p:cNvSpPr/>
          <p:nvPr/>
        </p:nvSpPr>
        <p:spPr>
          <a:xfrm>
            <a:off x="4141724" y="2999062"/>
            <a:ext cx="2502535" cy="184785"/>
          </a:xfrm>
          <a:custGeom>
            <a:avLst/>
            <a:gdLst/>
            <a:ahLst/>
            <a:cxnLst/>
            <a:rect l="l" t="t" r="r" b="b"/>
            <a:pathLst>
              <a:path w="2502534" h="184785">
                <a:moveTo>
                  <a:pt x="27432" y="0"/>
                </a:moveTo>
                <a:lnTo>
                  <a:pt x="0" y="0"/>
                </a:lnTo>
                <a:lnTo>
                  <a:pt x="0" y="184404"/>
                </a:lnTo>
                <a:lnTo>
                  <a:pt x="27432" y="184404"/>
                </a:lnTo>
                <a:lnTo>
                  <a:pt x="27432" y="0"/>
                </a:lnTo>
                <a:close/>
              </a:path>
              <a:path w="2502534" h="184785">
                <a:moveTo>
                  <a:pt x="2502408" y="0"/>
                </a:moveTo>
                <a:lnTo>
                  <a:pt x="2473452" y="0"/>
                </a:lnTo>
                <a:lnTo>
                  <a:pt x="2473452" y="184404"/>
                </a:lnTo>
                <a:lnTo>
                  <a:pt x="2502408" y="184404"/>
                </a:lnTo>
                <a:lnTo>
                  <a:pt x="2502408" y="0"/>
                </a:lnTo>
                <a:close/>
              </a:path>
            </a:pathLst>
          </a:custGeom>
          <a:solidFill>
            <a:srgbClr val="000000"/>
          </a:solidFill>
        </p:spPr>
        <p:txBody>
          <a:bodyPr wrap="square" lIns="0" tIns="0" rIns="0" bIns="0" rtlCol="0"/>
          <a:lstStyle/>
          <a:p>
            <a:endParaRPr/>
          </a:p>
        </p:txBody>
      </p:sp>
      <p:sp>
        <p:nvSpPr>
          <p:cNvPr id="51" name="Slide Number Placeholder 50"/>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12</a:t>
            </a:fld>
            <a:endParaRPr lang="en-US" spc="-50" dirty="0"/>
          </a:p>
        </p:txBody>
      </p:sp>
      <p:sp>
        <p:nvSpPr>
          <p:cNvPr id="52" name="Date Placeholder 51"/>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53" name="Footer Placeholder 52"/>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0424410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5311" y="301244"/>
            <a:ext cx="11128375" cy="605155"/>
          </a:xfrm>
          <a:prstGeom prst="rect">
            <a:avLst/>
          </a:prstGeom>
        </p:spPr>
        <p:txBody>
          <a:bodyPr vert="horz" wrap="square" lIns="0" tIns="13335" rIns="0" bIns="0" rtlCol="0">
            <a:spAutoFit/>
          </a:bodyPr>
          <a:lstStyle/>
          <a:p>
            <a:pPr marL="12700">
              <a:lnSpc>
                <a:spcPct val="100000"/>
              </a:lnSpc>
              <a:spcBef>
                <a:spcPts val="105"/>
              </a:spcBef>
            </a:pPr>
            <a:r>
              <a:rPr dirty="0"/>
              <a:t>FinFET</a:t>
            </a:r>
            <a:r>
              <a:rPr spc="-20" dirty="0"/>
              <a:t> </a:t>
            </a:r>
            <a:r>
              <a:rPr dirty="0"/>
              <a:t>Impact on</a:t>
            </a:r>
            <a:r>
              <a:rPr spc="-15" dirty="0"/>
              <a:t> </a:t>
            </a:r>
            <a:r>
              <a:rPr dirty="0"/>
              <a:t>Wireline</a:t>
            </a:r>
            <a:r>
              <a:rPr spc="-20" dirty="0"/>
              <a:t> </a:t>
            </a:r>
            <a:r>
              <a:rPr spc="-5" dirty="0"/>
              <a:t>Circuits</a:t>
            </a:r>
            <a:r>
              <a:rPr spc="-45" dirty="0"/>
              <a:t> </a:t>
            </a:r>
            <a:r>
              <a:rPr dirty="0"/>
              <a:t>&amp;</a:t>
            </a:r>
            <a:r>
              <a:rPr spc="5" dirty="0"/>
              <a:t> </a:t>
            </a:r>
            <a:r>
              <a:rPr dirty="0"/>
              <a:t>Systems</a:t>
            </a:r>
          </a:p>
        </p:txBody>
      </p:sp>
      <p:sp>
        <p:nvSpPr>
          <p:cNvPr id="3" name="object 3"/>
          <p:cNvSpPr/>
          <p:nvPr/>
        </p:nvSpPr>
        <p:spPr>
          <a:xfrm>
            <a:off x="1324355" y="2276855"/>
            <a:ext cx="760730" cy="1858010"/>
          </a:xfrm>
          <a:custGeom>
            <a:avLst/>
            <a:gdLst/>
            <a:ahLst/>
            <a:cxnLst/>
            <a:rect l="l" t="t" r="r" b="b"/>
            <a:pathLst>
              <a:path w="760730" h="1858010">
                <a:moveTo>
                  <a:pt x="760476" y="1409699"/>
                </a:moveTo>
                <a:lnTo>
                  <a:pt x="760476" y="446531"/>
                </a:lnTo>
                <a:lnTo>
                  <a:pt x="21336" y="1523"/>
                </a:lnTo>
                <a:lnTo>
                  <a:pt x="18288" y="0"/>
                </a:lnTo>
                <a:lnTo>
                  <a:pt x="12191" y="0"/>
                </a:lnTo>
                <a:lnTo>
                  <a:pt x="7619" y="1523"/>
                </a:lnTo>
                <a:lnTo>
                  <a:pt x="3047" y="4571"/>
                </a:lnTo>
                <a:lnTo>
                  <a:pt x="0" y="9143"/>
                </a:lnTo>
                <a:lnTo>
                  <a:pt x="0" y="1847088"/>
                </a:lnTo>
                <a:lnTo>
                  <a:pt x="3048" y="1851659"/>
                </a:lnTo>
                <a:lnTo>
                  <a:pt x="7620" y="1854707"/>
                </a:lnTo>
                <a:lnTo>
                  <a:pt x="7620" y="25907"/>
                </a:lnTo>
                <a:lnTo>
                  <a:pt x="28955" y="13715"/>
                </a:lnTo>
                <a:lnTo>
                  <a:pt x="28955" y="38709"/>
                </a:lnTo>
                <a:lnTo>
                  <a:pt x="731520" y="460247"/>
                </a:lnTo>
                <a:lnTo>
                  <a:pt x="731520" y="452627"/>
                </a:lnTo>
                <a:lnTo>
                  <a:pt x="739140" y="464819"/>
                </a:lnTo>
                <a:lnTo>
                  <a:pt x="739140" y="1425521"/>
                </a:lnTo>
                <a:lnTo>
                  <a:pt x="752856" y="1417319"/>
                </a:lnTo>
                <a:lnTo>
                  <a:pt x="757428" y="1414271"/>
                </a:lnTo>
                <a:lnTo>
                  <a:pt x="760476" y="1409699"/>
                </a:lnTo>
                <a:close/>
              </a:path>
              <a:path w="760730" h="1858010">
                <a:moveTo>
                  <a:pt x="28955" y="38709"/>
                </a:moveTo>
                <a:lnTo>
                  <a:pt x="28955" y="13715"/>
                </a:lnTo>
                <a:lnTo>
                  <a:pt x="7620" y="25907"/>
                </a:lnTo>
                <a:lnTo>
                  <a:pt x="28955" y="38709"/>
                </a:lnTo>
                <a:close/>
              </a:path>
              <a:path w="760730" h="1858010">
                <a:moveTo>
                  <a:pt x="28956" y="1817566"/>
                </a:moveTo>
                <a:lnTo>
                  <a:pt x="28955" y="38709"/>
                </a:lnTo>
                <a:lnTo>
                  <a:pt x="7620" y="25907"/>
                </a:lnTo>
                <a:lnTo>
                  <a:pt x="7620" y="1830323"/>
                </a:lnTo>
                <a:lnTo>
                  <a:pt x="28956" y="1817566"/>
                </a:lnTo>
                <a:close/>
              </a:path>
              <a:path w="760730" h="1858010">
                <a:moveTo>
                  <a:pt x="739140" y="1392935"/>
                </a:moveTo>
                <a:lnTo>
                  <a:pt x="7620" y="1830323"/>
                </a:lnTo>
                <a:lnTo>
                  <a:pt x="28956" y="1842515"/>
                </a:lnTo>
                <a:lnTo>
                  <a:pt x="28956" y="1850151"/>
                </a:lnTo>
                <a:lnTo>
                  <a:pt x="731520" y="1430077"/>
                </a:lnTo>
                <a:lnTo>
                  <a:pt x="731520" y="1405127"/>
                </a:lnTo>
                <a:lnTo>
                  <a:pt x="739140" y="1392935"/>
                </a:lnTo>
                <a:close/>
              </a:path>
              <a:path w="760730" h="1858010">
                <a:moveTo>
                  <a:pt x="28956" y="1850151"/>
                </a:moveTo>
                <a:lnTo>
                  <a:pt x="28956" y="1842515"/>
                </a:lnTo>
                <a:lnTo>
                  <a:pt x="7620" y="1830323"/>
                </a:lnTo>
                <a:lnTo>
                  <a:pt x="7620" y="1854707"/>
                </a:lnTo>
                <a:lnTo>
                  <a:pt x="12192" y="1857755"/>
                </a:lnTo>
                <a:lnTo>
                  <a:pt x="18288" y="1857755"/>
                </a:lnTo>
                <a:lnTo>
                  <a:pt x="21336" y="1854708"/>
                </a:lnTo>
                <a:lnTo>
                  <a:pt x="28956" y="1850151"/>
                </a:lnTo>
                <a:close/>
              </a:path>
              <a:path w="760730" h="1858010">
                <a:moveTo>
                  <a:pt x="739140" y="464819"/>
                </a:moveTo>
                <a:lnTo>
                  <a:pt x="731520" y="452627"/>
                </a:lnTo>
                <a:lnTo>
                  <a:pt x="731520" y="460247"/>
                </a:lnTo>
                <a:lnTo>
                  <a:pt x="739140" y="464819"/>
                </a:lnTo>
                <a:close/>
              </a:path>
              <a:path w="760730" h="1858010">
                <a:moveTo>
                  <a:pt x="739140" y="1392935"/>
                </a:moveTo>
                <a:lnTo>
                  <a:pt x="739140" y="464819"/>
                </a:lnTo>
                <a:lnTo>
                  <a:pt x="731520" y="460247"/>
                </a:lnTo>
                <a:lnTo>
                  <a:pt x="731520" y="1397492"/>
                </a:lnTo>
                <a:lnTo>
                  <a:pt x="739140" y="1392935"/>
                </a:lnTo>
                <a:close/>
              </a:path>
              <a:path w="760730" h="1858010">
                <a:moveTo>
                  <a:pt x="739140" y="1425521"/>
                </a:moveTo>
                <a:lnTo>
                  <a:pt x="739140" y="1392935"/>
                </a:lnTo>
                <a:lnTo>
                  <a:pt x="731520" y="1405127"/>
                </a:lnTo>
                <a:lnTo>
                  <a:pt x="731520" y="1430077"/>
                </a:lnTo>
                <a:lnTo>
                  <a:pt x="739140" y="1425521"/>
                </a:lnTo>
                <a:close/>
              </a:path>
            </a:pathLst>
          </a:custGeom>
          <a:solidFill>
            <a:srgbClr val="000000"/>
          </a:solidFill>
        </p:spPr>
        <p:txBody>
          <a:bodyPr wrap="square" lIns="0" tIns="0" rIns="0" bIns="0" rtlCol="0"/>
          <a:lstStyle/>
          <a:p>
            <a:endParaRPr/>
          </a:p>
        </p:txBody>
      </p:sp>
      <p:sp>
        <p:nvSpPr>
          <p:cNvPr id="4" name="object 4"/>
          <p:cNvSpPr txBox="1"/>
          <p:nvPr/>
        </p:nvSpPr>
        <p:spPr>
          <a:xfrm>
            <a:off x="1494023" y="2846322"/>
            <a:ext cx="369332" cy="963677"/>
          </a:xfrm>
          <a:prstGeom prst="rect">
            <a:avLst/>
          </a:prstGeom>
        </p:spPr>
        <p:txBody>
          <a:bodyPr vert="vert" wrap="square" lIns="0" tIns="13970" rIns="0" bIns="0" rtlCol="0">
            <a:spAutoFit/>
          </a:bodyPr>
          <a:lstStyle/>
          <a:p>
            <a:pPr marL="12700">
              <a:lnSpc>
                <a:spcPct val="100000"/>
              </a:lnSpc>
              <a:spcBef>
                <a:spcPts val="110"/>
              </a:spcBef>
            </a:pPr>
            <a:r>
              <a:rPr sz="2400" dirty="0">
                <a:latin typeface="Verdana"/>
                <a:cs typeface="Verdana"/>
              </a:rPr>
              <a:t>MUX</a:t>
            </a:r>
          </a:p>
        </p:txBody>
      </p:sp>
      <p:sp>
        <p:nvSpPr>
          <p:cNvPr id="5" name="object 5"/>
          <p:cNvSpPr/>
          <p:nvPr/>
        </p:nvSpPr>
        <p:spPr>
          <a:xfrm>
            <a:off x="3035807" y="2781300"/>
            <a:ext cx="852169" cy="853440"/>
          </a:xfrm>
          <a:custGeom>
            <a:avLst/>
            <a:gdLst/>
            <a:ahLst/>
            <a:cxnLst/>
            <a:rect l="l" t="t" r="r" b="b"/>
            <a:pathLst>
              <a:path w="852170" h="853439">
                <a:moveTo>
                  <a:pt x="851916" y="431291"/>
                </a:moveTo>
                <a:lnTo>
                  <a:pt x="851916" y="420623"/>
                </a:lnTo>
                <a:lnTo>
                  <a:pt x="848868" y="416051"/>
                </a:lnTo>
                <a:lnTo>
                  <a:pt x="842772" y="414527"/>
                </a:lnTo>
                <a:lnTo>
                  <a:pt x="21336" y="3047"/>
                </a:lnTo>
                <a:lnTo>
                  <a:pt x="16764" y="0"/>
                </a:lnTo>
                <a:lnTo>
                  <a:pt x="10667" y="0"/>
                </a:lnTo>
                <a:lnTo>
                  <a:pt x="6095" y="3047"/>
                </a:lnTo>
                <a:lnTo>
                  <a:pt x="3047" y="6095"/>
                </a:lnTo>
                <a:lnTo>
                  <a:pt x="0" y="10667"/>
                </a:lnTo>
                <a:lnTo>
                  <a:pt x="0" y="842771"/>
                </a:lnTo>
                <a:lnTo>
                  <a:pt x="3048" y="847343"/>
                </a:lnTo>
                <a:lnTo>
                  <a:pt x="6096" y="850391"/>
                </a:lnTo>
                <a:lnTo>
                  <a:pt x="7620" y="850899"/>
                </a:lnTo>
                <a:lnTo>
                  <a:pt x="7620" y="27431"/>
                </a:lnTo>
                <a:lnTo>
                  <a:pt x="28955" y="15239"/>
                </a:lnTo>
                <a:lnTo>
                  <a:pt x="28956" y="38099"/>
                </a:lnTo>
                <a:lnTo>
                  <a:pt x="806150" y="426697"/>
                </a:lnTo>
                <a:lnTo>
                  <a:pt x="830580" y="414527"/>
                </a:lnTo>
                <a:lnTo>
                  <a:pt x="830580" y="445019"/>
                </a:lnTo>
                <a:lnTo>
                  <a:pt x="842772" y="438911"/>
                </a:lnTo>
                <a:lnTo>
                  <a:pt x="848868" y="437387"/>
                </a:lnTo>
                <a:lnTo>
                  <a:pt x="851916" y="431291"/>
                </a:lnTo>
                <a:close/>
              </a:path>
              <a:path w="852170" h="853439">
                <a:moveTo>
                  <a:pt x="28955" y="38099"/>
                </a:moveTo>
                <a:lnTo>
                  <a:pt x="28955" y="15239"/>
                </a:lnTo>
                <a:lnTo>
                  <a:pt x="7620" y="27431"/>
                </a:lnTo>
                <a:lnTo>
                  <a:pt x="28955" y="38099"/>
                </a:lnTo>
                <a:close/>
              </a:path>
              <a:path w="852170" h="853439">
                <a:moveTo>
                  <a:pt x="28956" y="813855"/>
                </a:moveTo>
                <a:lnTo>
                  <a:pt x="28955" y="38099"/>
                </a:lnTo>
                <a:lnTo>
                  <a:pt x="7620" y="27431"/>
                </a:lnTo>
                <a:lnTo>
                  <a:pt x="7620" y="824483"/>
                </a:lnTo>
                <a:lnTo>
                  <a:pt x="28956" y="813855"/>
                </a:lnTo>
                <a:close/>
              </a:path>
              <a:path w="852170" h="853439">
                <a:moveTo>
                  <a:pt x="830580" y="445019"/>
                </a:moveTo>
                <a:lnTo>
                  <a:pt x="830580" y="438911"/>
                </a:lnTo>
                <a:lnTo>
                  <a:pt x="806150" y="426697"/>
                </a:lnTo>
                <a:lnTo>
                  <a:pt x="7620" y="824483"/>
                </a:lnTo>
                <a:lnTo>
                  <a:pt x="28956" y="838199"/>
                </a:lnTo>
                <a:lnTo>
                  <a:pt x="28956" y="846574"/>
                </a:lnTo>
                <a:lnTo>
                  <a:pt x="830580" y="445019"/>
                </a:lnTo>
                <a:close/>
              </a:path>
              <a:path w="852170" h="853439">
                <a:moveTo>
                  <a:pt x="28956" y="846574"/>
                </a:moveTo>
                <a:lnTo>
                  <a:pt x="28956" y="838199"/>
                </a:lnTo>
                <a:lnTo>
                  <a:pt x="7620" y="824483"/>
                </a:lnTo>
                <a:lnTo>
                  <a:pt x="7620" y="850899"/>
                </a:lnTo>
                <a:lnTo>
                  <a:pt x="10668" y="851915"/>
                </a:lnTo>
                <a:lnTo>
                  <a:pt x="16764" y="853439"/>
                </a:lnTo>
                <a:lnTo>
                  <a:pt x="21336" y="850391"/>
                </a:lnTo>
                <a:lnTo>
                  <a:pt x="28956" y="846574"/>
                </a:lnTo>
                <a:close/>
              </a:path>
              <a:path w="852170" h="853439">
                <a:moveTo>
                  <a:pt x="830580" y="438911"/>
                </a:moveTo>
                <a:lnTo>
                  <a:pt x="830580" y="414527"/>
                </a:lnTo>
                <a:lnTo>
                  <a:pt x="806150" y="426697"/>
                </a:lnTo>
                <a:lnTo>
                  <a:pt x="830580" y="438911"/>
                </a:lnTo>
                <a:close/>
              </a:path>
            </a:pathLst>
          </a:custGeom>
          <a:solidFill>
            <a:srgbClr val="000000"/>
          </a:solidFill>
        </p:spPr>
        <p:txBody>
          <a:bodyPr wrap="square" lIns="0" tIns="0" rIns="0" bIns="0" rtlCol="0"/>
          <a:lstStyle/>
          <a:p>
            <a:endParaRPr/>
          </a:p>
        </p:txBody>
      </p:sp>
      <p:sp>
        <p:nvSpPr>
          <p:cNvPr id="6" name="object 6"/>
          <p:cNvSpPr txBox="1"/>
          <p:nvPr/>
        </p:nvSpPr>
        <p:spPr>
          <a:xfrm>
            <a:off x="3068827" y="3045968"/>
            <a:ext cx="57340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DRV</a:t>
            </a:r>
            <a:endParaRPr sz="2000">
              <a:latin typeface="Verdana"/>
              <a:cs typeface="Verdana"/>
            </a:endParaRPr>
          </a:p>
        </p:txBody>
      </p:sp>
      <p:sp>
        <p:nvSpPr>
          <p:cNvPr id="7" name="object 7"/>
          <p:cNvSpPr/>
          <p:nvPr/>
        </p:nvSpPr>
        <p:spPr>
          <a:xfrm>
            <a:off x="955548" y="2458211"/>
            <a:ext cx="5177155" cy="1481455"/>
          </a:xfrm>
          <a:custGeom>
            <a:avLst/>
            <a:gdLst/>
            <a:ahLst/>
            <a:cxnLst/>
            <a:rect l="l" t="t" r="r" b="b"/>
            <a:pathLst>
              <a:path w="5177155" h="1481454">
                <a:moveTo>
                  <a:pt x="368808" y="1452372"/>
                </a:moveTo>
                <a:lnTo>
                  <a:pt x="0" y="1450848"/>
                </a:lnTo>
                <a:lnTo>
                  <a:pt x="0" y="1478280"/>
                </a:lnTo>
                <a:lnTo>
                  <a:pt x="368808" y="1481328"/>
                </a:lnTo>
                <a:lnTo>
                  <a:pt x="368808" y="1452372"/>
                </a:lnTo>
                <a:close/>
              </a:path>
              <a:path w="5177155" h="1481454">
                <a:moveTo>
                  <a:pt x="368808" y="1261872"/>
                </a:moveTo>
                <a:lnTo>
                  <a:pt x="0" y="1260348"/>
                </a:lnTo>
                <a:lnTo>
                  <a:pt x="0" y="1287780"/>
                </a:lnTo>
                <a:lnTo>
                  <a:pt x="368808" y="1290828"/>
                </a:lnTo>
                <a:lnTo>
                  <a:pt x="368808" y="1261872"/>
                </a:lnTo>
                <a:close/>
              </a:path>
              <a:path w="5177155" h="1481454">
                <a:moveTo>
                  <a:pt x="368808" y="1082040"/>
                </a:moveTo>
                <a:lnTo>
                  <a:pt x="0" y="1080516"/>
                </a:lnTo>
                <a:lnTo>
                  <a:pt x="0" y="1107948"/>
                </a:lnTo>
                <a:lnTo>
                  <a:pt x="368808" y="1110996"/>
                </a:lnTo>
                <a:lnTo>
                  <a:pt x="368808" y="1082040"/>
                </a:lnTo>
                <a:close/>
              </a:path>
              <a:path w="5177155" h="1481454">
                <a:moveTo>
                  <a:pt x="368808" y="902208"/>
                </a:moveTo>
                <a:lnTo>
                  <a:pt x="0" y="899160"/>
                </a:lnTo>
                <a:lnTo>
                  <a:pt x="0" y="928116"/>
                </a:lnTo>
                <a:lnTo>
                  <a:pt x="368808" y="931164"/>
                </a:lnTo>
                <a:lnTo>
                  <a:pt x="368808" y="902208"/>
                </a:lnTo>
                <a:close/>
              </a:path>
              <a:path w="5177155" h="1481454">
                <a:moveTo>
                  <a:pt x="368808" y="736092"/>
                </a:moveTo>
                <a:lnTo>
                  <a:pt x="0" y="733044"/>
                </a:lnTo>
                <a:lnTo>
                  <a:pt x="0" y="762000"/>
                </a:lnTo>
                <a:lnTo>
                  <a:pt x="368808" y="763524"/>
                </a:lnTo>
                <a:lnTo>
                  <a:pt x="368808" y="736092"/>
                </a:lnTo>
                <a:close/>
              </a:path>
              <a:path w="5177155" h="1481454">
                <a:moveTo>
                  <a:pt x="368808" y="553212"/>
                </a:moveTo>
                <a:lnTo>
                  <a:pt x="0" y="550164"/>
                </a:lnTo>
                <a:lnTo>
                  <a:pt x="0" y="579120"/>
                </a:lnTo>
                <a:lnTo>
                  <a:pt x="368808" y="582168"/>
                </a:lnTo>
                <a:lnTo>
                  <a:pt x="368808" y="553212"/>
                </a:lnTo>
                <a:close/>
              </a:path>
              <a:path w="5177155" h="1481454">
                <a:moveTo>
                  <a:pt x="368808" y="362712"/>
                </a:moveTo>
                <a:lnTo>
                  <a:pt x="0" y="359664"/>
                </a:lnTo>
                <a:lnTo>
                  <a:pt x="0" y="388620"/>
                </a:lnTo>
                <a:lnTo>
                  <a:pt x="368808" y="391668"/>
                </a:lnTo>
                <a:lnTo>
                  <a:pt x="368808" y="362712"/>
                </a:lnTo>
                <a:close/>
              </a:path>
              <a:path w="5177155" h="1481454">
                <a:moveTo>
                  <a:pt x="368808" y="182880"/>
                </a:moveTo>
                <a:lnTo>
                  <a:pt x="0" y="179832"/>
                </a:lnTo>
                <a:lnTo>
                  <a:pt x="0" y="208788"/>
                </a:lnTo>
                <a:lnTo>
                  <a:pt x="368808" y="211836"/>
                </a:lnTo>
                <a:lnTo>
                  <a:pt x="368808" y="182880"/>
                </a:lnTo>
                <a:close/>
              </a:path>
              <a:path w="5177155" h="1481454">
                <a:moveTo>
                  <a:pt x="368808" y="3048"/>
                </a:moveTo>
                <a:lnTo>
                  <a:pt x="0" y="0"/>
                </a:lnTo>
                <a:lnTo>
                  <a:pt x="0" y="28956"/>
                </a:lnTo>
                <a:lnTo>
                  <a:pt x="368808" y="30480"/>
                </a:lnTo>
                <a:lnTo>
                  <a:pt x="368808" y="3048"/>
                </a:lnTo>
                <a:close/>
              </a:path>
              <a:path w="5177155" h="1481454">
                <a:moveTo>
                  <a:pt x="2093976" y="736092"/>
                </a:moveTo>
                <a:lnTo>
                  <a:pt x="1115568" y="733044"/>
                </a:lnTo>
                <a:lnTo>
                  <a:pt x="1114044" y="762000"/>
                </a:lnTo>
                <a:lnTo>
                  <a:pt x="2093976" y="763524"/>
                </a:lnTo>
                <a:lnTo>
                  <a:pt x="2093976" y="736092"/>
                </a:lnTo>
                <a:close/>
              </a:path>
              <a:path w="5177155" h="1481454">
                <a:moveTo>
                  <a:pt x="5177028" y="752856"/>
                </a:moveTo>
                <a:lnTo>
                  <a:pt x="5169408" y="681228"/>
                </a:lnTo>
                <a:lnTo>
                  <a:pt x="5155692" y="638556"/>
                </a:lnTo>
                <a:lnTo>
                  <a:pt x="5148072" y="618744"/>
                </a:lnTo>
                <a:lnTo>
                  <a:pt x="5148072" y="754380"/>
                </a:lnTo>
                <a:lnTo>
                  <a:pt x="5145024" y="798576"/>
                </a:lnTo>
                <a:lnTo>
                  <a:pt x="5135880" y="838200"/>
                </a:lnTo>
                <a:lnTo>
                  <a:pt x="5122164" y="876300"/>
                </a:lnTo>
                <a:lnTo>
                  <a:pt x="5091684" y="920496"/>
                </a:lnTo>
                <a:lnTo>
                  <a:pt x="5055108" y="952500"/>
                </a:lnTo>
                <a:lnTo>
                  <a:pt x="5013960" y="966216"/>
                </a:lnTo>
                <a:lnTo>
                  <a:pt x="5007864" y="967740"/>
                </a:lnTo>
                <a:lnTo>
                  <a:pt x="3673056" y="967740"/>
                </a:lnTo>
                <a:lnTo>
                  <a:pt x="3677412" y="964692"/>
                </a:lnTo>
                <a:lnTo>
                  <a:pt x="3692652" y="952500"/>
                </a:lnTo>
                <a:lnTo>
                  <a:pt x="3729228" y="905256"/>
                </a:lnTo>
                <a:lnTo>
                  <a:pt x="3747516" y="867156"/>
                </a:lnTo>
                <a:lnTo>
                  <a:pt x="3759708" y="824484"/>
                </a:lnTo>
                <a:lnTo>
                  <a:pt x="3767328" y="752856"/>
                </a:lnTo>
                <a:lnTo>
                  <a:pt x="3764280" y="705612"/>
                </a:lnTo>
                <a:lnTo>
                  <a:pt x="3759708" y="681228"/>
                </a:lnTo>
                <a:lnTo>
                  <a:pt x="3753612" y="659892"/>
                </a:lnTo>
                <a:lnTo>
                  <a:pt x="3745992" y="638556"/>
                </a:lnTo>
                <a:lnTo>
                  <a:pt x="3738372" y="618744"/>
                </a:lnTo>
                <a:lnTo>
                  <a:pt x="3738372" y="731520"/>
                </a:lnTo>
                <a:lnTo>
                  <a:pt x="3738372" y="775716"/>
                </a:lnTo>
                <a:lnTo>
                  <a:pt x="3732276" y="818388"/>
                </a:lnTo>
                <a:lnTo>
                  <a:pt x="3720084" y="858012"/>
                </a:lnTo>
                <a:lnTo>
                  <a:pt x="3694176" y="906780"/>
                </a:lnTo>
                <a:lnTo>
                  <a:pt x="3659124" y="943356"/>
                </a:lnTo>
                <a:lnTo>
                  <a:pt x="3619500" y="963168"/>
                </a:lnTo>
                <a:lnTo>
                  <a:pt x="3604260" y="966216"/>
                </a:lnTo>
                <a:lnTo>
                  <a:pt x="3598164" y="967740"/>
                </a:lnTo>
                <a:lnTo>
                  <a:pt x="3582924" y="967740"/>
                </a:lnTo>
                <a:lnTo>
                  <a:pt x="3576828" y="966216"/>
                </a:lnTo>
                <a:lnTo>
                  <a:pt x="3561588" y="963168"/>
                </a:lnTo>
                <a:lnTo>
                  <a:pt x="3521964" y="941832"/>
                </a:lnTo>
                <a:lnTo>
                  <a:pt x="3488436" y="906780"/>
                </a:lnTo>
                <a:lnTo>
                  <a:pt x="3462528" y="856488"/>
                </a:lnTo>
                <a:lnTo>
                  <a:pt x="3450336" y="818388"/>
                </a:lnTo>
                <a:lnTo>
                  <a:pt x="3444240" y="775716"/>
                </a:lnTo>
                <a:lnTo>
                  <a:pt x="3444240" y="752856"/>
                </a:lnTo>
                <a:lnTo>
                  <a:pt x="3447288" y="708660"/>
                </a:lnTo>
                <a:lnTo>
                  <a:pt x="3456432" y="667512"/>
                </a:lnTo>
                <a:lnTo>
                  <a:pt x="3470148" y="630936"/>
                </a:lnTo>
                <a:lnTo>
                  <a:pt x="3500628" y="585216"/>
                </a:lnTo>
                <a:lnTo>
                  <a:pt x="3537204" y="554736"/>
                </a:lnTo>
                <a:lnTo>
                  <a:pt x="3578352" y="539496"/>
                </a:lnTo>
                <a:lnTo>
                  <a:pt x="3605784" y="539496"/>
                </a:lnTo>
                <a:lnTo>
                  <a:pt x="3648456" y="556260"/>
                </a:lnTo>
                <a:lnTo>
                  <a:pt x="3683508" y="586740"/>
                </a:lnTo>
                <a:lnTo>
                  <a:pt x="3712464" y="632460"/>
                </a:lnTo>
                <a:lnTo>
                  <a:pt x="3726180" y="669036"/>
                </a:lnTo>
                <a:lnTo>
                  <a:pt x="3738372" y="731520"/>
                </a:lnTo>
                <a:lnTo>
                  <a:pt x="3738372" y="618744"/>
                </a:lnTo>
                <a:lnTo>
                  <a:pt x="3717036" y="583692"/>
                </a:lnTo>
                <a:lnTo>
                  <a:pt x="3691128" y="553212"/>
                </a:lnTo>
                <a:lnTo>
                  <a:pt x="3673703" y="539496"/>
                </a:lnTo>
                <a:lnTo>
                  <a:pt x="5015484" y="539496"/>
                </a:lnTo>
                <a:lnTo>
                  <a:pt x="5030724" y="544068"/>
                </a:lnTo>
                <a:lnTo>
                  <a:pt x="5044440" y="548640"/>
                </a:lnTo>
                <a:lnTo>
                  <a:pt x="5056632" y="556260"/>
                </a:lnTo>
                <a:lnTo>
                  <a:pt x="5070348" y="563880"/>
                </a:lnTo>
                <a:lnTo>
                  <a:pt x="5103876" y="600456"/>
                </a:lnTo>
                <a:lnTo>
                  <a:pt x="5129784" y="650748"/>
                </a:lnTo>
                <a:lnTo>
                  <a:pt x="5141976" y="688848"/>
                </a:lnTo>
                <a:lnTo>
                  <a:pt x="5148072" y="754380"/>
                </a:lnTo>
                <a:lnTo>
                  <a:pt x="5148072" y="618744"/>
                </a:lnTo>
                <a:lnTo>
                  <a:pt x="5126736" y="583692"/>
                </a:lnTo>
                <a:lnTo>
                  <a:pt x="5100828" y="553212"/>
                </a:lnTo>
                <a:lnTo>
                  <a:pt x="5070348" y="530352"/>
                </a:lnTo>
                <a:lnTo>
                  <a:pt x="5009388" y="510540"/>
                </a:lnTo>
                <a:lnTo>
                  <a:pt x="3599688" y="510540"/>
                </a:lnTo>
                <a:lnTo>
                  <a:pt x="3581400" y="510540"/>
                </a:lnTo>
                <a:lnTo>
                  <a:pt x="3537204" y="522732"/>
                </a:lnTo>
                <a:lnTo>
                  <a:pt x="3477768" y="568452"/>
                </a:lnTo>
                <a:lnTo>
                  <a:pt x="3453384" y="601980"/>
                </a:lnTo>
                <a:lnTo>
                  <a:pt x="3436620" y="640080"/>
                </a:lnTo>
                <a:lnTo>
                  <a:pt x="3422904" y="682752"/>
                </a:lnTo>
                <a:lnTo>
                  <a:pt x="3415284" y="754380"/>
                </a:lnTo>
                <a:lnTo>
                  <a:pt x="3418332" y="801624"/>
                </a:lnTo>
                <a:lnTo>
                  <a:pt x="3429000" y="847344"/>
                </a:lnTo>
                <a:lnTo>
                  <a:pt x="3444240" y="888492"/>
                </a:lnTo>
                <a:lnTo>
                  <a:pt x="3465576" y="923544"/>
                </a:lnTo>
                <a:lnTo>
                  <a:pt x="3491484" y="954024"/>
                </a:lnTo>
                <a:lnTo>
                  <a:pt x="3521964" y="976884"/>
                </a:lnTo>
                <a:lnTo>
                  <a:pt x="3573780" y="995172"/>
                </a:lnTo>
                <a:lnTo>
                  <a:pt x="3582924" y="996696"/>
                </a:lnTo>
                <a:lnTo>
                  <a:pt x="3592068" y="996696"/>
                </a:lnTo>
                <a:lnTo>
                  <a:pt x="5001768" y="996696"/>
                </a:lnTo>
                <a:lnTo>
                  <a:pt x="5010912" y="995172"/>
                </a:lnTo>
                <a:lnTo>
                  <a:pt x="5020056" y="995172"/>
                </a:lnTo>
                <a:lnTo>
                  <a:pt x="5038344" y="990600"/>
                </a:lnTo>
                <a:lnTo>
                  <a:pt x="5087112" y="964692"/>
                </a:lnTo>
                <a:lnTo>
                  <a:pt x="5126736" y="922020"/>
                </a:lnTo>
                <a:lnTo>
                  <a:pt x="5148072" y="886968"/>
                </a:lnTo>
                <a:lnTo>
                  <a:pt x="5163312" y="845820"/>
                </a:lnTo>
                <a:lnTo>
                  <a:pt x="5173980" y="801624"/>
                </a:lnTo>
                <a:lnTo>
                  <a:pt x="5177028" y="752856"/>
                </a:lnTo>
                <a:close/>
              </a:path>
            </a:pathLst>
          </a:custGeom>
          <a:solidFill>
            <a:srgbClr val="000000"/>
          </a:solidFill>
        </p:spPr>
        <p:txBody>
          <a:bodyPr wrap="square" lIns="0" tIns="0" rIns="0" bIns="0" rtlCol="0"/>
          <a:lstStyle/>
          <a:p>
            <a:endParaRPr/>
          </a:p>
        </p:txBody>
      </p:sp>
      <p:sp>
        <p:nvSpPr>
          <p:cNvPr id="8" name="object 8"/>
          <p:cNvSpPr txBox="1"/>
          <p:nvPr/>
        </p:nvSpPr>
        <p:spPr>
          <a:xfrm>
            <a:off x="4800091" y="3042920"/>
            <a:ext cx="106172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Channel</a:t>
            </a:r>
            <a:endParaRPr sz="2000">
              <a:latin typeface="Verdana"/>
              <a:cs typeface="Verdana"/>
            </a:endParaRPr>
          </a:p>
        </p:txBody>
      </p:sp>
      <p:sp>
        <p:nvSpPr>
          <p:cNvPr id="9" name="object 9"/>
          <p:cNvSpPr/>
          <p:nvPr/>
        </p:nvSpPr>
        <p:spPr>
          <a:xfrm>
            <a:off x="3872484" y="2276855"/>
            <a:ext cx="7056120" cy="1858010"/>
          </a:xfrm>
          <a:custGeom>
            <a:avLst/>
            <a:gdLst/>
            <a:ahLst/>
            <a:cxnLst/>
            <a:rect l="l" t="t" r="r" b="b"/>
            <a:pathLst>
              <a:path w="7056120" h="1858010">
                <a:moveTo>
                  <a:pt x="513588" y="920496"/>
                </a:moveTo>
                <a:lnTo>
                  <a:pt x="0" y="917448"/>
                </a:lnTo>
                <a:lnTo>
                  <a:pt x="0" y="944880"/>
                </a:lnTo>
                <a:lnTo>
                  <a:pt x="512064" y="949452"/>
                </a:lnTo>
                <a:lnTo>
                  <a:pt x="513588" y="920496"/>
                </a:lnTo>
                <a:close/>
              </a:path>
              <a:path w="7056120" h="1858010">
                <a:moveTo>
                  <a:pt x="5123688" y="914400"/>
                </a:moveTo>
                <a:lnTo>
                  <a:pt x="2244852" y="914400"/>
                </a:lnTo>
                <a:lnTo>
                  <a:pt x="2244852" y="943356"/>
                </a:lnTo>
                <a:lnTo>
                  <a:pt x="5123688" y="943356"/>
                </a:lnTo>
                <a:lnTo>
                  <a:pt x="5123688" y="914400"/>
                </a:lnTo>
                <a:close/>
              </a:path>
              <a:path w="7056120" h="1858010">
                <a:moveTo>
                  <a:pt x="7056120" y="9144"/>
                </a:moveTo>
                <a:lnTo>
                  <a:pt x="7053072" y="4572"/>
                </a:lnTo>
                <a:lnTo>
                  <a:pt x="7048500" y="1524"/>
                </a:lnTo>
                <a:lnTo>
                  <a:pt x="7043928" y="0"/>
                </a:lnTo>
                <a:lnTo>
                  <a:pt x="7039356" y="0"/>
                </a:lnTo>
                <a:lnTo>
                  <a:pt x="7034784" y="1524"/>
                </a:lnTo>
                <a:lnTo>
                  <a:pt x="7027164" y="6083"/>
                </a:lnTo>
                <a:lnTo>
                  <a:pt x="7027164" y="38709"/>
                </a:lnTo>
                <a:lnTo>
                  <a:pt x="7027164" y="1817573"/>
                </a:lnTo>
                <a:lnTo>
                  <a:pt x="6324600" y="1397495"/>
                </a:lnTo>
                <a:lnTo>
                  <a:pt x="6324600" y="460248"/>
                </a:lnTo>
                <a:lnTo>
                  <a:pt x="7027164" y="38709"/>
                </a:lnTo>
                <a:lnTo>
                  <a:pt x="7027164" y="6083"/>
                </a:lnTo>
                <a:lnTo>
                  <a:pt x="6303264" y="438912"/>
                </a:lnTo>
                <a:lnTo>
                  <a:pt x="6298692" y="441960"/>
                </a:lnTo>
                <a:lnTo>
                  <a:pt x="6295644" y="446532"/>
                </a:lnTo>
                <a:lnTo>
                  <a:pt x="6295644" y="1409700"/>
                </a:lnTo>
                <a:lnTo>
                  <a:pt x="6298692" y="1414272"/>
                </a:lnTo>
                <a:lnTo>
                  <a:pt x="6303264" y="1417320"/>
                </a:lnTo>
                <a:lnTo>
                  <a:pt x="6316980" y="1425524"/>
                </a:lnTo>
                <a:lnTo>
                  <a:pt x="6324600" y="1430083"/>
                </a:lnTo>
                <a:lnTo>
                  <a:pt x="7027164" y="1850161"/>
                </a:lnTo>
                <a:lnTo>
                  <a:pt x="7034784" y="1854708"/>
                </a:lnTo>
                <a:lnTo>
                  <a:pt x="7039356" y="1857756"/>
                </a:lnTo>
                <a:lnTo>
                  <a:pt x="7043928" y="1857756"/>
                </a:lnTo>
                <a:lnTo>
                  <a:pt x="7048500" y="1854708"/>
                </a:lnTo>
                <a:lnTo>
                  <a:pt x="7053072" y="1851660"/>
                </a:lnTo>
                <a:lnTo>
                  <a:pt x="7056120" y="1847088"/>
                </a:lnTo>
                <a:lnTo>
                  <a:pt x="7056120" y="9144"/>
                </a:lnTo>
                <a:close/>
              </a:path>
            </a:pathLst>
          </a:custGeom>
          <a:solidFill>
            <a:srgbClr val="000000"/>
          </a:solidFill>
        </p:spPr>
        <p:txBody>
          <a:bodyPr wrap="square" lIns="0" tIns="0" rIns="0" bIns="0" rtlCol="0"/>
          <a:lstStyle/>
          <a:p>
            <a:endParaRPr/>
          </a:p>
        </p:txBody>
      </p:sp>
      <p:sp>
        <p:nvSpPr>
          <p:cNvPr id="10" name="object 10"/>
          <p:cNvSpPr txBox="1"/>
          <p:nvPr/>
        </p:nvSpPr>
        <p:spPr>
          <a:xfrm>
            <a:off x="10388486" y="2667000"/>
            <a:ext cx="369332" cy="1012751"/>
          </a:xfrm>
          <a:prstGeom prst="rect">
            <a:avLst/>
          </a:prstGeom>
        </p:spPr>
        <p:txBody>
          <a:bodyPr vert="vert270" wrap="square" lIns="0" tIns="13970" rIns="0" bIns="0" rtlCol="0">
            <a:spAutoFit/>
          </a:bodyPr>
          <a:lstStyle/>
          <a:p>
            <a:pPr marL="12700">
              <a:lnSpc>
                <a:spcPct val="100000"/>
              </a:lnSpc>
              <a:spcBef>
                <a:spcPts val="110"/>
              </a:spcBef>
            </a:pPr>
            <a:r>
              <a:rPr sz="2400" dirty="0">
                <a:latin typeface="Verdana"/>
                <a:cs typeface="Verdana"/>
              </a:rPr>
              <a:t>DMUX</a:t>
            </a:r>
          </a:p>
        </p:txBody>
      </p:sp>
      <p:sp>
        <p:nvSpPr>
          <p:cNvPr id="11" name="object 11"/>
          <p:cNvSpPr/>
          <p:nvPr/>
        </p:nvSpPr>
        <p:spPr>
          <a:xfrm>
            <a:off x="8980932" y="2458211"/>
            <a:ext cx="2303145" cy="1481455"/>
          </a:xfrm>
          <a:custGeom>
            <a:avLst/>
            <a:gdLst/>
            <a:ahLst/>
            <a:cxnLst/>
            <a:rect l="l" t="t" r="r" b="b"/>
            <a:pathLst>
              <a:path w="2303145" h="1481454">
                <a:moveTo>
                  <a:pt x="851916" y="368808"/>
                </a:moveTo>
                <a:lnTo>
                  <a:pt x="845820" y="362712"/>
                </a:lnTo>
                <a:lnTo>
                  <a:pt x="822960" y="362712"/>
                </a:lnTo>
                <a:lnTo>
                  <a:pt x="822960" y="391668"/>
                </a:lnTo>
                <a:lnTo>
                  <a:pt x="822960" y="1094232"/>
                </a:lnTo>
                <a:lnTo>
                  <a:pt x="28956" y="1094232"/>
                </a:lnTo>
                <a:lnTo>
                  <a:pt x="28956" y="391668"/>
                </a:lnTo>
                <a:lnTo>
                  <a:pt x="822960" y="391668"/>
                </a:lnTo>
                <a:lnTo>
                  <a:pt x="822960" y="362712"/>
                </a:lnTo>
                <a:lnTo>
                  <a:pt x="7620" y="362712"/>
                </a:lnTo>
                <a:lnTo>
                  <a:pt x="0" y="368808"/>
                </a:lnTo>
                <a:lnTo>
                  <a:pt x="0" y="1115568"/>
                </a:lnTo>
                <a:lnTo>
                  <a:pt x="7620" y="1123188"/>
                </a:lnTo>
                <a:lnTo>
                  <a:pt x="15240" y="1123188"/>
                </a:lnTo>
                <a:lnTo>
                  <a:pt x="28956" y="1123188"/>
                </a:lnTo>
                <a:lnTo>
                  <a:pt x="822960" y="1123188"/>
                </a:lnTo>
                <a:lnTo>
                  <a:pt x="838200" y="1123188"/>
                </a:lnTo>
                <a:lnTo>
                  <a:pt x="845820" y="1123188"/>
                </a:lnTo>
                <a:lnTo>
                  <a:pt x="851916" y="1115568"/>
                </a:lnTo>
                <a:lnTo>
                  <a:pt x="851916" y="368808"/>
                </a:lnTo>
                <a:close/>
              </a:path>
              <a:path w="2303145" h="1481454">
                <a:moveTo>
                  <a:pt x="2302764" y="1452372"/>
                </a:moveTo>
                <a:lnTo>
                  <a:pt x="1933956" y="1450848"/>
                </a:lnTo>
                <a:lnTo>
                  <a:pt x="1932432" y="1478280"/>
                </a:lnTo>
                <a:lnTo>
                  <a:pt x="2302764" y="1481328"/>
                </a:lnTo>
                <a:lnTo>
                  <a:pt x="2302764" y="1452372"/>
                </a:lnTo>
                <a:close/>
              </a:path>
              <a:path w="2303145" h="1481454">
                <a:moveTo>
                  <a:pt x="2302764" y="1261872"/>
                </a:moveTo>
                <a:lnTo>
                  <a:pt x="1933956" y="1260348"/>
                </a:lnTo>
                <a:lnTo>
                  <a:pt x="1932432" y="1287780"/>
                </a:lnTo>
                <a:lnTo>
                  <a:pt x="2302764" y="1290828"/>
                </a:lnTo>
                <a:lnTo>
                  <a:pt x="2302764" y="1261872"/>
                </a:lnTo>
                <a:close/>
              </a:path>
              <a:path w="2303145" h="1481454">
                <a:moveTo>
                  <a:pt x="2302764" y="1082040"/>
                </a:moveTo>
                <a:lnTo>
                  <a:pt x="1933956" y="1080516"/>
                </a:lnTo>
                <a:lnTo>
                  <a:pt x="1932432" y="1107948"/>
                </a:lnTo>
                <a:lnTo>
                  <a:pt x="2302764" y="1110996"/>
                </a:lnTo>
                <a:lnTo>
                  <a:pt x="2302764" y="1082040"/>
                </a:lnTo>
                <a:close/>
              </a:path>
              <a:path w="2303145" h="1481454">
                <a:moveTo>
                  <a:pt x="2302764" y="902208"/>
                </a:moveTo>
                <a:lnTo>
                  <a:pt x="1933956" y="899160"/>
                </a:lnTo>
                <a:lnTo>
                  <a:pt x="1932432" y="928116"/>
                </a:lnTo>
                <a:lnTo>
                  <a:pt x="2302764" y="931164"/>
                </a:lnTo>
                <a:lnTo>
                  <a:pt x="2302764" y="902208"/>
                </a:lnTo>
                <a:close/>
              </a:path>
              <a:path w="2303145" h="1481454">
                <a:moveTo>
                  <a:pt x="2302764" y="553212"/>
                </a:moveTo>
                <a:lnTo>
                  <a:pt x="1933956" y="550164"/>
                </a:lnTo>
                <a:lnTo>
                  <a:pt x="1932432" y="579120"/>
                </a:lnTo>
                <a:lnTo>
                  <a:pt x="2302764" y="582168"/>
                </a:lnTo>
                <a:lnTo>
                  <a:pt x="2302764" y="553212"/>
                </a:lnTo>
                <a:close/>
              </a:path>
              <a:path w="2303145" h="1481454">
                <a:moveTo>
                  <a:pt x="2302764" y="362712"/>
                </a:moveTo>
                <a:lnTo>
                  <a:pt x="1933956" y="359664"/>
                </a:lnTo>
                <a:lnTo>
                  <a:pt x="1932432" y="388620"/>
                </a:lnTo>
                <a:lnTo>
                  <a:pt x="2302764" y="391668"/>
                </a:lnTo>
                <a:lnTo>
                  <a:pt x="2302764" y="362712"/>
                </a:lnTo>
                <a:close/>
              </a:path>
              <a:path w="2303145" h="1481454">
                <a:moveTo>
                  <a:pt x="2302764" y="182880"/>
                </a:moveTo>
                <a:lnTo>
                  <a:pt x="1933956" y="179832"/>
                </a:lnTo>
                <a:lnTo>
                  <a:pt x="1932432" y="208788"/>
                </a:lnTo>
                <a:lnTo>
                  <a:pt x="2302764" y="211836"/>
                </a:lnTo>
                <a:lnTo>
                  <a:pt x="2302764" y="182880"/>
                </a:lnTo>
                <a:close/>
              </a:path>
              <a:path w="2303145" h="1481454">
                <a:moveTo>
                  <a:pt x="2302764" y="3048"/>
                </a:moveTo>
                <a:lnTo>
                  <a:pt x="1933956" y="0"/>
                </a:lnTo>
                <a:lnTo>
                  <a:pt x="1932432" y="28956"/>
                </a:lnTo>
                <a:lnTo>
                  <a:pt x="2302764" y="30480"/>
                </a:lnTo>
                <a:lnTo>
                  <a:pt x="2302764" y="3048"/>
                </a:lnTo>
                <a:close/>
              </a:path>
            </a:pathLst>
          </a:custGeom>
          <a:solidFill>
            <a:srgbClr val="000000"/>
          </a:solidFill>
        </p:spPr>
        <p:txBody>
          <a:bodyPr wrap="square" lIns="0" tIns="0" rIns="0" bIns="0" rtlCol="0"/>
          <a:lstStyle/>
          <a:p>
            <a:endParaRPr/>
          </a:p>
        </p:txBody>
      </p:sp>
      <p:sp>
        <p:nvSpPr>
          <p:cNvPr id="12" name="object 12"/>
          <p:cNvSpPr txBox="1"/>
          <p:nvPr/>
        </p:nvSpPr>
        <p:spPr>
          <a:xfrm>
            <a:off x="9140443" y="3017012"/>
            <a:ext cx="53022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DFE</a:t>
            </a:r>
            <a:endParaRPr sz="2000">
              <a:latin typeface="Verdana"/>
              <a:cs typeface="Verdana"/>
            </a:endParaRPr>
          </a:p>
        </p:txBody>
      </p:sp>
      <p:sp>
        <p:nvSpPr>
          <p:cNvPr id="13" name="object 13"/>
          <p:cNvSpPr/>
          <p:nvPr/>
        </p:nvSpPr>
        <p:spPr>
          <a:xfrm>
            <a:off x="9361932" y="3188207"/>
            <a:ext cx="826135" cy="836930"/>
          </a:xfrm>
          <a:custGeom>
            <a:avLst/>
            <a:gdLst/>
            <a:ahLst/>
            <a:cxnLst/>
            <a:rect l="l" t="t" r="r" b="b"/>
            <a:pathLst>
              <a:path w="826134" h="836929">
                <a:moveTo>
                  <a:pt x="86868" y="463296"/>
                </a:moveTo>
                <a:lnTo>
                  <a:pt x="44196" y="377952"/>
                </a:lnTo>
                <a:lnTo>
                  <a:pt x="0" y="463296"/>
                </a:lnTo>
                <a:lnTo>
                  <a:pt x="28956" y="463296"/>
                </a:lnTo>
                <a:lnTo>
                  <a:pt x="28956" y="836676"/>
                </a:lnTo>
                <a:lnTo>
                  <a:pt x="57912" y="836676"/>
                </a:lnTo>
                <a:lnTo>
                  <a:pt x="57912" y="463296"/>
                </a:lnTo>
                <a:lnTo>
                  <a:pt x="86868" y="463296"/>
                </a:lnTo>
                <a:close/>
              </a:path>
              <a:path w="826134" h="836929">
                <a:moveTo>
                  <a:pt x="826008" y="1524"/>
                </a:moveTo>
                <a:lnTo>
                  <a:pt x="457200" y="0"/>
                </a:lnTo>
                <a:lnTo>
                  <a:pt x="457200" y="27432"/>
                </a:lnTo>
                <a:lnTo>
                  <a:pt x="826008" y="30480"/>
                </a:lnTo>
                <a:lnTo>
                  <a:pt x="826008" y="1524"/>
                </a:lnTo>
                <a:close/>
              </a:path>
            </a:pathLst>
          </a:custGeom>
          <a:solidFill>
            <a:srgbClr val="000000"/>
          </a:solidFill>
        </p:spPr>
        <p:txBody>
          <a:bodyPr wrap="square" lIns="0" tIns="0" rIns="0" bIns="0" rtlCol="0"/>
          <a:lstStyle/>
          <a:p>
            <a:endParaRPr/>
          </a:p>
        </p:txBody>
      </p:sp>
      <p:sp>
        <p:nvSpPr>
          <p:cNvPr id="14" name="object 14"/>
          <p:cNvSpPr txBox="1"/>
          <p:nvPr/>
        </p:nvSpPr>
        <p:spPr>
          <a:xfrm>
            <a:off x="8835643" y="4205732"/>
            <a:ext cx="57785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CDR</a:t>
            </a:r>
            <a:endParaRPr sz="2000">
              <a:latin typeface="Verdana"/>
              <a:cs typeface="Verdana"/>
            </a:endParaRPr>
          </a:p>
        </p:txBody>
      </p:sp>
      <p:sp>
        <p:nvSpPr>
          <p:cNvPr id="15" name="object 15"/>
          <p:cNvSpPr/>
          <p:nvPr/>
        </p:nvSpPr>
        <p:spPr>
          <a:xfrm>
            <a:off x="1132332" y="1924811"/>
            <a:ext cx="3177540" cy="3238500"/>
          </a:xfrm>
          <a:custGeom>
            <a:avLst/>
            <a:gdLst/>
            <a:ahLst/>
            <a:cxnLst/>
            <a:rect l="l" t="t" r="r" b="b"/>
            <a:pathLst>
              <a:path w="3177540" h="3238500">
                <a:moveTo>
                  <a:pt x="27432" y="3211068"/>
                </a:moveTo>
                <a:lnTo>
                  <a:pt x="27432" y="3195828"/>
                </a:lnTo>
                <a:lnTo>
                  <a:pt x="0" y="3195828"/>
                </a:lnTo>
                <a:lnTo>
                  <a:pt x="0" y="3224784"/>
                </a:lnTo>
                <a:lnTo>
                  <a:pt x="22860" y="3224784"/>
                </a:lnTo>
                <a:lnTo>
                  <a:pt x="22860" y="3211068"/>
                </a:lnTo>
                <a:lnTo>
                  <a:pt x="27432" y="3211068"/>
                </a:lnTo>
                <a:close/>
              </a:path>
              <a:path w="3177540" h="3238500">
                <a:moveTo>
                  <a:pt x="51816" y="3238500"/>
                </a:moveTo>
                <a:lnTo>
                  <a:pt x="51816" y="3211068"/>
                </a:lnTo>
                <a:lnTo>
                  <a:pt x="22860" y="3211068"/>
                </a:lnTo>
                <a:lnTo>
                  <a:pt x="22860" y="3224784"/>
                </a:lnTo>
                <a:lnTo>
                  <a:pt x="27432" y="3224784"/>
                </a:lnTo>
                <a:lnTo>
                  <a:pt x="27432" y="3238500"/>
                </a:lnTo>
                <a:lnTo>
                  <a:pt x="51816" y="3238500"/>
                </a:lnTo>
                <a:close/>
              </a:path>
              <a:path w="3177540" h="3238500">
                <a:moveTo>
                  <a:pt x="27432" y="3238500"/>
                </a:moveTo>
                <a:lnTo>
                  <a:pt x="27432" y="3224784"/>
                </a:lnTo>
                <a:lnTo>
                  <a:pt x="22860" y="3224784"/>
                </a:lnTo>
                <a:lnTo>
                  <a:pt x="22860" y="3238500"/>
                </a:lnTo>
                <a:lnTo>
                  <a:pt x="27432" y="3238500"/>
                </a:lnTo>
                <a:close/>
              </a:path>
              <a:path w="3177540" h="3238500">
                <a:moveTo>
                  <a:pt x="27432" y="3168396"/>
                </a:moveTo>
                <a:lnTo>
                  <a:pt x="27432" y="3139440"/>
                </a:lnTo>
                <a:lnTo>
                  <a:pt x="0" y="3139440"/>
                </a:lnTo>
                <a:lnTo>
                  <a:pt x="0" y="3168396"/>
                </a:lnTo>
                <a:lnTo>
                  <a:pt x="27432" y="3168396"/>
                </a:lnTo>
                <a:close/>
              </a:path>
              <a:path w="3177540" h="3238500">
                <a:moveTo>
                  <a:pt x="27432" y="3110484"/>
                </a:moveTo>
                <a:lnTo>
                  <a:pt x="27432" y="3081528"/>
                </a:lnTo>
                <a:lnTo>
                  <a:pt x="0" y="3081528"/>
                </a:lnTo>
                <a:lnTo>
                  <a:pt x="0" y="3110484"/>
                </a:lnTo>
                <a:lnTo>
                  <a:pt x="27432" y="3110484"/>
                </a:lnTo>
                <a:close/>
              </a:path>
              <a:path w="3177540" h="3238500">
                <a:moveTo>
                  <a:pt x="27432" y="3054096"/>
                </a:moveTo>
                <a:lnTo>
                  <a:pt x="27432" y="3025140"/>
                </a:lnTo>
                <a:lnTo>
                  <a:pt x="0" y="3025140"/>
                </a:lnTo>
                <a:lnTo>
                  <a:pt x="0" y="3054096"/>
                </a:lnTo>
                <a:lnTo>
                  <a:pt x="27432" y="3054096"/>
                </a:lnTo>
                <a:close/>
              </a:path>
              <a:path w="3177540" h="3238500">
                <a:moveTo>
                  <a:pt x="27432" y="2996184"/>
                </a:moveTo>
                <a:lnTo>
                  <a:pt x="27432" y="2967228"/>
                </a:lnTo>
                <a:lnTo>
                  <a:pt x="0" y="2967228"/>
                </a:lnTo>
                <a:lnTo>
                  <a:pt x="0" y="2996184"/>
                </a:lnTo>
                <a:lnTo>
                  <a:pt x="27432" y="2996184"/>
                </a:lnTo>
                <a:close/>
              </a:path>
              <a:path w="3177540" h="3238500">
                <a:moveTo>
                  <a:pt x="27432" y="2939796"/>
                </a:moveTo>
                <a:lnTo>
                  <a:pt x="27432" y="2910840"/>
                </a:lnTo>
                <a:lnTo>
                  <a:pt x="0" y="2910840"/>
                </a:lnTo>
                <a:lnTo>
                  <a:pt x="0" y="2939796"/>
                </a:lnTo>
                <a:lnTo>
                  <a:pt x="27432" y="2939796"/>
                </a:lnTo>
                <a:close/>
              </a:path>
              <a:path w="3177540" h="3238500">
                <a:moveTo>
                  <a:pt x="27432" y="2881884"/>
                </a:moveTo>
                <a:lnTo>
                  <a:pt x="27432" y="2852928"/>
                </a:lnTo>
                <a:lnTo>
                  <a:pt x="0" y="2852928"/>
                </a:lnTo>
                <a:lnTo>
                  <a:pt x="0" y="2881884"/>
                </a:lnTo>
                <a:lnTo>
                  <a:pt x="27432" y="2881884"/>
                </a:lnTo>
                <a:close/>
              </a:path>
              <a:path w="3177540" h="3238500">
                <a:moveTo>
                  <a:pt x="27432" y="2825496"/>
                </a:moveTo>
                <a:lnTo>
                  <a:pt x="27432" y="2796540"/>
                </a:lnTo>
                <a:lnTo>
                  <a:pt x="0" y="2796540"/>
                </a:lnTo>
                <a:lnTo>
                  <a:pt x="0" y="2825496"/>
                </a:lnTo>
                <a:lnTo>
                  <a:pt x="27432" y="2825496"/>
                </a:lnTo>
                <a:close/>
              </a:path>
              <a:path w="3177540" h="3238500">
                <a:moveTo>
                  <a:pt x="27432" y="2767584"/>
                </a:moveTo>
                <a:lnTo>
                  <a:pt x="27432" y="2738628"/>
                </a:lnTo>
                <a:lnTo>
                  <a:pt x="0" y="2738628"/>
                </a:lnTo>
                <a:lnTo>
                  <a:pt x="0" y="2767584"/>
                </a:lnTo>
                <a:lnTo>
                  <a:pt x="27432" y="2767584"/>
                </a:lnTo>
                <a:close/>
              </a:path>
              <a:path w="3177540" h="3238500">
                <a:moveTo>
                  <a:pt x="27432" y="2711196"/>
                </a:moveTo>
                <a:lnTo>
                  <a:pt x="27432" y="2682240"/>
                </a:lnTo>
                <a:lnTo>
                  <a:pt x="0" y="2682240"/>
                </a:lnTo>
                <a:lnTo>
                  <a:pt x="0" y="2711196"/>
                </a:lnTo>
                <a:lnTo>
                  <a:pt x="27432" y="2711196"/>
                </a:lnTo>
                <a:close/>
              </a:path>
              <a:path w="3177540" h="3238500">
                <a:moveTo>
                  <a:pt x="27432" y="2653284"/>
                </a:moveTo>
                <a:lnTo>
                  <a:pt x="27432" y="2624328"/>
                </a:lnTo>
                <a:lnTo>
                  <a:pt x="0" y="2624328"/>
                </a:lnTo>
                <a:lnTo>
                  <a:pt x="0" y="2653284"/>
                </a:lnTo>
                <a:lnTo>
                  <a:pt x="27432" y="2653284"/>
                </a:lnTo>
                <a:close/>
              </a:path>
              <a:path w="3177540" h="3238500">
                <a:moveTo>
                  <a:pt x="27432" y="2596896"/>
                </a:moveTo>
                <a:lnTo>
                  <a:pt x="27432" y="2567940"/>
                </a:lnTo>
                <a:lnTo>
                  <a:pt x="0" y="2567940"/>
                </a:lnTo>
                <a:lnTo>
                  <a:pt x="0" y="2596896"/>
                </a:lnTo>
                <a:lnTo>
                  <a:pt x="27432" y="2596896"/>
                </a:lnTo>
                <a:close/>
              </a:path>
              <a:path w="3177540" h="3238500">
                <a:moveTo>
                  <a:pt x="27432" y="2538984"/>
                </a:moveTo>
                <a:lnTo>
                  <a:pt x="27432" y="2510028"/>
                </a:lnTo>
                <a:lnTo>
                  <a:pt x="0" y="2510028"/>
                </a:lnTo>
                <a:lnTo>
                  <a:pt x="0" y="2538984"/>
                </a:lnTo>
                <a:lnTo>
                  <a:pt x="27432" y="2538984"/>
                </a:lnTo>
                <a:close/>
              </a:path>
              <a:path w="3177540" h="3238500">
                <a:moveTo>
                  <a:pt x="27431" y="2482596"/>
                </a:moveTo>
                <a:lnTo>
                  <a:pt x="27431" y="2453640"/>
                </a:lnTo>
                <a:lnTo>
                  <a:pt x="0" y="2453640"/>
                </a:lnTo>
                <a:lnTo>
                  <a:pt x="0" y="2482596"/>
                </a:lnTo>
                <a:lnTo>
                  <a:pt x="27431" y="2482596"/>
                </a:lnTo>
                <a:close/>
              </a:path>
              <a:path w="3177540" h="3238500">
                <a:moveTo>
                  <a:pt x="27431" y="2424684"/>
                </a:moveTo>
                <a:lnTo>
                  <a:pt x="27431" y="2395728"/>
                </a:lnTo>
                <a:lnTo>
                  <a:pt x="0" y="2395728"/>
                </a:lnTo>
                <a:lnTo>
                  <a:pt x="0" y="2424684"/>
                </a:lnTo>
                <a:lnTo>
                  <a:pt x="27431" y="2424684"/>
                </a:lnTo>
                <a:close/>
              </a:path>
              <a:path w="3177540" h="3238500">
                <a:moveTo>
                  <a:pt x="27431" y="2368296"/>
                </a:moveTo>
                <a:lnTo>
                  <a:pt x="27431" y="2339340"/>
                </a:lnTo>
                <a:lnTo>
                  <a:pt x="0" y="2339340"/>
                </a:lnTo>
                <a:lnTo>
                  <a:pt x="0" y="2368296"/>
                </a:lnTo>
                <a:lnTo>
                  <a:pt x="27431" y="2368296"/>
                </a:lnTo>
                <a:close/>
              </a:path>
              <a:path w="3177540" h="3238500">
                <a:moveTo>
                  <a:pt x="27431" y="2310384"/>
                </a:moveTo>
                <a:lnTo>
                  <a:pt x="27431" y="2282952"/>
                </a:lnTo>
                <a:lnTo>
                  <a:pt x="0" y="2282952"/>
                </a:lnTo>
                <a:lnTo>
                  <a:pt x="0" y="2310384"/>
                </a:lnTo>
                <a:lnTo>
                  <a:pt x="27431" y="2310384"/>
                </a:lnTo>
                <a:close/>
              </a:path>
              <a:path w="3177540" h="3238500">
                <a:moveTo>
                  <a:pt x="27431" y="2253996"/>
                </a:moveTo>
                <a:lnTo>
                  <a:pt x="27431" y="2225040"/>
                </a:lnTo>
                <a:lnTo>
                  <a:pt x="0" y="2225040"/>
                </a:lnTo>
                <a:lnTo>
                  <a:pt x="0" y="2253996"/>
                </a:lnTo>
                <a:lnTo>
                  <a:pt x="27431" y="2253996"/>
                </a:lnTo>
                <a:close/>
              </a:path>
              <a:path w="3177540" h="3238500">
                <a:moveTo>
                  <a:pt x="27431" y="2196084"/>
                </a:moveTo>
                <a:lnTo>
                  <a:pt x="27431" y="2168652"/>
                </a:lnTo>
                <a:lnTo>
                  <a:pt x="0" y="2168652"/>
                </a:lnTo>
                <a:lnTo>
                  <a:pt x="0" y="2196084"/>
                </a:lnTo>
                <a:lnTo>
                  <a:pt x="27431" y="2196084"/>
                </a:lnTo>
                <a:close/>
              </a:path>
              <a:path w="3177540" h="3238500">
                <a:moveTo>
                  <a:pt x="27431" y="2139696"/>
                </a:moveTo>
                <a:lnTo>
                  <a:pt x="27431" y="2110740"/>
                </a:lnTo>
                <a:lnTo>
                  <a:pt x="0" y="2110740"/>
                </a:lnTo>
                <a:lnTo>
                  <a:pt x="0" y="2139696"/>
                </a:lnTo>
                <a:lnTo>
                  <a:pt x="27431" y="2139696"/>
                </a:lnTo>
                <a:close/>
              </a:path>
              <a:path w="3177540" h="3238500">
                <a:moveTo>
                  <a:pt x="27431" y="2081784"/>
                </a:moveTo>
                <a:lnTo>
                  <a:pt x="27431" y="2054352"/>
                </a:lnTo>
                <a:lnTo>
                  <a:pt x="0" y="2054352"/>
                </a:lnTo>
                <a:lnTo>
                  <a:pt x="0" y="2081784"/>
                </a:lnTo>
                <a:lnTo>
                  <a:pt x="27431" y="2081784"/>
                </a:lnTo>
                <a:close/>
              </a:path>
              <a:path w="3177540" h="3238500">
                <a:moveTo>
                  <a:pt x="27431" y="2025396"/>
                </a:moveTo>
                <a:lnTo>
                  <a:pt x="27431" y="1996440"/>
                </a:lnTo>
                <a:lnTo>
                  <a:pt x="0" y="1996440"/>
                </a:lnTo>
                <a:lnTo>
                  <a:pt x="0" y="2025396"/>
                </a:lnTo>
                <a:lnTo>
                  <a:pt x="27431" y="2025396"/>
                </a:lnTo>
                <a:close/>
              </a:path>
              <a:path w="3177540" h="3238500">
                <a:moveTo>
                  <a:pt x="27431" y="1967484"/>
                </a:moveTo>
                <a:lnTo>
                  <a:pt x="27431" y="1940052"/>
                </a:lnTo>
                <a:lnTo>
                  <a:pt x="0" y="1940052"/>
                </a:lnTo>
                <a:lnTo>
                  <a:pt x="0" y="1967484"/>
                </a:lnTo>
                <a:lnTo>
                  <a:pt x="27431" y="1967484"/>
                </a:lnTo>
                <a:close/>
              </a:path>
              <a:path w="3177540" h="3238500">
                <a:moveTo>
                  <a:pt x="27431" y="1911096"/>
                </a:moveTo>
                <a:lnTo>
                  <a:pt x="27431" y="1882140"/>
                </a:lnTo>
                <a:lnTo>
                  <a:pt x="0" y="1882140"/>
                </a:lnTo>
                <a:lnTo>
                  <a:pt x="0" y="1911096"/>
                </a:lnTo>
                <a:lnTo>
                  <a:pt x="27431" y="1911096"/>
                </a:lnTo>
                <a:close/>
              </a:path>
              <a:path w="3177540" h="3238500">
                <a:moveTo>
                  <a:pt x="27431" y="1853184"/>
                </a:moveTo>
                <a:lnTo>
                  <a:pt x="27431" y="1825752"/>
                </a:lnTo>
                <a:lnTo>
                  <a:pt x="0" y="1825752"/>
                </a:lnTo>
                <a:lnTo>
                  <a:pt x="0" y="1853184"/>
                </a:lnTo>
                <a:lnTo>
                  <a:pt x="27431" y="1853184"/>
                </a:lnTo>
                <a:close/>
              </a:path>
              <a:path w="3177540" h="3238500">
                <a:moveTo>
                  <a:pt x="27431" y="1796796"/>
                </a:moveTo>
                <a:lnTo>
                  <a:pt x="27431" y="1767840"/>
                </a:lnTo>
                <a:lnTo>
                  <a:pt x="0" y="1767840"/>
                </a:lnTo>
                <a:lnTo>
                  <a:pt x="0" y="1796796"/>
                </a:lnTo>
                <a:lnTo>
                  <a:pt x="27431" y="1796796"/>
                </a:lnTo>
                <a:close/>
              </a:path>
              <a:path w="3177540" h="3238500">
                <a:moveTo>
                  <a:pt x="27431" y="1738884"/>
                </a:moveTo>
                <a:lnTo>
                  <a:pt x="27431" y="1711452"/>
                </a:lnTo>
                <a:lnTo>
                  <a:pt x="0" y="1711452"/>
                </a:lnTo>
                <a:lnTo>
                  <a:pt x="0" y="1738884"/>
                </a:lnTo>
                <a:lnTo>
                  <a:pt x="27431" y="1738884"/>
                </a:lnTo>
                <a:close/>
              </a:path>
              <a:path w="3177540" h="3238500">
                <a:moveTo>
                  <a:pt x="27431" y="1682496"/>
                </a:moveTo>
                <a:lnTo>
                  <a:pt x="27431" y="1653540"/>
                </a:lnTo>
                <a:lnTo>
                  <a:pt x="0" y="1653540"/>
                </a:lnTo>
                <a:lnTo>
                  <a:pt x="0" y="1682496"/>
                </a:lnTo>
                <a:lnTo>
                  <a:pt x="27431" y="1682496"/>
                </a:lnTo>
                <a:close/>
              </a:path>
              <a:path w="3177540" h="3238500">
                <a:moveTo>
                  <a:pt x="27431" y="1624584"/>
                </a:moveTo>
                <a:lnTo>
                  <a:pt x="27431" y="1597152"/>
                </a:lnTo>
                <a:lnTo>
                  <a:pt x="0" y="1597152"/>
                </a:lnTo>
                <a:lnTo>
                  <a:pt x="0" y="1624584"/>
                </a:lnTo>
                <a:lnTo>
                  <a:pt x="27431" y="1624584"/>
                </a:lnTo>
                <a:close/>
              </a:path>
              <a:path w="3177540" h="3238500">
                <a:moveTo>
                  <a:pt x="27431" y="1568196"/>
                </a:moveTo>
                <a:lnTo>
                  <a:pt x="27431" y="1539240"/>
                </a:lnTo>
                <a:lnTo>
                  <a:pt x="0" y="1539240"/>
                </a:lnTo>
                <a:lnTo>
                  <a:pt x="0" y="1568196"/>
                </a:lnTo>
                <a:lnTo>
                  <a:pt x="27431" y="1568196"/>
                </a:lnTo>
                <a:close/>
              </a:path>
              <a:path w="3177540" h="3238500">
                <a:moveTo>
                  <a:pt x="27431" y="1510284"/>
                </a:moveTo>
                <a:lnTo>
                  <a:pt x="27431" y="1482852"/>
                </a:lnTo>
                <a:lnTo>
                  <a:pt x="0" y="1482852"/>
                </a:lnTo>
                <a:lnTo>
                  <a:pt x="0" y="1510284"/>
                </a:lnTo>
                <a:lnTo>
                  <a:pt x="27431" y="1510284"/>
                </a:lnTo>
                <a:close/>
              </a:path>
              <a:path w="3177540" h="3238500">
                <a:moveTo>
                  <a:pt x="27431" y="1453896"/>
                </a:moveTo>
                <a:lnTo>
                  <a:pt x="27431" y="1424940"/>
                </a:lnTo>
                <a:lnTo>
                  <a:pt x="0" y="1424940"/>
                </a:lnTo>
                <a:lnTo>
                  <a:pt x="0" y="1453896"/>
                </a:lnTo>
                <a:lnTo>
                  <a:pt x="27431" y="1453896"/>
                </a:lnTo>
                <a:close/>
              </a:path>
              <a:path w="3177540" h="3238500">
                <a:moveTo>
                  <a:pt x="27431" y="1395984"/>
                </a:moveTo>
                <a:lnTo>
                  <a:pt x="27431" y="1368552"/>
                </a:lnTo>
                <a:lnTo>
                  <a:pt x="0" y="1368552"/>
                </a:lnTo>
                <a:lnTo>
                  <a:pt x="0" y="1395984"/>
                </a:lnTo>
                <a:lnTo>
                  <a:pt x="27431" y="1395984"/>
                </a:lnTo>
                <a:close/>
              </a:path>
              <a:path w="3177540" h="3238500">
                <a:moveTo>
                  <a:pt x="27431" y="1339596"/>
                </a:moveTo>
                <a:lnTo>
                  <a:pt x="27431" y="1310640"/>
                </a:lnTo>
                <a:lnTo>
                  <a:pt x="0" y="1310640"/>
                </a:lnTo>
                <a:lnTo>
                  <a:pt x="0" y="1339596"/>
                </a:lnTo>
                <a:lnTo>
                  <a:pt x="27431" y="1339596"/>
                </a:lnTo>
                <a:close/>
              </a:path>
              <a:path w="3177540" h="3238500">
                <a:moveTo>
                  <a:pt x="27431" y="1281684"/>
                </a:moveTo>
                <a:lnTo>
                  <a:pt x="27431" y="1254252"/>
                </a:lnTo>
                <a:lnTo>
                  <a:pt x="0" y="1254252"/>
                </a:lnTo>
                <a:lnTo>
                  <a:pt x="0" y="1281684"/>
                </a:lnTo>
                <a:lnTo>
                  <a:pt x="27431" y="1281684"/>
                </a:lnTo>
                <a:close/>
              </a:path>
              <a:path w="3177540" h="3238500">
                <a:moveTo>
                  <a:pt x="27431" y="1225296"/>
                </a:moveTo>
                <a:lnTo>
                  <a:pt x="27431" y="1196340"/>
                </a:lnTo>
                <a:lnTo>
                  <a:pt x="0" y="1196340"/>
                </a:lnTo>
                <a:lnTo>
                  <a:pt x="0" y="1225296"/>
                </a:lnTo>
                <a:lnTo>
                  <a:pt x="27431" y="1225296"/>
                </a:lnTo>
                <a:close/>
              </a:path>
              <a:path w="3177540" h="3238500">
                <a:moveTo>
                  <a:pt x="27431" y="1167384"/>
                </a:moveTo>
                <a:lnTo>
                  <a:pt x="27431" y="1139952"/>
                </a:lnTo>
                <a:lnTo>
                  <a:pt x="0" y="1139952"/>
                </a:lnTo>
                <a:lnTo>
                  <a:pt x="0" y="1167384"/>
                </a:lnTo>
                <a:lnTo>
                  <a:pt x="27431" y="1167384"/>
                </a:lnTo>
                <a:close/>
              </a:path>
              <a:path w="3177540" h="3238500">
                <a:moveTo>
                  <a:pt x="27431" y="1110996"/>
                </a:moveTo>
                <a:lnTo>
                  <a:pt x="27431" y="1082040"/>
                </a:lnTo>
                <a:lnTo>
                  <a:pt x="0" y="1082040"/>
                </a:lnTo>
                <a:lnTo>
                  <a:pt x="0" y="1110996"/>
                </a:lnTo>
                <a:lnTo>
                  <a:pt x="27431" y="1110996"/>
                </a:lnTo>
                <a:close/>
              </a:path>
              <a:path w="3177540" h="3238500">
                <a:moveTo>
                  <a:pt x="27431" y="1053084"/>
                </a:moveTo>
                <a:lnTo>
                  <a:pt x="27431" y="1025652"/>
                </a:lnTo>
                <a:lnTo>
                  <a:pt x="0" y="1025652"/>
                </a:lnTo>
                <a:lnTo>
                  <a:pt x="0" y="1053084"/>
                </a:lnTo>
                <a:lnTo>
                  <a:pt x="27431" y="1053084"/>
                </a:lnTo>
                <a:close/>
              </a:path>
              <a:path w="3177540" h="3238500">
                <a:moveTo>
                  <a:pt x="27431" y="996696"/>
                </a:moveTo>
                <a:lnTo>
                  <a:pt x="27431" y="967740"/>
                </a:lnTo>
                <a:lnTo>
                  <a:pt x="0" y="967740"/>
                </a:lnTo>
                <a:lnTo>
                  <a:pt x="0" y="996696"/>
                </a:lnTo>
                <a:lnTo>
                  <a:pt x="27431" y="996696"/>
                </a:lnTo>
                <a:close/>
              </a:path>
              <a:path w="3177540" h="3238500">
                <a:moveTo>
                  <a:pt x="27431" y="938784"/>
                </a:moveTo>
                <a:lnTo>
                  <a:pt x="27431" y="911352"/>
                </a:lnTo>
                <a:lnTo>
                  <a:pt x="0" y="911352"/>
                </a:lnTo>
                <a:lnTo>
                  <a:pt x="0" y="938784"/>
                </a:lnTo>
                <a:lnTo>
                  <a:pt x="27431" y="938784"/>
                </a:lnTo>
                <a:close/>
              </a:path>
              <a:path w="3177540" h="3238500">
                <a:moveTo>
                  <a:pt x="27431" y="882396"/>
                </a:moveTo>
                <a:lnTo>
                  <a:pt x="27431" y="853440"/>
                </a:lnTo>
                <a:lnTo>
                  <a:pt x="0" y="853440"/>
                </a:lnTo>
                <a:lnTo>
                  <a:pt x="0" y="882396"/>
                </a:lnTo>
                <a:lnTo>
                  <a:pt x="27431" y="882396"/>
                </a:lnTo>
                <a:close/>
              </a:path>
              <a:path w="3177540" h="3238500">
                <a:moveTo>
                  <a:pt x="27431" y="826008"/>
                </a:moveTo>
                <a:lnTo>
                  <a:pt x="27431" y="797052"/>
                </a:lnTo>
                <a:lnTo>
                  <a:pt x="0" y="797052"/>
                </a:lnTo>
                <a:lnTo>
                  <a:pt x="0" y="826008"/>
                </a:lnTo>
                <a:lnTo>
                  <a:pt x="27431" y="826008"/>
                </a:lnTo>
                <a:close/>
              </a:path>
              <a:path w="3177540" h="3238500">
                <a:moveTo>
                  <a:pt x="27431" y="768096"/>
                </a:moveTo>
                <a:lnTo>
                  <a:pt x="27431" y="739140"/>
                </a:lnTo>
                <a:lnTo>
                  <a:pt x="0" y="739140"/>
                </a:lnTo>
                <a:lnTo>
                  <a:pt x="0" y="768096"/>
                </a:lnTo>
                <a:lnTo>
                  <a:pt x="27431" y="768096"/>
                </a:lnTo>
                <a:close/>
              </a:path>
              <a:path w="3177540" h="3238500">
                <a:moveTo>
                  <a:pt x="27431" y="711708"/>
                </a:moveTo>
                <a:lnTo>
                  <a:pt x="27431" y="682752"/>
                </a:lnTo>
                <a:lnTo>
                  <a:pt x="0" y="682752"/>
                </a:lnTo>
                <a:lnTo>
                  <a:pt x="0" y="711708"/>
                </a:lnTo>
                <a:lnTo>
                  <a:pt x="27431" y="711708"/>
                </a:lnTo>
                <a:close/>
              </a:path>
              <a:path w="3177540" h="3238500">
                <a:moveTo>
                  <a:pt x="27431" y="653796"/>
                </a:moveTo>
                <a:lnTo>
                  <a:pt x="27431" y="624840"/>
                </a:lnTo>
                <a:lnTo>
                  <a:pt x="0" y="624840"/>
                </a:lnTo>
                <a:lnTo>
                  <a:pt x="0" y="653796"/>
                </a:lnTo>
                <a:lnTo>
                  <a:pt x="27431" y="653796"/>
                </a:lnTo>
                <a:close/>
              </a:path>
              <a:path w="3177540" h="3238500">
                <a:moveTo>
                  <a:pt x="27431" y="597408"/>
                </a:moveTo>
                <a:lnTo>
                  <a:pt x="27431" y="568452"/>
                </a:lnTo>
                <a:lnTo>
                  <a:pt x="0" y="568452"/>
                </a:lnTo>
                <a:lnTo>
                  <a:pt x="0" y="597408"/>
                </a:lnTo>
                <a:lnTo>
                  <a:pt x="27431" y="597408"/>
                </a:lnTo>
                <a:close/>
              </a:path>
              <a:path w="3177540" h="3238500">
                <a:moveTo>
                  <a:pt x="27431" y="539496"/>
                </a:moveTo>
                <a:lnTo>
                  <a:pt x="27431" y="510540"/>
                </a:lnTo>
                <a:lnTo>
                  <a:pt x="0" y="510540"/>
                </a:lnTo>
                <a:lnTo>
                  <a:pt x="0" y="539496"/>
                </a:lnTo>
                <a:lnTo>
                  <a:pt x="27431" y="539496"/>
                </a:lnTo>
                <a:close/>
              </a:path>
              <a:path w="3177540" h="3238500">
                <a:moveTo>
                  <a:pt x="27431" y="483108"/>
                </a:moveTo>
                <a:lnTo>
                  <a:pt x="27431" y="454152"/>
                </a:lnTo>
                <a:lnTo>
                  <a:pt x="0" y="454152"/>
                </a:lnTo>
                <a:lnTo>
                  <a:pt x="0" y="483108"/>
                </a:lnTo>
                <a:lnTo>
                  <a:pt x="27431" y="483108"/>
                </a:lnTo>
                <a:close/>
              </a:path>
              <a:path w="3177540" h="3238500">
                <a:moveTo>
                  <a:pt x="27431" y="425196"/>
                </a:moveTo>
                <a:lnTo>
                  <a:pt x="27431" y="396240"/>
                </a:lnTo>
                <a:lnTo>
                  <a:pt x="0" y="396240"/>
                </a:lnTo>
                <a:lnTo>
                  <a:pt x="0" y="425196"/>
                </a:lnTo>
                <a:lnTo>
                  <a:pt x="27431" y="425196"/>
                </a:lnTo>
                <a:close/>
              </a:path>
              <a:path w="3177540" h="3238500">
                <a:moveTo>
                  <a:pt x="27431" y="368808"/>
                </a:moveTo>
                <a:lnTo>
                  <a:pt x="27431" y="339852"/>
                </a:lnTo>
                <a:lnTo>
                  <a:pt x="0" y="339852"/>
                </a:lnTo>
                <a:lnTo>
                  <a:pt x="0" y="368808"/>
                </a:lnTo>
                <a:lnTo>
                  <a:pt x="27431" y="368808"/>
                </a:lnTo>
                <a:close/>
              </a:path>
              <a:path w="3177540" h="3238500">
                <a:moveTo>
                  <a:pt x="27431" y="310896"/>
                </a:moveTo>
                <a:lnTo>
                  <a:pt x="27431" y="281940"/>
                </a:lnTo>
                <a:lnTo>
                  <a:pt x="0" y="281940"/>
                </a:lnTo>
                <a:lnTo>
                  <a:pt x="0" y="310896"/>
                </a:lnTo>
                <a:lnTo>
                  <a:pt x="27431" y="310896"/>
                </a:lnTo>
                <a:close/>
              </a:path>
              <a:path w="3177540" h="3238500">
                <a:moveTo>
                  <a:pt x="27431" y="254508"/>
                </a:moveTo>
                <a:lnTo>
                  <a:pt x="27431" y="225552"/>
                </a:lnTo>
                <a:lnTo>
                  <a:pt x="0" y="225552"/>
                </a:lnTo>
                <a:lnTo>
                  <a:pt x="0" y="254508"/>
                </a:lnTo>
                <a:lnTo>
                  <a:pt x="27431" y="254508"/>
                </a:lnTo>
                <a:close/>
              </a:path>
              <a:path w="3177540" h="3238500">
                <a:moveTo>
                  <a:pt x="27431" y="196596"/>
                </a:moveTo>
                <a:lnTo>
                  <a:pt x="27431" y="167640"/>
                </a:lnTo>
                <a:lnTo>
                  <a:pt x="0" y="167640"/>
                </a:lnTo>
                <a:lnTo>
                  <a:pt x="0" y="196596"/>
                </a:lnTo>
                <a:lnTo>
                  <a:pt x="27431" y="196596"/>
                </a:lnTo>
                <a:close/>
              </a:path>
              <a:path w="3177540" h="3238500">
                <a:moveTo>
                  <a:pt x="27431" y="140208"/>
                </a:moveTo>
                <a:lnTo>
                  <a:pt x="27431" y="111252"/>
                </a:lnTo>
                <a:lnTo>
                  <a:pt x="0" y="111252"/>
                </a:lnTo>
                <a:lnTo>
                  <a:pt x="0" y="140208"/>
                </a:lnTo>
                <a:lnTo>
                  <a:pt x="27431" y="140208"/>
                </a:lnTo>
                <a:close/>
              </a:path>
              <a:path w="3177540" h="3238500">
                <a:moveTo>
                  <a:pt x="27431" y="82296"/>
                </a:moveTo>
                <a:lnTo>
                  <a:pt x="27431" y="53340"/>
                </a:lnTo>
                <a:lnTo>
                  <a:pt x="0" y="53340"/>
                </a:lnTo>
                <a:lnTo>
                  <a:pt x="0" y="82296"/>
                </a:lnTo>
                <a:lnTo>
                  <a:pt x="27431" y="82296"/>
                </a:lnTo>
                <a:close/>
              </a:path>
              <a:path w="3177540" h="3238500">
                <a:moveTo>
                  <a:pt x="30480" y="27432"/>
                </a:moveTo>
                <a:lnTo>
                  <a:pt x="30480" y="0"/>
                </a:lnTo>
                <a:lnTo>
                  <a:pt x="6096" y="0"/>
                </a:lnTo>
                <a:lnTo>
                  <a:pt x="0" y="6096"/>
                </a:lnTo>
                <a:lnTo>
                  <a:pt x="0" y="25908"/>
                </a:lnTo>
                <a:lnTo>
                  <a:pt x="15240" y="25908"/>
                </a:lnTo>
                <a:lnTo>
                  <a:pt x="27431" y="13716"/>
                </a:lnTo>
                <a:lnTo>
                  <a:pt x="27431" y="27432"/>
                </a:lnTo>
                <a:lnTo>
                  <a:pt x="30480" y="27432"/>
                </a:lnTo>
                <a:close/>
              </a:path>
              <a:path w="3177540" h="3238500">
                <a:moveTo>
                  <a:pt x="27431" y="27432"/>
                </a:moveTo>
                <a:lnTo>
                  <a:pt x="27431" y="25908"/>
                </a:lnTo>
                <a:lnTo>
                  <a:pt x="15240" y="25908"/>
                </a:lnTo>
                <a:lnTo>
                  <a:pt x="13715" y="27432"/>
                </a:lnTo>
                <a:lnTo>
                  <a:pt x="27431" y="27432"/>
                </a:lnTo>
                <a:close/>
              </a:path>
              <a:path w="3177540" h="3238500">
                <a:moveTo>
                  <a:pt x="27431" y="25908"/>
                </a:moveTo>
                <a:lnTo>
                  <a:pt x="27431" y="13716"/>
                </a:lnTo>
                <a:lnTo>
                  <a:pt x="15240" y="25908"/>
                </a:lnTo>
                <a:lnTo>
                  <a:pt x="27431" y="25908"/>
                </a:lnTo>
                <a:close/>
              </a:path>
              <a:path w="3177540" h="3238500">
                <a:moveTo>
                  <a:pt x="86868" y="27432"/>
                </a:moveTo>
                <a:lnTo>
                  <a:pt x="86868" y="0"/>
                </a:lnTo>
                <a:lnTo>
                  <a:pt x="59436" y="0"/>
                </a:lnTo>
                <a:lnTo>
                  <a:pt x="59436" y="27432"/>
                </a:lnTo>
                <a:lnTo>
                  <a:pt x="86868" y="27432"/>
                </a:lnTo>
                <a:close/>
              </a:path>
              <a:path w="3177540" h="3238500">
                <a:moveTo>
                  <a:pt x="144780" y="27432"/>
                </a:moveTo>
                <a:lnTo>
                  <a:pt x="144780" y="0"/>
                </a:lnTo>
                <a:lnTo>
                  <a:pt x="115824" y="0"/>
                </a:lnTo>
                <a:lnTo>
                  <a:pt x="115824" y="27432"/>
                </a:lnTo>
                <a:lnTo>
                  <a:pt x="144780" y="27432"/>
                </a:lnTo>
                <a:close/>
              </a:path>
              <a:path w="3177540" h="3238500">
                <a:moveTo>
                  <a:pt x="201168" y="27432"/>
                </a:moveTo>
                <a:lnTo>
                  <a:pt x="201168" y="0"/>
                </a:lnTo>
                <a:lnTo>
                  <a:pt x="173736" y="0"/>
                </a:lnTo>
                <a:lnTo>
                  <a:pt x="173736" y="27432"/>
                </a:lnTo>
                <a:lnTo>
                  <a:pt x="201168" y="27432"/>
                </a:lnTo>
                <a:close/>
              </a:path>
              <a:path w="3177540" h="3238500">
                <a:moveTo>
                  <a:pt x="259080" y="27432"/>
                </a:moveTo>
                <a:lnTo>
                  <a:pt x="259080" y="0"/>
                </a:lnTo>
                <a:lnTo>
                  <a:pt x="230124" y="0"/>
                </a:lnTo>
                <a:lnTo>
                  <a:pt x="230124" y="27432"/>
                </a:lnTo>
                <a:lnTo>
                  <a:pt x="259080" y="27432"/>
                </a:lnTo>
                <a:close/>
              </a:path>
              <a:path w="3177540" h="3238500">
                <a:moveTo>
                  <a:pt x="315468" y="27432"/>
                </a:moveTo>
                <a:lnTo>
                  <a:pt x="315468" y="0"/>
                </a:lnTo>
                <a:lnTo>
                  <a:pt x="288036" y="0"/>
                </a:lnTo>
                <a:lnTo>
                  <a:pt x="288036" y="27432"/>
                </a:lnTo>
                <a:lnTo>
                  <a:pt x="315468" y="27432"/>
                </a:lnTo>
                <a:close/>
              </a:path>
              <a:path w="3177540" h="3238500">
                <a:moveTo>
                  <a:pt x="373380" y="27432"/>
                </a:moveTo>
                <a:lnTo>
                  <a:pt x="373380" y="0"/>
                </a:lnTo>
                <a:lnTo>
                  <a:pt x="344424" y="0"/>
                </a:lnTo>
                <a:lnTo>
                  <a:pt x="344424" y="27432"/>
                </a:lnTo>
                <a:lnTo>
                  <a:pt x="373380" y="27432"/>
                </a:lnTo>
                <a:close/>
              </a:path>
              <a:path w="3177540" h="3238500">
                <a:moveTo>
                  <a:pt x="429768" y="27432"/>
                </a:moveTo>
                <a:lnTo>
                  <a:pt x="429768" y="0"/>
                </a:lnTo>
                <a:lnTo>
                  <a:pt x="402336" y="0"/>
                </a:lnTo>
                <a:lnTo>
                  <a:pt x="402336" y="27432"/>
                </a:lnTo>
                <a:lnTo>
                  <a:pt x="429768" y="27432"/>
                </a:lnTo>
                <a:close/>
              </a:path>
              <a:path w="3177540" h="3238500">
                <a:moveTo>
                  <a:pt x="487680" y="27432"/>
                </a:moveTo>
                <a:lnTo>
                  <a:pt x="487680" y="0"/>
                </a:lnTo>
                <a:lnTo>
                  <a:pt x="458724" y="0"/>
                </a:lnTo>
                <a:lnTo>
                  <a:pt x="458724" y="27432"/>
                </a:lnTo>
                <a:lnTo>
                  <a:pt x="487680" y="27432"/>
                </a:lnTo>
                <a:close/>
              </a:path>
              <a:path w="3177540" h="3238500">
                <a:moveTo>
                  <a:pt x="544067" y="27432"/>
                </a:moveTo>
                <a:lnTo>
                  <a:pt x="544067" y="0"/>
                </a:lnTo>
                <a:lnTo>
                  <a:pt x="516635" y="0"/>
                </a:lnTo>
                <a:lnTo>
                  <a:pt x="516635" y="27432"/>
                </a:lnTo>
                <a:lnTo>
                  <a:pt x="544067" y="27432"/>
                </a:lnTo>
                <a:close/>
              </a:path>
              <a:path w="3177540" h="3238500">
                <a:moveTo>
                  <a:pt x="601979" y="27432"/>
                </a:moveTo>
                <a:lnTo>
                  <a:pt x="601979" y="0"/>
                </a:lnTo>
                <a:lnTo>
                  <a:pt x="573023" y="0"/>
                </a:lnTo>
                <a:lnTo>
                  <a:pt x="573023" y="27432"/>
                </a:lnTo>
                <a:lnTo>
                  <a:pt x="601979" y="27432"/>
                </a:lnTo>
                <a:close/>
              </a:path>
              <a:path w="3177540" h="3238500">
                <a:moveTo>
                  <a:pt x="658367" y="27432"/>
                </a:moveTo>
                <a:lnTo>
                  <a:pt x="658367" y="0"/>
                </a:lnTo>
                <a:lnTo>
                  <a:pt x="630935" y="0"/>
                </a:lnTo>
                <a:lnTo>
                  <a:pt x="630935" y="27432"/>
                </a:lnTo>
                <a:lnTo>
                  <a:pt x="658367" y="27432"/>
                </a:lnTo>
                <a:close/>
              </a:path>
              <a:path w="3177540" h="3238500">
                <a:moveTo>
                  <a:pt x="716279" y="27432"/>
                </a:moveTo>
                <a:lnTo>
                  <a:pt x="716279" y="0"/>
                </a:lnTo>
                <a:lnTo>
                  <a:pt x="687323" y="0"/>
                </a:lnTo>
                <a:lnTo>
                  <a:pt x="687323" y="27432"/>
                </a:lnTo>
                <a:lnTo>
                  <a:pt x="716279" y="27432"/>
                </a:lnTo>
                <a:close/>
              </a:path>
              <a:path w="3177540" h="3238500">
                <a:moveTo>
                  <a:pt x="772667" y="27432"/>
                </a:moveTo>
                <a:lnTo>
                  <a:pt x="772667" y="0"/>
                </a:lnTo>
                <a:lnTo>
                  <a:pt x="745235" y="0"/>
                </a:lnTo>
                <a:lnTo>
                  <a:pt x="745235" y="27432"/>
                </a:lnTo>
                <a:lnTo>
                  <a:pt x="772667" y="27432"/>
                </a:lnTo>
                <a:close/>
              </a:path>
              <a:path w="3177540" h="3238500">
                <a:moveTo>
                  <a:pt x="830579" y="27432"/>
                </a:moveTo>
                <a:lnTo>
                  <a:pt x="830579" y="0"/>
                </a:lnTo>
                <a:lnTo>
                  <a:pt x="801623" y="0"/>
                </a:lnTo>
                <a:lnTo>
                  <a:pt x="801623" y="27432"/>
                </a:lnTo>
                <a:lnTo>
                  <a:pt x="830579" y="27432"/>
                </a:lnTo>
                <a:close/>
              </a:path>
              <a:path w="3177540" h="3238500">
                <a:moveTo>
                  <a:pt x="886967" y="27432"/>
                </a:moveTo>
                <a:lnTo>
                  <a:pt x="886967" y="0"/>
                </a:lnTo>
                <a:lnTo>
                  <a:pt x="859535" y="0"/>
                </a:lnTo>
                <a:lnTo>
                  <a:pt x="859535" y="27432"/>
                </a:lnTo>
                <a:lnTo>
                  <a:pt x="886967" y="27432"/>
                </a:lnTo>
                <a:close/>
              </a:path>
              <a:path w="3177540" h="3238500">
                <a:moveTo>
                  <a:pt x="944879" y="27432"/>
                </a:moveTo>
                <a:lnTo>
                  <a:pt x="944879" y="0"/>
                </a:lnTo>
                <a:lnTo>
                  <a:pt x="915923" y="0"/>
                </a:lnTo>
                <a:lnTo>
                  <a:pt x="915923" y="27432"/>
                </a:lnTo>
                <a:lnTo>
                  <a:pt x="944879" y="27432"/>
                </a:lnTo>
                <a:close/>
              </a:path>
              <a:path w="3177540" h="3238500">
                <a:moveTo>
                  <a:pt x="1001267" y="27432"/>
                </a:moveTo>
                <a:lnTo>
                  <a:pt x="1001267" y="0"/>
                </a:lnTo>
                <a:lnTo>
                  <a:pt x="973835" y="0"/>
                </a:lnTo>
                <a:lnTo>
                  <a:pt x="973835" y="27432"/>
                </a:lnTo>
                <a:lnTo>
                  <a:pt x="1001267" y="27432"/>
                </a:lnTo>
                <a:close/>
              </a:path>
              <a:path w="3177540" h="3238500">
                <a:moveTo>
                  <a:pt x="1059180" y="27432"/>
                </a:moveTo>
                <a:lnTo>
                  <a:pt x="1059180" y="0"/>
                </a:lnTo>
                <a:lnTo>
                  <a:pt x="1030223" y="0"/>
                </a:lnTo>
                <a:lnTo>
                  <a:pt x="1030223" y="27432"/>
                </a:lnTo>
                <a:lnTo>
                  <a:pt x="1059180" y="27432"/>
                </a:lnTo>
                <a:close/>
              </a:path>
              <a:path w="3177540" h="3238500">
                <a:moveTo>
                  <a:pt x="1115567" y="27432"/>
                </a:moveTo>
                <a:lnTo>
                  <a:pt x="1115567" y="0"/>
                </a:lnTo>
                <a:lnTo>
                  <a:pt x="1086611" y="0"/>
                </a:lnTo>
                <a:lnTo>
                  <a:pt x="1086611" y="27432"/>
                </a:lnTo>
                <a:lnTo>
                  <a:pt x="1115567" y="27432"/>
                </a:lnTo>
                <a:close/>
              </a:path>
              <a:path w="3177540" h="3238500">
                <a:moveTo>
                  <a:pt x="1173480" y="27432"/>
                </a:moveTo>
                <a:lnTo>
                  <a:pt x="1173480" y="0"/>
                </a:lnTo>
                <a:lnTo>
                  <a:pt x="1144523" y="0"/>
                </a:lnTo>
                <a:lnTo>
                  <a:pt x="1144523" y="27432"/>
                </a:lnTo>
                <a:lnTo>
                  <a:pt x="1173480" y="27432"/>
                </a:lnTo>
                <a:close/>
              </a:path>
              <a:path w="3177540" h="3238500">
                <a:moveTo>
                  <a:pt x="1229867" y="27432"/>
                </a:moveTo>
                <a:lnTo>
                  <a:pt x="1229867" y="0"/>
                </a:lnTo>
                <a:lnTo>
                  <a:pt x="1200911" y="0"/>
                </a:lnTo>
                <a:lnTo>
                  <a:pt x="1200911" y="27432"/>
                </a:lnTo>
                <a:lnTo>
                  <a:pt x="1229867" y="27432"/>
                </a:lnTo>
                <a:close/>
              </a:path>
              <a:path w="3177540" h="3238500">
                <a:moveTo>
                  <a:pt x="1287780" y="27432"/>
                </a:moveTo>
                <a:lnTo>
                  <a:pt x="1287780" y="0"/>
                </a:lnTo>
                <a:lnTo>
                  <a:pt x="1258823" y="0"/>
                </a:lnTo>
                <a:lnTo>
                  <a:pt x="1258823" y="27432"/>
                </a:lnTo>
                <a:lnTo>
                  <a:pt x="1287780" y="27432"/>
                </a:lnTo>
                <a:close/>
              </a:path>
              <a:path w="3177540" h="3238500">
                <a:moveTo>
                  <a:pt x="1344167" y="27432"/>
                </a:moveTo>
                <a:lnTo>
                  <a:pt x="1344167" y="0"/>
                </a:lnTo>
                <a:lnTo>
                  <a:pt x="1315211" y="0"/>
                </a:lnTo>
                <a:lnTo>
                  <a:pt x="1315211" y="27432"/>
                </a:lnTo>
                <a:lnTo>
                  <a:pt x="1344167" y="27432"/>
                </a:lnTo>
                <a:close/>
              </a:path>
              <a:path w="3177540" h="3238500">
                <a:moveTo>
                  <a:pt x="1402080" y="27432"/>
                </a:moveTo>
                <a:lnTo>
                  <a:pt x="1402080" y="0"/>
                </a:lnTo>
                <a:lnTo>
                  <a:pt x="1373123" y="0"/>
                </a:lnTo>
                <a:lnTo>
                  <a:pt x="1373123" y="27432"/>
                </a:lnTo>
                <a:lnTo>
                  <a:pt x="1402080" y="27432"/>
                </a:lnTo>
                <a:close/>
              </a:path>
              <a:path w="3177540" h="3238500">
                <a:moveTo>
                  <a:pt x="1458467" y="27432"/>
                </a:moveTo>
                <a:lnTo>
                  <a:pt x="1458467" y="0"/>
                </a:lnTo>
                <a:lnTo>
                  <a:pt x="1429511" y="0"/>
                </a:lnTo>
                <a:lnTo>
                  <a:pt x="1429511" y="27432"/>
                </a:lnTo>
                <a:lnTo>
                  <a:pt x="1458467" y="27432"/>
                </a:lnTo>
                <a:close/>
              </a:path>
              <a:path w="3177540" h="3238500">
                <a:moveTo>
                  <a:pt x="1516380" y="27432"/>
                </a:moveTo>
                <a:lnTo>
                  <a:pt x="1516380" y="0"/>
                </a:lnTo>
                <a:lnTo>
                  <a:pt x="1487423" y="0"/>
                </a:lnTo>
                <a:lnTo>
                  <a:pt x="1487423" y="27432"/>
                </a:lnTo>
                <a:lnTo>
                  <a:pt x="1516380" y="27432"/>
                </a:lnTo>
                <a:close/>
              </a:path>
              <a:path w="3177540" h="3238500">
                <a:moveTo>
                  <a:pt x="1572767" y="27432"/>
                </a:moveTo>
                <a:lnTo>
                  <a:pt x="1572767" y="0"/>
                </a:lnTo>
                <a:lnTo>
                  <a:pt x="1543811" y="0"/>
                </a:lnTo>
                <a:lnTo>
                  <a:pt x="1543811" y="27432"/>
                </a:lnTo>
                <a:lnTo>
                  <a:pt x="1572767" y="27432"/>
                </a:lnTo>
                <a:close/>
              </a:path>
              <a:path w="3177540" h="3238500">
                <a:moveTo>
                  <a:pt x="1630679" y="27432"/>
                </a:moveTo>
                <a:lnTo>
                  <a:pt x="1630679" y="0"/>
                </a:lnTo>
                <a:lnTo>
                  <a:pt x="1601723" y="0"/>
                </a:lnTo>
                <a:lnTo>
                  <a:pt x="1601723" y="27432"/>
                </a:lnTo>
                <a:lnTo>
                  <a:pt x="1630679" y="27432"/>
                </a:lnTo>
                <a:close/>
              </a:path>
              <a:path w="3177540" h="3238500">
                <a:moveTo>
                  <a:pt x="1687067" y="27432"/>
                </a:moveTo>
                <a:lnTo>
                  <a:pt x="1687067" y="0"/>
                </a:lnTo>
                <a:lnTo>
                  <a:pt x="1658112" y="0"/>
                </a:lnTo>
                <a:lnTo>
                  <a:pt x="1658112" y="27432"/>
                </a:lnTo>
                <a:lnTo>
                  <a:pt x="1687067" y="27432"/>
                </a:lnTo>
                <a:close/>
              </a:path>
              <a:path w="3177540" h="3238500">
                <a:moveTo>
                  <a:pt x="1744979" y="27432"/>
                </a:moveTo>
                <a:lnTo>
                  <a:pt x="1744979" y="0"/>
                </a:lnTo>
                <a:lnTo>
                  <a:pt x="1716024" y="0"/>
                </a:lnTo>
                <a:lnTo>
                  <a:pt x="1716024" y="27432"/>
                </a:lnTo>
                <a:lnTo>
                  <a:pt x="1744979" y="27432"/>
                </a:lnTo>
                <a:close/>
              </a:path>
              <a:path w="3177540" h="3238500">
                <a:moveTo>
                  <a:pt x="1801367" y="27432"/>
                </a:moveTo>
                <a:lnTo>
                  <a:pt x="1801367" y="0"/>
                </a:lnTo>
                <a:lnTo>
                  <a:pt x="1772412" y="0"/>
                </a:lnTo>
                <a:lnTo>
                  <a:pt x="1772412" y="27432"/>
                </a:lnTo>
                <a:lnTo>
                  <a:pt x="1801367" y="27432"/>
                </a:lnTo>
                <a:close/>
              </a:path>
              <a:path w="3177540" h="3238500">
                <a:moveTo>
                  <a:pt x="1859279" y="27432"/>
                </a:moveTo>
                <a:lnTo>
                  <a:pt x="1859279" y="0"/>
                </a:lnTo>
                <a:lnTo>
                  <a:pt x="1830324" y="0"/>
                </a:lnTo>
                <a:lnTo>
                  <a:pt x="1830324" y="27432"/>
                </a:lnTo>
                <a:lnTo>
                  <a:pt x="1859279" y="27432"/>
                </a:lnTo>
                <a:close/>
              </a:path>
              <a:path w="3177540" h="3238500">
                <a:moveTo>
                  <a:pt x="1915667" y="27432"/>
                </a:moveTo>
                <a:lnTo>
                  <a:pt x="1915667" y="0"/>
                </a:lnTo>
                <a:lnTo>
                  <a:pt x="1886712" y="0"/>
                </a:lnTo>
                <a:lnTo>
                  <a:pt x="1886712" y="27432"/>
                </a:lnTo>
                <a:lnTo>
                  <a:pt x="1915667" y="27432"/>
                </a:lnTo>
                <a:close/>
              </a:path>
              <a:path w="3177540" h="3238500">
                <a:moveTo>
                  <a:pt x="1973579" y="27432"/>
                </a:moveTo>
                <a:lnTo>
                  <a:pt x="1973579" y="0"/>
                </a:lnTo>
                <a:lnTo>
                  <a:pt x="1944624" y="0"/>
                </a:lnTo>
                <a:lnTo>
                  <a:pt x="1944624" y="27432"/>
                </a:lnTo>
                <a:lnTo>
                  <a:pt x="1973579" y="27432"/>
                </a:lnTo>
                <a:close/>
              </a:path>
              <a:path w="3177540" h="3238500">
                <a:moveTo>
                  <a:pt x="2029967" y="27432"/>
                </a:moveTo>
                <a:lnTo>
                  <a:pt x="2029967" y="0"/>
                </a:lnTo>
                <a:lnTo>
                  <a:pt x="2001012" y="0"/>
                </a:lnTo>
                <a:lnTo>
                  <a:pt x="2001012" y="27432"/>
                </a:lnTo>
                <a:lnTo>
                  <a:pt x="2029967" y="27432"/>
                </a:lnTo>
                <a:close/>
              </a:path>
              <a:path w="3177540" h="3238500">
                <a:moveTo>
                  <a:pt x="2087879" y="27432"/>
                </a:moveTo>
                <a:lnTo>
                  <a:pt x="2087879" y="0"/>
                </a:lnTo>
                <a:lnTo>
                  <a:pt x="2058924" y="0"/>
                </a:lnTo>
                <a:lnTo>
                  <a:pt x="2058924" y="27432"/>
                </a:lnTo>
                <a:lnTo>
                  <a:pt x="2087879" y="27432"/>
                </a:lnTo>
                <a:close/>
              </a:path>
              <a:path w="3177540" h="3238500">
                <a:moveTo>
                  <a:pt x="2144267" y="27432"/>
                </a:moveTo>
                <a:lnTo>
                  <a:pt x="2144267" y="0"/>
                </a:lnTo>
                <a:lnTo>
                  <a:pt x="2115312" y="0"/>
                </a:lnTo>
                <a:lnTo>
                  <a:pt x="2115312" y="27432"/>
                </a:lnTo>
                <a:lnTo>
                  <a:pt x="2144267" y="27432"/>
                </a:lnTo>
                <a:close/>
              </a:path>
              <a:path w="3177540" h="3238500">
                <a:moveTo>
                  <a:pt x="2202179" y="27432"/>
                </a:moveTo>
                <a:lnTo>
                  <a:pt x="2202179" y="0"/>
                </a:lnTo>
                <a:lnTo>
                  <a:pt x="2173223" y="0"/>
                </a:lnTo>
                <a:lnTo>
                  <a:pt x="2173223" y="27432"/>
                </a:lnTo>
                <a:lnTo>
                  <a:pt x="2202179" y="27432"/>
                </a:lnTo>
                <a:close/>
              </a:path>
              <a:path w="3177540" h="3238500">
                <a:moveTo>
                  <a:pt x="2258567" y="27432"/>
                </a:moveTo>
                <a:lnTo>
                  <a:pt x="2258567" y="0"/>
                </a:lnTo>
                <a:lnTo>
                  <a:pt x="2229612" y="0"/>
                </a:lnTo>
                <a:lnTo>
                  <a:pt x="2229612" y="27432"/>
                </a:lnTo>
                <a:lnTo>
                  <a:pt x="2258567" y="27432"/>
                </a:lnTo>
                <a:close/>
              </a:path>
              <a:path w="3177540" h="3238500">
                <a:moveTo>
                  <a:pt x="2316479" y="27432"/>
                </a:moveTo>
                <a:lnTo>
                  <a:pt x="2316479" y="0"/>
                </a:lnTo>
                <a:lnTo>
                  <a:pt x="2287523" y="0"/>
                </a:lnTo>
                <a:lnTo>
                  <a:pt x="2287523" y="27432"/>
                </a:lnTo>
                <a:lnTo>
                  <a:pt x="2316479" y="27432"/>
                </a:lnTo>
                <a:close/>
              </a:path>
              <a:path w="3177540" h="3238500">
                <a:moveTo>
                  <a:pt x="2372867" y="27432"/>
                </a:moveTo>
                <a:lnTo>
                  <a:pt x="2372867" y="0"/>
                </a:lnTo>
                <a:lnTo>
                  <a:pt x="2343912" y="0"/>
                </a:lnTo>
                <a:lnTo>
                  <a:pt x="2343912" y="27432"/>
                </a:lnTo>
                <a:lnTo>
                  <a:pt x="2372867" y="27432"/>
                </a:lnTo>
                <a:close/>
              </a:path>
              <a:path w="3177540" h="3238500">
                <a:moveTo>
                  <a:pt x="2430779" y="27432"/>
                </a:moveTo>
                <a:lnTo>
                  <a:pt x="2430779" y="0"/>
                </a:lnTo>
                <a:lnTo>
                  <a:pt x="2401823" y="0"/>
                </a:lnTo>
                <a:lnTo>
                  <a:pt x="2401823" y="27432"/>
                </a:lnTo>
                <a:lnTo>
                  <a:pt x="2430779" y="27432"/>
                </a:lnTo>
                <a:close/>
              </a:path>
              <a:path w="3177540" h="3238500">
                <a:moveTo>
                  <a:pt x="2487167" y="27432"/>
                </a:moveTo>
                <a:lnTo>
                  <a:pt x="2487167" y="0"/>
                </a:lnTo>
                <a:lnTo>
                  <a:pt x="2458212" y="0"/>
                </a:lnTo>
                <a:lnTo>
                  <a:pt x="2458212" y="27432"/>
                </a:lnTo>
                <a:lnTo>
                  <a:pt x="2487167" y="27432"/>
                </a:lnTo>
                <a:close/>
              </a:path>
              <a:path w="3177540" h="3238500">
                <a:moveTo>
                  <a:pt x="2543555" y="27432"/>
                </a:moveTo>
                <a:lnTo>
                  <a:pt x="2543555" y="0"/>
                </a:lnTo>
                <a:lnTo>
                  <a:pt x="2516123" y="0"/>
                </a:lnTo>
                <a:lnTo>
                  <a:pt x="2516123" y="27432"/>
                </a:lnTo>
                <a:lnTo>
                  <a:pt x="2543555" y="27432"/>
                </a:lnTo>
                <a:close/>
              </a:path>
              <a:path w="3177540" h="3238500">
                <a:moveTo>
                  <a:pt x="2601467" y="27432"/>
                </a:moveTo>
                <a:lnTo>
                  <a:pt x="2601467" y="0"/>
                </a:lnTo>
                <a:lnTo>
                  <a:pt x="2572512" y="0"/>
                </a:lnTo>
                <a:lnTo>
                  <a:pt x="2572512" y="27432"/>
                </a:lnTo>
                <a:lnTo>
                  <a:pt x="2601467" y="27432"/>
                </a:lnTo>
                <a:close/>
              </a:path>
              <a:path w="3177540" h="3238500">
                <a:moveTo>
                  <a:pt x="2657855" y="27432"/>
                </a:moveTo>
                <a:lnTo>
                  <a:pt x="2657855" y="0"/>
                </a:lnTo>
                <a:lnTo>
                  <a:pt x="2630423" y="0"/>
                </a:lnTo>
                <a:lnTo>
                  <a:pt x="2630423" y="27432"/>
                </a:lnTo>
                <a:lnTo>
                  <a:pt x="2657855" y="27432"/>
                </a:lnTo>
                <a:close/>
              </a:path>
              <a:path w="3177540" h="3238500">
                <a:moveTo>
                  <a:pt x="2715767" y="27432"/>
                </a:moveTo>
                <a:lnTo>
                  <a:pt x="2715767" y="0"/>
                </a:lnTo>
                <a:lnTo>
                  <a:pt x="2686812" y="0"/>
                </a:lnTo>
                <a:lnTo>
                  <a:pt x="2686812" y="27432"/>
                </a:lnTo>
                <a:lnTo>
                  <a:pt x="2715767" y="27432"/>
                </a:lnTo>
                <a:close/>
              </a:path>
              <a:path w="3177540" h="3238500">
                <a:moveTo>
                  <a:pt x="2772155" y="27432"/>
                </a:moveTo>
                <a:lnTo>
                  <a:pt x="2772155" y="0"/>
                </a:lnTo>
                <a:lnTo>
                  <a:pt x="2744723" y="0"/>
                </a:lnTo>
                <a:lnTo>
                  <a:pt x="2744723" y="27432"/>
                </a:lnTo>
                <a:lnTo>
                  <a:pt x="2772155" y="27432"/>
                </a:lnTo>
                <a:close/>
              </a:path>
              <a:path w="3177540" h="3238500">
                <a:moveTo>
                  <a:pt x="2830067" y="27432"/>
                </a:moveTo>
                <a:lnTo>
                  <a:pt x="2830067" y="0"/>
                </a:lnTo>
                <a:lnTo>
                  <a:pt x="2801112" y="0"/>
                </a:lnTo>
                <a:lnTo>
                  <a:pt x="2801112" y="27432"/>
                </a:lnTo>
                <a:lnTo>
                  <a:pt x="2830067" y="27432"/>
                </a:lnTo>
                <a:close/>
              </a:path>
              <a:path w="3177540" h="3238500">
                <a:moveTo>
                  <a:pt x="2886455" y="27432"/>
                </a:moveTo>
                <a:lnTo>
                  <a:pt x="2886455" y="0"/>
                </a:lnTo>
                <a:lnTo>
                  <a:pt x="2859023" y="0"/>
                </a:lnTo>
                <a:lnTo>
                  <a:pt x="2859023" y="27432"/>
                </a:lnTo>
                <a:lnTo>
                  <a:pt x="2886455" y="27432"/>
                </a:lnTo>
                <a:close/>
              </a:path>
              <a:path w="3177540" h="3238500">
                <a:moveTo>
                  <a:pt x="2944367" y="27432"/>
                </a:moveTo>
                <a:lnTo>
                  <a:pt x="2944367" y="0"/>
                </a:lnTo>
                <a:lnTo>
                  <a:pt x="2915412" y="0"/>
                </a:lnTo>
                <a:lnTo>
                  <a:pt x="2915412" y="27432"/>
                </a:lnTo>
                <a:lnTo>
                  <a:pt x="2944367" y="27432"/>
                </a:lnTo>
                <a:close/>
              </a:path>
              <a:path w="3177540" h="3238500">
                <a:moveTo>
                  <a:pt x="3000755" y="27432"/>
                </a:moveTo>
                <a:lnTo>
                  <a:pt x="3000755" y="0"/>
                </a:lnTo>
                <a:lnTo>
                  <a:pt x="2973323" y="0"/>
                </a:lnTo>
                <a:lnTo>
                  <a:pt x="2973323" y="27432"/>
                </a:lnTo>
                <a:lnTo>
                  <a:pt x="3000755" y="27432"/>
                </a:lnTo>
                <a:close/>
              </a:path>
              <a:path w="3177540" h="3238500">
                <a:moveTo>
                  <a:pt x="3058667" y="27432"/>
                </a:moveTo>
                <a:lnTo>
                  <a:pt x="3058667" y="0"/>
                </a:lnTo>
                <a:lnTo>
                  <a:pt x="3029712" y="0"/>
                </a:lnTo>
                <a:lnTo>
                  <a:pt x="3029712" y="27432"/>
                </a:lnTo>
                <a:lnTo>
                  <a:pt x="3058667" y="27432"/>
                </a:lnTo>
                <a:close/>
              </a:path>
              <a:path w="3177540" h="3238500">
                <a:moveTo>
                  <a:pt x="3115055" y="27432"/>
                </a:moveTo>
                <a:lnTo>
                  <a:pt x="3115055" y="0"/>
                </a:lnTo>
                <a:lnTo>
                  <a:pt x="3087623" y="0"/>
                </a:lnTo>
                <a:lnTo>
                  <a:pt x="3087623" y="27432"/>
                </a:lnTo>
                <a:lnTo>
                  <a:pt x="3115055" y="27432"/>
                </a:lnTo>
                <a:close/>
              </a:path>
              <a:path w="3177540" h="3238500">
                <a:moveTo>
                  <a:pt x="3177540" y="22860"/>
                </a:moveTo>
                <a:lnTo>
                  <a:pt x="3177540" y="6096"/>
                </a:lnTo>
                <a:lnTo>
                  <a:pt x="3171443" y="0"/>
                </a:lnTo>
                <a:lnTo>
                  <a:pt x="3144012" y="0"/>
                </a:lnTo>
                <a:lnTo>
                  <a:pt x="3144012" y="27432"/>
                </a:lnTo>
                <a:lnTo>
                  <a:pt x="3148583" y="27432"/>
                </a:lnTo>
                <a:lnTo>
                  <a:pt x="3148583" y="13716"/>
                </a:lnTo>
                <a:lnTo>
                  <a:pt x="3158743" y="22860"/>
                </a:lnTo>
                <a:lnTo>
                  <a:pt x="3177540" y="22860"/>
                </a:lnTo>
                <a:close/>
              </a:path>
              <a:path w="3177540" h="3238500">
                <a:moveTo>
                  <a:pt x="3158743" y="22860"/>
                </a:moveTo>
                <a:lnTo>
                  <a:pt x="3148583" y="13716"/>
                </a:lnTo>
                <a:lnTo>
                  <a:pt x="3148583" y="22860"/>
                </a:lnTo>
                <a:lnTo>
                  <a:pt x="3158743" y="22860"/>
                </a:lnTo>
                <a:close/>
              </a:path>
              <a:path w="3177540" h="3238500">
                <a:moveTo>
                  <a:pt x="3163823" y="27432"/>
                </a:moveTo>
                <a:lnTo>
                  <a:pt x="3158743" y="22860"/>
                </a:lnTo>
                <a:lnTo>
                  <a:pt x="3148583" y="22860"/>
                </a:lnTo>
                <a:lnTo>
                  <a:pt x="3148583" y="27432"/>
                </a:lnTo>
                <a:lnTo>
                  <a:pt x="3163823" y="27432"/>
                </a:lnTo>
                <a:close/>
              </a:path>
              <a:path w="3177540" h="3238500">
                <a:moveTo>
                  <a:pt x="3177540" y="80772"/>
                </a:moveTo>
                <a:lnTo>
                  <a:pt x="3177540" y="51816"/>
                </a:lnTo>
                <a:lnTo>
                  <a:pt x="3148584" y="51816"/>
                </a:lnTo>
                <a:lnTo>
                  <a:pt x="3148584" y="80772"/>
                </a:lnTo>
                <a:lnTo>
                  <a:pt x="3177540" y="80772"/>
                </a:lnTo>
                <a:close/>
              </a:path>
              <a:path w="3177540" h="3238500">
                <a:moveTo>
                  <a:pt x="3177540" y="137160"/>
                </a:moveTo>
                <a:lnTo>
                  <a:pt x="3177540" y="109728"/>
                </a:lnTo>
                <a:lnTo>
                  <a:pt x="3148584" y="109728"/>
                </a:lnTo>
                <a:lnTo>
                  <a:pt x="3148584" y="137160"/>
                </a:lnTo>
                <a:lnTo>
                  <a:pt x="3177540" y="137160"/>
                </a:lnTo>
                <a:close/>
              </a:path>
              <a:path w="3177540" h="3238500">
                <a:moveTo>
                  <a:pt x="3177540" y="195072"/>
                </a:moveTo>
                <a:lnTo>
                  <a:pt x="3177540" y="166116"/>
                </a:lnTo>
                <a:lnTo>
                  <a:pt x="3148584" y="166116"/>
                </a:lnTo>
                <a:lnTo>
                  <a:pt x="3148584" y="195072"/>
                </a:lnTo>
                <a:lnTo>
                  <a:pt x="3177540" y="195072"/>
                </a:lnTo>
                <a:close/>
              </a:path>
              <a:path w="3177540" h="3238500">
                <a:moveTo>
                  <a:pt x="3177540" y="251460"/>
                </a:moveTo>
                <a:lnTo>
                  <a:pt x="3177540" y="224028"/>
                </a:lnTo>
                <a:lnTo>
                  <a:pt x="3148584" y="224028"/>
                </a:lnTo>
                <a:lnTo>
                  <a:pt x="3148584" y="251460"/>
                </a:lnTo>
                <a:lnTo>
                  <a:pt x="3177540" y="251460"/>
                </a:lnTo>
                <a:close/>
              </a:path>
              <a:path w="3177540" h="3238500">
                <a:moveTo>
                  <a:pt x="3177540" y="309372"/>
                </a:moveTo>
                <a:lnTo>
                  <a:pt x="3177540" y="280416"/>
                </a:lnTo>
                <a:lnTo>
                  <a:pt x="3148584" y="280416"/>
                </a:lnTo>
                <a:lnTo>
                  <a:pt x="3148584" y="309372"/>
                </a:lnTo>
                <a:lnTo>
                  <a:pt x="3177540" y="309372"/>
                </a:lnTo>
                <a:close/>
              </a:path>
              <a:path w="3177540" h="3238500">
                <a:moveTo>
                  <a:pt x="3177540" y="365760"/>
                </a:moveTo>
                <a:lnTo>
                  <a:pt x="3177540" y="338328"/>
                </a:lnTo>
                <a:lnTo>
                  <a:pt x="3148584" y="338328"/>
                </a:lnTo>
                <a:lnTo>
                  <a:pt x="3148584" y="365760"/>
                </a:lnTo>
                <a:lnTo>
                  <a:pt x="3177540" y="365760"/>
                </a:lnTo>
                <a:close/>
              </a:path>
              <a:path w="3177540" h="3238500">
                <a:moveTo>
                  <a:pt x="3177540" y="423672"/>
                </a:moveTo>
                <a:lnTo>
                  <a:pt x="3177540" y="394716"/>
                </a:lnTo>
                <a:lnTo>
                  <a:pt x="3148584" y="394716"/>
                </a:lnTo>
                <a:lnTo>
                  <a:pt x="3148584" y="423672"/>
                </a:lnTo>
                <a:lnTo>
                  <a:pt x="3177540" y="423672"/>
                </a:lnTo>
                <a:close/>
              </a:path>
              <a:path w="3177540" h="3238500">
                <a:moveTo>
                  <a:pt x="3177540" y="480060"/>
                </a:moveTo>
                <a:lnTo>
                  <a:pt x="3177540" y="452628"/>
                </a:lnTo>
                <a:lnTo>
                  <a:pt x="3148584" y="452628"/>
                </a:lnTo>
                <a:lnTo>
                  <a:pt x="3148584" y="480060"/>
                </a:lnTo>
                <a:lnTo>
                  <a:pt x="3177540" y="480060"/>
                </a:lnTo>
                <a:close/>
              </a:path>
              <a:path w="3177540" h="3238500">
                <a:moveTo>
                  <a:pt x="3177540" y="537972"/>
                </a:moveTo>
                <a:lnTo>
                  <a:pt x="3177540" y="509016"/>
                </a:lnTo>
                <a:lnTo>
                  <a:pt x="3148584" y="509016"/>
                </a:lnTo>
                <a:lnTo>
                  <a:pt x="3148584" y="537972"/>
                </a:lnTo>
                <a:lnTo>
                  <a:pt x="3177540" y="537972"/>
                </a:lnTo>
                <a:close/>
              </a:path>
              <a:path w="3177540" h="3238500">
                <a:moveTo>
                  <a:pt x="3177540" y="594360"/>
                </a:moveTo>
                <a:lnTo>
                  <a:pt x="3177540" y="565404"/>
                </a:lnTo>
                <a:lnTo>
                  <a:pt x="3148584" y="565404"/>
                </a:lnTo>
                <a:lnTo>
                  <a:pt x="3148584" y="594360"/>
                </a:lnTo>
                <a:lnTo>
                  <a:pt x="3177540" y="594360"/>
                </a:lnTo>
                <a:close/>
              </a:path>
              <a:path w="3177540" h="3238500">
                <a:moveTo>
                  <a:pt x="3177540" y="652272"/>
                </a:moveTo>
                <a:lnTo>
                  <a:pt x="3177540" y="623316"/>
                </a:lnTo>
                <a:lnTo>
                  <a:pt x="3148584" y="623316"/>
                </a:lnTo>
                <a:lnTo>
                  <a:pt x="3148584" y="652272"/>
                </a:lnTo>
                <a:lnTo>
                  <a:pt x="3177540" y="652272"/>
                </a:lnTo>
                <a:close/>
              </a:path>
              <a:path w="3177540" h="3238500">
                <a:moveTo>
                  <a:pt x="3177540" y="708660"/>
                </a:moveTo>
                <a:lnTo>
                  <a:pt x="3177540" y="679704"/>
                </a:lnTo>
                <a:lnTo>
                  <a:pt x="3148584" y="679704"/>
                </a:lnTo>
                <a:lnTo>
                  <a:pt x="3148584" y="708660"/>
                </a:lnTo>
                <a:lnTo>
                  <a:pt x="3177540" y="708660"/>
                </a:lnTo>
                <a:close/>
              </a:path>
              <a:path w="3177540" h="3238500">
                <a:moveTo>
                  <a:pt x="3177540" y="766572"/>
                </a:moveTo>
                <a:lnTo>
                  <a:pt x="3177540" y="737616"/>
                </a:lnTo>
                <a:lnTo>
                  <a:pt x="3148584" y="737616"/>
                </a:lnTo>
                <a:lnTo>
                  <a:pt x="3148584" y="766572"/>
                </a:lnTo>
                <a:lnTo>
                  <a:pt x="3177540" y="766572"/>
                </a:lnTo>
                <a:close/>
              </a:path>
              <a:path w="3177540" h="3238500">
                <a:moveTo>
                  <a:pt x="3177540" y="822960"/>
                </a:moveTo>
                <a:lnTo>
                  <a:pt x="3177540" y="794004"/>
                </a:lnTo>
                <a:lnTo>
                  <a:pt x="3148584" y="794004"/>
                </a:lnTo>
                <a:lnTo>
                  <a:pt x="3148584" y="822960"/>
                </a:lnTo>
                <a:lnTo>
                  <a:pt x="3177540" y="822960"/>
                </a:lnTo>
                <a:close/>
              </a:path>
              <a:path w="3177540" h="3238500">
                <a:moveTo>
                  <a:pt x="3177540" y="880872"/>
                </a:moveTo>
                <a:lnTo>
                  <a:pt x="3177540" y="851916"/>
                </a:lnTo>
                <a:lnTo>
                  <a:pt x="3148584" y="851916"/>
                </a:lnTo>
                <a:lnTo>
                  <a:pt x="3148584" y="880872"/>
                </a:lnTo>
                <a:lnTo>
                  <a:pt x="3177540" y="880872"/>
                </a:lnTo>
                <a:close/>
              </a:path>
              <a:path w="3177540" h="3238500">
                <a:moveTo>
                  <a:pt x="3177540" y="937260"/>
                </a:moveTo>
                <a:lnTo>
                  <a:pt x="3177540" y="908304"/>
                </a:lnTo>
                <a:lnTo>
                  <a:pt x="3148584" y="908304"/>
                </a:lnTo>
                <a:lnTo>
                  <a:pt x="3148584" y="937260"/>
                </a:lnTo>
                <a:lnTo>
                  <a:pt x="3177540" y="937260"/>
                </a:lnTo>
                <a:close/>
              </a:path>
              <a:path w="3177540" h="3238500">
                <a:moveTo>
                  <a:pt x="3177540" y="995172"/>
                </a:moveTo>
                <a:lnTo>
                  <a:pt x="3177540" y="966216"/>
                </a:lnTo>
                <a:lnTo>
                  <a:pt x="3148584" y="966216"/>
                </a:lnTo>
                <a:lnTo>
                  <a:pt x="3148584" y="995172"/>
                </a:lnTo>
                <a:lnTo>
                  <a:pt x="3177540" y="995172"/>
                </a:lnTo>
                <a:close/>
              </a:path>
              <a:path w="3177540" h="3238500">
                <a:moveTo>
                  <a:pt x="3177540" y="1051560"/>
                </a:moveTo>
                <a:lnTo>
                  <a:pt x="3177540" y="1022604"/>
                </a:lnTo>
                <a:lnTo>
                  <a:pt x="3148584" y="1022604"/>
                </a:lnTo>
                <a:lnTo>
                  <a:pt x="3148584" y="1051560"/>
                </a:lnTo>
                <a:lnTo>
                  <a:pt x="3177540" y="1051560"/>
                </a:lnTo>
                <a:close/>
              </a:path>
              <a:path w="3177540" h="3238500">
                <a:moveTo>
                  <a:pt x="3177540" y="1109472"/>
                </a:moveTo>
                <a:lnTo>
                  <a:pt x="3177540" y="1080516"/>
                </a:lnTo>
                <a:lnTo>
                  <a:pt x="3148584" y="1080516"/>
                </a:lnTo>
                <a:lnTo>
                  <a:pt x="3148584" y="1109472"/>
                </a:lnTo>
                <a:lnTo>
                  <a:pt x="3177540" y="1109472"/>
                </a:lnTo>
                <a:close/>
              </a:path>
              <a:path w="3177540" h="3238500">
                <a:moveTo>
                  <a:pt x="3177540" y="1165860"/>
                </a:moveTo>
                <a:lnTo>
                  <a:pt x="3177540" y="1136904"/>
                </a:lnTo>
                <a:lnTo>
                  <a:pt x="3148584" y="1136904"/>
                </a:lnTo>
                <a:lnTo>
                  <a:pt x="3148584" y="1165860"/>
                </a:lnTo>
                <a:lnTo>
                  <a:pt x="3177540" y="1165860"/>
                </a:lnTo>
                <a:close/>
              </a:path>
              <a:path w="3177540" h="3238500">
                <a:moveTo>
                  <a:pt x="3177540" y="1223772"/>
                </a:moveTo>
                <a:lnTo>
                  <a:pt x="3177540" y="1194816"/>
                </a:lnTo>
                <a:lnTo>
                  <a:pt x="3148584" y="1194816"/>
                </a:lnTo>
                <a:lnTo>
                  <a:pt x="3148584" y="1223772"/>
                </a:lnTo>
                <a:lnTo>
                  <a:pt x="3177540" y="1223772"/>
                </a:lnTo>
                <a:close/>
              </a:path>
              <a:path w="3177540" h="3238500">
                <a:moveTo>
                  <a:pt x="3177540" y="1280160"/>
                </a:moveTo>
                <a:lnTo>
                  <a:pt x="3177540" y="1251204"/>
                </a:lnTo>
                <a:lnTo>
                  <a:pt x="3148584" y="1251204"/>
                </a:lnTo>
                <a:lnTo>
                  <a:pt x="3148584" y="1280160"/>
                </a:lnTo>
                <a:lnTo>
                  <a:pt x="3177540" y="1280160"/>
                </a:lnTo>
                <a:close/>
              </a:path>
              <a:path w="3177540" h="3238500">
                <a:moveTo>
                  <a:pt x="3177540" y="1338072"/>
                </a:moveTo>
                <a:lnTo>
                  <a:pt x="3177540" y="1309116"/>
                </a:lnTo>
                <a:lnTo>
                  <a:pt x="3148584" y="1309116"/>
                </a:lnTo>
                <a:lnTo>
                  <a:pt x="3148584" y="1338072"/>
                </a:lnTo>
                <a:lnTo>
                  <a:pt x="3177540" y="1338072"/>
                </a:lnTo>
                <a:close/>
              </a:path>
              <a:path w="3177540" h="3238500">
                <a:moveTo>
                  <a:pt x="3177540" y="1394460"/>
                </a:moveTo>
                <a:lnTo>
                  <a:pt x="3177540" y="1365504"/>
                </a:lnTo>
                <a:lnTo>
                  <a:pt x="3148584" y="1365504"/>
                </a:lnTo>
                <a:lnTo>
                  <a:pt x="3148584" y="1394460"/>
                </a:lnTo>
                <a:lnTo>
                  <a:pt x="3177540" y="1394460"/>
                </a:lnTo>
                <a:close/>
              </a:path>
              <a:path w="3177540" h="3238500">
                <a:moveTo>
                  <a:pt x="3177540" y="1452372"/>
                </a:moveTo>
                <a:lnTo>
                  <a:pt x="3177540" y="1423416"/>
                </a:lnTo>
                <a:lnTo>
                  <a:pt x="3148584" y="1423416"/>
                </a:lnTo>
                <a:lnTo>
                  <a:pt x="3148584" y="1452372"/>
                </a:lnTo>
                <a:lnTo>
                  <a:pt x="3177540" y="1452372"/>
                </a:lnTo>
                <a:close/>
              </a:path>
              <a:path w="3177540" h="3238500">
                <a:moveTo>
                  <a:pt x="3177540" y="1508760"/>
                </a:moveTo>
                <a:lnTo>
                  <a:pt x="3177540" y="1479804"/>
                </a:lnTo>
                <a:lnTo>
                  <a:pt x="3148584" y="1479804"/>
                </a:lnTo>
                <a:lnTo>
                  <a:pt x="3148584" y="1508760"/>
                </a:lnTo>
                <a:lnTo>
                  <a:pt x="3177540" y="1508760"/>
                </a:lnTo>
                <a:close/>
              </a:path>
              <a:path w="3177540" h="3238500">
                <a:moveTo>
                  <a:pt x="3177540" y="1566672"/>
                </a:moveTo>
                <a:lnTo>
                  <a:pt x="3177540" y="1537716"/>
                </a:lnTo>
                <a:lnTo>
                  <a:pt x="3148584" y="1537716"/>
                </a:lnTo>
                <a:lnTo>
                  <a:pt x="3148584" y="1566672"/>
                </a:lnTo>
                <a:lnTo>
                  <a:pt x="3177540" y="1566672"/>
                </a:lnTo>
                <a:close/>
              </a:path>
              <a:path w="3177540" h="3238500">
                <a:moveTo>
                  <a:pt x="3177540" y="1623060"/>
                </a:moveTo>
                <a:lnTo>
                  <a:pt x="3177540" y="1594104"/>
                </a:lnTo>
                <a:lnTo>
                  <a:pt x="3148584" y="1594104"/>
                </a:lnTo>
                <a:lnTo>
                  <a:pt x="3148584" y="1623060"/>
                </a:lnTo>
                <a:lnTo>
                  <a:pt x="3177540" y="1623060"/>
                </a:lnTo>
                <a:close/>
              </a:path>
              <a:path w="3177540" h="3238500">
                <a:moveTo>
                  <a:pt x="3177540" y="1680972"/>
                </a:moveTo>
                <a:lnTo>
                  <a:pt x="3177540" y="1652016"/>
                </a:lnTo>
                <a:lnTo>
                  <a:pt x="3148584" y="1652016"/>
                </a:lnTo>
                <a:lnTo>
                  <a:pt x="3148584" y="1680972"/>
                </a:lnTo>
                <a:lnTo>
                  <a:pt x="3177540" y="1680972"/>
                </a:lnTo>
                <a:close/>
              </a:path>
              <a:path w="3177540" h="3238500">
                <a:moveTo>
                  <a:pt x="3177540" y="1737360"/>
                </a:moveTo>
                <a:lnTo>
                  <a:pt x="3177540" y="1708404"/>
                </a:lnTo>
                <a:lnTo>
                  <a:pt x="3148584" y="1708404"/>
                </a:lnTo>
                <a:lnTo>
                  <a:pt x="3148584" y="1737360"/>
                </a:lnTo>
                <a:lnTo>
                  <a:pt x="3177540" y="1737360"/>
                </a:lnTo>
                <a:close/>
              </a:path>
              <a:path w="3177540" h="3238500">
                <a:moveTo>
                  <a:pt x="3177540" y="1795272"/>
                </a:moveTo>
                <a:lnTo>
                  <a:pt x="3177540" y="1766316"/>
                </a:lnTo>
                <a:lnTo>
                  <a:pt x="3148584" y="1766316"/>
                </a:lnTo>
                <a:lnTo>
                  <a:pt x="3148584" y="1795272"/>
                </a:lnTo>
                <a:lnTo>
                  <a:pt x="3177540" y="1795272"/>
                </a:lnTo>
                <a:close/>
              </a:path>
              <a:path w="3177540" h="3238500">
                <a:moveTo>
                  <a:pt x="3177540" y="1851660"/>
                </a:moveTo>
                <a:lnTo>
                  <a:pt x="3177540" y="1822704"/>
                </a:lnTo>
                <a:lnTo>
                  <a:pt x="3148584" y="1822704"/>
                </a:lnTo>
                <a:lnTo>
                  <a:pt x="3148584" y="1851660"/>
                </a:lnTo>
                <a:lnTo>
                  <a:pt x="3177540" y="1851660"/>
                </a:lnTo>
                <a:close/>
              </a:path>
              <a:path w="3177540" h="3238500">
                <a:moveTo>
                  <a:pt x="3177540" y="1909572"/>
                </a:moveTo>
                <a:lnTo>
                  <a:pt x="3177540" y="1880616"/>
                </a:lnTo>
                <a:lnTo>
                  <a:pt x="3148584" y="1880616"/>
                </a:lnTo>
                <a:lnTo>
                  <a:pt x="3148584" y="1909572"/>
                </a:lnTo>
                <a:lnTo>
                  <a:pt x="3177540" y="1909572"/>
                </a:lnTo>
                <a:close/>
              </a:path>
              <a:path w="3177540" h="3238500">
                <a:moveTo>
                  <a:pt x="3177540" y="1965960"/>
                </a:moveTo>
                <a:lnTo>
                  <a:pt x="3177540" y="1937004"/>
                </a:lnTo>
                <a:lnTo>
                  <a:pt x="3148584" y="1937004"/>
                </a:lnTo>
                <a:lnTo>
                  <a:pt x="3148584" y="1965960"/>
                </a:lnTo>
                <a:lnTo>
                  <a:pt x="3177540" y="1965960"/>
                </a:lnTo>
                <a:close/>
              </a:path>
              <a:path w="3177540" h="3238500">
                <a:moveTo>
                  <a:pt x="3177540" y="2022348"/>
                </a:moveTo>
                <a:lnTo>
                  <a:pt x="3177540" y="1994916"/>
                </a:lnTo>
                <a:lnTo>
                  <a:pt x="3148584" y="1994916"/>
                </a:lnTo>
                <a:lnTo>
                  <a:pt x="3148584" y="2022348"/>
                </a:lnTo>
                <a:lnTo>
                  <a:pt x="3177540" y="2022348"/>
                </a:lnTo>
                <a:close/>
              </a:path>
              <a:path w="3177540" h="3238500">
                <a:moveTo>
                  <a:pt x="3177540" y="2080260"/>
                </a:moveTo>
                <a:lnTo>
                  <a:pt x="3177540" y="2051304"/>
                </a:lnTo>
                <a:lnTo>
                  <a:pt x="3148584" y="2051304"/>
                </a:lnTo>
                <a:lnTo>
                  <a:pt x="3148584" y="2080260"/>
                </a:lnTo>
                <a:lnTo>
                  <a:pt x="3177540" y="2080260"/>
                </a:lnTo>
                <a:close/>
              </a:path>
              <a:path w="3177540" h="3238500">
                <a:moveTo>
                  <a:pt x="3177540" y="2136648"/>
                </a:moveTo>
                <a:lnTo>
                  <a:pt x="3177540" y="2109216"/>
                </a:lnTo>
                <a:lnTo>
                  <a:pt x="3148584" y="2109216"/>
                </a:lnTo>
                <a:lnTo>
                  <a:pt x="3148584" y="2136648"/>
                </a:lnTo>
                <a:lnTo>
                  <a:pt x="3177540" y="2136648"/>
                </a:lnTo>
                <a:close/>
              </a:path>
              <a:path w="3177540" h="3238500">
                <a:moveTo>
                  <a:pt x="3177540" y="2194560"/>
                </a:moveTo>
                <a:lnTo>
                  <a:pt x="3177540" y="2165604"/>
                </a:lnTo>
                <a:lnTo>
                  <a:pt x="3148584" y="2165604"/>
                </a:lnTo>
                <a:lnTo>
                  <a:pt x="3148584" y="2194560"/>
                </a:lnTo>
                <a:lnTo>
                  <a:pt x="3177540" y="2194560"/>
                </a:lnTo>
                <a:close/>
              </a:path>
              <a:path w="3177540" h="3238500">
                <a:moveTo>
                  <a:pt x="3177540" y="2250948"/>
                </a:moveTo>
                <a:lnTo>
                  <a:pt x="3177540" y="2223516"/>
                </a:lnTo>
                <a:lnTo>
                  <a:pt x="3148584" y="2223516"/>
                </a:lnTo>
                <a:lnTo>
                  <a:pt x="3148584" y="2250948"/>
                </a:lnTo>
                <a:lnTo>
                  <a:pt x="3177540" y="2250948"/>
                </a:lnTo>
                <a:close/>
              </a:path>
              <a:path w="3177540" h="3238500">
                <a:moveTo>
                  <a:pt x="3177540" y="2308860"/>
                </a:moveTo>
                <a:lnTo>
                  <a:pt x="3177540" y="2279904"/>
                </a:lnTo>
                <a:lnTo>
                  <a:pt x="3148584" y="2279904"/>
                </a:lnTo>
                <a:lnTo>
                  <a:pt x="3148584" y="2308860"/>
                </a:lnTo>
                <a:lnTo>
                  <a:pt x="3177540" y="2308860"/>
                </a:lnTo>
                <a:close/>
              </a:path>
              <a:path w="3177540" h="3238500">
                <a:moveTo>
                  <a:pt x="3177540" y="2365248"/>
                </a:moveTo>
                <a:lnTo>
                  <a:pt x="3177540" y="2337816"/>
                </a:lnTo>
                <a:lnTo>
                  <a:pt x="3148584" y="2337816"/>
                </a:lnTo>
                <a:lnTo>
                  <a:pt x="3148584" y="2365248"/>
                </a:lnTo>
                <a:lnTo>
                  <a:pt x="3177540" y="2365248"/>
                </a:lnTo>
                <a:close/>
              </a:path>
              <a:path w="3177540" h="3238500">
                <a:moveTo>
                  <a:pt x="3177540" y="2423160"/>
                </a:moveTo>
                <a:lnTo>
                  <a:pt x="3177540" y="2394204"/>
                </a:lnTo>
                <a:lnTo>
                  <a:pt x="3148584" y="2394204"/>
                </a:lnTo>
                <a:lnTo>
                  <a:pt x="3148584" y="2423160"/>
                </a:lnTo>
                <a:lnTo>
                  <a:pt x="3177540" y="2423160"/>
                </a:lnTo>
                <a:close/>
              </a:path>
              <a:path w="3177540" h="3238500">
                <a:moveTo>
                  <a:pt x="3177540" y="2479548"/>
                </a:moveTo>
                <a:lnTo>
                  <a:pt x="3177540" y="2452116"/>
                </a:lnTo>
                <a:lnTo>
                  <a:pt x="3148584" y="2452116"/>
                </a:lnTo>
                <a:lnTo>
                  <a:pt x="3148584" y="2479548"/>
                </a:lnTo>
                <a:lnTo>
                  <a:pt x="3177540" y="2479548"/>
                </a:lnTo>
                <a:close/>
              </a:path>
              <a:path w="3177540" h="3238500">
                <a:moveTo>
                  <a:pt x="3177540" y="2537460"/>
                </a:moveTo>
                <a:lnTo>
                  <a:pt x="3177540" y="2508504"/>
                </a:lnTo>
                <a:lnTo>
                  <a:pt x="3148584" y="2508504"/>
                </a:lnTo>
                <a:lnTo>
                  <a:pt x="3148584" y="2537460"/>
                </a:lnTo>
                <a:lnTo>
                  <a:pt x="3177540" y="2537460"/>
                </a:lnTo>
                <a:close/>
              </a:path>
              <a:path w="3177540" h="3238500">
                <a:moveTo>
                  <a:pt x="3177540" y="2593848"/>
                </a:moveTo>
                <a:lnTo>
                  <a:pt x="3177540" y="2566416"/>
                </a:lnTo>
                <a:lnTo>
                  <a:pt x="3148584" y="2566416"/>
                </a:lnTo>
                <a:lnTo>
                  <a:pt x="3148584" y="2593848"/>
                </a:lnTo>
                <a:lnTo>
                  <a:pt x="3177540" y="2593848"/>
                </a:lnTo>
                <a:close/>
              </a:path>
              <a:path w="3177540" h="3238500">
                <a:moveTo>
                  <a:pt x="3177540" y="2651760"/>
                </a:moveTo>
                <a:lnTo>
                  <a:pt x="3177540" y="2622804"/>
                </a:lnTo>
                <a:lnTo>
                  <a:pt x="3148584" y="2622804"/>
                </a:lnTo>
                <a:lnTo>
                  <a:pt x="3148584" y="2651760"/>
                </a:lnTo>
                <a:lnTo>
                  <a:pt x="3177540" y="2651760"/>
                </a:lnTo>
                <a:close/>
              </a:path>
              <a:path w="3177540" h="3238500">
                <a:moveTo>
                  <a:pt x="3177540" y="2708148"/>
                </a:moveTo>
                <a:lnTo>
                  <a:pt x="3177540" y="2680716"/>
                </a:lnTo>
                <a:lnTo>
                  <a:pt x="3148584" y="2680716"/>
                </a:lnTo>
                <a:lnTo>
                  <a:pt x="3148584" y="2708148"/>
                </a:lnTo>
                <a:lnTo>
                  <a:pt x="3177540" y="2708148"/>
                </a:lnTo>
                <a:close/>
              </a:path>
              <a:path w="3177540" h="3238500">
                <a:moveTo>
                  <a:pt x="3177540" y="2766060"/>
                </a:moveTo>
                <a:lnTo>
                  <a:pt x="3177540" y="2737104"/>
                </a:lnTo>
                <a:lnTo>
                  <a:pt x="3148584" y="2737104"/>
                </a:lnTo>
                <a:lnTo>
                  <a:pt x="3148584" y="2766060"/>
                </a:lnTo>
                <a:lnTo>
                  <a:pt x="3177540" y="2766060"/>
                </a:lnTo>
                <a:close/>
              </a:path>
              <a:path w="3177540" h="3238500">
                <a:moveTo>
                  <a:pt x="3177540" y="2822448"/>
                </a:moveTo>
                <a:lnTo>
                  <a:pt x="3177540" y="2795016"/>
                </a:lnTo>
                <a:lnTo>
                  <a:pt x="3148584" y="2795016"/>
                </a:lnTo>
                <a:lnTo>
                  <a:pt x="3148584" y="2822448"/>
                </a:lnTo>
                <a:lnTo>
                  <a:pt x="3177540" y="2822448"/>
                </a:lnTo>
                <a:close/>
              </a:path>
              <a:path w="3177540" h="3238500">
                <a:moveTo>
                  <a:pt x="3177540" y="2880360"/>
                </a:moveTo>
                <a:lnTo>
                  <a:pt x="3177540" y="2851404"/>
                </a:lnTo>
                <a:lnTo>
                  <a:pt x="3148584" y="2851404"/>
                </a:lnTo>
                <a:lnTo>
                  <a:pt x="3148584" y="2880360"/>
                </a:lnTo>
                <a:lnTo>
                  <a:pt x="3177540" y="2880360"/>
                </a:lnTo>
                <a:close/>
              </a:path>
              <a:path w="3177540" h="3238500">
                <a:moveTo>
                  <a:pt x="3177540" y="2936748"/>
                </a:moveTo>
                <a:lnTo>
                  <a:pt x="3177540" y="2909316"/>
                </a:lnTo>
                <a:lnTo>
                  <a:pt x="3148584" y="2909316"/>
                </a:lnTo>
                <a:lnTo>
                  <a:pt x="3148584" y="2936748"/>
                </a:lnTo>
                <a:lnTo>
                  <a:pt x="3177540" y="2936748"/>
                </a:lnTo>
                <a:close/>
              </a:path>
              <a:path w="3177540" h="3238500">
                <a:moveTo>
                  <a:pt x="3177540" y="2994660"/>
                </a:moveTo>
                <a:lnTo>
                  <a:pt x="3177540" y="2965704"/>
                </a:lnTo>
                <a:lnTo>
                  <a:pt x="3148584" y="2965704"/>
                </a:lnTo>
                <a:lnTo>
                  <a:pt x="3148584" y="2994660"/>
                </a:lnTo>
                <a:lnTo>
                  <a:pt x="3177540" y="2994660"/>
                </a:lnTo>
                <a:close/>
              </a:path>
              <a:path w="3177540" h="3238500">
                <a:moveTo>
                  <a:pt x="3177540" y="3051048"/>
                </a:moveTo>
                <a:lnTo>
                  <a:pt x="3177540" y="3023616"/>
                </a:lnTo>
                <a:lnTo>
                  <a:pt x="3148584" y="3023616"/>
                </a:lnTo>
                <a:lnTo>
                  <a:pt x="3148584" y="3051048"/>
                </a:lnTo>
                <a:lnTo>
                  <a:pt x="3177540" y="3051048"/>
                </a:lnTo>
                <a:close/>
              </a:path>
              <a:path w="3177540" h="3238500">
                <a:moveTo>
                  <a:pt x="3177540" y="3108960"/>
                </a:moveTo>
                <a:lnTo>
                  <a:pt x="3177540" y="3080004"/>
                </a:lnTo>
                <a:lnTo>
                  <a:pt x="3148584" y="3080004"/>
                </a:lnTo>
                <a:lnTo>
                  <a:pt x="3148584" y="3108960"/>
                </a:lnTo>
                <a:lnTo>
                  <a:pt x="3177540" y="3108960"/>
                </a:lnTo>
                <a:close/>
              </a:path>
              <a:path w="3177540" h="3238500">
                <a:moveTo>
                  <a:pt x="3177540" y="3165348"/>
                </a:moveTo>
                <a:lnTo>
                  <a:pt x="3177540" y="3137916"/>
                </a:lnTo>
                <a:lnTo>
                  <a:pt x="3148584" y="3137916"/>
                </a:lnTo>
                <a:lnTo>
                  <a:pt x="3148584" y="3165348"/>
                </a:lnTo>
                <a:lnTo>
                  <a:pt x="3177540" y="3165348"/>
                </a:lnTo>
                <a:close/>
              </a:path>
              <a:path w="3177540" h="3238500">
                <a:moveTo>
                  <a:pt x="3177540" y="3223260"/>
                </a:moveTo>
                <a:lnTo>
                  <a:pt x="3177540" y="3194304"/>
                </a:lnTo>
                <a:lnTo>
                  <a:pt x="3148584" y="3194304"/>
                </a:lnTo>
                <a:lnTo>
                  <a:pt x="3148584" y="3223260"/>
                </a:lnTo>
                <a:lnTo>
                  <a:pt x="3177540" y="3223260"/>
                </a:lnTo>
                <a:close/>
              </a:path>
              <a:path w="3177540" h="3238500">
                <a:moveTo>
                  <a:pt x="3136391" y="3238500"/>
                </a:moveTo>
                <a:lnTo>
                  <a:pt x="3136391" y="3211068"/>
                </a:lnTo>
                <a:lnTo>
                  <a:pt x="3107436" y="3211068"/>
                </a:lnTo>
                <a:lnTo>
                  <a:pt x="3107436" y="3238500"/>
                </a:lnTo>
                <a:lnTo>
                  <a:pt x="3136391" y="3238500"/>
                </a:lnTo>
                <a:close/>
              </a:path>
              <a:path w="3177540" h="3238500">
                <a:moveTo>
                  <a:pt x="3080004" y="3238500"/>
                </a:moveTo>
                <a:lnTo>
                  <a:pt x="3080004" y="3211068"/>
                </a:lnTo>
                <a:lnTo>
                  <a:pt x="3051048" y="3211068"/>
                </a:lnTo>
                <a:lnTo>
                  <a:pt x="3051048" y="3238500"/>
                </a:lnTo>
                <a:lnTo>
                  <a:pt x="3080004" y="3238500"/>
                </a:lnTo>
                <a:close/>
              </a:path>
              <a:path w="3177540" h="3238500">
                <a:moveTo>
                  <a:pt x="3022091" y="3238500"/>
                </a:moveTo>
                <a:lnTo>
                  <a:pt x="3022091" y="3211068"/>
                </a:lnTo>
                <a:lnTo>
                  <a:pt x="2993136" y="3211068"/>
                </a:lnTo>
                <a:lnTo>
                  <a:pt x="2993136" y="3238500"/>
                </a:lnTo>
                <a:lnTo>
                  <a:pt x="3022091" y="3238500"/>
                </a:lnTo>
                <a:close/>
              </a:path>
              <a:path w="3177540" h="3238500">
                <a:moveTo>
                  <a:pt x="2965704" y="3238500"/>
                </a:moveTo>
                <a:lnTo>
                  <a:pt x="2965704" y="3211068"/>
                </a:lnTo>
                <a:lnTo>
                  <a:pt x="2936748" y="3211068"/>
                </a:lnTo>
                <a:lnTo>
                  <a:pt x="2936748" y="3238500"/>
                </a:lnTo>
                <a:lnTo>
                  <a:pt x="2965704" y="3238500"/>
                </a:lnTo>
                <a:close/>
              </a:path>
              <a:path w="3177540" h="3238500">
                <a:moveTo>
                  <a:pt x="2907791" y="3238500"/>
                </a:moveTo>
                <a:lnTo>
                  <a:pt x="2907791" y="3211068"/>
                </a:lnTo>
                <a:lnTo>
                  <a:pt x="2878836" y="3211068"/>
                </a:lnTo>
                <a:lnTo>
                  <a:pt x="2878836" y="3238500"/>
                </a:lnTo>
                <a:lnTo>
                  <a:pt x="2907791" y="3238500"/>
                </a:lnTo>
                <a:close/>
              </a:path>
              <a:path w="3177540" h="3238500">
                <a:moveTo>
                  <a:pt x="2851404" y="3238500"/>
                </a:moveTo>
                <a:lnTo>
                  <a:pt x="2851404" y="3211068"/>
                </a:lnTo>
                <a:lnTo>
                  <a:pt x="2822448" y="3211068"/>
                </a:lnTo>
                <a:lnTo>
                  <a:pt x="2822448" y="3238500"/>
                </a:lnTo>
                <a:lnTo>
                  <a:pt x="2851404" y="3238500"/>
                </a:lnTo>
                <a:close/>
              </a:path>
              <a:path w="3177540" h="3238500">
                <a:moveTo>
                  <a:pt x="2793491" y="3238500"/>
                </a:moveTo>
                <a:lnTo>
                  <a:pt x="2793491" y="3211068"/>
                </a:lnTo>
                <a:lnTo>
                  <a:pt x="2764536" y="3211068"/>
                </a:lnTo>
                <a:lnTo>
                  <a:pt x="2764536" y="3238500"/>
                </a:lnTo>
                <a:lnTo>
                  <a:pt x="2793491" y="3238500"/>
                </a:lnTo>
                <a:close/>
              </a:path>
              <a:path w="3177540" h="3238500">
                <a:moveTo>
                  <a:pt x="2737104" y="3238500"/>
                </a:moveTo>
                <a:lnTo>
                  <a:pt x="2737104" y="3211068"/>
                </a:lnTo>
                <a:lnTo>
                  <a:pt x="2708148" y="3211068"/>
                </a:lnTo>
                <a:lnTo>
                  <a:pt x="2708148" y="3238500"/>
                </a:lnTo>
                <a:lnTo>
                  <a:pt x="2737104" y="3238500"/>
                </a:lnTo>
                <a:close/>
              </a:path>
              <a:path w="3177540" h="3238500">
                <a:moveTo>
                  <a:pt x="2679191" y="3238500"/>
                </a:moveTo>
                <a:lnTo>
                  <a:pt x="2679191" y="3211068"/>
                </a:lnTo>
                <a:lnTo>
                  <a:pt x="2650236" y="3211068"/>
                </a:lnTo>
                <a:lnTo>
                  <a:pt x="2650236" y="3238500"/>
                </a:lnTo>
                <a:lnTo>
                  <a:pt x="2679191" y="3238500"/>
                </a:lnTo>
                <a:close/>
              </a:path>
              <a:path w="3177540" h="3238500">
                <a:moveTo>
                  <a:pt x="2622804" y="3238500"/>
                </a:moveTo>
                <a:lnTo>
                  <a:pt x="2622804" y="3211068"/>
                </a:lnTo>
                <a:lnTo>
                  <a:pt x="2593848" y="3211068"/>
                </a:lnTo>
                <a:lnTo>
                  <a:pt x="2593848" y="3238500"/>
                </a:lnTo>
                <a:lnTo>
                  <a:pt x="2622804" y="3238500"/>
                </a:lnTo>
                <a:close/>
              </a:path>
              <a:path w="3177540" h="3238500">
                <a:moveTo>
                  <a:pt x="2564891" y="3238500"/>
                </a:moveTo>
                <a:lnTo>
                  <a:pt x="2564891" y="3211068"/>
                </a:lnTo>
                <a:lnTo>
                  <a:pt x="2535936" y="3211068"/>
                </a:lnTo>
                <a:lnTo>
                  <a:pt x="2535936" y="3238500"/>
                </a:lnTo>
                <a:lnTo>
                  <a:pt x="2564891" y="3238500"/>
                </a:lnTo>
                <a:close/>
              </a:path>
              <a:path w="3177540" h="3238500">
                <a:moveTo>
                  <a:pt x="2508504" y="3238500"/>
                </a:moveTo>
                <a:lnTo>
                  <a:pt x="2508504" y="3211068"/>
                </a:lnTo>
                <a:lnTo>
                  <a:pt x="2479548" y="3211068"/>
                </a:lnTo>
                <a:lnTo>
                  <a:pt x="2479548" y="3238500"/>
                </a:lnTo>
                <a:lnTo>
                  <a:pt x="2508504" y="3238500"/>
                </a:lnTo>
                <a:close/>
              </a:path>
              <a:path w="3177540" h="3238500">
                <a:moveTo>
                  <a:pt x="2450591" y="3238500"/>
                </a:moveTo>
                <a:lnTo>
                  <a:pt x="2450591" y="3211068"/>
                </a:lnTo>
                <a:lnTo>
                  <a:pt x="2421636" y="3211068"/>
                </a:lnTo>
                <a:lnTo>
                  <a:pt x="2421636" y="3238500"/>
                </a:lnTo>
                <a:lnTo>
                  <a:pt x="2450591" y="3238500"/>
                </a:lnTo>
                <a:close/>
              </a:path>
              <a:path w="3177540" h="3238500">
                <a:moveTo>
                  <a:pt x="2394204" y="3238500"/>
                </a:moveTo>
                <a:lnTo>
                  <a:pt x="2394204" y="3211068"/>
                </a:lnTo>
                <a:lnTo>
                  <a:pt x="2365248" y="3211068"/>
                </a:lnTo>
                <a:lnTo>
                  <a:pt x="2365248" y="3238500"/>
                </a:lnTo>
                <a:lnTo>
                  <a:pt x="2394204" y="3238500"/>
                </a:lnTo>
                <a:close/>
              </a:path>
              <a:path w="3177540" h="3238500">
                <a:moveTo>
                  <a:pt x="2336291" y="3238500"/>
                </a:moveTo>
                <a:lnTo>
                  <a:pt x="2336291" y="3211068"/>
                </a:lnTo>
                <a:lnTo>
                  <a:pt x="2307336" y="3211068"/>
                </a:lnTo>
                <a:lnTo>
                  <a:pt x="2307336" y="3238500"/>
                </a:lnTo>
                <a:lnTo>
                  <a:pt x="2336291" y="3238500"/>
                </a:lnTo>
                <a:close/>
              </a:path>
              <a:path w="3177540" h="3238500">
                <a:moveTo>
                  <a:pt x="2279904" y="3238500"/>
                </a:moveTo>
                <a:lnTo>
                  <a:pt x="2279904" y="3211068"/>
                </a:lnTo>
                <a:lnTo>
                  <a:pt x="2250948" y="3211068"/>
                </a:lnTo>
                <a:lnTo>
                  <a:pt x="2250948" y="3238500"/>
                </a:lnTo>
                <a:lnTo>
                  <a:pt x="2279904" y="3238500"/>
                </a:lnTo>
                <a:close/>
              </a:path>
              <a:path w="3177540" h="3238500">
                <a:moveTo>
                  <a:pt x="2221991" y="3238500"/>
                </a:moveTo>
                <a:lnTo>
                  <a:pt x="2221991" y="3211068"/>
                </a:lnTo>
                <a:lnTo>
                  <a:pt x="2193036" y="3211068"/>
                </a:lnTo>
                <a:lnTo>
                  <a:pt x="2193036" y="3238500"/>
                </a:lnTo>
                <a:lnTo>
                  <a:pt x="2221991" y="3238500"/>
                </a:lnTo>
                <a:close/>
              </a:path>
              <a:path w="3177540" h="3238500">
                <a:moveTo>
                  <a:pt x="2165604" y="3238500"/>
                </a:moveTo>
                <a:lnTo>
                  <a:pt x="2165604" y="3211068"/>
                </a:lnTo>
                <a:lnTo>
                  <a:pt x="2136648" y="3211068"/>
                </a:lnTo>
                <a:lnTo>
                  <a:pt x="2136648" y="3238500"/>
                </a:lnTo>
                <a:lnTo>
                  <a:pt x="2165604" y="3238500"/>
                </a:lnTo>
                <a:close/>
              </a:path>
              <a:path w="3177540" h="3238500">
                <a:moveTo>
                  <a:pt x="2107692" y="3238500"/>
                </a:moveTo>
                <a:lnTo>
                  <a:pt x="2107692" y="3211068"/>
                </a:lnTo>
                <a:lnTo>
                  <a:pt x="2078736" y="3211068"/>
                </a:lnTo>
                <a:lnTo>
                  <a:pt x="2078736" y="3238500"/>
                </a:lnTo>
                <a:lnTo>
                  <a:pt x="2107692" y="3238500"/>
                </a:lnTo>
                <a:close/>
              </a:path>
              <a:path w="3177540" h="3238500">
                <a:moveTo>
                  <a:pt x="2051304" y="3238500"/>
                </a:moveTo>
                <a:lnTo>
                  <a:pt x="2051304" y="3211068"/>
                </a:lnTo>
                <a:lnTo>
                  <a:pt x="2022348" y="3211068"/>
                </a:lnTo>
                <a:lnTo>
                  <a:pt x="2022348" y="3238500"/>
                </a:lnTo>
                <a:lnTo>
                  <a:pt x="2051304" y="3238500"/>
                </a:lnTo>
                <a:close/>
              </a:path>
              <a:path w="3177540" h="3238500">
                <a:moveTo>
                  <a:pt x="1993392" y="3238500"/>
                </a:moveTo>
                <a:lnTo>
                  <a:pt x="1993392" y="3211068"/>
                </a:lnTo>
                <a:lnTo>
                  <a:pt x="1965960" y="3211068"/>
                </a:lnTo>
                <a:lnTo>
                  <a:pt x="1965960" y="3238500"/>
                </a:lnTo>
                <a:lnTo>
                  <a:pt x="1993392" y="3238500"/>
                </a:lnTo>
                <a:close/>
              </a:path>
              <a:path w="3177540" h="3238500">
                <a:moveTo>
                  <a:pt x="1937004" y="3238500"/>
                </a:moveTo>
                <a:lnTo>
                  <a:pt x="1937004" y="3211068"/>
                </a:lnTo>
                <a:lnTo>
                  <a:pt x="1908048" y="3211068"/>
                </a:lnTo>
                <a:lnTo>
                  <a:pt x="1908048" y="3238500"/>
                </a:lnTo>
                <a:lnTo>
                  <a:pt x="1937004" y="3238500"/>
                </a:lnTo>
                <a:close/>
              </a:path>
              <a:path w="3177540" h="3238500">
                <a:moveTo>
                  <a:pt x="1879092" y="3238500"/>
                </a:moveTo>
                <a:lnTo>
                  <a:pt x="1879092" y="3211068"/>
                </a:lnTo>
                <a:lnTo>
                  <a:pt x="1851660" y="3211068"/>
                </a:lnTo>
                <a:lnTo>
                  <a:pt x="1851660" y="3238500"/>
                </a:lnTo>
                <a:lnTo>
                  <a:pt x="1879092" y="3238500"/>
                </a:lnTo>
                <a:close/>
              </a:path>
              <a:path w="3177540" h="3238500">
                <a:moveTo>
                  <a:pt x="1822704" y="3238500"/>
                </a:moveTo>
                <a:lnTo>
                  <a:pt x="1822704" y="3211068"/>
                </a:lnTo>
                <a:lnTo>
                  <a:pt x="1793748" y="3211068"/>
                </a:lnTo>
                <a:lnTo>
                  <a:pt x="1793748" y="3238500"/>
                </a:lnTo>
                <a:lnTo>
                  <a:pt x="1822704" y="3238500"/>
                </a:lnTo>
                <a:close/>
              </a:path>
              <a:path w="3177540" h="3238500">
                <a:moveTo>
                  <a:pt x="1764792" y="3238500"/>
                </a:moveTo>
                <a:lnTo>
                  <a:pt x="1764792" y="3211068"/>
                </a:lnTo>
                <a:lnTo>
                  <a:pt x="1737360" y="3211068"/>
                </a:lnTo>
                <a:lnTo>
                  <a:pt x="1737360" y="3238500"/>
                </a:lnTo>
                <a:lnTo>
                  <a:pt x="1764792" y="3238500"/>
                </a:lnTo>
                <a:close/>
              </a:path>
              <a:path w="3177540" h="3238500">
                <a:moveTo>
                  <a:pt x="1708404" y="3238500"/>
                </a:moveTo>
                <a:lnTo>
                  <a:pt x="1708404" y="3211068"/>
                </a:lnTo>
                <a:lnTo>
                  <a:pt x="1679448" y="3211068"/>
                </a:lnTo>
                <a:lnTo>
                  <a:pt x="1679448" y="3238500"/>
                </a:lnTo>
                <a:lnTo>
                  <a:pt x="1708404" y="3238500"/>
                </a:lnTo>
                <a:close/>
              </a:path>
              <a:path w="3177540" h="3238500">
                <a:moveTo>
                  <a:pt x="1650492" y="3238500"/>
                </a:moveTo>
                <a:lnTo>
                  <a:pt x="1650492" y="3211068"/>
                </a:lnTo>
                <a:lnTo>
                  <a:pt x="1623060" y="3211068"/>
                </a:lnTo>
                <a:lnTo>
                  <a:pt x="1623060" y="3238500"/>
                </a:lnTo>
                <a:lnTo>
                  <a:pt x="1650492" y="3238500"/>
                </a:lnTo>
                <a:close/>
              </a:path>
              <a:path w="3177540" h="3238500">
                <a:moveTo>
                  <a:pt x="1594104" y="3238500"/>
                </a:moveTo>
                <a:lnTo>
                  <a:pt x="1594104" y="3211068"/>
                </a:lnTo>
                <a:lnTo>
                  <a:pt x="1565148" y="3211068"/>
                </a:lnTo>
                <a:lnTo>
                  <a:pt x="1565148" y="3238500"/>
                </a:lnTo>
                <a:lnTo>
                  <a:pt x="1594104" y="3238500"/>
                </a:lnTo>
                <a:close/>
              </a:path>
              <a:path w="3177540" h="3238500">
                <a:moveTo>
                  <a:pt x="1536192" y="3238500"/>
                </a:moveTo>
                <a:lnTo>
                  <a:pt x="1536192" y="3211068"/>
                </a:lnTo>
                <a:lnTo>
                  <a:pt x="1508760" y="3211068"/>
                </a:lnTo>
                <a:lnTo>
                  <a:pt x="1508760" y="3238500"/>
                </a:lnTo>
                <a:lnTo>
                  <a:pt x="1536192" y="3238500"/>
                </a:lnTo>
                <a:close/>
              </a:path>
              <a:path w="3177540" h="3238500">
                <a:moveTo>
                  <a:pt x="1479804" y="3238500"/>
                </a:moveTo>
                <a:lnTo>
                  <a:pt x="1479804" y="3211068"/>
                </a:lnTo>
                <a:lnTo>
                  <a:pt x="1450848" y="3211068"/>
                </a:lnTo>
                <a:lnTo>
                  <a:pt x="1450848" y="3238500"/>
                </a:lnTo>
                <a:lnTo>
                  <a:pt x="1479804" y="3238500"/>
                </a:lnTo>
                <a:close/>
              </a:path>
              <a:path w="3177540" h="3238500">
                <a:moveTo>
                  <a:pt x="1421892" y="3238500"/>
                </a:moveTo>
                <a:lnTo>
                  <a:pt x="1421892" y="3211068"/>
                </a:lnTo>
                <a:lnTo>
                  <a:pt x="1394460" y="3211068"/>
                </a:lnTo>
                <a:lnTo>
                  <a:pt x="1394460" y="3238500"/>
                </a:lnTo>
                <a:lnTo>
                  <a:pt x="1421892" y="3238500"/>
                </a:lnTo>
                <a:close/>
              </a:path>
              <a:path w="3177540" h="3238500">
                <a:moveTo>
                  <a:pt x="1365504" y="3238500"/>
                </a:moveTo>
                <a:lnTo>
                  <a:pt x="1365504" y="3211068"/>
                </a:lnTo>
                <a:lnTo>
                  <a:pt x="1336548" y="3211068"/>
                </a:lnTo>
                <a:lnTo>
                  <a:pt x="1336548" y="3238500"/>
                </a:lnTo>
                <a:lnTo>
                  <a:pt x="1365504" y="3238500"/>
                </a:lnTo>
                <a:close/>
              </a:path>
              <a:path w="3177540" h="3238500">
                <a:moveTo>
                  <a:pt x="1307592" y="3238500"/>
                </a:moveTo>
                <a:lnTo>
                  <a:pt x="1307592" y="3211068"/>
                </a:lnTo>
                <a:lnTo>
                  <a:pt x="1280160" y="3211068"/>
                </a:lnTo>
                <a:lnTo>
                  <a:pt x="1280160" y="3238500"/>
                </a:lnTo>
                <a:lnTo>
                  <a:pt x="1307592" y="3238500"/>
                </a:lnTo>
                <a:close/>
              </a:path>
              <a:path w="3177540" h="3238500">
                <a:moveTo>
                  <a:pt x="1251204" y="3238500"/>
                </a:moveTo>
                <a:lnTo>
                  <a:pt x="1251204" y="3211068"/>
                </a:lnTo>
                <a:lnTo>
                  <a:pt x="1222248" y="3211068"/>
                </a:lnTo>
                <a:lnTo>
                  <a:pt x="1222248" y="3238500"/>
                </a:lnTo>
                <a:lnTo>
                  <a:pt x="1251204" y="3238500"/>
                </a:lnTo>
                <a:close/>
              </a:path>
              <a:path w="3177540" h="3238500">
                <a:moveTo>
                  <a:pt x="1193292" y="3238500"/>
                </a:moveTo>
                <a:lnTo>
                  <a:pt x="1193292" y="3211068"/>
                </a:lnTo>
                <a:lnTo>
                  <a:pt x="1165860" y="3211068"/>
                </a:lnTo>
                <a:lnTo>
                  <a:pt x="1165860" y="3238500"/>
                </a:lnTo>
                <a:lnTo>
                  <a:pt x="1193292" y="3238500"/>
                </a:lnTo>
                <a:close/>
              </a:path>
              <a:path w="3177540" h="3238500">
                <a:moveTo>
                  <a:pt x="1136904" y="3238500"/>
                </a:moveTo>
                <a:lnTo>
                  <a:pt x="1136904" y="3211068"/>
                </a:lnTo>
                <a:lnTo>
                  <a:pt x="1107948" y="3211068"/>
                </a:lnTo>
                <a:lnTo>
                  <a:pt x="1107948" y="3238500"/>
                </a:lnTo>
                <a:lnTo>
                  <a:pt x="1136904" y="3238500"/>
                </a:lnTo>
                <a:close/>
              </a:path>
              <a:path w="3177540" h="3238500">
                <a:moveTo>
                  <a:pt x="1078992" y="3238500"/>
                </a:moveTo>
                <a:lnTo>
                  <a:pt x="1078992" y="3211068"/>
                </a:lnTo>
                <a:lnTo>
                  <a:pt x="1051560" y="3211068"/>
                </a:lnTo>
                <a:lnTo>
                  <a:pt x="1051560" y="3238500"/>
                </a:lnTo>
                <a:lnTo>
                  <a:pt x="1078992" y="3238500"/>
                </a:lnTo>
                <a:close/>
              </a:path>
              <a:path w="3177540" h="3238500">
                <a:moveTo>
                  <a:pt x="1022604" y="3238500"/>
                </a:moveTo>
                <a:lnTo>
                  <a:pt x="1022604" y="3211068"/>
                </a:lnTo>
                <a:lnTo>
                  <a:pt x="993648" y="3211068"/>
                </a:lnTo>
                <a:lnTo>
                  <a:pt x="993648" y="3238500"/>
                </a:lnTo>
                <a:lnTo>
                  <a:pt x="1022604" y="3238500"/>
                </a:lnTo>
                <a:close/>
              </a:path>
              <a:path w="3177540" h="3238500">
                <a:moveTo>
                  <a:pt x="964692" y="3238500"/>
                </a:moveTo>
                <a:lnTo>
                  <a:pt x="964692" y="3211068"/>
                </a:lnTo>
                <a:lnTo>
                  <a:pt x="937260" y="3211068"/>
                </a:lnTo>
                <a:lnTo>
                  <a:pt x="937260" y="3238500"/>
                </a:lnTo>
                <a:lnTo>
                  <a:pt x="964692" y="3238500"/>
                </a:lnTo>
                <a:close/>
              </a:path>
              <a:path w="3177540" h="3238500">
                <a:moveTo>
                  <a:pt x="908304" y="3238500"/>
                </a:moveTo>
                <a:lnTo>
                  <a:pt x="908304" y="3211068"/>
                </a:lnTo>
                <a:lnTo>
                  <a:pt x="879348" y="3211068"/>
                </a:lnTo>
                <a:lnTo>
                  <a:pt x="879348" y="3238500"/>
                </a:lnTo>
                <a:lnTo>
                  <a:pt x="908304" y="3238500"/>
                </a:lnTo>
                <a:close/>
              </a:path>
              <a:path w="3177540" h="3238500">
                <a:moveTo>
                  <a:pt x="850392" y="3238500"/>
                </a:moveTo>
                <a:lnTo>
                  <a:pt x="850392" y="3211068"/>
                </a:lnTo>
                <a:lnTo>
                  <a:pt x="822960" y="3211068"/>
                </a:lnTo>
                <a:lnTo>
                  <a:pt x="822960" y="3238500"/>
                </a:lnTo>
                <a:lnTo>
                  <a:pt x="850392" y="3238500"/>
                </a:lnTo>
                <a:close/>
              </a:path>
              <a:path w="3177540" h="3238500">
                <a:moveTo>
                  <a:pt x="794004" y="3238500"/>
                </a:moveTo>
                <a:lnTo>
                  <a:pt x="794004" y="3211068"/>
                </a:lnTo>
                <a:lnTo>
                  <a:pt x="765048" y="3211068"/>
                </a:lnTo>
                <a:lnTo>
                  <a:pt x="765048" y="3238500"/>
                </a:lnTo>
                <a:lnTo>
                  <a:pt x="794004" y="3238500"/>
                </a:lnTo>
                <a:close/>
              </a:path>
              <a:path w="3177540" h="3238500">
                <a:moveTo>
                  <a:pt x="736092" y="3238500"/>
                </a:moveTo>
                <a:lnTo>
                  <a:pt x="736092" y="3211068"/>
                </a:lnTo>
                <a:lnTo>
                  <a:pt x="708660" y="3211068"/>
                </a:lnTo>
                <a:lnTo>
                  <a:pt x="708660" y="3238500"/>
                </a:lnTo>
                <a:lnTo>
                  <a:pt x="736092" y="3238500"/>
                </a:lnTo>
                <a:close/>
              </a:path>
              <a:path w="3177540" h="3238500">
                <a:moveTo>
                  <a:pt x="679704" y="3238500"/>
                </a:moveTo>
                <a:lnTo>
                  <a:pt x="679704" y="3211068"/>
                </a:lnTo>
                <a:lnTo>
                  <a:pt x="650748" y="3211068"/>
                </a:lnTo>
                <a:lnTo>
                  <a:pt x="650748" y="3238500"/>
                </a:lnTo>
                <a:lnTo>
                  <a:pt x="679704" y="3238500"/>
                </a:lnTo>
                <a:close/>
              </a:path>
              <a:path w="3177540" h="3238500">
                <a:moveTo>
                  <a:pt x="621792" y="3238500"/>
                </a:moveTo>
                <a:lnTo>
                  <a:pt x="621792" y="3211068"/>
                </a:lnTo>
                <a:lnTo>
                  <a:pt x="594360" y="3211068"/>
                </a:lnTo>
                <a:lnTo>
                  <a:pt x="594360" y="3238500"/>
                </a:lnTo>
                <a:lnTo>
                  <a:pt x="621792" y="3238500"/>
                </a:lnTo>
                <a:close/>
              </a:path>
              <a:path w="3177540" h="3238500">
                <a:moveTo>
                  <a:pt x="565404" y="3238500"/>
                </a:moveTo>
                <a:lnTo>
                  <a:pt x="565404" y="3211068"/>
                </a:lnTo>
                <a:lnTo>
                  <a:pt x="536448" y="3211068"/>
                </a:lnTo>
                <a:lnTo>
                  <a:pt x="536448" y="3238500"/>
                </a:lnTo>
                <a:lnTo>
                  <a:pt x="565404" y="3238500"/>
                </a:lnTo>
                <a:close/>
              </a:path>
              <a:path w="3177540" h="3238500">
                <a:moveTo>
                  <a:pt x="509016" y="3238500"/>
                </a:moveTo>
                <a:lnTo>
                  <a:pt x="509016" y="3211068"/>
                </a:lnTo>
                <a:lnTo>
                  <a:pt x="480060" y="3211068"/>
                </a:lnTo>
                <a:lnTo>
                  <a:pt x="480060" y="3238500"/>
                </a:lnTo>
                <a:lnTo>
                  <a:pt x="509016" y="3238500"/>
                </a:lnTo>
                <a:close/>
              </a:path>
              <a:path w="3177540" h="3238500">
                <a:moveTo>
                  <a:pt x="451104" y="3238500"/>
                </a:moveTo>
                <a:lnTo>
                  <a:pt x="451104" y="3211068"/>
                </a:lnTo>
                <a:lnTo>
                  <a:pt x="422148" y="3211068"/>
                </a:lnTo>
                <a:lnTo>
                  <a:pt x="422148" y="3238500"/>
                </a:lnTo>
                <a:lnTo>
                  <a:pt x="451104" y="3238500"/>
                </a:lnTo>
                <a:close/>
              </a:path>
              <a:path w="3177540" h="3238500">
                <a:moveTo>
                  <a:pt x="394716" y="3238500"/>
                </a:moveTo>
                <a:lnTo>
                  <a:pt x="394716" y="3211068"/>
                </a:lnTo>
                <a:lnTo>
                  <a:pt x="365760" y="3211068"/>
                </a:lnTo>
                <a:lnTo>
                  <a:pt x="365760" y="3238500"/>
                </a:lnTo>
                <a:lnTo>
                  <a:pt x="394716" y="3238500"/>
                </a:lnTo>
                <a:close/>
              </a:path>
              <a:path w="3177540" h="3238500">
                <a:moveTo>
                  <a:pt x="336804" y="3238500"/>
                </a:moveTo>
                <a:lnTo>
                  <a:pt x="336804" y="3211068"/>
                </a:lnTo>
                <a:lnTo>
                  <a:pt x="307848" y="3211068"/>
                </a:lnTo>
                <a:lnTo>
                  <a:pt x="307848" y="3238500"/>
                </a:lnTo>
                <a:lnTo>
                  <a:pt x="336804" y="3238500"/>
                </a:lnTo>
                <a:close/>
              </a:path>
              <a:path w="3177540" h="3238500">
                <a:moveTo>
                  <a:pt x="280416" y="3238500"/>
                </a:moveTo>
                <a:lnTo>
                  <a:pt x="280416" y="3211068"/>
                </a:lnTo>
                <a:lnTo>
                  <a:pt x="251460" y="3211068"/>
                </a:lnTo>
                <a:lnTo>
                  <a:pt x="251460" y="3238500"/>
                </a:lnTo>
                <a:lnTo>
                  <a:pt x="280416" y="3238500"/>
                </a:lnTo>
                <a:close/>
              </a:path>
              <a:path w="3177540" h="3238500">
                <a:moveTo>
                  <a:pt x="222504" y="3238500"/>
                </a:moveTo>
                <a:lnTo>
                  <a:pt x="222504" y="3211068"/>
                </a:lnTo>
                <a:lnTo>
                  <a:pt x="193548" y="3211068"/>
                </a:lnTo>
                <a:lnTo>
                  <a:pt x="193548" y="3238500"/>
                </a:lnTo>
                <a:lnTo>
                  <a:pt x="222504" y="3238500"/>
                </a:lnTo>
                <a:close/>
              </a:path>
              <a:path w="3177540" h="3238500">
                <a:moveTo>
                  <a:pt x="166116" y="3238500"/>
                </a:moveTo>
                <a:lnTo>
                  <a:pt x="166116" y="3211068"/>
                </a:lnTo>
                <a:lnTo>
                  <a:pt x="137160" y="3211068"/>
                </a:lnTo>
                <a:lnTo>
                  <a:pt x="137160" y="3238500"/>
                </a:lnTo>
                <a:lnTo>
                  <a:pt x="166116" y="3238500"/>
                </a:lnTo>
                <a:close/>
              </a:path>
              <a:path w="3177540" h="3238500">
                <a:moveTo>
                  <a:pt x="108204" y="3238500"/>
                </a:moveTo>
                <a:lnTo>
                  <a:pt x="108204" y="3211068"/>
                </a:lnTo>
                <a:lnTo>
                  <a:pt x="79248" y="3211068"/>
                </a:lnTo>
                <a:lnTo>
                  <a:pt x="79248" y="3238500"/>
                </a:lnTo>
                <a:lnTo>
                  <a:pt x="108204" y="3238500"/>
                </a:lnTo>
                <a:close/>
              </a:path>
            </a:pathLst>
          </a:custGeom>
          <a:solidFill>
            <a:srgbClr val="7E7E7E"/>
          </a:solidFill>
        </p:spPr>
        <p:txBody>
          <a:bodyPr wrap="square" lIns="0" tIns="0" rIns="0" bIns="0" rtlCol="0"/>
          <a:lstStyle/>
          <a:p>
            <a:endParaRPr/>
          </a:p>
        </p:txBody>
      </p:sp>
      <p:sp>
        <p:nvSpPr>
          <p:cNvPr id="16" name="object 16"/>
          <p:cNvSpPr txBox="1"/>
          <p:nvPr/>
        </p:nvSpPr>
        <p:spPr>
          <a:xfrm>
            <a:off x="2536951" y="1508252"/>
            <a:ext cx="42164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Verdana"/>
                <a:cs typeface="Verdana"/>
              </a:rPr>
              <a:t>TX</a:t>
            </a:r>
            <a:endParaRPr sz="2400">
              <a:latin typeface="Verdana"/>
              <a:cs typeface="Verdana"/>
            </a:endParaRPr>
          </a:p>
        </p:txBody>
      </p:sp>
      <p:sp>
        <p:nvSpPr>
          <p:cNvPr id="17" name="object 17"/>
          <p:cNvSpPr txBox="1"/>
          <p:nvPr/>
        </p:nvSpPr>
        <p:spPr>
          <a:xfrm>
            <a:off x="9049495" y="1519314"/>
            <a:ext cx="212090" cy="370840"/>
          </a:xfrm>
          <a:prstGeom prst="rect">
            <a:avLst/>
          </a:prstGeom>
        </p:spPr>
        <p:txBody>
          <a:bodyPr vert="horz" wrap="square" lIns="0" tIns="1270" rIns="0" bIns="0" rtlCol="0">
            <a:spAutoFit/>
          </a:bodyPr>
          <a:lstStyle/>
          <a:p>
            <a:pPr>
              <a:lnSpc>
                <a:spcPct val="100000"/>
              </a:lnSpc>
              <a:spcBef>
                <a:spcPts val="10"/>
              </a:spcBef>
            </a:pPr>
            <a:r>
              <a:rPr sz="2400" spc="-5" dirty="0">
                <a:latin typeface="Verdana"/>
                <a:cs typeface="Verdana"/>
              </a:rPr>
              <a:t>R</a:t>
            </a:r>
            <a:endParaRPr sz="2400">
              <a:latin typeface="Verdana"/>
              <a:cs typeface="Verdana"/>
            </a:endParaRPr>
          </a:p>
        </p:txBody>
      </p:sp>
      <p:sp>
        <p:nvSpPr>
          <p:cNvPr id="18" name="object 18"/>
          <p:cNvSpPr txBox="1"/>
          <p:nvPr/>
        </p:nvSpPr>
        <p:spPr>
          <a:xfrm>
            <a:off x="9261088" y="1519314"/>
            <a:ext cx="208915" cy="370840"/>
          </a:xfrm>
          <a:prstGeom prst="rect">
            <a:avLst/>
          </a:prstGeom>
        </p:spPr>
        <p:txBody>
          <a:bodyPr vert="horz" wrap="square" lIns="0" tIns="1270" rIns="0" bIns="0" rtlCol="0">
            <a:spAutoFit/>
          </a:bodyPr>
          <a:lstStyle/>
          <a:p>
            <a:pPr>
              <a:lnSpc>
                <a:spcPct val="100000"/>
              </a:lnSpc>
              <a:spcBef>
                <a:spcPts val="10"/>
              </a:spcBef>
            </a:pPr>
            <a:r>
              <a:rPr sz="2400" spc="-5" dirty="0">
                <a:latin typeface="Verdana"/>
                <a:cs typeface="Verdana"/>
              </a:rPr>
              <a:t>X</a:t>
            </a:r>
            <a:endParaRPr sz="2400">
              <a:latin typeface="Verdana"/>
              <a:cs typeface="Verdana"/>
            </a:endParaRPr>
          </a:p>
        </p:txBody>
      </p:sp>
      <p:grpSp>
        <p:nvGrpSpPr>
          <p:cNvPr id="19" name="object 19"/>
          <p:cNvGrpSpPr/>
          <p:nvPr/>
        </p:nvGrpSpPr>
        <p:grpSpPr>
          <a:xfrm>
            <a:off x="6260591" y="2028444"/>
            <a:ext cx="4843780" cy="2865120"/>
            <a:chOff x="6260591" y="2028444"/>
            <a:chExt cx="4843780" cy="2865120"/>
          </a:xfrm>
        </p:grpSpPr>
        <p:sp>
          <p:nvSpPr>
            <p:cNvPr id="20" name="object 20"/>
            <p:cNvSpPr/>
            <p:nvPr/>
          </p:nvSpPr>
          <p:spPr>
            <a:xfrm>
              <a:off x="8435339" y="3995927"/>
              <a:ext cx="1382395" cy="760730"/>
            </a:xfrm>
            <a:custGeom>
              <a:avLst/>
              <a:gdLst/>
              <a:ahLst/>
              <a:cxnLst/>
              <a:rect l="l" t="t" r="r" b="b"/>
              <a:pathLst>
                <a:path w="1382395" h="760729">
                  <a:moveTo>
                    <a:pt x="1382268" y="752855"/>
                  </a:moveTo>
                  <a:lnTo>
                    <a:pt x="1382268" y="6095"/>
                  </a:lnTo>
                  <a:lnTo>
                    <a:pt x="1376172" y="0"/>
                  </a:lnTo>
                  <a:lnTo>
                    <a:pt x="7619" y="0"/>
                  </a:lnTo>
                  <a:lnTo>
                    <a:pt x="0" y="6095"/>
                  </a:lnTo>
                  <a:lnTo>
                    <a:pt x="0" y="752855"/>
                  </a:lnTo>
                  <a:lnTo>
                    <a:pt x="7620" y="760475"/>
                  </a:lnTo>
                  <a:lnTo>
                    <a:pt x="15239" y="760475"/>
                  </a:lnTo>
                  <a:lnTo>
                    <a:pt x="15240" y="28955"/>
                  </a:lnTo>
                  <a:lnTo>
                    <a:pt x="28956" y="13715"/>
                  </a:lnTo>
                  <a:lnTo>
                    <a:pt x="28955" y="28955"/>
                  </a:lnTo>
                  <a:lnTo>
                    <a:pt x="1354836" y="28955"/>
                  </a:lnTo>
                  <a:lnTo>
                    <a:pt x="1354836" y="13715"/>
                  </a:lnTo>
                  <a:lnTo>
                    <a:pt x="1368552" y="28955"/>
                  </a:lnTo>
                  <a:lnTo>
                    <a:pt x="1368552" y="760475"/>
                  </a:lnTo>
                  <a:lnTo>
                    <a:pt x="1376172" y="760475"/>
                  </a:lnTo>
                  <a:lnTo>
                    <a:pt x="1382268" y="752855"/>
                  </a:lnTo>
                  <a:close/>
                </a:path>
                <a:path w="1382395" h="760729">
                  <a:moveTo>
                    <a:pt x="28956" y="28955"/>
                  </a:moveTo>
                  <a:lnTo>
                    <a:pt x="28956" y="13715"/>
                  </a:lnTo>
                  <a:lnTo>
                    <a:pt x="15240" y="28955"/>
                  </a:lnTo>
                  <a:lnTo>
                    <a:pt x="28956" y="28955"/>
                  </a:lnTo>
                  <a:close/>
                </a:path>
                <a:path w="1382395" h="760729">
                  <a:moveTo>
                    <a:pt x="28956" y="731519"/>
                  </a:moveTo>
                  <a:lnTo>
                    <a:pt x="28956" y="28955"/>
                  </a:lnTo>
                  <a:lnTo>
                    <a:pt x="15240" y="28955"/>
                  </a:lnTo>
                  <a:lnTo>
                    <a:pt x="15240" y="731519"/>
                  </a:lnTo>
                  <a:lnTo>
                    <a:pt x="28956" y="731519"/>
                  </a:lnTo>
                  <a:close/>
                </a:path>
                <a:path w="1382395" h="760729">
                  <a:moveTo>
                    <a:pt x="1368552" y="731519"/>
                  </a:moveTo>
                  <a:lnTo>
                    <a:pt x="15240" y="731519"/>
                  </a:lnTo>
                  <a:lnTo>
                    <a:pt x="28956" y="745235"/>
                  </a:lnTo>
                  <a:lnTo>
                    <a:pt x="28956" y="760475"/>
                  </a:lnTo>
                  <a:lnTo>
                    <a:pt x="1354836" y="760475"/>
                  </a:lnTo>
                  <a:lnTo>
                    <a:pt x="1354836" y="745235"/>
                  </a:lnTo>
                  <a:lnTo>
                    <a:pt x="1368552" y="731519"/>
                  </a:lnTo>
                  <a:close/>
                </a:path>
                <a:path w="1382395" h="760729">
                  <a:moveTo>
                    <a:pt x="28956" y="760475"/>
                  </a:moveTo>
                  <a:lnTo>
                    <a:pt x="28956" y="745235"/>
                  </a:lnTo>
                  <a:lnTo>
                    <a:pt x="15240" y="731519"/>
                  </a:lnTo>
                  <a:lnTo>
                    <a:pt x="15239" y="760475"/>
                  </a:lnTo>
                  <a:lnTo>
                    <a:pt x="28956" y="760475"/>
                  </a:lnTo>
                  <a:close/>
                </a:path>
                <a:path w="1382395" h="760729">
                  <a:moveTo>
                    <a:pt x="1368552" y="28955"/>
                  </a:moveTo>
                  <a:lnTo>
                    <a:pt x="1354836" y="13715"/>
                  </a:lnTo>
                  <a:lnTo>
                    <a:pt x="1354836" y="28955"/>
                  </a:lnTo>
                  <a:lnTo>
                    <a:pt x="1368552" y="28955"/>
                  </a:lnTo>
                  <a:close/>
                </a:path>
                <a:path w="1382395" h="760729">
                  <a:moveTo>
                    <a:pt x="1368552" y="731519"/>
                  </a:moveTo>
                  <a:lnTo>
                    <a:pt x="1368552" y="28955"/>
                  </a:lnTo>
                  <a:lnTo>
                    <a:pt x="1354836" y="28955"/>
                  </a:lnTo>
                  <a:lnTo>
                    <a:pt x="1354836" y="731519"/>
                  </a:lnTo>
                  <a:lnTo>
                    <a:pt x="1368552" y="731519"/>
                  </a:lnTo>
                  <a:close/>
                </a:path>
                <a:path w="1382395" h="760729">
                  <a:moveTo>
                    <a:pt x="1368552" y="760475"/>
                  </a:moveTo>
                  <a:lnTo>
                    <a:pt x="1368552" y="731519"/>
                  </a:lnTo>
                  <a:lnTo>
                    <a:pt x="1354836" y="745235"/>
                  </a:lnTo>
                  <a:lnTo>
                    <a:pt x="1354836" y="760475"/>
                  </a:lnTo>
                  <a:lnTo>
                    <a:pt x="1368552" y="760475"/>
                  </a:lnTo>
                  <a:close/>
                </a:path>
              </a:pathLst>
            </a:custGeom>
            <a:solidFill>
              <a:srgbClr val="000000"/>
            </a:solidFill>
          </p:spPr>
          <p:txBody>
            <a:bodyPr wrap="square" lIns="0" tIns="0" rIns="0" bIns="0" rtlCol="0"/>
            <a:lstStyle/>
            <a:p>
              <a:endParaRPr/>
            </a:p>
          </p:txBody>
        </p:sp>
        <p:pic>
          <p:nvPicPr>
            <p:cNvPr id="21" name="object 21"/>
            <p:cNvPicPr/>
            <p:nvPr/>
          </p:nvPicPr>
          <p:blipFill>
            <a:blip r:embed="rId2" cstate="print"/>
            <a:stretch>
              <a:fillRect/>
            </a:stretch>
          </p:blipFill>
          <p:spPr>
            <a:xfrm>
              <a:off x="9803891" y="4119372"/>
              <a:ext cx="245363" cy="85343"/>
            </a:xfrm>
            <a:prstGeom prst="rect">
              <a:avLst/>
            </a:prstGeom>
          </p:spPr>
        </p:pic>
        <p:sp>
          <p:nvSpPr>
            <p:cNvPr id="22" name="object 22"/>
            <p:cNvSpPr/>
            <p:nvPr/>
          </p:nvSpPr>
          <p:spPr>
            <a:xfrm>
              <a:off x="6260592" y="2028443"/>
              <a:ext cx="1205865" cy="2851785"/>
            </a:xfrm>
            <a:custGeom>
              <a:avLst/>
              <a:gdLst/>
              <a:ahLst/>
              <a:cxnLst/>
              <a:rect l="l" t="t" r="r" b="b"/>
              <a:pathLst>
                <a:path w="1205865" h="2851785">
                  <a:moveTo>
                    <a:pt x="28943" y="2822448"/>
                  </a:moveTo>
                  <a:lnTo>
                    <a:pt x="0" y="2822448"/>
                  </a:lnTo>
                  <a:lnTo>
                    <a:pt x="0" y="2851404"/>
                  </a:lnTo>
                  <a:lnTo>
                    <a:pt x="28943" y="2851404"/>
                  </a:lnTo>
                  <a:lnTo>
                    <a:pt x="28943" y="2822448"/>
                  </a:lnTo>
                  <a:close/>
                </a:path>
                <a:path w="1205865" h="2851785">
                  <a:moveTo>
                    <a:pt x="28943" y="2766060"/>
                  </a:moveTo>
                  <a:lnTo>
                    <a:pt x="0" y="2766060"/>
                  </a:lnTo>
                  <a:lnTo>
                    <a:pt x="0" y="2793492"/>
                  </a:lnTo>
                  <a:lnTo>
                    <a:pt x="28943" y="2793492"/>
                  </a:lnTo>
                  <a:lnTo>
                    <a:pt x="28943" y="2766060"/>
                  </a:lnTo>
                  <a:close/>
                </a:path>
                <a:path w="1205865" h="2851785">
                  <a:moveTo>
                    <a:pt x="28943" y="2708148"/>
                  </a:moveTo>
                  <a:lnTo>
                    <a:pt x="0" y="2708148"/>
                  </a:lnTo>
                  <a:lnTo>
                    <a:pt x="0" y="2737104"/>
                  </a:lnTo>
                  <a:lnTo>
                    <a:pt x="28943" y="2737104"/>
                  </a:lnTo>
                  <a:lnTo>
                    <a:pt x="28943" y="2708148"/>
                  </a:lnTo>
                  <a:close/>
                </a:path>
                <a:path w="1205865" h="2851785">
                  <a:moveTo>
                    <a:pt x="28943" y="2651760"/>
                  </a:moveTo>
                  <a:lnTo>
                    <a:pt x="0" y="2651760"/>
                  </a:lnTo>
                  <a:lnTo>
                    <a:pt x="0" y="2679192"/>
                  </a:lnTo>
                  <a:lnTo>
                    <a:pt x="28943" y="2679192"/>
                  </a:lnTo>
                  <a:lnTo>
                    <a:pt x="28943" y="2651760"/>
                  </a:lnTo>
                  <a:close/>
                </a:path>
                <a:path w="1205865" h="2851785">
                  <a:moveTo>
                    <a:pt x="28943" y="2593848"/>
                  </a:moveTo>
                  <a:lnTo>
                    <a:pt x="0" y="2593848"/>
                  </a:lnTo>
                  <a:lnTo>
                    <a:pt x="0" y="2622804"/>
                  </a:lnTo>
                  <a:lnTo>
                    <a:pt x="28943" y="2622804"/>
                  </a:lnTo>
                  <a:lnTo>
                    <a:pt x="28943" y="2593848"/>
                  </a:lnTo>
                  <a:close/>
                </a:path>
                <a:path w="1205865" h="2851785">
                  <a:moveTo>
                    <a:pt x="28943" y="2537460"/>
                  </a:moveTo>
                  <a:lnTo>
                    <a:pt x="0" y="2537460"/>
                  </a:lnTo>
                  <a:lnTo>
                    <a:pt x="0" y="2564892"/>
                  </a:lnTo>
                  <a:lnTo>
                    <a:pt x="28943" y="2564892"/>
                  </a:lnTo>
                  <a:lnTo>
                    <a:pt x="28943" y="2537460"/>
                  </a:lnTo>
                  <a:close/>
                </a:path>
                <a:path w="1205865" h="2851785">
                  <a:moveTo>
                    <a:pt x="28943" y="2479548"/>
                  </a:moveTo>
                  <a:lnTo>
                    <a:pt x="0" y="2479548"/>
                  </a:lnTo>
                  <a:lnTo>
                    <a:pt x="0" y="2508504"/>
                  </a:lnTo>
                  <a:lnTo>
                    <a:pt x="28943" y="2508504"/>
                  </a:lnTo>
                  <a:lnTo>
                    <a:pt x="28943" y="2479548"/>
                  </a:lnTo>
                  <a:close/>
                </a:path>
                <a:path w="1205865" h="2851785">
                  <a:moveTo>
                    <a:pt x="28943" y="2423160"/>
                  </a:moveTo>
                  <a:lnTo>
                    <a:pt x="0" y="2423160"/>
                  </a:lnTo>
                  <a:lnTo>
                    <a:pt x="0" y="2452116"/>
                  </a:lnTo>
                  <a:lnTo>
                    <a:pt x="28943" y="2452116"/>
                  </a:lnTo>
                  <a:lnTo>
                    <a:pt x="28943" y="2423160"/>
                  </a:lnTo>
                  <a:close/>
                </a:path>
                <a:path w="1205865" h="2851785">
                  <a:moveTo>
                    <a:pt x="28943" y="2365248"/>
                  </a:moveTo>
                  <a:lnTo>
                    <a:pt x="0" y="2365248"/>
                  </a:lnTo>
                  <a:lnTo>
                    <a:pt x="0" y="2394204"/>
                  </a:lnTo>
                  <a:lnTo>
                    <a:pt x="28943" y="2394204"/>
                  </a:lnTo>
                  <a:lnTo>
                    <a:pt x="28943" y="2365248"/>
                  </a:lnTo>
                  <a:close/>
                </a:path>
                <a:path w="1205865" h="2851785">
                  <a:moveTo>
                    <a:pt x="28943" y="2308860"/>
                  </a:moveTo>
                  <a:lnTo>
                    <a:pt x="0" y="2308860"/>
                  </a:lnTo>
                  <a:lnTo>
                    <a:pt x="0" y="2337816"/>
                  </a:lnTo>
                  <a:lnTo>
                    <a:pt x="28943" y="2337816"/>
                  </a:lnTo>
                  <a:lnTo>
                    <a:pt x="28943" y="2308860"/>
                  </a:lnTo>
                  <a:close/>
                </a:path>
                <a:path w="1205865" h="2851785">
                  <a:moveTo>
                    <a:pt x="28943" y="2250948"/>
                  </a:moveTo>
                  <a:lnTo>
                    <a:pt x="0" y="2250948"/>
                  </a:lnTo>
                  <a:lnTo>
                    <a:pt x="0" y="2279904"/>
                  </a:lnTo>
                  <a:lnTo>
                    <a:pt x="28943" y="2279904"/>
                  </a:lnTo>
                  <a:lnTo>
                    <a:pt x="28943" y="2250948"/>
                  </a:lnTo>
                  <a:close/>
                </a:path>
                <a:path w="1205865" h="2851785">
                  <a:moveTo>
                    <a:pt x="28943" y="2194560"/>
                  </a:moveTo>
                  <a:lnTo>
                    <a:pt x="0" y="2194560"/>
                  </a:lnTo>
                  <a:lnTo>
                    <a:pt x="0" y="2223516"/>
                  </a:lnTo>
                  <a:lnTo>
                    <a:pt x="28943" y="2223516"/>
                  </a:lnTo>
                  <a:lnTo>
                    <a:pt x="28943" y="2194560"/>
                  </a:lnTo>
                  <a:close/>
                </a:path>
                <a:path w="1205865" h="2851785">
                  <a:moveTo>
                    <a:pt x="28943" y="2136648"/>
                  </a:moveTo>
                  <a:lnTo>
                    <a:pt x="0" y="2136648"/>
                  </a:lnTo>
                  <a:lnTo>
                    <a:pt x="0" y="2165604"/>
                  </a:lnTo>
                  <a:lnTo>
                    <a:pt x="28943" y="2165604"/>
                  </a:lnTo>
                  <a:lnTo>
                    <a:pt x="28943" y="2136648"/>
                  </a:lnTo>
                  <a:close/>
                </a:path>
                <a:path w="1205865" h="2851785">
                  <a:moveTo>
                    <a:pt x="28943" y="2080260"/>
                  </a:moveTo>
                  <a:lnTo>
                    <a:pt x="0" y="2080260"/>
                  </a:lnTo>
                  <a:lnTo>
                    <a:pt x="0" y="2109216"/>
                  </a:lnTo>
                  <a:lnTo>
                    <a:pt x="28943" y="2109216"/>
                  </a:lnTo>
                  <a:lnTo>
                    <a:pt x="28943" y="2080260"/>
                  </a:lnTo>
                  <a:close/>
                </a:path>
                <a:path w="1205865" h="2851785">
                  <a:moveTo>
                    <a:pt x="28943" y="2022348"/>
                  </a:moveTo>
                  <a:lnTo>
                    <a:pt x="0" y="2022348"/>
                  </a:lnTo>
                  <a:lnTo>
                    <a:pt x="0" y="2051304"/>
                  </a:lnTo>
                  <a:lnTo>
                    <a:pt x="28943" y="2051304"/>
                  </a:lnTo>
                  <a:lnTo>
                    <a:pt x="28943" y="2022348"/>
                  </a:lnTo>
                  <a:close/>
                </a:path>
                <a:path w="1205865" h="2851785">
                  <a:moveTo>
                    <a:pt x="28943" y="1965960"/>
                  </a:moveTo>
                  <a:lnTo>
                    <a:pt x="0" y="1965960"/>
                  </a:lnTo>
                  <a:lnTo>
                    <a:pt x="0" y="1994916"/>
                  </a:lnTo>
                  <a:lnTo>
                    <a:pt x="28943" y="1994916"/>
                  </a:lnTo>
                  <a:lnTo>
                    <a:pt x="28943" y="1965960"/>
                  </a:lnTo>
                  <a:close/>
                </a:path>
                <a:path w="1205865" h="2851785">
                  <a:moveTo>
                    <a:pt x="28943" y="1908048"/>
                  </a:moveTo>
                  <a:lnTo>
                    <a:pt x="0" y="1908048"/>
                  </a:lnTo>
                  <a:lnTo>
                    <a:pt x="0" y="1937004"/>
                  </a:lnTo>
                  <a:lnTo>
                    <a:pt x="28943" y="1937004"/>
                  </a:lnTo>
                  <a:lnTo>
                    <a:pt x="28943" y="1908048"/>
                  </a:lnTo>
                  <a:close/>
                </a:path>
                <a:path w="1205865" h="2851785">
                  <a:moveTo>
                    <a:pt x="28943" y="1851660"/>
                  </a:moveTo>
                  <a:lnTo>
                    <a:pt x="0" y="1851660"/>
                  </a:lnTo>
                  <a:lnTo>
                    <a:pt x="0" y="1880616"/>
                  </a:lnTo>
                  <a:lnTo>
                    <a:pt x="28943" y="1880616"/>
                  </a:lnTo>
                  <a:lnTo>
                    <a:pt x="28943" y="1851660"/>
                  </a:lnTo>
                  <a:close/>
                </a:path>
                <a:path w="1205865" h="2851785">
                  <a:moveTo>
                    <a:pt x="28943" y="1793748"/>
                  </a:moveTo>
                  <a:lnTo>
                    <a:pt x="0" y="1793748"/>
                  </a:lnTo>
                  <a:lnTo>
                    <a:pt x="0" y="1822704"/>
                  </a:lnTo>
                  <a:lnTo>
                    <a:pt x="28943" y="1822704"/>
                  </a:lnTo>
                  <a:lnTo>
                    <a:pt x="28943" y="1793748"/>
                  </a:lnTo>
                  <a:close/>
                </a:path>
                <a:path w="1205865" h="2851785">
                  <a:moveTo>
                    <a:pt x="28943" y="1737360"/>
                  </a:moveTo>
                  <a:lnTo>
                    <a:pt x="0" y="1737360"/>
                  </a:lnTo>
                  <a:lnTo>
                    <a:pt x="0" y="1766316"/>
                  </a:lnTo>
                  <a:lnTo>
                    <a:pt x="28943" y="1766316"/>
                  </a:lnTo>
                  <a:lnTo>
                    <a:pt x="28943" y="1737360"/>
                  </a:lnTo>
                  <a:close/>
                </a:path>
                <a:path w="1205865" h="2851785">
                  <a:moveTo>
                    <a:pt x="28943" y="1679448"/>
                  </a:moveTo>
                  <a:lnTo>
                    <a:pt x="0" y="1679448"/>
                  </a:lnTo>
                  <a:lnTo>
                    <a:pt x="0" y="1708404"/>
                  </a:lnTo>
                  <a:lnTo>
                    <a:pt x="28943" y="1708404"/>
                  </a:lnTo>
                  <a:lnTo>
                    <a:pt x="28943" y="1679448"/>
                  </a:lnTo>
                  <a:close/>
                </a:path>
                <a:path w="1205865" h="2851785">
                  <a:moveTo>
                    <a:pt x="28943" y="1623060"/>
                  </a:moveTo>
                  <a:lnTo>
                    <a:pt x="0" y="1623060"/>
                  </a:lnTo>
                  <a:lnTo>
                    <a:pt x="0" y="1652016"/>
                  </a:lnTo>
                  <a:lnTo>
                    <a:pt x="28943" y="1652016"/>
                  </a:lnTo>
                  <a:lnTo>
                    <a:pt x="28943" y="1623060"/>
                  </a:lnTo>
                  <a:close/>
                </a:path>
                <a:path w="1205865" h="2851785">
                  <a:moveTo>
                    <a:pt x="28943" y="1565148"/>
                  </a:moveTo>
                  <a:lnTo>
                    <a:pt x="0" y="1565148"/>
                  </a:lnTo>
                  <a:lnTo>
                    <a:pt x="0" y="1594104"/>
                  </a:lnTo>
                  <a:lnTo>
                    <a:pt x="28943" y="1594104"/>
                  </a:lnTo>
                  <a:lnTo>
                    <a:pt x="28943" y="1565148"/>
                  </a:lnTo>
                  <a:close/>
                </a:path>
                <a:path w="1205865" h="2851785">
                  <a:moveTo>
                    <a:pt x="28943" y="1508760"/>
                  </a:moveTo>
                  <a:lnTo>
                    <a:pt x="0" y="1508760"/>
                  </a:lnTo>
                  <a:lnTo>
                    <a:pt x="0" y="1537716"/>
                  </a:lnTo>
                  <a:lnTo>
                    <a:pt x="28943" y="1537716"/>
                  </a:lnTo>
                  <a:lnTo>
                    <a:pt x="28943" y="1508760"/>
                  </a:lnTo>
                  <a:close/>
                </a:path>
                <a:path w="1205865" h="2851785">
                  <a:moveTo>
                    <a:pt x="28943" y="1450848"/>
                  </a:moveTo>
                  <a:lnTo>
                    <a:pt x="0" y="1450848"/>
                  </a:lnTo>
                  <a:lnTo>
                    <a:pt x="0" y="1479804"/>
                  </a:lnTo>
                  <a:lnTo>
                    <a:pt x="28943" y="1479804"/>
                  </a:lnTo>
                  <a:lnTo>
                    <a:pt x="28943" y="1450848"/>
                  </a:lnTo>
                  <a:close/>
                </a:path>
                <a:path w="1205865" h="2851785">
                  <a:moveTo>
                    <a:pt x="28943" y="1394460"/>
                  </a:moveTo>
                  <a:lnTo>
                    <a:pt x="0" y="1394460"/>
                  </a:lnTo>
                  <a:lnTo>
                    <a:pt x="0" y="1423416"/>
                  </a:lnTo>
                  <a:lnTo>
                    <a:pt x="28943" y="1423416"/>
                  </a:lnTo>
                  <a:lnTo>
                    <a:pt x="28943" y="1394460"/>
                  </a:lnTo>
                  <a:close/>
                </a:path>
                <a:path w="1205865" h="2851785">
                  <a:moveTo>
                    <a:pt x="28943" y="1336548"/>
                  </a:moveTo>
                  <a:lnTo>
                    <a:pt x="0" y="1336548"/>
                  </a:lnTo>
                  <a:lnTo>
                    <a:pt x="0" y="1365504"/>
                  </a:lnTo>
                  <a:lnTo>
                    <a:pt x="28943" y="1365504"/>
                  </a:lnTo>
                  <a:lnTo>
                    <a:pt x="28943" y="1336548"/>
                  </a:lnTo>
                  <a:close/>
                </a:path>
                <a:path w="1205865" h="2851785">
                  <a:moveTo>
                    <a:pt x="28943" y="1280160"/>
                  </a:moveTo>
                  <a:lnTo>
                    <a:pt x="0" y="1280160"/>
                  </a:lnTo>
                  <a:lnTo>
                    <a:pt x="0" y="1309116"/>
                  </a:lnTo>
                  <a:lnTo>
                    <a:pt x="28943" y="1309116"/>
                  </a:lnTo>
                  <a:lnTo>
                    <a:pt x="28943" y="1280160"/>
                  </a:lnTo>
                  <a:close/>
                </a:path>
                <a:path w="1205865" h="2851785">
                  <a:moveTo>
                    <a:pt x="28943" y="1222248"/>
                  </a:moveTo>
                  <a:lnTo>
                    <a:pt x="0" y="1222248"/>
                  </a:lnTo>
                  <a:lnTo>
                    <a:pt x="0" y="1251204"/>
                  </a:lnTo>
                  <a:lnTo>
                    <a:pt x="28943" y="1251204"/>
                  </a:lnTo>
                  <a:lnTo>
                    <a:pt x="28943" y="1222248"/>
                  </a:lnTo>
                  <a:close/>
                </a:path>
                <a:path w="1205865" h="2851785">
                  <a:moveTo>
                    <a:pt x="28943" y="1165860"/>
                  </a:moveTo>
                  <a:lnTo>
                    <a:pt x="0" y="1165860"/>
                  </a:lnTo>
                  <a:lnTo>
                    <a:pt x="0" y="1194816"/>
                  </a:lnTo>
                  <a:lnTo>
                    <a:pt x="28943" y="1194816"/>
                  </a:lnTo>
                  <a:lnTo>
                    <a:pt x="28943" y="1165860"/>
                  </a:lnTo>
                  <a:close/>
                </a:path>
                <a:path w="1205865" h="2851785">
                  <a:moveTo>
                    <a:pt x="28943" y="1107948"/>
                  </a:moveTo>
                  <a:lnTo>
                    <a:pt x="0" y="1107948"/>
                  </a:lnTo>
                  <a:lnTo>
                    <a:pt x="0" y="1136904"/>
                  </a:lnTo>
                  <a:lnTo>
                    <a:pt x="28943" y="1136904"/>
                  </a:lnTo>
                  <a:lnTo>
                    <a:pt x="28943" y="1107948"/>
                  </a:lnTo>
                  <a:close/>
                </a:path>
                <a:path w="1205865" h="2851785">
                  <a:moveTo>
                    <a:pt x="28943" y="1051560"/>
                  </a:moveTo>
                  <a:lnTo>
                    <a:pt x="0" y="1051560"/>
                  </a:lnTo>
                  <a:lnTo>
                    <a:pt x="0" y="1080516"/>
                  </a:lnTo>
                  <a:lnTo>
                    <a:pt x="28943" y="1080516"/>
                  </a:lnTo>
                  <a:lnTo>
                    <a:pt x="28943" y="1051560"/>
                  </a:lnTo>
                  <a:close/>
                </a:path>
                <a:path w="1205865" h="2851785">
                  <a:moveTo>
                    <a:pt x="28943" y="995172"/>
                  </a:moveTo>
                  <a:lnTo>
                    <a:pt x="0" y="995172"/>
                  </a:lnTo>
                  <a:lnTo>
                    <a:pt x="0" y="1022604"/>
                  </a:lnTo>
                  <a:lnTo>
                    <a:pt x="28943" y="1022604"/>
                  </a:lnTo>
                  <a:lnTo>
                    <a:pt x="28943" y="995172"/>
                  </a:lnTo>
                  <a:close/>
                </a:path>
                <a:path w="1205865" h="2851785">
                  <a:moveTo>
                    <a:pt x="28943" y="937260"/>
                  </a:moveTo>
                  <a:lnTo>
                    <a:pt x="0" y="937260"/>
                  </a:lnTo>
                  <a:lnTo>
                    <a:pt x="0" y="966216"/>
                  </a:lnTo>
                  <a:lnTo>
                    <a:pt x="28943" y="966216"/>
                  </a:lnTo>
                  <a:lnTo>
                    <a:pt x="28943" y="937260"/>
                  </a:lnTo>
                  <a:close/>
                </a:path>
                <a:path w="1205865" h="2851785">
                  <a:moveTo>
                    <a:pt x="28943" y="880872"/>
                  </a:moveTo>
                  <a:lnTo>
                    <a:pt x="0" y="880872"/>
                  </a:lnTo>
                  <a:lnTo>
                    <a:pt x="0" y="908304"/>
                  </a:lnTo>
                  <a:lnTo>
                    <a:pt x="28943" y="908304"/>
                  </a:lnTo>
                  <a:lnTo>
                    <a:pt x="28943" y="880872"/>
                  </a:lnTo>
                  <a:close/>
                </a:path>
                <a:path w="1205865" h="2851785">
                  <a:moveTo>
                    <a:pt x="28943" y="822960"/>
                  </a:moveTo>
                  <a:lnTo>
                    <a:pt x="0" y="822960"/>
                  </a:lnTo>
                  <a:lnTo>
                    <a:pt x="0" y="851916"/>
                  </a:lnTo>
                  <a:lnTo>
                    <a:pt x="28943" y="851916"/>
                  </a:lnTo>
                  <a:lnTo>
                    <a:pt x="28943" y="822960"/>
                  </a:lnTo>
                  <a:close/>
                </a:path>
                <a:path w="1205865" h="2851785">
                  <a:moveTo>
                    <a:pt x="28943" y="766572"/>
                  </a:moveTo>
                  <a:lnTo>
                    <a:pt x="0" y="766572"/>
                  </a:lnTo>
                  <a:lnTo>
                    <a:pt x="0" y="794004"/>
                  </a:lnTo>
                  <a:lnTo>
                    <a:pt x="28943" y="794004"/>
                  </a:lnTo>
                  <a:lnTo>
                    <a:pt x="28943" y="766572"/>
                  </a:lnTo>
                  <a:close/>
                </a:path>
                <a:path w="1205865" h="2851785">
                  <a:moveTo>
                    <a:pt x="28943" y="708660"/>
                  </a:moveTo>
                  <a:lnTo>
                    <a:pt x="0" y="708660"/>
                  </a:lnTo>
                  <a:lnTo>
                    <a:pt x="0" y="737616"/>
                  </a:lnTo>
                  <a:lnTo>
                    <a:pt x="28943" y="737616"/>
                  </a:lnTo>
                  <a:lnTo>
                    <a:pt x="28943" y="708660"/>
                  </a:lnTo>
                  <a:close/>
                </a:path>
                <a:path w="1205865" h="2851785">
                  <a:moveTo>
                    <a:pt x="28943" y="652272"/>
                  </a:moveTo>
                  <a:lnTo>
                    <a:pt x="0" y="652272"/>
                  </a:lnTo>
                  <a:lnTo>
                    <a:pt x="0" y="679704"/>
                  </a:lnTo>
                  <a:lnTo>
                    <a:pt x="28943" y="679704"/>
                  </a:lnTo>
                  <a:lnTo>
                    <a:pt x="28943" y="652272"/>
                  </a:lnTo>
                  <a:close/>
                </a:path>
                <a:path w="1205865" h="2851785">
                  <a:moveTo>
                    <a:pt x="28943" y="594360"/>
                  </a:moveTo>
                  <a:lnTo>
                    <a:pt x="0" y="594360"/>
                  </a:lnTo>
                  <a:lnTo>
                    <a:pt x="0" y="623316"/>
                  </a:lnTo>
                  <a:lnTo>
                    <a:pt x="28943" y="623316"/>
                  </a:lnTo>
                  <a:lnTo>
                    <a:pt x="28943" y="594360"/>
                  </a:lnTo>
                  <a:close/>
                </a:path>
                <a:path w="1205865" h="2851785">
                  <a:moveTo>
                    <a:pt x="28943" y="537972"/>
                  </a:moveTo>
                  <a:lnTo>
                    <a:pt x="0" y="537972"/>
                  </a:lnTo>
                  <a:lnTo>
                    <a:pt x="0" y="565404"/>
                  </a:lnTo>
                  <a:lnTo>
                    <a:pt x="28943" y="565404"/>
                  </a:lnTo>
                  <a:lnTo>
                    <a:pt x="28943" y="537972"/>
                  </a:lnTo>
                  <a:close/>
                </a:path>
                <a:path w="1205865" h="2851785">
                  <a:moveTo>
                    <a:pt x="28943" y="480060"/>
                  </a:moveTo>
                  <a:lnTo>
                    <a:pt x="0" y="480060"/>
                  </a:lnTo>
                  <a:lnTo>
                    <a:pt x="0" y="509016"/>
                  </a:lnTo>
                  <a:lnTo>
                    <a:pt x="28943" y="509016"/>
                  </a:lnTo>
                  <a:lnTo>
                    <a:pt x="28943" y="480060"/>
                  </a:lnTo>
                  <a:close/>
                </a:path>
                <a:path w="1205865" h="2851785">
                  <a:moveTo>
                    <a:pt x="28943" y="423672"/>
                  </a:moveTo>
                  <a:lnTo>
                    <a:pt x="0" y="423672"/>
                  </a:lnTo>
                  <a:lnTo>
                    <a:pt x="0" y="451104"/>
                  </a:lnTo>
                  <a:lnTo>
                    <a:pt x="28943" y="451104"/>
                  </a:lnTo>
                  <a:lnTo>
                    <a:pt x="28943" y="423672"/>
                  </a:lnTo>
                  <a:close/>
                </a:path>
                <a:path w="1205865" h="2851785">
                  <a:moveTo>
                    <a:pt x="28943" y="365760"/>
                  </a:moveTo>
                  <a:lnTo>
                    <a:pt x="0" y="365760"/>
                  </a:lnTo>
                  <a:lnTo>
                    <a:pt x="0" y="394716"/>
                  </a:lnTo>
                  <a:lnTo>
                    <a:pt x="28943" y="394716"/>
                  </a:lnTo>
                  <a:lnTo>
                    <a:pt x="28943" y="365760"/>
                  </a:lnTo>
                  <a:close/>
                </a:path>
                <a:path w="1205865" h="2851785">
                  <a:moveTo>
                    <a:pt x="28943" y="309372"/>
                  </a:moveTo>
                  <a:lnTo>
                    <a:pt x="0" y="309372"/>
                  </a:lnTo>
                  <a:lnTo>
                    <a:pt x="0" y="336804"/>
                  </a:lnTo>
                  <a:lnTo>
                    <a:pt x="28943" y="336804"/>
                  </a:lnTo>
                  <a:lnTo>
                    <a:pt x="28943" y="309372"/>
                  </a:lnTo>
                  <a:close/>
                </a:path>
                <a:path w="1205865" h="2851785">
                  <a:moveTo>
                    <a:pt x="28943" y="251460"/>
                  </a:moveTo>
                  <a:lnTo>
                    <a:pt x="0" y="251460"/>
                  </a:lnTo>
                  <a:lnTo>
                    <a:pt x="0" y="280416"/>
                  </a:lnTo>
                  <a:lnTo>
                    <a:pt x="28943" y="280416"/>
                  </a:lnTo>
                  <a:lnTo>
                    <a:pt x="28943" y="251460"/>
                  </a:lnTo>
                  <a:close/>
                </a:path>
                <a:path w="1205865" h="2851785">
                  <a:moveTo>
                    <a:pt x="28943" y="195072"/>
                  </a:moveTo>
                  <a:lnTo>
                    <a:pt x="0" y="195072"/>
                  </a:lnTo>
                  <a:lnTo>
                    <a:pt x="0" y="222504"/>
                  </a:lnTo>
                  <a:lnTo>
                    <a:pt x="28943" y="222504"/>
                  </a:lnTo>
                  <a:lnTo>
                    <a:pt x="28943" y="195072"/>
                  </a:lnTo>
                  <a:close/>
                </a:path>
                <a:path w="1205865" h="2851785">
                  <a:moveTo>
                    <a:pt x="28943" y="137160"/>
                  </a:moveTo>
                  <a:lnTo>
                    <a:pt x="0" y="137160"/>
                  </a:lnTo>
                  <a:lnTo>
                    <a:pt x="0" y="166116"/>
                  </a:lnTo>
                  <a:lnTo>
                    <a:pt x="28943" y="166116"/>
                  </a:lnTo>
                  <a:lnTo>
                    <a:pt x="28943" y="137160"/>
                  </a:lnTo>
                  <a:close/>
                </a:path>
                <a:path w="1205865" h="2851785">
                  <a:moveTo>
                    <a:pt x="28943" y="80772"/>
                  </a:moveTo>
                  <a:lnTo>
                    <a:pt x="0" y="80772"/>
                  </a:lnTo>
                  <a:lnTo>
                    <a:pt x="0" y="108204"/>
                  </a:lnTo>
                  <a:lnTo>
                    <a:pt x="28943" y="108204"/>
                  </a:lnTo>
                  <a:lnTo>
                    <a:pt x="28943" y="80772"/>
                  </a:lnTo>
                  <a:close/>
                </a:path>
                <a:path w="1205865" h="2851785">
                  <a:moveTo>
                    <a:pt x="28943" y="22860"/>
                  </a:moveTo>
                  <a:lnTo>
                    <a:pt x="0" y="22860"/>
                  </a:lnTo>
                  <a:lnTo>
                    <a:pt x="0" y="51816"/>
                  </a:lnTo>
                  <a:lnTo>
                    <a:pt x="28943" y="51816"/>
                  </a:lnTo>
                  <a:lnTo>
                    <a:pt x="28943" y="22860"/>
                  </a:lnTo>
                  <a:close/>
                </a:path>
                <a:path w="1205865" h="2851785">
                  <a:moveTo>
                    <a:pt x="62484" y="0"/>
                  </a:moveTo>
                  <a:lnTo>
                    <a:pt x="33528" y="0"/>
                  </a:lnTo>
                  <a:lnTo>
                    <a:pt x="33528" y="27432"/>
                  </a:lnTo>
                  <a:lnTo>
                    <a:pt x="62484" y="27432"/>
                  </a:lnTo>
                  <a:lnTo>
                    <a:pt x="62484" y="0"/>
                  </a:lnTo>
                  <a:close/>
                </a:path>
                <a:path w="1205865" h="2851785">
                  <a:moveTo>
                    <a:pt x="118872" y="0"/>
                  </a:moveTo>
                  <a:lnTo>
                    <a:pt x="91440" y="0"/>
                  </a:lnTo>
                  <a:lnTo>
                    <a:pt x="91440" y="27432"/>
                  </a:lnTo>
                  <a:lnTo>
                    <a:pt x="118872" y="27432"/>
                  </a:lnTo>
                  <a:lnTo>
                    <a:pt x="118872" y="0"/>
                  </a:lnTo>
                  <a:close/>
                </a:path>
                <a:path w="1205865" h="2851785">
                  <a:moveTo>
                    <a:pt x="176784" y="0"/>
                  </a:moveTo>
                  <a:lnTo>
                    <a:pt x="147828" y="0"/>
                  </a:lnTo>
                  <a:lnTo>
                    <a:pt x="147828" y="27432"/>
                  </a:lnTo>
                  <a:lnTo>
                    <a:pt x="176784" y="27432"/>
                  </a:lnTo>
                  <a:lnTo>
                    <a:pt x="176784" y="0"/>
                  </a:lnTo>
                  <a:close/>
                </a:path>
                <a:path w="1205865" h="2851785">
                  <a:moveTo>
                    <a:pt x="233172" y="0"/>
                  </a:moveTo>
                  <a:lnTo>
                    <a:pt x="205740" y="0"/>
                  </a:lnTo>
                  <a:lnTo>
                    <a:pt x="205740" y="27432"/>
                  </a:lnTo>
                  <a:lnTo>
                    <a:pt x="233172" y="27432"/>
                  </a:lnTo>
                  <a:lnTo>
                    <a:pt x="233172" y="0"/>
                  </a:lnTo>
                  <a:close/>
                </a:path>
                <a:path w="1205865" h="2851785">
                  <a:moveTo>
                    <a:pt x="291084" y="0"/>
                  </a:moveTo>
                  <a:lnTo>
                    <a:pt x="262128" y="0"/>
                  </a:lnTo>
                  <a:lnTo>
                    <a:pt x="262128" y="27432"/>
                  </a:lnTo>
                  <a:lnTo>
                    <a:pt x="291084" y="27432"/>
                  </a:lnTo>
                  <a:lnTo>
                    <a:pt x="291084" y="0"/>
                  </a:lnTo>
                  <a:close/>
                </a:path>
                <a:path w="1205865" h="2851785">
                  <a:moveTo>
                    <a:pt x="347459" y="0"/>
                  </a:moveTo>
                  <a:lnTo>
                    <a:pt x="320027" y="0"/>
                  </a:lnTo>
                  <a:lnTo>
                    <a:pt x="320027" y="27432"/>
                  </a:lnTo>
                  <a:lnTo>
                    <a:pt x="347459" y="27432"/>
                  </a:lnTo>
                  <a:lnTo>
                    <a:pt x="347459" y="0"/>
                  </a:lnTo>
                  <a:close/>
                </a:path>
                <a:path w="1205865" h="2851785">
                  <a:moveTo>
                    <a:pt x="405384" y="0"/>
                  </a:moveTo>
                  <a:lnTo>
                    <a:pt x="376428" y="0"/>
                  </a:lnTo>
                  <a:lnTo>
                    <a:pt x="376428" y="27432"/>
                  </a:lnTo>
                  <a:lnTo>
                    <a:pt x="405384" y="27432"/>
                  </a:lnTo>
                  <a:lnTo>
                    <a:pt x="405384" y="0"/>
                  </a:lnTo>
                  <a:close/>
                </a:path>
                <a:path w="1205865" h="2851785">
                  <a:moveTo>
                    <a:pt x="461759" y="0"/>
                  </a:moveTo>
                  <a:lnTo>
                    <a:pt x="434340" y="0"/>
                  </a:lnTo>
                  <a:lnTo>
                    <a:pt x="434340" y="27432"/>
                  </a:lnTo>
                  <a:lnTo>
                    <a:pt x="461759" y="27432"/>
                  </a:lnTo>
                  <a:lnTo>
                    <a:pt x="461759" y="0"/>
                  </a:lnTo>
                  <a:close/>
                </a:path>
                <a:path w="1205865" h="2851785">
                  <a:moveTo>
                    <a:pt x="519684" y="0"/>
                  </a:moveTo>
                  <a:lnTo>
                    <a:pt x="490728" y="0"/>
                  </a:lnTo>
                  <a:lnTo>
                    <a:pt x="490728" y="27432"/>
                  </a:lnTo>
                  <a:lnTo>
                    <a:pt x="519684" y="27432"/>
                  </a:lnTo>
                  <a:lnTo>
                    <a:pt x="519684" y="0"/>
                  </a:lnTo>
                  <a:close/>
                </a:path>
                <a:path w="1205865" h="2851785">
                  <a:moveTo>
                    <a:pt x="576059" y="0"/>
                  </a:moveTo>
                  <a:lnTo>
                    <a:pt x="548640" y="0"/>
                  </a:lnTo>
                  <a:lnTo>
                    <a:pt x="548640" y="27432"/>
                  </a:lnTo>
                  <a:lnTo>
                    <a:pt x="576059" y="27432"/>
                  </a:lnTo>
                  <a:lnTo>
                    <a:pt x="576059" y="0"/>
                  </a:lnTo>
                  <a:close/>
                </a:path>
                <a:path w="1205865" h="2851785">
                  <a:moveTo>
                    <a:pt x="633984" y="0"/>
                  </a:moveTo>
                  <a:lnTo>
                    <a:pt x="605028" y="0"/>
                  </a:lnTo>
                  <a:lnTo>
                    <a:pt x="605028" y="27432"/>
                  </a:lnTo>
                  <a:lnTo>
                    <a:pt x="633984" y="27432"/>
                  </a:lnTo>
                  <a:lnTo>
                    <a:pt x="633984" y="0"/>
                  </a:lnTo>
                  <a:close/>
                </a:path>
                <a:path w="1205865" h="2851785">
                  <a:moveTo>
                    <a:pt x="690359" y="0"/>
                  </a:moveTo>
                  <a:lnTo>
                    <a:pt x="662940" y="0"/>
                  </a:lnTo>
                  <a:lnTo>
                    <a:pt x="662940" y="27432"/>
                  </a:lnTo>
                  <a:lnTo>
                    <a:pt x="690359" y="27432"/>
                  </a:lnTo>
                  <a:lnTo>
                    <a:pt x="690359" y="0"/>
                  </a:lnTo>
                  <a:close/>
                </a:path>
                <a:path w="1205865" h="2851785">
                  <a:moveTo>
                    <a:pt x="748284" y="0"/>
                  </a:moveTo>
                  <a:lnTo>
                    <a:pt x="719328" y="0"/>
                  </a:lnTo>
                  <a:lnTo>
                    <a:pt x="719328" y="27432"/>
                  </a:lnTo>
                  <a:lnTo>
                    <a:pt x="748284" y="27432"/>
                  </a:lnTo>
                  <a:lnTo>
                    <a:pt x="748284" y="0"/>
                  </a:lnTo>
                  <a:close/>
                </a:path>
                <a:path w="1205865" h="2851785">
                  <a:moveTo>
                    <a:pt x="804659" y="0"/>
                  </a:moveTo>
                  <a:lnTo>
                    <a:pt x="777240" y="0"/>
                  </a:lnTo>
                  <a:lnTo>
                    <a:pt x="777240" y="27432"/>
                  </a:lnTo>
                  <a:lnTo>
                    <a:pt x="804659" y="27432"/>
                  </a:lnTo>
                  <a:lnTo>
                    <a:pt x="804659" y="0"/>
                  </a:lnTo>
                  <a:close/>
                </a:path>
                <a:path w="1205865" h="2851785">
                  <a:moveTo>
                    <a:pt x="862584" y="0"/>
                  </a:moveTo>
                  <a:lnTo>
                    <a:pt x="833628" y="0"/>
                  </a:lnTo>
                  <a:lnTo>
                    <a:pt x="833628" y="27432"/>
                  </a:lnTo>
                  <a:lnTo>
                    <a:pt x="862584" y="27432"/>
                  </a:lnTo>
                  <a:lnTo>
                    <a:pt x="862584" y="0"/>
                  </a:lnTo>
                  <a:close/>
                </a:path>
                <a:path w="1205865" h="2851785">
                  <a:moveTo>
                    <a:pt x="918959" y="0"/>
                  </a:moveTo>
                  <a:lnTo>
                    <a:pt x="891540" y="0"/>
                  </a:lnTo>
                  <a:lnTo>
                    <a:pt x="891540" y="27432"/>
                  </a:lnTo>
                  <a:lnTo>
                    <a:pt x="918959" y="27432"/>
                  </a:lnTo>
                  <a:lnTo>
                    <a:pt x="918959" y="0"/>
                  </a:lnTo>
                  <a:close/>
                </a:path>
                <a:path w="1205865" h="2851785">
                  <a:moveTo>
                    <a:pt x="976884" y="0"/>
                  </a:moveTo>
                  <a:lnTo>
                    <a:pt x="947928" y="0"/>
                  </a:lnTo>
                  <a:lnTo>
                    <a:pt x="947928" y="27432"/>
                  </a:lnTo>
                  <a:lnTo>
                    <a:pt x="976884" y="27432"/>
                  </a:lnTo>
                  <a:lnTo>
                    <a:pt x="976884" y="0"/>
                  </a:lnTo>
                  <a:close/>
                </a:path>
                <a:path w="1205865" h="2851785">
                  <a:moveTo>
                    <a:pt x="1033259" y="0"/>
                  </a:moveTo>
                  <a:lnTo>
                    <a:pt x="1004316" y="0"/>
                  </a:lnTo>
                  <a:lnTo>
                    <a:pt x="1004316" y="27432"/>
                  </a:lnTo>
                  <a:lnTo>
                    <a:pt x="1033259" y="27432"/>
                  </a:lnTo>
                  <a:lnTo>
                    <a:pt x="1033259" y="0"/>
                  </a:lnTo>
                  <a:close/>
                </a:path>
                <a:path w="1205865" h="2851785">
                  <a:moveTo>
                    <a:pt x="1091184" y="0"/>
                  </a:moveTo>
                  <a:lnTo>
                    <a:pt x="1062228" y="0"/>
                  </a:lnTo>
                  <a:lnTo>
                    <a:pt x="1062228" y="27432"/>
                  </a:lnTo>
                  <a:lnTo>
                    <a:pt x="1091184" y="27432"/>
                  </a:lnTo>
                  <a:lnTo>
                    <a:pt x="1091184" y="0"/>
                  </a:lnTo>
                  <a:close/>
                </a:path>
                <a:path w="1205865" h="2851785">
                  <a:moveTo>
                    <a:pt x="1147559" y="0"/>
                  </a:moveTo>
                  <a:lnTo>
                    <a:pt x="1118616" y="0"/>
                  </a:lnTo>
                  <a:lnTo>
                    <a:pt x="1118616" y="27432"/>
                  </a:lnTo>
                  <a:lnTo>
                    <a:pt x="1147559" y="27432"/>
                  </a:lnTo>
                  <a:lnTo>
                    <a:pt x="1147559" y="0"/>
                  </a:lnTo>
                  <a:close/>
                </a:path>
                <a:path w="1205865" h="2851785">
                  <a:moveTo>
                    <a:pt x="1205484" y="0"/>
                  </a:moveTo>
                  <a:lnTo>
                    <a:pt x="1176528" y="0"/>
                  </a:lnTo>
                  <a:lnTo>
                    <a:pt x="1176528" y="27432"/>
                  </a:lnTo>
                  <a:lnTo>
                    <a:pt x="1205484" y="27432"/>
                  </a:lnTo>
                  <a:lnTo>
                    <a:pt x="1205484" y="0"/>
                  </a:lnTo>
                  <a:close/>
                </a:path>
              </a:pathLst>
            </a:custGeom>
            <a:solidFill>
              <a:srgbClr val="7E7E7E"/>
            </a:solidFill>
          </p:spPr>
          <p:txBody>
            <a:bodyPr wrap="square" lIns="0" tIns="0" rIns="0" bIns="0" rtlCol="0"/>
            <a:lstStyle/>
            <a:p>
              <a:endParaRPr/>
            </a:p>
          </p:txBody>
        </p:sp>
        <p:sp>
          <p:nvSpPr>
            <p:cNvPr id="23" name="object 23"/>
            <p:cNvSpPr/>
            <p:nvPr/>
          </p:nvSpPr>
          <p:spPr>
            <a:xfrm>
              <a:off x="7437120" y="2028443"/>
              <a:ext cx="3667125" cy="390525"/>
            </a:xfrm>
            <a:custGeom>
              <a:avLst/>
              <a:gdLst/>
              <a:ahLst/>
              <a:cxnLst/>
              <a:rect l="l" t="t" r="r" b="b"/>
              <a:pathLst>
                <a:path w="3667125" h="390525">
                  <a:moveTo>
                    <a:pt x="28956" y="0"/>
                  </a:moveTo>
                  <a:lnTo>
                    <a:pt x="0" y="0"/>
                  </a:lnTo>
                  <a:lnTo>
                    <a:pt x="0" y="27432"/>
                  </a:lnTo>
                  <a:lnTo>
                    <a:pt x="28956" y="27432"/>
                  </a:lnTo>
                  <a:lnTo>
                    <a:pt x="28956" y="0"/>
                  </a:lnTo>
                  <a:close/>
                </a:path>
                <a:path w="3667125" h="390525">
                  <a:moveTo>
                    <a:pt x="85331" y="0"/>
                  </a:moveTo>
                  <a:lnTo>
                    <a:pt x="56388" y="0"/>
                  </a:lnTo>
                  <a:lnTo>
                    <a:pt x="56388" y="27432"/>
                  </a:lnTo>
                  <a:lnTo>
                    <a:pt x="85331" y="27432"/>
                  </a:lnTo>
                  <a:lnTo>
                    <a:pt x="85331" y="0"/>
                  </a:lnTo>
                  <a:close/>
                </a:path>
                <a:path w="3667125" h="390525">
                  <a:moveTo>
                    <a:pt x="143256" y="0"/>
                  </a:moveTo>
                  <a:lnTo>
                    <a:pt x="114300" y="0"/>
                  </a:lnTo>
                  <a:lnTo>
                    <a:pt x="114300" y="27432"/>
                  </a:lnTo>
                  <a:lnTo>
                    <a:pt x="143256" y="27432"/>
                  </a:lnTo>
                  <a:lnTo>
                    <a:pt x="143256" y="0"/>
                  </a:lnTo>
                  <a:close/>
                </a:path>
                <a:path w="3667125" h="390525">
                  <a:moveTo>
                    <a:pt x="199631" y="0"/>
                  </a:moveTo>
                  <a:lnTo>
                    <a:pt x="170688" y="0"/>
                  </a:lnTo>
                  <a:lnTo>
                    <a:pt x="170688" y="27432"/>
                  </a:lnTo>
                  <a:lnTo>
                    <a:pt x="199631" y="27432"/>
                  </a:lnTo>
                  <a:lnTo>
                    <a:pt x="199631" y="0"/>
                  </a:lnTo>
                  <a:close/>
                </a:path>
                <a:path w="3667125" h="390525">
                  <a:moveTo>
                    <a:pt x="257556" y="0"/>
                  </a:moveTo>
                  <a:lnTo>
                    <a:pt x="228600" y="0"/>
                  </a:lnTo>
                  <a:lnTo>
                    <a:pt x="228600" y="27432"/>
                  </a:lnTo>
                  <a:lnTo>
                    <a:pt x="257556" y="27432"/>
                  </a:lnTo>
                  <a:lnTo>
                    <a:pt x="257556" y="0"/>
                  </a:lnTo>
                  <a:close/>
                </a:path>
                <a:path w="3667125" h="390525">
                  <a:moveTo>
                    <a:pt x="313931" y="0"/>
                  </a:moveTo>
                  <a:lnTo>
                    <a:pt x="284988" y="0"/>
                  </a:lnTo>
                  <a:lnTo>
                    <a:pt x="284988" y="27432"/>
                  </a:lnTo>
                  <a:lnTo>
                    <a:pt x="313931" y="27432"/>
                  </a:lnTo>
                  <a:lnTo>
                    <a:pt x="313931" y="0"/>
                  </a:lnTo>
                  <a:close/>
                </a:path>
                <a:path w="3667125" h="390525">
                  <a:moveTo>
                    <a:pt x="371856" y="0"/>
                  </a:moveTo>
                  <a:lnTo>
                    <a:pt x="342900" y="0"/>
                  </a:lnTo>
                  <a:lnTo>
                    <a:pt x="342900" y="27432"/>
                  </a:lnTo>
                  <a:lnTo>
                    <a:pt x="371856" y="27432"/>
                  </a:lnTo>
                  <a:lnTo>
                    <a:pt x="371856" y="0"/>
                  </a:lnTo>
                  <a:close/>
                </a:path>
                <a:path w="3667125" h="390525">
                  <a:moveTo>
                    <a:pt x="428231" y="0"/>
                  </a:moveTo>
                  <a:lnTo>
                    <a:pt x="399288" y="0"/>
                  </a:lnTo>
                  <a:lnTo>
                    <a:pt x="399288" y="27432"/>
                  </a:lnTo>
                  <a:lnTo>
                    <a:pt x="428231" y="27432"/>
                  </a:lnTo>
                  <a:lnTo>
                    <a:pt x="428231" y="0"/>
                  </a:lnTo>
                  <a:close/>
                </a:path>
                <a:path w="3667125" h="390525">
                  <a:moveTo>
                    <a:pt x="486156" y="0"/>
                  </a:moveTo>
                  <a:lnTo>
                    <a:pt x="457200" y="0"/>
                  </a:lnTo>
                  <a:lnTo>
                    <a:pt x="457200" y="27432"/>
                  </a:lnTo>
                  <a:lnTo>
                    <a:pt x="486156" y="27432"/>
                  </a:lnTo>
                  <a:lnTo>
                    <a:pt x="486156" y="0"/>
                  </a:lnTo>
                  <a:close/>
                </a:path>
                <a:path w="3667125" h="390525">
                  <a:moveTo>
                    <a:pt x="542531" y="0"/>
                  </a:moveTo>
                  <a:lnTo>
                    <a:pt x="513588" y="0"/>
                  </a:lnTo>
                  <a:lnTo>
                    <a:pt x="513588" y="27432"/>
                  </a:lnTo>
                  <a:lnTo>
                    <a:pt x="542531" y="27432"/>
                  </a:lnTo>
                  <a:lnTo>
                    <a:pt x="542531" y="0"/>
                  </a:lnTo>
                  <a:close/>
                </a:path>
                <a:path w="3667125" h="390525">
                  <a:moveTo>
                    <a:pt x="600456" y="0"/>
                  </a:moveTo>
                  <a:lnTo>
                    <a:pt x="571500" y="0"/>
                  </a:lnTo>
                  <a:lnTo>
                    <a:pt x="571500" y="27432"/>
                  </a:lnTo>
                  <a:lnTo>
                    <a:pt x="600456" y="27432"/>
                  </a:lnTo>
                  <a:lnTo>
                    <a:pt x="600456" y="0"/>
                  </a:lnTo>
                  <a:close/>
                </a:path>
                <a:path w="3667125" h="390525">
                  <a:moveTo>
                    <a:pt x="656831" y="0"/>
                  </a:moveTo>
                  <a:lnTo>
                    <a:pt x="627888" y="0"/>
                  </a:lnTo>
                  <a:lnTo>
                    <a:pt x="627888" y="27432"/>
                  </a:lnTo>
                  <a:lnTo>
                    <a:pt x="656831" y="27432"/>
                  </a:lnTo>
                  <a:lnTo>
                    <a:pt x="656831" y="0"/>
                  </a:lnTo>
                  <a:close/>
                </a:path>
                <a:path w="3667125" h="390525">
                  <a:moveTo>
                    <a:pt x="714756" y="0"/>
                  </a:moveTo>
                  <a:lnTo>
                    <a:pt x="685800" y="0"/>
                  </a:lnTo>
                  <a:lnTo>
                    <a:pt x="685800" y="27432"/>
                  </a:lnTo>
                  <a:lnTo>
                    <a:pt x="714756" y="27432"/>
                  </a:lnTo>
                  <a:lnTo>
                    <a:pt x="714756" y="0"/>
                  </a:lnTo>
                  <a:close/>
                </a:path>
                <a:path w="3667125" h="390525">
                  <a:moveTo>
                    <a:pt x="771131" y="0"/>
                  </a:moveTo>
                  <a:lnTo>
                    <a:pt x="742188" y="0"/>
                  </a:lnTo>
                  <a:lnTo>
                    <a:pt x="742188" y="27432"/>
                  </a:lnTo>
                  <a:lnTo>
                    <a:pt x="771131" y="27432"/>
                  </a:lnTo>
                  <a:lnTo>
                    <a:pt x="771131" y="0"/>
                  </a:lnTo>
                  <a:close/>
                </a:path>
                <a:path w="3667125" h="390525">
                  <a:moveTo>
                    <a:pt x="829056" y="0"/>
                  </a:moveTo>
                  <a:lnTo>
                    <a:pt x="800100" y="0"/>
                  </a:lnTo>
                  <a:lnTo>
                    <a:pt x="800100" y="27432"/>
                  </a:lnTo>
                  <a:lnTo>
                    <a:pt x="829056" y="27432"/>
                  </a:lnTo>
                  <a:lnTo>
                    <a:pt x="829056" y="0"/>
                  </a:lnTo>
                  <a:close/>
                </a:path>
                <a:path w="3667125" h="390525">
                  <a:moveTo>
                    <a:pt x="885431" y="0"/>
                  </a:moveTo>
                  <a:lnTo>
                    <a:pt x="856488" y="0"/>
                  </a:lnTo>
                  <a:lnTo>
                    <a:pt x="856488" y="27432"/>
                  </a:lnTo>
                  <a:lnTo>
                    <a:pt x="885431" y="27432"/>
                  </a:lnTo>
                  <a:lnTo>
                    <a:pt x="885431" y="0"/>
                  </a:lnTo>
                  <a:close/>
                </a:path>
                <a:path w="3667125" h="390525">
                  <a:moveTo>
                    <a:pt x="943356" y="0"/>
                  </a:moveTo>
                  <a:lnTo>
                    <a:pt x="914400" y="0"/>
                  </a:lnTo>
                  <a:lnTo>
                    <a:pt x="914400" y="27432"/>
                  </a:lnTo>
                  <a:lnTo>
                    <a:pt x="943356" y="27432"/>
                  </a:lnTo>
                  <a:lnTo>
                    <a:pt x="943356" y="0"/>
                  </a:lnTo>
                  <a:close/>
                </a:path>
                <a:path w="3667125" h="390525">
                  <a:moveTo>
                    <a:pt x="999731" y="0"/>
                  </a:moveTo>
                  <a:lnTo>
                    <a:pt x="970788" y="0"/>
                  </a:lnTo>
                  <a:lnTo>
                    <a:pt x="970788" y="27432"/>
                  </a:lnTo>
                  <a:lnTo>
                    <a:pt x="999731" y="27432"/>
                  </a:lnTo>
                  <a:lnTo>
                    <a:pt x="999731" y="0"/>
                  </a:lnTo>
                  <a:close/>
                </a:path>
                <a:path w="3667125" h="390525">
                  <a:moveTo>
                    <a:pt x="1057656" y="0"/>
                  </a:moveTo>
                  <a:lnTo>
                    <a:pt x="1028700" y="0"/>
                  </a:lnTo>
                  <a:lnTo>
                    <a:pt x="1028700" y="27432"/>
                  </a:lnTo>
                  <a:lnTo>
                    <a:pt x="1057656" y="27432"/>
                  </a:lnTo>
                  <a:lnTo>
                    <a:pt x="1057656" y="0"/>
                  </a:lnTo>
                  <a:close/>
                </a:path>
                <a:path w="3667125" h="390525">
                  <a:moveTo>
                    <a:pt x="1114031" y="0"/>
                  </a:moveTo>
                  <a:lnTo>
                    <a:pt x="1085088" y="0"/>
                  </a:lnTo>
                  <a:lnTo>
                    <a:pt x="1085088" y="27432"/>
                  </a:lnTo>
                  <a:lnTo>
                    <a:pt x="1114031" y="27432"/>
                  </a:lnTo>
                  <a:lnTo>
                    <a:pt x="1114031" y="0"/>
                  </a:lnTo>
                  <a:close/>
                </a:path>
                <a:path w="3667125" h="390525">
                  <a:moveTo>
                    <a:pt x="1171956" y="0"/>
                  </a:moveTo>
                  <a:lnTo>
                    <a:pt x="1143000" y="0"/>
                  </a:lnTo>
                  <a:lnTo>
                    <a:pt x="1143000" y="27432"/>
                  </a:lnTo>
                  <a:lnTo>
                    <a:pt x="1171956" y="27432"/>
                  </a:lnTo>
                  <a:lnTo>
                    <a:pt x="1171956" y="0"/>
                  </a:lnTo>
                  <a:close/>
                </a:path>
                <a:path w="3667125" h="390525">
                  <a:moveTo>
                    <a:pt x="1228331" y="0"/>
                  </a:moveTo>
                  <a:lnTo>
                    <a:pt x="1199388" y="0"/>
                  </a:lnTo>
                  <a:lnTo>
                    <a:pt x="1199388" y="27432"/>
                  </a:lnTo>
                  <a:lnTo>
                    <a:pt x="1228331" y="27432"/>
                  </a:lnTo>
                  <a:lnTo>
                    <a:pt x="1228331" y="0"/>
                  </a:lnTo>
                  <a:close/>
                </a:path>
                <a:path w="3667125" h="390525">
                  <a:moveTo>
                    <a:pt x="1284732" y="0"/>
                  </a:moveTo>
                  <a:lnTo>
                    <a:pt x="1257300" y="0"/>
                  </a:lnTo>
                  <a:lnTo>
                    <a:pt x="1257300" y="27432"/>
                  </a:lnTo>
                  <a:lnTo>
                    <a:pt x="1284732" y="27432"/>
                  </a:lnTo>
                  <a:lnTo>
                    <a:pt x="1284732" y="0"/>
                  </a:lnTo>
                  <a:close/>
                </a:path>
                <a:path w="3667125" h="390525">
                  <a:moveTo>
                    <a:pt x="1342631" y="0"/>
                  </a:moveTo>
                  <a:lnTo>
                    <a:pt x="1313688" y="0"/>
                  </a:lnTo>
                  <a:lnTo>
                    <a:pt x="1313688" y="27432"/>
                  </a:lnTo>
                  <a:lnTo>
                    <a:pt x="1342631" y="27432"/>
                  </a:lnTo>
                  <a:lnTo>
                    <a:pt x="1342631" y="0"/>
                  </a:lnTo>
                  <a:close/>
                </a:path>
                <a:path w="3667125" h="390525">
                  <a:moveTo>
                    <a:pt x="1399032" y="0"/>
                  </a:moveTo>
                  <a:lnTo>
                    <a:pt x="1371600" y="0"/>
                  </a:lnTo>
                  <a:lnTo>
                    <a:pt x="1371600" y="27432"/>
                  </a:lnTo>
                  <a:lnTo>
                    <a:pt x="1399032" y="27432"/>
                  </a:lnTo>
                  <a:lnTo>
                    <a:pt x="1399032" y="0"/>
                  </a:lnTo>
                  <a:close/>
                </a:path>
                <a:path w="3667125" h="390525">
                  <a:moveTo>
                    <a:pt x="1456931" y="0"/>
                  </a:moveTo>
                  <a:lnTo>
                    <a:pt x="1427988" y="0"/>
                  </a:lnTo>
                  <a:lnTo>
                    <a:pt x="1427988" y="27432"/>
                  </a:lnTo>
                  <a:lnTo>
                    <a:pt x="1456931" y="27432"/>
                  </a:lnTo>
                  <a:lnTo>
                    <a:pt x="1456931" y="0"/>
                  </a:lnTo>
                  <a:close/>
                </a:path>
                <a:path w="3667125" h="390525">
                  <a:moveTo>
                    <a:pt x="1513332" y="0"/>
                  </a:moveTo>
                  <a:lnTo>
                    <a:pt x="1485900" y="0"/>
                  </a:lnTo>
                  <a:lnTo>
                    <a:pt x="1485900" y="27432"/>
                  </a:lnTo>
                  <a:lnTo>
                    <a:pt x="1513332" y="27432"/>
                  </a:lnTo>
                  <a:lnTo>
                    <a:pt x="1513332" y="0"/>
                  </a:lnTo>
                  <a:close/>
                </a:path>
                <a:path w="3667125" h="390525">
                  <a:moveTo>
                    <a:pt x="1571231" y="0"/>
                  </a:moveTo>
                  <a:lnTo>
                    <a:pt x="1542288" y="0"/>
                  </a:lnTo>
                  <a:lnTo>
                    <a:pt x="1542288" y="27432"/>
                  </a:lnTo>
                  <a:lnTo>
                    <a:pt x="1571231" y="27432"/>
                  </a:lnTo>
                  <a:lnTo>
                    <a:pt x="1571231" y="0"/>
                  </a:lnTo>
                  <a:close/>
                </a:path>
                <a:path w="3667125" h="390525">
                  <a:moveTo>
                    <a:pt x="1627632" y="0"/>
                  </a:moveTo>
                  <a:lnTo>
                    <a:pt x="1600200" y="0"/>
                  </a:lnTo>
                  <a:lnTo>
                    <a:pt x="1600200" y="27432"/>
                  </a:lnTo>
                  <a:lnTo>
                    <a:pt x="1627632" y="27432"/>
                  </a:lnTo>
                  <a:lnTo>
                    <a:pt x="1627632" y="0"/>
                  </a:lnTo>
                  <a:close/>
                </a:path>
                <a:path w="3667125" h="390525">
                  <a:moveTo>
                    <a:pt x="1685531" y="0"/>
                  </a:moveTo>
                  <a:lnTo>
                    <a:pt x="1656588" y="0"/>
                  </a:lnTo>
                  <a:lnTo>
                    <a:pt x="1656588" y="27432"/>
                  </a:lnTo>
                  <a:lnTo>
                    <a:pt x="1685531" y="27432"/>
                  </a:lnTo>
                  <a:lnTo>
                    <a:pt x="1685531" y="0"/>
                  </a:lnTo>
                  <a:close/>
                </a:path>
                <a:path w="3667125" h="390525">
                  <a:moveTo>
                    <a:pt x="1741932" y="0"/>
                  </a:moveTo>
                  <a:lnTo>
                    <a:pt x="1714500" y="0"/>
                  </a:lnTo>
                  <a:lnTo>
                    <a:pt x="1714500" y="27432"/>
                  </a:lnTo>
                  <a:lnTo>
                    <a:pt x="1741932" y="27432"/>
                  </a:lnTo>
                  <a:lnTo>
                    <a:pt x="1741932" y="0"/>
                  </a:lnTo>
                  <a:close/>
                </a:path>
                <a:path w="3667125" h="390525">
                  <a:moveTo>
                    <a:pt x="1799831" y="0"/>
                  </a:moveTo>
                  <a:lnTo>
                    <a:pt x="1770888" y="0"/>
                  </a:lnTo>
                  <a:lnTo>
                    <a:pt x="1770888" y="27432"/>
                  </a:lnTo>
                  <a:lnTo>
                    <a:pt x="1799831" y="27432"/>
                  </a:lnTo>
                  <a:lnTo>
                    <a:pt x="1799831" y="0"/>
                  </a:lnTo>
                  <a:close/>
                </a:path>
                <a:path w="3667125" h="390525">
                  <a:moveTo>
                    <a:pt x="1856232" y="0"/>
                  </a:moveTo>
                  <a:lnTo>
                    <a:pt x="1828800" y="0"/>
                  </a:lnTo>
                  <a:lnTo>
                    <a:pt x="1828800" y="27432"/>
                  </a:lnTo>
                  <a:lnTo>
                    <a:pt x="1856232" y="27432"/>
                  </a:lnTo>
                  <a:lnTo>
                    <a:pt x="1856232" y="0"/>
                  </a:lnTo>
                  <a:close/>
                </a:path>
                <a:path w="3667125" h="390525">
                  <a:moveTo>
                    <a:pt x="1914131" y="0"/>
                  </a:moveTo>
                  <a:lnTo>
                    <a:pt x="1885188" y="0"/>
                  </a:lnTo>
                  <a:lnTo>
                    <a:pt x="1885188" y="27432"/>
                  </a:lnTo>
                  <a:lnTo>
                    <a:pt x="1914131" y="27432"/>
                  </a:lnTo>
                  <a:lnTo>
                    <a:pt x="1914131" y="0"/>
                  </a:lnTo>
                  <a:close/>
                </a:path>
                <a:path w="3667125" h="390525">
                  <a:moveTo>
                    <a:pt x="1970532" y="0"/>
                  </a:moveTo>
                  <a:lnTo>
                    <a:pt x="1943100" y="0"/>
                  </a:lnTo>
                  <a:lnTo>
                    <a:pt x="1943100" y="27432"/>
                  </a:lnTo>
                  <a:lnTo>
                    <a:pt x="1970532" y="27432"/>
                  </a:lnTo>
                  <a:lnTo>
                    <a:pt x="1970532" y="0"/>
                  </a:lnTo>
                  <a:close/>
                </a:path>
                <a:path w="3667125" h="390525">
                  <a:moveTo>
                    <a:pt x="2028431" y="0"/>
                  </a:moveTo>
                  <a:lnTo>
                    <a:pt x="1999488" y="0"/>
                  </a:lnTo>
                  <a:lnTo>
                    <a:pt x="1999488" y="27432"/>
                  </a:lnTo>
                  <a:lnTo>
                    <a:pt x="2028431" y="27432"/>
                  </a:lnTo>
                  <a:lnTo>
                    <a:pt x="2028431" y="0"/>
                  </a:lnTo>
                  <a:close/>
                </a:path>
                <a:path w="3667125" h="390525">
                  <a:moveTo>
                    <a:pt x="2084832" y="0"/>
                  </a:moveTo>
                  <a:lnTo>
                    <a:pt x="2057400" y="0"/>
                  </a:lnTo>
                  <a:lnTo>
                    <a:pt x="2057400" y="27432"/>
                  </a:lnTo>
                  <a:lnTo>
                    <a:pt x="2084832" y="27432"/>
                  </a:lnTo>
                  <a:lnTo>
                    <a:pt x="2084832" y="0"/>
                  </a:lnTo>
                  <a:close/>
                </a:path>
                <a:path w="3667125" h="390525">
                  <a:moveTo>
                    <a:pt x="2142731" y="0"/>
                  </a:moveTo>
                  <a:lnTo>
                    <a:pt x="2113788" y="0"/>
                  </a:lnTo>
                  <a:lnTo>
                    <a:pt x="2113788" y="27432"/>
                  </a:lnTo>
                  <a:lnTo>
                    <a:pt x="2142731" y="27432"/>
                  </a:lnTo>
                  <a:lnTo>
                    <a:pt x="2142731" y="0"/>
                  </a:lnTo>
                  <a:close/>
                </a:path>
                <a:path w="3667125" h="390525">
                  <a:moveTo>
                    <a:pt x="2199132" y="0"/>
                  </a:moveTo>
                  <a:lnTo>
                    <a:pt x="2171700" y="0"/>
                  </a:lnTo>
                  <a:lnTo>
                    <a:pt x="2171700" y="27432"/>
                  </a:lnTo>
                  <a:lnTo>
                    <a:pt x="2199132" y="27432"/>
                  </a:lnTo>
                  <a:lnTo>
                    <a:pt x="2199132" y="0"/>
                  </a:lnTo>
                  <a:close/>
                </a:path>
                <a:path w="3667125" h="390525">
                  <a:moveTo>
                    <a:pt x="2257031" y="0"/>
                  </a:moveTo>
                  <a:lnTo>
                    <a:pt x="2228088" y="0"/>
                  </a:lnTo>
                  <a:lnTo>
                    <a:pt x="2228088" y="27432"/>
                  </a:lnTo>
                  <a:lnTo>
                    <a:pt x="2257031" y="27432"/>
                  </a:lnTo>
                  <a:lnTo>
                    <a:pt x="2257031" y="0"/>
                  </a:lnTo>
                  <a:close/>
                </a:path>
                <a:path w="3667125" h="390525">
                  <a:moveTo>
                    <a:pt x="2313432" y="0"/>
                  </a:moveTo>
                  <a:lnTo>
                    <a:pt x="2286000" y="0"/>
                  </a:lnTo>
                  <a:lnTo>
                    <a:pt x="2286000" y="27432"/>
                  </a:lnTo>
                  <a:lnTo>
                    <a:pt x="2313432" y="27432"/>
                  </a:lnTo>
                  <a:lnTo>
                    <a:pt x="2313432" y="0"/>
                  </a:lnTo>
                  <a:close/>
                </a:path>
                <a:path w="3667125" h="390525">
                  <a:moveTo>
                    <a:pt x="2371331" y="0"/>
                  </a:moveTo>
                  <a:lnTo>
                    <a:pt x="2342388" y="0"/>
                  </a:lnTo>
                  <a:lnTo>
                    <a:pt x="2342388" y="27432"/>
                  </a:lnTo>
                  <a:lnTo>
                    <a:pt x="2371331" y="27432"/>
                  </a:lnTo>
                  <a:lnTo>
                    <a:pt x="2371331" y="0"/>
                  </a:lnTo>
                  <a:close/>
                </a:path>
                <a:path w="3667125" h="390525">
                  <a:moveTo>
                    <a:pt x="2427732" y="0"/>
                  </a:moveTo>
                  <a:lnTo>
                    <a:pt x="2400300" y="0"/>
                  </a:lnTo>
                  <a:lnTo>
                    <a:pt x="2400300" y="27432"/>
                  </a:lnTo>
                  <a:lnTo>
                    <a:pt x="2427732" y="27432"/>
                  </a:lnTo>
                  <a:lnTo>
                    <a:pt x="2427732" y="0"/>
                  </a:lnTo>
                  <a:close/>
                </a:path>
                <a:path w="3667125" h="390525">
                  <a:moveTo>
                    <a:pt x="2485631" y="0"/>
                  </a:moveTo>
                  <a:lnTo>
                    <a:pt x="2456688" y="0"/>
                  </a:lnTo>
                  <a:lnTo>
                    <a:pt x="2456688" y="27432"/>
                  </a:lnTo>
                  <a:lnTo>
                    <a:pt x="2485631" y="27432"/>
                  </a:lnTo>
                  <a:lnTo>
                    <a:pt x="2485631" y="0"/>
                  </a:lnTo>
                  <a:close/>
                </a:path>
                <a:path w="3667125" h="390525">
                  <a:moveTo>
                    <a:pt x="2542032" y="0"/>
                  </a:moveTo>
                  <a:lnTo>
                    <a:pt x="2514600" y="0"/>
                  </a:lnTo>
                  <a:lnTo>
                    <a:pt x="2514600" y="27432"/>
                  </a:lnTo>
                  <a:lnTo>
                    <a:pt x="2542032" y="27432"/>
                  </a:lnTo>
                  <a:lnTo>
                    <a:pt x="2542032" y="0"/>
                  </a:lnTo>
                  <a:close/>
                </a:path>
                <a:path w="3667125" h="390525">
                  <a:moveTo>
                    <a:pt x="2599931" y="0"/>
                  </a:moveTo>
                  <a:lnTo>
                    <a:pt x="2570988" y="0"/>
                  </a:lnTo>
                  <a:lnTo>
                    <a:pt x="2570988" y="27432"/>
                  </a:lnTo>
                  <a:lnTo>
                    <a:pt x="2599931" y="27432"/>
                  </a:lnTo>
                  <a:lnTo>
                    <a:pt x="2599931" y="0"/>
                  </a:lnTo>
                  <a:close/>
                </a:path>
                <a:path w="3667125" h="390525">
                  <a:moveTo>
                    <a:pt x="2656332" y="0"/>
                  </a:moveTo>
                  <a:lnTo>
                    <a:pt x="2628900" y="0"/>
                  </a:lnTo>
                  <a:lnTo>
                    <a:pt x="2628900" y="27432"/>
                  </a:lnTo>
                  <a:lnTo>
                    <a:pt x="2656332" y="27432"/>
                  </a:lnTo>
                  <a:lnTo>
                    <a:pt x="2656332" y="0"/>
                  </a:lnTo>
                  <a:close/>
                </a:path>
                <a:path w="3667125" h="390525">
                  <a:moveTo>
                    <a:pt x="2714231" y="0"/>
                  </a:moveTo>
                  <a:lnTo>
                    <a:pt x="2685288" y="0"/>
                  </a:lnTo>
                  <a:lnTo>
                    <a:pt x="2685288" y="27432"/>
                  </a:lnTo>
                  <a:lnTo>
                    <a:pt x="2714231" y="27432"/>
                  </a:lnTo>
                  <a:lnTo>
                    <a:pt x="2714231" y="0"/>
                  </a:lnTo>
                  <a:close/>
                </a:path>
                <a:path w="3667125" h="390525">
                  <a:moveTo>
                    <a:pt x="2770632" y="0"/>
                  </a:moveTo>
                  <a:lnTo>
                    <a:pt x="2741676" y="0"/>
                  </a:lnTo>
                  <a:lnTo>
                    <a:pt x="2741676" y="27432"/>
                  </a:lnTo>
                  <a:lnTo>
                    <a:pt x="2770632" y="27432"/>
                  </a:lnTo>
                  <a:lnTo>
                    <a:pt x="2770632" y="0"/>
                  </a:lnTo>
                  <a:close/>
                </a:path>
                <a:path w="3667125" h="390525">
                  <a:moveTo>
                    <a:pt x="2828531" y="0"/>
                  </a:moveTo>
                  <a:lnTo>
                    <a:pt x="2799588" y="0"/>
                  </a:lnTo>
                  <a:lnTo>
                    <a:pt x="2799588" y="27432"/>
                  </a:lnTo>
                  <a:lnTo>
                    <a:pt x="2828531" y="27432"/>
                  </a:lnTo>
                  <a:lnTo>
                    <a:pt x="2828531" y="0"/>
                  </a:lnTo>
                  <a:close/>
                </a:path>
                <a:path w="3667125" h="390525">
                  <a:moveTo>
                    <a:pt x="2884932" y="0"/>
                  </a:moveTo>
                  <a:lnTo>
                    <a:pt x="2855976" y="0"/>
                  </a:lnTo>
                  <a:lnTo>
                    <a:pt x="2855976" y="27432"/>
                  </a:lnTo>
                  <a:lnTo>
                    <a:pt x="2884932" y="27432"/>
                  </a:lnTo>
                  <a:lnTo>
                    <a:pt x="2884932" y="0"/>
                  </a:lnTo>
                  <a:close/>
                </a:path>
                <a:path w="3667125" h="390525">
                  <a:moveTo>
                    <a:pt x="2942831" y="0"/>
                  </a:moveTo>
                  <a:lnTo>
                    <a:pt x="2913888" y="0"/>
                  </a:lnTo>
                  <a:lnTo>
                    <a:pt x="2913888" y="27432"/>
                  </a:lnTo>
                  <a:lnTo>
                    <a:pt x="2942831" y="27432"/>
                  </a:lnTo>
                  <a:lnTo>
                    <a:pt x="2942831" y="0"/>
                  </a:lnTo>
                  <a:close/>
                </a:path>
                <a:path w="3667125" h="390525">
                  <a:moveTo>
                    <a:pt x="2999232" y="0"/>
                  </a:moveTo>
                  <a:lnTo>
                    <a:pt x="2970276" y="0"/>
                  </a:lnTo>
                  <a:lnTo>
                    <a:pt x="2970276" y="27432"/>
                  </a:lnTo>
                  <a:lnTo>
                    <a:pt x="2999232" y="27432"/>
                  </a:lnTo>
                  <a:lnTo>
                    <a:pt x="2999232" y="0"/>
                  </a:lnTo>
                  <a:close/>
                </a:path>
                <a:path w="3667125" h="390525">
                  <a:moveTo>
                    <a:pt x="3057131" y="0"/>
                  </a:moveTo>
                  <a:lnTo>
                    <a:pt x="3028188" y="0"/>
                  </a:lnTo>
                  <a:lnTo>
                    <a:pt x="3028188" y="27432"/>
                  </a:lnTo>
                  <a:lnTo>
                    <a:pt x="3057131" y="27432"/>
                  </a:lnTo>
                  <a:lnTo>
                    <a:pt x="3057131" y="0"/>
                  </a:lnTo>
                  <a:close/>
                </a:path>
                <a:path w="3667125" h="390525">
                  <a:moveTo>
                    <a:pt x="3113532" y="0"/>
                  </a:moveTo>
                  <a:lnTo>
                    <a:pt x="3084576" y="0"/>
                  </a:lnTo>
                  <a:lnTo>
                    <a:pt x="3084576" y="27432"/>
                  </a:lnTo>
                  <a:lnTo>
                    <a:pt x="3113532" y="27432"/>
                  </a:lnTo>
                  <a:lnTo>
                    <a:pt x="3113532" y="0"/>
                  </a:lnTo>
                  <a:close/>
                </a:path>
                <a:path w="3667125" h="390525">
                  <a:moveTo>
                    <a:pt x="3171431" y="0"/>
                  </a:moveTo>
                  <a:lnTo>
                    <a:pt x="3142488" y="0"/>
                  </a:lnTo>
                  <a:lnTo>
                    <a:pt x="3142488" y="27432"/>
                  </a:lnTo>
                  <a:lnTo>
                    <a:pt x="3171431" y="27432"/>
                  </a:lnTo>
                  <a:lnTo>
                    <a:pt x="3171431" y="0"/>
                  </a:lnTo>
                  <a:close/>
                </a:path>
                <a:path w="3667125" h="390525">
                  <a:moveTo>
                    <a:pt x="3227832" y="0"/>
                  </a:moveTo>
                  <a:lnTo>
                    <a:pt x="3198876" y="0"/>
                  </a:lnTo>
                  <a:lnTo>
                    <a:pt x="3198876" y="27432"/>
                  </a:lnTo>
                  <a:lnTo>
                    <a:pt x="3227832" y="27432"/>
                  </a:lnTo>
                  <a:lnTo>
                    <a:pt x="3227832" y="0"/>
                  </a:lnTo>
                  <a:close/>
                </a:path>
                <a:path w="3667125" h="390525">
                  <a:moveTo>
                    <a:pt x="3285731" y="0"/>
                  </a:moveTo>
                  <a:lnTo>
                    <a:pt x="3256788" y="0"/>
                  </a:lnTo>
                  <a:lnTo>
                    <a:pt x="3256788" y="27432"/>
                  </a:lnTo>
                  <a:lnTo>
                    <a:pt x="3285731" y="27432"/>
                  </a:lnTo>
                  <a:lnTo>
                    <a:pt x="3285731" y="0"/>
                  </a:lnTo>
                  <a:close/>
                </a:path>
                <a:path w="3667125" h="390525">
                  <a:moveTo>
                    <a:pt x="3342132" y="0"/>
                  </a:moveTo>
                  <a:lnTo>
                    <a:pt x="3313176" y="0"/>
                  </a:lnTo>
                  <a:lnTo>
                    <a:pt x="3313176" y="27432"/>
                  </a:lnTo>
                  <a:lnTo>
                    <a:pt x="3342132" y="27432"/>
                  </a:lnTo>
                  <a:lnTo>
                    <a:pt x="3342132" y="0"/>
                  </a:lnTo>
                  <a:close/>
                </a:path>
                <a:path w="3667125" h="390525">
                  <a:moveTo>
                    <a:pt x="3400031" y="0"/>
                  </a:moveTo>
                  <a:lnTo>
                    <a:pt x="3371088" y="0"/>
                  </a:lnTo>
                  <a:lnTo>
                    <a:pt x="3371088" y="27432"/>
                  </a:lnTo>
                  <a:lnTo>
                    <a:pt x="3400031" y="27432"/>
                  </a:lnTo>
                  <a:lnTo>
                    <a:pt x="3400031" y="0"/>
                  </a:lnTo>
                  <a:close/>
                </a:path>
                <a:path w="3667125" h="390525">
                  <a:moveTo>
                    <a:pt x="3456432" y="0"/>
                  </a:moveTo>
                  <a:lnTo>
                    <a:pt x="3427476" y="0"/>
                  </a:lnTo>
                  <a:lnTo>
                    <a:pt x="3427476" y="27432"/>
                  </a:lnTo>
                  <a:lnTo>
                    <a:pt x="3456432" y="27432"/>
                  </a:lnTo>
                  <a:lnTo>
                    <a:pt x="3456432" y="0"/>
                  </a:lnTo>
                  <a:close/>
                </a:path>
                <a:path w="3667125" h="390525">
                  <a:moveTo>
                    <a:pt x="3514331" y="0"/>
                  </a:moveTo>
                  <a:lnTo>
                    <a:pt x="3485388" y="0"/>
                  </a:lnTo>
                  <a:lnTo>
                    <a:pt x="3485388" y="27432"/>
                  </a:lnTo>
                  <a:lnTo>
                    <a:pt x="3514331" y="27432"/>
                  </a:lnTo>
                  <a:lnTo>
                    <a:pt x="3514331" y="0"/>
                  </a:lnTo>
                  <a:close/>
                </a:path>
                <a:path w="3667125" h="390525">
                  <a:moveTo>
                    <a:pt x="3570732" y="0"/>
                  </a:moveTo>
                  <a:lnTo>
                    <a:pt x="3541776" y="0"/>
                  </a:lnTo>
                  <a:lnTo>
                    <a:pt x="3541776" y="27432"/>
                  </a:lnTo>
                  <a:lnTo>
                    <a:pt x="3570732" y="27432"/>
                  </a:lnTo>
                  <a:lnTo>
                    <a:pt x="3570732" y="0"/>
                  </a:lnTo>
                  <a:close/>
                </a:path>
                <a:path w="3667125" h="390525">
                  <a:moveTo>
                    <a:pt x="3628631" y="0"/>
                  </a:moveTo>
                  <a:lnTo>
                    <a:pt x="3599688" y="0"/>
                  </a:lnTo>
                  <a:lnTo>
                    <a:pt x="3599688" y="27432"/>
                  </a:lnTo>
                  <a:lnTo>
                    <a:pt x="3628631" y="27432"/>
                  </a:lnTo>
                  <a:lnTo>
                    <a:pt x="3628631" y="0"/>
                  </a:lnTo>
                  <a:close/>
                </a:path>
                <a:path w="3667125" h="390525">
                  <a:moveTo>
                    <a:pt x="3666744" y="361188"/>
                  </a:moveTo>
                  <a:lnTo>
                    <a:pt x="3637788" y="361188"/>
                  </a:lnTo>
                  <a:lnTo>
                    <a:pt x="3637788" y="390144"/>
                  </a:lnTo>
                  <a:lnTo>
                    <a:pt x="3666744" y="390144"/>
                  </a:lnTo>
                  <a:lnTo>
                    <a:pt x="3666744" y="361188"/>
                  </a:lnTo>
                  <a:close/>
                </a:path>
                <a:path w="3667125" h="390525">
                  <a:moveTo>
                    <a:pt x="3666744" y="303276"/>
                  </a:moveTo>
                  <a:lnTo>
                    <a:pt x="3637788" y="303276"/>
                  </a:lnTo>
                  <a:lnTo>
                    <a:pt x="3637788" y="332232"/>
                  </a:lnTo>
                  <a:lnTo>
                    <a:pt x="3666744" y="332232"/>
                  </a:lnTo>
                  <a:lnTo>
                    <a:pt x="3666744" y="303276"/>
                  </a:lnTo>
                  <a:close/>
                </a:path>
                <a:path w="3667125" h="390525">
                  <a:moveTo>
                    <a:pt x="3666744" y="246888"/>
                  </a:moveTo>
                  <a:lnTo>
                    <a:pt x="3637788" y="246888"/>
                  </a:lnTo>
                  <a:lnTo>
                    <a:pt x="3637788" y="275844"/>
                  </a:lnTo>
                  <a:lnTo>
                    <a:pt x="3666744" y="275844"/>
                  </a:lnTo>
                  <a:lnTo>
                    <a:pt x="3666744" y="246888"/>
                  </a:lnTo>
                  <a:close/>
                </a:path>
                <a:path w="3667125" h="390525">
                  <a:moveTo>
                    <a:pt x="3666744" y="188976"/>
                  </a:moveTo>
                  <a:lnTo>
                    <a:pt x="3637788" y="188976"/>
                  </a:lnTo>
                  <a:lnTo>
                    <a:pt x="3637788" y="217932"/>
                  </a:lnTo>
                  <a:lnTo>
                    <a:pt x="3666744" y="217932"/>
                  </a:lnTo>
                  <a:lnTo>
                    <a:pt x="3666744" y="188976"/>
                  </a:lnTo>
                  <a:close/>
                </a:path>
                <a:path w="3667125" h="390525">
                  <a:moveTo>
                    <a:pt x="3666744" y="132588"/>
                  </a:moveTo>
                  <a:lnTo>
                    <a:pt x="3637788" y="132588"/>
                  </a:lnTo>
                  <a:lnTo>
                    <a:pt x="3637788" y="161544"/>
                  </a:lnTo>
                  <a:lnTo>
                    <a:pt x="3666744" y="161544"/>
                  </a:lnTo>
                  <a:lnTo>
                    <a:pt x="3666744" y="132588"/>
                  </a:lnTo>
                  <a:close/>
                </a:path>
                <a:path w="3667125" h="390525">
                  <a:moveTo>
                    <a:pt x="3666744" y="74676"/>
                  </a:moveTo>
                  <a:lnTo>
                    <a:pt x="3637788" y="74676"/>
                  </a:lnTo>
                  <a:lnTo>
                    <a:pt x="3637788" y="103632"/>
                  </a:lnTo>
                  <a:lnTo>
                    <a:pt x="3666744" y="103632"/>
                  </a:lnTo>
                  <a:lnTo>
                    <a:pt x="3666744" y="74676"/>
                  </a:lnTo>
                  <a:close/>
                </a:path>
                <a:path w="3667125" h="390525">
                  <a:moveTo>
                    <a:pt x="3666744" y="18288"/>
                  </a:moveTo>
                  <a:lnTo>
                    <a:pt x="3637788" y="18288"/>
                  </a:lnTo>
                  <a:lnTo>
                    <a:pt x="3637788" y="47244"/>
                  </a:lnTo>
                  <a:lnTo>
                    <a:pt x="3666744" y="47244"/>
                  </a:lnTo>
                  <a:lnTo>
                    <a:pt x="3666744" y="18288"/>
                  </a:lnTo>
                  <a:close/>
                </a:path>
              </a:pathLst>
            </a:custGeom>
            <a:solidFill>
              <a:srgbClr val="7E7E7E"/>
            </a:solidFill>
          </p:spPr>
          <p:txBody>
            <a:bodyPr wrap="square" lIns="0" tIns="0" rIns="0" bIns="0" rtlCol="0"/>
            <a:lstStyle/>
            <a:p>
              <a:endParaRPr/>
            </a:p>
          </p:txBody>
        </p:sp>
        <p:sp>
          <p:nvSpPr>
            <p:cNvPr id="24" name="object 24"/>
            <p:cNvSpPr/>
            <p:nvPr/>
          </p:nvSpPr>
          <p:spPr>
            <a:xfrm>
              <a:off x="9552432" y="2389631"/>
              <a:ext cx="1551940" cy="2504440"/>
            </a:xfrm>
            <a:custGeom>
              <a:avLst/>
              <a:gdLst/>
              <a:ahLst/>
              <a:cxnLst/>
              <a:rect l="l" t="t" r="r" b="b"/>
              <a:pathLst>
                <a:path w="1551940" h="2504440">
                  <a:moveTo>
                    <a:pt x="27432" y="2476500"/>
                  </a:moveTo>
                  <a:lnTo>
                    <a:pt x="0" y="2476500"/>
                  </a:lnTo>
                  <a:lnTo>
                    <a:pt x="0" y="2503932"/>
                  </a:lnTo>
                  <a:lnTo>
                    <a:pt x="27432" y="2503932"/>
                  </a:lnTo>
                  <a:lnTo>
                    <a:pt x="27432" y="2476500"/>
                  </a:lnTo>
                  <a:close/>
                </a:path>
                <a:path w="1551940" h="2504440">
                  <a:moveTo>
                    <a:pt x="85344" y="2476500"/>
                  </a:moveTo>
                  <a:lnTo>
                    <a:pt x="56388" y="2476500"/>
                  </a:lnTo>
                  <a:lnTo>
                    <a:pt x="56388" y="2503932"/>
                  </a:lnTo>
                  <a:lnTo>
                    <a:pt x="85344" y="2503932"/>
                  </a:lnTo>
                  <a:lnTo>
                    <a:pt x="85344" y="2476500"/>
                  </a:lnTo>
                  <a:close/>
                </a:path>
                <a:path w="1551940" h="2504440">
                  <a:moveTo>
                    <a:pt x="141732" y="2476500"/>
                  </a:moveTo>
                  <a:lnTo>
                    <a:pt x="114300" y="2476500"/>
                  </a:lnTo>
                  <a:lnTo>
                    <a:pt x="114300" y="2503932"/>
                  </a:lnTo>
                  <a:lnTo>
                    <a:pt x="141732" y="2503932"/>
                  </a:lnTo>
                  <a:lnTo>
                    <a:pt x="141732" y="2476500"/>
                  </a:lnTo>
                  <a:close/>
                </a:path>
                <a:path w="1551940" h="2504440">
                  <a:moveTo>
                    <a:pt x="199644" y="2476500"/>
                  </a:moveTo>
                  <a:lnTo>
                    <a:pt x="170688" y="2476500"/>
                  </a:lnTo>
                  <a:lnTo>
                    <a:pt x="170688" y="2503932"/>
                  </a:lnTo>
                  <a:lnTo>
                    <a:pt x="199644" y="2503932"/>
                  </a:lnTo>
                  <a:lnTo>
                    <a:pt x="199644" y="2476500"/>
                  </a:lnTo>
                  <a:close/>
                </a:path>
                <a:path w="1551940" h="2504440">
                  <a:moveTo>
                    <a:pt x="256032" y="2476500"/>
                  </a:moveTo>
                  <a:lnTo>
                    <a:pt x="227076" y="2476500"/>
                  </a:lnTo>
                  <a:lnTo>
                    <a:pt x="227076" y="2503932"/>
                  </a:lnTo>
                  <a:lnTo>
                    <a:pt x="256032" y="2503932"/>
                  </a:lnTo>
                  <a:lnTo>
                    <a:pt x="256032" y="2476500"/>
                  </a:lnTo>
                  <a:close/>
                </a:path>
                <a:path w="1551940" h="2504440">
                  <a:moveTo>
                    <a:pt x="313944" y="2476500"/>
                  </a:moveTo>
                  <a:lnTo>
                    <a:pt x="284988" y="2476500"/>
                  </a:lnTo>
                  <a:lnTo>
                    <a:pt x="284988" y="2503932"/>
                  </a:lnTo>
                  <a:lnTo>
                    <a:pt x="313944" y="2503932"/>
                  </a:lnTo>
                  <a:lnTo>
                    <a:pt x="313944" y="2476500"/>
                  </a:lnTo>
                  <a:close/>
                </a:path>
                <a:path w="1551940" h="2504440">
                  <a:moveTo>
                    <a:pt x="370332" y="2476500"/>
                  </a:moveTo>
                  <a:lnTo>
                    <a:pt x="341376" y="2476500"/>
                  </a:lnTo>
                  <a:lnTo>
                    <a:pt x="341376" y="2503932"/>
                  </a:lnTo>
                  <a:lnTo>
                    <a:pt x="370332" y="2503932"/>
                  </a:lnTo>
                  <a:lnTo>
                    <a:pt x="370332" y="2476500"/>
                  </a:lnTo>
                  <a:close/>
                </a:path>
                <a:path w="1551940" h="2504440">
                  <a:moveTo>
                    <a:pt x="428244" y="2476500"/>
                  </a:moveTo>
                  <a:lnTo>
                    <a:pt x="399288" y="2476500"/>
                  </a:lnTo>
                  <a:lnTo>
                    <a:pt x="399288" y="2503932"/>
                  </a:lnTo>
                  <a:lnTo>
                    <a:pt x="428244" y="2503932"/>
                  </a:lnTo>
                  <a:lnTo>
                    <a:pt x="428244" y="2476500"/>
                  </a:lnTo>
                  <a:close/>
                </a:path>
                <a:path w="1551940" h="2504440">
                  <a:moveTo>
                    <a:pt x="484632" y="2476500"/>
                  </a:moveTo>
                  <a:lnTo>
                    <a:pt x="455676" y="2476500"/>
                  </a:lnTo>
                  <a:lnTo>
                    <a:pt x="455676" y="2503932"/>
                  </a:lnTo>
                  <a:lnTo>
                    <a:pt x="484632" y="2503932"/>
                  </a:lnTo>
                  <a:lnTo>
                    <a:pt x="484632" y="2476500"/>
                  </a:lnTo>
                  <a:close/>
                </a:path>
                <a:path w="1551940" h="2504440">
                  <a:moveTo>
                    <a:pt x="542544" y="2476500"/>
                  </a:moveTo>
                  <a:lnTo>
                    <a:pt x="513588" y="2476500"/>
                  </a:lnTo>
                  <a:lnTo>
                    <a:pt x="513588" y="2503932"/>
                  </a:lnTo>
                  <a:lnTo>
                    <a:pt x="542544" y="2503932"/>
                  </a:lnTo>
                  <a:lnTo>
                    <a:pt x="542544" y="2476500"/>
                  </a:lnTo>
                  <a:close/>
                </a:path>
                <a:path w="1551940" h="2504440">
                  <a:moveTo>
                    <a:pt x="598932" y="2476500"/>
                  </a:moveTo>
                  <a:lnTo>
                    <a:pt x="569976" y="2476500"/>
                  </a:lnTo>
                  <a:lnTo>
                    <a:pt x="569976" y="2503932"/>
                  </a:lnTo>
                  <a:lnTo>
                    <a:pt x="598932" y="2503932"/>
                  </a:lnTo>
                  <a:lnTo>
                    <a:pt x="598932" y="2476500"/>
                  </a:lnTo>
                  <a:close/>
                </a:path>
                <a:path w="1551940" h="2504440">
                  <a:moveTo>
                    <a:pt x="656844" y="2476500"/>
                  </a:moveTo>
                  <a:lnTo>
                    <a:pt x="627888" y="2476500"/>
                  </a:lnTo>
                  <a:lnTo>
                    <a:pt x="627888" y="2503932"/>
                  </a:lnTo>
                  <a:lnTo>
                    <a:pt x="656844" y="2503932"/>
                  </a:lnTo>
                  <a:lnTo>
                    <a:pt x="656844" y="2476500"/>
                  </a:lnTo>
                  <a:close/>
                </a:path>
                <a:path w="1551940" h="2504440">
                  <a:moveTo>
                    <a:pt x="713232" y="2476500"/>
                  </a:moveTo>
                  <a:lnTo>
                    <a:pt x="684276" y="2476500"/>
                  </a:lnTo>
                  <a:lnTo>
                    <a:pt x="684276" y="2503932"/>
                  </a:lnTo>
                  <a:lnTo>
                    <a:pt x="713232" y="2503932"/>
                  </a:lnTo>
                  <a:lnTo>
                    <a:pt x="713232" y="2476500"/>
                  </a:lnTo>
                  <a:close/>
                </a:path>
                <a:path w="1551940" h="2504440">
                  <a:moveTo>
                    <a:pt x="771144" y="2476500"/>
                  </a:moveTo>
                  <a:lnTo>
                    <a:pt x="742188" y="2476500"/>
                  </a:lnTo>
                  <a:lnTo>
                    <a:pt x="742188" y="2503932"/>
                  </a:lnTo>
                  <a:lnTo>
                    <a:pt x="771144" y="2503932"/>
                  </a:lnTo>
                  <a:lnTo>
                    <a:pt x="771144" y="2476500"/>
                  </a:lnTo>
                  <a:close/>
                </a:path>
                <a:path w="1551940" h="2504440">
                  <a:moveTo>
                    <a:pt x="827532" y="2476500"/>
                  </a:moveTo>
                  <a:lnTo>
                    <a:pt x="798576" y="2476500"/>
                  </a:lnTo>
                  <a:lnTo>
                    <a:pt x="798576" y="2503932"/>
                  </a:lnTo>
                  <a:lnTo>
                    <a:pt x="827532" y="2503932"/>
                  </a:lnTo>
                  <a:lnTo>
                    <a:pt x="827532" y="2476500"/>
                  </a:lnTo>
                  <a:close/>
                </a:path>
                <a:path w="1551940" h="2504440">
                  <a:moveTo>
                    <a:pt x="885444" y="2476500"/>
                  </a:moveTo>
                  <a:lnTo>
                    <a:pt x="856488" y="2476500"/>
                  </a:lnTo>
                  <a:lnTo>
                    <a:pt x="856488" y="2503932"/>
                  </a:lnTo>
                  <a:lnTo>
                    <a:pt x="885444" y="2503932"/>
                  </a:lnTo>
                  <a:lnTo>
                    <a:pt x="885444" y="2476500"/>
                  </a:lnTo>
                  <a:close/>
                </a:path>
                <a:path w="1551940" h="2504440">
                  <a:moveTo>
                    <a:pt x="941832" y="2476500"/>
                  </a:moveTo>
                  <a:lnTo>
                    <a:pt x="912876" y="2476500"/>
                  </a:lnTo>
                  <a:lnTo>
                    <a:pt x="912876" y="2503932"/>
                  </a:lnTo>
                  <a:lnTo>
                    <a:pt x="941832" y="2503932"/>
                  </a:lnTo>
                  <a:lnTo>
                    <a:pt x="941832" y="2476500"/>
                  </a:lnTo>
                  <a:close/>
                </a:path>
                <a:path w="1551940" h="2504440">
                  <a:moveTo>
                    <a:pt x="999744" y="2476500"/>
                  </a:moveTo>
                  <a:lnTo>
                    <a:pt x="970788" y="2476500"/>
                  </a:lnTo>
                  <a:lnTo>
                    <a:pt x="970788" y="2503932"/>
                  </a:lnTo>
                  <a:lnTo>
                    <a:pt x="999744" y="2503932"/>
                  </a:lnTo>
                  <a:lnTo>
                    <a:pt x="999744" y="2476500"/>
                  </a:lnTo>
                  <a:close/>
                </a:path>
                <a:path w="1551940" h="2504440">
                  <a:moveTo>
                    <a:pt x="1056132" y="2476500"/>
                  </a:moveTo>
                  <a:lnTo>
                    <a:pt x="1027176" y="2476500"/>
                  </a:lnTo>
                  <a:lnTo>
                    <a:pt x="1027176" y="2503932"/>
                  </a:lnTo>
                  <a:lnTo>
                    <a:pt x="1056132" y="2503932"/>
                  </a:lnTo>
                  <a:lnTo>
                    <a:pt x="1056132" y="2476500"/>
                  </a:lnTo>
                  <a:close/>
                </a:path>
                <a:path w="1551940" h="2504440">
                  <a:moveTo>
                    <a:pt x="1114044" y="2476500"/>
                  </a:moveTo>
                  <a:lnTo>
                    <a:pt x="1085088" y="2476500"/>
                  </a:lnTo>
                  <a:lnTo>
                    <a:pt x="1085088" y="2503932"/>
                  </a:lnTo>
                  <a:lnTo>
                    <a:pt x="1114044" y="2503932"/>
                  </a:lnTo>
                  <a:lnTo>
                    <a:pt x="1114044" y="2476500"/>
                  </a:lnTo>
                  <a:close/>
                </a:path>
                <a:path w="1551940" h="2504440">
                  <a:moveTo>
                    <a:pt x="1170432" y="2476500"/>
                  </a:moveTo>
                  <a:lnTo>
                    <a:pt x="1141476" y="2476500"/>
                  </a:lnTo>
                  <a:lnTo>
                    <a:pt x="1141476" y="2503932"/>
                  </a:lnTo>
                  <a:lnTo>
                    <a:pt x="1170432" y="2503932"/>
                  </a:lnTo>
                  <a:lnTo>
                    <a:pt x="1170432" y="2476500"/>
                  </a:lnTo>
                  <a:close/>
                </a:path>
                <a:path w="1551940" h="2504440">
                  <a:moveTo>
                    <a:pt x="1228344" y="2476500"/>
                  </a:moveTo>
                  <a:lnTo>
                    <a:pt x="1199388" y="2476500"/>
                  </a:lnTo>
                  <a:lnTo>
                    <a:pt x="1199388" y="2503932"/>
                  </a:lnTo>
                  <a:lnTo>
                    <a:pt x="1228344" y="2503932"/>
                  </a:lnTo>
                  <a:lnTo>
                    <a:pt x="1228344" y="2476500"/>
                  </a:lnTo>
                  <a:close/>
                </a:path>
                <a:path w="1551940" h="2504440">
                  <a:moveTo>
                    <a:pt x="1284732" y="2476500"/>
                  </a:moveTo>
                  <a:lnTo>
                    <a:pt x="1255776" y="2476500"/>
                  </a:lnTo>
                  <a:lnTo>
                    <a:pt x="1255776" y="2503932"/>
                  </a:lnTo>
                  <a:lnTo>
                    <a:pt x="1284732" y="2503932"/>
                  </a:lnTo>
                  <a:lnTo>
                    <a:pt x="1284732" y="2476500"/>
                  </a:lnTo>
                  <a:close/>
                </a:path>
                <a:path w="1551940" h="2504440">
                  <a:moveTo>
                    <a:pt x="1342644" y="2476500"/>
                  </a:moveTo>
                  <a:lnTo>
                    <a:pt x="1313688" y="2476500"/>
                  </a:lnTo>
                  <a:lnTo>
                    <a:pt x="1313688" y="2503932"/>
                  </a:lnTo>
                  <a:lnTo>
                    <a:pt x="1342644" y="2503932"/>
                  </a:lnTo>
                  <a:lnTo>
                    <a:pt x="1342644" y="2476500"/>
                  </a:lnTo>
                  <a:close/>
                </a:path>
                <a:path w="1551940" h="2504440">
                  <a:moveTo>
                    <a:pt x="1399032" y="2476500"/>
                  </a:moveTo>
                  <a:lnTo>
                    <a:pt x="1370076" y="2476500"/>
                  </a:lnTo>
                  <a:lnTo>
                    <a:pt x="1370076" y="2503932"/>
                  </a:lnTo>
                  <a:lnTo>
                    <a:pt x="1399032" y="2503932"/>
                  </a:lnTo>
                  <a:lnTo>
                    <a:pt x="1399032" y="2476500"/>
                  </a:lnTo>
                  <a:close/>
                </a:path>
                <a:path w="1551940" h="2504440">
                  <a:moveTo>
                    <a:pt x="1456944" y="2476500"/>
                  </a:moveTo>
                  <a:lnTo>
                    <a:pt x="1427988" y="2476500"/>
                  </a:lnTo>
                  <a:lnTo>
                    <a:pt x="1427988" y="2503932"/>
                  </a:lnTo>
                  <a:lnTo>
                    <a:pt x="1456944" y="2503932"/>
                  </a:lnTo>
                  <a:lnTo>
                    <a:pt x="1456944" y="2476500"/>
                  </a:lnTo>
                  <a:close/>
                </a:path>
                <a:path w="1551940" h="2504440">
                  <a:moveTo>
                    <a:pt x="1513332" y="2476500"/>
                  </a:moveTo>
                  <a:lnTo>
                    <a:pt x="1484376" y="2476500"/>
                  </a:lnTo>
                  <a:lnTo>
                    <a:pt x="1484376" y="2503932"/>
                  </a:lnTo>
                  <a:lnTo>
                    <a:pt x="1513332" y="2503932"/>
                  </a:lnTo>
                  <a:lnTo>
                    <a:pt x="1513332" y="2476500"/>
                  </a:lnTo>
                  <a:close/>
                </a:path>
                <a:path w="1551940" h="2504440">
                  <a:moveTo>
                    <a:pt x="1551432" y="2456688"/>
                  </a:moveTo>
                  <a:lnTo>
                    <a:pt x="1522476" y="2456688"/>
                  </a:lnTo>
                  <a:lnTo>
                    <a:pt x="1522476" y="2485644"/>
                  </a:lnTo>
                  <a:lnTo>
                    <a:pt x="1551432" y="2485644"/>
                  </a:lnTo>
                  <a:lnTo>
                    <a:pt x="1551432" y="2456688"/>
                  </a:lnTo>
                  <a:close/>
                </a:path>
                <a:path w="1551940" h="2504440">
                  <a:moveTo>
                    <a:pt x="1551432" y="2398776"/>
                  </a:moveTo>
                  <a:lnTo>
                    <a:pt x="1522476" y="2398776"/>
                  </a:lnTo>
                  <a:lnTo>
                    <a:pt x="1522476" y="2427732"/>
                  </a:lnTo>
                  <a:lnTo>
                    <a:pt x="1551432" y="2427732"/>
                  </a:lnTo>
                  <a:lnTo>
                    <a:pt x="1551432" y="2398776"/>
                  </a:lnTo>
                  <a:close/>
                </a:path>
                <a:path w="1551940" h="2504440">
                  <a:moveTo>
                    <a:pt x="1551432" y="2342388"/>
                  </a:moveTo>
                  <a:lnTo>
                    <a:pt x="1522476" y="2342388"/>
                  </a:lnTo>
                  <a:lnTo>
                    <a:pt x="1522476" y="2371344"/>
                  </a:lnTo>
                  <a:lnTo>
                    <a:pt x="1551432" y="2371344"/>
                  </a:lnTo>
                  <a:lnTo>
                    <a:pt x="1551432" y="2342388"/>
                  </a:lnTo>
                  <a:close/>
                </a:path>
                <a:path w="1551940" h="2504440">
                  <a:moveTo>
                    <a:pt x="1551432" y="2284476"/>
                  </a:moveTo>
                  <a:lnTo>
                    <a:pt x="1522476" y="2284476"/>
                  </a:lnTo>
                  <a:lnTo>
                    <a:pt x="1522476" y="2313432"/>
                  </a:lnTo>
                  <a:lnTo>
                    <a:pt x="1551432" y="2313432"/>
                  </a:lnTo>
                  <a:lnTo>
                    <a:pt x="1551432" y="2284476"/>
                  </a:lnTo>
                  <a:close/>
                </a:path>
                <a:path w="1551940" h="2504440">
                  <a:moveTo>
                    <a:pt x="1551432" y="2228088"/>
                  </a:moveTo>
                  <a:lnTo>
                    <a:pt x="1522476" y="2228088"/>
                  </a:lnTo>
                  <a:lnTo>
                    <a:pt x="1522476" y="2257044"/>
                  </a:lnTo>
                  <a:lnTo>
                    <a:pt x="1551432" y="2257044"/>
                  </a:lnTo>
                  <a:lnTo>
                    <a:pt x="1551432" y="2228088"/>
                  </a:lnTo>
                  <a:close/>
                </a:path>
                <a:path w="1551940" h="2504440">
                  <a:moveTo>
                    <a:pt x="1551432" y="2170176"/>
                  </a:moveTo>
                  <a:lnTo>
                    <a:pt x="1522476" y="2170176"/>
                  </a:lnTo>
                  <a:lnTo>
                    <a:pt x="1522476" y="2199132"/>
                  </a:lnTo>
                  <a:lnTo>
                    <a:pt x="1551432" y="2199132"/>
                  </a:lnTo>
                  <a:lnTo>
                    <a:pt x="1551432" y="2170176"/>
                  </a:lnTo>
                  <a:close/>
                </a:path>
                <a:path w="1551940" h="2504440">
                  <a:moveTo>
                    <a:pt x="1551432" y="2113788"/>
                  </a:moveTo>
                  <a:lnTo>
                    <a:pt x="1522476" y="2113788"/>
                  </a:lnTo>
                  <a:lnTo>
                    <a:pt x="1522476" y="2142744"/>
                  </a:lnTo>
                  <a:lnTo>
                    <a:pt x="1551432" y="2142744"/>
                  </a:lnTo>
                  <a:lnTo>
                    <a:pt x="1551432" y="2113788"/>
                  </a:lnTo>
                  <a:close/>
                </a:path>
                <a:path w="1551940" h="2504440">
                  <a:moveTo>
                    <a:pt x="1551432" y="2057400"/>
                  </a:moveTo>
                  <a:lnTo>
                    <a:pt x="1522476" y="2057400"/>
                  </a:lnTo>
                  <a:lnTo>
                    <a:pt x="1522476" y="2084832"/>
                  </a:lnTo>
                  <a:lnTo>
                    <a:pt x="1551432" y="2084832"/>
                  </a:lnTo>
                  <a:lnTo>
                    <a:pt x="1551432" y="2057400"/>
                  </a:lnTo>
                  <a:close/>
                </a:path>
                <a:path w="1551940" h="2504440">
                  <a:moveTo>
                    <a:pt x="1551432" y="1999488"/>
                  </a:moveTo>
                  <a:lnTo>
                    <a:pt x="1522476" y="1999488"/>
                  </a:lnTo>
                  <a:lnTo>
                    <a:pt x="1522476" y="2028444"/>
                  </a:lnTo>
                  <a:lnTo>
                    <a:pt x="1551432" y="2028444"/>
                  </a:lnTo>
                  <a:lnTo>
                    <a:pt x="1551432" y="1999488"/>
                  </a:lnTo>
                  <a:close/>
                </a:path>
                <a:path w="1551940" h="2504440">
                  <a:moveTo>
                    <a:pt x="1551432" y="1943100"/>
                  </a:moveTo>
                  <a:lnTo>
                    <a:pt x="1522476" y="1943100"/>
                  </a:lnTo>
                  <a:lnTo>
                    <a:pt x="1522476" y="1970532"/>
                  </a:lnTo>
                  <a:lnTo>
                    <a:pt x="1551432" y="1970532"/>
                  </a:lnTo>
                  <a:lnTo>
                    <a:pt x="1551432" y="1943100"/>
                  </a:lnTo>
                  <a:close/>
                </a:path>
                <a:path w="1551940" h="2504440">
                  <a:moveTo>
                    <a:pt x="1551432" y="1885188"/>
                  </a:moveTo>
                  <a:lnTo>
                    <a:pt x="1522476" y="1885188"/>
                  </a:lnTo>
                  <a:lnTo>
                    <a:pt x="1522476" y="1914144"/>
                  </a:lnTo>
                  <a:lnTo>
                    <a:pt x="1551432" y="1914144"/>
                  </a:lnTo>
                  <a:lnTo>
                    <a:pt x="1551432" y="1885188"/>
                  </a:lnTo>
                  <a:close/>
                </a:path>
                <a:path w="1551940" h="2504440">
                  <a:moveTo>
                    <a:pt x="1551432" y="1828800"/>
                  </a:moveTo>
                  <a:lnTo>
                    <a:pt x="1522476" y="1828800"/>
                  </a:lnTo>
                  <a:lnTo>
                    <a:pt x="1522476" y="1856232"/>
                  </a:lnTo>
                  <a:lnTo>
                    <a:pt x="1551432" y="1856232"/>
                  </a:lnTo>
                  <a:lnTo>
                    <a:pt x="1551432" y="1828800"/>
                  </a:lnTo>
                  <a:close/>
                </a:path>
                <a:path w="1551940" h="2504440">
                  <a:moveTo>
                    <a:pt x="1551432" y="1770888"/>
                  </a:moveTo>
                  <a:lnTo>
                    <a:pt x="1522476" y="1770888"/>
                  </a:lnTo>
                  <a:lnTo>
                    <a:pt x="1522476" y="1799844"/>
                  </a:lnTo>
                  <a:lnTo>
                    <a:pt x="1551432" y="1799844"/>
                  </a:lnTo>
                  <a:lnTo>
                    <a:pt x="1551432" y="1770888"/>
                  </a:lnTo>
                  <a:close/>
                </a:path>
                <a:path w="1551940" h="2504440">
                  <a:moveTo>
                    <a:pt x="1551432" y="1714500"/>
                  </a:moveTo>
                  <a:lnTo>
                    <a:pt x="1522476" y="1714500"/>
                  </a:lnTo>
                  <a:lnTo>
                    <a:pt x="1522476" y="1741932"/>
                  </a:lnTo>
                  <a:lnTo>
                    <a:pt x="1551432" y="1741932"/>
                  </a:lnTo>
                  <a:lnTo>
                    <a:pt x="1551432" y="1714500"/>
                  </a:lnTo>
                  <a:close/>
                </a:path>
                <a:path w="1551940" h="2504440">
                  <a:moveTo>
                    <a:pt x="1551432" y="1656588"/>
                  </a:moveTo>
                  <a:lnTo>
                    <a:pt x="1522476" y="1656588"/>
                  </a:lnTo>
                  <a:lnTo>
                    <a:pt x="1522476" y="1685544"/>
                  </a:lnTo>
                  <a:lnTo>
                    <a:pt x="1551432" y="1685544"/>
                  </a:lnTo>
                  <a:lnTo>
                    <a:pt x="1551432" y="1656588"/>
                  </a:lnTo>
                  <a:close/>
                </a:path>
                <a:path w="1551940" h="2504440">
                  <a:moveTo>
                    <a:pt x="1551432" y="1600200"/>
                  </a:moveTo>
                  <a:lnTo>
                    <a:pt x="1522476" y="1600200"/>
                  </a:lnTo>
                  <a:lnTo>
                    <a:pt x="1522476" y="1627632"/>
                  </a:lnTo>
                  <a:lnTo>
                    <a:pt x="1551432" y="1627632"/>
                  </a:lnTo>
                  <a:lnTo>
                    <a:pt x="1551432" y="1600200"/>
                  </a:lnTo>
                  <a:close/>
                </a:path>
                <a:path w="1551940" h="2504440">
                  <a:moveTo>
                    <a:pt x="1551432" y="1542288"/>
                  </a:moveTo>
                  <a:lnTo>
                    <a:pt x="1522476" y="1542288"/>
                  </a:lnTo>
                  <a:lnTo>
                    <a:pt x="1522476" y="1571244"/>
                  </a:lnTo>
                  <a:lnTo>
                    <a:pt x="1551432" y="1571244"/>
                  </a:lnTo>
                  <a:lnTo>
                    <a:pt x="1551432" y="1542288"/>
                  </a:lnTo>
                  <a:close/>
                </a:path>
                <a:path w="1551940" h="2504440">
                  <a:moveTo>
                    <a:pt x="1551432" y="1485900"/>
                  </a:moveTo>
                  <a:lnTo>
                    <a:pt x="1522476" y="1485900"/>
                  </a:lnTo>
                  <a:lnTo>
                    <a:pt x="1522476" y="1513332"/>
                  </a:lnTo>
                  <a:lnTo>
                    <a:pt x="1551432" y="1513332"/>
                  </a:lnTo>
                  <a:lnTo>
                    <a:pt x="1551432" y="1485900"/>
                  </a:lnTo>
                  <a:close/>
                </a:path>
                <a:path w="1551940" h="2504440">
                  <a:moveTo>
                    <a:pt x="1551432" y="1427988"/>
                  </a:moveTo>
                  <a:lnTo>
                    <a:pt x="1522476" y="1427988"/>
                  </a:lnTo>
                  <a:lnTo>
                    <a:pt x="1522476" y="1456944"/>
                  </a:lnTo>
                  <a:lnTo>
                    <a:pt x="1551432" y="1456944"/>
                  </a:lnTo>
                  <a:lnTo>
                    <a:pt x="1551432" y="1427988"/>
                  </a:lnTo>
                  <a:close/>
                </a:path>
                <a:path w="1551940" h="2504440">
                  <a:moveTo>
                    <a:pt x="1551432" y="1371600"/>
                  </a:moveTo>
                  <a:lnTo>
                    <a:pt x="1522476" y="1371600"/>
                  </a:lnTo>
                  <a:lnTo>
                    <a:pt x="1522476" y="1399032"/>
                  </a:lnTo>
                  <a:lnTo>
                    <a:pt x="1551432" y="1399032"/>
                  </a:lnTo>
                  <a:lnTo>
                    <a:pt x="1551432" y="1371600"/>
                  </a:lnTo>
                  <a:close/>
                </a:path>
                <a:path w="1551940" h="2504440">
                  <a:moveTo>
                    <a:pt x="1551432" y="1313688"/>
                  </a:moveTo>
                  <a:lnTo>
                    <a:pt x="1522476" y="1313688"/>
                  </a:lnTo>
                  <a:lnTo>
                    <a:pt x="1522476" y="1342644"/>
                  </a:lnTo>
                  <a:lnTo>
                    <a:pt x="1551432" y="1342644"/>
                  </a:lnTo>
                  <a:lnTo>
                    <a:pt x="1551432" y="1313688"/>
                  </a:lnTo>
                  <a:close/>
                </a:path>
                <a:path w="1551940" h="2504440">
                  <a:moveTo>
                    <a:pt x="1551432" y="1257300"/>
                  </a:moveTo>
                  <a:lnTo>
                    <a:pt x="1522476" y="1257300"/>
                  </a:lnTo>
                  <a:lnTo>
                    <a:pt x="1522476" y="1284732"/>
                  </a:lnTo>
                  <a:lnTo>
                    <a:pt x="1551432" y="1284732"/>
                  </a:lnTo>
                  <a:lnTo>
                    <a:pt x="1551432" y="1257300"/>
                  </a:lnTo>
                  <a:close/>
                </a:path>
                <a:path w="1551940" h="2504440">
                  <a:moveTo>
                    <a:pt x="1551432" y="1199388"/>
                  </a:moveTo>
                  <a:lnTo>
                    <a:pt x="1522476" y="1199388"/>
                  </a:lnTo>
                  <a:lnTo>
                    <a:pt x="1522476" y="1228344"/>
                  </a:lnTo>
                  <a:lnTo>
                    <a:pt x="1551432" y="1228344"/>
                  </a:lnTo>
                  <a:lnTo>
                    <a:pt x="1551432" y="1199388"/>
                  </a:lnTo>
                  <a:close/>
                </a:path>
                <a:path w="1551940" h="2504440">
                  <a:moveTo>
                    <a:pt x="1551432" y="1143000"/>
                  </a:moveTo>
                  <a:lnTo>
                    <a:pt x="1522476" y="1143000"/>
                  </a:lnTo>
                  <a:lnTo>
                    <a:pt x="1522476" y="1170432"/>
                  </a:lnTo>
                  <a:lnTo>
                    <a:pt x="1551432" y="1170432"/>
                  </a:lnTo>
                  <a:lnTo>
                    <a:pt x="1551432" y="1143000"/>
                  </a:lnTo>
                  <a:close/>
                </a:path>
                <a:path w="1551940" h="2504440">
                  <a:moveTo>
                    <a:pt x="1551432" y="1085088"/>
                  </a:moveTo>
                  <a:lnTo>
                    <a:pt x="1522476" y="1085088"/>
                  </a:lnTo>
                  <a:lnTo>
                    <a:pt x="1522476" y="1114044"/>
                  </a:lnTo>
                  <a:lnTo>
                    <a:pt x="1551432" y="1114044"/>
                  </a:lnTo>
                  <a:lnTo>
                    <a:pt x="1551432" y="1085088"/>
                  </a:lnTo>
                  <a:close/>
                </a:path>
                <a:path w="1551940" h="2504440">
                  <a:moveTo>
                    <a:pt x="1551432" y="1028700"/>
                  </a:moveTo>
                  <a:lnTo>
                    <a:pt x="1522476" y="1028700"/>
                  </a:lnTo>
                  <a:lnTo>
                    <a:pt x="1522476" y="1056132"/>
                  </a:lnTo>
                  <a:lnTo>
                    <a:pt x="1551432" y="1056132"/>
                  </a:lnTo>
                  <a:lnTo>
                    <a:pt x="1551432" y="1028700"/>
                  </a:lnTo>
                  <a:close/>
                </a:path>
                <a:path w="1551940" h="2504440">
                  <a:moveTo>
                    <a:pt x="1551432" y="970788"/>
                  </a:moveTo>
                  <a:lnTo>
                    <a:pt x="1522476" y="970788"/>
                  </a:lnTo>
                  <a:lnTo>
                    <a:pt x="1522476" y="999744"/>
                  </a:lnTo>
                  <a:lnTo>
                    <a:pt x="1551432" y="999744"/>
                  </a:lnTo>
                  <a:lnTo>
                    <a:pt x="1551432" y="970788"/>
                  </a:lnTo>
                  <a:close/>
                </a:path>
                <a:path w="1551940" h="2504440">
                  <a:moveTo>
                    <a:pt x="1551432" y="914400"/>
                  </a:moveTo>
                  <a:lnTo>
                    <a:pt x="1522476" y="914400"/>
                  </a:lnTo>
                  <a:lnTo>
                    <a:pt x="1522476" y="941832"/>
                  </a:lnTo>
                  <a:lnTo>
                    <a:pt x="1551432" y="941832"/>
                  </a:lnTo>
                  <a:lnTo>
                    <a:pt x="1551432" y="914400"/>
                  </a:lnTo>
                  <a:close/>
                </a:path>
                <a:path w="1551940" h="2504440">
                  <a:moveTo>
                    <a:pt x="1551432" y="856488"/>
                  </a:moveTo>
                  <a:lnTo>
                    <a:pt x="1522476" y="856488"/>
                  </a:lnTo>
                  <a:lnTo>
                    <a:pt x="1522476" y="885444"/>
                  </a:lnTo>
                  <a:lnTo>
                    <a:pt x="1551432" y="885444"/>
                  </a:lnTo>
                  <a:lnTo>
                    <a:pt x="1551432" y="856488"/>
                  </a:lnTo>
                  <a:close/>
                </a:path>
                <a:path w="1551940" h="2504440">
                  <a:moveTo>
                    <a:pt x="1551432" y="800100"/>
                  </a:moveTo>
                  <a:lnTo>
                    <a:pt x="1522476" y="800100"/>
                  </a:lnTo>
                  <a:lnTo>
                    <a:pt x="1522476" y="827532"/>
                  </a:lnTo>
                  <a:lnTo>
                    <a:pt x="1551432" y="827532"/>
                  </a:lnTo>
                  <a:lnTo>
                    <a:pt x="1551432" y="800100"/>
                  </a:lnTo>
                  <a:close/>
                </a:path>
                <a:path w="1551940" h="2504440">
                  <a:moveTo>
                    <a:pt x="1551432" y="742188"/>
                  </a:moveTo>
                  <a:lnTo>
                    <a:pt x="1522476" y="742188"/>
                  </a:lnTo>
                  <a:lnTo>
                    <a:pt x="1522476" y="771144"/>
                  </a:lnTo>
                  <a:lnTo>
                    <a:pt x="1551432" y="771144"/>
                  </a:lnTo>
                  <a:lnTo>
                    <a:pt x="1551432" y="742188"/>
                  </a:lnTo>
                  <a:close/>
                </a:path>
                <a:path w="1551940" h="2504440">
                  <a:moveTo>
                    <a:pt x="1551432" y="685800"/>
                  </a:moveTo>
                  <a:lnTo>
                    <a:pt x="1522476" y="685800"/>
                  </a:lnTo>
                  <a:lnTo>
                    <a:pt x="1522476" y="713232"/>
                  </a:lnTo>
                  <a:lnTo>
                    <a:pt x="1551432" y="713232"/>
                  </a:lnTo>
                  <a:lnTo>
                    <a:pt x="1551432" y="685800"/>
                  </a:lnTo>
                  <a:close/>
                </a:path>
                <a:path w="1551940" h="2504440">
                  <a:moveTo>
                    <a:pt x="1551432" y="627888"/>
                  </a:moveTo>
                  <a:lnTo>
                    <a:pt x="1522476" y="627888"/>
                  </a:lnTo>
                  <a:lnTo>
                    <a:pt x="1522476" y="656844"/>
                  </a:lnTo>
                  <a:lnTo>
                    <a:pt x="1551432" y="656844"/>
                  </a:lnTo>
                  <a:lnTo>
                    <a:pt x="1551432" y="627888"/>
                  </a:lnTo>
                  <a:close/>
                </a:path>
                <a:path w="1551940" h="2504440">
                  <a:moveTo>
                    <a:pt x="1551432" y="571500"/>
                  </a:moveTo>
                  <a:lnTo>
                    <a:pt x="1522476" y="571500"/>
                  </a:lnTo>
                  <a:lnTo>
                    <a:pt x="1522476" y="600456"/>
                  </a:lnTo>
                  <a:lnTo>
                    <a:pt x="1551432" y="600456"/>
                  </a:lnTo>
                  <a:lnTo>
                    <a:pt x="1551432" y="571500"/>
                  </a:lnTo>
                  <a:close/>
                </a:path>
                <a:path w="1551940" h="2504440">
                  <a:moveTo>
                    <a:pt x="1551432" y="513588"/>
                  </a:moveTo>
                  <a:lnTo>
                    <a:pt x="1522476" y="513588"/>
                  </a:lnTo>
                  <a:lnTo>
                    <a:pt x="1522476" y="542544"/>
                  </a:lnTo>
                  <a:lnTo>
                    <a:pt x="1551432" y="542544"/>
                  </a:lnTo>
                  <a:lnTo>
                    <a:pt x="1551432" y="513588"/>
                  </a:lnTo>
                  <a:close/>
                </a:path>
                <a:path w="1551940" h="2504440">
                  <a:moveTo>
                    <a:pt x="1551432" y="457200"/>
                  </a:moveTo>
                  <a:lnTo>
                    <a:pt x="1522476" y="457200"/>
                  </a:lnTo>
                  <a:lnTo>
                    <a:pt x="1522476" y="486156"/>
                  </a:lnTo>
                  <a:lnTo>
                    <a:pt x="1551432" y="486156"/>
                  </a:lnTo>
                  <a:lnTo>
                    <a:pt x="1551432" y="457200"/>
                  </a:lnTo>
                  <a:close/>
                </a:path>
                <a:path w="1551940" h="2504440">
                  <a:moveTo>
                    <a:pt x="1551432" y="399288"/>
                  </a:moveTo>
                  <a:lnTo>
                    <a:pt x="1522476" y="399288"/>
                  </a:lnTo>
                  <a:lnTo>
                    <a:pt x="1522476" y="428244"/>
                  </a:lnTo>
                  <a:lnTo>
                    <a:pt x="1551432" y="428244"/>
                  </a:lnTo>
                  <a:lnTo>
                    <a:pt x="1551432" y="399288"/>
                  </a:lnTo>
                  <a:close/>
                </a:path>
                <a:path w="1551940" h="2504440">
                  <a:moveTo>
                    <a:pt x="1551432" y="342900"/>
                  </a:moveTo>
                  <a:lnTo>
                    <a:pt x="1522476" y="342900"/>
                  </a:lnTo>
                  <a:lnTo>
                    <a:pt x="1522476" y="371856"/>
                  </a:lnTo>
                  <a:lnTo>
                    <a:pt x="1551432" y="371856"/>
                  </a:lnTo>
                  <a:lnTo>
                    <a:pt x="1551432" y="342900"/>
                  </a:lnTo>
                  <a:close/>
                </a:path>
                <a:path w="1551940" h="2504440">
                  <a:moveTo>
                    <a:pt x="1551432" y="284988"/>
                  </a:moveTo>
                  <a:lnTo>
                    <a:pt x="1522476" y="284988"/>
                  </a:lnTo>
                  <a:lnTo>
                    <a:pt x="1522476" y="313944"/>
                  </a:lnTo>
                  <a:lnTo>
                    <a:pt x="1551432" y="313944"/>
                  </a:lnTo>
                  <a:lnTo>
                    <a:pt x="1551432" y="284988"/>
                  </a:lnTo>
                  <a:close/>
                </a:path>
                <a:path w="1551940" h="2504440">
                  <a:moveTo>
                    <a:pt x="1551432" y="228600"/>
                  </a:moveTo>
                  <a:lnTo>
                    <a:pt x="1522476" y="228600"/>
                  </a:lnTo>
                  <a:lnTo>
                    <a:pt x="1522476" y="257556"/>
                  </a:lnTo>
                  <a:lnTo>
                    <a:pt x="1551432" y="257556"/>
                  </a:lnTo>
                  <a:lnTo>
                    <a:pt x="1551432" y="228600"/>
                  </a:lnTo>
                  <a:close/>
                </a:path>
                <a:path w="1551940" h="2504440">
                  <a:moveTo>
                    <a:pt x="1551432" y="170688"/>
                  </a:moveTo>
                  <a:lnTo>
                    <a:pt x="1522476" y="170688"/>
                  </a:lnTo>
                  <a:lnTo>
                    <a:pt x="1522476" y="199644"/>
                  </a:lnTo>
                  <a:lnTo>
                    <a:pt x="1551432" y="199644"/>
                  </a:lnTo>
                  <a:lnTo>
                    <a:pt x="1551432" y="170688"/>
                  </a:lnTo>
                  <a:close/>
                </a:path>
                <a:path w="1551940" h="2504440">
                  <a:moveTo>
                    <a:pt x="1551432" y="114300"/>
                  </a:moveTo>
                  <a:lnTo>
                    <a:pt x="1522476" y="114300"/>
                  </a:lnTo>
                  <a:lnTo>
                    <a:pt x="1522476" y="143256"/>
                  </a:lnTo>
                  <a:lnTo>
                    <a:pt x="1551432" y="143256"/>
                  </a:lnTo>
                  <a:lnTo>
                    <a:pt x="1551432" y="114300"/>
                  </a:lnTo>
                  <a:close/>
                </a:path>
                <a:path w="1551940" h="2504440">
                  <a:moveTo>
                    <a:pt x="1551432" y="56388"/>
                  </a:moveTo>
                  <a:lnTo>
                    <a:pt x="1522476" y="56388"/>
                  </a:lnTo>
                  <a:lnTo>
                    <a:pt x="1522476" y="85344"/>
                  </a:lnTo>
                  <a:lnTo>
                    <a:pt x="1551432" y="85344"/>
                  </a:lnTo>
                  <a:lnTo>
                    <a:pt x="1551432" y="56388"/>
                  </a:lnTo>
                  <a:close/>
                </a:path>
                <a:path w="1551940" h="2504440">
                  <a:moveTo>
                    <a:pt x="1551432" y="0"/>
                  </a:moveTo>
                  <a:lnTo>
                    <a:pt x="1522476" y="0"/>
                  </a:lnTo>
                  <a:lnTo>
                    <a:pt x="1522476" y="28956"/>
                  </a:lnTo>
                  <a:lnTo>
                    <a:pt x="1551432" y="28956"/>
                  </a:lnTo>
                  <a:lnTo>
                    <a:pt x="1551432" y="0"/>
                  </a:lnTo>
                  <a:close/>
                </a:path>
              </a:pathLst>
            </a:custGeom>
            <a:solidFill>
              <a:srgbClr val="7E7E7E"/>
            </a:solidFill>
          </p:spPr>
          <p:txBody>
            <a:bodyPr wrap="square" lIns="0" tIns="0" rIns="0" bIns="0" rtlCol="0"/>
            <a:lstStyle/>
            <a:p>
              <a:endParaRPr/>
            </a:p>
          </p:txBody>
        </p:sp>
        <p:sp>
          <p:nvSpPr>
            <p:cNvPr id="25" name="object 25"/>
            <p:cNvSpPr/>
            <p:nvPr/>
          </p:nvSpPr>
          <p:spPr>
            <a:xfrm>
              <a:off x="6295631" y="4866131"/>
              <a:ext cx="3284854" cy="27940"/>
            </a:xfrm>
            <a:custGeom>
              <a:avLst/>
              <a:gdLst/>
              <a:ahLst/>
              <a:cxnLst/>
              <a:rect l="l" t="t" r="r" b="b"/>
              <a:pathLst>
                <a:path w="3284854" h="27939">
                  <a:moveTo>
                    <a:pt x="27444" y="0"/>
                  </a:moveTo>
                  <a:lnTo>
                    <a:pt x="0" y="0"/>
                  </a:lnTo>
                  <a:lnTo>
                    <a:pt x="0" y="27432"/>
                  </a:lnTo>
                  <a:lnTo>
                    <a:pt x="27444" y="27432"/>
                  </a:lnTo>
                  <a:lnTo>
                    <a:pt x="27444" y="0"/>
                  </a:lnTo>
                  <a:close/>
                </a:path>
                <a:path w="3284854" h="27939">
                  <a:moveTo>
                    <a:pt x="85356" y="0"/>
                  </a:moveTo>
                  <a:lnTo>
                    <a:pt x="56400" y="0"/>
                  </a:lnTo>
                  <a:lnTo>
                    <a:pt x="56400" y="27432"/>
                  </a:lnTo>
                  <a:lnTo>
                    <a:pt x="85356" y="27432"/>
                  </a:lnTo>
                  <a:lnTo>
                    <a:pt x="85356" y="0"/>
                  </a:lnTo>
                  <a:close/>
                </a:path>
                <a:path w="3284854" h="27939">
                  <a:moveTo>
                    <a:pt x="141744" y="0"/>
                  </a:moveTo>
                  <a:lnTo>
                    <a:pt x="114300" y="0"/>
                  </a:lnTo>
                  <a:lnTo>
                    <a:pt x="114300" y="27432"/>
                  </a:lnTo>
                  <a:lnTo>
                    <a:pt x="141744" y="27432"/>
                  </a:lnTo>
                  <a:lnTo>
                    <a:pt x="141744" y="0"/>
                  </a:lnTo>
                  <a:close/>
                </a:path>
                <a:path w="3284854" h="27939">
                  <a:moveTo>
                    <a:pt x="199656" y="0"/>
                  </a:moveTo>
                  <a:lnTo>
                    <a:pt x="170700" y="0"/>
                  </a:lnTo>
                  <a:lnTo>
                    <a:pt x="170700" y="27432"/>
                  </a:lnTo>
                  <a:lnTo>
                    <a:pt x="199656" y="27432"/>
                  </a:lnTo>
                  <a:lnTo>
                    <a:pt x="199656" y="0"/>
                  </a:lnTo>
                  <a:close/>
                </a:path>
                <a:path w="3284854" h="27939">
                  <a:moveTo>
                    <a:pt x="256044" y="0"/>
                  </a:moveTo>
                  <a:lnTo>
                    <a:pt x="228612" y="0"/>
                  </a:lnTo>
                  <a:lnTo>
                    <a:pt x="228612" y="27432"/>
                  </a:lnTo>
                  <a:lnTo>
                    <a:pt x="256044" y="27432"/>
                  </a:lnTo>
                  <a:lnTo>
                    <a:pt x="256044" y="0"/>
                  </a:lnTo>
                  <a:close/>
                </a:path>
                <a:path w="3284854" h="27939">
                  <a:moveTo>
                    <a:pt x="313956" y="0"/>
                  </a:moveTo>
                  <a:lnTo>
                    <a:pt x="285000" y="0"/>
                  </a:lnTo>
                  <a:lnTo>
                    <a:pt x="285000" y="27432"/>
                  </a:lnTo>
                  <a:lnTo>
                    <a:pt x="313956" y="27432"/>
                  </a:lnTo>
                  <a:lnTo>
                    <a:pt x="313956" y="0"/>
                  </a:lnTo>
                  <a:close/>
                </a:path>
                <a:path w="3284854" h="27939">
                  <a:moveTo>
                    <a:pt x="370344" y="0"/>
                  </a:moveTo>
                  <a:lnTo>
                    <a:pt x="342912" y="0"/>
                  </a:lnTo>
                  <a:lnTo>
                    <a:pt x="342912" y="27432"/>
                  </a:lnTo>
                  <a:lnTo>
                    <a:pt x="370344" y="27432"/>
                  </a:lnTo>
                  <a:lnTo>
                    <a:pt x="370344" y="0"/>
                  </a:lnTo>
                  <a:close/>
                </a:path>
                <a:path w="3284854" h="27939">
                  <a:moveTo>
                    <a:pt x="428256" y="0"/>
                  </a:moveTo>
                  <a:lnTo>
                    <a:pt x="399300" y="0"/>
                  </a:lnTo>
                  <a:lnTo>
                    <a:pt x="399300" y="27432"/>
                  </a:lnTo>
                  <a:lnTo>
                    <a:pt x="428256" y="27432"/>
                  </a:lnTo>
                  <a:lnTo>
                    <a:pt x="428256" y="0"/>
                  </a:lnTo>
                  <a:close/>
                </a:path>
                <a:path w="3284854" h="27939">
                  <a:moveTo>
                    <a:pt x="484644" y="0"/>
                  </a:moveTo>
                  <a:lnTo>
                    <a:pt x="455688" y="0"/>
                  </a:lnTo>
                  <a:lnTo>
                    <a:pt x="455688" y="27432"/>
                  </a:lnTo>
                  <a:lnTo>
                    <a:pt x="484644" y="27432"/>
                  </a:lnTo>
                  <a:lnTo>
                    <a:pt x="484644" y="0"/>
                  </a:lnTo>
                  <a:close/>
                </a:path>
                <a:path w="3284854" h="27939">
                  <a:moveTo>
                    <a:pt x="542556" y="0"/>
                  </a:moveTo>
                  <a:lnTo>
                    <a:pt x="513600" y="0"/>
                  </a:lnTo>
                  <a:lnTo>
                    <a:pt x="513600" y="27432"/>
                  </a:lnTo>
                  <a:lnTo>
                    <a:pt x="542556" y="27432"/>
                  </a:lnTo>
                  <a:lnTo>
                    <a:pt x="542556" y="0"/>
                  </a:lnTo>
                  <a:close/>
                </a:path>
                <a:path w="3284854" h="27939">
                  <a:moveTo>
                    <a:pt x="598944" y="0"/>
                  </a:moveTo>
                  <a:lnTo>
                    <a:pt x="569988" y="0"/>
                  </a:lnTo>
                  <a:lnTo>
                    <a:pt x="569988" y="27432"/>
                  </a:lnTo>
                  <a:lnTo>
                    <a:pt x="598944" y="27432"/>
                  </a:lnTo>
                  <a:lnTo>
                    <a:pt x="598944" y="0"/>
                  </a:lnTo>
                  <a:close/>
                </a:path>
                <a:path w="3284854" h="27939">
                  <a:moveTo>
                    <a:pt x="656856" y="0"/>
                  </a:moveTo>
                  <a:lnTo>
                    <a:pt x="627900" y="0"/>
                  </a:lnTo>
                  <a:lnTo>
                    <a:pt x="627900" y="27432"/>
                  </a:lnTo>
                  <a:lnTo>
                    <a:pt x="656856" y="27432"/>
                  </a:lnTo>
                  <a:lnTo>
                    <a:pt x="656856" y="0"/>
                  </a:lnTo>
                  <a:close/>
                </a:path>
                <a:path w="3284854" h="27939">
                  <a:moveTo>
                    <a:pt x="713244" y="0"/>
                  </a:moveTo>
                  <a:lnTo>
                    <a:pt x="684288" y="0"/>
                  </a:lnTo>
                  <a:lnTo>
                    <a:pt x="684288" y="27432"/>
                  </a:lnTo>
                  <a:lnTo>
                    <a:pt x="713244" y="27432"/>
                  </a:lnTo>
                  <a:lnTo>
                    <a:pt x="713244" y="0"/>
                  </a:lnTo>
                  <a:close/>
                </a:path>
                <a:path w="3284854" h="27939">
                  <a:moveTo>
                    <a:pt x="771156" y="0"/>
                  </a:moveTo>
                  <a:lnTo>
                    <a:pt x="742200" y="0"/>
                  </a:lnTo>
                  <a:lnTo>
                    <a:pt x="742200" y="27432"/>
                  </a:lnTo>
                  <a:lnTo>
                    <a:pt x="771156" y="27432"/>
                  </a:lnTo>
                  <a:lnTo>
                    <a:pt x="771156" y="0"/>
                  </a:lnTo>
                  <a:close/>
                </a:path>
                <a:path w="3284854" h="27939">
                  <a:moveTo>
                    <a:pt x="827544" y="0"/>
                  </a:moveTo>
                  <a:lnTo>
                    <a:pt x="798588" y="0"/>
                  </a:lnTo>
                  <a:lnTo>
                    <a:pt x="798588" y="27432"/>
                  </a:lnTo>
                  <a:lnTo>
                    <a:pt x="827544" y="27432"/>
                  </a:lnTo>
                  <a:lnTo>
                    <a:pt x="827544" y="0"/>
                  </a:lnTo>
                  <a:close/>
                </a:path>
                <a:path w="3284854" h="27939">
                  <a:moveTo>
                    <a:pt x="885456" y="0"/>
                  </a:moveTo>
                  <a:lnTo>
                    <a:pt x="856500" y="0"/>
                  </a:lnTo>
                  <a:lnTo>
                    <a:pt x="856500" y="27432"/>
                  </a:lnTo>
                  <a:lnTo>
                    <a:pt x="885456" y="27432"/>
                  </a:lnTo>
                  <a:lnTo>
                    <a:pt x="885456" y="0"/>
                  </a:lnTo>
                  <a:close/>
                </a:path>
                <a:path w="3284854" h="27939">
                  <a:moveTo>
                    <a:pt x="941844" y="0"/>
                  </a:moveTo>
                  <a:lnTo>
                    <a:pt x="912888" y="0"/>
                  </a:lnTo>
                  <a:lnTo>
                    <a:pt x="912888" y="27432"/>
                  </a:lnTo>
                  <a:lnTo>
                    <a:pt x="941844" y="27432"/>
                  </a:lnTo>
                  <a:lnTo>
                    <a:pt x="941844" y="0"/>
                  </a:lnTo>
                  <a:close/>
                </a:path>
                <a:path w="3284854" h="27939">
                  <a:moveTo>
                    <a:pt x="999756" y="0"/>
                  </a:moveTo>
                  <a:lnTo>
                    <a:pt x="970800" y="0"/>
                  </a:lnTo>
                  <a:lnTo>
                    <a:pt x="970800" y="27432"/>
                  </a:lnTo>
                  <a:lnTo>
                    <a:pt x="999756" y="27432"/>
                  </a:lnTo>
                  <a:lnTo>
                    <a:pt x="999756" y="0"/>
                  </a:lnTo>
                  <a:close/>
                </a:path>
                <a:path w="3284854" h="27939">
                  <a:moveTo>
                    <a:pt x="1056144" y="0"/>
                  </a:moveTo>
                  <a:lnTo>
                    <a:pt x="1027188" y="0"/>
                  </a:lnTo>
                  <a:lnTo>
                    <a:pt x="1027188" y="27432"/>
                  </a:lnTo>
                  <a:lnTo>
                    <a:pt x="1056144" y="27432"/>
                  </a:lnTo>
                  <a:lnTo>
                    <a:pt x="1056144" y="0"/>
                  </a:lnTo>
                  <a:close/>
                </a:path>
                <a:path w="3284854" h="27939">
                  <a:moveTo>
                    <a:pt x="1114056" y="0"/>
                  </a:moveTo>
                  <a:lnTo>
                    <a:pt x="1085100" y="0"/>
                  </a:lnTo>
                  <a:lnTo>
                    <a:pt x="1085100" y="27432"/>
                  </a:lnTo>
                  <a:lnTo>
                    <a:pt x="1114056" y="27432"/>
                  </a:lnTo>
                  <a:lnTo>
                    <a:pt x="1114056" y="0"/>
                  </a:lnTo>
                  <a:close/>
                </a:path>
                <a:path w="3284854" h="27939">
                  <a:moveTo>
                    <a:pt x="1170444" y="0"/>
                  </a:moveTo>
                  <a:lnTo>
                    <a:pt x="1141488" y="0"/>
                  </a:lnTo>
                  <a:lnTo>
                    <a:pt x="1141488" y="27432"/>
                  </a:lnTo>
                  <a:lnTo>
                    <a:pt x="1170444" y="27432"/>
                  </a:lnTo>
                  <a:lnTo>
                    <a:pt x="1170444" y="0"/>
                  </a:lnTo>
                  <a:close/>
                </a:path>
                <a:path w="3284854" h="27939">
                  <a:moveTo>
                    <a:pt x="1228356" y="0"/>
                  </a:moveTo>
                  <a:lnTo>
                    <a:pt x="1199400" y="0"/>
                  </a:lnTo>
                  <a:lnTo>
                    <a:pt x="1199400" y="27432"/>
                  </a:lnTo>
                  <a:lnTo>
                    <a:pt x="1228356" y="27432"/>
                  </a:lnTo>
                  <a:lnTo>
                    <a:pt x="1228356" y="0"/>
                  </a:lnTo>
                  <a:close/>
                </a:path>
                <a:path w="3284854" h="27939">
                  <a:moveTo>
                    <a:pt x="1284744" y="0"/>
                  </a:moveTo>
                  <a:lnTo>
                    <a:pt x="1255788" y="0"/>
                  </a:lnTo>
                  <a:lnTo>
                    <a:pt x="1255788" y="27432"/>
                  </a:lnTo>
                  <a:lnTo>
                    <a:pt x="1284744" y="27432"/>
                  </a:lnTo>
                  <a:lnTo>
                    <a:pt x="1284744" y="0"/>
                  </a:lnTo>
                  <a:close/>
                </a:path>
                <a:path w="3284854" h="27939">
                  <a:moveTo>
                    <a:pt x="1342656" y="0"/>
                  </a:moveTo>
                  <a:lnTo>
                    <a:pt x="1313700" y="0"/>
                  </a:lnTo>
                  <a:lnTo>
                    <a:pt x="1313700" y="27432"/>
                  </a:lnTo>
                  <a:lnTo>
                    <a:pt x="1342656" y="27432"/>
                  </a:lnTo>
                  <a:lnTo>
                    <a:pt x="1342656" y="0"/>
                  </a:lnTo>
                  <a:close/>
                </a:path>
                <a:path w="3284854" h="27939">
                  <a:moveTo>
                    <a:pt x="1399044" y="0"/>
                  </a:moveTo>
                  <a:lnTo>
                    <a:pt x="1370088" y="0"/>
                  </a:lnTo>
                  <a:lnTo>
                    <a:pt x="1370088" y="27432"/>
                  </a:lnTo>
                  <a:lnTo>
                    <a:pt x="1399044" y="27432"/>
                  </a:lnTo>
                  <a:lnTo>
                    <a:pt x="1399044" y="0"/>
                  </a:lnTo>
                  <a:close/>
                </a:path>
                <a:path w="3284854" h="27939">
                  <a:moveTo>
                    <a:pt x="1456956" y="0"/>
                  </a:moveTo>
                  <a:lnTo>
                    <a:pt x="1428000" y="0"/>
                  </a:lnTo>
                  <a:lnTo>
                    <a:pt x="1428000" y="27432"/>
                  </a:lnTo>
                  <a:lnTo>
                    <a:pt x="1456956" y="27432"/>
                  </a:lnTo>
                  <a:lnTo>
                    <a:pt x="1456956" y="0"/>
                  </a:lnTo>
                  <a:close/>
                </a:path>
                <a:path w="3284854" h="27939">
                  <a:moveTo>
                    <a:pt x="1513344" y="0"/>
                  </a:moveTo>
                  <a:lnTo>
                    <a:pt x="1484388" y="0"/>
                  </a:lnTo>
                  <a:lnTo>
                    <a:pt x="1484388" y="27432"/>
                  </a:lnTo>
                  <a:lnTo>
                    <a:pt x="1513344" y="27432"/>
                  </a:lnTo>
                  <a:lnTo>
                    <a:pt x="1513344" y="0"/>
                  </a:lnTo>
                  <a:close/>
                </a:path>
                <a:path w="3284854" h="27939">
                  <a:moveTo>
                    <a:pt x="1571256" y="0"/>
                  </a:moveTo>
                  <a:lnTo>
                    <a:pt x="1542300" y="0"/>
                  </a:lnTo>
                  <a:lnTo>
                    <a:pt x="1542300" y="27432"/>
                  </a:lnTo>
                  <a:lnTo>
                    <a:pt x="1571256" y="27432"/>
                  </a:lnTo>
                  <a:lnTo>
                    <a:pt x="1571256" y="0"/>
                  </a:lnTo>
                  <a:close/>
                </a:path>
                <a:path w="3284854" h="27939">
                  <a:moveTo>
                    <a:pt x="1627644" y="0"/>
                  </a:moveTo>
                  <a:lnTo>
                    <a:pt x="1598688" y="0"/>
                  </a:lnTo>
                  <a:lnTo>
                    <a:pt x="1598688" y="27432"/>
                  </a:lnTo>
                  <a:lnTo>
                    <a:pt x="1627644" y="27432"/>
                  </a:lnTo>
                  <a:lnTo>
                    <a:pt x="1627644" y="0"/>
                  </a:lnTo>
                  <a:close/>
                </a:path>
                <a:path w="3284854" h="27939">
                  <a:moveTo>
                    <a:pt x="1685556" y="0"/>
                  </a:moveTo>
                  <a:lnTo>
                    <a:pt x="1656600" y="0"/>
                  </a:lnTo>
                  <a:lnTo>
                    <a:pt x="1656600" y="27432"/>
                  </a:lnTo>
                  <a:lnTo>
                    <a:pt x="1685556" y="27432"/>
                  </a:lnTo>
                  <a:lnTo>
                    <a:pt x="1685556" y="0"/>
                  </a:lnTo>
                  <a:close/>
                </a:path>
                <a:path w="3284854" h="27939">
                  <a:moveTo>
                    <a:pt x="1741944" y="0"/>
                  </a:moveTo>
                  <a:lnTo>
                    <a:pt x="1712988" y="0"/>
                  </a:lnTo>
                  <a:lnTo>
                    <a:pt x="1712988" y="27432"/>
                  </a:lnTo>
                  <a:lnTo>
                    <a:pt x="1741944" y="27432"/>
                  </a:lnTo>
                  <a:lnTo>
                    <a:pt x="1741944" y="0"/>
                  </a:lnTo>
                  <a:close/>
                </a:path>
                <a:path w="3284854" h="27939">
                  <a:moveTo>
                    <a:pt x="1799856" y="0"/>
                  </a:moveTo>
                  <a:lnTo>
                    <a:pt x="1770900" y="0"/>
                  </a:lnTo>
                  <a:lnTo>
                    <a:pt x="1770900" y="27432"/>
                  </a:lnTo>
                  <a:lnTo>
                    <a:pt x="1799856" y="27432"/>
                  </a:lnTo>
                  <a:lnTo>
                    <a:pt x="1799856" y="0"/>
                  </a:lnTo>
                  <a:close/>
                </a:path>
                <a:path w="3284854" h="27939">
                  <a:moveTo>
                    <a:pt x="1856244" y="0"/>
                  </a:moveTo>
                  <a:lnTo>
                    <a:pt x="1827288" y="0"/>
                  </a:lnTo>
                  <a:lnTo>
                    <a:pt x="1827288" y="27432"/>
                  </a:lnTo>
                  <a:lnTo>
                    <a:pt x="1856244" y="27432"/>
                  </a:lnTo>
                  <a:lnTo>
                    <a:pt x="1856244" y="0"/>
                  </a:lnTo>
                  <a:close/>
                </a:path>
                <a:path w="3284854" h="27939">
                  <a:moveTo>
                    <a:pt x="1912632" y="0"/>
                  </a:moveTo>
                  <a:lnTo>
                    <a:pt x="1885200" y="0"/>
                  </a:lnTo>
                  <a:lnTo>
                    <a:pt x="1885200" y="27432"/>
                  </a:lnTo>
                  <a:lnTo>
                    <a:pt x="1912632" y="27432"/>
                  </a:lnTo>
                  <a:lnTo>
                    <a:pt x="1912632" y="0"/>
                  </a:lnTo>
                  <a:close/>
                </a:path>
                <a:path w="3284854" h="27939">
                  <a:moveTo>
                    <a:pt x="1970544" y="0"/>
                  </a:moveTo>
                  <a:lnTo>
                    <a:pt x="1941588" y="0"/>
                  </a:lnTo>
                  <a:lnTo>
                    <a:pt x="1941588" y="27432"/>
                  </a:lnTo>
                  <a:lnTo>
                    <a:pt x="1970544" y="27432"/>
                  </a:lnTo>
                  <a:lnTo>
                    <a:pt x="1970544" y="0"/>
                  </a:lnTo>
                  <a:close/>
                </a:path>
                <a:path w="3284854" h="27939">
                  <a:moveTo>
                    <a:pt x="2026932" y="0"/>
                  </a:moveTo>
                  <a:lnTo>
                    <a:pt x="1999500" y="0"/>
                  </a:lnTo>
                  <a:lnTo>
                    <a:pt x="1999500" y="27432"/>
                  </a:lnTo>
                  <a:lnTo>
                    <a:pt x="2026932" y="27432"/>
                  </a:lnTo>
                  <a:lnTo>
                    <a:pt x="2026932" y="0"/>
                  </a:lnTo>
                  <a:close/>
                </a:path>
                <a:path w="3284854" h="27939">
                  <a:moveTo>
                    <a:pt x="2084844" y="0"/>
                  </a:moveTo>
                  <a:lnTo>
                    <a:pt x="2055888" y="0"/>
                  </a:lnTo>
                  <a:lnTo>
                    <a:pt x="2055888" y="27432"/>
                  </a:lnTo>
                  <a:lnTo>
                    <a:pt x="2084844" y="27432"/>
                  </a:lnTo>
                  <a:lnTo>
                    <a:pt x="2084844" y="0"/>
                  </a:lnTo>
                  <a:close/>
                </a:path>
                <a:path w="3284854" h="27939">
                  <a:moveTo>
                    <a:pt x="2141232" y="0"/>
                  </a:moveTo>
                  <a:lnTo>
                    <a:pt x="2113800" y="0"/>
                  </a:lnTo>
                  <a:lnTo>
                    <a:pt x="2113800" y="27432"/>
                  </a:lnTo>
                  <a:lnTo>
                    <a:pt x="2141232" y="27432"/>
                  </a:lnTo>
                  <a:lnTo>
                    <a:pt x="2141232" y="0"/>
                  </a:lnTo>
                  <a:close/>
                </a:path>
                <a:path w="3284854" h="27939">
                  <a:moveTo>
                    <a:pt x="2199144" y="0"/>
                  </a:moveTo>
                  <a:lnTo>
                    <a:pt x="2170188" y="0"/>
                  </a:lnTo>
                  <a:lnTo>
                    <a:pt x="2170188" y="27432"/>
                  </a:lnTo>
                  <a:lnTo>
                    <a:pt x="2199144" y="27432"/>
                  </a:lnTo>
                  <a:lnTo>
                    <a:pt x="2199144" y="0"/>
                  </a:lnTo>
                  <a:close/>
                </a:path>
                <a:path w="3284854" h="27939">
                  <a:moveTo>
                    <a:pt x="2255532" y="0"/>
                  </a:moveTo>
                  <a:lnTo>
                    <a:pt x="2228100" y="0"/>
                  </a:lnTo>
                  <a:lnTo>
                    <a:pt x="2228100" y="27432"/>
                  </a:lnTo>
                  <a:lnTo>
                    <a:pt x="2255532" y="27432"/>
                  </a:lnTo>
                  <a:lnTo>
                    <a:pt x="2255532" y="0"/>
                  </a:lnTo>
                  <a:close/>
                </a:path>
                <a:path w="3284854" h="27939">
                  <a:moveTo>
                    <a:pt x="2313444" y="0"/>
                  </a:moveTo>
                  <a:lnTo>
                    <a:pt x="2284488" y="0"/>
                  </a:lnTo>
                  <a:lnTo>
                    <a:pt x="2284488" y="27432"/>
                  </a:lnTo>
                  <a:lnTo>
                    <a:pt x="2313444" y="27432"/>
                  </a:lnTo>
                  <a:lnTo>
                    <a:pt x="2313444" y="0"/>
                  </a:lnTo>
                  <a:close/>
                </a:path>
                <a:path w="3284854" h="27939">
                  <a:moveTo>
                    <a:pt x="2369832" y="0"/>
                  </a:moveTo>
                  <a:lnTo>
                    <a:pt x="2342400" y="0"/>
                  </a:lnTo>
                  <a:lnTo>
                    <a:pt x="2342400" y="27432"/>
                  </a:lnTo>
                  <a:lnTo>
                    <a:pt x="2369832" y="27432"/>
                  </a:lnTo>
                  <a:lnTo>
                    <a:pt x="2369832" y="0"/>
                  </a:lnTo>
                  <a:close/>
                </a:path>
                <a:path w="3284854" h="27939">
                  <a:moveTo>
                    <a:pt x="2427744" y="0"/>
                  </a:moveTo>
                  <a:lnTo>
                    <a:pt x="2398788" y="0"/>
                  </a:lnTo>
                  <a:lnTo>
                    <a:pt x="2398788" y="27432"/>
                  </a:lnTo>
                  <a:lnTo>
                    <a:pt x="2427744" y="27432"/>
                  </a:lnTo>
                  <a:lnTo>
                    <a:pt x="2427744" y="0"/>
                  </a:lnTo>
                  <a:close/>
                </a:path>
                <a:path w="3284854" h="27939">
                  <a:moveTo>
                    <a:pt x="2484132" y="0"/>
                  </a:moveTo>
                  <a:lnTo>
                    <a:pt x="2456700" y="0"/>
                  </a:lnTo>
                  <a:lnTo>
                    <a:pt x="2456700" y="27432"/>
                  </a:lnTo>
                  <a:lnTo>
                    <a:pt x="2484132" y="27432"/>
                  </a:lnTo>
                  <a:lnTo>
                    <a:pt x="2484132" y="0"/>
                  </a:lnTo>
                  <a:close/>
                </a:path>
                <a:path w="3284854" h="27939">
                  <a:moveTo>
                    <a:pt x="2542044" y="0"/>
                  </a:moveTo>
                  <a:lnTo>
                    <a:pt x="2513088" y="0"/>
                  </a:lnTo>
                  <a:lnTo>
                    <a:pt x="2513088" y="27432"/>
                  </a:lnTo>
                  <a:lnTo>
                    <a:pt x="2542044" y="27432"/>
                  </a:lnTo>
                  <a:lnTo>
                    <a:pt x="2542044" y="0"/>
                  </a:lnTo>
                  <a:close/>
                </a:path>
                <a:path w="3284854" h="27939">
                  <a:moveTo>
                    <a:pt x="2598432" y="0"/>
                  </a:moveTo>
                  <a:lnTo>
                    <a:pt x="2571000" y="0"/>
                  </a:lnTo>
                  <a:lnTo>
                    <a:pt x="2571000" y="27432"/>
                  </a:lnTo>
                  <a:lnTo>
                    <a:pt x="2598432" y="27432"/>
                  </a:lnTo>
                  <a:lnTo>
                    <a:pt x="2598432" y="0"/>
                  </a:lnTo>
                  <a:close/>
                </a:path>
                <a:path w="3284854" h="27939">
                  <a:moveTo>
                    <a:pt x="2656344" y="0"/>
                  </a:moveTo>
                  <a:lnTo>
                    <a:pt x="2627388" y="0"/>
                  </a:lnTo>
                  <a:lnTo>
                    <a:pt x="2627388" y="27432"/>
                  </a:lnTo>
                  <a:lnTo>
                    <a:pt x="2656344" y="27432"/>
                  </a:lnTo>
                  <a:lnTo>
                    <a:pt x="2656344" y="0"/>
                  </a:lnTo>
                  <a:close/>
                </a:path>
                <a:path w="3284854" h="27939">
                  <a:moveTo>
                    <a:pt x="2712732" y="0"/>
                  </a:moveTo>
                  <a:lnTo>
                    <a:pt x="2685300" y="0"/>
                  </a:lnTo>
                  <a:lnTo>
                    <a:pt x="2685300" y="27432"/>
                  </a:lnTo>
                  <a:lnTo>
                    <a:pt x="2712732" y="27432"/>
                  </a:lnTo>
                  <a:lnTo>
                    <a:pt x="2712732" y="0"/>
                  </a:lnTo>
                  <a:close/>
                </a:path>
                <a:path w="3284854" h="27939">
                  <a:moveTo>
                    <a:pt x="2770644" y="0"/>
                  </a:moveTo>
                  <a:lnTo>
                    <a:pt x="2741688" y="0"/>
                  </a:lnTo>
                  <a:lnTo>
                    <a:pt x="2741688" y="27432"/>
                  </a:lnTo>
                  <a:lnTo>
                    <a:pt x="2770644" y="27432"/>
                  </a:lnTo>
                  <a:lnTo>
                    <a:pt x="2770644" y="0"/>
                  </a:lnTo>
                  <a:close/>
                </a:path>
                <a:path w="3284854" h="27939">
                  <a:moveTo>
                    <a:pt x="2827032" y="0"/>
                  </a:moveTo>
                  <a:lnTo>
                    <a:pt x="2799600" y="0"/>
                  </a:lnTo>
                  <a:lnTo>
                    <a:pt x="2799600" y="27432"/>
                  </a:lnTo>
                  <a:lnTo>
                    <a:pt x="2827032" y="27432"/>
                  </a:lnTo>
                  <a:lnTo>
                    <a:pt x="2827032" y="0"/>
                  </a:lnTo>
                  <a:close/>
                </a:path>
                <a:path w="3284854" h="27939">
                  <a:moveTo>
                    <a:pt x="2884944" y="0"/>
                  </a:moveTo>
                  <a:lnTo>
                    <a:pt x="2855988" y="0"/>
                  </a:lnTo>
                  <a:lnTo>
                    <a:pt x="2855988" y="27432"/>
                  </a:lnTo>
                  <a:lnTo>
                    <a:pt x="2884944" y="27432"/>
                  </a:lnTo>
                  <a:lnTo>
                    <a:pt x="2884944" y="0"/>
                  </a:lnTo>
                  <a:close/>
                </a:path>
                <a:path w="3284854" h="27939">
                  <a:moveTo>
                    <a:pt x="2941332" y="0"/>
                  </a:moveTo>
                  <a:lnTo>
                    <a:pt x="2913900" y="0"/>
                  </a:lnTo>
                  <a:lnTo>
                    <a:pt x="2913900" y="27432"/>
                  </a:lnTo>
                  <a:lnTo>
                    <a:pt x="2941332" y="27432"/>
                  </a:lnTo>
                  <a:lnTo>
                    <a:pt x="2941332" y="0"/>
                  </a:lnTo>
                  <a:close/>
                </a:path>
                <a:path w="3284854" h="27939">
                  <a:moveTo>
                    <a:pt x="2999244" y="0"/>
                  </a:moveTo>
                  <a:lnTo>
                    <a:pt x="2970288" y="0"/>
                  </a:lnTo>
                  <a:lnTo>
                    <a:pt x="2970288" y="27432"/>
                  </a:lnTo>
                  <a:lnTo>
                    <a:pt x="2999244" y="27432"/>
                  </a:lnTo>
                  <a:lnTo>
                    <a:pt x="2999244" y="0"/>
                  </a:lnTo>
                  <a:close/>
                </a:path>
                <a:path w="3284854" h="27939">
                  <a:moveTo>
                    <a:pt x="3055632" y="0"/>
                  </a:moveTo>
                  <a:lnTo>
                    <a:pt x="3028200" y="0"/>
                  </a:lnTo>
                  <a:lnTo>
                    <a:pt x="3028200" y="27432"/>
                  </a:lnTo>
                  <a:lnTo>
                    <a:pt x="3055632" y="27432"/>
                  </a:lnTo>
                  <a:lnTo>
                    <a:pt x="3055632" y="0"/>
                  </a:lnTo>
                  <a:close/>
                </a:path>
                <a:path w="3284854" h="27939">
                  <a:moveTo>
                    <a:pt x="3113544" y="0"/>
                  </a:moveTo>
                  <a:lnTo>
                    <a:pt x="3084588" y="0"/>
                  </a:lnTo>
                  <a:lnTo>
                    <a:pt x="3084588" y="27432"/>
                  </a:lnTo>
                  <a:lnTo>
                    <a:pt x="3113544" y="27432"/>
                  </a:lnTo>
                  <a:lnTo>
                    <a:pt x="3113544" y="0"/>
                  </a:lnTo>
                  <a:close/>
                </a:path>
                <a:path w="3284854" h="27939">
                  <a:moveTo>
                    <a:pt x="3169932" y="0"/>
                  </a:moveTo>
                  <a:lnTo>
                    <a:pt x="3142500" y="0"/>
                  </a:lnTo>
                  <a:lnTo>
                    <a:pt x="3142500" y="27432"/>
                  </a:lnTo>
                  <a:lnTo>
                    <a:pt x="3169932" y="27432"/>
                  </a:lnTo>
                  <a:lnTo>
                    <a:pt x="3169932" y="0"/>
                  </a:lnTo>
                  <a:close/>
                </a:path>
                <a:path w="3284854" h="27939">
                  <a:moveTo>
                    <a:pt x="3227844" y="0"/>
                  </a:moveTo>
                  <a:lnTo>
                    <a:pt x="3198888" y="0"/>
                  </a:lnTo>
                  <a:lnTo>
                    <a:pt x="3198888" y="27432"/>
                  </a:lnTo>
                  <a:lnTo>
                    <a:pt x="3227844" y="27432"/>
                  </a:lnTo>
                  <a:lnTo>
                    <a:pt x="3227844" y="0"/>
                  </a:lnTo>
                  <a:close/>
                </a:path>
                <a:path w="3284854" h="27939">
                  <a:moveTo>
                    <a:pt x="3284232" y="0"/>
                  </a:moveTo>
                  <a:lnTo>
                    <a:pt x="3256800" y="0"/>
                  </a:lnTo>
                  <a:lnTo>
                    <a:pt x="3256800" y="27432"/>
                  </a:lnTo>
                  <a:lnTo>
                    <a:pt x="3284232" y="27432"/>
                  </a:lnTo>
                  <a:lnTo>
                    <a:pt x="3284232" y="0"/>
                  </a:lnTo>
                  <a:close/>
                </a:path>
              </a:pathLst>
            </a:custGeom>
            <a:solidFill>
              <a:srgbClr val="7E7E7E"/>
            </a:solidFill>
          </p:spPr>
          <p:txBody>
            <a:bodyPr wrap="square" lIns="0" tIns="0" rIns="0" bIns="0" rtlCol="0"/>
            <a:lstStyle/>
            <a:p>
              <a:endParaRPr/>
            </a:p>
          </p:txBody>
        </p:sp>
      </p:grpSp>
      <p:sp>
        <p:nvSpPr>
          <p:cNvPr id="26" name="object 26"/>
          <p:cNvSpPr txBox="1"/>
          <p:nvPr/>
        </p:nvSpPr>
        <p:spPr>
          <a:xfrm>
            <a:off x="90931" y="2828035"/>
            <a:ext cx="747395" cy="756920"/>
          </a:xfrm>
          <a:prstGeom prst="rect">
            <a:avLst/>
          </a:prstGeom>
        </p:spPr>
        <p:txBody>
          <a:bodyPr vert="horz" wrap="square" lIns="0" tIns="12700" rIns="0" bIns="0" rtlCol="0">
            <a:spAutoFit/>
          </a:bodyPr>
          <a:lstStyle/>
          <a:p>
            <a:pPr marL="212090" marR="5080" indent="-200025">
              <a:lnSpc>
                <a:spcPct val="100000"/>
              </a:lnSpc>
              <a:spcBef>
                <a:spcPts val="100"/>
              </a:spcBef>
            </a:pPr>
            <a:r>
              <a:rPr sz="2400" dirty="0">
                <a:latin typeface="Verdana"/>
                <a:cs typeface="Verdana"/>
              </a:rPr>
              <a:t>Data  </a:t>
            </a:r>
            <a:r>
              <a:rPr sz="2400" spc="-5" dirty="0">
                <a:latin typeface="Verdana"/>
                <a:cs typeface="Verdana"/>
              </a:rPr>
              <a:t>In</a:t>
            </a:r>
            <a:endParaRPr sz="2400">
              <a:latin typeface="Verdana"/>
              <a:cs typeface="Verdana"/>
            </a:endParaRPr>
          </a:p>
        </p:txBody>
      </p:sp>
      <p:sp>
        <p:nvSpPr>
          <p:cNvPr id="27" name="object 27"/>
          <p:cNvSpPr txBox="1"/>
          <p:nvPr/>
        </p:nvSpPr>
        <p:spPr>
          <a:xfrm>
            <a:off x="10900664" y="2828035"/>
            <a:ext cx="1206500" cy="391160"/>
          </a:xfrm>
          <a:prstGeom prst="rect">
            <a:avLst/>
          </a:prstGeom>
        </p:spPr>
        <p:txBody>
          <a:bodyPr vert="horz" wrap="square" lIns="0" tIns="12700" rIns="0" bIns="0" rtlCol="0">
            <a:spAutoFit/>
          </a:bodyPr>
          <a:lstStyle/>
          <a:p>
            <a:pPr marL="12700">
              <a:lnSpc>
                <a:spcPct val="100000"/>
              </a:lnSpc>
              <a:spcBef>
                <a:spcPts val="100"/>
              </a:spcBef>
              <a:tabLst>
                <a:tab pos="382270" algn="l"/>
              </a:tabLst>
            </a:pPr>
            <a:r>
              <a:rPr sz="2400" u="heavy" dirty="0">
                <a:uFill>
                  <a:solidFill>
                    <a:srgbClr val="000000"/>
                  </a:solidFill>
                </a:uFill>
                <a:latin typeface="Verdana"/>
                <a:cs typeface="Verdana"/>
              </a:rPr>
              <a:t> 	</a:t>
            </a:r>
            <a:r>
              <a:rPr sz="2400" spc="-150" dirty="0">
                <a:latin typeface="Verdana"/>
                <a:cs typeface="Verdana"/>
              </a:rPr>
              <a:t> </a:t>
            </a:r>
            <a:r>
              <a:rPr sz="2400" dirty="0">
                <a:latin typeface="Verdana"/>
                <a:cs typeface="Verdana"/>
              </a:rPr>
              <a:t>Data</a:t>
            </a:r>
            <a:endParaRPr sz="2400">
              <a:latin typeface="Verdana"/>
              <a:cs typeface="Verdana"/>
            </a:endParaRPr>
          </a:p>
        </p:txBody>
      </p:sp>
      <p:sp>
        <p:nvSpPr>
          <p:cNvPr id="28" name="object 28"/>
          <p:cNvSpPr txBox="1"/>
          <p:nvPr/>
        </p:nvSpPr>
        <p:spPr>
          <a:xfrm>
            <a:off x="11443207" y="3193796"/>
            <a:ext cx="57848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Verdana"/>
                <a:cs typeface="Verdana"/>
              </a:rPr>
              <a:t>Out</a:t>
            </a:r>
            <a:endParaRPr sz="2400">
              <a:latin typeface="Verdana"/>
              <a:cs typeface="Verdana"/>
            </a:endParaRPr>
          </a:p>
        </p:txBody>
      </p:sp>
      <p:sp>
        <p:nvSpPr>
          <p:cNvPr id="29" name="object 29"/>
          <p:cNvSpPr/>
          <p:nvPr/>
        </p:nvSpPr>
        <p:spPr>
          <a:xfrm>
            <a:off x="4596384" y="4754879"/>
            <a:ext cx="1423670" cy="1039494"/>
          </a:xfrm>
          <a:custGeom>
            <a:avLst/>
            <a:gdLst/>
            <a:ahLst/>
            <a:cxnLst/>
            <a:rect l="l" t="t" r="r" b="b"/>
            <a:pathLst>
              <a:path w="1423670" h="1039495">
                <a:moveTo>
                  <a:pt x="1423416" y="1033272"/>
                </a:moveTo>
                <a:lnTo>
                  <a:pt x="1423416" y="7620"/>
                </a:lnTo>
                <a:lnTo>
                  <a:pt x="1417320" y="0"/>
                </a:lnTo>
                <a:lnTo>
                  <a:pt x="6095" y="0"/>
                </a:lnTo>
                <a:lnTo>
                  <a:pt x="0" y="7620"/>
                </a:lnTo>
                <a:lnTo>
                  <a:pt x="0" y="1033272"/>
                </a:lnTo>
                <a:lnTo>
                  <a:pt x="6096" y="1039368"/>
                </a:lnTo>
                <a:lnTo>
                  <a:pt x="13716" y="1039368"/>
                </a:lnTo>
                <a:lnTo>
                  <a:pt x="13716" y="28956"/>
                </a:lnTo>
                <a:lnTo>
                  <a:pt x="28955" y="15240"/>
                </a:lnTo>
                <a:lnTo>
                  <a:pt x="28955" y="28956"/>
                </a:lnTo>
                <a:lnTo>
                  <a:pt x="1394460" y="28956"/>
                </a:lnTo>
                <a:lnTo>
                  <a:pt x="1394460" y="15240"/>
                </a:lnTo>
                <a:lnTo>
                  <a:pt x="1408176" y="28956"/>
                </a:lnTo>
                <a:lnTo>
                  <a:pt x="1408176" y="1039368"/>
                </a:lnTo>
                <a:lnTo>
                  <a:pt x="1417320" y="1039368"/>
                </a:lnTo>
                <a:lnTo>
                  <a:pt x="1423416" y="1033272"/>
                </a:lnTo>
                <a:close/>
              </a:path>
              <a:path w="1423670" h="1039495">
                <a:moveTo>
                  <a:pt x="28955" y="28956"/>
                </a:moveTo>
                <a:lnTo>
                  <a:pt x="28955" y="15240"/>
                </a:lnTo>
                <a:lnTo>
                  <a:pt x="13716" y="28956"/>
                </a:lnTo>
                <a:lnTo>
                  <a:pt x="28955" y="28956"/>
                </a:lnTo>
                <a:close/>
              </a:path>
              <a:path w="1423670" h="1039495">
                <a:moveTo>
                  <a:pt x="28955" y="1010412"/>
                </a:moveTo>
                <a:lnTo>
                  <a:pt x="28955" y="28956"/>
                </a:lnTo>
                <a:lnTo>
                  <a:pt x="13716" y="28956"/>
                </a:lnTo>
                <a:lnTo>
                  <a:pt x="13716" y="1010412"/>
                </a:lnTo>
                <a:lnTo>
                  <a:pt x="28955" y="1010412"/>
                </a:lnTo>
                <a:close/>
              </a:path>
              <a:path w="1423670" h="1039495">
                <a:moveTo>
                  <a:pt x="1408176" y="1010412"/>
                </a:moveTo>
                <a:lnTo>
                  <a:pt x="13716" y="1010412"/>
                </a:lnTo>
                <a:lnTo>
                  <a:pt x="28955" y="1024128"/>
                </a:lnTo>
                <a:lnTo>
                  <a:pt x="28955" y="1039368"/>
                </a:lnTo>
                <a:lnTo>
                  <a:pt x="1394460" y="1039368"/>
                </a:lnTo>
                <a:lnTo>
                  <a:pt x="1394460" y="1024128"/>
                </a:lnTo>
                <a:lnTo>
                  <a:pt x="1408176" y="1010412"/>
                </a:lnTo>
                <a:close/>
              </a:path>
              <a:path w="1423670" h="1039495">
                <a:moveTo>
                  <a:pt x="28955" y="1039368"/>
                </a:moveTo>
                <a:lnTo>
                  <a:pt x="28955" y="1024128"/>
                </a:lnTo>
                <a:lnTo>
                  <a:pt x="13716" y="1010412"/>
                </a:lnTo>
                <a:lnTo>
                  <a:pt x="13716" y="1039368"/>
                </a:lnTo>
                <a:lnTo>
                  <a:pt x="28955" y="1039368"/>
                </a:lnTo>
                <a:close/>
              </a:path>
              <a:path w="1423670" h="1039495">
                <a:moveTo>
                  <a:pt x="1408176" y="28956"/>
                </a:moveTo>
                <a:lnTo>
                  <a:pt x="1394460" y="15240"/>
                </a:lnTo>
                <a:lnTo>
                  <a:pt x="1394460" y="28956"/>
                </a:lnTo>
                <a:lnTo>
                  <a:pt x="1408176" y="28956"/>
                </a:lnTo>
                <a:close/>
              </a:path>
              <a:path w="1423670" h="1039495">
                <a:moveTo>
                  <a:pt x="1408176" y="1010412"/>
                </a:moveTo>
                <a:lnTo>
                  <a:pt x="1408176" y="28956"/>
                </a:lnTo>
                <a:lnTo>
                  <a:pt x="1394460" y="28956"/>
                </a:lnTo>
                <a:lnTo>
                  <a:pt x="1394460" y="1010412"/>
                </a:lnTo>
                <a:lnTo>
                  <a:pt x="1408176" y="1010412"/>
                </a:lnTo>
                <a:close/>
              </a:path>
              <a:path w="1423670" h="1039495">
                <a:moveTo>
                  <a:pt x="1408176" y="1039368"/>
                </a:moveTo>
                <a:lnTo>
                  <a:pt x="1408176" y="1010412"/>
                </a:lnTo>
                <a:lnTo>
                  <a:pt x="1394460" y="1024128"/>
                </a:lnTo>
                <a:lnTo>
                  <a:pt x="1394460" y="1039368"/>
                </a:lnTo>
                <a:lnTo>
                  <a:pt x="1408176" y="1039368"/>
                </a:lnTo>
                <a:close/>
              </a:path>
            </a:pathLst>
          </a:custGeom>
          <a:solidFill>
            <a:srgbClr val="000000"/>
          </a:solidFill>
        </p:spPr>
        <p:txBody>
          <a:bodyPr wrap="square" lIns="0" tIns="0" rIns="0" bIns="0" rtlCol="0"/>
          <a:lstStyle/>
          <a:p>
            <a:endParaRPr/>
          </a:p>
        </p:txBody>
      </p:sp>
      <p:sp>
        <p:nvSpPr>
          <p:cNvPr id="30" name="object 30"/>
          <p:cNvSpPr txBox="1"/>
          <p:nvPr/>
        </p:nvSpPr>
        <p:spPr>
          <a:xfrm>
            <a:off x="4713223" y="4816855"/>
            <a:ext cx="1185545" cy="879475"/>
          </a:xfrm>
          <a:prstGeom prst="rect">
            <a:avLst/>
          </a:prstGeom>
        </p:spPr>
        <p:txBody>
          <a:bodyPr vert="horz" wrap="square" lIns="0" tIns="47625" rIns="0" bIns="0" rtlCol="0">
            <a:spAutoFit/>
          </a:bodyPr>
          <a:lstStyle/>
          <a:p>
            <a:pPr marL="100965" marR="5080" indent="-88900">
              <a:lnSpc>
                <a:spcPts val="2160"/>
              </a:lnSpc>
              <a:spcBef>
                <a:spcPts val="375"/>
              </a:spcBef>
            </a:pPr>
            <a:r>
              <a:rPr sz="2000" spc="-5" dirty="0">
                <a:latin typeface="Verdana"/>
                <a:cs typeface="Verdana"/>
              </a:rPr>
              <a:t>Freq</a:t>
            </a:r>
            <a:r>
              <a:rPr sz="2000" spc="-85" dirty="0">
                <a:latin typeface="Verdana"/>
                <a:cs typeface="Verdana"/>
              </a:rPr>
              <a:t> </a:t>
            </a:r>
            <a:r>
              <a:rPr sz="2000" spc="-10" dirty="0">
                <a:latin typeface="Verdana"/>
                <a:cs typeface="Verdana"/>
              </a:rPr>
              <a:t>Gen </a:t>
            </a:r>
            <a:r>
              <a:rPr sz="2000" spc="-690" dirty="0">
                <a:latin typeface="Verdana"/>
                <a:cs typeface="Verdana"/>
              </a:rPr>
              <a:t> </a:t>
            </a:r>
            <a:r>
              <a:rPr sz="2000" dirty="0">
                <a:latin typeface="Verdana"/>
                <a:cs typeface="Verdana"/>
              </a:rPr>
              <a:t>(PLL w/ </a:t>
            </a:r>
            <a:r>
              <a:rPr sz="2000" spc="5" dirty="0">
                <a:latin typeface="Verdana"/>
                <a:cs typeface="Verdana"/>
              </a:rPr>
              <a:t> </a:t>
            </a:r>
            <a:r>
              <a:rPr sz="2000" spc="-5" dirty="0">
                <a:latin typeface="Verdana"/>
                <a:cs typeface="Verdana"/>
              </a:rPr>
              <a:t>LCVCO)</a:t>
            </a:r>
            <a:endParaRPr sz="2000">
              <a:latin typeface="Verdana"/>
              <a:cs typeface="Verdana"/>
            </a:endParaRPr>
          </a:p>
        </p:txBody>
      </p:sp>
      <p:sp>
        <p:nvSpPr>
          <p:cNvPr id="31" name="object 31"/>
          <p:cNvSpPr/>
          <p:nvPr/>
        </p:nvSpPr>
        <p:spPr>
          <a:xfrm>
            <a:off x="1536192" y="4229100"/>
            <a:ext cx="6914515" cy="774700"/>
          </a:xfrm>
          <a:custGeom>
            <a:avLst/>
            <a:gdLst/>
            <a:ahLst/>
            <a:cxnLst/>
            <a:rect l="l" t="t" r="r" b="b"/>
            <a:pathLst>
              <a:path w="6914515" h="774700">
                <a:moveTo>
                  <a:pt x="6914388" y="146304"/>
                </a:moveTo>
                <a:lnTo>
                  <a:pt x="6829044" y="103632"/>
                </a:lnTo>
                <a:lnTo>
                  <a:pt x="6829044" y="132588"/>
                </a:lnTo>
                <a:lnTo>
                  <a:pt x="2209800" y="132588"/>
                </a:lnTo>
                <a:lnTo>
                  <a:pt x="2209800" y="103632"/>
                </a:lnTo>
                <a:lnTo>
                  <a:pt x="2138172" y="139446"/>
                </a:lnTo>
                <a:lnTo>
                  <a:pt x="2138172" y="6096"/>
                </a:lnTo>
                <a:lnTo>
                  <a:pt x="2132076" y="0"/>
                </a:lnTo>
                <a:lnTo>
                  <a:pt x="2109216" y="0"/>
                </a:lnTo>
                <a:lnTo>
                  <a:pt x="2109216" y="27432"/>
                </a:lnTo>
                <a:lnTo>
                  <a:pt x="2109216" y="745236"/>
                </a:lnTo>
                <a:lnTo>
                  <a:pt x="28956" y="745236"/>
                </a:lnTo>
                <a:lnTo>
                  <a:pt x="28956" y="27432"/>
                </a:lnTo>
                <a:lnTo>
                  <a:pt x="2109216" y="27432"/>
                </a:lnTo>
                <a:lnTo>
                  <a:pt x="2109216" y="0"/>
                </a:lnTo>
                <a:lnTo>
                  <a:pt x="6096" y="0"/>
                </a:lnTo>
                <a:lnTo>
                  <a:pt x="0" y="6096"/>
                </a:lnTo>
                <a:lnTo>
                  <a:pt x="0" y="768096"/>
                </a:lnTo>
                <a:lnTo>
                  <a:pt x="6096" y="774192"/>
                </a:lnTo>
                <a:lnTo>
                  <a:pt x="15240" y="774192"/>
                </a:lnTo>
                <a:lnTo>
                  <a:pt x="28956" y="774192"/>
                </a:lnTo>
                <a:lnTo>
                  <a:pt x="2109216" y="774192"/>
                </a:lnTo>
                <a:lnTo>
                  <a:pt x="2124456" y="774192"/>
                </a:lnTo>
                <a:lnTo>
                  <a:pt x="2132076" y="774192"/>
                </a:lnTo>
                <a:lnTo>
                  <a:pt x="2138172" y="768096"/>
                </a:lnTo>
                <a:lnTo>
                  <a:pt x="2138172" y="153162"/>
                </a:lnTo>
                <a:lnTo>
                  <a:pt x="2196084" y="182118"/>
                </a:lnTo>
                <a:lnTo>
                  <a:pt x="2209800" y="188976"/>
                </a:lnTo>
                <a:lnTo>
                  <a:pt x="2209800" y="161544"/>
                </a:lnTo>
                <a:lnTo>
                  <a:pt x="3756660" y="161544"/>
                </a:lnTo>
                <a:lnTo>
                  <a:pt x="3756660" y="541020"/>
                </a:lnTo>
                <a:lnTo>
                  <a:pt x="3785603" y="541020"/>
                </a:lnTo>
                <a:lnTo>
                  <a:pt x="3785603" y="161544"/>
                </a:lnTo>
                <a:lnTo>
                  <a:pt x="6829044" y="161544"/>
                </a:lnTo>
                <a:lnTo>
                  <a:pt x="6829044" y="188976"/>
                </a:lnTo>
                <a:lnTo>
                  <a:pt x="6842760" y="182118"/>
                </a:lnTo>
                <a:lnTo>
                  <a:pt x="6914388" y="146304"/>
                </a:lnTo>
                <a:close/>
              </a:path>
            </a:pathLst>
          </a:custGeom>
          <a:solidFill>
            <a:srgbClr val="000000"/>
          </a:solidFill>
        </p:spPr>
        <p:txBody>
          <a:bodyPr wrap="square" lIns="0" tIns="0" rIns="0" bIns="0" rtlCol="0"/>
          <a:lstStyle/>
          <a:p>
            <a:endParaRPr/>
          </a:p>
        </p:txBody>
      </p:sp>
      <p:sp>
        <p:nvSpPr>
          <p:cNvPr id="32" name="object 32"/>
          <p:cNvSpPr txBox="1"/>
          <p:nvPr/>
        </p:nvSpPr>
        <p:spPr>
          <a:xfrm>
            <a:off x="1762763" y="4233764"/>
            <a:ext cx="1685925" cy="696595"/>
          </a:xfrm>
          <a:prstGeom prst="rect">
            <a:avLst/>
          </a:prstGeom>
        </p:spPr>
        <p:txBody>
          <a:bodyPr vert="horz" wrap="square" lIns="0" tIns="12700" rIns="0" bIns="0" rtlCol="0">
            <a:spAutoFit/>
          </a:bodyPr>
          <a:lstStyle/>
          <a:p>
            <a:pPr marL="12700" marR="5080" indent="188595">
              <a:lnSpc>
                <a:spcPct val="110000"/>
              </a:lnSpc>
              <a:spcBef>
                <a:spcPts val="100"/>
              </a:spcBef>
            </a:pPr>
            <a:r>
              <a:rPr sz="2000" spc="-5" dirty="0">
                <a:latin typeface="Verdana"/>
                <a:cs typeface="Verdana"/>
              </a:rPr>
              <a:t>Clock Gen </a:t>
            </a:r>
            <a:r>
              <a:rPr sz="2000" dirty="0">
                <a:latin typeface="Verdana"/>
                <a:cs typeface="Verdana"/>
              </a:rPr>
              <a:t> </a:t>
            </a:r>
            <a:r>
              <a:rPr sz="2000" spc="-5" dirty="0">
                <a:latin typeface="Verdana"/>
                <a:cs typeface="Verdana"/>
              </a:rPr>
              <a:t>(BUFs,</a:t>
            </a:r>
            <a:r>
              <a:rPr sz="2000" spc="-80" dirty="0">
                <a:latin typeface="Verdana"/>
                <a:cs typeface="Verdana"/>
              </a:rPr>
              <a:t> </a:t>
            </a:r>
            <a:r>
              <a:rPr sz="2000" spc="-5" dirty="0">
                <a:latin typeface="Verdana"/>
                <a:cs typeface="Verdana"/>
              </a:rPr>
              <a:t>DIVs)</a:t>
            </a:r>
            <a:endParaRPr sz="2000">
              <a:latin typeface="Verdana"/>
              <a:cs typeface="Verdana"/>
            </a:endParaRPr>
          </a:p>
        </p:txBody>
      </p:sp>
      <p:grpSp>
        <p:nvGrpSpPr>
          <p:cNvPr id="33" name="object 33"/>
          <p:cNvGrpSpPr/>
          <p:nvPr/>
        </p:nvGrpSpPr>
        <p:grpSpPr>
          <a:xfrm>
            <a:off x="1661160" y="2820923"/>
            <a:ext cx="8930640" cy="1569720"/>
            <a:chOff x="1661160" y="2820923"/>
            <a:chExt cx="8930640" cy="1569720"/>
          </a:xfrm>
        </p:grpSpPr>
        <p:sp>
          <p:nvSpPr>
            <p:cNvPr id="34" name="object 34"/>
            <p:cNvSpPr/>
            <p:nvPr/>
          </p:nvSpPr>
          <p:spPr>
            <a:xfrm>
              <a:off x="1661160" y="3200399"/>
              <a:ext cx="8930640" cy="1190625"/>
            </a:xfrm>
            <a:custGeom>
              <a:avLst/>
              <a:gdLst/>
              <a:ahLst/>
              <a:cxnLst/>
              <a:rect l="l" t="t" r="r" b="b"/>
              <a:pathLst>
                <a:path w="8930640" h="1190625">
                  <a:moveTo>
                    <a:pt x="86868" y="786384"/>
                  </a:moveTo>
                  <a:lnTo>
                    <a:pt x="44196" y="699516"/>
                  </a:lnTo>
                  <a:lnTo>
                    <a:pt x="0" y="786384"/>
                  </a:lnTo>
                  <a:lnTo>
                    <a:pt x="28956" y="786384"/>
                  </a:lnTo>
                  <a:lnTo>
                    <a:pt x="28956" y="1042416"/>
                  </a:lnTo>
                  <a:lnTo>
                    <a:pt x="57912" y="1042416"/>
                  </a:lnTo>
                  <a:lnTo>
                    <a:pt x="57912" y="786384"/>
                  </a:lnTo>
                  <a:lnTo>
                    <a:pt x="86868" y="786384"/>
                  </a:lnTo>
                  <a:close/>
                </a:path>
                <a:path w="8930640" h="1190625">
                  <a:moveTo>
                    <a:pt x="1776984" y="342900"/>
                  </a:moveTo>
                  <a:lnTo>
                    <a:pt x="1734312" y="256032"/>
                  </a:lnTo>
                  <a:lnTo>
                    <a:pt x="1691640" y="342900"/>
                  </a:lnTo>
                  <a:lnTo>
                    <a:pt x="1720596" y="342900"/>
                  </a:lnTo>
                  <a:lnTo>
                    <a:pt x="1720596" y="1042416"/>
                  </a:lnTo>
                  <a:lnTo>
                    <a:pt x="1748028" y="1042416"/>
                  </a:lnTo>
                  <a:lnTo>
                    <a:pt x="1748028" y="342900"/>
                  </a:lnTo>
                  <a:lnTo>
                    <a:pt x="1776984" y="342900"/>
                  </a:lnTo>
                  <a:close/>
                </a:path>
                <a:path w="8930640" h="1190625">
                  <a:moveTo>
                    <a:pt x="8401812" y="0"/>
                  </a:moveTo>
                  <a:lnTo>
                    <a:pt x="8374380" y="0"/>
                  </a:lnTo>
                  <a:lnTo>
                    <a:pt x="8374380" y="961644"/>
                  </a:lnTo>
                  <a:lnTo>
                    <a:pt x="8401812" y="961644"/>
                  </a:lnTo>
                  <a:lnTo>
                    <a:pt x="8401812" y="0"/>
                  </a:lnTo>
                  <a:close/>
                </a:path>
                <a:path w="8930640" h="1190625">
                  <a:moveTo>
                    <a:pt x="8930640" y="786384"/>
                  </a:moveTo>
                  <a:lnTo>
                    <a:pt x="8887968" y="699516"/>
                  </a:lnTo>
                  <a:lnTo>
                    <a:pt x="8843772" y="786384"/>
                  </a:lnTo>
                  <a:lnTo>
                    <a:pt x="8872728" y="786384"/>
                  </a:lnTo>
                  <a:lnTo>
                    <a:pt x="8872728" y="1161288"/>
                  </a:lnTo>
                  <a:lnTo>
                    <a:pt x="8157972" y="1161288"/>
                  </a:lnTo>
                  <a:lnTo>
                    <a:pt x="8157972" y="1190244"/>
                  </a:lnTo>
                  <a:lnTo>
                    <a:pt x="8887968" y="1190244"/>
                  </a:lnTo>
                  <a:lnTo>
                    <a:pt x="8887968" y="1184148"/>
                  </a:lnTo>
                  <a:lnTo>
                    <a:pt x="8901684" y="1184148"/>
                  </a:lnTo>
                  <a:lnTo>
                    <a:pt x="8901684" y="786384"/>
                  </a:lnTo>
                  <a:lnTo>
                    <a:pt x="8930640" y="786384"/>
                  </a:lnTo>
                  <a:close/>
                </a:path>
              </a:pathLst>
            </a:custGeom>
            <a:solidFill>
              <a:srgbClr val="000000"/>
            </a:solidFill>
          </p:spPr>
          <p:txBody>
            <a:bodyPr wrap="square" lIns="0" tIns="0" rIns="0" bIns="0" rtlCol="0"/>
            <a:lstStyle/>
            <a:p>
              <a:endParaRPr/>
            </a:p>
          </p:txBody>
        </p:sp>
        <p:sp>
          <p:nvSpPr>
            <p:cNvPr id="35" name="object 35"/>
            <p:cNvSpPr/>
            <p:nvPr/>
          </p:nvSpPr>
          <p:spPr>
            <a:xfrm>
              <a:off x="2225040" y="2834639"/>
              <a:ext cx="675640" cy="731520"/>
            </a:xfrm>
            <a:custGeom>
              <a:avLst/>
              <a:gdLst/>
              <a:ahLst/>
              <a:cxnLst/>
              <a:rect l="l" t="t" r="r" b="b"/>
              <a:pathLst>
                <a:path w="675639" h="731520">
                  <a:moveTo>
                    <a:pt x="675132" y="731520"/>
                  </a:moveTo>
                  <a:lnTo>
                    <a:pt x="675132" y="0"/>
                  </a:lnTo>
                  <a:lnTo>
                    <a:pt x="0" y="0"/>
                  </a:lnTo>
                  <a:lnTo>
                    <a:pt x="0" y="731520"/>
                  </a:lnTo>
                  <a:lnTo>
                    <a:pt x="675132" y="731520"/>
                  </a:lnTo>
                  <a:close/>
                </a:path>
              </a:pathLst>
            </a:custGeom>
            <a:solidFill>
              <a:srgbClr val="FFFFFF"/>
            </a:solidFill>
          </p:spPr>
          <p:txBody>
            <a:bodyPr wrap="square" lIns="0" tIns="0" rIns="0" bIns="0" rtlCol="0"/>
            <a:lstStyle/>
            <a:p>
              <a:endParaRPr/>
            </a:p>
          </p:txBody>
        </p:sp>
        <p:sp>
          <p:nvSpPr>
            <p:cNvPr id="36" name="object 36"/>
            <p:cNvSpPr/>
            <p:nvPr/>
          </p:nvSpPr>
          <p:spPr>
            <a:xfrm>
              <a:off x="2211324" y="2820923"/>
              <a:ext cx="704215" cy="760730"/>
            </a:xfrm>
            <a:custGeom>
              <a:avLst/>
              <a:gdLst/>
              <a:ahLst/>
              <a:cxnLst/>
              <a:rect l="l" t="t" r="r" b="b"/>
              <a:pathLst>
                <a:path w="704214" h="760729">
                  <a:moveTo>
                    <a:pt x="704088" y="752855"/>
                  </a:moveTo>
                  <a:lnTo>
                    <a:pt x="704088" y="6095"/>
                  </a:lnTo>
                  <a:lnTo>
                    <a:pt x="696468" y="0"/>
                  </a:lnTo>
                  <a:lnTo>
                    <a:pt x="6095" y="0"/>
                  </a:lnTo>
                  <a:lnTo>
                    <a:pt x="0" y="6095"/>
                  </a:lnTo>
                  <a:lnTo>
                    <a:pt x="0" y="752855"/>
                  </a:lnTo>
                  <a:lnTo>
                    <a:pt x="6096" y="760475"/>
                  </a:lnTo>
                  <a:lnTo>
                    <a:pt x="13716" y="760475"/>
                  </a:lnTo>
                  <a:lnTo>
                    <a:pt x="13716" y="28955"/>
                  </a:lnTo>
                  <a:lnTo>
                    <a:pt x="28956" y="13715"/>
                  </a:lnTo>
                  <a:lnTo>
                    <a:pt x="28956" y="28955"/>
                  </a:lnTo>
                  <a:lnTo>
                    <a:pt x="675132" y="28955"/>
                  </a:lnTo>
                  <a:lnTo>
                    <a:pt x="675132" y="13715"/>
                  </a:lnTo>
                  <a:lnTo>
                    <a:pt x="688848" y="28955"/>
                  </a:lnTo>
                  <a:lnTo>
                    <a:pt x="688848" y="760475"/>
                  </a:lnTo>
                  <a:lnTo>
                    <a:pt x="696468" y="760475"/>
                  </a:lnTo>
                  <a:lnTo>
                    <a:pt x="704088" y="752855"/>
                  </a:lnTo>
                  <a:close/>
                </a:path>
                <a:path w="704214" h="760729">
                  <a:moveTo>
                    <a:pt x="28956" y="28955"/>
                  </a:moveTo>
                  <a:lnTo>
                    <a:pt x="28956" y="13715"/>
                  </a:lnTo>
                  <a:lnTo>
                    <a:pt x="13716" y="28955"/>
                  </a:lnTo>
                  <a:lnTo>
                    <a:pt x="28956" y="28955"/>
                  </a:lnTo>
                  <a:close/>
                </a:path>
                <a:path w="704214" h="760729">
                  <a:moveTo>
                    <a:pt x="28956" y="731519"/>
                  </a:moveTo>
                  <a:lnTo>
                    <a:pt x="28956" y="28955"/>
                  </a:lnTo>
                  <a:lnTo>
                    <a:pt x="13716" y="28955"/>
                  </a:lnTo>
                  <a:lnTo>
                    <a:pt x="13716" y="731519"/>
                  </a:lnTo>
                  <a:lnTo>
                    <a:pt x="28956" y="731519"/>
                  </a:lnTo>
                  <a:close/>
                </a:path>
                <a:path w="704214" h="760729">
                  <a:moveTo>
                    <a:pt x="688848" y="731519"/>
                  </a:moveTo>
                  <a:lnTo>
                    <a:pt x="13716" y="731519"/>
                  </a:lnTo>
                  <a:lnTo>
                    <a:pt x="28956" y="745235"/>
                  </a:lnTo>
                  <a:lnTo>
                    <a:pt x="28956" y="760475"/>
                  </a:lnTo>
                  <a:lnTo>
                    <a:pt x="675132" y="760475"/>
                  </a:lnTo>
                  <a:lnTo>
                    <a:pt x="675132" y="745235"/>
                  </a:lnTo>
                  <a:lnTo>
                    <a:pt x="688848" y="731519"/>
                  </a:lnTo>
                  <a:close/>
                </a:path>
                <a:path w="704214" h="760729">
                  <a:moveTo>
                    <a:pt x="28956" y="760475"/>
                  </a:moveTo>
                  <a:lnTo>
                    <a:pt x="28956" y="745235"/>
                  </a:lnTo>
                  <a:lnTo>
                    <a:pt x="13716" y="731519"/>
                  </a:lnTo>
                  <a:lnTo>
                    <a:pt x="13716" y="760475"/>
                  </a:lnTo>
                  <a:lnTo>
                    <a:pt x="28956" y="760475"/>
                  </a:lnTo>
                  <a:close/>
                </a:path>
                <a:path w="704214" h="760729">
                  <a:moveTo>
                    <a:pt x="688848" y="28955"/>
                  </a:moveTo>
                  <a:lnTo>
                    <a:pt x="675132" y="13715"/>
                  </a:lnTo>
                  <a:lnTo>
                    <a:pt x="675132" y="28955"/>
                  </a:lnTo>
                  <a:lnTo>
                    <a:pt x="688848" y="28955"/>
                  </a:lnTo>
                  <a:close/>
                </a:path>
                <a:path w="704214" h="760729">
                  <a:moveTo>
                    <a:pt x="688848" y="731519"/>
                  </a:moveTo>
                  <a:lnTo>
                    <a:pt x="688848" y="28955"/>
                  </a:lnTo>
                  <a:lnTo>
                    <a:pt x="675132" y="28955"/>
                  </a:lnTo>
                  <a:lnTo>
                    <a:pt x="675132" y="731519"/>
                  </a:lnTo>
                  <a:lnTo>
                    <a:pt x="688848" y="731519"/>
                  </a:lnTo>
                  <a:close/>
                </a:path>
                <a:path w="704214" h="760729">
                  <a:moveTo>
                    <a:pt x="688848" y="760475"/>
                  </a:moveTo>
                  <a:lnTo>
                    <a:pt x="688848" y="731519"/>
                  </a:lnTo>
                  <a:lnTo>
                    <a:pt x="675132" y="745235"/>
                  </a:lnTo>
                  <a:lnTo>
                    <a:pt x="675132" y="760475"/>
                  </a:lnTo>
                  <a:lnTo>
                    <a:pt x="688848" y="760475"/>
                  </a:lnTo>
                  <a:close/>
                </a:path>
              </a:pathLst>
            </a:custGeom>
            <a:solidFill>
              <a:srgbClr val="000000"/>
            </a:solidFill>
          </p:spPr>
          <p:txBody>
            <a:bodyPr wrap="square" lIns="0" tIns="0" rIns="0" bIns="0" rtlCol="0"/>
            <a:lstStyle/>
            <a:p>
              <a:endParaRPr/>
            </a:p>
          </p:txBody>
        </p:sp>
      </p:grpSp>
      <p:sp>
        <p:nvSpPr>
          <p:cNvPr id="37" name="object 37"/>
          <p:cNvSpPr txBox="1"/>
          <p:nvPr/>
        </p:nvSpPr>
        <p:spPr>
          <a:xfrm>
            <a:off x="2225039" y="2834639"/>
            <a:ext cx="675640" cy="356870"/>
          </a:xfrm>
          <a:prstGeom prst="rect">
            <a:avLst/>
          </a:prstGeom>
          <a:solidFill>
            <a:srgbClr val="FFFFFF"/>
          </a:solidFill>
        </p:spPr>
        <p:txBody>
          <a:bodyPr vert="horz" wrap="square" lIns="0" tIns="195580" rIns="0" bIns="0" rtlCol="0">
            <a:spAutoFit/>
          </a:bodyPr>
          <a:lstStyle/>
          <a:p>
            <a:pPr marL="109220">
              <a:lnSpc>
                <a:spcPts val="1270"/>
              </a:lnSpc>
              <a:spcBef>
                <a:spcPts val="1540"/>
              </a:spcBef>
            </a:pPr>
            <a:r>
              <a:rPr sz="2000" dirty="0">
                <a:latin typeface="Verdana"/>
                <a:cs typeface="Verdana"/>
              </a:rPr>
              <a:t>FFE</a:t>
            </a:r>
            <a:endParaRPr sz="2000">
              <a:latin typeface="Verdana"/>
              <a:cs typeface="Verdana"/>
            </a:endParaRPr>
          </a:p>
        </p:txBody>
      </p:sp>
      <p:grpSp>
        <p:nvGrpSpPr>
          <p:cNvPr id="38" name="object 38"/>
          <p:cNvGrpSpPr/>
          <p:nvPr/>
        </p:nvGrpSpPr>
        <p:grpSpPr>
          <a:xfrm>
            <a:off x="2520695" y="2785872"/>
            <a:ext cx="5256530" cy="1457325"/>
            <a:chOff x="2520695" y="2785872"/>
            <a:chExt cx="5256530" cy="1457325"/>
          </a:xfrm>
        </p:grpSpPr>
        <p:sp>
          <p:nvSpPr>
            <p:cNvPr id="39" name="object 39"/>
            <p:cNvSpPr/>
            <p:nvPr/>
          </p:nvSpPr>
          <p:spPr>
            <a:xfrm>
              <a:off x="2520695" y="3566159"/>
              <a:ext cx="85725" cy="676910"/>
            </a:xfrm>
            <a:custGeom>
              <a:avLst/>
              <a:gdLst/>
              <a:ahLst/>
              <a:cxnLst/>
              <a:rect l="l" t="t" r="r" b="b"/>
              <a:pathLst>
                <a:path w="85725" h="676910">
                  <a:moveTo>
                    <a:pt x="85343" y="85343"/>
                  </a:moveTo>
                  <a:lnTo>
                    <a:pt x="42672" y="0"/>
                  </a:lnTo>
                  <a:lnTo>
                    <a:pt x="0" y="85343"/>
                  </a:lnTo>
                  <a:lnTo>
                    <a:pt x="27431" y="85343"/>
                  </a:lnTo>
                  <a:lnTo>
                    <a:pt x="27431" y="71627"/>
                  </a:lnTo>
                  <a:lnTo>
                    <a:pt x="56387" y="71627"/>
                  </a:lnTo>
                  <a:lnTo>
                    <a:pt x="56387" y="85343"/>
                  </a:lnTo>
                  <a:lnTo>
                    <a:pt x="85343" y="85343"/>
                  </a:lnTo>
                  <a:close/>
                </a:path>
                <a:path w="85725" h="676910">
                  <a:moveTo>
                    <a:pt x="56387" y="85343"/>
                  </a:moveTo>
                  <a:lnTo>
                    <a:pt x="56387" y="71627"/>
                  </a:lnTo>
                  <a:lnTo>
                    <a:pt x="27431" y="71627"/>
                  </a:lnTo>
                  <a:lnTo>
                    <a:pt x="27431" y="85343"/>
                  </a:lnTo>
                  <a:lnTo>
                    <a:pt x="56387" y="85343"/>
                  </a:lnTo>
                  <a:close/>
                </a:path>
                <a:path w="85725" h="676910">
                  <a:moveTo>
                    <a:pt x="56387" y="676655"/>
                  </a:moveTo>
                  <a:lnTo>
                    <a:pt x="56387" y="85343"/>
                  </a:lnTo>
                  <a:lnTo>
                    <a:pt x="27431" y="85343"/>
                  </a:lnTo>
                  <a:lnTo>
                    <a:pt x="27431" y="676655"/>
                  </a:lnTo>
                  <a:lnTo>
                    <a:pt x="56387" y="676655"/>
                  </a:lnTo>
                  <a:close/>
                </a:path>
              </a:pathLst>
            </a:custGeom>
            <a:solidFill>
              <a:srgbClr val="000000"/>
            </a:solidFill>
          </p:spPr>
          <p:txBody>
            <a:bodyPr wrap="square" lIns="0" tIns="0" rIns="0" bIns="0" rtlCol="0"/>
            <a:lstStyle/>
            <a:p>
              <a:endParaRPr/>
            </a:p>
          </p:txBody>
        </p:sp>
        <p:sp>
          <p:nvSpPr>
            <p:cNvPr id="40" name="object 40"/>
            <p:cNvSpPr/>
            <p:nvPr/>
          </p:nvSpPr>
          <p:spPr>
            <a:xfrm>
              <a:off x="6940295" y="2799588"/>
              <a:ext cx="822960" cy="822960"/>
            </a:xfrm>
            <a:custGeom>
              <a:avLst/>
              <a:gdLst/>
              <a:ahLst/>
              <a:cxnLst/>
              <a:rect l="l" t="t" r="r" b="b"/>
              <a:pathLst>
                <a:path w="822959" h="822960">
                  <a:moveTo>
                    <a:pt x="822960" y="411479"/>
                  </a:moveTo>
                  <a:lnTo>
                    <a:pt x="0" y="0"/>
                  </a:lnTo>
                  <a:lnTo>
                    <a:pt x="0" y="822960"/>
                  </a:lnTo>
                  <a:lnTo>
                    <a:pt x="822960" y="411479"/>
                  </a:lnTo>
                  <a:close/>
                </a:path>
              </a:pathLst>
            </a:custGeom>
            <a:solidFill>
              <a:srgbClr val="FFFFFF"/>
            </a:solidFill>
          </p:spPr>
          <p:txBody>
            <a:bodyPr wrap="square" lIns="0" tIns="0" rIns="0" bIns="0" rtlCol="0"/>
            <a:lstStyle/>
            <a:p>
              <a:endParaRPr/>
            </a:p>
          </p:txBody>
        </p:sp>
        <p:sp>
          <p:nvSpPr>
            <p:cNvPr id="41" name="object 41"/>
            <p:cNvSpPr/>
            <p:nvPr/>
          </p:nvSpPr>
          <p:spPr>
            <a:xfrm>
              <a:off x="6925055" y="2785872"/>
              <a:ext cx="852169" cy="852169"/>
            </a:xfrm>
            <a:custGeom>
              <a:avLst/>
              <a:gdLst/>
              <a:ahLst/>
              <a:cxnLst/>
              <a:rect l="l" t="t" r="r" b="b"/>
              <a:pathLst>
                <a:path w="852170" h="852170">
                  <a:moveTo>
                    <a:pt x="851916" y="431291"/>
                  </a:moveTo>
                  <a:lnTo>
                    <a:pt x="851916" y="420623"/>
                  </a:lnTo>
                  <a:lnTo>
                    <a:pt x="848868" y="416051"/>
                  </a:lnTo>
                  <a:lnTo>
                    <a:pt x="844296" y="413003"/>
                  </a:lnTo>
                  <a:lnTo>
                    <a:pt x="21336" y="1523"/>
                  </a:lnTo>
                  <a:lnTo>
                    <a:pt x="16764" y="0"/>
                  </a:lnTo>
                  <a:lnTo>
                    <a:pt x="10667" y="0"/>
                  </a:lnTo>
                  <a:lnTo>
                    <a:pt x="7619" y="1523"/>
                  </a:lnTo>
                  <a:lnTo>
                    <a:pt x="3047" y="4571"/>
                  </a:lnTo>
                  <a:lnTo>
                    <a:pt x="0" y="9143"/>
                  </a:lnTo>
                  <a:lnTo>
                    <a:pt x="0" y="842771"/>
                  </a:lnTo>
                  <a:lnTo>
                    <a:pt x="3048" y="847343"/>
                  </a:lnTo>
                  <a:lnTo>
                    <a:pt x="7620" y="848867"/>
                  </a:lnTo>
                  <a:lnTo>
                    <a:pt x="7620" y="27431"/>
                  </a:lnTo>
                  <a:lnTo>
                    <a:pt x="28955" y="13715"/>
                  </a:lnTo>
                  <a:lnTo>
                    <a:pt x="28955" y="38099"/>
                  </a:lnTo>
                  <a:lnTo>
                    <a:pt x="804672" y="425957"/>
                  </a:lnTo>
                  <a:lnTo>
                    <a:pt x="830580" y="413003"/>
                  </a:lnTo>
                  <a:lnTo>
                    <a:pt x="830580" y="445769"/>
                  </a:lnTo>
                  <a:lnTo>
                    <a:pt x="844296" y="438911"/>
                  </a:lnTo>
                  <a:lnTo>
                    <a:pt x="848868" y="435863"/>
                  </a:lnTo>
                  <a:lnTo>
                    <a:pt x="851916" y="431291"/>
                  </a:lnTo>
                  <a:close/>
                </a:path>
                <a:path w="852170" h="852170">
                  <a:moveTo>
                    <a:pt x="28955" y="38099"/>
                  </a:moveTo>
                  <a:lnTo>
                    <a:pt x="28955" y="13715"/>
                  </a:lnTo>
                  <a:lnTo>
                    <a:pt x="7620" y="27431"/>
                  </a:lnTo>
                  <a:lnTo>
                    <a:pt x="28955" y="38099"/>
                  </a:lnTo>
                  <a:close/>
                </a:path>
                <a:path w="852170" h="852170">
                  <a:moveTo>
                    <a:pt x="28956" y="813815"/>
                  </a:moveTo>
                  <a:lnTo>
                    <a:pt x="28955" y="38099"/>
                  </a:lnTo>
                  <a:lnTo>
                    <a:pt x="7620" y="27431"/>
                  </a:lnTo>
                  <a:lnTo>
                    <a:pt x="7620" y="824483"/>
                  </a:lnTo>
                  <a:lnTo>
                    <a:pt x="28956" y="813815"/>
                  </a:lnTo>
                  <a:close/>
                </a:path>
                <a:path w="852170" h="852170">
                  <a:moveTo>
                    <a:pt x="830580" y="445769"/>
                  </a:moveTo>
                  <a:lnTo>
                    <a:pt x="830580" y="438911"/>
                  </a:lnTo>
                  <a:lnTo>
                    <a:pt x="804672" y="425957"/>
                  </a:lnTo>
                  <a:lnTo>
                    <a:pt x="7620" y="824483"/>
                  </a:lnTo>
                  <a:lnTo>
                    <a:pt x="28956" y="836675"/>
                  </a:lnTo>
                  <a:lnTo>
                    <a:pt x="28956" y="846581"/>
                  </a:lnTo>
                  <a:lnTo>
                    <a:pt x="830580" y="445769"/>
                  </a:lnTo>
                  <a:close/>
                </a:path>
                <a:path w="852170" h="852170">
                  <a:moveTo>
                    <a:pt x="28956" y="846581"/>
                  </a:moveTo>
                  <a:lnTo>
                    <a:pt x="28956" y="836675"/>
                  </a:lnTo>
                  <a:lnTo>
                    <a:pt x="7620" y="824483"/>
                  </a:lnTo>
                  <a:lnTo>
                    <a:pt x="7620" y="848867"/>
                  </a:lnTo>
                  <a:lnTo>
                    <a:pt x="10668" y="851915"/>
                  </a:lnTo>
                  <a:lnTo>
                    <a:pt x="16764" y="851915"/>
                  </a:lnTo>
                  <a:lnTo>
                    <a:pt x="21336" y="850391"/>
                  </a:lnTo>
                  <a:lnTo>
                    <a:pt x="28956" y="846581"/>
                  </a:lnTo>
                  <a:close/>
                </a:path>
                <a:path w="852170" h="852170">
                  <a:moveTo>
                    <a:pt x="830580" y="438911"/>
                  </a:moveTo>
                  <a:lnTo>
                    <a:pt x="830580" y="413003"/>
                  </a:lnTo>
                  <a:lnTo>
                    <a:pt x="804672" y="425957"/>
                  </a:lnTo>
                  <a:lnTo>
                    <a:pt x="830580" y="438911"/>
                  </a:lnTo>
                  <a:close/>
                </a:path>
              </a:pathLst>
            </a:custGeom>
            <a:solidFill>
              <a:srgbClr val="000000"/>
            </a:solidFill>
          </p:spPr>
          <p:txBody>
            <a:bodyPr wrap="square" lIns="0" tIns="0" rIns="0" bIns="0" rtlCol="0"/>
            <a:lstStyle/>
            <a:p>
              <a:endParaRPr/>
            </a:p>
          </p:txBody>
        </p:sp>
      </p:grpSp>
      <p:sp>
        <p:nvSpPr>
          <p:cNvPr id="42" name="object 42"/>
          <p:cNvSpPr txBox="1"/>
          <p:nvPr/>
        </p:nvSpPr>
        <p:spPr>
          <a:xfrm>
            <a:off x="6958074" y="3050539"/>
            <a:ext cx="56959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Verdana"/>
                <a:cs typeface="Verdana"/>
              </a:rPr>
              <a:t>VGA</a:t>
            </a:r>
            <a:endParaRPr sz="2000">
              <a:latin typeface="Verdana"/>
              <a:cs typeface="Verdana"/>
            </a:endParaRPr>
          </a:p>
        </p:txBody>
      </p:sp>
      <p:grpSp>
        <p:nvGrpSpPr>
          <p:cNvPr id="43" name="object 43"/>
          <p:cNvGrpSpPr/>
          <p:nvPr/>
        </p:nvGrpSpPr>
        <p:grpSpPr>
          <a:xfrm>
            <a:off x="7961376" y="2785872"/>
            <a:ext cx="852169" cy="852169"/>
            <a:chOff x="7961376" y="2785872"/>
            <a:chExt cx="852169" cy="852169"/>
          </a:xfrm>
        </p:grpSpPr>
        <p:sp>
          <p:nvSpPr>
            <p:cNvPr id="44" name="object 44"/>
            <p:cNvSpPr/>
            <p:nvPr/>
          </p:nvSpPr>
          <p:spPr>
            <a:xfrm>
              <a:off x="7976616" y="2799588"/>
              <a:ext cx="821690" cy="822960"/>
            </a:xfrm>
            <a:custGeom>
              <a:avLst/>
              <a:gdLst/>
              <a:ahLst/>
              <a:cxnLst/>
              <a:rect l="l" t="t" r="r" b="b"/>
              <a:pathLst>
                <a:path w="821690" h="822960">
                  <a:moveTo>
                    <a:pt x="821436" y="411479"/>
                  </a:moveTo>
                  <a:lnTo>
                    <a:pt x="0" y="0"/>
                  </a:lnTo>
                  <a:lnTo>
                    <a:pt x="0" y="822960"/>
                  </a:lnTo>
                  <a:lnTo>
                    <a:pt x="821436" y="411479"/>
                  </a:lnTo>
                  <a:close/>
                </a:path>
              </a:pathLst>
            </a:custGeom>
            <a:solidFill>
              <a:srgbClr val="FFFFFF"/>
            </a:solidFill>
          </p:spPr>
          <p:txBody>
            <a:bodyPr wrap="square" lIns="0" tIns="0" rIns="0" bIns="0" rtlCol="0"/>
            <a:lstStyle/>
            <a:p>
              <a:endParaRPr/>
            </a:p>
          </p:txBody>
        </p:sp>
        <p:sp>
          <p:nvSpPr>
            <p:cNvPr id="45" name="object 45"/>
            <p:cNvSpPr/>
            <p:nvPr/>
          </p:nvSpPr>
          <p:spPr>
            <a:xfrm>
              <a:off x="7961376" y="2785872"/>
              <a:ext cx="852169" cy="852169"/>
            </a:xfrm>
            <a:custGeom>
              <a:avLst/>
              <a:gdLst/>
              <a:ahLst/>
              <a:cxnLst/>
              <a:rect l="l" t="t" r="r" b="b"/>
              <a:pathLst>
                <a:path w="852170" h="852170">
                  <a:moveTo>
                    <a:pt x="851916" y="431291"/>
                  </a:moveTo>
                  <a:lnTo>
                    <a:pt x="851916" y="420623"/>
                  </a:lnTo>
                  <a:lnTo>
                    <a:pt x="848868" y="416051"/>
                  </a:lnTo>
                  <a:lnTo>
                    <a:pt x="844296" y="413003"/>
                  </a:lnTo>
                  <a:lnTo>
                    <a:pt x="21336" y="1523"/>
                  </a:lnTo>
                  <a:lnTo>
                    <a:pt x="16764" y="0"/>
                  </a:lnTo>
                  <a:lnTo>
                    <a:pt x="10667" y="0"/>
                  </a:lnTo>
                  <a:lnTo>
                    <a:pt x="7619" y="1523"/>
                  </a:lnTo>
                  <a:lnTo>
                    <a:pt x="3047" y="4571"/>
                  </a:lnTo>
                  <a:lnTo>
                    <a:pt x="0" y="9143"/>
                  </a:lnTo>
                  <a:lnTo>
                    <a:pt x="0" y="842771"/>
                  </a:lnTo>
                  <a:lnTo>
                    <a:pt x="3048" y="847343"/>
                  </a:lnTo>
                  <a:lnTo>
                    <a:pt x="7620" y="848867"/>
                  </a:lnTo>
                  <a:lnTo>
                    <a:pt x="7620" y="27431"/>
                  </a:lnTo>
                  <a:lnTo>
                    <a:pt x="28955" y="13715"/>
                  </a:lnTo>
                  <a:lnTo>
                    <a:pt x="28955" y="38099"/>
                  </a:lnTo>
                  <a:lnTo>
                    <a:pt x="804672" y="425957"/>
                  </a:lnTo>
                  <a:lnTo>
                    <a:pt x="830580" y="413003"/>
                  </a:lnTo>
                  <a:lnTo>
                    <a:pt x="830580" y="445769"/>
                  </a:lnTo>
                  <a:lnTo>
                    <a:pt x="844296" y="438911"/>
                  </a:lnTo>
                  <a:lnTo>
                    <a:pt x="848868" y="435863"/>
                  </a:lnTo>
                  <a:lnTo>
                    <a:pt x="851916" y="431291"/>
                  </a:lnTo>
                  <a:close/>
                </a:path>
                <a:path w="852170" h="852170">
                  <a:moveTo>
                    <a:pt x="28955" y="38099"/>
                  </a:moveTo>
                  <a:lnTo>
                    <a:pt x="28955" y="13715"/>
                  </a:lnTo>
                  <a:lnTo>
                    <a:pt x="7620" y="27431"/>
                  </a:lnTo>
                  <a:lnTo>
                    <a:pt x="28955" y="38099"/>
                  </a:lnTo>
                  <a:close/>
                </a:path>
                <a:path w="852170" h="852170">
                  <a:moveTo>
                    <a:pt x="28956" y="813815"/>
                  </a:moveTo>
                  <a:lnTo>
                    <a:pt x="28955" y="38099"/>
                  </a:lnTo>
                  <a:lnTo>
                    <a:pt x="7620" y="27431"/>
                  </a:lnTo>
                  <a:lnTo>
                    <a:pt x="7620" y="824483"/>
                  </a:lnTo>
                  <a:lnTo>
                    <a:pt x="28956" y="813815"/>
                  </a:lnTo>
                  <a:close/>
                </a:path>
                <a:path w="852170" h="852170">
                  <a:moveTo>
                    <a:pt x="830580" y="445769"/>
                  </a:moveTo>
                  <a:lnTo>
                    <a:pt x="830580" y="438911"/>
                  </a:lnTo>
                  <a:lnTo>
                    <a:pt x="804672" y="425957"/>
                  </a:lnTo>
                  <a:lnTo>
                    <a:pt x="7620" y="824483"/>
                  </a:lnTo>
                  <a:lnTo>
                    <a:pt x="28956" y="836675"/>
                  </a:lnTo>
                  <a:lnTo>
                    <a:pt x="28956" y="846581"/>
                  </a:lnTo>
                  <a:lnTo>
                    <a:pt x="830580" y="445769"/>
                  </a:lnTo>
                  <a:close/>
                </a:path>
                <a:path w="852170" h="852170">
                  <a:moveTo>
                    <a:pt x="28956" y="846581"/>
                  </a:moveTo>
                  <a:lnTo>
                    <a:pt x="28956" y="836675"/>
                  </a:lnTo>
                  <a:lnTo>
                    <a:pt x="7620" y="824483"/>
                  </a:lnTo>
                  <a:lnTo>
                    <a:pt x="7620" y="848867"/>
                  </a:lnTo>
                  <a:lnTo>
                    <a:pt x="10668" y="851915"/>
                  </a:lnTo>
                  <a:lnTo>
                    <a:pt x="16764" y="851915"/>
                  </a:lnTo>
                  <a:lnTo>
                    <a:pt x="21336" y="850391"/>
                  </a:lnTo>
                  <a:lnTo>
                    <a:pt x="28956" y="846581"/>
                  </a:lnTo>
                  <a:close/>
                </a:path>
                <a:path w="852170" h="852170">
                  <a:moveTo>
                    <a:pt x="830580" y="438911"/>
                  </a:moveTo>
                  <a:lnTo>
                    <a:pt x="830580" y="413003"/>
                  </a:lnTo>
                  <a:lnTo>
                    <a:pt x="804672" y="425957"/>
                  </a:lnTo>
                  <a:lnTo>
                    <a:pt x="830580" y="438911"/>
                  </a:lnTo>
                  <a:close/>
                </a:path>
              </a:pathLst>
            </a:custGeom>
            <a:solidFill>
              <a:srgbClr val="000000"/>
            </a:solidFill>
          </p:spPr>
          <p:txBody>
            <a:bodyPr wrap="square" lIns="0" tIns="0" rIns="0" bIns="0" rtlCol="0"/>
            <a:lstStyle/>
            <a:p>
              <a:endParaRPr/>
            </a:p>
          </p:txBody>
        </p:sp>
      </p:grpSp>
      <p:sp>
        <p:nvSpPr>
          <p:cNvPr id="46" name="object 46"/>
          <p:cNvSpPr txBox="1"/>
          <p:nvPr/>
        </p:nvSpPr>
        <p:spPr>
          <a:xfrm>
            <a:off x="7962392" y="3039872"/>
            <a:ext cx="66357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CTLE</a:t>
            </a:r>
            <a:endParaRPr sz="2000">
              <a:latin typeface="Verdana"/>
              <a:cs typeface="Verdana"/>
            </a:endParaRPr>
          </a:p>
        </p:txBody>
      </p:sp>
      <p:grpSp>
        <p:nvGrpSpPr>
          <p:cNvPr id="47" name="object 47"/>
          <p:cNvGrpSpPr/>
          <p:nvPr/>
        </p:nvGrpSpPr>
        <p:grpSpPr>
          <a:xfrm>
            <a:off x="3858767" y="2145792"/>
            <a:ext cx="2700655" cy="1062355"/>
            <a:chOff x="3858767" y="2145792"/>
            <a:chExt cx="2700655" cy="1062355"/>
          </a:xfrm>
        </p:grpSpPr>
        <p:sp>
          <p:nvSpPr>
            <p:cNvPr id="48" name="object 48"/>
            <p:cNvSpPr/>
            <p:nvPr/>
          </p:nvSpPr>
          <p:spPr>
            <a:xfrm>
              <a:off x="4056888" y="2999231"/>
              <a:ext cx="2502535" cy="208915"/>
            </a:xfrm>
            <a:custGeom>
              <a:avLst/>
              <a:gdLst/>
              <a:ahLst/>
              <a:cxnLst/>
              <a:rect l="l" t="t" r="r" b="b"/>
              <a:pathLst>
                <a:path w="2502534" h="208914">
                  <a:moveTo>
                    <a:pt x="27432" y="0"/>
                  </a:moveTo>
                  <a:lnTo>
                    <a:pt x="0" y="0"/>
                  </a:lnTo>
                  <a:lnTo>
                    <a:pt x="0" y="208788"/>
                  </a:lnTo>
                  <a:lnTo>
                    <a:pt x="27432" y="208788"/>
                  </a:lnTo>
                  <a:lnTo>
                    <a:pt x="27432" y="0"/>
                  </a:lnTo>
                  <a:close/>
                </a:path>
                <a:path w="2502534" h="208914">
                  <a:moveTo>
                    <a:pt x="2502408" y="0"/>
                  </a:moveTo>
                  <a:lnTo>
                    <a:pt x="2473452" y="0"/>
                  </a:lnTo>
                  <a:lnTo>
                    <a:pt x="2473452" y="208788"/>
                  </a:lnTo>
                  <a:lnTo>
                    <a:pt x="2502408" y="208788"/>
                  </a:lnTo>
                  <a:lnTo>
                    <a:pt x="2502408" y="0"/>
                  </a:lnTo>
                  <a:close/>
                </a:path>
              </a:pathLst>
            </a:custGeom>
            <a:solidFill>
              <a:srgbClr val="000000"/>
            </a:solidFill>
          </p:spPr>
          <p:txBody>
            <a:bodyPr wrap="square" lIns="0" tIns="0" rIns="0" bIns="0" rtlCol="0"/>
            <a:lstStyle/>
            <a:p>
              <a:endParaRPr/>
            </a:p>
          </p:txBody>
        </p:sp>
        <p:sp>
          <p:nvSpPr>
            <p:cNvPr id="49" name="object 49"/>
            <p:cNvSpPr/>
            <p:nvPr/>
          </p:nvSpPr>
          <p:spPr>
            <a:xfrm>
              <a:off x="3872483" y="2161032"/>
              <a:ext cx="355600" cy="838200"/>
            </a:xfrm>
            <a:custGeom>
              <a:avLst/>
              <a:gdLst/>
              <a:ahLst/>
              <a:cxnLst/>
              <a:rect l="l" t="t" r="r" b="b"/>
              <a:pathLst>
                <a:path w="355600" h="838200">
                  <a:moveTo>
                    <a:pt x="355091" y="838200"/>
                  </a:moveTo>
                  <a:lnTo>
                    <a:pt x="355091" y="0"/>
                  </a:lnTo>
                  <a:lnTo>
                    <a:pt x="0" y="0"/>
                  </a:lnTo>
                  <a:lnTo>
                    <a:pt x="0" y="838200"/>
                  </a:lnTo>
                  <a:lnTo>
                    <a:pt x="355091" y="838200"/>
                  </a:lnTo>
                  <a:close/>
                </a:path>
              </a:pathLst>
            </a:custGeom>
            <a:solidFill>
              <a:srgbClr val="FFFFFF"/>
            </a:solidFill>
          </p:spPr>
          <p:txBody>
            <a:bodyPr wrap="square" lIns="0" tIns="0" rIns="0" bIns="0" rtlCol="0"/>
            <a:lstStyle/>
            <a:p>
              <a:endParaRPr/>
            </a:p>
          </p:txBody>
        </p:sp>
        <p:sp>
          <p:nvSpPr>
            <p:cNvPr id="50" name="object 50"/>
            <p:cNvSpPr/>
            <p:nvPr/>
          </p:nvSpPr>
          <p:spPr>
            <a:xfrm>
              <a:off x="3858767" y="2145792"/>
              <a:ext cx="384175" cy="867410"/>
            </a:xfrm>
            <a:custGeom>
              <a:avLst/>
              <a:gdLst/>
              <a:ahLst/>
              <a:cxnLst/>
              <a:rect l="l" t="t" r="r" b="b"/>
              <a:pathLst>
                <a:path w="384175" h="867410">
                  <a:moveTo>
                    <a:pt x="384048" y="861059"/>
                  </a:moveTo>
                  <a:lnTo>
                    <a:pt x="384048" y="7619"/>
                  </a:lnTo>
                  <a:lnTo>
                    <a:pt x="377952" y="0"/>
                  </a:lnTo>
                  <a:lnTo>
                    <a:pt x="6095" y="0"/>
                  </a:lnTo>
                  <a:lnTo>
                    <a:pt x="0" y="7619"/>
                  </a:lnTo>
                  <a:lnTo>
                    <a:pt x="0" y="861059"/>
                  </a:lnTo>
                  <a:lnTo>
                    <a:pt x="6096" y="867155"/>
                  </a:lnTo>
                  <a:lnTo>
                    <a:pt x="13716" y="867155"/>
                  </a:lnTo>
                  <a:lnTo>
                    <a:pt x="13716" y="28955"/>
                  </a:lnTo>
                  <a:lnTo>
                    <a:pt x="28956" y="15239"/>
                  </a:lnTo>
                  <a:lnTo>
                    <a:pt x="28956" y="28955"/>
                  </a:lnTo>
                  <a:lnTo>
                    <a:pt x="355092" y="28955"/>
                  </a:lnTo>
                  <a:lnTo>
                    <a:pt x="355092" y="15239"/>
                  </a:lnTo>
                  <a:lnTo>
                    <a:pt x="368808" y="28955"/>
                  </a:lnTo>
                  <a:lnTo>
                    <a:pt x="368808" y="867155"/>
                  </a:lnTo>
                  <a:lnTo>
                    <a:pt x="377952" y="867155"/>
                  </a:lnTo>
                  <a:lnTo>
                    <a:pt x="384048" y="861059"/>
                  </a:lnTo>
                  <a:close/>
                </a:path>
                <a:path w="384175" h="867410">
                  <a:moveTo>
                    <a:pt x="28956" y="28955"/>
                  </a:moveTo>
                  <a:lnTo>
                    <a:pt x="28956" y="15239"/>
                  </a:lnTo>
                  <a:lnTo>
                    <a:pt x="13716" y="28955"/>
                  </a:lnTo>
                  <a:lnTo>
                    <a:pt x="28956" y="28955"/>
                  </a:lnTo>
                  <a:close/>
                </a:path>
                <a:path w="384175" h="867410">
                  <a:moveTo>
                    <a:pt x="28956" y="839723"/>
                  </a:moveTo>
                  <a:lnTo>
                    <a:pt x="28956" y="28955"/>
                  </a:lnTo>
                  <a:lnTo>
                    <a:pt x="13716" y="28955"/>
                  </a:lnTo>
                  <a:lnTo>
                    <a:pt x="13716" y="839723"/>
                  </a:lnTo>
                  <a:lnTo>
                    <a:pt x="28956" y="839723"/>
                  </a:lnTo>
                  <a:close/>
                </a:path>
                <a:path w="384175" h="867410">
                  <a:moveTo>
                    <a:pt x="368808" y="839723"/>
                  </a:moveTo>
                  <a:lnTo>
                    <a:pt x="13716" y="839723"/>
                  </a:lnTo>
                  <a:lnTo>
                    <a:pt x="28956" y="853439"/>
                  </a:lnTo>
                  <a:lnTo>
                    <a:pt x="28956" y="867155"/>
                  </a:lnTo>
                  <a:lnTo>
                    <a:pt x="355092" y="867155"/>
                  </a:lnTo>
                  <a:lnTo>
                    <a:pt x="355092" y="853439"/>
                  </a:lnTo>
                  <a:lnTo>
                    <a:pt x="368808" y="839723"/>
                  </a:lnTo>
                  <a:close/>
                </a:path>
                <a:path w="384175" h="867410">
                  <a:moveTo>
                    <a:pt x="28956" y="867155"/>
                  </a:moveTo>
                  <a:lnTo>
                    <a:pt x="28956" y="853439"/>
                  </a:lnTo>
                  <a:lnTo>
                    <a:pt x="13716" y="839723"/>
                  </a:lnTo>
                  <a:lnTo>
                    <a:pt x="13716" y="867155"/>
                  </a:lnTo>
                  <a:lnTo>
                    <a:pt x="28956" y="867155"/>
                  </a:lnTo>
                  <a:close/>
                </a:path>
                <a:path w="384175" h="867410">
                  <a:moveTo>
                    <a:pt x="368808" y="28955"/>
                  </a:moveTo>
                  <a:lnTo>
                    <a:pt x="355092" y="15239"/>
                  </a:lnTo>
                  <a:lnTo>
                    <a:pt x="355092" y="28955"/>
                  </a:lnTo>
                  <a:lnTo>
                    <a:pt x="368808" y="28955"/>
                  </a:lnTo>
                  <a:close/>
                </a:path>
                <a:path w="384175" h="867410">
                  <a:moveTo>
                    <a:pt x="368808" y="839723"/>
                  </a:moveTo>
                  <a:lnTo>
                    <a:pt x="368808" y="28955"/>
                  </a:lnTo>
                  <a:lnTo>
                    <a:pt x="355092" y="28955"/>
                  </a:lnTo>
                  <a:lnTo>
                    <a:pt x="355092" y="839723"/>
                  </a:lnTo>
                  <a:lnTo>
                    <a:pt x="368808" y="839723"/>
                  </a:lnTo>
                  <a:close/>
                </a:path>
                <a:path w="384175" h="867410">
                  <a:moveTo>
                    <a:pt x="368808" y="867155"/>
                  </a:moveTo>
                  <a:lnTo>
                    <a:pt x="368808" y="839723"/>
                  </a:lnTo>
                  <a:lnTo>
                    <a:pt x="355092" y="853439"/>
                  </a:lnTo>
                  <a:lnTo>
                    <a:pt x="355092" y="867155"/>
                  </a:lnTo>
                  <a:lnTo>
                    <a:pt x="368808" y="867155"/>
                  </a:lnTo>
                  <a:close/>
                </a:path>
              </a:pathLst>
            </a:custGeom>
            <a:solidFill>
              <a:srgbClr val="000000"/>
            </a:solidFill>
          </p:spPr>
          <p:txBody>
            <a:bodyPr wrap="square" lIns="0" tIns="0" rIns="0" bIns="0" rtlCol="0"/>
            <a:lstStyle/>
            <a:p>
              <a:endParaRPr/>
            </a:p>
          </p:txBody>
        </p:sp>
      </p:grpSp>
      <p:sp>
        <p:nvSpPr>
          <p:cNvPr id="51" name="object 51"/>
          <p:cNvSpPr txBox="1"/>
          <p:nvPr/>
        </p:nvSpPr>
        <p:spPr>
          <a:xfrm>
            <a:off x="3872484" y="2161032"/>
            <a:ext cx="355600" cy="838200"/>
          </a:xfrm>
          <a:prstGeom prst="rect">
            <a:avLst/>
          </a:prstGeom>
        </p:spPr>
        <p:txBody>
          <a:bodyPr vert="horz" wrap="square" lIns="0" tIns="8890" rIns="0" bIns="0" rtlCol="0">
            <a:spAutoFit/>
          </a:bodyPr>
          <a:lstStyle/>
          <a:p>
            <a:pPr marL="78740" marR="71755" indent="4445" algn="just">
              <a:lnSpc>
                <a:spcPts val="2160"/>
              </a:lnSpc>
              <a:spcBef>
                <a:spcPts val="70"/>
              </a:spcBef>
            </a:pPr>
            <a:r>
              <a:rPr sz="2000" dirty="0">
                <a:latin typeface="Verdana"/>
                <a:cs typeface="Verdana"/>
              </a:rPr>
              <a:t>E </a:t>
            </a:r>
            <a:r>
              <a:rPr sz="2000" spc="-695" dirty="0">
                <a:latin typeface="Verdana"/>
                <a:cs typeface="Verdana"/>
              </a:rPr>
              <a:t> </a:t>
            </a:r>
            <a:r>
              <a:rPr sz="2000" dirty="0">
                <a:latin typeface="Verdana"/>
                <a:cs typeface="Verdana"/>
              </a:rPr>
              <a:t>S </a:t>
            </a:r>
            <a:r>
              <a:rPr sz="2000" spc="-695" dirty="0">
                <a:latin typeface="Verdana"/>
                <a:cs typeface="Verdana"/>
              </a:rPr>
              <a:t> </a:t>
            </a:r>
            <a:r>
              <a:rPr sz="2000" dirty="0">
                <a:latin typeface="Verdana"/>
                <a:cs typeface="Verdana"/>
              </a:rPr>
              <a:t>D</a:t>
            </a:r>
            <a:endParaRPr sz="2000">
              <a:latin typeface="Verdana"/>
              <a:cs typeface="Verdana"/>
            </a:endParaRPr>
          </a:p>
        </p:txBody>
      </p:sp>
      <p:sp>
        <p:nvSpPr>
          <p:cNvPr id="52" name="object 52"/>
          <p:cNvSpPr/>
          <p:nvPr/>
        </p:nvSpPr>
        <p:spPr>
          <a:xfrm>
            <a:off x="6350508" y="2145792"/>
            <a:ext cx="384175" cy="867410"/>
          </a:xfrm>
          <a:custGeom>
            <a:avLst/>
            <a:gdLst/>
            <a:ahLst/>
            <a:cxnLst/>
            <a:rect l="l" t="t" r="r" b="b"/>
            <a:pathLst>
              <a:path w="384175" h="867410">
                <a:moveTo>
                  <a:pt x="384048" y="861059"/>
                </a:moveTo>
                <a:lnTo>
                  <a:pt x="384048" y="7619"/>
                </a:lnTo>
                <a:lnTo>
                  <a:pt x="377952" y="0"/>
                </a:lnTo>
                <a:lnTo>
                  <a:pt x="6095" y="0"/>
                </a:lnTo>
                <a:lnTo>
                  <a:pt x="0" y="7619"/>
                </a:lnTo>
                <a:lnTo>
                  <a:pt x="0" y="861059"/>
                </a:lnTo>
                <a:lnTo>
                  <a:pt x="6096" y="867155"/>
                </a:lnTo>
                <a:lnTo>
                  <a:pt x="15240" y="867155"/>
                </a:lnTo>
                <a:lnTo>
                  <a:pt x="15240" y="28955"/>
                </a:lnTo>
                <a:lnTo>
                  <a:pt x="28956" y="15239"/>
                </a:lnTo>
                <a:lnTo>
                  <a:pt x="28956" y="28955"/>
                </a:lnTo>
                <a:lnTo>
                  <a:pt x="355092" y="28955"/>
                </a:lnTo>
                <a:lnTo>
                  <a:pt x="355092" y="15239"/>
                </a:lnTo>
                <a:lnTo>
                  <a:pt x="370332" y="28955"/>
                </a:lnTo>
                <a:lnTo>
                  <a:pt x="370332" y="867155"/>
                </a:lnTo>
                <a:lnTo>
                  <a:pt x="377952" y="867155"/>
                </a:lnTo>
                <a:lnTo>
                  <a:pt x="384048" y="861059"/>
                </a:lnTo>
                <a:close/>
              </a:path>
              <a:path w="384175" h="867410">
                <a:moveTo>
                  <a:pt x="28956" y="28955"/>
                </a:moveTo>
                <a:lnTo>
                  <a:pt x="28956" y="15239"/>
                </a:lnTo>
                <a:lnTo>
                  <a:pt x="15240" y="28955"/>
                </a:lnTo>
                <a:lnTo>
                  <a:pt x="28956" y="28955"/>
                </a:lnTo>
                <a:close/>
              </a:path>
              <a:path w="384175" h="867410">
                <a:moveTo>
                  <a:pt x="28956" y="839723"/>
                </a:moveTo>
                <a:lnTo>
                  <a:pt x="28956" y="28955"/>
                </a:lnTo>
                <a:lnTo>
                  <a:pt x="15240" y="28955"/>
                </a:lnTo>
                <a:lnTo>
                  <a:pt x="15240" y="839723"/>
                </a:lnTo>
                <a:lnTo>
                  <a:pt x="28956" y="839723"/>
                </a:lnTo>
                <a:close/>
              </a:path>
              <a:path w="384175" h="867410">
                <a:moveTo>
                  <a:pt x="370332" y="839723"/>
                </a:moveTo>
                <a:lnTo>
                  <a:pt x="15240" y="839723"/>
                </a:lnTo>
                <a:lnTo>
                  <a:pt x="28956" y="853439"/>
                </a:lnTo>
                <a:lnTo>
                  <a:pt x="28956" y="867155"/>
                </a:lnTo>
                <a:lnTo>
                  <a:pt x="355092" y="867155"/>
                </a:lnTo>
                <a:lnTo>
                  <a:pt x="355092" y="853439"/>
                </a:lnTo>
                <a:lnTo>
                  <a:pt x="370332" y="839723"/>
                </a:lnTo>
                <a:close/>
              </a:path>
              <a:path w="384175" h="867410">
                <a:moveTo>
                  <a:pt x="28956" y="867155"/>
                </a:moveTo>
                <a:lnTo>
                  <a:pt x="28956" y="853439"/>
                </a:lnTo>
                <a:lnTo>
                  <a:pt x="15240" y="839723"/>
                </a:lnTo>
                <a:lnTo>
                  <a:pt x="15240" y="867155"/>
                </a:lnTo>
                <a:lnTo>
                  <a:pt x="28956" y="867155"/>
                </a:lnTo>
                <a:close/>
              </a:path>
              <a:path w="384175" h="867410">
                <a:moveTo>
                  <a:pt x="370332" y="28955"/>
                </a:moveTo>
                <a:lnTo>
                  <a:pt x="355092" y="15239"/>
                </a:lnTo>
                <a:lnTo>
                  <a:pt x="355092" y="28955"/>
                </a:lnTo>
                <a:lnTo>
                  <a:pt x="370332" y="28955"/>
                </a:lnTo>
                <a:close/>
              </a:path>
              <a:path w="384175" h="867410">
                <a:moveTo>
                  <a:pt x="370332" y="839723"/>
                </a:moveTo>
                <a:lnTo>
                  <a:pt x="370332" y="28955"/>
                </a:lnTo>
                <a:lnTo>
                  <a:pt x="355092" y="28955"/>
                </a:lnTo>
                <a:lnTo>
                  <a:pt x="355092" y="839723"/>
                </a:lnTo>
                <a:lnTo>
                  <a:pt x="370332" y="839723"/>
                </a:lnTo>
                <a:close/>
              </a:path>
              <a:path w="384175" h="867410">
                <a:moveTo>
                  <a:pt x="370332" y="867155"/>
                </a:moveTo>
                <a:lnTo>
                  <a:pt x="370332" y="839723"/>
                </a:lnTo>
                <a:lnTo>
                  <a:pt x="355092" y="853439"/>
                </a:lnTo>
                <a:lnTo>
                  <a:pt x="355092" y="867155"/>
                </a:lnTo>
                <a:lnTo>
                  <a:pt x="370332" y="867155"/>
                </a:lnTo>
                <a:close/>
              </a:path>
            </a:pathLst>
          </a:custGeom>
          <a:solidFill>
            <a:srgbClr val="000000"/>
          </a:solidFill>
        </p:spPr>
        <p:txBody>
          <a:bodyPr wrap="square" lIns="0" tIns="0" rIns="0" bIns="0" rtlCol="0"/>
          <a:lstStyle/>
          <a:p>
            <a:endParaRPr/>
          </a:p>
        </p:txBody>
      </p:sp>
      <p:sp>
        <p:nvSpPr>
          <p:cNvPr id="53" name="object 53"/>
          <p:cNvSpPr txBox="1"/>
          <p:nvPr/>
        </p:nvSpPr>
        <p:spPr>
          <a:xfrm>
            <a:off x="6432286" y="2122424"/>
            <a:ext cx="221615" cy="879475"/>
          </a:xfrm>
          <a:prstGeom prst="rect">
            <a:avLst/>
          </a:prstGeom>
        </p:spPr>
        <p:txBody>
          <a:bodyPr vert="horz" wrap="square" lIns="0" tIns="47625" rIns="0" bIns="0" rtlCol="0">
            <a:spAutoFit/>
          </a:bodyPr>
          <a:lstStyle/>
          <a:p>
            <a:pPr marL="12700" marR="5080" indent="4445" algn="just">
              <a:lnSpc>
                <a:spcPts val="2160"/>
              </a:lnSpc>
              <a:spcBef>
                <a:spcPts val="375"/>
              </a:spcBef>
            </a:pPr>
            <a:r>
              <a:rPr sz="2000" dirty="0">
                <a:latin typeface="Verdana"/>
                <a:cs typeface="Verdana"/>
              </a:rPr>
              <a:t>E </a:t>
            </a:r>
            <a:r>
              <a:rPr sz="2000" spc="-695" dirty="0">
                <a:latin typeface="Verdana"/>
                <a:cs typeface="Verdana"/>
              </a:rPr>
              <a:t> </a:t>
            </a:r>
            <a:r>
              <a:rPr sz="2000" dirty="0">
                <a:latin typeface="Verdana"/>
                <a:cs typeface="Verdana"/>
              </a:rPr>
              <a:t>S </a:t>
            </a:r>
            <a:r>
              <a:rPr sz="2000" spc="-695" dirty="0">
                <a:latin typeface="Verdana"/>
                <a:cs typeface="Verdana"/>
              </a:rPr>
              <a:t> </a:t>
            </a:r>
            <a:r>
              <a:rPr sz="2000" dirty="0">
                <a:latin typeface="Verdana"/>
                <a:cs typeface="Verdana"/>
              </a:rPr>
              <a:t>D</a:t>
            </a:r>
            <a:endParaRPr sz="2000">
              <a:latin typeface="Verdana"/>
              <a:cs typeface="Verdana"/>
            </a:endParaRPr>
          </a:p>
        </p:txBody>
      </p:sp>
      <p:grpSp>
        <p:nvGrpSpPr>
          <p:cNvPr id="54" name="object 54"/>
          <p:cNvGrpSpPr/>
          <p:nvPr/>
        </p:nvGrpSpPr>
        <p:grpSpPr>
          <a:xfrm>
            <a:off x="2418588" y="1449324"/>
            <a:ext cx="7263765" cy="4395470"/>
            <a:chOff x="2418588" y="1449324"/>
            <a:chExt cx="7263765" cy="4395470"/>
          </a:xfrm>
        </p:grpSpPr>
        <p:sp>
          <p:nvSpPr>
            <p:cNvPr id="55" name="object 55"/>
            <p:cNvSpPr/>
            <p:nvPr/>
          </p:nvSpPr>
          <p:spPr>
            <a:xfrm>
              <a:off x="2418588" y="1597151"/>
              <a:ext cx="7263765" cy="4247515"/>
            </a:xfrm>
            <a:custGeom>
              <a:avLst/>
              <a:gdLst/>
              <a:ahLst/>
              <a:cxnLst/>
              <a:rect l="l" t="t" r="r" b="b"/>
              <a:pathLst>
                <a:path w="7263765" h="4247515">
                  <a:moveTo>
                    <a:pt x="374904" y="3474720"/>
                  </a:moveTo>
                  <a:lnTo>
                    <a:pt x="187452" y="3287268"/>
                  </a:lnTo>
                  <a:lnTo>
                    <a:pt x="0" y="3474720"/>
                  </a:lnTo>
                  <a:lnTo>
                    <a:pt x="109728" y="3474720"/>
                  </a:lnTo>
                  <a:lnTo>
                    <a:pt x="109728" y="4247388"/>
                  </a:lnTo>
                  <a:lnTo>
                    <a:pt x="266700" y="4247388"/>
                  </a:lnTo>
                  <a:lnTo>
                    <a:pt x="266700" y="3474720"/>
                  </a:lnTo>
                  <a:lnTo>
                    <a:pt x="374904" y="3474720"/>
                  </a:lnTo>
                  <a:close/>
                </a:path>
                <a:path w="7263765" h="4247515">
                  <a:moveTo>
                    <a:pt x="1164336" y="1217676"/>
                  </a:moveTo>
                  <a:lnTo>
                    <a:pt x="1054608" y="1217676"/>
                  </a:lnTo>
                  <a:lnTo>
                    <a:pt x="1054608" y="751332"/>
                  </a:lnTo>
                  <a:lnTo>
                    <a:pt x="899160" y="751332"/>
                  </a:lnTo>
                  <a:lnTo>
                    <a:pt x="899160" y="1217676"/>
                  </a:lnTo>
                  <a:lnTo>
                    <a:pt x="789432" y="1217676"/>
                  </a:lnTo>
                  <a:lnTo>
                    <a:pt x="976884" y="1405128"/>
                  </a:lnTo>
                  <a:lnTo>
                    <a:pt x="1164336" y="1217676"/>
                  </a:lnTo>
                  <a:close/>
                </a:path>
                <a:path w="7263765" h="4247515">
                  <a:moveTo>
                    <a:pt x="2243328" y="202692"/>
                  </a:moveTo>
                  <a:lnTo>
                    <a:pt x="2125980" y="97536"/>
                  </a:lnTo>
                  <a:lnTo>
                    <a:pt x="1815084" y="445008"/>
                  </a:lnTo>
                  <a:lnTo>
                    <a:pt x="1734312" y="373380"/>
                  </a:lnTo>
                  <a:lnTo>
                    <a:pt x="1749552" y="637032"/>
                  </a:lnTo>
                  <a:lnTo>
                    <a:pt x="2013204" y="621792"/>
                  </a:lnTo>
                  <a:lnTo>
                    <a:pt x="1932432" y="550164"/>
                  </a:lnTo>
                  <a:lnTo>
                    <a:pt x="2243328" y="202692"/>
                  </a:lnTo>
                  <a:close/>
                </a:path>
                <a:path w="7263765" h="4247515">
                  <a:moveTo>
                    <a:pt x="4038600" y="3921252"/>
                  </a:moveTo>
                  <a:lnTo>
                    <a:pt x="3598164" y="3768852"/>
                  </a:lnTo>
                  <a:lnTo>
                    <a:pt x="3633216" y="3666744"/>
                  </a:lnTo>
                  <a:lnTo>
                    <a:pt x="3395472" y="3782568"/>
                  </a:lnTo>
                  <a:lnTo>
                    <a:pt x="3511296" y="4020312"/>
                  </a:lnTo>
                  <a:lnTo>
                    <a:pt x="3547872" y="3916680"/>
                  </a:lnTo>
                  <a:lnTo>
                    <a:pt x="3988308" y="4069080"/>
                  </a:lnTo>
                  <a:lnTo>
                    <a:pt x="4038600" y="3921252"/>
                  </a:lnTo>
                  <a:close/>
                </a:path>
                <a:path w="7263765" h="4247515">
                  <a:moveTo>
                    <a:pt x="4072128" y="384048"/>
                  </a:moveTo>
                  <a:lnTo>
                    <a:pt x="3982212" y="446532"/>
                  </a:lnTo>
                  <a:lnTo>
                    <a:pt x="3715512" y="64008"/>
                  </a:lnTo>
                  <a:lnTo>
                    <a:pt x="3587496" y="153924"/>
                  </a:lnTo>
                  <a:lnTo>
                    <a:pt x="3854196" y="534924"/>
                  </a:lnTo>
                  <a:lnTo>
                    <a:pt x="3764280" y="597408"/>
                  </a:lnTo>
                  <a:lnTo>
                    <a:pt x="4024884" y="644652"/>
                  </a:lnTo>
                  <a:lnTo>
                    <a:pt x="4072128" y="384048"/>
                  </a:lnTo>
                  <a:close/>
                </a:path>
                <a:path w="7263765" h="4247515">
                  <a:moveTo>
                    <a:pt x="5187696" y="27432"/>
                  </a:moveTo>
                  <a:lnTo>
                    <a:pt x="5033772" y="0"/>
                  </a:lnTo>
                  <a:lnTo>
                    <a:pt x="4808220" y="1225296"/>
                  </a:lnTo>
                  <a:lnTo>
                    <a:pt x="4700016" y="1205484"/>
                  </a:lnTo>
                  <a:lnTo>
                    <a:pt x="4850892" y="1423416"/>
                  </a:lnTo>
                  <a:lnTo>
                    <a:pt x="5068824" y="1274064"/>
                  </a:lnTo>
                  <a:lnTo>
                    <a:pt x="4962144" y="1254252"/>
                  </a:lnTo>
                  <a:lnTo>
                    <a:pt x="5187696" y="27432"/>
                  </a:lnTo>
                  <a:close/>
                </a:path>
                <a:path w="7263765" h="4247515">
                  <a:moveTo>
                    <a:pt x="6231636" y="38100"/>
                  </a:moveTo>
                  <a:lnTo>
                    <a:pt x="6077712" y="9144"/>
                  </a:lnTo>
                  <a:lnTo>
                    <a:pt x="5850636" y="1235964"/>
                  </a:lnTo>
                  <a:lnTo>
                    <a:pt x="5742432" y="1216152"/>
                  </a:lnTo>
                  <a:lnTo>
                    <a:pt x="5893308" y="1434084"/>
                  </a:lnTo>
                  <a:lnTo>
                    <a:pt x="6111240" y="1284732"/>
                  </a:lnTo>
                  <a:lnTo>
                    <a:pt x="6004560" y="1264920"/>
                  </a:lnTo>
                  <a:lnTo>
                    <a:pt x="6231636" y="38100"/>
                  </a:lnTo>
                  <a:close/>
                </a:path>
                <a:path w="7263765" h="4247515">
                  <a:moveTo>
                    <a:pt x="6688836" y="3144012"/>
                  </a:moveTo>
                  <a:lnTo>
                    <a:pt x="6530340" y="2932176"/>
                  </a:lnTo>
                  <a:lnTo>
                    <a:pt x="6318504" y="3090672"/>
                  </a:lnTo>
                  <a:lnTo>
                    <a:pt x="6426708" y="3105912"/>
                  </a:lnTo>
                  <a:lnTo>
                    <a:pt x="6359652" y="3567684"/>
                  </a:lnTo>
                  <a:lnTo>
                    <a:pt x="6515100" y="3589020"/>
                  </a:lnTo>
                  <a:lnTo>
                    <a:pt x="6582156" y="3128772"/>
                  </a:lnTo>
                  <a:lnTo>
                    <a:pt x="6688836" y="3144012"/>
                  </a:lnTo>
                  <a:close/>
                </a:path>
                <a:path w="7263765" h="4247515">
                  <a:moveTo>
                    <a:pt x="7263384" y="175260"/>
                  </a:moveTo>
                  <a:lnTo>
                    <a:pt x="7109460" y="146304"/>
                  </a:lnTo>
                  <a:lnTo>
                    <a:pt x="6911340" y="1214628"/>
                  </a:lnTo>
                  <a:lnTo>
                    <a:pt x="6804660" y="1194816"/>
                  </a:lnTo>
                  <a:lnTo>
                    <a:pt x="6955536" y="1412748"/>
                  </a:lnTo>
                  <a:lnTo>
                    <a:pt x="7173468" y="1261872"/>
                  </a:lnTo>
                  <a:lnTo>
                    <a:pt x="7066788" y="1242060"/>
                  </a:lnTo>
                  <a:lnTo>
                    <a:pt x="7263384" y="175260"/>
                  </a:lnTo>
                  <a:close/>
                </a:path>
              </a:pathLst>
            </a:custGeom>
            <a:solidFill>
              <a:srgbClr val="FF7100"/>
            </a:solidFill>
          </p:spPr>
          <p:txBody>
            <a:bodyPr wrap="square" lIns="0" tIns="0" rIns="0" bIns="0" rtlCol="0"/>
            <a:lstStyle/>
            <a:p>
              <a:endParaRPr/>
            </a:p>
          </p:txBody>
        </p:sp>
        <p:sp>
          <p:nvSpPr>
            <p:cNvPr id="56" name="object 56"/>
            <p:cNvSpPr/>
            <p:nvPr/>
          </p:nvSpPr>
          <p:spPr>
            <a:xfrm>
              <a:off x="4165092" y="1467612"/>
              <a:ext cx="2239010" cy="401320"/>
            </a:xfrm>
            <a:custGeom>
              <a:avLst/>
              <a:gdLst/>
              <a:ahLst/>
              <a:cxnLst/>
              <a:rect l="l" t="t" r="r" b="b"/>
              <a:pathLst>
                <a:path w="2239010" h="401319">
                  <a:moveTo>
                    <a:pt x="2238756" y="400812"/>
                  </a:moveTo>
                  <a:lnTo>
                    <a:pt x="2238756" y="0"/>
                  </a:lnTo>
                  <a:lnTo>
                    <a:pt x="0" y="0"/>
                  </a:lnTo>
                  <a:lnTo>
                    <a:pt x="0" y="400812"/>
                  </a:lnTo>
                  <a:lnTo>
                    <a:pt x="2238756" y="400812"/>
                  </a:lnTo>
                  <a:close/>
                </a:path>
              </a:pathLst>
            </a:custGeom>
            <a:solidFill>
              <a:srgbClr val="FFFFFF"/>
            </a:solidFill>
          </p:spPr>
          <p:txBody>
            <a:bodyPr wrap="square" lIns="0" tIns="0" rIns="0" bIns="0" rtlCol="0"/>
            <a:lstStyle/>
            <a:p>
              <a:endParaRPr/>
            </a:p>
          </p:txBody>
        </p:sp>
        <p:sp>
          <p:nvSpPr>
            <p:cNvPr id="57" name="object 57"/>
            <p:cNvSpPr/>
            <p:nvPr/>
          </p:nvSpPr>
          <p:spPr>
            <a:xfrm>
              <a:off x="4146804" y="1449324"/>
              <a:ext cx="2277110" cy="437515"/>
            </a:xfrm>
            <a:custGeom>
              <a:avLst/>
              <a:gdLst/>
              <a:ahLst/>
              <a:cxnLst/>
              <a:rect l="l" t="t" r="r" b="b"/>
              <a:pathLst>
                <a:path w="2277110" h="437514">
                  <a:moveTo>
                    <a:pt x="2276856" y="419099"/>
                  </a:moveTo>
                  <a:lnTo>
                    <a:pt x="2276856" y="18287"/>
                  </a:lnTo>
                  <a:lnTo>
                    <a:pt x="2275260" y="10929"/>
                  </a:lnTo>
                  <a:lnTo>
                    <a:pt x="2270950" y="5143"/>
                  </a:lnTo>
                  <a:lnTo>
                    <a:pt x="2264640" y="1357"/>
                  </a:lnTo>
                  <a:lnTo>
                    <a:pt x="2257044" y="0"/>
                  </a:lnTo>
                  <a:lnTo>
                    <a:pt x="18288" y="0"/>
                  </a:lnTo>
                  <a:lnTo>
                    <a:pt x="10929" y="1357"/>
                  </a:lnTo>
                  <a:lnTo>
                    <a:pt x="5143" y="5143"/>
                  </a:lnTo>
                  <a:lnTo>
                    <a:pt x="1357" y="10929"/>
                  </a:lnTo>
                  <a:lnTo>
                    <a:pt x="0" y="18287"/>
                  </a:lnTo>
                  <a:lnTo>
                    <a:pt x="0" y="419100"/>
                  </a:lnTo>
                  <a:lnTo>
                    <a:pt x="1357" y="425815"/>
                  </a:lnTo>
                  <a:lnTo>
                    <a:pt x="5143" y="431672"/>
                  </a:lnTo>
                  <a:lnTo>
                    <a:pt x="10929" y="435816"/>
                  </a:lnTo>
                  <a:lnTo>
                    <a:pt x="18288" y="437388"/>
                  </a:lnTo>
                  <a:lnTo>
                    <a:pt x="18288" y="38099"/>
                  </a:lnTo>
                  <a:lnTo>
                    <a:pt x="38099" y="18288"/>
                  </a:lnTo>
                  <a:lnTo>
                    <a:pt x="38099" y="38099"/>
                  </a:lnTo>
                  <a:lnTo>
                    <a:pt x="2238756" y="38099"/>
                  </a:lnTo>
                  <a:lnTo>
                    <a:pt x="2238756" y="18287"/>
                  </a:lnTo>
                  <a:lnTo>
                    <a:pt x="2257044" y="38099"/>
                  </a:lnTo>
                  <a:lnTo>
                    <a:pt x="2257044" y="437387"/>
                  </a:lnTo>
                  <a:lnTo>
                    <a:pt x="2264640" y="435816"/>
                  </a:lnTo>
                  <a:lnTo>
                    <a:pt x="2270950" y="431672"/>
                  </a:lnTo>
                  <a:lnTo>
                    <a:pt x="2275260" y="425815"/>
                  </a:lnTo>
                  <a:lnTo>
                    <a:pt x="2276856" y="419099"/>
                  </a:lnTo>
                  <a:close/>
                </a:path>
                <a:path w="2277110" h="437514">
                  <a:moveTo>
                    <a:pt x="38099" y="38099"/>
                  </a:moveTo>
                  <a:lnTo>
                    <a:pt x="38099" y="18288"/>
                  </a:lnTo>
                  <a:lnTo>
                    <a:pt x="18288" y="38099"/>
                  </a:lnTo>
                  <a:lnTo>
                    <a:pt x="38099" y="38099"/>
                  </a:lnTo>
                  <a:close/>
                </a:path>
                <a:path w="2277110" h="437514">
                  <a:moveTo>
                    <a:pt x="38099" y="399288"/>
                  </a:moveTo>
                  <a:lnTo>
                    <a:pt x="38099" y="38099"/>
                  </a:lnTo>
                  <a:lnTo>
                    <a:pt x="18288" y="38099"/>
                  </a:lnTo>
                  <a:lnTo>
                    <a:pt x="18288" y="399288"/>
                  </a:lnTo>
                  <a:lnTo>
                    <a:pt x="38099" y="399288"/>
                  </a:lnTo>
                  <a:close/>
                </a:path>
                <a:path w="2277110" h="437514">
                  <a:moveTo>
                    <a:pt x="2257044" y="399287"/>
                  </a:moveTo>
                  <a:lnTo>
                    <a:pt x="18288" y="399288"/>
                  </a:lnTo>
                  <a:lnTo>
                    <a:pt x="38099" y="419099"/>
                  </a:lnTo>
                  <a:lnTo>
                    <a:pt x="38099" y="437388"/>
                  </a:lnTo>
                  <a:lnTo>
                    <a:pt x="2238756" y="437387"/>
                  </a:lnTo>
                  <a:lnTo>
                    <a:pt x="2238756" y="419099"/>
                  </a:lnTo>
                  <a:lnTo>
                    <a:pt x="2257044" y="399287"/>
                  </a:lnTo>
                  <a:close/>
                </a:path>
                <a:path w="2277110" h="437514">
                  <a:moveTo>
                    <a:pt x="38099" y="437388"/>
                  </a:moveTo>
                  <a:lnTo>
                    <a:pt x="38099" y="419099"/>
                  </a:lnTo>
                  <a:lnTo>
                    <a:pt x="18288" y="399288"/>
                  </a:lnTo>
                  <a:lnTo>
                    <a:pt x="18287" y="437388"/>
                  </a:lnTo>
                  <a:lnTo>
                    <a:pt x="38099" y="437388"/>
                  </a:lnTo>
                  <a:close/>
                </a:path>
                <a:path w="2277110" h="437514">
                  <a:moveTo>
                    <a:pt x="2257044" y="38099"/>
                  </a:moveTo>
                  <a:lnTo>
                    <a:pt x="2238756" y="18287"/>
                  </a:lnTo>
                  <a:lnTo>
                    <a:pt x="2238756" y="38099"/>
                  </a:lnTo>
                  <a:lnTo>
                    <a:pt x="2257044" y="38099"/>
                  </a:lnTo>
                  <a:close/>
                </a:path>
                <a:path w="2277110" h="437514">
                  <a:moveTo>
                    <a:pt x="2257044" y="399287"/>
                  </a:moveTo>
                  <a:lnTo>
                    <a:pt x="2257044" y="38099"/>
                  </a:lnTo>
                  <a:lnTo>
                    <a:pt x="2238756" y="38099"/>
                  </a:lnTo>
                  <a:lnTo>
                    <a:pt x="2238756" y="399287"/>
                  </a:lnTo>
                  <a:lnTo>
                    <a:pt x="2257044" y="399287"/>
                  </a:lnTo>
                  <a:close/>
                </a:path>
                <a:path w="2277110" h="437514">
                  <a:moveTo>
                    <a:pt x="2257044" y="437387"/>
                  </a:moveTo>
                  <a:lnTo>
                    <a:pt x="2257044" y="399287"/>
                  </a:lnTo>
                  <a:lnTo>
                    <a:pt x="2238756" y="419099"/>
                  </a:lnTo>
                  <a:lnTo>
                    <a:pt x="2238756" y="437387"/>
                  </a:lnTo>
                  <a:lnTo>
                    <a:pt x="2257044" y="437387"/>
                  </a:lnTo>
                  <a:close/>
                </a:path>
              </a:pathLst>
            </a:custGeom>
            <a:solidFill>
              <a:srgbClr val="FF7100"/>
            </a:solidFill>
          </p:spPr>
          <p:txBody>
            <a:bodyPr wrap="square" lIns="0" tIns="0" rIns="0" bIns="0" rtlCol="0"/>
            <a:lstStyle/>
            <a:p>
              <a:endParaRPr/>
            </a:p>
          </p:txBody>
        </p:sp>
      </p:grpSp>
      <p:sp>
        <p:nvSpPr>
          <p:cNvPr id="58" name="object 58"/>
          <p:cNvSpPr txBox="1"/>
          <p:nvPr/>
        </p:nvSpPr>
        <p:spPr>
          <a:xfrm>
            <a:off x="4243832" y="1497583"/>
            <a:ext cx="206438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Verdana"/>
                <a:cs typeface="Verdana"/>
              </a:rPr>
              <a:t>Inductor</a:t>
            </a:r>
            <a:r>
              <a:rPr sz="2000" spc="-90" dirty="0">
                <a:latin typeface="Verdana"/>
                <a:cs typeface="Verdana"/>
              </a:rPr>
              <a:t> </a:t>
            </a:r>
            <a:r>
              <a:rPr sz="2000" dirty="0">
                <a:latin typeface="Verdana"/>
                <a:cs typeface="Verdana"/>
              </a:rPr>
              <a:t>Design</a:t>
            </a:r>
            <a:endParaRPr sz="2000">
              <a:latin typeface="Verdana"/>
              <a:cs typeface="Verdana"/>
            </a:endParaRPr>
          </a:p>
        </p:txBody>
      </p:sp>
      <p:grpSp>
        <p:nvGrpSpPr>
          <p:cNvPr id="59" name="object 59"/>
          <p:cNvGrpSpPr/>
          <p:nvPr/>
        </p:nvGrpSpPr>
        <p:grpSpPr>
          <a:xfrm>
            <a:off x="6103620" y="5273040"/>
            <a:ext cx="1576070" cy="745490"/>
            <a:chOff x="6103620" y="5273040"/>
            <a:chExt cx="1576070" cy="745490"/>
          </a:xfrm>
        </p:grpSpPr>
        <p:sp>
          <p:nvSpPr>
            <p:cNvPr id="60" name="object 60"/>
            <p:cNvSpPr/>
            <p:nvPr/>
          </p:nvSpPr>
          <p:spPr>
            <a:xfrm>
              <a:off x="6123432" y="5291328"/>
              <a:ext cx="1536700" cy="708660"/>
            </a:xfrm>
            <a:custGeom>
              <a:avLst/>
              <a:gdLst/>
              <a:ahLst/>
              <a:cxnLst/>
              <a:rect l="l" t="t" r="r" b="b"/>
              <a:pathLst>
                <a:path w="1536700" h="708660">
                  <a:moveTo>
                    <a:pt x="1536191" y="708660"/>
                  </a:moveTo>
                  <a:lnTo>
                    <a:pt x="1536191" y="0"/>
                  </a:lnTo>
                  <a:lnTo>
                    <a:pt x="0" y="0"/>
                  </a:lnTo>
                  <a:lnTo>
                    <a:pt x="0" y="708660"/>
                  </a:lnTo>
                  <a:lnTo>
                    <a:pt x="1536191" y="708660"/>
                  </a:lnTo>
                  <a:close/>
                </a:path>
              </a:pathLst>
            </a:custGeom>
            <a:solidFill>
              <a:srgbClr val="FFFFFF"/>
            </a:solidFill>
          </p:spPr>
          <p:txBody>
            <a:bodyPr wrap="square" lIns="0" tIns="0" rIns="0" bIns="0" rtlCol="0"/>
            <a:lstStyle/>
            <a:p>
              <a:endParaRPr/>
            </a:p>
          </p:txBody>
        </p:sp>
        <p:sp>
          <p:nvSpPr>
            <p:cNvPr id="61" name="object 61"/>
            <p:cNvSpPr/>
            <p:nvPr/>
          </p:nvSpPr>
          <p:spPr>
            <a:xfrm>
              <a:off x="6103620" y="5273040"/>
              <a:ext cx="1576070" cy="745490"/>
            </a:xfrm>
            <a:custGeom>
              <a:avLst/>
              <a:gdLst/>
              <a:ahLst/>
              <a:cxnLst/>
              <a:rect l="l" t="t" r="r" b="b"/>
              <a:pathLst>
                <a:path w="1576070" h="745489">
                  <a:moveTo>
                    <a:pt x="1575816" y="726947"/>
                  </a:moveTo>
                  <a:lnTo>
                    <a:pt x="1575816" y="18287"/>
                  </a:lnTo>
                  <a:lnTo>
                    <a:pt x="1574220" y="11572"/>
                  </a:lnTo>
                  <a:lnTo>
                    <a:pt x="1569910" y="5714"/>
                  </a:lnTo>
                  <a:lnTo>
                    <a:pt x="1563600" y="1571"/>
                  </a:lnTo>
                  <a:lnTo>
                    <a:pt x="1556004" y="0"/>
                  </a:lnTo>
                  <a:lnTo>
                    <a:pt x="19812" y="0"/>
                  </a:lnTo>
                  <a:lnTo>
                    <a:pt x="12215" y="1571"/>
                  </a:lnTo>
                  <a:lnTo>
                    <a:pt x="5905" y="5714"/>
                  </a:lnTo>
                  <a:lnTo>
                    <a:pt x="1595" y="11572"/>
                  </a:lnTo>
                  <a:lnTo>
                    <a:pt x="0" y="18287"/>
                  </a:lnTo>
                  <a:lnTo>
                    <a:pt x="0" y="726947"/>
                  </a:lnTo>
                  <a:lnTo>
                    <a:pt x="1595" y="734306"/>
                  </a:lnTo>
                  <a:lnTo>
                    <a:pt x="5905" y="740092"/>
                  </a:lnTo>
                  <a:lnTo>
                    <a:pt x="12215" y="743878"/>
                  </a:lnTo>
                  <a:lnTo>
                    <a:pt x="19812" y="745236"/>
                  </a:lnTo>
                  <a:lnTo>
                    <a:pt x="19812" y="38099"/>
                  </a:lnTo>
                  <a:lnTo>
                    <a:pt x="38100" y="18287"/>
                  </a:lnTo>
                  <a:lnTo>
                    <a:pt x="38100" y="38099"/>
                  </a:lnTo>
                  <a:lnTo>
                    <a:pt x="1537716" y="38099"/>
                  </a:lnTo>
                  <a:lnTo>
                    <a:pt x="1537716" y="18287"/>
                  </a:lnTo>
                  <a:lnTo>
                    <a:pt x="1556004" y="38099"/>
                  </a:lnTo>
                  <a:lnTo>
                    <a:pt x="1556004" y="745235"/>
                  </a:lnTo>
                  <a:lnTo>
                    <a:pt x="1563600" y="743878"/>
                  </a:lnTo>
                  <a:lnTo>
                    <a:pt x="1569910" y="740092"/>
                  </a:lnTo>
                  <a:lnTo>
                    <a:pt x="1574220" y="734306"/>
                  </a:lnTo>
                  <a:lnTo>
                    <a:pt x="1575816" y="726947"/>
                  </a:lnTo>
                  <a:close/>
                </a:path>
                <a:path w="1576070" h="745489">
                  <a:moveTo>
                    <a:pt x="38100" y="38099"/>
                  </a:moveTo>
                  <a:lnTo>
                    <a:pt x="38100" y="18287"/>
                  </a:lnTo>
                  <a:lnTo>
                    <a:pt x="19812" y="38099"/>
                  </a:lnTo>
                  <a:lnTo>
                    <a:pt x="38100" y="38099"/>
                  </a:lnTo>
                  <a:close/>
                </a:path>
                <a:path w="1576070" h="745489">
                  <a:moveTo>
                    <a:pt x="38100" y="707136"/>
                  </a:moveTo>
                  <a:lnTo>
                    <a:pt x="38100" y="38099"/>
                  </a:lnTo>
                  <a:lnTo>
                    <a:pt x="19812" y="38099"/>
                  </a:lnTo>
                  <a:lnTo>
                    <a:pt x="19812" y="707136"/>
                  </a:lnTo>
                  <a:lnTo>
                    <a:pt x="38100" y="707136"/>
                  </a:lnTo>
                  <a:close/>
                </a:path>
                <a:path w="1576070" h="745489">
                  <a:moveTo>
                    <a:pt x="1556004" y="707135"/>
                  </a:moveTo>
                  <a:lnTo>
                    <a:pt x="19812" y="707136"/>
                  </a:lnTo>
                  <a:lnTo>
                    <a:pt x="38100" y="726947"/>
                  </a:lnTo>
                  <a:lnTo>
                    <a:pt x="38100" y="745236"/>
                  </a:lnTo>
                  <a:lnTo>
                    <a:pt x="1537716" y="745235"/>
                  </a:lnTo>
                  <a:lnTo>
                    <a:pt x="1537716" y="726947"/>
                  </a:lnTo>
                  <a:lnTo>
                    <a:pt x="1556004" y="707135"/>
                  </a:lnTo>
                  <a:close/>
                </a:path>
                <a:path w="1576070" h="745489">
                  <a:moveTo>
                    <a:pt x="38100" y="745236"/>
                  </a:moveTo>
                  <a:lnTo>
                    <a:pt x="38100" y="726947"/>
                  </a:lnTo>
                  <a:lnTo>
                    <a:pt x="19812" y="707136"/>
                  </a:lnTo>
                  <a:lnTo>
                    <a:pt x="19812" y="745236"/>
                  </a:lnTo>
                  <a:lnTo>
                    <a:pt x="38100" y="745236"/>
                  </a:lnTo>
                  <a:close/>
                </a:path>
                <a:path w="1576070" h="745489">
                  <a:moveTo>
                    <a:pt x="1556004" y="38099"/>
                  </a:moveTo>
                  <a:lnTo>
                    <a:pt x="1537716" y="18287"/>
                  </a:lnTo>
                  <a:lnTo>
                    <a:pt x="1537716" y="38099"/>
                  </a:lnTo>
                  <a:lnTo>
                    <a:pt x="1556004" y="38099"/>
                  </a:lnTo>
                  <a:close/>
                </a:path>
                <a:path w="1576070" h="745489">
                  <a:moveTo>
                    <a:pt x="1556004" y="707135"/>
                  </a:moveTo>
                  <a:lnTo>
                    <a:pt x="1556004" y="38099"/>
                  </a:lnTo>
                  <a:lnTo>
                    <a:pt x="1537716" y="38099"/>
                  </a:lnTo>
                  <a:lnTo>
                    <a:pt x="1537716" y="707135"/>
                  </a:lnTo>
                  <a:lnTo>
                    <a:pt x="1556004" y="707135"/>
                  </a:lnTo>
                  <a:close/>
                </a:path>
                <a:path w="1576070" h="745489">
                  <a:moveTo>
                    <a:pt x="1556004" y="745235"/>
                  </a:moveTo>
                  <a:lnTo>
                    <a:pt x="1556004" y="707135"/>
                  </a:lnTo>
                  <a:lnTo>
                    <a:pt x="1537716" y="726947"/>
                  </a:lnTo>
                  <a:lnTo>
                    <a:pt x="1537716" y="745235"/>
                  </a:lnTo>
                  <a:lnTo>
                    <a:pt x="1556004" y="745235"/>
                  </a:lnTo>
                  <a:close/>
                </a:path>
              </a:pathLst>
            </a:custGeom>
            <a:solidFill>
              <a:srgbClr val="FF7100"/>
            </a:solidFill>
          </p:spPr>
          <p:txBody>
            <a:bodyPr wrap="square" lIns="0" tIns="0" rIns="0" bIns="0" rtlCol="0"/>
            <a:lstStyle/>
            <a:p>
              <a:endParaRPr/>
            </a:p>
          </p:txBody>
        </p:sp>
      </p:grpSp>
      <p:sp>
        <p:nvSpPr>
          <p:cNvPr id="62" name="object 62"/>
          <p:cNvSpPr txBox="1"/>
          <p:nvPr/>
        </p:nvSpPr>
        <p:spPr>
          <a:xfrm>
            <a:off x="6200647" y="5321300"/>
            <a:ext cx="1369060" cy="635635"/>
          </a:xfrm>
          <a:prstGeom prst="rect">
            <a:avLst/>
          </a:prstGeom>
        </p:spPr>
        <p:txBody>
          <a:bodyPr vert="horz" wrap="square" lIns="0" tIns="13335" rIns="0" bIns="0" rtlCol="0">
            <a:spAutoFit/>
          </a:bodyPr>
          <a:lstStyle/>
          <a:p>
            <a:pPr marL="12700" marR="5080">
              <a:lnSpc>
                <a:spcPct val="100000"/>
              </a:lnSpc>
              <a:spcBef>
                <a:spcPts val="105"/>
              </a:spcBef>
            </a:pPr>
            <a:r>
              <a:rPr sz="2000" spc="-5" dirty="0">
                <a:latin typeface="Verdana"/>
                <a:cs typeface="Verdana"/>
              </a:rPr>
              <a:t>Analog or </a:t>
            </a:r>
            <a:r>
              <a:rPr sz="2000" dirty="0">
                <a:latin typeface="Verdana"/>
                <a:cs typeface="Verdana"/>
              </a:rPr>
              <a:t> </a:t>
            </a:r>
            <a:r>
              <a:rPr sz="2000" spc="-5" dirty="0">
                <a:latin typeface="Verdana"/>
                <a:cs typeface="Verdana"/>
              </a:rPr>
              <a:t>Digital</a:t>
            </a:r>
            <a:r>
              <a:rPr sz="2000" spc="-65" dirty="0">
                <a:latin typeface="Verdana"/>
                <a:cs typeface="Verdana"/>
              </a:rPr>
              <a:t> </a:t>
            </a:r>
            <a:r>
              <a:rPr sz="2000" dirty="0">
                <a:latin typeface="Verdana"/>
                <a:cs typeface="Verdana"/>
              </a:rPr>
              <a:t>PLL</a:t>
            </a:r>
            <a:endParaRPr sz="2000">
              <a:latin typeface="Verdana"/>
              <a:cs typeface="Verdana"/>
            </a:endParaRPr>
          </a:p>
        </p:txBody>
      </p:sp>
      <p:grpSp>
        <p:nvGrpSpPr>
          <p:cNvPr id="63" name="object 63"/>
          <p:cNvGrpSpPr/>
          <p:nvPr/>
        </p:nvGrpSpPr>
        <p:grpSpPr>
          <a:xfrm>
            <a:off x="1758695" y="5273040"/>
            <a:ext cx="1874520" cy="745490"/>
            <a:chOff x="1758695" y="5273040"/>
            <a:chExt cx="1874520" cy="745490"/>
          </a:xfrm>
        </p:grpSpPr>
        <p:sp>
          <p:nvSpPr>
            <p:cNvPr id="64" name="object 64"/>
            <p:cNvSpPr/>
            <p:nvPr/>
          </p:nvSpPr>
          <p:spPr>
            <a:xfrm>
              <a:off x="1776983" y="5291328"/>
              <a:ext cx="1838325" cy="708660"/>
            </a:xfrm>
            <a:custGeom>
              <a:avLst/>
              <a:gdLst/>
              <a:ahLst/>
              <a:cxnLst/>
              <a:rect l="l" t="t" r="r" b="b"/>
              <a:pathLst>
                <a:path w="1838325" h="708660">
                  <a:moveTo>
                    <a:pt x="1837944" y="708660"/>
                  </a:moveTo>
                  <a:lnTo>
                    <a:pt x="1837943" y="0"/>
                  </a:lnTo>
                  <a:lnTo>
                    <a:pt x="0" y="0"/>
                  </a:lnTo>
                  <a:lnTo>
                    <a:pt x="0" y="708660"/>
                  </a:lnTo>
                  <a:lnTo>
                    <a:pt x="1837944" y="708660"/>
                  </a:lnTo>
                  <a:close/>
                </a:path>
              </a:pathLst>
            </a:custGeom>
            <a:solidFill>
              <a:srgbClr val="FFFFFF"/>
            </a:solidFill>
          </p:spPr>
          <p:txBody>
            <a:bodyPr wrap="square" lIns="0" tIns="0" rIns="0" bIns="0" rtlCol="0"/>
            <a:lstStyle/>
            <a:p>
              <a:endParaRPr/>
            </a:p>
          </p:txBody>
        </p:sp>
        <p:sp>
          <p:nvSpPr>
            <p:cNvPr id="65" name="object 65"/>
            <p:cNvSpPr/>
            <p:nvPr/>
          </p:nvSpPr>
          <p:spPr>
            <a:xfrm>
              <a:off x="1758695" y="5273040"/>
              <a:ext cx="1874520" cy="745490"/>
            </a:xfrm>
            <a:custGeom>
              <a:avLst/>
              <a:gdLst/>
              <a:ahLst/>
              <a:cxnLst/>
              <a:rect l="l" t="t" r="r" b="b"/>
              <a:pathLst>
                <a:path w="1874520" h="745489">
                  <a:moveTo>
                    <a:pt x="1874520" y="726947"/>
                  </a:moveTo>
                  <a:lnTo>
                    <a:pt x="1874520" y="18287"/>
                  </a:lnTo>
                  <a:lnTo>
                    <a:pt x="1873162" y="11572"/>
                  </a:lnTo>
                  <a:lnTo>
                    <a:pt x="1869376" y="5714"/>
                  </a:lnTo>
                  <a:lnTo>
                    <a:pt x="1863590" y="1571"/>
                  </a:lnTo>
                  <a:lnTo>
                    <a:pt x="1856232" y="0"/>
                  </a:lnTo>
                  <a:lnTo>
                    <a:pt x="18288" y="0"/>
                  </a:lnTo>
                  <a:lnTo>
                    <a:pt x="10929" y="1571"/>
                  </a:lnTo>
                  <a:lnTo>
                    <a:pt x="5143" y="5714"/>
                  </a:lnTo>
                  <a:lnTo>
                    <a:pt x="1357" y="11572"/>
                  </a:lnTo>
                  <a:lnTo>
                    <a:pt x="0" y="18287"/>
                  </a:lnTo>
                  <a:lnTo>
                    <a:pt x="0" y="726947"/>
                  </a:lnTo>
                  <a:lnTo>
                    <a:pt x="1357" y="734306"/>
                  </a:lnTo>
                  <a:lnTo>
                    <a:pt x="5143" y="740092"/>
                  </a:lnTo>
                  <a:lnTo>
                    <a:pt x="10929" y="743878"/>
                  </a:lnTo>
                  <a:lnTo>
                    <a:pt x="18288" y="745236"/>
                  </a:lnTo>
                  <a:lnTo>
                    <a:pt x="18288" y="38099"/>
                  </a:lnTo>
                  <a:lnTo>
                    <a:pt x="38100" y="18287"/>
                  </a:lnTo>
                  <a:lnTo>
                    <a:pt x="38100" y="38099"/>
                  </a:lnTo>
                  <a:lnTo>
                    <a:pt x="1836420" y="38099"/>
                  </a:lnTo>
                  <a:lnTo>
                    <a:pt x="1836420" y="18287"/>
                  </a:lnTo>
                  <a:lnTo>
                    <a:pt x="1856232" y="38099"/>
                  </a:lnTo>
                  <a:lnTo>
                    <a:pt x="1856232" y="745235"/>
                  </a:lnTo>
                  <a:lnTo>
                    <a:pt x="1863590" y="743878"/>
                  </a:lnTo>
                  <a:lnTo>
                    <a:pt x="1869376" y="740092"/>
                  </a:lnTo>
                  <a:lnTo>
                    <a:pt x="1873162" y="734306"/>
                  </a:lnTo>
                  <a:lnTo>
                    <a:pt x="1874520" y="726947"/>
                  </a:lnTo>
                  <a:close/>
                </a:path>
                <a:path w="1874520" h="745489">
                  <a:moveTo>
                    <a:pt x="38100" y="38099"/>
                  </a:moveTo>
                  <a:lnTo>
                    <a:pt x="38100" y="18287"/>
                  </a:lnTo>
                  <a:lnTo>
                    <a:pt x="18288" y="38099"/>
                  </a:lnTo>
                  <a:lnTo>
                    <a:pt x="38100" y="38099"/>
                  </a:lnTo>
                  <a:close/>
                </a:path>
                <a:path w="1874520" h="745489">
                  <a:moveTo>
                    <a:pt x="38100" y="707136"/>
                  </a:moveTo>
                  <a:lnTo>
                    <a:pt x="38100" y="38099"/>
                  </a:lnTo>
                  <a:lnTo>
                    <a:pt x="18288" y="38099"/>
                  </a:lnTo>
                  <a:lnTo>
                    <a:pt x="18288" y="707136"/>
                  </a:lnTo>
                  <a:lnTo>
                    <a:pt x="38100" y="707136"/>
                  </a:lnTo>
                  <a:close/>
                </a:path>
                <a:path w="1874520" h="745489">
                  <a:moveTo>
                    <a:pt x="1856232" y="707135"/>
                  </a:moveTo>
                  <a:lnTo>
                    <a:pt x="18288" y="707136"/>
                  </a:lnTo>
                  <a:lnTo>
                    <a:pt x="38100" y="726947"/>
                  </a:lnTo>
                  <a:lnTo>
                    <a:pt x="38100" y="745236"/>
                  </a:lnTo>
                  <a:lnTo>
                    <a:pt x="1836420" y="745235"/>
                  </a:lnTo>
                  <a:lnTo>
                    <a:pt x="1836420" y="726947"/>
                  </a:lnTo>
                  <a:lnTo>
                    <a:pt x="1856232" y="707135"/>
                  </a:lnTo>
                  <a:close/>
                </a:path>
                <a:path w="1874520" h="745489">
                  <a:moveTo>
                    <a:pt x="38100" y="745236"/>
                  </a:moveTo>
                  <a:lnTo>
                    <a:pt x="38100" y="726947"/>
                  </a:lnTo>
                  <a:lnTo>
                    <a:pt x="18288" y="707136"/>
                  </a:lnTo>
                  <a:lnTo>
                    <a:pt x="18288" y="745236"/>
                  </a:lnTo>
                  <a:lnTo>
                    <a:pt x="38100" y="745236"/>
                  </a:lnTo>
                  <a:close/>
                </a:path>
                <a:path w="1874520" h="745489">
                  <a:moveTo>
                    <a:pt x="1856232" y="38099"/>
                  </a:moveTo>
                  <a:lnTo>
                    <a:pt x="1836420" y="18287"/>
                  </a:lnTo>
                  <a:lnTo>
                    <a:pt x="1836420" y="38099"/>
                  </a:lnTo>
                  <a:lnTo>
                    <a:pt x="1856232" y="38099"/>
                  </a:lnTo>
                  <a:close/>
                </a:path>
                <a:path w="1874520" h="745489">
                  <a:moveTo>
                    <a:pt x="1856232" y="707135"/>
                  </a:moveTo>
                  <a:lnTo>
                    <a:pt x="1856232" y="38099"/>
                  </a:lnTo>
                  <a:lnTo>
                    <a:pt x="1836420" y="38099"/>
                  </a:lnTo>
                  <a:lnTo>
                    <a:pt x="1836420" y="707135"/>
                  </a:lnTo>
                  <a:lnTo>
                    <a:pt x="1856232" y="707135"/>
                  </a:lnTo>
                  <a:close/>
                </a:path>
                <a:path w="1874520" h="745489">
                  <a:moveTo>
                    <a:pt x="1856232" y="745235"/>
                  </a:moveTo>
                  <a:lnTo>
                    <a:pt x="1856232" y="707135"/>
                  </a:lnTo>
                  <a:lnTo>
                    <a:pt x="1836420" y="726947"/>
                  </a:lnTo>
                  <a:lnTo>
                    <a:pt x="1836420" y="745235"/>
                  </a:lnTo>
                  <a:lnTo>
                    <a:pt x="1856232" y="745235"/>
                  </a:lnTo>
                  <a:close/>
                </a:path>
              </a:pathLst>
            </a:custGeom>
            <a:solidFill>
              <a:srgbClr val="FF7100"/>
            </a:solidFill>
          </p:spPr>
          <p:txBody>
            <a:bodyPr wrap="square" lIns="0" tIns="0" rIns="0" bIns="0" rtlCol="0"/>
            <a:lstStyle/>
            <a:p>
              <a:endParaRPr/>
            </a:p>
          </p:txBody>
        </p:sp>
      </p:grpSp>
      <p:sp>
        <p:nvSpPr>
          <p:cNvPr id="66" name="object 66"/>
          <p:cNvSpPr txBox="1"/>
          <p:nvPr/>
        </p:nvSpPr>
        <p:spPr>
          <a:xfrm>
            <a:off x="1864867" y="5321300"/>
            <a:ext cx="1660525" cy="635635"/>
          </a:xfrm>
          <a:prstGeom prst="rect">
            <a:avLst/>
          </a:prstGeom>
        </p:spPr>
        <p:txBody>
          <a:bodyPr vert="horz" wrap="square" lIns="0" tIns="13335" rIns="0" bIns="0" rtlCol="0">
            <a:spAutoFit/>
          </a:bodyPr>
          <a:lstStyle/>
          <a:p>
            <a:pPr marL="146685" marR="5080" indent="-134620">
              <a:lnSpc>
                <a:spcPct val="100000"/>
              </a:lnSpc>
              <a:spcBef>
                <a:spcPts val="105"/>
              </a:spcBef>
            </a:pPr>
            <a:r>
              <a:rPr sz="2000" spc="-5" dirty="0">
                <a:latin typeface="Verdana"/>
                <a:cs typeface="Verdana"/>
              </a:rPr>
              <a:t>Clock</a:t>
            </a:r>
            <a:r>
              <a:rPr sz="2000" spc="-70" dirty="0">
                <a:latin typeface="Verdana"/>
                <a:cs typeface="Verdana"/>
              </a:rPr>
              <a:t> </a:t>
            </a:r>
            <a:r>
              <a:rPr sz="2000" spc="-5" dirty="0">
                <a:latin typeface="Verdana"/>
                <a:cs typeface="Verdana"/>
              </a:rPr>
              <a:t>Timing </a:t>
            </a:r>
            <a:r>
              <a:rPr sz="2000" spc="-690" dirty="0">
                <a:latin typeface="Verdana"/>
                <a:cs typeface="Verdana"/>
              </a:rPr>
              <a:t> </a:t>
            </a:r>
            <a:r>
              <a:rPr sz="2000" spc="-10" dirty="0">
                <a:latin typeface="Verdana"/>
                <a:cs typeface="Verdana"/>
              </a:rPr>
              <a:t>Calibration</a:t>
            </a:r>
            <a:endParaRPr sz="2000">
              <a:latin typeface="Verdana"/>
              <a:cs typeface="Verdana"/>
            </a:endParaRPr>
          </a:p>
        </p:txBody>
      </p:sp>
      <p:grpSp>
        <p:nvGrpSpPr>
          <p:cNvPr id="67" name="object 67"/>
          <p:cNvGrpSpPr/>
          <p:nvPr/>
        </p:nvGrpSpPr>
        <p:grpSpPr>
          <a:xfrm>
            <a:off x="1511808" y="1972055"/>
            <a:ext cx="2308860" cy="745490"/>
            <a:chOff x="1511808" y="1972055"/>
            <a:chExt cx="2308860" cy="745490"/>
          </a:xfrm>
        </p:grpSpPr>
        <p:sp>
          <p:nvSpPr>
            <p:cNvPr id="68" name="object 68"/>
            <p:cNvSpPr/>
            <p:nvPr/>
          </p:nvSpPr>
          <p:spPr>
            <a:xfrm>
              <a:off x="1530096" y="1990343"/>
              <a:ext cx="2272665" cy="708660"/>
            </a:xfrm>
            <a:custGeom>
              <a:avLst/>
              <a:gdLst/>
              <a:ahLst/>
              <a:cxnLst/>
              <a:rect l="l" t="t" r="r" b="b"/>
              <a:pathLst>
                <a:path w="2272665" h="708660">
                  <a:moveTo>
                    <a:pt x="2272283" y="708659"/>
                  </a:moveTo>
                  <a:lnTo>
                    <a:pt x="2272283" y="0"/>
                  </a:lnTo>
                  <a:lnTo>
                    <a:pt x="0" y="0"/>
                  </a:lnTo>
                  <a:lnTo>
                    <a:pt x="0" y="708660"/>
                  </a:lnTo>
                  <a:lnTo>
                    <a:pt x="2272283" y="708659"/>
                  </a:lnTo>
                  <a:close/>
                </a:path>
              </a:pathLst>
            </a:custGeom>
            <a:solidFill>
              <a:srgbClr val="FFFFFF"/>
            </a:solidFill>
          </p:spPr>
          <p:txBody>
            <a:bodyPr wrap="square" lIns="0" tIns="0" rIns="0" bIns="0" rtlCol="0"/>
            <a:lstStyle/>
            <a:p>
              <a:endParaRPr/>
            </a:p>
          </p:txBody>
        </p:sp>
        <p:sp>
          <p:nvSpPr>
            <p:cNvPr id="69" name="object 69"/>
            <p:cNvSpPr/>
            <p:nvPr/>
          </p:nvSpPr>
          <p:spPr>
            <a:xfrm>
              <a:off x="1511808" y="1972055"/>
              <a:ext cx="2308860" cy="745490"/>
            </a:xfrm>
            <a:custGeom>
              <a:avLst/>
              <a:gdLst/>
              <a:ahLst/>
              <a:cxnLst/>
              <a:rect l="l" t="t" r="r" b="b"/>
              <a:pathLst>
                <a:path w="2308860" h="745489">
                  <a:moveTo>
                    <a:pt x="2308860" y="726947"/>
                  </a:moveTo>
                  <a:lnTo>
                    <a:pt x="2308860" y="18287"/>
                  </a:lnTo>
                  <a:lnTo>
                    <a:pt x="2307502" y="10929"/>
                  </a:lnTo>
                  <a:lnTo>
                    <a:pt x="2303716" y="5143"/>
                  </a:lnTo>
                  <a:lnTo>
                    <a:pt x="2297930" y="1357"/>
                  </a:lnTo>
                  <a:lnTo>
                    <a:pt x="2290572" y="0"/>
                  </a:lnTo>
                  <a:lnTo>
                    <a:pt x="18288" y="0"/>
                  </a:lnTo>
                  <a:lnTo>
                    <a:pt x="11572" y="1357"/>
                  </a:lnTo>
                  <a:lnTo>
                    <a:pt x="5714" y="5143"/>
                  </a:lnTo>
                  <a:lnTo>
                    <a:pt x="1571" y="10929"/>
                  </a:lnTo>
                  <a:lnTo>
                    <a:pt x="0" y="18287"/>
                  </a:lnTo>
                  <a:lnTo>
                    <a:pt x="0" y="726947"/>
                  </a:lnTo>
                  <a:lnTo>
                    <a:pt x="1571" y="734306"/>
                  </a:lnTo>
                  <a:lnTo>
                    <a:pt x="5715" y="740092"/>
                  </a:lnTo>
                  <a:lnTo>
                    <a:pt x="11572" y="743878"/>
                  </a:lnTo>
                  <a:lnTo>
                    <a:pt x="18288" y="745236"/>
                  </a:lnTo>
                  <a:lnTo>
                    <a:pt x="18288" y="38099"/>
                  </a:lnTo>
                  <a:lnTo>
                    <a:pt x="38100" y="18287"/>
                  </a:lnTo>
                  <a:lnTo>
                    <a:pt x="38100" y="38099"/>
                  </a:lnTo>
                  <a:lnTo>
                    <a:pt x="2270760" y="38099"/>
                  </a:lnTo>
                  <a:lnTo>
                    <a:pt x="2270760" y="18287"/>
                  </a:lnTo>
                  <a:lnTo>
                    <a:pt x="2290572" y="38099"/>
                  </a:lnTo>
                  <a:lnTo>
                    <a:pt x="2290572" y="745235"/>
                  </a:lnTo>
                  <a:lnTo>
                    <a:pt x="2297930" y="743878"/>
                  </a:lnTo>
                  <a:lnTo>
                    <a:pt x="2303716" y="740092"/>
                  </a:lnTo>
                  <a:lnTo>
                    <a:pt x="2307502" y="734306"/>
                  </a:lnTo>
                  <a:lnTo>
                    <a:pt x="2308860" y="726947"/>
                  </a:lnTo>
                  <a:close/>
                </a:path>
                <a:path w="2308860" h="745489">
                  <a:moveTo>
                    <a:pt x="38100" y="38099"/>
                  </a:moveTo>
                  <a:lnTo>
                    <a:pt x="38100" y="18287"/>
                  </a:lnTo>
                  <a:lnTo>
                    <a:pt x="18288" y="38099"/>
                  </a:lnTo>
                  <a:lnTo>
                    <a:pt x="38100" y="38099"/>
                  </a:lnTo>
                  <a:close/>
                </a:path>
                <a:path w="2308860" h="745489">
                  <a:moveTo>
                    <a:pt x="38100" y="707136"/>
                  </a:moveTo>
                  <a:lnTo>
                    <a:pt x="38100" y="38099"/>
                  </a:lnTo>
                  <a:lnTo>
                    <a:pt x="18288" y="38099"/>
                  </a:lnTo>
                  <a:lnTo>
                    <a:pt x="18288" y="707136"/>
                  </a:lnTo>
                  <a:lnTo>
                    <a:pt x="38100" y="707136"/>
                  </a:lnTo>
                  <a:close/>
                </a:path>
                <a:path w="2308860" h="745489">
                  <a:moveTo>
                    <a:pt x="2290572" y="707135"/>
                  </a:moveTo>
                  <a:lnTo>
                    <a:pt x="18288" y="707136"/>
                  </a:lnTo>
                  <a:lnTo>
                    <a:pt x="38100" y="726947"/>
                  </a:lnTo>
                  <a:lnTo>
                    <a:pt x="38100" y="745236"/>
                  </a:lnTo>
                  <a:lnTo>
                    <a:pt x="2270760" y="745235"/>
                  </a:lnTo>
                  <a:lnTo>
                    <a:pt x="2270760" y="726948"/>
                  </a:lnTo>
                  <a:lnTo>
                    <a:pt x="2290572" y="707135"/>
                  </a:lnTo>
                  <a:close/>
                </a:path>
                <a:path w="2308860" h="745489">
                  <a:moveTo>
                    <a:pt x="38100" y="745236"/>
                  </a:moveTo>
                  <a:lnTo>
                    <a:pt x="38100" y="726947"/>
                  </a:lnTo>
                  <a:lnTo>
                    <a:pt x="18288" y="707136"/>
                  </a:lnTo>
                  <a:lnTo>
                    <a:pt x="18288" y="745236"/>
                  </a:lnTo>
                  <a:lnTo>
                    <a:pt x="38100" y="745236"/>
                  </a:lnTo>
                  <a:close/>
                </a:path>
                <a:path w="2308860" h="745489">
                  <a:moveTo>
                    <a:pt x="2290572" y="38099"/>
                  </a:moveTo>
                  <a:lnTo>
                    <a:pt x="2270760" y="18287"/>
                  </a:lnTo>
                  <a:lnTo>
                    <a:pt x="2270760" y="38099"/>
                  </a:lnTo>
                  <a:lnTo>
                    <a:pt x="2290572" y="38099"/>
                  </a:lnTo>
                  <a:close/>
                </a:path>
                <a:path w="2308860" h="745489">
                  <a:moveTo>
                    <a:pt x="2290572" y="707135"/>
                  </a:moveTo>
                  <a:lnTo>
                    <a:pt x="2290572" y="38099"/>
                  </a:lnTo>
                  <a:lnTo>
                    <a:pt x="2270760" y="38099"/>
                  </a:lnTo>
                  <a:lnTo>
                    <a:pt x="2270760" y="707135"/>
                  </a:lnTo>
                  <a:lnTo>
                    <a:pt x="2290572" y="707135"/>
                  </a:lnTo>
                  <a:close/>
                </a:path>
                <a:path w="2308860" h="745489">
                  <a:moveTo>
                    <a:pt x="2290572" y="745235"/>
                  </a:moveTo>
                  <a:lnTo>
                    <a:pt x="2290572" y="707135"/>
                  </a:lnTo>
                  <a:lnTo>
                    <a:pt x="2270760" y="726948"/>
                  </a:lnTo>
                  <a:lnTo>
                    <a:pt x="2270760" y="745235"/>
                  </a:lnTo>
                  <a:lnTo>
                    <a:pt x="2290572" y="745235"/>
                  </a:lnTo>
                  <a:close/>
                </a:path>
              </a:pathLst>
            </a:custGeom>
            <a:solidFill>
              <a:srgbClr val="FF7100"/>
            </a:solidFill>
          </p:spPr>
          <p:txBody>
            <a:bodyPr wrap="square" lIns="0" tIns="0" rIns="0" bIns="0" rtlCol="0"/>
            <a:lstStyle/>
            <a:p>
              <a:endParaRPr/>
            </a:p>
          </p:txBody>
        </p:sp>
      </p:grpSp>
      <p:sp>
        <p:nvSpPr>
          <p:cNvPr id="70" name="object 70"/>
          <p:cNvSpPr txBox="1"/>
          <p:nvPr/>
        </p:nvSpPr>
        <p:spPr>
          <a:xfrm>
            <a:off x="1530096" y="1990344"/>
            <a:ext cx="2272665" cy="348615"/>
          </a:xfrm>
          <a:prstGeom prst="rect">
            <a:avLst/>
          </a:prstGeom>
        </p:spPr>
        <p:txBody>
          <a:bodyPr vert="horz" wrap="square" lIns="0" tIns="43180" rIns="0" bIns="0" rtlCol="0">
            <a:spAutoFit/>
          </a:bodyPr>
          <a:lstStyle/>
          <a:p>
            <a:pPr marL="91440">
              <a:lnSpc>
                <a:spcPct val="100000"/>
              </a:lnSpc>
              <a:spcBef>
                <a:spcPts val="340"/>
              </a:spcBef>
            </a:pPr>
            <a:r>
              <a:rPr sz="2000" spc="-5" dirty="0">
                <a:latin typeface="Verdana"/>
                <a:cs typeface="Verdana"/>
              </a:rPr>
              <a:t>Driver</a:t>
            </a:r>
            <a:r>
              <a:rPr sz="2000" spc="-75" dirty="0">
                <a:latin typeface="Verdana"/>
                <a:cs typeface="Verdana"/>
              </a:rPr>
              <a:t> </a:t>
            </a:r>
            <a:r>
              <a:rPr sz="2000" spc="-30" dirty="0">
                <a:latin typeface="Verdana"/>
                <a:cs typeface="Verdana"/>
              </a:rPr>
              <a:t>Topology</a:t>
            </a:r>
            <a:endParaRPr sz="2000" dirty="0">
              <a:latin typeface="Verdana"/>
              <a:cs typeface="Verdana"/>
            </a:endParaRPr>
          </a:p>
        </p:txBody>
      </p:sp>
      <p:sp>
        <p:nvSpPr>
          <p:cNvPr id="71" name="object 71"/>
          <p:cNvSpPr txBox="1"/>
          <p:nvPr/>
        </p:nvSpPr>
        <p:spPr>
          <a:xfrm>
            <a:off x="1530096" y="2338704"/>
            <a:ext cx="2272665" cy="360680"/>
          </a:xfrm>
          <a:prstGeom prst="rect">
            <a:avLst/>
          </a:prstGeom>
        </p:spPr>
        <p:txBody>
          <a:bodyPr vert="horz" wrap="square" lIns="0" tIns="0" rIns="0" bIns="0" rtlCol="0">
            <a:spAutoFit/>
          </a:bodyPr>
          <a:lstStyle/>
          <a:p>
            <a:pPr marL="91440">
              <a:lnSpc>
                <a:spcPts val="2395"/>
              </a:lnSpc>
            </a:pPr>
            <a:r>
              <a:rPr sz="2000" spc="10" dirty="0">
                <a:latin typeface="Verdana"/>
                <a:cs typeface="Verdana"/>
              </a:rPr>
              <a:t>R</a:t>
            </a:r>
            <a:r>
              <a:rPr sz="1950" spc="15" baseline="-21367" dirty="0">
                <a:latin typeface="Verdana"/>
                <a:cs typeface="Verdana"/>
              </a:rPr>
              <a:t>OUT</a:t>
            </a:r>
            <a:r>
              <a:rPr sz="1950" spc="307" baseline="-21367" dirty="0">
                <a:latin typeface="Verdana"/>
                <a:cs typeface="Verdana"/>
              </a:rPr>
              <a:t> </a:t>
            </a:r>
            <a:r>
              <a:rPr sz="2000" spc="-10" dirty="0">
                <a:latin typeface="Verdana"/>
                <a:cs typeface="Verdana"/>
              </a:rPr>
              <a:t>Calibration</a:t>
            </a:r>
            <a:endParaRPr sz="2000" dirty="0">
              <a:latin typeface="Verdana"/>
              <a:cs typeface="Verdana"/>
            </a:endParaRPr>
          </a:p>
        </p:txBody>
      </p:sp>
      <p:grpSp>
        <p:nvGrpSpPr>
          <p:cNvPr id="72" name="object 72"/>
          <p:cNvGrpSpPr/>
          <p:nvPr/>
        </p:nvGrpSpPr>
        <p:grpSpPr>
          <a:xfrm>
            <a:off x="6525768" y="1025652"/>
            <a:ext cx="2804160" cy="745490"/>
            <a:chOff x="6525768" y="1025652"/>
            <a:chExt cx="2804160" cy="745490"/>
          </a:xfrm>
        </p:grpSpPr>
        <p:sp>
          <p:nvSpPr>
            <p:cNvPr id="73" name="object 73"/>
            <p:cNvSpPr/>
            <p:nvPr/>
          </p:nvSpPr>
          <p:spPr>
            <a:xfrm>
              <a:off x="6545580" y="1043940"/>
              <a:ext cx="2766060" cy="708660"/>
            </a:xfrm>
            <a:custGeom>
              <a:avLst/>
              <a:gdLst/>
              <a:ahLst/>
              <a:cxnLst/>
              <a:rect l="l" t="t" r="r" b="b"/>
              <a:pathLst>
                <a:path w="2766059" h="708660">
                  <a:moveTo>
                    <a:pt x="2766060" y="708660"/>
                  </a:moveTo>
                  <a:lnTo>
                    <a:pt x="2766060" y="0"/>
                  </a:lnTo>
                  <a:lnTo>
                    <a:pt x="0" y="0"/>
                  </a:lnTo>
                  <a:lnTo>
                    <a:pt x="0" y="708660"/>
                  </a:lnTo>
                  <a:lnTo>
                    <a:pt x="2766060" y="708660"/>
                  </a:lnTo>
                  <a:close/>
                </a:path>
              </a:pathLst>
            </a:custGeom>
            <a:solidFill>
              <a:srgbClr val="FFFFFF"/>
            </a:solidFill>
          </p:spPr>
          <p:txBody>
            <a:bodyPr wrap="square" lIns="0" tIns="0" rIns="0" bIns="0" rtlCol="0"/>
            <a:lstStyle/>
            <a:p>
              <a:endParaRPr/>
            </a:p>
          </p:txBody>
        </p:sp>
        <p:sp>
          <p:nvSpPr>
            <p:cNvPr id="74" name="object 74"/>
            <p:cNvSpPr/>
            <p:nvPr/>
          </p:nvSpPr>
          <p:spPr>
            <a:xfrm>
              <a:off x="6525768" y="1025652"/>
              <a:ext cx="2804160" cy="745490"/>
            </a:xfrm>
            <a:custGeom>
              <a:avLst/>
              <a:gdLst/>
              <a:ahLst/>
              <a:cxnLst/>
              <a:rect l="l" t="t" r="r" b="b"/>
              <a:pathLst>
                <a:path w="2804159" h="745489">
                  <a:moveTo>
                    <a:pt x="2804160" y="726947"/>
                  </a:moveTo>
                  <a:lnTo>
                    <a:pt x="2804160" y="18287"/>
                  </a:lnTo>
                  <a:lnTo>
                    <a:pt x="2802802" y="10929"/>
                  </a:lnTo>
                  <a:lnTo>
                    <a:pt x="2799016" y="5143"/>
                  </a:lnTo>
                  <a:lnTo>
                    <a:pt x="2793230" y="1357"/>
                  </a:lnTo>
                  <a:lnTo>
                    <a:pt x="2785872" y="0"/>
                  </a:lnTo>
                  <a:lnTo>
                    <a:pt x="19812" y="0"/>
                  </a:lnTo>
                  <a:lnTo>
                    <a:pt x="12215" y="1357"/>
                  </a:lnTo>
                  <a:lnTo>
                    <a:pt x="5905" y="5143"/>
                  </a:lnTo>
                  <a:lnTo>
                    <a:pt x="1595" y="10929"/>
                  </a:lnTo>
                  <a:lnTo>
                    <a:pt x="0" y="18287"/>
                  </a:lnTo>
                  <a:lnTo>
                    <a:pt x="0" y="726947"/>
                  </a:lnTo>
                  <a:lnTo>
                    <a:pt x="1595" y="733663"/>
                  </a:lnTo>
                  <a:lnTo>
                    <a:pt x="5905" y="739521"/>
                  </a:lnTo>
                  <a:lnTo>
                    <a:pt x="12215" y="743664"/>
                  </a:lnTo>
                  <a:lnTo>
                    <a:pt x="19812" y="745236"/>
                  </a:lnTo>
                  <a:lnTo>
                    <a:pt x="19812" y="38099"/>
                  </a:lnTo>
                  <a:lnTo>
                    <a:pt x="38099" y="18288"/>
                  </a:lnTo>
                  <a:lnTo>
                    <a:pt x="38099" y="38099"/>
                  </a:lnTo>
                  <a:lnTo>
                    <a:pt x="2766060" y="38099"/>
                  </a:lnTo>
                  <a:lnTo>
                    <a:pt x="2766060" y="18287"/>
                  </a:lnTo>
                  <a:lnTo>
                    <a:pt x="2785872" y="38099"/>
                  </a:lnTo>
                  <a:lnTo>
                    <a:pt x="2785872" y="745235"/>
                  </a:lnTo>
                  <a:lnTo>
                    <a:pt x="2793230" y="743664"/>
                  </a:lnTo>
                  <a:lnTo>
                    <a:pt x="2799016" y="739520"/>
                  </a:lnTo>
                  <a:lnTo>
                    <a:pt x="2802802" y="733663"/>
                  </a:lnTo>
                  <a:lnTo>
                    <a:pt x="2804160" y="726947"/>
                  </a:lnTo>
                  <a:close/>
                </a:path>
                <a:path w="2804159" h="745489">
                  <a:moveTo>
                    <a:pt x="38099" y="38099"/>
                  </a:moveTo>
                  <a:lnTo>
                    <a:pt x="38099" y="18288"/>
                  </a:lnTo>
                  <a:lnTo>
                    <a:pt x="19812" y="38099"/>
                  </a:lnTo>
                  <a:lnTo>
                    <a:pt x="38099" y="38099"/>
                  </a:lnTo>
                  <a:close/>
                </a:path>
                <a:path w="2804159" h="745489">
                  <a:moveTo>
                    <a:pt x="38099" y="707136"/>
                  </a:moveTo>
                  <a:lnTo>
                    <a:pt x="38099" y="38099"/>
                  </a:lnTo>
                  <a:lnTo>
                    <a:pt x="19812" y="38099"/>
                  </a:lnTo>
                  <a:lnTo>
                    <a:pt x="19812" y="707136"/>
                  </a:lnTo>
                  <a:lnTo>
                    <a:pt x="38099" y="707136"/>
                  </a:lnTo>
                  <a:close/>
                </a:path>
                <a:path w="2804159" h="745489">
                  <a:moveTo>
                    <a:pt x="2785872" y="707135"/>
                  </a:moveTo>
                  <a:lnTo>
                    <a:pt x="19812" y="707136"/>
                  </a:lnTo>
                  <a:lnTo>
                    <a:pt x="38099" y="726947"/>
                  </a:lnTo>
                  <a:lnTo>
                    <a:pt x="38099" y="745236"/>
                  </a:lnTo>
                  <a:lnTo>
                    <a:pt x="2766060" y="745235"/>
                  </a:lnTo>
                  <a:lnTo>
                    <a:pt x="2766060" y="726947"/>
                  </a:lnTo>
                  <a:lnTo>
                    <a:pt x="2785872" y="707135"/>
                  </a:lnTo>
                  <a:close/>
                </a:path>
                <a:path w="2804159" h="745489">
                  <a:moveTo>
                    <a:pt x="38099" y="745236"/>
                  </a:moveTo>
                  <a:lnTo>
                    <a:pt x="38099" y="726947"/>
                  </a:lnTo>
                  <a:lnTo>
                    <a:pt x="19812" y="707136"/>
                  </a:lnTo>
                  <a:lnTo>
                    <a:pt x="19812" y="745236"/>
                  </a:lnTo>
                  <a:lnTo>
                    <a:pt x="38099" y="745236"/>
                  </a:lnTo>
                  <a:close/>
                </a:path>
                <a:path w="2804159" h="745489">
                  <a:moveTo>
                    <a:pt x="2785872" y="38099"/>
                  </a:moveTo>
                  <a:lnTo>
                    <a:pt x="2766060" y="18287"/>
                  </a:lnTo>
                  <a:lnTo>
                    <a:pt x="2766060" y="38099"/>
                  </a:lnTo>
                  <a:lnTo>
                    <a:pt x="2785872" y="38099"/>
                  </a:lnTo>
                  <a:close/>
                </a:path>
                <a:path w="2804159" h="745489">
                  <a:moveTo>
                    <a:pt x="2785872" y="707135"/>
                  </a:moveTo>
                  <a:lnTo>
                    <a:pt x="2785872" y="38099"/>
                  </a:lnTo>
                  <a:lnTo>
                    <a:pt x="2766060" y="38099"/>
                  </a:lnTo>
                  <a:lnTo>
                    <a:pt x="2766060" y="707135"/>
                  </a:lnTo>
                  <a:lnTo>
                    <a:pt x="2785872" y="707135"/>
                  </a:lnTo>
                  <a:close/>
                </a:path>
                <a:path w="2804159" h="745489">
                  <a:moveTo>
                    <a:pt x="2785872" y="745235"/>
                  </a:moveTo>
                  <a:lnTo>
                    <a:pt x="2785872" y="707135"/>
                  </a:lnTo>
                  <a:lnTo>
                    <a:pt x="2766060" y="726947"/>
                  </a:lnTo>
                  <a:lnTo>
                    <a:pt x="2766060" y="745235"/>
                  </a:lnTo>
                  <a:lnTo>
                    <a:pt x="2785872" y="745235"/>
                  </a:lnTo>
                  <a:close/>
                </a:path>
              </a:pathLst>
            </a:custGeom>
            <a:solidFill>
              <a:srgbClr val="FF7100"/>
            </a:solidFill>
          </p:spPr>
          <p:txBody>
            <a:bodyPr wrap="square" lIns="0" tIns="0" rIns="0" bIns="0" rtlCol="0"/>
            <a:lstStyle/>
            <a:p>
              <a:endParaRPr/>
            </a:p>
          </p:txBody>
        </p:sp>
      </p:grpSp>
      <p:sp>
        <p:nvSpPr>
          <p:cNvPr id="75" name="object 75"/>
          <p:cNvSpPr txBox="1"/>
          <p:nvPr/>
        </p:nvSpPr>
        <p:spPr>
          <a:xfrm>
            <a:off x="6622795" y="1073912"/>
            <a:ext cx="257873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Verdana"/>
                <a:cs typeface="Verdana"/>
              </a:rPr>
              <a:t>Amplifier</a:t>
            </a:r>
            <a:r>
              <a:rPr sz="2000" spc="-45" dirty="0">
                <a:latin typeface="Verdana"/>
                <a:cs typeface="Verdana"/>
              </a:rPr>
              <a:t> </a:t>
            </a:r>
            <a:r>
              <a:rPr sz="2000" spc="-30" dirty="0">
                <a:latin typeface="Verdana"/>
                <a:cs typeface="Verdana"/>
              </a:rPr>
              <a:t>Topologies</a:t>
            </a:r>
            <a:endParaRPr sz="2000">
              <a:latin typeface="Verdana"/>
              <a:cs typeface="Verdana"/>
            </a:endParaRPr>
          </a:p>
        </p:txBody>
      </p:sp>
      <p:sp>
        <p:nvSpPr>
          <p:cNvPr id="76" name="object 76"/>
          <p:cNvSpPr txBox="1"/>
          <p:nvPr/>
        </p:nvSpPr>
        <p:spPr>
          <a:xfrm>
            <a:off x="6622795" y="1378710"/>
            <a:ext cx="1391285"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Verdana"/>
                <a:cs typeface="Verdana"/>
              </a:rPr>
              <a:t>Calibration</a:t>
            </a:r>
            <a:endParaRPr sz="2000">
              <a:latin typeface="Verdana"/>
              <a:cs typeface="Verdana"/>
            </a:endParaRPr>
          </a:p>
        </p:txBody>
      </p:sp>
      <p:grpSp>
        <p:nvGrpSpPr>
          <p:cNvPr id="89" name="Group 88"/>
          <p:cNvGrpSpPr/>
          <p:nvPr/>
        </p:nvGrpSpPr>
        <p:grpSpPr>
          <a:xfrm>
            <a:off x="8926321" y="3513327"/>
            <a:ext cx="2840990" cy="746760"/>
            <a:chOff x="8798306" y="4081016"/>
            <a:chExt cx="2840990" cy="746760"/>
          </a:xfrm>
        </p:grpSpPr>
        <p:grpSp>
          <p:nvGrpSpPr>
            <p:cNvPr id="77" name="object 77"/>
            <p:cNvGrpSpPr/>
            <p:nvPr/>
          </p:nvGrpSpPr>
          <p:grpSpPr>
            <a:xfrm>
              <a:off x="8798306" y="4081016"/>
              <a:ext cx="2840990" cy="746760"/>
              <a:chOff x="8628888" y="3435096"/>
              <a:chExt cx="2840990" cy="746760"/>
            </a:xfrm>
          </p:grpSpPr>
          <p:sp>
            <p:nvSpPr>
              <p:cNvPr id="78" name="object 78"/>
              <p:cNvSpPr/>
              <p:nvPr/>
            </p:nvSpPr>
            <p:spPr>
              <a:xfrm>
                <a:off x="8647176" y="3454908"/>
                <a:ext cx="2802890" cy="707390"/>
              </a:xfrm>
              <a:custGeom>
                <a:avLst/>
                <a:gdLst/>
                <a:ahLst/>
                <a:cxnLst/>
                <a:rect l="l" t="t" r="r" b="b"/>
                <a:pathLst>
                  <a:path w="2802890" h="707389">
                    <a:moveTo>
                      <a:pt x="2802635" y="707136"/>
                    </a:moveTo>
                    <a:lnTo>
                      <a:pt x="2802635" y="0"/>
                    </a:lnTo>
                    <a:lnTo>
                      <a:pt x="0" y="0"/>
                    </a:lnTo>
                    <a:lnTo>
                      <a:pt x="0" y="707136"/>
                    </a:lnTo>
                    <a:lnTo>
                      <a:pt x="2802635" y="707136"/>
                    </a:lnTo>
                    <a:close/>
                  </a:path>
                </a:pathLst>
              </a:custGeom>
              <a:solidFill>
                <a:srgbClr val="FFFFFF"/>
              </a:solidFill>
            </p:spPr>
            <p:txBody>
              <a:bodyPr wrap="square" lIns="0" tIns="0" rIns="0" bIns="0" rtlCol="0"/>
              <a:lstStyle/>
              <a:p>
                <a:endParaRPr/>
              </a:p>
            </p:txBody>
          </p:sp>
          <p:sp>
            <p:nvSpPr>
              <p:cNvPr id="79" name="object 79"/>
              <p:cNvSpPr/>
              <p:nvPr/>
            </p:nvSpPr>
            <p:spPr>
              <a:xfrm>
                <a:off x="8628888" y="3435096"/>
                <a:ext cx="2840990" cy="746760"/>
              </a:xfrm>
              <a:custGeom>
                <a:avLst/>
                <a:gdLst/>
                <a:ahLst/>
                <a:cxnLst/>
                <a:rect l="l" t="t" r="r" b="b"/>
                <a:pathLst>
                  <a:path w="2840990" h="746760">
                    <a:moveTo>
                      <a:pt x="2840736" y="726947"/>
                    </a:moveTo>
                    <a:lnTo>
                      <a:pt x="2840736" y="19811"/>
                    </a:lnTo>
                    <a:lnTo>
                      <a:pt x="2839140" y="12215"/>
                    </a:lnTo>
                    <a:lnTo>
                      <a:pt x="2834830" y="5905"/>
                    </a:lnTo>
                    <a:lnTo>
                      <a:pt x="2828520" y="1595"/>
                    </a:lnTo>
                    <a:lnTo>
                      <a:pt x="2820924" y="0"/>
                    </a:lnTo>
                    <a:lnTo>
                      <a:pt x="18288" y="0"/>
                    </a:lnTo>
                    <a:lnTo>
                      <a:pt x="11572" y="1595"/>
                    </a:lnTo>
                    <a:lnTo>
                      <a:pt x="5714" y="5905"/>
                    </a:lnTo>
                    <a:lnTo>
                      <a:pt x="1571" y="12215"/>
                    </a:lnTo>
                    <a:lnTo>
                      <a:pt x="0" y="19812"/>
                    </a:lnTo>
                    <a:lnTo>
                      <a:pt x="0" y="726948"/>
                    </a:lnTo>
                    <a:lnTo>
                      <a:pt x="1571" y="734544"/>
                    </a:lnTo>
                    <a:lnTo>
                      <a:pt x="5715" y="740854"/>
                    </a:lnTo>
                    <a:lnTo>
                      <a:pt x="11572" y="745164"/>
                    </a:lnTo>
                    <a:lnTo>
                      <a:pt x="18288" y="746760"/>
                    </a:lnTo>
                    <a:lnTo>
                      <a:pt x="18288" y="38100"/>
                    </a:lnTo>
                    <a:lnTo>
                      <a:pt x="38100" y="19812"/>
                    </a:lnTo>
                    <a:lnTo>
                      <a:pt x="38100" y="38100"/>
                    </a:lnTo>
                    <a:lnTo>
                      <a:pt x="2802635" y="38099"/>
                    </a:lnTo>
                    <a:lnTo>
                      <a:pt x="2802635" y="19811"/>
                    </a:lnTo>
                    <a:lnTo>
                      <a:pt x="2820924" y="38099"/>
                    </a:lnTo>
                    <a:lnTo>
                      <a:pt x="2820924" y="746759"/>
                    </a:lnTo>
                    <a:lnTo>
                      <a:pt x="2828520" y="745164"/>
                    </a:lnTo>
                    <a:lnTo>
                      <a:pt x="2834830" y="740854"/>
                    </a:lnTo>
                    <a:lnTo>
                      <a:pt x="2839140" y="734544"/>
                    </a:lnTo>
                    <a:lnTo>
                      <a:pt x="2840736" y="726947"/>
                    </a:lnTo>
                    <a:close/>
                  </a:path>
                  <a:path w="2840990" h="746760">
                    <a:moveTo>
                      <a:pt x="38100" y="38100"/>
                    </a:moveTo>
                    <a:lnTo>
                      <a:pt x="38100" y="19812"/>
                    </a:lnTo>
                    <a:lnTo>
                      <a:pt x="18288" y="38100"/>
                    </a:lnTo>
                    <a:lnTo>
                      <a:pt x="38100" y="38100"/>
                    </a:lnTo>
                    <a:close/>
                  </a:path>
                  <a:path w="2840990" h="746760">
                    <a:moveTo>
                      <a:pt x="38100" y="708660"/>
                    </a:moveTo>
                    <a:lnTo>
                      <a:pt x="38100" y="38100"/>
                    </a:lnTo>
                    <a:lnTo>
                      <a:pt x="18288" y="38100"/>
                    </a:lnTo>
                    <a:lnTo>
                      <a:pt x="18288" y="708660"/>
                    </a:lnTo>
                    <a:lnTo>
                      <a:pt x="38100" y="708660"/>
                    </a:lnTo>
                    <a:close/>
                  </a:path>
                  <a:path w="2840990" h="746760">
                    <a:moveTo>
                      <a:pt x="2820924" y="708659"/>
                    </a:moveTo>
                    <a:lnTo>
                      <a:pt x="18288" y="708660"/>
                    </a:lnTo>
                    <a:lnTo>
                      <a:pt x="38100" y="726948"/>
                    </a:lnTo>
                    <a:lnTo>
                      <a:pt x="38100" y="746760"/>
                    </a:lnTo>
                    <a:lnTo>
                      <a:pt x="2802635" y="746759"/>
                    </a:lnTo>
                    <a:lnTo>
                      <a:pt x="2802635" y="726948"/>
                    </a:lnTo>
                    <a:lnTo>
                      <a:pt x="2820924" y="708659"/>
                    </a:lnTo>
                    <a:close/>
                  </a:path>
                  <a:path w="2840990" h="746760">
                    <a:moveTo>
                      <a:pt x="38100" y="746760"/>
                    </a:moveTo>
                    <a:lnTo>
                      <a:pt x="38100" y="726948"/>
                    </a:lnTo>
                    <a:lnTo>
                      <a:pt x="18288" y="708660"/>
                    </a:lnTo>
                    <a:lnTo>
                      <a:pt x="18288" y="746760"/>
                    </a:lnTo>
                    <a:lnTo>
                      <a:pt x="38100" y="746760"/>
                    </a:lnTo>
                    <a:close/>
                  </a:path>
                  <a:path w="2840990" h="746760">
                    <a:moveTo>
                      <a:pt x="2820924" y="38099"/>
                    </a:moveTo>
                    <a:lnTo>
                      <a:pt x="2802635" y="19811"/>
                    </a:lnTo>
                    <a:lnTo>
                      <a:pt x="2802635" y="38099"/>
                    </a:lnTo>
                    <a:lnTo>
                      <a:pt x="2820924" y="38099"/>
                    </a:lnTo>
                    <a:close/>
                  </a:path>
                  <a:path w="2840990" h="746760">
                    <a:moveTo>
                      <a:pt x="2820924" y="708659"/>
                    </a:moveTo>
                    <a:lnTo>
                      <a:pt x="2820924" y="38099"/>
                    </a:lnTo>
                    <a:lnTo>
                      <a:pt x="2802635" y="38099"/>
                    </a:lnTo>
                    <a:lnTo>
                      <a:pt x="2802635" y="708659"/>
                    </a:lnTo>
                    <a:lnTo>
                      <a:pt x="2820924" y="708659"/>
                    </a:lnTo>
                    <a:close/>
                  </a:path>
                  <a:path w="2840990" h="746760">
                    <a:moveTo>
                      <a:pt x="2820924" y="746759"/>
                    </a:moveTo>
                    <a:lnTo>
                      <a:pt x="2820924" y="708659"/>
                    </a:lnTo>
                    <a:lnTo>
                      <a:pt x="2802635" y="726948"/>
                    </a:lnTo>
                    <a:lnTo>
                      <a:pt x="2802635" y="746759"/>
                    </a:lnTo>
                    <a:lnTo>
                      <a:pt x="2820924" y="746759"/>
                    </a:lnTo>
                    <a:close/>
                  </a:path>
                </a:pathLst>
              </a:custGeom>
              <a:solidFill>
                <a:srgbClr val="FF7100"/>
              </a:solidFill>
            </p:spPr>
            <p:txBody>
              <a:bodyPr wrap="square" lIns="0" tIns="0" rIns="0" bIns="0" rtlCol="0"/>
              <a:lstStyle/>
              <a:p>
                <a:endParaRPr/>
              </a:p>
            </p:txBody>
          </p:sp>
        </p:grpSp>
        <p:sp>
          <p:nvSpPr>
            <p:cNvPr id="80" name="object 80"/>
            <p:cNvSpPr txBox="1"/>
            <p:nvPr/>
          </p:nvSpPr>
          <p:spPr>
            <a:xfrm>
              <a:off x="8865426" y="4100205"/>
              <a:ext cx="2618105" cy="635635"/>
            </a:xfrm>
            <a:prstGeom prst="rect">
              <a:avLst/>
            </a:prstGeom>
          </p:spPr>
          <p:txBody>
            <a:bodyPr vert="horz" wrap="square" lIns="0" tIns="13335" rIns="0" bIns="0" rtlCol="0">
              <a:spAutoFit/>
            </a:bodyPr>
            <a:lstStyle/>
            <a:p>
              <a:pPr marL="12700" marR="5080">
                <a:lnSpc>
                  <a:spcPct val="100000"/>
                </a:lnSpc>
                <a:spcBef>
                  <a:spcPts val="105"/>
                </a:spcBef>
              </a:pPr>
              <a:r>
                <a:rPr sz="2000" spc="-5" dirty="0">
                  <a:latin typeface="Verdana"/>
                  <a:cs typeface="Verdana"/>
                </a:rPr>
                <a:t>Classic </a:t>
              </a:r>
              <a:r>
                <a:rPr sz="2000" spc="-10" dirty="0">
                  <a:latin typeface="Verdana"/>
                  <a:cs typeface="Verdana"/>
                </a:rPr>
                <a:t>Mixed-Signal </a:t>
              </a:r>
              <a:r>
                <a:rPr sz="2000" spc="-690" dirty="0">
                  <a:latin typeface="Verdana"/>
                  <a:cs typeface="Verdana"/>
                </a:rPr>
                <a:t> </a:t>
              </a:r>
              <a:r>
                <a:rPr sz="2000" dirty="0">
                  <a:latin typeface="Verdana"/>
                  <a:cs typeface="Verdana"/>
                </a:rPr>
                <a:t>vs</a:t>
              </a:r>
              <a:r>
                <a:rPr sz="2000" spc="-15" dirty="0">
                  <a:latin typeface="Verdana"/>
                  <a:cs typeface="Verdana"/>
                </a:rPr>
                <a:t> </a:t>
              </a:r>
              <a:r>
                <a:rPr sz="2000" dirty="0">
                  <a:latin typeface="Verdana"/>
                  <a:cs typeface="Verdana"/>
                </a:rPr>
                <a:t>ADC</a:t>
              </a:r>
              <a:r>
                <a:rPr sz="2000" spc="-35" dirty="0">
                  <a:latin typeface="Verdana"/>
                  <a:cs typeface="Verdana"/>
                </a:rPr>
                <a:t> </a:t>
              </a:r>
              <a:r>
                <a:rPr sz="2000" dirty="0">
                  <a:latin typeface="Verdana"/>
                  <a:cs typeface="Verdana"/>
                </a:rPr>
                <a:t>+</a:t>
              </a:r>
              <a:r>
                <a:rPr sz="2000" spc="-15" dirty="0">
                  <a:latin typeface="Verdana"/>
                  <a:cs typeface="Verdana"/>
                </a:rPr>
                <a:t> </a:t>
              </a:r>
              <a:r>
                <a:rPr sz="2000" dirty="0">
                  <a:latin typeface="Verdana"/>
                  <a:cs typeface="Verdana"/>
                </a:rPr>
                <a:t>DSP</a:t>
              </a:r>
            </a:p>
          </p:txBody>
        </p:sp>
      </p:grpSp>
      <p:grpSp>
        <p:nvGrpSpPr>
          <p:cNvPr id="81" name="object 81"/>
          <p:cNvGrpSpPr/>
          <p:nvPr/>
        </p:nvGrpSpPr>
        <p:grpSpPr>
          <a:xfrm>
            <a:off x="7943088" y="4919471"/>
            <a:ext cx="1874520" cy="745490"/>
            <a:chOff x="7943088" y="4919471"/>
            <a:chExt cx="1874520" cy="745490"/>
          </a:xfrm>
        </p:grpSpPr>
        <p:sp>
          <p:nvSpPr>
            <p:cNvPr id="82" name="object 82"/>
            <p:cNvSpPr/>
            <p:nvPr/>
          </p:nvSpPr>
          <p:spPr>
            <a:xfrm>
              <a:off x="7962900" y="4937759"/>
              <a:ext cx="1836420" cy="708660"/>
            </a:xfrm>
            <a:custGeom>
              <a:avLst/>
              <a:gdLst/>
              <a:ahLst/>
              <a:cxnLst/>
              <a:rect l="l" t="t" r="r" b="b"/>
              <a:pathLst>
                <a:path w="1836420" h="708660">
                  <a:moveTo>
                    <a:pt x="1836420" y="708660"/>
                  </a:moveTo>
                  <a:lnTo>
                    <a:pt x="1836420" y="0"/>
                  </a:lnTo>
                  <a:lnTo>
                    <a:pt x="0" y="0"/>
                  </a:lnTo>
                  <a:lnTo>
                    <a:pt x="0" y="708660"/>
                  </a:lnTo>
                  <a:lnTo>
                    <a:pt x="1836420" y="708660"/>
                  </a:lnTo>
                  <a:close/>
                </a:path>
              </a:pathLst>
            </a:custGeom>
            <a:solidFill>
              <a:srgbClr val="FFFFFF"/>
            </a:solidFill>
          </p:spPr>
          <p:txBody>
            <a:bodyPr wrap="square" lIns="0" tIns="0" rIns="0" bIns="0" rtlCol="0"/>
            <a:lstStyle/>
            <a:p>
              <a:endParaRPr/>
            </a:p>
          </p:txBody>
        </p:sp>
        <p:sp>
          <p:nvSpPr>
            <p:cNvPr id="83" name="object 83"/>
            <p:cNvSpPr/>
            <p:nvPr/>
          </p:nvSpPr>
          <p:spPr>
            <a:xfrm>
              <a:off x="7943088" y="4919471"/>
              <a:ext cx="1874520" cy="745490"/>
            </a:xfrm>
            <a:custGeom>
              <a:avLst/>
              <a:gdLst/>
              <a:ahLst/>
              <a:cxnLst/>
              <a:rect l="l" t="t" r="r" b="b"/>
              <a:pathLst>
                <a:path w="1874520" h="745489">
                  <a:moveTo>
                    <a:pt x="1874520" y="726947"/>
                  </a:moveTo>
                  <a:lnTo>
                    <a:pt x="1874520" y="18287"/>
                  </a:lnTo>
                  <a:lnTo>
                    <a:pt x="1873162" y="10929"/>
                  </a:lnTo>
                  <a:lnTo>
                    <a:pt x="1869376" y="5143"/>
                  </a:lnTo>
                  <a:lnTo>
                    <a:pt x="1863590" y="1357"/>
                  </a:lnTo>
                  <a:lnTo>
                    <a:pt x="1856232" y="0"/>
                  </a:lnTo>
                  <a:lnTo>
                    <a:pt x="19812" y="0"/>
                  </a:lnTo>
                  <a:lnTo>
                    <a:pt x="12215" y="1357"/>
                  </a:lnTo>
                  <a:lnTo>
                    <a:pt x="5905" y="5143"/>
                  </a:lnTo>
                  <a:lnTo>
                    <a:pt x="1595" y="10929"/>
                  </a:lnTo>
                  <a:lnTo>
                    <a:pt x="0" y="18287"/>
                  </a:lnTo>
                  <a:lnTo>
                    <a:pt x="0" y="726947"/>
                  </a:lnTo>
                  <a:lnTo>
                    <a:pt x="1595" y="734306"/>
                  </a:lnTo>
                  <a:lnTo>
                    <a:pt x="5905" y="740092"/>
                  </a:lnTo>
                  <a:lnTo>
                    <a:pt x="12215" y="743878"/>
                  </a:lnTo>
                  <a:lnTo>
                    <a:pt x="19812" y="745236"/>
                  </a:lnTo>
                  <a:lnTo>
                    <a:pt x="19812" y="38099"/>
                  </a:lnTo>
                  <a:lnTo>
                    <a:pt x="38100" y="18287"/>
                  </a:lnTo>
                  <a:lnTo>
                    <a:pt x="38100" y="38099"/>
                  </a:lnTo>
                  <a:lnTo>
                    <a:pt x="1836420" y="38099"/>
                  </a:lnTo>
                  <a:lnTo>
                    <a:pt x="1836420" y="18287"/>
                  </a:lnTo>
                  <a:lnTo>
                    <a:pt x="1856232" y="38099"/>
                  </a:lnTo>
                  <a:lnTo>
                    <a:pt x="1856232" y="745235"/>
                  </a:lnTo>
                  <a:lnTo>
                    <a:pt x="1863590" y="743878"/>
                  </a:lnTo>
                  <a:lnTo>
                    <a:pt x="1869376" y="740092"/>
                  </a:lnTo>
                  <a:lnTo>
                    <a:pt x="1873162" y="734306"/>
                  </a:lnTo>
                  <a:lnTo>
                    <a:pt x="1874520" y="726947"/>
                  </a:lnTo>
                  <a:close/>
                </a:path>
                <a:path w="1874520" h="745489">
                  <a:moveTo>
                    <a:pt x="38100" y="38099"/>
                  </a:moveTo>
                  <a:lnTo>
                    <a:pt x="38100" y="18287"/>
                  </a:lnTo>
                  <a:lnTo>
                    <a:pt x="19812" y="38099"/>
                  </a:lnTo>
                  <a:lnTo>
                    <a:pt x="38100" y="38099"/>
                  </a:lnTo>
                  <a:close/>
                </a:path>
                <a:path w="1874520" h="745489">
                  <a:moveTo>
                    <a:pt x="38100" y="707136"/>
                  </a:moveTo>
                  <a:lnTo>
                    <a:pt x="38100" y="38099"/>
                  </a:lnTo>
                  <a:lnTo>
                    <a:pt x="19812" y="38099"/>
                  </a:lnTo>
                  <a:lnTo>
                    <a:pt x="19812" y="707136"/>
                  </a:lnTo>
                  <a:lnTo>
                    <a:pt x="38100" y="707136"/>
                  </a:lnTo>
                  <a:close/>
                </a:path>
                <a:path w="1874520" h="745489">
                  <a:moveTo>
                    <a:pt x="1856232" y="707135"/>
                  </a:moveTo>
                  <a:lnTo>
                    <a:pt x="19812" y="707136"/>
                  </a:lnTo>
                  <a:lnTo>
                    <a:pt x="38100" y="726947"/>
                  </a:lnTo>
                  <a:lnTo>
                    <a:pt x="38100" y="745236"/>
                  </a:lnTo>
                  <a:lnTo>
                    <a:pt x="1836420" y="745235"/>
                  </a:lnTo>
                  <a:lnTo>
                    <a:pt x="1836420" y="726947"/>
                  </a:lnTo>
                  <a:lnTo>
                    <a:pt x="1856232" y="707135"/>
                  </a:lnTo>
                  <a:close/>
                </a:path>
                <a:path w="1874520" h="745489">
                  <a:moveTo>
                    <a:pt x="38100" y="745236"/>
                  </a:moveTo>
                  <a:lnTo>
                    <a:pt x="38100" y="726947"/>
                  </a:lnTo>
                  <a:lnTo>
                    <a:pt x="19812" y="707136"/>
                  </a:lnTo>
                  <a:lnTo>
                    <a:pt x="19812" y="745236"/>
                  </a:lnTo>
                  <a:lnTo>
                    <a:pt x="38100" y="745236"/>
                  </a:lnTo>
                  <a:close/>
                </a:path>
                <a:path w="1874520" h="745489">
                  <a:moveTo>
                    <a:pt x="1856232" y="38099"/>
                  </a:moveTo>
                  <a:lnTo>
                    <a:pt x="1836420" y="18287"/>
                  </a:lnTo>
                  <a:lnTo>
                    <a:pt x="1836420" y="38099"/>
                  </a:lnTo>
                  <a:lnTo>
                    <a:pt x="1856232" y="38099"/>
                  </a:lnTo>
                  <a:close/>
                </a:path>
                <a:path w="1874520" h="745489">
                  <a:moveTo>
                    <a:pt x="1856232" y="707135"/>
                  </a:moveTo>
                  <a:lnTo>
                    <a:pt x="1856232" y="38099"/>
                  </a:lnTo>
                  <a:lnTo>
                    <a:pt x="1836420" y="38099"/>
                  </a:lnTo>
                  <a:lnTo>
                    <a:pt x="1836420" y="707135"/>
                  </a:lnTo>
                  <a:lnTo>
                    <a:pt x="1856232" y="707135"/>
                  </a:lnTo>
                  <a:close/>
                </a:path>
                <a:path w="1874520" h="745489">
                  <a:moveTo>
                    <a:pt x="1856232" y="745235"/>
                  </a:moveTo>
                  <a:lnTo>
                    <a:pt x="1856232" y="707135"/>
                  </a:lnTo>
                  <a:lnTo>
                    <a:pt x="1836420" y="726947"/>
                  </a:lnTo>
                  <a:lnTo>
                    <a:pt x="1836420" y="745235"/>
                  </a:lnTo>
                  <a:lnTo>
                    <a:pt x="1856232" y="745235"/>
                  </a:lnTo>
                  <a:close/>
                </a:path>
              </a:pathLst>
            </a:custGeom>
            <a:solidFill>
              <a:srgbClr val="FF7100"/>
            </a:solidFill>
          </p:spPr>
          <p:txBody>
            <a:bodyPr wrap="square" lIns="0" tIns="0" rIns="0" bIns="0" rtlCol="0"/>
            <a:lstStyle/>
            <a:p>
              <a:endParaRPr/>
            </a:p>
          </p:txBody>
        </p:sp>
      </p:grpSp>
      <p:sp>
        <p:nvSpPr>
          <p:cNvPr id="84" name="object 84"/>
          <p:cNvSpPr txBox="1"/>
          <p:nvPr/>
        </p:nvSpPr>
        <p:spPr>
          <a:xfrm>
            <a:off x="8049259" y="4967732"/>
            <a:ext cx="1660525" cy="635635"/>
          </a:xfrm>
          <a:prstGeom prst="rect">
            <a:avLst/>
          </a:prstGeom>
        </p:spPr>
        <p:txBody>
          <a:bodyPr vert="horz" wrap="square" lIns="0" tIns="13335" rIns="0" bIns="0" rtlCol="0">
            <a:spAutoFit/>
          </a:bodyPr>
          <a:lstStyle/>
          <a:p>
            <a:pPr marL="146685" marR="5080" indent="-134620">
              <a:lnSpc>
                <a:spcPct val="100000"/>
              </a:lnSpc>
              <a:spcBef>
                <a:spcPts val="105"/>
              </a:spcBef>
            </a:pPr>
            <a:r>
              <a:rPr sz="2000" spc="-5" dirty="0">
                <a:latin typeface="Verdana"/>
                <a:cs typeface="Verdana"/>
              </a:rPr>
              <a:t>Clock</a:t>
            </a:r>
            <a:r>
              <a:rPr sz="2000" spc="-70" dirty="0">
                <a:latin typeface="Verdana"/>
                <a:cs typeface="Verdana"/>
              </a:rPr>
              <a:t> </a:t>
            </a:r>
            <a:r>
              <a:rPr sz="2000" spc="-5" dirty="0">
                <a:latin typeface="Verdana"/>
                <a:cs typeface="Verdana"/>
              </a:rPr>
              <a:t>Timing </a:t>
            </a:r>
            <a:r>
              <a:rPr sz="2000" spc="-690" dirty="0">
                <a:latin typeface="Verdana"/>
                <a:cs typeface="Verdana"/>
              </a:rPr>
              <a:t> </a:t>
            </a:r>
            <a:r>
              <a:rPr sz="2000" spc="-10" dirty="0">
                <a:latin typeface="Verdana"/>
                <a:cs typeface="Verdana"/>
              </a:rPr>
              <a:t>Calibration</a:t>
            </a:r>
            <a:endParaRPr sz="2000">
              <a:latin typeface="Verdana"/>
              <a:cs typeface="Verdana"/>
            </a:endParaRPr>
          </a:p>
        </p:txBody>
      </p:sp>
      <p:grpSp>
        <p:nvGrpSpPr>
          <p:cNvPr id="85" name="object 85"/>
          <p:cNvGrpSpPr/>
          <p:nvPr/>
        </p:nvGrpSpPr>
        <p:grpSpPr>
          <a:xfrm>
            <a:off x="8717280" y="1578863"/>
            <a:ext cx="3217545" cy="439420"/>
            <a:chOff x="8717280" y="1578863"/>
            <a:chExt cx="3217545" cy="439420"/>
          </a:xfrm>
        </p:grpSpPr>
        <p:sp>
          <p:nvSpPr>
            <p:cNvPr id="86" name="object 86"/>
            <p:cNvSpPr/>
            <p:nvPr/>
          </p:nvSpPr>
          <p:spPr>
            <a:xfrm>
              <a:off x="8735568" y="1598675"/>
              <a:ext cx="3179445" cy="399415"/>
            </a:xfrm>
            <a:custGeom>
              <a:avLst/>
              <a:gdLst/>
              <a:ahLst/>
              <a:cxnLst/>
              <a:rect l="l" t="t" r="r" b="b"/>
              <a:pathLst>
                <a:path w="3179445" h="399414">
                  <a:moveTo>
                    <a:pt x="3179064" y="399288"/>
                  </a:moveTo>
                  <a:lnTo>
                    <a:pt x="3179064" y="0"/>
                  </a:lnTo>
                  <a:lnTo>
                    <a:pt x="0" y="0"/>
                  </a:lnTo>
                  <a:lnTo>
                    <a:pt x="0" y="399288"/>
                  </a:lnTo>
                  <a:lnTo>
                    <a:pt x="3179064" y="399288"/>
                  </a:lnTo>
                  <a:close/>
                </a:path>
              </a:pathLst>
            </a:custGeom>
            <a:solidFill>
              <a:srgbClr val="FFFFFF"/>
            </a:solidFill>
          </p:spPr>
          <p:txBody>
            <a:bodyPr wrap="square" lIns="0" tIns="0" rIns="0" bIns="0" rtlCol="0"/>
            <a:lstStyle/>
            <a:p>
              <a:endParaRPr/>
            </a:p>
          </p:txBody>
        </p:sp>
        <p:sp>
          <p:nvSpPr>
            <p:cNvPr id="87" name="object 87"/>
            <p:cNvSpPr/>
            <p:nvPr/>
          </p:nvSpPr>
          <p:spPr>
            <a:xfrm>
              <a:off x="8717280" y="1578863"/>
              <a:ext cx="3217545" cy="439420"/>
            </a:xfrm>
            <a:custGeom>
              <a:avLst/>
              <a:gdLst/>
              <a:ahLst/>
              <a:cxnLst/>
              <a:rect l="l" t="t" r="r" b="b"/>
              <a:pathLst>
                <a:path w="3217545" h="439419">
                  <a:moveTo>
                    <a:pt x="3217164" y="419099"/>
                  </a:moveTo>
                  <a:lnTo>
                    <a:pt x="3217164" y="19811"/>
                  </a:lnTo>
                  <a:lnTo>
                    <a:pt x="3215568" y="12215"/>
                  </a:lnTo>
                  <a:lnTo>
                    <a:pt x="3211258" y="5905"/>
                  </a:lnTo>
                  <a:lnTo>
                    <a:pt x="3204948" y="1595"/>
                  </a:lnTo>
                  <a:lnTo>
                    <a:pt x="3197352" y="0"/>
                  </a:lnTo>
                  <a:lnTo>
                    <a:pt x="18288" y="0"/>
                  </a:lnTo>
                  <a:lnTo>
                    <a:pt x="10929" y="1595"/>
                  </a:lnTo>
                  <a:lnTo>
                    <a:pt x="5143" y="5905"/>
                  </a:lnTo>
                  <a:lnTo>
                    <a:pt x="1357" y="12215"/>
                  </a:lnTo>
                  <a:lnTo>
                    <a:pt x="0" y="19812"/>
                  </a:lnTo>
                  <a:lnTo>
                    <a:pt x="0" y="419100"/>
                  </a:lnTo>
                  <a:lnTo>
                    <a:pt x="1357" y="426696"/>
                  </a:lnTo>
                  <a:lnTo>
                    <a:pt x="5143" y="433006"/>
                  </a:lnTo>
                  <a:lnTo>
                    <a:pt x="10929" y="437316"/>
                  </a:lnTo>
                  <a:lnTo>
                    <a:pt x="18288" y="438912"/>
                  </a:lnTo>
                  <a:lnTo>
                    <a:pt x="18288" y="38100"/>
                  </a:lnTo>
                  <a:lnTo>
                    <a:pt x="38100" y="19812"/>
                  </a:lnTo>
                  <a:lnTo>
                    <a:pt x="38100" y="38100"/>
                  </a:lnTo>
                  <a:lnTo>
                    <a:pt x="3179063" y="38099"/>
                  </a:lnTo>
                  <a:lnTo>
                    <a:pt x="3179063" y="19811"/>
                  </a:lnTo>
                  <a:lnTo>
                    <a:pt x="3197352" y="38099"/>
                  </a:lnTo>
                  <a:lnTo>
                    <a:pt x="3197352" y="438911"/>
                  </a:lnTo>
                  <a:lnTo>
                    <a:pt x="3204948" y="437316"/>
                  </a:lnTo>
                  <a:lnTo>
                    <a:pt x="3211258" y="433006"/>
                  </a:lnTo>
                  <a:lnTo>
                    <a:pt x="3215568" y="426696"/>
                  </a:lnTo>
                  <a:lnTo>
                    <a:pt x="3217164" y="419099"/>
                  </a:lnTo>
                  <a:close/>
                </a:path>
                <a:path w="3217545" h="439419">
                  <a:moveTo>
                    <a:pt x="38100" y="38100"/>
                  </a:moveTo>
                  <a:lnTo>
                    <a:pt x="38100" y="19812"/>
                  </a:lnTo>
                  <a:lnTo>
                    <a:pt x="18288" y="38100"/>
                  </a:lnTo>
                  <a:lnTo>
                    <a:pt x="38100" y="38100"/>
                  </a:lnTo>
                  <a:close/>
                </a:path>
                <a:path w="3217545" h="439419">
                  <a:moveTo>
                    <a:pt x="38100" y="400812"/>
                  </a:moveTo>
                  <a:lnTo>
                    <a:pt x="38100" y="38100"/>
                  </a:lnTo>
                  <a:lnTo>
                    <a:pt x="18288" y="38100"/>
                  </a:lnTo>
                  <a:lnTo>
                    <a:pt x="18288" y="400812"/>
                  </a:lnTo>
                  <a:lnTo>
                    <a:pt x="38100" y="400812"/>
                  </a:lnTo>
                  <a:close/>
                </a:path>
                <a:path w="3217545" h="439419">
                  <a:moveTo>
                    <a:pt x="3197352" y="400811"/>
                  </a:moveTo>
                  <a:lnTo>
                    <a:pt x="18288" y="400812"/>
                  </a:lnTo>
                  <a:lnTo>
                    <a:pt x="38100" y="419100"/>
                  </a:lnTo>
                  <a:lnTo>
                    <a:pt x="38100" y="438912"/>
                  </a:lnTo>
                  <a:lnTo>
                    <a:pt x="3179063" y="438911"/>
                  </a:lnTo>
                  <a:lnTo>
                    <a:pt x="3179063" y="419100"/>
                  </a:lnTo>
                  <a:lnTo>
                    <a:pt x="3197352" y="400811"/>
                  </a:lnTo>
                  <a:close/>
                </a:path>
                <a:path w="3217545" h="439419">
                  <a:moveTo>
                    <a:pt x="38100" y="438912"/>
                  </a:moveTo>
                  <a:lnTo>
                    <a:pt x="38100" y="419100"/>
                  </a:lnTo>
                  <a:lnTo>
                    <a:pt x="18288" y="400812"/>
                  </a:lnTo>
                  <a:lnTo>
                    <a:pt x="18287" y="438912"/>
                  </a:lnTo>
                  <a:lnTo>
                    <a:pt x="38100" y="438912"/>
                  </a:lnTo>
                  <a:close/>
                </a:path>
                <a:path w="3217545" h="439419">
                  <a:moveTo>
                    <a:pt x="3197352" y="38099"/>
                  </a:moveTo>
                  <a:lnTo>
                    <a:pt x="3179063" y="19811"/>
                  </a:lnTo>
                  <a:lnTo>
                    <a:pt x="3179063" y="38099"/>
                  </a:lnTo>
                  <a:lnTo>
                    <a:pt x="3197352" y="38099"/>
                  </a:lnTo>
                  <a:close/>
                </a:path>
                <a:path w="3217545" h="439419">
                  <a:moveTo>
                    <a:pt x="3197352" y="400811"/>
                  </a:moveTo>
                  <a:lnTo>
                    <a:pt x="3197352" y="38099"/>
                  </a:lnTo>
                  <a:lnTo>
                    <a:pt x="3179063" y="38099"/>
                  </a:lnTo>
                  <a:lnTo>
                    <a:pt x="3179063" y="400811"/>
                  </a:lnTo>
                  <a:lnTo>
                    <a:pt x="3197352" y="400811"/>
                  </a:lnTo>
                  <a:close/>
                </a:path>
                <a:path w="3217545" h="439419">
                  <a:moveTo>
                    <a:pt x="3197352" y="438911"/>
                  </a:moveTo>
                  <a:lnTo>
                    <a:pt x="3197352" y="400811"/>
                  </a:lnTo>
                  <a:lnTo>
                    <a:pt x="3179063" y="419100"/>
                  </a:lnTo>
                  <a:lnTo>
                    <a:pt x="3179063" y="438911"/>
                  </a:lnTo>
                  <a:lnTo>
                    <a:pt x="3197352" y="438911"/>
                  </a:lnTo>
                  <a:close/>
                </a:path>
              </a:pathLst>
            </a:custGeom>
            <a:solidFill>
              <a:srgbClr val="FF7100"/>
            </a:solidFill>
          </p:spPr>
          <p:txBody>
            <a:bodyPr wrap="square" lIns="0" tIns="0" rIns="0" bIns="0" rtlCol="0"/>
            <a:lstStyle/>
            <a:p>
              <a:endParaRPr/>
            </a:p>
          </p:txBody>
        </p:sp>
      </p:grpSp>
      <p:sp>
        <p:nvSpPr>
          <p:cNvPr id="88" name="object 88"/>
          <p:cNvSpPr txBox="1"/>
          <p:nvPr/>
        </p:nvSpPr>
        <p:spPr>
          <a:xfrm>
            <a:off x="8814307" y="1627124"/>
            <a:ext cx="298831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Verdana"/>
                <a:cs typeface="Verdana"/>
              </a:rPr>
              <a:t>Comparator</a:t>
            </a:r>
            <a:r>
              <a:rPr sz="2000" spc="-25" dirty="0">
                <a:latin typeface="Verdana"/>
                <a:cs typeface="Verdana"/>
              </a:rPr>
              <a:t> </a:t>
            </a:r>
            <a:r>
              <a:rPr sz="2000" spc="-10" dirty="0">
                <a:latin typeface="Verdana"/>
                <a:cs typeface="Verdana"/>
              </a:rPr>
              <a:t>Calibration</a:t>
            </a:r>
            <a:endParaRPr sz="2000">
              <a:latin typeface="Verdana"/>
              <a:cs typeface="Verdana"/>
            </a:endParaRPr>
          </a:p>
        </p:txBody>
      </p:sp>
      <p:sp>
        <p:nvSpPr>
          <p:cNvPr id="90" name="Slide Number Placeholder 8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13</a:t>
            </a:fld>
            <a:endParaRPr lang="en-US" spc="-50" dirty="0"/>
          </a:p>
        </p:txBody>
      </p:sp>
      <p:sp>
        <p:nvSpPr>
          <p:cNvPr id="91" name="Date Placeholder 9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92" name="Footer Placeholder 9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3239521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6836" y="302768"/>
            <a:ext cx="6729095" cy="605155"/>
          </a:xfrm>
          <a:prstGeom prst="rect">
            <a:avLst/>
          </a:prstGeom>
        </p:spPr>
        <p:txBody>
          <a:bodyPr vert="horz" wrap="square" lIns="0" tIns="13335" rIns="0" bIns="0" rtlCol="0">
            <a:spAutoFit/>
          </a:bodyPr>
          <a:lstStyle/>
          <a:p>
            <a:pPr marL="12700">
              <a:lnSpc>
                <a:spcPct val="100000"/>
              </a:lnSpc>
              <a:spcBef>
                <a:spcPts val="105"/>
              </a:spcBef>
            </a:pPr>
            <a:r>
              <a:rPr dirty="0"/>
              <a:t>Wireline</a:t>
            </a:r>
            <a:r>
              <a:rPr spc="-40" dirty="0"/>
              <a:t> </a:t>
            </a:r>
            <a:r>
              <a:rPr spc="-5" dirty="0"/>
              <a:t>Research</a:t>
            </a:r>
            <a:r>
              <a:rPr spc="-45" dirty="0"/>
              <a:t> </a:t>
            </a:r>
            <a:r>
              <a:rPr dirty="0"/>
              <a:t>at</a:t>
            </a:r>
            <a:r>
              <a:rPr spc="5" dirty="0"/>
              <a:t> </a:t>
            </a:r>
            <a:r>
              <a:rPr dirty="0"/>
              <a:t>ISSCC</a:t>
            </a:r>
          </a:p>
        </p:txBody>
      </p:sp>
      <p:grpSp>
        <p:nvGrpSpPr>
          <p:cNvPr id="3" name="object 3"/>
          <p:cNvGrpSpPr/>
          <p:nvPr/>
        </p:nvGrpSpPr>
        <p:grpSpPr>
          <a:xfrm>
            <a:off x="190" y="1665732"/>
            <a:ext cx="6090285" cy="3909060"/>
            <a:chOff x="190" y="1665732"/>
            <a:chExt cx="6090285" cy="3909060"/>
          </a:xfrm>
        </p:grpSpPr>
        <p:pic>
          <p:nvPicPr>
            <p:cNvPr id="4" name="object 4"/>
            <p:cNvPicPr/>
            <p:nvPr/>
          </p:nvPicPr>
          <p:blipFill>
            <a:blip r:embed="rId2" cstate="print"/>
            <a:stretch>
              <a:fillRect/>
            </a:stretch>
          </p:blipFill>
          <p:spPr>
            <a:xfrm>
              <a:off x="190" y="1665732"/>
              <a:ext cx="6089713" cy="3909060"/>
            </a:xfrm>
            <a:prstGeom prst="rect">
              <a:avLst/>
            </a:prstGeom>
          </p:spPr>
        </p:pic>
        <p:pic>
          <p:nvPicPr>
            <p:cNvPr id="5" name="object 5"/>
            <p:cNvPicPr/>
            <p:nvPr/>
          </p:nvPicPr>
          <p:blipFill>
            <a:blip r:embed="rId3" cstate="print"/>
            <a:stretch>
              <a:fillRect/>
            </a:stretch>
          </p:blipFill>
          <p:spPr>
            <a:xfrm>
              <a:off x="897636" y="1673352"/>
              <a:ext cx="193547" cy="193548"/>
            </a:xfrm>
            <a:prstGeom prst="rect">
              <a:avLst/>
            </a:prstGeom>
          </p:spPr>
        </p:pic>
      </p:grpSp>
      <p:pic>
        <p:nvPicPr>
          <p:cNvPr id="6" name="object 6"/>
          <p:cNvPicPr/>
          <p:nvPr/>
        </p:nvPicPr>
        <p:blipFill>
          <a:blip r:embed="rId4" cstate="print"/>
          <a:stretch>
            <a:fillRect/>
          </a:stretch>
        </p:blipFill>
        <p:spPr>
          <a:xfrm>
            <a:off x="6204203" y="1424939"/>
            <a:ext cx="5984748" cy="4443984"/>
          </a:xfrm>
          <a:prstGeom prst="rect">
            <a:avLst/>
          </a:prstGeom>
        </p:spPr>
      </p:pic>
      <p:sp>
        <p:nvSpPr>
          <p:cNvPr id="7" name="object 7"/>
          <p:cNvSpPr txBox="1"/>
          <p:nvPr/>
        </p:nvSpPr>
        <p:spPr>
          <a:xfrm>
            <a:off x="10224007" y="5898896"/>
            <a:ext cx="1918335"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Verdana"/>
                <a:cs typeface="Verdana"/>
              </a:rPr>
              <a:t>[ISSCC</a:t>
            </a:r>
            <a:r>
              <a:rPr sz="1400" spc="-50" dirty="0">
                <a:latin typeface="Verdana"/>
                <a:cs typeface="Verdana"/>
              </a:rPr>
              <a:t> </a:t>
            </a:r>
            <a:r>
              <a:rPr sz="1400" spc="-25" dirty="0">
                <a:latin typeface="Verdana"/>
                <a:cs typeface="Verdana"/>
              </a:rPr>
              <a:t>Trends</a:t>
            </a:r>
            <a:r>
              <a:rPr sz="1400" spc="-35" dirty="0">
                <a:latin typeface="Verdana"/>
                <a:cs typeface="Verdana"/>
              </a:rPr>
              <a:t> </a:t>
            </a:r>
            <a:r>
              <a:rPr sz="1400" spc="-5" dirty="0">
                <a:latin typeface="Verdana"/>
                <a:cs typeface="Verdana"/>
              </a:rPr>
              <a:t>2018]</a:t>
            </a:r>
            <a:endParaRPr sz="1400">
              <a:latin typeface="Verdana"/>
              <a:cs typeface="Verdana"/>
            </a:endParaRPr>
          </a:p>
        </p:txBody>
      </p:sp>
      <p:sp>
        <p:nvSpPr>
          <p:cNvPr id="8" name="object 8"/>
          <p:cNvSpPr txBox="1"/>
          <p:nvPr/>
        </p:nvSpPr>
        <p:spPr>
          <a:xfrm>
            <a:off x="1044955" y="1349755"/>
            <a:ext cx="286956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Verdana"/>
                <a:cs typeface="Verdana"/>
              </a:rPr>
              <a:t>100+</a:t>
            </a:r>
            <a:r>
              <a:rPr sz="1800" dirty="0">
                <a:latin typeface="Verdana"/>
                <a:cs typeface="Verdana"/>
              </a:rPr>
              <a:t> </a:t>
            </a:r>
            <a:r>
              <a:rPr sz="1800" spc="-5" dirty="0">
                <a:latin typeface="Verdana"/>
                <a:cs typeface="Verdana"/>
              </a:rPr>
              <a:t>Gb/s</a:t>
            </a:r>
            <a:r>
              <a:rPr sz="1800" spc="-15" dirty="0">
                <a:latin typeface="Verdana"/>
                <a:cs typeface="Verdana"/>
              </a:rPr>
              <a:t> </a:t>
            </a:r>
            <a:r>
              <a:rPr sz="1800" spc="-5" dirty="0">
                <a:latin typeface="Verdana"/>
                <a:cs typeface="Verdana"/>
              </a:rPr>
              <a:t>(2019–2020)</a:t>
            </a:r>
            <a:endParaRPr sz="1800">
              <a:latin typeface="Verdana"/>
              <a:cs typeface="Verdana"/>
            </a:endParaRPr>
          </a:p>
        </p:txBody>
      </p:sp>
      <p:sp>
        <p:nvSpPr>
          <p:cNvPr id="9" name="Slide Number Placeholder 8"/>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14</a:t>
            </a:fld>
            <a:endParaRPr lang="en-US" spc="-50" dirty="0"/>
          </a:p>
        </p:txBody>
      </p:sp>
      <p:sp>
        <p:nvSpPr>
          <p:cNvPr id="10" name="Date Placeholder 9"/>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 name="Footer Placeholder 1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42307154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p:txBody>
          <a:bodyPr/>
          <a:lstStyle/>
          <a:p>
            <a:r>
              <a:rPr lang="en-US" sz="2800" dirty="0" smtClean="0"/>
              <a:t>Wireline/Optical Links </a:t>
            </a:r>
            <a:r>
              <a:rPr lang="en-US" sz="2800" dirty="0"/>
              <a:t>P</a:t>
            </a:r>
            <a:r>
              <a:rPr lang="en-US" sz="2800" dirty="0" smtClean="0"/>
              <a:t>erformance </a:t>
            </a:r>
            <a:r>
              <a:rPr lang="en-US" sz="2800" dirty="0"/>
              <a:t>P</a:t>
            </a:r>
            <a:r>
              <a:rPr lang="en-US" sz="2800" dirty="0" smtClean="0"/>
              <a:t>arameters</a:t>
            </a:r>
            <a:endParaRPr lang="en-US" sz="2800" dirty="0"/>
          </a:p>
        </p:txBody>
      </p:sp>
      <p:sp>
        <p:nvSpPr>
          <p:cNvPr id="4" name="Date Placeholder 3">
            <a:extLst>
              <a:ext uri="{FF2B5EF4-FFF2-40B4-BE49-F238E27FC236}">
                <a16:creationId xmlns:a16="http://schemas.microsoft.com/office/drawing/2014/main" id="{C9BAE22F-9A95-6E47-BBA6-65EDD894AA26}"/>
              </a:ext>
            </a:extLst>
          </p:cNvPr>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Slide Number Placeholder 5">
            <a:extLst>
              <a:ext uri="{FF2B5EF4-FFF2-40B4-BE49-F238E27FC236}">
                <a16:creationId xmlns:a16="http://schemas.microsoft.com/office/drawing/2014/main" id="{3F6BF20A-4150-A04F-B584-430820875AE7}"/>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a:extLst>
              <a:ext uri="{FF2B5EF4-FFF2-40B4-BE49-F238E27FC236}">
                <a16:creationId xmlns:a16="http://schemas.microsoft.com/office/drawing/2014/main" id="{E416D04B-E0A7-5849-88CB-2A3326CBCE37}"/>
              </a:ext>
            </a:extLst>
          </p:cNvPr>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4364573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4550" y="293624"/>
            <a:ext cx="8087995" cy="604520"/>
          </a:xfrm>
          <a:prstGeom prst="rect">
            <a:avLst/>
          </a:prstGeom>
        </p:spPr>
        <p:txBody>
          <a:bodyPr vert="horz" wrap="square" lIns="0" tIns="12065" rIns="0" bIns="0" rtlCol="0">
            <a:spAutoFit/>
          </a:bodyPr>
          <a:lstStyle/>
          <a:p>
            <a:pPr marL="12700">
              <a:lnSpc>
                <a:spcPct val="100000"/>
              </a:lnSpc>
              <a:spcBef>
                <a:spcPts val="95"/>
              </a:spcBef>
            </a:pPr>
            <a:r>
              <a:rPr spc="-10" dirty="0"/>
              <a:t>Electrical</a:t>
            </a:r>
            <a:r>
              <a:rPr spc="20" dirty="0"/>
              <a:t> </a:t>
            </a:r>
            <a:r>
              <a:rPr spc="-5" dirty="0"/>
              <a:t>I/O</a:t>
            </a:r>
            <a:r>
              <a:rPr dirty="0"/>
              <a:t> </a:t>
            </a:r>
            <a:r>
              <a:rPr spc="-10" dirty="0"/>
              <a:t>Channel</a:t>
            </a:r>
            <a:r>
              <a:rPr spc="-5" dirty="0"/>
              <a:t> Loss</a:t>
            </a:r>
            <a:r>
              <a:rPr spc="25" dirty="0"/>
              <a:t> </a:t>
            </a:r>
            <a:r>
              <a:rPr spc="-5" dirty="0">
                <a:latin typeface="Wingdings"/>
                <a:cs typeface="Wingdings"/>
              </a:rPr>
              <a:t></a:t>
            </a:r>
            <a:r>
              <a:rPr spc="390" dirty="0">
                <a:latin typeface="Times New Roman"/>
                <a:cs typeface="Times New Roman"/>
              </a:rPr>
              <a:t> </a:t>
            </a:r>
            <a:r>
              <a:rPr spc="-5" dirty="0"/>
              <a:t>ISI</a:t>
            </a:r>
          </a:p>
        </p:txBody>
      </p:sp>
      <p:sp>
        <p:nvSpPr>
          <p:cNvPr id="3" name="object 3"/>
          <p:cNvSpPr txBox="1"/>
          <p:nvPr/>
        </p:nvSpPr>
        <p:spPr>
          <a:xfrm>
            <a:off x="834644" y="4269739"/>
            <a:ext cx="1071689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482600" algn="l"/>
              </a:tabLst>
              <a:defRPr/>
            </a:pPr>
            <a:r>
              <a:rPr kumimoji="0" sz="2000" b="0" i="0" u="none" strike="noStrike" kern="1200" cap="none" spc="-5" normalizeH="0" baseline="0" noProof="0" dirty="0">
                <a:ln>
                  <a:noFill/>
                </a:ln>
                <a:solidFill>
                  <a:srgbClr val="CC0000"/>
                </a:solidFill>
                <a:effectLst/>
                <a:uLnTx/>
                <a:uFillTx/>
                <a:latin typeface="Wingdings"/>
                <a:ea typeface="+mn-ea"/>
                <a:cs typeface="Wingdings"/>
              </a:rPr>
              <a:t></a:t>
            </a:r>
            <a:r>
              <a:rPr kumimoji="0" sz="2000" b="0" i="0" u="none" strike="noStrike" kern="1200" cap="none" spc="-5" normalizeH="0" baseline="0" noProof="0" dirty="0">
                <a:ln>
                  <a:noFill/>
                </a:ln>
                <a:solidFill>
                  <a:srgbClr val="CC0000"/>
                </a:solidFill>
                <a:effectLst/>
                <a:uLnTx/>
                <a:uFillTx/>
                <a:latin typeface="Times New Roman"/>
                <a:ea typeface="+mn-ea"/>
                <a:cs typeface="Times New Roman"/>
              </a:rPr>
              <a:t>	</a:t>
            </a:r>
            <a:r>
              <a:rPr kumimoji="0" sz="2000" b="0" i="0" u="none" strike="noStrike" kern="1200" cap="none" spc="-5" normalizeH="0" baseline="0" noProof="0" dirty="0">
                <a:ln>
                  <a:noFill/>
                </a:ln>
                <a:solidFill>
                  <a:prstClr val="black"/>
                </a:solidFill>
                <a:effectLst/>
                <a:uLnTx/>
                <a:uFillTx/>
                <a:latin typeface="Verdana"/>
                <a:ea typeface="+mn-ea"/>
                <a:cs typeface="Verdana"/>
              </a:rPr>
              <a:t>Frequency-dependent</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loss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in</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Cu</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channel</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creates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inter-symbol</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interference</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(ISI)</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sp>
        <p:nvSpPr>
          <p:cNvPr id="4" name="object 4"/>
          <p:cNvSpPr txBox="1"/>
          <p:nvPr/>
        </p:nvSpPr>
        <p:spPr>
          <a:xfrm>
            <a:off x="834644" y="4574235"/>
            <a:ext cx="5842635" cy="756920"/>
          </a:xfrm>
          <a:prstGeom prst="rect">
            <a:avLst/>
          </a:prstGeom>
        </p:spPr>
        <p:txBody>
          <a:bodyPr vert="horz" wrap="square" lIns="0" tIns="73660" rIns="0" bIns="0" rtlCol="0">
            <a:spAutoFit/>
          </a:bodyPr>
          <a:lstStyle/>
          <a:p>
            <a:pPr marL="482600" marR="0" lvl="0" indent="-470534" algn="l" defTabSz="914400" rtl="0" eaLnBrk="1" fontAlgn="auto" latinLnBrk="0" hangingPunct="1">
              <a:lnSpc>
                <a:spcPct val="100000"/>
              </a:lnSpc>
              <a:spcBef>
                <a:spcPts val="580"/>
              </a:spcBef>
              <a:spcAft>
                <a:spcPts val="0"/>
              </a:spcAft>
              <a:buClr>
                <a:srgbClr val="CC0000"/>
              </a:buClr>
              <a:buSzTx/>
              <a:buFont typeface="Wingdings"/>
              <a:buChar char=""/>
              <a:tabLst>
                <a:tab pos="482600" algn="l"/>
                <a:tab pos="483234"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Loss</a:t>
            </a:r>
            <a:r>
              <a:rPr kumimoji="0" sz="2000" b="0" i="0" u="none" strike="noStrike" kern="1200" cap="none" spc="-10" normalizeH="0" baseline="0" noProof="0" dirty="0">
                <a:ln>
                  <a:noFill/>
                </a:ln>
                <a:solidFill>
                  <a:prstClr val="black"/>
                </a:solidFill>
                <a:effectLst/>
                <a:uLnTx/>
                <a:uFillTx/>
                <a:latin typeface="Verdana"/>
                <a:ea typeface="+mn-ea"/>
                <a:cs typeface="Verdana"/>
              </a:rPr>
              <a:t> increases</a:t>
            </a:r>
            <a:r>
              <a:rPr kumimoji="0" sz="2000" b="0" i="0" u="none" strike="noStrike" kern="1200" cap="none" spc="-5" normalizeH="0" baseline="0" noProof="0" dirty="0">
                <a:ln>
                  <a:noFill/>
                </a:ln>
                <a:solidFill>
                  <a:prstClr val="black"/>
                </a:solidFill>
                <a:effectLst/>
                <a:uLnTx/>
                <a:uFillTx/>
                <a:latin typeface="Verdana"/>
                <a:ea typeface="+mn-ea"/>
                <a:cs typeface="Verdana"/>
              </a:rPr>
              <a:t> at</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high data</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rates</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482600" marR="0" lvl="0" indent="-470534" algn="l" defTabSz="914400" rtl="0" eaLnBrk="1" fontAlgn="auto" latinLnBrk="0" hangingPunct="1">
              <a:lnSpc>
                <a:spcPct val="100000"/>
              </a:lnSpc>
              <a:spcBef>
                <a:spcPts val="480"/>
              </a:spcBef>
              <a:spcAft>
                <a:spcPts val="0"/>
              </a:spcAft>
              <a:buClr>
                <a:srgbClr val="CC0000"/>
              </a:buClr>
              <a:buSzTx/>
              <a:buFont typeface="Wingdings"/>
              <a:buChar char=""/>
              <a:tabLst>
                <a:tab pos="482600" algn="l"/>
                <a:tab pos="483234"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Loss</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increases</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with</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length</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of</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interconnect</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sp>
        <p:nvSpPr>
          <p:cNvPr id="5" name="object 5"/>
          <p:cNvSpPr/>
          <p:nvPr/>
        </p:nvSpPr>
        <p:spPr>
          <a:xfrm>
            <a:off x="3508248" y="1725167"/>
            <a:ext cx="1518920" cy="295910"/>
          </a:xfrm>
          <a:custGeom>
            <a:avLst/>
            <a:gdLst/>
            <a:ahLst/>
            <a:cxnLst/>
            <a:rect l="l" t="t" r="r" b="b"/>
            <a:pathLst>
              <a:path w="1518920" h="295910">
                <a:moveTo>
                  <a:pt x="1518666" y="16764"/>
                </a:moveTo>
                <a:lnTo>
                  <a:pt x="1490472" y="12192"/>
                </a:lnTo>
                <a:lnTo>
                  <a:pt x="1445387" y="266700"/>
                </a:lnTo>
                <a:lnTo>
                  <a:pt x="838352" y="266700"/>
                </a:lnTo>
                <a:lnTo>
                  <a:pt x="785622" y="11430"/>
                </a:lnTo>
                <a:lnTo>
                  <a:pt x="771144" y="14566"/>
                </a:lnTo>
                <a:lnTo>
                  <a:pt x="771144" y="0"/>
                </a:lnTo>
                <a:lnTo>
                  <a:pt x="533400" y="0"/>
                </a:lnTo>
                <a:lnTo>
                  <a:pt x="533400" y="14541"/>
                </a:lnTo>
                <a:lnTo>
                  <a:pt x="518922" y="12192"/>
                </a:lnTo>
                <a:lnTo>
                  <a:pt x="473837" y="266700"/>
                </a:lnTo>
                <a:lnTo>
                  <a:pt x="304952" y="266700"/>
                </a:lnTo>
                <a:lnTo>
                  <a:pt x="252222" y="11430"/>
                </a:lnTo>
                <a:lnTo>
                  <a:pt x="237744" y="14566"/>
                </a:lnTo>
                <a:lnTo>
                  <a:pt x="237744" y="0"/>
                </a:lnTo>
                <a:lnTo>
                  <a:pt x="0" y="0"/>
                </a:lnTo>
                <a:lnTo>
                  <a:pt x="0" y="28956"/>
                </a:lnTo>
                <a:lnTo>
                  <a:pt x="226390" y="28956"/>
                </a:lnTo>
                <a:lnTo>
                  <a:pt x="281178" y="293370"/>
                </a:lnTo>
                <a:lnTo>
                  <a:pt x="285750" y="292506"/>
                </a:lnTo>
                <a:lnTo>
                  <a:pt x="285750" y="295656"/>
                </a:lnTo>
                <a:lnTo>
                  <a:pt x="485394" y="295656"/>
                </a:lnTo>
                <a:lnTo>
                  <a:pt x="485394" y="281127"/>
                </a:lnTo>
                <a:lnTo>
                  <a:pt x="499872" y="283464"/>
                </a:lnTo>
                <a:lnTo>
                  <a:pt x="544944" y="28956"/>
                </a:lnTo>
                <a:lnTo>
                  <a:pt x="759790" y="28956"/>
                </a:lnTo>
                <a:lnTo>
                  <a:pt x="814578" y="293370"/>
                </a:lnTo>
                <a:lnTo>
                  <a:pt x="819150" y="292506"/>
                </a:lnTo>
                <a:lnTo>
                  <a:pt x="819150" y="295656"/>
                </a:lnTo>
                <a:lnTo>
                  <a:pt x="1456944" y="295656"/>
                </a:lnTo>
                <a:lnTo>
                  <a:pt x="1456944" y="281127"/>
                </a:lnTo>
                <a:lnTo>
                  <a:pt x="1471422" y="283464"/>
                </a:lnTo>
                <a:lnTo>
                  <a:pt x="1518666" y="16764"/>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object 6"/>
          <p:cNvPicPr/>
          <p:nvPr/>
        </p:nvPicPr>
        <p:blipFill>
          <a:blip r:embed="rId3" cstate="print"/>
          <a:stretch>
            <a:fillRect/>
          </a:stretch>
        </p:blipFill>
        <p:spPr>
          <a:xfrm>
            <a:off x="5413247" y="1558289"/>
            <a:ext cx="1123950" cy="971549"/>
          </a:xfrm>
          <a:prstGeom prst="rect">
            <a:avLst/>
          </a:prstGeom>
        </p:spPr>
      </p:pic>
      <p:sp>
        <p:nvSpPr>
          <p:cNvPr id="7" name="object 7"/>
          <p:cNvSpPr txBox="1"/>
          <p:nvPr/>
        </p:nvSpPr>
        <p:spPr>
          <a:xfrm>
            <a:off x="5009641" y="1516634"/>
            <a:ext cx="963930" cy="2698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250825" algn="l"/>
                <a:tab pos="478155" algn="l"/>
              </a:tabLst>
              <a:defRPr/>
            </a:pPr>
            <a:r>
              <a:rPr kumimoji="0" sz="1600" b="1" i="0" u="heavy" strike="noStrike" kern="1200" cap="none" spc="0" normalizeH="0" baseline="0" noProof="0" dirty="0">
                <a:ln>
                  <a:noFill/>
                </a:ln>
                <a:solidFill>
                  <a:srgbClr val="006FC0"/>
                </a:solidFill>
                <a:effectLst/>
                <a:uLnTx/>
                <a:uFill>
                  <a:solidFill>
                    <a:srgbClr val="FF0000"/>
                  </a:solidFill>
                </a:uFill>
                <a:latin typeface="Verdana"/>
                <a:ea typeface="+mn-ea"/>
                <a:cs typeface="Verdana"/>
              </a:rPr>
              <a:t> 	</a:t>
            </a:r>
            <a:r>
              <a:rPr kumimoji="0" sz="1600" b="1" i="0" u="none" strike="noStrike" kern="1200" cap="none" spc="0" normalizeH="0" baseline="0" noProof="0" dirty="0">
                <a:ln>
                  <a:noFill/>
                </a:ln>
                <a:solidFill>
                  <a:srgbClr val="006FC0"/>
                </a:solidFill>
                <a:effectLst/>
                <a:uLnTx/>
                <a:uFillTx/>
                <a:latin typeface="Verdana"/>
                <a:ea typeface="+mn-ea"/>
                <a:cs typeface="Verdana"/>
              </a:rPr>
              <a:t>	G(f)</a:t>
            </a:r>
            <a:endParaRPr kumimoji="0" sz="16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8" name="object 8"/>
          <p:cNvGrpSpPr/>
          <p:nvPr/>
        </p:nvGrpSpPr>
        <p:grpSpPr>
          <a:xfrm>
            <a:off x="6610350" y="1863851"/>
            <a:ext cx="1866264" cy="196215"/>
            <a:chOff x="6610350" y="1863851"/>
            <a:chExt cx="1866264" cy="196215"/>
          </a:xfrm>
        </p:grpSpPr>
        <p:sp>
          <p:nvSpPr>
            <p:cNvPr id="9" name="object 9"/>
            <p:cNvSpPr/>
            <p:nvPr/>
          </p:nvSpPr>
          <p:spPr>
            <a:xfrm>
              <a:off x="6610350" y="1876805"/>
              <a:ext cx="1866264" cy="182880"/>
            </a:xfrm>
            <a:custGeom>
              <a:avLst/>
              <a:gdLst/>
              <a:ahLst/>
              <a:cxnLst/>
              <a:rect l="l" t="t" r="r" b="b"/>
              <a:pathLst>
                <a:path w="1866265" h="182880">
                  <a:moveTo>
                    <a:pt x="793242" y="26670"/>
                  </a:moveTo>
                  <a:lnTo>
                    <a:pt x="783336" y="0"/>
                  </a:lnTo>
                  <a:lnTo>
                    <a:pt x="767334" y="6858"/>
                  </a:lnTo>
                  <a:lnTo>
                    <a:pt x="761238" y="9144"/>
                  </a:lnTo>
                  <a:lnTo>
                    <a:pt x="755904" y="11430"/>
                  </a:lnTo>
                  <a:lnTo>
                    <a:pt x="749046" y="13716"/>
                  </a:lnTo>
                  <a:lnTo>
                    <a:pt x="742188" y="16764"/>
                  </a:lnTo>
                  <a:lnTo>
                    <a:pt x="735330" y="20574"/>
                  </a:lnTo>
                  <a:lnTo>
                    <a:pt x="731520" y="22098"/>
                  </a:lnTo>
                  <a:lnTo>
                    <a:pt x="726948" y="23622"/>
                  </a:lnTo>
                  <a:lnTo>
                    <a:pt x="722376" y="25908"/>
                  </a:lnTo>
                  <a:lnTo>
                    <a:pt x="717804" y="27432"/>
                  </a:lnTo>
                  <a:lnTo>
                    <a:pt x="707136" y="32004"/>
                  </a:lnTo>
                  <a:lnTo>
                    <a:pt x="695706" y="35814"/>
                  </a:lnTo>
                  <a:lnTo>
                    <a:pt x="684276" y="41148"/>
                  </a:lnTo>
                  <a:lnTo>
                    <a:pt x="673608" y="45720"/>
                  </a:lnTo>
                  <a:lnTo>
                    <a:pt x="662178" y="51054"/>
                  </a:lnTo>
                  <a:lnTo>
                    <a:pt x="657606" y="54102"/>
                  </a:lnTo>
                  <a:lnTo>
                    <a:pt x="652272" y="57150"/>
                  </a:lnTo>
                  <a:lnTo>
                    <a:pt x="646938" y="60960"/>
                  </a:lnTo>
                  <a:lnTo>
                    <a:pt x="642366" y="64008"/>
                  </a:lnTo>
                  <a:lnTo>
                    <a:pt x="633984" y="71628"/>
                  </a:lnTo>
                  <a:lnTo>
                    <a:pt x="626364" y="78486"/>
                  </a:lnTo>
                  <a:lnTo>
                    <a:pt x="620268" y="85344"/>
                  </a:lnTo>
                  <a:lnTo>
                    <a:pt x="613410" y="92202"/>
                  </a:lnTo>
                  <a:lnTo>
                    <a:pt x="606552" y="98298"/>
                  </a:lnTo>
                  <a:lnTo>
                    <a:pt x="603504" y="100584"/>
                  </a:lnTo>
                  <a:lnTo>
                    <a:pt x="599694" y="103632"/>
                  </a:lnTo>
                  <a:lnTo>
                    <a:pt x="596646" y="105918"/>
                  </a:lnTo>
                  <a:lnTo>
                    <a:pt x="592074" y="107442"/>
                  </a:lnTo>
                  <a:lnTo>
                    <a:pt x="587502" y="109728"/>
                  </a:lnTo>
                  <a:lnTo>
                    <a:pt x="582168" y="112014"/>
                  </a:lnTo>
                  <a:lnTo>
                    <a:pt x="576072" y="113538"/>
                  </a:lnTo>
                  <a:lnTo>
                    <a:pt x="569976" y="115824"/>
                  </a:lnTo>
                  <a:lnTo>
                    <a:pt x="557022" y="119634"/>
                  </a:lnTo>
                  <a:lnTo>
                    <a:pt x="543306" y="122682"/>
                  </a:lnTo>
                  <a:lnTo>
                    <a:pt x="529590" y="124968"/>
                  </a:lnTo>
                  <a:lnTo>
                    <a:pt x="523494" y="126492"/>
                  </a:lnTo>
                  <a:lnTo>
                    <a:pt x="516636" y="127254"/>
                  </a:lnTo>
                  <a:lnTo>
                    <a:pt x="511302" y="128778"/>
                  </a:lnTo>
                  <a:lnTo>
                    <a:pt x="505968" y="129540"/>
                  </a:lnTo>
                  <a:lnTo>
                    <a:pt x="500634" y="129540"/>
                  </a:lnTo>
                  <a:lnTo>
                    <a:pt x="496062" y="130302"/>
                  </a:lnTo>
                  <a:lnTo>
                    <a:pt x="492252" y="131064"/>
                  </a:lnTo>
                  <a:lnTo>
                    <a:pt x="489966" y="131064"/>
                  </a:lnTo>
                  <a:lnTo>
                    <a:pt x="486918" y="131826"/>
                  </a:lnTo>
                  <a:lnTo>
                    <a:pt x="485394" y="131826"/>
                  </a:lnTo>
                  <a:lnTo>
                    <a:pt x="482346" y="131064"/>
                  </a:lnTo>
                  <a:lnTo>
                    <a:pt x="484632" y="131826"/>
                  </a:lnTo>
                  <a:lnTo>
                    <a:pt x="483870" y="131826"/>
                  </a:lnTo>
                  <a:lnTo>
                    <a:pt x="482346" y="131064"/>
                  </a:lnTo>
                  <a:lnTo>
                    <a:pt x="480822" y="130302"/>
                  </a:lnTo>
                  <a:lnTo>
                    <a:pt x="478536" y="128778"/>
                  </a:lnTo>
                  <a:lnTo>
                    <a:pt x="476250" y="128016"/>
                  </a:lnTo>
                  <a:lnTo>
                    <a:pt x="473202" y="126492"/>
                  </a:lnTo>
                  <a:lnTo>
                    <a:pt x="470154" y="125730"/>
                  </a:lnTo>
                  <a:lnTo>
                    <a:pt x="466344" y="124206"/>
                  </a:lnTo>
                  <a:lnTo>
                    <a:pt x="462534" y="121920"/>
                  </a:lnTo>
                  <a:lnTo>
                    <a:pt x="457962" y="120396"/>
                  </a:lnTo>
                  <a:lnTo>
                    <a:pt x="453390" y="118110"/>
                  </a:lnTo>
                  <a:lnTo>
                    <a:pt x="443484" y="113538"/>
                  </a:lnTo>
                  <a:lnTo>
                    <a:pt x="432816" y="108966"/>
                  </a:lnTo>
                  <a:lnTo>
                    <a:pt x="422910" y="103632"/>
                  </a:lnTo>
                  <a:lnTo>
                    <a:pt x="407670" y="96012"/>
                  </a:lnTo>
                  <a:lnTo>
                    <a:pt x="403860" y="92964"/>
                  </a:lnTo>
                  <a:lnTo>
                    <a:pt x="400050" y="91440"/>
                  </a:lnTo>
                  <a:lnTo>
                    <a:pt x="376428" y="73914"/>
                  </a:lnTo>
                  <a:lnTo>
                    <a:pt x="371856" y="70104"/>
                  </a:lnTo>
                  <a:lnTo>
                    <a:pt x="368046" y="67056"/>
                  </a:lnTo>
                  <a:lnTo>
                    <a:pt x="364236" y="62484"/>
                  </a:lnTo>
                  <a:lnTo>
                    <a:pt x="360426" y="59436"/>
                  </a:lnTo>
                  <a:lnTo>
                    <a:pt x="357378" y="55626"/>
                  </a:lnTo>
                  <a:lnTo>
                    <a:pt x="354330" y="52578"/>
                  </a:lnTo>
                  <a:lnTo>
                    <a:pt x="347472" y="42672"/>
                  </a:lnTo>
                  <a:lnTo>
                    <a:pt x="339852" y="32004"/>
                  </a:lnTo>
                  <a:lnTo>
                    <a:pt x="329184" y="22860"/>
                  </a:lnTo>
                  <a:lnTo>
                    <a:pt x="324612" y="20574"/>
                  </a:lnTo>
                  <a:lnTo>
                    <a:pt x="319278" y="17526"/>
                  </a:lnTo>
                  <a:lnTo>
                    <a:pt x="308610" y="12954"/>
                  </a:lnTo>
                  <a:lnTo>
                    <a:pt x="296418" y="9906"/>
                  </a:lnTo>
                  <a:lnTo>
                    <a:pt x="289560" y="9144"/>
                  </a:lnTo>
                  <a:lnTo>
                    <a:pt x="278892" y="9271"/>
                  </a:lnTo>
                  <a:lnTo>
                    <a:pt x="275082" y="9906"/>
                  </a:lnTo>
                  <a:lnTo>
                    <a:pt x="266700" y="10668"/>
                  </a:lnTo>
                  <a:lnTo>
                    <a:pt x="258318" y="12192"/>
                  </a:lnTo>
                  <a:lnTo>
                    <a:pt x="249936" y="14478"/>
                  </a:lnTo>
                  <a:lnTo>
                    <a:pt x="240792" y="16764"/>
                  </a:lnTo>
                  <a:lnTo>
                    <a:pt x="232410" y="19050"/>
                  </a:lnTo>
                  <a:lnTo>
                    <a:pt x="217170" y="23622"/>
                  </a:lnTo>
                  <a:lnTo>
                    <a:pt x="210312" y="25908"/>
                  </a:lnTo>
                  <a:lnTo>
                    <a:pt x="203454" y="28956"/>
                  </a:lnTo>
                  <a:lnTo>
                    <a:pt x="198120" y="31242"/>
                  </a:lnTo>
                  <a:lnTo>
                    <a:pt x="192786" y="34290"/>
                  </a:lnTo>
                  <a:lnTo>
                    <a:pt x="182880" y="39624"/>
                  </a:lnTo>
                  <a:lnTo>
                    <a:pt x="177546" y="41910"/>
                  </a:lnTo>
                  <a:lnTo>
                    <a:pt x="168402" y="46482"/>
                  </a:lnTo>
                  <a:lnTo>
                    <a:pt x="130302" y="61722"/>
                  </a:lnTo>
                  <a:lnTo>
                    <a:pt x="104394" y="77724"/>
                  </a:lnTo>
                  <a:lnTo>
                    <a:pt x="99060" y="80772"/>
                  </a:lnTo>
                  <a:lnTo>
                    <a:pt x="93726" y="84582"/>
                  </a:lnTo>
                  <a:lnTo>
                    <a:pt x="87630" y="88392"/>
                  </a:lnTo>
                  <a:lnTo>
                    <a:pt x="84582" y="90678"/>
                  </a:lnTo>
                  <a:lnTo>
                    <a:pt x="73152" y="97536"/>
                  </a:lnTo>
                  <a:lnTo>
                    <a:pt x="64008" y="102870"/>
                  </a:lnTo>
                  <a:lnTo>
                    <a:pt x="54102" y="108204"/>
                  </a:lnTo>
                  <a:lnTo>
                    <a:pt x="44196" y="114300"/>
                  </a:lnTo>
                  <a:lnTo>
                    <a:pt x="33528" y="120396"/>
                  </a:lnTo>
                  <a:lnTo>
                    <a:pt x="22860" y="127254"/>
                  </a:lnTo>
                  <a:lnTo>
                    <a:pt x="0" y="140208"/>
                  </a:lnTo>
                  <a:lnTo>
                    <a:pt x="14478" y="164592"/>
                  </a:lnTo>
                  <a:lnTo>
                    <a:pt x="37338" y="151638"/>
                  </a:lnTo>
                  <a:lnTo>
                    <a:pt x="58674" y="139446"/>
                  </a:lnTo>
                  <a:lnTo>
                    <a:pt x="78486" y="127254"/>
                  </a:lnTo>
                  <a:lnTo>
                    <a:pt x="87630" y="121920"/>
                  </a:lnTo>
                  <a:lnTo>
                    <a:pt x="96012" y="117348"/>
                  </a:lnTo>
                  <a:lnTo>
                    <a:pt x="99822" y="115062"/>
                  </a:lnTo>
                  <a:lnTo>
                    <a:pt x="102870" y="112776"/>
                  </a:lnTo>
                  <a:lnTo>
                    <a:pt x="109728" y="108204"/>
                  </a:lnTo>
                  <a:lnTo>
                    <a:pt x="115062" y="104394"/>
                  </a:lnTo>
                  <a:lnTo>
                    <a:pt x="120396" y="101346"/>
                  </a:lnTo>
                  <a:lnTo>
                    <a:pt x="124968" y="97536"/>
                  </a:lnTo>
                  <a:lnTo>
                    <a:pt x="129540" y="95250"/>
                  </a:lnTo>
                  <a:lnTo>
                    <a:pt x="138684" y="89154"/>
                  </a:lnTo>
                  <a:lnTo>
                    <a:pt x="143256" y="86868"/>
                  </a:lnTo>
                  <a:lnTo>
                    <a:pt x="148590" y="84582"/>
                  </a:lnTo>
                  <a:lnTo>
                    <a:pt x="160020" y="80010"/>
                  </a:lnTo>
                  <a:lnTo>
                    <a:pt x="178308" y="73152"/>
                  </a:lnTo>
                  <a:lnTo>
                    <a:pt x="184404" y="70104"/>
                  </a:lnTo>
                  <a:lnTo>
                    <a:pt x="190500" y="67818"/>
                  </a:lnTo>
                  <a:lnTo>
                    <a:pt x="195834" y="64770"/>
                  </a:lnTo>
                  <a:lnTo>
                    <a:pt x="205740" y="59436"/>
                  </a:lnTo>
                  <a:lnTo>
                    <a:pt x="210312" y="57150"/>
                  </a:lnTo>
                  <a:lnTo>
                    <a:pt x="220980" y="52578"/>
                  </a:lnTo>
                  <a:lnTo>
                    <a:pt x="226314" y="51054"/>
                  </a:lnTo>
                  <a:lnTo>
                    <a:pt x="233172" y="48768"/>
                  </a:lnTo>
                  <a:lnTo>
                    <a:pt x="248412" y="44196"/>
                  </a:lnTo>
                  <a:lnTo>
                    <a:pt x="256794" y="41910"/>
                  </a:lnTo>
                  <a:lnTo>
                    <a:pt x="265176" y="40386"/>
                  </a:lnTo>
                  <a:lnTo>
                    <a:pt x="272796" y="38862"/>
                  </a:lnTo>
                  <a:lnTo>
                    <a:pt x="278892" y="38100"/>
                  </a:lnTo>
                  <a:lnTo>
                    <a:pt x="293370" y="38100"/>
                  </a:lnTo>
                  <a:lnTo>
                    <a:pt x="297180" y="39624"/>
                  </a:lnTo>
                  <a:lnTo>
                    <a:pt x="300228" y="40386"/>
                  </a:lnTo>
                  <a:lnTo>
                    <a:pt x="304038" y="41910"/>
                  </a:lnTo>
                  <a:lnTo>
                    <a:pt x="307086" y="43434"/>
                  </a:lnTo>
                  <a:lnTo>
                    <a:pt x="310896" y="44958"/>
                  </a:lnTo>
                  <a:lnTo>
                    <a:pt x="316992" y="49530"/>
                  </a:lnTo>
                  <a:lnTo>
                    <a:pt x="319278" y="51816"/>
                  </a:lnTo>
                  <a:lnTo>
                    <a:pt x="321564" y="55626"/>
                  </a:lnTo>
                  <a:lnTo>
                    <a:pt x="324612" y="59436"/>
                  </a:lnTo>
                  <a:lnTo>
                    <a:pt x="330708" y="68580"/>
                  </a:lnTo>
                  <a:lnTo>
                    <a:pt x="339852" y="79248"/>
                  </a:lnTo>
                  <a:lnTo>
                    <a:pt x="344424" y="83058"/>
                  </a:lnTo>
                  <a:lnTo>
                    <a:pt x="356616" y="95250"/>
                  </a:lnTo>
                  <a:lnTo>
                    <a:pt x="361950" y="99060"/>
                  </a:lnTo>
                  <a:lnTo>
                    <a:pt x="367284" y="103632"/>
                  </a:lnTo>
                  <a:lnTo>
                    <a:pt x="373380" y="108204"/>
                  </a:lnTo>
                  <a:lnTo>
                    <a:pt x="380238" y="112776"/>
                  </a:lnTo>
                  <a:lnTo>
                    <a:pt x="384810" y="115062"/>
                  </a:lnTo>
                  <a:lnTo>
                    <a:pt x="389382" y="118110"/>
                  </a:lnTo>
                  <a:lnTo>
                    <a:pt x="393954" y="120396"/>
                  </a:lnTo>
                  <a:lnTo>
                    <a:pt x="398526" y="123444"/>
                  </a:lnTo>
                  <a:lnTo>
                    <a:pt x="430530" y="139446"/>
                  </a:lnTo>
                  <a:lnTo>
                    <a:pt x="446532" y="146304"/>
                  </a:lnTo>
                  <a:lnTo>
                    <a:pt x="451104" y="148590"/>
                  </a:lnTo>
                  <a:lnTo>
                    <a:pt x="454914" y="150114"/>
                  </a:lnTo>
                  <a:lnTo>
                    <a:pt x="459486" y="151638"/>
                  </a:lnTo>
                  <a:lnTo>
                    <a:pt x="462534" y="153162"/>
                  </a:lnTo>
                  <a:lnTo>
                    <a:pt x="464820" y="153924"/>
                  </a:lnTo>
                  <a:lnTo>
                    <a:pt x="467106" y="155448"/>
                  </a:lnTo>
                  <a:lnTo>
                    <a:pt x="470154" y="156972"/>
                  </a:lnTo>
                  <a:lnTo>
                    <a:pt x="470916" y="156972"/>
                  </a:lnTo>
                  <a:lnTo>
                    <a:pt x="474726" y="158496"/>
                  </a:lnTo>
                  <a:lnTo>
                    <a:pt x="476250" y="159258"/>
                  </a:lnTo>
                  <a:lnTo>
                    <a:pt x="477774" y="159258"/>
                  </a:lnTo>
                  <a:lnTo>
                    <a:pt x="480060" y="160020"/>
                  </a:lnTo>
                  <a:lnTo>
                    <a:pt x="492252" y="160020"/>
                  </a:lnTo>
                  <a:lnTo>
                    <a:pt x="495300" y="159258"/>
                  </a:lnTo>
                  <a:lnTo>
                    <a:pt x="499872" y="158496"/>
                  </a:lnTo>
                  <a:lnTo>
                    <a:pt x="504444" y="158496"/>
                  </a:lnTo>
                  <a:lnTo>
                    <a:pt x="509016" y="157734"/>
                  </a:lnTo>
                  <a:lnTo>
                    <a:pt x="515112" y="156972"/>
                  </a:lnTo>
                  <a:lnTo>
                    <a:pt x="521208" y="155448"/>
                  </a:lnTo>
                  <a:lnTo>
                    <a:pt x="528066" y="154686"/>
                  </a:lnTo>
                  <a:lnTo>
                    <a:pt x="548640" y="150114"/>
                  </a:lnTo>
                  <a:lnTo>
                    <a:pt x="603504" y="134112"/>
                  </a:lnTo>
                  <a:lnTo>
                    <a:pt x="619506" y="124206"/>
                  </a:lnTo>
                  <a:lnTo>
                    <a:pt x="624078" y="121158"/>
                  </a:lnTo>
                  <a:lnTo>
                    <a:pt x="632460" y="113538"/>
                  </a:lnTo>
                  <a:lnTo>
                    <a:pt x="640080" y="105918"/>
                  </a:lnTo>
                  <a:lnTo>
                    <a:pt x="646938" y="98298"/>
                  </a:lnTo>
                  <a:lnTo>
                    <a:pt x="653796" y="91440"/>
                  </a:lnTo>
                  <a:lnTo>
                    <a:pt x="660654" y="86106"/>
                  </a:lnTo>
                  <a:lnTo>
                    <a:pt x="664464" y="83058"/>
                  </a:lnTo>
                  <a:lnTo>
                    <a:pt x="667512" y="80772"/>
                  </a:lnTo>
                  <a:lnTo>
                    <a:pt x="672084" y="78486"/>
                  </a:lnTo>
                  <a:lnTo>
                    <a:pt x="675894" y="76200"/>
                  </a:lnTo>
                  <a:lnTo>
                    <a:pt x="685800" y="71628"/>
                  </a:lnTo>
                  <a:lnTo>
                    <a:pt x="717804" y="57912"/>
                  </a:lnTo>
                  <a:lnTo>
                    <a:pt x="727710" y="54102"/>
                  </a:lnTo>
                  <a:lnTo>
                    <a:pt x="733044" y="51816"/>
                  </a:lnTo>
                  <a:lnTo>
                    <a:pt x="737616" y="50292"/>
                  </a:lnTo>
                  <a:lnTo>
                    <a:pt x="742188" y="48006"/>
                  </a:lnTo>
                  <a:lnTo>
                    <a:pt x="746760" y="46482"/>
                  </a:lnTo>
                  <a:lnTo>
                    <a:pt x="760476" y="40386"/>
                  </a:lnTo>
                  <a:lnTo>
                    <a:pt x="766572" y="37338"/>
                  </a:lnTo>
                  <a:lnTo>
                    <a:pt x="772668" y="35052"/>
                  </a:lnTo>
                  <a:lnTo>
                    <a:pt x="783336" y="30480"/>
                  </a:lnTo>
                  <a:lnTo>
                    <a:pt x="793242" y="26670"/>
                  </a:lnTo>
                  <a:close/>
                </a:path>
                <a:path w="1866265" h="182880">
                  <a:moveTo>
                    <a:pt x="1866138" y="49530"/>
                  </a:moveTo>
                  <a:lnTo>
                    <a:pt x="1863090" y="21336"/>
                  </a:lnTo>
                  <a:lnTo>
                    <a:pt x="1842516" y="23622"/>
                  </a:lnTo>
                  <a:lnTo>
                    <a:pt x="1822704" y="26670"/>
                  </a:lnTo>
                  <a:lnTo>
                    <a:pt x="1802892" y="28956"/>
                  </a:lnTo>
                  <a:lnTo>
                    <a:pt x="1783842" y="32004"/>
                  </a:lnTo>
                  <a:lnTo>
                    <a:pt x="1764792" y="35814"/>
                  </a:lnTo>
                  <a:lnTo>
                    <a:pt x="1746504" y="38862"/>
                  </a:lnTo>
                  <a:lnTo>
                    <a:pt x="1728978" y="43434"/>
                  </a:lnTo>
                  <a:lnTo>
                    <a:pt x="1712976" y="47244"/>
                  </a:lnTo>
                  <a:lnTo>
                    <a:pt x="1696974" y="52578"/>
                  </a:lnTo>
                  <a:lnTo>
                    <a:pt x="1655826" y="70104"/>
                  </a:lnTo>
                  <a:lnTo>
                    <a:pt x="1620012" y="89916"/>
                  </a:lnTo>
                  <a:lnTo>
                    <a:pt x="1608582" y="97536"/>
                  </a:lnTo>
                  <a:lnTo>
                    <a:pt x="1602486" y="101346"/>
                  </a:lnTo>
                  <a:lnTo>
                    <a:pt x="1597152" y="105918"/>
                  </a:lnTo>
                  <a:lnTo>
                    <a:pt x="1592580" y="110490"/>
                  </a:lnTo>
                  <a:lnTo>
                    <a:pt x="1588770" y="115824"/>
                  </a:lnTo>
                  <a:lnTo>
                    <a:pt x="1581912" y="124206"/>
                  </a:lnTo>
                  <a:lnTo>
                    <a:pt x="1575816" y="132588"/>
                  </a:lnTo>
                  <a:lnTo>
                    <a:pt x="1563624" y="144780"/>
                  </a:lnTo>
                  <a:lnTo>
                    <a:pt x="1559814" y="147066"/>
                  </a:lnTo>
                  <a:lnTo>
                    <a:pt x="1555242" y="148590"/>
                  </a:lnTo>
                  <a:lnTo>
                    <a:pt x="1549908" y="150876"/>
                  </a:lnTo>
                  <a:lnTo>
                    <a:pt x="1543812" y="152400"/>
                  </a:lnTo>
                  <a:lnTo>
                    <a:pt x="1518666" y="154686"/>
                  </a:lnTo>
                  <a:lnTo>
                    <a:pt x="1509522" y="154686"/>
                  </a:lnTo>
                  <a:lnTo>
                    <a:pt x="1499616" y="153924"/>
                  </a:lnTo>
                  <a:lnTo>
                    <a:pt x="1488948" y="153924"/>
                  </a:lnTo>
                  <a:lnTo>
                    <a:pt x="1478280" y="153162"/>
                  </a:lnTo>
                  <a:lnTo>
                    <a:pt x="1466850" y="151638"/>
                  </a:lnTo>
                  <a:lnTo>
                    <a:pt x="1454658" y="150876"/>
                  </a:lnTo>
                  <a:lnTo>
                    <a:pt x="1442466" y="149352"/>
                  </a:lnTo>
                  <a:lnTo>
                    <a:pt x="1417320" y="147066"/>
                  </a:lnTo>
                  <a:lnTo>
                    <a:pt x="1391412" y="144018"/>
                  </a:lnTo>
                  <a:lnTo>
                    <a:pt x="1365504" y="142494"/>
                  </a:lnTo>
                  <a:lnTo>
                    <a:pt x="1178814" y="133350"/>
                  </a:lnTo>
                  <a:lnTo>
                    <a:pt x="1164336" y="131826"/>
                  </a:lnTo>
                  <a:lnTo>
                    <a:pt x="1149858" y="131064"/>
                  </a:lnTo>
                  <a:lnTo>
                    <a:pt x="1136142" y="129540"/>
                  </a:lnTo>
                  <a:lnTo>
                    <a:pt x="1123188" y="128778"/>
                  </a:lnTo>
                  <a:lnTo>
                    <a:pt x="1098804" y="125730"/>
                  </a:lnTo>
                  <a:lnTo>
                    <a:pt x="1075182" y="123444"/>
                  </a:lnTo>
                  <a:lnTo>
                    <a:pt x="1053084" y="120396"/>
                  </a:lnTo>
                  <a:lnTo>
                    <a:pt x="1012698" y="114300"/>
                  </a:lnTo>
                  <a:lnTo>
                    <a:pt x="1003554" y="112014"/>
                  </a:lnTo>
                  <a:lnTo>
                    <a:pt x="995172" y="110490"/>
                  </a:lnTo>
                  <a:lnTo>
                    <a:pt x="986790" y="108204"/>
                  </a:lnTo>
                  <a:lnTo>
                    <a:pt x="979170" y="106680"/>
                  </a:lnTo>
                  <a:lnTo>
                    <a:pt x="972312" y="103632"/>
                  </a:lnTo>
                  <a:lnTo>
                    <a:pt x="965454" y="101346"/>
                  </a:lnTo>
                  <a:lnTo>
                    <a:pt x="953262" y="96774"/>
                  </a:lnTo>
                  <a:lnTo>
                    <a:pt x="944118" y="90678"/>
                  </a:lnTo>
                  <a:lnTo>
                    <a:pt x="939546" y="88392"/>
                  </a:lnTo>
                  <a:lnTo>
                    <a:pt x="935736" y="85344"/>
                  </a:lnTo>
                  <a:lnTo>
                    <a:pt x="932688" y="82296"/>
                  </a:lnTo>
                  <a:lnTo>
                    <a:pt x="929640" y="78486"/>
                  </a:lnTo>
                  <a:lnTo>
                    <a:pt x="926592" y="75438"/>
                  </a:lnTo>
                  <a:lnTo>
                    <a:pt x="918972" y="64770"/>
                  </a:lnTo>
                  <a:lnTo>
                    <a:pt x="915162" y="57150"/>
                  </a:lnTo>
                  <a:lnTo>
                    <a:pt x="910590" y="48768"/>
                  </a:lnTo>
                  <a:lnTo>
                    <a:pt x="885444" y="61722"/>
                  </a:lnTo>
                  <a:lnTo>
                    <a:pt x="889254" y="70104"/>
                  </a:lnTo>
                  <a:lnTo>
                    <a:pt x="894588" y="79248"/>
                  </a:lnTo>
                  <a:lnTo>
                    <a:pt x="900684" y="88392"/>
                  </a:lnTo>
                  <a:lnTo>
                    <a:pt x="904494" y="92964"/>
                  </a:lnTo>
                  <a:lnTo>
                    <a:pt x="907542" y="97536"/>
                  </a:lnTo>
                  <a:lnTo>
                    <a:pt x="947166" y="124968"/>
                  </a:lnTo>
                  <a:lnTo>
                    <a:pt x="1007364" y="142494"/>
                  </a:lnTo>
                  <a:lnTo>
                    <a:pt x="1072134" y="151638"/>
                  </a:lnTo>
                  <a:lnTo>
                    <a:pt x="1095756" y="153924"/>
                  </a:lnTo>
                  <a:lnTo>
                    <a:pt x="1133094" y="158496"/>
                  </a:lnTo>
                  <a:lnTo>
                    <a:pt x="1146810" y="159258"/>
                  </a:lnTo>
                  <a:lnTo>
                    <a:pt x="1162050" y="160782"/>
                  </a:lnTo>
                  <a:lnTo>
                    <a:pt x="1192530" y="162306"/>
                  </a:lnTo>
                  <a:lnTo>
                    <a:pt x="1208532" y="163830"/>
                  </a:lnTo>
                  <a:lnTo>
                    <a:pt x="1290066" y="167640"/>
                  </a:lnTo>
                  <a:lnTo>
                    <a:pt x="1306068" y="167640"/>
                  </a:lnTo>
                  <a:lnTo>
                    <a:pt x="1363980" y="170688"/>
                  </a:lnTo>
                  <a:lnTo>
                    <a:pt x="1439418" y="177546"/>
                  </a:lnTo>
                  <a:lnTo>
                    <a:pt x="1463802" y="180594"/>
                  </a:lnTo>
                  <a:lnTo>
                    <a:pt x="1498092" y="182880"/>
                  </a:lnTo>
                  <a:lnTo>
                    <a:pt x="1528572" y="182880"/>
                  </a:lnTo>
                  <a:lnTo>
                    <a:pt x="1538478" y="182118"/>
                  </a:lnTo>
                  <a:lnTo>
                    <a:pt x="1578102" y="169164"/>
                  </a:lnTo>
                  <a:lnTo>
                    <a:pt x="1610868" y="133350"/>
                  </a:lnTo>
                  <a:lnTo>
                    <a:pt x="1613916" y="129540"/>
                  </a:lnTo>
                  <a:lnTo>
                    <a:pt x="1617726" y="126492"/>
                  </a:lnTo>
                  <a:lnTo>
                    <a:pt x="1620774" y="123444"/>
                  </a:lnTo>
                  <a:lnTo>
                    <a:pt x="1625346" y="120396"/>
                  </a:lnTo>
                  <a:lnTo>
                    <a:pt x="1635252" y="114300"/>
                  </a:lnTo>
                  <a:lnTo>
                    <a:pt x="1645920" y="108204"/>
                  </a:lnTo>
                  <a:lnTo>
                    <a:pt x="1657350" y="101346"/>
                  </a:lnTo>
                  <a:lnTo>
                    <a:pt x="1706880" y="79248"/>
                  </a:lnTo>
                  <a:lnTo>
                    <a:pt x="1770126" y="63246"/>
                  </a:lnTo>
                  <a:lnTo>
                    <a:pt x="1826514" y="54864"/>
                  </a:lnTo>
                  <a:lnTo>
                    <a:pt x="1846326" y="51816"/>
                  </a:lnTo>
                  <a:lnTo>
                    <a:pt x="1866138" y="4953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object 10"/>
            <p:cNvPicPr/>
            <p:nvPr/>
          </p:nvPicPr>
          <p:blipFill>
            <a:blip r:embed="rId4" cstate="print"/>
            <a:stretch>
              <a:fillRect/>
            </a:stretch>
          </p:blipFill>
          <p:spPr>
            <a:xfrm>
              <a:off x="7383018" y="1863851"/>
              <a:ext cx="134111" cy="79248"/>
            </a:xfrm>
            <a:prstGeom prst="rect">
              <a:avLst/>
            </a:prstGeom>
          </p:spPr>
        </p:pic>
      </p:grpSp>
      <p:sp>
        <p:nvSpPr>
          <p:cNvPr id="11" name="object 11"/>
          <p:cNvSpPr/>
          <p:nvPr/>
        </p:nvSpPr>
        <p:spPr>
          <a:xfrm>
            <a:off x="6995159" y="4700015"/>
            <a:ext cx="562610" cy="643255"/>
          </a:xfrm>
          <a:custGeom>
            <a:avLst/>
            <a:gdLst/>
            <a:ahLst/>
            <a:cxnLst/>
            <a:rect l="l" t="t" r="r" b="b"/>
            <a:pathLst>
              <a:path w="562609" h="643254">
                <a:moveTo>
                  <a:pt x="288797" y="306324"/>
                </a:moveTo>
                <a:lnTo>
                  <a:pt x="288797" y="275844"/>
                </a:lnTo>
                <a:lnTo>
                  <a:pt x="287273" y="272034"/>
                </a:lnTo>
                <a:lnTo>
                  <a:pt x="287273" y="51815"/>
                </a:lnTo>
                <a:lnTo>
                  <a:pt x="285749" y="49529"/>
                </a:lnTo>
                <a:lnTo>
                  <a:pt x="285749" y="48767"/>
                </a:lnTo>
                <a:lnTo>
                  <a:pt x="284987" y="48005"/>
                </a:lnTo>
                <a:lnTo>
                  <a:pt x="284225" y="46481"/>
                </a:lnTo>
                <a:lnTo>
                  <a:pt x="282701" y="44195"/>
                </a:lnTo>
                <a:lnTo>
                  <a:pt x="281939" y="44195"/>
                </a:lnTo>
                <a:lnTo>
                  <a:pt x="281177" y="43433"/>
                </a:lnTo>
                <a:lnTo>
                  <a:pt x="281177" y="42671"/>
                </a:lnTo>
                <a:lnTo>
                  <a:pt x="277367" y="39623"/>
                </a:lnTo>
                <a:lnTo>
                  <a:pt x="268223" y="33527"/>
                </a:lnTo>
                <a:lnTo>
                  <a:pt x="257555" y="28955"/>
                </a:lnTo>
                <a:lnTo>
                  <a:pt x="245363" y="24383"/>
                </a:lnTo>
                <a:lnTo>
                  <a:pt x="238505" y="22859"/>
                </a:lnTo>
                <a:lnTo>
                  <a:pt x="230885" y="20573"/>
                </a:lnTo>
                <a:lnTo>
                  <a:pt x="222503" y="19049"/>
                </a:lnTo>
                <a:lnTo>
                  <a:pt x="214883" y="16763"/>
                </a:lnTo>
                <a:lnTo>
                  <a:pt x="196595" y="13715"/>
                </a:lnTo>
                <a:lnTo>
                  <a:pt x="176783" y="10667"/>
                </a:lnTo>
                <a:lnTo>
                  <a:pt x="155447" y="7619"/>
                </a:lnTo>
                <a:lnTo>
                  <a:pt x="144017" y="6857"/>
                </a:lnTo>
                <a:lnTo>
                  <a:pt x="131825" y="5333"/>
                </a:lnTo>
                <a:lnTo>
                  <a:pt x="80771" y="2198"/>
                </a:lnTo>
                <a:lnTo>
                  <a:pt x="28193" y="0"/>
                </a:lnTo>
                <a:lnTo>
                  <a:pt x="761" y="0"/>
                </a:lnTo>
                <a:lnTo>
                  <a:pt x="0" y="28956"/>
                </a:lnTo>
                <a:lnTo>
                  <a:pt x="28193" y="28956"/>
                </a:lnTo>
                <a:lnTo>
                  <a:pt x="80771" y="30458"/>
                </a:lnTo>
                <a:lnTo>
                  <a:pt x="82295" y="30527"/>
                </a:lnTo>
                <a:lnTo>
                  <a:pt x="105917" y="32003"/>
                </a:lnTo>
                <a:lnTo>
                  <a:pt x="118109" y="33527"/>
                </a:lnTo>
                <a:lnTo>
                  <a:pt x="140969" y="35051"/>
                </a:lnTo>
                <a:lnTo>
                  <a:pt x="152399" y="36575"/>
                </a:lnTo>
                <a:lnTo>
                  <a:pt x="162305" y="37337"/>
                </a:lnTo>
                <a:lnTo>
                  <a:pt x="172973" y="38861"/>
                </a:lnTo>
                <a:lnTo>
                  <a:pt x="182879" y="40385"/>
                </a:lnTo>
                <a:lnTo>
                  <a:pt x="192023" y="41909"/>
                </a:lnTo>
                <a:lnTo>
                  <a:pt x="217169" y="46481"/>
                </a:lnTo>
                <a:lnTo>
                  <a:pt x="224027" y="48767"/>
                </a:lnTo>
                <a:lnTo>
                  <a:pt x="237743" y="51815"/>
                </a:lnTo>
                <a:lnTo>
                  <a:pt x="243077" y="54101"/>
                </a:lnTo>
                <a:lnTo>
                  <a:pt x="252221" y="57149"/>
                </a:lnTo>
                <a:lnTo>
                  <a:pt x="255269" y="59435"/>
                </a:lnTo>
                <a:lnTo>
                  <a:pt x="258317" y="60959"/>
                </a:lnTo>
                <a:lnTo>
                  <a:pt x="259841" y="61975"/>
                </a:lnTo>
                <a:lnTo>
                  <a:pt x="259841" y="60197"/>
                </a:lnTo>
                <a:lnTo>
                  <a:pt x="260603" y="62484"/>
                </a:lnTo>
                <a:lnTo>
                  <a:pt x="261365" y="63245"/>
                </a:lnTo>
                <a:lnTo>
                  <a:pt x="261365" y="282702"/>
                </a:lnTo>
                <a:lnTo>
                  <a:pt x="262127" y="284226"/>
                </a:lnTo>
                <a:lnTo>
                  <a:pt x="262889" y="286512"/>
                </a:lnTo>
                <a:lnTo>
                  <a:pt x="263651" y="287274"/>
                </a:lnTo>
                <a:lnTo>
                  <a:pt x="263651" y="288036"/>
                </a:lnTo>
                <a:lnTo>
                  <a:pt x="264413" y="288798"/>
                </a:lnTo>
                <a:lnTo>
                  <a:pt x="265937" y="291084"/>
                </a:lnTo>
                <a:lnTo>
                  <a:pt x="267461" y="292608"/>
                </a:lnTo>
                <a:lnTo>
                  <a:pt x="267461" y="293370"/>
                </a:lnTo>
                <a:lnTo>
                  <a:pt x="270509" y="295656"/>
                </a:lnTo>
                <a:lnTo>
                  <a:pt x="274319" y="298704"/>
                </a:lnTo>
                <a:lnTo>
                  <a:pt x="279653" y="301752"/>
                </a:lnTo>
                <a:lnTo>
                  <a:pt x="288797" y="306324"/>
                </a:lnTo>
                <a:close/>
              </a:path>
              <a:path w="562609" h="643254">
                <a:moveTo>
                  <a:pt x="261365" y="579120"/>
                </a:moveTo>
                <a:lnTo>
                  <a:pt x="257555" y="582930"/>
                </a:lnTo>
                <a:lnTo>
                  <a:pt x="251459" y="585978"/>
                </a:lnTo>
                <a:lnTo>
                  <a:pt x="242315" y="589026"/>
                </a:lnTo>
                <a:lnTo>
                  <a:pt x="236981" y="591312"/>
                </a:lnTo>
                <a:lnTo>
                  <a:pt x="230885" y="592836"/>
                </a:lnTo>
                <a:lnTo>
                  <a:pt x="224027" y="594360"/>
                </a:lnTo>
                <a:lnTo>
                  <a:pt x="216407" y="596646"/>
                </a:lnTo>
                <a:lnTo>
                  <a:pt x="208787" y="598170"/>
                </a:lnTo>
                <a:lnTo>
                  <a:pt x="192023" y="601218"/>
                </a:lnTo>
                <a:lnTo>
                  <a:pt x="182117" y="602742"/>
                </a:lnTo>
                <a:lnTo>
                  <a:pt x="172973" y="604266"/>
                </a:lnTo>
                <a:lnTo>
                  <a:pt x="162305" y="605028"/>
                </a:lnTo>
                <a:lnTo>
                  <a:pt x="140969" y="608076"/>
                </a:lnTo>
                <a:lnTo>
                  <a:pt x="118109" y="609600"/>
                </a:lnTo>
                <a:lnTo>
                  <a:pt x="105917" y="611124"/>
                </a:lnTo>
                <a:lnTo>
                  <a:pt x="93725" y="611886"/>
                </a:lnTo>
                <a:lnTo>
                  <a:pt x="80771" y="612648"/>
                </a:lnTo>
                <a:lnTo>
                  <a:pt x="28193" y="614172"/>
                </a:lnTo>
                <a:lnTo>
                  <a:pt x="0" y="614172"/>
                </a:lnTo>
                <a:lnTo>
                  <a:pt x="761" y="643128"/>
                </a:lnTo>
                <a:lnTo>
                  <a:pt x="56387" y="641604"/>
                </a:lnTo>
                <a:lnTo>
                  <a:pt x="108203" y="639318"/>
                </a:lnTo>
                <a:lnTo>
                  <a:pt x="132587" y="637032"/>
                </a:lnTo>
                <a:lnTo>
                  <a:pt x="144017" y="636270"/>
                </a:lnTo>
                <a:lnTo>
                  <a:pt x="155447" y="634746"/>
                </a:lnTo>
                <a:lnTo>
                  <a:pt x="166115" y="633984"/>
                </a:lnTo>
                <a:lnTo>
                  <a:pt x="176783" y="632460"/>
                </a:lnTo>
                <a:lnTo>
                  <a:pt x="196595" y="629412"/>
                </a:lnTo>
                <a:lnTo>
                  <a:pt x="214883" y="626364"/>
                </a:lnTo>
                <a:lnTo>
                  <a:pt x="223265" y="624078"/>
                </a:lnTo>
                <a:lnTo>
                  <a:pt x="230885" y="622554"/>
                </a:lnTo>
                <a:lnTo>
                  <a:pt x="246125" y="617982"/>
                </a:lnTo>
                <a:lnTo>
                  <a:pt x="252221" y="616458"/>
                </a:lnTo>
                <a:lnTo>
                  <a:pt x="258317" y="614172"/>
                </a:lnTo>
                <a:lnTo>
                  <a:pt x="259841" y="613301"/>
                </a:lnTo>
                <a:lnTo>
                  <a:pt x="259841" y="581406"/>
                </a:lnTo>
                <a:lnTo>
                  <a:pt x="261365" y="579120"/>
                </a:lnTo>
                <a:close/>
              </a:path>
              <a:path w="562609" h="643254">
                <a:moveTo>
                  <a:pt x="260603" y="62484"/>
                </a:moveTo>
                <a:lnTo>
                  <a:pt x="259841" y="60197"/>
                </a:lnTo>
                <a:lnTo>
                  <a:pt x="260222" y="61722"/>
                </a:lnTo>
                <a:lnTo>
                  <a:pt x="260603" y="62484"/>
                </a:lnTo>
                <a:close/>
              </a:path>
              <a:path w="562609" h="643254">
                <a:moveTo>
                  <a:pt x="260222" y="61722"/>
                </a:moveTo>
                <a:lnTo>
                  <a:pt x="259841" y="60197"/>
                </a:lnTo>
                <a:lnTo>
                  <a:pt x="259841" y="60959"/>
                </a:lnTo>
                <a:lnTo>
                  <a:pt x="260222" y="61722"/>
                </a:lnTo>
                <a:close/>
              </a:path>
              <a:path w="562609" h="643254">
                <a:moveTo>
                  <a:pt x="260349" y="62230"/>
                </a:moveTo>
                <a:lnTo>
                  <a:pt x="260222" y="61722"/>
                </a:lnTo>
                <a:lnTo>
                  <a:pt x="259841" y="60959"/>
                </a:lnTo>
                <a:lnTo>
                  <a:pt x="260222" y="62103"/>
                </a:lnTo>
                <a:lnTo>
                  <a:pt x="260349" y="62230"/>
                </a:lnTo>
                <a:close/>
              </a:path>
              <a:path w="562609" h="643254">
                <a:moveTo>
                  <a:pt x="260222" y="62103"/>
                </a:moveTo>
                <a:lnTo>
                  <a:pt x="259841" y="60959"/>
                </a:lnTo>
                <a:lnTo>
                  <a:pt x="259841" y="61721"/>
                </a:lnTo>
                <a:lnTo>
                  <a:pt x="260222" y="62103"/>
                </a:lnTo>
                <a:close/>
              </a:path>
              <a:path w="562609" h="643254">
                <a:moveTo>
                  <a:pt x="260277" y="62266"/>
                </a:moveTo>
                <a:lnTo>
                  <a:pt x="260222" y="62103"/>
                </a:lnTo>
                <a:lnTo>
                  <a:pt x="259841" y="61721"/>
                </a:lnTo>
                <a:lnTo>
                  <a:pt x="260146" y="62179"/>
                </a:lnTo>
                <a:lnTo>
                  <a:pt x="260277" y="62266"/>
                </a:lnTo>
                <a:close/>
              </a:path>
              <a:path w="562609" h="643254">
                <a:moveTo>
                  <a:pt x="260146" y="62179"/>
                </a:moveTo>
                <a:lnTo>
                  <a:pt x="259841" y="61721"/>
                </a:lnTo>
                <a:lnTo>
                  <a:pt x="259841" y="61975"/>
                </a:lnTo>
                <a:lnTo>
                  <a:pt x="260146" y="62179"/>
                </a:lnTo>
                <a:close/>
              </a:path>
              <a:path w="562609" h="643254">
                <a:moveTo>
                  <a:pt x="260603" y="278130"/>
                </a:moveTo>
                <a:lnTo>
                  <a:pt x="260603" y="63245"/>
                </a:lnTo>
                <a:lnTo>
                  <a:pt x="260349" y="62484"/>
                </a:lnTo>
                <a:lnTo>
                  <a:pt x="260146" y="62179"/>
                </a:lnTo>
                <a:lnTo>
                  <a:pt x="259841" y="61975"/>
                </a:lnTo>
                <a:lnTo>
                  <a:pt x="259841" y="277368"/>
                </a:lnTo>
                <a:lnTo>
                  <a:pt x="260603" y="278130"/>
                </a:lnTo>
                <a:close/>
              </a:path>
              <a:path w="562609" h="643254">
                <a:moveTo>
                  <a:pt x="547877" y="336041"/>
                </a:moveTo>
                <a:lnTo>
                  <a:pt x="492251" y="334517"/>
                </a:lnTo>
                <a:lnTo>
                  <a:pt x="440435" y="332231"/>
                </a:lnTo>
                <a:lnTo>
                  <a:pt x="416051" y="329945"/>
                </a:lnTo>
                <a:lnTo>
                  <a:pt x="404621" y="329184"/>
                </a:lnTo>
                <a:lnTo>
                  <a:pt x="393191" y="327659"/>
                </a:lnTo>
                <a:lnTo>
                  <a:pt x="382523" y="326897"/>
                </a:lnTo>
                <a:lnTo>
                  <a:pt x="371855" y="325373"/>
                </a:lnTo>
                <a:lnTo>
                  <a:pt x="352043" y="322326"/>
                </a:lnTo>
                <a:lnTo>
                  <a:pt x="347471" y="321564"/>
                </a:lnTo>
                <a:lnTo>
                  <a:pt x="342899" y="322326"/>
                </a:lnTo>
                <a:lnTo>
                  <a:pt x="334517" y="323850"/>
                </a:lnTo>
                <a:lnTo>
                  <a:pt x="326135" y="326136"/>
                </a:lnTo>
                <a:lnTo>
                  <a:pt x="317753" y="327660"/>
                </a:lnTo>
                <a:lnTo>
                  <a:pt x="310133" y="329946"/>
                </a:lnTo>
                <a:lnTo>
                  <a:pt x="303275" y="331470"/>
                </a:lnTo>
                <a:lnTo>
                  <a:pt x="291083" y="336042"/>
                </a:lnTo>
                <a:lnTo>
                  <a:pt x="280415" y="340614"/>
                </a:lnTo>
                <a:lnTo>
                  <a:pt x="271271" y="346710"/>
                </a:lnTo>
                <a:lnTo>
                  <a:pt x="267461" y="349758"/>
                </a:lnTo>
                <a:lnTo>
                  <a:pt x="267461" y="350520"/>
                </a:lnTo>
                <a:lnTo>
                  <a:pt x="265937" y="352044"/>
                </a:lnTo>
                <a:lnTo>
                  <a:pt x="264413" y="354330"/>
                </a:lnTo>
                <a:lnTo>
                  <a:pt x="263651" y="355092"/>
                </a:lnTo>
                <a:lnTo>
                  <a:pt x="263651" y="355854"/>
                </a:lnTo>
                <a:lnTo>
                  <a:pt x="262889" y="356616"/>
                </a:lnTo>
                <a:lnTo>
                  <a:pt x="262127" y="358902"/>
                </a:lnTo>
                <a:lnTo>
                  <a:pt x="261365" y="360426"/>
                </a:lnTo>
                <a:lnTo>
                  <a:pt x="260603" y="361188"/>
                </a:lnTo>
                <a:lnTo>
                  <a:pt x="260603" y="364998"/>
                </a:lnTo>
                <a:lnTo>
                  <a:pt x="259841" y="365760"/>
                </a:lnTo>
                <a:lnTo>
                  <a:pt x="259841" y="580644"/>
                </a:lnTo>
                <a:lnTo>
                  <a:pt x="261365" y="579120"/>
                </a:lnTo>
                <a:lnTo>
                  <a:pt x="261365" y="612430"/>
                </a:lnTo>
                <a:lnTo>
                  <a:pt x="263651" y="611124"/>
                </a:lnTo>
                <a:lnTo>
                  <a:pt x="268985" y="608838"/>
                </a:lnTo>
                <a:lnTo>
                  <a:pt x="274319" y="605790"/>
                </a:lnTo>
                <a:lnTo>
                  <a:pt x="278129" y="602742"/>
                </a:lnTo>
                <a:lnTo>
                  <a:pt x="281177" y="600456"/>
                </a:lnTo>
                <a:lnTo>
                  <a:pt x="281177" y="599694"/>
                </a:lnTo>
                <a:lnTo>
                  <a:pt x="282701" y="598170"/>
                </a:lnTo>
                <a:lnTo>
                  <a:pt x="284225" y="595884"/>
                </a:lnTo>
                <a:lnTo>
                  <a:pt x="285749" y="594360"/>
                </a:lnTo>
                <a:lnTo>
                  <a:pt x="285749" y="593598"/>
                </a:lnTo>
                <a:lnTo>
                  <a:pt x="287273" y="591312"/>
                </a:lnTo>
                <a:lnTo>
                  <a:pt x="287273" y="371094"/>
                </a:lnTo>
                <a:lnTo>
                  <a:pt x="288797" y="366522"/>
                </a:lnTo>
                <a:lnTo>
                  <a:pt x="288797" y="369062"/>
                </a:lnTo>
                <a:lnTo>
                  <a:pt x="290321" y="368046"/>
                </a:lnTo>
                <a:lnTo>
                  <a:pt x="300989" y="362712"/>
                </a:lnTo>
                <a:lnTo>
                  <a:pt x="305561" y="361188"/>
                </a:lnTo>
                <a:lnTo>
                  <a:pt x="311657" y="358902"/>
                </a:lnTo>
                <a:lnTo>
                  <a:pt x="317753" y="357378"/>
                </a:lnTo>
                <a:lnTo>
                  <a:pt x="324611" y="355854"/>
                </a:lnTo>
                <a:lnTo>
                  <a:pt x="331469" y="353568"/>
                </a:lnTo>
                <a:lnTo>
                  <a:pt x="376427" y="345839"/>
                </a:lnTo>
                <a:lnTo>
                  <a:pt x="397001" y="343661"/>
                </a:lnTo>
                <a:lnTo>
                  <a:pt x="407669" y="342138"/>
                </a:lnTo>
                <a:lnTo>
                  <a:pt x="430529" y="340613"/>
                </a:lnTo>
                <a:lnTo>
                  <a:pt x="442721" y="339089"/>
                </a:lnTo>
                <a:lnTo>
                  <a:pt x="466343" y="337613"/>
                </a:lnTo>
                <a:lnTo>
                  <a:pt x="467867" y="337544"/>
                </a:lnTo>
                <a:lnTo>
                  <a:pt x="520445" y="336041"/>
                </a:lnTo>
                <a:lnTo>
                  <a:pt x="547877" y="336041"/>
                </a:lnTo>
                <a:close/>
              </a:path>
              <a:path w="562609" h="643254">
                <a:moveTo>
                  <a:pt x="261365" y="579120"/>
                </a:moveTo>
                <a:lnTo>
                  <a:pt x="259841" y="581406"/>
                </a:lnTo>
                <a:lnTo>
                  <a:pt x="259841" y="582930"/>
                </a:lnTo>
                <a:lnTo>
                  <a:pt x="260603" y="580644"/>
                </a:lnTo>
                <a:lnTo>
                  <a:pt x="260603" y="581024"/>
                </a:lnTo>
                <a:lnTo>
                  <a:pt x="261365" y="579120"/>
                </a:lnTo>
                <a:close/>
              </a:path>
              <a:path w="562609" h="643254">
                <a:moveTo>
                  <a:pt x="260603" y="581024"/>
                </a:moveTo>
                <a:lnTo>
                  <a:pt x="260603" y="580644"/>
                </a:lnTo>
                <a:lnTo>
                  <a:pt x="259841" y="582930"/>
                </a:lnTo>
                <a:lnTo>
                  <a:pt x="260603" y="581024"/>
                </a:lnTo>
                <a:close/>
              </a:path>
              <a:path w="562609" h="643254">
                <a:moveTo>
                  <a:pt x="261365" y="612430"/>
                </a:moveTo>
                <a:lnTo>
                  <a:pt x="261365" y="579120"/>
                </a:lnTo>
                <a:lnTo>
                  <a:pt x="259841" y="582930"/>
                </a:lnTo>
                <a:lnTo>
                  <a:pt x="259841" y="613301"/>
                </a:lnTo>
                <a:lnTo>
                  <a:pt x="261365" y="612430"/>
                </a:lnTo>
                <a:close/>
              </a:path>
              <a:path w="562609" h="643254">
                <a:moveTo>
                  <a:pt x="260349" y="62484"/>
                </a:moveTo>
                <a:lnTo>
                  <a:pt x="260277" y="62266"/>
                </a:lnTo>
                <a:lnTo>
                  <a:pt x="260146" y="62179"/>
                </a:lnTo>
                <a:lnTo>
                  <a:pt x="260349" y="62484"/>
                </a:lnTo>
                <a:close/>
              </a:path>
              <a:path w="562609" h="643254">
                <a:moveTo>
                  <a:pt x="260603" y="62484"/>
                </a:moveTo>
                <a:lnTo>
                  <a:pt x="260222" y="61722"/>
                </a:lnTo>
                <a:lnTo>
                  <a:pt x="260349" y="62230"/>
                </a:lnTo>
                <a:lnTo>
                  <a:pt x="260603" y="62484"/>
                </a:lnTo>
                <a:close/>
              </a:path>
              <a:path w="562609" h="643254">
                <a:moveTo>
                  <a:pt x="260375" y="62331"/>
                </a:moveTo>
                <a:lnTo>
                  <a:pt x="260222" y="62103"/>
                </a:lnTo>
                <a:lnTo>
                  <a:pt x="260277" y="62266"/>
                </a:lnTo>
                <a:close/>
              </a:path>
              <a:path w="562609" h="643254">
                <a:moveTo>
                  <a:pt x="260451" y="62636"/>
                </a:moveTo>
                <a:lnTo>
                  <a:pt x="260375" y="62331"/>
                </a:lnTo>
                <a:lnTo>
                  <a:pt x="260375" y="62522"/>
                </a:lnTo>
                <a:close/>
              </a:path>
              <a:path w="562609" h="643254">
                <a:moveTo>
                  <a:pt x="260603" y="62484"/>
                </a:moveTo>
                <a:lnTo>
                  <a:pt x="260349" y="62230"/>
                </a:lnTo>
                <a:lnTo>
                  <a:pt x="260603" y="62484"/>
                </a:lnTo>
                <a:close/>
              </a:path>
              <a:path w="562609" h="643254">
                <a:moveTo>
                  <a:pt x="260603" y="63245"/>
                </a:moveTo>
                <a:lnTo>
                  <a:pt x="260451" y="62636"/>
                </a:lnTo>
                <a:lnTo>
                  <a:pt x="260349" y="62484"/>
                </a:lnTo>
                <a:lnTo>
                  <a:pt x="260603" y="63245"/>
                </a:lnTo>
                <a:close/>
              </a:path>
              <a:path w="562609" h="643254">
                <a:moveTo>
                  <a:pt x="261365" y="64007"/>
                </a:moveTo>
                <a:lnTo>
                  <a:pt x="260603" y="62484"/>
                </a:lnTo>
                <a:lnTo>
                  <a:pt x="260375" y="62331"/>
                </a:lnTo>
                <a:lnTo>
                  <a:pt x="260451" y="62636"/>
                </a:lnTo>
                <a:lnTo>
                  <a:pt x="261365" y="64007"/>
                </a:lnTo>
                <a:close/>
              </a:path>
              <a:path w="562609" h="643254">
                <a:moveTo>
                  <a:pt x="261365" y="282702"/>
                </a:moveTo>
                <a:lnTo>
                  <a:pt x="261365" y="64007"/>
                </a:lnTo>
                <a:lnTo>
                  <a:pt x="260451" y="62636"/>
                </a:lnTo>
                <a:lnTo>
                  <a:pt x="260603" y="63245"/>
                </a:lnTo>
                <a:lnTo>
                  <a:pt x="260603" y="281940"/>
                </a:lnTo>
                <a:lnTo>
                  <a:pt x="261365" y="282702"/>
                </a:lnTo>
                <a:close/>
              </a:path>
              <a:path w="562609" h="643254">
                <a:moveTo>
                  <a:pt x="261365" y="64007"/>
                </a:moveTo>
                <a:lnTo>
                  <a:pt x="261365" y="63245"/>
                </a:lnTo>
                <a:lnTo>
                  <a:pt x="260603" y="62484"/>
                </a:lnTo>
                <a:lnTo>
                  <a:pt x="261365" y="64007"/>
                </a:lnTo>
                <a:close/>
              </a:path>
              <a:path w="562609" h="643254">
                <a:moveTo>
                  <a:pt x="288797" y="273558"/>
                </a:moveTo>
                <a:lnTo>
                  <a:pt x="288797" y="57911"/>
                </a:lnTo>
                <a:lnTo>
                  <a:pt x="288035" y="55625"/>
                </a:lnTo>
                <a:lnTo>
                  <a:pt x="288035" y="54101"/>
                </a:lnTo>
                <a:lnTo>
                  <a:pt x="287273" y="53339"/>
                </a:lnTo>
                <a:lnTo>
                  <a:pt x="287273" y="272034"/>
                </a:lnTo>
                <a:lnTo>
                  <a:pt x="288797" y="273558"/>
                </a:lnTo>
                <a:close/>
              </a:path>
              <a:path w="562609" h="643254">
                <a:moveTo>
                  <a:pt x="547877" y="307085"/>
                </a:moveTo>
                <a:lnTo>
                  <a:pt x="520445" y="307085"/>
                </a:lnTo>
                <a:lnTo>
                  <a:pt x="467867" y="305561"/>
                </a:lnTo>
                <a:lnTo>
                  <a:pt x="454913" y="304799"/>
                </a:lnTo>
                <a:lnTo>
                  <a:pt x="442721" y="304038"/>
                </a:lnTo>
                <a:lnTo>
                  <a:pt x="430529" y="302513"/>
                </a:lnTo>
                <a:lnTo>
                  <a:pt x="407669" y="300989"/>
                </a:lnTo>
                <a:lnTo>
                  <a:pt x="386333" y="297941"/>
                </a:lnTo>
                <a:lnTo>
                  <a:pt x="376427" y="297179"/>
                </a:lnTo>
                <a:lnTo>
                  <a:pt x="366521" y="295656"/>
                </a:lnTo>
                <a:lnTo>
                  <a:pt x="348233" y="292608"/>
                </a:lnTo>
                <a:lnTo>
                  <a:pt x="339851" y="291084"/>
                </a:lnTo>
                <a:lnTo>
                  <a:pt x="332231" y="289560"/>
                </a:lnTo>
                <a:lnTo>
                  <a:pt x="324611" y="287274"/>
                </a:lnTo>
                <a:lnTo>
                  <a:pt x="317753" y="285750"/>
                </a:lnTo>
                <a:lnTo>
                  <a:pt x="311657" y="284226"/>
                </a:lnTo>
                <a:lnTo>
                  <a:pt x="306323" y="281940"/>
                </a:lnTo>
                <a:lnTo>
                  <a:pt x="297179" y="278892"/>
                </a:lnTo>
                <a:lnTo>
                  <a:pt x="291083" y="275844"/>
                </a:lnTo>
                <a:lnTo>
                  <a:pt x="287273" y="272034"/>
                </a:lnTo>
                <a:lnTo>
                  <a:pt x="288797" y="274320"/>
                </a:lnTo>
                <a:lnTo>
                  <a:pt x="288797" y="306324"/>
                </a:lnTo>
                <a:lnTo>
                  <a:pt x="290321" y="307086"/>
                </a:lnTo>
                <a:lnTo>
                  <a:pt x="296417" y="309372"/>
                </a:lnTo>
                <a:lnTo>
                  <a:pt x="303275" y="310896"/>
                </a:lnTo>
                <a:lnTo>
                  <a:pt x="310133" y="313182"/>
                </a:lnTo>
                <a:lnTo>
                  <a:pt x="317753" y="315468"/>
                </a:lnTo>
                <a:lnTo>
                  <a:pt x="325373" y="316992"/>
                </a:lnTo>
                <a:lnTo>
                  <a:pt x="333755" y="318516"/>
                </a:lnTo>
                <a:lnTo>
                  <a:pt x="342899" y="320802"/>
                </a:lnTo>
                <a:lnTo>
                  <a:pt x="347471" y="321564"/>
                </a:lnTo>
                <a:lnTo>
                  <a:pt x="352043" y="320802"/>
                </a:lnTo>
                <a:lnTo>
                  <a:pt x="371855" y="317753"/>
                </a:lnTo>
                <a:lnTo>
                  <a:pt x="382523" y="316229"/>
                </a:lnTo>
                <a:lnTo>
                  <a:pt x="393953" y="315467"/>
                </a:lnTo>
                <a:lnTo>
                  <a:pt x="404621" y="313943"/>
                </a:lnTo>
                <a:lnTo>
                  <a:pt x="416813" y="313181"/>
                </a:lnTo>
                <a:lnTo>
                  <a:pt x="428243" y="311657"/>
                </a:lnTo>
                <a:lnTo>
                  <a:pt x="440435" y="310895"/>
                </a:lnTo>
                <a:lnTo>
                  <a:pt x="467867" y="309284"/>
                </a:lnTo>
                <a:lnTo>
                  <a:pt x="492251" y="307891"/>
                </a:lnTo>
                <a:lnTo>
                  <a:pt x="520445" y="307847"/>
                </a:lnTo>
                <a:lnTo>
                  <a:pt x="547877" y="307085"/>
                </a:lnTo>
                <a:close/>
              </a:path>
              <a:path w="562609" h="643254">
                <a:moveTo>
                  <a:pt x="288797" y="275844"/>
                </a:moveTo>
                <a:lnTo>
                  <a:pt x="288797" y="274320"/>
                </a:lnTo>
                <a:lnTo>
                  <a:pt x="287273" y="272034"/>
                </a:lnTo>
                <a:lnTo>
                  <a:pt x="288797" y="275844"/>
                </a:lnTo>
                <a:close/>
              </a:path>
              <a:path w="562609" h="643254">
                <a:moveTo>
                  <a:pt x="288797" y="368808"/>
                </a:moveTo>
                <a:lnTo>
                  <a:pt x="288797" y="366522"/>
                </a:lnTo>
                <a:lnTo>
                  <a:pt x="287273" y="371094"/>
                </a:lnTo>
                <a:lnTo>
                  <a:pt x="288035" y="369570"/>
                </a:lnTo>
                <a:lnTo>
                  <a:pt x="288493" y="369265"/>
                </a:lnTo>
                <a:lnTo>
                  <a:pt x="288797" y="368808"/>
                </a:lnTo>
                <a:close/>
              </a:path>
              <a:path w="562609" h="643254">
                <a:moveTo>
                  <a:pt x="288493" y="369265"/>
                </a:moveTo>
                <a:lnTo>
                  <a:pt x="288035" y="369570"/>
                </a:lnTo>
                <a:lnTo>
                  <a:pt x="287273" y="371094"/>
                </a:lnTo>
                <a:lnTo>
                  <a:pt x="288493" y="369265"/>
                </a:lnTo>
                <a:close/>
              </a:path>
              <a:path w="562609" h="643254">
                <a:moveTo>
                  <a:pt x="288797" y="585216"/>
                </a:moveTo>
                <a:lnTo>
                  <a:pt x="288797" y="369062"/>
                </a:lnTo>
                <a:lnTo>
                  <a:pt x="288493" y="369265"/>
                </a:lnTo>
                <a:lnTo>
                  <a:pt x="287273" y="371094"/>
                </a:lnTo>
                <a:lnTo>
                  <a:pt x="287273" y="589788"/>
                </a:lnTo>
                <a:lnTo>
                  <a:pt x="288035" y="589026"/>
                </a:lnTo>
                <a:lnTo>
                  <a:pt x="288035" y="587502"/>
                </a:lnTo>
                <a:lnTo>
                  <a:pt x="288797" y="585216"/>
                </a:lnTo>
                <a:close/>
              </a:path>
              <a:path w="562609" h="643254">
                <a:moveTo>
                  <a:pt x="288797" y="369062"/>
                </a:moveTo>
                <a:lnTo>
                  <a:pt x="288797" y="368808"/>
                </a:lnTo>
                <a:lnTo>
                  <a:pt x="288493" y="369265"/>
                </a:lnTo>
                <a:lnTo>
                  <a:pt x="288797" y="369062"/>
                </a:lnTo>
                <a:close/>
              </a:path>
              <a:path w="562609" h="643254">
                <a:moveTo>
                  <a:pt x="562355" y="329184"/>
                </a:moveTo>
                <a:lnTo>
                  <a:pt x="562355" y="313943"/>
                </a:lnTo>
                <a:lnTo>
                  <a:pt x="556259" y="307085"/>
                </a:lnTo>
                <a:lnTo>
                  <a:pt x="547877" y="307085"/>
                </a:lnTo>
                <a:lnTo>
                  <a:pt x="520445" y="307847"/>
                </a:lnTo>
                <a:lnTo>
                  <a:pt x="492251" y="307891"/>
                </a:lnTo>
                <a:lnTo>
                  <a:pt x="466343" y="309371"/>
                </a:lnTo>
                <a:lnTo>
                  <a:pt x="440435" y="310895"/>
                </a:lnTo>
                <a:lnTo>
                  <a:pt x="428243" y="311657"/>
                </a:lnTo>
                <a:lnTo>
                  <a:pt x="416813" y="313181"/>
                </a:lnTo>
                <a:lnTo>
                  <a:pt x="404621" y="313943"/>
                </a:lnTo>
                <a:lnTo>
                  <a:pt x="393953" y="315467"/>
                </a:lnTo>
                <a:lnTo>
                  <a:pt x="382523" y="316229"/>
                </a:lnTo>
                <a:lnTo>
                  <a:pt x="371855" y="317753"/>
                </a:lnTo>
                <a:lnTo>
                  <a:pt x="352043" y="320802"/>
                </a:lnTo>
                <a:lnTo>
                  <a:pt x="347471" y="321564"/>
                </a:lnTo>
                <a:lnTo>
                  <a:pt x="352043" y="322326"/>
                </a:lnTo>
                <a:lnTo>
                  <a:pt x="371855" y="325373"/>
                </a:lnTo>
                <a:lnTo>
                  <a:pt x="382523" y="326897"/>
                </a:lnTo>
                <a:lnTo>
                  <a:pt x="393191" y="327659"/>
                </a:lnTo>
                <a:lnTo>
                  <a:pt x="404621" y="329184"/>
                </a:lnTo>
                <a:lnTo>
                  <a:pt x="416051" y="329945"/>
                </a:lnTo>
                <a:lnTo>
                  <a:pt x="428243" y="331470"/>
                </a:lnTo>
                <a:lnTo>
                  <a:pt x="440435" y="332231"/>
                </a:lnTo>
                <a:lnTo>
                  <a:pt x="466343" y="333755"/>
                </a:lnTo>
                <a:lnTo>
                  <a:pt x="493013" y="334538"/>
                </a:lnTo>
                <a:lnTo>
                  <a:pt x="547877" y="336041"/>
                </a:lnTo>
                <a:lnTo>
                  <a:pt x="556259" y="336041"/>
                </a:lnTo>
                <a:lnTo>
                  <a:pt x="562355" y="329184"/>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txBox="1"/>
          <p:nvPr/>
        </p:nvSpPr>
        <p:spPr>
          <a:xfrm>
            <a:off x="7827518" y="4723129"/>
            <a:ext cx="2455545" cy="611706"/>
          </a:xfrm>
          <a:prstGeom prst="rect">
            <a:avLst/>
          </a:prstGeom>
        </p:spPr>
        <p:txBody>
          <a:bodyPr vert="horz" wrap="square" lIns="0" tIns="46990" rIns="0" bIns="0" rtlCol="0">
            <a:spAutoFit/>
          </a:bodyPr>
          <a:lstStyle/>
          <a:p>
            <a:pPr marL="12700" marR="5080" lvl="0" indent="0" algn="l" defTabSz="914400" rtl="0" eaLnBrk="1" fontAlgn="auto" latinLnBrk="0" hangingPunct="1">
              <a:lnSpc>
                <a:spcPts val="2160"/>
              </a:lnSpc>
              <a:spcBef>
                <a:spcPts val="370"/>
              </a:spcBef>
              <a:spcAft>
                <a:spcPts val="0"/>
              </a:spcAft>
              <a:buClrTx/>
              <a:buSzTx/>
              <a:buFontTx/>
              <a:buNone/>
              <a:tabLst/>
              <a:defRPr/>
            </a:pPr>
            <a:r>
              <a:rPr kumimoji="0" sz="2000" b="0" i="0" u="none" strike="noStrike" kern="1200" cap="none" spc="-10" normalizeH="0" baseline="0" noProof="0" dirty="0">
                <a:ln>
                  <a:noFill/>
                </a:ln>
                <a:solidFill>
                  <a:srgbClr val="00B050"/>
                </a:solidFill>
                <a:effectLst/>
                <a:uLnTx/>
                <a:uFillTx/>
                <a:latin typeface="Verdana"/>
                <a:ea typeface="+mn-ea"/>
                <a:cs typeface="Verdana"/>
              </a:rPr>
              <a:t>Equalizer</a:t>
            </a:r>
            <a:r>
              <a:rPr kumimoji="0" sz="2000" b="0" i="0" u="none" strike="noStrike" kern="1200" cap="none" spc="-15" normalizeH="0" baseline="0" noProof="0" dirty="0">
                <a:ln>
                  <a:noFill/>
                </a:ln>
                <a:solidFill>
                  <a:srgbClr val="00B050"/>
                </a:solidFill>
                <a:effectLst/>
                <a:uLnTx/>
                <a:uFillTx/>
                <a:latin typeface="Verdana"/>
                <a:ea typeface="+mn-ea"/>
                <a:cs typeface="Verdana"/>
              </a:rPr>
              <a:t> </a:t>
            </a:r>
            <a:r>
              <a:rPr kumimoji="0" sz="2000" b="0" i="0" u="none" strike="noStrike" kern="1200" cap="none" spc="-10" normalizeH="0" baseline="0" noProof="0" dirty="0">
                <a:ln>
                  <a:noFill/>
                </a:ln>
                <a:solidFill>
                  <a:srgbClr val="00B050"/>
                </a:solidFill>
                <a:effectLst/>
                <a:uLnTx/>
                <a:uFillTx/>
                <a:latin typeface="Verdana"/>
                <a:ea typeface="+mn-ea"/>
                <a:cs typeface="Verdana"/>
              </a:rPr>
              <a:t>helps</a:t>
            </a:r>
            <a:r>
              <a:rPr kumimoji="0" sz="2000" b="0" i="0" u="none" strike="noStrike" kern="1200" cap="none" spc="-5" normalizeH="0" baseline="0" noProof="0" dirty="0">
                <a:ln>
                  <a:noFill/>
                </a:ln>
                <a:solidFill>
                  <a:srgbClr val="00B050"/>
                </a:solidFill>
                <a:effectLst/>
                <a:uLnTx/>
                <a:uFillTx/>
                <a:latin typeface="Verdana"/>
                <a:ea typeface="+mn-ea"/>
                <a:cs typeface="Verdana"/>
              </a:rPr>
              <a:t> </a:t>
            </a:r>
            <a:r>
              <a:rPr kumimoji="0" sz="2000" b="0" i="0" u="none" strike="noStrike" kern="1200" cap="none" spc="-10" normalizeH="0" baseline="0" noProof="0" dirty="0">
                <a:ln>
                  <a:noFill/>
                </a:ln>
                <a:solidFill>
                  <a:srgbClr val="00B050"/>
                </a:solidFill>
                <a:effectLst/>
                <a:uLnTx/>
                <a:uFillTx/>
                <a:latin typeface="Verdana"/>
                <a:ea typeface="+mn-ea"/>
                <a:cs typeface="Verdana"/>
              </a:rPr>
              <a:t>but </a:t>
            </a:r>
            <a:r>
              <a:rPr kumimoji="0" sz="2000" b="0" i="0" u="none" strike="noStrike" kern="1200" cap="none" spc="-685" normalizeH="0" baseline="0" noProof="0" dirty="0">
                <a:ln>
                  <a:noFill/>
                </a:ln>
                <a:solidFill>
                  <a:srgbClr val="00B050"/>
                </a:solidFill>
                <a:effectLst/>
                <a:uLnTx/>
                <a:uFillTx/>
                <a:latin typeface="Verdana"/>
                <a:ea typeface="+mn-ea"/>
                <a:cs typeface="Verdana"/>
              </a:rPr>
              <a:t> </a:t>
            </a:r>
            <a:r>
              <a:rPr kumimoji="0" sz="2000" b="0" i="0" u="none" strike="noStrike" kern="1200" cap="none" spc="-10" normalizeH="0" baseline="0" noProof="0" dirty="0">
                <a:ln>
                  <a:noFill/>
                </a:ln>
                <a:solidFill>
                  <a:srgbClr val="00B050"/>
                </a:solidFill>
                <a:effectLst/>
                <a:uLnTx/>
                <a:uFillTx/>
                <a:latin typeface="Verdana"/>
                <a:ea typeface="+mn-ea"/>
                <a:cs typeface="Verdana"/>
              </a:rPr>
              <a:t>consumes</a:t>
            </a:r>
            <a:r>
              <a:rPr kumimoji="0" sz="2000" b="0" i="0" u="none" strike="noStrike" kern="1200" cap="none" spc="-25" normalizeH="0" baseline="0" noProof="0" dirty="0">
                <a:ln>
                  <a:noFill/>
                </a:ln>
                <a:solidFill>
                  <a:srgbClr val="00B050"/>
                </a:solidFill>
                <a:effectLst/>
                <a:uLnTx/>
                <a:uFillTx/>
                <a:latin typeface="Verdana"/>
                <a:ea typeface="+mn-ea"/>
                <a:cs typeface="Verdana"/>
              </a:rPr>
              <a:t> </a:t>
            </a:r>
            <a:r>
              <a:rPr kumimoji="0" sz="2000" b="0" i="0" u="none" strike="noStrike" kern="1200" cap="none" spc="-10" normalizeH="0" baseline="0" noProof="0" dirty="0">
                <a:ln>
                  <a:noFill/>
                </a:ln>
                <a:solidFill>
                  <a:srgbClr val="00B050"/>
                </a:solidFill>
                <a:effectLst/>
                <a:uLnTx/>
                <a:uFillTx/>
                <a:latin typeface="Verdana"/>
                <a:ea typeface="+mn-ea"/>
                <a:cs typeface="Verdana"/>
              </a:rPr>
              <a:t>power</a:t>
            </a:r>
            <a:endParaRPr kumimoji="0" sz="2000" b="0" i="0" u="none" strike="noStrike" kern="1200" cap="none" spc="0" normalizeH="0" baseline="0" noProof="0" dirty="0">
              <a:ln>
                <a:noFill/>
              </a:ln>
              <a:solidFill>
                <a:srgbClr val="00B050"/>
              </a:solidFill>
              <a:effectLst/>
              <a:uLnTx/>
              <a:uFillTx/>
              <a:latin typeface="Verdana"/>
              <a:ea typeface="+mn-ea"/>
              <a:cs typeface="Verdana"/>
            </a:endParaRPr>
          </a:p>
        </p:txBody>
      </p:sp>
      <p:grpSp>
        <p:nvGrpSpPr>
          <p:cNvPr id="13" name="object 13"/>
          <p:cNvGrpSpPr/>
          <p:nvPr/>
        </p:nvGrpSpPr>
        <p:grpSpPr>
          <a:xfrm>
            <a:off x="3057651" y="2669032"/>
            <a:ext cx="4122420" cy="949960"/>
            <a:chOff x="3057651" y="2669032"/>
            <a:chExt cx="4122420" cy="949960"/>
          </a:xfrm>
        </p:grpSpPr>
        <p:sp>
          <p:nvSpPr>
            <p:cNvPr id="14" name="object 14"/>
            <p:cNvSpPr/>
            <p:nvPr/>
          </p:nvSpPr>
          <p:spPr>
            <a:xfrm>
              <a:off x="4583429" y="3024378"/>
              <a:ext cx="115570" cy="231140"/>
            </a:xfrm>
            <a:custGeom>
              <a:avLst/>
              <a:gdLst/>
              <a:ahLst/>
              <a:cxnLst/>
              <a:rect l="l" t="t" r="r" b="b"/>
              <a:pathLst>
                <a:path w="115570" h="231139">
                  <a:moveTo>
                    <a:pt x="115062" y="115062"/>
                  </a:moveTo>
                  <a:lnTo>
                    <a:pt x="110525" y="70401"/>
                  </a:lnTo>
                  <a:lnTo>
                    <a:pt x="98202" y="33813"/>
                  </a:lnTo>
                  <a:lnTo>
                    <a:pt x="80021" y="9084"/>
                  </a:lnTo>
                  <a:lnTo>
                    <a:pt x="57912" y="0"/>
                  </a:lnTo>
                  <a:lnTo>
                    <a:pt x="35361" y="9084"/>
                  </a:lnTo>
                  <a:lnTo>
                    <a:pt x="16954" y="33813"/>
                  </a:lnTo>
                  <a:lnTo>
                    <a:pt x="4548" y="70401"/>
                  </a:lnTo>
                  <a:lnTo>
                    <a:pt x="0" y="115062"/>
                  </a:lnTo>
                  <a:lnTo>
                    <a:pt x="4548" y="160162"/>
                  </a:lnTo>
                  <a:lnTo>
                    <a:pt x="16954" y="196977"/>
                  </a:lnTo>
                  <a:lnTo>
                    <a:pt x="35361" y="221789"/>
                  </a:lnTo>
                  <a:lnTo>
                    <a:pt x="57912" y="230886"/>
                  </a:lnTo>
                  <a:lnTo>
                    <a:pt x="80021" y="221789"/>
                  </a:lnTo>
                  <a:lnTo>
                    <a:pt x="98202" y="196977"/>
                  </a:lnTo>
                  <a:lnTo>
                    <a:pt x="110525" y="160162"/>
                  </a:lnTo>
                  <a:lnTo>
                    <a:pt x="115062" y="115062"/>
                  </a:lnTo>
                  <a:close/>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4641341" y="3024378"/>
              <a:ext cx="2524760" cy="2540"/>
            </a:xfrm>
            <a:custGeom>
              <a:avLst/>
              <a:gdLst/>
              <a:ahLst/>
              <a:cxnLst/>
              <a:rect l="l" t="t" r="r" b="b"/>
              <a:pathLst>
                <a:path w="2524759" h="2539">
                  <a:moveTo>
                    <a:pt x="0" y="0"/>
                  </a:moveTo>
                  <a:lnTo>
                    <a:pt x="2524506" y="2285"/>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4648961" y="3253740"/>
              <a:ext cx="2517140" cy="0"/>
            </a:xfrm>
            <a:custGeom>
              <a:avLst/>
              <a:gdLst/>
              <a:ahLst/>
              <a:cxnLst/>
              <a:rect l="l" t="t" r="r" b="b"/>
              <a:pathLst>
                <a:path w="2517140">
                  <a:moveTo>
                    <a:pt x="0" y="0"/>
                  </a:moveTo>
                  <a:lnTo>
                    <a:pt x="2516886"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7"/>
            <p:cNvSpPr/>
            <p:nvPr/>
          </p:nvSpPr>
          <p:spPr>
            <a:xfrm>
              <a:off x="4469129" y="3139440"/>
              <a:ext cx="172720" cy="0"/>
            </a:xfrm>
            <a:custGeom>
              <a:avLst/>
              <a:gdLst/>
              <a:ahLst/>
              <a:cxnLst/>
              <a:rect l="l" t="t" r="r" b="b"/>
              <a:pathLst>
                <a:path w="172720">
                  <a:moveTo>
                    <a:pt x="172212" y="0"/>
                  </a:moveTo>
                  <a:lnTo>
                    <a:pt x="0"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p:nvPr/>
          </p:nvSpPr>
          <p:spPr>
            <a:xfrm>
              <a:off x="3782567" y="3139440"/>
              <a:ext cx="801370" cy="0"/>
            </a:xfrm>
            <a:custGeom>
              <a:avLst/>
              <a:gdLst/>
              <a:ahLst/>
              <a:cxnLst/>
              <a:rect l="l" t="t" r="r" b="b"/>
              <a:pathLst>
                <a:path w="801370">
                  <a:moveTo>
                    <a:pt x="0" y="0"/>
                  </a:moveTo>
                  <a:lnTo>
                    <a:pt x="800862"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9"/>
            <p:cNvSpPr/>
            <p:nvPr/>
          </p:nvSpPr>
          <p:spPr>
            <a:xfrm>
              <a:off x="3471671" y="3064764"/>
              <a:ext cx="116839" cy="165735"/>
            </a:xfrm>
            <a:custGeom>
              <a:avLst/>
              <a:gdLst/>
              <a:ahLst/>
              <a:cxnLst/>
              <a:rect l="l" t="t" r="r" b="b"/>
              <a:pathLst>
                <a:path w="116839" h="165735">
                  <a:moveTo>
                    <a:pt x="0" y="165353"/>
                  </a:moveTo>
                  <a:lnTo>
                    <a:pt x="60197" y="0"/>
                  </a:lnTo>
                  <a:lnTo>
                    <a:pt x="116586" y="86867"/>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bject 20"/>
            <p:cNvSpPr/>
            <p:nvPr/>
          </p:nvSpPr>
          <p:spPr>
            <a:xfrm>
              <a:off x="3071621" y="2683002"/>
              <a:ext cx="915669" cy="922019"/>
            </a:xfrm>
            <a:custGeom>
              <a:avLst/>
              <a:gdLst/>
              <a:ahLst/>
              <a:cxnLst/>
              <a:rect l="l" t="t" r="r" b="b"/>
              <a:pathLst>
                <a:path w="915670" h="922020">
                  <a:moveTo>
                    <a:pt x="915162" y="461010"/>
                  </a:moveTo>
                  <a:lnTo>
                    <a:pt x="0" y="0"/>
                  </a:lnTo>
                  <a:lnTo>
                    <a:pt x="0" y="922020"/>
                  </a:lnTo>
                  <a:lnTo>
                    <a:pt x="915162" y="46101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p:nvPr/>
          </p:nvSpPr>
          <p:spPr>
            <a:xfrm>
              <a:off x="3071621" y="2683002"/>
              <a:ext cx="915669" cy="922019"/>
            </a:xfrm>
            <a:custGeom>
              <a:avLst/>
              <a:gdLst/>
              <a:ahLst/>
              <a:cxnLst/>
              <a:rect l="l" t="t" r="r" b="b"/>
              <a:pathLst>
                <a:path w="915670" h="922020">
                  <a:moveTo>
                    <a:pt x="915162" y="461010"/>
                  </a:moveTo>
                  <a:lnTo>
                    <a:pt x="0" y="0"/>
                  </a:lnTo>
                  <a:lnTo>
                    <a:pt x="0" y="922020"/>
                  </a:lnTo>
                  <a:lnTo>
                    <a:pt x="915162" y="461010"/>
                  </a:lnTo>
                  <a:close/>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3469385" y="3237738"/>
              <a:ext cx="116839" cy="165735"/>
            </a:xfrm>
            <a:custGeom>
              <a:avLst/>
              <a:gdLst/>
              <a:ahLst/>
              <a:cxnLst/>
              <a:rect l="l" t="t" r="r" b="b"/>
              <a:pathLst>
                <a:path w="116839" h="165735">
                  <a:moveTo>
                    <a:pt x="0" y="165353"/>
                  </a:moveTo>
                  <a:lnTo>
                    <a:pt x="60197" y="0"/>
                  </a:lnTo>
                  <a:lnTo>
                    <a:pt x="116586" y="86867"/>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3" name="object 23"/>
          <p:cNvSpPr txBox="1"/>
          <p:nvPr/>
        </p:nvSpPr>
        <p:spPr>
          <a:xfrm>
            <a:off x="3174745" y="2974619"/>
            <a:ext cx="325120" cy="30226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800" b="1" i="0" u="none" strike="noStrike" kern="1200" cap="none" spc="25" normalizeH="0" baseline="0" noProof="0" dirty="0">
                <a:ln>
                  <a:noFill/>
                </a:ln>
                <a:solidFill>
                  <a:prstClr val="black"/>
                </a:solidFill>
                <a:effectLst/>
                <a:uLnTx/>
                <a:uFillTx/>
                <a:latin typeface="Arial"/>
                <a:ea typeface="+mn-ea"/>
                <a:cs typeface="Arial"/>
              </a:rPr>
              <a:t>TX</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sp>
        <p:nvSpPr>
          <p:cNvPr id="24" name="object 24"/>
          <p:cNvSpPr txBox="1"/>
          <p:nvPr/>
        </p:nvSpPr>
        <p:spPr>
          <a:xfrm>
            <a:off x="5497321" y="2479039"/>
            <a:ext cx="1080135" cy="505459"/>
          </a:xfrm>
          <a:prstGeom prst="rect">
            <a:avLst/>
          </a:prstGeom>
        </p:spPr>
        <p:txBody>
          <a:bodyPr vert="horz" wrap="square" lIns="0" tIns="12700" rIns="0" bIns="0" rtlCol="0">
            <a:spAutoFit/>
          </a:bodyPr>
          <a:lstStyle/>
          <a:p>
            <a:pPr marL="0" marR="5080" lvl="0" indent="0" algn="r" defTabSz="914400" rtl="0" eaLnBrk="1" fontAlgn="auto" latinLnBrk="0" hangingPunct="1">
              <a:lnSpc>
                <a:spcPts val="1764"/>
              </a:lnSpc>
              <a:spcBef>
                <a:spcPts val="100"/>
              </a:spcBef>
              <a:spcAft>
                <a:spcPts val="0"/>
              </a:spcAft>
              <a:buClrTx/>
              <a:buSzTx/>
              <a:buFontTx/>
              <a:buNone/>
              <a:tabLst/>
              <a:defRPr/>
            </a:pPr>
            <a:r>
              <a:rPr kumimoji="0" sz="1600" b="1" i="0" u="none" strike="noStrike" kern="1200" cap="none" spc="0" normalizeH="0" baseline="0" noProof="0" dirty="0">
                <a:ln>
                  <a:noFill/>
                </a:ln>
                <a:solidFill>
                  <a:srgbClr val="006FC0"/>
                </a:solidFill>
                <a:effectLst/>
                <a:uLnTx/>
                <a:uFillTx/>
                <a:latin typeface="Verdana"/>
                <a:ea typeface="+mn-ea"/>
                <a:cs typeface="Verdana"/>
              </a:rPr>
              <a:t>f</a:t>
            </a:r>
            <a:endParaRPr kumimoji="0" sz="1600" b="0" i="0" u="none" strike="noStrike" kern="1200" cap="none" spc="0" normalizeH="0" baseline="0" noProof="0">
              <a:ln>
                <a:noFill/>
              </a:ln>
              <a:solidFill>
                <a:prstClr val="black"/>
              </a:solidFill>
              <a:effectLst/>
              <a:uLnTx/>
              <a:uFillTx/>
              <a:latin typeface="Verdana"/>
              <a:ea typeface="+mn-ea"/>
              <a:cs typeface="Verdana"/>
            </a:endParaRPr>
          </a:p>
          <a:p>
            <a:pPr marL="12700" marR="0" lvl="0" indent="0" algn="l" defTabSz="914400" rtl="0" eaLnBrk="1" fontAlgn="auto" latinLnBrk="0" hangingPunct="1">
              <a:lnSpc>
                <a:spcPts val="2005"/>
              </a:lnSpc>
              <a:spcBef>
                <a:spcPts val="0"/>
              </a:spcBef>
              <a:spcAft>
                <a:spcPts val="0"/>
              </a:spcAft>
              <a:buClrTx/>
              <a:buSzTx/>
              <a:buFontTx/>
              <a:buNone/>
              <a:tabLst/>
              <a:defRPr/>
            </a:pPr>
            <a:r>
              <a:rPr kumimoji="0" sz="1800" b="1" i="0" u="none" strike="noStrike" kern="1200" cap="none" spc="0" normalizeH="0" baseline="0" noProof="0" dirty="0">
                <a:ln>
                  <a:noFill/>
                </a:ln>
                <a:solidFill>
                  <a:prstClr val="black"/>
                </a:solidFill>
                <a:effectLst/>
                <a:uLnTx/>
                <a:uFillTx/>
                <a:latin typeface="Arial"/>
                <a:ea typeface="+mn-ea"/>
                <a:cs typeface="Arial"/>
              </a:rPr>
              <a:t>Channel</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grpSp>
        <p:nvGrpSpPr>
          <p:cNvPr id="25" name="object 25"/>
          <p:cNvGrpSpPr/>
          <p:nvPr/>
        </p:nvGrpSpPr>
        <p:grpSpPr>
          <a:xfrm>
            <a:off x="2828289" y="2669032"/>
            <a:ext cx="5921375" cy="949960"/>
            <a:chOff x="2828289" y="2669032"/>
            <a:chExt cx="5921375" cy="949960"/>
          </a:xfrm>
        </p:grpSpPr>
        <p:sp>
          <p:nvSpPr>
            <p:cNvPr id="26" name="object 26"/>
            <p:cNvSpPr/>
            <p:nvPr/>
          </p:nvSpPr>
          <p:spPr>
            <a:xfrm>
              <a:off x="2842259" y="3182874"/>
              <a:ext cx="139065" cy="0"/>
            </a:xfrm>
            <a:custGeom>
              <a:avLst/>
              <a:gdLst/>
              <a:ahLst/>
              <a:cxnLst/>
              <a:rect l="l" t="t" r="r" b="b"/>
              <a:pathLst>
                <a:path w="139064">
                  <a:moveTo>
                    <a:pt x="0" y="0"/>
                  </a:moveTo>
                  <a:lnTo>
                    <a:pt x="138684"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bject 27"/>
            <p:cNvSpPr/>
            <p:nvPr/>
          </p:nvSpPr>
          <p:spPr>
            <a:xfrm>
              <a:off x="2952749" y="3122676"/>
              <a:ext cx="119380" cy="120650"/>
            </a:xfrm>
            <a:custGeom>
              <a:avLst/>
              <a:gdLst/>
              <a:ahLst/>
              <a:cxnLst/>
              <a:rect l="l" t="t" r="r" b="b"/>
              <a:pathLst>
                <a:path w="119380" h="120650">
                  <a:moveTo>
                    <a:pt x="118871" y="60198"/>
                  </a:moveTo>
                  <a:lnTo>
                    <a:pt x="0" y="0"/>
                  </a:lnTo>
                  <a:lnTo>
                    <a:pt x="10286" y="29527"/>
                  </a:lnTo>
                  <a:lnTo>
                    <a:pt x="13715" y="60198"/>
                  </a:lnTo>
                  <a:lnTo>
                    <a:pt x="10286" y="90868"/>
                  </a:lnTo>
                  <a:lnTo>
                    <a:pt x="0" y="120396"/>
                  </a:lnTo>
                  <a:lnTo>
                    <a:pt x="118871" y="6019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bject 28"/>
            <p:cNvSpPr/>
            <p:nvPr/>
          </p:nvSpPr>
          <p:spPr>
            <a:xfrm>
              <a:off x="7215377" y="3139440"/>
              <a:ext cx="744855" cy="0"/>
            </a:xfrm>
            <a:custGeom>
              <a:avLst/>
              <a:gdLst/>
              <a:ahLst/>
              <a:cxnLst/>
              <a:rect l="l" t="t" r="r" b="b"/>
              <a:pathLst>
                <a:path w="744854">
                  <a:moveTo>
                    <a:pt x="0" y="0"/>
                  </a:moveTo>
                  <a:lnTo>
                    <a:pt x="744474"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object 29"/>
            <p:cNvSpPr/>
            <p:nvPr/>
          </p:nvSpPr>
          <p:spPr>
            <a:xfrm>
              <a:off x="8221218" y="3064764"/>
              <a:ext cx="116839" cy="165735"/>
            </a:xfrm>
            <a:custGeom>
              <a:avLst/>
              <a:gdLst/>
              <a:ahLst/>
              <a:cxnLst/>
              <a:rect l="l" t="t" r="r" b="b"/>
              <a:pathLst>
                <a:path w="116840" h="165735">
                  <a:moveTo>
                    <a:pt x="0" y="165353"/>
                  </a:moveTo>
                  <a:lnTo>
                    <a:pt x="59435" y="0"/>
                  </a:lnTo>
                  <a:lnTo>
                    <a:pt x="116586" y="86867"/>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object 30"/>
            <p:cNvSpPr/>
            <p:nvPr/>
          </p:nvSpPr>
          <p:spPr>
            <a:xfrm>
              <a:off x="7820405" y="2683002"/>
              <a:ext cx="915669" cy="922019"/>
            </a:xfrm>
            <a:custGeom>
              <a:avLst/>
              <a:gdLst/>
              <a:ahLst/>
              <a:cxnLst/>
              <a:rect l="l" t="t" r="r" b="b"/>
              <a:pathLst>
                <a:path w="915670" h="922020">
                  <a:moveTo>
                    <a:pt x="915162" y="461010"/>
                  </a:moveTo>
                  <a:lnTo>
                    <a:pt x="0" y="0"/>
                  </a:lnTo>
                  <a:lnTo>
                    <a:pt x="0" y="922020"/>
                  </a:lnTo>
                  <a:lnTo>
                    <a:pt x="915162" y="46101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p:nvPr/>
          </p:nvSpPr>
          <p:spPr>
            <a:xfrm>
              <a:off x="7820405" y="2683002"/>
              <a:ext cx="915669" cy="922019"/>
            </a:xfrm>
            <a:custGeom>
              <a:avLst/>
              <a:gdLst/>
              <a:ahLst/>
              <a:cxnLst/>
              <a:rect l="l" t="t" r="r" b="b"/>
              <a:pathLst>
                <a:path w="915670" h="922020">
                  <a:moveTo>
                    <a:pt x="915162" y="461010"/>
                  </a:moveTo>
                  <a:lnTo>
                    <a:pt x="0" y="0"/>
                  </a:lnTo>
                  <a:lnTo>
                    <a:pt x="0" y="922020"/>
                  </a:lnTo>
                  <a:lnTo>
                    <a:pt x="915162" y="461010"/>
                  </a:lnTo>
                  <a:close/>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8218931" y="3237738"/>
              <a:ext cx="116839" cy="165735"/>
            </a:xfrm>
            <a:custGeom>
              <a:avLst/>
              <a:gdLst/>
              <a:ahLst/>
              <a:cxnLst/>
              <a:rect l="l" t="t" r="r" b="b"/>
              <a:pathLst>
                <a:path w="116840" h="165735">
                  <a:moveTo>
                    <a:pt x="0" y="165353"/>
                  </a:moveTo>
                  <a:lnTo>
                    <a:pt x="59435" y="0"/>
                  </a:lnTo>
                  <a:lnTo>
                    <a:pt x="116586" y="86867"/>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3" name="object 33"/>
          <p:cNvSpPr txBox="1"/>
          <p:nvPr/>
        </p:nvSpPr>
        <p:spPr>
          <a:xfrm>
            <a:off x="7911336" y="3003575"/>
            <a:ext cx="335915" cy="30226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800" b="1" i="0" u="none" strike="noStrike" kern="1200" cap="none" spc="-30" normalizeH="0" baseline="0" noProof="0" dirty="0">
                <a:ln>
                  <a:noFill/>
                </a:ln>
                <a:solidFill>
                  <a:prstClr val="black"/>
                </a:solidFill>
                <a:effectLst/>
                <a:uLnTx/>
                <a:uFillTx/>
                <a:latin typeface="Arial"/>
                <a:ea typeface="+mn-ea"/>
                <a:cs typeface="Arial"/>
              </a:rPr>
              <a:t>RX</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grpSp>
        <p:nvGrpSpPr>
          <p:cNvPr id="34" name="object 34"/>
          <p:cNvGrpSpPr/>
          <p:nvPr/>
        </p:nvGrpSpPr>
        <p:grpSpPr>
          <a:xfrm>
            <a:off x="7144499" y="3011411"/>
            <a:ext cx="1820545" cy="257810"/>
            <a:chOff x="7144499" y="3011411"/>
            <a:chExt cx="1820545" cy="257810"/>
          </a:xfrm>
        </p:grpSpPr>
        <p:sp>
          <p:nvSpPr>
            <p:cNvPr id="35" name="object 35"/>
            <p:cNvSpPr/>
            <p:nvPr/>
          </p:nvSpPr>
          <p:spPr>
            <a:xfrm>
              <a:off x="7158228" y="3025140"/>
              <a:ext cx="57150" cy="230504"/>
            </a:xfrm>
            <a:custGeom>
              <a:avLst/>
              <a:gdLst/>
              <a:ahLst/>
              <a:cxnLst/>
              <a:rect l="l" t="t" r="r" b="b"/>
              <a:pathLst>
                <a:path w="57150" h="230504">
                  <a:moveTo>
                    <a:pt x="0" y="0"/>
                  </a:moveTo>
                  <a:lnTo>
                    <a:pt x="22431" y="9096"/>
                  </a:lnTo>
                  <a:lnTo>
                    <a:pt x="40576" y="33909"/>
                  </a:lnTo>
                  <a:lnTo>
                    <a:pt x="52720" y="70723"/>
                  </a:lnTo>
                  <a:lnTo>
                    <a:pt x="57150" y="115823"/>
                  </a:lnTo>
                  <a:lnTo>
                    <a:pt x="52720" y="160043"/>
                  </a:lnTo>
                  <a:lnTo>
                    <a:pt x="40576" y="196405"/>
                  </a:lnTo>
                  <a:lnTo>
                    <a:pt x="22431" y="221051"/>
                  </a:lnTo>
                  <a:lnTo>
                    <a:pt x="0" y="230124"/>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7215378" y="3140964"/>
              <a:ext cx="109855" cy="0"/>
            </a:xfrm>
            <a:custGeom>
              <a:avLst/>
              <a:gdLst/>
              <a:ahLst/>
              <a:cxnLst/>
              <a:rect l="l" t="t" r="r" b="b"/>
              <a:pathLst>
                <a:path w="109854">
                  <a:moveTo>
                    <a:pt x="0" y="0"/>
                  </a:moveTo>
                  <a:lnTo>
                    <a:pt x="109728"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8735568" y="3144012"/>
              <a:ext cx="139065" cy="0"/>
            </a:xfrm>
            <a:custGeom>
              <a:avLst/>
              <a:gdLst/>
              <a:ahLst/>
              <a:cxnLst/>
              <a:rect l="l" t="t" r="r" b="b"/>
              <a:pathLst>
                <a:path w="139065">
                  <a:moveTo>
                    <a:pt x="0" y="0"/>
                  </a:moveTo>
                  <a:lnTo>
                    <a:pt x="138684" y="0"/>
                  </a:lnTo>
                </a:path>
              </a:pathLst>
            </a:custGeom>
            <a:ln w="2745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object 38"/>
            <p:cNvSpPr/>
            <p:nvPr/>
          </p:nvSpPr>
          <p:spPr>
            <a:xfrm>
              <a:off x="8845296" y="3083814"/>
              <a:ext cx="120014" cy="120014"/>
            </a:xfrm>
            <a:custGeom>
              <a:avLst/>
              <a:gdLst/>
              <a:ahLst/>
              <a:cxnLst/>
              <a:rect l="l" t="t" r="r" b="b"/>
              <a:pathLst>
                <a:path w="120015" h="120014">
                  <a:moveTo>
                    <a:pt x="119633" y="60198"/>
                  </a:moveTo>
                  <a:lnTo>
                    <a:pt x="0" y="0"/>
                  </a:lnTo>
                  <a:lnTo>
                    <a:pt x="10715" y="29515"/>
                  </a:lnTo>
                  <a:lnTo>
                    <a:pt x="14287" y="60102"/>
                  </a:lnTo>
                  <a:lnTo>
                    <a:pt x="10715" y="90547"/>
                  </a:lnTo>
                  <a:lnTo>
                    <a:pt x="0" y="119634"/>
                  </a:lnTo>
                  <a:lnTo>
                    <a:pt x="119633" y="6019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9" name="object 39"/>
          <p:cNvSpPr txBox="1"/>
          <p:nvPr/>
        </p:nvSpPr>
        <p:spPr>
          <a:xfrm>
            <a:off x="2296922" y="3013481"/>
            <a:ext cx="524510" cy="30226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800" b="1" i="0" u="none" strike="noStrike" kern="1200" cap="none" spc="-30" normalizeH="0" baseline="0" noProof="0" dirty="0">
                <a:ln>
                  <a:noFill/>
                </a:ln>
                <a:solidFill>
                  <a:prstClr val="black"/>
                </a:solidFill>
                <a:effectLst/>
                <a:uLnTx/>
                <a:uFillTx/>
                <a:latin typeface="Arial"/>
                <a:ea typeface="+mn-ea"/>
                <a:cs typeface="Arial"/>
              </a:rPr>
              <a:t>D</a:t>
            </a:r>
            <a:r>
              <a:rPr kumimoji="0" sz="1800" b="1" i="0" u="none" strike="noStrike" kern="1200" cap="none" spc="50" normalizeH="0" baseline="0" noProof="0" dirty="0">
                <a:ln>
                  <a:noFill/>
                </a:ln>
                <a:solidFill>
                  <a:prstClr val="black"/>
                </a:solidFill>
                <a:effectLst/>
                <a:uLnTx/>
                <a:uFillTx/>
                <a:latin typeface="Arial"/>
                <a:ea typeface="+mn-ea"/>
                <a:cs typeface="Arial"/>
              </a:rPr>
              <a:t>a</a:t>
            </a:r>
            <a:r>
              <a:rPr kumimoji="0" sz="1800" b="1" i="0" u="none" strike="noStrike" kern="1200" cap="none" spc="-5" normalizeH="0" baseline="0" noProof="0" dirty="0">
                <a:ln>
                  <a:noFill/>
                </a:ln>
                <a:solidFill>
                  <a:prstClr val="black"/>
                </a:solidFill>
                <a:effectLst/>
                <a:uLnTx/>
                <a:uFillTx/>
                <a:latin typeface="Arial"/>
                <a:ea typeface="+mn-ea"/>
                <a:cs typeface="Arial"/>
              </a:rPr>
              <a:t>t</a:t>
            </a:r>
            <a:r>
              <a:rPr kumimoji="0" sz="1800" b="1" i="0" u="none" strike="noStrike" kern="1200" cap="none" spc="0" normalizeH="0" baseline="0" noProof="0" dirty="0">
                <a:ln>
                  <a:noFill/>
                </a:ln>
                <a:solidFill>
                  <a:prstClr val="black"/>
                </a:solidFill>
                <a:effectLst/>
                <a:uLnTx/>
                <a:uFillTx/>
                <a:latin typeface="Arial"/>
                <a:ea typeface="+mn-ea"/>
                <a:cs typeface="Arial"/>
              </a:rPr>
              <a:t>a</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sp>
        <p:nvSpPr>
          <p:cNvPr id="40" name="Slide Number Placeholder 3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16</a:t>
            </a:fld>
            <a:endParaRPr lang="en-US" spc="-50" dirty="0"/>
          </a:p>
        </p:txBody>
      </p:sp>
      <p:sp>
        <p:nvSpPr>
          <p:cNvPr id="41" name="Date Placeholder 4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42" name="Footer Placeholder 4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62429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7" grpId="0"/>
      <p:bldP spid="11" grpId="0" animBg="1"/>
      <p:bldP spid="12" grpId="0"/>
      <p:bldP spid="23" grpId="0"/>
      <p:bldP spid="24" grpId="0"/>
      <p:bldP spid="33" grpId="0"/>
      <p:bldP spid="3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871971" y="3695700"/>
            <a:ext cx="2842260" cy="0"/>
          </a:xfrm>
          <a:custGeom>
            <a:avLst/>
            <a:gdLst/>
            <a:ahLst/>
            <a:cxnLst/>
            <a:rect l="l" t="t" r="r" b="b"/>
            <a:pathLst>
              <a:path w="2842259">
                <a:moveTo>
                  <a:pt x="0" y="0"/>
                </a:moveTo>
                <a:lnTo>
                  <a:pt x="284226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 name="object 3"/>
          <p:cNvSpPr/>
          <p:nvPr/>
        </p:nvSpPr>
        <p:spPr>
          <a:xfrm>
            <a:off x="5871971" y="1337311"/>
            <a:ext cx="2842260" cy="0"/>
          </a:xfrm>
          <a:custGeom>
            <a:avLst/>
            <a:gdLst/>
            <a:ahLst/>
            <a:cxnLst/>
            <a:rect l="l" t="t" r="r" b="b"/>
            <a:pathLst>
              <a:path w="2842259">
                <a:moveTo>
                  <a:pt x="0" y="0"/>
                </a:moveTo>
                <a:lnTo>
                  <a:pt x="284226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4" name="object 4"/>
          <p:cNvSpPr/>
          <p:nvPr/>
        </p:nvSpPr>
        <p:spPr>
          <a:xfrm>
            <a:off x="5871971"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5" name="object 5"/>
          <p:cNvSpPr/>
          <p:nvPr/>
        </p:nvSpPr>
        <p:spPr>
          <a:xfrm>
            <a:off x="6227064"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6" name="object 6"/>
          <p:cNvSpPr/>
          <p:nvPr/>
        </p:nvSpPr>
        <p:spPr>
          <a:xfrm>
            <a:off x="6582919"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7" name="object 7"/>
          <p:cNvSpPr/>
          <p:nvPr/>
        </p:nvSpPr>
        <p:spPr>
          <a:xfrm>
            <a:off x="6938009"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8" name="object 8"/>
          <p:cNvSpPr/>
          <p:nvPr/>
        </p:nvSpPr>
        <p:spPr>
          <a:xfrm>
            <a:off x="7293103"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9" name="object 9"/>
          <p:cNvSpPr/>
          <p:nvPr/>
        </p:nvSpPr>
        <p:spPr>
          <a:xfrm>
            <a:off x="7648193"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0" name="object 10"/>
          <p:cNvSpPr/>
          <p:nvPr/>
        </p:nvSpPr>
        <p:spPr>
          <a:xfrm>
            <a:off x="8003285"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1" name="object 11"/>
          <p:cNvSpPr/>
          <p:nvPr/>
        </p:nvSpPr>
        <p:spPr>
          <a:xfrm>
            <a:off x="8358379"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2" name="object 12"/>
          <p:cNvSpPr/>
          <p:nvPr/>
        </p:nvSpPr>
        <p:spPr>
          <a:xfrm>
            <a:off x="8714231" y="3665983"/>
            <a:ext cx="0" cy="29845"/>
          </a:xfrm>
          <a:custGeom>
            <a:avLst/>
            <a:gdLst/>
            <a:ahLst/>
            <a:cxnLst/>
            <a:rect l="l" t="t" r="r" b="b"/>
            <a:pathLst>
              <a:path h="29845">
                <a:moveTo>
                  <a:pt x="0" y="29718"/>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3" name="object 13"/>
          <p:cNvSpPr/>
          <p:nvPr/>
        </p:nvSpPr>
        <p:spPr>
          <a:xfrm>
            <a:off x="5871971"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4" name="object 14"/>
          <p:cNvSpPr/>
          <p:nvPr/>
        </p:nvSpPr>
        <p:spPr>
          <a:xfrm>
            <a:off x="6227064"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5" name="object 15"/>
          <p:cNvSpPr/>
          <p:nvPr/>
        </p:nvSpPr>
        <p:spPr>
          <a:xfrm>
            <a:off x="6582919"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6" name="object 16"/>
          <p:cNvSpPr/>
          <p:nvPr/>
        </p:nvSpPr>
        <p:spPr>
          <a:xfrm>
            <a:off x="6938009"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7" name="object 17"/>
          <p:cNvSpPr/>
          <p:nvPr/>
        </p:nvSpPr>
        <p:spPr>
          <a:xfrm>
            <a:off x="7293103"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8" name="object 18"/>
          <p:cNvSpPr/>
          <p:nvPr/>
        </p:nvSpPr>
        <p:spPr>
          <a:xfrm>
            <a:off x="7648193"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9" name="object 19"/>
          <p:cNvSpPr/>
          <p:nvPr/>
        </p:nvSpPr>
        <p:spPr>
          <a:xfrm>
            <a:off x="8003285"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0" name="object 20"/>
          <p:cNvSpPr/>
          <p:nvPr/>
        </p:nvSpPr>
        <p:spPr>
          <a:xfrm>
            <a:off x="8358379"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1" name="object 21"/>
          <p:cNvSpPr/>
          <p:nvPr/>
        </p:nvSpPr>
        <p:spPr>
          <a:xfrm>
            <a:off x="8714231" y="1337311"/>
            <a:ext cx="0" cy="30480"/>
          </a:xfrm>
          <a:custGeom>
            <a:avLst/>
            <a:gdLst/>
            <a:ahLst/>
            <a:cxnLst/>
            <a:rect l="l" t="t" r="r" b="b"/>
            <a:pathLst>
              <a:path h="30480">
                <a:moveTo>
                  <a:pt x="0" y="0"/>
                </a:moveTo>
                <a:lnTo>
                  <a:pt x="0" y="3048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2" name="object 22"/>
          <p:cNvSpPr/>
          <p:nvPr/>
        </p:nvSpPr>
        <p:spPr>
          <a:xfrm>
            <a:off x="5871971" y="1337310"/>
            <a:ext cx="0" cy="2358391"/>
          </a:xfrm>
          <a:custGeom>
            <a:avLst/>
            <a:gdLst/>
            <a:ahLst/>
            <a:cxnLst/>
            <a:rect l="l" t="t" r="r" b="b"/>
            <a:pathLst>
              <a:path h="2358390">
                <a:moveTo>
                  <a:pt x="0" y="235839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3" name="object 23"/>
          <p:cNvSpPr/>
          <p:nvPr/>
        </p:nvSpPr>
        <p:spPr>
          <a:xfrm>
            <a:off x="8714231" y="1337310"/>
            <a:ext cx="0" cy="2358391"/>
          </a:xfrm>
          <a:custGeom>
            <a:avLst/>
            <a:gdLst/>
            <a:ahLst/>
            <a:cxnLst/>
            <a:rect l="l" t="t" r="r" b="b"/>
            <a:pathLst>
              <a:path h="2358390">
                <a:moveTo>
                  <a:pt x="0" y="235839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4" name="object 24"/>
          <p:cNvSpPr/>
          <p:nvPr/>
        </p:nvSpPr>
        <p:spPr>
          <a:xfrm>
            <a:off x="5871973" y="3695700"/>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5" name="object 25"/>
          <p:cNvSpPr/>
          <p:nvPr/>
        </p:nvSpPr>
        <p:spPr>
          <a:xfrm>
            <a:off x="5871973" y="3303271"/>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6" name="object 26"/>
          <p:cNvSpPr/>
          <p:nvPr/>
        </p:nvSpPr>
        <p:spPr>
          <a:xfrm>
            <a:off x="5871973" y="2910077"/>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7" name="object 27"/>
          <p:cNvSpPr/>
          <p:nvPr/>
        </p:nvSpPr>
        <p:spPr>
          <a:xfrm>
            <a:off x="5871973" y="2516885"/>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8" name="object 28"/>
          <p:cNvSpPr/>
          <p:nvPr/>
        </p:nvSpPr>
        <p:spPr>
          <a:xfrm>
            <a:off x="5871973" y="2123695"/>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9" name="object 29"/>
          <p:cNvSpPr/>
          <p:nvPr/>
        </p:nvSpPr>
        <p:spPr>
          <a:xfrm>
            <a:off x="5871973" y="1730501"/>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0" name="object 30"/>
          <p:cNvSpPr/>
          <p:nvPr/>
        </p:nvSpPr>
        <p:spPr>
          <a:xfrm>
            <a:off x="5871973" y="1337311"/>
            <a:ext cx="29209" cy="0"/>
          </a:xfrm>
          <a:custGeom>
            <a:avLst/>
            <a:gdLst/>
            <a:ahLst/>
            <a:cxnLst/>
            <a:rect l="l" t="t" r="r" b="b"/>
            <a:pathLst>
              <a:path w="29210">
                <a:moveTo>
                  <a:pt x="0" y="0"/>
                </a:moveTo>
                <a:lnTo>
                  <a:pt x="28956"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1" name="object 31"/>
          <p:cNvSpPr/>
          <p:nvPr/>
        </p:nvSpPr>
        <p:spPr>
          <a:xfrm>
            <a:off x="8686039" y="3695700"/>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2" name="object 32"/>
          <p:cNvSpPr/>
          <p:nvPr/>
        </p:nvSpPr>
        <p:spPr>
          <a:xfrm>
            <a:off x="8686039" y="3303271"/>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3" name="object 33"/>
          <p:cNvSpPr/>
          <p:nvPr/>
        </p:nvSpPr>
        <p:spPr>
          <a:xfrm>
            <a:off x="8686039" y="2910077"/>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4" name="object 34"/>
          <p:cNvSpPr/>
          <p:nvPr/>
        </p:nvSpPr>
        <p:spPr>
          <a:xfrm>
            <a:off x="8686039" y="2516885"/>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5" name="object 35"/>
          <p:cNvSpPr/>
          <p:nvPr/>
        </p:nvSpPr>
        <p:spPr>
          <a:xfrm>
            <a:off x="8686039" y="2123695"/>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6" name="object 36"/>
          <p:cNvSpPr/>
          <p:nvPr/>
        </p:nvSpPr>
        <p:spPr>
          <a:xfrm>
            <a:off x="8686039" y="1730501"/>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7" name="object 37"/>
          <p:cNvSpPr/>
          <p:nvPr/>
        </p:nvSpPr>
        <p:spPr>
          <a:xfrm>
            <a:off x="8686039" y="1337311"/>
            <a:ext cx="28575" cy="0"/>
          </a:xfrm>
          <a:custGeom>
            <a:avLst/>
            <a:gdLst/>
            <a:ahLst/>
            <a:cxnLst/>
            <a:rect l="l" t="t" r="r" b="b"/>
            <a:pathLst>
              <a:path w="28575">
                <a:moveTo>
                  <a:pt x="28194" y="0"/>
                </a:moveTo>
                <a:lnTo>
                  <a:pt x="0" y="0"/>
                </a:lnTo>
              </a:path>
            </a:pathLst>
          </a:custGeom>
          <a:ln w="6121">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grpSp>
        <p:nvGrpSpPr>
          <p:cNvPr id="38" name="object 38"/>
          <p:cNvGrpSpPr/>
          <p:nvPr/>
        </p:nvGrpSpPr>
        <p:grpSpPr>
          <a:xfrm>
            <a:off x="5862797" y="1867618"/>
            <a:ext cx="2877185" cy="1862455"/>
            <a:chOff x="5862796" y="1867617"/>
            <a:chExt cx="2877185" cy="1862455"/>
          </a:xfrm>
        </p:grpSpPr>
        <p:sp>
          <p:nvSpPr>
            <p:cNvPr id="39" name="object 39"/>
            <p:cNvSpPr/>
            <p:nvPr/>
          </p:nvSpPr>
          <p:spPr>
            <a:xfrm>
              <a:off x="5871972" y="1909572"/>
              <a:ext cx="2842260" cy="1779270"/>
            </a:xfrm>
            <a:custGeom>
              <a:avLst/>
              <a:gdLst/>
              <a:ahLst/>
              <a:cxnLst/>
              <a:rect l="l" t="t" r="r" b="b"/>
              <a:pathLst>
                <a:path w="2842259" h="1779270">
                  <a:moveTo>
                    <a:pt x="0" y="1779269"/>
                  </a:moveTo>
                  <a:lnTo>
                    <a:pt x="60198" y="1779269"/>
                  </a:lnTo>
                  <a:lnTo>
                    <a:pt x="62484" y="1778507"/>
                  </a:lnTo>
                  <a:lnTo>
                    <a:pt x="137922" y="1778507"/>
                  </a:lnTo>
                  <a:lnTo>
                    <a:pt x="140208" y="1777745"/>
                  </a:lnTo>
                  <a:lnTo>
                    <a:pt x="202692" y="1777745"/>
                  </a:lnTo>
                  <a:lnTo>
                    <a:pt x="204978" y="1776983"/>
                  </a:lnTo>
                  <a:lnTo>
                    <a:pt x="258318" y="1776983"/>
                  </a:lnTo>
                  <a:lnTo>
                    <a:pt x="259842" y="1776221"/>
                  </a:lnTo>
                  <a:lnTo>
                    <a:pt x="281940" y="1776221"/>
                  </a:lnTo>
                  <a:lnTo>
                    <a:pt x="284226" y="1775459"/>
                  </a:lnTo>
                  <a:lnTo>
                    <a:pt x="328422" y="1775459"/>
                  </a:lnTo>
                  <a:lnTo>
                    <a:pt x="331470" y="1774697"/>
                  </a:lnTo>
                  <a:lnTo>
                    <a:pt x="368808" y="1774697"/>
                  </a:lnTo>
                  <a:lnTo>
                    <a:pt x="371094" y="1773935"/>
                  </a:lnTo>
                  <a:lnTo>
                    <a:pt x="406908" y="1773935"/>
                  </a:lnTo>
                  <a:lnTo>
                    <a:pt x="409194" y="1773173"/>
                  </a:lnTo>
                  <a:lnTo>
                    <a:pt x="422148" y="1773173"/>
                  </a:lnTo>
                  <a:lnTo>
                    <a:pt x="424434" y="1772411"/>
                  </a:lnTo>
                  <a:lnTo>
                    <a:pt x="453390" y="1772411"/>
                  </a:lnTo>
                  <a:lnTo>
                    <a:pt x="455676" y="1771649"/>
                  </a:lnTo>
                  <a:lnTo>
                    <a:pt x="482345" y="1771649"/>
                  </a:lnTo>
                  <a:lnTo>
                    <a:pt x="484631" y="1770887"/>
                  </a:lnTo>
                  <a:lnTo>
                    <a:pt x="509016" y="1770887"/>
                  </a:lnTo>
                  <a:lnTo>
                    <a:pt x="510540" y="1770125"/>
                  </a:lnTo>
                  <a:lnTo>
                    <a:pt x="531114" y="1770125"/>
                  </a:lnTo>
                  <a:lnTo>
                    <a:pt x="532638" y="1769363"/>
                  </a:lnTo>
                  <a:lnTo>
                    <a:pt x="544830" y="1769363"/>
                  </a:lnTo>
                  <a:lnTo>
                    <a:pt x="546354" y="1768601"/>
                  </a:lnTo>
                  <a:lnTo>
                    <a:pt x="563880" y="1768601"/>
                  </a:lnTo>
                  <a:lnTo>
                    <a:pt x="566928" y="1767839"/>
                  </a:lnTo>
                  <a:lnTo>
                    <a:pt x="584454" y="1767839"/>
                  </a:lnTo>
                  <a:lnTo>
                    <a:pt x="586740" y="1767077"/>
                  </a:lnTo>
                  <a:lnTo>
                    <a:pt x="601980" y="1767077"/>
                  </a:lnTo>
                  <a:lnTo>
                    <a:pt x="604266" y="1766315"/>
                  </a:lnTo>
                  <a:lnTo>
                    <a:pt x="611124" y="1766315"/>
                  </a:lnTo>
                  <a:lnTo>
                    <a:pt x="613410" y="1765553"/>
                  </a:lnTo>
                  <a:lnTo>
                    <a:pt x="628650" y="1765553"/>
                  </a:lnTo>
                  <a:lnTo>
                    <a:pt x="630936" y="1764791"/>
                  </a:lnTo>
                  <a:lnTo>
                    <a:pt x="644652" y="1764791"/>
                  </a:lnTo>
                  <a:lnTo>
                    <a:pt x="646176" y="1764029"/>
                  </a:lnTo>
                  <a:lnTo>
                    <a:pt x="659892" y="1764029"/>
                  </a:lnTo>
                  <a:lnTo>
                    <a:pt x="662178" y="1763267"/>
                  </a:lnTo>
                  <a:lnTo>
                    <a:pt x="666750" y="1763267"/>
                  </a:lnTo>
                  <a:lnTo>
                    <a:pt x="668274" y="1762505"/>
                  </a:lnTo>
                  <a:lnTo>
                    <a:pt x="679704" y="1762505"/>
                  </a:lnTo>
                  <a:lnTo>
                    <a:pt x="681990" y="1761743"/>
                  </a:lnTo>
                  <a:lnTo>
                    <a:pt x="692658" y="1761743"/>
                  </a:lnTo>
                  <a:lnTo>
                    <a:pt x="694944" y="1760981"/>
                  </a:lnTo>
                  <a:lnTo>
                    <a:pt x="704088" y="1760981"/>
                  </a:lnTo>
                  <a:lnTo>
                    <a:pt x="706374" y="1760219"/>
                  </a:lnTo>
                  <a:lnTo>
                    <a:pt x="714756" y="1760219"/>
                  </a:lnTo>
                  <a:lnTo>
                    <a:pt x="717804" y="1759457"/>
                  </a:lnTo>
                  <a:lnTo>
                    <a:pt x="722376" y="1759457"/>
                  </a:lnTo>
                  <a:lnTo>
                    <a:pt x="723900" y="1758695"/>
                  </a:lnTo>
                  <a:lnTo>
                    <a:pt x="733044" y="1758695"/>
                  </a:lnTo>
                  <a:lnTo>
                    <a:pt x="735330" y="1757933"/>
                  </a:lnTo>
                  <a:lnTo>
                    <a:pt x="741426" y="1757933"/>
                  </a:lnTo>
                  <a:lnTo>
                    <a:pt x="744474" y="1757171"/>
                  </a:lnTo>
                  <a:lnTo>
                    <a:pt x="752856" y="1757171"/>
                  </a:lnTo>
                  <a:lnTo>
                    <a:pt x="755142" y="1756409"/>
                  </a:lnTo>
                  <a:lnTo>
                    <a:pt x="757428" y="1756409"/>
                  </a:lnTo>
                  <a:lnTo>
                    <a:pt x="759714" y="1755647"/>
                  </a:lnTo>
                  <a:lnTo>
                    <a:pt x="766572" y="1755647"/>
                  </a:lnTo>
                  <a:lnTo>
                    <a:pt x="768858" y="1754885"/>
                  </a:lnTo>
                  <a:lnTo>
                    <a:pt x="774954" y="1754885"/>
                  </a:lnTo>
                  <a:lnTo>
                    <a:pt x="777240" y="1754123"/>
                  </a:lnTo>
                  <a:lnTo>
                    <a:pt x="784098" y="1754123"/>
                  </a:lnTo>
                  <a:lnTo>
                    <a:pt x="786384" y="1753361"/>
                  </a:lnTo>
                  <a:lnTo>
                    <a:pt x="793242" y="1753361"/>
                  </a:lnTo>
                  <a:lnTo>
                    <a:pt x="795528" y="1752599"/>
                  </a:lnTo>
                  <a:lnTo>
                    <a:pt x="797052" y="1751837"/>
                  </a:lnTo>
                  <a:lnTo>
                    <a:pt x="803910" y="1751837"/>
                  </a:lnTo>
                  <a:lnTo>
                    <a:pt x="806196" y="1751075"/>
                  </a:lnTo>
                  <a:lnTo>
                    <a:pt x="810768" y="1751075"/>
                  </a:lnTo>
                  <a:lnTo>
                    <a:pt x="813054" y="1750313"/>
                  </a:lnTo>
                  <a:lnTo>
                    <a:pt x="817626" y="1750313"/>
                  </a:lnTo>
                  <a:lnTo>
                    <a:pt x="819150" y="1749551"/>
                  </a:lnTo>
                  <a:lnTo>
                    <a:pt x="822197" y="1749551"/>
                  </a:lnTo>
                  <a:lnTo>
                    <a:pt x="823722" y="1748789"/>
                  </a:lnTo>
                  <a:lnTo>
                    <a:pt x="828294" y="1748789"/>
                  </a:lnTo>
                  <a:lnTo>
                    <a:pt x="830580" y="1748027"/>
                  </a:lnTo>
                  <a:lnTo>
                    <a:pt x="835152" y="1748027"/>
                  </a:lnTo>
                  <a:lnTo>
                    <a:pt x="837438" y="1747265"/>
                  </a:lnTo>
                  <a:lnTo>
                    <a:pt x="842010" y="1747265"/>
                  </a:lnTo>
                  <a:lnTo>
                    <a:pt x="844296" y="1746503"/>
                  </a:lnTo>
                  <a:lnTo>
                    <a:pt x="845819" y="1745741"/>
                  </a:lnTo>
                  <a:lnTo>
                    <a:pt x="850391" y="1745741"/>
                  </a:lnTo>
                  <a:lnTo>
                    <a:pt x="852678" y="1744979"/>
                  </a:lnTo>
                  <a:lnTo>
                    <a:pt x="857250" y="1744979"/>
                  </a:lnTo>
                  <a:lnTo>
                    <a:pt x="859536" y="1744217"/>
                  </a:lnTo>
                  <a:lnTo>
                    <a:pt x="861822" y="1744217"/>
                  </a:lnTo>
                  <a:lnTo>
                    <a:pt x="864108" y="1743455"/>
                  </a:lnTo>
                  <a:lnTo>
                    <a:pt x="868680" y="1743455"/>
                  </a:lnTo>
                  <a:lnTo>
                    <a:pt x="870966" y="1742693"/>
                  </a:lnTo>
                  <a:lnTo>
                    <a:pt x="872490" y="1741931"/>
                  </a:lnTo>
                  <a:lnTo>
                    <a:pt x="874776" y="1741931"/>
                  </a:lnTo>
                  <a:lnTo>
                    <a:pt x="877062" y="1741169"/>
                  </a:lnTo>
                  <a:lnTo>
                    <a:pt x="879347" y="1741169"/>
                  </a:lnTo>
                  <a:lnTo>
                    <a:pt x="881634" y="1740407"/>
                  </a:lnTo>
                  <a:lnTo>
                    <a:pt x="886206" y="1740407"/>
                  </a:lnTo>
                  <a:lnTo>
                    <a:pt x="888491" y="1739645"/>
                  </a:lnTo>
                  <a:lnTo>
                    <a:pt x="890778" y="1738883"/>
                  </a:lnTo>
                  <a:lnTo>
                    <a:pt x="893063" y="1738883"/>
                  </a:lnTo>
                  <a:lnTo>
                    <a:pt x="895350" y="1738121"/>
                  </a:lnTo>
                  <a:lnTo>
                    <a:pt x="896874" y="1738121"/>
                  </a:lnTo>
                  <a:lnTo>
                    <a:pt x="899922" y="1737359"/>
                  </a:lnTo>
                  <a:lnTo>
                    <a:pt x="901446" y="1737359"/>
                  </a:lnTo>
                  <a:lnTo>
                    <a:pt x="903732" y="1736597"/>
                  </a:lnTo>
                  <a:lnTo>
                    <a:pt x="906018" y="1736597"/>
                  </a:lnTo>
                  <a:lnTo>
                    <a:pt x="908304" y="1735835"/>
                  </a:lnTo>
                  <a:lnTo>
                    <a:pt x="910590" y="1735073"/>
                  </a:lnTo>
                  <a:lnTo>
                    <a:pt x="912876" y="1735073"/>
                  </a:lnTo>
                  <a:lnTo>
                    <a:pt x="915162" y="1734311"/>
                  </a:lnTo>
                  <a:lnTo>
                    <a:pt x="917447" y="1734311"/>
                  </a:lnTo>
                  <a:lnTo>
                    <a:pt x="918972" y="1733549"/>
                  </a:lnTo>
                  <a:lnTo>
                    <a:pt x="922019" y="1733549"/>
                  </a:lnTo>
                  <a:lnTo>
                    <a:pt x="923544" y="1732025"/>
                  </a:lnTo>
                  <a:lnTo>
                    <a:pt x="926591" y="1732025"/>
                  </a:lnTo>
                  <a:lnTo>
                    <a:pt x="928116" y="1731263"/>
                  </a:lnTo>
                  <a:lnTo>
                    <a:pt x="931163" y="1731263"/>
                  </a:lnTo>
                  <a:lnTo>
                    <a:pt x="932688" y="1730501"/>
                  </a:lnTo>
                  <a:lnTo>
                    <a:pt x="934974" y="1730501"/>
                  </a:lnTo>
                  <a:lnTo>
                    <a:pt x="944118" y="1727453"/>
                  </a:lnTo>
                  <a:lnTo>
                    <a:pt x="946404" y="1727453"/>
                  </a:lnTo>
                  <a:lnTo>
                    <a:pt x="948690" y="1726691"/>
                  </a:lnTo>
                  <a:lnTo>
                    <a:pt x="950213" y="1726691"/>
                  </a:lnTo>
                  <a:lnTo>
                    <a:pt x="953262" y="1725167"/>
                  </a:lnTo>
                  <a:lnTo>
                    <a:pt x="954786" y="1725167"/>
                  </a:lnTo>
                  <a:lnTo>
                    <a:pt x="957072" y="1724405"/>
                  </a:lnTo>
                  <a:lnTo>
                    <a:pt x="959358" y="1723643"/>
                  </a:lnTo>
                  <a:lnTo>
                    <a:pt x="961644" y="1723643"/>
                  </a:lnTo>
                  <a:lnTo>
                    <a:pt x="963930" y="1722119"/>
                  </a:lnTo>
                  <a:lnTo>
                    <a:pt x="966216" y="1722119"/>
                  </a:lnTo>
                  <a:lnTo>
                    <a:pt x="968502" y="1721357"/>
                  </a:lnTo>
                  <a:lnTo>
                    <a:pt x="975360" y="1719071"/>
                  </a:lnTo>
                  <a:lnTo>
                    <a:pt x="976884" y="1718309"/>
                  </a:lnTo>
                  <a:lnTo>
                    <a:pt x="979169" y="1717547"/>
                  </a:lnTo>
                  <a:lnTo>
                    <a:pt x="981456" y="1717547"/>
                  </a:lnTo>
                  <a:lnTo>
                    <a:pt x="983741" y="1716785"/>
                  </a:lnTo>
                  <a:lnTo>
                    <a:pt x="986028" y="1715261"/>
                  </a:lnTo>
                  <a:lnTo>
                    <a:pt x="988313" y="1715261"/>
                  </a:lnTo>
                  <a:lnTo>
                    <a:pt x="990600" y="1714499"/>
                  </a:lnTo>
                  <a:lnTo>
                    <a:pt x="992886" y="1713737"/>
                  </a:lnTo>
                  <a:lnTo>
                    <a:pt x="995172" y="1712975"/>
                  </a:lnTo>
                  <a:lnTo>
                    <a:pt x="997458" y="1711451"/>
                  </a:lnTo>
                  <a:lnTo>
                    <a:pt x="999744" y="1710689"/>
                  </a:lnTo>
                  <a:lnTo>
                    <a:pt x="1001268" y="1710689"/>
                  </a:lnTo>
                  <a:lnTo>
                    <a:pt x="1004316" y="1709927"/>
                  </a:lnTo>
                  <a:lnTo>
                    <a:pt x="1005840" y="1708403"/>
                  </a:lnTo>
                  <a:lnTo>
                    <a:pt x="1012697" y="1706117"/>
                  </a:lnTo>
                  <a:lnTo>
                    <a:pt x="1014984" y="1704593"/>
                  </a:lnTo>
                  <a:lnTo>
                    <a:pt x="1021841" y="1702307"/>
                  </a:lnTo>
                  <a:lnTo>
                    <a:pt x="1023366" y="1701545"/>
                  </a:lnTo>
                  <a:lnTo>
                    <a:pt x="1026413" y="1700021"/>
                  </a:lnTo>
                  <a:lnTo>
                    <a:pt x="1027938" y="1699259"/>
                  </a:lnTo>
                  <a:lnTo>
                    <a:pt x="1030986" y="1698497"/>
                  </a:lnTo>
                  <a:lnTo>
                    <a:pt x="1032510" y="1696973"/>
                  </a:lnTo>
                  <a:lnTo>
                    <a:pt x="1034796" y="1696211"/>
                  </a:lnTo>
                  <a:lnTo>
                    <a:pt x="1037082" y="1694687"/>
                  </a:lnTo>
                  <a:lnTo>
                    <a:pt x="1039368" y="1693925"/>
                  </a:lnTo>
                  <a:lnTo>
                    <a:pt x="1041654" y="1693163"/>
                  </a:lnTo>
                  <a:lnTo>
                    <a:pt x="1043940" y="1691639"/>
                  </a:lnTo>
                  <a:lnTo>
                    <a:pt x="1046226" y="1690877"/>
                  </a:lnTo>
                  <a:lnTo>
                    <a:pt x="1048512" y="1689353"/>
                  </a:lnTo>
                  <a:lnTo>
                    <a:pt x="1050036" y="1687829"/>
                  </a:lnTo>
                  <a:lnTo>
                    <a:pt x="1053084" y="1687067"/>
                  </a:lnTo>
                  <a:lnTo>
                    <a:pt x="1054608" y="1686305"/>
                  </a:lnTo>
                  <a:lnTo>
                    <a:pt x="1061466" y="1681733"/>
                  </a:lnTo>
                  <a:lnTo>
                    <a:pt x="1063752" y="1680971"/>
                  </a:lnTo>
                  <a:lnTo>
                    <a:pt x="1075182" y="1673351"/>
                  </a:lnTo>
                  <a:lnTo>
                    <a:pt x="1077468" y="1672589"/>
                  </a:lnTo>
                  <a:lnTo>
                    <a:pt x="1078992" y="1670303"/>
                  </a:lnTo>
                  <a:lnTo>
                    <a:pt x="1081278" y="1668779"/>
                  </a:lnTo>
                  <a:lnTo>
                    <a:pt x="1090422" y="1662683"/>
                  </a:lnTo>
                  <a:lnTo>
                    <a:pt x="1092708" y="1660397"/>
                  </a:lnTo>
                  <a:lnTo>
                    <a:pt x="1097280" y="1657349"/>
                  </a:lnTo>
                  <a:lnTo>
                    <a:pt x="1099566" y="1655063"/>
                  </a:lnTo>
                  <a:lnTo>
                    <a:pt x="1101090" y="1653539"/>
                  </a:lnTo>
                  <a:lnTo>
                    <a:pt x="1104138" y="1651253"/>
                  </a:lnTo>
                  <a:lnTo>
                    <a:pt x="1105662" y="1649729"/>
                  </a:lnTo>
                  <a:lnTo>
                    <a:pt x="1108710" y="1647443"/>
                  </a:lnTo>
                  <a:lnTo>
                    <a:pt x="1110234" y="1645157"/>
                  </a:lnTo>
                  <a:lnTo>
                    <a:pt x="1112520" y="1643633"/>
                  </a:lnTo>
                  <a:lnTo>
                    <a:pt x="1126236" y="1629917"/>
                  </a:lnTo>
                  <a:lnTo>
                    <a:pt x="1127760" y="1626869"/>
                  </a:lnTo>
                  <a:lnTo>
                    <a:pt x="1130808" y="1624583"/>
                  </a:lnTo>
                  <a:lnTo>
                    <a:pt x="1132332" y="1622297"/>
                  </a:lnTo>
                  <a:lnTo>
                    <a:pt x="1135380" y="1619249"/>
                  </a:lnTo>
                  <a:lnTo>
                    <a:pt x="1136904" y="1616963"/>
                  </a:lnTo>
                  <a:lnTo>
                    <a:pt x="1143762" y="1607819"/>
                  </a:lnTo>
                  <a:lnTo>
                    <a:pt x="1146048" y="1605533"/>
                  </a:lnTo>
                  <a:lnTo>
                    <a:pt x="1150620" y="1599437"/>
                  </a:lnTo>
                  <a:lnTo>
                    <a:pt x="1152906" y="1595627"/>
                  </a:lnTo>
                  <a:lnTo>
                    <a:pt x="1154430" y="1592579"/>
                  </a:lnTo>
                  <a:lnTo>
                    <a:pt x="1157478" y="1589531"/>
                  </a:lnTo>
                  <a:lnTo>
                    <a:pt x="1159002" y="1585721"/>
                  </a:lnTo>
                  <a:lnTo>
                    <a:pt x="1161288" y="1581911"/>
                  </a:lnTo>
                  <a:lnTo>
                    <a:pt x="1163574" y="1578863"/>
                  </a:lnTo>
                  <a:lnTo>
                    <a:pt x="1165860" y="1575053"/>
                  </a:lnTo>
                  <a:lnTo>
                    <a:pt x="1168146" y="1570481"/>
                  </a:lnTo>
                  <a:lnTo>
                    <a:pt x="1175004" y="1559051"/>
                  </a:lnTo>
                  <a:lnTo>
                    <a:pt x="1181862" y="1545335"/>
                  </a:lnTo>
                  <a:lnTo>
                    <a:pt x="1183386" y="1540763"/>
                  </a:lnTo>
                  <a:lnTo>
                    <a:pt x="1185672" y="1536191"/>
                  </a:lnTo>
                  <a:lnTo>
                    <a:pt x="1187958" y="1530857"/>
                  </a:lnTo>
                  <a:lnTo>
                    <a:pt x="1190244" y="1526285"/>
                  </a:lnTo>
                  <a:lnTo>
                    <a:pt x="1194816" y="1515617"/>
                  </a:lnTo>
                  <a:lnTo>
                    <a:pt x="1197102" y="1509521"/>
                  </a:lnTo>
                  <a:lnTo>
                    <a:pt x="1199388" y="1504187"/>
                  </a:lnTo>
                  <a:lnTo>
                    <a:pt x="1203960" y="1491995"/>
                  </a:lnTo>
                  <a:lnTo>
                    <a:pt x="1205484" y="1485899"/>
                  </a:lnTo>
                  <a:lnTo>
                    <a:pt x="1208532" y="1479803"/>
                  </a:lnTo>
                  <a:lnTo>
                    <a:pt x="1210056" y="1472945"/>
                  </a:lnTo>
                  <a:lnTo>
                    <a:pt x="1213104" y="1466087"/>
                  </a:lnTo>
                  <a:lnTo>
                    <a:pt x="1214628" y="1459229"/>
                  </a:lnTo>
                  <a:lnTo>
                    <a:pt x="1216914" y="1451609"/>
                  </a:lnTo>
                  <a:lnTo>
                    <a:pt x="1219200" y="1444751"/>
                  </a:lnTo>
                  <a:lnTo>
                    <a:pt x="1221486" y="1436369"/>
                  </a:lnTo>
                  <a:lnTo>
                    <a:pt x="1223772" y="1428749"/>
                  </a:lnTo>
                  <a:lnTo>
                    <a:pt x="1226058" y="1420367"/>
                  </a:lnTo>
                  <a:lnTo>
                    <a:pt x="1227582" y="1411985"/>
                  </a:lnTo>
                  <a:lnTo>
                    <a:pt x="1230630" y="1403603"/>
                  </a:lnTo>
                  <a:lnTo>
                    <a:pt x="1232154" y="1394459"/>
                  </a:lnTo>
                  <a:lnTo>
                    <a:pt x="1235202" y="1384553"/>
                  </a:lnTo>
                  <a:lnTo>
                    <a:pt x="1236726" y="1375409"/>
                  </a:lnTo>
                  <a:lnTo>
                    <a:pt x="1239012" y="1364741"/>
                  </a:lnTo>
                  <a:lnTo>
                    <a:pt x="1241298" y="1354835"/>
                  </a:lnTo>
                  <a:lnTo>
                    <a:pt x="1245870" y="1333499"/>
                  </a:lnTo>
                  <a:lnTo>
                    <a:pt x="1248156" y="1321307"/>
                  </a:lnTo>
                  <a:lnTo>
                    <a:pt x="1250442" y="1309877"/>
                  </a:lnTo>
                  <a:lnTo>
                    <a:pt x="1252728" y="1297685"/>
                  </a:lnTo>
                  <a:lnTo>
                    <a:pt x="1255014" y="1284731"/>
                  </a:lnTo>
                  <a:lnTo>
                    <a:pt x="1257300" y="1272539"/>
                  </a:lnTo>
                  <a:lnTo>
                    <a:pt x="1258824" y="1258061"/>
                  </a:lnTo>
                  <a:lnTo>
                    <a:pt x="1265682" y="1215389"/>
                  </a:lnTo>
                  <a:lnTo>
                    <a:pt x="1272540" y="1168145"/>
                  </a:lnTo>
                  <a:lnTo>
                    <a:pt x="1279398" y="1115567"/>
                  </a:lnTo>
                  <a:lnTo>
                    <a:pt x="1283208" y="1077467"/>
                  </a:lnTo>
                  <a:lnTo>
                    <a:pt x="1286256" y="1057655"/>
                  </a:lnTo>
                  <a:lnTo>
                    <a:pt x="1287780" y="1037843"/>
                  </a:lnTo>
                  <a:lnTo>
                    <a:pt x="1292352" y="995171"/>
                  </a:lnTo>
                  <a:lnTo>
                    <a:pt x="1294638" y="973073"/>
                  </a:lnTo>
                  <a:lnTo>
                    <a:pt x="1299210" y="927353"/>
                  </a:lnTo>
                  <a:lnTo>
                    <a:pt x="1301496" y="903731"/>
                  </a:lnTo>
                  <a:lnTo>
                    <a:pt x="1303782" y="879347"/>
                  </a:lnTo>
                  <a:lnTo>
                    <a:pt x="1305306" y="854963"/>
                  </a:lnTo>
                  <a:lnTo>
                    <a:pt x="1308354" y="829817"/>
                  </a:lnTo>
                  <a:lnTo>
                    <a:pt x="1309878" y="803909"/>
                  </a:lnTo>
                  <a:lnTo>
                    <a:pt x="1312926" y="778001"/>
                  </a:lnTo>
                  <a:lnTo>
                    <a:pt x="1314450" y="752093"/>
                  </a:lnTo>
                  <a:lnTo>
                    <a:pt x="1316736" y="725423"/>
                  </a:lnTo>
                  <a:lnTo>
                    <a:pt x="1319022" y="697991"/>
                  </a:lnTo>
                  <a:lnTo>
                    <a:pt x="1321308" y="671321"/>
                  </a:lnTo>
                  <a:lnTo>
                    <a:pt x="1323594" y="643889"/>
                  </a:lnTo>
                  <a:lnTo>
                    <a:pt x="1325880" y="615695"/>
                  </a:lnTo>
                  <a:lnTo>
                    <a:pt x="1328166" y="588263"/>
                  </a:lnTo>
                  <a:lnTo>
                    <a:pt x="1330452" y="561593"/>
                  </a:lnTo>
                  <a:lnTo>
                    <a:pt x="1331976" y="534161"/>
                  </a:lnTo>
                  <a:lnTo>
                    <a:pt x="1335024" y="506729"/>
                  </a:lnTo>
                  <a:lnTo>
                    <a:pt x="1336548" y="480059"/>
                  </a:lnTo>
                  <a:lnTo>
                    <a:pt x="1339596" y="452627"/>
                  </a:lnTo>
                  <a:lnTo>
                    <a:pt x="1341120" y="426719"/>
                  </a:lnTo>
                  <a:lnTo>
                    <a:pt x="1345692" y="374903"/>
                  </a:lnTo>
                  <a:lnTo>
                    <a:pt x="1350264" y="325373"/>
                  </a:lnTo>
                  <a:lnTo>
                    <a:pt x="1357121" y="256031"/>
                  </a:lnTo>
                  <a:lnTo>
                    <a:pt x="1361693" y="214121"/>
                  </a:lnTo>
                  <a:lnTo>
                    <a:pt x="1363217" y="194309"/>
                  </a:lnTo>
                  <a:lnTo>
                    <a:pt x="1370075" y="139445"/>
                  </a:lnTo>
                  <a:lnTo>
                    <a:pt x="1376933" y="93725"/>
                  </a:lnTo>
                  <a:lnTo>
                    <a:pt x="1386077" y="46481"/>
                  </a:lnTo>
                  <a:lnTo>
                    <a:pt x="1387602" y="36575"/>
                  </a:lnTo>
                  <a:lnTo>
                    <a:pt x="1390649" y="28955"/>
                  </a:lnTo>
                  <a:lnTo>
                    <a:pt x="1392173" y="21335"/>
                  </a:lnTo>
                  <a:lnTo>
                    <a:pt x="1394459" y="15239"/>
                  </a:lnTo>
                  <a:lnTo>
                    <a:pt x="1396745" y="9905"/>
                  </a:lnTo>
                  <a:lnTo>
                    <a:pt x="1399031" y="6095"/>
                  </a:lnTo>
                  <a:lnTo>
                    <a:pt x="1401317" y="3047"/>
                  </a:lnTo>
                  <a:lnTo>
                    <a:pt x="1403603" y="1523"/>
                  </a:lnTo>
                  <a:lnTo>
                    <a:pt x="1405889" y="0"/>
                  </a:lnTo>
                  <a:lnTo>
                    <a:pt x="1408175" y="0"/>
                  </a:lnTo>
                  <a:lnTo>
                    <a:pt x="1409699" y="1523"/>
                  </a:lnTo>
                  <a:lnTo>
                    <a:pt x="1412747" y="3809"/>
                  </a:lnTo>
                  <a:lnTo>
                    <a:pt x="1414271" y="6857"/>
                  </a:lnTo>
                  <a:lnTo>
                    <a:pt x="1417319" y="11429"/>
                  </a:lnTo>
                  <a:lnTo>
                    <a:pt x="1418843" y="16763"/>
                  </a:lnTo>
                  <a:lnTo>
                    <a:pt x="1432559" y="72389"/>
                  </a:lnTo>
                  <a:lnTo>
                    <a:pt x="1436369" y="99821"/>
                  </a:lnTo>
                  <a:lnTo>
                    <a:pt x="1439417" y="114299"/>
                  </a:lnTo>
                  <a:lnTo>
                    <a:pt x="1440941" y="130301"/>
                  </a:lnTo>
                  <a:lnTo>
                    <a:pt x="1443227" y="147065"/>
                  </a:lnTo>
                  <a:lnTo>
                    <a:pt x="1445513" y="164591"/>
                  </a:lnTo>
                  <a:lnTo>
                    <a:pt x="1450086" y="203453"/>
                  </a:lnTo>
                  <a:lnTo>
                    <a:pt x="1454658" y="244601"/>
                  </a:lnTo>
                  <a:lnTo>
                    <a:pt x="1461516" y="312419"/>
                  </a:lnTo>
                  <a:lnTo>
                    <a:pt x="1465326" y="361187"/>
                  </a:lnTo>
                  <a:lnTo>
                    <a:pt x="1469898" y="411479"/>
                  </a:lnTo>
                  <a:lnTo>
                    <a:pt x="1476756" y="489203"/>
                  </a:lnTo>
                  <a:lnTo>
                    <a:pt x="1479042" y="515873"/>
                  </a:lnTo>
                  <a:lnTo>
                    <a:pt x="1481328" y="541781"/>
                  </a:lnTo>
                  <a:lnTo>
                    <a:pt x="1485900" y="595121"/>
                  </a:lnTo>
                  <a:lnTo>
                    <a:pt x="1487424" y="621791"/>
                  </a:lnTo>
                  <a:lnTo>
                    <a:pt x="1490472" y="647699"/>
                  </a:lnTo>
                  <a:lnTo>
                    <a:pt x="1491996" y="674369"/>
                  </a:lnTo>
                  <a:lnTo>
                    <a:pt x="1494282" y="699515"/>
                  </a:lnTo>
                  <a:lnTo>
                    <a:pt x="1496568" y="725423"/>
                  </a:lnTo>
                  <a:lnTo>
                    <a:pt x="1501140" y="775715"/>
                  </a:lnTo>
                  <a:lnTo>
                    <a:pt x="1503426" y="800099"/>
                  </a:lnTo>
                  <a:lnTo>
                    <a:pt x="1507998" y="847343"/>
                  </a:lnTo>
                  <a:lnTo>
                    <a:pt x="1509522" y="870203"/>
                  </a:lnTo>
                  <a:lnTo>
                    <a:pt x="1512570" y="893063"/>
                  </a:lnTo>
                  <a:lnTo>
                    <a:pt x="1514094" y="915161"/>
                  </a:lnTo>
                  <a:lnTo>
                    <a:pt x="1517142" y="936497"/>
                  </a:lnTo>
                  <a:lnTo>
                    <a:pt x="1518666" y="957833"/>
                  </a:lnTo>
                  <a:lnTo>
                    <a:pt x="1521714" y="978407"/>
                  </a:lnTo>
                  <a:lnTo>
                    <a:pt x="1523238" y="998219"/>
                  </a:lnTo>
                  <a:lnTo>
                    <a:pt x="1527810" y="1037081"/>
                  </a:lnTo>
                  <a:lnTo>
                    <a:pt x="1536954" y="1107947"/>
                  </a:lnTo>
                  <a:lnTo>
                    <a:pt x="1539240" y="1123949"/>
                  </a:lnTo>
                  <a:lnTo>
                    <a:pt x="1540764" y="1139951"/>
                  </a:lnTo>
                  <a:lnTo>
                    <a:pt x="1543812" y="1155191"/>
                  </a:lnTo>
                  <a:lnTo>
                    <a:pt x="1545336" y="1170431"/>
                  </a:lnTo>
                  <a:lnTo>
                    <a:pt x="1549908" y="1199387"/>
                  </a:lnTo>
                  <a:lnTo>
                    <a:pt x="1552194" y="1213103"/>
                  </a:lnTo>
                  <a:lnTo>
                    <a:pt x="1556766" y="1239011"/>
                  </a:lnTo>
                  <a:lnTo>
                    <a:pt x="1561338" y="1263395"/>
                  </a:lnTo>
                  <a:lnTo>
                    <a:pt x="1563624" y="1274825"/>
                  </a:lnTo>
                  <a:lnTo>
                    <a:pt x="1565910" y="1287017"/>
                  </a:lnTo>
                  <a:lnTo>
                    <a:pt x="1568196" y="1297685"/>
                  </a:lnTo>
                  <a:lnTo>
                    <a:pt x="1569720" y="1308353"/>
                  </a:lnTo>
                  <a:lnTo>
                    <a:pt x="1572006" y="1319021"/>
                  </a:lnTo>
                  <a:lnTo>
                    <a:pt x="1576578" y="1338833"/>
                  </a:lnTo>
                  <a:lnTo>
                    <a:pt x="1578864" y="1347977"/>
                  </a:lnTo>
                  <a:lnTo>
                    <a:pt x="1581150" y="1357883"/>
                  </a:lnTo>
                  <a:lnTo>
                    <a:pt x="1583436" y="1367027"/>
                  </a:lnTo>
                  <a:lnTo>
                    <a:pt x="1588008" y="1383791"/>
                  </a:lnTo>
                  <a:lnTo>
                    <a:pt x="1590294" y="1391411"/>
                  </a:lnTo>
                  <a:lnTo>
                    <a:pt x="1591818" y="1399793"/>
                  </a:lnTo>
                  <a:lnTo>
                    <a:pt x="1594866" y="1407413"/>
                  </a:lnTo>
                  <a:lnTo>
                    <a:pt x="1596390" y="1415033"/>
                  </a:lnTo>
                  <a:lnTo>
                    <a:pt x="1598676" y="1421891"/>
                  </a:lnTo>
                  <a:lnTo>
                    <a:pt x="1600962" y="1429511"/>
                  </a:lnTo>
                  <a:lnTo>
                    <a:pt x="1603248" y="1436369"/>
                  </a:lnTo>
                  <a:lnTo>
                    <a:pt x="1605534" y="1442465"/>
                  </a:lnTo>
                  <a:lnTo>
                    <a:pt x="1607820" y="1449323"/>
                  </a:lnTo>
                  <a:lnTo>
                    <a:pt x="1610106" y="1455419"/>
                  </a:lnTo>
                  <a:lnTo>
                    <a:pt x="1612392" y="1462277"/>
                  </a:lnTo>
                  <a:lnTo>
                    <a:pt x="1613916" y="1468373"/>
                  </a:lnTo>
                  <a:lnTo>
                    <a:pt x="1616964" y="1473707"/>
                  </a:lnTo>
                  <a:lnTo>
                    <a:pt x="1618488" y="1479803"/>
                  </a:lnTo>
                  <a:lnTo>
                    <a:pt x="1621536" y="1485137"/>
                  </a:lnTo>
                  <a:lnTo>
                    <a:pt x="1623060" y="1490471"/>
                  </a:lnTo>
                  <a:lnTo>
                    <a:pt x="1627632" y="1501139"/>
                  </a:lnTo>
                  <a:lnTo>
                    <a:pt x="1632204" y="1510283"/>
                  </a:lnTo>
                  <a:lnTo>
                    <a:pt x="1634489" y="1515617"/>
                  </a:lnTo>
                  <a:lnTo>
                    <a:pt x="1639062" y="1524761"/>
                  </a:lnTo>
                  <a:lnTo>
                    <a:pt x="1641348" y="1528571"/>
                  </a:lnTo>
                  <a:lnTo>
                    <a:pt x="1643633" y="1533143"/>
                  </a:lnTo>
                  <a:lnTo>
                    <a:pt x="1645158" y="1536953"/>
                  </a:lnTo>
                  <a:lnTo>
                    <a:pt x="1647444" y="1541525"/>
                  </a:lnTo>
                  <a:lnTo>
                    <a:pt x="1656588" y="1556765"/>
                  </a:lnTo>
                  <a:lnTo>
                    <a:pt x="1658874" y="1559813"/>
                  </a:lnTo>
                  <a:lnTo>
                    <a:pt x="1661160" y="1563623"/>
                  </a:lnTo>
                  <a:lnTo>
                    <a:pt x="1663445" y="1566671"/>
                  </a:lnTo>
                  <a:lnTo>
                    <a:pt x="1665732" y="1570481"/>
                  </a:lnTo>
                  <a:lnTo>
                    <a:pt x="1668018" y="1573529"/>
                  </a:lnTo>
                  <a:lnTo>
                    <a:pt x="1669542" y="1576577"/>
                  </a:lnTo>
                  <a:lnTo>
                    <a:pt x="1671827" y="1580387"/>
                  </a:lnTo>
                  <a:lnTo>
                    <a:pt x="1678686" y="1589531"/>
                  </a:lnTo>
                  <a:lnTo>
                    <a:pt x="1680972" y="1591817"/>
                  </a:lnTo>
                  <a:lnTo>
                    <a:pt x="1683258" y="1594865"/>
                  </a:lnTo>
                  <a:lnTo>
                    <a:pt x="1685544" y="1597151"/>
                  </a:lnTo>
                  <a:lnTo>
                    <a:pt x="1687830" y="1600199"/>
                  </a:lnTo>
                  <a:lnTo>
                    <a:pt x="1690116" y="1602485"/>
                  </a:lnTo>
                  <a:lnTo>
                    <a:pt x="1691639" y="1605533"/>
                  </a:lnTo>
                  <a:lnTo>
                    <a:pt x="1694688" y="1607819"/>
                  </a:lnTo>
                  <a:lnTo>
                    <a:pt x="1696212" y="1610105"/>
                  </a:lnTo>
                  <a:lnTo>
                    <a:pt x="1699260" y="1613153"/>
                  </a:lnTo>
                  <a:lnTo>
                    <a:pt x="1700783" y="1615439"/>
                  </a:lnTo>
                  <a:lnTo>
                    <a:pt x="1707642" y="1622297"/>
                  </a:lnTo>
                  <a:lnTo>
                    <a:pt x="1709927" y="1623821"/>
                  </a:lnTo>
                  <a:lnTo>
                    <a:pt x="1718310" y="1632203"/>
                  </a:lnTo>
                  <a:lnTo>
                    <a:pt x="1721358" y="1634489"/>
                  </a:lnTo>
                  <a:lnTo>
                    <a:pt x="1722882" y="1636013"/>
                  </a:lnTo>
                  <a:lnTo>
                    <a:pt x="1725930" y="1638299"/>
                  </a:lnTo>
                  <a:lnTo>
                    <a:pt x="1727454" y="1639823"/>
                  </a:lnTo>
                  <a:lnTo>
                    <a:pt x="1729739" y="1641347"/>
                  </a:lnTo>
                  <a:lnTo>
                    <a:pt x="1734312" y="1645919"/>
                  </a:lnTo>
                  <a:lnTo>
                    <a:pt x="1745742" y="1653539"/>
                  </a:lnTo>
                  <a:lnTo>
                    <a:pt x="1748027" y="1655825"/>
                  </a:lnTo>
                  <a:lnTo>
                    <a:pt x="1749552" y="1656587"/>
                  </a:lnTo>
                  <a:lnTo>
                    <a:pt x="1760982" y="1664207"/>
                  </a:lnTo>
                  <a:lnTo>
                    <a:pt x="1763268" y="1664969"/>
                  </a:lnTo>
                  <a:lnTo>
                    <a:pt x="1765554" y="1667255"/>
                  </a:lnTo>
                  <a:lnTo>
                    <a:pt x="1767839" y="1668017"/>
                  </a:lnTo>
                  <a:lnTo>
                    <a:pt x="1772412" y="1671065"/>
                  </a:lnTo>
                  <a:lnTo>
                    <a:pt x="1773936" y="1672589"/>
                  </a:lnTo>
                  <a:lnTo>
                    <a:pt x="1778508" y="1674113"/>
                  </a:lnTo>
                  <a:lnTo>
                    <a:pt x="1783080" y="1677161"/>
                  </a:lnTo>
                  <a:lnTo>
                    <a:pt x="1785366" y="1677923"/>
                  </a:lnTo>
                  <a:lnTo>
                    <a:pt x="1787652" y="1679447"/>
                  </a:lnTo>
                  <a:lnTo>
                    <a:pt x="1789938" y="1680209"/>
                  </a:lnTo>
                  <a:lnTo>
                    <a:pt x="1792224" y="1681733"/>
                  </a:lnTo>
                  <a:lnTo>
                    <a:pt x="1794510" y="1682495"/>
                  </a:lnTo>
                  <a:lnTo>
                    <a:pt x="1796033" y="1684019"/>
                  </a:lnTo>
                  <a:lnTo>
                    <a:pt x="1799082" y="1684781"/>
                  </a:lnTo>
                  <a:lnTo>
                    <a:pt x="1800606" y="1686305"/>
                  </a:lnTo>
                  <a:lnTo>
                    <a:pt x="1803654" y="1687067"/>
                  </a:lnTo>
                  <a:lnTo>
                    <a:pt x="1805177" y="1687829"/>
                  </a:lnTo>
                  <a:lnTo>
                    <a:pt x="1807464" y="1689353"/>
                  </a:lnTo>
                  <a:lnTo>
                    <a:pt x="1814322" y="1691639"/>
                  </a:lnTo>
                  <a:lnTo>
                    <a:pt x="1816608" y="1693163"/>
                  </a:lnTo>
                  <a:lnTo>
                    <a:pt x="1818894" y="1693925"/>
                  </a:lnTo>
                  <a:lnTo>
                    <a:pt x="1821180" y="1694687"/>
                  </a:lnTo>
                  <a:lnTo>
                    <a:pt x="1822704" y="1695449"/>
                  </a:lnTo>
                  <a:lnTo>
                    <a:pt x="1825752" y="1696211"/>
                  </a:lnTo>
                  <a:lnTo>
                    <a:pt x="1827276" y="1696973"/>
                  </a:lnTo>
                  <a:lnTo>
                    <a:pt x="1831848" y="1698497"/>
                  </a:lnTo>
                  <a:lnTo>
                    <a:pt x="1834133" y="1700021"/>
                  </a:lnTo>
                  <a:lnTo>
                    <a:pt x="1840992" y="1702307"/>
                  </a:lnTo>
                  <a:lnTo>
                    <a:pt x="1843277" y="1703069"/>
                  </a:lnTo>
                  <a:lnTo>
                    <a:pt x="1847850" y="1704593"/>
                  </a:lnTo>
                  <a:lnTo>
                    <a:pt x="1849374" y="1705355"/>
                  </a:lnTo>
                  <a:lnTo>
                    <a:pt x="1851660" y="1705355"/>
                  </a:lnTo>
                  <a:lnTo>
                    <a:pt x="1853945" y="1706879"/>
                  </a:lnTo>
                  <a:lnTo>
                    <a:pt x="1856232" y="1707641"/>
                  </a:lnTo>
                  <a:lnTo>
                    <a:pt x="1858518" y="1707641"/>
                  </a:lnTo>
                  <a:lnTo>
                    <a:pt x="1860804" y="1708403"/>
                  </a:lnTo>
                  <a:lnTo>
                    <a:pt x="1863089" y="1709927"/>
                  </a:lnTo>
                  <a:lnTo>
                    <a:pt x="1865376" y="1709927"/>
                  </a:lnTo>
                  <a:lnTo>
                    <a:pt x="1872233" y="1712213"/>
                  </a:lnTo>
                  <a:lnTo>
                    <a:pt x="1873758" y="1712975"/>
                  </a:lnTo>
                  <a:lnTo>
                    <a:pt x="1876806" y="1713737"/>
                  </a:lnTo>
                  <a:lnTo>
                    <a:pt x="1878330" y="1713737"/>
                  </a:lnTo>
                  <a:lnTo>
                    <a:pt x="1880616" y="1714499"/>
                  </a:lnTo>
                  <a:lnTo>
                    <a:pt x="1882902" y="1715261"/>
                  </a:lnTo>
                  <a:lnTo>
                    <a:pt x="1887474" y="1716785"/>
                  </a:lnTo>
                  <a:lnTo>
                    <a:pt x="1889760" y="1716785"/>
                  </a:lnTo>
                  <a:lnTo>
                    <a:pt x="1894332" y="1718309"/>
                  </a:lnTo>
                  <a:lnTo>
                    <a:pt x="1895856" y="1718309"/>
                  </a:lnTo>
                  <a:lnTo>
                    <a:pt x="1898904" y="1719833"/>
                  </a:lnTo>
                  <a:lnTo>
                    <a:pt x="1900427" y="1719833"/>
                  </a:lnTo>
                  <a:lnTo>
                    <a:pt x="1903476" y="1720595"/>
                  </a:lnTo>
                  <a:lnTo>
                    <a:pt x="1905000" y="1720595"/>
                  </a:lnTo>
                  <a:lnTo>
                    <a:pt x="1908048" y="1721357"/>
                  </a:lnTo>
                  <a:lnTo>
                    <a:pt x="1909572" y="1722119"/>
                  </a:lnTo>
                  <a:lnTo>
                    <a:pt x="1911858" y="1722119"/>
                  </a:lnTo>
                  <a:lnTo>
                    <a:pt x="1914144" y="1722881"/>
                  </a:lnTo>
                  <a:lnTo>
                    <a:pt x="1916430" y="1723643"/>
                  </a:lnTo>
                  <a:lnTo>
                    <a:pt x="1918716" y="1724405"/>
                  </a:lnTo>
                  <a:lnTo>
                    <a:pt x="1921002" y="1724405"/>
                  </a:lnTo>
                  <a:lnTo>
                    <a:pt x="1923288" y="1725167"/>
                  </a:lnTo>
                  <a:lnTo>
                    <a:pt x="1925574" y="1725167"/>
                  </a:lnTo>
                  <a:lnTo>
                    <a:pt x="1927098" y="1725929"/>
                  </a:lnTo>
                  <a:lnTo>
                    <a:pt x="1930145" y="1726691"/>
                  </a:lnTo>
                  <a:lnTo>
                    <a:pt x="1931670" y="1726691"/>
                  </a:lnTo>
                  <a:lnTo>
                    <a:pt x="1933956" y="1727453"/>
                  </a:lnTo>
                  <a:lnTo>
                    <a:pt x="1936242" y="1727453"/>
                  </a:lnTo>
                  <a:lnTo>
                    <a:pt x="1938527" y="1728215"/>
                  </a:lnTo>
                  <a:lnTo>
                    <a:pt x="1940814" y="1728215"/>
                  </a:lnTo>
                  <a:lnTo>
                    <a:pt x="1945386" y="1729739"/>
                  </a:lnTo>
                  <a:lnTo>
                    <a:pt x="1947672" y="1729739"/>
                  </a:lnTo>
                  <a:lnTo>
                    <a:pt x="1949958" y="1730501"/>
                  </a:lnTo>
                  <a:lnTo>
                    <a:pt x="1952244" y="1730501"/>
                  </a:lnTo>
                  <a:lnTo>
                    <a:pt x="1953768" y="1731263"/>
                  </a:lnTo>
                  <a:lnTo>
                    <a:pt x="1956054" y="1731263"/>
                  </a:lnTo>
                  <a:lnTo>
                    <a:pt x="1958339" y="1732025"/>
                  </a:lnTo>
                  <a:lnTo>
                    <a:pt x="1960626" y="1732025"/>
                  </a:lnTo>
                  <a:lnTo>
                    <a:pt x="1962912" y="1732787"/>
                  </a:lnTo>
                  <a:lnTo>
                    <a:pt x="1965198" y="1733549"/>
                  </a:lnTo>
                  <a:lnTo>
                    <a:pt x="1967483" y="1733549"/>
                  </a:lnTo>
                  <a:lnTo>
                    <a:pt x="1969770" y="1734311"/>
                  </a:lnTo>
                  <a:lnTo>
                    <a:pt x="1972056" y="1734311"/>
                  </a:lnTo>
                  <a:lnTo>
                    <a:pt x="1974342" y="1735073"/>
                  </a:lnTo>
                  <a:lnTo>
                    <a:pt x="1978152" y="1735073"/>
                  </a:lnTo>
                  <a:lnTo>
                    <a:pt x="1981200" y="1735835"/>
                  </a:lnTo>
                  <a:lnTo>
                    <a:pt x="1982724" y="1736597"/>
                  </a:lnTo>
                  <a:lnTo>
                    <a:pt x="1985010" y="1736597"/>
                  </a:lnTo>
                  <a:lnTo>
                    <a:pt x="1987295" y="1737359"/>
                  </a:lnTo>
                  <a:lnTo>
                    <a:pt x="1991868" y="1737359"/>
                  </a:lnTo>
                  <a:lnTo>
                    <a:pt x="1994154" y="1738121"/>
                  </a:lnTo>
                  <a:lnTo>
                    <a:pt x="1998726" y="1738121"/>
                  </a:lnTo>
                  <a:lnTo>
                    <a:pt x="2000250" y="1738883"/>
                  </a:lnTo>
                  <a:lnTo>
                    <a:pt x="2003298" y="1738883"/>
                  </a:lnTo>
                  <a:lnTo>
                    <a:pt x="2004822" y="1739645"/>
                  </a:lnTo>
                  <a:lnTo>
                    <a:pt x="2007870" y="1739645"/>
                  </a:lnTo>
                  <a:lnTo>
                    <a:pt x="2009394" y="1740407"/>
                  </a:lnTo>
                  <a:lnTo>
                    <a:pt x="2011680" y="1740407"/>
                  </a:lnTo>
                  <a:lnTo>
                    <a:pt x="2013966" y="1741169"/>
                  </a:lnTo>
                  <a:lnTo>
                    <a:pt x="2018538" y="1741169"/>
                  </a:lnTo>
                  <a:lnTo>
                    <a:pt x="2020824" y="1741931"/>
                  </a:lnTo>
                  <a:lnTo>
                    <a:pt x="2025395" y="1741931"/>
                  </a:lnTo>
                  <a:lnTo>
                    <a:pt x="2026920" y="1742693"/>
                  </a:lnTo>
                  <a:lnTo>
                    <a:pt x="2029968" y="1742693"/>
                  </a:lnTo>
                  <a:lnTo>
                    <a:pt x="2031492" y="1743455"/>
                  </a:lnTo>
                  <a:lnTo>
                    <a:pt x="2036064" y="1743455"/>
                  </a:lnTo>
                  <a:lnTo>
                    <a:pt x="2038350" y="1744217"/>
                  </a:lnTo>
                  <a:lnTo>
                    <a:pt x="2042922" y="1744217"/>
                  </a:lnTo>
                  <a:lnTo>
                    <a:pt x="2045208" y="1744979"/>
                  </a:lnTo>
                  <a:lnTo>
                    <a:pt x="2049780" y="1744979"/>
                  </a:lnTo>
                  <a:lnTo>
                    <a:pt x="2052066" y="1745741"/>
                  </a:lnTo>
                  <a:lnTo>
                    <a:pt x="2058162" y="1745741"/>
                  </a:lnTo>
                  <a:lnTo>
                    <a:pt x="2062733" y="1747265"/>
                  </a:lnTo>
                  <a:lnTo>
                    <a:pt x="2069592" y="1747265"/>
                  </a:lnTo>
                  <a:lnTo>
                    <a:pt x="2071877" y="1748027"/>
                  </a:lnTo>
                  <a:lnTo>
                    <a:pt x="2077974" y="1748027"/>
                  </a:lnTo>
                  <a:lnTo>
                    <a:pt x="2081022" y="1748789"/>
                  </a:lnTo>
                  <a:lnTo>
                    <a:pt x="2087118" y="1748789"/>
                  </a:lnTo>
                  <a:lnTo>
                    <a:pt x="2089404" y="1749551"/>
                  </a:lnTo>
                  <a:lnTo>
                    <a:pt x="2091689" y="1749551"/>
                  </a:lnTo>
                  <a:lnTo>
                    <a:pt x="2093976" y="1750313"/>
                  </a:lnTo>
                  <a:lnTo>
                    <a:pt x="2100834" y="1750313"/>
                  </a:lnTo>
                  <a:lnTo>
                    <a:pt x="2103120" y="1751075"/>
                  </a:lnTo>
                  <a:lnTo>
                    <a:pt x="2109216" y="1751075"/>
                  </a:lnTo>
                  <a:lnTo>
                    <a:pt x="2112264" y="1751837"/>
                  </a:lnTo>
                  <a:lnTo>
                    <a:pt x="2118360" y="1751837"/>
                  </a:lnTo>
                  <a:lnTo>
                    <a:pt x="2120646" y="1752599"/>
                  </a:lnTo>
                  <a:lnTo>
                    <a:pt x="2122932" y="1752599"/>
                  </a:lnTo>
                  <a:lnTo>
                    <a:pt x="2125218" y="1753361"/>
                  </a:lnTo>
                  <a:lnTo>
                    <a:pt x="2134362" y="1753361"/>
                  </a:lnTo>
                  <a:lnTo>
                    <a:pt x="2135886" y="1754123"/>
                  </a:lnTo>
                  <a:lnTo>
                    <a:pt x="2145030" y="1754123"/>
                  </a:lnTo>
                  <a:lnTo>
                    <a:pt x="2147316" y="1754885"/>
                  </a:lnTo>
                  <a:lnTo>
                    <a:pt x="2156460" y="1754885"/>
                  </a:lnTo>
                  <a:lnTo>
                    <a:pt x="2158746" y="1755647"/>
                  </a:lnTo>
                  <a:lnTo>
                    <a:pt x="2167128" y="1755647"/>
                  </a:lnTo>
                  <a:lnTo>
                    <a:pt x="2169414" y="1756409"/>
                  </a:lnTo>
                  <a:lnTo>
                    <a:pt x="2173986" y="1756409"/>
                  </a:lnTo>
                  <a:lnTo>
                    <a:pt x="2176272" y="1757171"/>
                  </a:lnTo>
                  <a:lnTo>
                    <a:pt x="2186940" y="1757171"/>
                  </a:lnTo>
                  <a:lnTo>
                    <a:pt x="2189988" y="1757933"/>
                  </a:lnTo>
                  <a:lnTo>
                    <a:pt x="2198370" y="1757933"/>
                  </a:lnTo>
                  <a:lnTo>
                    <a:pt x="2200656" y="1758695"/>
                  </a:lnTo>
                  <a:lnTo>
                    <a:pt x="2213610" y="1758695"/>
                  </a:lnTo>
                  <a:lnTo>
                    <a:pt x="2215896" y="1759457"/>
                  </a:lnTo>
                  <a:lnTo>
                    <a:pt x="2220468" y="1759457"/>
                  </a:lnTo>
                  <a:lnTo>
                    <a:pt x="2222754" y="1760219"/>
                  </a:lnTo>
                  <a:lnTo>
                    <a:pt x="2235708" y="1760219"/>
                  </a:lnTo>
                  <a:lnTo>
                    <a:pt x="2237994" y="1760981"/>
                  </a:lnTo>
                  <a:lnTo>
                    <a:pt x="2251710" y="1760981"/>
                  </a:lnTo>
                  <a:lnTo>
                    <a:pt x="2253996" y="1761743"/>
                  </a:lnTo>
                  <a:lnTo>
                    <a:pt x="2266950" y="1761743"/>
                  </a:lnTo>
                  <a:lnTo>
                    <a:pt x="2269236" y="1762505"/>
                  </a:lnTo>
                  <a:lnTo>
                    <a:pt x="2285238" y="1762505"/>
                  </a:lnTo>
                  <a:lnTo>
                    <a:pt x="2286762" y="1763267"/>
                  </a:lnTo>
                  <a:lnTo>
                    <a:pt x="2293620" y="1763267"/>
                  </a:lnTo>
                  <a:lnTo>
                    <a:pt x="2295906" y="1764029"/>
                  </a:lnTo>
                  <a:lnTo>
                    <a:pt x="2313432" y="1764029"/>
                  </a:lnTo>
                  <a:lnTo>
                    <a:pt x="2316480" y="1764791"/>
                  </a:lnTo>
                  <a:lnTo>
                    <a:pt x="2334006" y="1764791"/>
                  </a:lnTo>
                  <a:lnTo>
                    <a:pt x="2336292" y="1765553"/>
                  </a:lnTo>
                  <a:lnTo>
                    <a:pt x="2353818" y="1765553"/>
                  </a:lnTo>
                  <a:lnTo>
                    <a:pt x="2356104" y="1766315"/>
                  </a:lnTo>
                  <a:lnTo>
                    <a:pt x="2367534" y="1766315"/>
                  </a:lnTo>
                  <a:lnTo>
                    <a:pt x="2369058" y="1767077"/>
                  </a:lnTo>
                  <a:lnTo>
                    <a:pt x="2389632" y="1767077"/>
                  </a:lnTo>
                  <a:lnTo>
                    <a:pt x="2391156" y="1767839"/>
                  </a:lnTo>
                  <a:lnTo>
                    <a:pt x="2416302" y="1767839"/>
                  </a:lnTo>
                  <a:lnTo>
                    <a:pt x="2417826" y="1768601"/>
                  </a:lnTo>
                  <a:lnTo>
                    <a:pt x="2442210" y="1768601"/>
                  </a:lnTo>
                  <a:lnTo>
                    <a:pt x="2444496" y="1769363"/>
                  </a:lnTo>
                  <a:lnTo>
                    <a:pt x="2458212" y="1769363"/>
                  </a:lnTo>
                  <a:lnTo>
                    <a:pt x="2460498" y="1770125"/>
                  </a:lnTo>
                  <a:lnTo>
                    <a:pt x="2489454" y="1770125"/>
                  </a:lnTo>
                  <a:lnTo>
                    <a:pt x="2490978" y="1770887"/>
                  </a:lnTo>
                  <a:lnTo>
                    <a:pt x="2524506" y="1770887"/>
                  </a:lnTo>
                  <a:lnTo>
                    <a:pt x="2526792" y="1771649"/>
                  </a:lnTo>
                  <a:lnTo>
                    <a:pt x="2560320" y="1771649"/>
                  </a:lnTo>
                  <a:lnTo>
                    <a:pt x="2562606" y="1772411"/>
                  </a:lnTo>
                  <a:lnTo>
                    <a:pt x="2602230" y="1772411"/>
                  </a:lnTo>
                  <a:lnTo>
                    <a:pt x="2604516" y="1773173"/>
                  </a:lnTo>
                  <a:lnTo>
                    <a:pt x="2624328" y="1773173"/>
                  </a:lnTo>
                  <a:lnTo>
                    <a:pt x="2626614" y="1773935"/>
                  </a:lnTo>
                  <a:lnTo>
                    <a:pt x="2673096" y="1773935"/>
                  </a:lnTo>
                  <a:lnTo>
                    <a:pt x="2676144" y="1774697"/>
                  </a:lnTo>
                  <a:lnTo>
                    <a:pt x="2726436" y="1774697"/>
                  </a:lnTo>
                  <a:lnTo>
                    <a:pt x="2728722" y="1775459"/>
                  </a:lnTo>
                  <a:lnTo>
                    <a:pt x="2786634" y="1775459"/>
                  </a:lnTo>
                  <a:lnTo>
                    <a:pt x="2788920" y="1776221"/>
                  </a:lnTo>
                  <a:lnTo>
                    <a:pt x="2822448" y="1776221"/>
                  </a:lnTo>
                  <a:lnTo>
                    <a:pt x="2824734" y="1776983"/>
                  </a:lnTo>
                  <a:lnTo>
                    <a:pt x="2842260" y="1776983"/>
                  </a:lnTo>
                </a:path>
              </a:pathLst>
            </a:custGeom>
            <a:ln w="18351">
              <a:solidFill>
                <a:srgbClr val="0000FF"/>
              </a:solidFill>
            </a:ln>
          </p:spPr>
          <p:txBody>
            <a:bodyPr wrap="square" lIns="0" tIns="0" rIns="0" bIns="0" rtlCol="0"/>
            <a:lstStyle/>
            <a:p>
              <a:pPr defTabSz="548626"/>
              <a:endParaRPr sz="1620">
                <a:solidFill>
                  <a:srgbClr val="3C3C3B"/>
                </a:solidFill>
                <a:latin typeface="Gill Sans MT" panose="020B0502020104020203"/>
              </a:endParaRPr>
            </a:p>
          </p:txBody>
        </p:sp>
        <p:pic>
          <p:nvPicPr>
            <p:cNvPr id="40" name="object 40"/>
            <p:cNvPicPr/>
            <p:nvPr/>
          </p:nvPicPr>
          <p:blipFill>
            <a:blip r:embed="rId3" cstate="print"/>
            <a:stretch>
              <a:fillRect/>
            </a:stretch>
          </p:blipFill>
          <p:spPr>
            <a:xfrm>
              <a:off x="5958033" y="3645363"/>
              <a:ext cx="81622" cy="84670"/>
            </a:xfrm>
            <a:prstGeom prst="rect">
              <a:avLst/>
            </a:prstGeom>
          </p:spPr>
        </p:pic>
        <p:pic>
          <p:nvPicPr>
            <p:cNvPr id="41" name="object 41"/>
            <p:cNvPicPr/>
            <p:nvPr/>
          </p:nvPicPr>
          <p:blipFill>
            <a:blip r:embed="rId4" cstate="print"/>
            <a:stretch>
              <a:fillRect/>
            </a:stretch>
          </p:blipFill>
          <p:spPr>
            <a:xfrm>
              <a:off x="6100527" y="3643839"/>
              <a:ext cx="80860" cy="83908"/>
            </a:xfrm>
            <a:prstGeom prst="rect">
              <a:avLst/>
            </a:prstGeom>
          </p:spPr>
        </p:pic>
        <p:pic>
          <p:nvPicPr>
            <p:cNvPr id="42" name="object 42"/>
            <p:cNvPicPr/>
            <p:nvPr/>
          </p:nvPicPr>
          <p:blipFill>
            <a:blip r:embed="rId5" cstate="print"/>
            <a:stretch>
              <a:fillRect/>
            </a:stretch>
          </p:blipFill>
          <p:spPr>
            <a:xfrm>
              <a:off x="6242259" y="3640791"/>
              <a:ext cx="80860" cy="83908"/>
            </a:xfrm>
            <a:prstGeom prst="rect">
              <a:avLst/>
            </a:prstGeom>
          </p:spPr>
        </p:pic>
        <p:pic>
          <p:nvPicPr>
            <p:cNvPr id="43" name="object 43"/>
            <p:cNvPicPr/>
            <p:nvPr/>
          </p:nvPicPr>
          <p:blipFill>
            <a:blip r:embed="rId6" cstate="print"/>
            <a:stretch>
              <a:fillRect/>
            </a:stretch>
          </p:blipFill>
          <p:spPr>
            <a:xfrm>
              <a:off x="6384753" y="3636219"/>
              <a:ext cx="80860" cy="83908"/>
            </a:xfrm>
            <a:prstGeom prst="rect">
              <a:avLst/>
            </a:prstGeom>
          </p:spPr>
        </p:pic>
        <p:pic>
          <p:nvPicPr>
            <p:cNvPr id="44" name="object 44"/>
            <p:cNvPicPr/>
            <p:nvPr/>
          </p:nvPicPr>
          <p:blipFill>
            <a:blip r:embed="rId7" cstate="print"/>
            <a:stretch>
              <a:fillRect/>
            </a:stretch>
          </p:blipFill>
          <p:spPr>
            <a:xfrm>
              <a:off x="6526485" y="3628599"/>
              <a:ext cx="81622" cy="84670"/>
            </a:xfrm>
            <a:prstGeom prst="rect">
              <a:avLst/>
            </a:prstGeom>
          </p:spPr>
        </p:pic>
        <p:pic>
          <p:nvPicPr>
            <p:cNvPr id="45" name="object 45"/>
            <p:cNvPicPr/>
            <p:nvPr/>
          </p:nvPicPr>
          <p:blipFill>
            <a:blip r:embed="rId8" cstate="print"/>
            <a:stretch>
              <a:fillRect/>
            </a:stretch>
          </p:blipFill>
          <p:spPr>
            <a:xfrm>
              <a:off x="6668217" y="3614883"/>
              <a:ext cx="81622" cy="83908"/>
            </a:xfrm>
            <a:prstGeom prst="rect">
              <a:avLst/>
            </a:prstGeom>
          </p:spPr>
        </p:pic>
        <p:pic>
          <p:nvPicPr>
            <p:cNvPr id="46" name="object 46"/>
            <p:cNvPicPr/>
            <p:nvPr/>
          </p:nvPicPr>
          <p:blipFill>
            <a:blip r:embed="rId9" cstate="print"/>
            <a:stretch>
              <a:fillRect/>
            </a:stretch>
          </p:blipFill>
          <p:spPr>
            <a:xfrm>
              <a:off x="6810711" y="3585165"/>
              <a:ext cx="80860" cy="84670"/>
            </a:xfrm>
            <a:prstGeom prst="rect">
              <a:avLst/>
            </a:prstGeom>
          </p:spPr>
        </p:pic>
        <p:pic>
          <p:nvPicPr>
            <p:cNvPr id="47" name="object 47"/>
            <p:cNvPicPr/>
            <p:nvPr/>
          </p:nvPicPr>
          <p:blipFill>
            <a:blip r:embed="rId10" cstate="print"/>
            <a:stretch>
              <a:fillRect/>
            </a:stretch>
          </p:blipFill>
          <p:spPr>
            <a:xfrm>
              <a:off x="6953205" y="3502107"/>
              <a:ext cx="80860" cy="83908"/>
            </a:xfrm>
            <a:prstGeom prst="rect">
              <a:avLst/>
            </a:prstGeom>
          </p:spPr>
        </p:pic>
        <p:pic>
          <p:nvPicPr>
            <p:cNvPr id="48" name="object 48"/>
            <p:cNvPicPr/>
            <p:nvPr/>
          </p:nvPicPr>
          <p:blipFill>
            <a:blip r:embed="rId11" cstate="print"/>
            <a:stretch>
              <a:fillRect/>
            </a:stretch>
          </p:blipFill>
          <p:spPr>
            <a:xfrm>
              <a:off x="7094937" y="3097485"/>
              <a:ext cx="81622" cy="84670"/>
            </a:xfrm>
            <a:prstGeom prst="rect">
              <a:avLst/>
            </a:prstGeom>
          </p:spPr>
        </p:pic>
        <p:pic>
          <p:nvPicPr>
            <p:cNvPr id="49" name="object 49"/>
            <p:cNvPicPr/>
            <p:nvPr/>
          </p:nvPicPr>
          <p:blipFill>
            <a:blip r:embed="rId12" cstate="print"/>
            <a:stretch>
              <a:fillRect/>
            </a:stretch>
          </p:blipFill>
          <p:spPr>
            <a:xfrm>
              <a:off x="7236669" y="1867617"/>
              <a:ext cx="81622" cy="83908"/>
            </a:xfrm>
            <a:prstGeom prst="rect">
              <a:avLst/>
            </a:prstGeom>
          </p:spPr>
        </p:pic>
        <p:pic>
          <p:nvPicPr>
            <p:cNvPr id="50" name="object 50"/>
            <p:cNvPicPr/>
            <p:nvPr/>
          </p:nvPicPr>
          <p:blipFill>
            <a:blip r:embed="rId13" cstate="print"/>
            <a:stretch>
              <a:fillRect/>
            </a:stretch>
          </p:blipFill>
          <p:spPr>
            <a:xfrm>
              <a:off x="7379163" y="3052527"/>
              <a:ext cx="80860" cy="83908"/>
            </a:xfrm>
            <a:prstGeom prst="rect">
              <a:avLst/>
            </a:prstGeom>
          </p:spPr>
        </p:pic>
        <p:pic>
          <p:nvPicPr>
            <p:cNvPr id="51" name="object 51"/>
            <p:cNvPicPr/>
            <p:nvPr/>
          </p:nvPicPr>
          <p:blipFill>
            <a:blip r:embed="rId14" cstate="print"/>
            <a:stretch>
              <a:fillRect/>
            </a:stretch>
          </p:blipFill>
          <p:spPr>
            <a:xfrm>
              <a:off x="7521657" y="3470103"/>
              <a:ext cx="80860" cy="84670"/>
            </a:xfrm>
            <a:prstGeom prst="rect">
              <a:avLst/>
            </a:prstGeom>
          </p:spPr>
        </p:pic>
        <p:pic>
          <p:nvPicPr>
            <p:cNvPr id="52" name="object 52"/>
            <p:cNvPicPr/>
            <p:nvPr/>
          </p:nvPicPr>
          <p:blipFill>
            <a:blip r:embed="rId15" cstate="print"/>
            <a:stretch>
              <a:fillRect/>
            </a:stretch>
          </p:blipFill>
          <p:spPr>
            <a:xfrm>
              <a:off x="7663389" y="3566877"/>
              <a:ext cx="80860" cy="83146"/>
            </a:xfrm>
            <a:prstGeom prst="rect">
              <a:avLst/>
            </a:prstGeom>
          </p:spPr>
        </p:pic>
        <p:pic>
          <p:nvPicPr>
            <p:cNvPr id="53" name="object 53"/>
            <p:cNvPicPr/>
            <p:nvPr/>
          </p:nvPicPr>
          <p:blipFill>
            <a:blip r:embed="rId16" cstate="print"/>
            <a:stretch>
              <a:fillRect/>
            </a:stretch>
          </p:blipFill>
          <p:spPr>
            <a:xfrm>
              <a:off x="7805121" y="3601929"/>
              <a:ext cx="81622" cy="84670"/>
            </a:xfrm>
            <a:prstGeom prst="rect">
              <a:avLst/>
            </a:prstGeom>
          </p:spPr>
        </p:pic>
        <p:pic>
          <p:nvPicPr>
            <p:cNvPr id="54" name="object 54"/>
            <p:cNvPicPr/>
            <p:nvPr/>
          </p:nvPicPr>
          <p:blipFill>
            <a:blip r:embed="rId17" cstate="print"/>
            <a:stretch>
              <a:fillRect/>
            </a:stretch>
          </p:blipFill>
          <p:spPr>
            <a:xfrm>
              <a:off x="7947615" y="3619455"/>
              <a:ext cx="80860" cy="83908"/>
            </a:xfrm>
            <a:prstGeom prst="rect">
              <a:avLst/>
            </a:prstGeom>
          </p:spPr>
        </p:pic>
        <p:pic>
          <p:nvPicPr>
            <p:cNvPr id="55" name="object 55"/>
            <p:cNvPicPr/>
            <p:nvPr/>
          </p:nvPicPr>
          <p:blipFill>
            <a:blip r:embed="rId12" cstate="print"/>
            <a:stretch>
              <a:fillRect/>
            </a:stretch>
          </p:blipFill>
          <p:spPr>
            <a:xfrm>
              <a:off x="8089347" y="3629361"/>
              <a:ext cx="81622" cy="83908"/>
            </a:xfrm>
            <a:prstGeom prst="rect">
              <a:avLst/>
            </a:prstGeom>
          </p:spPr>
        </p:pic>
        <p:pic>
          <p:nvPicPr>
            <p:cNvPr id="56" name="object 56"/>
            <p:cNvPicPr/>
            <p:nvPr/>
          </p:nvPicPr>
          <p:blipFill>
            <a:blip r:embed="rId18" cstate="print"/>
            <a:stretch>
              <a:fillRect/>
            </a:stretch>
          </p:blipFill>
          <p:spPr>
            <a:xfrm>
              <a:off x="8231841" y="3635457"/>
              <a:ext cx="80860" cy="83908"/>
            </a:xfrm>
            <a:prstGeom prst="rect">
              <a:avLst/>
            </a:prstGeom>
          </p:spPr>
        </p:pic>
        <p:pic>
          <p:nvPicPr>
            <p:cNvPr id="57" name="object 57"/>
            <p:cNvPicPr/>
            <p:nvPr/>
          </p:nvPicPr>
          <p:blipFill>
            <a:blip r:embed="rId12" cstate="print"/>
            <a:stretch>
              <a:fillRect/>
            </a:stretch>
          </p:blipFill>
          <p:spPr>
            <a:xfrm>
              <a:off x="8373573" y="3639267"/>
              <a:ext cx="81622" cy="83908"/>
            </a:xfrm>
            <a:prstGeom prst="rect">
              <a:avLst/>
            </a:prstGeom>
          </p:spPr>
        </p:pic>
        <p:pic>
          <p:nvPicPr>
            <p:cNvPr id="58" name="object 58"/>
            <p:cNvPicPr/>
            <p:nvPr/>
          </p:nvPicPr>
          <p:blipFill>
            <a:blip r:embed="rId19" cstate="print"/>
            <a:stretch>
              <a:fillRect/>
            </a:stretch>
          </p:blipFill>
          <p:spPr>
            <a:xfrm>
              <a:off x="8516067" y="3642315"/>
              <a:ext cx="80860" cy="83908"/>
            </a:xfrm>
            <a:prstGeom prst="rect">
              <a:avLst/>
            </a:prstGeom>
          </p:spPr>
        </p:pic>
        <p:pic>
          <p:nvPicPr>
            <p:cNvPr id="59" name="object 59"/>
            <p:cNvPicPr/>
            <p:nvPr/>
          </p:nvPicPr>
          <p:blipFill>
            <a:blip r:embed="rId20" cstate="print"/>
            <a:stretch>
              <a:fillRect/>
            </a:stretch>
          </p:blipFill>
          <p:spPr>
            <a:xfrm>
              <a:off x="8657799" y="3643839"/>
              <a:ext cx="81622" cy="83908"/>
            </a:xfrm>
            <a:prstGeom prst="rect">
              <a:avLst/>
            </a:prstGeom>
          </p:spPr>
        </p:pic>
        <p:sp>
          <p:nvSpPr>
            <p:cNvPr id="60" name="object 60"/>
            <p:cNvSpPr/>
            <p:nvPr/>
          </p:nvSpPr>
          <p:spPr>
            <a:xfrm>
              <a:off x="5977128" y="2802636"/>
              <a:ext cx="2684780" cy="0"/>
            </a:xfrm>
            <a:custGeom>
              <a:avLst/>
              <a:gdLst/>
              <a:ahLst/>
              <a:cxnLst/>
              <a:rect l="l" t="t" r="r" b="b"/>
              <a:pathLst>
                <a:path w="2684779">
                  <a:moveTo>
                    <a:pt x="0" y="0"/>
                  </a:moveTo>
                  <a:lnTo>
                    <a:pt x="2684526" y="0"/>
                  </a:lnTo>
                </a:path>
              </a:pathLst>
            </a:custGeom>
            <a:ln w="4572">
              <a:solidFill>
                <a:srgbClr val="00FF00"/>
              </a:solidFill>
              <a:prstDash val="sysDash"/>
            </a:ln>
          </p:spPr>
          <p:txBody>
            <a:bodyPr wrap="square" lIns="0" tIns="0" rIns="0" bIns="0" rtlCol="0"/>
            <a:lstStyle/>
            <a:p>
              <a:pPr defTabSz="548626"/>
              <a:endParaRPr sz="1620">
                <a:solidFill>
                  <a:srgbClr val="3C3C3B"/>
                </a:solidFill>
                <a:latin typeface="Gill Sans MT" panose="020B0502020104020203"/>
              </a:endParaRPr>
            </a:p>
          </p:txBody>
        </p:sp>
        <p:sp>
          <p:nvSpPr>
            <p:cNvPr id="61" name="object 61"/>
            <p:cNvSpPr/>
            <p:nvPr/>
          </p:nvSpPr>
          <p:spPr>
            <a:xfrm>
              <a:off x="5871972" y="2800349"/>
              <a:ext cx="2842260" cy="5080"/>
            </a:xfrm>
            <a:custGeom>
              <a:avLst/>
              <a:gdLst/>
              <a:ahLst/>
              <a:cxnLst/>
              <a:rect l="l" t="t" r="r" b="b"/>
              <a:pathLst>
                <a:path w="2842259" h="5080">
                  <a:moveTo>
                    <a:pt x="65532" y="0"/>
                  </a:moveTo>
                  <a:lnTo>
                    <a:pt x="0" y="0"/>
                  </a:lnTo>
                  <a:lnTo>
                    <a:pt x="0" y="4572"/>
                  </a:lnTo>
                  <a:lnTo>
                    <a:pt x="65532" y="4572"/>
                  </a:lnTo>
                  <a:lnTo>
                    <a:pt x="65532" y="0"/>
                  </a:lnTo>
                  <a:close/>
                </a:path>
                <a:path w="2842259" h="5080">
                  <a:moveTo>
                    <a:pt x="2842260" y="0"/>
                  </a:moveTo>
                  <a:lnTo>
                    <a:pt x="2828544" y="0"/>
                  </a:lnTo>
                  <a:lnTo>
                    <a:pt x="2828544" y="4572"/>
                  </a:lnTo>
                  <a:lnTo>
                    <a:pt x="2842260" y="4572"/>
                  </a:lnTo>
                  <a:lnTo>
                    <a:pt x="2842260" y="0"/>
                  </a:lnTo>
                  <a:close/>
                </a:path>
              </a:pathLst>
            </a:custGeom>
            <a:solidFill>
              <a:srgbClr val="00FF00"/>
            </a:solidFill>
          </p:spPr>
          <p:txBody>
            <a:bodyPr wrap="square" lIns="0" tIns="0" rIns="0" bIns="0" rtlCol="0"/>
            <a:lstStyle/>
            <a:p>
              <a:pPr defTabSz="548626"/>
              <a:endParaRPr sz="1620">
                <a:solidFill>
                  <a:srgbClr val="3C3C3B"/>
                </a:solidFill>
                <a:latin typeface="Gill Sans MT" panose="020B0502020104020203"/>
              </a:endParaRPr>
            </a:p>
          </p:txBody>
        </p:sp>
        <p:sp>
          <p:nvSpPr>
            <p:cNvPr id="62" name="object 62"/>
            <p:cNvSpPr/>
            <p:nvPr/>
          </p:nvSpPr>
          <p:spPr>
            <a:xfrm>
              <a:off x="5971013" y="2802636"/>
              <a:ext cx="2749550" cy="0"/>
            </a:xfrm>
            <a:custGeom>
              <a:avLst/>
              <a:gdLst/>
              <a:ahLst/>
              <a:cxnLst/>
              <a:rect l="l" t="t" r="r" b="b"/>
              <a:pathLst>
                <a:path w="2749550">
                  <a:moveTo>
                    <a:pt x="0" y="0"/>
                  </a:moveTo>
                  <a:lnTo>
                    <a:pt x="2749334" y="0"/>
                  </a:lnTo>
                </a:path>
              </a:pathLst>
            </a:custGeom>
            <a:ln w="16802">
              <a:solidFill>
                <a:srgbClr val="009800"/>
              </a:solidFill>
              <a:prstDash val="sysDash"/>
            </a:ln>
          </p:spPr>
          <p:txBody>
            <a:bodyPr wrap="square" lIns="0" tIns="0" rIns="0" bIns="0" rtlCol="0"/>
            <a:lstStyle/>
            <a:p>
              <a:pPr defTabSz="548626"/>
              <a:endParaRPr sz="1620">
                <a:solidFill>
                  <a:srgbClr val="3C3C3B"/>
                </a:solidFill>
                <a:latin typeface="Gill Sans MT" panose="020B0502020104020203"/>
              </a:endParaRPr>
            </a:p>
          </p:txBody>
        </p:sp>
        <p:sp>
          <p:nvSpPr>
            <p:cNvPr id="63" name="object 63"/>
            <p:cNvSpPr/>
            <p:nvPr/>
          </p:nvSpPr>
          <p:spPr>
            <a:xfrm>
              <a:off x="5871972" y="2800350"/>
              <a:ext cx="66040" cy="5080"/>
            </a:xfrm>
            <a:custGeom>
              <a:avLst/>
              <a:gdLst/>
              <a:ahLst/>
              <a:cxnLst/>
              <a:rect l="l" t="t" r="r" b="b"/>
              <a:pathLst>
                <a:path w="66039" h="5080">
                  <a:moveTo>
                    <a:pt x="0" y="0"/>
                  </a:moveTo>
                  <a:lnTo>
                    <a:pt x="0" y="4572"/>
                  </a:lnTo>
                  <a:lnTo>
                    <a:pt x="65532" y="4572"/>
                  </a:lnTo>
                  <a:lnTo>
                    <a:pt x="65532" y="0"/>
                  </a:lnTo>
                  <a:lnTo>
                    <a:pt x="0" y="0"/>
                  </a:lnTo>
                  <a:close/>
                </a:path>
              </a:pathLst>
            </a:custGeom>
            <a:ln w="12230">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grpSp>
      <p:sp>
        <p:nvSpPr>
          <p:cNvPr id="64" name="object 64"/>
          <p:cNvSpPr txBox="1">
            <a:spLocks noGrp="1"/>
          </p:cNvSpPr>
          <p:nvPr>
            <p:ph type="title"/>
          </p:nvPr>
        </p:nvSpPr>
        <p:spPr>
          <a:xfrm>
            <a:off x="844551" y="309569"/>
            <a:ext cx="7272655" cy="596958"/>
          </a:xfrm>
          <a:prstGeom prst="rect">
            <a:avLst/>
          </a:prstGeom>
        </p:spPr>
        <p:txBody>
          <a:bodyPr vert="horz" wrap="square" lIns="0" tIns="12065" rIns="0" bIns="0" rtlCol="0" anchor="b" anchorCtr="0">
            <a:spAutoFit/>
          </a:bodyPr>
          <a:lstStyle/>
          <a:p>
            <a:pPr marL="12700">
              <a:spcBef>
                <a:spcPts val="95"/>
              </a:spcBef>
            </a:pPr>
            <a:r>
              <a:rPr sz="3800" spc="-5" dirty="0">
                <a:latin typeface="Verdana"/>
                <a:cs typeface="Verdana"/>
              </a:rPr>
              <a:t>Inter</a:t>
            </a:r>
            <a:r>
              <a:rPr sz="3800" spc="11" dirty="0">
                <a:latin typeface="Verdana"/>
                <a:cs typeface="Verdana"/>
              </a:rPr>
              <a:t> </a:t>
            </a:r>
            <a:r>
              <a:rPr sz="3800" spc="-5" dirty="0">
                <a:latin typeface="Verdana"/>
                <a:cs typeface="Verdana"/>
              </a:rPr>
              <a:t>Symbol</a:t>
            </a:r>
            <a:r>
              <a:rPr sz="3800" spc="11" dirty="0">
                <a:latin typeface="Verdana"/>
                <a:cs typeface="Verdana"/>
              </a:rPr>
              <a:t> </a:t>
            </a:r>
            <a:r>
              <a:rPr sz="3800" spc="-5" dirty="0">
                <a:latin typeface="Verdana"/>
                <a:cs typeface="Verdana"/>
              </a:rPr>
              <a:t>Interference</a:t>
            </a:r>
            <a:r>
              <a:rPr sz="3800" spc="11" dirty="0">
                <a:latin typeface="Verdana"/>
                <a:cs typeface="Verdana"/>
              </a:rPr>
              <a:t> </a:t>
            </a:r>
            <a:r>
              <a:rPr sz="3800" spc="-11" dirty="0">
                <a:latin typeface="Verdana"/>
                <a:cs typeface="Verdana"/>
              </a:rPr>
              <a:t>(1)</a:t>
            </a:r>
            <a:endParaRPr sz="3800">
              <a:latin typeface="Verdana"/>
              <a:cs typeface="Verdana"/>
            </a:endParaRPr>
          </a:p>
        </p:txBody>
      </p:sp>
      <p:sp>
        <p:nvSpPr>
          <p:cNvPr id="65" name="object 65"/>
          <p:cNvSpPr txBox="1"/>
          <p:nvPr/>
        </p:nvSpPr>
        <p:spPr>
          <a:xfrm>
            <a:off x="5229098" y="2397507"/>
            <a:ext cx="516255" cy="319959"/>
          </a:xfrm>
          <a:prstGeom prst="rect">
            <a:avLst/>
          </a:prstGeom>
        </p:spPr>
        <p:txBody>
          <a:bodyPr vert="horz" wrap="square" lIns="0" tIns="12065" rIns="0" bIns="0" rtlCol="0">
            <a:spAutoFit/>
          </a:bodyPr>
          <a:lstStyle/>
          <a:p>
            <a:pPr marL="12700" defTabSz="548626">
              <a:spcBef>
                <a:spcPts val="95"/>
              </a:spcBef>
            </a:pPr>
            <a:r>
              <a:rPr sz="2000" b="1" spc="-5" dirty="0">
                <a:solidFill>
                  <a:srgbClr val="00B04F"/>
                </a:solidFill>
                <a:latin typeface="Verdana"/>
                <a:cs typeface="Verdana"/>
              </a:rPr>
              <a:t>Vth</a:t>
            </a:r>
            <a:endParaRPr sz="2000">
              <a:solidFill>
                <a:srgbClr val="3C3C3B"/>
              </a:solidFill>
              <a:latin typeface="Verdana"/>
              <a:cs typeface="Verdana"/>
            </a:endParaRPr>
          </a:p>
        </p:txBody>
      </p:sp>
      <p:sp>
        <p:nvSpPr>
          <p:cNvPr id="66" name="object 66"/>
          <p:cNvSpPr txBox="1"/>
          <p:nvPr/>
        </p:nvSpPr>
        <p:spPr>
          <a:xfrm>
            <a:off x="919289" y="4980333"/>
            <a:ext cx="6864984" cy="1091325"/>
          </a:xfrm>
          <a:prstGeom prst="rect">
            <a:avLst/>
          </a:prstGeom>
        </p:spPr>
        <p:txBody>
          <a:bodyPr vert="horz" wrap="square" lIns="0" tIns="77471" rIns="0" bIns="0" rtlCol="0">
            <a:spAutoFit/>
          </a:bodyPr>
          <a:lstStyle/>
          <a:p>
            <a:pPr marL="2081479" defTabSz="548626">
              <a:spcBef>
                <a:spcPts val="611"/>
              </a:spcBef>
            </a:pPr>
            <a:r>
              <a:rPr sz="2000" spc="-5" dirty="0">
                <a:solidFill>
                  <a:srgbClr val="3C3C3B"/>
                </a:solidFill>
                <a:latin typeface="Verdana"/>
                <a:cs typeface="Verdana"/>
              </a:rPr>
              <a:t>LPF</a:t>
            </a:r>
            <a:endParaRPr sz="2000" dirty="0">
              <a:solidFill>
                <a:srgbClr val="3C3C3B"/>
              </a:solidFill>
              <a:latin typeface="Verdana"/>
              <a:cs typeface="Verdana"/>
            </a:endParaRPr>
          </a:p>
          <a:p>
            <a:pPr marL="482588" indent="-470523" defTabSz="548626">
              <a:spcBef>
                <a:spcPts val="509"/>
              </a:spcBef>
              <a:buClr>
                <a:srgbClr val="CC0000"/>
              </a:buClr>
              <a:buFont typeface="Wingdings"/>
              <a:buChar char=""/>
              <a:tabLst>
                <a:tab pos="482588" algn="l"/>
                <a:tab pos="483223" algn="l"/>
              </a:tabLst>
            </a:pPr>
            <a:r>
              <a:rPr sz="2000" spc="-5" dirty="0">
                <a:solidFill>
                  <a:srgbClr val="3C3C3B"/>
                </a:solidFill>
                <a:latin typeface="Verdana"/>
                <a:cs typeface="Verdana"/>
              </a:rPr>
              <a:t>A</a:t>
            </a:r>
            <a:r>
              <a:rPr sz="2000" dirty="0">
                <a:solidFill>
                  <a:srgbClr val="3C3C3B"/>
                </a:solidFill>
                <a:latin typeface="Verdana"/>
                <a:cs typeface="Verdana"/>
              </a:rPr>
              <a:t> </a:t>
            </a:r>
            <a:r>
              <a:rPr sz="2000" spc="-11" dirty="0">
                <a:solidFill>
                  <a:srgbClr val="3C3C3B"/>
                </a:solidFill>
                <a:latin typeface="Verdana"/>
                <a:cs typeface="Verdana"/>
              </a:rPr>
              <a:t>typical</a:t>
            </a:r>
            <a:r>
              <a:rPr sz="2000" spc="25" dirty="0">
                <a:solidFill>
                  <a:srgbClr val="3C3C3B"/>
                </a:solidFill>
                <a:latin typeface="Verdana"/>
                <a:cs typeface="Verdana"/>
              </a:rPr>
              <a:t> </a:t>
            </a:r>
            <a:r>
              <a:rPr sz="2000" spc="-11" dirty="0">
                <a:solidFill>
                  <a:srgbClr val="3C3C3B"/>
                </a:solidFill>
                <a:latin typeface="Verdana"/>
                <a:cs typeface="Verdana"/>
              </a:rPr>
              <a:t>channel</a:t>
            </a:r>
            <a:r>
              <a:rPr sz="2000" dirty="0">
                <a:solidFill>
                  <a:srgbClr val="3C3C3B"/>
                </a:solidFill>
                <a:latin typeface="Verdana"/>
                <a:cs typeface="Verdana"/>
              </a:rPr>
              <a:t> </a:t>
            </a:r>
            <a:r>
              <a:rPr sz="2000" spc="-5" dirty="0">
                <a:solidFill>
                  <a:srgbClr val="3C3C3B"/>
                </a:solidFill>
                <a:latin typeface="Verdana"/>
                <a:cs typeface="Verdana"/>
              </a:rPr>
              <a:t>is</a:t>
            </a:r>
            <a:r>
              <a:rPr sz="2000" dirty="0">
                <a:solidFill>
                  <a:srgbClr val="3C3C3B"/>
                </a:solidFill>
                <a:latin typeface="Verdana"/>
                <a:cs typeface="Verdana"/>
              </a:rPr>
              <a:t> </a:t>
            </a:r>
            <a:r>
              <a:rPr sz="2000" spc="-5" dirty="0">
                <a:solidFill>
                  <a:srgbClr val="3C3C3B"/>
                </a:solidFill>
                <a:latin typeface="Verdana"/>
                <a:cs typeface="Verdana"/>
              </a:rPr>
              <a:t>a</a:t>
            </a:r>
            <a:r>
              <a:rPr sz="2000" dirty="0">
                <a:solidFill>
                  <a:srgbClr val="3C3C3B"/>
                </a:solidFill>
                <a:latin typeface="Verdana"/>
                <a:cs typeface="Verdana"/>
              </a:rPr>
              <a:t> </a:t>
            </a:r>
            <a:r>
              <a:rPr sz="2000" spc="-11" dirty="0">
                <a:solidFill>
                  <a:srgbClr val="3C3C3B"/>
                </a:solidFill>
                <a:latin typeface="Verdana"/>
                <a:cs typeface="Verdana"/>
              </a:rPr>
              <a:t>low-pass</a:t>
            </a:r>
            <a:r>
              <a:rPr sz="2000" spc="15" dirty="0">
                <a:solidFill>
                  <a:srgbClr val="3C3C3B"/>
                </a:solidFill>
                <a:latin typeface="Verdana"/>
                <a:cs typeface="Verdana"/>
              </a:rPr>
              <a:t> </a:t>
            </a:r>
            <a:r>
              <a:rPr sz="2000" spc="-5" dirty="0">
                <a:solidFill>
                  <a:srgbClr val="3C3C3B"/>
                </a:solidFill>
                <a:latin typeface="Verdana"/>
                <a:cs typeface="Verdana"/>
              </a:rPr>
              <a:t>filter</a:t>
            </a:r>
            <a:r>
              <a:rPr sz="2000" spc="11" dirty="0">
                <a:solidFill>
                  <a:srgbClr val="3C3C3B"/>
                </a:solidFill>
                <a:latin typeface="Verdana"/>
                <a:cs typeface="Verdana"/>
              </a:rPr>
              <a:t> </a:t>
            </a:r>
            <a:r>
              <a:rPr sz="2000" spc="-11" dirty="0">
                <a:solidFill>
                  <a:srgbClr val="3C3C3B"/>
                </a:solidFill>
                <a:latin typeface="Verdana"/>
                <a:cs typeface="Verdana"/>
              </a:rPr>
              <a:t>(LPF).</a:t>
            </a:r>
            <a:endParaRPr sz="2000" dirty="0">
              <a:solidFill>
                <a:srgbClr val="3C3C3B"/>
              </a:solidFill>
              <a:latin typeface="Verdana"/>
              <a:cs typeface="Verdana"/>
            </a:endParaRPr>
          </a:p>
          <a:p>
            <a:pPr marL="482588" indent="-470523" defTabSz="548626">
              <a:spcBef>
                <a:spcPts val="240"/>
              </a:spcBef>
              <a:buClr>
                <a:srgbClr val="CC0000"/>
              </a:buClr>
              <a:buFont typeface="Wingdings"/>
              <a:buChar char=""/>
              <a:tabLst>
                <a:tab pos="482588" algn="l"/>
                <a:tab pos="483223" algn="l"/>
              </a:tabLst>
            </a:pPr>
            <a:r>
              <a:rPr sz="2000" spc="-5" dirty="0">
                <a:solidFill>
                  <a:srgbClr val="3C3C3B"/>
                </a:solidFill>
                <a:latin typeface="Verdana"/>
                <a:cs typeface="Verdana"/>
              </a:rPr>
              <a:t>Inter</a:t>
            </a:r>
            <a:r>
              <a:rPr sz="2000" dirty="0">
                <a:solidFill>
                  <a:srgbClr val="3C3C3B"/>
                </a:solidFill>
                <a:latin typeface="Verdana"/>
                <a:cs typeface="Verdana"/>
              </a:rPr>
              <a:t> </a:t>
            </a:r>
            <a:r>
              <a:rPr sz="2000" spc="-11" dirty="0">
                <a:solidFill>
                  <a:srgbClr val="3C3C3B"/>
                </a:solidFill>
                <a:latin typeface="Verdana"/>
                <a:cs typeface="Verdana"/>
              </a:rPr>
              <a:t>symbol</a:t>
            </a:r>
            <a:r>
              <a:rPr sz="2000" spc="25" dirty="0">
                <a:solidFill>
                  <a:srgbClr val="3C3C3B"/>
                </a:solidFill>
                <a:latin typeface="Verdana"/>
                <a:cs typeface="Verdana"/>
              </a:rPr>
              <a:t> </a:t>
            </a:r>
            <a:r>
              <a:rPr sz="2000" spc="-11" dirty="0">
                <a:solidFill>
                  <a:srgbClr val="3C3C3B"/>
                </a:solidFill>
                <a:latin typeface="Verdana"/>
                <a:cs typeface="Verdana"/>
              </a:rPr>
              <a:t>interference</a:t>
            </a:r>
            <a:r>
              <a:rPr sz="2000" dirty="0">
                <a:solidFill>
                  <a:srgbClr val="3C3C3B"/>
                </a:solidFill>
                <a:latin typeface="Verdana"/>
                <a:cs typeface="Verdana"/>
              </a:rPr>
              <a:t> </a:t>
            </a:r>
            <a:r>
              <a:rPr sz="2000" spc="-5" dirty="0">
                <a:solidFill>
                  <a:srgbClr val="3C3C3B"/>
                </a:solidFill>
                <a:latin typeface="Verdana"/>
                <a:cs typeface="Verdana"/>
              </a:rPr>
              <a:t>(ISI)</a:t>
            </a:r>
            <a:r>
              <a:rPr sz="2000" dirty="0">
                <a:solidFill>
                  <a:srgbClr val="3C3C3B"/>
                </a:solidFill>
                <a:latin typeface="Verdana"/>
                <a:cs typeface="Verdana"/>
              </a:rPr>
              <a:t> </a:t>
            </a:r>
            <a:r>
              <a:rPr sz="2000" spc="-11" dirty="0">
                <a:solidFill>
                  <a:srgbClr val="3C3C3B"/>
                </a:solidFill>
                <a:latin typeface="Verdana"/>
                <a:cs typeface="Verdana"/>
              </a:rPr>
              <a:t>disrupts</a:t>
            </a:r>
            <a:r>
              <a:rPr sz="2000" spc="20" dirty="0">
                <a:solidFill>
                  <a:srgbClr val="3C3C3B"/>
                </a:solidFill>
                <a:latin typeface="Verdana"/>
                <a:cs typeface="Verdana"/>
              </a:rPr>
              <a:t> </a:t>
            </a:r>
            <a:r>
              <a:rPr sz="2000" spc="-11" dirty="0">
                <a:solidFill>
                  <a:srgbClr val="3C3C3B"/>
                </a:solidFill>
                <a:latin typeface="Verdana"/>
                <a:cs typeface="Verdana"/>
              </a:rPr>
              <a:t>signaling.</a:t>
            </a:r>
            <a:endParaRPr sz="2000" dirty="0">
              <a:solidFill>
                <a:srgbClr val="3C3C3B"/>
              </a:solidFill>
              <a:latin typeface="Verdana"/>
              <a:cs typeface="Verdana"/>
            </a:endParaRPr>
          </a:p>
        </p:txBody>
      </p:sp>
      <p:grpSp>
        <p:nvGrpSpPr>
          <p:cNvPr id="67" name="object 67"/>
          <p:cNvGrpSpPr/>
          <p:nvPr/>
        </p:nvGrpSpPr>
        <p:grpSpPr>
          <a:xfrm>
            <a:off x="1354836" y="4383749"/>
            <a:ext cx="3992245" cy="790575"/>
            <a:chOff x="1354836" y="4383747"/>
            <a:chExt cx="3992245" cy="790575"/>
          </a:xfrm>
        </p:grpSpPr>
        <p:sp>
          <p:nvSpPr>
            <p:cNvPr id="68" name="object 68"/>
            <p:cNvSpPr/>
            <p:nvPr/>
          </p:nvSpPr>
          <p:spPr>
            <a:xfrm>
              <a:off x="2293619" y="4627626"/>
              <a:ext cx="86360" cy="302895"/>
            </a:xfrm>
            <a:custGeom>
              <a:avLst/>
              <a:gdLst/>
              <a:ahLst/>
              <a:cxnLst/>
              <a:rect l="l" t="t" r="r" b="b"/>
              <a:pathLst>
                <a:path w="86360" h="302895">
                  <a:moveTo>
                    <a:pt x="86106" y="150875"/>
                  </a:moveTo>
                  <a:lnTo>
                    <a:pt x="82760" y="92261"/>
                  </a:lnTo>
                  <a:lnTo>
                    <a:pt x="73628" y="44291"/>
                  </a:lnTo>
                  <a:lnTo>
                    <a:pt x="60067" y="11894"/>
                  </a:lnTo>
                  <a:lnTo>
                    <a:pt x="43434" y="0"/>
                  </a:lnTo>
                  <a:lnTo>
                    <a:pt x="26360" y="11894"/>
                  </a:lnTo>
                  <a:lnTo>
                    <a:pt x="12572" y="44291"/>
                  </a:lnTo>
                  <a:lnTo>
                    <a:pt x="3357" y="92261"/>
                  </a:lnTo>
                  <a:lnTo>
                    <a:pt x="0" y="150875"/>
                  </a:lnTo>
                  <a:lnTo>
                    <a:pt x="3357" y="209930"/>
                  </a:lnTo>
                  <a:lnTo>
                    <a:pt x="12573" y="258127"/>
                  </a:lnTo>
                  <a:lnTo>
                    <a:pt x="26360" y="290607"/>
                  </a:lnTo>
                  <a:lnTo>
                    <a:pt x="43434" y="302513"/>
                  </a:lnTo>
                  <a:lnTo>
                    <a:pt x="60067" y="290607"/>
                  </a:lnTo>
                  <a:lnTo>
                    <a:pt x="73628" y="258127"/>
                  </a:lnTo>
                  <a:lnTo>
                    <a:pt x="82760" y="209930"/>
                  </a:lnTo>
                  <a:lnTo>
                    <a:pt x="86106" y="150875"/>
                  </a:lnTo>
                  <a:close/>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69" name="object 69"/>
            <p:cNvSpPr/>
            <p:nvPr/>
          </p:nvSpPr>
          <p:spPr>
            <a:xfrm>
              <a:off x="2352294" y="4627626"/>
              <a:ext cx="1999614" cy="0"/>
            </a:xfrm>
            <a:custGeom>
              <a:avLst/>
              <a:gdLst/>
              <a:ahLst/>
              <a:cxnLst/>
              <a:rect l="l" t="t" r="r" b="b"/>
              <a:pathLst>
                <a:path w="1999614">
                  <a:moveTo>
                    <a:pt x="0" y="0"/>
                  </a:moveTo>
                  <a:lnTo>
                    <a:pt x="1999488"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0" name="object 70"/>
            <p:cNvSpPr/>
            <p:nvPr/>
          </p:nvSpPr>
          <p:spPr>
            <a:xfrm>
              <a:off x="2337053" y="4930140"/>
              <a:ext cx="2014855" cy="0"/>
            </a:xfrm>
            <a:custGeom>
              <a:avLst/>
              <a:gdLst/>
              <a:ahLst/>
              <a:cxnLst/>
              <a:rect l="l" t="t" r="r" b="b"/>
              <a:pathLst>
                <a:path w="2014854">
                  <a:moveTo>
                    <a:pt x="2014727" y="0"/>
                  </a:moveTo>
                  <a:lnTo>
                    <a:pt x="0"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1" name="object 71"/>
            <p:cNvSpPr/>
            <p:nvPr/>
          </p:nvSpPr>
          <p:spPr>
            <a:xfrm>
              <a:off x="4351781" y="4627626"/>
              <a:ext cx="43815" cy="302895"/>
            </a:xfrm>
            <a:custGeom>
              <a:avLst/>
              <a:gdLst/>
              <a:ahLst/>
              <a:cxnLst/>
              <a:rect l="l" t="t" r="r" b="b"/>
              <a:pathLst>
                <a:path w="43814" h="302895">
                  <a:moveTo>
                    <a:pt x="0" y="0"/>
                  </a:moveTo>
                  <a:lnTo>
                    <a:pt x="16752" y="11501"/>
                  </a:lnTo>
                  <a:lnTo>
                    <a:pt x="30575" y="42862"/>
                  </a:lnTo>
                  <a:lnTo>
                    <a:pt x="39969" y="89368"/>
                  </a:lnTo>
                  <a:lnTo>
                    <a:pt x="43434" y="146304"/>
                  </a:lnTo>
                  <a:lnTo>
                    <a:pt x="40231" y="207037"/>
                  </a:lnTo>
                  <a:lnTo>
                    <a:pt x="31527" y="256698"/>
                  </a:lnTo>
                  <a:lnTo>
                    <a:pt x="18680" y="290214"/>
                  </a:lnTo>
                  <a:lnTo>
                    <a:pt x="3048" y="302514"/>
                  </a:lnTo>
                  <a:lnTo>
                    <a:pt x="2286" y="302514"/>
                  </a:lnTo>
                  <a:lnTo>
                    <a:pt x="762" y="302514"/>
                  </a:lnTo>
                  <a:lnTo>
                    <a:pt x="0" y="302514"/>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2" name="object 72"/>
            <p:cNvSpPr/>
            <p:nvPr/>
          </p:nvSpPr>
          <p:spPr>
            <a:xfrm>
              <a:off x="2218944" y="4778502"/>
              <a:ext cx="74930" cy="0"/>
            </a:xfrm>
            <a:custGeom>
              <a:avLst/>
              <a:gdLst/>
              <a:ahLst/>
              <a:cxnLst/>
              <a:rect l="l" t="t" r="r" b="b"/>
              <a:pathLst>
                <a:path w="74930">
                  <a:moveTo>
                    <a:pt x="0" y="0"/>
                  </a:moveTo>
                  <a:lnTo>
                    <a:pt x="74675"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3" name="object 73"/>
            <p:cNvSpPr/>
            <p:nvPr/>
          </p:nvSpPr>
          <p:spPr>
            <a:xfrm>
              <a:off x="4488941" y="4403598"/>
              <a:ext cx="744855" cy="750570"/>
            </a:xfrm>
            <a:custGeom>
              <a:avLst/>
              <a:gdLst/>
              <a:ahLst/>
              <a:cxnLst/>
              <a:rect l="l" t="t" r="r" b="b"/>
              <a:pathLst>
                <a:path w="744854" h="750570">
                  <a:moveTo>
                    <a:pt x="0" y="0"/>
                  </a:moveTo>
                  <a:lnTo>
                    <a:pt x="744474" y="374903"/>
                  </a:lnTo>
                  <a:lnTo>
                    <a:pt x="0" y="750570"/>
                  </a:lnTo>
                  <a:lnTo>
                    <a:pt x="0" y="0"/>
                  </a:lnTo>
                  <a:close/>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4" name="object 74"/>
            <p:cNvSpPr/>
            <p:nvPr/>
          </p:nvSpPr>
          <p:spPr>
            <a:xfrm>
              <a:off x="4395215" y="4773930"/>
              <a:ext cx="93980" cy="5080"/>
            </a:xfrm>
            <a:custGeom>
              <a:avLst/>
              <a:gdLst/>
              <a:ahLst/>
              <a:cxnLst/>
              <a:rect l="l" t="t" r="r" b="b"/>
              <a:pathLst>
                <a:path w="93979" h="5079">
                  <a:moveTo>
                    <a:pt x="-19856" y="2286"/>
                  </a:moveTo>
                  <a:lnTo>
                    <a:pt x="113582" y="2286"/>
                  </a:lnTo>
                </a:path>
              </a:pathLst>
            </a:custGeom>
            <a:ln w="44284">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5" name="object 75"/>
            <p:cNvSpPr/>
            <p:nvPr/>
          </p:nvSpPr>
          <p:spPr>
            <a:xfrm>
              <a:off x="4617720" y="4777740"/>
              <a:ext cx="208279" cy="0"/>
            </a:xfrm>
            <a:custGeom>
              <a:avLst/>
              <a:gdLst/>
              <a:ahLst/>
              <a:cxnLst/>
              <a:rect l="l" t="t" r="r" b="b"/>
              <a:pathLst>
                <a:path w="208279">
                  <a:moveTo>
                    <a:pt x="0" y="0"/>
                  </a:moveTo>
                  <a:lnTo>
                    <a:pt x="208026" y="0"/>
                  </a:lnTo>
                </a:path>
              </a:pathLst>
            </a:custGeom>
            <a:ln w="38176">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6" name="object 76"/>
            <p:cNvSpPr/>
            <p:nvPr/>
          </p:nvSpPr>
          <p:spPr>
            <a:xfrm>
              <a:off x="4558284" y="4627626"/>
              <a:ext cx="267970" cy="330200"/>
            </a:xfrm>
            <a:custGeom>
              <a:avLst/>
              <a:gdLst/>
              <a:ahLst/>
              <a:cxnLst/>
              <a:rect l="l" t="t" r="r" b="b"/>
              <a:pathLst>
                <a:path w="267970" h="330200">
                  <a:moveTo>
                    <a:pt x="267462" y="0"/>
                  </a:moveTo>
                  <a:lnTo>
                    <a:pt x="182880" y="0"/>
                  </a:lnTo>
                  <a:lnTo>
                    <a:pt x="89154" y="329946"/>
                  </a:lnTo>
                  <a:lnTo>
                    <a:pt x="0" y="329946"/>
                  </a:lnTo>
                </a:path>
              </a:pathLst>
            </a:custGeom>
            <a:ln w="38176">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7" name="object 77"/>
            <p:cNvSpPr/>
            <p:nvPr/>
          </p:nvSpPr>
          <p:spPr>
            <a:xfrm>
              <a:off x="1455420" y="4403598"/>
              <a:ext cx="744855" cy="750570"/>
            </a:xfrm>
            <a:custGeom>
              <a:avLst/>
              <a:gdLst/>
              <a:ahLst/>
              <a:cxnLst/>
              <a:rect l="l" t="t" r="r" b="b"/>
              <a:pathLst>
                <a:path w="744855" h="750570">
                  <a:moveTo>
                    <a:pt x="0" y="0"/>
                  </a:moveTo>
                  <a:lnTo>
                    <a:pt x="744474" y="374903"/>
                  </a:lnTo>
                  <a:lnTo>
                    <a:pt x="0" y="750570"/>
                  </a:lnTo>
                  <a:lnTo>
                    <a:pt x="0" y="0"/>
                  </a:lnTo>
                  <a:close/>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8" name="object 78"/>
            <p:cNvSpPr/>
            <p:nvPr/>
          </p:nvSpPr>
          <p:spPr>
            <a:xfrm>
              <a:off x="1354836" y="4778502"/>
              <a:ext cx="100965" cy="0"/>
            </a:xfrm>
            <a:custGeom>
              <a:avLst/>
              <a:gdLst/>
              <a:ahLst/>
              <a:cxnLst/>
              <a:rect l="l" t="t" r="r" b="b"/>
              <a:pathLst>
                <a:path w="100965">
                  <a:moveTo>
                    <a:pt x="0" y="0"/>
                  </a:moveTo>
                  <a:lnTo>
                    <a:pt x="100584"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79" name="object 79"/>
            <p:cNvSpPr/>
            <p:nvPr/>
          </p:nvSpPr>
          <p:spPr>
            <a:xfrm>
              <a:off x="5233415" y="4778502"/>
              <a:ext cx="93980" cy="5715"/>
            </a:xfrm>
            <a:custGeom>
              <a:avLst/>
              <a:gdLst/>
              <a:ahLst/>
              <a:cxnLst/>
              <a:rect l="l" t="t" r="r" b="b"/>
              <a:pathLst>
                <a:path w="93979" h="5714">
                  <a:moveTo>
                    <a:pt x="-19856" y="2666"/>
                  </a:moveTo>
                  <a:lnTo>
                    <a:pt x="113582" y="2666"/>
                  </a:lnTo>
                </a:path>
              </a:pathLst>
            </a:custGeom>
            <a:ln w="45046">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grpSp>
      <p:sp>
        <p:nvSpPr>
          <p:cNvPr id="80" name="object 80"/>
          <p:cNvSpPr txBox="1"/>
          <p:nvPr/>
        </p:nvSpPr>
        <p:spPr>
          <a:xfrm>
            <a:off x="1224025" y="3820160"/>
            <a:ext cx="1641475" cy="319959"/>
          </a:xfrm>
          <a:prstGeom prst="rect">
            <a:avLst/>
          </a:prstGeom>
        </p:spPr>
        <p:txBody>
          <a:bodyPr vert="horz" wrap="square" lIns="0" tIns="12065" rIns="0" bIns="0" rtlCol="0">
            <a:spAutoFit/>
          </a:bodyPr>
          <a:lstStyle/>
          <a:p>
            <a:pPr marL="12700" defTabSz="548626">
              <a:spcBef>
                <a:spcPts val="95"/>
              </a:spcBef>
            </a:pPr>
            <a:r>
              <a:rPr sz="2000" spc="-5" dirty="0">
                <a:solidFill>
                  <a:srgbClr val="00B04F"/>
                </a:solidFill>
                <a:latin typeface="Verdana"/>
                <a:cs typeface="Verdana"/>
              </a:rPr>
              <a:t>0</a:t>
            </a:r>
            <a:r>
              <a:rPr sz="2000" spc="-5" dirty="0">
                <a:solidFill>
                  <a:srgbClr val="0000FF"/>
                </a:solidFill>
                <a:latin typeface="Verdana"/>
                <a:cs typeface="Verdana"/>
              </a:rPr>
              <a:t>1</a:t>
            </a:r>
            <a:r>
              <a:rPr sz="2000" spc="-5" dirty="0">
                <a:solidFill>
                  <a:srgbClr val="00B04F"/>
                </a:solidFill>
                <a:latin typeface="Verdana"/>
                <a:cs typeface="Verdana"/>
              </a:rPr>
              <a:t>00000000</a:t>
            </a:r>
            <a:endParaRPr sz="2000">
              <a:solidFill>
                <a:srgbClr val="3C3C3B"/>
              </a:solidFill>
              <a:latin typeface="Verdana"/>
              <a:cs typeface="Verdana"/>
            </a:endParaRPr>
          </a:p>
        </p:txBody>
      </p:sp>
      <p:grpSp>
        <p:nvGrpSpPr>
          <p:cNvPr id="81" name="object 81"/>
          <p:cNvGrpSpPr/>
          <p:nvPr/>
        </p:nvGrpSpPr>
        <p:grpSpPr>
          <a:xfrm>
            <a:off x="1258061" y="1374070"/>
            <a:ext cx="1849755" cy="2338071"/>
            <a:chOff x="1258061" y="1374070"/>
            <a:chExt cx="1849755" cy="2338070"/>
          </a:xfrm>
        </p:grpSpPr>
        <p:sp>
          <p:nvSpPr>
            <p:cNvPr id="82" name="object 82"/>
            <p:cNvSpPr/>
            <p:nvPr/>
          </p:nvSpPr>
          <p:spPr>
            <a:xfrm>
              <a:off x="1258061" y="3696461"/>
              <a:ext cx="142875" cy="0"/>
            </a:xfrm>
            <a:custGeom>
              <a:avLst/>
              <a:gdLst/>
              <a:ahLst/>
              <a:cxnLst/>
              <a:rect l="l" t="t" r="r" b="b"/>
              <a:pathLst>
                <a:path w="142875">
                  <a:moveTo>
                    <a:pt x="0" y="0"/>
                  </a:moveTo>
                  <a:lnTo>
                    <a:pt x="142494"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83" name="object 83"/>
            <p:cNvSpPr/>
            <p:nvPr/>
          </p:nvSpPr>
          <p:spPr>
            <a:xfrm>
              <a:off x="1543049" y="3696461"/>
              <a:ext cx="1564640" cy="0"/>
            </a:xfrm>
            <a:custGeom>
              <a:avLst/>
              <a:gdLst/>
              <a:ahLst/>
              <a:cxnLst/>
              <a:rect l="l" t="t" r="r" b="b"/>
              <a:pathLst>
                <a:path w="1564639">
                  <a:moveTo>
                    <a:pt x="0" y="0"/>
                  </a:moveTo>
                  <a:lnTo>
                    <a:pt x="1564386"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84" name="object 84"/>
            <p:cNvSpPr/>
            <p:nvPr/>
          </p:nvSpPr>
          <p:spPr>
            <a:xfrm>
              <a:off x="1400555" y="1389126"/>
              <a:ext cx="149860" cy="2307590"/>
            </a:xfrm>
            <a:custGeom>
              <a:avLst/>
              <a:gdLst/>
              <a:ahLst/>
              <a:cxnLst/>
              <a:rect l="l" t="t" r="r" b="b"/>
              <a:pathLst>
                <a:path w="149859" h="2307590">
                  <a:moveTo>
                    <a:pt x="0" y="2307336"/>
                  </a:moveTo>
                  <a:lnTo>
                    <a:pt x="0" y="0"/>
                  </a:lnTo>
                  <a:lnTo>
                    <a:pt x="149352" y="0"/>
                  </a:lnTo>
                  <a:lnTo>
                    <a:pt x="149352" y="2307336"/>
                  </a:lnTo>
                </a:path>
              </a:pathLst>
            </a:custGeom>
            <a:ln w="30111">
              <a:solidFill>
                <a:srgbClr val="0000FF"/>
              </a:solidFill>
            </a:ln>
          </p:spPr>
          <p:txBody>
            <a:bodyPr wrap="square" lIns="0" tIns="0" rIns="0" bIns="0" rtlCol="0"/>
            <a:lstStyle/>
            <a:p>
              <a:pPr defTabSz="548626"/>
              <a:endParaRPr sz="1620">
                <a:solidFill>
                  <a:srgbClr val="3C3C3B"/>
                </a:solidFill>
                <a:latin typeface="Gill Sans MT" panose="020B0502020104020203"/>
              </a:endParaRPr>
            </a:p>
          </p:txBody>
        </p:sp>
      </p:grpSp>
      <p:sp>
        <p:nvSpPr>
          <p:cNvPr id="85" name="object 85"/>
          <p:cNvSpPr txBox="1"/>
          <p:nvPr/>
        </p:nvSpPr>
        <p:spPr>
          <a:xfrm>
            <a:off x="5826506" y="3730245"/>
            <a:ext cx="3306445" cy="820096"/>
          </a:xfrm>
          <a:prstGeom prst="rect">
            <a:avLst/>
          </a:prstGeom>
        </p:spPr>
        <p:txBody>
          <a:bodyPr vert="horz" wrap="square" lIns="0" tIns="12065" rIns="0" bIns="0" rtlCol="0">
            <a:spAutoFit/>
          </a:bodyPr>
          <a:lstStyle/>
          <a:p>
            <a:pPr marL="680068" defTabSz="548626">
              <a:spcBef>
                <a:spcPts val="95"/>
              </a:spcBef>
            </a:pPr>
            <a:r>
              <a:rPr sz="2000" spc="-5" dirty="0">
                <a:solidFill>
                  <a:srgbClr val="00B04F"/>
                </a:solidFill>
                <a:latin typeface="Verdana"/>
                <a:cs typeface="Verdana"/>
              </a:rPr>
              <a:t>…000</a:t>
            </a:r>
            <a:r>
              <a:rPr sz="2000" spc="-5" dirty="0">
                <a:solidFill>
                  <a:srgbClr val="0000FF"/>
                </a:solidFill>
                <a:latin typeface="Verdana"/>
                <a:cs typeface="Verdana"/>
              </a:rPr>
              <a:t>1</a:t>
            </a:r>
            <a:r>
              <a:rPr sz="2000" spc="-5" dirty="0">
                <a:solidFill>
                  <a:srgbClr val="00B04F"/>
                </a:solidFill>
                <a:latin typeface="Verdana"/>
                <a:cs typeface="Verdana"/>
              </a:rPr>
              <a:t>000…</a:t>
            </a:r>
            <a:endParaRPr sz="2000">
              <a:solidFill>
                <a:srgbClr val="3C3C3B"/>
              </a:solidFill>
              <a:latin typeface="Verdana"/>
              <a:cs typeface="Verdana"/>
            </a:endParaRPr>
          </a:p>
          <a:p>
            <a:pPr marL="12700" defTabSz="548626">
              <a:spcBef>
                <a:spcPts val="1465"/>
              </a:spcBef>
            </a:pPr>
            <a:r>
              <a:rPr sz="2000" spc="-5" dirty="0">
                <a:solidFill>
                  <a:srgbClr val="0000FF"/>
                </a:solidFill>
                <a:latin typeface="Verdana"/>
                <a:cs typeface="Verdana"/>
              </a:rPr>
              <a:t>Single bit </a:t>
            </a:r>
            <a:r>
              <a:rPr sz="2000" spc="-11" dirty="0">
                <a:solidFill>
                  <a:srgbClr val="0000FF"/>
                </a:solidFill>
                <a:latin typeface="Verdana"/>
                <a:cs typeface="Verdana"/>
              </a:rPr>
              <a:t>response</a:t>
            </a:r>
            <a:r>
              <a:rPr sz="2000" dirty="0">
                <a:solidFill>
                  <a:srgbClr val="0000FF"/>
                </a:solidFill>
                <a:latin typeface="Verdana"/>
                <a:cs typeface="Verdana"/>
              </a:rPr>
              <a:t> </a:t>
            </a:r>
            <a:r>
              <a:rPr sz="2000" spc="-11" dirty="0">
                <a:solidFill>
                  <a:srgbClr val="0000FF"/>
                </a:solidFill>
                <a:latin typeface="Verdana"/>
                <a:cs typeface="Verdana"/>
              </a:rPr>
              <a:t>(SBR)</a:t>
            </a:r>
            <a:endParaRPr sz="2000">
              <a:solidFill>
                <a:srgbClr val="3C3C3B"/>
              </a:solidFill>
              <a:latin typeface="Verdana"/>
              <a:cs typeface="Verdana"/>
            </a:endParaRPr>
          </a:p>
        </p:txBody>
      </p:sp>
      <p:sp>
        <p:nvSpPr>
          <p:cNvPr id="86" name="object 86"/>
          <p:cNvSpPr txBox="1"/>
          <p:nvPr/>
        </p:nvSpPr>
        <p:spPr>
          <a:xfrm>
            <a:off x="7163807" y="1509003"/>
            <a:ext cx="187325" cy="319959"/>
          </a:xfrm>
          <a:prstGeom prst="rect">
            <a:avLst/>
          </a:prstGeom>
        </p:spPr>
        <p:txBody>
          <a:bodyPr vert="horz" wrap="square" lIns="0" tIns="12065" rIns="0" bIns="0" rtlCol="0">
            <a:spAutoFit/>
          </a:bodyPr>
          <a:lstStyle/>
          <a:p>
            <a:pPr marL="12700" defTabSz="548626">
              <a:spcBef>
                <a:spcPts val="95"/>
              </a:spcBef>
            </a:pPr>
            <a:r>
              <a:rPr sz="2000" spc="-5" dirty="0">
                <a:solidFill>
                  <a:srgbClr val="0000FF"/>
                </a:solidFill>
                <a:latin typeface="Verdana"/>
                <a:cs typeface="Verdana"/>
              </a:rPr>
              <a:t>1</a:t>
            </a:r>
            <a:endParaRPr sz="2000">
              <a:solidFill>
                <a:srgbClr val="3C3C3B"/>
              </a:solidFill>
              <a:latin typeface="Verdana"/>
              <a:cs typeface="Verdana"/>
            </a:endParaRPr>
          </a:p>
        </p:txBody>
      </p:sp>
      <p:sp>
        <p:nvSpPr>
          <p:cNvPr id="87" name="object 87"/>
          <p:cNvSpPr txBox="1"/>
          <p:nvPr/>
        </p:nvSpPr>
        <p:spPr>
          <a:xfrm>
            <a:off x="7400804" y="2789913"/>
            <a:ext cx="187325" cy="319959"/>
          </a:xfrm>
          <a:prstGeom prst="rect">
            <a:avLst/>
          </a:prstGeom>
        </p:spPr>
        <p:txBody>
          <a:bodyPr vert="horz" wrap="square" lIns="0" tIns="12065" rIns="0" bIns="0" rtlCol="0">
            <a:spAutoFit/>
          </a:bodyPr>
          <a:lstStyle/>
          <a:p>
            <a:pPr marL="12700" defTabSz="548626">
              <a:spcBef>
                <a:spcPts val="95"/>
              </a:spcBef>
            </a:pPr>
            <a:r>
              <a:rPr sz="2000" spc="-5" dirty="0">
                <a:solidFill>
                  <a:srgbClr val="00B04F"/>
                </a:solidFill>
                <a:latin typeface="Verdana"/>
                <a:cs typeface="Verdana"/>
              </a:rPr>
              <a:t>0</a:t>
            </a:r>
            <a:endParaRPr sz="2000">
              <a:solidFill>
                <a:srgbClr val="3C3C3B"/>
              </a:solidFill>
              <a:latin typeface="Verdana"/>
              <a:cs typeface="Verdana"/>
            </a:endParaRPr>
          </a:p>
        </p:txBody>
      </p:sp>
      <p:sp>
        <p:nvSpPr>
          <p:cNvPr id="88" name="object 88"/>
          <p:cNvSpPr txBox="1"/>
          <p:nvPr/>
        </p:nvSpPr>
        <p:spPr>
          <a:xfrm>
            <a:off x="6450590" y="2689049"/>
            <a:ext cx="1376045" cy="916276"/>
          </a:xfrm>
          <a:prstGeom prst="rect">
            <a:avLst/>
          </a:prstGeom>
        </p:spPr>
        <p:txBody>
          <a:bodyPr vert="horz" wrap="square" lIns="0" tIns="158115" rIns="0" bIns="0" rtlCol="0">
            <a:spAutoFit/>
          </a:bodyPr>
          <a:lstStyle/>
          <a:p>
            <a:pPr marR="181606" algn="ctr" defTabSz="548626">
              <a:spcBef>
                <a:spcPts val="1245"/>
              </a:spcBef>
            </a:pPr>
            <a:r>
              <a:rPr sz="2000" spc="-5" dirty="0">
                <a:solidFill>
                  <a:srgbClr val="00B04F"/>
                </a:solidFill>
                <a:latin typeface="Verdana"/>
                <a:cs typeface="Verdana"/>
              </a:rPr>
              <a:t>0</a:t>
            </a:r>
            <a:endParaRPr sz="2000">
              <a:solidFill>
                <a:srgbClr val="3C3C3B"/>
              </a:solidFill>
              <a:latin typeface="Verdana"/>
              <a:cs typeface="Verdana"/>
            </a:endParaRPr>
          </a:p>
          <a:p>
            <a:pPr marL="50799" defTabSz="548626">
              <a:spcBef>
                <a:spcPts val="1145"/>
              </a:spcBef>
              <a:tabLst>
                <a:tab pos="1175991" algn="l"/>
              </a:tabLst>
            </a:pPr>
            <a:r>
              <a:rPr sz="3000" spc="-7" baseline="1388" dirty="0">
                <a:solidFill>
                  <a:srgbClr val="00B04F"/>
                </a:solidFill>
                <a:latin typeface="Verdana"/>
                <a:cs typeface="Verdana"/>
              </a:rPr>
              <a:t>…</a:t>
            </a:r>
            <a:r>
              <a:rPr sz="3000" spc="-315" baseline="1388" dirty="0">
                <a:solidFill>
                  <a:srgbClr val="00B04F"/>
                </a:solidFill>
                <a:latin typeface="Verdana"/>
                <a:cs typeface="Verdana"/>
              </a:rPr>
              <a:t> </a:t>
            </a:r>
            <a:r>
              <a:rPr sz="3000" spc="-165" baseline="1388" dirty="0">
                <a:solidFill>
                  <a:srgbClr val="00B04F"/>
                </a:solidFill>
                <a:latin typeface="Verdana"/>
                <a:cs typeface="Verdana"/>
              </a:rPr>
              <a:t>0</a:t>
            </a:r>
            <a:r>
              <a:rPr sz="3000" spc="-165" baseline="29166" dirty="0">
                <a:solidFill>
                  <a:srgbClr val="00B04F"/>
                </a:solidFill>
                <a:latin typeface="Verdana"/>
                <a:cs typeface="Verdana"/>
              </a:rPr>
              <a:t>0	</a:t>
            </a:r>
            <a:r>
              <a:rPr sz="2000" spc="-5" dirty="0">
                <a:solidFill>
                  <a:srgbClr val="00B04F"/>
                </a:solidFill>
                <a:latin typeface="Verdana"/>
                <a:cs typeface="Verdana"/>
              </a:rPr>
              <a:t>0</a:t>
            </a:r>
            <a:endParaRPr sz="2000">
              <a:solidFill>
                <a:srgbClr val="3C3C3B"/>
              </a:solidFill>
              <a:latin typeface="Verdana"/>
              <a:cs typeface="Verdana"/>
            </a:endParaRPr>
          </a:p>
        </p:txBody>
      </p:sp>
      <p:sp>
        <p:nvSpPr>
          <p:cNvPr id="89" name="object 89"/>
          <p:cNvSpPr txBox="1"/>
          <p:nvPr/>
        </p:nvSpPr>
        <p:spPr>
          <a:xfrm>
            <a:off x="7453888" y="3100042"/>
            <a:ext cx="598805" cy="319959"/>
          </a:xfrm>
          <a:prstGeom prst="rect">
            <a:avLst/>
          </a:prstGeom>
        </p:spPr>
        <p:txBody>
          <a:bodyPr vert="horz" wrap="square" lIns="0" tIns="12065" rIns="0" bIns="0" rtlCol="0">
            <a:spAutoFit/>
          </a:bodyPr>
          <a:lstStyle/>
          <a:p>
            <a:pPr marL="38099" defTabSz="548626">
              <a:spcBef>
                <a:spcPts val="95"/>
              </a:spcBef>
              <a:tabLst>
                <a:tab pos="352417" algn="l"/>
              </a:tabLst>
            </a:pPr>
            <a:r>
              <a:rPr sz="2000" spc="-5" dirty="0">
                <a:solidFill>
                  <a:srgbClr val="00B04F"/>
                </a:solidFill>
                <a:latin typeface="Verdana"/>
                <a:cs typeface="Verdana"/>
              </a:rPr>
              <a:t>0	</a:t>
            </a:r>
            <a:r>
              <a:rPr sz="3000" spc="-7" baseline="-38888" dirty="0">
                <a:solidFill>
                  <a:srgbClr val="00B04F"/>
                </a:solidFill>
                <a:latin typeface="Verdana"/>
                <a:cs typeface="Verdana"/>
              </a:rPr>
              <a:t>…</a:t>
            </a:r>
            <a:endParaRPr sz="3000" baseline="-38888">
              <a:solidFill>
                <a:srgbClr val="3C3C3B"/>
              </a:solidFill>
              <a:latin typeface="Verdana"/>
              <a:cs typeface="Verdana"/>
            </a:endParaRPr>
          </a:p>
        </p:txBody>
      </p:sp>
      <p:sp>
        <p:nvSpPr>
          <p:cNvPr id="90" name="object 90"/>
          <p:cNvSpPr txBox="1"/>
          <p:nvPr/>
        </p:nvSpPr>
        <p:spPr>
          <a:xfrm>
            <a:off x="8812014" y="1348965"/>
            <a:ext cx="1851660" cy="319959"/>
          </a:xfrm>
          <a:prstGeom prst="rect">
            <a:avLst/>
          </a:prstGeom>
        </p:spPr>
        <p:txBody>
          <a:bodyPr vert="horz" wrap="square" lIns="0" tIns="12065" rIns="0" bIns="0" rtlCol="0">
            <a:spAutoFit/>
          </a:bodyPr>
          <a:lstStyle/>
          <a:p>
            <a:pPr marL="12700" defTabSz="548626">
              <a:spcBef>
                <a:spcPts val="95"/>
              </a:spcBef>
            </a:pPr>
            <a:r>
              <a:rPr sz="2000" b="1" spc="-5" dirty="0">
                <a:solidFill>
                  <a:srgbClr val="0000FF"/>
                </a:solidFill>
                <a:latin typeface="Verdana"/>
                <a:cs typeface="Verdana"/>
              </a:rPr>
              <a:t>Desired</a:t>
            </a:r>
            <a:r>
              <a:rPr sz="2000" b="1" spc="-15" dirty="0">
                <a:solidFill>
                  <a:srgbClr val="0000FF"/>
                </a:solidFill>
                <a:latin typeface="Verdana"/>
                <a:cs typeface="Verdana"/>
              </a:rPr>
              <a:t> </a:t>
            </a:r>
            <a:r>
              <a:rPr sz="2000" b="1" spc="-5" dirty="0">
                <a:solidFill>
                  <a:srgbClr val="0000FF"/>
                </a:solidFill>
                <a:latin typeface="Verdana"/>
                <a:cs typeface="Verdana"/>
              </a:rPr>
              <a:t>1</a:t>
            </a:r>
            <a:r>
              <a:rPr sz="2000" b="1" spc="-20" dirty="0">
                <a:solidFill>
                  <a:srgbClr val="0000FF"/>
                </a:solidFill>
                <a:latin typeface="Verdana"/>
                <a:cs typeface="Verdana"/>
              </a:rPr>
              <a:t> </a:t>
            </a:r>
            <a:r>
              <a:rPr sz="2000" b="1" spc="-5" dirty="0">
                <a:solidFill>
                  <a:srgbClr val="0000FF"/>
                </a:solidFill>
                <a:latin typeface="Verdana"/>
                <a:cs typeface="Verdana"/>
              </a:rPr>
              <a:t>bit</a:t>
            </a:r>
            <a:endParaRPr sz="2000">
              <a:solidFill>
                <a:srgbClr val="3C3C3B"/>
              </a:solidFill>
              <a:latin typeface="Verdana"/>
              <a:cs typeface="Verdana"/>
            </a:endParaRPr>
          </a:p>
        </p:txBody>
      </p:sp>
      <p:sp>
        <p:nvSpPr>
          <p:cNvPr id="91" name="object 91"/>
          <p:cNvSpPr/>
          <p:nvPr/>
        </p:nvSpPr>
        <p:spPr>
          <a:xfrm>
            <a:off x="7424167" y="1437894"/>
            <a:ext cx="1206500" cy="280671"/>
          </a:xfrm>
          <a:custGeom>
            <a:avLst/>
            <a:gdLst/>
            <a:ahLst/>
            <a:cxnLst/>
            <a:rect l="l" t="t" r="r" b="b"/>
            <a:pathLst>
              <a:path w="1206500" h="280669">
                <a:moveTo>
                  <a:pt x="1206246" y="99060"/>
                </a:moveTo>
                <a:lnTo>
                  <a:pt x="1194054" y="0"/>
                </a:lnTo>
                <a:lnTo>
                  <a:pt x="92964" y="131826"/>
                </a:lnTo>
                <a:lnTo>
                  <a:pt x="86867" y="82296"/>
                </a:lnTo>
                <a:lnTo>
                  <a:pt x="0" y="193548"/>
                </a:lnTo>
                <a:lnTo>
                  <a:pt x="111252" y="280416"/>
                </a:lnTo>
                <a:lnTo>
                  <a:pt x="105155" y="230886"/>
                </a:lnTo>
                <a:lnTo>
                  <a:pt x="1206246" y="99060"/>
                </a:lnTo>
                <a:close/>
              </a:path>
            </a:pathLst>
          </a:custGeom>
          <a:solidFill>
            <a:srgbClr val="0000FF"/>
          </a:solidFill>
        </p:spPr>
        <p:txBody>
          <a:bodyPr wrap="square" lIns="0" tIns="0" rIns="0" bIns="0" rtlCol="0"/>
          <a:lstStyle/>
          <a:p>
            <a:pPr defTabSz="548626"/>
            <a:endParaRPr sz="1620">
              <a:solidFill>
                <a:srgbClr val="3C3C3B"/>
              </a:solidFill>
              <a:latin typeface="Gill Sans MT" panose="020B0502020104020203"/>
            </a:endParaRPr>
          </a:p>
        </p:txBody>
      </p:sp>
      <p:sp>
        <p:nvSpPr>
          <p:cNvPr id="92" name="Slide Number Placeholder 91"/>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17</a:t>
            </a:fld>
            <a:endParaRPr lang="en-US" spc="-50" dirty="0"/>
          </a:p>
        </p:txBody>
      </p:sp>
      <p:sp>
        <p:nvSpPr>
          <p:cNvPr id="93" name="Date Placeholder 92"/>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94" name="Footer Placeholder 93"/>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803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65" grpId="0"/>
      <p:bldP spid="66" grpId="0"/>
      <p:bldP spid="80" grpId="0"/>
      <p:bldP spid="85" grpId="0"/>
      <p:bldP spid="86" grpId="0"/>
      <p:bldP spid="87" grpId="0"/>
      <p:bldP spid="88" grpId="0"/>
      <p:bldP spid="89" grpId="0"/>
      <p:bldP spid="90" grpId="0"/>
      <p:bldP spid="9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878067" y="3696461"/>
            <a:ext cx="2837180" cy="0"/>
          </a:xfrm>
          <a:custGeom>
            <a:avLst/>
            <a:gdLst/>
            <a:ahLst/>
            <a:cxnLst/>
            <a:rect l="l" t="t" r="r" b="b"/>
            <a:pathLst>
              <a:path w="2837179">
                <a:moveTo>
                  <a:pt x="0" y="0"/>
                </a:moveTo>
                <a:lnTo>
                  <a:pt x="2836926"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3" name="object 3"/>
          <p:cNvSpPr/>
          <p:nvPr/>
        </p:nvSpPr>
        <p:spPr>
          <a:xfrm>
            <a:off x="5878067" y="1347216"/>
            <a:ext cx="2837180" cy="0"/>
          </a:xfrm>
          <a:custGeom>
            <a:avLst/>
            <a:gdLst/>
            <a:ahLst/>
            <a:cxnLst/>
            <a:rect l="l" t="t" r="r" b="b"/>
            <a:pathLst>
              <a:path w="2837179">
                <a:moveTo>
                  <a:pt x="0" y="0"/>
                </a:moveTo>
                <a:lnTo>
                  <a:pt x="2836926"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4" name="object 4"/>
          <p:cNvSpPr/>
          <p:nvPr/>
        </p:nvSpPr>
        <p:spPr>
          <a:xfrm>
            <a:off x="5878067"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5" name="object 5"/>
          <p:cNvSpPr/>
          <p:nvPr/>
        </p:nvSpPr>
        <p:spPr>
          <a:xfrm>
            <a:off x="6232397"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6" name="object 6"/>
          <p:cNvSpPr/>
          <p:nvPr/>
        </p:nvSpPr>
        <p:spPr>
          <a:xfrm>
            <a:off x="6587491"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7" name="object 7"/>
          <p:cNvSpPr/>
          <p:nvPr/>
        </p:nvSpPr>
        <p:spPr>
          <a:xfrm>
            <a:off x="6941819"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8" name="object 8"/>
          <p:cNvSpPr/>
          <p:nvPr/>
        </p:nvSpPr>
        <p:spPr>
          <a:xfrm>
            <a:off x="7296151"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9" name="object 9"/>
          <p:cNvSpPr/>
          <p:nvPr/>
        </p:nvSpPr>
        <p:spPr>
          <a:xfrm>
            <a:off x="7651243"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0" name="object 10"/>
          <p:cNvSpPr/>
          <p:nvPr/>
        </p:nvSpPr>
        <p:spPr>
          <a:xfrm>
            <a:off x="8005571"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1" name="object 11"/>
          <p:cNvSpPr/>
          <p:nvPr/>
        </p:nvSpPr>
        <p:spPr>
          <a:xfrm>
            <a:off x="8359903"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2" name="object 12"/>
          <p:cNvSpPr/>
          <p:nvPr/>
        </p:nvSpPr>
        <p:spPr>
          <a:xfrm>
            <a:off x="8714993" y="3667506"/>
            <a:ext cx="0" cy="29209"/>
          </a:xfrm>
          <a:custGeom>
            <a:avLst/>
            <a:gdLst/>
            <a:ahLst/>
            <a:cxnLst/>
            <a:rect l="l" t="t" r="r" b="b"/>
            <a:pathLst>
              <a:path h="29210">
                <a:moveTo>
                  <a:pt x="0" y="2895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3" name="object 13"/>
          <p:cNvSpPr/>
          <p:nvPr/>
        </p:nvSpPr>
        <p:spPr>
          <a:xfrm>
            <a:off x="5878067"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4" name="object 14"/>
          <p:cNvSpPr/>
          <p:nvPr/>
        </p:nvSpPr>
        <p:spPr>
          <a:xfrm>
            <a:off x="6232397"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5" name="object 15"/>
          <p:cNvSpPr/>
          <p:nvPr/>
        </p:nvSpPr>
        <p:spPr>
          <a:xfrm>
            <a:off x="6587491"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6" name="object 16"/>
          <p:cNvSpPr/>
          <p:nvPr/>
        </p:nvSpPr>
        <p:spPr>
          <a:xfrm>
            <a:off x="6941819"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7" name="object 17"/>
          <p:cNvSpPr/>
          <p:nvPr/>
        </p:nvSpPr>
        <p:spPr>
          <a:xfrm>
            <a:off x="7296151"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8" name="object 18"/>
          <p:cNvSpPr/>
          <p:nvPr/>
        </p:nvSpPr>
        <p:spPr>
          <a:xfrm>
            <a:off x="7651243"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19" name="object 19"/>
          <p:cNvSpPr/>
          <p:nvPr/>
        </p:nvSpPr>
        <p:spPr>
          <a:xfrm>
            <a:off x="8005571"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0" name="object 20"/>
          <p:cNvSpPr/>
          <p:nvPr/>
        </p:nvSpPr>
        <p:spPr>
          <a:xfrm>
            <a:off x="8359903"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1" name="object 21"/>
          <p:cNvSpPr/>
          <p:nvPr/>
        </p:nvSpPr>
        <p:spPr>
          <a:xfrm>
            <a:off x="8714993" y="1347216"/>
            <a:ext cx="0" cy="29845"/>
          </a:xfrm>
          <a:custGeom>
            <a:avLst/>
            <a:gdLst/>
            <a:ahLst/>
            <a:cxnLst/>
            <a:rect l="l" t="t" r="r" b="b"/>
            <a:pathLst>
              <a:path h="29844">
                <a:moveTo>
                  <a:pt x="0" y="0"/>
                </a:moveTo>
                <a:lnTo>
                  <a:pt x="0" y="29718"/>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2" name="object 22"/>
          <p:cNvSpPr/>
          <p:nvPr/>
        </p:nvSpPr>
        <p:spPr>
          <a:xfrm>
            <a:off x="5878067" y="1347217"/>
            <a:ext cx="0" cy="2349500"/>
          </a:xfrm>
          <a:custGeom>
            <a:avLst/>
            <a:gdLst/>
            <a:ahLst/>
            <a:cxnLst/>
            <a:rect l="l" t="t" r="r" b="b"/>
            <a:pathLst>
              <a:path h="2349500">
                <a:moveTo>
                  <a:pt x="0" y="234924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3" name="object 23"/>
          <p:cNvSpPr/>
          <p:nvPr/>
        </p:nvSpPr>
        <p:spPr>
          <a:xfrm>
            <a:off x="8714993" y="1347217"/>
            <a:ext cx="0" cy="2349500"/>
          </a:xfrm>
          <a:custGeom>
            <a:avLst/>
            <a:gdLst/>
            <a:ahLst/>
            <a:cxnLst/>
            <a:rect l="l" t="t" r="r" b="b"/>
            <a:pathLst>
              <a:path h="2349500">
                <a:moveTo>
                  <a:pt x="0" y="2349246"/>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4" name="object 24"/>
          <p:cNvSpPr/>
          <p:nvPr/>
        </p:nvSpPr>
        <p:spPr>
          <a:xfrm>
            <a:off x="5878069" y="1347216"/>
            <a:ext cx="29209" cy="0"/>
          </a:xfrm>
          <a:custGeom>
            <a:avLst/>
            <a:gdLst/>
            <a:ahLst/>
            <a:cxnLst/>
            <a:rect l="l" t="t" r="r" b="b"/>
            <a:pathLst>
              <a:path w="29210">
                <a:moveTo>
                  <a:pt x="0" y="0"/>
                </a:moveTo>
                <a:lnTo>
                  <a:pt x="28956"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sp>
        <p:nvSpPr>
          <p:cNvPr id="25" name="object 25"/>
          <p:cNvSpPr/>
          <p:nvPr/>
        </p:nvSpPr>
        <p:spPr>
          <a:xfrm>
            <a:off x="8686802" y="1347216"/>
            <a:ext cx="28575" cy="0"/>
          </a:xfrm>
          <a:custGeom>
            <a:avLst/>
            <a:gdLst/>
            <a:ahLst/>
            <a:cxnLst/>
            <a:rect l="l" t="t" r="r" b="b"/>
            <a:pathLst>
              <a:path w="28575">
                <a:moveTo>
                  <a:pt x="28194" y="0"/>
                </a:moveTo>
                <a:lnTo>
                  <a:pt x="0" y="0"/>
                </a:lnTo>
              </a:path>
            </a:pathLst>
          </a:custGeom>
          <a:ln w="6108">
            <a:solidFill>
              <a:srgbClr val="252525"/>
            </a:solidFill>
          </a:ln>
        </p:spPr>
        <p:txBody>
          <a:bodyPr wrap="square" lIns="0" tIns="0" rIns="0" bIns="0" rtlCol="0"/>
          <a:lstStyle/>
          <a:p>
            <a:pPr defTabSz="548626"/>
            <a:endParaRPr sz="1620">
              <a:solidFill>
                <a:srgbClr val="3C3C3B"/>
              </a:solidFill>
              <a:latin typeface="Gill Sans MT" panose="020B0502020104020203"/>
            </a:endParaRPr>
          </a:p>
        </p:txBody>
      </p:sp>
      <p:pic>
        <p:nvPicPr>
          <p:cNvPr id="26" name="object 26"/>
          <p:cNvPicPr/>
          <p:nvPr/>
        </p:nvPicPr>
        <p:blipFill>
          <a:blip r:embed="rId2" cstate="print"/>
          <a:stretch>
            <a:fillRect/>
          </a:stretch>
        </p:blipFill>
        <p:spPr>
          <a:xfrm>
            <a:off x="5868913" y="1692383"/>
            <a:ext cx="2871247" cy="2038388"/>
          </a:xfrm>
          <a:prstGeom prst="rect">
            <a:avLst/>
          </a:prstGeom>
        </p:spPr>
      </p:pic>
      <p:sp>
        <p:nvSpPr>
          <p:cNvPr id="27" name="object 27"/>
          <p:cNvSpPr txBox="1">
            <a:spLocks noGrp="1"/>
          </p:cNvSpPr>
          <p:nvPr>
            <p:ph type="title"/>
          </p:nvPr>
        </p:nvSpPr>
        <p:spPr>
          <a:xfrm>
            <a:off x="845313" y="310330"/>
            <a:ext cx="7272655" cy="596958"/>
          </a:xfrm>
          <a:prstGeom prst="rect">
            <a:avLst/>
          </a:prstGeom>
        </p:spPr>
        <p:txBody>
          <a:bodyPr vert="horz" wrap="square" lIns="0" tIns="12065" rIns="0" bIns="0" rtlCol="0" anchor="b" anchorCtr="0">
            <a:spAutoFit/>
          </a:bodyPr>
          <a:lstStyle/>
          <a:p>
            <a:pPr marL="12700">
              <a:spcBef>
                <a:spcPts val="95"/>
              </a:spcBef>
            </a:pPr>
            <a:r>
              <a:rPr sz="3800" spc="-5" dirty="0">
                <a:latin typeface="Verdana"/>
                <a:cs typeface="Verdana"/>
              </a:rPr>
              <a:t>Inter</a:t>
            </a:r>
            <a:r>
              <a:rPr sz="3800" spc="11" dirty="0">
                <a:latin typeface="Verdana"/>
                <a:cs typeface="Verdana"/>
              </a:rPr>
              <a:t> </a:t>
            </a:r>
            <a:r>
              <a:rPr sz="3800" spc="-5" dirty="0">
                <a:latin typeface="Verdana"/>
                <a:cs typeface="Verdana"/>
              </a:rPr>
              <a:t>Symbol</a:t>
            </a:r>
            <a:r>
              <a:rPr sz="3800" spc="11" dirty="0">
                <a:latin typeface="Verdana"/>
                <a:cs typeface="Verdana"/>
              </a:rPr>
              <a:t> </a:t>
            </a:r>
            <a:r>
              <a:rPr sz="3800" spc="-5" dirty="0">
                <a:latin typeface="Verdana"/>
                <a:cs typeface="Verdana"/>
              </a:rPr>
              <a:t>Interference</a:t>
            </a:r>
            <a:r>
              <a:rPr sz="3800" spc="11" dirty="0">
                <a:latin typeface="Verdana"/>
                <a:cs typeface="Verdana"/>
              </a:rPr>
              <a:t> </a:t>
            </a:r>
            <a:r>
              <a:rPr sz="3800" spc="-11" dirty="0">
                <a:latin typeface="Verdana"/>
                <a:cs typeface="Verdana"/>
              </a:rPr>
              <a:t>(2)</a:t>
            </a:r>
            <a:endParaRPr sz="3800">
              <a:latin typeface="Verdana"/>
              <a:cs typeface="Verdana"/>
            </a:endParaRPr>
          </a:p>
        </p:txBody>
      </p:sp>
      <p:sp>
        <p:nvSpPr>
          <p:cNvPr id="28" name="object 28"/>
          <p:cNvSpPr txBox="1"/>
          <p:nvPr/>
        </p:nvSpPr>
        <p:spPr>
          <a:xfrm>
            <a:off x="5229861" y="2397507"/>
            <a:ext cx="516255" cy="319959"/>
          </a:xfrm>
          <a:prstGeom prst="rect">
            <a:avLst/>
          </a:prstGeom>
        </p:spPr>
        <p:txBody>
          <a:bodyPr vert="horz" wrap="square" lIns="0" tIns="12065" rIns="0" bIns="0" rtlCol="0">
            <a:spAutoFit/>
          </a:bodyPr>
          <a:lstStyle/>
          <a:p>
            <a:pPr marL="12700" defTabSz="548626">
              <a:spcBef>
                <a:spcPts val="95"/>
              </a:spcBef>
            </a:pPr>
            <a:r>
              <a:rPr sz="2000" b="1" spc="-5" dirty="0">
                <a:solidFill>
                  <a:srgbClr val="00B04F"/>
                </a:solidFill>
                <a:latin typeface="Verdana"/>
                <a:cs typeface="Verdana"/>
              </a:rPr>
              <a:t>Vth</a:t>
            </a:r>
            <a:endParaRPr sz="2000">
              <a:solidFill>
                <a:srgbClr val="3C3C3B"/>
              </a:solidFill>
              <a:latin typeface="Verdana"/>
              <a:cs typeface="Verdana"/>
            </a:endParaRPr>
          </a:p>
        </p:txBody>
      </p:sp>
      <p:grpSp>
        <p:nvGrpSpPr>
          <p:cNvPr id="29" name="object 29"/>
          <p:cNvGrpSpPr/>
          <p:nvPr/>
        </p:nvGrpSpPr>
        <p:grpSpPr>
          <a:xfrm>
            <a:off x="1354836" y="4383749"/>
            <a:ext cx="3992245" cy="790575"/>
            <a:chOff x="1354836" y="4383747"/>
            <a:chExt cx="3992245" cy="790575"/>
          </a:xfrm>
        </p:grpSpPr>
        <p:sp>
          <p:nvSpPr>
            <p:cNvPr id="30" name="object 30"/>
            <p:cNvSpPr/>
            <p:nvPr/>
          </p:nvSpPr>
          <p:spPr>
            <a:xfrm>
              <a:off x="2293619" y="4627626"/>
              <a:ext cx="86360" cy="302895"/>
            </a:xfrm>
            <a:custGeom>
              <a:avLst/>
              <a:gdLst/>
              <a:ahLst/>
              <a:cxnLst/>
              <a:rect l="l" t="t" r="r" b="b"/>
              <a:pathLst>
                <a:path w="86360" h="302895">
                  <a:moveTo>
                    <a:pt x="86106" y="150875"/>
                  </a:moveTo>
                  <a:lnTo>
                    <a:pt x="82760" y="92261"/>
                  </a:lnTo>
                  <a:lnTo>
                    <a:pt x="73628" y="44291"/>
                  </a:lnTo>
                  <a:lnTo>
                    <a:pt x="60067" y="11894"/>
                  </a:lnTo>
                  <a:lnTo>
                    <a:pt x="43434" y="0"/>
                  </a:lnTo>
                  <a:lnTo>
                    <a:pt x="26360" y="11894"/>
                  </a:lnTo>
                  <a:lnTo>
                    <a:pt x="12572" y="44291"/>
                  </a:lnTo>
                  <a:lnTo>
                    <a:pt x="3357" y="92261"/>
                  </a:lnTo>
                  <a:lnTo>
                    <a:pt x="0" y="150875"/>
                  </a:lnTo>
                  <a:lnTo>
                    <a:pt x="3357" y="209930"/>
                  </a:lnTo>
                  <a:lnTo>
                    <a:pt x="12573" y="258127"/>
                  </a:lnTo>
                  <a:lnTo>
                    <a:pt x="26360" y="290607"/>
                  </a:lnTo>
                  <a:lnTo>
                    <a:pt x="43434" y="302513"/>
                  </a:lnTo>
                  <a:lnTo>
                    <a:pt x="60067" y="290607"/>
                  </a:lnTo>
                  <a:lnTo>
                    <a:pt x="73628" y="258127"/>
                  </a:lnTo>
                  <a:lnTo>
                    <a:pt x="82760" y="209930"/>
                  </a:lnTo>
                  <a:lnTo>
                    <a:pt x="86106" y="150875"/>
                  </a:lnTo>
                  <a:close/>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1" name="object 31"/>
            <p:cNvSpPr/>
            <p:nvPr/>
          </p:nvSpPr>
          <p:spPr>
            <a:xfrm>
              <a:off x="2352294" y="4627626"/>
              <a:ext cx="1999614" cy="0"/>
            </a:xfrm>
            <a:custGeom>
              <a:avLst/>
              <a:gdLst/>
              <a:ahLst/>
              <a:cxnLst/>
              <a:rect l="l" t="t" r="r" b="b"/>
              <a:pathLst>
                <a:path w="1999614">
                  <a:moveTo>
                    <a:pt x="0" y="0"/>
                  </a:moveTo>
                  <a:lnTo>
                    <a:pt x="1999488"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2" name="object 32"/>
            <p:cNvSpPr/>
            <p:nvPr/>
          </p:nvSpPr>
          <p:spPr>
            <a:xfrm>
              <a:off x="2337053" y="4930140"/>
              <a:ext cx="2014855" cy="0"/>
            </a:xfrm>
            <a:custGeom>
              <a:avLst/>
              <a:gdLst/>
              <a:ahLst/>
              <a:cxnLst/>
              <a:rect l="l" t="t" r="r" b="b"/>
              <a:pathLst>
                <a:path w="2014854">
                  <a:moveTo>
                    <a:pt x="2014727" y="0"/>
                  </a:moveTo>
                  <a:lnTo>
                    <a:pt x="0"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3" name="object 33"/>
            <p:cNvSpPr/>
            <p:nvPr/>
          </p:nvSpPr>
          <p:spPr>
            <a:xfrm>
              <a:off x="4351781" y="4627626"/>
              <a:ext cx="43815" cy="302895"/>
            </a:xfrm>
            <a:custGeom>
              <a:avLst/>
              <a:gdLst/>
              <a:ahLst/>
              <a:cxnLst/>
              <a:rect l="l" t="t" r="r" b="b"/>
              <a:pathLst>
                <a:path w="43814" h="302895">
                  <a:moveTo>
                    <a:pt x="0" y="0"/>
                  </a:moveTo>
                  <a:lnTo>
                    <a:pt x="16752" y="11501"/>
                  </a:lnTo>
                  <a:lnTo>
                    <a:pt x="30575" y="42862"/>
                  </a:lnTo>
                  <a:lnTo>
                    <a:pt x="39969" y="89368"/>
                  </a:lnTo>
                  <a:lnTo>
                    <a:pt x="43434" y="146304"/>
                  </a:lnTo>
                  <a:lnTo>
                    <a:pt x="40231" y="207037"/>
                  </a:lnTo>
                  <a:lnTo>
                    <a:pt x="31527" y="256698"/>
                  </a:lnTo>
                  <a:lnTo>
                    <a:pt x="18680" y="290214"/>
                  </a:lnTo>
                  <a:lnTo>
                    <a:pt x="3048" y="302514"/>
                  </a:lnTo>
                  <a:lnTo>
                    <a:pt x="2286" y="302514"/>
                  </a:lnTo>
                  <a:lnTo>
                    <a:pt x="762" y="302514"/>
                  </a:lnTo>
                  <a:lnTo>
                    <a:pt x="0" y="302514"/>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4" name="object 34"/>
            <p:cNvSpPr/>
            <p:nvPr/>
          </p:nvSpPr>
          <p:spPr>
            <a:xfrm>
              <a:off x="2218944" y="4778502"/>
              <a:ext cx="74930" cy="0"/>
            </a:xfrm>
            <a:custGeom>
              <a:avLst/>
              <a:gdLst/>
              <a:ahLst/>
              <a:cxnLst/>
              <a:rect l="l" t="t" r="r" b="b"/>
              <a:pathLst>
                <a:path w="74930">
                  <a:moveTo>
                    <a:pt x="0" y="0"/>
                  </a:moveTo>
                  <a:lnTo>
                    <a:pt x="74675"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5" name="object 35"/>
            <p:cNvSpPr/>
            <p:nvPr/>
          </p:nvSpPr>
          <p:spPr>
            <a:xfrm>
              <a:off x="4488941" y="4403598"/>
              <a:ext cx="744855" cy="750570"/>
            </a:xfrm>
            <a:custGeom>
              <a:avLst/>
              <a:gdLst/>
              <a:ahLst/>
              <a:cxnLst/>
              <a:rect l="l" t="t" r="r" b="b"/>
              <a:pathLst>
                <a:path w="744854" h="750570">
                  <a:moveTo>
                    <a:pt x="0" y="0"/>
                  </a:moveTo>
                  <a:lnTo>
                    <a:pt x="744474" y="374903"/>
                  </a:lnTo>
                  <a:lnTo>
                    <a:pt x="0" y="750570"/>
                  </a:lnTo>
                  <a:lnTo>
                    <a:pt x="0" y="0"/>
                  </a:lnTo>
                  <a:close/>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6" name="object 36"/>
            <p:cNvSpPr/>
            <p:nvPr/>
          </p:nvSpPr>
          <p:spPr>
            <a:xfrm>
              <a:off x="4395215" y="4773930"/>
              <a:ext cx="93980" cy="5080"/>
            </a:xfrm>
            <a:custGeom>
              <a:avLst/>
              <a:gdLst/>
              <a:ahLst/>
              <a:cxnLst/>
              <a:rect l="l" t="t" r="r" b="b"/>
              <a:pathLst>
                <a:path w="93979" h="5079">
                  <a:moveTo>
                    <a:pt x="-19856" y="2286"/>
                  </a:moveTo>
                  <a:lnTo>
                    <a:pt x="113582" y="2286"/>
                  </a:lnTo>
                </a:path>
              </a:pathLst>
            </a:custGeom>
            <a:ln w="44284">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7" name="object 37"/>
            <p:cNvSpPr/>
            <p:nvPr/>
          </p:nvSpPr>
          <p:spPr>
            <a:xfrm>
              <a:off x="4617720" y="4777740"/>
              <a:ext cx="208279" cy="0"/>
            </a:xfrm>
            <a:custGeom>
              <a:avLst/>
              <a:gdLst/>
              <a:ahLst/>
              <a:cxnLst/>
              <a:rect l="l" t="t" r="r" b="b"/>
              <a:pathLst>
                <a:path w="208279">
                  <a:moveTo>
                    <a:pt x="0" y="0"/>
                  </a:moveTo>
                  <a:lnTo>
                    <a:pt x="208026" y="0"/>
                  </a:lnTo>
                </a:path>
              </a:pathLst>
            </a:custGeom>
            <a:ln w="38176">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8" name="object 38"/>
            <p:cNvSpPr/>
            <p:nvPr/>
          </p:nvSpPr>
          <p:spPr>
            <a:xfrm>
              <a:off x="4558284" y="4627626"/>
              <a:ext cx="267970" cy="330200"/>
            </a:xfrm>
            <a:custGeom>
              <a:avLst/>
              <a:gdLst/>
              <a:ahLst/>
              <a:cxnLst/>
              <a:rect l="l" t="t" r="r" b="b"/>
              <a:pathLst>
                <a:path w="267970" h="330200">
                  <a:moveTo>
                    <a:pt x="267462" y="0"/>
                  </a:moveTo>
                  <a:lnTo>
                    <a:pt x="182880" y="0"/>
                  </a:lnTo>
                  <a:lnTo>
                    <a:pt x="89154" y="329946"/>
                  </a:lnTo>
                  <a:lnTo>
                    <a:pt x="0" y="329946"/>
                  </a:lnTo>
                </a:path>
              </a:pathLst>
            </a:custGeom>
            <a:ln w="38176">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9" name="object 39"/>
            <p:cNvSpPr/>
            <p:nvPr/>
          </p:nvSpPr>
          <p:spPr>
            <a:xfrm>
              <a:off x="1455420" y="4403598"/>
              <a:ext cx="744855" cy="750570"/>
            </a:xfrm>
            <a:custGeom>
              <a:avLst/>
              <a:gdLst/>
              <a:ahLst/>
              <a:cxnLst/>
              <a:rect l="l" t="t" r="r" b="b"/>
              <a:pathLst>
                <a:path w="744855" h="750570">
                  <a:moveTo>
                    <a:pt x="0" y="0"/>
                  </a:moveTo>
                  <a:lnTo>
                    <a:pt x="744474" y="374903"/>
                  </a:lnTo>
                  <a:lnTo>
                    <a:pt x="0" y="750570"/>
                  </a:lnTo>
                  <a:lnTo>
                    <a:pt x="0" y="0"/>
                  </a:lnTo>
                  <a:close/>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40" name="object 40"/>
            <p:cNvSpPr/>
            <p:nvPr/>
          </p:nvSpPr>
          <p:spPr>
            <a:xfrm>
              <a:off x="1354836" y="4778502"/>
              <a:ext cx="100965" cy="0"/>
            </a:xfrm>
            <a:custGeom>
              <a:avLst/>
              <a:gdLst/>
              <a:ahLst/>
              <a:cxnLst/>
              <a:rect l="l" t="t" r="r" b="b"/>
              <a:pathLst>
                <a:path w="100965">
                  <a:moveTo>
                    <a:pt x="0" y="0"/>
                  </a:moveTo>
                  <a:lnTo>
                    <a:pt x="100584" y="0"/>
                  </a:lnTo>
                </a:path>
              </a:pathLst>
            </a:custGeom>
            <a:ln w="39700">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41" name="object 41"/>
            <p:cNvSpPr/>
            <p:nvPr/>
          </p:nvSpPr>
          <p:spPr>
            <a:xfrm>
              <a:off x="5233415" y="4778502"/>
              <a:ext cx="93980" cy="5715"/>
            </a:xfrm>
            <a:custGeom>
              <a:avLst/>
              <a:gdLst/>
              <a:ahLst/>
              <a:cxnLst/>
              <a:rect l="l" t="t" r="r" b="b"/>
              <a:pathLst>
                <a:path w="93979" h="5714">
                  <a:moveTo>
                    <a:pt x="-19856" y="2666"/>
                  </a:moveTo>
                  <a:lnTo>
                    <a:pt x="113582" y="2666"/>
                  </a:lnTo>
                </a:path>
              </a:pathLst>
            </a:custGeom>
            <a:ln w="45046">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grpSp>
      <p:sp>
        <p:nvSpPr>
          <p:cNvPr id="42" name="object 42"/>
          <p:cNvSpPr txBox="1"/>
          <p:nvPr/>
        </p:nvSpPr>
        <p:spPr>
          <a:xfrm>
            <a:off x="1000753" y="4655014"/>
            <a:ext cx="6995159" cy="1361911"/>
          </a:xfrm>
          <a:prstGeom prst="rect">
            <a:avLst/>
          </a:prstGeom>
        </p:spPr>
        <p:txBody>
          <a:bodyPr vert="horz" wrap="square" lIns="0" tIns="27940" rIns="0" bIns="0" rtlCol="0">
            <a:spAutoFit/>
          </a:bodyPr>
          <a:lstStyle/>
          <a:p>
            <a:pPr marR="5080" algn="r" defTabSz="548626">
              <a:spcBef>
                <a:spcPts val="220"/>
              </a:spcBef>
            </a:pPr>
            <a:r>
              <a:rPr sz="2000" b="1" spc="-5" dirty="0">
                <a:solidFill>
                  <a:srgbClr val="FF0000"/>
                </a:solidFill>
                <a:latin typeface="Verdana"/>
                <a:cs typeface="Verdana"/>
              </a:rPr>
              <a:t>Error!</a:t>
            </a:r>
            <a:endParaRPr sz="2000">
              <a:solidFill>
                <a:srgbClr val="3C3C3B"/>
              </a:solidFill>
              <a:latin typeface="Verdana"/>
              <a:cs typeface="Verdana"/>
            </a:endParaRPr>
          </a:p>
          <a:p>
            <a:pPr marL="2081479" defTabSz="548626">
              <a:spcBef>
                <a:spcPts val="120"/>
              </a:spcBef>
            </a:pPr>
            <a:r>
              <a:rPr sz="2000" spc="-5" dirty="0">
                <a:solidFill>
                  <a:srgbClr val="3C3C3B"/>
                </a:solidFill>
                <a:latin typeface="Verdana"/>
                <a:cs typeface="Verdana"/>
              </a:rPr>
              <a:t>LPF</a:t>
            </a:r>
            <a:endParaRPr sz="2000">
              <a:solidFill>
                <a:srgbClr val="3C3C3B"/>
              </a:solidFill>
              <a:latin typeface="Verdana"/>
              <a:cs typeface="Verdana"/>
            </a:endParaRPr>
          </a:p>
          <a:p>
            <a:pPr marL="482588" indent="-470523" defTabSz="548626">
              <a:spcBef>
                <a:spcPts val="509"/>
              </a:spcBef>
              <a:buClr>
                <a:srgbClr val="CC0000"/>
              </a:buClr>
              <a:buFont typeface="Wingdings"/>
              <a:buChar char=""/>
              <a:tabLst>
                <a:tab pos="482588" algn="l"/>
                <a:tab pos="483223" algn="l"/>
              </a:tabLst>
            </a:pPr>
            <a:r>
              <a:rPr sz="2000" spc="-5" dirty="0">
                <a:solidFill>
                  <a:srgbClr val="3C3C3B"/>
                </a:solidFill>
                <a:latin typeface="Verdana"/>
                <a:cs typeface="Verdana"/>
              </a:rPr>
              <a:t>A</a:t>
            </a:r>
            <a:r>
              <a:rPr sz="2000" dirty="0">
                <a:solidFill>
                  <a:srgbClr val="3C3C3B"/>
                </a:solidFill>
                <a:latin typeface="Verdana"/>
                <a:cs typeface="Verdana"/>
              </a:rPr>
              <a:t> </a:t>
            </a:r>
            <a:r>
              <a:rPr sz="2000" spc="-11" dirty="0">
                <a:solidFill>
                  <a:srgbClr val="3C3C3B"/>
                </a:solidFill>
                <a:latin typeface="Verdana"/>
                <a:cs typeface="Verdana"/>
              </a:rPr>
              <a:t>typical</a:t>
            </a:r>
            <a:r>
              <a:rPr sz="2000" spc="25" dirty="0">
                <a:solidFill>
                  <a:srgbClr val="3C3C3B"/>
                </a:solidFill>
                <a:latin typeface="Verdana"/>
                <a:cs typeface="Verdana"/>
              </a:rPr>
              <a:t> </a:t>
            </a:r>
            <a:r>
              <a:rPr sz="2000" spc="-11" dirty="0">
                <a:solidFill>
                  <a:srgbClr val="3C3C3B"/>
                </a:solidFill>
                <a:latin typeface="Verdana"/>
                <a:cs typeface="Verdana"/>
              </a:rPr>
              <a:t>channel</a:t>
            </a:r>
            <a:r>
              <a:rPr sz="2000" dirty="0">
                <a:solidFill>
                  <a:srgbClr val="3C3C3B"/>
                </a:solidFill>
                <a:latin typeface="Verdana"/>
                <a:cs typeface="Verdana"/>
              </a:rPr>
              <a:t> </a:t>
            </a:r>
            <a:r>
              <a:rPr sz="2000" spc="-5" dirty="0">
                <a:solidFill>
                  <a:srgbClr val="3C3C3B"/>
                </a:solidFill>
                <a:latin typeface="Verdana"/>
                <a:cs typeface="Verdana"/>
              </a:rPr>
              <a:t>is</a:t>
            </a:r>
            <a:r>
              <a:rPr sz="2000" dirty="0">
                <a:solidFill>
                  <a:srgbClr val="3C3C3B"/>
                </a:solidFill>
                <a:latin typeface="Verdana"/>
                <a:cs typeface="Verdana"/>
              </a:rPr>
              <a:t> </a:t>
            </a:r>
            <a:r>
              <a:rPr sz="2000" spc="-5" dirty="0">
                <a:solidFill>
                  <a:srgbClr val="3C3C3B"/>
                </a:solidFill>
                <a:latin typeface="Verdana"/>
                <a:cs typeface="Verdana"/>
              </a:rPr>
              <a:t>a</a:t>
            </a:r>
            <a:r>
              <a:rPr sz="2000" dirty="0">
                <a:solidFill>
                  <a:srgbClr val="3C3C3B"/>
                </a:solidFill>
                <a:latin typeface="Verdana"/>
                <a:cs typeface="Verdana"/>
              </a:rPr>
              <a:t> </a:t>
            </a:r>
            <a:r>
              <a:rPr sz="2000" spc="-11" dirty="0">
                <a:solidFill>
                  <a:srgbClr val="3C3C3B"/>
                </a:solidFill>
                <a:latin typeface="Verdana"/>
                <a:cs typeface="Verdana"/>
              </a:rPr>
              <a:t>low-pass</a:t>
            </a:r>
            <a:r>
              <a:rPr sz="2000" spc="15" dirty="0">
                <a:solidFill>
                  <a:srgbClr val="3C3C3B"/>
                </a:solidFill>
                <a:latin typeface="Verdana"/>
                <a:cs typeface="Verdana"/>
              </a:rPr>
              <a:t> </a:t>
            </a:r>
            <a:r>
              <a:rPr sz="2000" spc="-5" dirty="0">
                <a:solidFill>
                  <a:srgbClr val="3C3C3B"/>
                </a:solidFill>
                <a:latin typeface="Verdana"/>
                <a:cs typeface="Verdana"/>
              </a:rPr>
              <a:t>filter</a:t>
            </a:r>
            <a:r>
              <a:rPr sz="2000" spc="11" dirty="0">
                <a:solidFill>
                  <a:srgbClr val="3C3C3B"/>
                </a:solidFill>
                <a:latin typeface="Verdana"/>
                <a:cs typeface="Verdana"/>
              </a:rPr>
              <a:t> </a:t>
            </a:r>
            <a:r>
              <a:rPr sz="2000" spc="-11" dirty="0">
                <a:solidFill>
                  <a:srgbClr val="3C3C3B"/>
                </a:solidFill>
                <a:latin typeface="Verdana"/>
                <a:cs typeface="Verdana"/>
              </a:rPr>
              <a:t>(LPF).</a:t>
            </a:r>
            <a:endParaRPr sz="2000">
              <a:solidFill>
                <a:srgbClr val="3C3C3B"/>
              </a:solidFill>
              <a:latin typeface="Verdana"/>
              <a:cs typeface="Verdana"/>
            </a:endParaRPr>
          </a:p>
          <a:p>
            <a:pPr marL="482588" indent="-470523" defTabSz="548626">
              <a:spcBef>
                <a:spcPts val="240"/>
              </a:spcBef>
              <a:buClr>
                <a:srgbClr val="CC0000"/>
              </a:buClr>
              <a:buFont typeface="Wingdings"/>
              <a:buChar char=""/>
              <a:tabLst>
                <a:tab pos="482588" algn="l"/>
                <a:tab pos="483223" algn="l"/>
              </a:tabLst>
            </a:pPr>
            <a:r>
              <a:rPr sz="2000" spc="-5" dirty="0">
                <a:solidFill>
                  <a:srgbClr val="3C3C3B"/>
                </a:solidFill>
                <a:latin typeface="Verdana"/>
                <a:cs typeface="Verdana"/>
              </a:rPr>
              <a:t>Inter </a:t>
            </a:r>
            <a:r>
              <a:rPr sz="2000" spc="-11" dirty="0">
                <a:solidFill>
                  <a:srgbClr val="3C3C3B"/>
                </a:solidFill>
                <a:latin typeface="Verdana"/>
                <a:cs typeface="Verdana"/>
              </a:rPr>
              <a:t>symbol</a:t>
            </a:r>
            <a:r>
              <a:rPr sz="2000" spc="25" dirty="0">
                <a:solidFill>
                  <a:srgbClr val="3C3C3B"/>
                </a:solidFill>
                <a:latin typeface="Verdana"/>
                <a:cs typeface="Verdana"/>
              </a:rPr>
              <a:t> </a:t>
            </a:r>
            <a:r>
              <a:rPr sz="2000" spc="-11" dirty="0">
                <a:solidFill>
                  <a:srgbClr val="3C3C3B"/>
                </a:solidFill>
                <a:latin typeface="Verdana"/>
                <a:cs typeface="Verdana"/>
              </a:rPr>
              <a:t>interference</a:t>
            </a:r>
            <a:r>
              <a:rPr sz="2000" dirty="0">
                <a:solidFill>
                  <a:srgbClr val="3C3C3B"/>
                </a:solidFill>
                <a:latin typeface="Verdana"/>
                <a:cs typeface="Verdana"/>
              </a:rPr>
              <a:t> </a:t>
            </a:r>
            <a:r>
              <a:rPr sz="2000" spc="-5" dirty="0">
                <a:solidFill>
                  <a:srgbClr val="3C3C3B"/>
                </a:solidFill>
                <a:latin typeface="Verdana"/>
                <a:cs typeface="Verdana"/>
              </a:rPr>
              <a:t>(ISI)</a:t>
            </a:r>
            <a:r>
              <a:rPr sz="2000" dirty="0">
                <a:solidFill>
                  <a:srgbClr val="3C3C3B"/>
                </a:solidFill>
                <a:latin typeface="Verdana"/>
                <a:cs typeface="Verdana"/>
              </a:rPr>
              <a:t> </a:t>
            </a:r>
            <a:r>
              <a:rPr sz="2000" spc="-11" dirty="0">
                <a:solidFill>
                  <a:srgbClr val="3C3C3B"/>
                </a:solidFill>
                <a:latin typeface="Verdana"/>
                <a:cs typeface="Verdana"/>
              </a:rPr>
              <a:t>disrupts</a:t>
            </a:r>
            <a:r>
              <a:rPr sz="2000" spc="20" dirty="0">
                <a:solidFill>
                  <a:srgbClr val="3C3C3B"/>
                </a:solidFill>
                <a:latin typeface="Verdana"/>
                <a:cs typeface="Verdana"/>
              </a:rPr>
              <a:t> </a:t>
            </a:r>
            <a:r>
              <a:rPr sz="2000" spc="-11" dirty="0">
                <a:solidFill>
                  <a:srgbClr val="3C3C3B"/>
                </a:solidFill>
                <a:latin typeface="Verdana"/>
                <a:cs typeface="Verdana"/>
              </a:rPr>
              <a:t>signaling.</a:t>
            </a:r>
            <a:endParaRPr sz="2000">
              <a:solidFill>
                <a:srgbClr val="3C3C3B"/>
              </a:solidFill>
              <a:latin typeface="Verdana"/>
              <a:cs typeface="Verdana"/>
            </a:endParaRPr>
          </a:p>
        </p:txBody>
      </p:sp>
      <p:grpSp>
        <p:nvGrpSpPr>
          <p:cNvPr id="43" name="object 43"/>
          <p:cNvGrpSpPr/>
          <p:nvPr/>
        </p:nvGrpSpPr>
        <p:grpSpPr>
          <a:xfrm>
            <a:off x="1258061" y="1374070"/>
            <a:ext cx="1849755" cy="2343151"/>
            <a:chOff x="1258061" y="1374070"/>
            <a:chExt cx="1849755" cy="2343150"/>
          </a:xfrm>
        </p:grpSpPr>
        <p:sp>
          <p:nvSpPr>
            <p:cNvPr id="44" name="object 44"/>
            <p:cNvSpPr/>
            <p:nvPr/>
          </p:nvSpPr>
          <p:spPr>
            <a:xfrm>
              <a:off x="1258061" y="3701796"/>
              <a:ext cx="142875" cy="0"/>
            </a:xfrm>
            <a:custGeom>
              <a:avLst/>
              <a:gdLst/>
              <a:ahLst/>
              <a:cxnLst/>
              <a:rect l="l" t="t" r="r" b="b"/>
              <a:pathLst>
                <a:path w="142875">
                  <a:moveTo>
                    <a:pt x="0" y="0"/>
                  </a:moveTo>
                  <a:lnTo>
                    <a:pt x="142494"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45" name="object 45"/>
            <p:cNvSpPr/>
            <p:nvPr/>
          </p:nvSpPr>
          <p:spPr>
            <a:xfrm>
              <a:off x="1543049" y="3701796"/>
              <a:ext cx="142240" cy="0"/>
            </a:xfrm>
            <a:custGeom>
              <a:avLst/>
              <a:gdLst/>
              <a:ahLst/>
              <a:cxnLst/>
              <a:rect l="l" t="t" r="r" b="b"/>
              <a:pathLst>
                <a:path w="142239">
                  <a:moveTo>
                    <a:pt x="0" y="0"/>
                  </a:moveTo>
                  <a:lnTo>
                    <a:pt x="141732"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46" name="object 46"/>
            <p:cNvSpPr/>
            <p:nvPr/>
          </p:nvSpPr>
          <p:spPr>
            <a:xfrm>
              <a:off x="1400555" y="1394460"/>
              <a:ext cx="149860" cy="2307590"/>
            </a:xfrm>
            <a:custGeom>
              <a:avLst/>
              <a:gdLst/>
              <a:ahLst/>
              <a:cxnLst/>
              <a:rect l="l" t="t" r="r" b="b"/>
              <a:pathLst>
                <a:path w="149859" h="2307590">
                  <a:moveTo>
                    <a:pt x="0" y="2307336"/>
                  </a:moveTo>
                  <a:lnTo>
                    <a:pt x="0" y="0"/>
                  </a:lnTo>
                  <a:lnTo>
                    <a:pt x="149352" y="0"/>
                  </a:lnTo>
                  <a:lnTo>
                    <a:pt x="149352" y="2307336"/>
                  </a:lnTo>
                </a:path>
              </a:pathLst>
            </a:custGeom>
            <a:ln w="30111">
              <a:solidFill>
                <a:srgbClr val="0000FF"/>
              </a:solidFill>
            </a:ln>
          </p:spPr>
          <p:txBody>
            <a:bodyPr wrap="square" lIns="0" tIns="0" rIns="0" bIns="0" rtlCol="0"/>
            <a:lstStyle/>
            <a:p>
              <a:pPr defTabSz="548626"/>
              <a:endParaRPr sz="1620">
                <a:solidFill>
                  <a:srgbClr val="3C3C3B"/>
                </a:solidFill>
                <a:latin typeface="Gill Sans MT" panose="020B0502020104020203"/>
              </a:endParaRPr>
            </a:p>
          </p:txBody>
        </p:sp>
        <p:sp>
          <p:nvSpPr>
            <p:cNvPr id="47" name="object 47"/>
            <p:cNvSpPr/>
            <p:nvPr/>
          </p:nvSpPr>
          <p:spPr>
            <a:xfrm>
              <a:off x="1684781" y="1394460"/>
              <a:ext cx="150495" cy="2307590"/>
            </a:xfrm>
            <a:custGeom>
              <a:avLst/>
              <a:gdLst/>
              <a:ahLst/>
              <a:cxnLst/>
              <a:rect l="l" t="t" r="r" b="b"/>
              <a:pathLst>
                <a:path w="150494" h="2307590">
                  <a:moveTo>
                    <a:pt x="0" y="2307336"/>
                  </a:moveTo>
                  <a:lnTo>
                    <a:pt x="0" y="0"/>
                  </a:lnTo>
                  <a:lnTo>
                    <a:pt x="150113" y="0"/>
                  </a:lnTo>
                  <a:lnTo>
                    <a:pt x="150114" y="2307336"/>
                  </a:lnTo>
                </a:path>
              </a:pathLst>
            </a:custGeom>
            <a:ln w="30111">
              <a:solidFill>
                <a:srgbClr val="000000"/>
              </a:solidFill>
            </a:ln>
          </p:spPr>
          <p:txBody>
            <a:bodyPr wrap="square" lIns="0" tIns="0" rIns="0" bIns="0" rtlCol="0"/>
            <a:lstStyle/>
            <a:p>
              <a:pPr defTabSz="548626"/>
              <a:endParaRPr sz="1620">
                <a:solidFill>
                  <a:srgbClr val="3C3C3B"/>
                </a:solidFill>
                <a:latin typeface="Gill Sans MT" panose="020B0502020104020203"/>
              </a:endParaRPr>
            </a:p>
          </p:txBody>
        </p:sp>
        <p:sp>
          <p:nvSpPr>
            <p:cNvPr id="48" name="object 48"/>
            <p:cNvSpPr/>
            <p:nvPr/>
          </p:nvSpPr>
          <p:spPr>
            <a:xfrm>
              <a:off x="1834895" y="3701796"/>
              <a:ext cx="1272540" cy="0"/>
            </a:xfrm>
            <a:custGeom>
              <a:avLst/>
              <a:gdLst/>
              <a:ahLst/>
              <a:cxnLst/>
              <a:rect l="l" t="t" r="r" b="b"/>
              <a:pathLst>
                <a:path w="1272539">
                  <a:moveTo>
                    <a:pt x="0" y="0"/>
                  </a:moveTo>
                  <a:lnTo>
                    <a:pt x="1272540"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49" name="object 49"/>
            <p:cNvSpPr/>
            <p:nvPr/>
          </p:nvSpPr>
          <p:spPr>
            <a:xfrm>
              <a:off x="1258061" y="3696461"/>
              <a:ext cx="142875" cy="0"/>
            </a:xfrm>
            <a:custGeom>
              <a:avLst/>
              <a:gdLst/>
              <a:ahLst/>
              <a:cxnLst/>
              <a:rect l="l" t="t" r="r" b="b"/>
              <a:pathLst>
                <a:path w="142875">
                  <a:moveTo>
                    <a:pt x="0" y="0"/>
                  </a:moveTo>
                  <a:lnTo>
                    <a:pt x="142494"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50" name="object 50"/>
            <p:cNvSpPr/>
            <p:nvPr/>
          </p:nvSpPr>
          <p:spPr>
            <a:xfrm>
              <a:off x="1543049" y="3696461"/>
              <a:ext cx="1564640" cy="0"/>
            </a:xfrm>
            <a:custGeom>
              <a:avLst/>
              <a:gdLst/>
              <a:ahLst/>
              <a:cxnLst/>
              <a:rect l="l" t="t" r="r" b="b"/>
              <a:pathLst>
                <a:path w="1564639">
                  <a:moveTo>
                    <a:pt x="0" y="0"/>
                  </a:moveTo>
                  <a:lnTo>
                    <a:pt x="1564386" y="0"/>
                  </a:lnTo>
                </a:path>
              </a:pathLst>
            </a:custGeom>
            <a:ln w="30111">
              <a:solidFill>
                <a:srgbClr val="009800"/>
              </a:solidFill>
            </a:ln>
          </p:spPr>
          <p:txBody>
            <a:bodyPr wrap="square" lIns="0" tIns="0" rIns="0" bIns="0" rtlCol="0"/>
            <a:lstStyle/>
            <a:p>
              <a:pPr defTabSz="548626"/>
              <a:endParaRPr sz="1620">
                <a:solidFill>
                  <a:srgbClr val="3C3C3B"/>
                </a:solidFill>
                <a:latin typeface="Gill Sans MT" panose="020B0502020104020203"/>
              </a:endParaRPr>
            </a:p>
          </p:txBody>
        </p:sp>
        <p:sp>
          <p:nvSpPr>
            <p:cNvPr id="51" name="object 51"/>
            <p:cNvSpPr/>
            <p:nvPr/>
          </p:nvSpPr>
          <p:spPr>
            <a:xfrm>
              <a:off x="1400555" y="1389126"/>
              <a:ext cx="149860" cy="2307590"/>
            </a:xfrm>
            <a:custGeom>
              <a:avLst/>
              <a:gdLst/>
              <a:ahLst/>
              <a:cxnLst/>
              <a:rect l="l" t="t" r="r" b="b"/>
              <a:pathLst>
                <a:path w="149859" h="2307590">
                  <a:moveTo>
                    <a:pt x="0" y="2307336"/>
                  </a:moveTo>
                  <a:lnTo>
                    <a:pt x="0" y="0"/>
                  </a:lnTo>
                  <a:lnTo>
                    <a:pt x="149352" y="0"/>
                  </a:lnTo>
                  <a:lnTo>
                    <a:pt x="149352" y="2307336"/>
                  </a:lnTo>
                </a:path>
              </a:pathLst>
            </a:custGeom>
            <a:ln w="30111">
              <a:solidFill>
                <a:srgbClr val="0000FF"/>
              </a:solidFill>
            </a:ln>
          </p:spPr>
          <p:txBody>
            <a:bodyPr wrap="square" lIns="0" tIns="0" rIns="0" bIns="0" rtlCol="0"/>
            <a:lstStyle/>
            <a:p>
              <a:pPr defTabSz="548626"/>
              <a:endParaRPr sz="1620">
                <a:solidFill>
                  <a:srgbClr val="3C3C3B"/>
                </a:solidFill>
                <a:latin typeface="Gill Sans MT" panose="020B0502020104020203"/>
              </a:endParaRPr>
            </a:p>
          </p:txBody>
        </p:sp>
      </p:grpSp>
      <p:sp>
        <p:nvSpPr>
          <p:cNvPr id="52" name="object 52"/>
          <p:cNvSpPr txBox="1"/>
          <p:nvPr/>
        </p:nvSpPr>
        <p:spPr>
          <a:xfrm>
            <a:off x="1224789" y="3820921"/>
            <a:ext cx="1641475" cy="319959"/>
          </a:xfrm>
          <a:prstGeom prst="rect">
            <a:avLst/>
          </a:prstGeom>
        </p:spPr>
        <p:txBody>
          <a:bodyPr vert="horz" wrap="square" lIns="0" tIns="12065" rIns="0" bIns="0" rtlCol="0">
            <a:spAutoFit/>
          </a:bodyPr>
          <a:lstStyle/>
          <a:p>
            <a:pPr marL="12700" defTabSz="548626">
              <a:spcBef>
                <a:spcPts val="95"/>
              </a:spcBef>
            </a:pPr>
            <a:r>
              <a:rPr sz="2000" spc="-5" dirty="0">
                <a:solidFill>
                  <a:srgbClr val="00B04F"/>
                </a:solidFill>
                <a:latin typeface="Verdana"/>
                <a:cs typeface="Verdana"/>
              </a:rPr>
              <a:t>0</a:t>
            </a:r>
            <a:r>
              <a:rPr sz="2000" spc="-5" dirty="0">
                <a:solidFill>
                  <a:srgbClr val="0000FF"/>
                </a:solidFill>
                <a:latin typeface="Verdana"/>
                <a:cs typeface="Verdana"/>
              </a:rPr>
              <a:t>1</a:t>
            </a:r>
            <a:r>
              <a:rPr sz="2000" spc="-5" dirty="0">
                <a:solidFill>
                  <a:srgbClr val="00B04F"/>
                </a:solidFill>
                <a:latin typeface="Verdana"/>
                <a:cs typeface="Verdana"/>
              </a:rPr>
              <a:t>0</a:t>
            </a:r>
            <a:r>
              <a:rPr sz="2000" spc="-5" dirty="0">
                <a:solidFill>
                  <a:srgbClr val="3C3C3B"/>
                </a:solidFill>
                <a:latin typeface="Verdana"/>
                <a:cs typeface="Verdana"/>
              </a:rPr>
              <a:t>1</a:t>
            </a:r>
            <a:r>
              <a:rPr sz="2000" spc="-5" dirty="0">
                <a:solidFill>
                  <a:srgbClr val="00B04F"/>
                </a:solidFill>
                <a:latin typeface="Verdana"/>
                <a:cs typeface="Verdana"/>
              </a:rPr>
              <a:t>000000</a:t>
            </a:r>
            <a:endParaRPr sz="2000">
              <a:solidFill>
                <a:srgbClr val="3C3C3B"/>
              </a:solidFill>
              <a:latin typeface="Verdana"/>
              <a:cs typeface="Verdana"/>
            </a:endParaRPr>
          </a:p>
        </p:txBody>
      </p:sp>
      <p:sp>
        <p:nvSpPr>
          <p:cNvPr id="53" name="object 53"/>
          <p:cNvSpPr txBox="1"/>
          <p:nvPr/>
        </p:nvSpPr>
        <p:spPr>
          <a:xfrm>
            <a:off x="7361666" y="3742344"/>
            <a:ext cx="161925" cy="308418"/>
          </a:xfrm>
          <a:prstGeom prst="rect">
            <a:avLst/>
          </a:prstGeom>
        </p:spPr>
        <p:txBody>
          <a:bodyPr vert="horz" wrap="square" lIns="0" tIns="635" rIns="0" bIns="0" rtlCol="0">
            <a:spAutoFit/>
          </a:bodyPr>
          <a:lstStyle/>
          <a:p>
            <a:pPr defTabSz="548626">
              <a:spcBef>
                <a:spcPts val="5"/>
              </a:spcBef>
            </a:pPr>
            <a:r>
              <a:rPr sz="2000" spc="-5" dirty="0">
                <a:solidFill>
                  <a:srgbClr val="FF0000"/>
                </a:solidFill>
                <a:latin typeface="Verdana"/>
                <a:cs typeface="Verdana"/>
              </a:rPr>
              <a:t>1</a:t>
            </a:r>
            <a:endParaRPr sz="2000">
              <a:solidFill>
                <a:srgbClr val="3C3C3B"/>
              </a:solidFill>
              <a:latin typeface="Verdana"/>
              <a:cs typeface="Verdana"/>
            </a:endParaRPr>
          </a:p>
        </p:txBody>
      </p:sp>
      <p:sp>
        <p:nvSpPr>
          <p:cNvPr id="54" name="object 54"/>
          <p:cNvSpPr txBox="1"/>
          <p:nvPr/>
        </p:nvSpPr>
        <p:spPr>
          <a:xfrm>
            <a:off x="6494779" y="3731006"/>
            <a:ext cx="1572260" cy="319959"/>
          </a:xfrm>
          <a:prstGeom prst="rect">
            <a:avLst/>
          </a:prstGeom>
        </p:spPr>
        <p:txBody>
          <a:bodyPr vert="horz" wrap="square" lIns="0" tIns="12065" rIns="0" bIns="0" rtlCol="0">
            <a:spAutoFit/>
          </a:bodyPr>
          <a:lstStyle/>
          <a:p>
            <a:pPr marL="12700" defTabSz="548626">
              <a:spcBef>
                <a:spcPts val="95"/>
              </a:spcBef>
              <a:tabLst>
                <a:tab pos="1028040" algn="l"/>
              </a:tabLst>
            </a:pPr>
            <a:r>
              <a:rPr sz="2000" spc="-5" dirty="0">
                <a:solidFill>
                  <a:srgbClr val="00B04F"/>
                </a:solidFill>
                <a:latin typeface="Verdana"/>
                <a:cs typeface="Verdana"/>
              </a:rPr>
              <a:t>…000</a:t>
            </a:r>
            <a:r>
              <a:rPr sz="2000" spc="-5" dirty="0">
                <a:solidFill>
                  <a:srgbClr val="0000FF"/>
                </a:solidFill>
                <a:latin typeface="Verdana"/>
                <a:cs typeface="Verdana"/>
              </a:rPr>
              <a:t>1	</a:t>
            </a:r>
            <a:r>
              <a:rPr sz="2000" spc="-5" dirty="0">
                <a:solidFill>
                  <a:srgbClr val="3C3C3B"/>
                </a:solidFill>
                <a:latin typeface="Verdana"/>
                <a:cs typeface="Verdana"/>
              </a:rPr>
              <a:t>1</a:t>
            </a:r>
            <a:r>
              <a:rPr sz="2000" spc="-5" dirty="0">
                <a:solidFill>
                  <a:srgbClr val="00B04F"/>
                </a:solidFill>
                <a:latin typeface="Verdana"/>
                <a:cs typeface="Verdana"/>
              </a:rPr>
              <a:t>0…</a:t>
            </a:r>
            <a:endParaRPr sz="2000">
              <a:solidFill>
                <a:srgbClr val="3C3C3B"/>
              </a:solidFill>
              <a:latin typeface="Verdana"/>
              <a:cs typeface="Verdana"/>
            </a:endParaRPr>
          </a:p>
        </p:txBody>
      </p:sp>
      <p:sp>
        <p:nvSpPr>
          <p:cNvPr id="55" name="object 55"/>
          <p:cNvSpPr txBox="1"/>
          <p:nvPr/>
        </p:nvSpPr>
        <p:spPr>
          <a:xfrm>
            <a:off x="7134828" y="1305549"/>
            <a:ext cx="187325" cy="319959"/>
          </a:xfrm>
          <a:prstGeom prst="rect">
            <a:avLst/>
          </a:prstGeom>
        </p:spPr>
        <p:txBody>
          <a:bodyPr vert="horz" wrap="square" lIns="0" tIns="12065" rIns="0" bIns="0" rtlCol="0">
            <a:spAutoFit/>
          </a:bodyPr>
          <a:lstStyle/>
          <a:p>
            <a:pPr marL="12700" defTabSz="548626">
              <a:spcBef>
                <a:spcPts val="95"/>
              </a:spcBef>
            </a:pPr>
            <a:r>
              <a:rPr sz="2000" spc="-5" dirty="0">
                <a:solidFill>
                  <a:srgbClr val="0000FF"/>
                </a:solidFill>
                <a:latin typeface="Verdana"/>
                <a:cs typeface="Verdana"/>
              </a:rPr>
              <a:t>1</a:t>
            </a:r>
            <a:endParaRPr sz="2000">
              <a:solidFill>
                <a:srgbClr val="3C3C3B"/>
              </a:solidFill>
              <a:latin typeface="Verdana"/>
              <a:cs typeface="Verdana"/>
            </a:endParaRPr>
          </a:p>
        </p:txBody>
      </p:sp>
      <p:sp>
        <p:nvSpPr>
          <p:cNvPr id="56" name="object 56"/>
          <p:cNvSpPr txBox="1"/>
          <p:nvPr/>
        </p:nvSpPr>
        <p:spPr>
          <a:xfrm>
            <a:off x="6464025" y="2790700"/>
            <a:ext cx="699771" cy="820096"/>
          </a:xfrm>
          <a:prstGeom prst="rect">
            <a:avLst/>
          </a:prstGeom>
        </p:spPr>
        <p:txBody>
          <a:bodyPr vert="horz" wrap="square" lIns="0" tIns="12065" rIns="0" bIns="0" rtlCol="0">
            <a:spAutoFit/>
          </a:bodyPr>
          <a:lstStyle/>
          <a:p>
            <a:pPr marR="30479" algn="r" defTabSz="548626">
              <a:spcBef>
                <a:spcPts val="95"/>
              </a:spcBef>
            </a:pPr>
            <a:r>
              <a:rPr sz="2000" spc="-5" dirty="0">
                <a:solidFill>
                  <a:srgbClr val="00B04F"/>
                </a:solidFill>
                <a:latin typeface="Verdana"/>
                <a:cs typeface="Verdana"/>
              </a:rPr>
              <a:t>0</a:t>
            </a:r>
            <a:endParaRPr sz="2000">
              <a:solidFill>
                <a:srgbClr val="3C3C3B"/>
              </a:solidFill>
              <a:latin typeface="Verdana"/>
              <a:cs typeface="Verdana"/>
            </a:endParaRPr>
          </a:p>
          <a:p>
            <a:pPr marL="38099" defTabSz="548626">
              <a:spcBef>
                <a:spcPts val="1460"/>
              </a:spcBef>
            </a:pPr>
            <a:r>
              <a:rPr sz="2000" spc="-5" dirty="0">
                <a:solidFill>
                  <a:srgbClr val="00B04F"/>
                </a:solidFill>
                <a:latin typeface="Verdana"/>
                <a:cs typeface="Verdana"/>
              </a:rPr>
              <a:t>…</a:t>
            </a:r>
            <a:r>
              <a:rPr sz="2000" spc="-211" dirty="0">
                <a:solidFill>
                  <a:srgbClr val="00B04F"/>
                </a:solidFill>
                <a:latin typeface="Verdana"/>
                <a:cs typeface="Verdana"/>
              </a:rPr>
              <a:t> </a:t>
            </a:r>
            <a:r>
              <a:rPr sz="2000" spc="-215" dirty="0">
                <a:solidFill>
                  <a:srgbClr val="00B04F"/>
                </a:solidFill>
                <a:latin typeface="Verdana"/>
                <a:cs typeface="Verdana"/>
              </a:rPr>
              <a:t>0</a:t>
            </a:r>
            <a:r>
              <a:rPr sz="3000" spc="-7" baseline="29166" dirty="0">
                <a:solidFill>
                  <a:srgbClr val="00B04F"/>
                </a:solidFill>
                <a:latin typeface="Verdana"/>
                <a:cs typeface="Verdana"/>
              </a:rPr>
              <a:t>0</a:t>
            </a:r>
            <a:endParaRPr sz="3000" baseline="29166">
              <a:solidFill>
                <a:srgbClr val="3C3C3B"/>
              </a:solidFill>
              <a:latin typeface="Verdana"/>
              <a:cs typeface="Verdana"/>
            </a:endParaRPr>
          </a:p>
        </p:txBody>
      </p:sp>
      <p:pic>
        <p:nvPicPr>
          <p:cNvPr id="57" name="object 57"/>
          <p:cNvPicPr/>
          <p:nvPr/>
        </p:nvPicPr>
        <p:blipFill>
          <a:blip r:embed="rId3" cstate="print"/>
          <a:stretch>
            <a:fillRect/>
          </a:stretch>
        </p:blipFill>
        <p:spPr>
          <a:xfrm>
            <a:off x="7356348" y="2343913"/>
            <a:ext cx="371093" cy="420623"/>
          </a:xfrm>
          <a:prstGeom prst="rect">
            <a:avLst/>
          </a:prstGeom>
        </p:spPr>
      </p:pic>
      <p:sp>
        <p:nvSpPr>
          <p:cNvPr id="58" name="object 58"/>
          <p:cNvSpPr txBox="1"/>
          <p:nvPr/>
        </p:nvSpPr>
        <p:spPr>
          <a:xfrm>
            <a:off x="7446519" y="2385313"/>
            <a:ext cx="187325" cy="319959"/>
          </a:xfrm>
          <a:prstGeom prst="rect">
            <a:avLst/>
          </a:prstGeom>
        </p:spPr>
        <p:txBody>
          <a:bodyPr vert="horz" wrap="square" lIns="0" tIns="12065" rIns="0" bIns="0" rtlCol="0">
            <a:spAutoFit/>
          </a:bodyPr>
          <a:lstStyle/>
          <a:p>
            <a:pPr marL="12700" defTabSz="548626">
              <a:spcBef>
                <a:spcPts val="95"/>
              </a:spcBef>
            </a:pPr>
            <a:r>
              <a:rPr sz="2000" spc="-5" dirty="0">
                <a:solidFill>
                  <a:srgbClr val="FF0000"/>
                </a:solidFill>
                <a:latin typeface="Verdana"/>
                <a:cs typeface="Verdana"/>
              </a:rPr>
              <a:t>1</a:t>
            </a:r>
            <a:endParaRPr sz="2000">
              <a:solidFill>
                <a:srgbClr val="3C3C3B"/>
              </a:solidFill>
              <a:latin typeface="Verdana"/>
              <a:cs typeface="Verdana"/>
            </a:endParaRPr>
          </a:p>
        </p:txBody>
      </p:sp>
      <p:sp>
        <p:nvSpPr>
          <p:cNvPr id="59" name="object 59"/>
          <p:cNvSpPr txBox="1"/>
          <p:nvPr/>
        </p:nvSpPr>
        <p:spPr>
          <a:xfrm>
            <a:off x="7504423" y="1291847"/>
            <a:ext cx="187325" cy="319959"/>
          </a:xfrm>
          <a:prstGeom prst="rect">
            <a:avLst/>
          </a:prstGeom>
        </p:spPr>
        <p:txBody>
          <a:bodyPr vert="horz" wrap="square" lIns="0" tIns="12065" rIns="0" bIns="0" rtlCol="0">
            <a:spAutoFit/>
          </a:bodyPr>
          <a:lstStyle/>
          <a:p>
            <a:pPr marL="12700" defTabSz="548626">
              <a:spcBef>
                <a:spcPts val="95"/>
              </a:spcBef>
            </a:pPr>
            <a:r>
              <a:rPr sz="2000" spc="-5" dirty="0">
                <a:solidFill>
                  <a:srgbClr val="3C3C3B"/>
                </a:solidFill>
                <a:latin typeface="Verdana"/>
                <a:cs typeface="Verdana"/>
              </a:rPr>
              <a:t>1</a:t>
            </a:r>
            <a:endParaRPr sz="2000">
              <a:solidFill>
                <a:srgbClr val="3C3C3B"/>
              </a:solidFill>
              <a:latin typeface="Verdana"/>
              <a:cs typeface="Verdana"/>
            </a:endParaRPr>
          </a:p>
        </p:txBody>
      </p:sp>
      <p:sp>
        <p:nvSpPr>
          <p:cNvPr id="60" name="object 60"/>
          <p:cNvSpPr txBox="1"/>
          <p:nvPr/>
        </p:nvSpPr>
        <p:spPr>
          <a:xfrm>
            <a:off x="7679433" y="2679913"/>
            <a:ext cx="699135" cy="753411"/>
          </a:xfrm>
          <a:prstGeom prst="rect">
            <a:avLst/>
          </a:prstGeom>
        </p:spPr>
        <p:txBody>
          <a:bodyPr vert="horz" wrap="square" lIns="0" tIns="73025" rIns="0" bIns="0" rtlCol="0">
            <a:spAutoFit/>
          </a:bodyPr>
          <a:lstStyle/>
          <a:p>
            <a:pPr marL="38099" defTabSz="548626">
              <a:spcBef>
                <a:spcPts val="575"/>
              </a:spcBef>
            </a:pPr>
            <a:r>
              <a:rPr sz="2000" spc="-5" dirty="0">
                <a:solidFill>
                  <a:srgbClr val="00B04F"/>
                </a:solidFill>
                <a:latin typeface="Verdana"/>
                <a:cs typeface="Verdana"/>
              </a:rPr>
              <a:t>0</a:t>
            </a:r>
            <a:endParaRPr sz="2000">
              <a:solidFill>
                <a:srgbClr val="3C3C3B"/>
              </a:solidFill>
              <a:latin typeface="Verdana"/>
              <a:cs typeface="Verdana"/>
            </a:endParaRPr>
          </a:p>
          <a:p>
            <a:pPr marL="93978" defTabSz="548626">
              <a:spcBef>
                <a:spcPts val="471"/>
              </a:spcBef>
            </a:pPr>
            <a:r>
              <a:rPr sz="2000" spc="51" dirty="0">
                <a:solidFill>
                  <a:srgbClr val="00B04F"/>
                </a:solidFill>
                <a:latin typeface="Verdana"/>
                <a:cs typeface="Verdana"/>
              </a:rPr>
              <a:t>0</a:t>
            </a:r>
            <a:r>
              <a:rPr sz="3000" spc="-7" baseline="-29166" dirty="0">
                <a:solidFill>
                  <a:srgbClr val="00B04F"/>
                </a:solidFill>
                <a:latin typeface="Verdana"/>
                <a:cs typeface="Verdana"/>
              </a:rPr>
              <a:t>0</a:t>
            </a:r>
            <a:r>
              <a:rPr sz="3000" spc="-712" baseline="-29166" dirty="0">
                <a:solidFill>
                  <a:srgbClr val="00B04F"/>
                </a:solidFill>
                <a:latin typeface="Verdana"/>
                <a:cs typeface="Verdana"/>
              </a:rPr>
              <a:t> </a:t>
            </a:r>
            <a:r>
              <a:rPr sz="3000" spc="-7" baseline="-38888" dirty="0">
                <a:solidFill>
                  <a:srgbClr val="00B04F"/>
                </a:solidFill>
                <a:latin typeface="Verdana"/>
                <a:cs typeface="Verdana"/>
              </a:rPr>
              <a:t>…</a:t>
            </a:r>
            <a:endParaRPr sz="3000" baseline="-38888">
              <a:solidFill>
                <a:srgbClr val="3C3C3B"/>
              </a:solidFill>
              <a:latin typeface="Verdana"/>
              <a:cs typeface="Verdana"/>
            </a:endParaRPr>
          </a:p>
        </p:txBody>
      </p:sp>
      <p:grpSp>
        <p:nvGrpSpPr>
          <p:cNvPr id="61" name="object 61"/>
          <p:cNvGrpSpPr/>
          <p:nvPr/>
        </p:nvGrpSpPr>
        <p:grpSpPr>
          <a:xfrm>
            <a:off x="7056882" y="3723893"/>
            <a:ext cx="765175" cy="867411"/>
            <a:chOff x="7056881" y="3723894"/>
            <a:chExt cx="765175" cy="867410"/>
          </a:xfrm>
        </p:grpSpPr>
        <p:pic>
          <p:nvPicPr>
            <p:cNvPr id="62" name="object 62"/>
            <p:cNvPicPr/>
            <p:nvPr/>
          </p:nvPicPr>
          <p:blipFill>
            <a:blip r:embed="rId4" cstate="print"/>
            <a:stretch>
              <a:fillRect/>
            </a:stretch>
          </p:blipFill>
          <p:spPr>
            <a:xfrm>
              <a:off x="7339583" y="3723894"/>
              <a:ext cx="204977" cy="416051"/>
            </a:xfrm>
            <a:prstGeom prst="rect">
              <a:avLst/>
            </a:prstGeom>
          </p:spPr>
        </p:pic>
        <p:sp>
          <p:nvSpPr>
            <p:cNvPr id="63" name="object 63"/>
            <p:cNvSpPr/>
            <p:nvPr/>
          </p:nvSpPr>
          <p:spPr>
            <a:xfrm>
              <a:off x="7056881" y="4096511"/>
              <a:ext cx="765175" cy="494665"/>
            </a:xfrm>
            <a:custGeom>
              <a:avLst/>
              <a:gdLst/>
              <a:ahLst/>
              <a:cxnLst/>
              <a:rect l="l" t="t" r="r" b="b"/>
              <a:pathLst>
                <a:path w="765175" h="494664">
                  <a:moveTo>
                    <a:pt x="765048" y="247649"/>
                  </a:moveTo>
                  <a:lnTo>
                    <a:pt x="382524" y="0"/>
                  </a:lnTo>
                  <a:lnTo>
                    <a:pt x="0" y="247650"/>
                  </a:lnTo>
                  <a:lnTo>
                    <a:pt x="191262" y="247650"/>
                  </a:lnTo>
                  <a:lnTo>
                    <a:pt x="191262" y="494538"/>
                  </a:lnTo>
                  <a:lnTo>
                    <a:pt x="573786" y="494538"/>
                  </a:lnTo>
                  <a:lnTo>
                    <a:pt x="573786" y="247649"/>
                  </a:lnTo>
                  <a:lnTo>
                    <a:pt x="765048" y="247649"/>
                  </a:lnTo>
                  <a:close/>
                </a:path>
              </a:pathLst>
            </a:custGeom>
            <a:solidFill>
              <a:srgbClr val="FF0000"/>
            </a:solidFill>
          </p:spPr>
          <p:txBody>
            <a:bodyPr wrap="square" lIns="0" tIns="0" rIns="0" bIns="0" rtlCol="0"/>
            <a:lstStyle/>
            <a:p>
              <a:pPr defTabSz="548626"/>
              <a:endParaRPr sz="1620">
                <a:solidFill>
                  <a:srgbClr val="3C3C3B"/>
                </a:solidFill>
                <a:latin typeface="Gill Sans MT" panose="020B0502020104020203"/>
              </a:endParaRPr>
            </a:p>
          </p:txBody>
        </p:sp>
      </p:grpSp>
      <p:sp>
        <p:nvSpPr>
          <p:cNvPr id="64" name="object 64"/>
          <p:cNvSpPr txBox="1"/>
          <p:nvPr/>
        </p:nvSpPr>
        <p:spPr>
          <a:xfrm>
            <a:off x="8835650" y="1937251"/>
            <a:ext cx="854711" cy="319959"/>
          </a:xfrm>
          <a:prstGeom prst="rect">
            <a:avLst/>
          </a:prstGeom>
        </p:spPr>
        <p:txBody>
          <a:bodyPr vert="horz" wrap="square" lIns="0" tIns="12065" rIns="0" bIns="0" rtlCol="0">
            <a:spAutoFit/>
          </a:bodyPr>
          <a:lstStyle/>
          <a:p>
            <a:pPr marL="12700" defTabSz="548626">
              <a:spcBef>
                <a:spcPts val="95"/>
              </a:spcBef>
            </a:pPr>
            <a:r>
              <a:rPr sz="2000" b="1" spc="-5" dirty="0">
                <a:solidFill>
                  <a:srgbClr val="FF0000"/>
                </a:solidFill>
                <a:latin typeface="Verdana"/>
                <a:cs typeface="Verdana"/>
              </a:rPr>
              <a:t>Error!</a:t>
            </a:r>
            <a:endParaRPr sz="2000">
              <a:solidFill>
                <a:srgbClr val="3C3C3B"/>
              </a:solidFill>
              <a:latin typeface="Verdana"/>
              <a:cs typeface="Verdana"/>
            </a:endParaRPr>
          </a:p>
        </p:txBody>
      </p:sp>
      <p:sp>
        <p:nvSpPr>
          <p:cNvPr id="65" name="object 65"/>
          <p:cNvSpPr/>
          <p:nvPr/>
        </p:nvSpPr>
        <p:spPr>
          <a:xfrm>
            <a:off x="7702295" y="2263139"/>
            <a:ext cx="1195071" cy="365760"/>
          </a:xfrm>
          <a:custGeom>
            <a:avLst/>
            <a:gdLst/>
            <a:ahLst/>
            <a:cxnLst/>
            <a:rect l="l" t="t" r="r" b="b"/>
            <a:pathLst>
              <a:path w="1195070" h="365760">
                <a:moveTo>
                  <a:pt x="1194816" y="98297"/>
                </a:moveTo>
                <a:lnTo>
                  <a:pt x="1175766" y="0"/>
                </a:lnTo>
                <a:lnTo>
                  <a:pt x="87630" y="218694"/>
                </a:lnTo>
                <a:lnTo>
                  <a:pt x="78485" y="169164"/>
                </a:lnTo>
                <a:lnTo>
                  <a:pt x="0" y="287274"/>
                </a:lnTo>
                <a:lnTo>
                  <a:pt x="117348" y="365760"/>
                </a:lnTo>
                <a:lnTo>
                  <a:pt x="107442" y="316230"/>
                </a:lnTo>
                <a:lnTo>
                  <a:pt x="1194816" y="98297"/>
                </a:lnTo>
                <a:close/>
              </a:path>
            </a:pathLst>
          </a:custGeom>
          <a:solidFill>
            <a:srgbClr val="FF0000"/>
          </a:solidFill>
        </p:spPr>
        <p:txBody>
          <a:bodyPr wrap="square" lIns="0" tIns="0" rIns="0" bIns="0" rtlCol="0"/>
          <a:lstStyle/>
          <a:p>
            <a:pPr defTabSz="548626"/>
            <a:endParaRPr sz="1620">
              <a:solidFill>
                <a:srgbClr val="3C3C3B"/>
              </a:solidFill>
              <a:latin typeface="Gill Sans MT" panose="020B0502020104020203"/>
            </a:endParaRPr>
          </a:p>
        </p:txBody>
      </p:sp>
      <p:sp>
        <p:nvSpPr>
          <p:cNvPr id="66" name="Slide Number Placeholder 65"/>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18</a:t>
            </a:fld>
            <a:endParaRPr lang="en-US" spc="-50" dirty="0"/>
          </a:p>
        </p:txBody>
      </p:sp>
      <p:sp>
        <p:nvSpPr>
          <p:cNvPr id="67" name="Date Placeholder 66"/>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68" name="Footer Placeholder 67"/>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41576529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smtClean="0"/>
              <a:t>NRZ</a:t>
            </a:r>
            <a:r>
              <a:rPr spc="-25" dirty="0" smtClean="0"/>
              <a:t> </a:t>
            </a:r>
            <a:r>
              <a:rPr dirty="0"/>
              <a:t>and</a:t>
            </a:r>
            <a:r>
              <a:rPr spc="-20" dirty="0"/>
              <a:t> </a:t>
            </a:r>
            <a:r>
              <a:rPr dirty="0"/>
              <a:t>PAM4</a:t>
            </a:r>
            <a:r>
              <a:rPr spc="-25" dirty="0"/>
              <a:t> </a:t>
            </a:r>
            <a:r>
              <a:rPr dirty="0"/>
              <a:t>Eye</a:t>
            </a:r>
            <a:r>
              <a:rPr spc="-20" dirty="0"/>
              <a:t> </a:t>
            </a:r>
            <a:r>
              <a:rPr spc="-10" dirty="0"/>
              <a:t>Diagram</a:t>
            </a:r>
          </a:p>
        </p:txBody>
      </p:sp>
      <p:sp>
        <p:nvSpPr>
          <p:cNvPr id="3" name="object 3"/>
          <p:cNvSpPr txBox="1"/>
          <p:nvPr/>
        </p:nvSpPr>
        <p:spPr>
          <a:xfrm>
            <a:off x="834644" y="5247385"/>
            <a:ext cx="10466705" cy="892810"/>
          </a:xfrm>
          <a:prstGeom prst="rect">
            <a:avLst/>
          </a:prstGeom>
        </p:spPr>
        <p:txBody>
          <a:bodyPr vert="horz" wrap="square" lIns="0" tIns="80645" rIns="0" bIns="0" rtlCol="0">
            <a:spAutoFit/>
          </a:bodyPr>
          <a:lstStyle/>
          <a:p>
            <a:pPr marL="482600" indent="-469900">
              <a:lnSpc>
                <a:spcPct val="100000"/>
              </a:lnSpc>
              <a:spcBef>
                <a:spcPts val="635"/>
              </a:spcBef>
              <a:buClr>
                <a:srgbClr val="CC0000"/>
              </a:buClr>
              <a:buSzPct val="79166"/>
              <a:buFont typeface="Wingdings"/>
              <a:buChar char=""/>
              <a:tabLst>
                <a:tab pos="482600" algn="l"/>
              </a:tabLst>
            </a:pPr>
            <a:r>
              <a:rPr sz="2400" dirty="0">
                <a:latin typeface="Verdana"/>
                <a:cs typeface="Verdana"/>
              </a:rPr>
              <a:t>Eye</a:t>
            </a:r>
            <a:r>
              <a:rPr sz="2400" spc="-95" dirty="0">
                <a:latin typeface="Verdana"/>
                <a:cs typeface="Verdana"/>
              </a:rPr>
              <a:t> </a:t>
            </a:r>
            <a:r>
              <a:rPr sz="2400" dirty="0">
                <a:latin typeface="Verdana"/>
                <a:cs typeface="Verdana"/>
              </a:rPr>
              <a:t>diagram</a:t>
            </a:r>
            <a:r>
              <a:rPr sz="2400" spc="-75" dirty="0">
                <a:latin typeface="Verdana"/>
                <a:cs typeface="Verdana"/>
              </a:rPr>
              <a:t> </a:t>
            </a:r>
            <a:r>
              <a:rPr sz="2400" dirty="0">
                <a:latin typeface="Verdana"/>
                <a:cs typeface="Verdana"/>
              </a:rPr>
              <a:t>construction</a:t>
            </a:r>
            <a:r>
              <a:rPr sz="2400" spc="-60" dirty="0">
                <a:latin typeface="Verdana"/>
                <a:cs typeface="Verdana"/>
              </a:rPr>
              <a:t> </a:t>
            </a:r>
            <a:r>
              <a:rPr sz="2400" dirty="0">
                <a:latin typeface="Verdana"/>
                <a:cs typeface="Verdana"/>
              </a:rPr>
              <a:t>by</a:t>
            </a:r>
            <a:r>
              <a:rPr sz="2400" spc="-80" dirty="0">
                <a:latin typeface="Verdana"/>
                <a:cs typeface="Verdana"/>
              </a:rPr>
              <a:t> </a:t>
            </a:r>
            <a:r>
              <a:rPr sz="2400" dirty="0">
                <a:latin typeface="Verdana"/>
                <a:cs typeface="Verdana"/>
              </a:rPr>
              <a:t>overlaying</a:t>
            </a:r>
            <a:r>
              <a:rPr sz="2400" spc="-60" dirty="0">
                <a:latin typeface="Verdana"/>
                <a:cs typeface="Verdana"/>
              </a:rPr>
              <a:t> </a:t>
            </a:r>
            <a:r>
              <a:rPr sz="2400" dirty="0">
                <a:latin typeface="Verdana"/>
                <a:cs typeface="Verdana"/>
              </a:rPr>
              <a:t>waveform</a:t>
            </a:r>
            <a:r>
              <a:rPr sz="2400" spc="-80" dirty="0">
                <a:latin typeface="Verdana"/>
                <a:cs typeface="Verdana"/>
              </a:rPr>
              <a:t> </a:t>
            </a:r>
            <a:r>
              <a:rPr sz="2400" spc="-10" dirty="0">
                <a:latin typeface="Verdana"/>
                <a:cs typeface="Verdana"/>
              </a:rPr>
              <a:t>segments</a:t>
            </a:r>
            <a:endParaRPr sz="2400" dirty="0">
              <a:latin typeface="Verdana"/>
              <a:cs typeface="Verdana"/>
            </a:endParaRPr>
          </a:p>
          <a:p>
            <a:pPr marL="482600" indent="-469900">
              <a:lnSpc>
                <a:spcPct val="100000"/>
              </a:lnSpc>
              <a:spcBef>
                <a:spcPts val="530"/>
              </a:spcBef>
              <a:buClr>
                <a:srgbClr val="CC0000"/>
              </a:buClr>
              <a:buSzPct val="79166"/>
              <a:buFont typeface="Wingdings"/>
              <a:buChar char=""/>
              <a:tabLst>
                <a:tab pos="482600" algn="l"/>
              </a:tabLst>
            </a:pPr>
            <a:r>
              <a:rPr sz="2400" spc="-20" dirty="0">
                <a:latin typeface="Verdana"/>
                <a:cs typeface="Verdana"/>
              </a:rPr>
              <a:t>Non-return-to-</a:t>
            </a:r>
            <a:r>
              <a:rPr sz="2400" dirty="0">
                <a:latin typeface="Verdana"/>
                <a:cs typeface="Verdana"/>
              </a:rPr>
              <a:t>zero</a:t>
            </a:r>
            <a:r>
              <a:rPr sz="2400" spc="-15" dirty="0">
                <a:latin typeface="Verdana"/>
                <a:cs typeface="Verdana"/>
              </a:rPr>
              <a:t> </a:t>
            </a:r>
            <a:r>
              <a:rPr sz="2400" dirty="0">
                <a:latin typeface="Verdana"/>
                <a:cs typeface="Verdana"/>
              </a:rPr>
              <a:t>(NRZ)</a:t>
            </a:r>
            <a:r>
              <a:rPr sz="2400" spc="-30" dirty="0">
                <a:latin typeface="Verdana"/>
                <a:cs typeface="Verdana"/>
              </a:rPr>
              <a:t> </a:t>
            </a:r>
            <a:r>
              <a:rPr sz="2400" dirty="0">
                <a:solidFill>
                  <a:srgbClr val="0000FF"/>
                </a:solidFill>
                <a:latin typeface="Wingdings"/>
                <a:cs typeface="Wingdings"/>
              </a:rPr>
              <a:t></a:t>
            </a:r>
            <a:r>
              <a:rPr sz="2400" spc="204" dirty="0">
                <a:solidFill>
                  <a:srgbClr val="0000FF"/>
                </a:solidFill>
                <a:latin typeface="Times New Roman"/>
                <a:cs typeface="Times New Roman"/>
              </a:rPr>
              <a:t> </a:t>
            </a:r>
            <a:r>
              <a:rPr sz="2400" dirty="0">
                <a:solidFill>
                  <a:srgbClr val="0000FF"/>
                </a:solidFill>
                <a:latin typeface="Verdana"/>
                <a:cs typeface="Verdana"/>
              </a:rPr>
              <a:t>1bit/symbol</a:t>
            </a:r>
            <a:r>
              <a:rPr sz="2400" dirty="0">
                <a:latin typeface="Verdana"/>
                <a:cs typeface="Verdana"/>
              </a:rPr>
              <a:t>,</a:t>
            </a:r>
            <a:r>
              <a:rPr sz="2400" spc="-10" dirty="0">
                <a:latin typeface="Verdana"/>
                <a:cs typeface="Verdana"/>
              </a:rPr>
              <a:t> </a:t>
            </a:r>
            <a:r>
              <a:rPr sz="2400" dirty="0">
                <a:latin typeface="Verdana"/>
                <a:cs typeface="Verdana"/>
              </a:rPr>
              <a:t>PAM4</a:t>
            </a:r>
            <a:r>
              <a:rPr sz="2400" spc="-35" dirty="0">
                <a:latin typeface="Verdana"/>
                <a:cs typeface="Verdana"/>
              </a:rPr>
              <a:t> </a:t>
            </a:r>
            <a:r>
              <a:rPr sz="2400" dirty="0">
                <a:solidFill>
                  <a:srgbClr val="0000FF"/>
                </a:solidFill>
                <a:latin typeface="Wingdings"/>
                <a:cs typeface="Wingdings"/>
              </a:rPr>
              <a:t></a:t>
            </a:r>
            <a:r>
              <a:rPr sz="2400" spc="204" dirty="0">
                <a:solidFill>
                  <a:srgbClr val="0000FF"/>
                </a:solidFill>
                <a:latin typeface="Times New Roman"/>
                <a:cs typeface="Times New Roman"/>
              </a:rPr>
              <a:t> </a:t>
            </a:r>
            <a:r>
              <a:rPr sz="2400" dirty="0">
                <a:solidFill>
                  <a:srgbClr val="0000FF"/>
                </a:solidFill>
                <a:latin typeface="Verdana"/>
                <a:cs typeface="Verdana"/>
              </a:rPr>
              <a:t>2</a:t>
            </a:r>
            <a:r>
              <a:rPr sz="2400" spc="-35" dirty="0">
                <a:solidFill>
                  <a:srgbClr val="0000FF"/>
                </a:solidFill>
                <a:latin typeface="Verdana"/>
                <a:cs typeface="Verdana"/>
              </a:rPr>
              <a:t> </a:t>
            </a:r>
            <a:r>
              <a:rPr sz="2400" spc="-10" dirty="0">
                <a:solidFill>
                  <a:srgbClr val="0000FF"/>
                </a:solidFill>
                <a:latin typeface="Verdana"/>
                <a:cs typeface="Verdana"/>
              </a:rPr>
              <a:t>bits/symbol</a:t>
            </a:r>
            <a:endParaRPr sz="2400" dirty="0">
              <a:latin typeface="Verdana"/>
              <a:cs typeface="Verdana"/>
            </a:endParaRPr>
          </a:p>
        </p:txBody>
      </p:sp>
      <p:grpSp>
        <p:nvGrpSpPr>
          <p:cNvPr id="4" name="object 4"/>
          <p:cNvGrpSpPr/>
          <p:nvPr/>
        </p:nvGrpSpPr>
        <p:grpSpPr>
          <a:xfrm>
            <a:off x="731519" y="1180338"/>
            <a:ext cx="5648960" cy="4231640"/>
            <a:chOff x="731519" y="1180338"/>
            <a:chExt cx="5648960" cy="4231640"/>
          </a:xfrm>
        </p:grpSpPr>
        <p:pic>
          <p:nvPicPr>
            <p:cNvPr id="5" name="object 5"/>
            <p:cNvPicPr/>
            <p:nvPr/>
          </p:nvPicPr>
          <p:blipFill>
            <a:blip r:embed="rId3" cstate="print"/>
            <a:stretch>
              <a:fillRect/>
            </a:stretch>
          </p:blipFill>
          <p:spPr>
            <a:xfrm>
              <a:off x="731519" y="1180338"/>
              <a:ext cx="5648705" cy="4231385"/>
            </a:xfrm>
            <a:prstGeom prst="rect">
              <a:avLst/>
            </a:prstGeom>
          </p:spPr>
        </p:pic>
        <p:sp>
          <p:nvSpPr>
            <p:cNvPr id="6" name="object 6"/>
            <p:cNvSpPr/>
            <p:nvPr/>
          </p:nvSpPr>
          <p:spPr>
            <a:xfrm>
              <a:off x="1010411" y="2185415"/>
              <a:ext cx="1215390" cy="57150"/>
            </a:xfrm>
            <a:custGeom>
              <a:avLst/>
              <a:gdLst/>
              <a:ahLst/>
              <a:cxnLst/>
              <a:rect l="l" t="t" r="r" b="b"/>
              <a:pathLst>
                <a:path w="1215389" h="57150">
                  <a:moveTo>
                    <a:pt x="1215389" y="57149"/>
                  </a:moveTo>
                  <a:lnTo>
                    <a:pt x="1215389" y="0"/>
                  </a:lnTo>
                  <a:lnTo>
                    <a:pt x="0" y="0"/>
                  </a:lnTo>
                  <a:lnTo>
                    <a:pt x="0" y="57149"/>
                  </a:lnTo>
                  <a:lnTo>
                    <a:pt x="1215389" y="57149"/>
                  </a:lnTo>
                  <a:close/>
                </a:path>
              </a:pathLst>
            </a:custGeom>
            <a:solidFill>
              <a:srgbClr val="0000FF"/>
            </a:solidFill>
          </p:spPr>
          <p:txBody>
            <a:bodyPr wrap="square" lIns="0" tIns="0" rIns="0" bIns="0" rtlCol="0"/>
            <a:lstStyle/>
            <a:p>
              <a:endParaRPr/>
            </a:p>
          </p:txBody>
        </p:sp>
        <p:sp>
          <p:nvSpPr>
            <p:cNvPr id="7" name="object 7"/>
            <p:cNvSpPr/>
            <p:nvPr/>
          </p:nvSpPr>
          <p:spPr>
            <a:xfrm>
              <a:off x="4773167" y="4631435"/>
              <a:ext cx="1214755" cy="57150"/>
            </a:xfrm>
            <a:custGeom>
              <a:avLst/>
              <a:gdLst/>
              <a:ahLst/>
              <a:cxnLst/>
              <a:rect l="l" t="t" r="r" b="b"/>
              <a:pathLst>
                <a:path w="1214754" h="57150">
                  <a:moveTo>
                    <a:pt x="1214627" y="57150"/>
                  </a:moveTo>
                  <a:lnTo>
                    <a:pt x="1214627" y="0"/>
                  </a:lnTo>
                  <a:lnTo>
                    <a:pt x="0" y="0"/>
                  </a:lnTo>
                  <a:lnTo>
                    <a:pt x="0" y="57150"/>
                  </a:lnTo>
                  <a:lnTo>
                    <a:pt x="1214627" y="57150"/>
                  </a:lnTo>
                  <a:close/>
                </a:path>
              </a:pathLst>
            </a:custGeom>
            <a:solidFill>
              <a:srgbClr val="00AFEF"/>
            </a:solidFill>
          </p:spPr>
          <p:txBody>
            <a:bodyPr wrap="square" lIns="0" tIns="0" rIns="0" bIns="0" rtlCol="0"/>
            <a:lstStyle/>
            <a:p>
              <a:endParaRPr/>
            </a:p>
          </p:txBody>
        </p:sp>
        <p:sp>
          <p:nvSpPr>
            <p:cNvPr id="8" name="object 8"/>
            <p:cNvSpPr/>
            <p:nvPr/>
          </p:nvSpPr>
          <p:spPr>
            <a:xfrm>
              <a:off x="1023366" y="2583179"/>
              <a:ext cx="3054985" cy="1180465"/>
            </a:xfrm>
            <a:custGeom>
              <a:avLst/>
              <a:gdLst/>
              <a:ahLst/>
              <a:cxnLst/>
              <a:rect l="l" t="t" r="r" b="b"/>
              <a:pathLst>
                <a:path w="3054985" h="1180464">
                  <a:moveTo>
                    <a:pt x="1168146" y="53340"/>
                  </a:moveTo>
                  <a:lnTo>
                    <a:pt x="1148334" y="0"/>
                  </a:lnTo>
                  <a:lnTo>
                    <a:pt x="1146048" y="762"/>
                  </a:lnTo>
                  <a:lnTo>
                    <a:pt x="1145286" y="1524"/>
                  </a:lnTo>
                  <a:lnTo>
                    <a:pt x="1139952" y="3048"/>
                  </a:lnTo>
                  <a:lnTo>
                    <a:pt x="1136904" y="4572"/>
                  </a:lnTo>
                  <a:lnTo>
                    <a:pt x="1133094" y="6096"/>
                  </a:lnTo>
                  <a:lnTo>
                    <a:pt x="1128522" y="8382"/>
                  </a:lnTo>
                  <a:lnTo>
                    <a:pt x="1113282" y="15240"/>
                  </a:lnTo>
                  <a:lnTo>
                    <a:pt x="1101852" y="21336"/>
                  </a:lnTo>
                  <a:lnTo>
                    <a:pt x="1091184" y="27432"/>
                  </a:lnTo>
                  <a:lnTo>
                    <a:pt x="1085088" y="30480"/>
                  </a:lnTo>
                  <a:lnTo>
                    <a:pt x="1079754" y="34290"/>
                  </a:lnTo>
                  <a:lnTo>
                    <a:pt x="1070610" y="40386"/>
                  </a:lnTo>
                  <a:lnTo>
                    <a:pt x="1060704" y="48006"/>
                  </a:lnTo>
                  <a:lnTo>
                    <a:pt x="1027938" y="73152"/>
                  </a:lnTo>
                  <a:lnTo>
                    <a:pt x="995172" y="105156"/>
                  </a:lnTo>
                  <a:lnTo>
                    <a:pt x="967740" y="140970"/>
                  </a:lnTo>
                  <a:lnTo>
                    <a:pt x="942594" y="179832"/>
                  </a:lnTo>
                  <a:lnTo>
                    <a:pt x="926592" y="205740"/>
                  </a:lnTo>
                  <a:lnTo>
                    <a:pt x="917448" y="218694"/>
                  </a:lnTo>
                  <a:lnTo>
                    <a:pt x="865632" y="302514"/>
                  </a:lnTo>
                  <a:lnTo>
                    <a:pt x="792480" y="416814"/>
                  </a:lnTo>
                  <a:lnTo>
                    <a:pt x="784860" y="428244"/>
                  </a:lnTo>
                  <a:lnTo>
                    <a:pt x="778002" y="440436"/>
                  </a:lnTo>
                  <a:lnTo>
                    <a:pt x="771144" y="451866"/>
                  </a:lnTo>
                  <a:lnTo>
                    <a:pt x="764286" y="462534"/>
                  </a:lnTo>
                  <a:lnTo>
                    <a:pt x="752094" y="482346"/>
                  </a:lnTo>
                  <a:lnTo>
                    <a:pt x="745998" y="491490"/>
                  </a:lnTo>
                  <a:lnTo>
                    <a:pt x="727710" y="514350"/>
                  </a:lnTo>
                  <a:lnTo>
                    <a:pt x="720852" y="520446"/>
                  </a:lnTo>
                  <a:lnTo>
                    <a:pt x="714756" y="527304"/>
                  </a:lnTo>
                  <a:lnTo>
                    <a:pt x="708660" y="533400"/>
                  </a:lnTo>
                  <a:lnTo>
                    <a:pt x="701802" y="538734"/>
                  </a:lnTo>
                  <a:lnTo>
                    <a:pt x="688848" y="550164"/>
                  </a:lnTo>
                  <a:lnTo>
                    <a:pt x="681990" y="555498"/>
                  </a:lnTo>
                  <a:lnTo>
                    <a:pt x="676656" y="560070"/>
                  </a:lnTo>
                  <a:lnTo>
                    <a:pt x="671322" y="563880"/>
                  </a:lnTo>
                  <a:lnTo>
                    <a:pt x="666750" y="567690"/>
                  </a:lnTo>
                  <a:lnTo>
                    <a:pt x="654558" y="574548"/>
                  </a:lnTo>
                  <a:lnTo>
                    <a:pt x="651510" y="576834"/>
                  </a:lnTo>
                  <a:lnTo>
                    <a:pt x="647700" y="578358"/>
                  </a:lnTo>
                  <a:lnTo>
                    <a:pt x="643890" y="580644"/>
                  </a:lnTo>
                  <a:lnTo>
                    <a:pt x="606552" y="598170"/>
                  </a:lnTo>
                  <a:lnTo>
                    <a:pt x="569214" y="613410"/>
                  </a:lnTo>
                  <a:lnTo>
                    <a:pt x="534924" y="623316"/>
                  </a:lnTo>
                  <a:lnTo>
                    <a:pt x="523494" y="626364"/>
                  </a:lnTo>
                  <a:lnTo>
                    <a:pt x="518922" y="627126"/>
                  </a:lnTo>
                  <a:lnTo>
                    <a:pt x="510540" y="629412"/>
                  </a:lnTo>
                  <a:lnTo>
                    <a:pt x="495300" y="631698"/>
                  </a:lnTo>
                  <a:lnTo>
                    <a:pt x="489204" y="631698"/>
                  </a:lnTo>
                  <a:lnTo>
                    <a:pt x="485394" y="632460"/>
                  </a:lnTo>
                  <a:lnTo>
                    <a:pt x="477012" y="632460"/>
                  </a:lnTo>
                  <a:lnTo>
                    <a:pt x="472440" y="633222"/>
                  </a:lnTo>
                  <a:lnTo>
                    <a:pt x="461772" y="633222"/>
                  </a:lnTo>
                  <a:lnTo>
                    <a:pt x="456438" y="633984"/>
                  </a:lnTo>
                  <a:lnTo>
                    <a:pt x="428244" y="633984"/>
                  </a:lnTo>
                  <a:lnTo>
                    <a:pt x="420624" y="634746"/>
                  </a:lnTo>
                  <a:lnTo>
                    <a:pt x="762" y="628650"/>
                  </a:lnTo>
                  <a:lnTo>
                    <a:pt x="0" y="685800"/>
                  </a:lnTo>
                  <a:lnTo>
                    <a:pt x="419862" y="691896"/>
                  </a:lnTo>
                  <a:lnTo>
                    <a:pt x="429006" y="691134"/>
                  </a:lnTo>
                  <a:lnTo>
                    <a:pt x="457962" y="691134"/>
                  </a:lnTo>
                  <a:lnTo>
                    <a:pt x="464058" y="690372"/>
                  </a:lnTo>
                  <a:lnTo>
                    <a:pt x="474726" y="690372"/>
                  </a:lnTo>
                  <a:lnTo>
                    <a:pt x="480060" y="689610"/>
                  </a:lnTo>
                  <a:lnTo>
                    <a:pt x="489204" y="689610"/>
                  </a:lnTo>
                  <a:lnTo>
                    <a:pt x="493014" y="688848"/>
                  </a:lnTo>
                  <a:lnTo>
                    <a:pt x="514350" y="686562"/>
                  </a:lnTo>
                  <a:lnTo>
                    <a:pt x="520446" y="685038"/>
                  </a:lnTo>
                  <a:lnTo>
                    <a:pt x="531876" y="682752"/>
                  </a:lnTo>
                  <a:lnTo>
                    <a:pt x="537210" y="681228"/>
                  </a:lnTo>
                  <a:lnTo>
                    <a:pt x="543306" y="680466"/>
                  </a:lnTo>
                  <a:lnTo>
                    <a:pt x="555498" y="677418"/>
                  </a:lnTo>
                  <a:lnTo>
                    <a:pt x="585978" y="668274"/>
                  </a:lnTo>
                  <a:lnTo>
                    <a:pt x="601218" y="662178"/>
                  </a:lnTo>
                  <a:lnTo>
                    <a:pt x="615696" y="656844"/>
                  </a:lnTo>
                  <a:lnTo>
                    <a:pt x="629412" y="650748"/>
                  </a:lnTo>
                  <a:lnTo>
                    <a:pt x="653796" y="639318"/>
                  </a:lnTo>
                  <a:lnTo>
                    <a:pt x="669036" y="631698"/>
                  </a:lnTo>
                  <a:lnTo>
                    <a:pt x="674370" y="629412"/>
                  </a:lnTo>
                  <a:lnTo>
                    <a:pt x="711708" y="605028"/>
                  </a:lnTo>
                  <a:lnTo>
                    <a:pt x="717804" y="599694"/>
                  </a:lnTo>
                  <a:lnTo>
                    <a:pt x="724662" y="594360"/>
                  </a:lnTo>
                  <a:lnTo>
                    <a:pt x="739140" y="582168"/>
                  </a:lnTo>
                  <a:lnTo>
                    <a:pt x="746760" y="575310"/>
                  </a:lnTo>
                  <a:lnTo>
                    <a:pt x="753618" y="568452"/>
                  </a:lnTo>
                  <a:lnTo>
                    <a:pt x="761238" y="561594"/>
                  </a:lnTo>
                  <a:lnTo>
                    <a:pt x="791718" y="525780"/>
                  </a:lnTo>
                  <a:lnTo>
                    <a:pt x="833628" y="457962"/>
                  </a:lnTo>
                  <a:lnTo>
                    <a:pt x="905256" y="346710"/>
                  </a:lnTo>
                  <a:lnTo>
                    <a:pt x="922020" y="319278"/>
                  </a:lnTo>
                  <a:lnTo>
                    <a:pt x="957072" y="262890"/>
                  </a:lnTo>
                  <a:lnTo>
                    <a:pt x="974598" y="236220"/>
                  </a:lnTo>
                  <a:lnTo>
                    <a:pt x="990600" y="210312"/>
                  </a:lnTo>
                  <a:lnTo>
                    <a:pt x="998982" y="197358"/>
                  </a:lnTo>
                  <a:lnTo>
                    <a:pt x="1007364" y="185166"/>
                  </a:lnTo>
                  <a:lnTo>
                    <a:pt x="1014984" y="172974"/>
                  </a:lnTo>
                  <a:lnTo>
                    <a:pt x="1023366" y="161544"/>
                  </a:lnTo>
                  <a:lnTo>
                    <a:pt x="1030986" y="151638"/>
                  </a:lnTo>
                  <a:lnTo>
                    <a:pt x="1039368" y="141732"/>
                  </a:lnTo>
                  <a:lnTo>
                    <a:pt x="1047750" y="133350"/>
                  </a:lnTo>
                  <a:lnTo>
                    <a:pt x="1056132" y="124206"/>
                  </a:lnTo>
                  <a:lnTo>
                    <a:pt x="1066038" y="116586"/>
                  </a:lnTo>
                  <a:lnTo>
                    <a:pt x="1075182" y="108204"/>
                  </a:lnTo>
                  <a:lnTo>
                    <a:pt x="1085088" y="100584"/>
                  </a:lnTo>
                  <a:lnTo>
                    <a:pt x="1094994" y="93726"/>
                  </a:lnTo>
                  <a:lnTo>
                    <a:pt x="1112520" y="80772"/>
                  </a:lnTo>
                  <a:lnTo>
                    <a:pt x="1120140" y="76200"/>
                  </a:lnTo>
                  <a:lnTo>
                    <a:pt x="1138428" y="66294"/>
                  </a:lnTo>
                  <a:lnTo>
                    <a:pt x="1147572" y="62484"/>
                  </a:lnTo>
                  <a:lnTo>
                    <a:pt x="1151382" y="60198"/>
                  </a:lnTo>
                  <a:lnTo>
                    <a:pt x="1155954" y="58674"/>
                  </a:lnTo>
                  <a:lnTo>
                    <a:pt x="1159002" y="57150"/>
                  </a:lnTo>
                  <a:lnTo>
                    <a:pt x="1162050" y="56388"/>
                  </a:lnTo>
                  <a:lnTo>
                    <a:pt x="1164336" y="54864"/>
                  </a:lnTo>
                  <a:lnTo>
                    <a:pt x="1165860" y="54864"/>
                  </a:lnTo>
                  <a:lnTo>
                    <a:pt x="1168146" y="53340"/>
                  </a:lnTo>
                  <a:close/>
                </a:path>
                <a:path w="3054985" h="1180464">
                  <a:moveTo>
                    <a:pt x="3054858" y="521208"/>
                  </a:moveTo>
                  <a:lnTo>
                    <a:pt x="3040380" y="486156"/>
                  </a:lnTo>
                  <a:lnTo>
                    <a:pt x="3038094" y="486918"/>
                  </a:lnTo>
                  <a:lnTo>
                    <a:pt x="3030474" y="490728"/>
                  </a:lnTo>
                  <a:lnTo>
                    <a:pt x="3026664" y="492252"/>
                  </a:lnTo>
                  <a:lnTo>
                    <a:pt x="3022092" y="493776"/>
                  </a:lnTo>
                  <a:lnTo>
                    <a:pt x="2996184" y="506730"/>
                  </a:lnTo>
                  <a:lnTo>
                    <a:pt x="2985516" y="512826"/>
                  </a:lnTo>
                  <a:lnTo>
                    <a:pt x="2980182" y="516636"/>
                  </a:lnTo>
                  <a:lnTo>
                    <a:pt x="2974848" y="519684"/>
                  </a:lnTo>
                  <a:lnTo>
                    <a:pt x="2934462" y="550926"/>
                  </a:lnTo>
                  <a:lnTo>
                    <a:pt x="2902458" y="580644"/>
                  </a:lnTo>
                  <a:lnTo>
                    <a:pt x="2874264" y="615696"/>
                  </a:lnTo>
                  <a:lnTo>
                    <a:pt x="2865120" y="627888"/>
                  </a:lnTo>
                  <a:lnTo>
                    <a:pt x="2856738" y="640842"/>
                  </a:lnTo>
                  <a:lnTo>
                    <a:pt x="2848356" y="654558"/>
                  </a:lnTo>
                  <a:lnTo>
                    <a:pt x="2840736" y="667512"/>
                  </a:lnTo>
                  <a:lnTo>
                    <a:pt x="2806446" y="722376"/>
                  </a:lnTo>
                  <a:lnTo>
                    <a:pt x="2798064" y="736854"/>
                  </a:lnTo>
                  <a:lnTo>
                    <a:pt x="2788920" y="751332"/>
                  </a:lnTo>
                  <a:lnTo>
                    <a:pt x="2772156" y="780288"/>
                  </a:lnTo>
                  <a:lnTo>
                    <a:pt x="2763012" y="794766"/>
                  </a:lnTo>
                  <a:lnTo>
                    <a:pt x="2689860" y="912876"/>
                  </a:lnTo>
                  <a:lnTo>
                    <a:pt x="2683002" y="925068"/>
                  </a:lnTo>
                  <a:lnTo>
                    <a:pt x="2675382" y="937260"/>
                  </a:lnTo>
                  <a:lnTo>
                    <a:pt x="2669286" y="948690"/>
                  </a:lnTo>
                  <a:lnTo>
                    <a:pt x="2662428" y="960120"/>
                  </a:lnTo>
                  <a:lnTo>
                    <a:pt x="2655570" y="970788"/>
                  </a:lnTo>
                  <a:lnTo>
                    <a:pt x="2643378" y="990600"/>
                  </a:lnTo>
                  <a:lnTo>
                    <a:pt x="2617470" y="1022604"/>
                  </a:lnTo>
                  <a:lnTo>
                    <a:pt x="2584704" y="1053084"/>
                  </a:lnTo>
                  <a:lnTo>
                    <a:pt x="2577846" y="1058418"/>
                  </a:lnTo>
                  <a:lnTo>
                    <a:pt x="2572512" y="1063752"/>
                  </a:lnTo>
                  <a:lnTo>
                    <a:pt x="2566416" y="1067562"/>
                  </a:lnTo>
                  <a:lnTo>
                    <a:pt x="2561844" y="1071372"/>
                  </a:lnTo>
                  <a:lnTo>
                    <a:pt x="2555748" y="1075182"/>
                  </a:lnTo>
                  <a:lnTo>
                    <a:pt x="2549652" y="1079754"/>
                  </a:lnTo>
                  <a:lnTo>
                    <a:pt x="2545842" y="1081278"/>
                  </a:lnTo>
                  <a:lnTo>
                    <a:pt x="2538222" y="1085850"/>
                  </a:lnTo>
                  <a:lnTo>
                    <a:pt x="2532888" y="1088136"/>
                  </a:lnTo>
                  <a:lnTo>
                    <a:pt x="2522982" y="1093470"/>
                  </a:lnTo>
                  <a:lnTo>
                    <a:pt x="2511552" y="1098804"/>
                  </a:lnTo>
                  <a:lnTo>
                    <a:pt x="2500122" y="1104900"/>
                  </a:lnTo>
                  <a:lnTo>
                    <a:pt x="2487168" y="1110234"/>
                  </a:lnTo>
                  <a:lnTo>
                    <a:pt x="2474976" y="1115568"/>
                  </a:lnTo>
                  <a:lnTo>
                    <a:pt x="2461260" y="1120902"/>
                  </a:lnTo>
                  <a:lnTo>
                    <a:pt x="2448306" y="1125474"/>
                  </a:lnTo>
                  <a:lnTo>
                    <a:pt x="2434590" y="1129284"/>
                  </a:lnTo>
                  <a:lnTo>
                    <a:pt x="2426970" y="1130808"/>
                  </a:lnTo>
                  <a:lnTo>
                    <a:pt x="2415540" y="1133856"/>
                  </a:lnTo>
                  <a:lnTo>
                    <a:pt x="2410968" y="1134618"/>
                  </a:lnTo>
                  <a:lnTo>
                    <a:pt x="2401824" y="1136904"/>
                  </a:lnTo>
                  <a:lnTo>
                    <a:pt x="2397252" y="1137666"/>
                  </a:lnTo>
                  <a:lnTo>
                    <a:pt x="2379726" y="1139952"/>
                  </a:lnTo>
                  <a:lnTo>
                    <a:pt x="2375916" y="1140714"/>
                  </a:lnTo>
                  <a:lnTo>
                    <a:pt x="2367534" y="1140714"/>
                  </a:lnTo>
                  <a:lnTo>
                    <a:pt x="2362962" y="1141476"/>
                  </a:lnTo>
                  <a:lnTo>
                    <a:pt x="2346198" y="1141476"/>
                  </a:lnTo>
                  <a:lnTo>
                    <a:pt x="2340102" y="1142238"/>
                  </a:lnTo>
                  <a:lnTo>
                    <a:pt x="2318004" y="1142238"/>
                  </a:lnTo>
                  <a:lnTo>
                    <a:pt x="2310384" y="1143000"/>
                  </a:lnTo>
                  <a:lnTo>
                    <a:pt x="1890522" y="1136142"/>
                  </a:lnTo>
                  <a:lnTo>
                    <a:pt x="1889760" y="1174242"/>
                  </a:lnTo>
                  <a:lnTo>
                    <a:pt x="2310384" y="1180338"/>
                  </a:lnTo>
                  <a:lnTo>
                    <a:pt x="2340864" y="1180338"/>
                  </a:lnTo>
                  <a:lnTo>
                    <a:pt x="2347722" y="1179576"/>
                  </a:lnTo>
                  <a:lnTo>
                    <a:pt x="2364486" y="1179576"/>
                  </a:lnTo>
                  <a:lnTo>
                    <a:pt x="2369058" y="1178814"/>
                  </a:lnTo>
                  <a:lnTo>
                    <a:pt x="2374392" y="1178814"/>
                  </a:lnTo>
                  <a:lnTo>
                    <a:pt x="2378202" y="1178052"/>
                  </a:lnTo>
                  <a:lnTo>
                    <a:pt x="2382774" y="1178052"/>
                  </a:lnTo>
                  <a:lnTo>
                    <a:pt x="2403348" y="1175766"/>
                  </a:lnTo>
                  <a:lnTo>
                    <a:pt x="2408682" y="1174242"/>
                  </a:lnTo>
                  <a:lnTo>
                    <a:pt x="2419350" y="1171956"/>
                  </a:lnTo>
                  <a:lnTo>
                    <a:pt x="2430780" y="1168908"/>
                  </a:lnTo>
                  <a:lnTo>
                    <a:pt x="2458212" y="1162050"/>
                  </a:lnTo>
                  <a:lnTo>
                    <a:pt x="2473452" y="1156716"/>
                  </a:lnTo>
                  <a:lnTo>
                    <a:pt x="2539746" y="1127760"/>
                  </a:lnTo>
                  <a:lnTo>
                    <a:pt x="2559558" y="1117092"/>
                  </a:lnTo>
                  <a:lnTo>
                    <a:pt x="2568702" y="1112520"/>
                  </a:lnTo>
                  <a:lnTo>
                    <a:pt x="2575560" y="1107948"/>
                  </a:lnTo>
                  <a:lnTo>
                    <a:pt x="2583180" y="1103376"/>
                  </a:lnTo>
                  <a:lnTo>
                    <a:pt x="2589276" y="1098042"/>
                  </a:lnTo>
                  <a:lnTo>
                    <a:pt x="2596134" y="1093470"/>
                  </a:lnTo>
                  <a:lnTo>
                    <a:pt x="2630424" y="1062990"/>
                  </a:lnTo>
                  <a:lnTo>
                    <a:pt x="2652522" y="1040892"/>
                  </a:lnTo>
                  <a:lnTo>
                    <a:pt x="2659380" y="1031748"/>
                  </a:lnTo>
                  <a:lnTo>
                    <a:pt x="2667000" y="1022604"/>
                  </a:lnTo>
                  <a:lnTo>
                    <a:pt x="2681478" y="1002030"/>
                  </a:lnTo>
                  <a:lnTo>
                    <a:pt x="2708910" y="956310"/>
                  </a:lnTo>
                  <a:lnTo>
                    <a:pt x="2715768" y="944118"/>
                  </a:lnTo>
                  <a:lnTo>
                    <a:pt x="2722626" y="932688"/>
                  </a:lnTo>
                  <a:lnTo>
                    <a:pt x="2795778" y="814578"/>
                  </a:lnTo>
                  <a:lnTo>
                    <a:pt x="2804160" y="800100"/>
                  </a:lnTo>
                  <a:lnTo>
                    <a:pt x="2821686" y="771144"/>
                  </a:lnTo>
                  <a:lnTo>
                    <a:pt x="2830830" y="756666"/>
                  </a:lnTo>
                  <a:lnTo>
                    <a:pt x="2839212" y="742188"/>
                  </a:lnTo>
                  <a:lnTo>
                    <a:pt x="2872740" y="687324"/>
                  </a:lnTo>
                  <a:lnTo>
                    <a:pt x="2889504" y="661416"/>
                  </a:lnTo>
                  <a:lnTo>
                    <a:pt x="2897124" y="649224"/>
                  </a:lnTo>
                  <a:lnTo>
                    <a:pt x="2905506" y="637032"/>
                  </a:lnTo>
                  <a:lnTo>
                    <a:pt x="2939796" y="596646"/>
                  </a:lnTo>
                  <a:lnTo>
                    <a:pt x="2969514" y="571500"/>
                  </a:lnTo>
                  <a:lnTo>
                    <a:pt x="2997708" y="550926"/>
                  </a:lnTo>
                  <a:lnTo>
                    <a:pt x="3001518" y="547878"/>
                  </a:lnTo>
                  <a:lnTo>
                    <a:pt x="3006090" y="545592"/>
                  </a:lnTo>
                  <a:lnTo>
                    <a:pt x="3024378" y="534924"/>
                  </a:lnTo>
                  <a:lnTo>
                    <a:pt x="3033522" y="530352"/>
                  </a:lnTo>
                  <a:lnTo>
                    <a:pt x="3038094" y="528828"/>
                  </a:lnTo>
                  <a:lnTo>
                    <a:pt x="3041904" y="527304"/>
                  </a:lnTo>
                  <a:lnTo>
                    <a:pt x="3045714" y="525018"/>
                  </a:lnTo>
                  <a:lnTo>
                    <a:pt x="3051048" y="523494"/>
                  </a:lnTo>
                  <a:lnTo>
                    <a:pt x="3052572" y="521970"/>
                  </a:lnTo>
                  <a:lnTo>
                    <a:pt x="3053334" y="521970"/>
                  </a:lnTo>
                  <a:lnTo>
                    <a:pt x="3054858" y="521208"/>
                  </a:lnTo>
                  <a:close/>
                </a:path>
              </a:pathLst>
            </a:custGeom>
            <a:solidFill>
              <a:srgbClr val="BF0000"/>
            </a:solidFill>
          </p:spPr>
          <p:txBody>
            <a:bodyPr wrap="square" lIns="0" tIns="0" rIns="0" bIns="0" rtlCol="0"/>
            <a:lstStyle/>
            <a:p>
              <a:endParaRPr/>
            </a:p>
          </p:txBody>
        </p:sp>
        <p:sp>
          <p:nvSpPr>
            <p:cNvPr id="9" name="object 9"/>
            <p:cNvSpPr/>
            <p:nvPr/>
          </p:nvSpPr>
          <p:spPr>
            <a:xfrm>
              <a:off x="2861310" y="1524761"/>
              <a:ext cx="3091815" cy="2239645"/>
            </a:xfrm>
            <a:custGeom>
              <a:avLst/>
              <a:gdLst/>
              <a:ahLst/>
              <a:cxnLst/>
              <a:rect l="l" t="t" r="r" b="b"/>
              <a:pathLst>
                <a:path w="3091815" h="2239645">
                  <a:moveTo>
                    <a:pt x="1232154" y="2194560"/>
                  </a:moveTo>
                  <a:lnTo>
                    <a:pt x="787146" y="2201418"/>
                  </a:lnTo>
                  <a:lnTo>
                    <a:pt x="778764" y="2200656"/>
                  </a:lnTo>
                  <a:lnTo>
                    <a:pt x="755904" y="2200656"/>
                  </a:lnTo>
                  <a:lnTo>
                    <a:pt x="749046" y="2199894"/>
                  </a:lnTo>
                  <a:lnTo>
                    <a:pt x="731520" y="2199894"/>
                  </a:lnTo>
                  <a:lnTo>
                    <a:pt x="726948" y="2199132"/>
                  </a:lnTo>
                  <a:lnTo>
                    <a:pt x="722376" y="2199132"/>
                  </a:lnTo>
                  <a:lnTo>
                    <a:pt x="717804" y="2198370"/>
                  </a:lnTo>
                  <a:lnTo>
                    <a:pt x="713994" y="2198370"/>
                  </a:lnTo>
                  <a:lnTo>
                    <a:pt x="694944" y="2196084"/>
                  </a:lnTo>
                  <a:lnTo>
                    <a:pt x="690372" y="2195322"/>
                  </a:lnTo>
                  <a:lnTo>
                    <a:pt x="680466" y="2193036"/>
                  </a:lnTo>
                  <a:lnTo>
                    <a:pt x="669798" y="2189988"/>
                  </a:lnTo>
                  <a:lnTo>
                    <a:pt x="656082" y="2186940"/>
                  </a:lnTo>
                  <a:lnTo>
                    <a:pt x="612648" y="2173224"/>
                  </a:lnTo>
                  <a:lnTo>
                    <a:pt x="561594" y="2150364"/>
                  </a:lnTo>
                  <a:lnTo>
                    <a:pt x="556260" y="2147316"/>
                  </a:lnTo>
                  <a:lnTo>
                    <a:pt x="545592" y="2142744"/>
                  </a:lnTo>
                  <a:lnTo>
                    <a:pt x="541020" y="2140458"/>
                  </a:lnTo>
                  <a:lnTo>
                    <a:pt x="533400" y="2135886"/>
                  </a:lnTo>
                  <a:lnTo>
                    <a:pt x="526542" y="2132076"/>
                  </a:lnTo>
                  <a:lnTo>
                    <a:pt x="509016" y="2119122"/>
                  </a:lnTo>
                  <a:lnTo>
                    <a:pt x="503682" y="2114550"/>
                  </a:lnTo>
                  <a:lnTo>
                    <a:pt x="496062" y="2108454"/>
                  </a:lnTo>
                  <a:lnTo>
                    <a:pt x="482346" y="2096262"/>
                  </a:lnTo>
                  <a:lnTo>
                    <a:pt x="474726" y="2090166"/>
                  </a:lnTo>
                  <a:lnTo>
                    <a:pt x="467868" y="2084070"/>
                  </a:lnTo>
                  <a:lnTo>
                    <a:pt x="440436" y="2053590"/>
                  </a:lnTo>
                  <a:lnTo>
                    <a:pt x="427482" y="2034540"/>
                  </a:lnTo>
                  <a:lnTo>
                    <a:pt x="413766" y="2013204"/>
                  </a:lnTo>
                  <a:lnTo>
                    <a:pt x="406908" y="2001012"/>
                  </a:lnTo>
                  <a:lnTo>
                    <a:pt x="384048" y="1964436"/>
                  </a:lnTo>
                  <a:lnTo>
                    <a:pt x="315468" y="1856994"/>
                  </a:lnTo>
                  <a:lnTo>
                    <a:pt x="279654" y="1798320"/>
                  </a:lnTo>
                  <a:lnTo>
                    <a:pt x="269748" y="1783842"/>
                  </a:lnTo>
                  <a:lnTo>
                    <a:pt x="260604" y="1768602"/>
                  </a:lnTo>
                  <a:lnTo>
                    <a:pt x="224790" y="1712214"/>
                  </a:lnTo>
                  <a:lnTo>
                    <a:pt x="198882" y="1671828"/>
                  </a:lnTo>
                  <a:lnTo>
                    <a:pt x="169926" y="1634490"/>
                  </a:lnTo>
                  <a:lnTo>
                    <a:pt x="137160" y="1601724"/>
                  </a:lnTo>
                  <a:lnTo>
                    <a:pt x="92202" y="1567434"/>
                  </a:lnTo>
                  <a:lnTo>
                    <a:pt x="48768" y="1541526"/>
                  </a:lnTo>
                  <a:lnTo>
                    <a:pt x="43434" y="1539240"/>
                  </a:lnTo>
                  <a:lnTo>
                    <a:pt x="38100" y="1536192"/>
                  </a:lnTo>
                  <a:lnTo>
                    <a:pt x="33528" y="1534668"/>
                  </a:lnTo>
                  <a:lnTo>
                    <a:pt x="28956" y="1532382"/>
                  </a:lnTo>
                  <a:lnTo>
                    <a:pt x="24384" y="1530858"/>
                  </a:lnTo>
                  <a:lnTo>
                    <a:pt x="18288" y="1527810"/>
                  </a:lnTo>
                  <a:lnTo>
                    <a:pt x="16002" y="1527048"/>
                  </a:lnTo>
                  <a:lnTo>
                    <a:pt x="14478" y="1526286"/>
                  </a:lnTo>
                  <a:lnTo>
                    <a:pt x="0" y="1562100"/>
                  </a:lnTo>
                  <a:lnTo>
                    <a:pt x="1524" y="1562100"/>
                  </a:lnTo>
                  <a:lnTo>
                    <a:pt x="3810" y="1563624"/>
                  </a:lnTo>
                  <a:lnTo>
                    <a:pt x="17526" y="1568958"/>
                  </a:lnTo>
                  <a:lnTo>
                    <a:pt x="26670" y="1573530"/>
                  </a:lnTo>
                  <a:lnTo>
                    <a:pt x="41910" y="1580388"/>
                  </a:lnTo>
                  <a:lnTo>
                    <a:pt x="51816" y="1586484"/>
                  </a:lnTo>
                  <a:lnTo>
                    <a:pt x="56388" y="1588770"/>
                  </a:lnTo>
                  <a:lnTo>
                    <a:pt x="60960" y="1591818"/>
                  </a:lnTo>
                  <a:lnTo>
                    <a:pt x="70104" y="1598676"/>
                  </a:lnTo>
                  <a:lnTo>
                    <a:pt x="90678" y="1613154"/>
                  </a:lnTo>
                  <a:lnTo>
                    <a:pt x="101346" y="1621536"/>
                  </a:lnTo>
                  <a:lnTo>
                    <a:pt x="111252" y="1630680"/>
                  </a:lnTo>
                  <a:lnTo>
                    <a:pt x="121920" y="1639824"/>
                  </a:lnTo>
                  <a:lnTo>
                    <a:pt x="131826" y="1648968"/>
                  </a:lnTo>
                  <a:lnTo>
                    <a:pt x="158496" y="1680972"/>
                  </a:lnTo>
                  <a:lnTo>
                    <a:pt x="184404" y="1719072"/>
                  </a:lnTo>
                  <a:lnTo>
                    <a:pt x="192786" y="1732788"/>
                  </a:lnTo>
                  <a:lnTo>
                    <a:pt x="237744" y="1803654"/>
                  </a:lnTo>
                  <a:lnTo>
                    <a:pt x="246888" y="1818894"/>
                  </a:lnTo>
                  <a:lnTo>
                    <a:pt x="265176" y="1848612"/>
                  </a:lnTo>
                  <a:lnTo>
                    <a:pt x="283464" y="1877568"/>
                  </a:lnTo>
                  <a:lnTo>
                    <a:pt x="352044" y="1984248"/>
                  </a:lnTo>
                  <a:lnTo>
                    <a:pt x="359664" y="1996440"/>
                  </a:lnTo>
                  <a:lnTo>
                    <a:pt x="366522" y="2008632"/>
                  </a:lnTo>
                  <a:lnTo>
                    <a:pt x="374142" y="2020824"/>
                  </a:lnTo>
                  <a:lnTo>
                    <a:pt x="381000" y="2033016"/>
                  </a:lnTo>
                  <a:lnTo>
                    <a:pt x="388620" y="2044446"/>
                  </a:lnTo>
                  <a:lnTo>
                    <a:pt x="395478" y="2055876"/>
                  </a:lnTo>
                  <a:lnTo>
                    <a:pt x="410718" y="2077212"/>
                  </a:lnTo>
                  <a:lnTo>
                    <a:pt x="418338" y="2087118"/>
                  </a:lnTo>
                  <a:lnTo>
                    <a:pt x="426720" y="2095500"/>
                  </a:lnTo>
                  <a:lnTo>
                    <a:pt x="434340" y="2103882"/>
                  </a:lnTo>
                  <a:lnTo>
                    <a:pt x="449580" y="2119122"/>
                  </a:lnTo>
                  <a:lnTo>
                    <a:pt x="457200" y="2125218"/>
                  </a:lnTo>
                  <a:lnTo>
                    <a:pt x="472440" y="2138172"/>
                  </a:lnTo>
                  <a:lnTo>
                    <a:pt x="479298" y="2144268"/>
                  </a:lnTo>
                  <a:lnTo>
                    <a:pt x="493014" y="2154936"/>
                  </a:lnTo>
                  <a:lnTo>
                    <a:pt x="499872" y="2159508"/>
                  </a:lnTo>
                  <a:lnTo>
                    <a:pt x="506730" y="2164842"/>
                  </a:lnTo>
                  <a:lnTo>
                    <a:pt x="518922" y="2171700"/>
                  </a:lnTo>
                  <a:lnTo>
                    <a:pt x="524256" y="2173986"/>
                  </a:lnTo>
                  <a:lnTo>
                    <a:pt x="528828" y="2176272"/>
                  </a:lnTo>
                  <a:lnTo>
                    <a:pt x="534162" y="2179320"/>
                  </a:lnTo>
                  <a:lnTo>
                    <a:pt x="539496" y="2181606"/>
                  </a:lnTo>
                  <a:lnTo>
                    <a:pt x="544830" y="2184654"/>
                  </a:lnTo>
                  <a:lnTo>
                    <a:pt x="584454" y="2202942"/>
                  </a:lnTo>
                  <a:lnTo>
                    <a:pt x="630936" y="2219706"/>
                  </a:lnTo>
                  <a:lnTo>
                    <a:pt x="653796" y="2225802"/>
                  </a:lnTo>
                  <a:lnTo>
                    <a:pt x="672084" y="2230374"/>
                  </a:lnTo>
                  <a:lnTo>
                    <a:pt x="683514" y="2232660"/>
                  </a:lnTo>
                  <a:lnTo>
                    <a:pt x="689610" y="2233422"/>
                  </a:lnTo>
                  <a:lnTo>
                    <a:pt x="695706" y="2234946"/>
                  </a:lnTo>
                  <a:lnTo>
                    <a:pt x="710946" y="2236470"/>
                  </a:lnTo>
                  <a:lnTo>
                    <a:pt x="715518" y="2236470"/>
                  </a:lnTo>
                  <a:lnTo>
                    <a:pt x="720090" y="2237232"/>
                  </a:lnTo>
                  <a:lnTo>
                    <a:pt x="729996" y="2237232"/>
                  </a:lnTo>
                  <a:lnTo>
                    <a:pt x="735330" y="2237994"/>
                  </a:lnTo>
                  <a:lnTo>
                    <a:pt x="748284" y="2237994"/>
                  </a:lnTo>
                  <a:lnTo>
                    <a:pt x="755142" y="2238756"/>
                  </a:lnTo>
                  <a:lnTo>
                    <a:pt x="778002" y="2238756"/>
                  </a:lnTo>
                  <a:lnTo>
                    <a:pt x="787908" y="2239518"/>
                  </a:lnTo>
                  <a:lnTo>
                    <a:pt x="1232154" y="2232660"/>
                  </a:lnTo>
                  <a:lnTo>
                    <a:pt x="1232154" y="2194560"/>
                  </a:lnTo>
                  <a:close/>
                </a:path>
                <a:path w="3091815" h="2239645">
                  <a:moveTo>
                    <a:pt x="3091434" y="685038"/>
                  </a:moveTo>
                  <a:lnTo>
                    <a:pt x="3090672" y="627888"/>
                  </a:lnTo>
                  <a:lnTo>
                    <a:pt x="2670048" y="633984"/>
                  </a:lnTo>
                  <a:lnTo>
                    <a:pt x="2641092" y="633984"/>
                  </a:lnTo>
                  <a:lnTo>
                    <a:pt x="2634996" y="633222"/>
                  </a:lnTo>
                  <a:lnTo>
                    <a:pt x="2623566" y="633222"/>
                  </a:lnTo>
                  <a:lnTo>
                    <a:pt x="2618994" y="632460"/>
                  </a:lnTo>
                  <a:lnTo>
                    <a:pt x="2609850" y="632460"/>
                  </a:lnTo>
                  <a:lnTo>
                    <a:pt x="2606040" y="631698"/>
                  </a:lnTo>
                  <a:lnTo>
                    <a:pt x="2602230" y="631698"/>
                  </a:lnTo>
                  <a:lnTo>
                    <a:pt x="2590038" y="630174"/>
                  </a:lnTo>
                  <a:lnTo>
                    <a:pt x="2571750" y="627126"/>
                  </a:lnTo>
                  <a:lnTo>
                    <a:pt x="2567178" y="625602"/>
                  </a:lnTo>
                  <a:lnTo>
                    <a:pt x="2562606" y="624840"/>
                  </a:lnTo>
                  <a:lnTo>
                    <a:pt x="2522220" y="613410"/>
                  </a:lnTo>
                  <a:lnTo>
                    <a:pt x="2484882" y="598170"/>
                  </a:lnTo>
                  <a:lnTo>
                    <a:pt x="2442972" y="578358"/>
                  </a:lnTo>
                  <a:lnTo>
                    <a:pt x="2439924" y="576072"/>
                  </a:lnTo>
                  <a:lnTo>
                    <a:pt x="2436114" y="574548"/>
                  </a:lnTo>
                  <a:lnTo>
                    <a:pt x="2430018" y="570738"/>
                  </a:lnTo>
                  <a:lnTo>
                    <a:pt x="2424684" y="566928"/>
                  </a:lnTo>
                  <a:lnTo>
                    <a:pt x="2419350" y="563880"/>
                  </a:lnTo>
                  <a:lnTo>
                    <a:pt x="2414778" y="559308"/>
                  </a:lnTo>
                  <a:lnTo>
                    <a:pt x="2409444" y="555498"/>
                  </a:lnTo>
                  <a:lnTo>
                    <a:pt x="2402586" y="550164"/>
                  </a:lnTo>
                  <a:lnTo>
                    <a:pt x="2388870" y="538734"/>
                  </a:lnTo>
                  <a:lnTo>
                    <a:pt x="2376678" y="526542"/>
                  </a:lnTo>
                  <a:lnTo>
                    <a:pt x="2369820" y="520446"/>
                  </a:lnTo>
                  <a:lnTo>
                    <a:pt x="2357628" y="506730"/>
                  </a:lnTo>
                  <a:lnTo>
                    <a:pt x="2351532" y="499110"/>
                  </a:lnTo>
                  <a:lnTo>
                    <a:pt x="2339340" y="482346"/>
                  </a:lnTo>
                  <a:lnTo>
                    <a:pt x="2320290" y="451104"/>
                  </a:lnTo>
                  <a:lnTo>
                    <a:pt x="2313432" y="440436"/>
                  </a:lnTo>
                  <a:lnTo>
                    <a:pt x="2306574" y="428244"/>
                  </a:lnTo>
                  <a:lnTo>
                    <a:pt x="2298954" y="416052"/>
                  </a:lnTo>
                  <a:lnTo>
                    <a:pt x="2225802" y="302514"/>
                  </a:lnTo>
                  <a:lnTo>
                    <a:pt x="2173986" y="218694"/>
                  </a:lnTo>
                  <a:lnTo>
                    <a:pt x="2164842" y="204978"/>
                  </a:lnTo>
                  <a:lnTo>
                    <a:pt x="2148078" y="179070"/>
                  </a:lnTo>
                  <a:lnTo>
                    <a:pt x="2140458" y="166878"/>
                  </a:lnTo>
                  <a:lnTo>
                    <a:pt x="2123694" y="140970"/>
                  </a:lnTo>
                  <a:lnTo>
                    <a:pt x="2085594" y="93726"/>
                  </a:lnTo>
                  <a:lnTo>
                    <a:pt x="2041398" y="55626"/>
                  </a:lnTo>
                  <a:lnTo>
                    <a:pt x="2030730" y="48006"/>
                  </a:lnTo>
                  <a:lnTo>
                    <a:pt x="2020824" y="40386"/>
                  </a:lnTo>
                  <a:lnTo>
                    <a:pt x="2006346" y="30480"/>
                  </a:lnTo>
                  <a:lnTo>
                    <a:pt x="2000250" y="26670"/>
                  </a:lnTo>
                  <a:lnTo>
                    <a:pt x="1989582" y="20574"/>
                  </a:lnTo>
                  <a:lnTo>
                    <a:pt x="1978152" y="15240"/>
                  </a:lnTo>
                  <a:lnTo>
                    <a:pt x="1967484" y="9906"/>
                  </a:lnTo>
                  <a:lnTo>
                    <a:pt x="1962912" y="8382"/>
                  </a:lnTo>
                  <a:lnTo>
                    <a:pt x="1958340" y="6096"/>
                  </a:lnTo>
                  <a:lnTo>
                    <a:pt x="1954530" y="4572"/>
                  </a:lnTo>
                  <a:lnTo>
                    <a:pt x="1951482" y="3048"/>
                  </a:lnTo>
                  <a:lnTo>
                    <a:pt x="1948434" y="2286"/>
                  </a:lnTo>
                  <a:lnTo>
                    <a:pt x="1946148" y="762"/>
                  </a:lnTo>
                  <a:lnTo>
                    <a:pt x="1945386" y="762"/>
                  </a:lnTo>
                  <a:lnTo>
                    <a:pt x="1943100" y="0"/>
                  </a:lnTo>
                  <a:lnTo>
                    <a:pt x="1923288" y="53340"/>
                  </a:lnTo>
                  <a:lnTo>
                    <a:pt x="1925574" y="54102"/>
                  </a:lnTo>
                  <a:lnTo>
                    <a:pt x="1927098" y="54864"/>
                  </a:lnTo>
                  <a:lnTo>
                    <a:pt x="1929384" y="55626"/>
                  </a:lnTo>
                  <a:lnTo>
                    <a:pt x="1935480" y="58674"/>
                  </a:lnTo>
                  <a:lnTo>
                    <a:pt x="1939290" y="60198"/>
                  </a:lnTo>
                  <a:lnTo>
                    <a:pt x="1943862" y="61722"/>
                  </a:lnTo>
                  <a:lnTo>
                    <a:pt x="1952244" y="66294"/>
                  </a:lnTo>
                  <a:lnTo>
                    <a:pt x="1961388" y="70866"/>
                  </a:lnTo>
                  <a:lnTo>
                    <a:pt x="1978152" y="80772"/>
                  </a:lnTo>
                  <a:lnTo>
                    <a:pt x="1987296" y="86868"/>
                  </a:lnTo>
                  <a:lnTo>
                    <a:pt x="1996440" y="93726"/>
                  </a:lnTo>
                  <a:lnTo>
                    <a:pt x="2006346" y="100584"/>
                  </a:lnTo>
                  <a:lnTo>
                    <a:pt x="2015490" y="108204"/>
                  </a:lnTo>
                  <a:lnTo>
                    <a:pt x="2025396" y="115824"/>
                  </a:lnTo>
                  <a:lnTo>
                    <a:pt x="2043684" y="132588"/>
                  </a:lnTo>
                  <a:lnTo>
                    <a:pt x="2076450" y="172974"/>
                  </a:lnTo>
                  <a:lnTo>
                    <a:pt x="2100072" y="210312"/>
                  </a:lnTo>
                  <a:lnTo>
                    <a:pt x="2125218" y="249174"/>
                  </a:lnTo>
                  <a:lnTo>
                    <a:pt x="2134362" y="262890"/>
                  </a:lnTo>
                  <a:lnTo>
                    <a:pt x="2151126" y="291084"/>
                  </a:lnTo>
                  <a:lnTo>
                    <a:pt x="2177796" y="332994"/>
                  </a:lnTo>
                  <a:lnTo>
                    <a:pt x="2186178" y="346710"/>
                  </a:lnTo>
                  <a:lnTo>
                    <a:pt x="2250186" y="446532"/>
                  </a:lnTo>
                  <a:lnTo>
                    <a:pt x="2257806" y="457962"/>
                  </a:lnTo>
                  <a:lnTo>
                    <a:pt x="2285238" y="503682"/>
                  </a:lnTo>
                  <a:lnTo>
                    <a:pt x="2314956" y="544830"/>
                  </a:lnTo>
                  <a:lnTo>
                    <a:pt x="2330196" y="560832"/>
                  </a:lnTo>
                  <a:lnTo>
                    <a:pt x="2337054" y="568452"/>
                  </a:lnTo>
                  <a:lnTo>
                    <a:pt x="2352294" y="582168"/>
                  </a:lnTo>
                  <a:lnTo>
                    <a:pt x="2372868" y="599694"/>
                  </a:lnTo>
                  <a:lnTo>
                    <a:pt x="2379726" y="605028"/>
                  </a:lnTo>
                  <a:lnTo>
                    <a:pt x="2386584" y="609600"/>
                  </a:lnTo>
                  <a:lnTo>
                    <a:pt x="2393442" y="614934"/>
                  </a:lnTo>
                  <a:lnTo>
                    <a:pt x="2400300" y="619506"/>
                  </a:lnTo>
                  <a:lnTo>
                    <a:pt x="2412492" y="626364"/>
                  </a:lnTo>
                  <a:lnTo>
                    <a:pt x="2417064" y="629412"/>
                  </a:lnTo>
                  <a:lnTo>
                    <a:pt x="2421636" y="631698"/>
                  </a:lnTo>
                  <a:lnTo>
                    <a:pt x="2426970" y="633984"/>
                  </a:lnTo>
                  <a:lnTo>
                    <a:pt x="2437638" y="639318"/>
                  </a:lnTo>
                  <a:lnTo>
                    <a:pt x="2475738" y="656844"/>
                  </a:lnTo>
                  <a:lnTo>
                    <a:pt x="2520696" y="672846"/>
                  </a:lnTo>
                  <a:lnTo>
                    <a:pt x="2554224" y="681228"/>
                  </a:lnTo>
                  <a:lnTo>
                    <a:pt x="2559558" y="682752"/>
                  </a:lnTo>
                  <a:lnTo>
                    <a:pt x="2570988" y="685038"/>
                  </a:lnTo>
                  <a:lnTo>
                    <a:pt x="2577084" y="686562"/>
                  </a:lnTo>
                  <a:lnTo>
                    <a:pt x="2590038" y="688086"/>
                  </a:lnTo>
                  <a:lnTo>
                    <a:pt x="2598420" y="688848"/>
                  </a:lnTo>
                  <a:lnTo>
                    <a:pt x="2602230" y="688848"/>
                  </a:lnTo>
                  <a:lnTo>
                    <a:pt x="2606802" y="689610"/>
                  </a:lnTo>
                  <a:lnTo>
                    <a:pt x="2615946" y="689610"/>
                  </a:lnTo>
                  <a:lnTo>
                    <a:pt x="2621280" y="690372"/>
                  </a:lnTo>
                  <a:lnTo>
                    <a:pt x="2633472" y="690372"/>
                  </a:lnTo>
                  <a:lnTo>
                    <a:pt x="2640330" y="691134"/>
                  </a:lnTo>
                  <a:lnTo>
                    <a:pt x="2671572" y="691134"/>
                  </a:lnTo>
                  <a:lnTo>
                    <a:pt x="3091434" y="685038"/>
                  </a:lnTo>
                  <a:close/>
                </a:path>
              </a:pathLst>
            </a:custGeom>
            <a:solidFill>
              <a:srgbClr val="FF4646"/>
            </a:solidFill>
          </p:spPr>
          <p:txBody>
            <a:bodyPr wrap="square" lIns="0" tIns="0" rIns="0" bIns="0" rtlCol="0"/>
            <a:lstStyle/>
            <a:p>
              <a:endParaRPr/>
            </a:p>
          </p:txBody>
        </p:sp>
        <p:sp>
          <p:nvSpPr>
            <p:cNvPr id="10" name="object 10"/>
            <p:cNvSpPr/>
            <p:nvPr/>
          </p:nvSpPr>
          <p:spPr>
            <a:xfrm>
              <a:off x="1019555" y="3614166"/>
              <a:ext cx="1197610" cy="631825"/>
            </a:xfrm>
            <a:custGeom>
              <a:avLst/>
              <a:gdLst/>
              <a:ahLst/>
              <a:cxnLst/>
              <a:rect l="l" t="t" r="r" b="b"/>
              <a:pathLst>
                <a:path w="1197610" h="631825">
                  <a:moveTo>
                    <a:pt x="1197102" y="586739"/>
                  </a:moveTo>
                  <a:lnTo>
                    <a:pt x="1196340" y="586739"/>
                  </a:lnTo>
                  <a:lnTo>
                    <a:pt x="1194054" y="584453"/>
                  </a:lnTo>
                  <a:lnTo>
                    <a:pt x="1187958" y="580643"/>
                  </a:lnTo>
                  <a:lnTo>
                    <a:pt x="1184148" y="577595"/>
                  </a:lnTo>
                  <a:lnTo>
                    <a:pt x="1179576" y="574547"/>
                  </a:lnTo>
                  <a:lnTo>
                    <a:pt x="1166622" y="566927"/>
                  </a:lnTo>
                  <a:lnTo>
                    <a:pt x="1165860" y="566927"/>
                  </a:lnTo>
                  <a:lnTo>
                    <a:pt x="1162812" y="565403"/>
                  </a:lnTo>
                  <a:lnTo>
                    <a:pt x="1160526" y="564641"/>
                  </a:lnTo>
                  <a:lnTo>
                    <a:pt x="1157478" y="563117"/>
                  </a:lnTo>
                  <a:lnTo>
                    <a:pt x="1146048" y="558545"/>
                  </a:lnTo>
                  <a:lnTo>
                    <a:pt x="1129284" y="549401"/>
                  </a:lnTo>
                  <a:lnTo>
                    <a:pt x="1125474" y="547877"/>
                  </a:lnTo>
                  <a:lnTo>
                    <a:pt x="1121664" y="545591"/>
                  </a:lnTo>
                  <a:lnTo>
                    <a:pt x="1118616" y="544067"/>
                  </a:lnTo>
                  <a:lnTo>
                    <a:pt x="1110996" y="538733"/>
                  </a:lnTo>
                  <a:lnTo>
                    <a:pt x="1105662" y="534161"/>
                  </a:lnTo>
                  <a:lnTo>
                    <a:pt x="1099566" y="529589"/>
                  </a:lnTo>
                  <a:lnTo>
                    <a:pt x="1083564" y="513587"/>
                  </a:lnTo>
                  <a:lnTo>
                    <a:pt x="1073658" y="502919"/>
                  </a:lnTo>
                  <a:lnTo>
                    <a:pt x="1069086" y="498347"/>
                  </a:lnTo>
                  <a:lnTo>
                    <a:pt x="1065276" y="493013"/>
                  </a:lnTo>
                  <a:lnTo>
                    <a:pt x="1056894" y="482345"/>
                  </a:lnTo>
                  <a:lnTo>
                    <a:pt x="1048512" y="470153"/>
                  </a:lnTo>
                  <a:lnTo>
                    <a:pt x="1038606" y="457199"/>
                  </a:lnTo>
                  <a:lnTo>
                    <a:pt x="1028700" y="442721"/>
                  </a:lnTo>
                  <a:lnTo>
                    <a:pt x="1017269" y="428243"/>
                  </a:lnTo>
                  <a:lnTo>
                    <a:pt x="1006602" y="413765"/>
                  </a:lnTo>
                  <a:lnTo>
                    <a:pt x="996696" y="399287"/>
                  </a:lnTo>
                  <a:lnTo>
                    <a:pt x="992124" y="391667"/>
                  </a:lnTo>
                  <a:lnTo>
                    <a:pt x="986790" y="384047"/>
                  </a:lnTo>
                  <a:lnTo>
                    <a:pt x="977646" y="366521"/>
                  </a:lnTo>
                  <a:lnTo>
                    <a:pt x="966978" y="348995"/>
                  </a:lnTo>
                  <a:lnTo>
                    <a:pt x="956310" y="330707"/>
                  </a:lnTo>
                  <a:lnTo>
                    <a:pt x="944880" y="314705"/>
                  </a:lnTo>
                  <a:lnTo>
                    <a:pt x="933450" y="299465"/>
                  </a:lnTo>
                  <a:lnTo>
                    <a:pt x="922782" y="285749"/>
                  </a:lnTo>
                  <a:lnTo>
                    <a:pt x="912876" y="272033"/>
                  </a:lnTo>
                  <a:lnTo>
                    <a:pt x="893826" y="240029"/>
                  </a:lnTo>
                  <a:lnTo>
                    <a:pt x="883158" y="223265"/>
                  </a:lnTo>
                  <a:lnTo>
                    <a:pt x="877824" y="214121"/>
                  </a:lnTo>
                  <a:lnTo>
                    <a:pt x="871728" y="205739"/>
                  </a:lnTo>
                  <a:lnTo>
                    <a:pt x="864869" y="198119"/>
                  </a:lnTo>
                  <a:lnTo>
                    <a:pt x="858012" y="189737"/>
                  </a:lnTo>
                  <a:lnTo>
                    <a:pt x="845819" y="176783"/>
                  </a:lnTo>
                  <a:lnTo>
                    <a:pt x="828294" y="159257"/>
                  </a:lnTo>
                  <a:lnTo>
                    <a:pt x="822960" y="153161"/>
                  </a:lnTo>
                  <a:lnTo>
                    <a:pt x="813054" y="140969"/>
                  </a:lnTo>
                  <a:lnTo>
                    <a:pt x="802386" y="128777"/>
                  </a:lnTo>
                  <a:lnTo>
                    <a:pt x="797814" y="122681"/>
                  </a:lnTo>
                  <a:lnTo>
                    <a:pt x="792480" y="116585"/>
                  </a:lnTo>
                  <a:lnTo>
                    <a:pt x="787908" y="110489"/>
                  </a:lnTo>
                  <a:lnTo>
                    <a:pt x="783336" y="105155"/>
                  </a:lnTo>
                  <a:lnTo>
                    <a:pt x="781050" y="102869"/>
                  </a:lnTo>
                  <a:lnTo>
                    <a:pt x="777240" y="98297"/>
                  </a:lnTo>
                  <a:lnTo>
                    <a:pt x="774192" y="95249"/>
                  </a:lnTo>
                  <a:lnTo>
                    <a:pt x="771144" y="90677"/>
                  </a:lnTo>
                  <a:lnTo>
                    <a:pt x="767334" y="86867"/>
                  </a:lnTo>
                  <a:lnTo>
                    <a:pt x="762762" y="83057"/>
                  </a:lnTo>
                  <a:lnTo>
                    <a:pt x="760476" y="80771"/>
                  </a:lnTo>
                  <a:lnTo>
                    <a:pt x="754380" y="76199"/>
                  </a:lnTo>
                  <a:lnTo>
                    <a:pt x="746760" y="70103"/>
                  </a:lnTo>
                  <a:lnTo>
                    <a:pt x="742188" y="67817"/>
                  </a:lnTo>
                  <a:lnTo>
                    <a:pt x="737616" y="64007"/>
                  </a:lnTo>
                  <a:lnTo>
                    <a:pt x="727710" y="57149"/>
                  </a:lnTo>
                  <a:lnTo>
                    <a:pt x="721614" y="53339"/>
                  </a:lnTo>
                  <a:lnTo>
                    <a:pt x="698754" y="38099"/>
                  </a:lnTo>
                  <a:lnTo>
                    <a:pt x="687324" y="31241"/>
                  </a:lnTo>
                  <a:lnTo>
                    <a:pt x="676656" y="25145"/>
                  </a:lnTo>
                  <a:lnTo>
                    <a:pt x="668274" y="19811"/>
                  </a:lnTo>
                  <a:lnTo>
                    <a:pt x="659130" y="15239"/>
                  </a:lnTo>
                  <a:lnTo>
                    <a:pt x="652272" y="12191"/>
                  </a:lnTo>
                  <a:lnTo>
                    <a:pt x="639318" y="7619"/>
                  </a:lnTo>
                  <a:lnTo>
                    <a:pt x="630936" y="6095"/>
                  </a:lnTo>
                  <a:lnTo>
                    <a:pt x="628650" y="6095"/>
                  </a:lnTo>
                  <a:lnTo>
                    <a:pt x="621792" y="4571"/>
                  </a:lnTo>
                  <a:lnTo>
                    <a:pt x="617220" y="3047"/>
                  </a:lnTo>
                  <a:lnTo>
                    <a:pt x="597408" y="0"/>
                  </a:lnTo>
                  <a:lnTo>
                    <a:pt x="587502" y="761"/>
                  </a:lnTo>
                  <a:lnTo>
                    <a:pt x="576072" y="2285"/>
                  </a:lnTo>
                  <a:lnTo>
                    <a:pt x="558546" y="6857"/>
                  </a:lnTo>
                  <a:lnTo>
                    <a:pt x="549402" y="9905"/>
                  </a:lnTo>
                  <a:lnTo>
                    <a:pt x="539496" y="12191"/>
                  </a:lnTo>
                  <a:lnTo>
                    <a:pt x="534924" y="12953"/>
                  </a:lnTo>
                  <a:lnTo>
                    <a:pt x="525780" y="16001"/>
                  </a:lnTo>
                  <a:lnTo>
                    <a:pt x="520445" y="18287"/>
                  </a:lnTo>
                  <a:lnTo>
                    <a:pt x="517398" y="19049"/>
                  </a:lnTo>
                  <a:lnTo>
                    <a:pt x="508254" y="23621"/>
                  </a:lnTo>
                  <a:lnTo>
                    <a:pt x="493014" y="29717"/>
                  </a:lnTo>
                  <a:lnTo>
                    <a:pt x="477773" y="37337"/>
                  </a:lnTo>
                  <a:lnTo>
                    <a:pt x="470916" y="40385"/>
                  </a:lnTo>
                  <a:lnTo>
                    <a:pt x="467106" y="42671"/>
                  </a:lnTo>
                  <a:lnTo>
                    <a:pt x="464058" y="44195"/>
                  </a:lnTo>
                  <a:lnTo>
                    <a:pt x="457962" y="48767"/>
                  </a:lnTo>
                  <a:lnTo>
                    <a:pt x="452628" y="53339"/>
                  </a:lnTo>
                  <a:lnTo>
                    <a:pt x="445770" y="60197"/>
                  </a:lnTo>
                  <a:lnTo>
                    <a:pt x="444245" y="62483"/>
                  </a:lnTo>
                  <a:lnTo>
                    <a:pt x="442722" y="64007"/>
                  </a:lnTo>
                  <a:lnTo>
                    <a:pt x="441959" y="65531"/>
                  </a:lnTo>
                  <a:lnTo>
                    <a:pt x="439673" y="68579"/>
                  </a:lnTo>
                  <a:lnTo>
                    <a:pt x="439673" y="67817"/>
                  </a:lnTo>
                  <a:lnTo>
                    <a:pt x="403097" y="104393"/>
                  </a:lnTo>
                  <a:lnTo>
                    <a:pt x="397002" y="111251"/>
                  </a:lnTo>
                  <a:lnTo>
                    <a:pt x="389381" y="118109"/>
                  </a:lnTo>
                  <a:lnTo>
                    <a:pt x="381761" y="126491"/>
                  </a:lnTo>
                  <a:lnTo>
                    <a:pt x="373379" y="134873"/>
                  </a:lnTo>
                  <a:lnTo>
                    <a:pt x="364997" y="144017"/>
                  </a:lnTo>
                  <a:lnTo>
                    <a:pt x="356615" y="152399"/>
                  </a:lnTo>
                  <a:lnTo>
                    <a:pt x="348995" y="161543"/>
                  </a:lnTo>
                  <a:lnTo>
                    <a:pt x="341375" y="169925"/>
                  </a:lnTo>
                  <a:lnTo>
                    <a:pt x="329184" y="186689"/>
                  </a:lnTo>
                  <a:lnTo>
                    <a:pt x="318515" y="201929"/>
                  </a:lnTo>
                  <a:lnTo>
                    <a:pt x="309372" y="217169"/>
                  </a:lnTo>
                  <a:lnTo>
                    <a:pt x="299466" y="232409"/>
                  </a:lnTo>
                  <a:lnTo>
                    <a:pt x="269748" y="280415"/>
                  </a:lnTo>
                  <a:lnTo>
                    <a:pt x="242315" y="328421"/>
                  </a:lnTo>
                  <a:lnTo>
                    <a:pt x="233934" y="344423"/>
                  </a:lnTo>
                  <a:lnTo>
                    <a:pt x="224790" y="359663"/>
                  </a:lnTo>
                  <a:lnTo>
                    <a:pt x="214122" y="375665"/>
                  </a:lnTo>
                  <a:lnTo>
                    <a:pt x="191262" y="410717"/>
                  </a:lnTo>
                  <a:lnTo>
                    <a:pt x="179832" y="427481"/>
                  </a:lnTo>
                  <a:lnTo>
                    <a:pt x="160782" y="453389"/>
                  </a:lnTo>
                  <a:lnTo>
                    <a:pt x="154686" y="462533"/>
                  </a:lnTo>
                  <a:lnTo>
                    <a:pt x="147828" y="470915"/>
                  </a:lnTo>
                  <a:lnTo>
                    <a:pt x="142494" y="478535"/>
                  </a:lnTo>
                  <a:lnTo>
                    <a:pt x="137160" y="485393"/>
                  </a:lnTo>
                  <a:lnTo>
                    <a:pt x="131826" y="490727"/>
                  </a:lnTo>
                  <a:lnTo>
                    <a:pt x="129539" y="493775"/>
                  </a:lnTo>
                  <a:lnTo>
                    <a:pt x="124968" y="498347"/>
                  </a:lnTo>
                  <a:lnTo>
                    <a:pt x="123444" y="500633"/>
                  </a:lnTo>
                  <a:lnTo>
                    <a:pt x="118110" y="504443"/>
                  </a:lnTo>
                  <a:lnTo>
                    <a:pt x="109728" y="511301"/>
                  </a:lnTo>
                  <a:lnTo>
                    <a:pt x="98298" y="519683"/>
                  </a:lnTo>
                  <a:lnTo>
                    <a:pt x="76200" y="537209"/>
                  </a:lnTo>
                  <a:lnTo>
                    <a:pt x="60960" y="547877"/>
                  </a:lnTo>
                  <a:lnTo>
                    <a:pt x="54102" y="552449"/>
                  </a:lnTo>
                  <a:lnTo>
                    <a:pt x="48006" y="557021"/>
                  </a:lnTo>
                  <a:lnTo>
                    <a:pt x="29718" y="566165"/>
                  </a:lnTo>
                  <a:lnTo>
                    <a:pt x="24384" y="569213"/>
                  </a:lnTo>
                  <a:lnTo>
                    <a:pt x="0" y="578357"/>
                  </a:lnTo>
                  <a:lnTo>
                    <a:pt x="20574" y="631697"/>
                  </a:lnTo>
                  <a:lnTo>
                    <a:pt x="46482" y="621791"/>
                  </a:lnTo>
                  <a:lnTo>
                    <a:pt x="54102" y="617981"/>
                  </a:lnTo>
                  <a:lnTo>
                    <a:pt x="60960" y="614933"/>
                  </a:lnTo>
                  <a:lnTo>
                    <a:pt x="76200" y="605789"/>
                  </a:lnTo>
                  <a:lnTo>
                    <a:pt x="84582" y="601217"/>
                  </a:lnTo>
                  <a:lnTo>
                    <a:pt x="101346" y="589025"/>
                  </a:lnTo>
                  <a:lnTo>
                    <a:pt x="110489" y="582929"/>
                  </a:lnTo>
                  <a:lnTo>
                    <a:pt x="125730" y="570737"/>
                  </a:lnTo>
                  <a:lnTo>
                    <a:pt x="133350" y="565403"/>
                  </a:lnTo>
                  <a:lnTo>
                    <a:pt x="144018" y="556259"/>
                  </a:lnTo>
                  <a:lnTo>
                    <a:pt x="156210" y="547877"/>
                  </a:lnTo>
                  <a:lnTo>
                    <a:pt x="175260" y="528827"/>
                  </a:lnTo>
                  <a:lnTo>
                    <a:pt x="180594" y="521969"/>
                  </a:lnTo>
                  <a:lnTo>
                    <a:pt x="186690" y="513587"/>
                  </a:lnTo>
                  <a:lnTo>
                    <a:pt x="200406" y="496823"/>
                  </a:lnTo>
                  <a:lnTo>
                    <a:pt x="213360" y="477773"/>
                  </a:lnTo>
                  <a:lnTo>
                    <a:pt x="220218" y="469391"/>
                  </a:lnTo>
                  <a:lnTo>
                    <a:pt x="226314" y="460247"/>
                  </a:lnTo>
                  <a:lnTo>
                    <a:pt x="238506" y="442721"/>
                  </a:lnTo>
                  <a:lnTo>
                    <a:pt x="249936" y="425195"/>
                  </a:lnTo>
                  <a:lnTo>
                    <a:pt x="262128" y="407669"/>
                  </a:lnTo>
                  <a:lnTo>
                    <a:pt x="272796" y="390143"/>
                  </a:lnTo>
                  <a:lnTo>
                    <a:pt x="278130" y="380999"/>
                  </a:lnTo>
                  <a:lnTo>
                    <a:pt x="283464" y="372617"/>
                  </a:lnTo>
                  <a:lnTo>
                    <a:pt x="292608" y="356615"/>
                  </a:lnTo>
                  <a:lnTo>
                    <a:pt x="300990" y="340613"/>
                  </a:lnTo>
                  <a:lnTo>
                    <a:pt x="309372" y="325373"/>
                  </a:lnTo>
                  <a:lnTo>
                    <a:pt x="318516" y="309371"/>
                  </a:lnTo>
                  <a:lnTo>
                    <a:pt x="328422" y="294131"/>
                  </a:lnTo>
                  <a:lnTo>
                    <a:pt x="347472" y="262889"/>
                  </a:lnTo>
                  <a:lnTo>
                    <a:pt x="366522" y="233171"/>
                  </a:lnTo>
                  <a:lnTo>
                    <a:pt x="371094" y="226313"/>
                  </a:lnTo>
                  <a:lnTo>
                    <a:pt x="376428" y="219455"/>
                  </a:lnTo>
                  <a:lnTo>
                    <a:pt x="381000" y="212597"/>
                  </a:lnTo>
                  <a:lnTo>
                    <a:pt x="392429" y="198119"/>
                  </a:lnTo>
                  <a:lnTo>
                    <a:pt x="399288" y="190499"/>
                  </a:lnTo>
                  <a:lnTo>
                    <a:pt x="415290" y="174497"/>
                  </a:lnTo>
                  <a:lnTo>
                    <a:pt x="422909" y="166115"/>
                  </a:lnTo>
                  <a:lnTo>
                    <a:pt x="430530" y="158495"/>
                  </a:lnTo>
                  <a:lnTo>
                    <a:pt x="437388" y="150875"/>
                  </a:lnTo>
                  <a:lnTo>
                    <a:pt x="478536" y="109727"/>
                  </a:lnTo>
                  <a:lnTo>
                    <a:pt x="480059" y="108965"/>
                  </a:lnTo>
                  <a:lnTo>
                    <a:pt x="489204" y="97535"/>
                  </a:lnTo>
                  <a:lnTo>
                    <a:pt x="492252" y="94487"/>
                  </a:lnTo>
                  <a:lnTo>
                    <a:pt x="492252" y="93725"/>
                  </a:lnTo>
                  <a:lnTo>
                    <a:pt x="493776" y="93725"/>
                  </a:lnTo>
                  <a:lnTo>
                    <a:pt x="494538" y="92963"/>
                  </a:lnTo>
                  <a:lnTo>
                    <a:pt x="496823" y="91439"/>
                  </a:lnTo>
                  <a:lnTo>
                    <a:pt x="503681" y="88391"/>
                  </a:lnTo>
                  <a:lnTo>
                    <a:pt x="509778" y="85343"/>
                  </a:lnTo>
                  <a:lnTo>
                    <a:pt x="516636" y="82295"/>
                  </a:lnTo>
                  <a:lnTo>
                    <a:pt x="523494" y="78485"/>
                  </a:lnTo>
                  <a:lnTo>
                    <a:pt x="530352" y="76199"/>
                  </a:lnTo>
                  <a:lnTo>
                    <a:pt x="536448" y="73151"/>
                  </a:lnTo>
                  <a:lnTo>
                    <a:pt x="541782" y="71627"/>
                  </a:lnTo>
                  <a:lnTo>
                    <a:pt x="546354" y="69341"/>
                  </a:lnTo>
                  <a:lnTo>
                    <a:pt x="551688" y="67817"/>
                  </a:lnTo>
                  <a:lnTo>
                    <a:pt x="553212" y="67817"/>
                  </a:lnTo>
                  <a:lnTo>
                    <a:pt x="561594" y="65531"/>
                  </a:lnTo>
                  <a:lnTo>
                    <a:pt x="566166" y="64769"/>
                  </a:lnTo>
                  <a:lnTo>
                    <a:pt x="574548" y="61721"/>
                  </a:lnTo>
                  <a:lnTo>
                    <a:pt x="582930" y="59435"/>
                  </a:lnTo>
                  <a:lnTo>
                    <a:pt x="589788" y="57911"/>
                  </a:lnTo>
                  <a:lnTo>
                    <a:pt x="592074" y="57149"/>
                  </a:lnTo>
                  <a:lnTo>
                    <a:pt x="598170" y="57149"/>
                  </a:lnTo>
                  <a:lnTo>
                    <a:pt x="601218" y="57911"/>
                  </a:lnTo>
                  <a:lnTo>
                    <a:pt x="605790" y="58673"/>
                  </a:lnTo>
                  <a:lnTo>
                    <a:pt x="611886" y="60959"/>
                  </a:lnTo>
                  <a:lnTo>
                    <a:pt x="624840" y="63245"/>
                  </a:lnTo>
                  <a:lnTo>
                    <a:pt x="636270" y="67055"/>
                  </a:lnTo>
                  <a:lnTo>
                    <a:pt x="637794" y="68579"/>
                  </a:lnTo>
                  <a:lnTo>
                    <a:pt x="648462" y="73913"/>
                  </a:lnTo>
                  <a:lnTo>
                    <a:pt x="652272" y="76961"/>
                  </a:lnTo>
                  <a:lnTo>
                    <a:pt x="657606" y="80009"/>
                  </a:lnTo>
                  <a:lnTo>
                    <a:pt x="678942" y="93725"/>
                  </a:lnTo>
                  <a:lnTo>
                    <a:pt x="690372" y="100583"/>
                  </a:lnTo>
                  <a:lnTo>
                    <a:pt x="695706" y="104393"/>
                  </a:lnTo>
                  <a:lnTo>
                    <a:pt x="700278" y="108203"/>
                  </a:lnTo>
                  <a:lnTo>
                    <a:pt x="705612" y="111251"/>
                  </a:lnTo>
                  <a:lnTo>
                    <a:pt x="709422" y="114299"/>
                  </a:lnTo>
                  <a:lnTo>
                    <a:pt x="713994" y="117347"/>
                  </a:lnTo>
                  <a:lnTo>
                    <a:pt x="722376" y="123443"/>
                  </a:lnTo>
                  <a:lnTo>
                    <a:pt x="723900" y="124967"/>
                  </a:lnTo>
                  <a:lnTo>
                    <a:pt x="726186" y="126491"/>
                  </a:lnTo>
                  <a:lnTo>
                    <a:pt x="728472" y="128777"/>
                  </a:lnTo>
                  <a:lnTo>
                    <a:pt x="729234" y="130301"/>
                  </a:lnTo>
                  <a:lnTo>
                    <a:pt x="733044" y="134111"/>
                  </a:lnTo>
                  <a:lnTo>
                    <a:pt x="735330" y="137921"/>
                  </a:lnTo>
                  <a:lnTo>
                    <a:pt x="738378" y="140969"/>
                  </a:lnTo>
                  <a:lnTo>
                    <a:pt x="739902" y="143255"/>
                  </a:lnTo>
                  <a:lnTo>
                    <a:pt x="744474" y="147827"/>
                  </a:lnTo>
                  <a:lnTo>
                    <a:pt x="749046" y="153161"/>
                  </a:lnTo>
                  <a:lnTo>
                    <a:pt x="752856" y="158495"/>
                  </a:lnTo>
                  <a:lnTo>
                    <a:pt x="758190" y="164591"/>
                  </a:lnTo>
                  <a:lnTo>
                    <a:pt x="779526" y="190499"/>
                  </a:lnTo>
                  <a:lnTo>
                    <a:pt x="786384" y="197357"/>
                  </a:lnTo>
                  <a:lnTo>
                    <a:pt x="792480" y="204215"/>
                  </a:lnTo>
                  <a:lnTo>
                    <a:pt x="804672" y="217169"/>
                  </a:lnTo>
                  <a:lnTo>
                    <a:pt x="816863" y="229361"/>
                  </a:lnTo>
                  <a:lnTo>
                    <a:pt x="822197" y="235457"/>
                  </a:lnTo>
                  <a:lnTo>
                    <a:pt x="831341" y="247649"/>
                  </a:lnTo>
                  <a:lnTo>
                    <a:pt x="835913" y="254507"/>
                  </a:lnTo>
                  <a:lnTo>
                    <a:pt x="845058" y="269747"/>
                  </a:lnTo>
                  <a:lnTo>
                    <a:pt x="854202" y="285749"/>
                  </a:lnTo>
                  <a:lnTo>
                    <a:pt x="864869" y="302513"/>
                  </a:lnTo>
                  <a:lnTo>
                    <a:pt x="876300" y="319277"/>
                  </a:lnTo>
                  <a:lnTo>
                    <a:pt x="887730" y="334517"/>
                  </a:lnTo>
                  <a:lnTo>
                    <a:pt x="904494" y="355853"/>
                  </a:lnTo>
                  <a:lnTo>
                    <a:pt x="909066" y="362711"/>
                  </a:lnTo>
                  <a:lnTo>
                    <a:pt x="918210" y="377951"/>
                  </a:lnTo>
                  <a:lnTo>
                    <a:pt x="927354" y="394715"/>
                  </a:lnTo>
                  <a:lnTo>
                    <a:pt x="937260" y="412241"/>
                  </a:lnTo>
                  <a:lnTo>
                    <a:pt x="942594" y="420623"/>
                  </a:lnTo>
                  <a:lnTo>
                    <a:pt x="947928" y="429767"/>
                  </a:lnTo>
                  <a:lnTo>
                    <a:pt x="959358" y="446531"/>
                  </a:lnTo>
                  <a:lnTo>
                    <a:pt x="982980" y="477773"/>
                  </a:lnTo>
                  <a:lnTo>
                    <a:pt x="993647" y="491489"/>
                  </a:lnTo>
                  <a:lnTo>
                    <a:pt x="997458" y="497585"/>
                  </a:lnTo>
                  <a:lnTo>
                    <a:pt x="1024890" y="534161"/>
                  </a:lnTo>
                  <a:lnTo>
                    <a:pt x="1054608" y="565403"/>
                  </a:lnTo>
                  <a:lnTo>
                    <a:pt x="1087374" y="591311"/>
                  </a:lnTo>
                  <a:lnTo>
                    <a:pt x="1091946" y="594359"/>
                  </a:lnTo>
                  <a:lnTo>
                    <a:pt x="1097280" y="597407"/>
                  </a:lnTo>
                  <a:lnTo>
                    <a:pt x="1111758" y="605027"/>
                  </a:lnTo>
                  <a:lnTo>
                    <a:pt x="1126236" y="611885"/>
                  </a:lnTo>
                  <a:lnTo>
                    <a:pt x="1130046" y="613409"/>
                  </a:lnTo>
                  <a:lnTo>
                    <a:pt x="1133856" y="615695"/>
                  </a:lnTo>
                  <a:lnTo>
                    <a:pt x="1139952" y="617981"/>
                  </a:lnTo>
                  <a:lnTo>
                    <a:pt x="1143000" y="619505"/>
                  </a:lnTo>
                  <a:lnTo>
                    <a:pt x="1143762" y="619505"/>
                  </a:lnTo>
                  <a:lnTo>
                    <a:pt x="1149858" y="623315"/>
                  </a:lnTo>
                  <a:lnTo>
                    <a:pt x="1155954" y="627887"/>
                  </a:lnTo>
                  <a:lnTo>
                    <a:pt x="1160526" y="630935"/>
                  </a:lnTo>
                  <a:lnTo>
                    <a:pt x="1161288" y="631697"/>
                  </a:lnTo>
                  <a:lnTo>
                    <a:pt x="1197102" y="586739"/>
                  </a:lnTo>
                  <a:close/>
                </a:path>
              </a:pathLst>
            </a:custGeom>
            <a:solidFill>
              <a:srgbClr val="FFCBFF"/>
            </a:solidFill>
          </p:spPr>
          <p:txBody>
            <a:bodyPr wrap="square" lIns="0" tIns="0" rIns="0" bIns="0" rtlCol="0"/>
            <a:lstStyle/>
            <a:p>
              <a:endParaRPr/>
            </a:p>
          </p:txBody>
        </p:sp>
        <p:sp>
          <p:nvSpPr>
            <p:cNvPr id="11" name="object 11"/>
            <p:cNvSpPr/>
            <p:nvPr/>
          </p:nvSpPr>
          <p:spPr>
            <a:xfrm>
              <a:off x="2881884" y="2567177"/>
              <a:ext cx="3089275" cy="1130300"/>
            </a:xfrm>
            <a:custGeom>
              <a:avLst/>
              <a:gdLst/>
              <a:ahLst/>
              <a:cxnLst/>
              <a:rect l="l" t="t" r="r" b="b"/>
              <a:pathLst>
                <a:path w="3089275" h="1130300">
                  <a:moveTo>
                    <a:pt x="1187958" y="530352"/>
                  </a:moveTo>
                  <a:lnTo>
                    <a:pt x="1163574" y="500634"/>
                  </a:lnTo>
                  <a:lnTo>
                    <a:pt x="1160526" y="503682"/>
                  </a:lnTo>
                  <a:lnTo>
                    <a:pt x="1154430" y="507492"/>
                  </a:lnTo>
                  <a:lnTo>
                    <a:pt x="1151382" y="509778"/>
                  </a:lnTo>
                  <a:lnTo>
                    <a:pt x="1144524" y="514350"/>
                  </a:lnTo>
                  <a:lnTo>
                    <a:pt x="1143762" y="514350"/>
                  </a:lnTo>
                  <a:lnTo>
                    <a:pt x="1143000" y="515112"/>
                  </a:lnTo>
                  <a:lnTo>
                    <a:pt x="1140714" y="515874"/>
                  </a:lnTo>
                  <a:lnTo>
                    <a:pt x="1134618" y="518922"/>
                  </a:lnTo>
                  <a:lnTo>
                    <a:pt x="1126998" y="521970"/>
                  </a:lnTo>
                  <a:lnTo>
                    <a:pt x="1112520" y="528828"/>
                  </a:lnTo>
                  <a:lnTo>
                    <a:pt x="1103376" y="534162"/>
                  </a:lnTo>
                  <a:lnTo>
                    <a:pt x="1098042" y="536448"/>
                  </a:lnTo>
                  <a:lnTo>
                    <a:pt x="1088898" y="542544"/>
                  </a:lnTo>
                  <a:lnTo>
                    <a:pt x="1085088" y="544830"/>
                  </a:lnTo>
                  <a:lnTo>
                    <a:pt x="1070610" y="556260"/>
                  </a:lnTo>
                  <a:lnTo>
                    <a:pt x="1064514" y="561594"/>
                  </a:lnTo>
                  <a:lnTo>
                    <a:pt x="1045464" y="580644"/>
                  </a:lnTo>
                  <a:lnTo>
                    <a:pt x="1034034" y="592836"/>
                  </a:lnTo>
                  <a:lnTo>
                    <a:pt x="1028700" y="599694"/>
                  </a:lnTo>
                  <a:lnTo>
                    <a:pt x="1023366" y="605790"/>
                  </a:lnTo>
                  <a:lnTo>
                    <a:pt x="1006602" y="630174"/>
                  </a:lnTo>
                  <a:lnTo>
                    <a:pt x="1002030" y="636270"/>
                  </a:lnTo>
                  <a:lnTo>
                    <a:pt x="997458" y="643128"/>
                  </a:lnTo>
                  <a:lnTo>
                    <a:pt x="952500" y="705612"/>
                  </a:lnTo>
                  <a:lnTo>
                    <a:pt x="942594" y="723138"/>
                  </a:lnTo>
                  <a:lnTo>
                    <a:pt x="918210" y="766572"/>
                  </a:lnTo>
                  <a:lnTo>
                    <a:pt x="913638" y="774192"/>
                  </a:lnTo>
                  <a:lnTo>
                    <a:pt x="902970" y="789432"/>
                  </a:lnTo>
                  <a:lnTo>
                    <a:pt x="892302" y="803910"/>
                  </a:lnTo>
                  <a:lnTo>
                    <a:pt x="869442" y="835914"/>
                  </a:lnTo>
                  <a:lnTo>
                    <a:pt x="858774" y="852678"/>
                  </a:lnTo>
                  <a:lnTo>
                    <a:pt x="849630" y="869442"/>
                  </a:lnTo>
                  <a:lnTo>
                    <a:pt x="840486" y="885444"/>
                  </a:lnTo>
                  <a:lnTo>
                    <a:pt x="835914" y="892302"/>
                  </a:lnTo>
                  <a:lnTo>
                    <a:pt x="830580" y="899160"/>
                  </a:lnTo>
                  <a:lnTo>
                    <a:pt x="826008" y="906018"/>
                  </a:lnTo>
                  <a:lnTo>
                    <a:pt x="808482" y="925830"/>
                  </a:lnTo>
                  <a:lnTo>
                    <a:pt x="789432" y="944880"/>
                  </a:lnTo>
                  <a:lnTo>
                    <a:pt x="783336" y="951738"/>
                  </a:lnTo>
                  <a:lnTo>
                    <a:pt x="772668" y="965454"/>
                  </a:lnTo>
                  <a:lnTo>
                    <a:pt x="762000" y="978408"/>
                  </a:lnTo>
                  <a:lnTo>
                    <a:pt x="752856" y="990600"/>
                  </a:lnTo>
                  <a:lnTo>
                    <a:pt x="748284" y="995934"/>
                  </a:lnTo>
                  <a:lnTo>
                    <a:pt x="743712" y="1000506"/>
                  </a:lnTo>
                  <a:lnTo>
                    <a:pt x="739902" y="1005840"/>
                  </a:lnTo>
                  <a:lnTo>
                    <a:pt x="736854" y="1008888"/>
                  </a:lnTo>
                  <a:lnTo>
                    <a:pt x="731520" y="1016508"/>
                  </a:lnTo>
                  <a:lnTo>
                    <a:pt x="728472" y="1018794"/>
                  </a:lnTo>
                  <a:lnTo>
                    <a:pt x="726948" y="1020318"/>
                  </a:lnTo>
                  <a:lnTo>
                    <a:pt x="724662" y="1021842"/>
                  </a:lnTo>
                  <a:lnTo>
                    <a:pt x="722376" y="1024128"/>
                  </a:lnTo>
                  <a:lnTo>
                    <a:pt x="719328" y="1026414"/>
                  </a:lnTo>
                  <a:lnTo>
                    <a:pt x="715518" y="1028700"/>
                  </a:lnTo>
                  <a:lnTo>
                    <a:pt x="711708" y="1031748"/>
                  </a:lnTo>
                  <a:lnTo>
                    <a:pt x="707136" y="1034796"/>
                  </a:lnTo>
                  <a:lnTo>
                    <a:pt x="702564" y="1038606"/>
                  </a:lnTo>
                  <a:lnTo>
                    <a:pt x="697230" y="1042416"/>
                  </a:lnTo>
                  <a:lnTo>
                    <a:pt x="691896" y="1045464"/>
                  </a:lnTo>
                  <a:lnTo>
                    <a:pt x="680466" y="1053084"/>
                  </a:lnTo>
                  <a:lnTo>
                    <a:pt x="669798" y="1060704"/>
                  </a:lnTo>
                  <a:lnTo>
                    <a:pt x="659130" y="1067562"/>
                  </a:lnTo>
                  <a:lnTo>
                    <a:pt x="653796" y="1070610"/>
                  </a:lnTo>
                  <a:lnTo>
                    <a:pt x="649224" y="1073658"/>
                  </a:lnTo>
                  <a:lnTo>
                    <a:pt x="639318" y="1079754"/>
                  </a:lnTo>
                  <a:lnTo>
                    <a:pt x="636270" y="1081278"/>
                  </a:lnTo>
                  <a:lnTo>
                    <a:pt x="628650" y="1084326"/>
                  </a:lnTo>
                  <a:lnTo>
                    <a:pt x="619506" y="1086612"/>
                  </a:lnTo>
                  <a:lnTo>
                    <a:pt x="610362" y="1088136"/>
                  </a:lnTo>
                  <a:lnTo>
                    <a:pt x="607314" y="1089660"/>
                  </a:lnTo>
                  <a:lnTo>
                    <a:pt x="594360" y="1091946"/>
                  </a:lnTo>
                  <a:lnTo>
                    <a:pt x="587502" y="1091946"/>
                  </a:lnTo>
                  <a:lnTo>
                    <a:pt x="576834" y="1089660"/>
                  </a:lnTo>
                  <a:lnTo>
                    <a:pt x="569214" y="1086612"/>
                  </a:lnTo>
                  <a:lnTo>
                    <a:pt x="560070" y="1084326"/>
                  </a:lnTo>
                  <a:lnTo>
                    <a:pt x="553212" y="1082802"/>
                  </a:lnTo>
                  <a:lnTo>
                    <a:pt x="539496" y="1078992"/>
                  </a:lnTo>
                  <a:lnTo>
                    <a:pt x="534924" y="1077468"/>
                  </a:lnTo>
                  <a:lnTo>
                    <a:pt x="532638" y="1075944"/>
                  </a:lnTo>
                  <a:lnTo>
                    <a:pt x="529590" y="1075182"/>
                  </a:lnTo>
                  <a:lnTo>
                    <a:pt x="523494" y="1072134"/>
                  </a:lnTo>
                  <a:lnTo>
                    <a:pt x="496062" y="1059942"/>
                  </a:lnTo>
                  <a:lnTo>
                    <a:pt x="490728" y="1056894"/>
                  </a:lnTo>
                  <a:lnTo>
                    <a:pt x="486156" y="1053846"/>
                  </a:lnTo>
                  <a:lnTo>
                    <a:pt x="485394" y="1053084"/>
                  </a:lnTo>
                  <a:lnTo>
                    <a:pt x="483870" y="1053084"/>
                  </a:lnTo>
                  <a:lnTo>
                    <a:pt x="483108" y="1051560"/>
                  </a:lnTo>
                  <a:lnTo>
                    <a:pt x="481584" y="1050798"/>
                  </a:lnTo>
                  <a:lnTo>
                    <a:pt x="480822" y="1049274"/>
                  </a:lnTo>
                  <a:lnTo>
                    <a:pt x="478536" y="1046988"/>
                  </a:lnTo>
                  <a:lnTo>
                    <a:pt x="473202" y="1040130"/>
                  </a:lnTo>
                  <a:lnTo>
                    <a:pt x="468630" y="1035558"/>
                  </a:lnTo>
                  <a:lnTo>
                    <a:pt x="469392" y="1035558"/>
                  </a:lnTo>
                  <a:lnTo>
                    <a:pt x="467868" y="1034034"/>
                  </a:lnTo>
                  <a:lnTo>
                    <a:pt x="466344" y="1033272"/>
                  </a:lnTo>
                  <a:lnTo>
                    <a:pt x="464820" y="1030986"/>
                  </a:lnTo>
                  <a:lnTo>
                    <a:pt x="462534" y="1029462"/>
                  </a:lnTo>
                  <a:lnTo>
                    <a:pt x="457962" y="1024128"/>
                  </a:lnTo>
                  <a:lnTo>
                    <a:pt x="440436" y="1006602"/>
                  </a:lnTo>
                  <a:lnTo>
                    <a:pt x="428244" y="992886"/>
                  </a:lnTo>
                  <a:lnTo>
                    <a:pt x="404622" y="969264"/>
                  </a:lnTo>
                  <a:lnTo>
                    <a:pt x="397002" y="960882"/>
                  </a:lnTo>
                  <a:lnTo>
                    <a:pt x="389382" y="951738"/>
                  </a:lnTo>
                  <a:lnTo>
                    <a:pt x="375666" y="936498"/>
                  </a:lnTo>
                  <a:lnTo>
                    <a:pt x="370332" y="928878"/>
                  </a:lnTo>
                  <a:lnTo>
                    <a:pt x="364998" y="922020"/>
                  </a:lnTo>
                  <a:lnTo>
                    <a:pt x="360426" y="914400"/>
                  </a:lnTo>
                  <a:lnTo>
                    <a:pt x="345948" y="892302"/>
                  </a:lnTo>
                  <a:lnTo>
                    <a:pt x="326898" y="861060"/>
                  </a:lnTo>
                  <a:lnTo>
                    <a:pt x="316992" y="844296"/>
                  </a:lnTo>
                  <a:lnTo>
                    <a:pt x="307086" y="828294"/>
                  </a:lnTo>
                  <a:lnTo>
                    <a:pt x="297942" y="812292"/>
                  </a:lnTo>
                  <a:lnTo>
                    <a:pt x="289560" y="796290"/>
                  </a:lnTo>
                  <a:lnTo>
                    <a:pt x="280416" y="780288"/>
                  </a:lnTo>
                  <a:lnTo>
                    <a:pt x="272034" y="763524"/>
                  </a:lnTo>
                  <a:lnTo>
                    <a:pt x="266700" y="755142"/>
                  </a:lnTo>
                  <a:lnTo>
                    <a:pt x="262128" y="745998"/>
                  </a:lnTo>
                  <a:lnTo>
                    <a:pt x="250698" y="728472"/>
                  </a:lnTo>
                  <a:lnTo>
                    <a:pt x="239268" y="710184"/>
                  </a:lnTo>
                  <a:lnTo>
                    <a:pt x="227076" y="691896"/>
                  </a:lnTo>
                  <a:lnTo>
                    <a:pt x="214884" y="674370"/>
                  </a:lnTo>
                  <a:lnTo>
                    <a:pt x="202692" y="656082"/>
                  </a:lnTo>
                  <a:lnTo>
                    <a:pt x="188976" y="637794"/>
                  </a:lnTo>
                  <a:lnTo>
                    <a:pt x="182880" y="628650"/>
                  </a:lnTo>
                  <a:lnTo>
                    <a:pt x="176022" y="620268"/>
                  </a:lnTo>
                  <a:lnTo>
                    <a:pt x="170688" y="612648"/>
                  </a:lnTo>
                  <a:lnTo>
                    <a:pt x="162306" y="601980"/>
                  </a:lnTo>
                  <a:lnTo>
                    <a:pt x="159258" y="599694"/>
                  </a:lnTo>
                  <a:lnTo>
                    <a:pt x="156972" y="596646"/>
                  </a:lnTo>
                  <a:lnTo>
                    <a:pt x="147066" y="586740"/>
                  </a:lnTo>
                  <a:lnTo>
                    <a:pt x="143256" y="583692"/>
                  </a:lnTo>
                  <a:lnTo>
                    <a:pt x="139446" y="581406"/>
                  </a:lnTo>
                  <a:lnTo>
                    <a:pt x="130302" y="573786"/>
                  </a:lnTo>
                  <a:lnTo>
                    <a:pt x="124206" y="569214"/>
                  </a:lnTo>
                  <a:lnTo>
                    <a:pt x="117348" y="563118"/>
                  </a:lnTo>
                  <a:lnTo>
                    <a:pt x="109728" y="557784"/>
                  </a:lnTo>
                  <a:lnTo>
                    <a:pt x="76200" y="532638"/>
                  </a:lnTo>
                  <a:lnTo>
                    <a:pt x="46482" y="515874"/>
                  </a:lnTo>
                  <a:lnTo>
                    <a:pt x="39624" y="512064"/>
                  </a:lnTo>
                  <a:lnTo>
                    <a:pt x="26670" y="506730"/>
                  </a:lnTo>
                  <a:lnTo>
                    <a:pt x="13716" y="502158"/>
                  </a:lnTo>
                  <a:lnTo>
                    <a:pt x="0" y="537210"/>
                  </a:lnTo>
                  <a:lnTo>
                    <a:pt x="12192" y="542544"/>
                  </a:lnTo>
                  <a:lnTo>
                    <a:pt x="24384" y="547116"/>
                  </a:lnTo>
                  <a:lnTo>
                    <a:pt x="36576" y="553212"/>
                  </a:lnTo>
                  <a:lnTo>
                    <a:pt x="48768" y="560832"/>
                  </a:lnTo>
                  <a:lnTo>
                    <a:pt x="55626" y="564642"/>
                  </a:lnTo>
                  <a:lnTo>
                    <a:pt x="63246" y="569976"/>
                  </a:lnTo>
                  <a:lnTo>
                    <a:pt x="70104" y="575310"/>
                  </a:lnTo>
                  <a:lnTo>
                    <a:pt x="78486" y="581406"/>
                  </a:lnTo>
                  <a:lnTo>
                    <a:pt x="100584" y="598932"/>
                  </a:lnTo>
                  <a:lnTo>
                    <a:pt x="106680" y="603504"/>
                  </a:lnTo>
                  <a:lnTo>
                    <a:pt x="112014" y="608076"/>
                  </a:lnTo>
                  <a:lnTo>
                    <a:pt x="116586" y="611124"/>
                  </a:lnTo>
                  <a:lnTo>
                    <a:pt x="123444" y="616458"/>
                  </a:lnTo>
                  <a:lnTo>
                    <a:pt x="125730" y="618744"/>
                  </a:lnTo>
                  <a:lnTo>
                    <a:pt x="128016" y="621792"/>
                  </a:lnTo>
                  <a:lnTo>
                    <a:pt x="129540" y="623316"/>
                  </a:lnTo>
                  <a:lnTo>
                    <a:pt x="131826" y="624840"/>
                  </a:lnTo>
                  <a:lnTo>
                    <a:pt x="140208" y="636270"/>
                  </a:lnTo>
                  <a:lnTo>
                    <a:pt x="146304" y="643128"/>
                  </a:lnTo>
                  <a:lnTo>
                    <a:pt x="158496" y="659892"/>
                  </a:lnTo>
                  <a:lnTo>
                    <a:pt x="164592" y="669036"/>
                  </a:lnTo>
                  <a:lnTo>
                    <a:pt x="171450" y="678180"/>
                  </a:lnTo>
                  <a:lnTo>
                    <a:pt x="177546" y="687324"/>
                  </a:lnTo>
                  <a:lnTo>
                    <a:pt x="183642" y="695706"/>
                  </a:lnTo>
                  <a:lnTo>
                    <a:pt x="195834" y="713232"/>
                  </a:lnTo>
                  <a:lnTo>
                    <a:pt x="207264" y="731520"/>
                  </a:lnTo>
                  <a:lnTo>
                    <a:pt x="218694" y="749046"/>
                  </a:lnTo>
                  <a:lnTo>
                    <a:pt x="233934" y="774192"/>
                  </a:lnTo>
                  <a:lnTo>
                    <a:pt x="264414" y="830580"/>
                  </a:lnTo>
                  <a:lnTo>
                    <a:pt x="294132" y="880872"/>
                  </a:lnTo>
                  <a:lnTo>
                    <a:pt x="313944" y="912114"/>
                  </a:lnTo>
                  <a:lnTo>
                    <a:pt x="323088" y="927354"/>
                  </a:lnTo>
                  <a:lnTo>
                    <a:pt x="328422" y="934974"/>
                  </a:lnTo>
                  <a:lnTo>
                    <a:pt x="333756" y="943356"/>
                  </a:lnTo>
                  <a:lnTo>
                    <a:pt x="339090" y="950976"/>
                  </a:lnTo>
                  <a:lnTo>
                    <a:pt x="360426" y="976884"/>
                  </a:lnTo>
                  <a:lnTo>
                    <a:pt x="377190" y="995172"/>
                  </a:lnTo>
                  <a:lnTo>
                    <a:pt x="385572" y="1003554"/>
                  </a:lnTo>
                  <a:lnTo>
                    <a:pt x="400050" y="1019556"/>
                  </a:lnTo>
                  <a:lnTo>
                    <a:pt x="413004" y="1032510"/>
                  </a:lnTo>
                  <a:lnTo>
                    <a:pt x="419100" y="1039368"/>
                  </a:lnTo>
                  <a:lnTo>
                    <a:pt x="425196" y="1045464"/>
                  </a:lnTo>
                  <a:lnTo>
                    <a:pt x="430530" y="1051560"/>
                  </a:lnTo>
                  <a:lnTo>
                    <a:pt x="435864" y="1056132"/>
                  </a:lnTo>
                  <a:lnTo>
                    <a:pt x="437388" y="1058418"/>
                  </a:lnTo>
                  <a:lnTo>
                    <a:pt x="439674" y="1059942"/>
                  </a:lnTo>
                  <a:lnTo>
                    <a:pt x="441960" y="1062228"/>
                  </a:lnTo>
                  <a:lnTo>
                    <a:pt x="442722" y="1063752"/>
                  </a:lnTo>
                  <a:lnTo>
                    <a:pt x="442722" y="1062990"/>
                  </a:lnTo>
                  <a:lnTo>
                    <a:pt x="445008" y="1066038"/>
                  </a:lnTo>
                  <a:lnTo>
                    <a:pt x="446532" y="1067562"/>
                  </a:lnTo>
                  <a:lnTo>
                    <a:pt x="448056" y="1069848"/>
                  </a:lnTo>
                  <a:lnTo>
                    <a:pt x="450342" y="1072134"/>
                  </a:lnTo>
                  <a:lnTo>
                    <a:pt x="455676" y="1078992"/>
                  </a:lnTo>
                  <a:lnTo>
                    <a:pt x="463296" y="1084326"/>
                  </a:lnTo>
                  <a:lnTo>
                    <a:pt x="465582" y="1086612"/>
                  </a:lnTo>
                  <a:lnTo>
                    <a:pt x="471678" y="1089660"/>
                  </a:lnTo>
                  <a:lnTo>
                    <a:pt x="478536" y="1093470"/>
                  </a:lnTo>
                  <a:lnTo>
                    <a:pt x="486156" y="1097280"/>
                  </a:lnTo>
                  <a:lnTo>
                    <a:pt x="493776" y="1100328"/>
                  </a:lnTo>
                  <a:lnTo>
                    <a:pt x="500634" y="1104138"/>
                  </a:lnTo>
                  <a:lnTo>
                    <a:pt x="508254" y="1107186"/>
                  </a:lnTo>
                  <a:lnTo>
                    <a:pt x="515112" y="1110234"/>
                  </a:lnTo>
                  <a:lnTo>
                    <a:pt x="518160" y="1110996"/>
                  </a:lnTo>
                  <a:lnTo>
                    <a:pt x="520446" y="1112520"/>
                  </a:lnTo>
                  <a:lnTo>
                    <a:pt x="530352" y="1115568"/>
                  </a:lnTo>
                  <a:lnTo>
                    <a:pt x="534162" y="1117092"/>
                  </a:lnTo>
                  <a:lnTo>
                    <a:pt x="547878" y="1120140"/>
                  </a:lnTo>
                  <a:lnTo>
                    <a:pt x="550926" y="1121664"/>
                  </a:lnTo>
                  <a:lnTo>
                    <a:pt x="557784" y="1123188"/>
                  </a:lnTo>
                  <a:lnTo>
                    <a:pt x="566166" y="1126236"/>
                  </a:lnTo>
                  <a:lnTo>
                    <a:pt x="574548" y="1128522"/>
                  </a:lnTo>
                  <a:lnTo>
                    <a:pt x="585216" y="1130046"/>
                  </a:lnTo>
                  <a:lnTo>
                    <a:pt x="594360" y="1130046"/>
                  </a:lnTo>
                  <a:lnTo>
                    <a:pt x="603504" y="1129284"/>
                  </a:lnTo>
                  <a:lnTo>
                    <a:pt x="611886" y="1127760"/>
                  </a:lnTo>
                  <a:lnTo>
                    <a:pt x="615696" y="1126236"/>
                  </a:lnTo>
                  <a:lnTo>
                    <a:pt x="620268" y="1125474"/>
                  </a:lnTo>
                  <a:lnTo>
                    <a:pt x="629412" y="1123188"/>
                  </a:lnTo>
                  <a:lnTo>
                    <a:pt x="633984" y="1122426"/>
                  </a:lnTo>
                  <a:lnTo>
                    <a:pt x="639318" y="1120902"/>
                  </a:lnTo>
                  <a:lnTo>
                    <a:pt x="645414" y="1118616"/>
                  </a:lnTo>
                  <a:lnTo>
                    <a:pt x="652272" y="1115568"/>
                  </a:lnTo>
                  <a:lnTo>
                    <a:pt x="656082" y="1113282"/>
                  </a:lnTo>
                  <a:lnTo>
                    <a:pt x="660654" y="1110996"/>
                  </a:lnTo>
                  <a:lnTo>
                    <a:pt x="664464" y="1108710"/>
                  </a:lnTo>
                  <a:lnTo>
                    <a:pt x="669036" y="1106424"/>
                  </a:lnTo>
                  <a:lnTo>
                    <a:pt x="678942" y="1099566"/>
                  </a:lnTo>
                  <a:lnTo>
                    <a:pt x="690372" y="1092708"/>
                  </a:lnTo>
                  <a:lnTo>
                    <a:pt x="713232" y="1077468"/>
                  </a:lnTo>
                  <a:lnTo>
                    <a:pt x="729234" y="1066038"/>
                  </a:lnTo>
                  <a:lnTo>
                    <a:pt x="738378" y="1059942"/>
                  </a:lnTo>
                  <a:lnTo>
                    <a:pt x="751332" y="1050036"/>
                  </a:lnTo>
                  <a:lnTo>
                    <a:pt x="761238" y="1040130"/>
                  </a:lnTo>
                  <a:lnTo>
                    <a:pt x="769620" y="1029462"/>
                  </a:lnTo>
                  <a:lnTo>
                    <a:pt x="771144" y="1027938"/>
                  </a:lnTo>
                  <a:lnTo>
                    <a:pt x="772668" y="1025652"/>
                  </a:lnTo>
                  <a:lnTo>
                    <a:pt x="777240" y="1020318"/>
                  </a:lnTo>
                  <a:lnTo>
                    <a:pt x="781812" y="1014222"/>
                  </a:lnTo>
                  <a:lnTo>
                    <a:pt x="787146" y="1008126"/>
                  </a:lnTo>
                  <a:lnTo>
                    <a:pt x="791718" y="1002030"/>
                  </a:lnTo>
                  <a:lnTo>
                    <a:pt x="817626" y="970788"/>
                  </a:lnTo>
                  <a:lnTo>
                    <a:pt x="854964" y="930402"/>
                  </a:lnTo>
                  <a:lnTo>
                    <a:pt x="866394" y="914400"/>
                  </a:lnTo>
                  <a:lnTo>
                    <a:pt x="872490" y="906018"/>
                  </a:lnTo>
                  <a:lnTo>
                    <a:pt x="882396" y="888492"/>
                  </a:lnTo>
                  <a:lnTo>
                    <a:pt x="901446" y="856488"/>
                  </a:lnTo>
                  <a:lnTo>
                    <a:pt x="912114" y="841248"/>
                  </a:lnTo>
                  <a:lnTo>
                    <a:pt x="934212" y="811530"/>
                  </a:lnTo>
                  <a:lnTo>
                    <a:pt x="939546" y="803910"/>
                  </a:lnTo>
                  <a:lnTo>
                    <a:pt x="950976" y="786384"/>
                  </a:lnTo>
                  <a:lnTo>
                    <a:pt x="956310" y="777240"/>
                  </a:lnTo>
                  <a:lnTo>
                    <a:pt x="966216" y="758952"/>
                  </a:lnTo>
                  <a:lnTo>
                    <a:pt x="975360" y="741426"/>
                  </a:lnTo>
                  <a:lnTo>
                    <a:pt x="985266" y="725424"/>
                  </a:lnTo>
                  <a:lnTo>
                    <a:pt x="1017270" y="679704"/>
                  </a:lnTo>
                  <a:lnTo>
                    <a:pt x="1023366" y="672846"/>
                  </a:lnTo>
                  <a:lnTo>
                    <a:pt x="1027938" y="665226"/>
                  </a:lnTo>
                  <a:lnTo>
                    <a:pt x="1037844" y="652272"/>
                  </a:lnTo>
                  <a:lnTo>
                    <a:pt x="1046226" y="639318"/>
                  </a:lnTo>
                  <a:lnTo>
                    <a:pt x="1058418" y="622554"/>
                  </a:lnTo>
                  <a:lnTo>
                    <a:pt x="1062990" y="617982"/>
                  </a:lnTo>
                  <a:lnTo>
                    <a:pt x="1073658" y="606552"/>
                  </a:lnTo>
                  <a:lnTo>
                    <a:pt x="1090422" y="589788"/>
                  </a:lnTo>
                  <a:lnTo>
                    <a:pt x="1101852" y="579882"/>
                  </a:lnTo>
                  <a:lnTo>
                    <a:pt x="1110234" y="573786"/>
                  </a:lnTo>
                  <a:lnTo>
                    <a:pt x="1114044" y="571500"/>
                  </a:lnTo>
                  <a:lnTo>
                    <a:pt x="1121664" y="567690"/>
                  </a:lnTo>
                  <a:lnTo>
                    <a:pt x="1130046" y="563118"/>
                  </a:lnTo>
                  <a:lnTo>
                    <a:pt x="1139190" y="558546"/>
                  </a:lnTo>
                  <a:lnTo>
                    <a:pt x="1143000" y="557022"/>
                  </a:lnTo>
                  <a:lnTo>
                    <a:pt x="1146810" y="554736"/>
                  </a:lnTo>
                  <a:lnTo>
                    <a:pt x="1150620" y="553212"/>
                  </a:lnTo>
                  <a:lnTo>
                    <a:pt x="1153668" y="551688"/>
                  </a:lnTo>
                  <a:lnTo>
                    <a:pt x="1155954" y="550926"/>
                  </a:lnTo>
                  <a:lnTo>
                    <a:pt x="1159002" y="549402"/>
                  </a:lnTo>
                  <a:lnTo>
                    <a:pt x="1159764" y="549402"/>
                  </a:lnTo>
                  <a:lnTo>
                    <a:pt x="1166622" y="545592"/>
                  </a:lnTo>
                  <a:lnTo>
                    <a:pt x="1175766" y="539496"/>
                  </a:lnTo>
                  <a:lnTo>
                    <a:pt x="1179576" y="536448"/>
                  </a:lnTo>
                  <a:lnTo>
                    <a:pt x="1183386" y="534162"/>
                  </a:lnTo>
                  <a:lnTo>
                    <a:pt x="1187196" y="530352"/>
                  </a:lnTo>
                  <a:lnTo>
                    <a:pt x="1187958" y="530352"/>
                  </a:lnTo>
                  <a:close/>
                </a:path>
                <a:path w="3089275" h="1130300">
                  <a:moveTo>
                    <a:pt x="3089148" y="44958"/>
                  </a:moveTo>
                  <a:lnTo>
                    <a:pt x="3052318" y="0"/>
                  </a:lnTo>
                  <a:lnTo>
                    <a:pt x="3051048" y="2286"/>
                  </a:lnTo>
                  <a:lnTo>
                    <a:pt x="3047238" y="3810"/>
                  </a:lnTo>
                  <a:lnTo>
                    <a:pt x="3040888" y="8382"/>
                  </a:lnTo>
                  <a:lnTo>
                    <a:pt x="3037078" y="10668"/>
                  </a:lnTo>
                  <a:lnTo>
                    <a:pt x="3035808" y="12192"/>
                  </a:lnTo>
                  <a:lnTo>
                    <a:pt x="3034538" y="12192"/>
                  </a:lnTo>
                  <a:lnTo>
                    <a:pt x="3031998" y="13716"/>
                  </a:lnTo>
                  <a:lnTo>
                    <a:pt x="3029458" y="14478"/>
                  </a:lnTo>
                  <a:lnTo>
                    <a:pt x="3021838" y="17526"/>
                  </a:lnTo>
                  <a:lnTo>
                    <a:pt x="3018028" y="19812"/>
                  </a:lnTo>
                  <a:lnTo>
                    <a:pt x="3012948" y="22098"/>
                  </a:lnTo>
                  <a:lnTo>
                    <a:pt x="3004058" y="26670"/>
                  </a:lnTo>
                  <a:lnTo>
                    <a:pt x="2993898" y="31242"/>
                  </a:lnTo>
                  <a:lnTo>
                    <a:pt x="2974848" y="42672"/>
                  </a:lnTo>
                  <a:lnTo>
                    <a:pt x="2967228" y="48768"/>
                  </a:lnTo>
                  <a:lnTo>
                    <a:pt x="2959608" y="54102"/>
                  </a:lnTo>
                  <a:lnTo>
                    <a:pt x="2945638" y="66294"/>
                  </a:lnTo>
                  <a:lnTo>
                    <a:pt x="2916428" y="97536"/>
                  </a:lnTo>
                  <a:lnTo>
                    <a:pt x="2894838" y="128016"/>
                  </a:lnTo>
                  <a:lnTo>
                    <a:pt x="2884678" y="140208"/>
                  </a:lnTo>
                  <a:lnTo>
                    <a:pt x="2851658" y="185166"/>
                  </a:lnTo>
                  <a:lnTo>
                    <a:pt x="2830068" y="219456"/>
                  </a:lnTo>
                  <a:lnTo>
                    <a:pt x="2819908" y="236982"/>
                  </a:lnTo>
                  <a:lnTo>
                    <a:pt x="2809748" y="253746"/>
                  </a:lnTo>
                  <a:lnTo>
                    <a:pt x="2805938" y="261366"/>
                  </a:lnTo>
                  <a:lnTo>
                    <a:pt x="2800858" y="268986"/>
                  </a:lnTo>
                  <a:lnTo>
                    <a:pt x="2790698" y="282702"/>
                  </a:lnTo>
                  <a:lnTo>
                    <a:pt x="2780538" y="297180"/>
                  </a:lnTo>
                  <a:lnTo>
                    <a:pt x="2769108" y="312420"/>
                  </a:lnTo>
                  <a:lnTo>
                    <a:pt x="2757678" y="328422"/>
                  </a:lnTo>
                  <a:lnTo>
                    <a:pt x="2751328" y="336804"/>
                  </a:lnTo>
                  <a:lnTo>
                    <a:pt x="2746248" y="345948"/>
                  </a:lnTo>
                  <a:lnTo>
                    <a:pt x="2736088" y="361950"/>
                  </a:lnTo>
                  <a:lnTo>
                    <a:pt x="2727198" y="377190"/>
                  </a:lnTo>
                  <a:lnTo>
                    <a:pt x="2723388" y="384048"/>
                  </a:lnTo>
                  <a:lnTo>
                    <a:pt x="2719578" y="390144"/>
                  </a:lnTo>
                  <a:lnTo>
                    <a:pt x="2713228" y="396240"/>
                  </a:lnTo>
                  <a:lnTo>
                    <a:pt x="2709418" y="402336"/>
                  </a:lnTo>
                  <a:lnTo>
                    <a:pt x="2684018" y="427482"/>
                  </a:lnTo>
                  <a:lnTo>
                    <a:pt x="2671318" y="441198"/>
                  </a:lnTo>
                  <a:lnTo>
                    <a:pt x="2659888" y="454152"/>
                  </a:lnTo>
                  <a:lnTo>
                    <a:pt x="2649728" y="467106"/>
                  </a:lnTo>
                  <a:lnTo>
                    <a:pt x="2631948" y="488442"/>
                  </a:lnTo>
                  <a:lnTo>
                    <a:pt x="2629408" y="490728"/>
                  </a:lnTo>
                  <a:lnTo>
                    <a:pt x="2628138" y="493776"/>
                  </a:lnTo>
                  <a:lnTo>
                    <a:pt x="2624328" y="496824"/>
                  </a:lnTo>
                  <a:lnTo>
                    <a:pt x="2623058" y="499872"/>
                  </a:lnTo>
                  <a:lnTo>
                    <a:pt x="2616708" y="506730"/>
                  </a:lnTo>
                  <a:lnTo>
                    <a:pt x="2611628" y="509778"/>
                  </a:lnTo>
                  <a:lnTo>
                    <a:pt x="2605278" y="514350"/>
                  </a:lnTo>
                  <a:lnTo>
                    <a:pt x="2601468" y="517398"/>
                  </a:lnTo>
                  <a:lnTo>
                    <a:pt x="2592578" y="523494"/>
                  </a:lnTo>
                  <a:lnTo>
                    <a:pt x="2587498" y="527304"/>
                  </a:lnTo>
                  <a:lnTo>
                    <a:pt x="2582418" y="530352"/>
                  </a:lnTo>
                  <a:lnTo>
                    <a:pt x="2570988" y="537972"/>
                  </a:lnTo>
                  <a:lnTo>
                    <a:pt x="2559558" y="544830"/>
                  </a:lnTo>
                  <a:lnTo>
                    <a:pt x="2549398" y="551688"/>
                  </a:lnTo>
                  <a:lnTo>
                    <a:pt x="2540508" y="557022"/>
                  </a:lnTo>
                  <a:lnTo>
                    <a:pt x="2536698" y="560070"/>
                  </a:lnTo>
                  <a:lnTo>
                    <a:pt x="2532888" y="561594"/>
                  </a:lnTo>
                  <a:lnTo>
                    <a:pt x="2530348" y="563118"/>
                  </a:lnTo>
                  <a:lnTo>
                    <a:pt x="2527808" y="563880"/>
                  </a:lnTo>
                  <a:lnTo>
                    <a:pt x="2523998" y="566166"/>
                  </a:lnTo>
                  <a:lnTo>
                    <a:pt x="2516378" y="568452"/>
                  </a:lnTo>
                  <a:lnTo>
                    <a:pt x="2508758" y="569976"/>
                  </a:lnTo>
                  <a:lnTo>
                    <a:pt x="2503678" y="570738"/>
                  </a:lnTo>
                  <a:lnTo>
                    <a:pt x="2499868" y="572262"/>
                  </a:lnTo>
                  <a:lnTo>
                    <a:pt x="2497328" y="572262"/>
                  </a:lnTo>
                  <a:lnTo>
                    <a:pt x="2489708" y="574548"/>
                  </a:lnTo>
                  <a:lnTo>
                    <a:pt x="2485898" y="574548"/>
                  </a:lnTo>
                  <a:lnTo>
                    <a:pt x="2483358" y="573786"/>
                  </a:lnTo>
                  <a:lnTo>
                    <a:pt x="2482088" y="573786"/>
                  </a:lnTo>
                  <a:lnTo>
                    <a:pt x="2475738" y="572262"/>
                  </a:lnTo>
                  <a:lnTo>
                    <a:pt x="2466848" y="569976"/>
                  </a:lnTo>
                  <a:lnTo>
                    <a:pt x="2457958" y="566928"/>
                  </a:lnTo>
                  <a:lnTo>
                    <a:pt x="2450338" y="565404"/>
                  </a:lnTo>
                  <a:lnTo>
                    <a:pt x="2445258" y="563880"/>
                  </a:lnTo>
                  <a:lnTo>
                    <a:pt x="2442718" y="563880"/>
                  </a:lnTo>
                  <a:lnTo>
                    <a:pt x="2441448" y="563118"/>
                  </a:lnTo>
                  <a:lnTo>
                    <a:pt x="2437638" y="561594"/>
                  </a:lnTo>
                  <a:lnTo>
                    <a:pt x="2428748" y="558546"/>
                  </a:lnTo>
                  <a:lnTo>
                    <a:pt x="2422398" y="555498"/>
                  </a:lnTo>
                  <a:lnTo>
                    <a:pt x="2402078" y="546354"/>
                  </a:lnTo>
                  <a:lnTo>
                    <a:pt x="2395728" y="543306"/>
                  </a:lnTo>
                  <a:lnTo>
                    <a:pt x="2389378" y="541020"/>
                  </a:lnTo>
                  <a:lnTo>
                    <a:pt x="2388108" y="539496"/>
                  </a:lnTo>
                  <a:lnTo>
                    <a:pt x="2385568" y="537972"/>
                  </a:lnTo>
                  <a:lnTo>
                    <a:pt x="2384298" y="537972"/>
                  </a:lnTo>
                  <a:lnTo>
                    <a:pt x="2383028" y="536448"/>
                  </a:lnTo>
                  <a:lnTo>
                    <a:pt x="2381758" y="534162"/>
                  </a:lnTo>
                  <a:lnTo>
                    <a:pt x="2375408" y="526542"/>
                  </a:lnTo>
                  <a:lnTo>
                    <a:pt x="2365248" y="515874"/>
                  </a:lnTo>
                  <a:lnTo>
                    <a:pt x="2358898" y="511302"/>
                  </a:lnTo>
                  <a:lnTo>
                    <a:pt x="2353818" y="505968"/>
                  </a:lnTo>
                  <a:lnTo>
                    <a:pt x="2348738" y="499872"/>
                  </a:lnTo>
                  <a:lnTo>
                    <a:pt x="2329688" y="480822"/>
                  </a:lnTo>
                  <a:lnTo>
                    <a:pt x="2323338" y="473202"/>
                  </a:lnTo>
                  <a:lnTo>
                    <a:pt x="2314448" y="465582"/>
                  </a:lnTo>
                  <a:lnTo>
                    <a:pt x="2299208" y="448818"/>
                  </a:lnTo>
                  <a:lnTo>
                    <a:pt x="2291588" y="441198"/>
                  </a:lnTo>
                  <a:lnTo>
                    <a:pt x="2267458" y="412242"/>
                  </a:lnTo>
                  <a:lnTo>
                    <a:pt x="2258568" y="398526"/>
                  </a:lnTo>
                  <a:lnTo>
                    <a:pt x="2248408" y="384048"/>
                  </a:lnTo>
                  <a:lnTo>
                    <a:pt x="2239518" y="368808"/>
                  </a:lnTo>
                  <a:lnTo>
                    <a:pt x="2229358" y="353568"/>
                  </a:lnTo>
                  <a:lnTo>
                    <a:pt x="2220468" y="337566"/>
                  </a:lnTo>
                  <a:lnTo>
                    <a:pt x="2210308" y="321564"/>
                  </a:lnTo>
                  <a:lnTo>
                    <a:pt x="2192528" y="291084"/>
                  </a:lnTo>
                  <a:lnTo>
                    <a:pt x="2174748" y="259080"/>
                  </a:lnTo>
                  <a:lnTo>
                    <a:pt x="2170938" y="250698"/>
                  </a:lnTo>
                  <a:lnTo>
                    <a:pt x="2164588" y="241554"/>
                  </a:lnTo>
                  <a:lnTo>
                    <a:pt x="2141728" y="206502"/>
                  </a:lnTo>
                  <a:lnTo>
                    <a:pt x="2130298" y="188214"/>
                  </a:lnTo>
                  <a:lnTo>
                    <a:pt x="2117598" y="171450"/>
                  </a:lnTo>
                  <a:lnTo>
                    <a:pt x="2106168" y="153162"/>
                  </a:lnTo>
                  <a:lnTo>
                    <a:pt x="2092198" y="134874"/>
                  </a:lnTo>
                  <a:lnTo>
                    <a:pt x="2084578" y="126492"/>
                  </a:lnTo>
                  <a:lnTo>
                    <a:pt x="2079498" y="117348"/>
                  </a:lnTo>
                  <a:lnTo>
                    <a:pt x="2073148" y="109728"/>
                  </a:lnTo>
                  <a:lnTo>
                    <a:pt x="2066798" y="102870"/>
                  </a:lnTo>
                  <a:lnTo>
                    <a:pt x="2064258" y="99822"/>
                  </a:lnTo>
                  <a:lnTo>
                    <a:pt x="2056638" y="92202"/>
                  </a:lnTo>
                  <a:lnTo>
                    <a:pt x="2051558" y="87630"/>
                  </a:lnTo>
                  <a:lnTo>
                    <a:pt x="2047748" y="83820"/>
                  </a:lnTo>
                  <a:lnTo>
                    <a:pt x="2043938" y="80772"/>
                  </a:lnTo>
                  <a:lnTo>
                    <a:pt x="2040128" y="78486"/>
                  </a:lnTo>
                  <a:lnTo>
                    <a:pt x="2036318" y="75438"/>
                  </a:lnTo>
                  <a:lnTo>
                    <a:pt x="2031238" y="71628"/>
                  </a:lnTo>
                  <a:lnTo>
                    <a:pt x="2018538" y="60960"/>
                  </a:lnTo>
                  <a:lnTo>
                    <a:pt x="2010918" y="54864"/>
                  </a:lnTo>
                  <a:lnTo>
                    <a:pt x="1976628" y="30480"/>
                  </a:lnTo>
                  <a:lnTo>
                    <a:pt x="1969008" y="25146"/>
                  </a:lnTo>
                  <a:lnTo>
                    <a:pt x="1961388" y="21336"/>
                  </a:lnTo>
                  <a:lnTo>
                    <a:pt x="1953768" y="16764"/>
                  </a:lnTo>
                  <a:lnTo>
                    <a:pt x="1946148" y="12954"/>
                  </a:lnTo>
                  <a:lnTo>
                    <a:pt x="1938528" y="9906"/>
                  </a:lnTo>
                  <a:lnTo>
                    <a:pt x="1924558" y="4572"/>
                  </a:lnTo>
                  <a:lnTo>
                    <a:pt x="1913128" y="0"/>
                  </a:lnTo>
                  <a:lnTo>
                    <a:pt x="1892808" y="52578"/>
                  </a:lnTo>
                  <a:lnTo>
                    <a:pt x="1904238" y="57912"/>
                  </a:lnTo>
                  <a:lnTo>
                    <a:pt x="1916938" y="62484"/>
                  </a:lnTo>
                  <a:lnTo>
                    <a:pt x="1922018" y="65532"/>
                  </a:lnTo>
                  <a:lnTo>
                    <a:pt x="1928368" y="67818"/>
                  </a:lnTo>
                  <a:lnTo>
                    <a:pt x="1933448" y="71628"/>
                  </a:lnTo>
                  <a:lnTo>
                    <a:pt x="1939798" y="74676"/>
                  </a:lnTo>
                  <a:lnTo>
                    <a:pt x="1946148" y="78486"/>
                  </a:lnTo>
                  <a:lnTo>
                    <a:pt x="1953768" y="83820"/>
                  </a:lnTo>
                  <a:lnTo>
                    <a:pt x="1960118" y="89154"/>
                  </a:lnTo>
                  <a:lnTo>
                    <a:pt x="1967738" y="94488"/>
                  </a:lnTo>
                  <a:lnTo>
                    <a:pt x="1975358" y="100584"/>
                  </a:lnTo>
                  <a:lnTo>
                    <a:pt x="1982978" y="105918"/>
                  </a:lnTo>
                  <a:lnTo>
                    <a:pt x="1995678" y="116586"/>
                  </a:lnTo>
                  <a:lnTo>
                    <a:pt x="2005838" y="124206"/>
                  </a:lnTo>
                  <a:lnTo>
                    <a:pt x="2009648" y="126492"/>
                  </a:lnTo>
                  <a:lnTo>
                    <a:pt x="2012188" y="128778"/>
                  </a:lnTo>
                  <a:lnTo>
                    <a:pt x="2023618" y="140208"/>
                  </a:lnTo>
                  <a:lnTo>
                    <a:pt x="2028698" y="146304"/>
                  </a:lnTo>
                  <a:lnTo>
                    <a:pt x="2033778" y="153162"/>
                  </a:lnTo>
                  <a:lnTo>
                    <a:pt x="2040128" y="160782"/>
                  </a:lnTo>
                  <a:lnTo>
                    <a:pt x="2052828" y="177546"/>
                  </a:lnTo>
                  <a:lnTo>
                    <a:pt x="2065528" y="195834"/>
                  </a:lnTo>
                  <a:lnTo>
                    <a:pt x="2083308" y="220980"/>
                  </a:lnTo>
                  <a:lnTo>
                    <a:pt x="2094738" y="238506"/>
                  </a:lnTo>
                  <a:lnTo>
                    <a:pt x="2117598" y="272034"/>
                  </a:lnTo>
                  <a:lnTo>
                    <a:pt x="2125218" y="287274"/>
                  </a:lnTo>
                  <a:lnTo>
                    <a:pt x="2134108" y="302514"/>
                  </a:lnTo>
                  <a:lnTo>
                    <a:pt x="2141728" y="318516"/>
                  </a:lnTo>
                  <a:lnTo>
                    <a:pt x="2151888" y="334518"/>
                  </a:lnTo>
                  <a:lnTo>
                    <a:pt x="2160778" y="351282"/>
                  </a:lnTo>
                  <a:lnTo>
                    <a:pt x="2191258" y="399288"/>
                  </a:lnTo>
                  <a:lnTo>
                    <a:pt x="2201418" y="414528"/>
                  </a:lnTo>
                  <a:lnTo>
                    <a:pt x="2210308" y="429006"/>
                  </a:lnTo>
                  <a:lnTo>
                    <a:pt x="2215388" y="436626"/>
                  </a:lnTo>
                  <a:lnTo>
                    <a:pt x="2221738" y="445008"/>
                  </a:lnTo>
                  <a:lnTo>
                    <a:pt x="2226818" y="453390"/>
                  </a:lnTo>
                  <a:lnTo>
                    <a:pt x="2248408" y="479298"/>
                  </a:lnTo>
                  <a:lnTo>
                    <a:pt x="2257298" y="487680"/>
                  </a:lnTo>
                  <a:lnTo>
                    <a:pt x="2266188" y="496824"/>
                  </a:lnTo>
                  <a:lnTo>
                    <a:pt x="2281428" y="513588"/>
                  </a:lnTo>
                  <a:lnTo>
                    <a:pt x="2301748" y="533400"/>
                  </a:lnTo>
                  <a:lnTo>
                    <a:pt x="2308098" y="540258"/>
                  </a:lnTo>
                  <a:lnTo>
                    <a:pt x="2313178" y="546354"/>
                  </a:lnTo>
                  <a:lnTo>
                    <a:pt x="2319528" y="551688"/>
                  </a:lnTo>
                  <a:lnTo>
                    <a:pt x="2327148" y="558546"/>
                  </a:lnTo>
                  <a:lnTo>
                    <a:pt x="2328418" y="560832"/>
                  </a:lnTo>
                  <a:lnTo>
                    <a:pt x="2329688" y="561594"/>
                  </a:lnTo>
                  <a:lnTo>
                    <a:pt x="2332228" y="563880"/>
                  </a:lnTo>
                  <a:lnTo>
                    <a:pt x="2330958" y="563118"/>
                  </a:lnTo>
                  <a:lnTo>
                    <a:pt x="2332228" y="564642"/>
                  </a:lnTo>
                  <a:lnTo>
                    <a:pt x="2333498" y="566166"/>
                  </a:lnTo>
                  <a:lnTo>
                    <a:pt x="2334768" y="566928"/>
                  </a:lnTo>
                  <a:lnTo>
                    <a:pt x="2336038" y="569214"/>
                  </a:lnTo>
                  <a:lnTo>
                    <a:pt x="2338578" y="570738"/>
                  </a:lnTo>
                  <a:lnTo>
                    <a:pt x="2339848" y="574548"/>
                  </a:lnTo>
                  <a:lnTo>
                    <a:pt x="2344928" y="578358"/>
                  </a:lnTo>
                  <a:lnTo>
                    <a:pt x="2350008" y="582930"/>
                  </a:lnTo>
                  <a:lnTo>
                    <a:pt x="2356358" y="586740"/>
                  </a:lnTo>
                  <a:lnTo>
                    <a:pt x="2358898" y="589026"/>
                  </a:lnTo>
                  <a:lnTo>
                    <a:pt x="2362708" y="591312"/>
                  </a:lnTo>
                  <a:lnTo>
                    <a:pt x="2376678" y="598170"/>
                  </a:lnTo>
                  <a:lnTo>
                    <a:pt x="2384298" y="601218"/>
                  </a:lnTo>
                  <a:lnTo>
                    <a:pt x="2391918" y="605028"/>
                  </a:lnTo>
                  <a:lnTo>
                    <a:pt x="2407158" y="611124"/>
                  </a:lnTo>
                  <a:lnTo>
                    <a:pt x="2409698" y="611886"/>
                  </a:lnTo>
                  <a:lnTo>
                    <a:pt x="2412238" y="613410"/>
                  </a:lnTo>
                  <a:lnTo>
                    <a:pt x="2417318" y="614934"/>
                  </a:lnTo>
                  <a:lnTo>
                    <a:pt x="2422398" y="617220"/>
                  </a:lnTo>
                  <a:lnTo>
                    <a:pt x="2426208" y="617982"/>
                  </a:lnTo>
                  <a:lnTo>
                    <a:pt x="2431288" y="619506"/>
                  </a:lnTo>
                  <a:lnTo>
                    <a:pt x="2450338" y="624078"/>
                  </a:lnTo>
                  <a:lnTo>
                    <a:pt x="2457958" y="627126"/>
                  </a:lnTo>
                  <a:lnTo>
                    <a:pt x="2468118" y="629412"/>
                  </a:lnTo>
                  <a:lnTo>
                    <a:pt x="2479548" y="630936"/>
                  </a:lnTo>
                  <a:lnTo>
                    <a:pt x="2489708" y="631698"/>
                  </a:lnTo>
                  <a:lnTo>
                    <a:pt x="2499868" y="630174"/>
                  </a:lnTo>
                  <a:lnTo>
                    <a:pt x="2508758" y="628650"/>
                  </a:lnTo>
                  <a:lnTo>
                    <a:pt x="2513838" y="627126"/>
                  </a:lnTo>
                  <a:lnTo>
                    <a:pt x="2517648" y="626364"/>
                  </a:lnTo>
                  <a:lnTo>
                    <a:pt x="2520188" y="625602"/>
                  </a:lnTo>
                  <a:lnTo>
                    <a:pt x="2522728" y="625602"/>
                  </a:lnTo>
                  <a:lnTo>
                    <a:pt x="2526538" y="624840"/>
                  </a:lnTo>
                  <a:lnTo>
                    <a:pt x="2544318" y="619506"/>
                  </a:lnTo>
                  <a:lnTo>
                    <a:pt x="2551938" y="616458"/>
                  </a:lnTo>
                  <a:lnTo>
                    <a:pt x="2559558" y="611886"/>
                  </a:lnTo>
                  <a:lnTo>
                    <a:pt x="2564638" y="609600"/>
                  </a:lnTo>
                  <a:lnTo>
                    <a:pt x="2568448" y="606552"/>
                  </a:lnTo>
                  <a:lnTo>
                    <a:pt x="2579878" y="600456"/>
                  </a:lnTo>
                  <a:lnTo>
                    <a:pt x="2590038" y="593598"/>
                  </a:lnTo>
                  <a:lnTo>
                    <a:pt x="2601468" y="585978"/>
                  </a:lnTo>
                  <a:lnTo>
                    <a:pt x="2614168" y="578358"/>
                  </a:lnTo>
                  <a:lnTo>
                    <a:pt x="2624328" y="570738"/>
                  </a:lnTo>
                  <a:lnTo>
                    <a:pt x="2629408" y="567690"/>
                  </a:lnTo>
                  <a:lnTo>
                    <a:pt x="2634488" y="563880"/>
                  </a:lnTo>
                  <a:lnTo>
                    <a:pt x="2638298" y="560832"/>
                  </a:lnTo>
                  <a:lnTo>
                    <a:pt x="2643378" y="557784"/>
                  </a:lnTo>
                  <a:lnTo>
                    <a:pt x="2645918" y="555498"/>
                  </a:lnTo>
                  <a:lnTo>
                    <a:pt x="2649728" y="553212"/>
                  </a:lnTo>
                  <a:lnTo>
                    <a:pt x="2654808" y="548640"/>
                  </a:lnTo>
                  <a:lnTo>
                    <a:pt x="2662428" y="541020"/>
                  </a:lnTo>
                  <a:lnTo>
                    <a:pt x="2666238" y="536448"/>
                  </a:lnTo>
                  <a:lnTo>
                    <a:pt x="2670048" y="533400"/>
                  </a:lnTo>
                  <a:lnTo>
                    <a:pt x="2672588" y="529590"/>
                  </a:lnTo>
                  <a:lnTo>
                    <a:pt x="2673858" y="528066"/>
                  </a:lnTo>
                  <a:lnTo>
                    <a:pt x="2675128" y="525780"/>
                  </a:lnTo>
                  <a:lnTo>
                    <a:pt x="2694178" y="502920"/>
                  </a:lnTo>
                  <a:lnTo>
                    <a:pt x="2704338" y="489966"/>
                  </a:lnTo>
                  <a:lnTo>
                    <a:pt x="2715768" y="477774"/>
                  </a:lnTo>
                  <a:lnTo>
                    <a:pt x="2719578" y="472440"/>
                  </a:lnTo>
                  <a:lnTo>
                    <a:pt x="2725928" y="467106"/>
                  </a:lnTo>
                  <a:lnTo>
                    <a:pt x="2737358" y="454914"/>
                  </a:lnTo>
                  <a:lnTo>
                    <a:pt x="2750058" y="441198"/>
                  </a:lnTo>
                  <a:lnTo>
                    <a:pt x="2757678" y="433578"/>
                  </a:lnTo>
                  <a:lnTo>
                    <a:pt x="2762758" y="425958"/>
                  </a:lnTo>
                  <a:lnTo>
                    <a:pt x="2769108" y="417576"/>
                  </a:lnTo>
                  <a:lnTo>
                    <a:pt x="2775458" y="408432"/>
                  </a:lnTo>
                  <a:lnTo>
                    <a:pt x="2795778" y="374904"/>
                  </a:lnTo>
                  <a:lnTo>
                    <a:pt x="2799588" y="367284"/>
                  </a:lnTo>
                  <a:lnTo>
                    <a:pt x="2804668" y="359664"/>
                  </a:lnTo>
                  <a:lnTo>
                    <a:pt x="2814828" y="345948"/>
                  </a:lnTo>
                  <a:lnTo>
                    <a:pt x="2826258" y="332232"/>
                  </a:lnTo>
                  <a:lnTo>
                    <a:pt x="2836418" y="316992"/>
                  </a:lnTo>
                  <a:lnTo>
                    <a:pt x="2842768" y="309372"/>
                  </a:lnTo>
                  <a:lnTo>
                    <a:pt x="2847848" y="300990"/>
                  </a:lnTo>
                  <a:lnTo>
                    <a:pt x="2854198" y="291846"/>
                  </a:lnTo>
                  <a:lnTo>
                    <a:pt x="2859278" y="282702"/>
                  </a:lnTo>
                  <a:lnTo>
                    <a:pt x="2888488" y="232410"/>
                  </a:lnTo>
                  <a:lnTo>
                    <a:pt x="2898648" y="217170"/>
                  </a:lnTo>
                  <a:lnTo>
                    <a:pt x="2910078" y="202692"/>
                  </a:lnTo>
                  <a:lnTo>
                    <a:pt x="2920238" y="188976"/>
                  </a:lnTo>
                  <a:lnTo>
                    <a:pt x="2925318" y="181356"/>
                  </a:lnTo>
                  <a:lnTo>
                    <a:pt x="2936748" y="167640"/>
                  </a:lnTo>
                  <a:lnTo>
                    <a:pt x="2940558" y="161544"/>
                  </a:lnTo>
                  <a:lnTo>
                    <a:pt x="2949448" y="149352"/>
                  </a:lnTo>
                  <a:lnTo>
                    <a:pt x="2957068" y="137922"/>
                  </a:lnTo>
                  <a:lnTo>
                    <a:pt x="2964688" y="128778"/>
                  </a:lnTo>
                  <a:lnTo>
                    <a:pt x="2976118" y="118110"/>
                  </a:lnTo>
                  <a:lnTo>
                    <a:pt x="2986278" y="106680"/>
                  </a:lnTo>
                  <a:lnTo>
                    <a:pt x="3002788" y="92964"/>
                  </a:lnTo>
                  <a:lnTo>
                    <a:pt x="3009138" y="89154"/>
                  </a:lnTo>
                  <a:lnTo>
                    <a:pt x="3010408" y="87630"/>
                  </a:lnTo>
                  <a:lnTo>
                    <a:pt x="3014218" y="86106"/>
                  </a:lnTo>
                  <a:lnTo>
                    <a:pt x="3016758" y="83820"/>
                  </a:lnTo>
                  <a:lnTo>
                    <a:pt x="3020568" y="81534"/>
                  </a:lnTo>
                  <a:lnTo>
                    <a:pt x="3029458" y="77724"/>
                  </a:lnTo>
                  <a:lnTo>
                    <a:pt x="3038348" y="73152"/>
                  </a:lnTo>
                  <a:lnTo>
                    <a:pt x="3049778" y="68580"/>
                  </a:lnTo>
                  <a:lnTo>
                    <a:pt x="3052318" y="67056"/>
                  </a:lnTo>
                  <a:lnTo>
                    <a:pt x="3054858" y="66294"/>
                  </a:lnTo>
                  <a:lnTo>
                    <a:pt x="3056128" y="65532"/>
                  </a:lnTo>
                  <a:lnTo>
                    <a:pt x="3058668" y="64770"/>
                  </a:lnTo>
                  <a:lnTo>
                    <a:pt x="3058668" y="64008"/>
                  </a:lnTo>
                  <a:lnTo>
                    <a:pt x="3066288" y="60198"/>
                  </a:lnTo>
                  <a:lnTo>
                    <a:pt x="3076448" y="54102"/>
                  </a:lnTo>
                  <a:lnTo>
                    <a:pt x="3080258" y="51054"/>
                  </a:lnTo>
                  <a:lnTo>
                    <a:pt x="3084068" y="48768"/>
                  </a:lnTo>
                  <a:lnTo>
                    <a:pt x="3086608" y="46482"/>
                  </a:lnTo>
                  <a:lnTo>
                    <a:pt x="3089148" y="44958"/>
                  </a:lnTo>
                  <a:close/>
                </a:path>
              </a:pathLst>
            </a:custGeom>
            <a:solidFill>
              <a:srgbClr val="00AF4F"/>
            </a:solidFill>
          </p:spPr>
          <p:txBody>
            <a:bodyPr wrap="square" lIns="0" tIns="0" rIns="0" bIns="0" rtlCol="0"/>
            <a:lstStyle/>
            <a:p>
              <a:endParaRPr/>
            </a:p>
          </p:txBody>
        </p:sp>
        <p:sp>
          <p:nvSpPr>
            <p:cNvPr id="12" name="object 12"/>
            <p:cNvSpPr/>
            <p:nvPr/>
          </p:nvSpPr>
          <p:spPr>
            <a:xfrm>
              <a:off x="1014222" y="3049523"/>
              <a:ext cx="3056890" cy="2265680"/>
            </a:xfrm>
            <a:custGeom>
              <a:avLst/>
              <a:gdLst/>
              <a:ahLst/>
              <a:cxnLst/>
              <a:rect l="l" t="t" r="r" b="b"/>
              <a:pathLst>
                <a:path w="3056890" h="2265679">
                  <a:moveTo>
                    <a:pt x="1171194" y="1575054"/>
                  </a:moveTo>
                  <a:lnTo>
                    <a:pt x="794766" y="1575054"/>
                  </a:lnTo>
                  <a:lnTo>
                    <a:pt x="794004" y="1575054"/>
                  </a:lnTo>
                  <a:lnTo>
                    <a:pt x="739902" y="1575054"/>
                  </a:lnTo>
                  <a:lnTo>
                    <a:pt x="726186" y="1575816"/>
                  </a:lnTo>
                  <a:lnTo>
                    <a:pt x="711708" y="1575816"/>
                  </a:lnTo>
                  <a:lnTo>
                    <a:pt x="687324" y="1578102"/>
                  </a:lnTo>
                  <a:lnTo>
                    <a:pt x="660654" y="1582674"/>
                  </a:lnTo>
                  <a:lnTo>
                    <a:pt x="649986" y="1584960"/>
                  </a:lnTo>
                  <a:lnTo>
                    <a:pt x="640842" y="1587246"/>
                  </a:lnTo>
                  <a:lnTo>
                    <a:pt x="630174" y="1589532"/>
                  </a:lnTo>
                  <a:lnTo>
                    <a:pt x="611124" y="1594104"/>
                  </a:lnTo>
                  <a:lnTo>
                    <a:pt x="560832" y="1607820"/>
                  </a:lnTo>
                  <a:lnTo>
                    <a:pt x="552450" y="1611630"/>
                  </a:lnTo>
                  <a:lnTo>
                    <a:pt x="543306" y="1615440"/>
                  </a:lnTo>
                  <a:lnTo>
                    <a:pt x="489966" y="1649730"/>
                  </a:lnTo>
                  <a:lnTo>
                    <a:pt x="460248" y="1674876"/>
                  </a:lnTo>
                  <a:lnTo>
                    <a:pt x="454152" y="1681734"/>
                  </a:lnTo>
                  <a:lnTo>
                    <a:pt x="448056" y="1687830"/>
                  </a:lnTo>
                  <a:lnTo>
                    <a:pt x="443484" y="1693926"/>
                  </a:lnTo>
                  <a:lnTo>
                    <a:pt x="433578" y="1704594"/>
                  </a:lnTo>
                  <a:lnTo>
                    <a:pt x="429006" y="1710690"/>
                  </a:lnTo>
                  <a:lnTo>
                    <a:pt x="413766" y="1728216"/>
                  </a:lnTo>
                  <a:lnTo>
                    <a:pt x="403098" y="1741170"/>
                  </a:lnTo>
                  <a:lnTo>
                    <a:pt x="392430" y="1753362"/>
                  </a:lnTo>
                  <a:lnTo>
                    <a:pt x="382524" y="1766316"/>
                  </a:lnTo>
                  <a:lnTo>
                    <a:pt x="372618" y="1778508"/>
                  </a:lnTo>
                  <a:lnTo>
                    <a:pt x="352806" y="1804428"/>
                  </a:lnTo>
                  <a:lnTo>
                    <a:pt x="343662" y="1817370"/>
                  </a:lnTo>
                  <a:lnTo>
                    <a:pt x="339852" y="1824228"/>
                  </a:lnTo>
                  <a:lnTo>
                    <a:pt x="335280" y="1831086"/>
                  </a:lnTo>
                  <a:lnTo>
                    <a:pt x="321564" y="1855470"/>
                  </a:lnTo>
                  <a:lnTo>
                    <a:pt x="314706" y="1868424"/>
                  </a:lnTo>
                  <a:lnTo>
                    <a:pt x="310134" y="1875282"/>
                  </a:lnTo>
                  <a:lnTo>
                    <a:pt x="306324" y="1882140"/>
                  </a:lnTo>
                  <a:lnTo>
                    <a:pt x="297180" y="1897380"/>
                  </a:lnTo>
                  <a:lnTo>
                    <a:pt x="293370" y="1905000"/>
                  </a:lnTo>
                  <a:lnTo>
                    <a:pt x="288798" y="1912620"/>
                  </a:lnTo>
                  <a:lnTo>
                    <a:pt x="284988" y="1919478"/>
                  </a:lnTo>
                  <a:lnTo>
                    <a:pt x="281178" y="1925574"/>
                  </a:lnTo>
                  <a:lnTo>
                    <a:pt x="278130" y="1931670"/>
                  </a:lnTo>
                  <a:lnTo>
                    <a:pt x="275082" y="1936242"/>
                  </a:lnTo>
                  <a:lnTo>
                    <a:pt x="272796" y="1941576"/>
                  </a:lnTo>
                  <a:lnTo>
                    <a:pt x="270510" y="1945386"/>
                  </a:lnTo>
                  <a:lnTo>
                    <a:pt x="263652" y="1958340"/>
                  </a:lnTo>
                  <a:lnTo>
                    <a:pt x="260604" y="1963674"/>
                  </a:lnTo>
                  <a:lnTo>
                    <a:pt x="260604" y="1962912"/>
                  </a:lnTo>
                  <a:lnTo>
                    <a:pt x="259842" y="1965198"/>
                  </a:lnTo>
                  <a:lnTo>
                    <a:pt x="259080" y="1965960"/>
                  </a:lnTo>
                  <a:lnTo>
                    <a:pt x="257556" y="1968246"/>
                  </a:lnTo>
                  <a:lnTo>
                    <a:pt x="256794" y="1970532"/>
                  </a:lnTo>
                  <a:lnTo>
                    <a:pt x="250698" y="1981200"/>
                  </a:lnTo>
                  <a:lnTo>
                    <a:pt x="246888" y="1987296"/>
                  </a:lnTo>
                  <a:lnTo>
                    <a:pt x="243840" y="1994154"/>
                  </a:lnTo>
                  <a:lnTo>
                    <a:pt x="240030" y="2000250"/>
                  </a:lnTo>
                  <a:lnTo>
                    <a:pt x="236982" y="2006346"/>
                  </a:lnTo>
                  <a:lnTo>
                    <a:pt x="225552" y="2026920"/>
                  </a:lnTo>
                  <a:lnTo>
                    <a:pt x="218694" y="2040636"/>
                  </a:lnTo>
                  <a:lnTo>
                    <a:pt x="214884" y="2046732"/>
                  </a:lnTo>
                  <a:lnTo>
                    <a:pt x="212598" y="2052066"/>
                  </a:lnTo>
                  <a:lnTo>
                    <a:pt x="205740" y="2062734"/>
                  </a:lnTo>
                  <a:lnTo>
                    <a:pt x="199644" y="2070354"/>
                  </a:lnTo>
                  <a:lnTo>
                    <a:pt x="195072" y="2076450"/>
                  </a:lnTo>
                  <a:lnTo>
                    <a:pt x="175260" y="2096262"/>
                  </a:lnTo>
                  <a:lnTo>
                    <a:pt x="170688" y="2100072"/>
                  </a:lnTo>
                  <a:lnTo>
                    <a:pt x="166116" y="2105406"/>
                  </a:lnTo>
                  <a:lnTo>
                    <a:pt x="161544" y="2109978"/>
                  </a:lnTo>
                  <a:lnTo>
                    <a:pt x="147828" y="2125980"/>
                  </a:lnTo>
                  <a:lnTo>
                    <a:pt x="144018" y="2131314"/>
                  </a:lnTo>
                  <a:lnTo>
                    <a:pt x="135636" y="2139696"/>
                  </a:lnTo>
                  <a:lnTo>
                    <a:pt x="132588" y="2143506"/>
                  </a:lnTo>
                  <a:lnTo>
                    <a:pt x="114300" y="2157234"/>
                  </a:lnTo>
                  <a:lnTo>
                    <a:pt x="104394" y="2163330"/>
                  </a:lnTo>
                  <a:lnTo>
                    <a:pt x="99060" y="2166378"/>
                  </a:lnTo>
                  <a:lnTo>
                    <a:pt x="91440" y="2171712"/>
                  </a:lnTo>
                  <a:lnTo>
                    <a:pt x="87630" y="2173236"/>
                  </a:lnTo>
                  <a:lnTo>
                    <a:pt x="85344" y="2174760"/>
                  </a:lnTo>
                  <a:lnTo>
                    <a:pt x="79248" y="2177808"/>
                  </a:lnTo>
                  <a:lnTo>
                    <a:pt x="70104" y="2181618"/>
                  </a:lnTo>
                  <a:lnTo>
                    <a:pt x="67818" y="2183142"/>
                  </a:lnTo>
                  <a:lnTo>
                    <a:pt x="65532" y="2183904"/>
                  </a:lnTo>
                  <a:lnTo>
                    <a:pt x="0" y="2212860"/>
                  </a:lnTo>
                  <a:lnTo>
                    <a:pt x="22860" y="2265438"/>
                  </a:lnTo>
                  <a:lnTo>
                    <a:pt x="88392" y="2236482"/>
                  </a:lnTo>
                  <a:lnTo>
                    <a:pt x="94488" y="2233434"/>
                  </a:lnTo>
                  <a:lnTo>
                    <a:pt x="99060" y="2231910"/>
                  </a:lnTo>
                  <a:lnTo>
                    <a:pt x="102870" y="2229624"/>
                  </a:lnTo>
                  <a:lnTo>
                    <a:pt x="106680" y="2228100"/>
                  </a:lnTo>
                  <a:lnTo>
                    <a:pt x="110490" y="2225814"/>
                  </a:lnTo>
                  <a:lnTo>
                    <a:pt x="115062" y="2223528"/>
                  </a:lnTo>
                  <a:lnTo>
                    <a:pt x="129540" y="2215146"/>
                  </a:lnTo>
                  <a:lnTo>
                    <a:pt x="134112" y="2212098"/>
                  </a:lnTo>
                  <a:lnTo>
                    <a:pt x="145542" y="2205240"/>
                  </a:lnTo>
                  <a:lnTo>
                    <a:pt x="196596" y="2157234"/>
                  </a:lnTo>
                  <a:lnTo>
                    <a:pt x="204978" y="2147328"/>
                  </a:lnTo>
                  <a:lnTo>
                    <a:pt x="208788" y="2143506"/>
                  </a:lnTo>
                  <a:lnTo>
                    <a:pt x="211836" y="2139696"/>
                  </a:lnTo>
                  <a:lnTo>
                    <a:pt x="215646" y="2136648"/>
                  </a:lnTo>
                  <a:lnTo>
                    <a:pt x="236982" y="2115312"/>
                  </a:lnTo>
                  <a:lnTo>
                    <a:pt x="252222" y="2096262"/>
                  </a:lnTo>
                  <a:lnTo>
                    <a:pt x="255270" y="2091690"/>
                  </a:lnTo>
                  <a:lnTo>
                    <a:pt x="257556" y="2087118"/>
                  </a:lnTo>
                  <a:lnTo>
                    <a:pt x="261366" y="2081784"/>
                  </a:lnTo>
                  <a:lnTo>
                    <a:pt x="264414" y="2075688"/>
                  </a:lnTo>
                  <a:lnTo>
                    <a:pt x="268224" y="2068830"/>
                  </a:lnTo>
                  <a:lnTo>
                    <a:pt x="272034" y="2061210"/>
                  </a:lnTo>
                  <a:lnTo>
                    <a:pt x="275844" y="2054352"/>
                  </a:lnTo>
                  <a:lnTo>
                    <a:pt x="280416" y="2046732"/>
                  </a:lnTo>
                  <a:lnTo>
                    <a:pt x="290322" y="2026920"/>
                  </a:lnTo>
                  <a:lnTo>
                    <a:pt x="293370" y="2021586"/>
                  </a:lnTo>
                  <a:lnTo>
                    <a:pt x="297180" y="2015490"/>
                  </a:lnTo>
                  <a:lnTo>
                    <a:pt x="303276" y="2003298"/>
                  </a:lnTo>
                  <a:lnTo>
                    <a:pt x="306324" y="1997964"/>
                  </a:lnTo>
                  <a:lnTo>
                    <a:pt x="307848" y="1996440"/>
                  </a:lnTo>
                  <a:lnTo>
                    <a:pt x="308610" y="1994154"/>
                  </a:lnTo>
                  <a:lnTo>
                    <a:pt x="309372" y="1992630"/>
                  </a:lnTo>
                  <a:lnTo>
                    <a:pt x="310134" y="1991868"/>
                  </a:lnTo>
                  <a:lnTo>
                    <a:pt x="310896" y="1990344"/>
                  </a:lnTo>
                  <a:lnTo>
                    <a:pt x="310134" y="1991106"/>
                  </a:lnTo>
                  <a:lnTo>
                    <a:pt x="320040" y="1973580"/>
                  </a:lnTo>
                  <a:lnTo>
                    <a:pt x="323088" y="1969008"/>
                  </a:lnTo>
                  <a:lnTo>
                    <a:pt x="325374" y="1964436"/>
                  </a:lnTo>
                  <a:lnTo>
                    <a:pt x="331470" y="1953768"/>
                  </a:lnTo>
                  <a:lnTo>
                    <a:pt x="334518" y="1947672"/>
                  </a:lnTo>
                  <a:lnTo>
                    <a:pt x="338328" y="1940814"/>
                  </a:lnTo>
                  <a:lnTo>
                    <a:pt x="342900" y="1933194"/>
                  </a:lnTo>
                  <a:lnTo>
                    <a:pt x="346710" y="1926336"/>
                  </a:lnTo>
                  <a:lnTo>
                    <a:pt x="355854" y="1911096"/>
                  </a:lnTo>
                  <a:lnTo>
                    <a:pt x="359664" y="1903476"/>
                  </a:lnTo>
                  <a:lnTo>
                    <a:pt x="371094" y="1883664"/>
                  </a:lnTo>
                  <a:lnTo>
                    <a:pt x="384810" y="1859280"/>
                  </a:lnTo>
                  <a:lnTo>
                    <a:pt x="388620" y="1853946"/>
                  </a:lnTo>
                  <a:lnTo>
                    <a:pt x="391668" y="1848612"/>
                  </a:lnTo>
                  <a:lnTo>
                    <a:pt x="417576" y="1813560"/>
                  </a:lnTo>
                  <a:lnTo>
                    <a:pt x="427482" y="1801368"/>
                  </a:lnTo>
                  <a:lnTo>
                    <a:pt x="436626" y="1789176"/>
                  </a:lnTo>
                  <a:lnTo>
                    <a:pt x="457200" y="1765554"/>
                  </a:lnTo>
                  <a:lnTo>
                    <a:pt x="491490" y="1725168"/>
                  </a:lnTo>
                  <a:lnTo>
                    <a:pt x="541020" y="1682496"/>
                  </a:lnTo>
                  <a:lnTo>
                    <a:pt x="548640" y="1677924"/>
                  </a:lnTo>
                  <a:lnTo>
                    <a:pt x="555498" y="1673352"/>
                  </a:lnTo>
                  <a:lnTo>
                    <a:pt x="601218" y="1655826"/>
                  </a:lnTo>
                  <a:lnTo>
                    <a:pt x="608838" y="1654302"/>
                  </a:lnTo>
                  <a:lnTo>
                    <a:pt x="617220" y="1652016"/>
                  </a:lnTo>
                  <a:lnTo>
                    <a:pt x="625602" y="1648968"/>
                  </a:lnTo>
                  <a:lnTo>
                    <a:pt x="634746" y="1647444"/>
                  </a:lnTo>
                  <a:lnTo>
                    <a:pt x="662940" y="1640586"/>
                  </a:lnTo>
                  <a:lnTo>
                    <a:pt x="680466" y="1637538"/>
                  </a:lnTo>
                  <a:lnTo>
                    <a:pt x="695706" y="1634490"/>
                  </a:lnTo>
                  <a:lnTo>
                    <a:pt x="702564" y="1633728"/>
                  </a:lnTo>
                  <a:lnTo>
                    <a:pt x="708660" y="1633728"/>
                  </a:lnTo>
                  <a:lnTo>
                    <a:pt x="715518" y="1632966"/>
                  </a:lnTo>
                  <a:lnTo>
                    <a:pt x="728472" y="1632204"/>
                  </a:lnTo>
                  <a:lnTo>
                    <a:pt x="757428" y="1632204"/>
                  </a:lnTo>
                  <a:lnTo>
                    <a:pt x="765810" y="1631442"/>
                  </a:lnTo>
                  <a:lnTo>
                    <a:pt x="774192" y="1632204"/>
                  </a:lnTo>
                  <a:lnTo>
                    <a:pt x="1171194" y="1632204"/>
                  </a:lnTo>
                  <a:lnTo>
                    <a:pt x="1171194" y="1575054"/>
                  </a:lnTo>
                  <a:close/>
                </a:path>
                <a:path w="3056890" h="2265679">
                  <a:moveTo>
                    <a:pt x="3056382" y="762"/>
                  </a:moveTo>
                  <a:lnTo>
                    <a:pt x="2679954" y="762"/>
                  </a:lnTo>
                  <a:lnTo>
                    <a:pt x="2679192" y="762"/>
                  </a:lnTo>
                  <a:lnTo>
                    <a:pt x="2659380" y="762"/>
                  </a:lnTo>
                  <a:lnTo>
                    <a:pt x="2650998" y="0"/>
                  </a:lnTo>
                  <a:lnTo>
                    <a:pt x="2641854" y="762"/>
                  </a:lnTo>
                  <a:lnTo>
                    <a:pt x="2611374" y="762"/>
                  </a:lnTo>
                  <a:lnTo>
                    <a:pt x="2596896" y="1524"/>
                  </a:lnTo>
                  <a:lnTo>
                    <a:pt x="2574036" y="3810"/>
                  </a:lnTo>
                  <a:lnTo>
                    <a:pt x="2537460" y="9906"/>
                  </a:lnTo>
                  <a:lnTo>
                    <a:pt x="2507742" y="16764"/>
                  </a:lnTo>
                  <a:lnTo>
                    <a:pt x="2498598" y="19812"/>
                  </a:lnTo>
                  <a:lnTo>
                    <a:pt x="2489454" y="22098"/>
                  </a:lnTo>
                  <a:lnTo>
                    <a:pt x="2481834" y="23622"/>
                  </a:lnTo>
                  <a:lnTo>
                    <a:pt x="2457450" y="30480"/>
                  </a:lnTo>
                  <a:lnTo>
                    <a:pt x="2432304" y="39624"/>
                  </a:lnTo>
                  <a:lnTo>
                    <a:pt x="2423922" y="44196"/>
                  </a:lnTo>
                  <a:lnTo>
                    <a:pt x="2414778" y="48768"/>
                  </a:lnTo>
                  <a:lnTo>
                    <a:pt x="2406396" y="54864"/>
                  </a:lnTo>
                  <a:lnTo>
                    <a:pt x="2398014" y="60198"/>
                  </a:lnTo>
                  <a:lnTo>
                    <a:pt x="2389632" y="66294"/>
                  </a:lnTo>
                  <a:lnTo>
                    <a:pt x="2366010" y="85344"/>
                  </a:lnTo>
                  <a:lnTo>
                    <a:pt x="2359152" y="92202"/>
                  </a:lnTo>
                  <a:lnTo>
                    <a:pt x="2352294" y="97536"/>
                  </a:lnTo>
                  <a:lnTo>
                    <a:pt x="2340102" y="109728"/>
                  </a:lnTo>
                  <a:lnTo>
                    <a:pt x="2335530" y="115824"/>
                  </a:lnTo>
                  <a:lnTo>
                    <a:pt x="2321052" y="132588"/>
                  </a:lnTo>
                  <a:lnTo>
                    <a:pt x="2316480" y="138684"/>
                  </a:lnTo>
                  <a:lnTo>
                    <a:pt x="2295144" y="163068"/>
                  </a:lnTo>
                  <a:lnTo>
                    <a:pt x="2264664" y="200406"/>
                  </a:lnTo>
                  <a:lnTo>
                    <a:pt x="2255520" y="213360"/>
                  </a:lnTo>
                  <a:lnTo>
                    <a:pt x="2245614" y="226314"/>
                  </a:lnTo>
                  <a:lnTo>
                    <a:pt x="2236470" y="239268"/>
                  </a:lnTo>
                  <a:lnTo>
                    <a:pt x="2232660" y="245364"/>
                  </a:lnTo>
                  <a:lnTo>
                    <a:pt x="2215134" y="276606"/>
                  </a:lnTo>
                  <a:lnTo>
                    <a:pt x="2207514" y="288798"/>
                  </a:lnTo>
                  <a:lnTo>
                    <a:pt x="2203704" y="295656"/>
                  </a:lnTo>
                  <a:lnTo>
                    <a:pt x="2199132" y="303276"/>
                  </a:lnTo>
                  <a:lnTo>
                    <a:pt x="2190750" y="318516"/>
                  </a:lnTo>
                  <a:lnTo>
                    <a:pt x="2186178" y="326136"/>
                  </a:lnTo>
                  <a:lnTo>
                    <a:pt x="2182368" y="333756"/>
                  </a:lnTo>
                  <a:lnTo>
                    <a:pt x="2178558" y="340614"/>
                  </a:lnTo>
                  <a:lnTo>
                    <a:pt x="2174748" y="346710"/>
                  </a:lnTo>
                  <a:lnTo>
                    <a:pt x="2168652" y="357378"/>
                  </a:lnTo>
                  <a:lnTo>
                    <a:pt x="2166366" y="361950"/>
                  </a:lnTo>
                  <a:lnTo>
                    <a:pt x="2163318" y="366522"/>
                  </a:lnTo>
                  <a:lnTo>
                    <a:pt x="2156460" y="379476"/>
                  </a:lnTo>
                  <a:lnTo>
                    <a:pt x="2154174" y="383286"/>
                  </a:lnTo>
                  <a:lnTo>
                    <a:pt x="2154174" y="384048"/>
                  </a:lnTo>
                  <a:lnTo>
                    <a:pt x="2152650" y="385572"/>
                  </a:lnTo>
                  <a:lnTo>
                    <a:pt x="2147316" y="396240"/>
                  </a:lnTo>
                  <a:lnTo>
                    <a:pt x="2143506" y="402336"/>
                  </a:lnTo>
                  <a:lnTo>
                    <a:pt x="2140458" y="408432"/>
                  </a:lnTo>
                  <a:lnTo>
                    <a:pt x="2136648" y="414528"/>
                  </a:lnTo>
                  <a:lnTo>
                    <a:pt x="2130552" y="426720"/>
                  </a:lnTo>
                  <a:lnTo>
                    <a:pt x="2122932" y="440436"/>
                  </a:lnTo>
                  <a:lnTo>
                    <a:pt x="2119122" y="448056"/>
                  </a:lnTo>
                  <a:lnTo>
                    <a:pt x="2111502" y="461772"/>
                  </a:lnTo>
                  <a:lnTo>
                    <a:pt x="2108454" y="467868"/>
                  </a:lnTo>
                  <a:lnTo>
                    <a:pt x="2105406" y="473202"/>
                  </a:lnTo>
                  <a:lnTo>
                    <a:pt x="2100072" y="481584"/>
                  </a:lnTo>
                  <a:lnTo>
                    <a:pt x="2098548" y="484632"/>
                  </a:lnTo>
                  <a:lnTo>
                    <a:pt x="2096262" y="487680"/>
                  </a:lnTo>
                  <a:lnTo>
                    <a:pt x="2091690" y="493014"/>
                  </a:lnTo>
                  <a:lnTo>
                    <a:pt x="2087118" y="499110"/>
                  </a:lnTo>
                  <a:lnTo>
                    <a:pt x="2081784" y="505206"/>
                  </a:lnTo>
                  <a:lnTo>
                    <a:pt x="2074926" y="511302"/>
                  </a:lnTo>
                  <a:lnTo>
                    <a:pt x="2067306" y="518922"/>
                  </a:lnTo>
                  <a:lnTo>
                    <a:pt x="2062734" y="522732"/>
                  </a:lnTo>
                  <a:lnTo>
                    <a:pt x="2058162" y="527304"/>
                  </a:lnTo>
                  <a:lnTo>
                    <a:pt x="2044446" y="543306"/>
                  </a:lnTo>
                  <a:lnTo>
                    <a:pt x="2040636" y="548640"/>
                  </a:lnTo>
                  <a:lnTo>
                    <a:pt x="2036064" y="553974"/>
                  </a:lnTo>
                  <a:lnTo>
                    <a:pt x="2004822" y="581406"/>
                  </a:lnTo>
                  <a:lnTo>
                    <a:pt x="1989582" y="590550"/>
                  </a:lnTo>
                  <a:lnTo>
                    <a:pt x="1985010" y="593598"/>
                  </a:lnTo>
                  <a:lnTo>
                    <a:pt x="1975104" y="599694"/>
                  </a:lnTo>
                  <a:lnTo>
                    <a:pt x="1971294" y="601218"/>
                  </a:lnTo>
                  <a:lnTo>
                    <a:pt x="1968246" y="602742"/>
                  </a:lnTo>
                  <a:lnTo>
                    <a:pt x="1959102" y="606552"/>
                  </a:lnTo>
                  <a:lnTo>
                    <a:pt x="1956816" y="608076"/>
                  </a:lnTo>
                  <a:lnTo>
                    <a:pt x="1953768" y="608838"/>
                  </a:lnTo>
                  <a:lnTo>
                    <a:pt x="1888236" y="637794"/>
                  </a:lnTo>
                  <a:lnTo>
                    <a:pt x="1903476" y="672846"/>
                  </a:lnTo>
                  <a:lnTo>
                    <a:pt x="1969008" y="643890"/>
                  </a:lnTo>
                  <a:lnTo>
                    <a:pt x="1972818" y="642366"/>
                  </a:lnTo>
                  <a:lnTo>
                    <a:pt x="1975104" y="640842"/>
                  </a:lnTo>
                  <a:lnTo>
                    <a:pt x="1979676" y="639318"/>
                  </a:lnTo>
                  <a:lnTo>
                    <a:pt x="1984248" y="637032"/>
                  </a:lnTo>
                  <a:lnTo>
                    <a:pt x="1988058" y="635508"/>
                  </a:lnTo>
                  <a:lnTo>
                    <a:pt x="1995678" y="631698"/>
                  </a:lnTo>
                  <a:lnTo>
                    <a:pt x="2004060" y="626364"/>
                  </a:lnTo>
                  <a:lnTo>
                    <a:pt x="2009394" y="623316"/>
                  </a:lnTo>
                  <a:lnTo>
                    <a:pt x="2013966" y="620268"/>
                  </a:lnTo>
                  <a:lnTo>
                    <a:pt x="2025396" y="613410"/>
                  </a:lnTo>
                  <a:lnTo>
                    <a:pt x="2036826" y="605028"/>
                  </a:lnTo>
                  <a:lnTo>
                    <a:pt x="2053590" y="590550"/>
                  </a:lnTo>
                  <a:lnTo>
                    <a:pt x="2058924" y="585216"/>
                  </a:lnTo>
                  <a:lnTo>
                    <a:pt x="2064258" y="579120"/>
                  </a:lnTo>
                  <a:lnTo>
                    <a:pt x="2068830" y="573024"/>
                  </a:lnTo>
                  <a:lnTo>
                    <a:pt x="2074164" y="567690"/>
                  </a:lnTo>
                  <a:lnTo>
                    <a:pt x="2086356" y="553212"/>
                  </a:lnTo>
                  <a:lnTo>
                    <a:pt x="2100834" y="538734"/>
                  </a:lnTo>
                  <a:lnTo>
                    <a:pt x="2107692" y="532638"/>
                  </a:lnTo>
                  <a:lnTo>
                    <a:pt x="2115312" y="524256"/>
                  </a:lnTo>
                  <a:lnTo>
                    <a:pt x="2118360" y="520446"/>
                  </a:lnTo>
                  <a:lnTo>
                    <a:pt x="2121408" y="517398"/>
                  </a:lnTo>
                  <a:lnTo>
                    <a:pt x="2126742" y="510540"/>
                  </a:lnTo>
                  <a:lnTo>
                    <a:pt x="2129028" y="506730"/>
                  </a:lnTo>
                  <a:lnTo>
                    <a:pt x="2138172" y="493014"/>
                  </a:lnTo>
                  <a:lnTo>
                    <a:pt x="2141220" y="486918"/>
                  </a:lnTo>
                  <a:lnTo>
                    <a:pt x="2148840" y="473202"/>
                  </a:lnTo>
                  <a:lnTo>
                    <a:pt x="2152650" y="465582"/>
                  </a:lnTo>
                  <a:lnTo>
                    <a:pt x="2156460" y="458724"/>
                  </a:lnTo>
                  <a:lnTo>
                    <a:pt x="2160270" y="451104"/>
                  </a:lnTo>
                  <a:lnTo>
                    <a:pt x="2164080" y="445008"/>
                  </a:lnTo>
                  <a:lnTo>
                    <a:pt x="2170176" y="432816"/>
                  </a:lnTo>
                  <a:lnTo>
                    <a:pt x="2173986" y="426720"/>
                  </a:lnTo>
                  <a:lnTo>
                    <a:pt x="2180082" y="414528"/>
                  </a:lnTo>
                  <a:lnTo>
                    <a:pt x="2184654" y="407670"/>
                  </a:lnTo>
                  <a:lnTo>
                    <a:pt x="2185416" y="406146"/>
                  </a:lnTo>
                  <a:lnTo>
                    <a:pt x="2186178" y="403860"/>
                  </a:lnTo>
                  <a:lnTo>
                    <a:pt x="2187702" y="402336"/>
                  </a:lnTo>
                  <a:lnTo>
                    <a:pt x="2186940" y="402336"/>
                  </a:lnTo>
                  <a:lnTo>
                    <a:pt x="2189988" y="397764"/>
                  </a:lnTo>
                  <a:lnTo>
                    <a:pt x="2199132" y="380238"/>
                  </a:lnTo>
                  <a:lnTo>
                    <a:pt x="2202180" y="375666"/>
                  </a:lnTo>
                  <a:lnTo>
                    <a:pt x="2204466" y="371094"/>
                  </a:lnTo>
                  <a:lnTo>
                    <a:pt x="2208276" y="364998"/>
                  </a:lnTo>
                  <a:lnTo>
                    <a:pt x="2211324" y="358902"/>
                  </a:lnTo>
                  <a:lnTo>
                    <a:pt x="2215134" y="352044"/>
                  </a:lnTo>
                  <a:lnTo>
                    <a:pt x="2219706" y="345186"/>
                  </a:lnTo>
                  <a:lnTo>
                    <a:pt x="2223516" y="337566"/>
                  </a:lnTo>
                  <a:lnTo>
                    <a:pt x="2232660" y="322326"/>
                  </a:lnTo>
                  <a:lnTo>
                    <a:pt x="2236470" y="314706"/>
                  </a:lnTo>
                  <a:lnTo>
                    <a:pt x="2247900" y="294894"/>
                  </a:lnTo>
                  <a:lnTo>
                    <a:pt x="2254758" y="282702"/>
                  </a:lnTo>
                  <a:lnTo>
                    <a:pt x="2265426" y="265176"/>
                  </a:lnTo>
                  <a:lnTo>
                    <a:pt x="2268474" y="259842"/>
                  </a:lnTo>
                  <a:lnTo>
                    <a:pt x="2276856" y="247650"/>
                  </a:lnTo>
                  <a:lnTo>
                    <a:pt x="2286000" y="236220"/>
                  </a:lnTo>
                  <a:lnTo>
                    <a:pt x="2304288" y="211836"/>
                  </a:lnTo>
                  <a:lnTo>
                    <a:pt x="2314194" y="199644"/>
                  </a:lnTo>
                  <a:lnTo>
                    <a:pt x="2324862" y="187452"/>
                  </a:lnTo>
                  <a:lnTo>
                    <a:pt x="2334768" y="175260"/>
                  </a:lnTo>
                  <a:lnTo>
                    <a:pt x="2355342" y="151638"/>
                  </a:lnTo>
                  <a:lnTo>
                    <a:pt x="2364486" y="140208"/>
                  </a:lnTo>
                  <a:lnTo>
                    <a:pt x="2369058" y="134874"/>
                  </a:lnTo>
                  <a:lnTo>
                    <a:pt x="2384298" y="119634"/>
                  </a:lnTo>
                  <a:lnTo>
                    <a:pt x="2391156" y="114300"/>
                  </a:lnTo>
                  <a:lnTo>
                    <a:pt x="2398014" y="108204"/>
                  </a:lnTo>
                  <a:lnTo>
                    <a:pt x="2412492" y="96774"/>
                  </a:lnTo>
                  <a:lnTo>
                    <a:pt x="2420112" y="91440"/>
                  </a:lnTo>
                  <a:lnTo>
                    <a:pt x="2428494" y="86106"/>
                  </a:lnTo>
                  <a:lnTo>
                    <a:pt x="2442210" y="76962"/>
                  </a:lnTo>
                  <a:lnTo>
                    <a:pt x="2449068" y="73914"/>
                  </a:lnTo>
                  <a:lnTo>
                    <a:pt x="2455926" y="71628"/>
                  </a:lnTo>
                  <a:lnTo>
                    <a:pt x="2462022" y="68580"/>
                  </a:lnTo>
                  <a:lnTo>
                    <a:pt x="2468880" y="67056"/>
                  </a:lnTo>
                  <a:lnTo>
                    <a:pt x="2483358" y="62484"/>
                  </a:lnTo>
                  <a:lnTo>
                    <a:pt x="2490978" y="60960"/>
                  </a:lnTo>
                  <a:lnTo>
                    <a:pt x="2535936" y="49530"/>
                  </a:lnTo>
                  <a:lnTo>
                    <a:pt x="2579370" y="41910"/>
                  </a:lnTo>
                  <a:lnTo>
                    <a:pt x="2586228" y="40386"/>
                  </a:lnTo>
                  <a:lnTo>
                    <a:pt x="2593086" y="40386"/>
                  </a:lnTo>
                  <a:lnTo>
                    <a:pt x="2599944" y="39624"/>
                  </a:lnTo>
                  <a:lnTo>
                    <a:pt x="2612898" y="38862"/>
                  </a:lnTo>
                  <a:lnTo>
                    <a:pt x="2641854" y="38862"/>
                  </a:lnTo>
                  <a:lnTo>
                    <a:pt x="2650998" y="38100"/>
                  </a:lnTo>
                  <a:lnTo>
                    <a:pt x="2659380" y="38862"/>
                  </a:lnTo>
                  <a:lnTo>
                    <a:pt x="3056382" y="38862"/>
                  </a:lnTo>
                  <a:lnTo>
                    <a:pt x="3056382" y="762"/>
                  </a:lnTo>
                  <a:close/>
                </a:path>
              </a:pathLst>
            </a:custGeom>
            <a:solidFill>
              <a:srgbClr val="FFBF00"/>
            </a:solidFill>
          </p:spPr>
          <p:txBody>
            <a:bodyPr wrap="square" lIns="0" tIns="0" rIns="0" bIns="0" rtlCol="0"/>
            <a:lstStyle/>
            <a:p>
              <a:endParaRPr/>
            </a:p>
          </p:txBody>
        </p:sp>
        <p:sp>
          <p:nvSpPr>
            <p:cNvPr id="13" name="object 13"/>
            <p:cNvSpPr/>
            <p:nvPr/>
          </p:nvSpPr>
          <p:spPr>
            <a:xfrm>
              <a:off x="2910078" y="3049523"/>
              <a:ext cx="3061970" cy="1228090"/>
            </a:xfrm>
            <a:custGeom>
              <a:avLst/>
              <a:gdLst/>
              <a:ahLst/>
              <a:cxnLst/>
              <a:rect l="l" t="t" r="r" b="b"/>
              <a:pathLst>
                <a:path w="3061970" h="1228089">
                  <a:moveTo>
                    <a:pt x="1175766" y="637794"/>
                  </a:moveTo>
                  <a:lnTo>
                    <a:pt x="1109472" y="608838"/>
                  </a:lnTo>
                  <a:lnTo>
                    <a:pt x="1106424" y="608076"/>
                  </a:lnTo>
                  <a:lnTo>
                    <a:pt x="1104138" y="606552"/>
                  </a:lnTo>
                  <a:lnTo>
                    <a:pt x="1094994" y="602742"/>
                  </a:lnTo>
                  <a:lnTo>
                    <a:pt x="1085850" y="598170"/>
                  </a:lnTo>
                  <a:lnTo>
                    <a:pt x="1082040" y="595884"/>
                  </a:lnTo>
                  <a:lnTo>
                    <a:pt x="1078992" y="593598"/>
                  </a:lnTo>
                  <a:lnTo>
                    <a:pt x="1073658" y="590550"/>
                  </a:lnTo>
                  <a:lnTo>
                    <a:pt x="1039368" y="566928"/>
                  </a:lnTo>
                  <a:lnTo>
                    <a:pt x="1031748" y="558546"/>
                  </a:lnTo>
                  <a:lnTo>
                    <a:pt x="1027176" y="553974"/>
                  </a:lnTo>
                  <a:lnTo>
                    <a:pt x="1004316" y="527304"/>
                  </a:lnTo>
                  <a:lnTo>
                    <a:pt x="988314" y="511302"/>
                  </a:lnTo>
                  <a:lnTo>
                    <a:pt x="981456" y="505206"/>
                  </a:lnTo>
                  <a:lnTo>
                    <a:pt x="975360" y="498348"/>
                  </a:lnTo>
                  <a:lnTo>
                    <a:pt x="973074" y="496062"/>
                  </a:lnTo>
                  <a:lnTo>
                    <a:pt x="970788" y="493014"/>
                  </a:lnTo>
                  <a:lnTo>
                    <a:pt x="966216" y="487680"/>
                  </a:lnTo>
                  <a:lnTo>
                    <a:pt x="964692" y="484632"/>
                  </a:lnTo>
                  <a:lnTo>
                    <a:pt x="962406" y="481584"/>
                  </a:lnTo>
                  <a:lnTo>
                    <a:pt x="957072" y="473202"/>
                  </a:lnTo>
                  <a:lnTo>
                    <a:pt x="954024" y="467868"/>
                  </a:lnTo>
                  <a:lnTo>
                    <a:pt x="950976" y="461772"/>
                  </a:lnTo>
                  <a:lnTo>
                    <a:pt x="943356" y="448056"/>
                  </a:lnTo>
                  <a:lnTo>
                    <a:pt x="939546" y="440436"/>
                  </a:lnTo>
                  <a:lnTo>
                    <a:pt x="931926" y="426720"/>
                  </a:lnTo>
                  <a:lnTo>
                    <a:pt x="925830" y="414528"/>
                  </a:lnTo>
                  <a:lnTo>
                    <a:pt x="922020" y="408432"/>
                  </a:lnTo>
                  <a:lnTo>
                    <a:pt x="918972" y="402336"/>
                  </a:lnTo>
                  <a:lnTo>
                    <a:pt x="915162" y="396240"/>
                  </a:lnTo>
                  <a:lnTo>
                    <a:pt x="911352" y="389382"/>
                  </a:lnTo>
                  <a:lnTo>
                    <a:pt x="909828" y="387096"/>
                  </a:lnTo>
                  <a:lnTo>
                    <a:pt x="909066" y="385572"/>
                  </a:lnTo>
                  <a:lnTo>
                    <a:pt x="909066" y="384810"/>
                  </a:lnTo>
                  <a:lnTo>
                    <a:pt x="908304" y="383286"/>
                  </a:lnTo>
                  <a:lnTo>
                    <a:pt x="907542" y="383286"/>
                  </a:lnTo>
                  <a:lnTo>
                    <a:pt x="906018" y="379476"/>
                  </a:lnTo>
                  <a:lnTo>
                    <a:pt x="902970" y="374904"/>
                  </a:lnTo>
                  <a:lnTo>
                    <a:pt x="896112" y="361950"/>
                  </a:lnTo>
                  <a:lnTo>
                    <a:pt x="893064" y="357378"/>
                  </a:lnTo>
                  <a:lnTo>
                    <a:pt x="890778" y="352044"/>
                  </a:lnTo>
                  <a:lnTo>
                    <a:pt x="883920" y="339852"/>
                  </a:lnTo>
                  <a:lnTo>
                    <a:pt x="870966" y="318516"/>
                  </a:lnTo>
                  <a:lnTo>
                    <a:pt x="862584" y="303276"/>
                  </a:lnTo>
                  <a:lnTo>
                    <a:pt x="858012" y="295656"/>
                  </a:lnTo>
                  <a:lnTo>
                    <a:pt x="840486" y="264414"/>
                  </a:lnTo>
                  <a:lnTo>
                    <a:pt x="832866" y="251460"/>
                  </a:lnTo>
                  <a:lnTo>
                    <a:pt x="796290" y="200406"/>
                  </a:lnTo>
                  <a:lnTo>
                    <a:pt x="765810" y="163068"/>
                  </a:lnTo>
                  <a:lnTo>
                    <a:pt x="755142" y="150876"/>
                  </a:lnTo>
                  <a:lnTo>
                    <a:pt x="745236" y="138684"/>
                  </a:lnTo>
                  <a:lnTo>
                    <a:pt x="725424" y="115824"/>
                  </a:lnTo>
                  <a:lnTo>
                    <a:pt x="720852" y="109728"/>
                  </a:lnTo>
                  <a:lnTo>
                    <a:pt x="708660" y="97536"/>
                  </a:lnTo>
                  <a:lnTo>
                    <a:pt x="694944" y="85344"/>
                  </a:lnTo>
                  <a:lnTo>
                    <a:pt x="671322" y="66294"/>
                  </a:lnTo>
                  <a:lnTo>
                    <a:pt x="662940" y="60198"/>
                  </a:lnTo>
                  <a:lnTo>
                    <a:pt x="653796" y="54864"/>
                  </a:lnTo>
                  <a:lnTo>
                    <a:pt x="645414" y="48768"/>
                  </a:lnTo>
                  <a:lnTo>
                    <a:pt x="602742" y="30480"/>
                  </a:lnTo>
                  <a:lnTo>
                    <a:pt x="569976" y="22098"/>
                  </a:lnTo>
                  <a:lnTo>
                    <a:pt x="561594" y="19812"/>
                  </a:lnTo>
                  <a:lnTo>
                    <a:pt x="551688" y="16764"/>
                  </a:lnTo>
                  <a:lnTo>
                    <a:pt x="542544" y="14478"/>
                  </a:lnTo>
                  <a:lnTo>
                    <a:pt x="531876" y="12192"/>
                  </a:lnTo>
                  <a:lnTo>
                    <a:pt x="522732" y="9906"/>
                  </a:lnTo>
                  <a:lnTo>
                    <a:pt x="502920" y="6858"/>
                  </a:lnTo>
                  <a:lnTo>
                    <a:pt x="486156" y="3810"/>
                  </a:lnTo>
                  <a:lnTo>
                    <a:pt x="462534" y="1524"/>
                  </a:lnTo>
                  <a:lnTo>
                    <a:pt x="448056" y="762"/>
                  </a:lnTo>
                  <a:lnTo>
                    <a:pt x="417576" y="762"/>
                  </a:lnTo>
                  <a:lnTo>
                    <a:pt x="408432" y="0"/>
                  </a:lnTo>
                  <a:lnTo>
                    <a:pt x="399288" y="762"/>
                  </a:lnTo>
                  <a:lnTo>
                    <a:pt x="0" y="762"/>
                  </a:lnTo>
                  <a:lnTo>
                    <a:pt x="0" y="38862"/>
                  </a:lnTo>
                  <a:lnTo>
                    <a:pt x="400050" y="38862"/>
                  </a:lnTo>
                  <a:lnTo>
                    <a:pt x="408432" y="38100"/>
                  </a:lnTo>
                  <a:lnTo>
                    <a:pt x="416814" y="38862"/>
                  </a:lnTo>
                  <a:lnTo>
                    <a:pt x="446532" y="38862"/>
                  </a:lnTo>
                  <a:lnTo>
                    <a:pt x="459486" y="39624"/>
                  </a:lnTo>
                  <a:lnTo>
                    <a:pt x="466344" y="40386"/>
                  </a:lnTo>
                  <a:lnTo>
                    <a:pt x="473202" y="40386"/>
                  </a:lnTo>
                  <a:lnTo>
                    <a:pt x="480822" y="41910"/>
                  </a:lnTo>
                  <a:lnTo>
                    <a:pt x="488442" y="42672"/>
                  </a:lnTo>
                  <a:lnTo>
                    <a:pt x="496062" y="44196"/>
                  </a:lnTo>
                  <a:lnTo>
                    <a:pt x="514350" y="47244"/>
                  </a:lnTo>
                  <a:lnTo>
                    <a:pt x="524256" y="49530"/>
                  </a:lnTo>
                  <a:lnTo>
                    <a:pt x="560832" y="58674"/>
                  </a:lnTo>
                  <a:lnTo>
                    <a:pt x="569214" y="60960"/>
                  </a:lnTo>
                  <a:lnTo>
                    <a:pt x="576834" y="62484"/>
                  </a:lnTo>
                  <a:lnTo>
                    <a:pt x="605028" y="71628"/>
                  </a:lnTo>
                  <a:lnTo>
                    <a:pt x="611124" y="73914"/>
                  </a:lnTo>
                  <a:lnTo>
                    <a:pt x="617982" y="76962"/>
                  </a:lnTo>
                  <a:lnTo>
                    <a:pt x="624840" y="81534"/>
                  </a:lnTo>
                  <a:lnTo>
                    <a:pt x="632460" y="86106"/>
                  </a:lnTo>
                  <a:lnTo>
                    <a:pt x="676656" y="119634"/>
                  </a:lnTo>
                  <a:lnTo>
                    <a:pt x="706374" y="151638"/>
                  </a:lnTo>
                  <a:lnTo>
                    <a:pt x="710946" y="157734"/>
                  </a:lnTo>
                  <a:lnTo>
                    <a:pt x="716280" y="163068"/>
                  </a:lnTo>
                  <a:lnTo>
                    <a:pt x="726186" y="175260"/>
                  </a:lnTo>
                  <a:lnTo>
                    <a:pt x="736854" y="187452"/>
                  </a:lnTo>
                  <a:lnTo>
                    <a:pt x="766572" y="224028"/>
                  </a:lnTo>
                  <a:lnTo>
                    <a:pt x="775716" y="236220"/>
                  </a:lnTo>
                  <a:lnTo>
                    <a:pt x="784860" y="247650"/>
                  </a:lnTo>
                  <a:lnTo>
                    <a:pt x="797052" y="265176"/>
                  </a:lnTo>
                  <a:lnTo>
                    <a:pt x="800100" y="271272"/>
                  </a:lnTo>
                  <a:lnTo>
                    <a:pt x="806958" y="282702"/>
                  </a:lnTo>
                  <a:lnTo>
                    <a:pt x="813816" y="294894"/>
                  </a:lnTo>
                  <a:lnTo>
                    <a:pt x="829818" y="322326"/>
                  </a:lnTo>
                  <a:lnTo>
                    <a:pt x="838200" y="337566"/>
                  </a:lnTo>
                  <a:lnTo>
                    <a:pt x="842772" y="345186"/>
                  </a:lnTo>
                  <a:lnTo>
                    <a:pt x="850392" y="358902"/>
                  </a:lnTo>
                  <a:lnTo>
                    <a:pt x="854202" y="364998"/>
                  </a:lnTo>
                  <a:lnTo>
                    <a:pt x="857250" y="371094"/>
                  </a:lnTo>
                  <a:lnTo>
                    <a:pt x="860298" y="375666"/>
                  </a:lnTo>
                  <a:lnTo>
                    <a:pt x="862584" y="380238"/>
                  </a:lnTo>
                  <a:lnTo>
                    <a:pt x="865632" y="384810"/>
                  </a:lnTo>
                  <a:lnTo>
                    <a:pt x="870204" y="393192"/>
                  </a:lnTo>
                  <a:lnTo>
                    <a:pt x="874776" y="402336"/>
                  </a:lnTo>
                  <a:lnTo>
                    <a:pt x="876300" y="403860"/>
                  </a:lnTo>
                  <a:lnTo>
                    <a:pt x="877062" y="406146"/>
                  </a:lnTo>
                  <a:lnTo>
                    <a:pt x="877824" y="407670"/>
                  </a:lnTo>
                  <a:lnTo>
                    <a:pt x="882396" y="414528"/>
                  </a:lnTo>
                  <a:lnTo>
                    <a:pt x="888492" y="426720"/>
                  </a:lnTo>
                  <a:lnTo>
                    <a:pt x="892302" y="432816"/>
                  </a:lnTo>
                  <a:lnTo>
                    <a:pt x="898398" y="445008"/>
                  </a:lnTo>
                  <a:lnTo>
                    <a:pt x="902208" y="451104"/>
                  </a:lnTo>
                  <a:lnTo>
                    <a:pt x="906018" y="458724"/>
                  </a:lnTo>
                  <a:lnTo>
                    <a:pt x="909828" y="465582"/>
                  </a:lnTo>
                  <a:lnTo>
                    <a:pt x="913638" y="473202"/>
                  </a:lnTo>
                  <a:lnTo>
                    <a:pt x="921258" y="486918"/>
                  </a:lnTo>
                  <a:lnTo>
                    <a:pt x="928116" y="497586"/>
                  </a:lnTo>
                  <a:lnTo>
                    <a:pt x="930402" y="502158"/>
                  </a:lnTo>
                  <a:lnTo>
                    <a:pt x="954786" y="532638"/>
                  </a:lnTo>
                  <a:lnTo>
                    <a:pt x="961644" y="538734"/>
                  </a:lnTo>
                  <a:lnTo>
                    <a:pt x="969264" y="546354"/>
                  </a:lnTo>
                  <a:lnTo>
                    <a:pt x="973074" y="549402"/>
                  </a:lnTo>
                  <a:lnTo>
                    <a:pt x="976122" y="553212"/>
                  </a:lnTo>
                  <a:lnTo>
                    <a:pt x="980694" y="557784"/>
                  </a:lnTo>
                  <a:lnTo>
                    <a:pt x="989076" y="567690"/>
                  </a:lnTo>
                  <a:lnTo>
                    <a:pt x="993648" y="573786"/>
                  </a:lnTo>
                  <a:lnTo>
                    <a:pt x="998982" y="579120"/>
                  </a:lnTo>
                  <a:lnTo>
                    <a:pt x="1037844" y="613410"/>
                  </a:lnTo>
                  <a:lnTo>
                    <a:pt x="1049274" y="620268"/>
                  </a:lnTo>
                  <a:lnTo>
                    <a:pt x="1053846" y="623316"/>
                  </a:lnTo>
                  <a:lnTo>
                    <a:pt x="1059180" y="626364"/>
                  </a:lnTo>
                  <a:lnTo>
                    <a:pt x="1067562" y="631698"/>
                  </a:lnTo>
                  <a:lnTo>
                    <a:pt x="1072134" y="633984"/>
                  </a:lnTo>
                  <a:lnTo>
                    <a:pt x="1079754" y="637032"/>
                  </a:lnTo>
                  <a:lnTo>
                    <a:pt x="1083564" y="639318"/>
                  </a:lnTo>
                  <a:lnTo>
                    <a:pt x="1088136" y="640842"/>
                  </a:lnTo>
                  <a:lnTo>
                    <a:pt x="1094232" y="643890"/>
                  </a:lnTo>
                  <a:lnTo>
                    <a:pt x="1160526" y="672846"/>
                  </a:lnTo>
                  <a:lnTo>
                    <a:pt x="1175766" y="637794"/>
                  </a:lnTo>
                  <a:close/>
                </a:path>
                <a:path w="3061970" h="1228089">
                  <a:moveTo>
                    <a:pt x="3061716" y="1175004"/>
                  </a:moveTo>
                  <a:lnTo>
                    <a:pt x="2995422" y="1146810"/>
                  </a:lnTo>
                  <a:lnTo>
                    <a:pt x="2993136" y="1145286"/>
                  </a:lnTo>
                  <a:lnTo>
                    <a:pt x="2990850" y="1144524"/>
                  </a:lnTo>
                  <a:lnTo>
                    <a:pt x="2985516" y="1142238"/>
                  </a:lnTo>
                  <a:lnTo>
                    <a:pt x="2981706" y="1140714"/>
                  </a:lnTo>
                  <a:lnTo>
                    <a:pt x="2978658" y="1139190"/>
                  </a:lnTo>
                  <a:lnTo>
                    <a:pt x="2975610" y="1136904"/>
                  </a:lnTo>
                  <a:lnTo>
                    <a:pt x="2973324" y="1136142"/>
                  </a:lnTo>
                  <a:lnTo>
                    <a:pt x="2969514" y="1133856"/>
                  </a:lnTo>
                  <a:lnTo>
                    <a:pt x="2966466" y="1131570"/>
                  </a:lnTo>
                  <a:lnTo>
                    <a:pt x="2961894" y="1129284"/>
                  </a:lnTo>
                  <a:lnTo>
                    <a:pt x="2956560" y="1126236"/>
                  </a:lnTo>
                  <a:lnTo>
                    <a:pt x="2946654" y="1119378"/>
                  </a:lnTo>
                  <a:lnTo>
                    <a:pt x="2928366" y="1105662"/>
                  </a:lnTo>
                  <a:lnTo>
                    <a:pt x="2925318" y="1102614"/>
                  </a:lnTo>
                  <a:lnTo>
                    <a:pt x="2921508" y="1098042"/>
                  </a:lnTo>
                  <a:lnTo>
                    <a:pt x="2916936" y="1093470"/>
                  </a:lnTo>
                  <a:lnTo>
                    <a:pt x="2913126" y="1088898"/>
                  </a:lnTo>
                  <a:lnTo>
                    <a:pt x="2894838" y="1067562"/>
                  </a:lnTo>
                  <a:lnTo>
                    <a:pt x="2878074" y="1050798"/>
                  </a:lnTo>
                  <a:lnTo>
                    <a:pt x="2871216" y="1044702"/>
                  </a:lnTo>
                  <a:lnTo>
                    <a:pt x="2865882" y="1038606"/>
                  </a:lnTo>
                  <a:lnTo>
                    <a:pt x="2863596" y="1036320"/>
                  </a:lnTo>
                  <a:lnTo>
                    <a:pt x="2861310" y="1033272"/>
                  </a:lnTo>
                  <a:lnTo>
                    <a:pt x="2857500" y="1027938"/>
                  </a:lnTo>
                  <a:lnTo>
                    <a:pt x="2855214" y="1025652"/>
                  </a:lnTo>
                  <a:lnTo>
                    <a:pt x="2853690" y="1022604"/>
                  </a:lnTo>
                  <a:lnTo>
                    <a:pt x="2851404" y="1018794"/>
                  </a:lnTo>
                  <a:lnTo>
                    <a:pt x="2849118" y="1014222"/>
                  </a:lnTo>
                  <a:lnTo>
                    <a:pt x="2846070" y="1009650"/>
                  </a:lnTo>
                  <a:lnTo>
                    <a:pt x="2842260" y="1003554"/>
                  </a:lnTo>
                  <a:lnTo>
                    <a:pt x="2839212" y="996696"/>
                  </a:lnTo>
                  <a:lnTo>
                    <a:pt x="2831592" y="982980"/>
                  </a:lnTo>
                  <a:lnTo>
                    <a:pt x="2827782" y="975360"/>
                  </a:lnTo>
                  <a:lnTo>
                    <a:pt x="2823972" y="968502"/>
                  </a:lnTo>
                  <a:lnTo>
                    <a:pt x="2820924" y="962406"/>
                  </a:lnTo>
                  <a:lnTo>
                    <a:pt x="2817114" y="956310"/>
                  </a:lnTo>
                  <a:lnTo>
                    <a:pt x="2814066" y="950214"/>
                  </a:lnTo>
                  <a:lnTo>
                    <a:pt x="2810256" y="944118"/>
                  </a:lnTo>
                  <a:lnTo>
                    <a:pt x="2803398" y="930402"/>
                  </a:lnTo>
                  <a:lnTo>
                    <a:pt x="2801874" y="928878"/>
                  </a:lnTo>
                  <a:lnTo>
                    <a:pt x="2799588" y="924306"/>
                  </a:lnTo>
                  <a:lnTo>
                    <a:pt x="2798064" y="920496"/>
                  </a:lnTo>
                  <a:lnTo>
                    <a:pt x="2795016" y="916686"/>
                  </a:lnTo>
                  <a:lnTo>
                    <a:pt x="2790444" y="908304"/>
                  </a:lnTo>
                  <a:lnTo>
                    <a:pt x="2785872" y="899160"/>
                  </a:lnTo>
                  <a:lnTo>
                    <a:pt x="2779776" y="888492"/>
                  </a:lnTo>
                  <a:lnTo>
                    <a:pt x="2772156" y="874776"/>
                  </a:lnTo>
                  <a:lnTo>
                    <a:pt x="2767584" y="867918"/>
                  </a:lnTo>
                  <a:lnTo>
                    <a:pt x="2763774" y="860298"/>
                  </a:lnTo>
                  <a:lnTo>
                    <a:pt x="2754630" y="845058"/>
                  </a:lnTo>
                  <a:lnTo>
                    <a:pt x="2750820" y="837438"/>
                  </a:lnTo>
                  <a:lnTo>
                    <a:pt x="2746248" y="830580"/>
                  </a:lnTo>
                  <a:lnTo>
                    <a:pt x="2739390" y="817626"/>
                  </a:lnTo>
                  <a:lnTo>
                    <a:pt x="2717292" y="780288"/>
                  </a:lnTo>
                  <a:lnTo>
                    <a:pt x="2678430" y="728472"/>
                  </a:lnTo>
                  <a:lnTo>
                    <a:pt x="2647188" y="691134"/>
                  </a:lnTo>
                  <a:lnTo>
                    <a:pt x="2637282" y="678942"/>
                  </a:lnTo>
                  <a:lnTo>
                    <a:pt x="2631948" y="672846"/>
                  </a:lnTo>
                  <a:lnTo>
                    <a:pt x="2627376" y="667512"/>
                  </a:lnTo>
                  <a:lnTo>
                    <a:pt x="2618232" y="656082"/>
                  </a:lnTo>
                  <a:lnTo>
                    <a:pt x="2612898" y="649986"/>
                  </a:lnTo>
                  <a:lnTo>
                    <a:pt x="2593848" y="630936"/>
                  </a:lnTo>
                  <a:lnTo>
                    <a:pt x="2578608" y="618744"/>
                  </a:lnTo>
                  <a:lnTo>
                    <a:pt x="2570988" y="611886"/>
                  </a:lnTo>
                  <a:lnTo>
                    <a:pt x="2562606" y="605790"/>
                  </a:lnTo>
                  <a:lnTo>
                    <a:pt x="2553462" y="598932"/>
                  </a:lnTo>
                  <a:lnTo>
                    <a:pt x="2545080" y="592836"/>
                  </a:lnTo>
                  <a:lnTo>
                    <a:pt x="2526792" y="582168"/>
                  </a:lnTo>
                  <a:lnTo>
                    <a:pt x="2517648" y="577596"/>
                  </a:lnTo>
                  <a:lnTo>
                    <a:pt x="2509266" y="573786"/>
                  </a:lnTo>
                  <a:lnTo>
                    <a:pt x="2500122" y="570738"/>
                  </a:lnTo>
                  <a:lnTo>
                    <a:pt x="2491740" y="567690"/>
                  </a:lnTo>
                  <a:lnTo>
                    <a:pt x="2466594" y="560832"/>
                  </a:lnTo>
                  <a:lnTo>
                    <a:pt x="2458974" y="559308"/>
                  </a:lnTo>
                  <a:lnTo>
                    <a:pt x="2449830" y="556260"/>
                  </a:lnTo>
                  <a:lnTo>
                    <a:pt x="2439924" y="553974"/>
                  </a:lnTo>
                  <a:lnTo>
                    <a:pt x="2430780" y="551688"/>
                  </a:lnTo>
                  <a:lnTo>
                    <a:pt x="2420112" y="549402"/>
                  </a:lnTo>
                  <a:lnTo>
                    <a:pt x="2410968" y="547116"/>
                  </a:lnTo>
                  <a:lnTo>
                    <a:pt x="2401062" y="545592"/>
                  </a:lnTo>
                  <a:lnTo>
                    <a:pt x="2391156" y="543306"/>
                  </a:lnTo>
                  <a:lnTo>
                    <a:pt x="2382012" y="541782"/>
                  </a:lnTo>
                  <a:lnTo>
                    <a:pt x="2373630" y="541020"/>
                  </a:lnTo>
                  <a:lnTo>
                    <a:pt x="2365248" y="539496"/>
                  </a:lnTo>
                  <a:lnTo>
                    <a:pt x="2356866" y="538734"/>
                  </a:lnTo>
                  <a:lnTo>
                    <a:pt x="2349246" y="538734"/>
                  </a:lnTo>
                  <a:lnTo>
                    <a:pt x="2334768" y="537972"/>
                  </a:lnTo>
                  <a:lnTo>
                    <a:pt x="2321052" y="537210"/>
                  </a:lnTo>
                  <a:lnTo>
                    <a:pt x="1889760" y="537210"/>
                  </a:lnTo>
                  <a:lnTo>
                    <a:pt x="1889760" y="594360"/>
                  </a:lnTo>
                  <a:lnTo>
                    <a:pt x="2321052" y="594461"/>
                  </a:lnTo>
                  <a:lnTo>
                    <a:pt x="2345436" y="595884"/>
                  </a:lnTo>
                  <a:lnTo>
                    <a:pt x="2352294" y="595884"/>
                  </a:lnTo>
                  <a:lnTo>
                    <a:pt x="2358390" y="596646"/>
                  </a:lnTo>
                  <a:lnTo>
                    <a:pt x="2365248" y="597408"/>
                  </a:lnTo>
                  <a:lnTo>
                    <a:pt x="2372868" y="598170"/>
                  </a:lnTo>
                  <a:lnTo>
                    <a:pt x="2380488" y="599694"/>
                  </a:lnTo>
                  <a:lnTo>
                    <a:pt x="2389632" y="601218"/>
                  </a:lnTo>
                  <a:lnTo>
                    <a:pt x="2398014" y="602742"/>
                  </a:lnTo>
                  <a:lnTo>
                    <a:pt x="2407920" y="605028"/>
                  </a:lnTo>
                  <a:lnTo>
                    <a:pt x="2435352" y="611886"/>
                  </a:lnTo>
                  <a:lnTo>
                    <a:pt x="2452116" y="616458"/>
                  </a:lnTo>
                  <a:lnTo>
                    <a:pt x="2459736" y="617982"/>
                  </a:lnTo>
                  <a:lnTo>
                    <a:pt x="2474214" y="622554"/>
                  </a:lnTo>
                  <a:lnTo>
                    <a:pt x="2480310" y="624078"/>
                  </a:lnTo>
                  <a:lnTo>
                    <a:pt x="2492502" y="628650"/>
                  </a:lnTo>
                  <a:lnTo>
                    <a:pt x="2535174" y="656082"/>
                  </a:lnTo>
                  <a:lnTo>
                    <a:pt x="2548890" y="668274"/>
                  </a:lnTo>
                  <a:lnTo>
                    <a:pt x="2554986" y="672846"/>
                  </a:lnTo>
                  <a:lnTo>
                    <a:pt x="2569464" y="687324"/>
                  </a:lnTo>
                  <a:lnTo>
                    <a:pt x="2574036" y="692658"/>
                  </a:lnTo>
                  <a:lnTo>
                    <a:pt x="2583180" y="704088"/>
                  </a:lnTo>
                  <a:lnTo>
                    <a:pt x="2603754" y="727710"/>
                  </a:lnTo>
                  <a:lnTo>
                    <a:pt x="2613660" y="739902"/>
                  </a:lnTo>
                  <a:lnTo>
                    <a:pt x="2624328" y="752094"/>
                  </a:lnTo>
                  <a:lnTo>
                    <a:pt x="2634234" y="764286"/>
                  </a:lnTo>
                  <a:lnTo>
                    <a:pt x="2643378" y="776478"/>
                  </a:lnTo>
                  <a:lnTo>
                    <a:pt x="2652522" y="787908"/>
                  </a:lnTo>
                  <a:lnTo>
                    <a:pt x="2660904" y="799338"/>
                  </a:lnTo>
                  <a:lnTo>
                    <a:pt x="2669286" y="811530"/>
                  </a:lnTo>
                  <a:lnTo>
                    <a:pt x="2673096" y="816864"/>
                  </a:lnTo>
                  <a:lnTo>
                    <a:pt x="2676144" y="822198"/>
                  </a:lnTo>
                  <a:lnTo>
                    <a:pt x="2683002" y="833628"/>
                  </a:lnTo>
                  <a:lnTo>
                    <a:pt x="2697480" y="859536"/>
                  </a:lnTo>
                  <a:lnTo>
                    <a:pt x="2701290" y="865632"/>
                  </a:lnTo>
                  <a:lnTo>
                    <a:pt x="2705100" y="873252"/>
                  </a:lnTo>
                  <a:lnTo>
                    <a:pt x="2714244" y="888492"/>
                  </a:lnTo>
                  <a:lnTo>
                    <a:pt x="2718054" y="896112"/>
                  </a:lnTo>
                  <a:lnTo>
                    <a:pt x="2722626" y="902970"/>
                  </a:lnTo>
                  <a:lnTo>
                    <a:pt x="2726436" y="909828"/>
                  </a:lnTo>
                  <a:lnTo>
                    <a:pt x="2732532" y="922020"/>
                  </a:lnTo>
                  <a:lnTo>
                    <a:pt x="2735580" y="926592"/>
                  </a:lnTo>
                  <a:lnTo>
                    <a:pt x="2737866" y="931164"/>
                  </a:lnTo>
                  <a:lnTo>
                    <a:pt x="2740914" y="935736"/>
                  </a:lnTo>
                  <a:lnTo>
                    <a:pt x="2745486" y="944118"/>
                  </a:lnTo>
                  <a:lnTo>
                    <a:pt x="2747772" y="948690"/>
                  </a:lnTo>
                  <a:lnTo>
                    <a:pt x="2750058" y="952690"/>
                  </a:lnTo>
                  <a:lnTo>
                    <a:pt x="2750210" y="952957"/>
                  </a:lnTo>
                  <a:lnTo>
                    <a:pt x="2750820" y="954786"/>
                  </a:lnTo>
                  <a:lnTo>
                    <a:pt x="2751582" y="954786"/>
                  </a:lnTo>
                  <a:lnTo>
                    <a:pt x="2752344" y="957072"/>
                  </a:lnTo>
                  <a:lnTo>
                    <a:pt x="2753106" y="958596"/>
                  </a:lnTo>
                  <a:lnTo>
                    <a:pt x="2754630" y="960882"/>
                  </a:lnTo>
                  <a:lnTo>
                    <a:pt x="2760726" y="971550"/>
                  </a:lnTo>
                  <a:lnTo>
                    <a:pt x="2763774" y="977646"/>
                  </a:lnTo>
                  <a:lnTo>
                    <a:pt x="2767584" y="983742"/>
                  </a:lnTo>
                  <a:lnTo>
                    <a:pt x="2773680" y="995934"/>
                  </a:lnTo>
                  <a:lnTo>
                    <a:pt x="2777490" y="1002030"/>
                  </a:lnTo>
                  <a:lnTo>
                    <a:pt x="2780538" y="1008888"/>
                  </a:lnTo>
                  <a:lnTo>
                    <a:pt x="2785110" y="1016508"/>
                  </a:lnTo>
                  <a:lnTo>
                    <a:pt x="2788920" y="1024128"/>
                  </a:lnTo>
                  <a:lnTo>
                    <a:pt x="2796540" y="1037844"/>
                  </a:lnTo>
                  <a:lnTo>
                    <a:pt x="2800350" y="1043940"/>
                  </a:lnTo>
                  <a:lnTo>
                    <a:pt x="2803398" y="1049274"/>
                  </a:lnTo>
                  <a:lnTo>
                    <a:pt x="2805684" y="1053846"/>
                  </a:lnTo>
                  <a:lnTo>
                    <a:pt x="2808732" y="1058418"/>
                  </a:lnTo>
                  <a:lnTo>
                    <a:pt x="2811780" y="1062228"/>
                  </a:lnTo>
                  <a:lnTo>
                    <a:pt x="2817114" y="1069848"/>
                  </a:lnTo>
                  <a:lnTo>
                    <a:pt x="2820162" y="1072896"/>
                  </a:lnTo>
                  <a:lnTo>
                    <a:pt x="2823972" y="1077468"/>
                  </a:lnTo>
                  <a:lnTo>
                    <a:pt x="2831592" y="1085850"/>
                  </a:lnTo>
                  <a:lnTo>
                    <a:pt x="2838450" y="1091946"/>
                  </a:lnTo>
                  <a:lnTo>
                    <a:pt x="2852166" y="1105662"/>
                  </a:lnTo>
                  <a:lnTo>
                    <a:pt x="2855976" y="1110234"/>
                  </a:lnTo>
                  <a:lnTo>
                    <a:pt x="2860548" y="1114806"/>
                  </a:lnTo>
                  <a:lnTo>
                    <a:pt x="2864358" y="1120140"/>
                  </a:lnTo>
                  <a:lnTo>
                    <a:pt x="2869692" y="1126236"/>
                  </a:lnTo>
                  <a:lnTo>
                    <a:pt x="2875026" y="1131570"/>
                  </a:lnTo>
                  <a:lnTo>
                    <a:pt x="2885694" y="1143762"/>
                  </a:lnTo>
                  <a:lnTo>
                    <a:pt x="2926842" y="1175004"/>
                  </a:lnTo>
                  <a:lnTo>
                    <a:pt x="2932176" y="1178052"/>
                  </a:lnTo>
                  <a:lnTo>
                    <a:pt x="2936748" y="1181100"/>
                  </a:lnTo>
                  <a:lnTo>
                    <a:pt x="2942082" y="1184148"/>
                  </a:lnTo>
                  <a:lnTo>
                    <a:pt x="2945892" y="1186434"/>
                  </a:lnTo>
                  <a:lnTo>
                    <a:pt x="2950464" y="1188720"/>
                  </a:lnTo>
                  <a:lnTo>
                    <a:pt x="2954274" y="1190244"/>
                  </a:lnTo>
                  <a:lnTo>
                    <a:pt x="2958084" y="1192530"/>
                  </a:lnTo>
                  <a:lnTo>
                    <a:pt x="2962656" y="1194054"/>
                  </a:lnTo>
                  <a:lnTo>
                    <a:pt x="2966466" y="1196340"/>
                  </a:lnTo>
                  <a:lnTo>
                    <a:pt x="2972562" y="1199388"/>
                  </a:lnTo>
                  <a:lnTo>
                    <a:pt x="3038094" y="1227582"/>
                  </a:lnTo>
                  <a:lnTo>
                    <a:pt x="3061716" y="1175004"/>
                  </a:lnTo>
                  <a:close/>
                </a:path>
              </a:pathLst>
            </a:custGeom>
            <a:solidFill>
              <a:srgbClr val="7E7E7E"/>
            </a:solidFill>
          </p:spPr>
          <p:txBody>
            <a:bodyPr wrap="square" lIns="0" tIns="0" rIns="0" bIns="0" rtlCol="0"/>
            <a:lstStyle/>
            <a:p>
              <a:endParaRPr/>
            </a:p>
          </p:txBody>
        </p:sp>
        <p:sp>
          <p:nvSpPr>
            <p:cNvPr id="14" name="object 14"/>
            <p:cNvSpPr/>
            <p:nvPr/>
          </p:nvSpPr>
          <p:spPr>
            <a:xfrm>
              <a:off x="2239518" y="1422653"/>
              <a:ext cx="2504440" cy="3865879"/>
            </a:xfrm>
            <a:custGeom>
              <a:avLst/>
              <a:gdLst/>
              <a:ahLst/>
              <a:cxnLst/>
              <a:rect l="l" t="t" r="r" b="b"/>
              <a:pathLst>
                <a:path w="2504440" h="3865879">
                  <a:moveTo>
                    <a:pt x="2503932" y="1353312"/>
                  </a:moveTo>
                  <a:lnTo>
                    <a:pt x="2452103" y="1353312"/>
                  </a:lnTo>
                  <a:lnTo>
                    <a:pt x="2452103" y="11430"/>
                  </a:lnTo>
                  <a:lnTo>
                    <a:pt x="1642872" y="11430"/>
                  </a:lnTo>
                  <a:lnTo>
                    <a:pt x="1642872" y="95250"/>
                  </a:lnTo>
                  <a:lnTo>
                    <a:pt x="1598676" y="95250"/>
                  </a:lnTo>
                  <a:lnTo>
                    <a:pt x="1598676" y="987552"/>
                  </a:lnTo>
                  <a:lnTo>
                    <a:pt x="779526" y="987552"/>
                  </a:lnTo>
                  <a:lnTo>
                    <a:pt x="779526" y="0"/>
                  </a:lnTo>
                  <a:lnTo>
                    <a:pt x="18288" y="0"/>
                  </a:lnTo>
                  <a:lnTo>
                    <a:pt x="18288" y="1341120"/>
                  </a:lnTo>
                  <a:lnTo>
                    <a:pt x="0" y="1341120"/>
                  </a:lnTo>
                  <a:lnTo>
                    <a:pt x="0" y="2510028"/>
                  </a:lnTo>
                  <a:lnTo>
                    <a:pt x="76200" y="2510028"/>
                  </a:lnTo>
                  <a:lnTo>
                    <a:pt x="76200" y="3865626"/>
                  </a:lnTo>
                  <a:lnTo>
                    <a:pt x="714756" y="3865626"/>
                  </a:lnTo>
                  <a:lnTo>
                    <a:pt x="714756" y="2426208"/>
                  </a:lnTo>
                  <a:lnTo>
                    <a:pt x="608076" y="2426208"/>
                  </a:lnTo>
                  <a:lnTo>
                    <a:pt x="608076" y="1439418"/>
                  </a:lnTo>
                  <a:lnTo>
                    <a:pt x="714756" y="1439418"/>
                  </a:lnTo>
                  <a:lnTo>
                    <a:pt x="714756" y="1572006"/>
                  </a:lnTo>
                  <a:lnTo>
                    <a:pt x="1784604" y="1572006"/>
                  </a:lnTo>
                  <a:lnTo>
                    <a:pt x="1784604" y="1534668"/>
                  </a:lnTo>
                  <a:lnTo>
                    <a:pt x="1895856" y="1534668"/>
                  </a:lnTo>
                  <a:lnTo>
                    <a:pt x="1895856" y="2417826"/>
                  </a:lnTo>
                  <a:lnTo>
                    <a:pt x="1778508" y="2417826"/>
                  </a:lnTo>
                  <a:lnTo>
                    <a:pt x="1778508" y="3857244"/>
                  </a:lnTo>
                  <a:lnTo>
                    <a:pt x="2479548" y="3857244"/>
                  </a:lnTo>
                  <a:lnTo>
                    <a:pt x="2479548" y="2521458"/>
                  </a:lnTo>
                  <a:lnTo>
                    <a:pt x="2503932" y="2521458"/>
                  </a:lnTo>
                  <a:lnTo>
                    <a:pt x="2503932" y="1353312"/>
                  </a:lnTo>
                  <a:close/>
                </a:path>
              </a:pathLst>
            </a:custGeom>
            <a:solidFill>
              <a:srgbClr val="FFFFFF"/>
            </a:solidFill>
          </p:spPr>
          <p:txBody>
            <a:bodyPr wrap="square" lIns="0" tIns="0" rIns="0" bIns="0" rtlCol="0"/>
            <a:lstStyle/>
            <a:p>
              <a:endParaRPr/>
            </a:p>
          </p:txBody>
        </p:sp>
        <p:sp>
          <p:nvSpPr>
            <p:cNvPr id="15" name="object 15"/>
            <p:cNvSpPr/>
            <p:nvPr/>
          </p:nvSpPr>
          <p:spPr>
            <a:xfrm>
              <a:off x="2269997" y="1817369"/>
              <a:ext cx="661035" cy="1076325"/>
            </a:xfrm>
            <a:custGeom>
              <a:avLst/>
              <a:gdLst/>
              <a:ahLst/>
              <a:cxnLst/>
              <a:rect l="l" t="t" r="r" b="b"/>
              <a:pathLst>
                <a:path w="661035" h="1076325">
                  <a:moveTo>
                    <a:pt x="600087" y="964025"/>
                  </a:moveTo>
                  <a:lnTo>
                    <a:pt x="10668" y="0"/>
                  </a:lnTo>
                  <a:lnTo>
                    <a:pt x="0" y="6095"/>
                  </a:lnTo>
                  <a:lnTo>
                    <a:pt x="589332" y="970731"/>
                  </a:lnTo>
                  <a:lnTo>
                    <a:pt x="600087" y="964025"/>
                  </a:lnTo>
                  <a:close/>
                </a:path>
                <a:path w="661035" h="1076325">
                  <a:moveTo>
                    <a:pt x="606552" y="1027294"/>
                  </a:moveTo>
                  <a:lnTo>
                    <a:pt x="606552" y="974597"/>
                  </a:lnTo>
                  <a:lnTo>
                    <a:pt x="595884" y="981455"/>
                  </a:lnTo>
                  <a:lnTo>
                    <a:pt x="589332" y="970731"/>
                  </a:lnTo>
                  <a:lnTo>
                    <a:pt x="562356" y="987551"/>
                  </a:lnTo>
                  <a:lnTo>
                    <a:pt x="606552" y="1027294"/>
                  </a:lnTo>
                  <a:close/>
                </a:path>
                <a:path w="661035" h="1076325">
                  <a:moveTo>
                    <a:pt x="606552" y="974597"/>
                  </a:moveTo>
                  <a:lnTo>
                    <a:pt x="600087" y="964025"/>
                  </a:lnTo>
                  <a:lnTo>
                    <a:pt x="589332" y="970731"/>
                  </a:lnTo>
                  <a:lnTo>
                    <a:pt x="595884" y="981455"/>
                  </a:lnTo>
                  <a:lnTo>
                    <a:pt x="606552" y="974597"/>
                  </a:lnTo>
                  <a:close/>
                </a:path>
                <a:path w="661035" h="1076325">
                  <a:moveTo>
                    <a:pt x="660654" y="1075943"/>
                  </a:moveTo>
                  <a:lnTo>
                    <a:pt x="627126" y="947165"/>
                  </a:lnTo>
                  <a:lnTo>
                    <a:pt x="600087" y="964025"/>
                  </a:lnTo>
                  <a:lnTo>
                    <a:pt x="606552" y="974597"/>
                  </a:lnTo>
                  <a:lnTo>
                    <a:pt x="606552" y="1027294"/>
                  </a:lnTo>
                  <a:lnTo>
                    <a:pt x="660654" y="1075943"/>
                  </a:lnTo>
                  <a:close/>
                </a:path>
              </a:pathLst>
            </a:custGeom>
            <a:solidFill>
              <a:srgbClr val="000000"/>
            </a:solidFill>
          </p:spPr>
          <p:txBody>
            <a:bodyPr wrap="square" lIns="0" tIns="0" rIns="0" bIns="0" rtlCol="0"/>
            <a:lstStyle/>
            <a:p>
              <a:endParaRPr/>
            </a:p>
          </p:txBody>
        </p:sp>
        <p:sp>
          <p:nvSpPr>
            <p:cNvPr id="16" name="object 16"/>
            <p:cNvSpPr/>
            <p:nvPr/>
          </p:nvSpPr>
          <p:spPr>
            <a:xfrm>
              <a:off x="2815590" y="1313687"/>
              <a:ext cx="1327785" cy="708025"/>
            </a:xfrm>
            <a:custGeom>
              <a:avLst/>
              <a:gdLst/>
              <a:ahLst/>
              <a:cxnLst/>
              <a:rect l="l" t="t" r="r" b="b"/>
              <a:pathLst>
                <a:path w="1327785" h="708025">
                  <a:moveTo>
                    <a:pt x="1327403" y="707897"/>
                  </a:moveTo>
                  <a:lnTo>
                    <a:pt x="1327403" y="0"/>
                  </a:lnTo>
                  <a:lnTo>
                    <a:pt x="0" y="0"/>
                  </a:lnTo>
                  <a:lnTo>
                    <a:pt x="0" y="707898"/>
                  </a:lnTo>
                  <a:lnTo>
                    <a:pt x="1327403" y="707897"/>
                  </a:lnTo>
                  <a:close/>
                </a:path>
              </a:pathLst>
            </a:custGeom>
            <a:solidFill>
              <a:srgbClr val="FFFFFF"/>
            </a:solidFill>
          </p:spPr>
          <p:txBody>
            <a:bodyPr wrap="square" lIns="0" tIns="0" rIns="0" bIns="0" rtlCol="0"/>
            <a:lstStyle/>
            <a:p>
              <a:endParaRPr/>
            </a:p>
          </p:txBody>
        </p:sp>
      </p:grpSp>
      <p:grpSp>
        <p:nvGrpSpPr>
          <p:cNvPr id="17" name="object 17"/>
          <p:cNvGrpSpPr/>
          <p:nvPr/>
        </p:nvGrpSpPr>
        <p:grpSpPr>
          <a:xfrm>
            <a:off x="7778603" y="2846832"/>
            <a:ext cx="1673860" cy="1180465"/>
            <a:chOff x="7778603" y="2846832"/>
            <a:chExt cx="1673860" cy="1180465"/>
          </a:xfrm>
        </p:grpSpPr>
        <p:pic>
          <p:nvPicPr>
            <p:cNvPr id="18" name="object 18"/>
            <p:cNvPicPr/>
            <p:nvPr/>
          </p:nvPicPr>
          <p:blipFill>
            <a:blip r:embed="rId4" cstate="print"/>
            <a:stretch>
              <a:fillRect/>
            </a:stretch>
          </p:blipFill>
          <p:spPr>
            <a:xfrm>
              <a:off x="7921711" y="2880334"/>
              <a:ext cx="1530396" cy="931551"/>
            </a:xfrm>
            <a:prstGeom prst="rect">
              <a:avLst/>
            </a:prstGeom>
          </p:spPr>
        </p:pic>
        <p:sp>
          <p:nvSpPr>
            <p:cNvPr id="19" name="object 19"/>
            <p:cNvSpPr/>
            <p:nvPr/>
          </p:nvSpPr>
          <p:spPr>
            <a:xfrm>
              <a:off x="7778603" y="2893314"/>
              <a:ext cx="133350" cy="940435"/>
            </a:xfrm>
            <a:custGeom>
              <a:avLst/>
              <a:gdLst/>
              <a:ahLst/>
              <a:cxnLst/>
              <a:rect l="l" t="t" r="r" b="b"/>
              <a:pathLst>
                <a:path w="133350" h="940435">
                  <a:moveTo>
                    <a:pt x="133135" y="244852"/>
                  </a:moveTo>
                  <a:lnTo>
                    <a:pt x="132480" y="236982"/>
                  </a:lnTo>
                  <a:lnTo>
                    <a:pt x="66948" y="0"/>
                  </a:lnTo>
                  <a:lnTo>
                    <a:pt x="654" y="236982"/>
                  </a:lnTo>
                  <a:lnTo>
                    <a:pt x="0" y="244852"/>
                  </a:lnTo>
                  <a:lnTo>
                    <a:pt x="2274" y="251936"/>
                  </a:lnTo>
                  <a:lnTo>
                    <a:pt x="6977" y="257448"/>
                  </a:lnTo>
                  <a:lnTo>
                    <a:pt x="13608" y="260604"/>
                  </a:lnTo>
                  <a:lnTo>
                    <a:pt x="21478" y="261258"/>
                  </a:lnTo>
                  <a:lnTo>
                    <a:pt x="28563" y="258984"/>
                  </a:lnTo>
                  <a:lnTo>
                    <a:pt x="34075" y="254281"/>
                  </a:lnTo>
                  <a:lnTo>
                    <a:pt x="37230" y="247650"/>
                  </a:lnTo>
                  <a:lnTo>
                    <a:pt x="47898" y="209549"/>
                  </a:lnTo>
                  <a:lnTo>
                    <a:pt x="47898" y="70866"/>
                  </a:lnTo>
                  <a:lnTo>
                    <a:pt x="85998" y="70866"/>
                  </a:lnTo>
                  <a:lnTo>
                    <a:pt x="85998" y="211700"/>
                  </a:lnTo>
                  <a:lnTo>
                    <a:pt x="95904" y="247650"/>
                  </a:lnTo>
                  <a:lnTo>
                    <a:pt x="99488" y="254281"/>
                  </a:lnTo>
                  <a:lnTo>
                    <a:pt x="105144" y="258984"/>
                  </a:lnTo>
                  <a:lnTo>
                    <a:pt x="112085" y="261258"/>
                  </a:lnTo>
                  <a:lnTo>
                    <a:pt x="119526" y="260604"/>
                  </a:lnTo>
                  <a:lnTo>
                    <a:pt x="126158" y="257448"/>
                  </a:lnTo>
                  <a:lnTo>
                    <a:pt x="130861" y="251936"/>
                  </a:lnTo>
                  <a:lnTo>
                    <a:pt x="133135" y="244852"/>
                  </a:lnTo>
                  <a:close/>
                </a:path>
                <a:path w="133350" h="940435">
                  <a:moveTo>
                    <a:pt x="66802" y="798271"/>
                  </a:moveTo>
                  <a:lnTo>
                    <a:pt x="37230" y="692658"/>
                  </a:lnTo>
                  <a:lnTo>
                    <a:pt x="34075" y="686026"/>
                  </a:lnTo>
                  <a:lnTo>
                    <a:pt x="28563" y="681323"/>
                  </a:lnTo>
                  <a:lnTo>
                    <a:pt x="21478" y="679049"/>
                  </a:lnTo>
                  <a:lnTo>
                    <a:pt x="13608" y="679703"/>
                  </a:lnTo>
                  <a:lnTo>
                    <a:pt x="6977" y="683180"/>
                  </a:lnTo>
                  <a:lnTo>
                    <a:pt x="2274" y="688657"/>
                  </a:lnTo>
                  <a:lnTo>
                    <a:pt x="0" y="695563"/>
                  </a:lnTo>
                  <a:lnTo>
                    <a:pt x="654" y="703326"/>
                  </a:lnTo>
                  <a:lnTo>
                    <a:pt x="47898" y="872209"/>
                  </a:lnTo>
                  <a:lnTo>
                    <a:pt x="47898" y="869442"/>
                  </a:lnTo>
                  <a:lnTo>
                    <a:pt x="48660" y="869442"/>
                  </a:lnTo>
                  <a:lnTo>
                    <a:pt x="48660" y="864108"/>
                  </a:lnTo>
                  <a:lnTo>
                    <a:pt x="66802" y="798271"/>
                  </a:lnTo>
                  <a:close/>
                </a:path>
                <a:path w="133350" h="940435">
                  <a:moveTo>
                    <a:pt x="85998" y="211700"/>
                  </a:moveTo>
                  <a:lnTo>
                    <a:pt x="85998" y="70866"/>
                  </a:lnTo>
                  <a:lnTo>
                    <a:pt x="47898" y="70866"/>
                  </a:lnTo>
                  <a:lnTo>
                    <a:pt x="47898" y="209549"/>
                  </a:lnTo>
                  <a:lnTo>
                    <a:pt x="48660" y="206828"/>
                  </a:lnTo>
                  <a:lnTo>
                    <a:pt x="48660" y="76200"/>
                  </a:lnTo>
                  <a:lnTo>
                    <a:pt x="85236" y="76200"/>
                  </a:lnTo>
                  <a:lnTo>
                    <a:pt x="85236" y="208935"/>
                  </a:lnTo>
                  <a:lnTo>
                    <a:pt x="85998" y="211700"/>
                  </a:lnTo>
                  <a:close/>
                </a:path>
                <a:path w="133350" h="940435">
                  <a:moveTo>
                    <a:pt x="85998" y="728607"/>
                  </a:moveTo>
                  <a:lnTo>
                    <a:pt x="85998" y="211700"/>
                  </a:lnTo>
                  <a:lnTo>
                    <a:pt x="66802" y="142036"/>
                  </a:lnTo>
                  <a:lnTo>
                    <a:pt x="47898" y="209549"/>
                  </a:lnTo>
                  <a:lnTo>
                    <a:pt x="47898" y="730758"/>
                  </a:lnTo>
                  <a:lnTo>
                    <a:pt x="66802" y="798271"/>
                  </a:lnTo>
                  <a:lnTo>
                    <a:pt x="85998" y="728607"/>
                  </a:lnTo>
                  <a:close/>
                </a:path>
                <a:path w="133350" h="940435">
                  <a:moveTo>
                    <a:pt x="85998" y="871417"/>
                  </a:moveTo>
                  <a:lnTo>
                    <a:pt x="85998" y="869442"/>
                  </a:lnTo>
                  <a:lnTo>
                    <a:pt x="47898" y="869442"/>
                  </a:lnTo>
                  <a:lnTo>
                    <a:pt x="47898" y="872209"/>
                  </a:lnTo>
                  <a:lnTo>
                    <a:pt x="66948" y="940308"/>
                  </a:lnTo>
                  <a:lnTo>
                    <a:pt x="85998" y="871417"/>
                  </a:lnTo>
                  <a:close/>
                </a:path>
                <a:path w="133350" h="940435">
                  <a:moveTo>
                    <a:pt x="85236" y="76200"/>
                  </a:moveTo>
                  <a:lnTo>
                    <a:pt x="48660" y="76200"/>
                  </a:lnTo>
                  <a:lnTo>
                    <a:pt x="66802" y="142036"/>
                  </a:lnTo>
                  <a:lnTo>
                    <a:pt x="85236" y="76200"/>
                  </a:lnTo>
                  <a:close/>
                </a:path>
                <a:path w="133350" h="940435">
                  <a:moveTo>
                    <a:pt x="66802" y="142036"/>
                  </a:moveTo>
                  <a:lnTo>
                    <a:pt x="48660" y="76200"/>
                  </a:lnTo>
                  <a:lnTo>
                    <a:pt x="48660" y="206828"/>
                  </a:lnTo>
                  <a:lnTo>
                    <a:pt x="66802" y="142036"/>
                  </a:lnTo>
                  <a:close/>
                </a:path>
                <a:path w="133350" h="940435">
                  <a:moveTo>
                    <a:pt x="85236" y="864108"/>
                  </a:moveTo>
                  <a:lnTo>
                    <a:pt x="66802" y="798271"/>
                  </a:lnTo>
                  <a:lnTo>
                    <a:pt x="48660" y="864108"/>
                  </a:lnTo>
                  <a:lnTo>
                    <a:pt x="85236" y="864108"/>
                  </a:lnTo>
                  <a:close/>
                </a:path>
                <a:path w="133350" h="940435">
                  <a:moveTo>
                    <a:pt x="85236" y="869442"/>
                  </a:moveTo>
                  <a:lnTo>
                    <a:pt x="85236" y="864108"/>
                  </a:lnTo>
                  <a:lnTo>
                    <a:pt x="48660" y="864108"/>
                  </a:lnTo>
                  <a:lnTo>
                    <a:pt x="48660" y="869442"/>
                  </a:lnTo>
                  <a:lnTo>
                    <a:pt x="85236" y="869442"/>
                  </a:lnTo>
                  <a:close/>
                </a:path>
                <a:path w="133350" h="940435">
                  <a:moveTo>
                    <a:pt x="85236" y="208935"/>
                  </a:moveTo>
                  <a:lnTo>
                    <a:pt x="85236" y="76200"/>
                  </a:lnTo>
                  <a:lnTo>
                    <a:pt x="66802" y="142036"/>
                  </a:lnTo>
                  <a:lnTo>
                    <a:pt x="85236" y="208935"/>
                  </a:lnTo>
                  <a:close/>
                </a:path>
                <a:path w="133350" h="940435">
                  <a:moveTo>
                    <a:pt x="133135" y="695563"/>
                  </a:moveTo>
                  <a:lnTo>
                    <a:pt x="130861" y="688657"/>
                  </a:lnTo>
                  <a:lnTo>
                    <a:pt x="126158" y="683180"/>
                  </a:lnTo>
                  <a:lnTo>
                    <a:pt x="119526" y="679703"/>
                  </a:lnTo>
                  <a:lnTo>
                    <a:pt x="112085" y="679049"/>
                  </a:lnTo>
                  <a:lnTo>
                    <a:pt x="105144" y="681323"/>
                  </a:lnTo>
                  <a:lnTo>
                    <a:pt x="99488" y="686026"/>
                  </a:lnTo>
                  <a:lnTo>
                    <a:pt x="95904" y="692658"/>
                  </a:lnTo>
                  <a:lnTo>
                    <a:pt x="66802" y="798271"/>
                  </a:lnTo>
                  <a:lnTo>
                    <a:pt x="85236" y="864108"/>
                  </a:lnTo>
                  <a:lnTo>
                    <a:pt x="85236" y="869442"/>
                  </a:lnTo>
                  <a:lnTo>
                    <a:pt x="85998" y="869442"/>
                  </a:lnTo>
                  <a:lnTo>
                    <a:pt x="85998" y="871417"/>
                  </a:lnTo>
                  <a:lnTo>
                    <a:pt x="132480" y="703326"/>
                  </a:lnTo>
                  <a:lnTo>
                    <a:pt x="133135" y="695563"/>
                  </a:lnTo>
                  <a:close/>
                </a:path>
              </a:pathLst>
            </a:custGeom>
            <a:solidFill>
              <a:srgbClr val="0000FF"/>
            </a:solidFill>
          </p:spPr>
          <p:txBody>
            <a:bodyPr wrap="square" lIns="0" tIns="0" rIns="0" bIns="0" rtlCol="0"/>
            <a:lstStyle/>
            <a:p>
              <a:endParaRPr/>
            </a:p>
          </p:txBody>
        </p:sp>
        <p:sp>
          <p:nvSpPr>
            <p:cNvPr id="20" name="object 20"/>
            <p:cNvSpPr/>
            <p:nvPr/>
          </p:nvSpPr>
          <p:spPr>
            <a:xfrm>
              <a:off x="8296656" y="2846832"/>
              <a:ext cx="772795" cy="1180465"/>
            </a:xfrm>
            <a:custGeom>
              <a:avLst/>
              <a:gdLst/>
              <a:ahLst/>
              <a:cxnLst/>
              <a:rect l="l" t="t" r="r" b="b"/>
              <a:pathLst>
                <a:path w="772795" h="1180464">
                  <a:moveTo>
                    <a:pt x="0" y="0"/>
                  </a:moveTo>
                  <a:lnTo>
                    <a:pt x="0" y="1180338"/>
                  </a:lnTo>
                </a:path>
                <a:path w="772795" h="1180464">
                  <a:moveTo>
                    <a:pt x="772668" y="0"/>
                  </a:moveTo>
                  <a:lnTo>
                    <a:pt x="772668" y="1180338"/>
                  </a:lnTo>
                </a:path>
              </a:pathLst>
            </a:custGeom>
            <a:ln w="38100">
              <a:solidFill>
                <a:srgbClr val="FF0000"/>
              </a:solidFill>
              <a:prstDash val="sysDash"/>
            </a:ln>
          </p:spPr>
          <p:txBody>
            <a:bodyPr wrap="square" lIns="0" tIns="0" rIns="0" bIns="0" rtlCol="0"/>
            <a:lstStyle/>
            <a:p>
              <a:endParaRPr/>
            </a:p>
          </p:txBody>
        </p:sp>
      </p:grpSp>
      <p:sp>
        <p:nvSpPr>
          <p:cNvPr id="21" name="object 21"/>
          <p:cNvSpPr txBox="1"/>
          <p:nvPr/>
        </p:nvSpPr>
        <p:spPr>
          <a:xfrm>
            <a:off x="8053069" y="1345945"/>
            <a:ext cx="1259205" cy="635000"/>
          </a:xfrm>
          <a:prstGeom prst="rect">
            <a:avLst/>
          </a:prstGeom>
        </p:spPr>
        <p:txBody>
          <a:bodyPr vert="horz" wrap="square" lIns="0" tIns="12065" rIns="0" bIns="0" rtlCol="0">
            <a:spAutoFit/>
          </a:bodyPr>
          <a:lstStyle/>
          <a:p>
            <a:pPr marL="109220" marR="5080" indent="-97155">
              <a:lnSpc>
                <a:spcPct val="100000"/>
              </a:lnSpc>
              <a:spcBef>
                <a:spcPts val="95"/>
              </a:spcBef>
            </a:pPr>
            <a:r>
              <a:rPr sz="2000" dirty="0">
                <a:latin typeface="Verdana"/>
                <a:cs typeface="Verdana"/>
              </a:rPr>
              <a:t>PAM4</a:t>
            </a:r>
            <a:r>
              <a:rPr sz="2000" spc="-110" dirty="0">
                <a:latin typeface="Verdana"/>
                <a:cs typeface="Verdana"/>
              </a:rPr>
              <a:t> </a:t>
            </a:r>
            <a:r>
              <a:rPr sz="2000" spc="-25" dirty="0">
                <a:latin typeface="Verdana"/>
                <a:cs typeface="Verdana"/>
              </a:rPr>
              <a:t>eye </a:t>
            </a:r>
            <a:r>
              <a:rPr sz="2000" spc="-10" dirty="0">
                <a:latin typeface="Verdana"/>
                <a:cs typeface="Verdana"/>
              </a:rPr>
              <a:t>diagram</a:t>
            </a:r>
            <a:endParaRPr sz="2000">
              <a:latin typeface="Verdana"/>
              <a:cs typeface="Verdana"/>
            </a:endParaRPr>
          </a:p>
        </p:txBody>
      </p:sp>
      <p:sp>
        <p:nvSpPr>
          <p:cNvPr id="22" name="object 22"/>
          <p:cNvSpPr txBox="1"/>
          <p:nvPr/>
        </p:nvSpPr>
        <p:spPr>
          <a:xfrm>
            <a:off x="6894576" y="3237992"/>
            <a:ext cx="807085" cy="330200"/>
          </a:xfrm>
          <a:prstGeom prst="rect">
            <a:avLst/>
          </a:prstGeom>
        </p:spPr>
        <p:txBody>
          <a:bodyPr vert="horz" wrap="square" lIns="0" tIns="12065" rIns="0" bIns="0" rtlCol="0">
            <a:spAutoFit/>
          </a:bodyPr>
          <a:lstStyle/>
          <a:p>
            <a:pPr marL="38100">
              <a:lnSpc>
                <a:spcPct val="100000"/>
              </a:lnSpc>
              <a:spcBef>
                <a:spcPts val="95"/>
              </a:spcBef>
            </a:pPr>
            <a:r>
              <a:rPr sz="3000" i="1" spc="-15" baseline="13888" dirty="0">
                <a:solidFill>
                  <a:srgbClr val="0000FF"/>
                </a:solidFill>
                <a:latin typeface="Verdana"/>
                <a:cs typeface="Verdana"/>
              </a:rPr>
              <a:t>V</a:t>
            </a:r>
            <a:r>
              <a:rPr sz="1300" spc="-10" dirty="0">
                <a:solidFill>
                  <a:srgbClr val="0000FF"/>
                </a:solidFill>
                <a:latin typeface="Verdana"/>
                <a:cs typeface="Verdana"/>
              </a:rPr>
              <a:t>out,TX</a:t>
            </a:r>
            <a:endParaRPr sz="1300">
              <a:latin typeface="Verdana"/>
              <a:cs typeface="Verdana"/>
            </a:endParaRPr>
          </a:p>
        </p:txBody>
      </p:sp>
      <p:sp>
        <p:nvSpPr>
          <p:cNvPr id="23" name="object 23"/>
          <p:cNvSpPr txBox="1"/>
          <p:nvPr/>
        </p:nvSpPr>
        <p:spPr>
          <a:xfrm>
            <a:off x="9567926" y="2756407"/>
            <a:ext cx="464184" cy="1160780"/>
          </a:xfrm>
          <a:prstGeom prst="rect">
            <a:avLst/>
          </a:prstGeom>
        </p:spPr>
        <p:txBody>
          <a:bodyPr vert="horz" wrap="square" lIns="0" tIns="12065" rIns="0" bIns="0" rtlCol="0">
            <a:spAutoFit/>
          </a:bodyPr>
          <a:lstStyle/>
          <a:p>
            <a:pPr marL="12700">
              <a:lnSpc>
                <a:spcPts val="2290"/>
              </a:lnSpc>
              <a:spcBef>
                <a:spcPts val="95"/>
              </a:spcBef>
            </a:pPr>
            <a:r>
              <a:rPr sz="2000" spc="-50" dirty="0">
                <a:solidFill>
                  <a:srgbClr val="0000FF"/>
                </a:solidFill>
                <a:latin typeface="Verdana"/>
                <a:cs typeface="Verdana"/>
              </a:rPr>
              <a:t>1</a:t>
            </a:r>
            <a:endParaRPr sz="2000">
              <a:latin typeface="Verdana"/>
              <a:cs typeface="Verdana"/>
            </a:endParaRPr>
          </a:p>
          <a:p>
            <a:pPr marL="12700">
              <a:lnSpc>
                <a:spcPts val="2180"/>
              </a:lnSpc>
            </a:pPr>
            <a:r>
              <a:rPr sz="2000" spc="-25" dirty="0">
                <a:solidFill>
                  <a:srgbClr val="0000FF"/>
                </a:solidFill>
                <a:latin typeface="Verdana"/>
                <a:cs typeface="Verdana"/>
              </a:rPr>
              <a:t>2/3</a:t>
            </a:r>
            <a:endParaRPr sz="2000">
              <a:latin typeface="Verdana"/>
              <a:cs typeface="Verdana"/>
            </a:endParaRPr>
          </a:p>
          <a:p>
            <a:pPr marL="12700">
              <a:lnSpc>
                <a:spcPts val="2180"/>
              </a:lnSpc>
            </a:pPr>
            <a:r>
              <a:rPr sz="2000" spc="-25" dirty="0">
                <a:solidFill>
                  <a:srgbClr val="0000FF"/>
                </a:solidFill>
                <a:latin typeface="Verdana"/>
                <a:cs typeface="Verdana"/>
              </a:rPr>
              <a:t>1/3</a:t>
            </a:r>
            <a:endParaRPr sz="2000">
              <a:latin typeface="Verdana"/>
              <a:cs typeface="Verdana"/>
            </a:endParaRPr>
          </a:p>
          <a:p>
            <a:pPr marL="12700">
              <a:lnSpc>
                <a:spcPts val="2290"/>
              </a:lnSpc>
            </a:pPr>
            <a:r>
              <a:rPr sz="2000" spc="-50" dirty="0">
                <a:solidFill>
                  <a:srgbClr val="0000FF"/>
                </a:solidFill>
                <a:latin typeface="Verdana"/>
                <a:cs typeface="Verdana"/>
              </a:rPr>
              <a:t>0</a:t>
            </a:r>
            <a:endParaRPr sz="2000">
              <a:latin typeface="Verdana"/>
              <a:cs typeface="Verdana"/>
            </a:endParaRPr>
          </a:p>
        </p:txBody>
      </p:sp>
      <p:sp>
        <p:nvSpPr>
          <p:cNvPr id="24" name="object 24"/>
          <p:cNvSpPr txBox="1"/>
          <p:nvPr/>
        </p:nvSpPr>
        <p:spPr>
          <a:xfrm>
            <a:off x="9420606" y="2181098"/>
            <a:ext cx="663575" cy="269875"/>
          </a:xfrm>
          <a:prstGeom prst="rect">
            <a:avLst/>
          </a:prstGeom>
        </p:spPr>
        <p:txBody>
          <a:bodyPr vert="horz" wrap="square" lIns="0" tIns="12700" rIns="0" bIns="0" rtlCol="0">
            <a:spAutoFit/>
          </a:bodyPr>
          <a:lstStyle/>
          <a:p>
            <a:pPr marL="38100">
              <a:lnSpc>
                <a:spcPct val="100000"/>
              </a:lnSpc>
              <a:spcBef>
                <a:spcPts val="100"/>
              </a:spcBef>
            </a:pPr>
            <a:r>
              <a:rPr sz="2400" i="1" spc="-15" baseline="13888" dirty="0">
                <a:solidFill>
                  <a:srgbClr val="0000FF"/>
                </a:solidFill>
                <a:latin typeface="Verdana"/>
                <a:cs typeface="Verdana"/>
              </a:rPr>
              <a:t>V</a:t>
            </a:r>
            <a:r>
              <a:rPr sz="1050" spc="-10" dirty="0">
                <a:solidFill>
                  <a:srgbClr val="0000FF"/>
                </a:solidFill>
                <a:latin typeface="Verdana"/>
                <a:cs typeface="Verdana"/>
              </a:rPr>
              <a:t>out,TX</a:t>
            </a:r>
            <a:endParaRPr sz="1050">
              <a:latin typeface="Verdana"/>
              <a:cs typeface="Verdana"/>
            </a:endParaRPr>
          </a:p>
        </p:txBody>
      </p:sp>
      <p:sp>
        <p:nvSpPr>
          <p:cNvPr id="25" name="object 25"/>
          <p:cNvSpPr txBox="1"/>
          <p:nvPr/>
        </p:nvSpPr>
        <p:spPr>
          <a:xfrm>
            <a:off x="8997188" y="2486660"/>
            <a:ext cx="1511300" cy="269875"/>
          </a:xfrm>
          <a:prstGeom prst="rect">
            <a:avLst/>
          </a:prstGeom>
        </p:spPr>
        <p:txBody>
          <a:bodyPr vert="horz" wrap="square" lIns="0" tIns="12700" rIns="0" bIns="0" rtlCol="0">
            <a:spAutoFit/>
          </a:bodyPr>
          <a:lstStyle/>
          <a:p>
            <a:pPr marL="12700">
              <a:lnSpc>
                <a:spcPct val="100000"/>
              </a:lnSpc>
              <a:spcBef>
                <a:spcPts val="100"/>
              </a:spcBef>
            </a:pPr>
            <a:r>
              <a:rPr sz="1600" i="1" dirty="0">
                <a:solidFill>
                  <a:srgbClr val="0000FF"/>
                </a:solidFill>
                <a:latin typeface="Verdana"/>
                <a:cs typeface="Verdana"/>
              </a:rPr>
              <a:t>Full</a:t>
            </a:r>
            <a:r>
              <a:rPr sz="1600" i="1" spc="-35" dirty="0">
                <a:solidFill>
                  <a:srgbClr val="0000FF"/>
                </a:solidFill>
                <a:latin typeface="Verdana"/>
                <a:cs typeface="Verdana"/>
              </a:rPr>
              <a:t> </a:t>
            </a:r>
            <a:r>
              <a:rPr sz="1600" i="1" dirty="0">
                <a:solidFill>
                  <a:srgbClr val="0000FF"/>
                </a:solidFill>
                <a:latin typeface="Verdana"/>
                <a:cs typeface="Verdana"/>
              </a:rPr>
              <a:t>Scale</a:t>
            </a:r>
            <a:r>
              <a:rPr sz="1600" i="1" spc="-40" dirty="0">
                <a:solidFill>
                  <a:srgbClr val="0000FF"/>
                </a:solidFill>
                <a:latin typeface="Verdana"/>
                <a:cs typeface="Verdana"/>
              </a:rPr>
              <a:t> </a:t>
            </a:r>
            <a:r>
              <a:rPr sz="1600" spc="-20" dirty="0">
                <a:solidFill>
                  <a:srgbClr val="0000FF"/>
                </a:solidFill>
                <a:latin typeface="Verdana"/>
                <a:cs typeface="Verdana"/>
              </a:rPr>
              <a:t>(FS)</a:t>
            </a:r>
            <a:endParaRPr sz="1600">
              <a:latin typeface="Verdana"/>
              <a:cs typeface="Verdana"/>
            </a:endParaRPr>
          </a:p>
        </p:txBody>
      </p:sp>
      <p:sp>
        <p:nvSpPr>
          <p:cNvPr id="26" name="object 26"/>
          <p:cNvSpPr/>
          <p:nvPr/>
        </p:nvSpPr>
        <p:spPr>
          <a:xfrm>
            <a:off x="9200388" y="2458211"/>
            <a:ext cx="1055370" cy="19050"/>
          </a:xfrm>
          <a:custGeom>
            <a:avLst/>
            <a:gdLst/>
            <a:ahLst/>
            <a:cxnLst/>
            <a:rect l="l" t="t" r="r" b="b"/>
            <a:pathLst>
              <a:path w="1055370" h="19050">
                <a:moveTo>
                  <a:pt x="1055370" y="19050"/>
                </a:moveTo>
                <a:lnTo>
                  <a:pt x="1055370" y="0"/>
                </a:lnTo>
                <a:lnTo>
                  <a:pt x="0" y="0"/>
                </a:lnTo>
                <a:lnTo>
                  <a:pt x="0" y="19050"/>
                </a:lnTo>
                <a:lnTo>
                  <a:pt x="1055370" y="19050"/>
                </a:lnTo>
                <a:close/>
              </a:path>
            </a:pathLst>
          </a:custGeom>
          <a:solidFill>
            <a:srgbClr val="0000FF"/>
          </a:solidFill>
        </p:spPr>
        <p:txBody>
          <a:bodyPr wrap="square" lIns="0" tIns="0" rIns="0" bIns="0" rtlCol="0"/>
          <a:lstStyle/>
          <a:p>
            <a:endParaRPr/>
          </a:p>
        </p:txBody>
      </p:sp>
      <p:sp>
        <p:nvSpPr>
          <p:cNvPr id="27" name="object 27"/>
          <p:cNvSpPr txBox="1"/>
          <p:nvPr/>
        </p:nvSpPr>
        <p:spPr>
          <a:xfrm>
            <a:off x="2926333" y="1345945"/>
            <a:ext cx="1105535" cy="635000"/>
          </a:xfrm>
          <a:prstGeom prst="rect">
            <a:avLst/>
          </a:prstGeom>
        </p:spPr>
        <p:txBody>
          <a:bodyPr vert="horz" wrap="square" lIns="0" tIns="12065" rIns="0" bIns="0" rtlCol="0">
            <a:spAutoFit/>
          </a:bodyPr>
          <a:lstStyle/>
          <a:p>
            <a:pPr marL="32384" marR="5080" indent="-20320">
              <a:lnSpc>
                <a:spcPct val="100000"/>
              </a:lnSpc>
              <a:spcBef>
                <a:spcPts val="95"/>
              </a:spcBef>
            </a:pPr>
            <a:r>
              <a:rPr sz="2000" dirty="0">
                <a:latin typeface="Verdana"/>
                <a:cs typeface="Verdana"/>
              </a:rPr>
              <a:t>NRZ</a:t>
            </a:r>
            <a:r>
              <a:rPr sz="2000" spc="-55" dirty="0">
                <a:latin typeface="Verdana"/>
                <a:cs typeface="Verdana"/>
              </a:rPr>
              <a:t> </a:t>
            </a:r>
            <a:r>
              <a:rPr sz="2000" spc="-25" dirty="0">
                <a:latin typeface="Verdana"/>
                <a:cs typeface="Verdana"/>
              </a:rPr>
              <a:t>eye </a:t>
            </a:r>
            <a:r>
              <a:rPr sz="2000" spc="-10" dirty="0">
                <a:latin typeface="Verdana"/>
                <a:cs typeface="Verdana"/>
              </a:rPr>
              <a:t>diagram</a:t>
            </a:r>
            <a:endParaRPr sz="2000">
              <a:latin typeface="Verdana"/>
              <a:cs typeface="Verdana"/>
            </a:endParaRPr>
          </a:p>
        </p:txBody>
      </p:sp>
      <p:grpSp>
        <p:nvGrpSpPr>
          <p:cNvPr id="28" name="object 28"/>
          <p:cNvGrpSpPr/>
          <p:nvPr/>
        </p:nvGrpSpPr>
        <p:grpSpPr>
          <a:xfrm>
            <a:off x="1321244" y="1265237"/>
            <a:ext cx="4337050" cy="4053840"/>
            <a:chOff x="1321244" y="1265237"/>
            <a:chExt cx="4337050" cy="4053840"/>
          </a:xfrm>
        </p:grpSpPr>
        <p:sp>
          <p:nvSpPr>
            <p:cNvPr id="29" name="object 29"/>
            <p:cNvSpPr/>
            <p:nvPr/>
          </p:nvSpPr>
          <p:spPr>
            <a:xfrm>
              <a:off x="2897124" y="3114294"/>
              <a:ext cx="1187450" cy="607695"/>
            </a:xfrm>
            <a:custGeom>
              <a:avLst/>
              <a:gdLst/>
              <a:ahLst/>
              <a:cxnLst/>
              <a:rect l="l" t="t" r="r" b="b"/>
              <a:pathLst>
                <a:path w="1187450" h="607695">
                  <a:moveTo>
                    <a:pt x="1187196" y="577595"/>
                  </a:moveTo>
                  <a:lnTo>
                    <a:pt x="1182624" y="573785"/>
                  </a:lnTo>
                  <a:lnTo>
                    <a:pt x="1179576" y="572261"/>
                  </a:lnTo>
                  <a:lnTo>
                    <a:pt x="1175766" y="569213"/>
                  </a:lnTo>
                  <a:lnTo>
                    <a:pt x="1171194" y="566165"/>
                  </a:lnTo>
                  <a:lnTo>
                    <a:pt x="1165860" y="563117"/>
                  </a:lnTo>
                  <a:lnTo>
                    <a:pt x="1159764" y="559307"/>
                  </a:lnTo>
                  <a:lnTo>
                    <a:pt x="1159002" y="559307"/>
                  </a:lnTo>
                  <a:lnTo>
                    <a:pt x="1157478" y="558545"/>
                  </a:lnTo>
                  <a:lnTo>
                    <a:pt x="1152906" y="557021"/>
                  </a:lnTo>
                  <a:lnTo>
                    <a:pt x="1146810" y="553973"/>
                  </a:lnTo>
                  <a:lnTo>
                    <a:pt x="1142238" y="552449"/>
                  </a:lnTo>
                  <a:lnTo>
                    <a:pt x="1138428" y="550163"/>
                  </a:lnTo>
                  <a:lnTo>
                    <a:pt x="1130046" y="546353"/>
                  </a:lnTo>
                  <a:lnTo>
                    <a:pt x="1120902" y="541781"/>
                  </a:lnTo>
                  <a:lnTo>
                    <a:pt x="1117092" y="539495"/>
                  </a:lnTo>
                  <a:lnTo>
                    <a:pt x="1113282" y="537971"/>
                  </a:lnTo>
                  <a:lnTo>
                    <a:pt x="1110234" y="535685"/>
                  </a:lnTo>
                  <a:lnTo>
                    <a:pt x="1107186" y="534161"/>
                  </a:lnTo>
                  <a:lnTo>
                    <a:pt x="1095756" y="525779"/>
                  </a:lnTo>
                  <a:lnTo>
                    <a:pt x="1089660" y="520445"/>
                  </a:lnTo>
                  <a:lnTo>
                    <a:pt x="1084326" y="515111"/>
                  </a:lnTo>
                  <a:lnTo>
                    <a:pt x="1072896" y="504443"/>
                  </a:lnTo>
                  <a:lnTo>
                    <a:pt x="1062990" y="493775"/>
                  </a:lnTo>
                  <a:lnTo>
                    <a:pt x="1058418" y="488441"/>
                  </a:lnTo>
                  <a:lnTo>
                    <a:pt x="1053846" y="483869"/>
                  </a:lnTo>
                  <a:lnTo>
                    <a:pt x="1046226" y="472439"/>
                  </a:lnTo>
                  <a:lnTo>
                    <a:pt x="1037082" y="461009"/>
                  </a:lnTo>
                  <a:lnTo>
                    <a:pt x="1027938" y="447293"/>
                  </a:lnTo>
                  <a:lnTo>
                    <a:pt x="1006602" y="419861"/>
                  </a:lnTo>
                  <a:lnTo>
                    <a:pt x="995172" y="404621"/>
                  </a:lnTo>
                  <a:lnTo>
                    <a:pt x="979932" y="382523"/>
                  </a:lnTo>
                  <a:lnTo>
                    <a:pt x="975360" y="374141"/>
                  </a:lnTo>
                  <a:lnTo>
                    <a:pt x="965454" y="357377"/>
                  </a:lnTo>
                  <a:lnTo>
                    <a:pt x="955547" y="339851"/>
                  </a:lnTo>
                  <a:lnTo>
                    <a:pt x="950213" y="331469"/>
                  </a:lnTo>
                  <a:lnTo>
                    <a:pt x="944880" y="322325"/>
                  </a:lnTo>
                  <a:lnTo>
                    <a:pt x="939546" y="314705"/>
                  </a:lnTo>
                  <a:lnTo>
                    <a:pt x="922782" y="291845"/>
                  </a:lnTo>
                  <a:lnTo>
                    <a:pt x="911352" y="278129"/>
                  </a:lnTo>
                  <a:lnTo>
                    <a:pt x="891540" y="249173"/>
                  </a:lnTo>
                  <a:lnTo>
                    <a:pt x="871728" y="215645"/>
                  </a:lnTo>
                  <a:lnTo>
                    <a:pt x="848106" y="184403"/>
                  </a:lnTo>
                  <a:lnTo>
                    <a:pt x="817626" y="153923"/>
                  </a:lnTo>
                  <a:lnTo>
                    <a:pt x="801624" y="135635"/>
                  </a:lnTo>
                  <a:lnTo>
                    <a:pt x="791718" y="123443"/>
                  </a:lnTo>
                  <a:lnTo>
                    <a:pt x="786384" y="117347"/>
                  </a:lnTo>
                  <a:lnTo>
                    <a:pt x="781812" y="111251"/>
                  </a:lnTo>
                  <a:lnTo>
                    <a:pt x="772668" y="100583"/>
                  </a:lnTo>
                  <a:lnTo>
                    <a:pt x="770382" y="98297"/>
                  </a:lnTo>
                  <a:lnTo>
                    <a:pt x="769620" y="96773"/>
                  </a:lnTo>
                  <a:lnTo>
                    <a:pt x="766572" y="93725"/>
                  </a:lnTo>
                  <a:lnTo>
                    <a:pt x="763524" y="89915"/>
                  </a:lnTo>
                  <a:lnTo>
                    <a:pt x="760476" y="86867"/>
                  </a:lnTo>
                  <a:lnTo>
                    <a:pt x="757428" y="83057"/>
                  </a:lnTo>
                  <a:lnTo>
                    <a:pt x="752856" y="79247"/>
                  </a:lnTo>
                  <a:lnTo>
                    <a:pt x="750570" y="76961"/>
                  </a:lnTo>
                  <a:lnTo>
                    <a:pt x="748284" y="75437"/>
                  </a:lnTo>
                  <a:lnTo>
                    <a:pt x="741426" y="70103"/>
                  </a:lnTo>
                  <a:lnTo>
                    <a:pt x="737616" y="67817"/>
                  </a:lnTo>
                  <a:lnTo>
                    <a:pt x="733806" y="64769"/>
                  </a:lnTo>
                  <a:lnTo>
                    <a:pt x="729234" y="61721"/>
                  </a:lnTo>
                  <a:lnTo>
                    <a:pt x="713232" y="50292"/>
                  </a:lnTo>
                  <a:lnTo>
                    <a:pt x="701802" y="43433"/>
                  </a:lnTo>
                  <a:lnTo>
                    <a:pt x="678942" y="28956"/>
                  </a:lnTo>
                  <a:lnTo>
                    <a:pt x="673608" y="25907"/>
                  </a:lnTo>
                  <a:lnTo>
                    <a:pt x="669036" y="22859"/>
                  </a:lnTo>
                  <a:lnTo>
                    <a:pt x="659892" y="17525"/>
                  </a:lnTo>
                  <a:lnTo>
                    <a:pt x="656082" y="16001"/>
                  </a:lnTo>
                  <a:lnTo>
                    <a:pt x="652272" y="13715"/>
                  </a:lnTo>
                  <a:lnTo>
                    <a:pt x="645414" y="10667"/>
                  </a:lnTo>
                  <a:lnTo>
                    <a:pt x="639318" y="8381"/>
                  </a:lnTo>
                  <a:lnTo>
                    <a:pt x="633984" y="7619"/>
                  </a:lnTo>
                  <a:lnTo>
                    <a:pt x="629412" y="6095"/>
                  </a:lnTo>
                  <a:lnTo>
                    <a:pt x="626364" y="5333"/>
                  </a:lnTo>
                  <a:lnTo>
                    <a:pt x="622554" y="5333"/>
                  </a:lnTo>
                  <a:lnTo>
                    <a:pt x="619506" y="4571"/>
                  </a:lnTo>
                  <a:lnTo>
                    <a:pt x="615696" y="3047"/>
                  </a:lnTo>
                  <a:lnTo>
                    <a:pt x="603504" y="761"/>
                  </a:lnTo>
                  <a:lnTo>
                    <a:pt x="594360" y="0"/>
                  </a:lnTo>
                  <a:lnTo>
                    <a:pt x="585216" y="0"/>
                  </a:lnTo>
                  <a:lnTo>
                    <a:pt x="575310" y="1523"/>
                  </a:lnTo>
                  <a:lnTo>
                    <a:pt x="557784" y="6095"/>
                  </a:lnTo>
                  <a:lnTo>
                    <a:pt x="550926" y="8381"/>
                  </a:lnTo>
                  <a:lnTo>
                    <a:pt x="534162" y="12192"/>
                  </a:lnTo>
                  <a:lnTo>
                    <a:pt x="530352" y="13715"/>
                  </a:lnTo>
                  <a:lnTo>
                    <a:pt x="520445" y="16764"/>
                  </a:lnTo>
                  <a:lnTo>
                    <a:pt x="518159" y="18287"/>
                  </a:lnTo>
                  <a:lnTo>
                    <a:pt x="515112" y="19050"/>
                  </a:lnTo>
                  <a:lnTo>
                    <a:pt x="501395" y="25145"/>
                  </a:lnTo>
                  <a:lnTo>
                    <a:pt x="493776" y="28193"/>
                  </a:lnTo>
                  <a:lnTo>
                    <a:pt x="486156" y="32003"/>
                  </a:lnTo>
                  <a:lnTo>
                    <a:pt x="478536" y="35051"/>
                  </a:lnTo>
                  <a:lnTo>
                    <a:pt x="471678" y="38861"/>
                  </a:lnTo>
                  <a:lnTo>
                    <a:pt x="448818" y="57911"/>
                  </a:lnTo>
                  <a:lnTo>
                    <a:pt x="446531" y="59436"/>
                  </a:lnTo>
                  <a:lnTo>
                    <a:pt x="445770" y="61721"/>
                  </a:lnTo>
                  <a:lnTo>
                    <a:pt x="442722" y="64769"/>
                  </a:lnTo>
                  <a:lnTo>
                    <a:pt x="442722" y="64007"/>
                  </a:lnTo>
                  <a:lnTo>
                    <a:pt x="439673" y="67056"/>
                  </a:lnTo>
                  <a:lnTo>
                    <a:pt x="438150" y="69342"/>
                  </a:lnTo>
                  <a:lnTo>
                    <a:pt x="435864" y="70865"/>
                  </a:lnTo>
                  <a:lnTo>
                    <a:pt x="431292" y="76200"/>
                  </a:lnTo>
                  <a:lnTo>
                    <a:pt x="425195" y="81533"/>
                  </a:lnTo>
                  <a:lnTo>
                    <a:pt x="393191" y="113537"/>
                  </a:lnTo>
                  <a:lnTo>
                    <a:pt x="385571" y="121919"/>
                  </a:lnTo>
                  <a:lnTo>
                    <a:pt x="360425" y="147065"/>
                  </a:lnTo>
                  <a:lnTo>
                    <a:pt x="345947" y="164591"/>
                  </a:lnTo>
                  <a:lnTo>
                    <a:pt x="339089" y="172211"/>
                  </a:lnTo>
                  <a:lnTo>
                    <a:pt x="323088" y="195072"/>
                  </a:lnTo>
                  <a:lnTo>
                    <a:pt x="304038" y="224790"/>
                  </a:lnTo>
                  <a:lnTo>
                    <a:pt x="294132" y="240791"/>
                  </a:lnTo>
                  <a:lnTo>
                    <a:pt x="284226" y="256031"/>
                  </a:lnTo>
                  <a:lnTo>
                    <a:pt x="274320" y="272034"/>
                  </a:lnTo>
                  <a:lnTo>
                    <a:pt x="264414" y="288798"/>
                  </a:lnTo>
                  <a:lnTo>
                    <a:pt x="255270" y="304799"/>
                  </a:lnTo>
                  <a:lnTo>
                    <a:pt x="238506" y="335280"/>
                  </a:lnTo>
                  <a:lnTo>
                    <a:pt x="229361" y="350520"/>
                  </a:lnTo>
                  <a:lnTo>
                    <a:pt x="218694" y="367284"/>
                  </a:lnTo>
                  <a:lnTo>
                    <a:pt x="207264" y="384047"/>
                  </a:lnTo>
                  <a:lnTo>
                    <a:pt x="195834" y="401573"/>
                  </a:lnTo>
                  <a:lnTo>
                    <a:pt x="177546" y="426719"/>
                  </a:lnTo>
                  <a:lnTo>
                    <a:pt x="171450" y="435864"/>
                  </a:lnTo>
                  <a:lnTo>
                    <a:pt x="165354" y="444245"/>
                  </a:lnTo>
                  <a:lnTo>
                    <a:pt x="158496" y="452628"/>
                  </a:lnTo>
                  <a:lnTo>
                    <a:pt x="152400" y="461009"/>
                  </a:lnTo>
                  <a:lnTo>
                    <a:pt x="146304" y="468630"/>
                  </a:lnTo>
                  <a:lnTo>
                    <a:pt x="140970" y="476250"/>
                  </a:lnTo>
                  <a:lnTo>
                    <a:pt x="135636" y="481583"/>
                  </a:lnTo>
                  <a:lnTo>
                    <a:pt x="133350" y="484631"/>
                  </a:lnTo>
                  <a:lnTo>
                    <a:pt x="131826" y="486155"/>
                  </a:lnTo>
                  <a:lnTo>
                    <a:pt x="128778" y="489966"/>
                  </a:lnTo>
                  <a:lnTo>
                    <a:pt x="125730" y="492252"/>
                  </a:lnTo>
                  <a:lnTo>
                    <a:pt x="123444" y="494538"/>
                  </a:lnTo>
                  <a:lnTo>
                    <a:pt x="116586" y="499872"/>
                  </a:lnTo>
                  <a:lnTo>
                    <a:pt x="106680" y="506730"/>
                  </a:lnTo>
                  <a:lnTo>
                    <a:pt x="100584" y="512063"/>
                  </a:lnTo>
                  <a:lnTo>
                    <a:pt x="93726" y="517397"/>
                  </a:lnTo>
                  <a:lnTo>
                    <a:pt x="86106" y="522731"/>
                  </a:lnTo>
                  <a:lnTo>
                    <a:pt x="78486" y="528828"/>
                  </a:lnTo>
                  <a:lnTo>
                    <a:pt x="55626" y="544830"/>
                  </a:lnTo>
                  <a:lnTo>
                    <a:pt x="48768" y="548640"/>
                  </a:lnTo>
                  <a:lnTo>
                    <a:pt x="42672" y="552450"/>
                  </a:lnTo>
                  <a:lnTo>
                    <a:pt x="30480" y="558546"/>
                  </a:lnTo>
                  <a:lnTo>
                    <a:pt x="25146" y="561594"/>
                  </a:lnTo>
                  <a:lnTo>
                    <a:pt x="12954" y="566166"/>
                  </a:lnTo>
                  <a:lnTo>
                    <a:pt x="0" y="570738"/>
                  </a:lnTo>
                  <a:lnTo>
                    <a:pt x="13716" y="606552"/>
                  </a:lnTo>
                  <a:lnTo>
                    <a:pt x="39624" y="596646"/>
                  </a:lnTo>
                  <a:lnTo>
                    <a:pt x="46482" y="593597"/>
                  </a:lnTo>
                  <a:lnTo>
                    <a:pt x="53340" y="589788"/>
                  </a:lnTo>
                  <a:lnTo>
                    <a:pt x="60960" y="585978"/>
                  </a:lnTo>
                  <a:lnTo>
                    <a:pt x="67818" y="581405"/>
                  </a:lnTo>
                  <a:lnTo>
                    <a:pt x="76200" y="576833"/>
                  </a:lnTo>
                  <a:lnTo>
                    <a:pt x="84582" y="571500"/>
                  </a:lnTo>
                  <a:lnTo>
                    <a:pt x="101346" y="559308"/>
                  </a:lnTo>
                  <a:lnTo>
                    <a:pt x="123444" y="541782"/>
                  </a:lnTo>
                  <a:lnTo>
                    <a:pt x="134874" y="533400"/>
                  </a:lnTo>
                  <a:lnTo>
                    <a:pt x="142494" y="527304"/>
                  </a:lnTo>
                  <a:lnTo>
                    <a:pt x="146304" y="525018"/>
                  </a:lnTo>
                  <a:lnTo>
                    <a:pt x="150114" y="521208"/>
                  </a:lnTo>
                  <a:lnTo>
                    <a:pt x="154686" y="517397"/>
                  </a:lnTo>
                  <a:lnTo>
                    <a:pt x="159258" y="512825"/>
                  </a:lnTo>
                  <a:lnTo>
                    <a:pt x="161544" y="509778"/>
                  </a:lnTo>
                  <a:lnTo>
                    <a:pt x="164592" y="507491"/>
                  </a:lnTo>
                  <a:lnTo>
                    <a:pt x="176022" y="493013"/>
                  </a:lnTo>
                  <a:lnTo>
                    <a:pt x="182118" y="484631"/>
                  </a:lnTo>
                  <a:lnTo>
                    <a:pt x="188976" y="476250"/>
                  </a:lnTo>
                  <a:lnTo>
                    <a:pt x="195834" y="467105"/>
                  </a:lnTo>
                  <a:lnTo>
                    <a:pt x="201930" y="457961"/>
                  </a:lnTo>
                  <a:lnTo>
                    <a:pt x="214884" y="440435"/>
                  </a:lnTo>
                  <a:lnTo>
                    <a:pt x="239268" y="405383"/>
                  </a:lnTo>
                  <a:lnTo>
                    <a:pt x="250697" y="388619"/>
                  </a:lnTo>
                  <a:lnTo>
                    <a:pt x="261365" y="371093"/>
                  </a:lnTo>
                  <a:lnTo>
                    <a:pt x="266700" y="362712"/>
                  </a:lnTo>
                  <a:lnTo>
                    <a:pt x="280416" y="338327"/>
                  </a:lnTo>
                  <a:lnTo>
                    <a:pt x="288798" y="323088"/>
                  </a:lnTo>
                  <a:lnTo>
                    <a:pt x="297942" y="307848"/>
                  </a:lnTo>
                  <a:lnTo>
                    <a:pt x="307086" y="291845"/>
                  </a:lnTo>
                  <a:lnTo>
                    <a:pt x="326136" y="260603"/>
                  </a:lnTo>
                  <a:lnTo>
                    <a:pt x="345948" y="230123"/>
                  </a:lnTo>
                  <a:lnTo>
                    <a:pt x="355092" y="215645"/>
                  </a:lnTo>
                  <a:lnTo>
                    <a:pt x="359664" y="208787"/>
                  </a:lnTo>
                  <a:lnTo>
                    <a:pt x="381761" y="180593"/>
                  </a:lnTo>
                  <a:lnTo>
                    <a:pt x="389381" y="172973"/>
                  </a:lnTo>
                  <a:lnTo>
                    <a:pt x="404621" y="156209"/>
                  </a:lnTo>
                  <a:lnTo>
                    <a:pt x="440436" y="120395"/>
                  </a:lnTo>
                  <a:lnTo>
                    <a:pt x="445770" y="114300"/>
                  </a:lnTo>
                  <a:lnTo>
                    <a:pt x="457200" y="102869"/>
                  </a:lnTo>
                  <a:lnTo>
                    <a:pt x="462534" y="98297"/>
                  </a:lnTo>
                  <a:lnTo>
                    <a:pt x="473202" y="87629"/>
                  </a:lnTo>
                  <a:lnTo>
                    <a:pt x="476250" y="83819"/>
                  </a:lnTo>
                  <a:lnTo>
                    <a:pt x="478536" y="81533"/>
                  </a:lnTo>
                  <a:lnTo>
                    <a:pt x="480059" y="79247"/>
                  </a:lnTo>
                  <a:lnTo>
                    <a:pt x="480822" y="77723"/>
                  </a:lnTo>
                  <a:lnTo>
                    <a:pt x="482345" y="76961"/>
                  </a:lnTo>
                  <a:lnTo>
                    <a:pt x="483870" y="75437"/>
                  </a:lnTo>
                  <a:lnTo>
                    <a:pt x="484631" y="75437"/>
                  </a:lnTo>
                  <a:lnTo>
                    <a:pt x="486156" y="73914"/>
                  </a:lnTo>
                  <a:lnTo>
                    <a:pt x="487680" y="73151"/>
                  </a:lnTo>
                  <a:lnTo>
                    <a:pt x="489966" y="72389"/>
                  </a:lnTo>
                  <a:lnTo>
                    <a:pt x="502158" y="66293"/>
                  </a:lnTo>
                  <a:lnTo>
                    <a:pt x="509016" y="63245"/>
                  </a:lnTo>
                  <a:lnTo>
                    <a:pt x="516636" y="60197"/>
                  </a:lnTo>
                  <a:lnTo>
                    <a:pt x="522731" y="57150"/>
                  </a:lnTo>
                  <a:lnTo>
                    <a:pt x="529590" y="54864"/>
                  </a:lnTo>
                  <a:lnTo>
                    <a:pt x="532638" y="53339"/>
                  </a:lnTo>
                  <a:lnTo>
                    <a:pt x="542544" y="49529"/>
                  </a:lnTo>
                  <a:lnTo>
                    <a:pt x="547878" y="48006"/>
                  </a:lnTo>
                  <a:lnTo>
                    <a:pt x="553212" y="47243"/>
                  </a:lnTo>
                  <a:lnTo>
                    <a:pt x="556260" y="46481"/>
                  </a:lnTo>
                  <a:lnTo>
                    <a:pt x="560070" y="44957"/>
                  </a:lnTo>
                  <a:lnTo>
                    <a:pt x="576834" y="40386"/>
                  </a:lnTo>
                  <a:lnTo>
                    <a:pt x="584454" y="38861"/>
                  </a:lnTo>
                  <a:lnTo>
                    <a:pt x="586740" y="38100"/>
                  </a:lnTo>
                  <a:lnTo>
                    <a:pt x="594360" y="38100"/>
                  </a:lnTo>
                  <a:lnTo>
                    <a:pt x="604266" y="39623"/>
                  </a:lnTo>
                  <a:lnTo>
                    <a:pt x="606552" y="40386"/>
                  </a:lnTo>
                  <a:lnTo>
                    <a:pt x="610362" y="41147"/>
                  </a:lnTo>
                  <a:lnTo>
                    <a:pt x="614934" y="42671"/>
                  </a:lnTo>
                  <a:lnTo>
                    <a:pt x="618744" y="43433"/>
                  </a:lnTo>
                  <a:lnTo>
                    <a:pt x="622554" y="43433"/>
                  </a:lnTo>
                  <a:lnTo>
                    <a:pt x="628650" y="44957"/>
                  </a:lnTo>
                  <a:lnTo>
                    <a:pt x="632460" y="46481"/>
                  </a:lnTo>
                  <a:lnTo>
                    <a:pt x="636270" y="48767"/>
                  </a:lnTo>
                  <a:lnTo>
                    <a:pt x="638556" y="49529"/>
                  </a:lnTo>
                  <a:lnTo>
                    <a:pt x="642366" y="51815"/>
                  </a:lnTo>
                  <a:lnTo>
                    <a:pt x="645414" y="53339"/>
                  </a:lnTo>
                  <a:lnTo>
                    <a:pt x="654558" y="58673"/>
                  </a:lnTo>
                  <a:lnTo>
                    <a:pt x="659130" y="61721"/>
                  </a:lnTo>
                  <a:lnTo>
                    <a:pt x="669798" y="67817"/>
                  </a:lnTo>
                  <a:lnTo>
                    <a:pt x="691896" y="82295"/>
                  </a:lnTo>
                  <a:lnTo>
                    <a:pt x="702564" y="89915"/>
                  </a:lnTo>
                  <a:lnTo>
                    <a:pt x="711708" y="96011"/>
                  </a:lnTo>
                  <a:lnTo>
                    <a:pt x="715518" y="99059"/>
                  </a:lnTo>
                  <a:lnTo>
                    <a:pt x="719328" y="101345"/>
                  </a:lnTo>
                  <a:lnTo>
                    <a:pt x="726948" y="106679"/>
                  </a:lnTo>
                  <a:lnTo>
                    <a:pt x="733044" y="112775"/>
                  </a:lnTo>
                  <a:lnTo>
                    <a:pt x="734568" y="115061"/>
                  </a:lnTo>
                  <a:lnTo>
                    <a:pt x="736854" y="117347"/>
                  </a:lnTo>
                  <a:lnTo>
                    <a:pt x="739902" y="121157"/>
                  </a:lnTo>
                  <a:lnTo>
                    <a:pt x="742188" y="123443"/>
                  </a:lnTo>
                  <a:lnTo>
                    <a:pt x="743712" y="125729"/>
                  </a:lnTo>
                  <a:lnTo>
                    <a:pt x="748284" y="131063"/>
                  </a:lnTo>
                  <a:lnTo>
                    <a:pt x="752856" y="135635"/>
                  </a:lnTo>
                  <a:lnTo>
                    <a:pt x="757428" y="141731"/>
                  </a:lnTo>
                  <a:lnTo>
                    <a:pt x="783336" y="172973"/>
                  </a:lnTo>
                  <a:lnTo>
                    <a:pt x="789432" y="179831"/>
                  </a:lnTo>
                  <a:lnTo>
                    <a:pt x="795528" y="185927"/>
                  </a:lnTo>
                  <a:lnTo>
                    <a:pt x="808482" y="198119"/>
                  </a:lnTo>
                  <a:lnTo>
                    <a:pt x="820674" y="211073"/>
                  </a:lnTo>
                  <a:lnTo>
                    <a:pt x="849630" y="252221"/>
                  </a:lnTo>
                  <a:lnTo>
                    <a:pt x="858774" y="268223"/>
                  </a:lnTo>
                  <a:lnTo>
                    <a:pt x="869441" y="284987"/>
                  </a:lnTo>
                  <a:lnTo>
                    <a:pt x="902969" y="329945"/>
                  </a:lnTo>
                  <a:lnTo>
                    <a:pt x="908304" y="336803"/>
                  </a:lnTo>
                  <a:lnTo>
                    <a:pt x="918210" y="351281"/>
                  </a:lnTo>
                  <a:lnTo>
                    <a:pt x="922782" y="359663"/>
                  </a:lnTo>
                  <a:lnTo>
                    <a:pt x="942594" y="393191"/>
                  </a:lnTo>
                  <a:lnTo>
                    <a:pt x="947166" y="402335"/>
                  </a:lnTo>
                  <a:lnTo>
                    <a:pt x="953262" y="410717"/>
                  </a:lnTo>
                  <a:lnTo>
                    <a:pt x="963930" y="426719"/>
                  </a:lnTo>
                  <a:lnTo>
                    <a:pt x="976122" y="441959"/>
                  </a:lnTo>
                  <a:lnTo>
                    <a:pt x="986790" y="457199"/>
                  </a:lnTo>
                  <a:lnTo>
                    <a:pt x="997458" y="470915"/>
                  </a:lnTo>
                  <a:lnTo>
                    <a:pt x="1014984" y="494537"/>
                  </a:lnTo>
                  <a:lnTo>
                    <a:pt x="1045463" y="531113"/>
                  </a:lnTo>
                  <a:lnTo>
                    <a:pt x="1078230" y="560069"/>
                  </a:lnTo>
                  <a:lnTo>
                    <a:pt x="1089660" y="567690"/>
                  </a:lnTo>
                  <a:lnTo>
                    <a:pt x="1093470" y="570737"/>
                  </a:lnTo>
                  <a:lnTo>
                    <a:pt x="1098804" y="573023"/>
                  </a:lnTo>
                  <a:lnTo>
                    <a:pt x="1103376" y="575309"/>
                  </a:lnTo>
                  <a:lnTo>
                    <a:pt x="1112520" y="580643"/>
                  </a:lnTo>
                  <a:lnTo>
                    <a:pt x="1122426" y="585215"/>
                  </a:lnTo>
                  <a:lnTo>
                    <a:pt x="1126998" y="586740"/>
                  </a:lnTo>
                  <a:lnTo>
                    <a:pt x="1130808" y="589026"/>
                  </a:lnTo>
                  <a:lnTo>
                    <a:pt x="1134618" y="590549"/>
                  </a:lnTo>
                  <a:lnTo>
                    <a:pt x="1137666" y="592073"/>
                  </a:lnTo>
                  <a:lnTo>
                    <a:pt x="1140714" y="592835"/>
                  </a:lnTo>
                  <a:lnTo>
                    <a:pt x="1143000" y="594359"/>
                  </a:lnTo>
                  <a:lnTo>
                    <a:pt x="1143762" y="594359"/>
                  </a:lnTo>
                  <a:lnTo>
                    <a:pt x="1146810" y="596645"/>
                  </a:lnTo>
                  <a:lnTo>
                    <a:pt x="1151382" y="598931"/>
                  </a:lnTo>
                  <a:lnTo>
                    <a:pt x="1154430" y="601217"/>
                  </a:lnTo>
                  <a:lnTo>
                    <a:pt x="1160526" y="605027"/>
                  </a:lnTo>
                  <a:lnTo>
                    <a:pt x="1162050" y="606551"/>
                  </a:lnTo>
                  <a:lnTo>
                    <a:pt x="1163574" y="607313"/>
                  </a:lnTo>
                  <a:lnTo>
                    <a:pt x="1187196" y="577595"/>
                  </a:lnTo>
                  <a:close/>
                </a:path>
              </a:pathLst>
            </a:custGeom>
            <a:solidFill>
              <a:srgbClr val="FFCBFF"/>
            </a:solidFill>
          </p:spPr>
          <p:txBody>
            <a:bodyPr wrap="square" lIns="0" tIns="0" rIns="0" bIns="0" rtlCol="0"/>
            <a:lstStyle/>
            <a:p>
              <a:endParaRPr/>
            </a:p>
          </p:txBody>
        </p:sp>
        <p:sp>
          <p:nvSpPr>
            <p:cNvPr id="30" name="object 30"/>
            <p:cNvSpPr/>
            <p:nvPr/>
          </p:nvSpPr>
          <p:spPr>
            <a:xfrm>
              <a:off x="1324736" y="1333500"/>
              <a:ext cx="0" cy="3981450"/>
            </a:xfrm>
            <a:custGeom>
              <a:avLst/>
              <a:gdLst/>
              <a:ahLst/>
              <a:cxnLst/>
              <a:rect l="l" t="t" r="r" b="b"/>
              <a:pathLst>
                <a:path h="3981450">
                  <a:moveTo>
                    <a:pt x="0" y="0"/>
                  </a:moveTo>
                  <a:lnTo>
                    <a:pt x="0" y="3981450"/>
                  </a:lnTo>
                </a:path>
              </a:pathLst>
            </a:custGeom>
            <a:ln w="6858">
              <a:solidFill>
                <a:srgbClr val="000000"/>
              </a:solidFill>
              <a:prstDash val="sysDash"/>
            </a:ln>
          </p:spPr>
          <p:txBody>
            <a:bodyPr wrap="square" lIns="0" tIns="0" rIns="0" bIns="0" rtlCol="0"/>
            <a:lstStyle/>
            <a:p>
              <a:endParaRPr/>
            </a:p>
          </p:txBody>
        </p:sp>
        <p:sp>
          <p:nvSpPr>
            <p:cNvPr id="31" name="object 31"/>
            <p:cNvSpPr/>
            <p:nvPr/>
          </p:nvSpPr>
          <p:spPr>
            <a:xfrm>
              <a:off x="1910715" y="1333500"/>
              <a:ext cx="0" cy="3981450"/>
            </a:xfrm>
            <a:custGeom>
              <a:avLst/>
              <a:gdLst/>
              <a:ahLst/>
              <a:cxnLst/>
              <a:rect l="l" t="t" r="r" b="b"/>
              <a:pathLst>
                <a:path h="3981450">
                  <a:moveTo>
                    <a:pt x="0" y="0"/>
                  </a:moveTo>
                  <a:lnTo>
                    <a:pt x="0" y="3981450"/>
                  </a:lnTo>
                </a:path>
              </a:pathLst>
            </a:custGeom>
            <a:ln w="6857">
              <a:solidFill>
                <a:srgbClr val="000000"/>
              </a:solidFill>
              <a:prstDash val="sysDash"/>
            </a:ln>
          </p:spPr>
          <p:txBody>
            <a:bodyPr wrap="square" lIns="0" tIns="0" rIns="0" bIns="0" rtlCol="0"/>
            <a:lstStyle/>
            <a:p>
              <a:endParaRPr/>
            </a:p>
          </p:txBody>
        </p:sp>
        <p:sp>
          <p:nvSpPr>
            <p:cNvPr id="32" name="object 32"/>
            <p:cNvSpPr/>
            <p:nvPr/>
          </p:nvSpPr>
          <p:spPr>
            <a:xfrm>
              <a:off x="5068443" y="1268730"/>
              <a:ext cx="0" cy="4025900"/>
            </a:xfrm>
            <a:custGeom>
              <a:avLst/>
              <a:gdLst/>
              <a:ahLst/>
              <a:cxnLst/>
              <a:rect l="l" t="t" r="r" b="b"/>
              <a:pathLst>
                <a:path h="4025900">
                  <a:moveTo>
                    <a:pt x="0" y="0"/>
                  </a:moveTo>
                  <a:lnTo>
                    <a:pt x="0" y="4025646"/>
                  </a:lnTo>
                </a:path>
              </a:pathLst>
            </a:custGeom>
            <a:ln w="6857">
              <a:solidFill>
                <a:srgbClr val="000000"/>
              </a:solidFill>
              <a:prstDash val="sysDash"/>
            </a:ln>
          </p:spPr>
          <p:txBody>
            <a:bodyPr wrap="square" lIns="0" tIns="0" rIns="0" bIns="0" rtlCol="0"/>
            <a:lstStyle/>
            <a:p>
              <a:endParaRPr/>
            </a:p>
          </p:txBody>
        </p:sp>
        <p:sp>
          <p:nvSpPr>
            <p:cNvPr id="33" name="object 33"/>
            <p:cNvSpPr/>
            <p:nvPr/>
          </p:nvSpPr>
          <p:spPr>
            <a:xfrm>
              <a:off x="5065014" y="1268729"/>
              <a:ext cx="593090" cy="4050665"/>
            </a:xfrm>
            <a:custGeom>
              <a:avLst/>
              <a:gdLst/>
              <a:ahLst/>
              <a:cxnLst/>
              <a:rect l="l" t="t" r="r" b="b"/>
              <a:pathLst>
                <a:path w="593089" h="4050665">
                  <a:moveTo>
                    <a:pt x="6858" y="4044696"/>
                  </a:moveTo>
                  <a:lnTo>
                    <a:pt x="0" y="4044696"/>
                  </a:lnTo>
                  <a:lnTo>
                    <a:pt x="0" y="4050042"/>
                  </a:lnTo>
                  <a:lnTo>
                    <a:pt x="6858" y="4050042"/>
                  </a:lnTo>
                  <a:lnTo>
                    <a:pt x="6858" y="4044696"/>
                  </a:lnTo>
                  <a:close/>
                </a:path>
                <a:path w="593089" h="4050665">
                  <a:moveTo>
                    <a:pt x="592836" y="0"/>
                  </a:moveTo>
                  <a:lnTo>
                    <a:pt x="585965" y="0"/>
                  </a:lnTo>
                  <a:lnTo>
                    <a:pt x="585965" y="25908"/>
                  </a:lnTo>
                  <a:lnTo>
                    <a:pt x="592836" y="25908"/>
                  </a:lnTo>
                  <a:lnTo>
                    <a:pt x="592836" y="0"/>
                  </a:lnTo>
                  <a:close/>
                </a:path>
              </a:pathLst>
            </a:custGeom>
            <a:solidFill>
              <a:srgbClr val="000000"/>
            </a:solidFill>
          </p:spPr>
          <p:txBody>
            <a:bodyPr wrap="square" lIns="0" tIns="0" rIns="0" bIns="0" rtlCol="0"/>
            <a:lstStyle/>
            <a:p>
              <a:endParaRPr/>
            </a:p>
          </p:txBody>
        </p:sp>
        <p:sp>
          <p:nvSpPr>
            <p:cNvPr id="34" name="object 34"/>
            <p:cNvSpPr/>
            <p:nvPr/>
          </p:nvSpPr>
          <p:spPr>
            <a:xfrm>
              <a:off x="5654421" y="1313688"/>
              <a:ext cx="0" cy="3980815"/>
            </a:xfrm>
            <a:custGeom>
              <a:avLst/>
              <a:gdLst/>
              <a:ahLst/>
              <a:cxnLst/>
              <a:rect l="l" t="t" r="r" b="b"/>
              <a:pathLst>
                <a:path h="3980815">
                  <a:moveTo>
                    <a:pt x="0" y="0"/>
                  </a:moveTo>
                  <a:lnTo>
                    <a:pt x="0" y="3980688"/>
                  </a:lnTo>
                </a:path>
              </a:pathLst>
            </a:custGeom>
            <a:ln w="6858">
              <a:solidFill>
                <a:srgbClr val="000000"/>
              </a:solidFill>
              <a:prstDash val="sysDash"/>
            </a:ln>
          </p:spPr>
          <p:txBody>
            <a:bodyPr wrap="square" lIns="0" tIns="0" rIns="0" bIns="0" rtlCol="0"/>
            <a:lstStyle/>
            <a:p>
              <a:endParaRPr/>
            </a:p>
          </p:txBody>
        </p:sp>
        <p:sp>
          <p:nvSpPr>
            <p:cNvPr id="35" name="object 35"/>
            <p:cNvSpPr/>
            <p:nvPr/>
          </p:nvSpPr>
          <p:spPr>
            <a:xfrm>
              <a:off x="2269998" y="1817369"/>
              <a:ext cx="3388360" cy="3502025"/>
            </a:xfrm>
            <a:custGeom>
              <a:avLst/>
              <a:gdLst/>
              <a:ahLst/>
              <a:cxnLst/>
              <a:rect l="l" t="t" r="r" b="b"/>
              <a:pathLst>
                <a:path w="3388360" h="3502025">
                  <a:moveTo>
                    <a:pt x="537972" y="1648968"/>
                  </a:moveTo>
                  <a:lnTo>
                    <a:pt x="412242" y="1690878"/>
                  </a:lnTo>
                  <a:lnTo>
                    <a:pt x="430885" y="1717255"/>
                  </a:lnTo>
                  <a:lnTo>
                    <a:pt x="1524" y="2022348"/>
                  </a:lnTo>
                  <a:lnTo>
                    <a:pt x="8382" y="2032254"/>
                  </a:lnTo>
                  <a:lnTo>
                    <a:pt x="438099" y="1727441"/>
                  </a:lnTo>
                  <a:lnTo>
                    <a:pt x="448818" y="1742592"/>
                  </a:lnTo>
                  <a:lnTo>
                    <a:pt x="456438" y="1753362"/>
                  </a:lnTo>
                  <a:lnTo>
                    <a:pt x="537972" y="1648968"/>
                  </a:lnTo>
                  <a:close/>
                </a:path>
                <a:path w="3388360" h="3502025">
                  <a:moveTo>
                    <a:pt x="537972" y="1553718"/>
                  </a:moveTo>
                  <a:lnTo>
                    <a:pt x="456438" y="1449324"/>
                  </a:lnTo>
                  <a:lnTo>
                    <a:pt x="438302" y="1474647"/>
                  </a:lnTo>
                  <a:lnTo>
                    <a:pt x="8382" y="1169670"/>
                  </a:lnTo>
                  <a:lnTo>
                    <a:pt x="1524" y="1180338"/>
                  </a:lnTo>
                  <a:lnTo>
                    <a:pt x="430682" y="1485290"/>
                  </a:lnTo>
                  <a:lnTo>
                    <a:pt x="412242" y="1511046"/>
                  </a:lnTo>
                  <a:lnTo>
                    <a:pt x="448818" y="1523466"/>
                  </a:lnTo>
                  <a:lnTo>
                    <a:pt x="537972" y="1553718"/>
                  </a:lnTo>
                  <a:close/>
                </a:path>
                <a:path w="3388360" h="3502025">
                  <a:moveTo>
                    <a:pt x="660654" y="2158746"/>
                  </a:moveTo>
                  <a:lnTo>
                    <a:pt x="562356" y="2247138"/>
                  </a:lnTo>
                  <a:lnTo>
                    <a:pt x="589457" y="2263737"/>
                  </a:lnTo>
                  <a:lnTo>
                    <a:pt x="0" y="3227832"/>
                  </a:lnTo>
                  <a:lnTo>
                    <a:pt x="10668" y="3234690"/>
                  </a:lnTo>
                  <a:lnTo>
                    <a:pt x="599948" y="2270137"/>
                  </a:lnTo>
                  <a:lnTo>
                    <a:pt x="606552" y="2274176"/>
                  </a:lnTo>
                  <a:lnTo>
                    <a:pt x="627126" y="2286762"/>
                  </a:lnTo>
                  <a:lnTo>
                    <a:pt x="660654" y="2158746"/>
                  </a:lnTo>
                  <a:close/>
                </a:path>
                <a:path w="3388360" h="3502025">
                  <a:moveTo>
                    <a:pt x="2375154" y="2022348"/>
                  </a:moveTo>
                  <a:lnTo>
                    <a:pt x="1945017" y="1717243"/>
                  </a:lnTo>
                  <a:lnTo>
                    <a:pt x="1963674" y="1690878"/>
                  </a:lnTo>
                  <a:lnTo>
                    <a:pt x="1837944" y="1648968"/>
                  </a:lnTo>
                  <a:lnTo>
                    <a:pt x="1919478" y="1753362"/>
                  </a:lnTo>
                  <a:lnTo>
                    <a:pt x="1927860" y="1741512"/>
                  </a:lnTo>
                  <a:lnTo>
                    <a:pt x="1938058" y="1727085"/>
                  </a:lnTo>
                  <a:lnTo>
                    <a:pt x="2367534" y="2032254"/>
                  </a:lnTo>
                  <a:lnTo>
                    <a:pt x="2375154" y="2022348"/>
                  </a:lnTo>
                  <a:close/>
                </a:path>
                <a:path w="3388360" h="3502025">
                  <a:moveTo>
                    <a:pt x="2375154" y="1180338"/>
                  </a:moveTo>
                  <a:lnTo>
                    <a:pt x="2367534" y="1169670"/>
                  </a:lnTo>
                  <a:lnTo>
                    <a:pt x="1937842" y="1474990"/>
                  </a:lnTo>
                  <a:lnTo>
                    <a:pt x="1919478" y="1449324"/>
                  </a:lnTo>
                  <a:lnTo>
                    <a:pt x="1837944" y="1553718"/>
                  </a:lnTo>
                  <a:lnTo>
                    <a:pt x="1927860" y="1523212"/>
                  </a:lnTo>
                  <a:lnTo>
                    <a:pt x="1963674" y="1511046"/>
                  </a:lnTo>
                  <a:lnTo>
                    <a:pt x="1945233" y="1485303"/>
                  </a:lnTo>
                  <a:lnTo>
                    <a:pt x="2375154" y="1180338"/>
                  </a:lnTo>
                  <a:close/>
                </a:path>
                <a:path w="3388360" h="3502025">
                  <a:moveTo>
                    <a:pt x="2499360" y="3227832"/>
                  </a:moveTo>
                  <a:lnTo>
                    <a:pt x="1909889" y="2263737"/>
                  </a:lnTo>
                  <a:lnTo>
                    <a:pt x="1937004" y="2247138"/>
                  </a:lnTo>
                  <a:lnTo>
                    <a:pt x="1837944" y="2158746"/>
                  </a:lnTo>
                  <a:lnTo>
                    <a:pt x="1872234" y="2286762"/>
                  </a:lnTo>
                  <a:lnTo>
                    <a:pt x="1892808" y="2274176"/>
                  </a:lnTo>
                  <a:lnTo>
                    <a:pt x="1899399" y="2270137"/>
                  </a:lnTo>
                  <a:lnTo>
                    <a:pt x="2488692" y="3234690"/>
                  </a:lnTo>
                  <a:lnTo>
                    <a:pt x="2499360" y="3227832"/>
                  </a:lnTo>
                  <a:close/>
                </a:path>
                <a:path w="3388360" h="3502025">
                  <a:moveTo>
                    <a:pt x="2499360" y="6096"/>
                  </a:moveTo>
                  <a:lnTo>
                    <a:pt x="2488692" y="0"/>
                  </a:lnTo>
                  <a:lnTo>
                    <a:pt x="1899272" y="964031"/>
                  </a:lnTo>
                  <a:lnTo>
                    <a:pt x="1872234" y="947166"/>
                  </a:lnTo>
                  <a:lnTo>
                    <a:pt x="1837944" y="1075944"/>
                  </a:lnTo>
                  <a:lnTo>
                    <a:pt x="1892808" y="1026998"/>
                  </a:lnTo>
                  <a:lnTo>
                    <a:pt x="1937004" y="987552"/>
                  </a:lnTo>
                  <a:lnTo>
                    <a:pt x="1910016" y="970737"/>
                  </a:lnTo>
                  <a:lnTo>
                    <a:pt x="2499360" y="6096"/>
                  </a:lnTo>
                  <a:close/>
                </a:path>
                <a:path w="3388360" h="3502025">
                  <a:moveTo>
                    <a:pt x="3387852" y="3496056"/>
                  </a:moveTo>
                  <a:lnTo>
                    <a:pt x="3380981" y="3496056"/>
                  </a:lnTo>
                  <a:lnTo>
                    <a:pt x="3380981" y="3501402"/>
                  </a:lnTo>
                  <a:lnTo>
                    <a:pt x="3387852" y="3501402"/>
                  </a:lnTo>
                  <a:lnTo>
                    <a:pt x="3387852" y="3496056"/>
                  </a:lnTo>
                  <a:close/>
                </a:path>
              </a:pathLst>
            </a:custGeom>
            <a:solidFill>
              <a:srgbClr val="000000"/>
            </a:solidFill>
          </p:spPr>
          <p:txBody>
            <a:bodyPr wrap="square" lIns="0" tIns="0" rIns="0" bIns="0" rtlCol="0"/>
            <a:lstStyle/>
            <a:p>
              <a:endParaRPr/>
            </a:p>
          </p:txBody>
        </p:sp>
        <p:sp>
          <p:nvSpPr>
            <p:cNvPr id="36" name="object 36"/>
            <p:cNvSpPr/>
            <p:nvPr/>
          </p:nvSpPr>
          <p:spPr>
            <a:xfrm>
              <a:off x="3194303" y="2978657"/>
              <a:ext cx="558165" cy="880110"/>
            </a:xfrm>
            <a:custGeom>
              <a:avLst/>
              <a:gdLst/>
              <a:ahLst/>
              <a:cxnLst/>
              <a:rect l="l" t="t" r="r" b="b"/>
              <a:pathLst>
                <a:path w="558164" h="880110">
                  <a:moveTo>
                    <a:pt x="0" y="4572"/>
                  </a:moveTo>
                  <a:lnTo>
                    <a:pt x="0" y="880110"/>
                  </a:lnTo>
                </a:path>
                <a:path w="558164" h="880110">
                  <a:moveTo>
                    <a:pt x="557783" y="0"/>
                  </a:moveTo>
                  <a:lnTo>
                    <a:pt x="557783" y="876300"/>
                  </a:lnTo>
                </a:path>
              </a:pathLst>
            </a:custGeom>
            <a:ln w="38100">
              <a:solidFill>
                <a:srgbClr val="FF0000"/>
              </a:solidFill>
              <a:prstDash val="sysDash"/>
            </a:ln>
          </p:spPr>
          <p:txBody>
            <a:bodyPr wrap="square" lIns="0" tIns="0" rIns="0" bIns="0" rtlCol="0"/>
            <a:lstStyle/>
            <a:p>
              <a:endParaRPr/>
            </a:p>
          </p:txBody>
        </p:sp>
      </p:grpSp>
      <p:sp>
        <p:nvSpPr>
          <p:cNvPr id="37" name="object 37"/>
          <p:cNvSpPr txBox="1"/>
          <p:nvPr/>
        </p:nvSpPr>
        <p:spPr>
          <a:xfrm>
            <a:off x="7453114" y="4177538"/>
            <a:ext cx="2459990" cy="630555"/>
          </a:xfrm>
          <a:prstGeom prst="rect">
            <a:avLst/>
          </a:prstGeom>
        </p:spPr>
        <p:txBody>
          <a:bodyPr vert="horz" wrap="square" lIns="0" tIns="12065" rIns="0" bIns="0" rtlCol="0">
            <a:spAutoFit/>
          </a:bodyPr>
          <a:lstStyle/>
          <a:p>
            <a:pPr algn="ctr">
              <a:lnSpc>
                <a:spcPts val="2380"/>
              </a:lnSpc>
              <a:spcBef>
                <a:spcPts val="95"/>
              </a:spcBef>
            </a:pPr>
            <a:r>
              <a:rPr sz="2000" dirty="0">
                <a:solidFill>
                  <a:srgbClr val="FF0000"/>
                </a:solidFill>
                <a:latin typeface="Verdana"/>
                <a:cs typeface="Verdana"/>
              </a:rPr>
              <a:t>1</a:t>
            </a:r>
            <a:r>
              <a:rPr sz="2000" i="1" dirty="0">
                <a:solidFill>
                  <a:srgbClr val="FF0000"/>
                </a:solidFill>
                <a:latin typeface="Verdana"/>
                <a:cs typeface="Verdana"/>
              </a:rPr>
              <a:t>T</a:t>
            </a:r>
            <a:r>
              <a:rPr sz="1950" baseline="-21367" dirty="0">
                <a:solidFill>
                  <a:srgbClr val="FF0000"/>
                </a:solidFill>
                <a:latin typeface="Verdana"/>
                <a:cs typeface="Verdana"/>
              </a:rPr>
              <a:t>bit </a:t>
            </a:r>
            <a:r>
              <a:rPr sz="2000" spc="-20" dirty="0">
                <a:solidFill>
                  <a:srgbClr val="FF0000"/>
                </a:solidFill>
                <a:latin typeface="Verdana"/>
                <a:cs typeface="Verdana"/>
              </a:rPr>
              <a:t>=1UI</a:t>
            </a:r>
            <a:endParaRPr sz="2000">
              <a:latin typeface="Verdana"/>
              <a:cs typeface="Verdana"/>
            </a:endParaRPr>
          </a:p>
          <a:p>
            <a:pPr algn="ctr">
              <a:lnSpc>
                <a:spcPts val="2380"/>
              </a:lnSpc>
            </a:pPr>
            <a:r>
              <a:rPr sz="2000" dirty="0">
                <a:solidFill>
                  <a:srgbClr val="FF0000"/>
                </a:solidFill>
                <a:latin typeface="Verdana"/>
                <a:cs typeface="Verdana"/>
              </a:rPr>
              <a:t>(UI</a:t>
            </a:r>
            <a:r>
              <a:rPr sz="2000" spc="-25" dirty="0">
                <a:solidFill>
                  <a:srgbClr val="FF0000"/>
                </a:solidFill>
                <a:latin typeface="Verdana"/>
                <a:cs typeface="Verdana"/>
              </a:rPr>
              <a:t> </a:t>
            </a:r>
            <a:r>
              <a:rPr sz="2000" dirty="0">
                <a:solidFill>
                  <a:srgbClr val="FF0000"/>
                </a:solidFill>
                <a:latin typeface="Microsoft Sans Serif"/>
                <a:cs typeface="Microsoft Sans Serif"/>
              </a:rPr>
              <a:t>≡</a:t>
            </a:r>
            <a:r>
              <a:rPr sz="2000" spc="145" dirty="0">
                <a:solidFill>
                  <a:srgbClr val="FF0000"/>
                </a:solidFill>
                <a:latin typeface="Microsoft Sans Serif"/>
                <a:cs typeface="Microsoft Sans Serif"/>
              </a:rPr>
              <a:t> </a:t>
            </a:r>
            <a:r>
              <a:rPr sz="2000" dirty="0">
                <a:solidFill>
                  <a:srgbClr val="FF0000"/>
                </a:solidFill>
                <a:latin typeface="Verdana"/>
                <a:cs typeface="Verdana"/>
              </a:rPr>
              <a:t>unit</a:t>
            </a:r>
            <a:r>
              <a:rPr sz="2000" spc="-30" dirty="0">
                <a:solidFill>
                  <a:srgbClr val="FF0000"/>
                </a:solidFill>
                <a:latin typeface="Verdana"/>
                <a:cs typeface="Verdana"/>
              </a:rPr>
              <a:t> </a:t>
            </a:r>
            <a:r>
              <a:rPr sz="2000" spc="-10" dirty="0">
                <a:solidFill>
                  <a:srgbClr val="FF0000"/>
                </a:solidFill>
                <a:latin typeface="Verdana"/>
                <a:cs typeface="Verdana"/>
              </a:rPr>
              <a:t>interval)</a:t>
            </a:r>
            <a:endParaRPr sz="2000">
              <a:latin typeface="Verdana"/>
              <a:cs typeface="Verdana"/>
            </a:endParaRPr>
          </a:p>
        </p:txBody>
      </p:sp>
      <p:sp>
        <p:nvSpPr>
          <p:cNvPr id="38" name="object 38"/>
          <p:cNvSpPr txBox="1"/>
          <p:nvPr/>
        </p:nvSpPr>
        <p:spPr>
          <a:xfrm>
            <a:off x="2814827" y="4224020"/>
            <a:ext cx="1336040" cy="330200"/>
          </a:xfrm>
          <a:prstGeom prst="rect">
            <a:avLst/>
          </a:prstGeom>
        </p:spPr>
        <p:txBody>
          <a:bodyPr vert="horz" wrap="square" lIns="0" tIns="12065" rIns="0" bIns="0" rtlCol="0">
            <a:spAutoFit/>
          </a:bodyPr>
          <a:lstStyle/>
          <a:p>
            <a:pPr marL="38100">
              <a:lnSpc>
                <a:spcPct val="100000"/>
              </a:lnSpc>
              <a:spcBef>
                <a:spcPts val="95"/>
              </a:spcBef>
            </a:pPr>
            <a:r>
              <a:rPr sz="2000" dirty="0">
                <a:solidFill>
                  <a:srgbClr val="FF0000"/>
                </a:solidFill>
                <a:latin typeface="Verdana"/>
                <a:cs typeface="Verdana"/>
              </a:rPr>
              <a:t>1</a:t>
            </a:r>
            <a:r>
              <a:rPr sz="2000" i="1" dirty="0">
                <a:solidFill>
                  <a:srgbClr val="FF0000"/>
                </a:solidFill>
                <a:latin typeface="Verdana"/>
                <a:cs typeface="Verdana"/>
              </a:rPr>
              <a:t>T</a:t>
            </a:r>
            <a:r>
              <a:rPr sz="1950" baseline="-21367" dirty="0">
                <a:solidFill>
                  <a:srgbClr val="FF0000"/>
                </a:solidFill>
                <a:latin typeface="Verdana"/>
                <a:cs typeface="Verdana"/>
              </a:rPr>
              <a:t>bit </a:t>
            </a:r>
            <a:r>
              <a:rPr sz="2000" spc="-20" dirty="0">
                <a:solidFill>
                  <a:srgbClr val="FF0000"/>
                </a:solidFill>
                <a:latin typeface="Verdana"/>
                <a:cs typeface="Verdana"/>
              </a:rPr>
              <a:t>=1UI</a:t>
            </a:r>
            <a:endParaRPr sz="2000">
              <a:latin typeface="Verdana"/>
              <a:cs typeface="Verdana"/>
            </a:endParaRPr>
          </a:p>
        </p:txBody>
      </p:sp>
      <p:grpSp>
        <p:nvGrpSpPr>
          <p:cNvPr id="39" name="object 39"/>
          <p:cNvGrpSpPr/>
          <p:nvPr/>
        </p:nvGrpSpPr>
        <p:grpSpPr>
          <a:xfrm>
            <a:off x="2687681" y="3049523"/>
            <a:ext cx="1405890" cy="750570"/>
            <a:chOff x="2687681" y="3049523"/>
            <a:chExt cx="1405890" cy="750570"/>
          </a:xfrm>
        </p:grpSpPr>
        <p:sp>
          <p:nvSpPr>
            <p:cNvPr id="40" name="object 40"/>
            <p:cNvSpPr/>
            <p:nvPr/>
          </p:nvSpPr>
          <p:spPr>
            <a:xfrm>
              <a:off x="2878073" y="3049523"/>
              <a:ext cx="1215390" cy="38100"/>
            </a:xfrm>
            <a:custGeom>
              <a:avLst/>
              <a:gdLst/>
              <a:ahLst/>
              <a:cxnLst/>
              <a:rect l="l" t="t" r="r" b="b"/>
              <a:pathLst>
                <a:path w="1215389" h="38100">
                  <a:moveTo>
                    <a:pt x="1215389" y="38099"/>
                  </a:moveTo>
                  <a:lnTo>
                    <a:pt x="1215389" y="0"/>
                  </a:lnTo>
                  <a:lnTo>
                    <a:pt x="0" y="0"/>
                  </a:lnTo>
                  <a:lnTo>
                    <a:pt x="0" y="38100"/>
                  </a:lnTo>
                  <a:lnTo>
                    <a:pt x="1215389" y="38099"/>
                  </a:lnTo>
                  <a:close/>
                </a:path>
              </a:pathLst>
            </a:custGeom>
            <a:solidFill>
              <a:srgbClr val="00AFEF"/>
            </a:solidFill>
          </p:spPr>
          <p:txBody>
            <a:bodyPr wrap="square" lIns="0" tIns="0" rIns="0" bIns="0" rtlCol="0"/>
            <a:lstStyle/>
            <a:p>
              <a:endParaRPr/>
            </a:p>
          </p:txBody>
        </p:sp>
        <p:sp>
          <p:nvSpPr>
            <p:cNvPr id="41" name="object 41"/>
            <p:cNvSpPr/>
            <p:nvPr/>
          </p:nvSpPr>
          <p:spPr>
            <a:xfrm>
              <a:off x="2687675" y="3052571"/>
              <a:ext cx="1359535" cy="748030"/>
            </a:xfrm>
            <a:custGeom>
              <a:avLst/>
              <a:gdLst/>
              <a:ahLst/>
              <a:cxnLst/>
              <a:rect l="l" t="t" r="r" b="b"/>
              <a:pathLst>
                <a:path w="1359535" h="748029">
                  <a:moveTo>
                    <a:pt x="133134" y="244754"/>
                  </a:moveTo>
                  <a:lnTo>
                    <a:pt x="132486" y="236982"/>
                  </a:lnTo>
                  <a:lnTo>
                    <a:pt x="66192" y="0"/>
                  </a:lnTo>
                  <a:lnTo>
                    <a:pt x="660" y="236982"/>
                  </a:lnTo>
                  <a:lnTo>
                    <a:pt x="0" y="244754"/>
                  </a:lnTo>
                  <a:lnTo>
                    <a:pt x="2273" y="251650"/>
                  </a:lnTo>
                  <a:lnTo>
                    <a:pt x="6972" y="257136"/>
                  </a:lnTo>
                  <a:lnTo>
                    <a:pt x="13614" y="260604"/>
                  </a:lnTo>
                  <a:lnTo>
                    <a:pt x="21043" y="261264"/>
                  </a:lnTo>
                  <a:lnTo>
                    <a:pt x="27990" y="258991"/>
                  </a:lnTo>
                  <a:lnTo>
                    <a:pt x="33642" y="254292"/>
                  </a:lnTo>
                  <a:lnTo>
                    <a:pt x="37236" y="247650"/>
                  </a:lnTo>
                  <a:lnTo>
                    <a:pt x="47142" y="211709"/>
                  </a:lnTo>
                  <a:lnTo>
                    <a:pt x="47142" y="535825"/>
                  </a:lnTo>
                  <a:lnTo>
                    <a:pt x="66332" y="605497"/>
                  </a:lnTo>
                  <a:lnTo>
                    <a:pt x="37236" y="499872"/>
                  </a:lnTo>
                  <a:lnTo>
                    <a:pt x="33642" y="493242"/>
                  </a:lnTo>
                  <a:lnTo>
                    <a:pt x="27990" y="488543"/>
                  </a:lnTo>
                  <a:lnTo>
                    <a:pt x="21043" y="486270"/>
                  </a:lnTo>
                  <a:lnTo>
                    <a:pt x="13614" y="486918"/>
                  </a:lnTo>
                  <a:lnTo>
                    <a:pt x="6972" y="490397"/>
                  </a:lnTo>
                  <a:lnTo>
                    <a:pt x="2273" y="495884"/>
                  </a:lnTo>
                  <a:lnTo>
                    <a:pt x="0" y="502780"/>
                  </a:lnTo>
                  <a:lnTo>
                    <a:pt x="660" y="510540"/>
                  </a:lnTo>
                  <a:lnTo>
                    <a:pt x="47142" y="678637"/>
                  </a:lnTo>
                  <a:lnTo>
                    <a:pt x="66192" y="747522"/>
                  </a:lnTo>
                  <a:lnTo>
                    <a:pt x="85242" y="679424"/>
                  </a:lnTo>
                  <a:lnTo>
                    <a:pt x="132486" y="510540"/>
                  </a:lnTo>
                  <a:lnTo>
                    <a:pt x="133134" y="502780"/>
                  </a:lnTo>
                  <a:lnTo>
                    <a:pt x="130860" y="495884"/>
                  </a:lnTo>
                  <a:lnTo>
                    <a:pt x="126161" y="490397"/>
                  </a:lnTo>
                  <a:lnTo>
                    <a:pt x="119532" y="486918"/>
                  </a:lnTo>
                  <a:lnTo>
                    <a:pt x="111658" y="486270"/>
                  </a:lnTo>
                  <a:lnTo>
                    <a:pt x="104571" y="488543"/>
                  </a:lnTo>
                  <a:lnTo>
                    <a:pt x="99060" y="493242"/>
                  </a:lnTo>
                  <a:lnTo>
                    <a:pt x="95910" y="499872"/>
                  </a:lnTo>
                  <a:lnTo>
                    <a:pt x="85242" y="537972"/>
                  </a:lnTo>
                  <a:lnTo>
                    <a:pt x="85242" y="209550"/>
                  </a:lnTo>
                  <a:lnTo>
                    <a:pt x="95910" y="247650"/>
                  </a:lnTo>
                  <a:lnTo>
                    <a:pt x="99060" y="254292"/>
                  </a:lnTo>
                  <a:lnTo>
                    <a:pt x="104571" y="258991"/>
                  </a:lnTo>
                  <a:lnTo>
                    <a:pt x="111658" y="261264"/>
                  </a:lnTo>
                  <a:lnTo>
                    <a:pt x="119532" y="260604"/>
                  </a:lnTo>
                  <a:lnTo>
                    <a:pt x="126161" y="257136"/>
                  </a:lnTo>
                  <a:lnTo>
                    <a:pt x="130860" y="251663"/>
                  </a:lnTo>
                  <a:lnTo>
                    <a:pt x="133134" y="244754"/>
                  </a:lnTo>
                  <a:close/>
                </a:path>
                <a:path w="1359535" h="748029">
                  <a:moveTo>
                    <a:pt x="1359293" y="678180"/>
                  </a:moveTo>
                  <a:lnTo>
                    <a:pt x="234594" y="678180"/>
                  </a:lnTo>
                  <a:lnTo>
                    <a:pt x="234594" y="716280"/>
                  </a:lnTo>
                  <a:lnTo>
                    <a:pt x="1359293" y="716280"/>
                  </a:lnTo>
                  <a:lnTo>
                    <a:pt x="1359293" y="678180"/>
                  </a:lnTo>
                  <a:close/>
                </a:path>
              </a:pathLst>
            </a:custGeom>
            <a:solidFill>
              <a:srgbClr val="0000FF"/>
            </a:solidFill>
          </p:spPr>
          <p:txBody>
            <a:bodyPr wrap="square" lIns="0" tIns="0" rIns="0" bIns="0" rtlCol="0"/>
            <a:lstStyle/>
            <a:p>
              <a:endParaRPr/>
            </a:p>
          </p:txBody>
        </p:sp>
      </p:grpSp>
      <p:sp>
        <p:nvSpPr>
          <p:cNvPr id="42" name="object 42"/>
          <p:cNvSpPr txBox="1"/>
          <p:nvPr/>
        </p:nvSpPr>
        <p:spPr>
          <a:xfrm>
            <a:off x="10999723" y="2773172"/>
            <a:ext cx="793750" cy="1160780"/>
          </a:xfrm>
          <a:prstGeom prst="rect">
            <a:avLst/>
          </a:prstGeom>
        </p:spPr>
        <p:txBody>
          <a:bodyPr vert="horz" wrap="square" lIns="0" tIns="12065" rIns="0" bIns="0" rtlCol="0">
            <a:spAutoFit/>
          </a:bodyPr>
          <a:lstStyle/>
          <a:p>
            <a:pPr marL="12700">
              <a:lnSpc>
                <a:spcPts val="2290"/>
              </a:lnSpc>
              <a:spcBef>
                <a:spcPts val="95"/>
              </a:spcBef>
              <a:tabLst>
                <a:tab pos="619125" algn="l"/>
              </a:tabLst>
            </a:pPr>
            <a:r>
              <a:rPr sz="2000" spc="-50" dirty="0">
                <a:solidFill>
                  <a:srgbClr val="0000FF"/>
                </a:solidFill>
                <a:latin typeface="Verdana"/>
                <a:cs typeface="Verdana"/>
              </a:rPr>
              <a:t>1</a:t>
            </a:r>
            <a:r>
              <a:rPr sz="2000" dirty="0">
                <a:solidFill>
                  <a:srgbClr val="0000FF"/>
                </a:solidFill>
                <a:latin typeface="Verdana"/>
                <a:cs typeface="Verdana"/>
              </a:rPr>
              <a:t>	</a:t>
            </a:r>
            <a:r>
              <a:rPr sz="2000" spc="-50" dirty="0">
                <a:solidFill>
                  <a:srgbClr val="0000FF"/>
                </a:solidFill>
                <a:latin typeface="Verdana"/>
                <a:cs typeface="Verdana"/>
              </a:rPr>
              <a:t>1</a:t>
            </a:r>
            <a:endParaRPr sz="2000" dirty="0">
              <a:latin typeface="Verdana"/>
              <a:cs typeface="Verdana"/>
            </a:endParaRPr>
          </a:p>
          <a:p>
            <a:pPr marL="12700">
              <a:lnSpc>
                <a:spcPts val="2180"/>
              </a:lnSpc>
              <a:tabLst>
                <a:tab pos="619125" algn="l"/>
              </a:tabLst>
            </a:pPr>
            <a:r>
              <a:rPr sz="2000" spc="-50" dirty="0">
                <a:solidFill>
                  <a:srgbClr val="0000FF"/>
                </a:solidFill>
                <a:latin typeface="Verdana"/>
                <a:cs typeface="Verdana"/>
              </a:rPr>
              <a:t>1</a:t>
            </a:r>
            <a:r>
              <a:rPr sz="2000" dirty="0">
                <a:solidFill>
                  <a:srgbClr val="0000FF"/>
                </a:solidFill>
                <a:latin typeface="Verdana"/>
                <a:cs typeface="Verdana"/>
              </a:rPr>
              <a:t>	</a:t>
            </a:r>
            <a:r>
              <a:rPr sz="2000" spc="-50" dirty="0">
                <a:solidFill>
                  <a:srgbClr val="0000FF"/>
                </a:solidFill>
                <a:latin typeface="Verdana"/>
                <a:cs typeface="Verdana"/>
              </a:rPr>
              <a:t>0</a:t>
            </a:r>
            <a:endParaRPr sz="2000" dirty="0">
              <a:latin typeface="Verdana"/>
              <a:cs typeface="Verdana"/>
            </a:endParaRPr>
          </a:p>
          <a:p>
            <a:pPr marL="12700">
              <a:lnSpc>
                <a:spcPts val="2180"/>
              </a:lnSpc>
              <a:tabLst>
                <a:tab pos="619125" algn="l"/>
              </a:tabLst>
            </a:pPr>
            <a:r>
              <a:rPr sz="2000" spc="-50" dirty="0">
                <a:solidFill>
                  <a:srgbClr val="0000FF"/>
                </a:solidFill>
                <a:latin typeface="Verdana"/>
                <a:cs typeface="Verdana"/>
              </a:rPr>
              <a:t>0</a:t>
            </a:r>
            <a:r>
              <a:rPr sz="2000" dirty="0">
                <a:solidFill>
                  <a:srgbClr val="0000FF"/>
                </a:solidFill>
                <a:latin typeface="Verdana"/>
                <a:cs typeface="Verdana"/>
              </a:rPr>
              <a:t>	</a:t>
            </a:r>
            <a:r>
              <a:rPr sz="2000" spc="-50" dirty="0">
                <a:solidFill>
                  <a:srgbClr val="0000FF"/>
                </a:solidFill>
                <a:latin typeface="Verdana"/>
                <a:cs typeface="Verdana"/>
              </a:rPr>
              <a:t>1</a:t>
            </a:r>
            <a:endParaRPr sz="2000" dirty="0">
              <a:latin typeface="Verdana"/>
              <a:cs typeface="Verdana"/>
            </a:endParaRPr>
          </a:p>
          <a:p>
            <a:pPr marL="12700">
              <a:lnSpc>
                <a:spcPts val="2290"/>
              </a:lnSpc>
              <a:tabLst>
                <a:tab pos="619125" algn="l"/>
              </a:tabLst>
            </a:pPr>
            <a:r>
              <a:rPr sz="2000" spc="-50" dirty="0">
                <a:solidFill>
                  <a:srgbClr val="0000FF"/>
                </a:solidFill>
                <a:latin typeface="Verdana"/>
                <a:cs typeface="Verdana"/>
              </a:rPr>
              <a:t>0</a:t>
            </a:r>
            <a:r>
              <a:rPr sz="2000" dirty="0">
                <a:solidFill>
                  <a:srgbClr val="0000FF"/>
                </a:solidFill>
                <a:latin typeface="Verdana"/>
                <a:cs typeface="Verdana"/>
              </a:rPr>
              <a:t>	</a:t>
            </a:r>
            <a:r>
              <a:rPr sz="2000" spc="-50" dirty="0">
                <a:solidFill>
                  <a:srgbClr val="0000FF"/>
                </a:solidFill>
                <a:latin typeface="Verdana"/>
                <a:cs typeface="Verdana"/>
              </a:rPr>
              <a:t>0</a:t>
            </a:r>
            <a:endParaRPr sz="2000" dirty="0">
              <a:latin typeface="Verdana"/>
              <a:cs typeface="Verdana"/>
            </a:endParaRPr>
          </a:p>
        </p:txBody>
      </p:sp>
      <p:sp>
        <p:nvSpPr>
          <p:cNvPr id="43" name="object 43"/>
          <p:cNvSpPr txBox="1"/>
          <p:nvPr/>
        </p:nvSpPr>
        <p:spPr>
          <a:xfrm>
            <a:off x="10869425" y="2312166"/>
            <a:ext cx="1007110" cy="330200"/>
          </a:xfrm>
          <a:prstGeom prst="rect">
            <a:avLst/>
          </a:prstGeom>
        </p:spPr>
        <p:txBody>
          <a:bodyPr vert="horz" wrap="square" lIns="0" tIns="12065" rIns="0" bIns="0" rtlCol="0">
            <a:spAutoFit/>
          </a:bodyPr>
          <a:lstStyle/>
          <a:p>
            <a:pPr marL="12700">
              <a:lnSpc>
                <a:spcPct val="100000"/>
              </a:lnSpc>
              <a:spcBef>
                <a:spcPts val="95"/>
              </a:spcBef>
              <a:tabLst>
                <a:tab pos="636270" algn="l"/>
              </a:tabLst>
            </a:pPr>
            <a:r>
              <a:rPr sz="2000" spc="-25" dirty="0">
                <a:solidFill>
                  <a:srgbClr val="0000FF"/>
                </a:solidFill>
                <a:latin typeface="Verdana"/>
                <a:cs typeface="Verdana"/>
              </a:rPr>
              <a:t>D1</a:t>
            </a:r>
            <a:r>
              <a:rPr sz="2000" dirty="0">
                <a:solidFill>
                  <a:srgbClr val="0000FF"/>
                </a:solidFill>
                <a:latin typeface="Verdana"/>
                <a:cs typeface="Verdana"/>
              </a:rPr>
              <a:t>	</a:t>
            </a:r>
            <a:r>
              <a:rPr sz="2000" spc="-25" dirty="0">
                <a:solidFill>
                  <a:srgbClr val="0000FF"/>
                </a:solidFill>
                <a:latin typeface="Verdana"/>
                <a:cs typeface="Verdana"/>
              </a:rPr>
              <a:t>D0</a:t>
            </a:r>
            <a:endParaRPr sz="2000">
              <a:latin typeface="Verdana"/>
              <a:cs typeface="Verdana"/>
            </a:endParaRPr>
          </a:p>
        </p:txBody>
      </p:sp>
      <p:grpSp>
        <p:nvGrpSpPr>
          <p:cNvPr id="44" name="object 44"/>
          <p:cNvGrpSpPr/>
          <p:nvPr/>
        </p:nvGrpSpPr>
        <p:grpSpPr>
          <a:xfrm>
            <a:off x="10867643" y="2258567"/>
            <a:ext cx="1003300" cy="1734820"/>
            <a:chOff x="10867643" y="2258567"/>
            <a:chExt cx="1003300" cy="1734820"/>
          </a:xfrm>
        </p:grpSpPr>
        <p:sp>
          <p:nvSpPr>
            <p:cNvPr id="45" name="object 45"/>
            <p:cNvSpPr/>
            <p:nvPr/>
          </p:nvSpPr>
          <p:spPr>
            <a:xfrm>
              <a:off x="11378183" y="2258567"/>
              <a:ext cx="0" cy="1714500"/>
            </a:xfrm>
            <a:custGeom>
              <a:avLst/>
              <a:gdLst/>
              <a:ahLst/>
              <a:cxnLst/>
              <a:rect l="l" t="t" r="r" b="b"/>
              <a:pathLst>
                <a:path h="1714500">
                  <a:moveTo>
                    <a:pt x="0" y="0"/>
                  </a:moveTo>
                  <a:lnTo>
                    <a:pt x="0" y="1714500"/>
                  </a:lnTo>
                </a:path>
              </a:pathLst>
            </a:custGeom>
            <a:ln w="6095">
              <a:solidFill>
                <a:srgbClr val="000000"/>
              </a:solidFill>
              <a:prstDash val="sysDash"/>
            </a:ln>
          </p:spPr>
          <p:txBody>
            <a:bodyPr wrap="square" lIns="0" tIns="0" rIns="0" bIns="0" rtlCol="0"/>
            <a:lstStyle/>
            <a:p>
              <a:endParaRPr/>
            </a:p>
          </p:txBody>
        </p:sp>
        <p:sp>
          <p:nvSpPr>
            <p:cNvPr id="46" name="object 46"/>
            <p:cNvSpPr/>
            <p:nvPr/>
          </p:nvSpPr>
          <p:spPr>
            <a:xfrm>
              <a:off x="10867644" y="2716529"/>
              <a:ext cx="513715" cy="1276350"/>
            </a:xfrm>
            <a:custGeom>
              <a:avLst/>
              <a:gdLst/>
              <a:ahLst/>
              <a:cxnLst/>
              <a:rect l="l" t="t" r="r" b="b"/>
              <a:pathLst>
                <a:path w="513715" h="1276350">
                  <a:moveTo>
                    <a:pt x="25146" y="0"/>
                  </a:moveTo>
                  <a:lnTo>
                    <a:pt x="0" y="0"/>
                  </a:lnTo>
                  <a:lnTo>
                    <a:pt x="0" y="6096"/>
                  </a:lnTo>
                  <a:lnTo>
                    <a:pt x="25146" y="6096"/>
                  </a:lnTo>
                  <a:lnTo>
                    <a:pt x="25146" y="0"/>
                  </a:lnTo>
                  <a:close/>
                </a:path>
                <a:path w="513715" h="1276350">
                  <a:moveTo>
                    <a:pt x="513588" y="1275588"/>
                  </a:moveTo>
                  <a:lnTo>
                    <a:pt x="507492" y="1275588"/>
                  </a:lnTo>
                  <a:lnTo>
                    <a:pt x="507492" y="1276350"/>
                  </a:lnTo>
                  <a:lnTo>
                    <a:pt x="513588" y="1276350"/>
                  </a:lnTo>
                  <a:lnTo>
                    <a:pt x="513588" y="1275588"/>
                  </a:lnTo>
                  <a:close/>
                </a:path>
              </a:pathLst>
            </a:custGeom>
            <a:solidFill>
              <a:srgbClr val="000000"/>
            </a:solidFill>
          </p:spPr>
          <p:txBody>
            <a:bodyPr wrap="square" lIns="0" tIns="0" rIns="0" bIns="0" rtlCol="0"/>
            <a:lstStyle/>
            <a:p>
              <a:endParaRPr/>
            </a:p>
          </p:txBody>
        </p:sp>
        <p:sp>
          <p:nvSpPr>
            <p:cNvPr id="47" name="object 47"/>
            <p:cNvSpPr/>
            <p:nvPr/>
          </p:nvSpPr>
          <p:spPr>
            <a:xfrm>
              <a:off x="10911839" y="2719577"/>
              <a:ext cx="958850" cy="0"/>
            </a:xfrm>
            <a:custGeom>
              <a:avLst/>
              <a:gdLst/>
              <a:ahLst/>
              <a:cxnLst/>
              <a:rect l="l" t="t" r="r" b="b"/>
              <a:pathLst>
                <a:path w="958850">
                  <a:moveTo>
                    <a:pt x="0" y="0"/>
                  </a:moveTo>
                  <a:lnTo>
                    <a:pt x="958596" y="0"/>
                  </a:lnTo>
                </a:path>
              </a:pathLst>
            </a:custGeom>
            <a:ln w="6095">
              <a:solidFill>
                <a:srgbClr val="000000"/>
              </a:solidFill>
              <a:prstDash val="sysDash"/>
            </a:ln>
          </p:spPr>
          <p:txBody>
            <a:bodyPr wrap="square" lIns="0" tIns="0" rIns="0" bIns="0" rtlCol="0"/>
            <a:lstStyle/>
            <a:p>
              <a:endParaRPr/>
            </a:p>
          </p:txBody>
        </p:sp>
      </p:grpSp>
      <p:sp>
        <p:nvSpPr>
          <p:cNvPr id="48" name="object 48"/>
          <p:cNvSpPr txBox="1"/>
          <p:nvPr/>
        </p:nvSpPr>
        <p:spPr>
          <a:xfrm>
            <a:off x="4139438" y="2908807"/>
            <a:ext cx="187325" cy="330200"/>
          </a:xfrm>
          <a:prstGeom prst="rect">
            <a:avLst/>
          </a:prstGeom>
        </p:spPr>
        <p:txBody>
          <a:bodyPr vert="horz" wrap="square" lIns="0" tIns="12065" rIns="0" bIns="0" rtlCol="0">
            <a:spAutoFit/>
          </a:bodyPr>
          <a:lstStyle/>
          <a:p>
            <a:pPr marL="12700">
              <a:lnSpc>
                <a:spcPct val="100000"/>
              </a:lnSpc>
              <a:spcBef>
                <a:spcPts val="95"/>
              </a:spcBef>
            </a:pPr>
            <a:r>
              <a:rPr sz="2000" spc="-50" dirty="0">
                <a:solidFill>
                  <a:srgbClr val="0000FF"/>
                </a:solidFill>
                <a:latin typeface="Verdana"/>
                <a:cs typeface="Verdana"/>
              </a:rPr>
              <a:t>1</a:t>
            </a:r>
            <a:endParaRPr sz="2000">
              <a:latin typeface="Verdana"/>
              <a:cs typeface="Verdana"/>
            </a:endParaRPr>
          </a:p>
        </p:txBody>
      </p:sp>
      <p:sp>
        <p:nvSpPr>
          <p:cNvPr id="49" name="object 49"/>
          <p:cNvSpPr txBox="1"/>
          <p:nvPr/>
        </p:nvSpPr>
        <p:spPr>
          <a:xfrm>
            <a:off x="4112769" y="3550404"/>
            <a:ext cx="187325" cy="330200"/>
          </a:xfrm>
          <a:prstGeom prst="rect">
            <a:avLst/>
          </a:prstGeom>
        </p:spPr>
        <p:txBody>
          <a:bodyPr vert="horz" wrap="square" lIns="0" tIns="12065" rIns="0" bIns="0" rtlCol="0">
            <a:spAutoFit/>
          </a:bodyPr>
          <a:lstStyle/>
          <a:p>
            <a:pPr marL="12700">
              <a:lnSpc>
                <a:spcPct val="100000"/>
              </a:lnSpc>
              <a:spcBef>
                <a:spcPts val="95"/>
              </a:spcBef>
            </a:pPr>
            <a:r>
              <a:rPr sz="2000" spc="-50" dirty="0">
                <a:solidFill>
                  <a:srgbClr val="0000FF"/>
                </a:solidFill>
                <a:latin typeface="Verdana"/>
                <a:cs typeface="Verdana"/>
              </a:rPr>
              <a:t>0</a:t>
            </a:r>
            <a:endParaRPr sz="2000">
              <a:latin typeface="Verdana"/>
              <a:cs typeface="Verdana"/>
            </a:endParaRPr>
          </a:p>
        </p:txBody>
      </p:sp>
      <p:sp>
        <p:nvSpPr>
          <p:cNvPr id="50" name="Slide Number Placeholder 4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19</a:t>
            </a:fld>
            <a:endParaRPr lang="en-US" spc="-50" dirty="0"/>
          </a:p>
        </p:txBody>
      </p:sp>
      <p:sp>
        <p:nvSpPr>
          <p:cNvPr id="51" name="Date Placeholder 5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52" name="Footer Placeholder 5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37830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P spid="22" grpId="0"/>
      <p:bldP spid="23" grpId="0"/>
      <p:bldP spid="24" grpId="0"/>
      <p:bldP spid="25" grpId="0"/>
      <p:bldP spid="26" grpId="0" animBg="1"/>
      <p:bldP spid="27" grpId="0"/>
      <p:bldP spid="37" grpId="0"/>
      <p:bldP spid="38" grpId="0"/>
      <p:bldP spid="42" grpId="0"/>
      <p:bldP spid="43" grpId="0"/>
      <p:bldP spid="48" grpId="0"/>
      <p:bldP spid="4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5313" y="310330"/>
            <a:ext cx="4050665" cy="596958"/>
          </a:xfrm>
          <a:prstGeom prst="rect">
            <a:avLst/>
          </a:prstGeom>
        </p:spPr>
        <p:txBody>
          <a:bodyPr vert="horz" wrap="square" lIns="0" tIns="12065" rIns="0" bIns="0" rtlCol="0" anchor="b" anchorCtr="0">
            <a:spAutoFit/>
          </a:bodyPr>
          <a:lstStyle/>
          <a:p>
            <a:pPr marL="12700">
              <a:spcBef>
                <a:spcPts val="95"/>
              </a:spcBef>
              <a:tabLst>
                <a:tab pos="1058519" algn="l"/>
              </a:tabLst>
            </a:pPr>
            <a:r>
              <a:rPr sz="3800" spc="-5" dirty="0">
                <a:latin typeface="Verdana"/>
                <a:cs typeface="Verdana"/>
              </a:rPr>
              <a:t>Eye	Diagram</a:t>
            </a:r>
            <a:r>
              <a:rPr sz="3800" spc="-31" dirty="0">
                <a:latin typeface="Verdana"/>
                <a:cs typeface="Verdana"/>
              </a:rPr>
              <a:t> </a:t>
            </a:r>
            <a:r>
              <a:rPr sz="3800" spc="-11" dirty="0">
                <a:latin typeface="Verdana"/>
                <a:cs typeface="Verdana"/>
              </a:rPr>
              <a:t>(1)</a:t>
            </a:r>
            <a:endParaRPr sz="3800">
              <a:latin typeface="Verdana"/>
              <a:cs typeface="Verdana"/>
            </a:endParaRPr>
          </a:p>
        </p:txBody>
      </p:sp>
      <p:sp>
        <p:nvSpPr>
          <p:cNvPr id="3" name="object 3"/>
          <p:cNvSpPr txBox="1"/>
          <p:nvPr/>
        </p:nvSpPr>
        <p:spPr>
          <a:xfrm>
            <a:off x="1092961" y="4270956"/>
            <a:ext cx="8931275" cy="1592744"/>
          </a:xfrm>
          <a:prstGeom prst="rect">
            <a:avLst/>
          </a:prstGeom>
        </p:spPr>
        <p:txBody>
          <a:bodyPr vert="horz" wrap="square" lIns="0" tIns="43180" rIns="0" bIns="0" rtlCol="0">
            <a:spAutoFit/>
          </a:bodyPr>
          <a:lstStyle/>
          <a:p>
            <a:pPr marL="482588" indent="-470523" defTabSz="548626">
              <a:spcBef>
                <a:spcPts val="340"/>
              </a:spcBef>
              <a:buClr>
                <a:srgbClr val="CC0000"/>
              </a:buClr>
              <a:buFont typeface="Wingdings"/>
              <a:buChar char=""/>
              <a:tabLst>
                <a:tab pos="482588" algn="l"/>
                <a:tab pos="483223" algn="l"/>
              </a:tabLst>
            </a:pPr>
            <a:r>
              <a:rPr sz="2000" spc="-11" dirty="0">
                <a:solidFill>
                  <a:srgbClr val="3C3C3B"/>
                </a:solidFill>
                <a:latin typeface="Verdana"/>
                <a:cs typeface="Verdana"/>
              </a:rPr>
              <a:t>Checking</a:t>
            </a:r>
            <a:r>
              <a:rPr sz="2000" spc="20" dirty="0">
                <a:solidFill>
                  <a:srgbClr val="3C3C3B"/>
                </a:solidFill>
                <a:latin typeface="Verdana"/>
                <a:cs typeface="Verdana"/>
              </a:rPr>
              <a:t> </a:t>
            </a:r>
            <a:r>
              <a:rPr sz="2000" spc="-11" dirty="0">
                <a:solidFill>
                  <a:srgbClr val="3C3C3B"/>
                </a:solidFill>
                <a:latin typeface="Verdana"/>
                <a:cs typeface="Verdana"/>
              </a:rPr>
              <a:t>whether</a:t>
            </a:r>
            <a:r>
              <a:rPr sz="2000" dirty="0">
                <a:solidFill>
                  <a:srgbClr val="3C3C3B"/>
                </a:solidFill>
                <a:latin typeface="Verdana"/>
                <a:cs typeface="Verdana"/>
              </a:rPr>
              <a:t> </a:t>
            </a:r>
            <a:r>
              <a:rPr sz="2000" spc="-5" dirty="0">
                <a:solidFill>
                  <a:srgbClr val="3C3C3B"/>
                </a:solidFill>
                <a:latin typeface="Verdana"/>
                <a:cs typeface="Verdana"/>
              </a:rPr>
              <a:t>ISI accumulation</a:t>
            </a:r>
            <a:r>
              <a:rPr sz="2000" spc="15" dirty="0">
                <a:solidFill>
                  <a:srgbClr val="3C3C3B"/>
                </a:solidFill>
                <a:latin typeface="Verdana"/>
                <a:cs typeface="Verdana"/>
              </a:rPr>
              <a:t> </a:t>
            </a:r>
            <a:r>
              <a:rPr sz="2000" spc="-5" dirty="0">
                <a:solidFill>
                  <a:srgbClr val="3C3C3B"/>
                </a:solidFill>
                <a:latin typeface="Verdana"/>
                <a:cs typeface="Verdana"/>
              </a:rPr>
              <a:t>that</a:t>
            </a:r>
            <a:r>
              <a:rPr sz="2000" spc="11" dirty="0">
                <a:solidFill>
                  <a:srgbClr val="3C3C3B"/>
                </a:solidFill>
                <a:latin typeface="Verdana"/>
                <a:cs typeface="Verdana"/>
              </a:rPr>
              <a:t> </a:t>
            </a:r>
            <a:r>
              <a:rPr sz="2000" spc="-5" dirty="0">
                <a:solidFill>
                  <a:srgbClr val="3C3C3B"/>
                </a:solidFill>
                <a:latin typeface="Verdana"/>
                <a:cs typeface="Verdana"/>
              </a:rPr>
              <a:t>may</a:t>
            </a:r>
            <a:r>
              <a:rPr sz="2000" spc="15" dirty="0">
                <a:solidFill>
                  <a:srgbClr val="3C3C3B"/>
                </a:solidFill>
                <a:latin typeface="Verdana"/>
                <a:cs typeface="Verdana"/>
              </a:rPr>
              <a:t> </a:t>
            </a:r>
            <a:r>
              <a:rPr sz="2000" spc="-11" dirty="0">
                <a:solidFill>
                  <a:srgbClr val="3C3C3B"/>
                </a:solidFill>
                <a:latin typeface="Verdana"/>
                <a:cs typeface="Verdana"/>
              </a:rPr>
              <a:t>cause</a:t>
            </a:r>
            <a:r>
              <a:rPr sz="2000" dirty="0">
                <a:solidFill>
                  <a:srgbClr val="3C3C3B"/>
                </a:solidFill>
                <a:latin typeface="Verdana"/>
                <a:cs typeface="Verdana"/>
              </a:rPr>
              <a:t> </a:t>
            </a:r>
            <a:r>
              <a:rPr sz="2000" spc="-11" dirty="0">
                <a:solidFill>
                  <a:srgbClr val="3C3C3B"/>
                </a:solidFill>
                <a:latin typeface="Verdana"/>
                <a:cs typeface="Verdana"/>
              </a:rPr>
              <a:t>decision</a:t>
            </a:r>
            <a:r>
              <a:rPr sz="2000" spc="20" dirty="0">
                <a:solidFill>
                  <a:srgbClr val="3C3C3B"/>
                </a:solidFill>
                <a:latin typeface="Verdana"/>
                <a:cs typeface="Verdana"/>
              </a:rPr>
              <a:t> </a:t>
            </a:r>
            <a:r>
              <a:rPr sz="2000" spc="-5" dirty="0">
                <a:solidFill>
                  <a:srgbClr val="3C3C3B"/>
                </a:solidFill>
                <a:latin typeface="Verdana"/>
                <a:cs typeface="Verdana"/>
              </a:rPr>
              <a:t>error</a:t>
            </a:r>
            <a:endParaRPr sz="2000" dirty="0">
              <a:solidFill>
                <a:srgbClr val="3C3C3B"/>
              </a:solidFill>
              <a:latin typeface="Verdana"/>
              <a:cs typeface="Verdana"/>
            </a:endParaRPr>
          </a:p>
          <a:p>
            <a:pPr marL="920728" lvl="1" indent="-438140" defTabSz="548626">
              <a:spcBef>
                <a:spcPts val="215"/>
              </a:spcBef>
              <a:buClr>
                <a:srgbClr val="CC0000"/>
              </a:buClr>
              <a:buFont typeface="Wingdings"/>
              <a:buChar char=""/>
              <a:tabLst>
                <a:tab pos="920728" algn="l"/>
                <a:tab pos="921362" algn="l"/>
              </a:tabLst>
            </a:pPr>
            <a:r>
              <a:rPr dirty="0">
                <a:solidFill>
                  <a:srgbClr val="3C3C3B"/>
                </a:solidFill>
                <a:latin typeface="Verdana"/>
                <a:cs typeface="Verdana"/>
              </a:rPr>
              <a:t>With</a:t>
            </a:r>
            <a:r>
              <a:rPr spc="-11" dirty="0">
                <a:solidFill>
                  <a:srgbClr val="3C3C3B"/>
                </a:solidFill>
                <a:latin typeface="Verdana"/>
                <a:cs typeface="Verdana"/>
              </a:rPr>
              <a:t> </a:t>
            </a:r>
            <a:r>
              <a:rPr dirty="0">
                <a:solidFill>
                  <a:srgbClr val="3C3C3B"/>
                </a:solidFill>
                <a:latin typeface="Verdana"/>
                <a:cs typeface="Verdana"/>
              </a:rPr>
              <a:t>a</a:t>
            </a:r>
            <a:r>
              <a:rPr spc="-25" dirty="0">
                <a:solidFill>
                  <a:srgbClr val="3C3C3B"/>
                </a:solidFill>
                <a:latin typeface="Verdana"/>
                <a:cs typeface="Verdana"/>
              </a:rPr>
              <a:t> </a:t>
            </a:r>
            <a:r>
              <a:rPr spc="-5" dirty="0">
                <a:solidFill>
                  <a:srgbClr val="3C3C3B"/>
                </a:solidFill>
                <a:latin typeface="Verdana"/>
                <a:cs typeface="Verdana"/>
              </a:rPr>
              <a:t>complex</a:t>
            </a:r>
            <a:r>
              <a:rPr spc="-11" dirty="0">
                <a:solidFill>
                  <a:srgbClr val="3C3C3B"/>
                </a:solidFill>
                <a:latin typeface="Verdana"/>
                <a:cs typeface="Verdana"/>
              </a:rPr>
              <a:t> </a:t>
            </a:r>
            <a:r>
              <a:rPr spc="-5" dirty="0">
                <a:solidFill>
                  <a:srgbClr val="3C3C3B"/>
                </a:solidFill>
                <a:latin typeface="Verdana"/>
                <a:cs typeface="Verdana"/>
              </a:rPr>
              <a:t>bit</a:t>
            </a:r>
            <a:r>
              <a:rPr dirty="0">
                <a:solidFill>
                  <a:srgbClr val="3C3C3B"/>
                </a:solidFill>
                <a:latin typeface="Verdana"/>
                <a:cs typeface="Verdana"/>
              </a:rPr>
              <a:t> </a:t>
            </a:r>
            <a:r>
              <a:rPr spc="-5" dirty="0">
                <a:solidFill>
                  <a:srgbClr val="3C3C3B"/>
                </a:solidFill>
                <a:latin typeface="Verdana"/>
                <a:cs typeface="Verdana"/>
              </a:rPr>
              <a:t>pattern</a:t>
            </a:r>
            <a:endParaRPr dirty="0">
              <a:solidFill>
                <a:srgbClr val="3C3C3B"/>
              </a:solidFill>
              <a:latin typeface="Verdana"/>
              <a:cs typeface="Verdana"/>
            </a:endParaRPr>
          </a:p>
          <a:p>
            <a:pPr marL="482588" indent="-470523" defTabSz="548626">
              <a:spcBef>
                <a:spcPts val="240"/>
              </a:spcBef>
              <a:buClr>
                <a:srgbClr val="CC0000"/>
              </a:buClr>
              <a:buFont typeface="Wingdings"/>
              <a:buChar char=""/>
              <a:tabLst>
                <a:tab pos="482588" algn="l"/>
                <a:tab pos="483223" algn="l"/>
              </a:tabLst>
            </a:pPr>
            <a:r>
              <a:rPr sz="2000" spc="-11" dirty="0">
                <a:solidFill>
                  <a:srgbClr val="3C3C3B"/>
                </a:solidFill>
                <a:latin typeface="Verdana"/>
                <a:cs typeface="Verdana"/>
              </a:rPr>
              <a:t>Construction</a:t>
            </a:r>
            <a:endParaRPr sz="2000" dirty="0">
              <a:solidFill>
                <a:srgbClr val="3C3C3B"/>
              </a:solidFill>
              <a:latin typeface="Verdana"/>
              <a:cs typeface="Verdana"/>
            </a:endParaRPr>
          </a:p>
          <a:p>
            <a:pPr marL="920728" lvl="1" indent="-438140" defTabSz="548626">
              <a:spcBef>
                <a:spcPts val="219"/>
              </a:spcBef>
              <a:buClr>
                <a:srgbClr val="CC0000"/>
              </a:buClr>
              <a:buFont typeface="Wingdings"/>
              <a:buChar char=""/>
              <a:tabLst>
                <a:tab pos="920728" algn="l"/>
                <a:tab pos="921362" algn="l"/>
              </a:tabLst>
            </a:pPr>
            <a:r>
              <a:rPr spc="-5" dirty="0">
                <a:solidFill>
                  <a:srgbClr val="3C3C3B"/>
                </a:solidFill>
                <a:latin typeface="Verdana"/>
                <a:cs typeface="Verdana"/>
              </a:rPr>
              <a:t>Cut </a:t>
            </a:r>
            <a:r>
              <a:rPr dirty="0">
                <a:solidFill>
                  <a:srgbClr val="3C3C3B"/>
                </a:solidFill>
                <a:latin typeface="Verdana"/>
                <a:cs typeface="Verdana"/>
              </a:rPr>
              <a:t>a</a:t>
            </a:r>
            <a:r>
              <a:rPr spc="-11" dirty="0">
                <a:solidFill>
                  <a:srgbClr val="3C3C3B"/>
                </a:solidFill>
                <a:latin typeface="Verdana"/>
                <a:cs typeface="Verdana"/>
              </a:rPr>
              <a:t> </a:t>
            </a:r>
            <a:r>
              <a:rPr spc="-5" dirty="0">
                <a:solidFill>
                  <a:srgbClr val="3C3C3B"/>
                </a:solidFill>
                <a:latin typeface="Verdana"/>
                <a:cs typeface="Verdana"/>
              </a:rPr>
              <a:t>waveform</a:t>
            </a:r>
            <a:r>
              <a:rPr spc="-15" dirty="0">
                <a:solidFill>
                  <a:srgbClr val="3C3C3B"/>
                </a:solidFill>
                <a:latin typeface="Verdana"/>
                <a:cs typeface="Verdana"/>
              </a:rPr>
              <a:t> </a:t>
            </a:r>
            <a:r>
              <a:rPr spc="-5" dirty="0">
                <a:solidFill>
                  <a:srgbClr val="3C3C3B"/>
                </a:solidFill>
                <a:latin typeface="Verdana"/>
                <a:cs typeface="Verdana"/>
              </a:rPr>
              <a:t>with</a:t>
            </a:r>
            <a:r>
              <a:rPr dirty="0">
                <a:solidFill>
                  <a:srgbClr val="3C3C3B"/>
                </a:solidFill>
                <a:latin typeface="Verdana"/>
                <a:cs typeface="Verdana"/>
              </a:rPr>
              <a:t> </a:t>
            </a:r>
            <a:r>
              <a:rPr spc="-5" dirty="0">
                <a:solidFill>
                  <a:srgbClr val="3C3C3B"/>
                </a:solidFill>
                <a:latin typeface="Verdana"/>
                <a:cs typeface="Verdana"/>
              </a:rPr>
              <a:t>symbol</a:t>
            </a:r>
            <a:r>
              <a:rPr spc="5" dirty="0">
                <a:solidFill>
                  <a:srgbClr val="3C3C3B"/>
                </a:solidFill>
                <a:latin typeface="Verdana"/>
                <a:cs typeface="Verdana"/>
              </a:rPr>
              <a:t> </a:t>
            </a:r>
            <a:r>
              <a:rPr spc="-5" dirty="0">
                <a:solidFill>
                  <a:srgbClr val="3C3C3B"/>
                </a:solidFill>
                <a:latin typeface="Verdana"/>
                <a:cs typeface="Verdana"/>
              </a:rPr>
              <a:t>period</a:t>
            </a:r>
            <a:r>
              <a:rPr spc="5" dirty="0">
                <a:solidFill>
                  <a:srgbClr val="3C3C3B"/>
                </a:solidFill>
                <a:latin typeface="Verdana"/>
                <a:cs typeface="Verdana"/>
              </a:rPr>
              <a:t> </a:t>
            </a:r>
            <a:r>
              <a:rPr dirty="0">
                <a:solidFill>
                  <a:srgbClr val="3C3C3B"/>
                </a:solidFill>
                <a:latin typeface="Verdana"/>
                <a:cs typeface="Verdana"/>
              </a:rPr>
              <a:t>T </a:t>
            </a:r>
            <a:r>
              <a:rPr spc="-5" dirty="0">
                <a:solidFill>
                  <a:srgbClr val="3C3C3B"/>
                </a:solidFill>
                <a:latin typeface="Verdana"/>
                <a:cs typeface="Verdana"/>
              </a:rPr>
              <a:t>(or</a:t>
            </a:r>
            <a:r>
              <a:rPr spc="-15" dirty="0">
                <a:solidFill>
                  <a:srgbClr val="3C3C3B"/>
                </a:solidFill>
                <a:latin typeface="Verdana"/>
                <a:cs typeface="Verdana"/>
              </a:rPr>
              <a:t> </a:t>
            </a:r>
            <a:r>
              <a:rPr spc="-5" dirty="0">
                <a:solidFill>
                  <a:srgbClr val="3C3C3B"/>
                </a:solidFill>
                <a:latin typeface="Verdana"/>
                <a:cs typeface="Verdana"/>
              </a:rPr>
              <a:t>its</a:t>
            </a:r>
            <a:r>
              <a:rPr spc="15" dirty="0">
                <a:solidFill>
                  <a:srgbClr val="3C3C3B"/>
                </a:solidFill>
                <a:latin typeface="Verdana"/>
                <a:cs typeface="Verdana"/>
              </a:rPr>
              <a:t> </a:t>
            </a:r>
            <a:r>
              <a:rPr spc="-5" dirty="0">
                <a:solidFill>
                  <a:srgbClr val="3C3C3B"/>
                </a:solidFill>
                <a:latin typeface="Verdana"/>
                <a:cs typeface="Verdana"/>
              </a:rPr>
              <a:t>integer</a:t>
            </a:r>
            <a:r>
              <a:rPr dirty="0">
                <a:solidFill>
                  <a:srgbClr val="3C3C3B"/>
                </a:solidFill>
                <a:latin typeface="Verdana"/>
                <a:cs typeface="Verdana"/>
              </a:rPr>
              <a:t> multiple)</a:t>
            </a:r>
          </a:p>
          <a:p>
            <a:pPr marL="920728" lvl="1" indent="-438140" defTabSz="548626">
              <a:spcBef>
                <a:spcPts val="215"/>
              </a:spcBef>
              <a:buClr>
                <a:srgbClr val="CC0000"/>
              </a:buClr>
              <a:buFont typeface="Wingdings"/>
              <a:buChar char=""/>
              <a:tabLst>
                <a:tab pos="920728" algn="l"/>
                <a:tab pos="921362" algn="l"/>
              </a:tabLst>
            </a:pPr>
            <a:r>
              <a:rPr dirty="0">
                <a:solidFill>
                  <a:srgbClr val="3C3C3B"/>
                </a:solidFill>
                <a:latin typeface="Verdana"/>
                <a:cs typeface="Verdana"/>
              </a:rPr>
              <a:t>Overlay</a:t>
            </a:r>
            <a:r>
              <a:rPr spc="-25" dirty="0">
                <a:solidFill>
                  <a:srgbClr val="3C3C3B"/>
                </a:solidFill>
                <a:latin typeface="Verdana"/>
                <a:cs typeface="Verdana"/>
              </a:rPr>
              <a:t> </a:t>
            </a:r>
            <a:r>
              <a:rPr dirty="0">
                <a:solidFill>
                  <a:srgbClr val="3C3C3B"/>
                </a:solidFill>
                <a:latin typeface="Verdana"/>
                <a:cs typeface="Verdana"/>
              </a:rPr>
              <a:t>the</a:t>
            </a:r>
            <a:r>
              <a:rPr spc="-11" dirty="0">
                <a:solidFill>
                  <a:srgbClr val="3C3C3B"/>
                </a:solidFill>
                <a:latin typeface="Verdana"/>
                <a:cs typeface="Verdana"/>
              </a:rPr>
              <a:t> </a:t>
            </a:r>
            <a:r>
              <a:rPr dirty="0">
                <a:solidFill>
                  <a:srgbClr val="3C3C3B"/>
                </a:solidFill>
                <a:latin typeface="Verdana"/>
                <a:cs typeface="Verdana"/>
              </a:rPr>
              <a:t>sliced</a:t>
            </a:r>
            <a:r>
              <a:rPr spc="11" dirty="0">
                <a:solidFill>
                  <a:srgbClr val="3C3C3B"/>
                </a:solidFill>
                <a:latin typeface="Verdana"/>
                <a:cs typeface="Verdana"/>
              </a:rPr>
              <a:t> </a:t>
            </a:r>
            <a:r>
              <a:rPr dirty="0">
                <a:solidFill>
                  <a:srgbClr val="3C3C3B"/>
                </a:solidFill>
                <a:latin typeface="Verdana"/>
                <a:cs typeface="Verdana"/>
              </a:rPr>
              <a:t>pieces</a:t>
            </a:r>
            <a:r>
              <a:rPr spc="5" dirty="0">
                <a:solidFill>
                  <a:srgbClr val="3C3C3B"/>
                </a:solidFill>
                <a:latin typeface="Verdana"/>
                <a:cs typeface="Verdana"/>
              </a:rPr>
              <a:t> </a:t>
            </a:r>
            <a:r>
              <a:rPr dirty="0">
                <a:solidFill>
                  <a:srgbClr val="3C3C3B"/>
                </a:solidFill>
                <a:latin typeface="Verdana"/>
                <a:cs typeface="Verdana"/>
              </a:rPr>
              <a:t>of</a:t>
            </a:r>
            <a:r>
              <a:rPr spc="-11" dirty="0">
                <a:solidFill>
                  <a:srgbClr val="3C3C3B"/>
                </a:solidFill>
                <a:latin typeface="Verdana"/>
                <a:cs typeface="Verdana"/>
              </a:rPr>
              <a:t> </a:t>
            </a:r>
            <a:r>
              <a:rPr dirty="0">
                <a:solidFill>
                  <a:srgbClr val="3C3C3B"/>
                </a:solidFill>
                <a:latin typeface="Verdana"/>
                <a:cs typeface="Verdana"/>
              </a:rPr>
              <a:t>the</a:t>
            </a:r>
            <a:r>
              <a:rPr spc="-11" dirty="0">
                <a:solidFill>
                  <a:srgbClr val="3C3C3B"/>
                </a:solidFill>
                <a:latin typeface="Verdana"/>
                <a:cs typeface="Verdana"/>
              </a:rPr>
              <a:t> </a:t>
            </a:r>
            <a:r>
              <a:rPr spc="-5" dirty="0">
                <a:solidFill>
                  <a:srgbClr val="3C3C3B"/>
                </a:solidFill>
                <a:latin typeface="Verdana"/>
                <a:cs typeface="Verdana"/>
              </a:rPr>
              <a:t>waveform</a:t>
            </a:r>
            <a:endParaRPr dirty="0">
              <a:solidFill>
                <a:srgbClr val="3C3C3B"/>
              </a:solidFill>
              <a:latin typeface="Verdana"/>
              <a:cs typeface="Verdana"/>
            </a:endParaRPr>
          </a:p>
        </p:txBody>
      </p:sp>
      <p:pic>
        <p:nvPicPr>
          <p:cNvPr id="5" name="object 5"/>
          <p:cNvPicPr/>
          <p:nvPr/>
        </p:nvPicPr>
        <p:blipFill>
          <a:blip r:embed="rId3" cstate="print"/>
          <a:stretch>
            <a:fillRect/>
          </a:stretch>
        </p:blipFill>
        <p:spPr>
          <a:xfrm>
            <a:off x="1906386" y="1185899"/>
            <a:ext cx="8068056" cy="2806445"/>
          </a:xfrm>
          <a:prstGeom prst="rect">
            <a:avLst/>
          </a:prstGeom>
        </p:spPr>
      </p:pic>
      <p:grpSp>
        <p:nvGrpSpPr>
          <p:cNvPr id="15" name="Group 14"/>
          <p:cNvGrpSpPr/>
          <p:nvPr/>
        </p:nvGrpSpPr>
        <p:grpSpPr>
          <a:xfrm>
            <a:off x="7012179" y="1354786"/>
            <a:ext cx="4272797" cy="1349728"/>
            <a:chOff x="7012179" y="1354786"/>
            <a:chExt cx="4272797" cy="1349728"/>
          </a:xfrm>
        </p:grpSpPr>
        <p:sp>
          <p:nvSpPr>
            <p:cNvPr id="6" name="object 6"/>
            <p:cNvSpPr/>
            <p:nvPr/>
          </p:nvSpPr>
          <p:spPr>
            <a:xfrm>
              <a:off x="7629144" y="2104645"/>
              <a:ext cx="2336800" cy="38100"/>
            </a:xfrm>
            <a:custGeom>
              <a:avLst/>
              <a:gdLst/>
              <a:ahLst/>
              <a:cxnLst/>
              <a:rect l="l" t="t" r="r" b="b"/>
              <a:pathLst>
                <a:path w="2336800" h="38100">
                  <a:moveTo>
                    <a:pt x="2336292" y="38100"/>
                  </a:moveTo>
                  <a:lnTo>
                    <a:pt x="2336292" y="0"/>
                  </a:lnTo>
                  <a:lnTo>
                    <a:pt x="0" y="0"/>
                  </a:lnTo>
                  <a:lnTo>
                    <a:pt x="0" y="38100"/>
                  </a:lnTo>
                  <a:lnTo>
                    <a:pt x="2336292" y="38100"/>
                  </a:lnTo>
                  <a:close/>
                </a:path>
              </a:pathLst>
            </a:custGeom>
            <a:solidFill>
              <a:srgbClr val="FF00FF"/>
            </a:solidFill>
          </p:spPr>
          <p:txBody>
            <a:bodyPr wrap="square" lIns="0" tIns="0" rIns="0" bIns="0" rtlCol="0"/>
            <a:lstStyle/>
            <a:p>
              <a:pPr defTabSz="548626"/>
              <a:endParaRPr sz="1620">
                <a:solidFill>
                  <a:srgbClr val="3C3C3B"/>
                </a:solidFill>
                <a:latin typeface="Gill Sans MT" panose="020B0502020104020203"/>
              </a:endParaRPr>
            </a:p>
          </p:txBody>
        </p:sp>
        <p:sp>
          <p:nvSpPr>
            <p:cNvPr id="7" name="object 7"/>
            <p:cNvSpPr txBox="1"/>
            <p:nvPr/>
          </p:nvSpPr>
          <p:spPr>
            <a:xfrm>
              <a:off x="7012179" y="1354786"/>
              <a:ext cx="516255" cy="1349728"/>
            </a:xfrm>
            <a:prstGeom prst="rect">
              <a:avLst/>
            </a:prstGeom>
          </p:spPr>
          <p:txBody>
            <a:bodyPr vert="horz" wrap="square" lIns="0" tIns="142875" rIns="0" bIns="0" rtlCol="0">
              <a:spAutoFit/>
            </a:bodyPr>
            <a:lstStyle/>
            <a:p>
              <a:pPr marL="299713" defTabSz="548626">
                <a:spcBef>
                  <a:spcPts val="1125"/>
                </a:spcBef>
              </a:pPr>
              <a:r>
                <a:rPr sz="2000" spc="-5" dirty="0">
                  <a:solidFill>
                    <a:srgbClr val="3C3C3B"/>
                  </a:solidFill>
                  <a:latin typeface="Verdana"/>
                  <a:cs typeface="Verdana"/>
                </a:rPr>
                <a:t>1</a:t>
              </a:r>
              <a:endParaRPr sz="2000" dirty="0">
                <a:solidFill>
                  <a:srgbClr val="3C3C3B"/>
                </a:solidFill>
                <a:latin typeface="Verdana"/>
                <a:cs typeface="Verdana"/>
              </a:endParaRPr>
            </a:p>
            <a:p>
              <a:pPr marL="12700" defTabSz="548626">
                <a:spcBef>
                  <a:spcPts val="1025"/>
                </a:spcBef>
              </a:pPr>
              <a:r>
                <a:rPr sz="2000" b="1" spc="-5" dirty="0">
                  <a:solidFill>
                    <a:srgbClr val="FF00FF"/>
                  </a:solidFill>
                  <a:latin typeface="Verdana"/>
                  <a:cs typeface="Verdana"/>
                </a:rPr>
                <a:t>Vth</a:t>
              </a:r>
              <a:endParaRPr sz="2000" dirty="0">
                <a:solidFill>
                  <a:srgbClr val="3C3C3B"/>
                </a:solidFill>
                <a:latin typeface="Verdana"/>
                <a:cs typeface="Verdana"/>
              </a:endParaRPr>
            </a:p>
            <a:p>
              <a:pPr marL="311778" defTabSz="548626">
                <a:spcBef>
                  <a:spcPts val="1225"/>
                </a:spcBef>
              </a:pPr>
              <a:r>
                <a:rPr sz="2000" spc="-5" dirty="0">
                  <a:solidFill>
                    <a:srgbClr val="3C3C3B"/>
                  </a:solidFill>
                  <a:latin typeface="Verdana"/>
                  <a:cs typeface="Verdana"/>
                </a:rPr>
                <a:t>0</a:t>
              </a:r>
              <a:endParaRPr sz="2000" dirty="0">
                <a:solidFill>
                  <a:srgbClr val="3C3C3B"/>
                </a:solidFill>
                <a:latin typeface="Verdana"/>
                <a:cs typeface="Verdana"/>
              </a:endParaRPr>
            </a:p>
          </p:txBody>
        </p:sp>
        <p:sp>
          <p:nvSpPr>
            <p:cNvPr id="8" name="object 8"/>
            <p:cNvSpPr txBox="1"/>
            <p:nvPr/>
          </p:nvSpPr>
          <p:spPr>
            <a:xfrm>
              <a:off x="10249925" y="2018034"/>
              <a:ext cx="1035051" cy="627736"/>
            </a:xfrm>
            <a:prstGeom prst="rect">
              <a:avLst/>
            </a:prstGeom>
          </p:spPr>
          <p:txBody>
            <a:bodyPr vert="horz" wrap="square" lIns="0" tIns="12065" rIns="0" bIns="0" rtlCol="0">
              <a:spAutoFit/>
            </a:bodyPr>
            <a:lstStyle/>
            <a:p>
              <a:pPr marL="12700" marR="5080" defTabSz="548626">
                <a:spcBef>
                  <a:spcPts val="95"/>
                </a:spcBef>
              </a:pPr>
              <a:r>
                <a:rPr sz="2000" b="1" spc="-11" dirty="0">
                  <a:solidFill>
                    <a:srgbClr val="FF00FF"/>
                  </a:solidFill>
                  <a:latin typeface="Verdana"/>
                  <a:cs typeface="Verdana"/>
                </a:rPr>
                <a:t>noise </a:t>
              </a:r>
              <a:r>
                <a:rPr sz="2000" b="1" spc="-5" dirty="0">
                  <a:solidFill>
                    <a:srgbClr val="FF00FF"/>
                  </a:solidFill>
                  <a:latin typeface="Verdana"/>
                  <a:cs typeface="Verdana"/>
                </a:rPr>
                <a:t> margin</a:t>
              </a:r>
              <a:endParaRPr sz="2000" dirty="0">
                <a:solidFill>
                  <a:srgbClr val="3C3C3B"/>
                </a:solidFill>
                <a:latin typeface="Verdana"/>
                <a:cs typeface="Verdana"/>
              </a:endParaRPr>
            </a:p>
          </p:txBody>
        </p:sp>
        <p:sp>
          <p:nvSpPr>
            <p:cNvPr id="9" name="object 9"/>
            <p:cNvSpPr/>
            <p:nvPr/>
          </p:nvSpPr>
          <p:spPr>
            <a:xfrm>
              <a:off x="10045446" y="2106168"/>
              <a:ext cx="110489" cy="467995"/>
            </a:xfrm>
            <a:custGeom>
              <a:avLst/>
              <a:gdLst/>
              <a:ahLst/>
              <a:cxnLst/>
              <a:rect l="l" t="t" r="r" b="b"/>
              <a:pathLst>
                <a:path w="110490" h="467994">
                  <a:moveTo>
                    <a:pt x="110489" y="94488"/>
                  </a:moveTo>
                  <a:lnTo>
                    <a:pt x="107442" y="89916"/>
                  </a:lnTo>
                  <a:lnTo>
                    <a:pt x="54863" y="0"/>
                  </a:lnTo>
                  <a:lnTo>
                    <a:pt x="2285" y="89916"/>
                  </a:lnTo>
                  <a:lnTo>
                    <a:pt x="0" y="94488"/>
                  </a:lnTo>
                  <a:lnTo>
                    <a:pt x="1524" y="100584"/>
                  </a:lnTo>
                  <a:lnTo>
                    <a:pt x="6096" y="102870"/>
                  </a:lnTo>
                  <a:lnTo>
                    <a:pt x="10668" y="105918"/>
                  </a:lnTo>
                  <a:lnTo>
                    <a:pt x="16001" y="104394"/>
                  </a:lnTo>
                  <a:lnTo>
                    <a:pt x="19050" y="99822"/>
                  </a:lnTo>
                  <a:lnTo>
                    <a:pt x="45720" y="53839"/>
                  </a:lnTo>
                  <a:lnTo>
                    <a:pt x="45720" y="19050"/>
                  </a:lnTo>
                  <a:lnTo>
                    <a:pt x="64770" y="19050"/>
                  </a:lnTo>
                  <a:lnTo>
                    <a:pt x="64770" y="54618"/>
                  </a:lnTo>
                  <a:lnTo>
                    <a:pt x="91439" y="99822"/>
                  </a:lnTo>
                  <a:lnTo>
                    <a:pt x="93725" y="104394"/>
                  </a:lnTo>
                  <a:lnTo>
                    <a:pt x="99822" y="105918"/>
                  </a:lnTo>
                  <a:lnTo>
                    <a:pt x="104394" y="102870"/>
                  </a:lnTo>
                  <a:lnTo>
                    <a:pt x="108965" y="100584"/>
                  </a:lnTo>
                  <a:lnTo>
                    <a:pt x="110489" y="94488"/>
                  </a:lnTo>
                  <a:close/>
                </a:path>
                <a:path w="110490" h="467994">
                  <a:moveTo>
                    <a:pt x="54935" y="429917"/>
                  </a:moveTo>
                  <a:lnTo>
                    <a:pt x="19050" y="368046"/>
                  </a:lnTo>
                  <a:lnTo>
                    <a:pt x="16001" y="363474"/>
                  </a:lnTo>
                  <a:lnTo>
                    <a:pt x="10668" y="361950"/>
                  </a:lnTo>
                  <a:lnTo>
                    <a:pt x="6096" y="364236"/>
                  </a:lnTo>
                  <a:lnTo>
                    <a:pt x="1524" y="367284"/>
                  </a:lnTo>
                  <a:lnTo>
                    <a:pt x="0" y="372618"/>
                  </a:lnTo>
                  <a:lnTo>
                    <a:pt x="2285" y="377190"/>
                  </a:lnTo>
                  <a:lnTo>
                    <a:pt x="45720" y="452097"/>
                  </a:lnTo>
                  <a:lnTo>
                    <a:pt x="45720" y="448818"/>
                  </a:lnTo>
                  <a:lnTo>
                    <a:pt x="46481" y="448818"/>
                  </a:lnTo>
                  <a:lnTo>
                    <a:pt x="46481" y="444246"/>
                  </a:lnTo>
                  <a:lnTo>
                    <a:pt x="54935" y="429917"/>
                  </a:lnTo>
                  <a:close/>
                </a:path>
                <a:path w="110490" h="467994">
                  <a:moveTo>
                    <a:pt x="64770" y="54618"/>
                  </a:moveTo>
                  <a:lnTo>
                    <a:pt x="64770" y="19050"/>
                  </a:lnTo>
                  <a:lnTo>
                    <a:pt x="45720" y="19050"/>
                  </a:lnTo>
                  <a:lnTo>
                    <a:pt x="45720" y="53839"/>
                  </a:lnTo>
                  <a:lnTo>
                    <a:pt x="46481" y="52525"/>
                  </a:lnTo>
                  <a:lnTo>
                    <a:pt x="46481" y="23622"/>
                  </a:lnTo>
                  <a:lnTo>
                    <a:pt x="63246" y="23622"/>
                  </a:lnTo>
                  <a:lnTo>
                    <a:pt x="63246" y="52035"/>
                  </a:lnTo>
                  <a:lnTo>
                    <a:pt x="64770" y="54618"/>
                  </a:lnTo>
                  <a:close/>
                </a:path>
                <a:path w="110490" h="467994">
                  <a:moveTo>
                    <a:pt x="64770" y="413249"/>
                  </a:moveTo>
                  <a:lnTo>
                    <a:pt x="64770" y="54618"/>
                  </a:lnTo>
                  <a:lnTo>
                    <a:pt x="54935" y="37950"/>
                  </a:lnTo>
                  <a:lnTo>
                    <a:pt x="45720" y="53839"/>
                  </a:lnTo>
                  <a:lnTo>
                    <a:pt x="45720" y="414028"/>
                  </a:lnTo>
                  <a:lnTo>
                    <a:pt x="54935" y="429917"/>
                  </a:lnTo>
                  <a:lnTo>
                    <a:pt x="64770" y="413249"/>
                  </a:lnTo>
                  <a:close/>
                </a:path>
                <a:path w="110490" h="467994">
                  <a:moveTo>
                    <a:pt x="64770" y="450783"/>
                  </a:moveTo>
                  <a:lnTo>
                    <a:pt x="64770" y="448818"/>
                  </a:lnTo>
                  <a:lnTo>
                    <a:pt x="45720" y="448818"/>
                  </a:lnTo>
                  <a:lnTo>
                    <a:pt x="45720" y="452097"/>
                  </a:lnTo>
                  <a:lnTo>
                    <a:pt x="54863" y="467868"/>
                  </a:lnTo>
                  <a:lnTo>
                    <a:pt x="64770" y="450783"/>
                  </a:lnTo>
                  <a:close/>
                </a:path>
                <a:path w="110490" h="467994">
                  <a:moveTo>
                    <a:pt x="63246" y="23622"/>
                  </a:moveTo>
                  <a:lnTo>
                    <a:pt x="46481" y="23622"/>
                  </a:lnTo>
                  <a:lnTo>
                    <a:pt x="54935" y="37950"/>
                  </a:lnTo>
                  <a:lnTo>
                    <a:pt x="63246" y="23622"/>
                  </a:lnTo>
                  <a:close/>
                </a:path>
                <a:path w="110490" h="467994">
                  <a:moveTo>
                    <a:pt x="54935" y="37950"/>
                  </a:moveTo>
                  <a:lnTo>
                    <a:pt x="46481" y="23622"/>
                  </a:lnTo>
                  <a:lnTo>
                    <a:pt x="46481" y="52525"/>
                  </a:lnTo>
                  <a:lnTo>
                    <a:pt x="54935" y="37950"/>
                  </a:lnTo>
                  <a:close/>
                </a:path>
                <a:path w="110490" h="467994">
                  <a:moveTo>
                    <a:pt x="63246" y="444246"/>
                  </a:moveTo>
                  <a:lnTo>
                    <a:pt x="54935" y="429917"/>
                  </a:lnTo>
                  <a:lnTo>
                    <a:pt x="46481" y="444246"/>
                  </a:lnTo>
                  <a:lnTo>
                    <a:pt x="63246" y="444246"/>
                  </a:lnTo>
                  <a:close/>
                </a:path>
                <a:path w="110490" h="467994">
                  <a:moveTo>
                    <a:pt x="63246" y="448818"/>
                  </a:moveTo>
                  <a:lnTo>
                    <a:pt x="63246" y="444246"/>
                  </a:lnTo>
                  <a:lnTo>
                    <a:pt x="46481" y="444246"/>
                  </a:lnTo>
                  <a:lnTo>
                    <a:pt x="46481" y="448818"/>
                  </a:lnTo>
                  <a:lnTo>
                    <a:pt x="63246" y="448818"/>
                  </a:lnTo>
                  <a:close/>
                </a:path>
                <a:path w="110490" h="467994">
                  <a:moveTo>
                    <a:pt x="63246" y="52035"/>
                  </a:moveTo>
                  <a:lnTo>
                    <a:pt x="63246" y="23622"/>
                  </a:lnTo>
                  <a:lnTo>
                    <a:pt x="54935" y="37950"/>
                  </a:lnTo>
                  <a:lnTo>
                    <a:pt x="63246" y="52035"/>
                  </a:lnTo>
                  <a:close/>
                </a:path>
                <a:path w="110490" h="467994">
                  <a:moveTo>
                    <a:pt x="110489" y="372618"/>
                  </a:moveTo>
                  <a:lnTo>
                    <a:pt x="108965" y="367284"/>
                  </a:lnTo>
                  <a:lnTo>
                    <a:pt x="104394" y="364236"/>
                  </a:lnTo>
                  <a:lnTo>
                    <a:pt x="99822" y="361950"/>
                  </a:lnTo>
                  <a:lnTo>
                    <a:pt x="93725" y="363474"/>
                  </a:lnTo>
                  <a:lnTo>
                    <a:pt x="91439" y="368046"/>
                  </a:lnTo>
                  <a:lnTo>
                    <a:pt x="54935" y="429917"/>
                  </a:lnTo>
                  <a:lnTo>
                    <a:pt x="63246" y="444246"/>
                  </a:lnTo>
                  <a:lnTo>
                    <a:pt x="63246" y="448818"/>
                  </a:lnTo>
                  <a:lnTo>
                    <a:pt x="64770" y="448818"/>
                  </a:lnTo>
                  <a:lnTo>
                    <a:pt x="64770" y="450783"/>
                  </a:lnTo>
                  <a:lnTo>
                    <a:pt x="107442" y="377190"/>
                  </a:lnTo>
                  <a:lnTo>
                    <a:pt x="110489" y="372618"/>
                  </a:lnTo>
                  <a:close/>
                </a:path>
              </a:pathLst>
            </a:custGeom>
            <a:solidFill>
              <a:srgbClr val="FF00FF"/>
            </a:solidFill>
          </p:spPr>
          <p:txBody>
            <a:bodyPr wrap="square" lIns="0" tIns="0" rIns="0" bIns="0" rtlCol="0"/>
            <a:lstStyle/>
            <a:p>
              <a:pPr defTabSz="548626"/>
              <a:endParaRPr sz="1620">
                <a:solidFill>
                  <a:srgbClr val="3C3C3B"/>
                </a:solidFill>
                <a:latin typeface="Gill Sans MT" panose="020B0502020104020203"/>
              </a:endParaRPr>
            </a:p>
          </p:txBody>
        </p:sp>
        <p:sp>
          <p:nvSpPr>
            <p:cNvPr id="10" name="object 10"/>
            <p:cNvSpPr/>
            <p:nvPr/>
          </p:nvSpPr>
          <p:spPr>
            <a:xfrm>
              <a:off x="8840723" y="2505455"/>
              <a:ext cx="1125220" cy="38100"/>
            </a:xfrm>
            <a:custGeom>
              <a:avLst/>
              <a:gdLst/>
              <a:ahLst/>
              <a:cxnLst/>
              <a:rect l="l" t="t" r="r" b="b"/>
              <a:pathLst>
                <a:path w="1125220" h="38100">
                  <a:moveTo>
                    <a:pt x="1124712" y="38099"/>
                  </a:moveTo>
                  <a:lnTo>
                    <a:pt x="1124712" y="0"/>
                  </a:lnTo>
                  <a:lnTo>
                    <a:pt x="0" y="0"/>
                  </a:lnTo>
                  <a:lnTo>
                    <a:pt x="0" y="38100"/>
                  </a:lnTo>
                  <a:lnTo>
                    <a:pt x="1124712" y="38099"/>
                  </a:lnTo>
                  <a:close/>
                </a:path>
              </a:pathLst>
            </a:custGeom>
            <a:solidFill>
              <a:srgbClr val="FF00FF"/>
            </a:solidFill>
          </p:spPr>
          <p:txBody>
            <a:bodyPr wrap="square" lIns="0" tIns="0" rIns="0" bIns="0" rtlCol="0"/>
            <a:lstStyle/>
            <a:p>
              <a:pPr defTabSz="548626"/>
              <a:endParaRPr sz="1620">
                <a:solidFill>
                  <a:srgbClr val="3C3C3B"/>
                </a:solidFill>
                <a:latin typeface="Gill Sans MT" panose="020B0502020104020203"/>
              </a:endParaRPr>
            </a:p>
          </p:txBody>
        </p:sp>
      </p:grpSp>
      <p:sp>
        <p:nvSpPr>
          <p:cNvPr id="11" name="Slide Number Placeholder 10"/>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20</a:t>
            </a:fld>
            <a:endParaRPr lang="en-US" spc="-50" dirty="0"/>
          </a:p>
        </p:txBody>
      </p:sp>
      <p:sp>
        <p:nvSpPr>
          <p:cNvPr id="12" name="Date Placeholder 11"/>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3" name="Footer Placeholder 12"/>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65215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5313" y="310330"/>
            <a:ext cx="4050665" cy="596958"/>
          </a:xfrm>
          <a:prstGeom prst="rect">
            <a:avLst/>
          </a:prstGeom>
        </p:spPr>
        <p:txBody>
          <a:bodyPr vert="horz" wrap="square" lIns="0" tIns="12065" rIns="0" bIns="0" rtlCol="0" anchor="b" anchorCtr="0">
            <a:spAutoFit/>
          </a:bodyPr>
          <a:lstStyle/>
          <a:p>
            <a:pPr marL="12700">
              <a:spcBef>
                <a:spcPts val="95"/>
              </a:spcBef>
              <a:tabLst>
                <a:tab pos="1058519" algn="l"/>
              </a:tabLst>
            </a:pPr>
            <a:r>
              <a:rPr sz="3800" spc="-5" dirty="0">
                <a:latin typeface="Verdana"/>
                <a:cs typeface="Verdana"/>
              </a:rPr>
              <a:t>Eye	Diagram</a:t>
            </a:r>
            <a:r>
              <a:rPr sz="3800" spc="-31" dirty="0">
                <a:latin typeface="Verdana"/>
                <a:cs typeface="Verdana"/>
              </a:rPr>
              <a:t> </a:t>
            </a:r>
            <a:r>
              <a:rPr sz="3800" spc="-11" dirty="0">
                <a:latin typeface="Verdana"/>
                <a:cs typeface="Verdana"/>
              </a:rPr>
              <a:t>(2)</a:t>
            </a:r>
            <a:endParaRPr sz="3800">
              <a:latin typeface="Verdana"/>
              <a:cs typeface="Verdana"/>
            </a:endParaRPr>
          </a:p>
        </p:txBody>
      </p:sp>
      <p:sp>
        <p:nvSpPr>
          <p:cNvPr id="3" name="object 3"/>
          <p:cNvSpPr txBox="1"/>
          <p:nvPr/>
        </p:nvSpPr>
        <p:spPr>
          <a:xfrm>
            <a:off x="1092962" y="4915153"/>
            <a:ext cx="3672204" cy="319959"/>
          </a:xfrm>
          <a:prstGeom prst="rect">
            <a:avLst/>
          </a:prstGeom>
        </p:spPr>
        <p:txBody>
          <a:bodyPr vert="horz" wrap="square" lIns="0" tIns="12065" rIns="0" bIns="0" rtlCol="0">
            <a:spAutoFit/>
          </a:bodyPr>
          <a:lstStyle/>
          <a:p>
            <a:pPr marL="12700" defTabSz="548626">
              <a:spcBef>
                <a:spcPts val="95"/>
              </a:spcBef>
              <a:tabLst>
                <a:tab pos="482588" algn="l"/>
              </a:tabLst>
            </a:pPr>
            <a:r>
              <a:rPr sz="2000" spc="-5" dirty="0">
                <a:solidFill>
                  <a:srgbClr val="CC0000"/>
                </a:solidFill>
                <a:latin typeface="Wingdings"/>
                <a:cs typeface="Wingdings"/>
              </a:rPr>
              <a:t></a:t>
            </a:r>
            <a:r>
              <a:rPr sz="2000" spc="-5" dirty="0">
                <a:solidFill>
                  <a:srgbClr val="CC0000"/>
                </a:solidFill>
                <a:latin typeface="Times New Roman"/>
                <a:cs typeface="Times New Roman"/>
              </a:rPr>
              <a:t>	</a:t>
            </a:r>
            <a:r>
              <a:rPr sz="2000" spc="-5" dirty="0">
                <a:solidFill>
                  <a:srgbClr val="3C3C3B"/>
                </a:solidFill>
                <a:latin typeface="Verdana"/>
                <a:cs typeface="Verdana"/>
              </a:rPr>
              <a:t>ISI</a:t>
            </a:r>
            <a:r>
              <a:rPr sz="2000" spc="-25" dirty="0">
                <a:solidFill>
                  <a:srgbClr val="3C3C3B"/>
                </a:solidFill>
                <a:latin typeface="Verdana"/>
                <a:cs typeface="Verdana"/>
              </a:rPr>
              <a:t> </a:t>
            </a:r>
            <a:r>
              <a:rPr sz="2000" spc="-11" dirty="0">
                <a:solidFill>
                  <a:srgbClr val="3C3C3B"/>
                </a:solidFill>
                <a:latin typeface="Verdana"/>
                <a:cs typeface="Verdana"/>
              </a:rPr>
              <a:t>reduces</a:t>
            </a:r>
            <a:r>
              <a:rPr sz="2000" spc="-15" dirty="0">
                <a:solidFill>
                  <a:srgbClr val="3C3C3B"/>
                </a:solidFill>
                <a:latin typeface="Verdana"/>
                <a:cs typeface="Verdana"/>
              </a:rPr>
              <a:t> </a:t>
            </a:r>
            <a:r>
              <a:rPr sz="2000" spc="-5" dirty="0">
                <a:solidFill>
                  <a:srgbClr val="3C3C3B"/>
                </a:solidFill>
                <a:latin typeface="Verdana"/>
                <a:cs typeface="Verdana"/>
              </a:rPr>
              <a:t>the</a:t>
            </a:r>
            <a:r>
              <a:rPr sz="2000" spc="-15" dirty="0">
                <a:solidFill>
                  <a:srgbClr val="3C3C3B"/>
                </a:solidFill>
                <a:latin typeface="Verdana"/>
                <a:cs typeface="Verdana"/>
              </a:rPr>
              <a:t> </a:t>
            </a:r>
            <a:r>
              <a:rPr sz="2000" spc="-5" dirty="0">
                <a:solidFill>
                  <a:srgbClr val="3C3C3B"/>
                </a:solidFill>
                <a:latin typeface="Verdana"/>
                <a:cs typeface="Verdana"/>
              </a:rPr>
              <a:t>eye</a:t>
            </a:r>
            <a:r>
              <a:rPr sz="2000" spc="-15" dirty="0">
                <a:solidFill>
                  <a:srgbClr val="3C3C3B"/>
                </a:solidFill>
                <a:latin typeface="Verdana"/>
                <a:cs typeface="Verdana"/>
              </a:rPr>
              <a:t> </a:t>
            </a:r>
            <a:r>
              <a:rPr sz="2000" spc="-11" dirty="0">
                <a:solidFill>
                  <a:srgbClr val="3C3C3B"/>
                </a:solidFill>
                <a:latin typeface="Verdana"/>
                <a:cs typeface="Verdana"/>
              </a:rPr>
              <a:t>size.</a:t>
            </a:r>
            <a:endParaRPr sz="2000">
              <a:solidFill>
                <a:srgbClr val="3C3C3B"/>
              </a:solidFill>
              <a:latin typeface="Verdana"/>
              <a:cs typeface="Verdana"/>
            </a:endParaRPr>
          </a:p>
        </p:txBody>
      </p:sp>
      <p:sp>
        <p:nvSpPr>
          <p:cNvPr id="4" name="object 4"/>
          <p:cNvSpPr txBox="1"/>
          <p:nvPr/>
        </p:nvSpPr>
        <p:spPr>
          <a:xfrm>
            <a:off x="7230875" y="3472685"/>
            <a:ext cx="516255" cy="319959"/>
          </a:xfrm>
          <a:prstGeom prst="rect">
            <a:avLst/>
          </a:prstGeom>
        </p:spPr>
        <p:txBody>
          <a:bodyPr vert="horz" wrap="square" lIns="0" tIns="12065" rIns="0" bIns="0" rtlCol="0">
            <a:spAutoFit/>
          </a:bodyPr>
          <a:lstStyle/>
          <a:p>
            <a:pPr marL="12700" defTabSz="548626">
              <a:spcBef>
                <a:spcPts val="95"/>
              </a:spcBef>
            </a:pPr>
            <a:r>
              <a:rPr sz="2000" b="1" spc="-5" dirty="0">
                <a:solidFill>
                  <a:srgbClr val="FF00FF"/>
                </a:solidFill>
                <a:latin typeface="Verdana"/>
                <a:cs typeface="Verdana"/>
              </a:rPr>
              <a:t>Vth</a:t>
            </a:r>
            <a:endParaRPr sz="2000">
              <a:solidFill>
                <a:srgbClr val="3C3C3B"/>
              </a:solidFill>
              <a:latin typeface="Verdana"/>
              <a:cs typeface="Verdana"/>
            </a:endParaRPr>
          </a:p>
        </p:txBody>
      </p:sp>
      <p:sp>
        <p:nvSpPr>
          <p:cNvPr id="5" name="object 5"/>
          <p:cNvSpPr/>
          <p:nvPr/>
        </p:nvSpPr>
        <p:spPr>
          <a:xfrm>
            <a:off x="1789939" y="1216914"/>
            <a:ext cx="1795780" cy="1511300"/>
          </a:xfrm>
          <a:custGeom>
            <a:avLst/>
            <a:gdLst/>
            <a:ahLst/>
            <a:cxnLst/>
            <a:rect l="l" t="t" r="r" b="b"/>
            <a:pathLst>
              <a:path w="1795779" h="1511300">
                <a:moveTo>
                  <a:pt x="0" y="55625"/>
                </a:moveTo>
                <a:lnTo>
                  <a:pt x="4572" y="92963"/>
                </a:lnTo>
                <a:lnTo>
                  <a:pt x="6096" y="108203"/>
                </a:lnTo>
                <a:lnTo>
                  <a:pt x="6858" y="126491"/>
                </a:lnTo>
                <a:lnTo>
                  <a:pt x="7620" y="149351"/>
                </a:lnTo>
                <a:lnTo>
                  <a:pt x="8382" y="179831"/>
                </a:lnTo>
                <a:lnTo>
                  <a:pt x="9144" y="219455"/>
                </a:lnTo>
                <a:lnTo>
                  <a:pt x="10668" y="272795"/>
                </a:lnTo>
                <a:lnTo>
                  <a:pt x="11430" y="344423"/>
                </a:lnTo>
                <a:lnTo>
                  <a:pt x="12192" y="441959"/>
                </a:lnTo>
                <a:lnTo>
                  <a:pt x="12954" y="568452"/>
                </a:lnTo>
                <a:lnTo>
                  <a:pt x="14478" y="867918"/>
                </a:lnTo>
                <a:lnTo>
                  <a:pt x="16002" y="998982"/>
                </a:lnTo>
                <a:lnTo>
                  <a:pt x="16764" y="1101852"/>
                </a:lnTo>
                <a:lnTo>
                  <a:pt x="17526" y="1183386"/>
                </a:lnTo>
                <a:lnTo>
                  <a:pt x="18288" y="1242822"/>
                </a:lnTo>
                <a:lnTo>
                  <a:pt x="19050" y="1289304"/>
                </a:lnTo>
                <a:lnTo>
                  <a:pt x="20574" y="1354836"/>
                </a:lnTo>
                <a:lnTo>
                  <a:pt x="22098" y="1378458"/>
                </a:lnTo>
                <a:lnTo>
                  <a:pt x="22860" y="1398270"/>
                </a:lnTo>
                <a:lnTo>
                  <a:pt x="23622" y="1414272"/>
                </a:lnTo>
                <a:lnTo>
                  <a:pt x="24384" y="1428750"/>
                </a:lnTo>
                <a:lnTo>
                  <a:pt x="25146" y="1440180"/>
                </a:lnTo>
                <a:lnTo>
                  <a:pt x="26670" y="1450848"/>
                </a:lnTo>
                <a:lnTo>
                  <a:pt x="27432" y="1459992"/>
                </a:lnTo>
                <a:lnTo>
                  <a:pt x="28194" y="1467612"/>
                </a:lnTo>
                <a:lnTo>
                  <a:pt x="28956" y="1474470"/>
                </a:lnTo>
                <a:lnTo>
                  <a:pt x="29718" y="1480566"/>
                </a:lnTo>
                <a:lnTo>
                  <a:pt x="31242" y="1485900"/>
                </a:lnTo>
                <a:lnTo>
                  <a:pt x="32766" y="1495044"/>
                </a:lnTo>
                <a:lnTo>
                  <a:pt x="34290" y="1501139"/>
                </a:lnTo>
                <a:lnTo>
                  <a:pt x="35814" y="1503426"/>
                </a:lnTo>
                <a:lnTo>
                  <a:pt x="37338" y="1506473"/>
                </a:lnTo>
                <a:lnTo>
                  <a:pt x="38862" y="1506473"/>
                </a:lnTo>
                <a:lnTo>
                  <a:pt x="39624" y="1504188"/>
                </a:lnTo>
                <a:lnTo>
                  <a:pt x="41148" y="1500378"/>
                </a:lnTo>
                <a:lnTo>
                  <a:pt x="41910" y="1495044"/>
                </a:lnTo>
                <a:lnTo>
                  <a:pt x="42672" y="1487423"/>
                </a:lnTo>
                <a:lnTo>
                  <a:pt x="43434" y="1480566"/>
                </a:lnTo>
                <a:lnTo>
                  <a:pt x="48006" y="1465326"/>
                </a:lnTo>
                <a:lnTo>
                  <a:pt x="48768" y="1463802"/>
                </a:lnTo>
                <a:lnTo>
                  <a:pt x="49530" y="1463802"/>
                </a:lnTo>
                <a:lnTo>
                  <a:pt x="50292" y="1463039"/>
                </a:lnTo>
                <a:lnTo>
                  <a:pt x="53340" y="1463039"/>
                </a:lnTo>
                <a:lnTo>
                  <a:pt x="54102" y="1463802"/>
                </a:lnTo>
                <a:lnTo>
                  <a:pt x="56388" y="1463802"/>
                </a:lnTo>
                <a:lnTo>
                  <a:pt x="57150" y="1464564"/>
                </a:lnTo>
                <a:lnTo>
                  <a:pt x="57912" y="1464564"/>
                </a:lnTo>
                <a:lnTo>
                  <a:pt x="58674" y="1465326"/>
                </a:lnTo>
                <a:lnTo>
                  <a:pt x="59436" y="1465326"/>
                </a:lnTo>
                <a:lnTo>
                  <a:pt x="60960" y="1466088"/>
                </a:lnTo>
                <a:lnTo>
                  <a:pt x="62484" y="1466088"/>
                </a:lnTo>
                <a:lnTo>
                  <a:pt x="63246" y="1466850"/>
                </a:lnTo>
                <a:lnTo>
                  <a:pt x="64008" y="1466850"/>
                </a:lnTo>
                <a:lnTo>
                  <a:pt x="65532" y="1467612"/>
                </a:lnTo>
                <a:lnTo>
                  <a:pt x="66294" y="1467612"/>
                </a:lnTo>
                <a:lnTo>
                  <a:pt x="67056" y="1468373"/>
                </a:lnTo>
                <a:lnTo>
                  <a:pt x="67818" y="1468373"/>
                </a:lnTo>
                <a:lnTo>
                  <a:pt x="68580" y="1469136"/>
                </a:lnTo>
                <a:lnTo>
                  <a:pt x="70104" y="1469136"/>
                </a:lnTo>
                <a:lnTo>
                  <a:pt x="70866" y="1469898"/>
                </a:lnTo>
                <a:lnTo>
                  <a:pt x="73152" y="1469898"/>
                </a:lnTo>
                <a:lnTo>
                  <a:pt x="73914" y="1470660"/>
                </a:lnTo>
                <a:lnTo>
                  <a:pt x="74676" y="1472945"/>
                </a:lnTo>
                <a:lnTo>
                  <a:pt x="76962" y="1472945"/>
                </a:lnTo>
                <a:lnTo>
                  <a:pt x="77724" y="1473708"/>
                </a:lnTo>
                <a:lnTo>
                  <a:pt x="78486" y="1473708"/>
                </a:lnTo>
                <a:lnTo>
                  <a:pt x="79248" y="1474470"/>
                </a:lnTo>
                <a:lnTo>
                  <a:pt x="82296" y="1474470"/>
                </a:lnTo>
                <a:lnTo>
                  <a:pt x="83058" y="1475232"/>
                </a:lnTo>
                <a:lnTo>
                  <a:pt x="86106" y="1475232"/>
                </a:lnTo>
                <a:lnTo>
                  <a:pt x="86868" y="1475994"/>
                </a:lnTo>
                <a:lnTo>
                  <a:pt x="90678" y="1475994"/>
                </a:lnTo>
                <a:lnTo>
                  <a:pt x="91440" y="1476756"/>
                </a:lnTo>
                <a:lnTo>
                  <a:pt x="92964" y="1476756"/>
                </a:lnTo>
                <a:lnTo>
                  <a:pt x="93726" y="1477517"/>
                </a:lnTo>
                <a:lnTo>
                  <a:pt x="99060" y="1477517"/>
                </a:lnTo>
                <a:lnTo>
                  <a:pt x="99822" y="1478280"/>
                </a:lnTo>
                <a:lnTo>
                  <a:pt x="102870" y="1478280"/>
                </a:lnTo>
                <a:lnTo>
                  <a:pt x="103632" y="1475994"/>
                </a:lnTo>
                <a:lnTo>
                  <a:pt x="122682" y="1475994"/>
                </a:lnTo>
                <a:lnTo>
                  <a:pt x="123444" y="1475232"/>
                </a:lnTo>
                <a:lnTo>
                  <a:pt x="128778" y="1475232"/>
                </a:lnTo>
                <a:lnTo>
                  <a:pt x="129540" y="1474470"/>
                </a:lnTo>
                <a:lnTo>
                  <a:pt x="131826" y="1474470"/>
                </a:lnTo>
                <a:lnTo>
                  <a:pt x="132588" y="1472184"/>
                </a:lnTo>
                <a:lnTo>
                  <a:pt x="134112" y="1472184"/>
                </a:lnTo>
                <a:lnTo>
                  <a:pt x="134874" y="1471422"/>
                </a:lnTo>
                <a:lnTo>
                  <a:pt x="137160" y="1471422"/>
                </a:lnTo>
                <a:lnTo>
                  <a:pt x="137922" y="1470660"/>
                </a:lnTo>
                <a:lnTo>
                  <a:pt x="138684" y="1470660"/>
                </a:lnTo>
                <a:lnTo>
                  <a:pt x="139446" y="1469898"/>
                </a:lnTo>
                <a:lnTo>
                  <a:pt x="142494" y="1469898"/>
                </a:lnTo>
                <a:lnTo>
                  <a:pt x="143256" y="1469136"/>
                </a:lnTo>
                <a:lnTo>
                  <a:pt x="144780" y="1469136"/>
                </a:lnTo>
                <a:lnTo>
                  <a:pt x="146304" y="1468373"/>
                </a:lnTo>
                <a:lnTo>
                  <a:pt x="150114" y="1468373"/>
                </a:lnTo>
                <a:lnTo>
                  <a:pt x="151638" y="1469898"/>
                </a:lnTo>
                <a:lnTo>
                  <a:pt x="153162" y="1470660"/>
                </a:lnTo>
                <a:lnTo>
                  <a:pt x="153924" y="1472184"/>
                </a:lnTo>
                <a:lnTo>
                  <a:pt x="154686" y="1475232"/>
                </a:lnTo>
                <a:lnTo>
                  <a:pt x="155448" y="1479042"/>
                </a:lnTo>
                <a:lnTo>
                  <a:pt x="156210" y="1484376"/>
                </a:lnTo>
                <a:lnTo>
                  <a:pt x="157734" y="1490472"/>
                </a:lnTo>
                <a:lnTo>
                  <a:pt x="158496" y="1496567"/>
                </a:lnTo>
                <a:lnTo>
                  <a:pt x="159258" y="1501902"/>
                </a:lnTo>
                <a:lnTo>
                  <a:pt x="160020" y="1505712"/>
                </a:lnTo>
                <a:lnTo>
                  <a:pt x="160782" y="1510284"/>
                </a:lnTo>
                <a:lnTo>
                  <a:pt x="162306" y="1511045"/>
                </a:lnTo>
                <a:lnTo>
                  <a:pt x="163830" y="1511045"/>
                </a:lnTo>
                <a:lnTo>
                  <a:pt x="164592" y="1510284"/>
                </a:lnTo>
                <a:lnTo>
                  <a:pt x="165354" y="1508760"/>
                </a:lnTo>
                <a:lnTo>
                  <a:pt x="166878" y="1506473"/>
                </a:lnTo>
                <a:lnTo>
                  <a:pt x="167640" y="1504188"/>
                </a:lnTo>
                <a:lnTo>
                  <a:pt x="169164" y="1498092"/>
                </a:lnTo>
                <a:lnTo>
                  <a:pt x="169926" y="1493520"/>
                </a:lnTo>
                <a:lnTo>
                  <a:pt x="171450" y="1489710"/>
                </a:lnTo>
                <a:lnTo>
                  <a:pt x="176022" y="1442466"/>
                </a:lnTo>
                <a:lnTo>
                  <a:pt x="177546" y="1428750"/>
                </a:lnTo>
                <a:lnTo>
                  <a:pt x="179832" y="1369314"/>
                </a:lnTo>
                <a:lnTo>
                  <a:pt x="181356" y="1298448"/>
                </a:lnTo>
                <a:lnTo>
                  <a:pt x="182880" y="1245870"/>
                </a:lnTo>
                <a:lnTo>
                  <a:pt x="183642" y="1175004"/>
                </a:lnTo>
                <a:lnTo>
                  <a:pt x="184404" y="1078992"/>
                </a:lnTo>
                <a:lnTo>
                  <a:pt x="185166" y="955547"/>
                </a:lnTo>
                <a:lnTo>
                  <a:pt x="185928" y="810005"/>
                </a:lnTo>
                <a:lnTo>
                  <a:pt x="187452" y="662940"/>
                </a:lnTo>
                <a:lnTo>
                  <a:pt x="188214" y="535685"/>
                </a:lnTo>
                <a:lnTo>
                  <a:pt x="188976" y="434339"/>
                </a:lnTo>
                <a:lnTo>
                  <a:pt x="189738" y="355091"/>
                </a:lnTo>
                <a:lnTo>
                  <a:pt x="190500" y="296417"/>
                </a:lnTo>
                <a:lnTo>
                  <a:pt x="192024" y="251459"/>
                </a:lnTo>
                <a:lnTo>
                  <a:pt x="192786" y="215645"/>
                </a:lnTo>
                <a:lnTo>
                  <a:pt x="193548" y="186689"/>
                </a:lnTo>
                <a:lnTo>
                  <a:pt x="194310" y="163067"/>
                </a:lnTo>
                <a:lnTo>
                  <a:pt x="195072" y="143255"/>
                </a:lnTo>
                <a:lnTo>
                  <a:pt x="196596" y="127253"/>
                </a:lnTo>
                <a:lnTo>
                  <a:pt x="197358" y="113537"/>
                </a:lnTo>
                <a:lnTo>
                  <a:pt x="200406" y="73913"/>
                </a:lnTo>
                <a:lnTo>
                  <a:pt x="202692" y="60959"/>
                </a:lnTo>
                <a:lnTo>
                  <a:pt x="203454" y="55625"/>
                </a:lnTo>
                <a:lnTo>
                  <a:pt x="204978" y="46481"/>
                </a:lnTo>
                <a:lnTo>
                  <a:pt x="205740" y="42671"/>
                </a:lnTo>
                <a:lnTo>
                  <a:pt x="206502" y="39623"/>
                </a:lnTo>
                <a:lnTo>
                  <a:pt x="208026" y="36575"/>
                </a:lnTo>
                <a:lnTo>
                  <a:pt x="208788" y="33527"/>
                </a:lnTo>
                <a:lnTo>
                  <a:pt x="209550" y="31241"/>
                </a:lnTo>
                <a:lnTo>
                  <a:pt x="211074" y="28193"/>
                </a:lnTo>
                <a:lnTo>
                  <a:pt x="212597" y="27431"/>
                </a:lnTo>
                <a:lnTo>
                  <a:pt x="213360" y="26669"/>
                </a:lnTo>
                <a:lnTo>
                  <a:pt x="214122" y="26669"/>
                </a:lnTo>
                <a:lnTo>
                  <a:pt x="214884" y="27431"/>
                </a:lnTo>
                <a:lnTo>
                  <a:pt x="215646" y="27431"/>
                </a:lnTo>
                <a:lnTo>
                  <a:pt x="217170" y="28193"/>
                </a:lnTo>
                <a:lnTo>
                  <a:pt x="217932" y="28955"/>
                </a:lnTo>
                <a:lnTo>
                  <a:pt x="218694" y="31241"/>
                </a:lnTo>
                <a:lnTo>
                  <a:pt x="219456" y="32003"/>
                </a:lnTo>
                <a:lnTo>
                  <a:pt x="220218" y="33527"/>
                </a:lnTo>
                <a:lnTo>
                  <a:pt x="221742" y="34289"/>
                </a:lnTo>
                <a:lnTo>
                  <a:pt x="222504" y="35051"/>
                </a:lnTo>
                <a:lnTo>
                  <a:pt x="223265" y="37337"/>
                </a:lnTo>
                <a:lnTo>
                  <a:pt x="224028" y="38861"/>
                </a:lnTo>
                <a:lnTo>
                  <a:pt x="225552" y="43433"/>
                </a:lnTo>
                <a:lnTo>
                  <a:pt x="226314" y="46481"/>
                </a:lnTo>
                <a:lnTo>
                  <a:pt x="227838" y="49529"/>
                </a:lnTo>
                <a:lnTo>
                  <a:pt x="229361" y="58673"/>
                </a:lnTo>
                <a:lnTo>
                  <a:pt x="230124" y="64007"/>
                </a:lnTo>
                <a:lnTo>
                  <a:pt x="230886" y="70865"/>
                </a:lnTo>
                <a:lnTo>
                  <a:pt x="231647" y="78485"/>
                </a:lnTo>
                <a:lnTo>
                  <a:pt x="233172" y="86867"/>
                </a:lnTo>
                <a:lnTo>
                  <a:pt x="233934" y="98297"/>
                </a:lnTo>
                <a:lnTo>
                  <a:pt x="234696" y="111251"/>
                </a:lnTo>
                <a:lnTo>
                  <a:pt x="235458" y="126491"/>
                </a:lnTo>
                <a:lnTo>
                  <a:pt x="236220" y="146303"/>
                </a:lnTo>
                <a:lnTo>
                  <a:pt x="237744" y="170687"/>
                </a:lnTo>
                <a:lnTo>
                  <a:pt x="238506" y="201929"/>
                </a:lnTo>
                <a:lnTo>
                  <a:pt x="239268" y="243077"/>
                </a:lnTo>
                <a:lnTo>
                  <a:pt x="240029" y="297179"/>
                </a:lnTo>
                <a:lnTo>
                  <a:pt x="240792" y="370331"/>
                </a:lnTo>
                <a:lnTo>
                  <a:pt x="242316" y="469391"/>
                </a:lnTo>
                <a:lnTo>
                  <a:pt x="243078" y="598932"/>
                </a:lnTo>
                <a:lnTo>
                  <a:pt x="244602" y="903732"/>
                </a:lnTo>
                <a:lnTo>
                  <a:pt x="245364" y="1036319"/>
                </a:lnTo>
                <a:lnTo>
                  <a:pt x="246888" y="1140714"/>
                </a:lnTo>
                <a:lnTo>
                  <a:pt x="247650" y="1218438"/>
                </a:lnTo>
                <a:lnTo>
                  <a:pt x="248412" y="1277873"/>
                </a:lnTo>
                <a:lnTo>
                  <a:pt x="249174" y="1323594"/>
                </a:lnTo>
                <a:lnTo>
                  <a:pt x="249936" y="1358645"/>
                </a:lnTo>
                <a:lnTo>
                  <a:pt x="250698" y="1386839"/>
                </a:lnTo>
                <a:lnTo>
                  <a:pt x="252222" y="1408176"/>
                </a:lnTo>
                <a:lnTo>
                  <a:pt x="252984" y="1425702"/>
                </a:lnTo>
                <a:lnTo>
                  <a:pt x="256032" y="1466088"/>
                </a:lnTo>
                <a:lnTo>
                  <a:pt x="259080" y="1473708"/>
                </a:lnTo>
                <a:lnTo>
                  <a:pt x="259842" y="1472945"/>
                </a:lnTo>
                <a:lnTo>
                  <a:pt x="260604" y="1469898"/>
                </a:lnTo>
                <a:lnTo>
                  <a:pt x="261366" y="1465326"/>
                </a:lnTo>
                <a:lnTo>
                  <a:pt x="262890" y="1457706"/>
                </a:lnTo>
                <a:lnTo>
                  <a:pt x="265176" y="1416558"/>
                </a:lnTo>
                <a:lnTo>
                  <a:pt x="266700" y="1363217"/>
                </a:lnTo>
                <a:lnTo>
                  <a:pt x="268224" y="1322070"/>
                </a:lnTo>
                <a:lnTo>
                  <a:pt x="268986" y="1267206"/>
                </a:lnTo>
                <a:lnTo>
                  <a:pt x="269748" y="1191006"/>
                </a:lnTo>
                <a:lnTo>
                  <a:pt x="270510" y="1088136"/>
                </a:lnTo>
                <a:lnTo>
                  <a:pt x="271272" y="953262"/>
                </a:lnTo>
                <a:lnTo>
                  <a:pt x="272796" y="794004"/>
                </a:lnTo>
                <a:lnTo>
                  <a:pt x="273558" y="633221"/>
                </a:lnTo>
                <a:lnTo>
                  <a:pt x="274320" y="493775"/>
                </a:lnTo>
                <a:lnTo>
                  <a:pt x="275082" y="384047"/>
                </a:lnTo>
                <a:lnTo>
                  <a:pt x="275844" y="303275"/>
                </a:lnTo>
                <a:lnTo>
                  <a:pt x="277368" y="240791"/>
                </a:lnTo>
                <a:lnTo>
                  <a:pt x="278130" y="193547"/>
                </a:lnTo>
                <a:lnTo>
                  <a:pt x="279654" y="128015"/>
                </a:lnTo>
                <a:lnTo>
                  <a:pt x="281178" y="87629"/>
                </a:lnTo>
                <a:lnTo>
                  <a:pt x="283464" y="62483"/>
                </a:lnTo>
                <a:lnTo>
                  <a:pt x="284226" y="54101"/>
                </a:lnTo>
                <a:lnTo>
                  <a:pt x="284988" y="48005"/>
                </a:lnTo>
                <a:lnTo>
                  <a:pt x="285750" y="43433"/>
                </a:lnTo>
                <a:lnTo>
                  <a:pt x="286512" y="40385"/>
                </a:lnTo>
                <a:lnTo>
                  <a:pt x="287274" y="39623"/>
                </a:lnTo>
                <a:lnTo>
                  <a:pt x="288798" y="41147"/>
                </a:lnTo>
                <a:lnTo>
                  <a:pt x="289560" y="44195"/>
                </a:lnTo>
                <a:lnTo>
                  <a:pt x="290322" y="48767"/>
                </a:lnTo>
                <a:lnTo>
                  <a:pt x="291084" y="56387"/>
                </a:lnTo>
                <a:lnTo>
                  <a:pt x="291846" y="66293"/>
                </a:lnTo>
                <a:lnTo>
                  <a:pt x="293370" y="80009"/>
                </a:lnTo>
                <a:lnTo>
                  <a:pt x="294132" y="97535"/>
                </a:lnTo>
                <a:lnTo>
                  <a:pt x="294894" y="120395"/>
                </a:lnTo>
                <a:lnTo>
                  <a:pt x="295656" y="151637"/>
                </a:lnTo>
                <a:lnTo>
                  <a:pt x="296418" y="192785"/>
                </a:lnTo>
                <a:lnTo>
                  <a:pt x="297942" y="247649"/>
                </a:lnTo>
                <a:lnTo>
                  <a:pt x="298704" y="323849"/>
                </a:lnTo>
                <a:lnTo>
                  <a:pt x="299466" y="427481"/>
                </a:lnTo>
                <a:lnTo>
                  <a:pt x="300228" y="562355"/>
                </a:lnTo>
                <a:lnTo>
                  <a:pt x="300990" y="721613"/>
                </a:lnTo>
                <a:lnTo>
                  <a:pt x="302514" y="882395"/>
                </a:lnTo>
                <a:lnTo>
                  <a:pt x="303276" y="1021841"/>
                </a:lnTo>
                <a:lnTo>
                  <a:pt x="304038" y="1131570"/>
                </a:lnTo>
                <a:lnTo>
                  <a:pt x="304800" y="1212342"/>
                </a:lnTo>
                <a:lnTo>
                  <a:pt x="305562" y="1274826"/>
                </a:lnTo>
                <a:lnTo>
                  <a:pt x="306324" y="1322070"/>
                </a:lnTo>
                <a:lnTo>
                  <a:pt x="308610" y="1387602"/>
                </a:lnTo>
                <a:lnTo>
                  <a:pt x="309372" y="1410462"/>
                </a:lnTo>
                <a:lnTo>
                  <a:pt x="311658" y="1453895"/>
                </a:lnTo>
                <a:lnTo>
                  <a:pt x="313944" y="1469136"/>
                </a:lnTo>
                <a:lnTo>
                  <a:pt x="314706" y="1472945"/>
                </a:lnTo>
                <a:lnTo>
                  <a:pt x="315468" y="1475994"/>
                </a:lnTo>
                <a:lnTo>
                  <a:pt x="316230" y="1476756"/>
                </a:lnTo>
                <a:lnTo>
                  <a:pt x="316992" y="1475994"/>
                </a:lnTo>
                <a:lnTo>
                  <a:pt x="321564" y="1437132"/>
                </a:lnTo>
                <a:lnTo>
                  <a:pt x="323088" y="1419606"/>
                </a:lnTo>
                <a:lnTo>
                  <a:pt x="323850" y="1395984"/>
                </a:lnTo>
                <a:lnTo>
                  <a:pt x="324612" y="1365504"/>
                </a:lnTo>
                <a:lnTo>
                  <a:pt x="325374" y="1324356"/>
                </a:lnTo>
                <a:lnTo>
                  <a:pt x="326136" y="1269492"/>
                </a:lnTo>
                <a:lnTo>
                  <a:pt x="327660" y="1193292"/>
                </a:lnTo>
                <a:lnTo>
                  <a:pt x="328422" y="1090422"/>
                </a:lnTo>
                <a:lnTo>
                  <a:pt x="329184" y="954785"/>
                </a:lnTo>
                <a:lnTo>
                  <a:pt x="330708" y="634746"/>
                </a:lnTo>
                <a:lnTo>
                  <a:pt x="331470" y="495299"/>
                </a:lnTo>
                <a:lnTo>
                  <a:pt x="332994" y="386333"/>
                </a:lnTo>
                <a:lnTo>
                  <a:pt x="333756" y="304799"/>
                </a:lnTo>
                <a:lnTo>
                  <a:pt x="334518" y="242315"/>
                </a:lnTo>
                <a:lnTo>
                  <a:pt x="335280" y="195071"/>
                </a:lnTo>
                <a:lnTo>
                  <a:pt x="336804" y="129539"/>
                </a:lnTo>
                <a:lnTo>
                  <a:pt x="339090" y="89153"/>
                </a:lnTo>
                <a:lnTo>
                  <a:pt x="339852" y="74675"/>
                </a:lnTo>
                <a:lnTo>
                  <a:pt x="345186" y="41147"/>
                </a:lnTo>
                <a:lnTo>
                  <a:pt x="345948" y="41909"/>
                </a:lnTo>
                <a:lnTo>
                  <a:pt x="346710" y="44957"/>
                </a:lnTo>
                <a:lnTo>
                  <a:pt x="348234" y="49529"/>
                </a:lnTo>
                <a:lnTo>
                  <a:pt x="348996" y="57149"/>
                </a:lnTo>
                <a:lnTo>
                  <a:pt x="349758" y="67055"/>
                </a:lnTo>
                <a:lnTo>
                  <a:pt x="350520" y="80771"/>
                </a:lnTo>
                <a:lnTo>
                  <a:pt x="351282" y="98297"/>
                </a:lnTo>
                <a:lnTo>
                  <a:pt x="352806" y="121157"/>
                </a:lnTo>
                <a:lnTo>
                  <a:pt x="354330" y="192785"/>
                </a:lnTo>
                <a:lnTo>
                  <a:pt x="355092" y="248411"/>
                </a:lnTo>
                <a:lnTo>
                  <a:pt x="355854" y="324611"/>
                </a:lnTo>
                <a:lnTo>
                  <a:pt x="356616" y="427481"/>
                </a:lnTo>
                <a:lnTo>
                  <a:pt x="358140" y="562355"/>
                </a:lnTo>
                <a:lnTo>
                  <a:pt x="359664" y="883157"/>
                </a:lnTo>
                <a:lnTo>
                  <a:pt x="360426" y="1021841"/>
                </a:lnTo>
                <a:lnTo>
                  <a:pt x="361188" y="1131570"/>
                </a:lnTo>
                <a:lnTo>
                  <a:pt x="361950" y="1213104"/>
                </a:lnTo>
                <a:lnTo>
                  <a:pt x="362712" y="1274826"/>
                </a:lnTo>
                <a:lnTo>
                  <a:pt x="364236" y="1322832"/>
                </a:lnTo>
                <a:lnTo>
                  <a:pt x="364998" y="1359408"/>
                </a:lnTo>
                <a:lnTo>
                  <a:pt x="365760" y="1387602"/>
                </a:lnTo>
                <a:lnTo>
                  <a:pt x="366522" y="1410462"/>
                </a:lnTo>
                <a:lnTo>
                  <a:pt x="367284" y="1428750"/>
                </a:lnTo>
                <a:lnTo>
                  <a:pt x="368808" y="1442466"/>
                </a:lnTo>
                <a:lnTo>
                  <a:pt x="369570" y="1453895"/>
                </a:lnTo>
                <a:lnTo>
                  <a:pt x="374142" y="1476756"/>
                </a:lnTo>
                <a:lnTo>
                  <a:pt x="374904" y="1475994"/>
                </a:lnTo>
                <a:lnTo>
                  <a:pt x="375666" y="1472945"/>
                </a:lnTo>
                <a:lnTo>
                  <a:pt x="376428" y="1468373"/>
                </a:lnTo>
                <a:lnTo>
                  <a:pt x="377952" y="1460754"/>
                </a:lnTo>
                <a:lnTo>
                  <a:pt x="380238" y="1419606"/>
                </a:lnTo>
                <a:lnTo>
                  <a:pt x="381762" y="1365504"/>
                </a:lnTo>
                <a:lnTo>
                  <a:pt x="383286" y="1324356"/>
                </a:lnTo>
                <a:lnTo>
                  <a:pt x="384048" y="1269492"/>
                </a:lnTo>
                <a:lnTo>
                  <a:pt x="384810" y="1193292"/>
                </a:lnTo>
                <a:lnTo>
                  <a:pt x="385572" y="1089660"/>
                </a:lnTo>
                <a:lnTo>
                  <a:pt x="386334" y="954785"/>
                </a:lnTo>
                <a:lnTo>
                  <a:pt x="387858" y="634746"/>
                </a:lnTo>
                <a:lnTo>
                  <a:pt x="389382" y="495299"/>
                </a:lnTo>
                <a:lnTo>
                  <a:pt x="390144" y="385571"/>
                </a:lnTo>
                <a:lnTo>
                  <a:pt x="390906" y="304799"/>
                </a:lnTo>
                <a:lnTo>
                  <a:pt x="391668" y="242315"/>
                </a:lnTo>
                <a:lnTo>
                  <a:pt x="392430" y="195071"/>
                </a:lnTo>
                <a:lnTo>
                  <a:pt x="393954" y="158495"/>
                </a:lnTo>
                <a:lnTo>
                  <a:pt x="394716" y="129539"/>
                </a:lnTo>
                <a:lnTo>
                  <a:pt x="395478" y="106679"/>
                </a:lnTo>
                <a:lnTo>
                  <a:pt x="396240" y="89153"/>
                </a:lnTo>
                <a:lnTo>
                  <a:pt x="397002" y="74675"/>
                </a:lnTo>
                <a:lnTo>
                  <a:pt x="398526" y="63245"/>
                </a:lnTo>
                <a:lnTo>
                  <a:pt x="399288" y="54863"/>
                </a:lnTo>
                <a:lnTo>
                  <a:pt x="400050" y="48767"/>
                </a:lnTo>
                <a:lnTo>
                  <a:pt x="400812" y="44195"/>
                </a:lnTo>
                <a:lnTo>
                  <a:pt x="401574" y="41147"/>
                </a:lnTo>
                <a:lnTo>
                  <a:pt x="402336" y="40385"/>
                </a:lnTo>
                <a:lnTo>
                  <a:pt x="403860" y="41909"/>
                </a:lnTo>
                <a:lnTo>
                  <a:pt x="404622" y="44195"/>
                </a:lnTo>
                <a:lnTo>
                  <a:pt x="405384" y="49529"/>
                </a:lnTo>
                <a:lnTo>
                  <a:pt x="406146" y="57149"/>
                </a:lnTo>
                <a:lnTo>
                  <a:pt x="406908" y="67055"/>
                </a:lnTo>
                <a:lnTo>
                  <a:pt x="408431" y="80009"/>
                </a:lnTo>
                <a:lnTo>
                  <a:pt x="409956" y="121157"/>
                </a:lnTo>
                <a:lnTo>
                  <a:pt x="411480" y="192785"/>
                </a:lnTo>
                <a:lnTo>
                  <a:pt x="412242" y="248411"/>
                </a:lnTo>
                <a:lnTo>
                  <a:pt x="413766" y="323849"/>
                </a:lnTo>
                <a:lnTo>
                  <a:pt x="414528" y="427481"/>
                </a:lnTo>
                <a:lnTo>
                  <a:pt x="415290" y="562355"/>
                </a:lnTo>
                <a:lnTo>
                  <a:pt x="416814" y="882395"/>
                </a:lnTo>
                <a:lnTo>
                  <a:pt x="417576" y="1021841"/>
                </a:lnTo>
                <a:lnTo>
                  <a:pt x="419100" y="1131570"/>
                </a:lnTo>
                <a:lnTo>
                  <a:pt x="419862" y="1212342"/>
                </a:lnTo>
                <a:lnTo>
                  <a:pt x="420624" y="1274826"/>
                </a:lnTo>
                <a:lnTo>
                  <a:pt x="421386" y="1322070"/>
                </a:lnTo>
                <a:lnTo>
                  <a:pt x="422148" y="1358645"/>
                </a:lnTo>
                <a:lnTo>
                  <a:pt x="422910" y="1387602"/>
                </a:lnTo>
                <a:lnTo>
                  <a:pt x="424434" y="1410462"/>
                </a:lnTo>
                <a:lnTo>
                  <a:pt x="425196" y="1427988"/>
                </a:lnTo>
                <a:lnTo>
                  <a:pt x="425958" y="1442466"/>
                </a:lnTo>
                <a:lnTo>
                  <a:pt x="426720" y="1453895"/>
                </a:lnTo>
                <a:lnTo>
                  <a:pt x="427482" y="1462278"/>
                </a:lnTo>
                <a:lnTo>
                  <a:pt x="429006" y="1469136"/>
                </a:lnTo>
                <a:lnTo>
                  <a:pt x="429768" y="1472945"/>
                </a:lnTo>
                <a:lnTo>
                  <a:pt x="430530" y="1475994"/>
                </a:lnTo>
                <a:lnTo>
                  <a:pt x="431292" y="1476756"/>
                </a:lnTo>
                <a:lnTo>
                  <a:pt x="432054" y="1475232"/>
                </a:lnTo>
                <a:lnTo>
                  <a:pt x="433578" y="1472945"/>
                </a:lnTo>
                <a:lnTo>
                  <a:pt x="437388" y="1419606"/>
                </a:lnTo>
                <a:lnTo>
                  <a:pt x="438912" y="1395984"/>
                </a:lnTo>
                <a:lnTo>
                  <a:pt x="440436" y="1324356"/>
                </a:lnTo>
                <a:lnTo>
                  <a:pt x="441198" y="1268730"/>
                </a:lnTo>
                <a:lnTo>
                  <a:pt x="441960" y="1193292"/>
                </a:lnTo>
                <a:lnTo>
                  <a:pt x="442722" y="1089660"/>
                </a:lnTo>
                <a:lnTo>
                  <a:pt x="443484" y="954785"/>
                </a:lnTo>
                <a:lnTo>
                  <a:pt x="445008" y="795527"/>
                </a:lnTo>
                <a:lnTo>
                  <a:pt x="445770" y="634746"/>
                </a:lnTo>
                <a:lnTo>
                  <a:pt x="446531" y="495299"/>
                </a:lnTo>
                <a:lnTo>
                  <a:pt x="447294" y="385571"/>
                </a:lnTo>
                <a:lnTo>
                  <a:pt x="448056" y="300227"/>
                </a:lnTo>
                <a:lnTo>
                  <a:pt x="449580" y="237743"/>
                </a:lnTo>
                <a:lnTo>
                  <a:pt x="450342" y="190499"/>
                </a:lnTo>
                <a:lnTo>
                  <a:pt x="451104" y="153923"/>
                </a:lnTo>
                <a:lnTo>
                  <a:pt x="451866" y="124967"/>
                </a:lnTo>
                <a:lnTo>
                  <a:pt x="452628" y="102107"/>
                </a:lnTo>
                <a:lnTo>
                  <a:pt x="454152" y="83819"/>
                </a:lnTo>
                <a:lnTo>
                  <a:pt x="454914" y="70103"/>
                </a:lnTo>
                <a:lnTo>
                  <a:pt x="455676" y="58673"/>
                </a:lnTo>
                <a:lnTo>
                  <a:pt x="456438" y="49529"/>
                </a:lnTo>
                <a:lnTo>
                  <a:pt x="457200" y="43433"/>
                </a:lnTo>
                <a:lnTo>
                  <a:pt x="458723" y="38861"/>
                </a:lnTo>
                <a:lnTo>
                  <a:pt x="459486" y="35813"/>
                </a:lnTo>
                <a:lnTo>
                  <a:pt x="460248" y="35051"/>
                </a:lnTo>
                <a:lnTo>
                  <a:pt x="461009" y="35813"/>
                </a:lnTo>
                <a:lnTo>
                  <a:pt x="461772" y="38861"/>
                </a:lnTo>
                <a:lnTo>
                  <a:pt x="462534" y="43433"/>
                </a:lnTo>
                <a:lnTo>
                  <a:pt x="464058" y="51053"/>
                </a:lnTo>
                <a:lnTo>
                  <a:pt x="466344" y="91439"/>
                </a:lnTo>
                <a:lnTo>
                  <a:pt x="467868" y="145541"/>
                </a:lnTo>
                <a:lnTo>
                  <a:pt x="468630" y="185927"/>
                </a:lnTo>
                <a:lnTo>
                  <a:pt x="470154" y="240791"/>
                </a:lnTo>
                <a:lnTo>
                  <a:pt x="470916" y="316991"/>
                </a:lnTo>
                <a:lnTo>
                  <a:pt x="471678" y="419861"/>
                </a:lnTo>
                <a:lnTo>
                  <a:pt x="472440" y="554735"/>
                </a:lnTo>
                <a:lnTo>
                  <a:pt x="473202" y="713994"/>
                </a:lnTo>
                <a:lnTo>
                  <a:pt x="474726" y="874776"/>
                </a:lnTo>
                <a:lnTo>
                  <a:pt x="475488" y="1014222"/>
                </a:lnTo>
                <a:lnTo>
                  <a:pt x="476250" y="1123188"/>
                </a:lnTo>
                <a:lnTo>
                  <a:pt x="477012" y="1208532"/>
                </a:lnTo>
                <a:lnTo>
                  <a:pt x="477774" y="1271016"/>
                </a:lnTo>
                <a:lnTo>
                  <a:pt x="479298" y="1318260"/>
                </a:lnTo>
                <a:lnTo>
                  <a:pt x="480060" y="1354836"/>
                </a:lnTo>
                <a:lnTo>
                  <a:pt x="480822" y="1383030"/>
                </a:lnTo>
                <a:lnTo>
                  <a:pt x="481584" y="1405889"/>
                </a:lnTo>
                <a:lnTo>
                  <a:pt x="482346" y="1423416"/>
                </a:lnTo>
                <a:lnTo>
                  <a:pt x="483870" y="1437894"/>
                </a:lnTo>
                <a:lnTo>
                  <a:pt x="484632" y="1448562"/>
                </a:lnTo>
                <a:lnTo>
                  <a:pt x="489204" y="1471422"/>
                </a:lnTo>
                <a:lnTo>
                  <a:pt x="489966" y="1469898"/>
                </a:lnTo>
                <a:lnTo>
                  <a:pt x="490728" y="1467612"/>
                </a:lnTo>
                <a:lnTo>
                  <a:pt x="491490" y="1462278"/>
                </a:lnTo>
                <a:lnTo>
                  <a:pt x="492252" y="1455420"/>
                </a:lnTo>
                <a:lnTo>
                  <a:pt x="493014" y="1445514"/>
                </a:lnTo>
                <a:lnTo>
                  <a:pt x="494538" y="1431798"/>
                </a:lnTo>
                <a:lnTo>
                  <a:pt x="496062" y="1392173"/>
                </a:lnTo>
                <a:lnTo>
                  <a:pt x="497586" y="1322832"/>
                </a:lnTo>
                <a:lnTo>
                  <a:pt x="498348" y="1269492"/>
                </a:lnTo>
                <a:lnTo>
                  <a:pt x="499872" y="1196339"/>
                </a:lnTo>
                <a:lnTo>
                  <a:pt x="500634" y="1098042"/>
                </a:lnTo>
                <a:lnTo>
                  <a:pt x="501396" y="968501"/>
                </a:lnTo>
                <a:lnTo>
                  <a:pt x="502920" y="661416"/>
                </a:lnTo>
                <a:lnTo>
                  <a:pt x="504444" y="527304"/>
                </a:lnTo>
                <a:lnTo>
                  <a:pt x="505206" y="422147"/>
                </a:lnTo>
                <a:lnTo>
                  <a:pt x="505968" y="339089"/>
                </a:lnTo>
                <a:lnTo>
                  <a:pt x="506730" y="278129"/>
                </a:lnTo>
                <a:lnTo>
                  <a:pt x="507492" y="231647"/>
                </a:lnTo>
                <a:lnTo>
                  <a:pt x="509016" y="194309"/>
                </a:lnTo>
                <a:lnTo>
                  <a:pt x="509778" y="165353"/>
                </a:lnTo>
                <a:lnTo>
                  <a:pt x="510540" y="140969"/>
                </a:lnTo>
                <a:lnTo>
                  <a:pt x="511302" y="121919"/>
                </a:lnTo>
                <a:lnTo>
                  <a:pt x="512064" y="105155"/>
                </a:lnTo>
                <a:lnTo>
                  <a:pt x="513588" y="91439"/>
                </a:lnTo>
                <a:lnTo>
                  <a:pt x="514350" y="80009"/>
                </a:lnTo>
                <a:lnTo>
                  <a:pt x="518159" y="41147"/>
                </a:lnTo>
                <a:lnTo>
                  <a:pt x="519684" y="35813"/>
                </a:lnTo>
                <a:lnTo>
                  <a:pt x="520445" y="31241"/>
                </a:lnTo>
                <a:lnTo>
                  <a:pt x="521970" y="23621"/>
                </a:lnTo>
                <a:lnTo>
                  <a:pt x="522731" y="20573"/>
                </a:lnTo>
                <a:lnTo>
                  <a:pt x="523494" y="18287"/>
                </a:lnTo>
                <a:lnTo>
                  <a:pt x="525018" y="16001"/>
                </a:lnTo>
                <a:lnTo>
                  <a:pt x="525780" y="13715"/>
                </a:lnTo>
                <a:lnTo>
                  <a:pt x="526542" y="12953"/>
                </a:lnTo>
                <a:lnTo>
                  <a:pt x="527304" y="11429"/>
                </a:lnTo>
                <a:lnTo>
                  <a:pt x="528066" y="10667"/>
                </a:lnTo>
                <a:lnTo>
                  <a:pt x="530352" y="10667"/>
                </a:lnTo>
                <a:lnTo>
                  <a:pt x="532638" y="12953"/>
                </a:lnTo>
                <a:lnTo>
                  <a:pt x="534162" y="13715"/>
                </a:lnTo>
                <a:lnTo>
                  <a:pt x="534924" y="12953"/>
                </a:lnTo>
                <a:lnTo>
                  <a:pt x="536448" y="14477"/>
                </a:lnTo>
                <a:lnTo>
                  <a:pt x="537972" y="17525"/>
                </a:lnTo>
                <a:lnTo>
                  <a:pt x="539496" y="19049"/>
                </a:lnTo>
                <a:lnTo>
                  <a:pt x="540258" y="20573"/>
                </a:lnTo>
                <a:lnTo>
                  <a:pt x="541020" y="22859"/>
                </a:lnTo>
                <a:lnTo>
                  <a:pt x="543306" y="32003"/>
                </a:lnTo>
                <a:lnTo>
                  <a:pt x="544830" y="36575"/>
                </a:lnTo>
                <a:lnTo>
                  <a:pt x="545592" y="41147"/>
                </a:lnTo>
                <a:lnTo>
                  <a:pt x="547116" y="53339"/>
                </a:lnTo>
                <a:lnTo>
                  <a:pt x="547878" y="60959"/>
                </a:lnTo>
                <a:lnTo>
                  <a:pt x="548640" y="70103"/>
                </a:lnTo>
                <a:lnTo>
                  <a:pt x="550164" y="81533"/>
                </a:lnTo>
                <a:lnTo>
                  <a:pt x="552450" y="129539"/>
                </a:lnTo>
                <a:lnTo>
                  <a:pt x="553974" y="185165"/>
                </a:lnTo>
                <a:lnTo>
                  <a:pt x="555498" y="226313"/>
                </a:lnTo>
                <a:lnTo>
                  <a:pt x="556260" y="280415"/>
                </a:lnTo>
                <a:lnTo>
                  <a:pt x="557022" y="354329"/>
                </a:lnTo>
                <a:lnTo>
                  <a:pt x="557784" y="452627"/>
                </a:lnTo>
                <a:lnTo>
                  <a:pt x="558546" y="582168"/>
                </a:lnTo>
                <a:lnTo>
                  <a:pt x="560070" y="733805"/>
                </a:lnTo>
                <a:lnTo>
                  <a:pt x="560832" y="886967"/>
                </a:lnTo>
                <a:lnTo>
                  <a:pt x="561594" y="1019556"/>
                </a:lnTo>
                <a:lnTo>
                  <a:pt x="562356" y="1123950"/>
                </a:lnTo>
                <a:lnTo>
                  <a:pt x="563118" y="1205484"/>
                </a:lnTo>
                <a:lnTo>
                  <a:pt x="564642" y="1265682"/>
                </a:lnTo>
                <a:lnTo>
                  <a:pt x="565404" y="1310639"/>
                </a:lnTo>
                <a:lnTo>
                  <a:pt x="566166" y="1346454"/>
                </a:lnTo>
                <a:lnTo>
                  <a:pt x="566928" y="1373886"/>
                </a:lnTo>
                <a:lnTo>
                  <a:pt x="567690" y="1395984"/>
                </a:lnTo>
                <a:lnTo>
                  <a:pt x="569214" y="1413510"/>
                </a:lnTo>
                <a:lnTo>
                  <a:pt x="569976" y="1427226"/>
                </a:lnTo>
                <a:lnTo>
                  <a:pt x="574548" y="1460754"/>
                </a:lnTo>
                <a:lnTo>
                  <a:pt x="576072" y="1459992"/>
                </a:lnTo>
                <a:lnTo>
                  <a:pt x="576834" y="1457706"/>
                </a:lnTo>
                <a:lnTo>
                  <a:pt x="577596" y="1452372"/>
                </a:lnTo>
                <a:lnTo>
                  <a:pt x="578358" y="1445514"/>
                </a:lnTo>
                <a:lnTo>
                  <a:pt x="579120" y="1436370"/>
                </a:lnTo>
                <a:lnTo>
                  <a:pt x="580644" y="1422654"/>
                </a:lnTo>
                <a:lnTo>
                  <a:pt x="581406" y="1405889"/>
                </a:lnTo>
                <a:lnTo>
                  <a:pt x="582168" y="1383792"/>
                </a:lnTo>
                <a:lnTo>
                  <a:pt x="582930" y="1354073"/>
                </a:lnTo>
                <a:lnTo>
                  <a:pt x="583692" y="1314450"/>
                </a:lnTo>
                <a:lnTo>
                  <a:pt x="585216" y="1261110"/>
                </a:lnTo>
                <a:lnTo>
                  <a:pt x="585978" y="1188720"/>
                </a:lnTo>
                <a:lnTo>
                  <a:pt x="586740" y="1089660"/>
                </a:lnTo>
                <a:lnTo>
                  <a:pt x="587502" y="960119"/>
                </a:lnTo>
                <a:lnTo>
                  <a:pt x="588264" y="807719"/>
                </a:lnTo>
                <a:lnTo>
                  <a:pt x="589788" y="653796"/>
                </a:lnTo>
                <a:lnTo>
                  <a:pt x="590550" y="520445"/>
                </a:lnTo>
                <a:lnTo>
                  <a:pt x="591312" y="414527"/>
                </a:lnTo>
                <a:lnTo>
                  <a:pt x="592074" y="332231"/>
                </a:lnTo>
                <a:lnTo>
                  <a:pt x="592836" y="271271"/>
                </a:lnTo>
                <a:lnTo>
                  <a:pt x="594360" y="224789"/>
                </a:lnTo>
                <a:lnTo>
                  <a:pt x="595122" y="187451"/>
                </a:lnTo>
                <a:lnTo>
                  <a:pt x="596646" y="134873"/>
                </a:lnTo>
                <a:lnTo>
                  <a:pt x="598932" y="85343"/>
                </a:lnTo>
                <a:lnTo>
                  <a:pt x="600456" y="73913"/>
                </a:lnTo>
                <a:lnTo>
                  <a:pt x="601218" y="64007"/>
                </a:lnTo>
                <a:lnTo>
                  <a:pt x="601980" y="54863"/>
                </a:lnTo>
                <a:lnTo>
                  <a:pt x="603504" y="41147"/>
                </a:lnTo>
                <a:lnTo>
                  <a:pt x="604266" y="35051"/>
                </a:lnTo>
                <a:lnTo>
                  <a:pt x="605790" y="30479"/>
                </a:lnTo>
                <a:lnTo>
                  <a:pt x="606552" y="25907"/>
                </a:lnTo>
                <a:lnTo>
                  <a:pt x="607314" y="22097"/>
                </a:lnTo>
                <a:lnTo>
                  <a:pt x="608838" y="16001"/>
                </a:lnTo>
                <a:lnTo>
                  <a:pt x="610362" y="13715"/>
                </a:lnTo>
                <a:lnTo>
                  <a:pt x="611886" y="9143"/>
                </a:lnTo>
                <a:lnTo>
                  <a:pt x="612648" y="7619"/>
                </a:lnTo>
                <a:lnTo>
                  <a:pt x="613410" y="6857"/>
                </a:lnTo>
                <a:lnTo>
                  <a:pt x="614934" y="6095"/>
                </a:lnTo>
                <a:lnTo>
                  <a:pt x="616458" y="6095"/>
                </a:lnTo>
                <a:lnTo>
                  <a:pt x="620268" y="9905"/>
                </a:lnTo>
                <a:lnTo>
                  <a:pt x="621030" y="12953"/>
                </a:lnTo>
                <a:lnTo>
                  <a:pt x="621792" y="13715"/>
                </a:lnTo>
                <a:lnTo>
                  <a:pt x="624078" y="18287"/>
                </a:lnTo>
                <a:lnTo>
                  <a:pt x="625602" y="19811"/>
                </a:lnTo>
                <a:lnTo>
                  <a:pt x="627126" y="24383"/>
                </a:lnTo>
                <a:lnTo>
                  <a:pt x="628650" y="30479"/>
                </a:lnTo>
                <a:lnTo>
                  <a:pt x="629412" y="34289"/>
                </a:lnTo>
                <a:lnTo>
                  <a:pt x="630936" y="38099"/>
                </a:lnTo>
                <a:lnTo>
                  <a:pt x="631698" y="43433"/>
                </a:lnTo>
                <a:lnTo>
                  <a:pt x="633222" y="55625"/>
                </a:lnTo>
                <a:lnTo>
                  <a:pt x="633984" y="64007"/>
                </a:lnTo>
                <a:lnTo>
                  <a:pt x="635508" y="73151"/>
                </a:lnTo>
                <a:lnTo>
                  <a:pt x="636270" y="83819"/>
                </a:lnTo>
                <a:lnTo>
                  <a:pt x="637032" y="96773"/>
                </a:lnTo>
                <a:lnTo>
                  <a:pt x="637794" y="113537"/>
                </a:lnTo>
                <a:lnTo>
                  <a:pt x="638556" y="133349"/>
                </a:lnTo>
                <a:lnTo>
                  <a:pt x="640080" y="157733"/>
                </a:lnTo>
                <a:lnTo>
                  <a:pt x="640842" y="188975"/>
                </a:lnTo>
                <a:lnTo>
                  <a:pt x="641604" y="230123"/>
                </a:lnTo>
                <a:lnTo>
                  <a:pt x="642366" y="284225"/>
                </a:lnTo>
                <a:lnTo>
                  <a:pt x="643128" y="358139"/>
                </a:lnTo>
                <a:lnTo>
                  <a:pt x="644652" y="457199"/>
                </a:lnTo>
                <a:lnTo>
                  <a:pt x="645414" y="586740"/>
                </a:lnTo>
                <a:lnTo>
                  <a:pt x="646938" y="891539"/>
                </a:lnTo>
                <a:lnTo>
                  <a:pt x="647700" y="1024889"/>
                </a:lnTo>
                <a:lnTo>
                  <a:pt x="648462" y="1129284"/>
                </a:lnTo>
                <a:lnTo>
                  <a:pt x="649224" y="1210817"/>
                </a:lnTo>
                <a:lnTo>
                  <a:pt x="650748" y="1271016"/>
                </a:lnTo>
                <a:lnTo>
                  <a:pt x="651510" y="1316736"/>
                </a:lnTo>
                <a:lnTo>
                  <a:pt x="653034" y="1380744"/>
                </a:lnTo>
                <a:lnTo>
                  <a:pt x="654558" y="1420367"/>
                </a:lnTo>
                <a:lnTo>
                  <a:pt x="656082" y="1434084"/>
                </a:lnTo>
                <a:lnTo>
                  <a:pt x="656844" y="1445514"/>
                </a:lnTo>
                <a:lnTo>
                  <a:pt x="661416" y="1469136"/>
                </a:lnTo>
                <a:lnTo>
                  <a:pt x="662178" y="1468373"/>
                </a:lnTo>
                <a:lnTo>
                  <a:pt x="662940" y="1466088"/>
                </a:lnTo>
                <a:lnTo>
                  <a:pt x="663702" y="1461516"/>
                </a:lnTo>
                <a:lnTo>
                  <a:pt x="665226" y="1454658"/>
                </a:lnTo>
                <a:lnTo>
                  <a:pt x="667512" y="1414272"/>
                </a:lnTo>
                <a:lnTo>
                  <a:pt x="669036" y="1360932"/>
                </a:lnTo>
                <a:lnTo>
                  <a:pt x="670560" y="1320545"/>
                </a:lnTo>
                <a:lnTo>
                  <a:pt x="671322" y="1265682"/>
                </a:lnTo>
                <a:lnTo>
                  <a:pt x="672084" y="1189482"/>
                </a:lnTo>
                <a:lnTo>
                  <a:pt x="672846" y="1086612"/>
                </a:lnTo>
                <a:lnTo>
                  <a:pt x="673608" y="951738"/>
                </a:lnTo>
                <a:lnTo>
                  <a:pt x="675132" y="793241"/>
                </a:lnTo>
                <a:lnTo>
                  <a:pt x="675894" y="632460"/>
                </a:lnTo>
                <a:lnTo>
                  <a:pt x="676656" y="493775"/>
                </a:lnTo>
                <a:lnTo>
                  <a:pt x="677418" y="384047"/>
                </a:lnTo>
                <a:lnTo>
                  <a:pt x="678180" y="304037"/>
                </a:lnTo>
                <a:lnTo>
                  <a:pt x="678942" y="241553"/>
                </a:lnTo>
                <a:lnTo>
                  <a:pt x="679704" y="194309"/>
                </a:lnTo>
                <a:lnTo>
                  <a:pt x="681228" y="157733"/>
                </a:lnTo>
                <a:lnTo>
                  <a:pt x="681990" y="129539"/>
                </a:lnTo>
                <a:lnTo>
                  <a:pt x="682752" y="107441"/>
                </a:lnTo>
                <a:lnTo>
                  <a:pt x="683514" y="89915"/>
                </a:lnTo>
                <a:lnTo>
                  <a:pt x="684276" y="76199"/>
                </a:lnTo>
                <a:lnTo>
                  <a:pt x="685800" y="64769"/>
                </a:lnTo>
                <a:lnTo>
                  <a:pt x="686562" y="57149"/>
                </a:lnTo>
                <a:lnTo>
                  <a:pt x="687324" y="51053"/>
                </a:lnTo>
                <a:lnTo>
                  <a:pt x="688086" y="46481"/>
                </a:lnTo>
                <a:lnTo>
                  <a:pt x="688848" y="44195"/>
                </a:lnTo>
                <a:lnTo>
                  <a:pt x="689610" y="43433"/>
                </a:lnTo>
                <a:lnTo>
                  <a:pt x="691134" y="44957"/>
                </a:lnTo>
                <a:lnTo>
                  <a:pt x="691896" y="48005"/>
                </a:lnTo>
                <a:lnTo>
                  <a:pt x="692658" y="53339"/>
                </a:lnTo>
                <a:lnTo>
                  <a:pt x="693420" y="60959"/>
                </a:lnTo>
                <a:lnTo>
                  <a:pt x="694182" y="70865"/>
                </a:lnTo>
                <a:lnTo>
                  <a:pt x="695706" y="83819"/>
                </a:lnTo>
                <a:lnTo>
                  <a:pt x="696468" y="101345"/>
                </a:lnTo>
                <a:lnTo>
                  <a:pt x="697230" y="124205"/>
                </a:lnTo>
                <a:lnTo>
                  <a:pt x="697992" y="154685"/>
                </a:lnTo>
                <a:lnTo>
                  <a:pt x="698754" y="194309"/>
                </a:lnTo>
                <a:lnTo>
                  <a:pt x="700278" y="247649"/>
                </a:lnTo>
                <a:lnTo>
                  <a:pt x="701040" y="320801"/>
                </a:lnTo>
                <a:lnTo>
                  <a:pt x="701802" y="419861"/>
                </a:lnTo>
                <a:lnTo>
                  <a:pt x="702564" y="550163"/>
                </a:lnTo>
                <a:lnTo>
                  <a:pt x="704088" y="857250"/>
                </a:lnTo>
                <a:lnTo>
                  <a:pt x="704850" y="991362"/>
                </a:lnTo>
                <a:lnTo>
                  <a:pt x="706374" y="1097280"/>
                </a:lnTo>
                <a:lnTo>
                  <a:pt x="707136" y="1180338"/>
                </a:lnTo>
                <a:lnTo>
                  <a:pt x="707898" y="1241298"/>
                </a:lnTo>
                <a:lnTo>
                  <a:pt x="708660" y="1288542"/>
                </a:lnTo>
                <a:lnTo>
                  <a:pt x="709422" y="1325880"/>
                </a:lnTo>
                <a:lnTo>
                  <a:pt x="710184" y="1354836"/>
                </a:lnTo>
                <a:lnTo>
                  <a:pt x="711708" y="1379220"/>
                </a:lnTo>
                <a:lnTo>
                  <a:pt x="712470" y="1399032"/>
                </a:lnTo>
                <a:lnTo>
                  <a:pt x="713232" y="1415795"/>
                </a:lnTo>
                <a:lnTo>
                  <a:pt x="713994" y="1430273"/>
                </a:lnTo>
                <a:lnTo>
                  <a:pt x="714756" y="1441704"/>
                </a:lnTo>
                <a:lnTo>
                  <a:pt x="716280" y="1452372"/>
                </a:lnTo>
                <a:lnTo>
                  <a:pt x="717804" y="1469136"/>
                </a:lnTo>
                <a:lnTo>
                  <a:pt x="718566" y="1475994"/>
                </a:lnTo>
                <a:lnTo>
                  <a:pt x="719328" y="1482089"/>
                </a:lnTo>
                <a:lnTo>
                  <a:pt x="720852" y="1487423"/>
                </a:lnTo>
                <a:lnTo>
                  <a:pt x="721614" y="1491995"/>
                </a:lnTo>
                <a:lnTo>
                  <a:pt x="722376" y="1495806"/>
                </a:lnTo>
                <a:lnTo>
                  <a:pt x="723900" y="1501902"/>
                </a:lnTo>
                <a:lnTo>
                  <a:pt x="725424" y="1504188"/>
                </a:lnTo>
                <a:lnTo>
                  <a:pt x="726186" y="1506473"/>
                </a:lnTo>
                <a:lnTo>
                  <a:pt x="727710" y="1507998"/>
                </a:lnTo>
                <a:lnTo>
                  <a:pt x="728472" y="1507236"/>
                </a:lnTo>
                <a:lnTo>
                  <a:pt x="729234" y="1504950"/>
                </a:lnTo>
                <a:lnTo>
                  <a:pt x="729996" y="1501139"/>
                </a:lnTo>
                <a:lnTo>
                  <a:pt x="731520" y="1495806"/>
                </a:lnTo>
                <a:lnTo>
                  <a:pt x="732282" y="1488948"/>
                </a:lnTo>
                <a:lnTo>
                  <a:pt x="733044" y="1481328"/>
                </a:lnTo>
                <a:lnTo>
                  <a:pt x="733806" y="1475232"/>
                </a:lnTo>
                <a:lnTo>
                  <a:pt x="734568" y="1469898"/>
                </a:lnTo>
                <a:lnTo>
                  <a:pt x="735330" y="1465326"/>
                </a:lnTo>
                <a:lnTo>
                  <a:pt x="737616" y="1460754"/>
                </a:lnTo>
                <a:lnTo>
                  <a:pt x="739902" y="1458467"/>
                </a:lnTo>
                <a:lnTo>
                  <a:pt x="744474" y="1458467"/>
                </a:lnTo>
                <a:lnTo>
                  <a:pt x="745998" y="1459230"/>
                </a:lnTo>
                <a:lnTo>
                  <a:pt x="747522" y="1459230"/>
                </a:lnTo>
                <a:lnTo>
                  <a:pt x="748284" y="1459992"/>
                </a:lnTo>
                <a:lnTo>
                  <a:pt x="750570" y="1459992"/>
                </a:lnTo>
                <a:lnTo>
                  <a:pt x="751332" y="1460754"/>
                </a:lnTo>
                <a:lnTo>
                  <a:pt x="753618" y="1460754"/>
                </a:lnTo>
                <a:lnTo>
                  <a:pt x="754380" y="1461516"/>
                </a:lnTo>
                <a:lnTo>
                  <a:pt x="758952" y="1461516"/>
                </a:lnTo>
                <a:lnTo>
                  <a:pt x="759714" y="1462278"/>
                </a:lnTo>
                <a:lnTo>
                  <a:pt x="763524" y="1462278"/>
                </a:lnTo>
                <a:lnTo>
                  <a:pt x="764286" y="1460754"/>
                </a:lnTo>
                <a:lnTo>
                  <a:pt x="768096" y="1460754"/>
                </a:lnTo>
                <a:lnTo>
                  <a:pt x="768858" y="1459992"/>
                </a:lnTo>
                <a:lnTo>
                  <a:pt x="782574" y="1459992"/>
                </a:lnTo>
                <a:lnTo>
                  <a:pt x="789432" y="1483614"/>
                </a:lnTo>
                <a:lnTo>
                  <a:pt x="790194" y="1489710"/>
                </a:lnTo>
                <a:lnTo>
                  <a:pt x="791718" y="1495044"/>
                </a:lnTo>
                <a:lnTo>
                  <a:pt x="792480" y="1498854"/>
                </a:lnTo>
                <a:lnTo>
                  <a:pt x="793242" y="1498854"/>
                </a:lnTo>
                <a:lnTo>
                  <a:pt x="794766" y="1500378"/>
                </a:lnTo>
                <a:lnTo>
                  <a:pt x="796290" y="1499616"/>
                </a:lnTo>
                <a:lnTo>
                  <a:pt x="797052" y="1498854"/>
                </a:lnTo>
                <a:lnTo>
                  <a:pt x="798576" y="1495806"/>
                </a:lnTo>
                <a:lnTo>
                  <a:pt x="799338" y="1492758"/>
                </a:lnTo>
                <a:lnTo>
                  <a:pt x="800862" y="1490472"/>
                </a:lnTo>
                <a:lnTo>
                  <a:pt x="802386" y="1482852"/>
                </a:lnTo>
                <a:lnTo>
                  <a:pt x="803148" y="1478280"/>
                </a:lnTo>
                <a:lnTo>
                  <a:pt x="803910" y="1472945"/>
                </a:lnTo>
                <a:lnTo>
                  <a:pt x="804672" y="1466850"/>
                </a:lnTo>
                <a:lnTo>
                  <a:pt x="806196" y="1459992"/>
                </a:lnTo>
                <a:lnTo>
                  <a:pt x="809244" y="1417320"/>
                </a:lnTo>
                <a:lnTo>
                  <a:pt x="810768" y="1381506"/>
                </a:lnTo>
                <a:lnTo>
                  <a:pt x="812292" y="1357122"/>
                </a:lnTo>
                <a:lnTo>
                  <a:pt x="813054" y="1326642"/>
                </a:lnTo>
                <a:lnTo>
                  <a:pt x="813816" y="1287017"/>
                </a:lnTo>
                <a:lnTo>
                  <a:pt x="814578" y="1233678"/>
                </a:lnTo>
                <a:lnTo>
                  <a:pt x="815340" y="1162812"/>
                </a:lnTo>
                <a:lnTo>
                  <a:pt x="816863" y="1067562"/>
                </a:lnTo>
                <a:lnTo>
                  <a:pt x="817626" y="943356"/>
                </a:lnTo>
                <a:lnTo>
                  <a:pt x="819150" y="650747"/>
                </a:lnTo>
                <a:lnTo>
                  <a:pt x="819912" y="522731"/>
                </a:lnTo>
                <a:lnTo>
                  <a:pt x="821436" y="422147"/>
                </a:lnTo>
                <a:lnTo>
                  <a:pt x="822197" y="346709"/>
                </a:lnTo>
                <a:lnTo>
                  <a:pt x="822960" y="288035"/>
                </a:lnTo>
                <a:lnTo>
                  <a:pt x="823722" y="242315"/>
                </a:lnTo>
                <a:lnTo>
                  <a:pt x="824484" y="206501"/>
                </a:lnTo>
                <a:lnTo>
                  <a:pt x="825246" y="177545"/>
                </a:lnTo>
                <a:lnTo>
                  <a:pt x="826769" y="154685"/>
                </a:lnTo>
                <a:lnTo>
                  <a:pt x="827532" y="134873"/>
                </a:lnTo>
                <a:lnTo>
                  <a:pt x="828294" y="118871"/>
                </a:lnTo>
                <a:lnTo>
                  <a:pt x="829056" y="104393"/>
                </a:lnTo>
                <a:lnTo>
                  <a:pt x="829818" y="92201"/>
                </a:lnTo>
                <a:lnTo>
                  <a:pt x="831341" y="82295"/>
                </a:lnTo>
                <a:lnTo>
                  <a:pt x="832104" y="73151"/>
                </a:lnTo>
                <a:lnTo>
                  <a:pt x="836676" y="41909"/>
                </a:lnTo>
                <a:lnTo>
                  <a:pt x="837438" y="37337"/>
                </a:lnTo>
                <a:lnTo>
                  <a:pt x="838962" y="31241"/>
                </a:lnTo>
                <a:lnTo>
                  <a:pt x="840486" y="26669"/>
                </a:lnTo>
                <a:lnTo>
                  <a:pt x="841247" y="25907"/>
                </a:lnTo>
                <a:lnTo>
                  <a:pt x="842772" y="25145"/>
                </a:lnTo>
                <a:lnTo>
                  <a:pt x="843534" y="25907"/>
                </a:lnTo>
                <a:lnTo>
                  <a:pt x="844296" y="27431"/>
                </a:lnTo>
                <a:lnTo>
                  <a:pt x="845058" y="31241"/>
                </a:lnTo>
                <a:lnTo>
                  <a:pt x="845819" y="36575"/>
                </a:lnTo>
                <a:lnTo>
                  <a:pt x="847344" y="43433"/>
                </a:lnTo>
                <a:lnTo>
                  <a:pt x="851916" y="65531"/>
                </a:lnTo>
                <a:lnTo>
                  <a:pt x="852678" y="67055"/>
                </a:lnTo>
                <a:lnTo>
                  <a:pt x="854202" y="68579"/>
                </a:lnTo>
                <a:lnTo>
                  <a:pt x="860297" y="68579"/>
                </a:lnTo>
                <a:lnTo>
                  <a:pt x="861822" y="67817"/>
                </a:lnTo>
                <a:lnTo>
                  <a:pt x="862584" y="67817"/>
                </a:lnTo>
                <a:lnTo>
                  <a:pt x="863346" y="67055"/>
                </a:lnTo>
                <a:lnTo>
                  <a:pt x="864108" y="67055"/>
                </a:lnTo>
                <a:lnTo>
                  <a:pt x="864869" y="66293"/>
                </a:lnTo>
                <a:lnTo>
                  <a:pt x="865632" y="66293"/>
                </a:lnTo>
                <a:lnTo>
                  <a:pt x="866394" y="65531"/>
                </a:lnTo>
                <a:lnTo>
                  <a:pt x="867918" y="64769"/>
                </a:lnTo>
                <a:lnTo>
                  <a:pt x="869441" y="63245"/>
                </a:lnTo>
                <a:lnTo>
                  <a:pt x="870966" y="60197"/>
                </a:lnTo>
                <a:lnTo>
                  <a:pt x="872490" y="57911"/>
                </a:lnTo>
                <a:lnTo>
                  <a:pt x="873252" y="54863"/>
                </a:lnTo>
                <a:lnTo>
                  <a:pt x="874013" y="50291"/>
                </a:lnTo>
                <a:lnTo>
                  <a:pt x="874776" y="44957"/>
                </a:lnTo>
                <a:lnTo>
                  <a:pt x="875538" y="38099"/>
                </a:lnTo>
                <a:lnTo>
                  <a:pt x="877062" y="31241"/>
                </a:lnTo>
                <a:lnTo>
                  <a:pt x="877824" y="25145"/>
                </a:lnTo>
                <a:lnTo>
                  <a:pt x="878586" y="21335"/>
                </a:lnTo>
                <a:lnTo>
                  <a:pt x="879347" y="16001"/>
                </a:lnTo>
                <a:lnTo>
                  <a:pt x="880110" y="14477"/>
                </a:lnTo>
                <a:lnTo>
                  <a:pt x="881634" y="13715"/>
                </a:lnTo>
                <a:lnTo>
                  <a:pt x="882396" y="13715"/>
                </a:lnTo>
                <a:lnTo>
                  <a:pt x="883919" y="15239"/>
                </a:lnTo>
                <a:lnTo>
                  <a:pt x="884682" y="16763"/>
                </a:lnTo>
                <a:lnTo>
                  <a:pt x="885444" y="19049"/>
                </a:lnTo>
                <a:lnTo>
                  <a:pt x="886968" y="21335"/>
                </a:lnTo>
                <a:lnTo>
                  <a:pt x="891540" y="48767"/>
                </a:lnTo>
                <a:lnTo>
                  <a:pt x="893063" y="56387"/>
                </a:lnTo>
                <a:lnTo>
                  <a:pt x="893826" y="65531"/>
                </a:lnTo>
                <a:lnTo>
                  <a:pt x="894588" y="76199"/>
                </a:lnTo>
                <a:lnTo>
                  <a:pt x="895350" y="89915"/>
                </a:lnTo>
                <a:lnTo>
                  <a:pt x="896112" y="105917"/>
                </a:lnTo>
                <a:lnTo>
                  <a:pt x="897636" y="125729"/>
                </a:lnTo>
                <a:lnTo>
                  <a:pt x="898397" y="150113"/>
                </a:lnTo>
                <a:lnTo>
                  <a:pt x="899160" y="181355"/>
                </a:lnTo>
                <a:lnTo>
                  <a:pt x="899922" y="222503"/>
                </a:lnTo>
                <a:lnTo>
                  <a:pt x="900684" y="276605"/>
                </a:lnTo>
                <a:lnTo>
                  <a:pt x="902208" y="350519"/>
                </a:lnTo>
                <a:lnTo>
                  <a:pt x="902969" y="449579"/>
                </a:lnTo>
                <a:lnTo>
                  <a:pt x="903732" y="578357"/>
                </a:lnTo>
                <a:lnTo>
                  <a:pt x="905256" y="883919"/>
                </a:lnTo>
                <a:lnTo>
                  <a:pt x="906780" y="1016507"/>
                </a:lnTo>
                <a:lnTo>
                  <a:pt x="907541" y="1120902"/>
                </a:lnTo>
                <a:lnTo>
                  <a:pt x="908304" y="1198626"/>
                </a:lnTo>
                <a:lnTo>
                  <a:pt x="909066" y="1258062"/>
                </a:lnTo>
                <a:lnTo>
                  <a:pt x="909828" y="1303782"/>
                </a:lnTo>
                <a:lnTo>
                  <a:pt x="911352" y="1339595"/>
                </a:lnTo>
                <a:lnTo>
                  <a:pt x="912113" y="1367028"/>
                </a:lnTo>
                <a:lnTo>
                  <a:pt x="913638" y="1406652"/>
                </a:lnTo>
                <a:lnTo>
                  <a:pt x="917447" y="1446276"/>
                </a:lnTo>
                <a:lnTo>
                  <a:pt x="918210" y="1450848"/>
                </a:lnTo>
                <a:lnTo>
                  <a:pt x="918972" y="1453134"/>
                </a:lnTo>
                <a:lnTo>
                  <a:pt x="919734" y="1453895"/>
                </a:lnTo>
                <a:lnTo>
                  <a:pt x="920496" y="1452372"/>
                </a:lnTo>
                <a:lnTo>
                  <a:pt x="925830" y="1398270"/>
                </a:lnTo>
                <a:lnTo>
                  <a:pt x="927354" y="1375410"/>
                </a:lnTo>
                <a:lnTo>
                  <a:pt x="928116" y="1346454"/>
                </a:lnTo>
                <a:lnTo>
                  <a:pt x="928878" y="1306830"/>
                </a:lnTo>
                <a:lnTo>
                  <a:pt x="929640" y="1253489"/>
                </a:lnTo>
                <a:lnTo>
                  <a:pt x="930402" y="1180338"/>
                </a:lnTo>
                <a:lnTo>
                  <a:pt x="931926" y="1081278"/>
                </a:lnTo>
                <a:lnTo>
                  <a:pt x="932688" y="951738"/>
                </a:lnTo>
                <a:lnTo>
                  <a:pt x="934212" y="645413"/>
                </a:lnTo>
                <a:lnTo>
                  <a:pt x="934974" y="511301"/>
                </a:lnTo>
                <a:lnTo>
                  <a:pt x="936497" y="405383"/>
                </a:lnTo>
                <a:lnTo>
                  <a:pt x="937260" y="323087"/>
                </a:lnTo>
                <a:lnTo>
                  <a:pt x="938022" y="262127"/>
                </a:lnTo>
                <a:lnTo>
                  <a:pt x="938784" y="215645"/>
                </a:lnTo>
                <a:lnTo>
                  <a:pt x="940308" y="148589"/>
                </a:lnTo>
                <a:lnTo>
                  <a:pt x="942594" y="105155"/>
                </a:lnTo>
                <a:lnTo>
                  <a:pt x="943356" y="89153"/>
                </a:lnTo>
                <a:lnTo>
                  <a:pt x="946404" y="44195"/>
                </a:lnTo>
                <a:lnTo>
                  <a:pt x="947928" y="36575"/>
                </a:lnTo>
                <a:lnTo>
                  <a:pt x="949452" y="24383"/>
                </a:lnTo>
                <a:lnTo>
                  <a:pt x="950213" y="19049"/>
                </a:lnTo>
                <a:lnTo>
                  <a:pt x="950976" y="14477"/>
                </a:lnTo>
                <a:lnTo>
                  <a:pt x="952500" y="10667"/>
                </a:lnTo>
                <a:lnTo>
                  <a:pt x="954024" y="4571"/>
                </a:lnTo>
                <a:lnTo>
                  <a:pt x="954786" y="2285"/>
                </a:lnTo>
                <a:lnTo>
                  <a:pt x="955547" y="761"/>
                </a:lnTo>
                <a:lnTo>
                  <a:pt x="956310" y="0"/>
                </a:lnTo>
                <a:lnTo>
                  <a:pt x="957834" y="0"/>
                </a:lnTo>
                <a:lnTo>
                  <a:pt x="958596" y="761"/>
                </a:lnTo>
                <a:lnTo>
                  <a:pt x="959358" y="3047"/>
                </a:lnTo>
                <a:lnTo>
                  <a:pt x="960119" y="6857"/>
                </a:lnTo>
                <a:lnTo>
                  <a:pt x="960882" y="12191"/>
                </a:lnTo>
                <a:lnTo>
                  <a:pt x="962406" y="19811"/>
                </a:lnTo>
                <a:lnTo>
                  <a:pt x="963168" y="27431"/>
                </a:lnTo>
                <a:lnTo>
                  <a:pt x="963930" y="33527"/>
                </a:lnTo>
                <a:lnTo>
                  <a:pt x="964691" y="38099"/>
                </a:lnTo>
                <a:lnTo>
                  <a:pt x="965454" y="39623"/>
                </a:lnTo>
                <a:lnTo>
                  <a:pt x="966216" y="41909"/>
                </a:lnTo>
                <a:lnTo>
                  <a:pt x="970026" y="45719"/>
                </a:lnTo>
                <a:lnTo>
                  <a:pt x="975360" y="45719"/>
                </a:lnTo>
                <a:lnTo>
                  <a:pt x="976122" y="44957"/>
                </a:lnTo>
                <a:lnTo>
                  <a:pt x="976884" y="44957"/>
                </a:lnTo>
                <a:lnTo>
                  <a:pt x="978408" y="44195"/>
                </a:lnTo>
                <a:lnTo>
                  <a:pt x="979932" y="44195"/>
                </a:lnTo>
                <a:lnTo>
                  <a:pt x="980694" y="43433"/>
                </a:lnTo>
                <a:lnTo>
                  <a:pt x="983741" y="43433"/>
                </a:lnTo>
                <a:lnTo>
                  <a:pt x="984504" y="42671"/>
                </a:lnTo>
                <a:lnTo>
                  <a:pt x="986028" y="42671"/>
                </a:lnTo>
                <a:lnTo>
                  <a:pt x="987552" y="41909"/>
                </a:lnTo>
                <a:lnTo>
                  <a:pt x="988313" y="41909"/>
                </a:lnTo>
                <a:lnTo>
                  <a:pt x="989076" y="41147"/>
                </a:lnTo>
                <a:lnTo>
                  <a:pt x="992124" y="41147"/>
                </a:lnTo>
                <a:lnTo>
                  <a:pt x="992886" y="40385"/>
                </a:lnTo>
                <a:lnTo>
                  <a:pt x="993647" y="40385"/>
                </a:lnTo>
                <a:lnTo>
                  <a:pt x="994410" y="38099"/>
                </a:lnTo>
                <a:lnTo>
                  <a:pt x="995934" y="38099"/>
                </a:lnTo>
                <a:lnTo>
                  <a:pt x="996696" y="37337"/>
                </a:lnTo>
                <a:lnTo>
                  <a:pt x="1000506" y="37337"/>
                </a:lnTo>
                <a:lnTo>
                  <a:pt x="1001268" y="36575"/>
                </a:lnTo>
                <a:lnTo>
                  <a:pt x="1005078" y="36575"/>
                </a:lnTo>
                <a:lnTo>
                  <a:pt x="1005840" y="35813"/>
                </a:lnTo>
                <a:lnTo>
                  <a:pt x="1009650" y="35813"/>
                </a:lnTo>
                <a:lnTo>
                  <a:pt x="1010412" y="35051"/>
                </a:lnTo>
                <a:lnTo>
                  <a:pt x="1018032" y="35051"/>
                </a:lnTo>
                <a:lnTo>
                  <a:pt x="1018794" y="34289"/>
                </a:lnTo>
                <a:lnTo>
                  <a:pt x="1021841" y="34289"/>
                </a:lnTo>
                <a:lnTo>
                  <a:pt x="1023366" y="32003"/>
                </a:lnTo>
                <a:lnTo>
                  <a:pt x="1030986" y="32003"/>
                </a:lnTo>
                <a:lnTo>
                  <a:pt x="1031747" y="31241"/>
                </a:lnTo>
                <a:lnTo>
                  <a:pt x="1050798" y="31241"/>
                </a:lnTo>
                <a:lnTo>
                  <a:pt x="1051560" y="33527"/>
                </a:lnTo>
                <a:lnTo>
                  <a:pt x="1060704" y="33527"/>
                </a:lnTo>
                <a:lnTo>
                  <a:pt x="1061466" y="34289"/>
                </a:lnTo>
                <a:lnTo>
                  <a:pt x="1068324" y="34289"/>
                </a:lnTo>
                <a:lnTo>
                  <a:pt x="1069086" y="35051"/>
                </a:lnTo>
                <a:lnTo>
                  <a:pt x="1072896" y="35051"/>
                </a:lnTo>
                <a:lnTo>
                  <a:pt x="1073658" y="35813"/>
                </a:lnTo>
                <a:lnTo>
                  <a:pt x="1075944" y="35813"/>
                </a:lnTo>
                <a:lnTo>
                  <a:pt x="1076706" y="36575"/>
                </a:lnTo>
                <a:lnTo>
                  <a:pt x="1079754" y="36575"/>
                </a:lnTo>
                <a:lnTo>
                  <a:pt x="1080516" y="39623"/>
                </a:lnTo>
                <a:lnTo>
                  <a:pt x="1083564" y="39623"/>
                </a:lnTo>
                <a:lnTo>
                  <a:pt x="1084326" y="40385"/>
                </a:lnTo>
                <a:lnTo>
                  <a:pt x="1085850" y="40385"/>
                </a:lnTo>
                <a:lnTo>
                  <a:pt x="1086612" y="41147"/>
                </a:lnTo>
                <a:lnTo>
                  <a:pt x="1088136" y="41147"/>
                </a:lnTo>
                <a:lnTo>
                  <a:pt x="1088898" y="41909"/>
                </a:lnTo>
                <a:lnTo>
                  <a:pt x="1089660" y="41909"/>
                </a:lnTo>
                <a:lnTo>
                  <a:pt x="1090422" y="42671"/>
                </a:lnTo>
                <a:lnTo>
                  <a:pt x="1091946" y="42671"/>
                </a:lnTo>
                <a:lnTo>
                  <a:pt x="1093470" y="43433"/>
                </a:lnTo>
                <a:lnTo>
                  <a:pt x="1099566" y="43433"/>
                </a:lnTo>
                <a:lnTo>
                  <a:pt x="1100328" y="42671"/>
                </a:lnTo>
                <a:lnTo>
                  <a:pt x="1101852" y="39623"/>
                </a:lnTo>
                <a:lnTo>
                  <a:pt x="1102614" y="37337"/>
                </a:lnTo>
                <a:lnTo>
                  <a:pt x="1104138" y="33527"/>
                </a:lnTo>
                <a:lnTo>
                  <a:pt x="1104900" y="28193"/>
                </a:lnTo>
                <a:lnTo>
                  <a:pt x="1105662" y="22097"/>
                </a:lnTo>
                <a:lnTo>
                  <a:pt x="1106424" y="15239"/>
                </a:lnTo>
                <a:lnTo>
                  <a:pt x="1107186" y="10667"/>
                </a:lnTo>
                <a:lnTo>
                  <a:pt x="1108710" y="6857"/>
                </a:lnTo>
                <a:lnTo>
                  <a:pt x="1109472" y="2285"/>
                </a:lnTo>
                <a:lnTo>
                  <a:pt x="1110996" y="761"/>
                </a:lnTo>
                <a:lnTo>
                  <a:pt x="1111758" y="1523"/>
                </a:lnTo>
                <a:lnTo>
                  <a:pt x="1114044" y="3809"/>
                </a:lnTo>
                <a:lnTo>
                  <a:pt x="1115568" y="8381"/>
                </a:lnTo>
                <a:lnTo>
                  <a:pt x="1117092" y="14477"/>
                </a:lnTo>
                <a:lnTo>
                  <a:pt x="1118616" y="19049"/>
                </a:lnTo>
                <a:lnTo>
                  <a:pt x="1119378" y="23621"/>
                </a:lnTo>
                <a:lnTo>
                  <a:pt x="1120140" y="28955"/>
                </a:lnTo>
                <a:lnTo>
                  <a:pt x="1120902" y="35051"/>
                </a:lnTo>
                <a:lnTo>
                  <a:pt x="1121664" y="41909"/>
                </a:lnTo>
                <a:lnTo>
                  <a:pt x="1123188" y="49529"/>
                </a:lnTo>
                <a:lnTo>
                  <a:pt x="1126236" y="99821"/>
                </a:lnTo>
                <a:lnTo>
                  <a:pt x="1127760" y="144017"/>
                </a:lnTo>
                <a:lnTo>
                  <a:pt x="1129284" y="174497"/>
                </a:lnTo>
                <a:lnTo>
                  <a:pt x="1130046" y="214883"/>
                </a:lnTo>
                <a:lnTo>
                  <a:pt x="1130808" y="267461"/>
                </a:lnTo>
                <a:lnTo>
                  <a:pt x="1131570" y="338327"/>
                </a:lnTo>
                <a:lnTo>
                  <a:pt x="1132332" y="433577"/>
                </a:lnTo>
                <a:lnTo>
                  <a:pt x="1133094" y="557783"/>
                </a:lnTo>
                <a:lnTo>
                  <a:pt x="1134618" y="703325"/>
                </a:lnTo>
                <a:lnTo>
                  <a:pt x="1135380" y="849629"/>
                </a:lnTo>
                <a:lnTo>
                  <a:pt x="1136142" y="977645"/>
                </a:lnTo>
                <a:lnTo>
                  <a:pt x="1136904" y="1078230"/>
                </a:lnTo>
                <a:lnTo>
                  <a:pt x="1137666" y="1153667"/>
                </a:lnTo>
                <a:lnTo>
                  <a:pt x="1139190" y="1212342"/>
                </a:lnTo>
                <a:lnTo>
                  <a:pt x="1139952" y="1258062"/>
                </a:lnTo>
                <a:lnTo>
                  <a:pt x="1140714" y="1293114"/>
                </a:lnTo>
                <a:lnTo>
                  <a:pt x="1141476" y="1322070"/>
                </a:lnTo>
                <a:lnTo>
                  <a:pt x="1142238" y="1345692"/>
                </a:lnTo>
                <a:lnTo>
                  <a:pt x="1143762" y="1365504"/>
                </a:lnTo>
                <a:lnTo>
                  <a:pt x="1144524" y="1381506"/>
                </a:lnTo>
                <a:lnTo>
                  <a:pt x="1145286" y="1395222"/>
                </a:lnTo>
                <a:lnTo>
                  <a:pt x="1146048" y="1406652"/>
                </a:lnTo>
                <a:lnTo>
                  <a:pt x="1146810" y="1417320"/>
                </a:lnTo>
                <a:lnTo>
                  <a:pt x="1148334" y="1425702"/>
                </a:lnTo>
                <a:lnTo>
                  <a:pt x="1149096" y="1434084"/>
                </a:lnTo>
                <a:lnTo>
                  <a:pt x="1154430" y="1464564"/>
                </a:lnTo>
                <a:lnTo>
                  <a:pt x="1155192" y="1468373"/>
                </a:lnTo>
                <a:lnTo>
                  <a:pt x="1158240" y="1477517"/>
                </a:lnTo>
                <a:lnTo>
                  <a:pt x="1159764" y="1478280"/>
                </a:lnTo>
                <a:lnTo>
                  <a:pt x="1161288" y="1479804"/>
                </a:lnTo>
                <a:lnTo>
                  <a:pt x="1162050" y="1479804"/>
                </a:lnTo>
                <a:lnTo>
                  <a:pt x="1162812" y="1479042"/>
                </a:lnTo>
                <a:lnTo>
                  <a:pt x="1164336" y="1478280"/>
                </a:lnTo>
                <a:lnTo>
                  <a:pt x="1165860" y="1476756"/>
                </a:lnTo>
                <a:lnTo>
                  <a:pt x="1166622" y="1474470"/>
                </a:lnTo>
                <a:lnTo>
                  <a:pt x="1167384" y="1472945"/>
                </a:lnTo>
                <a:lnTo>
                  <a:pt x="1177290" y="1444752"/>
                </a:lnTo>
                <a:lnTo>
                  <a:pt x="1178814" y="1439417"/>
                </a:lnTo>
                <a:lnTo>
                  <a:pt x="1182624" y="1392173"/>
                </a:lnTo>
                <a:lnTo>
                  <a:pt x="1183386" y="1376172"/>
                </a:lnTo>
                <a:lnTo>
                  <a:pt x="1184910" y="1357122"/>
                </a:lnTo>
                <a:lnTo>
                  <a:pt x="1185672" y="1333500"/>
                </a:lnTo>
                <a:lnTo>
                  <a:pt x="1186434" y="1303020"/>
                </a:lnTo>
                <a:lnTo>
                  <a:pt x="1187196" y="1263395"/>
                </a:lnTo>
                <a:lnTo>
                  <a:pt x="1187958" y="1210817"/>
                </a:lnTo>
                <a:lnTo>
                  <a:pt x="1189482" y="1139952"/>
                </a:lnTo>
                <a:lnTo>
                  <a:pt x="1190244" y="1045463"/>
                </a:lnTo>
                <a:lnTo>
                  <a:pt x="1191006" y="922019"/>
                </a:lnTo>
                <a:lnTo>
                  <a:pt x="1192530" y="629411"/>
                </a:lnTo>
                <a:lnTo>
                  <a:pt x="1194054" y="502157"/>
                </a:lnTo>
                <a:lnTo>
                  <a:pt x="1194816" y="401573"/>
                </a:lnTo>
                <a:lnTo>
                  <a:pt x="1195578" y="322325"/>
                </a:lnTo>
                <a:lnTo>
                  <a:pt x="1196340" y="264413"/>
                </a:lnTo>
                <a:lnTo>
                  <a:pt x="1197102" y="218693"/>
                </a:lnTo>
                <a:lnTo>
                  <a:pt x="1198626" y="182879"/>
                </a:lnTo>
                <a:lnTo>
                  <a:pt x="1199388" y="154685"/>
                </a:lnTo>
                <a:lnTo>
                  <a:pt x="1200912" y="112013"/>
                </a:lnTo>
                <a:lnTo>
                  <a:pt x="1203960" y="70103"/>
                </a:lnTo>
                <a:lnTo>
                  <a:pt x="1204722" y="60197"/>
                </a:lnTo>
                <a:lnTo>
                  <a:pt x="1210056" y="20573"/>
                </a:lnTo>
                <a:lnTo>
                  <a:pt x="1211580" y="12953"/>
                </a:lnTo>
                <a:lnTo>
                  <a:pt x="1212342" y="9905"/>
                </a:lnTo>
                <a:lnTo>
                  <a:pt x="1213104" y="7619"/>
                </a:lnTo>
                <a:lnTo>
                  <a:pt x="1214628" y="6095"/>
                </a:lnTo>
                <a:lnTo>
                  <a:pt x="1215390" y="4571"/>
                </a:lnTo>
                <a:lnTo>
                  <a:pt x="1216152" y="4571"/>
                </a:lnTo>
                <a:lnTo>
                  <a:pt x="1216914" y="5333"/>
                </a:lnTo>
                <a:lnTo>
                  <a:pt x="1221486" y="30479"/>
                </a:lnTo>
                <a:lnTo>
                  <a:pt x="1222248" y="36575"/>
                </a:lnTo>
                <a:lnTo>
                  <a:pt x="1223772" y="41147"/>
                </a:lnTo>
                <a:lnTo>
                  <a:pt x="1224534" y="42671"/>
                </a:lnTo>
                <a:lnTo>
                  <a:pt x="1225296" y="44957"/>
                </a:lnTo>
                <a:lnTo>
                  <a:pt x="1226058" y="46481"/>
                </a:lnTo>
                <a:lnTo>
                  <a:pt x="1227582" y="48005"/>
                </a:lnTo>
                <a:lnTo>
                  <a:pt x="1232154" y="48005"/>
                </a:lnTo>
                <a:lnTo>
                  <a:pt x="1232916" y="47243"/>
                </a:lnTo>
                <a:lnTo>
                  <a:pt x="1233678" y="47243"/>
                </a:lnTo>
                <a:lnTo>
                  <a:pt x="1235202" y="46481"/>
                </a:lnTo>
                <a:lnTo>
                  <a:pt x="1236726" y="46481"/>
                </a:lnTo>
                <a:lnTo>
                  <a:pt x="1237488" y="45719"/>
                </a:lnTo>
                <a:lnTo>
                  <a:pt x="1238250" y="45719"/>
                </a:lnTo>
                <a:lnTo>
                  <a:pt x="1239774" y="44957"/>
                </a:lnTo>
                <a:lnTo>
                  <a:pt x="1240536" y="44957"/>
                </a:lnTo>
                <a:lnTo>
                  <a:pt x="1241298" y="44195"/>
                </a:lnTo>
                <a:lnTo>
                  <a:pt x="1242060" y="44195"/>
                </a:lnTo>
                <a:lnTo>
                  <a:pt x="1242822" y="43433"/>
                </a:lnTo>
                <a:lnTo>
                  <a:pt x="1245108" y="43433"/>
                </a:lnTo>
                <a:lnTo>
                  <a:pt x="1245870" y="42671"/>
                </a:lnTo>
                <a:lnTo>
                  <a:pt x="1247394" y="42671"/>
                </a:lnTo>
                <a:lnTo>
                  <a:pt x="1248156" y="41909"/>
                </a:lnTo>
                <a:lnTo>
                  <a:pt x="1249680" y="41909"/>
                </a:lnTo>
                <a:lnTo>
                  <a:pt x="1250442" y="41147"/>
                </a:lnTo>
                <a:lnTo>
                  <a:pt x="1251966" y="41147"/>
                </a:lnTo>
                <a:lnTo>
                  <a:pt x="1252728" y="42671"/>
                </a:lnTo>
                <a:lnTo>
                  <a:pt x="1255776" y="42671"/>
                </a:lnTo>
                <a:lnTo>
                  <a:pt x="1256538" y="41909"/>
                </a:lnTo>
                <a:lnTo>
                  <a:pt x="1260348" y="41909"/>
                </a:lnTo>
                <a:lnTo>
                  <a:pt x="1261110" y="41147"/>
                </a:lnTo>
                <a:lnTo>
                  <a:pt x="1280160" y="41147"/>
                </a:lnTo>
                <a:lnTo>
                  <a:pt x="1280922" y="41909"/>
                </a:lnTo>
                <a:lnTo>
                  <a:pt x="1281684" y="44195"/>
                </a:lnTo>
                <a:lnTo>
                  <a:pt x="1285494" y="44195"/>
                </a:lnTo>
                <a:lnTo>
                  <a:pt x="1286256" y="44957"/>
                </a:lnTo>
                <a:lnTo>
                  <a:pt x="1287780" y="44957"/>
                </a:lnTo>
                <a:lnTo>
                  <a:pt x="1288542" y="45719"/>
                </a:lnTo>
                <a:lnTo>
                  <a:pt x="1291590" y="45719"/>
                </a:lnTo>
                <a:lnTo>
                  <a:pt x="1292352" y="46481"/>
                </a:lnTo>
                <a:lnTo>
                  <a:pt x="1295400" y="46481"/>
                </a:lnTo>
                <a:lnTo>
                  <a:pt x="1296162" y="47243"/>
                </a:lnTo>
                <a:lnTo>
                  <a:pt x="1298448" y="47243"/>
                </a:lnTo>
                <a:lnTo>
                  <a:pt x="1299972" y="46481"/>
                </a:lnTo>
                <a:lnTo>
                  <a:pt x="1300734" y="46481"/>
                </a:lnTo>
                <a:lnTo>
                  <a:pt x="1301496" y="45719"/>
                </a:lnTo>
                <a:lnTo>
                  <a:pt x="1303020" y="42671"/>
                </a:lnTo>
                <a:lnTo>
                  <a:pt x="1304544" y="40385"/>
                </a:lnTo>
                <a:lnTo>
                  <a:pt x="1305306" y="36575"/>
                </a:lnTo>
                <a:lnTo>
                  <a:pt x="1306068" y="31241"/>
                </a:lnTo>
                <a:lnTo>
                  <a:pt x="1306830" y="24383"/>
                </a:lnTo>
                <a:lnTo>
                  <a:pt x="1307592" y="18287"/>
                </a:lnTo>
                <a:lnTo>
                  <a:pt x="1308354" y="12953"/>
                </a:lnTo>
                <a:lnTo>
                  <a:pt x="1309878" y="9143"/>
                </a:lnTo>
                <a:lnTo>
                  <a:pt x="1310640" y="5333"/>
                </a:lnTo>
                <a:lnTo>
                  <a:pt x="1311402" y="3809"/>
                </a:lnTo>
                <a:lnTo>
                  <a:pt x="1312164" y="3047"/>
                </a:lnTo>
                <a:lnTo>
                  <a:pt x="1313688" y="4571"/>
                </a:lnTo>
                <a:lnTo>
                  <a:pt x="1314450" y="6857"/>
                </a:lnTo>
                <a:lnTo>
                  <a:pt x="1315974" y="8381"/>
                </a:lnTo>
                <a:lnTo>
                  <a:pt x="1316736" y="10667"/>
                </a:lnTo>
                <a:lnTo>
                  <a:pt x="1318260" y="16763"/>
                </a:lnTo>
                <a:lnTo>
                  <a:pt x="1319022" y="20573"/>
                </a:lnTo>
                <a:lnTo>
                  <a:pt x="1320546" y="25907"/>
                </a:lnTo>
                <a:lnTo>
                  <a:pt x="1321308" y="30479"/>
                </a:lnTo>
                <a:lnTo>
                  <a:pt x="1322070" y="36575"/>
                </a:lnTo>
                <a:lnTo>
                  <a:pt x="1322832" y="43433"/>
                </a:lnTo>
                <a:lnTo>
                  <a:pt x="1323594" y="51815"/>
                </a:lnTo>
                <a:lnTo>
                  <a:pt x="1325118" y="60959"/>
                </a:lnTo>
                <a:lnTo>
                  <a:pt x="1325880" y="72389"/>
                </a:lnTo>
                <a:lnTo>
                  <a:pt x="1326642" y="85343"/>
                </a:lnTo>
                <a:lnTo>
                  <a:pt x="1327404" y="102107"/>
                </a:lnTo>
                <a:lnTo>
                  <a:pt x="1328166" y="121157"/>
                </a:lnTo>
                <a:lnTo>
                  <a:pt x="1329690" y="145541"/>
                </a:lnTo>
                <a:lnTo>
                  <a:pt x="1330452" y="176021"/>
                </a:lnTo>
                <a:lnTo>
                  <a:pt x="1331214" y="216407"/>
                </a:lnTo>
                <a:lnTo>
                  <a:pt x="1331976" y="268985"/>
                </a:lnTo>
                <a:lnTo>
                  <a:pt x="1332738" y="339851"/>
                </a:lnTo>
                <a:lnTo>
                  <a:pt x="1334262" y="435101"/>
                </a:lnTo>
                <a:lnTo>
                  <a:pt x="1335024" y="559307"/>
                </a:lnTo>
                <a:lnTo>
                  <a:pt x="1336548" y="851153"/>
                </a:lnTo>
                <a:lnTo>
                  <a:pt x="1337310" y="979169"/>
                </a:lnTo>
                <a:lnTo>
                  <a:pt x="1338072" y="1080516"/>
                </a:lnTo>
                <a:lnTo>
                  <a:pt x="1338834" y="1159764"/>
                </a:lnTo>
                <a:lnTo>
                  <a:pt x="1340358" y="1218438"/>
                </a:lnTo>
                <a:lnTo>
                  <a:pt x="1341120" y="1263395"/>
                </a:lnTo>
                <a:lnTo>
                  <a:pt x="1342644" y="1328166"/>
                </a:lnTo>
                <a:lnTo>
                  <a:pt x="1344168" y="1370838"/>
                </a:lnTo>
                <a:lnTo>
                  <a:pt x="1345692" y="1387602"/>
                </a:lnTo>
                <a:lnTo>
                  <a:pt x="1346454" y="1401317"/>
                </a:lnTo>
                <a:lnTo>
                  <a:pt x="1347216" y="1413510"/>
                </a:lnTo>
                <a:lnTo>
                  <a:pt x="1347978" y="1423416"/>
                </a:lnTo>
                <a:lnTo>
                  <a:pt x="1348740" y="1432560"/>
                </a:lnTo>
                <a:lnTo>
                  <a:pt x="1350264" y="1440180"/>
                </a:lnTo>
                <a:lnTo>
                  <a:pt x="1351026" y="1447800"/>
                </a:lnTo>
                <a:lnTo>
                  <a:pt x="1351788" y="1453895"/>
                </a:lnTo>
                <a:lnTo>
                  <a:pt x="1352550" y="1458467"/>
                </a:lnTo>
                <a:lnTo>
                  <a:pt x="1353312" y="1463802"/>
                </a:lnTo>
                <a:lnTo>
                  <a:pt x="1354836" y="1468373"/>
                </a:lnTo>
                <a:lnTo>
                  <a:pt x="1355598" y="1472184"/>
                </a:lnTo>
                <a:lnTo>
                  <a:pt x="1357122" y="1478280"/>
                </a:lnTo>
                <a:lnTo>
                  <a:pt x="1358646" y="1482852"/>
                </a:lnTo>
                <a:lnTo>
                  <a:pt x="1360170" y="1484376"/>
                </a:lnTo>
                <a:lnTo>
                  <a:pt x="1361694" y="1487423"/>
                </a:lnTo>
                <a:lnTo>
                  <a:pt x="1363980" y="1487423"/>
                </a:lnTo>
                <a:lnTo>
                  <a:pt x="1365504" y="1486662"/>
                </a:lnTo>
                <a:lnTo>
                  <a:pt x="1366266" y="1486662"/>
                </a:lnTo>
                <a:lnTo>
                  <a:pt x="1367028" y="1485900"/>
                </a:lnTo>
                <a:lnTo>
                  <a:pt x="1367790" y="1482852"/>
                </a:lnTo>
                <a:lnTo>
                  <a:pt x="1369314" y="1481328"/>
                </a:lnTo>
                <a:lnTo>
                  <a:pt x="1370838" y="1480566"/>
                </a:lnTo>
                <a:lnTo>
                  <a:pt x="1372362" y="1477517"/>
                </a:lnTo>
                <a:lnTo>
                  <a:pt x="1373124" y="1475232"/>
                </a:lnTo>
                <a:lnTo>
                  <a:pt x="1373886" y="1473708"/>
                </a:lnTo>
                <a:lnTo>
                  <a:pt x="1375410" y="1471422"/>
                </a:lnTo>
                <a:lnTo>
                  <a:pt x="1376172" y="1468373"/>
                </a:lnTo>
                <a:lnTo>
                  <a:pt x="1377696" y="1460754"/>
                </a:lnTo>
                <a:lnTo>
                  <a:pt x="1379220" y="1450086"/>
                </a:lnTo>
                <a:lnTo>
                  <a:pt x="1380744" y="1443989"/>
                </a:lnTo>
                <a:lnTo>
                  <a:pt x="1381506" y="1436370"/>
                </a:lnTo>
                <a:lnTo>
                  <a:pt x="1382268" y="1427226"/>
                </a:lnTo>
                <a:lnTo>
                  <a:pt x="1383030" y="1416558"/>
                </a:lnTo>
                <a:lnTo>
                  <a:pt x="1383792" y="1403604"/>
                </a:lnTo>
                <a:lnTo>
                  <a:pt x="1385316" y="1387602"/>
                </a:lnTo>
                <a:lnTo>
                  <a:pt x="1386840" y="1343406"/>
                </a:lnTo>
                <a:lnTo>
                  <a:pt x="1388364" y="1271778"/>
                </a:lnTo>
                <a:lnTo>
                  <a:pt x="1389126" y="1216914"/>
                </a:lnTo>
                <a:lnTo>
                  <a:pt x="1390650" y="1143762"/>
                </a:lnTo>
                <a:lnTo>
                  <a:pt x="1391412" y="1044701"/>
                </a:lnTo>
                <a:lnTo>
                  <a:pt x="1392174" y="915923"/>
                </a:lnTo>
                <a:lnTo>
                  <a:pt x="1393698" y="611123"/>
                </a:lnTo>
                <a:lnTo>
                  <a:pt x="1394460" y="478535"/>
                </a:lnTo>
                <a:lnTo>
                  <a:pt x="1395984" y="373379"/>
                </a:lnTo>
                <a:lnTo>
                  <a:pt x="1396746" y="291845"/>
                </a:lnTo>
                <a:lnTo>
                  <a:pt x="1397508" y="232409"/>
                </a:lnTo>
                <a:lnTo>
                  <a:pt x="1398270" y="186689"/>
                </a:lnTo>
                <a:lnTo>
                  <a:pt x="1399032" y="150875"/>
                </a:lnTo>
                <a:lnTo>
                  <a:pt x="1399794" y="123443"/>
                </a:lnTo>
                <a:lnTo>
                  <a:pt x="1401318" y="101345"/>
                </a:lnTo>
                <a:lnTo>
                  <a:pt x="1402080" y="83819"/>
                </a:lnTo>
                <a:lnTo>
                  <a:pt x="1402842" y="69341"/>
                </a:lnTo>
                <a:lnTo>
                  <a:pt x="1403604" y="58673"/>
                </a:lnTo>
                <a:lnTo>
                  <a:pt x="1404366" y="50291"/>
                </a:lnTo>
                <a:lnTo>
                  <a:pt x="1405890" y="43433"/>
                </a:lnTo>
                <a:lnTo>
                  <a:pt x="1406652" y="38861"/>
                </a:lnTo>
                <a:lnTo>
                  <a:pt x="1407414" y="36575"/>
                </a:lnTo>
                <a:lnTo>
                  <a:pt x="1408176" y="35051"/>
                </a:lnTo>
                <a:lnTo>
                  <a:pt x="1408938" y="36575"/>
                </a:lnTo>
                <a:lnTo>
                  <a:pt x="1410462" y="38861"/>
                </a:lnTo>
                <a:lnTo>
                  <a:pt x="1411224" y="43433"/>
                </a:lnTo>
                <a:lnTo>
                  <a:pt x="1411986" y="51053"/>
                </a:lnTo>
                <a:lnTo>
                  <a:pt x="1412748" y="60959"/>
                </a:lnTo>
                <a:lnTo>
                  <a:pt x="1413510" y="73913"/>
                </a:lnTo>
                <a:lnTo>
                  <a:pt x="1415034" y="91439"/>
                </a:lnTo>
                <a:lnTo>
                  <a:pt x="1416558" y="144779"/>
                </a:lnTo>
                <a:lnTo>
                  <a:pt x="1417320" y="185165"/>
                </a:lnTo>
                <a:lnTo>
                  <a:pt x="1418082" y="240791"/>
                </a:lnTo>
                <a:lnTo>
                  <a:pt x="1418844" y="316229"/>
                </a:lnTo>
                <a:lnTo>
                  <a:pt x="1419606" y="419861"/>
                </a:lnTo>
                <a:lnTo>
                  <a:pt x="1421130" y="553973"/>
                </a:lnTo>
                <a:lnTo>
                  <a:pt x="1422654" y="874013"/>
                </a:lnTo>
                <a:lnTo>
                  <a:pt x="1423416" y="1012697"/>
                </a:lnTo>
                <a:lnTo>
                  <a:pt x="1424178" y="1122426"/>
                </a:lnTo>
                <a:lnTo>
                  <a:pt x="1424940" y="1203198"/>
                </a:lnTo>
                <a:lnTo>
                  <a:pt x="1426464" y="1265682"/>
                </a:lnTo>
                <a:lnTo>
                  <a:pt x="1427226" y="1312926"/>
                </a:lnTo>
                <a:lnTo>
                  <a:pt x="1427988" y="1348739"/>
                </a:lnTo>
                <a:lnTo>
                  <a:pt x="1428750" y="1377695"/>
                </a:lnTo>
                <a:lnTo>
                  <a:pt x="1429512" y="1399794"/>
                </a:lnTo>
                <a:lnTo>
                  <a:pt x="1431036" y="1417320"/>
                </a:lnTo>
                <a:lnTo>
                  <a:pt x="1431798" y="1431036"/>
                </a:lnTo>
                <a:lnTo>
                  <a:pt x="1432560" y="1442466"/>
                </a:lnTo>
                <a:lnTo>
                  <a:pt x="1433322" y="1450848"/>
                </a:lnTo>
                <a:lnTo>
                  <a:pt x="1434084" y="1456944"/>
                </a:lnTo>
                <a:lnTo>
                  <a:pt x="1435608" y="1460754"/>
                </a:lnTo>
                <a:lnTo>
                  <a:pt x="1436370" y="1463802"/>
                </a:lnTo>
                <a:lnTo>
                  <a:pt x="1437132" y="1463802"/>
                </a:lnTo>
                <a:lnTo>
                  <a:pt x="1437894" y="1463039"/>
                </a:lnTo>
                <a:lnTo>
                  <a:pt x="1438656" y="1459992"/>
                </a:lnTo>
                <a:lnTo>
                  <a:pt x="1440180" y="1454658"/>
                </a:lnTo>
                <a:lnTo>
                  <a:pt x="1443228" y="1406652"/>
                </a:lnTo>
                <a:lnTo>
                  <a:pt x="1444752" y="1354073"/>
                </a:lnTo>
                <a:lnTo>
                  <a:pt x="1446276" y="1314450"/>
                </a:lnTo>
                <a:lnTo>
                  <a:pt x="1447038" y="1261110"/>
                </a:lnTo>
                <a:lnTo>
                  <a:pt x="1447800" y="1187958"/>
                </a:lnTo>
                <a:lnTo>
                  <a:pt x="1448562" y="1088136"/>
                </a:lnTo>
                <a:lnTo>
                  <a:pt x="1449324" y="958595"/>
                </a:lnTo>
                <a:lnTo>
                  <a:pt x="1450086" y="806195"/>
                </a:lnTo>
                <a:lnTo>
                  <a:pt x="1451610" y="651509"/>
                </a:lnTo>
                <a:lnTo>
                  <a:pt x="1452372" y="517397"/>
                </a:lnTo>
                <a:lnTo>
                  <a:pt x="1453134" y="411479"/>
                </a:lnTo>
                <a:lnTo>
                  <a:pt x="1453896" y="332993"/>
                </a:lnTo>
                <a:lnTo>
                  <a:pt x="1454658" y="272033"/>
                </a:lnTo>
                <a:lnTo>
                  <a:pt x="1456182" y="224789"/>
                </a:lnTo>
                <a:lnTo>
                  <a:pt x="1456944" y="188213"/>
                </a:lnTo>
                <a:lnTo>
                  <a:pt x="1457706" y="158495"/>
                </a:lnTo>
                <a:lnTo>
                  <a:pt x="1458468" y="134873"/>
                </a:lnTo>
                <a:lnTo>
                  <a:pt x="1459230" y="115061"/>
                </a:lnTo>
                <a:lnTo>
                  <a:pt x="1460754" y="98297"/>
                </a:lnTo>
                <a:lnTo>
                  <a:pt x="1461516" y="84581"/>
                </a:lnTo>
                <a:lnTo>
                  <a:pt x="1462278" y="72389"/>
                </a:lnTo>
                <a:lnTo>
                  <a:pt x="1463040" y="62483"/>
                </a:lnTo>
                <a:lnTo>
                  <a:pt x="1463802" y="53339"/>
                </a:lnTo>
                <a:lnTo>
                  <a:pt x="1465326" y="45719"/>
                </a:lnTo>
                <a:lnTo>
                  <a:pt x="1466850" y="33527"/>
                </a:lnTo>
                <a:lnTo>
                  <a:pt x="1471422" y="13715"/>
                </a:lnTo>
                <a:lnTo>
                  <a:pt x="1472184" y="11429"/>
                </a:lnTo>
                <a:lnTo>
                  <a:pt x="1472946" y="9905"/>
                </a:lnTo>
                <a:lnTo>
                  <a:pt x="1473708" y="9143"/>
                </a:lnTo>
                <a:lnTo>
                  <a:pt x="1474470" y="9143"/>
                </a:lnTo>
                <a:lnTo>
                  <a:pt x="1479804" y="36575"/>
                </a:lnTo>
                <a:lnTo>
                  <a:pt x="1481328" y="42671"/>
                </a:lnTo>
                <a:lnTo>
                  <a:pt x="1482852" y="53339"/>
                </a:lnTo>
                <a:lnTo>
                  <a:pt x="1484376" y="57911"/>
                </a:lnTo>
                <a:lnTo>
                  <a:pt x="1485900" y="58673"/>
                </a:lnTo>
                <a:lnTo>
                  <a:pt x="1486662" y="60197"/>
                </a:lnTo>
                <a:lnTo>
                  <a:pt x="1487424" y="60197"/>
                </a:lnTo>
                <a:lnTo>
                  <a:pt x="1488186" y="60959"/>
                </a:lnTo>
                <a:lnTo>
                  <a:pt x="1488948" y="60959"/>
                </a:lnTo>
                <a:lnTo>
                  <a:pt x="1490472" y="61721"/>
                </a:lnTo>
                <a:lnTo>
                  <a:pt x="1497330" y="61721"/>
                </a:lnTo>
                <a:lnTo>
                  <a:pt x="1498092" y="60959"/>
                </a:lnTo>
                <a:lnTo>
                  <a:pt x="1499616" y="60959"/>
                </a:lnTo>
                <a:lnTo>
                  <a:pt x="1500378" y="60197"/>
                </a:lnTo>
                <a:lnTo>
                  <a:pt x="1501902" y="59435"/>
                </a:lnTo>
                <a:lnTo>
                  <a:pt x="1502664" y="58673"/>
                </a:lnTo>
                <a:lnTo>
                  <a:pt x="1503426" y="57149"/>
                </a:lnTo>
                <a:lnTo>
                  <a:pt x="1506474" y="48005"/>
                </a:lnTo>
                <a:lnTo>
                  <a:pt x="1507236" y="42671"/>
                </a:lnTo>
                <a:lnTo>
                  <a:pt x="1507998" y="35813"/>
                </a:lnTo>
                <a:lnTo>
                  <a:pt x="1509522" y="23621"/>
                </a:lnTo>
                <a:lnTo>
                  <a:pt x="1511046" y="19811"/>
                </a:lnTo>
                <a:lnTo>
                  <a:pt x="1511808" y="19811"/>
                </a:lnTo>
                <a:lnTo>
                  <a:pt x="1512570" y="18287"/>
                </a:lnTo>
                <a:lnTo>
                  <a:pt x="1514094" y="18287"/>
                </a:lnTo>
                <a:lnTo>
                  <a:pt x="1516380" y="20573"/>
                </a:lnTo>
                <a:lnTo>
                  <a:pt x="1517142" y="22097"/>
                </a:lnTo>
                <a:lnTo>
                  <a:pt x="1517904" y="25145"/>
                </a:lnTo>
                <a:lnTo>
                  <a:pt x="1518666" y="27431"/>
                </a:lnTo>
                <a:lnTo>
                  <a:pt x="1519428" y="31241"/>
                </a:lnTo>
                <a:lnTo>
                  <a:pt x="1520952" y="35051"/>
                </a:lnTo>
                <a:lnTo>
                  <a:pt x="1522476" y="44195"/>
                </a:lnTo>
                <a:lnTo>
                  <a:pt x="1523238" y="50291"/>
                </a:lnTo>
                <a:lnTo>
                  <a:pt x="1524000" y="57149"/>
                </a:lnTo>
                <a:lnTo>
                  <a:pt x="1524762" y="65531"/>
                </a:lnTo>
                <a:lnTo>
                  <a:pt x="1525524" y="74675"/>
                </a:lnTo>
                <a:lnTo>
                  <a:pt x="1527048" y="86105"/>
                </a:lnTo>
                <a:lnTo>
                  <a:pt x="1529334" y="134873"/>
                </a:lnTo>
                <a:lnTo>
                  <a:pt x="1530858" y="189737"/>
                </a:lnTo>
                <a:lnTo>
                  <a:pt x="1532382" y="230123"/>
                </a:lnTo>
                <a:lnTo>
                  <a:pt x="1533144" y="282701"/>
                </a:lnTo>
                <a:lnTo>
                  <a:pt x="1533906" y="353567"/>
                </a:lnTo>
                <a:lnTo>
                  <a:pt x="1534668" y="448817"/>
                </a:lnTo>
                <a:lnTo>
                  <a:pt x="1535430" y="573023"/>
                </a:lnTo>
                <a:lnTo>
                  <a:pt x="1536954" y="718565"/>
                </a:lnTo>
                <a:lnTo>
                  <a:pt x="1537716" y="865632"/>
                </a:lnTo>
                <a:lnTo>
                  <a:pt x="1538478" y="992885"/>
                </a:lnTo>
                <a:lnTo>
                  <a:pt x="1539240" y="1094231"/>
                </a:lnTo>
                <a:lnTo>
                  <a:pt x="1540002" y="1168907"/>
                </a:lnTo>
                <a:lnTo>
                  <a:pt x="1541526" y="1228343"/>
                </a:lnTo>
                <a:lnTo>
                  <a:pt x="1542288" y="1273301"/>
                </a:lnTo>
                <a:lnTo>
                  <a:pt x="1543050" y="1309115"/>
                </a:lnTo>
                <a:lnTo>
                  <a:pt x="1543812" y="1338071"/>
                </a:lnTo>
                <a:lnTo>
                  <a:pt x="1544574" y="1361693"/>
                </a:lnTo>
                <a:lnTo>
                  <a:pt x="1546098" y="1380743"/>
                </a:lnTo>
                <a:lnTo>
                  <a:pt x="1546860" y="1397507"/>
                </a:lnTo>
                <a:lnTo>
                  <a:pt x="1549908" y="1442465"/>
                </a:lnTo>
                <a:lnTo>
                  <a:pt x="1552194" y="1457705"/>
                </a:lnTo>
                <a:lnTo>
                  <a:pt x="1552956" y="1463801"/>
                </a:lnTo>
                <a:lnTo>
                  <a:pt x="1553718" y="1469135"/>
                </a:lnTo>
                <a:lnTo>
                  <a:pt x="1554480" y="1473707"/>
                </a:lnTo>
                <a:lnTo>
                  <a:pt x="1556004" y="1481327"/>
                </a:lnTo>
                <a:lnTo>
                  <a:pt x="1557528" y="1484375"/>
                </a:lnTo>
                <a:lnTo>
                  <a:pt x="1559052" y="1488947"/>
                </a:lnTo>
                <a:lnTo>
                  <a:pt x="1560576" y="1490471"/>
                </a:lnTo>
                <a:lnTo>
                  <a:pt x="1562100" y="1489709"/>
                </a:lnTo>
                <a:lnTo>
                  <a:pt x="1562862" y="1487423"/>
                </a:lnTo>
                <a:lnTo>
                  <a:pt x="1563624" y="1483613"/>
                </a:lnTo>
                <a:lnTo>
                  <a:pt x="1564386" y="1478279"/>
                </a:lnTo>
                <a:lnTo>
                  <a:pt x="1565148" y="1471421"/>
                </a:lnTo>
                <a:lnTo>
                  <a:pt x="1566672" y="1463801"/>
                </a:lnTo>
                <a:lnTo>
                  <a:pt x="1567434" y="1457705"/>
                </a:lnTo>
                <a:lnTo>
                  <a:pt x="1568196" y="1453133"/>
                </a:lnTo>
                <a:lnTo>
                  <a:pt x="1568958" y="1447799"/>
                </a:lnTo>
                <a:lnTo>
                  <a:pt x="1569720" y="1445513"/>
                </a:lnTo>
                <a:lnTo>
                  <a:pt x="1571244" y="1443989"/>
                </a:lnTo>
                <a:lnTo>
                  <a:pt x="1572006" y="1442465"/>
                </a:lnTo>
                <a:lnTo>
                  <a:pt x="1572768" y="1442465"/>
                </a:lnTo>
                <a:lnTo>
                  <a:pt x="1574292" y="1440941"/>
                </a:lnTo>
                <a:lnTo>
                  <a:pt x="1578102" y="1440941"/>
                </a:lnTo>
                <a:lnTo>
                  <a:pt x="1578864" y="1441703"/>
                </a:lnTo>
                <a:lnTo>
                  <a:pt x="1580388" y="1441703"/>
                </a:lnTo>
                <a:lnTo>
                  <a:pt x="1581150" y="1442465"/>
                </a:lnTo>
                <a:lnTo>
                  <a:pt x="1583436" y="1442465"/>
                </a:lnTo>
                <a:lnTo>
                  <a:pt x="1584198" y="1443227"/>
                </a:lnTo>
                <a:lnTo>
                  <a:pt x="1584960" y="1443227"/>
                </a:lnTo>
                <a:lnTo>
                  <a:pt x="1585722" y="1443989"/>
                </a:lnTo>
                <a:lnTo>
                  <a:pt x="1587246" y="1444751"/>
                </a:lnTo>
                <a:lnTo>
                  <a:pt x="1588770" y="1446275"/>
                </a:lnTo>
                <a:lnTo>
                  <a:pt x="1589532" y="1447799"/>
                </a:lnTo>
                <a:lnTo>
                  <a:pt x="1590294" y="1450085"/>
                </a:lnTo>
                <a:lnTo>
                  <a:pt x="1591818" y="1453133"/>
                </a:lnTo>
                <a:lnTo>
                  <a:pt x="1592580" y="1456943"/>
                </a:lnTo>
                <a:lnTo>
                  <a:pt x="1594104" y="1469135"/>
                </a:lnTo>
                <a:lnTo>
                  <a:pt x="1594866" y="1475993"/>
                </a:lnTo>
                <a:lnTo>
                  <a:pt x="1596390" y="1481327"/>
                </a:lnTo>
                <a:lnTo>
                  <a:pt x="1597152" y="1485899"/>
                </a:lnTo>
                <a:lnTo>
                  <a:pt x="1597914" y="1485899"/>
                </a:lnTo>
                <a:lnTo>
                  <a:pt x="1598676" y="1487423"/>
                </a:lnTo>
                <a:lnTo>
                  <a:pt x="1599438" y="1488185"/>
                </a:lnTo>
                <a:lnTo>
                  <a:pt x="1600200" y="1488185"/>
                </a:lnTo>
                <a:lnTo>
                  <a:pt x="1606296" y="1472183"/>
                </a:lnTo>
                <a:lnTo>
                  <a:pt x="1607820" y="1467611"/>
                </a:lnTo>
                <a:lnTo>
                  <a:pt x="1609344" y="1456943"/>
                </a:lnTo>
                <a:lnTo>
                  <a:pt x="1610868" y="1441703"/>
                </a:lnTo>
                <a:lnTo>
                  <a:pt x="1612392" y="1432559"/>
                </a:lnTo>
                <a:lnTo>
                  <a:pt x="1613154" y="1421129"/>
                </a:lnTo>
                <a:lnTo>
                  <a:pt x="1613916" y="1408175"/>
                </a:lnTo>
                <a:lnTo>
                  <a:pt x="1614678" y="1392173"/>
                </a:lnTo>
                <a:lnTo>
                  <a:pt x="1615440" y="1372361"/>
                </a:lnTo>
                <a:lnTo>
                  <a:pt x="1616964" y="1348739"/>
                </a:lnTo>
                <a:lnTo>
                  <a:pt x="1617726" y="1317497"/>
                </a:lnTo>
                <a:lnTo>
                  <a:pt x="1618488" y="1277873"/>
                </a:lnTo>
                <a:lnTo>
                  <a:pt x="1619250" y="1225295"/>
                </a:lnTo>
                <a:lnTo>
                  <a:pt x="1620012" y="1154429"/>
                </a:lnTo>
                <a:lnTo>
                  <a:pt x="1621536" y="1059179"/>
                </a:lnTo>
                <a:lnTo>
                  <a:pt x="1622298" y="934973"/>
                </a:lnTo>
                <a:lnTo>
                  <a:pt x="1623822" y="643127"/>
                </a:lnTo>
                <a:lnTo>
                  <a:pt x="1624584" y="515111"/>
                </a:lnTo>
                <a:lnTo>
                  <a:pt x="1625346" y="414527"/>
                </a:lnTo>
                <a:lnTo>
                  <a:pt x="1626870" y="335279"/>
                </a:lnTo>
                <a:lnTo>
                  <a:pt x="1627632" y="275843"/>
                </a:lnTo>
                <a:lnTo>
                  <a:pt x="1628394" y="230885"/>
                </a:lnTo>
                <a:lnTo>
                  <a:pt x="1629918" y="166115"/>
                </a:lnTo>
                <a:lnTo>
                  <a:pt x="1631442" y="122681"/>
                </a:lnTo>
                <a:lnTo>
                  <a:pt x="1632966" y="106679"/>
                </a:lnTo>
                <a:lnTo>
                  <a:pt x="1633727" y="92963"/>
                </a:lnTo>
                <a:lnTo>
                  <a:pt x="1634489" y="80771"/>
                </a:lnTo>
                <a:lnTo>
                  <a:pt x="1635252" y="70103"/>
                </a:lnTo>
                <a:lnTo>
                  <a:pt x="1636014" y="60959"/>
                </a:lnTo>
                <a:lnTo>
                  <a:pt x="1637538" y="53339"/>
                </a:lnTo>
                <a:lnTo>
                  <a:pt x="1638300" y="46481"/>
                </a:lnTo>
                <a:lnTo>
                  <a:pt x="1639824" y="34289"/>
                </a:lnTo>
                <a:lnTo>
                  <a:pt x="1640586" y="29717"/>
                </a:lnTo>
                <a:lnTo>
                  <a:pt x="1642110" y="25907"/>
                </a:lnTo>
                <a:lnTo>
                  <a:pt x="1642872" y="22097"/>
                </a:lnTo>
                <a:lnTo>
                  <a:pt x="1643633" y="19049"/>
                </a:lnTo>
                <a:lnTo>
                  <a:pt x="1645158" y="14477"/>
                </a:lnTo>
                <a:lnTo>
                  <a:pt x="1645920" y="12953"/>
                </a:lnTo>
                <a:lnTo>
                  <a:pt x="1648206" y="12953"/>
                </a:lnTo>
                <a:lnTo>
                  <a:pt x="1648968" y="15239"/>
                </a:lnTo>
                <a:lnTo>
                  <a:pt x="1649730" y="19049"/>
                </a:lnTo>
                <a:lnTo>
                  <a:pt x="1650492" y="23621"/>
                </a:lnTo>
                <a:lnTo>
                  <a:pt x="1652016" y="31241"/>
                </a:lnTo>
                <a:lnTo>
                  <a:pt x="1652777" y="38099"/>
                </a:lnTo>
                <a:lnTo>
                  <a:pt x="1653539" y="44195"/>
                </a:lnTo>
                <a:lnTo>
                  <a:pt x="1654302" y="48767"/>
                </a:lnTo>
                <a:lnTo>
                  <a:pt x="1655064" y="54101"/>
                </a:lnTo>
                <a:lnTo>
                  <a:pt x="1655826" y="56387"/>
                </a:lnTo>
                <a:lnTo>
                  <a:pt x="1656588" y="57911"/>
                </a:lnTo>
                <a:lnTo>
                  <a:pt x="1658112" y="58673"/>
                </a:lnTo>
                <a:lnTo>
                  <a:pt x="1658874" y="58673"/>
                </a:lnTo>
                <a:lnTo>
                  <a:pt x="1659636" y="59435"/>
                </a:lnTo>
                <a:lnTo>
                  <a:pt x="1662683" y="59435"/>
                </a:lnTo>
                <a:lnTo>
                  <a:pt x="1663445" y="58673"/>
                </a:lnTo>
                <a:lnTo>
                  <a:pt x="1664970" y="58673"/>
                </a:lnTo>
                <a:lnTo>
                  <a:pt x="1665732" y="57911"/>
                </a:lnTo>
                <a:lnTo>
                  <a:pt x="1668018" y="57911"/>
                </a:lnTo>
                <a:lnTo>
                  <a:pt x="1668780" y="57149"/>
                </a:lnTo>
                <a:lnTo>
                  <a:pt x="1670304" y="57149"/>
                </a:lnTo>
                <a:lnTo>
                  <a:pt x="1671066" y="56387"/>
                </a:lnTo>
                <a:lnTo>
                  <a:pt x="1672589" y="56387"/>
                </a:lnTo>
                <a:lnTo>
                  <a:pt x="1673352" y="55625"/>
                </a:lnTo>
                <a:lnTo>
                  <a:pt x="1674876" y="55625"/>
                </a:lnTo>
                <a:lnTo>
                  <a:pt x="1675638" y="54863"/>
                </a:lnTo>
                <a:lnTo>
                  <a:pt x="1678686" y="54863"/>
                </a:lnTo>
                <a:lnTo>
                  <a:pt x="1679448" y="54101"/>
                </a:lnTo>
                <a:lnTo>
                  <a:pt x="1683258" y="54101"/>
                </a:lnTo>
                <a:lnTo>
                  <a:pt x="1684020" y="51815"/>
                </a:lnTo>
                <a:lnTo>
                  <a:pt x="1684782" y="51053"/>
                </a:lnTo>
                <a:lnTo>
                  <a:pt x="1694688" y="51053"/>
                </a:lnTo>
                <a:lnTo>
                  <a:pt x="1695450" y="50291"/>
                </a:lnTo>
                <a:lnTo>
                  <a:pt x="1699260" y="50291"/>
                </a:lnTo>
                <a:lnTo>
                  <a:pt x="1700022" y="49529"/>
                </a:lnTo>
                <a:lnTo>
                  <a:pt x="1700783" y="49529"/>
                </a:lnTo>
                <a:lnTo>
                  <a:pt x="1702308" y="48767"/>
                </a:lnTo>
                <a:lnTo>
                  <a:pt x="1703832" y="47243"/>
                </a:lnTo>
                <a:lnTo>
                  <a:pt x="1705356" y="44195"/>
                </a:lnTo>
                <a:lnTo>
                  <a:pt x="1706118" y="41147"/>
                </a:lnTo>
                <a:lnTo>
                  <a:pt x="1707642" y="36575"/>
                </a:lnTo>
                <a:lnTo>
                  <a:pt x="1708404" y="31241"/>
                </a:lnTo>
                <a:lnTo>
                  <a:pt x="1709166" y="24383"/>
                </a:lnTo>
                <a:lnTo>
                  <a:pt x="1709927" y="18287"/>
                </a:lnTo>
                <a:lnTo>
                  <a:pt x="1710689" y="12953"/>
                </a:lnTo>
                <a:lnTo>
                  <a:pt x="1712214" y="3809"/>
                </a:lnTo>
                <a:lnTo>
                  <a:pt x="1713738" y="2285"/>
                </a:lnTo>
                <a:lnTo>
                  <a:pt x="1715262" y="2285"/>
                </a:lnTo>
                <a:lnTo>
                  <a:pt x="1718310" y="5333"/>
                </a:lnTo>
                <a:lnTo>
                  <a:pt x="1719072" y="7619"/>
                </a:lnTo>
                <a:lnTo>
                  <a:pt x="1720595" y="13715"/>
                </a:lnTo>
                <a:lnTo>
                  <a:pt x="1721358" y="17525"/>
                </a:lnTo>
                <a:lnTo>
                  <a:pt x="1722882" y="21335"/>
                </a:lnTo>
                <a:lnTo>
                  <a:pt x="1724406" y="32003"/>
                </a:lnTo>
                <a:lnTo>
                  <a:pt x="1725168" y="38861"/>
                </a:lnTo>
                <a:lnTo>
                  <a:pt x="1725930" y="47243"/>
                </a:lnTo>
                <a:lnTo>
                  <a:pt x="1727454" y="56387"/>
                </a:lnTo>
                <a:lnTo>
                  <a:pt x="1729739" y="96773"/>
                </a:lnTo>
                <a:lnTo>
                  <a:pt x="1731264" y="140969"/>
                </a:lnTo>
                <a:lnTo>
                  <a:pt x="1732788" y="172973"/>
                </a:lnTo>
                <a:lnTo>
                  <a:pt x="1733550" y="214121"/>
                </a:lnTo>
                <a:lnTo>
                  <a:pt x="1734312" y="268223"/>
                </a:lnTo>
                <a:lnTo>
                  <a:pt x="1735074" y="342137"/>
                </a:lnTo>
                <a:lnTo>
                  <a:pt x="1735836" y="441197"/>
                </a:lnTo>
                <a:lnTo>
                  <a:pt x="1736598" y="570737"/>
                </a:lnTo>
                <a:lnTo>
                  <a:pt x="1737360" y="722375"/>
                </a:lnTo>
                <a:lnTo>
                  <a:pt x="1738883" y="875537"/>
                </a:lnTo>
                <a:lnTo>
                  <a:pt x="1739645" y="1008887"/>
                </a:lnTo>
                <a:lnTo>
                  <a:pt x="1740408" y="1113281"/>
                </a:lnTo>
                <a:lnTo>
                  <a:pt x="1741170" y="1194815"/>
                </a:lnTo>
                <a:lnTo>
                  <a:pt x="1741932" y="1255013"/>
                </a:lnTo>
                <a:lnTo>
                  <a:pt x="1743456" y="1300733"/>
                </a:lnTo>
                <a:lnTo>
                  <a:pt x="1744218" y="1336547"/>
                </a:lnTo>
                <a:lnTo>
                  <a:pt x="1744980" y="1363979"/>
                </a:lnTo>
                <a:lnTo>
                  <a:pt x="1745742" y="1386839"/>
                </a:lnTo>
                <a:lnTo>
                  <a:pt x="1746504" y="1404365"/>
                </a:lnTo>
                <a:lnTo>
                  <a:pt x="1748027" y="1418081"/>
                </a:lnTo>
                <a:lnTo>
                  <a:pt x="1748789" y="1429511"/>
                </a:lnTo>
                <a:lnTo>
                  <a:pt x="1753362" y="1452371"/>
                </a:lnTo>
                <a:lnTo>
                  <a:pt x="1754124" y="1451609"/>
                </a:lnTo>
                <a:lnTo>
                  <a:pt x="1754886" y="1449323"/>
                </a:lnTo>
                <a:lnTo>
                  <a:pt x="1755648" y="1444751"/>
                </a:lnTo>
                <a:lnTo>
                  <a:pt x="1757172" y="1437893"/>
                </a:lnTo>
                <a:lnTo>
                  <a:pt x="1759458" y="1398269"/>
                </a:lnTo>
                <a:lnTo>
                  <a:pt x="1760982" y="1346453"/>
                </a:lnTo>
                <a:lnTo>
                  <a:pt x="1761744" y="1307591"/>
                </a:lnTo>
                <a:lnTo>
                  <a:pt x="1763268" y="1254251"/>
                </a:lnTo>
                <a:lnTo>
                  <a:pt x="1764030" y="1181861"/>
                </a:lnTo>
                <a:lnTo>
                  <a:pt x="1764792" y="1082801"/>
                </a:lnTo>
                <a:lnTo>
                  <a:pt x="1765554" y="954023"/>
                </a:lnTo>
                <a:lnTo>
                  <a:pt x="1767077" y="646937"/>
                </a:lnTo>
                <a:lnTo>
                  <a:pt x="1768602" y="513587"/>
                </a:lnTo>
                <a:lnTo>
                  <a:pt x="1769364" y="408431"/>
                </a:lnTo>
                <a:lnTo>
                  <a:pt x="1770126" y="326135"/>
                </a:lnTo>
                <a:lnTo>
                  <a:pt x="1770888" y="265175"/>
                </a:lnTo>
                <a:lnTo>
                  <a:pt x="1771650" y="218693"/>
                </a:lnTo>
                <a:lnTo>
                  <a:pt x="1773174" y="182117"/>
                </a:lnTo>
                <a:lnTo>
                  <a:pt x="1773936" y="152399"/>
                </a:lnTo>
                <a:lnTo>
                  <a:pt x="1774698" y="128777"/>
                </a:lnTo>
                <a:lnTo>
                  <a:pt x="1775460" y="109727"/>
                </a:lnTo>
                <a:lnTo>
                  <a:pt x="1776222" y="93725"/>
                </a:lnTo>
                <a:lnTo>
                  <a:pt x="1777745" y="80009"/>
                </a:lnTo>
                <a:lnTo>
                  <a:pt x="1778508" y="68579"/>
                </a:lnTo>
                <a:lnTo>
                  <a:pt x="1779270" y="58673"/>
                </a:lnTo>
                <a:lnTo>
                  <a:pt x="1780032" y="49529"/>
                </a:lnTo>
                <a:lnTo>
                  <a:pt x="1781556" y="35813"/>
                </a:lnTo>
                <a:lnTo>
                  <a:pt x="1783080" y="30479"/>
                </a:lnTo>
                <a:lnTo>
                  <a:pt x="1783842" y="25145"/>
                </a:lnTo>
                <a:lnTo>
                  <a:pt x="1784604" y="20573"/>
                </a:lnTo>
                <a:lnTo>
                  <a:pt x="1785366" y="17525"/>
                </a:lnTo>
                <a:lnTo>
                  <a:pt x="1786127" y="13715"/>
                </a:lnTo>
                <a:lnTo>
                  <a:pt x="1786889" y="10667"/>
                </a:lnTo>
                <a:lnTo>
                  <a:pt x="1788414" y="8381"/>
                </a:lnTo>
                <a:lnTo>
                  <a:pt x="1789176" y="6857"/>
                </a:lnTo>
                <a:lnTo>
                  <a:pt x="1789938" y="4571"/>
                </a:lnTo>
                <a:lnTo>
                  <a:pt x="1790700" y="3047"/>
                </a:lnTo>
                <a:lnTo>
                  <a:pt x="1792224" y="1523"/>
                </a:lnTo>
                <a:lnTo>
                  <a:pt x="1794510" y="1523"/>
                </a:lnTo>
                <a:lnTo>
                  <a:pt x="1795272" y="2285"/>
                </a:lnTo>
              </a:path>
            </a:pathLst>
          </a:custGeom>
          <a:ln w="15836">
            <a:solidFill>
              <a:srgbClr val="0000FF"/>
            </a:solidFill>
          </a:ln>
        </p:spPr>
        <p:txBody>
          <a:bodyPr wrap="square" lIns="0" tIns="0" rIns="0" bIns="0" rtlCol="0"/>
          <a:lstStyle/>
          <a:p>
            <a:pPr defTabSz="548626"/>
            <a:endParaRPr sz="1620">
              <a:solidFill>
                <a:srgbClr val="3C3C3B"/>
              </a:solidFill>
              <a:latin typeface="Gill Sans MT" panose="020B0502020104020203"/>
            </a:endParaRPr>
          </a:p>
        </p:txBody>
      </p:sp>
      <p:pic>
        <p:nvPicPr>
          <p:cNvPr id="6" name="object 6"/>
          <p:cNvPicPr/>
          <p:nvPr/>
        </p:nvPicPr>
        <p:blipFill>
          <a:blip r:embed="rId3" cstate="print"/>
          <a:stretch>
            <a:fillRect/>
          </a:stretch>
        </p:blipFill>
        <p:spPr>
          <a:xfrm>
            <a:off x="1782108" y="2970830"/>
            <a:ext cx="1790357" cy="1559471"/>
          </a:xfrm>
          <a:prstGeom prst="rect">
            <a:avLst/>
          </a:prstGeom>
        </p:spPr>
      </p:pic>
      <p:grpSp>
        <p:nvGrpSpPr>
          <p:cNvPr id="7" name="object 7"/>
          <p:cNvGrpSpPr/>
          <p:nvPr/>
        </p:nvGrpSpPr>
        <p:grpSpPr>
          <a:xfrm>
            <a:off x="7794498" y="1156512"/>
            <a:ext cx="2395855" cy="1624965"/>
            <a:chOff x="7794497" y="1156512"/>
            <a:chExt cx="2395855" cy="1624965"/>
          </a:xfrm>
        </p:grpSpPr>
        <p:sp>
          <p:nvSpPr>
            <p:cNvPr id="8" name="object 8"/>
            <p:cNvSpPr/>
            <p:nvPr/>
          </p:nvSpPr>
          <p:spPr>
            <a:xfrm>
              <a:off x="7802117" y="1159002"/>
              <a:ext cx="2157730" cy="1622425"/>
            </a:xfrm>
            <a:custGeom>
              <a:avLst/>
              <a:gdLst/>
              <a:ahLst/>
              <a:cxnLst/>
              <a:rect l="l" t="t" r="r" b="b"/>
              <a:pathLst>
                <a:path w="2157729" h="1622425">
                  <a:moveTo>
                    <a:pt x="2157222" y="1622297"/>
                  </a:moveTo>
                  <a:lnTo>
                    <a:pt x="2157222" y="0"/>
                  </a:lnTo>
                  <a:lnTo>
                    <a:pt x="0" y="0"/>
                  </a:lnTo>
                  <a:lnTo>
                    <a:pt x="0" y="1622297"/>
                  </a:lnTo>
                  <a:lnTo>
                    <a:pt x="2157222" y="1622297"/>
                  </a:lnTo>
                  <a:close/>
                </a:path>
              </a:pathLst>
            </a:custGeom>
            <a:solidFill>
              <a:srgbClr val="000000"/>
            </a:solidFill>
          </p:spPr>
          <p:txBody>
            <a:bodyPr wrap="square" lIns="0" tIns="0" rIns="0" bIns="0" rtlCol="0"/>
            <a:lstStyle/>
            <a:p>
              <a:pPr defTabSz="548626"/>
              <a:endParaRPr sz="1620">
                <a:solidFill>
                  <a:srgbClr val="3C3C3B"/>
                </a:solidFill>
                <a:latin typeface="Gill Sans MT" panose="020B0502020104020203"/>
              </a:endParaRPr>
            </a:p>
          </p:txBody>
        </p:sp>
        <p:sp>
          <p:nvSpPr>
            <p:cNvPr id="9" name="object 9"/>
            <p:cNvSpPr/>
            <p:nvPr/>
          </p:nvSpPr>
          <p:spPr>
            <a:xfrm>
              <a:off x="7802117" y="1159002"/>
              <a:ext cx="2157730" cy="0"/>
            </a:xfrm>
            <a:custGeom>
              <a:avLst/>
              <a:gdLst/>
              <a:ahLst/>
              <a:cxnLst/>
              <a:rect l="l" t="t" r="r" b="b"/>
              <a:pathLst>
                <a:path w="2157729">
                  <a:moveTo>
                    <a:pt x="0" y="0"/>
                  </a:moveTo>
                  <a:lnTo>
                    <a:pt x="2157222"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0" name="object 10"/>
            <p:cNvSpPr/>
            <p:nvPr/>
          </p:nvSpPr>
          <p:spPr>
            <a:xfrm>
              <a:off x="8341613" y="1159002"/>
              <a:ext cx="0" cy="22860"/>
            </a:xfrm>
            <a:custGeom>
              <a:avLst/>
              <a:gdLst/>
              <a:ahLst/>
              <a:cxnLst/>
              <a:rect l="l" t="t" r="r" b="b"/>
              <a:pathLst>
                <a:path h="22859">
                  <a:moveTo>
                    <a:pt x="0" y="0"/>
                  </a:moveTo>
                  <a:lnTo>
                    <a:pt x="0" y="2286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1" name="object 11"/>
            <p:cNvSpPr/>
            <p:nvPr/>
          </p:nvSpPr>
          <p:spPr>
            <a:xfrm>
              <a:off x="8881109" y="1159002"/>
              <a:ext cx="0" cy="22860"/>
            </a:xfrm>
            <a:custGeom>
              <a:avLst/>
              <a:gdLst/>
              <a:ahLst/>
              <a:cxnLst/>
              <a:rect l="l" t="t" r="r" b="b"/>
              <a:pathLst>
                <a:path h="22859">
                  <a:moveTo>
                    <a:pt x="0" y="0"/>
                  </a:moveTo>
                  <a:lnTo>
                    <a:pt x="0" y="2286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2" name="object 12"/>
            <p:cNvSpPr/>
            <p:nvPr/>
          </p:nvSpPr>
          <p:spPr>
            <a:xfrm>
              <a:off x="9420605" y="1159002"/>
              <a:ext cx="0" cy="22860"/>
            </a:xfrm>
            <a:custGeom>
              <a:avLst/>
              <a:gdLst/>
              <a:ahLst/>
              <a:cxnLst/>
              <a:rect l="l" t="t" r="r" b="b"/>
              <a:pathLst>
                <a:path h="22859">
                  <a:moveTo>
                    <a:pt x="0" y="0"/>
                  </a:moveTo>
                  <a:lnTo>
                    <a:pt x="0" y="2286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3" name="object 13"/>
            <p:cNvSpPr/>
            <p:nvPr/>
          </p:nvSpPr>
          <p:spPr>
            <a:xfrm>
              <a:off x="9959339" y="1159002"/>
              <a:ext cx="0" cy="22860"/>
            </a:xfrm>
            <a:custGeom>
              <a:avLst/>
              <a:gdLst/>
              <a:ahLst/>
              <a:cxnLst/>
              <a:rect l="l" t="t" r="r" b="b"/>
              <a:pathLst>
                <a:path h="22859">
                  <a:moveTo>
                    <a:pt x="0" y="0"/>
                  </a:moveTo>
                  <a:lnTo>
                    <a:pt x="0" y="2286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4" name="object 14"/>
            <p:cNvSpPr/>
            <p:nvPr/>
          </p:nvSpPr>
          <p:spPr>
            <a:xfrm>
              <a:off x="9959339" y="1159002"/>
              <a:ext cx="0" cy="1622425"/>
            </a:xfrm>
            <a:custGeom>
              <a:avLst/>
              <a:gdLst/>
              <a:ahLst/>
              <a:cxnLst/>
              <a:rect l="l" t="t" r="r" b="b"/>
              <a:pathLst>
                <a:path h="1622425">
                  <a:moveTo>
                    <a:pt x="0" y="1622298"/>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5" name="object 15"/>
            <p:cNvSpPr/>
            <p:nvPr/>
          </p:nvSpPr>
          <p:spPr>
            <a:xfrm>
              <a:off x="9938003" y="2552700"/>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6" name="object 16"/>
            <p:cNvSpPr/>
            <p:nvPr/>
          </p:nvSpPr>
          <p:spPr>
            <a:xfrm>
              <a:off x="9938003" y="2358390"/>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7" name="object 17"/>
            <p:cNvSpPr/>
            <p:nvPr/>
          </p:nvSpPr>
          <p:spPr>
            <a:xfrm>
              <a:off x="9938003" y="2164080"/>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8" name="object 18"/>
            <p:cNvSpPr/>
            <p:nvPr/>
          </p:nvSpPr>
          <p:spPr>
            <a:xfrm>
              <a:off x="9938003" y="1970532"/>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19" name="object 19"/>
            <p:cNvSpPr/>
            <p:nvPr/>
          </p:nvSpPr>
          <p:spPr>
            <a:xfrm>
              <a:off x="9938003" y="1776984"/>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20" name="object 20"/>
            <p:cNvSpPr/>
            <p:nvPr/>
          </p:nvSpPr>
          <p:spPr>
            <a:xfrm>
              <a:off x="9938003" y="1582674"/>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21" name="object 21"/>
            <p:cNvSpPr/>
            <p:nvPr/>
          </p:nvSpPr>
          <p:spPr>
            <a:xfrm>
              <a:off x="9938003" y="1388364"/>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22" name="object 22"/>
            <p:cNvSpPr/>
            <p:nvPr/>
          </p:nvSpPr>
          <p:spPr>
            <a:xfrm>
              <a:off x="9938003" y="1194816"/>
              <a:ext cx="21590" cy="0"/>
            </a:xfrm>
            <a:custGeom>
              <a:avLst/>
              <a:gdLst/>
              <a:ahLst/>
              <a:cxnLst/>
              <a:rect l="l" t="t" r="r" b="b"/>
              <a:pathLst>
                <a:path w="21590">
                  <a:moveTo>
                    <a:pt x="21335" y="0"/>
                  </a:moveTo>
                  <a:lnTo>
                    <a:pt x="0" y="0"/>
                  </a:lnTo>
                </a:path>
              </a:pathLst>
            </a:custGeom>
            <a:ln w="4978">
              <a:solidFill>
                <a:srgbClr val="AEAEAE"/>
              </a:solidFill>
            </a:ln>
          </p:spPr>
          <p:txBody>
            <a:bodyPr wrap="square" lIns="0" tIns="0" rIns="0" bIns="0" rtlCol="0"/>
            <a:lstStyle/>
            <a:p>
              <a:pPr defTabSz="548626"/>
              <a:endParaRPr sz="1620">
                <a:solidFill>
                  <a:srgbClr val="3C3C3B"/>
                </a:solidFill>
                <a:latin typeface="Gill Sans MT" panose="020B0502020104020203"/>
              </a:endParaRPr>
            </a:p>
          </p:txBody>
        </p:sp>
        <p:sp>
          <p:nvSpPr>
            <p:cNvPr id="23" name="object 23"/>
            <p:cNvSpPr/>
            <p:nvPr/>
          </p:nvSpPr>
          <p:spPr>
            <a:xfrm>
              <a:off x="8881109" y="2696718"/>
              <a:ext cx="1078230" cy="20320"/>
            </a:xfrm>
            <a:custGeom>
              <a:avLst/>
              <a:gdLst/>
              <a:ahLst/>
              <a:cxnLst/>
              <a:rect l="l" t="t" r="r" b="b"/>
              <a:pathLst>
                <a:path w="1078229" h="20319">
                  <a:moveTo>
                    <a:pt x="0" y="2286"/>
                  </a:moveTo>
                  <a:lnTo>
                    <a:pt x="67056" y="8382"/>
                  </a:lnTo>
                  <a:lnTo>
                    <a:pt x="100584" y="10668"/>
                  </a:lnTo>
                  <a:lnTo>
                    <a:pt x="134874" y="12954"/>
                  </a:lnTo>
                  <a:lnTo>
                    <a:pt x="168401" y="14478"/>
                  </a:lnTo>
                  <a:lnTo>
                    <a:pt x="201930" y="16002"/>
                  </a:lnTo>
                  <a:lnTo>
                    <a:pt x="235458" y="17526"/>
                  </a:lnTo>
                  <a:lnTo>
                    <a:pt x="269748" y="18288"/>
                  </a:lnTo>
                  <a:lnTo>
                    <a:pt x="303275" y="19050"/>
                  </a:lnTo>
                  <a:lnTo>
                    <a:pt x="336804" y="19812"/>
                  </a:lnTo>
                  <a:lnTo>
                    <a:pt x="370332" y="19050"/>
                  </a:lnTo>
                  <a:lnTo>
                    <a:pt x="404622" y="18288"/>
                  </a:lnTo>
                  <a:lnTo>
                    <a:pt x="438150" y="16764"/>
                  </a:lnTo>
                  <a:lnTo>
                    <a:pt x="471678" y="13716"/>
                  </a:lnTo>
                  <a:lnTo>
                    <a:pt x="505206" y="9906"/>
                  </a:lnTo>
                  <a:lnTo>
                    <a:pt x="539496" y="6858"/>
                  </a:lnTo>
                  <a:lnTo>
                    <a:pt x="573024" y="3810"/>
                  </a:lnTo>
                  <a:lnTo>
                    <a:pt x="606551" y="1524"/>
                  </a:lnTo>
                  <a:lnTo>
                    <a:pt x="640080" y="1524"/>
                  </a:lnTo>
                  <a:lnTo>
                    <a:pt x="674370" y="762"/>
                  </a:lnTo>
                  <a:lnTo>
                    <a:pt x="707898" y="762"/>
                  </a:lnTo>
                  <a:lnTo>
                    <a:pt x="741426" y="0"/>
                  </a:lnTo>
                  <a:lnTo>
                    <a:pt x="977646" y="0"/>
                  </a:lnTo>
                  <a:lnTo>
                    <a:pt x="1011174" y="762"/>
                  </a:lnTo>
                  <a:lnTo>
                    <a:pt x="1078230" y="762"/>
                  </a:lnTo>
                </a:path>
              </a:pathLst>
            </a:custGeom>
            <a:ln w="4978">
              <a:solidFill>
                <a:srgbClr val="FFFF00"/>
              </a:solidFill>
            </a:ln>
          </p:spPr>
          <p:txBody>
            <a:bodyPr wrap="square" lIns="0" tIns="0" rIns="0" bIns="0" rtlCol="0"/>
            <a:lstStyle/>
            <a:p>
              <a:pPr defTabSz="548626"/>
              <a:endParaRPr sz="1620">
                <a:solidFill>
                  <a:srgbClr val="3C3C3B"/>
                </a:solidFill>
                <a:latin typeface="Gill Sans MT" panose="020B0502020104020203"/>
              </a:endParaRPr>
            </a:p>
          </p:txBody>
        </p:sp>
        <p:pic>
          <p:nvPicPr>
            <p:cNvPr id="24" name="object 24"/>
            <p:cNvPicPr/>
            <p:nvPr/>
          </p:nvPicPr>
          <p:blipFill>
            <a:blip r:embed="rId4" cstate="print"/>
            <a:stretch>
              <a:fillRect/>
            </a:stretch>
          </p:blipFill>
          <p:spPr>
            <a:xfrm>
              <a:off x="7799628" y="1201470"/>
              <a:ext cx="2162200" cy="1544218"/>
            </a:xfrm>
            <a:prstGeom prst="rect">
              <a:avLst/>
            </a:prstGeom>
          </p:spPr>
        </p:pic>
        <p:pic>
          <p:nvPicPr>
            <p:cNvPr id="25" name="object 25"/>
            <p:cNvPicPr/>
            <p:nvPr/>
          </p:nvPicPr>
          <p:blipFill>
            <a:blip r:embed="rId5" cstate="print"/>
            <a:stretch>
              <a:fillRect/>
            </a:stretch>
          </p:blipFill>
          <p:spPr>
            <a:xfrm>
              <a:off x="7799628" y="1195374"/>
              <a:ext cx="2162200" cy="1550314"/>
            </a:xfrm>
            <a:prstGeom prst="rect">
              <a:avLst/>
            </a:prstGeom>
          </p:spPr>
        </p:pic>
        <p:sp>
          <p:nvSpPr>
            <p:cNvPr id="26" name="object 26"/>
            <p:cNvSpPr/>
            <p:nvPr/>
          </p:nvSpPr>
          <p:spPr>
            <a:xfrm>
              <a:off x="7802117" y="1241298"/>
              <a:ext cx="2157730" cy="21590"/>
            </a:xfrm>
            <a:custGeom>
              <a:avLst/>
              <a:gdLst/>
              <a:ahLst/>
              <a:cxnLst/>
              <a:rect l="l" t="t" r="r" b="b"/>
              <a:pathLst>
                <a:path w="2157729" h="21590">
                  <a:moveTo>
                    <a:pt x="-2489" y="10667"/>
                  </a:moveTo>
                  <a:lnTo>
                    <a:pt x="2159711" y="10667"/>
                  </a:lnTo>
                </a:path>
              </a:pathLst>
            </a:custGeom>
            <a:ln w="26314">
              <a:solidFill>
                <a:srgbClr val="FFFF00"/>
              </a:solidFill>
            </a:ln>
          </p:spPr>
          <p:txBody>
            <a:bodyPr wrap="square" lIns="0" tIns="0" rIns="0" bIns="0" rtlCol="0"/>
            <a:lstStyle/>
            <a:p>
              <a:pPr defTabSz="548626"/>
              <a:endParaRPr sz="1620">
                <a:solidFill>
                  <a:srgbClr val="3C3C3B"/>
                </a:solidFill>
                <a:latin typeface="Gill Sans MT" panose="020B0502020104020203"/>
              </a:endParaRPr>
            </a:p>
          </p:txBody>
        </p:sp>
        <p:sp>
          <p:nvSpPr>
            <p:cNvPr id="27" name="object 27"/>
            <p:cNvSpPr/>
            <p:nvPr/>
          </p:nvSpPr>
          <p:spPr>
            <a:xfrm>
              <a:off x="7802117" y="1241298"/>
              <a:ext cx="2157730" cy="5080"/>
            </a:xfrm>
            <a:custGeom>
              <a:avLst/>
              <a:gdLst/>
              <a:ahLst/>
              <a:cxnLst/>
              <a:rect l="l" t="t" r="r" b="b"/>
              <a:pathLst>
                <a:path w="2157729" h="5080">
                  <a:moveTo>
                    <a:pt x="-2489" y="2286"/>
                  </a:moveTo>
                  <a:lnTo>
                    <a:pt x="2159711" y="2286"/>
                  </a:lnTo>
                </a:path>
              </a:pathLst>
            </a:custGeom>
            <a:ln w="9550">
              <a:solidFill>
                <a:srgbClr val="FFFF00"/>
              </a:solidFill>
            </a:ln>
          </p:spPr>
          <p:txBody>
            <a:bodyPr wrap="square" lIns="0" tIns="0" rIns="0" bIns="0" rtlCol="0"/>
            <a:lstStyle/>
            <a:p>
              <a:pPr defTabSz="548626"/>
              <a:endParaRPr sz="1620">
                <a:solidFill>
                  <a:srgbClr val="3C3C3B"/>
                </a:solidFill>
                <a:latin typeface="Gill Sans MT" panose="020B0502020104020203"/>
              </a:endParaRPr>
            </a:p>
          </p:txBody>
        </p:sp>
        <p:sp>
          <p:nvSpPr>
            <p:cNvPr id="28" name="object 28"/>
            <p:cNvSpPr/>
            <p:nvPr/>
          </p:nvSpPr>
          <p:spPr>
            <a:xfrm>
              <a:off x="7802117" y="1202436"/>
              <a:ext cx="2157730" cy="1527810"/>
            </a:xfrm>
            <a:custGeom>
              <a:avLst/>
              <a:gdLst/>
              <a:ahLst/>
              <a:cxnLst/>
              <a:rect l="l" t="t" r="r" b="b"/>
              <a:pathLst>
                <a:path w="2157729" h="1527810">
                  <a:moveTo>
                    <a:pt x="0" y="41910"/>
                  </a:moveTo>
                  <a:lnTo>
                    <a:pt x="33527" y="42672"/>
                  </a:lnTo>
                  <a:lnTo>
                    <a:pt x="236220" y="42672"/>
                  </a:lnTo>
                  <a:lnTo>
                    <a:pt x="303275" y="41148"/>
                  </a:lnTo>
                  <a:lnTo>
                    <a:pt x="336803" y="39624"/>
                  </a:lnTo>
                  <a:lnTo>
                    <a:pt x="371093" y="38100"/>
                  </a:lnTo>
                  <a:lnTo>
                    <a:pt x="404622" y="35052"/>
                  </a:lnTo>
                  <a:lnTo>
                    <a:pt x="438150" y="31242"/>
                  </a:lnTo>
                  <a:lnTo>
                    <a:pt x="471677" y="25908"/>
                  </a:lnTo>
                  <a:lnTo>
                    <a:pt x="505967" y="19050"/>
                  </a:lnTo>
                  <a:lnTo>
                    <a:pt x="539496" y="12954"/>
                  </a:lnTo>
                  <a:lnTo>
                    <a:pt x="573024" y="7620"/>
                  </a:lnTo>
                  <a:lnTo>
                    <a:pt x="606551" y="3810"/>
                  </a:lnTo>
                  <a:lnTo>
                    <a:pt x="640841" y="1524"/>
                  </a:lnTo>
                  <a:lnTo>
                    <a:pt x="674370" y="0"/>
                  </a:lnTo>
                  <a:lnTo>
                    <a:pt x="741426" y="0"/>
                  </a:lnTo>
                  <a:lnTo>
                    <a:pt x="809243" y="2286"/>
                  </a:lnTo>
                  <a:lnTo>
                    <a:pt x="876300" y="6858"/>
                  </a:lnTo>
                  <a:lnTo>
                    <a:pt x="944117" y="13716"/>
                  </a:lnTo>
                  <a:lnTo>
                    <a:pt x="1011174" y="22098"/>
                  </a:lnTo>
                  <a:lnTo>
                    <a:pt x="1078991" y="33528"/>
                  </a:lnTo>
                  <a:lnTo>
                    <a:pt x="1146048" y="48768"/>
                  </a:lnTo>
                  <a:lnTo>
                    <a:pt x="1213865" y="70104"/>
                  </a:lnTo>
                  <a:lnTo>
                    <a:pt x="1280922" y="100584"/>
                  </a:lnTo>
                  <a:lnTo>
                    <a:pt x="1314450" y="121158"/>
                  </a:lnTo>
                  <a:lnTo>
                    <a:pt x="1348739" y="146304"/>
                  </a:lnTo>
                  <a:lnTo>
                    <a:pt x="1382267" y="179070"/>
                  </a:lnTo>
                  <a:lnTo>
                    <a:pt x="1415796" y="220980"/>
                  </a:lnTo>
                  <a:lnTo>
                    <a:pt x="1449324" y="276606"/>
                  </a:lnTo>
                  <a:lnTo>
                    <a:pt x="1483613" y="352044"/>
                  </a:lnTo>
                  <a:lnTo>
                    <a:pt x="1517141" y="453389"/>
                  </a:lnTo>
                  <a:lnTo>
                    <a:pt x="1550670" y="585215"/>
                  </a:lnTo>
                  <a:lnTo>
                    <a:pt x="1584198" y="739901"/>
                  </a:lnTo>
                  <a:lnTo>
                    <a:pt x="1618487" y="896112"/>
                  </a:lnTo>
                  <a:lnTo>
                    <a:pt x="1652015" y="1031747"/>
                  </a:lnTo>
                  <a:lnTo>
                    <a:pt x="1685543" y="1138427"/>
                  </a:lnTo>
                  <a:lnTo>
                    <a:pt x="1719072" y="1215389"/>
                  </a:lnTo>
                  <a:lnTo>
                    <a:pt x="1753361" y="1276350"/>
                  </a:lnTo>
                  <a:lnTo>
                    <a:pt x="1786889" y="1323594"/>
                  </a:lnTo>
                  <a:lnTo>
                    <a:pt x="1820417" y="1360170"/>
                  </a:lnTo>
                  <a:lnTo>
                    <a:pt x="1853946" y="1388364"/>
                  </a:lnTo>
                  <a:lnTo>
                    <a:pt x="1887474" y="1411224"/>
                  </a:lnTo>
                  <a:lnTo>
                    <a:pt x="1921763" y="1429512"/>
                  </a:lnTo>
                  <a:lnTo>
                    <a:pt x="1988820" y="1455420"/>
                  </a:lnTo>
                  <a:lnTo>
                    <a:pt x="2056637" y="1471421"/>
                  </a:lnTo>
                  <a:lnTo>
                    <a:pt x="2123693" y="1479041"/>
                  </a:lnTo>
                  <a:lnTo>
                    <a:pt x="2157222" y="1480565"/>
                  </a:lnTo>
                </a:path>
                <a:path w="2157729" h="1527810">
                  <a:moveTo>
                    <a:pt x="0" y="1480566"/>
                  </a:moveTo>
                  <a:lnTo>
                    <a:pt x="67055" y="1476756"/>
                  </a:lnTo>
                  <a:lnTo>
                    <a:pt x="134874" y="1465326"/>
                  </a:lnTo>
                  <a:lnTo>
                    <a:pt x="201929" y="1442466"/>
                  </a:lnTo>
                  <a:lnTo>
                    <a:pt x="236220" y="1424940"/>
                  </a:lnTo>
                  <a:lnTo>
                    <a:pt x="269748" y="1401318"/>
                  </a:lnTo>
                  <a:lnTo>
                    <a:pt x="303275" y="1370838"/>
                  </a:lnTo>
                  <a:lnTo>
                    <a:pt x="336803" y="1329690"/>
                  </a:lnTo>
                  <a:lnTo>
                    <a:pt x="371093" y="1273302"/>
                  </a:lnTo>
                  <a:lnTo>
                    <a:pt x="404622" y="1196340"/>
                  </a:lnTo>
                  <a:lnTo>
                    <a:pt x="438150" y="1091946"/>
                  </a:lnTo>
                  <a:lnTo>
                    <a:pt x="471677" y="954786"/>
                  </a:lnTo>
                  <a:lnTo>
                    <a:pt x="505967" y="793242"/>
                  </a:lnTo>
                  <a:lnTo>
                    <a:pt x="539496" y="630174"/>
                  </a:lnTo>
                  <a:lnTo>
                    <a:pt x="573024" y="488442"/>
                  </a:lnTo>
                  <a:lnTo>
                    <a:pt x="606551" y="377190"/>
                  </a:lnTo>
                  <a:lnTo>
                    <a:pt x="640841" y="293370"/>
                  </a:lnTo>
                  <a:lnTo>
                    <a:pt x="674370" y="230124"/>
                  </a:lnTo>
                  <a:lnTo>
                    <a:pt x="707898" y="182118"/>
                  </a:lnTo>
                  <a:lnTo>
                    <a:pt x="741426" y="144780"/>
                  </a:lnTo>
                  <a:lnTo>
                    <a:pt x="774953" y="115824"/>
                  </a:lnTo>
                  <a:lnTo>
                    <a:pt x="809243" y="93726"/>
                  </a:lnTo>
                  <a:lnTo>
                    <a:pt x="842772" y="75438"/>
                  </a:lnTo>
                  <a:lnTo>
                    <a:pt x="909827" y="50292"/>
                  </a:lnTo>
                  <a:lnTo>
                    <a:pt x="977646" y="35052"/>
                  </a:lnTo>
                  <a:lnTo>
                    <a:pt x="1044701" y="28956"/>
                  </a:lnTo>
                  <a:lnTo>
                    <a:pt x="1078991" y="28194"/>
                  </a:lnTo>
                  <a:lnTo>
                    <a:pt x="1112520" y="29718"/>
                  </a:lnTo>
                  <a:lnTo>
                    <a:pt x="1179576" y="38100"/>
                  </a:lnTo>
                  <a:lnTo>
                    <a:pt x="1247393" y="56388"/>
                  </a:lnTo>
                  <a:lnTo>
                    <a:pt x="1314450" y="88392"/>
                  </a:lnTo>
                  <a:lnTo>
                    <a:pt x="1348739" y="112014"/>
                  </a:lnTo>
                  <a:lnTo>
                    <a:pt x="1382267" y="143256"/>
                  </a:lnTo>
                  <a:lnTo>
                    <a:pt x="1415796" y="185166"/>
                  </a:lnTo>
                  <a:lnTo>
                    <a:pt x="1449324" y="241554"/>
                  </a:lnTo>
                  <a:lnTo>
                    <a:pt x="1483613" y="319278"/>
                  </a:lnTo>
                  <a:lnTo>
                    <a:pt x="1517141" y="424433"/>
                  </a:lnTo>
                  <a:lnTo>
                    <a:pt x="1550670" y="561594"/>
                  </a:lnTo>
                  <a:lnTo>
                    <a:pt x="1584198" y="724662"/>
                  </a:lnTo>
                  <a:lnTo>
                    <a:pt x="1618487" y="888491"/>
                  </a:lnTo>
                  <a:lnTo>
                    <a:pt x="1652015" y="1030224"/>
                  </a:lnTo>
                  <a:lnTo>
                    <a:pt x="1685543" y="1142238"/>
                  </a:lnTo>
                  <a:lnTo>
                    <a:pt x="1719072" y="1226820"/>
                  </a:lnTo>
                  <a:lnTo>
                    <a:pt x="1753361" y="1290827"/>
                  </a:lnTo>
                  <a:lnTo>
                    <a:pt x="1786889" y="1338833"/>
                  </a:lnTo>
                  <a:lnTo>
                    <a:pt x="1820417" y="1376933"/>
                  </a:lnTo>
                  <a:lnTo>
                    <a:pt x="1853946" y="1405889"/>
                  </a:lnTo>
                  <a:lnTo>
                    <a:pt x="1887474" y="1429512"/>
                  </a:lnTo>
                  <a:lnTo>
                    <a:pt x="1921763" y="1447800"/>
                  </a:lnTo>
                  <a:lnTo>
                    <a:pt x="1988820" y="1474470"/>
                  </a:lnTo>
                  <a:lnTo>
                    <a:pt x="2056637" y="1489709"/>
                  </a:lnTo>
                  <a:lnTo>
                    <a:pt x="2123693" y="1497330"/>
                  </a:lnTo>
                  <a:lnTo>
                    <a:pt x="2157222" y="1498853"/>
                  </a:lnTo>
                </a:path>
                <a:path w="2157729" h="1527810">
                  <a:moveTo>
                    <a:pt x="0" y="1498854"/>
                  </a:moveTo>
                  <a:lnTo>
                    <a:pt x="67055" y="1495044"/>
                  </a:lnTo>
                  <a:lnTo>
                    <a:pt x="134874" y="1482852"/>
                  </a:lnTo>
                  <a:lnTo>
                    <a:pt x="201929" y="1459992"/>
                  </a:lnTo>
                  <a:lnTo>
                    <a:pt x="236220" y="1442466"/>
                  </a:lnTo>
                  <a:lnTo>
                    <a:pt x="269748" y="1418844"/>
                  </a:lnTo>
                  <a:lnTo>
                    <a:pt x="303275" y="1387602"/>
                  </a:lnTo>
                  <a:lnTo>
                    <a:pt x="336803" y="1346454"/>
                  </a:lnTo>
                  <a:lnTo>
                    <a:pt x="371093" y="1290828"/>
                  </a:lnTo>
                  <a:lnTo>
                    <a:pt x="404622" y="1213866"/>
                  </a:lnTo>
                  <a:lnTo>
                    <a:pt x="438150" y="1108710"/>
                  </a:lnTo>
                  <a:lnTo>
                    <a:pt x="471677" y="971550"/>
                  </a:lnTo>
                  <a:lnTo>
                    <a:pt x="505967" y="810006"/>
                  </a:lnTo>
                  <a:lnTo>
                    <a:pt x="539496" y="646176"/>
                  </a:lnTo>
                  <a:lnTo>
                    <a:pt x="573024" y="505206"/>
                  </a:lnTo>
                  <a:lnTo>
                    <a:pt x="606551" y="393954"/>
                  </a:lnTo>
                  <a:lnTo>
                    <a:pt x="640841" y="305562"/>
                  </a:lnTo>
                  <a:lnTo>
                    <a:pt x="674370" y="242316"/>
                  </a:lnTo>
                  <a:lnTo>
                    <a:pt x="707898" y="193548"/>
                  </a:lnTo>
                  <a:lnTo>
                    <a:pt x="741426" y="156972"/>
                  </a:lnTo>
                  <a:lnTo>
                    <a:pt x="774953" y="128016"/>
                  </a:lnTo>
                  <a:lnTo>
                    <a:pt x="809243" y="105156"/>
                  </a:lnTo>
                  <a:lnTo>
                    <a:pt x="842772" y="86868"/>
                  </a:lnTo>
                  <a:lnTo>
                    <a:pt x="909827" y="61722"/>
                  </a:lnTo>
                  <a:lnTo>
                    <a:pt x="977646" y="47244"/>
                  </a:lnTo>
                  <a:lnTo>
                    <a:pt x="1044701" y="39624"/>
                  </a:lnTo>
                  <a:lnTo>
                    <a:pt x="1078991" y="39624"/>
                  </a:lnTo>
                  <a:lnTo>
                    <a:pt x="1146048" y="43434"/>
                  </a:lnTo>
                  <a:lnTo>
                    <a:pt x="1213865" y="56388"/>
                  </a:lnTo>
                  <a:lnTo>
                    <a:pt x="1280922" y="80010"/>
                  </a:lnTo>
                  <a:lnTo>
                    <a:pt x="1348739" y="120396"/>
                  </a:lnTo>
                  <a:lnTo>
                    <a:pt x="1382267" y="150876"/>
                  </a:lnTo>
                  <a:lnTo>
                    <a:pt x="1415796" y="191262"/>
                  </a:lnTo>
                  <a:lnTo>
                    <a:pt x="1449324" y="245364"/>
                  </a:lnTo>
                  <a:lnTo>
                    <a:pt x="1483613" y="320040"/>
                  </a:lnTo>
                  <a:lnTo>
                    <a:pt x="1517141" y="421386"/>
                  </a:lnTo>
                  <a:lnTo>
                    <a:pt x="1550670" y="552450"/>
                  </a:lnTo>
                  <a:lnTo>
                    <a:pt x="1584198" y="707897"/>
                  </a:lnTo>
                  <a:lnTo>
                    <a:pt x="1618487" y="864869"/>
                  </a:lnTo>
                  <a:lnTo>
                    <a:pt x="1652015" y="1001268"/>
                  </a:lnTo>
                  <a:lnTo>
                    <a:pt x="1685543" y="1108709"/>
                  </a:lnTo>
                  <a:lnTo>
                    <a:pt x="1719072" y="1191006"/>
                  </a:lnTo>
                  <a:lnTo>
                    <a:pt x="1753361" y="1253489"/>
                  </a:lnTo>
                  <a:lnTo>
                    <a:pt x="1786889" y="1300733"/>
                  </a:lnTo>
                  <a:lnTo>
                    <a:pt x="1820417" y="1338833"/>
                  </a:lnTo>
                  <a:lnTo>
                    <a:pt x="1853946" y="1368552"/>
                  </a:lnTo>
                  <a:lnTo>
                    <a:pt x="1887474" y="1392936"/>
                  </a:lnTo>
                  <a:lnTo>
                    <a:pt x="1921763" y="1412747"/>
                  </a:lnTo>
                  <a:lnTo>
                    <a:pt x="1988820" y="1443989"/>
                  </a:lnTo>
                  <a:lnTo>
                    <a:pt x="2056637" y="1466088"/>
                  </a:lnTo>
                  <a:lnTo>
                    <a:pt x="2123693" y="1482852"/>
                  </a:lnTo>
                  <a:lnTo>
                    <a:pt x="2157222" y="1489709"/>
                  </a:lnTo>
                </a:path>
                <a:path w="2157729" h="1527810">
                  <a:moveTo>
                    <a:pt x="0" y="1489710"/>
                  </a:moveTo>
                  <a:lnTo>
                    <a:pt x="33527" y="1495806"/>
                  </a:lnTo>
                  <a:lnTo>
                    <a:pt x="67055" y="1500378"/>
                  </a:lnTo>
                  <a:lnTo>
                    <a:pt x="101346" y="1505712"/>
                  </a:lnTo>
                  <a:lnTo>
                    <a:pt x="168401" y="1513332"/>
                  </a:lnTo>
                  <a:lnTo>
                    <a:pt x="236220" y="1519428"/>
                  </a:lnTo>
                  <a:lnTo>
                    <a:pt x="303275" y="1523238"/>
                  </a:lnTo>
                  <a:lnTo>
                    <a:pt x="336803" y="1525524"/>
                  </a:lnTo>
                  <a:lnTo>
                    <a:pt x="371093" y="1526286"/>
                  </a:lnTo>
                  <a:lnTo>
                    <a:pt x="404622" y="1527048"/>
                  </a:lnTo>
                  <a:lnTo>
                    <a:pt x="438150" y="1527810"/>
                  </a:lnTo>
                  <a:lnTo>
                    <a:pt x="471677" y="1527810"/>
                  </a:lnTo>
                  <a:lnTo>
                    <a:pt x="505967" y="1527048"/>
                  </a:lnTo>
                  <a:lnTo>
                    <a:pt x="539496" y="1526286"/>
                  </a:lnTo>
                  <a:lnTo>
                    <a:pt x="606551" y="1524762"/>
                  </a:lnTo>
                  <a:lnTo>
                    <a:pt x="640841" y="1519428"/>
                  </a:lnTo>
                  <a:lnTo>
                    <a:pt x="674370" y="1518666"/>
                  </a:lnTo>
                  <a:lnTo>
                    <a:pt x="707898" y="1517142"/>
                  </a:lnTo>
                  <a:lnTo>
                    <a:pt x="741426" y="1516380"/>
                  </a:lnTo>
                  <a:lnTo>
                    <a:pt x="774953" y="1514856"/>
                  </a:lnTo>
                  <a:lnTo>
                    <a:pt x="809243" y="1512570"/>
                  </a:lnTo>
                  <a:lnTo>
                    <a:pt x="842772" y="1511046"/>
                  </a:lnTo>
                  <a:lnTo>
                    <a:pt x="876300" y="1508760"/>
                  </a:lnTo>
                  <a:lnTo>
                    <a:pt x="909827" y="1505712"/>
                  </a:lnTo>
                  <a:lnTo>
                    <a:pt x="944117" y="1502664"/>
                  </a:lnTo>
                  <a:lnTo>
                    <a:pt x="1011174" y="1495044"/>
                  </a:lnTo>
                  <a:lnTo>
                    <a:pt x="1078991" y="1483614"/>
                  </a:lnTo>
                  <a:lnTo>
                    <a:pt x="1146048" y="1469897"/>
                  </a:lnTo>
                  <a:lnTo>
                    <a:pt x="1213865" y="1449324"/>
                  </a:lnTo>
                  <a:lnTo>
                    <a:pt x="1280922" y="1419606"/>
                  </a:lnTo>
                  <a:lnTo>
                    <a:pt x="1314450" y="1399794"/>
                  </a:lnTo>
                  <a:lnTo>
                    <a:pt x="1348739" y="1374647"/>
                  </a:lnTo>
                  <a:lnTo>
                    <a:pt x="1382267" y="1342644"/>
                  </a:lnTo>
                  <a:lnTo>
                    <a:pt x="1415796" y="1300733"/>
                  </a:lnTo>
                  <a:lnTo>
                    <a:pt x="1449324" y="1245870"/>
                  </a:lnTo>
                  <a:lnTo>
                    <a:pt x="1483613" y="1171194"/>
                  </a:lnTo>
                  <a:lnTo>
                    <a:pt x="1517141" y="1070609"/>
                  </a:lnTo>
                  <a:lnTo>
                    <a:pt x="1550670" y="938783"/>
                  </a:lnTo>
                  <a:lnTo>
                    <a:pt x="1584198" y="784097"/>
                  </a:lnTo>
                  <a:lnTo>
                    <a:pt x="1618487" y="628650"/>
                  </a:lnTo>
                  <a:lnTo>
                    <a:pt x="1652015" y="493775"/>
                  </a:lnTo>
                  <a:lnTo>
                    <a:pt x="1685543" y="387096"/>
                  </a:lnTo>
                  <a:lnTo>
                    <a:pt x="1719072" y="301752"/>
                  </a:lnTo>
                  <a:lnTo>
                    <a:pt x="1753361" y="240792"/>
                  </a:lnTo>
                  <a:lnTo>
                    <a:pt x="1786889" y="194310"/>
                  </a:lnTo>
                  <a:lnTo>
                    <a:pt x="1820417" y="158496"/>
                  </a:lnTo>
                  <a:lnTo>
                    <a:pt x="1853946" y="129540"/>
                  </a:lnTo>
                  <a:lnTo>
                    <a:pt x="1887474" y="107442"/>
                  </a:lnTo>
                  <a:lnTo>
                    <a:pt x="1921763" y="89916"/>
                  </a:lnTo>
                  <a:lnTo>
                    <a:pt x="1988820" y="64008"/>
                  </a:lnTo>
                  <a:lnTo>
                    <a:pt x="2056637" y="48768"/>
                  </a:lnTo>
                  <a:lnTo>
                    <a:pt x="2123693" y="41148"/>
                  </a:lnTo>
                  <a:lnTo>
                    <a:pt x="2157222" y="39624"/>
                  </a:lnTo>
                </a:path>
                <a:path w="2157729" h="1527810">
                  <a:moveTo>
                    <a:pt x="0" y="39624"/>
                  </a:moveTo>
                  <a:lnTo>
                    <a:pt x="67055" y="43434"/>
                  </a:lnTo>
                  <a:lnTo>
                    <a:pt x="134874" y="55626"/>
                  </a:lnTo>
                  <a:lnTo>
                    <a:pt x="201929" y="79248"/>
                  </a:lnTo>
                  <a:lnTo>
                    <a:pt x="236220" y="96774"/>
                  </a:lnTo>
                  <a:lnTo>
                    <a:pt x="269748" y="119634"/>
                  </a:lnTo>
                  <a:lnTo>
                    <a:pt x="303275" y="150876"/>
                  </a:lnTo>
                  <a:lnTo>
                    <a:pt x="336803" y="192024"/>
                  </a:lnTo>
                  <a:lnTo>
                    <a:pt x="371093" y="248412"/>
                  </a:lnTo>
                  <a:lnTo>
                    <a:pt x="404622" y="325374"/>
                  </a:lnTo>
                  <a:lnTo>
                    <a:pt x="438150" y="430530"/>
                  </a:lnTo>
                  <a:lnTo>
                    <a:pt x="471677" y="567690"/>
                  </a:lnTo>
                  <a:lnTo>
                    <a:pt x="505967" y="729234"/>
                  </a:lnTo>
                  <a:lnTo>
                    <a:pt x="539496" y="893064"/>
                  </a:lnTo>
                  <a:lnTo>
                    <a:pt x="573024" y="1034034"/>
                  </a:lnTo>
                  <a:lnTo>
                    <a:pt x="606551" y="1145286"/>
                  </a:lnTo>
                  <a:lnTo>
                    <a:pt x="640841" y="1229868"/>
                  </a:lnTo>
                  <a:lnTo>
                    <a:pt x="674370" y="1293114"/>
                  </a:lnTo>
                  <a:lnTo>
                    <a:pt x="707898" y="1341120"/>
                  </a:lnTo>
                  <a:lnTo>
                    <a:pt x="741426" y="1378458"/>
                  </a:lnTo>
                  <a:lnTo>
                    <a:pt x="774953" y="1406652"/>
                  </a:lnTo>
                  <a:lnTo>
                    <a:pt x="809243" y="1430274"/>
                  </a:lnTo>
                  <a:lnTo>
                    <a:pt x="876300" y="1462278"/>
                  </a:lnTo>
                  <a:lnTo>
                    <a:pt x="944117" y="1482090"/>
                  </a:lnTo>
                  <a:lnTo>
                    <a:pt x="1011174" y="1492758"/>
                  </a:lnTo>
                  <a:lnTo>
                    <a:pt x="1078991" y="1495806"/>
                  </a:lnTo>
                  <a:lnTo>
                    <a:pt x="1112520" y="1495044"/>
                  </a:lnTo>
                  <a:lnTo>
                    <a:pt x="1179576" y="1486662"/>
                  </a:lnTo>
                  <a:lnTo>
                    <a:pt x="1247393" y="1469136"/>
                  </a:lnTo>
                  <a:lnTo>
                    <a:pt x="1314450" y="1438656"/>
                  </a:lnTo>
                  <a:lnTo>
                    <a:pt x="1348739" y="1415033"/>
                  </a:lnTo>
                  <a:lnTo>
                    <a:pt x="1382267" y="1385315"/>
                  </a:lnTo>
                  <a:lnTo>
                    <a:pt x="1415796" y="1344930"/>
                  </a:lnTo>
                  <a:lnTo>
                    <a:pt x="1449324" y="1290065"/>
                  </a:lnTo>
                  <a:lnTo>
                    <a:pt x="1483613" y="1216152"/>
                  </a:lnTo>
                  <a:lnTo>
                    <a:pt x="1517141" y="1114806"/>
                  </a:lnTo>
                  <a:lnTo>
                    <a:pt x="1550670" y="983741"/>
                  </a:lnTo>
                  <a:lnTo>
                    <a:pt x="1584198" y="828294"/>
                  </a:lnTo>
                  <a:lnTo>
                    <a:pt x="1618487" y="671321"/>
                  </a:lnTo>
                  <a:lnTo>
                    <a:pt x="1652015" y="534924"/>
                  </a:lnTo>
                  <a:lnTo>
                    <a:pt x="1685543" y="427481"/>
                  </a:lnTo>
                  <a:lnTo>
                    <a:pt x="1719072" y="341376"/>
                  </a:lnTo>
                  <a:lnTo>
                    <a:pt x="1753361" y="279654"/>
                  </a:lnTo>
                  <a:lnTo>
                    <a:pt x="1786889" y="231648"/>
                  </a:lnTo>
                  <a:lnTo>
                    <a:pt x="1820417" y="194310"/>
                  </a:lnTo>
                  <a:lnTo>
                    <a:pt x="1853946" y="163830"/>
                  </a:lnTo>
                  <a:lnTo>
                    <a:pt x="1887474" y="140208"/>
                  </a:lnTo>
                  <a:lnTo>
                    <a:pt x="1921763" y="119634"/>
                  </a:lnTo>
                  <a:lnTo>
                    <a:pt x="1988820" y="89154"/>
                  </a:lnTo>
                  <a:lnTo>
                    <a:pt x="2056637" y="67056"/>
                  </a:lnTo>
                  <a:lnTo>
                    <a:pt x="2123693" y="50292"/>
                  </a:lnTo>
                  <a:lnTo>
                    <a:pt x="2157222" y="43434"/>
                  </a:lnTo>
                </a:path>
                <a:path w="2157729" h="1527810">
                  <a:moveTo>
                    <a:pt x="0" y="43434"/>
                  </a:moveTo>
                  <a:lnTo>
                    <a:pt x="67055" y="32004"/>
                  </a:lnTo>
                  <a:lnTo>
                    <a:pt x="168401" y="19812"/>
                  </a:lnTo>
                  <a:lnTo>
                    <a:pt x="236220" y="13716"/>
                  </a:lnTo>
                  <a:lnTo>
                    <a:pt x="336803" y="8382"/>
                  </a:lnTo>
                  <a:lnTo>
                    <a:pt x="404622" y="6096"/>
                  </a:lnTo>
                  <a:lnTo>
                    <a:pt x="471677" y="6096"/>
                  </a:lnTo>
                  <a:lnTo>
                    <a:pt x="505967" y="6858"/>
                  </a:lnTo>
                  <a:lnTo>
                    <a:pt x="539496" y="7620"/>
                  </a:lnTo>
                  <a:lnTo>
                    <a:pt x="573024" y="8382"/>
                  </a:lnTo>
                  <a:lnTo>
                    <a:pt x="606551" y="9906"/>
                  </a:lnTo>
                  <a:lnTo>
                    <a:pt x="640841" y="10668"/>
                  </a:lnTo>
                  <a:lnTo>
                    <a:pt x="674370" y="11430"/>
                  </a:lnTo>
                  <a:lnTo>
                    <a:pt x="707898" y="12954"/>
                  </a:lnTo>
                  <a:lnTo>
                    <a:pt x="741426" y="13716"/>
                  </a:lnTo>
                  <a:lnTo>
                    <a:pt x="774953" y="15240"/>
                  </a:lnTo>
                  <a:lnTo>
                    <a:pt x="809243" y="16764"/>
                  </a:lnTo>
                  <a:lnTo>
                    <a:pt x="842772" y="19050"/>
                  </a:lnTo>
                  <a:lnTo>
                    <a:pt x="876300" y="21336"/>
                  </a:lnTo>
                  <a:lnTo>
                    <a:pt x="909827" y="24384"/>
                  </a:lnTo>
                  <a:lnTo>
                    <a:pt x="944117" y="27432"/>
                  </a:lnTo>
                  <a:lnTo>
                    <a:pt x="977646" y="30480"/>
                  </a:lnTo>
                  <a:lnTo>
                    <a:pt x="1011174" y="35052"/>
                  </a:lnTo>
                  <a:lnTo>
                    <a:pt x="1044701" y="40386"/>
                  </a:lnTo>
                  <a:lnTo>
                    <a:pt x="1078991" y="45720"/>
                  </a:lnTo>
                  <a:lnTo>
                    <a:pt x="1146048" y="60198"/>
                  </a:lnTo>
                  <a:lnTo>
                    <a:pt x="1213865" y="80772"/>
                  </a:lnTo>
                  <a:lnTo>
                    <a:pt x="1280922" y="110490"/>
                  </a:lnTo>
                  <a:lnTo>
                    <a:pt x="1314450" y="130302"/>
                  </a:lnTo>
                  <a:lnTo>
                    <a:pt x="1348739" y="155448"/>
                  </a:lnTo>
                  <a:lnTo>
                    <a:pt x="1382267" y="187452"/>
                  </a:lnTo>
                  <a:lnTo>
                    <a:pt x="1415796" y="229362"/>
                  </a:lnTo>
                  <a:lnTo>
                    <a:pt x="1449324" y="284226"/>
                  </a:lnTo>
                  <a:lnTo>
                    <a:pt x="1483613" y="358902"/>
                  </a:lnTo>
                  <a:lnTo>
                    <a:pt x="1517141" y="459486"/>
                  </a:lnTo>
                  <a:lnTo>
                    <a:pt x="1550670" y="591312"/>
                  </a:lnTo>
                  <a:lnTo>
                    <a:pt x="1584198" y="745997"/>
                  </a:lnTo>
                  <a:lnTo>
                    <a:pt x="1618487" y="901445"/>
                  </a:lnTo>
                  <a:lnTo>
                    <a:pt x="1652015" y="1037082"/>
                  </a:lnTo>
                  <a:lnTo>
                    <a:pt x="1685543" y="1143000"/>
                  </a:lnTo>
                  <a:lnTo>
                    <a:pt x="1719072" y="1223771"/>
                  </a:lnTo>
                  <a:lnTo>
                    <a:pt x="1753361" y="1284732"/>
                  </a:lnTo>
                  <a:lnTo>
                    <a:pt x="1786889" y="1331214"/>
                  </a:lnTo>
                  <a:lnTo>
                    <a:pt x="1820417" y="1367789"/>
                  </a:lnTo>
                  <a:lnTo>
                    <a:pt x="1853946" y="1395983"/>
                  </a:lnTo>
                  <a:lnTo>
                    <a:pt x="1887474" y="1418082"/>
                  </a:lnTo>
                  <a:lnTo>
                    <a:pt x="1921763" y="1436370"/>
                  </a:lnTo>
                  <a:lnTo>
                    <a:pt x="1988820" y="1461515"/>
                  </a:lnTo>
                  <a:lnTo>
                    <a:pt x="2056637" y="1476756"/>
                  </a:lnTo>
                  <a:lnTo>
                    <a:pt x="2123693" y="1483614"/>
                  </a:lnTo>
                  <a:lnTo>
                    <a:pt x="2157222" y="1485138"/>
                  </a:lnTo>
                </a:path>
                <a:path w="2157729" h="1527810">
                  <a:moveTo>
                    <a:pt x="0" y="1485138"/>
                  </a:moveTo>
                  <a:lnTo>
                    <a:pt x="67055" y="1481328"/>
                  </a:lnTo>
                  <a:lnTo>
                    <a:pt x="134874" y="1469136"/>
                  </a:lnTo>
                  <a:lnTo>
                    <a:pt x="201929" y="1445514"/>
                  </a:lnTo>
                  <a:lnTo>
                    <a:pt x="236220" y="1427988"/>
                  </a:lnTo>
                  <a:lnTo>
                    <a:pt x="269748" y="1403604"/>
                  </a:lnTo>
                  <a:lnTo>
                    <a:pt x="303275" y="1373124"/>
                  </a:lnTo>
                  <a:lnTo>
                    <a:pt x="336803" y="1331214"/>
                  </a:lnTo>
                  <a:lnTo>
                    <a:pt x="371093" y="1274826"/>
                  </a:lnTo>
                  <a:lnTo>
                    <a:pt x="404622" y="1198626"/>
                  </a:lnTo>
                  <a:lnTo>
                    <a:pt x="438150" y="1092708"/>
                  </a:lnTo>
                  <a:lnTo>
                    <a:pt x="471677" y="956310"/>
                  </a:lnTo>
                  <a:lnTo>
                    <a:pt x="505967" y="794004"/>
                  </a:lnTo>
                  <a:lnTo>
                    <a:pt x="539496" y="630174"/>
                  </a:lnTo>
                  <a:lnTo>
                    <a:pt x="573024" y="489204"/>
                  </a:lnTo>
                  <a:lnTo>
                    <a:pt x="606551" y="377190"/>
                  </a:lnTo>
                  <a:lnTo>
                    <a:pt x="640841" y="293370"/>
                  </a:lnTo>
                  <a:lnTo>
                    <a:pt x="674370" y="229362"/>
                  </a:lnTo>
                  <a:lnTo>
                    <a:pt x="707898" y="181356"/>
                  </a:lnTo>
                  <a:lnTo>
                    <a:pt x="741426" y="144018"/>
                  </a:lnTo>
                  <a:lnTo>
                    <a:pt x="774953" y="115062"/>
                  </a:lnTo>
                  <a:lnTo>
                    <a:pt x="809243" y="91440"/>
                  </a:lnTo>
                  <a:lnTo>
                    <a:pt x="842772" y="73152"/>
                  </a:lnTo>
                  <a:lnTo>
                    <a:pt x="909827" y="48006"/>
                  </a:lnTo>
                  <a:lnTo>
                    <a:pt x="977646" y="32766"/>
                  </a:lnTo>
                  <a:lnTo>
                    <a:pt x="1044701" y="25146"/>
                  </a:lnTo>
                  <a:lnTo>
                    <a:pt x="1078991" y="24384"/>
                  </a:lnTo>
                  <a:lnTo>
                    <a:pt x="1112520" y="25908"/>
                  </a:lnTo>
                  <a:lnTo>
                    <a:pt x="1179576" y="33528"/>
                  </a:lnTo>
                  <a:lnTo>
                    <a:pt x="1247393" y="51054"/>
                  </a:lnTo>
                  <a:lnTo>
                    <a:pt x="1314450" y="82296"/>
                  </a:lnTo>
                  <a:lnTo>
                    <a:pt x="1348739" y="105918"/>
                  </a:lnTo>
                  <a:lnTo>
                    <a:pt x="1382267" y="137160"/>
                  </a:lnTo>
                  <a:lnTo>
                    <a:pt x="1415796" y="179070"/>
                  </a:lnTo>
                  <a:lnTo>
                    <a:pt x="1449324" y="234696"/>
                  </a:lnTo>
                  <a:lnTo>
                    <a:pt x="1483613" y="312420"/>
                  </a:lnTo>
                  <a:lnTo>
                    <a:pt x="1517141" y="417576"/>
                  </a:lnTo>
                  <a:lnTo>
                    <a:pt x="1550670" y="554736"/>
                  </a:lnTo>
                  <a:lnTo>
                    <a:pt x="1584198" y="716280"/>
                  </a:lnTo>
                  <a:lnTo>
                    <a:pt x="1618487" y="880109"/>
                  </a:lnTo>
                  <a:lnTo>
                    <a:pt x="1652015" y="1021841"/>
                  </a:lnTo>
                  <a:lnTo>
                    <a:pt x="1685543" y="1133094"/>
                  </a:lnTo>
                  <a:lnTo>
                    <a:pt x="1719072" y="1221486"/>
                  </a:lnTo>
                  <a:lnTo>
                    <a:pt x="1753361" y="1285494"/>
                  </a:lnTo>
                  <a:lnTo>
                    <a:pt x="1786889" y="1333500"/>
                  </a:lnTo>
                  <a:lnTo>
                    <a:pt x="1820417" y="1370838"/>
                  </a:lnTo>
                  <a:lnTo>
                    <a:pt x="1853946" y="1399794"/>
                  </a:lnTo>
                  <a:lnTo>
                    <a:pt x="1887474" y="1422653"/>
                  </a:lnTo>
                  <a:lnTo>
                    <a:pt x="1921763" y="1440941"/>
                  </a:lnTo>
                  <a:lnTo>
                    <a:pt x="1988820" y="1466850"/>
                  </a:lnTo>
                  <a:lnTo>
                    <a:pt x="2056637" y="1482089"/>
                  </a:lnTo>
                  <a:lnTo>
                    <a:pt x="2123693" y="1488947"/>
                  </a:lnTo>
                  <a:lnTo>
                    <a:pt x="2157222" y="1490471"/>
                  </a:lnTo>
                </a:path>
                <a:path w="2157729" h="1527810">
                  <a:moveTo>
                    <a:pt x="0" y="1490472"/>
                  </a:moveTo>
                  <a:lnTo>
                    <a:pt x="67055" y="1486662"/>
                  </a:lnTo>
                  <a:lnTo>
                    <a:pt x="134874" y="1474470"/>
                  </a:lnTo>
                  <a:lnTo>
                    <a:pt x="201929" y="1450848"/>
                  </a:lnTo>
                  <a:lnTo>
                    <a:pt x="236220" y="1433322"/>
                  </a:lnTo>
                  <a:lnTo>
                    <a:pt x="269748" y="1410462"/>
                  </a:lnTo>
                  <a:lnTo>
                    <a:pt x="303275" y="1380744"/>
                  </a:lnTo>
                  <a:lnTo>
                    <a:pt x="336803" y="1340358"/>
                  </a:lnTo>
                  <a:lnTo>
                    <a:pt x="371093" y="1285494"/>
                  </a:lnTo>
                  <a:lnTo>
                    <a:pt x="404622" y="1211580"/>
                  </a:lnTo>
                  <a:lnTo>
                    <a:pt x="438150" y="1110996"/>
                  </a:lnTo>
                  <a:lnTo>
                    <a:pt x="471677" y="979170"/>
                  </a:lnTo>
                  <a:lnTo>
                    <a:pt x="505967" y="824484"/>
                  </a:lnTo>
                  <a:lnTo>
                    <a:pt x="539496" y="667512"/>
                  </a:lnTo>
                  <a:lnTo>
                    <a:pt x="573024" y="531114"/>
                  </a:lnTo>
                  <a:lnTo>
                    <a:pt x="606551" y="423672"/>
                  </a:lnTo>
                  <a:lnTo>
                    <a:pt x="640841" y="342138"/>
                  </a:lnTo>
                  <a:lnTo>
                    <a:pt x="674370" y="280416"/>
                  </a:lnTo>
                  <a:lnTo>
                    <a:pt x="707898" y="232410"/>
                  </a:lnTo>
                  <a:lnTo>
                    <a:pt x="741426" y="195072"/>
                  </a:lnTo>
                  <a:lnTo>
                    <a:pt x="774953" y="165354"/>
                  </a:lnTo>
                  <a:lnTo>
                    <a:pt x="809243" y="140970"/>
                  </a:lnTo>
                  <a:lnTo>
                    <a:pt x="842772" y="121158"/>
                  </a:lnTo>
                  <a:lnTo>
                    <a:pt x="909827" y="90678"/>
                  </a:lnTo>
                  <a:lnTo>
                    <a:pt x="977646" y="69342"/>
                  </a:lnTo>
                  <a:lnTo>
                    <a:pt x="1044701" y="52578"/>
                  </a:lnTo>
                  <a:lnTo>
                    <a:pt x="1112520" y="39624"/>
                  </a:lnTo>
                  <a:lnTo>
                    <a:pt x="1179576" y="30480"/>
                  </a:lnTo>
                  <a:lnTo>
                    <a:pt x="1213865" y="26670"/>
                  </a:lnTo>
                  <a:lnTo>
                    <a:pt x="1247393" y="22860"/>
                  </a:lnTo>
                  <a:lnTo>
                    <a:pt x="1280922" y="20574"/>
                  </a:lnTo>
                  <a:lnTo>
                    <a:pt x="1314450" y="18288"/>
                  </a:lnTo>
                  <a:lnTo>
                    <a:pt x="1348739" y="16002"/>
                  </a:lnTo>
                  <a:lnTo>
                    <a:pt x="1382267" y="13716"/>
                  </a:lnTo>
                  <a:lnTo>
                    <a:pt x="1415796" y="12954"/>
                  </a:lnTo>
                  <a:lnTo>
                    <a:pt x="1449324" y="11430"/>
                  </a:lnTo>
                  <a:lnTo>
                    <a:pt x="1483613" y="10668"/>
                  </a:lnTo>
                  <a:lnTo>
                    <a:pt x="1517141" y="10668"/>
                  </a:lnTo>
                  <a:lnTo>
                    <a:pt x="1550670" y="11430"/>
                  </a:lnTo>
                  <a:lnTo>
                    <a:pt x="1584198" y="12192"/>
                  </a:lnTo>
                  <a:lnTo>
                    <a:pt x="1618487" y="12954"/>
                  </a:lnTo>
                  <a:lnTo>
                    <a:pt x="1652015" y="14478"/>
                  </a:lnTo>
                  <a:lnTo>
                    <a:pt x="1685543" y="15240"/>
                  </a:lnTo>
                  <a:lnTo>
                    <a:pt x="1719072" y="20574"/>
                  </a:lnTo>
                  <a:lnTo>
                    <a:pt x="1753361" y="22098"/>
                  </a:lnTo>
                  <a:lnTo>
                    <a:pt x="1786889" y="23622"/>
                  </a:lnTo>
                  <a:lnTo>
                    <a:pt x="1820417" y="25146"/>
                  </a:lnTo>
                  <a:lnTo>
                    <a:pt x="1853946" y="26670"/>
                  </a:lnTo>
                  <a:lnTo>
                    <a:pt x="1887474" y="28956"/>
                  </a:lnTo>
                  <a:lnTo>
                    <a:pt x="1921763" y="31242"/>
                  </a:lnTo>
                  <a:lnTo>
                    <a:pt x="1955291" y="34290"/>
                  </a:lnTo>
                  <a:lnTo>
                    <a:pt x="1988820" y="36576"/>
                  </a:lnTo>
                  <a:lnTo>
                    <a:pt x="2022348" y="40386"/>
                  </a:lnTo>
                  <a:lnTo>
                    <a:pt x="2056637" y="44196"/>
                  </a:lnTo>
                  <a:lnTo>
                    <a:pt x="2090165" y="48768"/>
                  </a:lnTo>
                  <a:lnTo>
                    <a:pt x="2123693" y="54102"/>
                  </a:lnTo>
                  <a:lnTo>
                    <a:pt x="2157222" y="60198"/>
                  </a:lnTo>
                </a:path>
                <a:path w="2157729" h="1527810">
                  <a:moveTo>
                    <a:pt x="0" y="60198"/>
                  </a:moveTo>
                  <a:lnTo>
                    <a:pt x="67055" y="75438"/>
                  </a:lnTo>
                  <a:lnTo>
                    <a:pt x="134874" y="96012"/>
                  </a:lnTo>
                  <a:lnTo>
                    <a:pt x="201929" y="125730"/>
                  </a:lnTo>
                  <a:lnTo>
                    <a:pt x="236220" y="145542"/>
                  </a:lnTo>
                  <a:lnTo>
                    <a:pt x="269748" y="169926"/>
                  </a:lnTo>
                  <a:lnTo>
                    <a:pt x="303275" y="201168"/>
                  </a:lnTo>
                  <a:lnTo>
                    <a:pt x="336803" y="241554"/>
                  </a:lnTo>
                  <a:lnTo>
                    <a:pt x="371093" y="294894"/>
                  </a:lnTo>
                  <a:lnTo>
                    <a:pt x="404622" y="367284"/>
                  </a:lnTo>
                  <a:lnTo>
                    <a:pt x="438150" y="464058"/>
                  </a:lnTo>
                  <a:lnTo>
                    <a:pt x="471677" y="589788"/>
                  </a:lnTo>
                  <a:lnTo>
                    <a:pt x="505967" y="738378"/>
                  </a:lnTo>
                  <a:lnTo>
                    <a:pt x="539496" y="887730"/>
                  </a:lnTo>
                  <a:lnTo>
                    <a:pt x="573024" y="1017270"/>
                  </a:lnTo>
                  <a:lnTo>
                    <a:pt x="606551" y="1120140"/>
                  </a:lnTo>
                  <a:lnTo>
                    <a:pt x="640841" y="1198626"/>
                  </a:lnTo>
                  <a:lnTo>
                    <a:pt x="674370" y="1258062"/>
                  </a:lnTo>
                  <a:lnTo>
                    <a:pt x="707898" y="1304544"/>
                  </a:lnTo>
                  <a:lnTo>
                    <a:pt x="741426" y="1341120"/>
                  </a:lnTo>
                  <a:lnTo>
                    <a:pt x="774953" y="1370076"/>
                  </a:lnTo>
                  <a:lnTo>
                    <a:pt x="809243" y="1393698"/>
                  </a:lnTo>
                  <a:lnTo>
                    <a:pt x="842772" y="1414272"/>
                  </a:lnTo>
                  <a:lnTo>
                    <a:pt x="909827" y="1444752"/>
                  </a:lnTo>
                  <a:lnTo>
                    <a:pt x="977646" y="1467612"/>
                  </a:lnTo>
                  <a:lnTo>
                    <a:pt x="1044701" y="1484376"/>
                  </a:lnTo>
                  <a:lnTo>
                    <a:pt x="1078991" y="1491233"/>
                  </a:lnTo>
                  <a:lnTo>
                    <a:pt x="1112520" y="1498091"/>
                  </a:lnTo>
                  <a:lnTo>
                    <a:pt x="1179576" y="1508759"/>
                  </a:lnTo>
                  <a:lnTo>
                    <a:pt x="1213865" y="1512570"/>
                  </a:lnTo>
                  <a:lnTo>
                    <a:pt x="1247393" y="1516380"/>
                  </a:lnTo>
                  <a:lnTo>
                    <a:pt x="1280922" y="1519427"/>
                  </a:lnTo>
                  <a:lnTo>
                    <a:pt x="1314450" y="1521714"/>
                  </a:lnTo>
                  <a:lnTo>
                    <a:pt x="1348739" y="1524000"/>
                  </a:lnTo>
                  <a:lnTo>
                    <a:pt x="1382267" y="1525524"/>
                  </a:lnTo>
                  <a:lnTo>
                    <a:pt x="1449324" y="1525524"/>
                  </a:lnTo>
                  <a:lnTo>
                    <a:pt x="1483613" y="1523238"/>
                  </a:lnTo>
                  <a:lnTo>
                    <a:pt x="1517141" y="1520189"/>
                  </a:lnTo>
                  <a:lnTo>
                    <a:pt x="1550670" y="1514094"/>
                  </a:lnTo>
                  <a:lnTo>
                    <a:pt x="1584198" y="1507236"/>
                  </a:lnTo>
                  <a:lnTo>
                    <a:pt x="1618487" y="1500377"/>
                  </a:lnTo>
                  <a:lnTo>
                    <a:pt x="1685543" y="1489709"/>
                  </a:lnTo>
                  <a:lnTo>
                    <a:pt x="1753361" y="1484376"/>
                  </a:lnTo>
                  <a:lnTo>
                    <a:pt x="1820417" y="1482089"/>
                  </a:lnTo>
                  <a:lnTo>
                    <a:pt x="1853946" y="1481327"/>
                  </a:lnTo>
                  <a:lnTo>
                    <a:pt x="1955291" y="1481327"/>
                  </a:lnTo>
                  <a:lnTo>
                    <a:pt x="1988820" y="1482089"/>
                  </a:lnTo>
                  <a:lnTo>
                    <a:pt x="2022348" y="1482089"/>
                  </a:lnTo>
                  <a:lnTo>
                    <a:pt x="2056637" y="1482852"/>
                  </a:lnTo>
                  <a:lnTo>
                    <a:pt x="2123693" y="1482852"/>
                  </a:lnTo>
                  <a:lnTo>
                    <a:pt x="2157222" y="1483614"/>
                  </a:lnTo>
                </a:path>
              </a:pathLst>
            </a:custGeom>
            <a:ln w="4978">
              <a:solidFill>
                <a:srgbClr val="FFFF00"/>
              </a:solidFill>
            </a:ln>
          </p:spPr>
          <p:txBody>
            <a:bodyPr wrap="square" lIns="0" tIns="0" rIns="0" bIns="0" rtlCol="0"/>
            <a:lstStyle/>
            <a:p>
              <a:pPr defTabSz="548626"/>
              <a:endParaRPr sz="1620">
                <a:solidFill>
                  <a:srgbClr val="3C3C3B"/>
                </a:solidFill>
                <a:latin typeface="Gill Sans MT" panose="020B0502020104020203"/>
              </a:endParaRPr>
            </a:p>
          </p:txBody>
        </p:sp>
        <p:sp>
          <p:nvSpPr>
            <p:cNvPr id="29" name="object 29"/>
            <p:cNvSpPr/>
            <p:nvPr/>
          </p:nvSpPr>
          <p:spPr>
            <a:xfrm>
              <a:off x="7802117" y="2686050"/>
              <a:ext cx="2157730" cy="7620"/>
            </a:xfrm>
            <a:custGeom>
              <a:avLst/>
              <a:gdLst/>
              <a:ahLst/>
              <a:cxnLst/>
              <a:rect l="l" t="t" r="r" b="b"/>
              <a:pathLst>
                <a:path w="2157729" h="7619">
                  <a:moveTo>
                    <a:pt x="-2489" y="3809"/>
                  </a:moveTo>
                  <a:lnTo>
                    <a:pt x="2159711" y="3809"/>
                  </a:lnTo>
                </a:path>
              </a:pathLst>
            </a:custGeom>
            <a:ln w="12598">
              <a:solidFill>
                <a:srgbClr val="FFFF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0" name="object 30"/>
            <p:cNvSpPr/>
            <p:nvPr/>
          </p:nvSpPr>
          <p:spPr>
            <a:xfrm>
              <a:off x="7802117" y="1232916"/>
              <a:ext cx="2157730" cy="1501140"/>
            </a:xfrm>
            <a:custGeom>
              <a:avLst/>
              <a:gdLst/>
              <a:ahLst/>
              <a:cxnLst/>
              <a:rect l="l" t="t" r="r" b="b"/>
              <a:pathLst>
                <a:path w="2157729" h="1501139">
                  <a:moveTo>
                    <a:pt x="0" y="1459992"/>
                  </a:moveTo>
                  <a:lnTo>
                    <a:pt x="168401" y="1459992"/>
                  </a:lnTo>
                  <a:lnTo>
                    <a:pt x="201929" y="1460754"/>
                  </a:lnTo>
                  <a:lnTo>
                    <a:pt x="236220" y="1460754"/>
                  </a:lnTo>
                  <a:lnTo>
                    <a:pt x="269748" y="1461516"/>
                  </a:lnTo>
                  <a:lnTo>
                    <a:pt x="303275" y="1462278"/>
                  </a:lnTo>
                  <a:lnTo>
                    <a:pt x="336803" y="1463802"/>
                  </a:lnTo>
                  <a:lnTo>
                    <a:pt x="404622" y="1468374"/>
                  </a:lnTo>
                  <a:lnTo>
                    <a:pt x="471677" y="1478280"/>
                  </a:lnTo>
                  <a:lnTo>
                    <a:pt x="539496" y="1491996"/>
                  </a:lnTo>
                  <a:lnTo>
                    <a:pt x="573024" y="1497330"/>
                  </a:lnTo>
                  <a:lnTo>
                    <a:pt x="606551" y="1501140"/>
                  </a:lnTo>
                  <a:lnTo>
                    <a:pt x="640841" y="1499616"/>
                  </a:lnTo>
                  <a:lnTo>
                    <a:pt x="674370" y="1501140"/>
                  </a:lnTo>
                  <a:lnTo>
                    <a:pt x="741426" y="1501140"/>
                  </a:lnTo>
                  <a:lnTo>
                    <a:pt x="774953" y="1500378"/>
                  </a:lnTo>
                  <a:lnTo>
                    <a:pt x="809243" y="1498854"/>
                  </a:lnTo>
                  <a:lnTo>
                    <a:pt x="842772" y="1496568"/>
                  </a:lnTo>
                  <a:lnTo>
                    <a:pt x="876300" y="1495044"/>
                  </a:lnTo>
                  <a:lnTo>
                    <a:pt x="944117" y="1488186"/>
                  </a:lnTo>
                  <a:lnTo>
                    <a:pt x="1011174" y="1479804"/>
                  </a:lnTo>
                  <a:lnTo>
                    <a:pt x="1044701" y="1474470"/>
                  </a:lnTo>
                  <a:lnTo>
                    <a:pt x="1078991" y="1469136"/>
                  </a:lnTo>
                  <a:lnTo>
                    <a:pt x="1146048" y="1453134"/>
                  </a:lnTo>
                  <a:lnTo>
                    <a:pt x="1213865" y="1432560"/>
                  </a:lnTo>
                  <a:lnTo>
                    <a:pt x="1280922" y="1402080"/>
                  </a:lnTo>
                  <a:lnTo>
                    <a:pt x="1314450" y="1382268"/>
                  </a:lnTo>
                  <a:lnTo>
                    <a:pt x="1348739" y="1356360"/>
                  </a:lnTo>
                  <a:lnTo>
                    <a:pt x="1382267" y="1324356"/>
                  </a:lnTo>
                  <a:lnTo>
                    <a:pt x="1415796" y="1282446"/>
                  </a:lnTo>
                  <a:lnTo>
                    <a:pt x="1449324" y="1226820"/>
                  </a:lnTo>
                  <a:lnTo>
                    <a:pt x="1483613" y="1151382"/>
                  </a:lnTo>
                  <a:lnTo>
                    <a:pt x="1517141" y="1050798"/>
                  </a:lnTo>
                  <a:lnTo>
                    <a:pt x="1550670" y="918972"/>
                  </a:lnTo>
                  <a:lnTo>
                    <a:pt x="1584198" y="764286"/>
                  </a:lnTo>
                  <a:lnTo>
                    <a:pt x="1618487" y="608076"/>
                  </a:lnTo>
                  <a:lnTo>
                    <a:pt x="1652015" y="472440"/>
                  </a:lnTo>
                  <a:lnTo>
                    <a:pt x="1685543" y="365760"/>
                  </a:lnTo>
                  <a:lnTo>
                    <a:pt x="1719072" y="284988"/>
                  </a:lnTo>
                  <a:lnTo>
                    <a:pt x="1753361" y="223266"/>
                  </a:lnTo>
                  <a:lnTo>
                    <a:pt x="1786889" y="176784"/>
                  </a:lnTo>
                  <a:lnTo>
                    <a:pt x="1820417" y="140208"/>
                  </a:lnTo>
                  <a:lnTo>
                    <a:pt x="1853946" y="112014"/>
                  </a:lnTo>
                  <a:lnTo>
                    <a:pt x="1887474" y="89154"/>
                  </a:lnTo>
                  <a:lnTo>
                    <a:pt x="1921763" y="71628"/>
                  </a:lnTo>
                  <a:lnTo>
                    <a:pt x="1988820" y="45720"/>
                  </a:lnTo>
                  <a:lnTo>
                    <a:pt x="2056637" y="29718"/>
                  </a:lnTo>
                  <a:lnTo>
                    <a:pt x="2123693" y="22098"/>
                  </a:lnTo>
                  <a:lnTo>
                    <a:pt x="2157222" y="20574"/>
                  </a:lnTo>
                </a:path>
                <a:path w="2157729" h="1501139">
                  <a:moveTo>
                    <a:pt x="0" y="20574"/>
                  </a:moveTo>
                  <a:lnTo>
                    <a:pt x="67055" y="24384"/>
                  </a:lnTo>
                  <a:lnTo>
                    <a:pt x="134874" y="35814"/>
                  </a:lnTo>
                  <a:lnTo>
                    <a:pt x="201929" y="59436"/>
                  </a:lnTo>
                  <a:lnTo>
                    <a:pt x="236220" y="76962"/>
                  </a:lnTo>
                  <a:lnTo>
                    <a:pt x="269748" y="99822"/>
                  </a:lnTo>
                  <a:lnTo>
                    <a:pt x="303275" y="131064"/>
                  </a:lnTo>
                  <a:lnTo>
                    <a:pt x="336803" y="172212"/>
                  </a:lnTo>
                  <a:lnTo>
                    <a:pt x="371093" y="228600"/>
                  </a:lnTo>
                  <a:lnTo>
                    <a:pt x="404622" y="305562"/>
                  </a:lnTo>
                  <a:lnTo>
                    <a:pt x="438150" y="409956"/>
                  </a:lnTo>
                  <a:lnTo>
                    <a:pt x="471677" y="547116"/>
                  </a:lnTo>
                  <a:lnTo>
                    <a:pt x="505967" y="709422"/>
                  </a:lnTo>
                  <a:lnTo>
                    <a:pt x="539496" y="872490"/>
                  </a:lnTo>
                  <a:lnTo>
                    <a:pt x="573024" y="1013460"/>
                  </a:lnTo>
                  <a:lnTo>
                    <a:pt x="606551" y="1125474"/>
                  </a:lnTo>
                  <a:lnTo>
                    <a:pt x="640841" y="1204722"/>
                  </a:lnTo>
                  <a:lnTo>
                    <a:pt x="674370" y="1267968"/>
                  </a:lnTo>
                  <a:lnTo>
                    <a:pt x="707898" y="1316736"/>
                  </a:lnTo>
                  <a:lnTo>
                    <a:pt x="741426" y="1353312"/>
                  </a:lnTo>
                  <a:lnTo>
                    <a:pt x="774953" y="1382268"/>
                  </a:lnTo>
                  <a:lnTo>
                    <a:pt x="809243" y="1405128"/>
                  </a:lnTo>
                  <a:lnTo>
                    <a:pt x="876300" y="1437132"/>
                  </a:lnTo>
                  <a:lnTo>
                    <a:pt x="944117" y="1456944"/>
                  </a:lnTo>
                  <a:lnTo>
                    <a:pt x="1011174" y="1467612"/>
                  </a:lnTo>
                  <a:lnTo>
                    <a:pt x="1044701" y="1469898"/>
                  </a:lnTo>
                  <a:lnTo>
                    <a:pt x="1078991" y="1469898"/>
                  </a:lnTo>
                  <a:lnTo>
                    <a:pt x="1146048" y="1466088"/>
                  </a:lnTo>
                  <a:lnTo>
                    <a:pt x="1213865" y="1453134"/>
                  </a:lnTo>
                  <a:lnTo>
                    <a:pt x="1280922" y="1428750"/>
                  </a:lnTo>
                  <a:lnTo>
                    <a:pt x="1314450" y="1410462"/>
                  </a:lnTo>
                  <a:lnTo>
                    <a:pt x="1348739" y="1386840"/>
                  </a:lnTo>
                  <a:lnTo>
                    <a:pt x="1382267" y="1354836"/>
                  </a:lnTo>
                  <a:lnTo>
                    <a:pt x="1415796" y="1312926"/>
                  </a:lnTo>
                  <a:lnTo>
                    <a:pt x="1449324" y="1256538"/>
                  </a:lnTo>
                  <a:lnTo>
                    <a:pt x="1483613" y="1179576"/>
                  </a:lnTo>
                  <a:lnTo>
                    <a:pt x="1517141" y="1074420"/>
                  </a:lnTo>
                  <a:lnTo>
                    <a:pt x="1550670" y="936498"/>
                  </a:lnTo>
                  <a:lnTo>
                    <a:pt x="1584198" y="774192"/>
                  </a:lnTo>
                  <a:lnTo>
                    <a:pt x="1618487" y="610362"/>
                  </a:lnTo>
                  <a:lnTo>
                    <a:pt x="1652015" y="467868"/>
                  </a:lnTo>
                  <a:lnTo>
                    <a:pt x="1685543" y="356616"/>
                  </a:lnTo>
                  <a:lnTo>
                    <a:pt x="1719072" y="276606"/>
                  </a:lnTo>
                  <a:lnTo>
                    <a:pt x="1753361" y="212598"/>
                  </a:lnTo>
                  <a:lnTo>
                    <a:pt x="1786889" y="163830"/>
                  </a:lnTo>
                  <a:lnTo>
                    <a:pt x="1820417" y="126492"/>
                  </a:lnTo>
                  <a:lnTo>
                    <a:pt x="1853946" y="97536"/>
                  </a:lnTo>
                  <a:lnTo>
                    <a:pt x="1887474" y="73914"/>
                  </a:lnTo>
                  <a:lnTo>
                    <a:pt x="1921763" y="55626"/>
                  </a:lnTo>
                  <a:lnTo>
                    <a:pt x="1988820" y="29718"/>
                  </a:lnTo>
                  <a:lnTo>
                    <a:pt x="2056637" y="13716"/>
                  </a:lnTo>
                  <a:lnTo>
                    <a:pt x="2123693" y="6096"/>
                  </a:lnTo>
                  <a:lnTo>
                    <a:pt x="2157222" y="5334"/>
                  </a:lnTo>
                </a:path>
                <a:path w="2157729" h="1501139">
                  <a:moveTo>
                    <a:pt x="0" y="5334"/>
                  </a:moveTo>
                  <a:lnTo>
                    <a:pt x="67055" y="9144"/>
                  </a:lnTo>
                  <a:lnTo>
                    <a:pt x="134874" y="21336"/>
                  </a:lnTo>
                  <a:lnTo>
                    <a:pt x="201929" y="44958"/>
                  </a:lnTo>
                  <a:lnTo>
                    <a:pt x="236220" y="62484"/>
                  </a:lnTo>
                  <a:lnTo>
                    <a:pt x="269748" y="86106"/>
                  </a:lnTo>
                  <a:lnTo>
                    <a:pt x="303275" y="117348"/>
                  </a:lnTo>
                  <a:lnTo>
                    <a:pt x="336803" y="158496"/>
                  </a:lnTo>
                  <a:lnTo>
                    <a:pt x="371093" y="214884"/>
                  </a:lnTo>
                  <a:lnTo>
                    <a:pt x="404622" y="291846"/>
                  </a:lnTo>
                  <a:lnTo>
                    <a:pt x="438150" y="397002"/>
                  </a:lnTo>
                  <a:lnTo>
                    <a:pt x="471677" y="534162"/>
                  </a:lnTo>
                  <a:lnTo>
                    <a:pt x="505967" y="696468"/>
                  </a:lnTo>
                  <a:lnTo>
                    <a:pt x="539496" y="859536"/>
                  </a:lnTo>
                  <a:lnTo>
                    <a:pt x="573024" y="1001268"/>
                  </a:lnTo>
                  <a:lnTo>
                    <a:pt x="606551" y="1112520"/>
                  </a:lnTo>
                  <a:lnTo>
                    <a:pt x="640841" y="1197102"/>
                  </a:lnTo>
                  <a:lnTo>
                    <a:pt x="674370" y="1260348"/>
                  </a:lnTo>
                  <a:lnTo>
                    <a:pt x="707898" y="1308354"/>
                  </a:lnTo>
                  <a:lnTo>
                    <a:pt x="741426" y="1346454"/>
                  </a:lnTo>
                  <a:lnTo>
                    <a:pt x="774953" y="1375410"/>
                  </a:lnTo>
                  <a:lnTo>
                    <a:pt x="809243" y="1397508"/>
                  </a:lnTo>
                  <a:lnTo>
                    <a:pt x="842772" y="1415796"/>
                  </a:lnTo>
                  <a:lnTo>
                    <a:pt x="909827" y="1441704"/>
                  </a:lnTo>
                  <a:lnTo>
                    <a:pt x="977646" y="1456944"/>
                  </a:lnTo>
                  <a:lnTo>
                    <a:pt x="1044701" y="1463802"/>
                  </a:lnTo>
                  <a:lnTo>
                    <a:pt x="1078991" y="1464564"/>
                  </a:lnTo>
                  <a:lnTo>
                    <a:pt x="1112520" y="1463040"/>
                  </a:lnTo>
                  <a:lnTo>
                    <a:pt x="1179576" y="1455420"/>
                  </a:lnTo>
                  <a:lnTo>
                    <a:pt x="1247393" y="1437132"/>
                  </a:lnTo>
                  <a:lnTo>
                    <a:pt x="1314450" y="1405128"/>
                  </a:lnTo>
                  <a:lnTo>
                    <a:pt x="1348739" y="1381506"/>
                  </a:lnTo>
                  <a:lnTo>
                    <a:pt x="1382267" y="1350264"/>
                  </a:lnTo>
                  <a:lnTo>
                    <a:pt x="1415796" y="1308354"/>
                  </a:lnTo>
                  <a:lnTo>
                    <a:pt x="1449324" y="1251966"/>
                  </a:lnTo>
                  <a:lnTo>
                    <a:pt x="1483613" y="1175004"/>
                  </a:lnTo>
                  <a:lnTo>
                    <a:pt x="1517141" y="1069848"/>
                  </a:lnTo>
                  <a:lnTo>
                    <a:pt x="1550670" y="931926"/>
                  </a:lnTo>
                  <a:lnTo>
                    <a:pt x="1584198" y="769620"/>
                  </a:lnTo>
                  <a:lnTo>
                    <a:pt x="1618487" y="606552"/>
                  </a:lnTo>
                  <a:lnTo>
                    <a:pt x="1652015" y="464058"/>
                  </a:lnTo>
                  <a:lnTo>
                    <a:pt x="1685543" y="352806"/>
                  </a:lnTo>
                  <a:lnTo>
                    <a:pt x="1719072" y="269748"/>
                  </a:lnTo>
                  <a:lnTo>
                    <a:pt x="1753361" y="206502"/>
                  </a:lnTo>
                  <a:lnTo>
                    <a:pt x="1786889" y="157734"/>
                  </a:lnTo>
                  <a:lnTo>
                    <a:pt x="1820417" y="120396"/>
                  </a:lnTo>
                  <a:lnTo>
                    <a:pt x="1853946" y="91440"/>
                  </a:lnTo>
                  <a:lnTo>
                    <a:pt x="1887474" y="68580"/>
                  </a:lnTo>
                  <a:lnTo>
                    <a:pt x="1921763" y="49530"/>
                  </a:lnTo>
                  <a:lnTo>
                    <a:pt x="1988820" y="23622"/>
                  </a:lnTo>
                  <a:lnTo>
                    <a:pt x="2056637" y="8382"/>
                  </a:lnTo>
                  <a:lnTo>
                    <a:pt x="2123693" y="762"/>
                  </a:lnTo>
                  <a:lnTo>
                    <a:pt x="2157222" y="0"/>
                  </a:lnTo>
                </a:path>
                <a:path w="2157729" h="1501139">
                  <a:moveTo>
                    <a:pt x="0" y="0"/>
                  </a:moveTo>
                  <a:lnTo>
                    <a:pt x="33527" y="0"/>
                  </a:lnTo>
                  <a:lnTo>
                    <a:pt x="67055" y="3048"/>
                  </a:lnTo>
                  <a:lnTo>
                    <a:pt x="134874" y="15240"/>
                  </a:lnTo>
                  <a:lnTo>
                    <a:pt x="201929" y="38862"/>
                  </a:lnTo>
                  <a:lnTo>
                    <a:pt x="236220" y="57150"/>
                  </a:lnTo>
                  <a:lnTo>
                    <a:pt x="269748" y="80772"/>
                  </a:lnTo>
                  <a:lnTo>
                    <a:pt x="303275" y="111252"/>
                  </a:lnTo>
                  <a:lnTo>
                    <a:pt x="336803" y="153162"/>
                  </a:lnTo>
                  <a:lnTo>
                    <a:pt x="371093" y="208788"/>
                  </a:lnTo>
                  <a:lnTo>
                    <a:pt x="404622" y="285750"/>
                  </a:lnTo>
                  <a:lnTo>
                    <a:pt x="438150" y="390906"/>
                  </a:lnTo>
                  <a:lnTo>
                    <a:pt x="471677" y="528066"/>
                  </a:lnTo>
                  <a:lnTo>
                    <a:pt x="505967" y="690372"/>
                  </a:lnTo>
                  <a:lnTo>
                    <a:pt x="539496" y="853440"/>
                  </a:lnTo>
                  <a:lnTo>
                    <a:pt x="573024" y="995172"/>
                  </a:lnTo>
                  <a:lnTo>
                    <a:pt x="606551" y="1106424"/>
                  </a:lnTo>
                  <a:lnTo>
                    <a:pt x="640841" y="1193292"/>
                  </a:lnTo>
                  <a:lnTo>
                    <a:pt x="674370" y="1256538"/>
                  </a:lnTo>
                  <a:lnTo>
                    <a:pt x="707898" y="1304544"/>
                  </a:lnTo>
                  <a:lnTo>
                    <a:pt x="741426" y="1341882"/>
                  </a:lnTo>
                  <a:lnTo>
                    <a:pt x="774953" y="1370838"/>
                  </a:lnTo>
                  <a:lnTo>
                    <a:pt x="809243" y="1393698"/>
                  </a:lnTo>
                  <a:lnTo>
                    <a:pt x="842772" y="1411986"/>
                  </a:lnTo>
                  <a:lnTo>
                    <a:pt x="909827" y="1437132"/>
                  </a:lnTo>
                  <a:lnTo>
                    <a:pt x="977646" y="1452372"/>
                  </a:lnTo>
                  <a:lnTo>
                    <a:pt x="1044701" y="1459230"/>
                  </a:lnTo>
                  <a:lnTo>
                    <a:pt x="1078991" y="1459992"/>
                  </a:lnTo>
                  <a:lnTo>
                    <a:pt x="1112520" y="1459230"/>
                  </a:lnTo>
                  <a:lnTo>
                    <a:pt x="1179576" y="1450848"/>
                  </a:lnTo>
                  <a:lnTo>
                    <a:pt x="1247393" y="1433322"/>
                  </a:lnTo>
                  <a:lnTo>
                    <a:pt x="1314450" y="1401318"/>
                  </a:lnTo>
                  <a:lnTo>
                    <a:pt x="1348739" y="1378458"/>
                  </a:lnTo>
                  <a:lnTo>
                    <a:pt x="1382267" y="1347216"/>
                  </a:lnTo>
                  <a:lnTo>
                    <a:pt x="1415796" y="1306830"/>
                  </a:lnTo>
                  <a:lnTo>
                    <a:pt x="1449324" y="1251204"/>
                  </a:lnTo>
                  <a:lnTo>
                    <a:pt x="1483613" y="1175004"/>
                  </a:lnTo>
                  <a:lnTo>
                    <a:pt x="1517141" y="1072134"/>
                  </a:lnTo>
                  <a:lnTo>
                    <a:pt x="1550670" y="938022"/>
                  </a:lnTo>
                  <a:lnTo>
                    <a:pt x="1584198" y="778764"/>
                  </a:lnTo>
                  <a:lnTo>
                    <a:pt x="1618487" y="618744"/>
                  </a:lnTo>
                  <a:lnTo>
                    <a:pt x="1652015" y="479298"/>
                  </a:lnTo>
                  <a:lnTo>
                    <a:pt x="1685543" y="369570"/>
                  </a:lnTo>
                  <a:lnTo>
                    <a:pt x="1719072" y="288798"/>
                  </a:lnTo>
                  <a:lnTo>
                    <a:pt x="1753361" y="225552"/>
                  </a:lnTo>
                  <a:lnTo>
                    <a:pt x="1786889" y="177546"/>
                  </a:lnTo>
                  <a:lnTo>
                    <a:pt x="1820417" y="140208"/>
                  </a:lnTo>
                  <a:lnTo>
                    <a:pt x="1853946" y="110490"/>
                  </a:lnTo>
                  <a:lnTo>
                    <a:pt x="1887474" y="86868"/>
                  </a:lnTo>
                  <a:lnTo>
                    <a:pt x="1921763" y="67818"/>
                  </a:lnTo>
                  <a:lnTo>
                    <a:pt x="1988820" y="39624"/>
                  </a:lnTo>
                  <a:lnTo>
                    <a:pt x="2056637" y="20574"/>
                  </a:lnTo>
                  <a:lnTo>
                    <a:pt x="2123693" y="8382"/>
                  </a:lnTo>
                  <a:lnTo>
                    <a:pt x="2157222" y="4572"/>
                  </a:lnTo>
                </a:path>
              </a:pathLst>
            </a:custGeom>
            <a:ln w="4978">
              <a:solidFill>
                <a:srgbClr val="FFFF00"/>
              </a:solidFill>
            </a:ln>
          </p:spPr>
          <p:txBody>
            <a:bodyPr wrap="square" lIns="0" tIns="0" rIns="0" bIns="0" rtlCol="0"/>
            <a:lstStyle/>
            <a:p>
              <a:pPr defTabSz="548626"/>
              <a:endParaRPr sz="1620">
                <a:solidFill>
                  <a:srgbClr val="3C3C3B"/>
                </a:solidFill>
                <a:latin typeface="Gill Sans MT" panose="020B0502020104020203"/>
              </a:endParaRPr>
            </a:p>
          </p:txBody>
        </p:sp>
        <p:sp>
          <p:nvSpPr>
            <p:cNvPr id="31" name="object 31"/>
            <p:cNvSpPr/>
            <p:nvPr/>
          </p:nvSpPr>
          <p:spPr>
            <a:xfrm>
              <a:off x="7794498" y="1940051"/>
              <a:ext cx="2395855" cy="742950"/>
            </a:xfrm>
            <a:custGeom>
              <a:avLst/>
              <a:gdLst/>
              <a:ahLst/>
              <a:cxnLst/>
              <a:rect l="l" t="t" r="r" b="b"/>
              <a:pathLst>
                <a:path w="2395854" h="742950">
                  <a:moveTo>
                    <a:pt x="2350770" y="704850"/>
                  </a:moveTo>
                  <a:lnTo>
                    <a:pt x="2305812" y="704850"/>
                  </a:lnTo>
                  <a:lnTo>
                    <a:pt x="1046226" y="704850"/>
                  </a:lnTo>
                  <a:lnTo>
                    <a:pt x="1046226" y="742950"/>
                  </a:lnTo>
                  <a:lnTo>
                    <a:pt x="2350770" y="742950"/>
                  </a:lnTo>
                  <a:lnTo>
                    <a:pt x="2350770" y="704850"/>
                  </a:lnTo>
                  <a:close/>
                </a:path>
                <a:path w="2395854" h="742950">
                  <a:moveTo>
                    <a:pt x="2395728" y="0"/>
                  </a:moveTo>
                  <a:lnTo>
                    <a:pt x="0" y="0"/>
                  </a:lnTo>
                  <a:lnTo>
                    <a:pt x="0" y="38100"/>
                  </a:lnTo>
                  <a:lnTo>
                    <a:pt x="2301824" y="38100"/>
                  </a:lnTo>
                  <a:lnTo>
                    <a:pt x="2253234" y="121920"/>
                  </a:lnTo>
                  <a:lnTo>
                    <a:pt x="2250948" y="126492"/>
                  </a:lnTo>
                  <a:lnTo>
                    <a:pt x="2252472" y="131826"/>
                  </a:lnTo>
                  <a:lnTo>
                    <a:pt x="2257044" y="134874"/>
                  </a:lnTo>
                  <a:lnTo>
                    <a:pt x="2261616" y="137160"/>
                  </a:lnTo>
                  <a:lnTo>
                    <a:pt x="2266950" y="135636"/>
                  </a:lnTo>
                  <a:lnTo>
                    <a:pt x="2269998" y="131064"/>
                  </a:lnTo>
                  <a:lnTo>
                    <a:pt x="2296668" y="85090"/>
                  </a:lnTo>
                  <a:lnTo>
                    <a:pt x="2296668" y="651014"/>
                  </a:lnTo>
                  <a:lnTo>
                    <a:pt x="2305875" y="666902"/>
                  </a:lnTo>
                  <a:lnTo>
                    <a:pt x="2269998" y="605028"/>
                  </a:lnTo>
                  <a:lnTo>
                    <a:pt x="2266950" y="600456"/>
                  </a:lnTo>
                  <a:lnTo>
                    <a:pt x="2261616" y="598932"/>
                  </a:lnTo>
                  <a:lnTo>
                    <a:pt x="2257044" y="601218"/>
                  </a:lnTo>
                  <a:lnTo>
                    <a:pt x="2252472" y="604266"/>
                  </a:lnTo>
                  <a:lnTo>
                    <a:pt x="2250948" y="610362"/>
                  </a:lnTo>
                  <a:lnTo>
                    <a:pt x="2253234" y="614172"/>
                  </a:lnTo>
                  <a:lnTo>
                    <a:pt x="2296668" y="689089"/>
                  </a:lnTo>
                  <a:lnTo>
                    <a:pt x="2305812" y="704850"/>
                  </a:lnTo>
                  <a:lnTo>
                    <a:pt x="2315718" y="687768"/>
                  </a:lnTo>
                  <a:lnTo>
                    <a:pt x="2358390" y="614172"/>
                  </a:lnTo>
                  <a:lnTo>
                    <a:pt x="2361438" y="610362"/>
                  </a:lnTo>
                  <a:lnTo>
                    <a:pt x="2359914" y="604266"/>
                  </a:lnTo>
                  <a:lnTo>
                    <a:pt x="2355342" y="601218"/>
                  </a:lnTo>
                  <a:lnTo>
                    <a:pt x="2350770" y="598932"/>
                  </a:lnTo>
                  <a:lnTo>
                    <a:pt x="2344674" y="600456"/>
                  </a:lnTo>
                  <a:lnTo>
                    <a:pt x="2342388" y="605028"/>
                  </a:lnTo>
                  <a:lnTo>
                    <a:pt x="2315718" y="650227"/>
                  </a:lnTo>
                  <a:lnTo>
                    <a:pt x="2315718" y="85864"/>
                  </a:lnTo>
                  <a:lnTo>
                    <a:pt x="2342388" y="131064"/>
                  </a:lnTo>
                  <a:lnTo>
                    <a:pt x="2344674" y="135636"/>
                  </a:lnTo>
                  <a:lnTo>
                    <a:pt x="2350770" y="137160"/>
                  </a:lnTo>
                  <a:lnTo>
                    <a:pt x="2355342" y="134874"/>
                  </a:lnTo>
                  <a:lnTo>
                    <a:pt x="2359914" y="131826"/>
                  </a:lnTo>
                  <a:lnTo>
                    <a:pt x="2361438" y="126492"/>
                  </a:lnTo>
                  <a:lnTo>
                    <a:pt x="2358390" y="121920"/>
                  </a:lnTo>
                  <a:lnTo>
                    <a:pt x="2309787" y="38100"/>
                  </a:lnTo>
                  <a:lnTo>
                    <a:pt x="2395728" y="38100"/>
                  </a:lnTo>
                  <a:lnTo>
                    <a:pt x="2395728" y="0"/>
                  </a:lnTo>
                  <a:close/>
                </a:path>
              </a:pathLst>
            </a:custGeom>
            <a:solidFill>
              <a:srgbClr val="FF00FF"/>
            </a:solidFill>
          </p:spPr>
          <p:txBody>
            <a:bodyPr wrap="square" lIns="0" tIns="0" rIns="0" bIns="0" rtlCol="0"/>
            <a:lstStyle/>
            <a:p>
              <a:pPr defTabSz="548626"/>
              <a:endParaRPr sz="1620">
                <a:solidFill>
                  <a:srgbClr val="3C3C3B"/>
                </a:solidFill>
                <a:latin typeface="Gill Sans MT" panose="020B0502020104020203"/>
              </a:endParaRPr>
            </a:p>
          </p:txBody>
        </p:sp>
      </p:grpSp>
      <p:grpSp>
        <p:nvGrpSpPr>
          <p:cNvPr id="32" name="object 32"/>
          <p:cNvGrpSpPr/>
          <p:nvPr/>
        </p:nvGrpSpPr>
        <p:grpSpPr>
          <a:xfrm>
            <a:off x="7796720" y="2913475"/>
            <a:ext cx="2394585" cy="1638935"/>
            <a:chOff x="7796718" y="2913474"/>
            <a:chExt cx="2394585" cy="1638935"/>
          </a:xfrm>
        </p:grpSpPr>
        <p:pic>
          <p:nvPicPr>
            <p:cNvPr id="33" name="object 33"/>
            <p:cNvPicPr/>
            <p:nvPr/>
          </p:nvPicPr>
          <p:blipFill>
            <a:blip r:embed="rId6" cstate="print"/>
            <a:stretch>
              <a:fillRect/>
            </a:stretch>
          </p:blipFill>
          <p:spPr>
            <a:xfrm>
              <a:off x="7796718" y="2913474"/>
              <a:ext cx="2162273" cy="1638365"/>
            </a:xfrm>
            <a:prstGeom prst="rect">
              <a:avLst/>
            </a:prstGeom>
          </p:spPr>
        </p:pic>
        <p:sp>
          <p:nvSpPr>
            <p:cNvPr id="34" name="object 34"/>
            <p:cNvSpPr/>
            <p:nvPr/>
          </p:nvSpPr>
          <p:spPr>
            <a:xfrm>
              <a:off x="7812786" y="3667505"/>
              <a:ext cx="2378710" cy="228600"/>
            </a:xfrm>
            <a:custGeom>
              <a:avLst/>
              <a:gdLst/>
              <a:ahLst/>
              <a:cxnLst/>
              <a:rect l="l" t="t" r="r" b="b"/>
              <a:pathLst>
                <a:path w="2378709" h="228600">
                  <a:moveTo>
                    <a:pt x="2377440" y="190500"/>
                  </a:moveTo>
                  <a:lnTo>
                    <a:pt x="1027938" y="190500"/>
                  </a:lnTo>
                  <a:lnTo>
                    <a:pt x="1027938" y="228600"/>
                  </a:lnTo>
                  <a:lnTo>
                    <a:pt x="2377440" y="228600"/>
                  </a:lnTo>
                  <a:lnTo>
                    <a:pt x="2377440" y="190500"/>
                  </a:lnTo>
                  <a:close/>
                </a:path>
                <a:path w="2378709" h="228600">
                  <a:moveTo>
                    <a:pt x="2378202" y="24384"/>
                  </a:moveTo>
                  <a:lnTo>
                    <a:pt x="0" y="0"/>
                  </a:lnTo>
                  <a:lnTo>
                    <a:pt x="0" y="38100"/>
                  </a:lnTo>
                  <a:lnTo>
                    <a:pt x="2377440" y="62484"/>
                  </a:lnTo>
                  <a:lnTo>
                    <a:pt x="2378202" y="24384"/>
                  </a:lnTo>
                  <a:close/>
                </a:path>
              </a:pathLst>
            </a:custGeom>
            <a:solidFill>
              <a:srgbClr val="FF00FF"/>
            </a:solidFill>
          </p:spPr>
          <p:txBody>
            <a:bodyPr wrap="square" lIns="0" tIns="0" rIns="0" bIns="0" rtlCol="0"/>
            <a:lstStyle/>
            <a:p>
              <a:pPr defTabSz="548626"/>
              <a:endParaRPr sz="1620">
                <a:solidFill>
                  <a:srgbClr val="3C3C3B"/>
                </a:solidFill>
                <a:latin typeface="Gill Sans MT" panose="020B0502020104020203"/>
              </a:endParaRPr>
            </a:p>
          </p:txBody>
        </p:sp>
        <p:pic>
          <p:nvPicPr>
            <p:cNvPr id="35" name="object 35"/>
            <p:cNvPicPr/>
            <p:nvPr/>
          </p:nvPicPr>
          <p:blipFill>
            <a:blip r:embed="rId7" cstate="print"/>
            <a:stretch>
              <a:fillRect/>
            </a:stretch>
          </p:blipFill>
          <p:spPr>
            <a:xfrm>
              <a:off x="10045446" y="3877056"/>
              <a:ext cx="110489" cy="219456"/>
            </a:xfrm>
            <a:prstGeom prst="rect">
              <a:avLst/>
            </a:prstGeom>
          </p:spPr>
        </p:pic>
        <p:pic>
          <p:nvPicPr>
            <p:cNvPr id="36" name="object 36"/>
            <p:cNvPicPr/>
            <p:nvPr/>
          </p:nvPicPr>
          <p:blipFill>
            <a:blip r:embed="rId8" cstate="print"/>
            <a:stretch>
              <a:fillRect/>
            </a:stretch>
          </p:blipFill>
          <p:spPr>
            <a:xfrm>
              <a:off x="10035540" y="3441192"/>
              <a:ext cx="111251" cy="245363"/>
            </a:xfrm>
            <a:prstGeom prst="rect">
              <a:avLst/>
            </a:prstGeom>
          </p:spPr>
        </p:pic>
      </p:grpSp>
      <p:sp>
        <p:nvSpPr>
          <p:cNvPr id="37" name="object 37"/>
          <p:cNvSpPr txBox="1"/>
          <p:nvPr/>
        </p:nvSpPr>
        <p:spPr>
          <a:xfrm>
            <a:off x="7211822" y="1762761"/>
            <a:ext cx="516255" cy="319959"/>
          </a:xfrm>
          <a:prstGeom prst="rect">
            <a:avLst/>
          </a:prstGeom>
        </p:spPr>
        <p:txBody>
          <a:bodyPr vert="horz" wrap="square" lIns="0" tIns="12065" rIns="0" bIns="0" rtlCol="0">
            <a:spAutoFit/>
          </a:bodyPr>
          <a:lstStyle/>
          <a:p>
            <a:pPr marL="12700" defTabSz="548626">
              <a:spcBef>
                <a:spcPts val="95"/>
              </a:spcBef>
            </a:pPr>
            <a:r>
              <a:rPr sz="2000" b="1" spc="-5" dirty="0">
                <a:solidFill>
                  <a:srgbClr val="FF00FF"/>
                </a:solidFill>
                <a:latin typeface="Verdana"/>
                <a:cs typeface="Verdana"/>
              </a:rPr>
              <a:t>Vth</a:t>
            </a:r>
            <a:endParaRPr sz="2000">
              <a:solidFill>
                <a:srgbClr val="3C3C3B"/>
              </a:solidFill>
              <a:latin typeface="Verdana"/>
              <a:cs typeface="Verdana"/>
            </a:endParaRPr>
          </a:p>
        </p:txBody>
      </p:sp>
      <p:sp>
        <p:nvSpPr>
          <p:cNvPr id="38" name="object 38"/>
          <p:cNvSpPr txBox="1"/>
          <p:nvPr/>
        </p:nvSpPr>
        <p:spPr>
          <a:xfrm>
            <a:off x="4606546" y="1758951"/>
            <a:ext cx="1628775" cy="382156"/>
          </a:xfrm>
          <a:prstGeom prst="rect">
            <a:avLst/>
          </a:prstGeom>
        </p:spPr>
        <p:txBody>
          <a:bodyPr vert="horz" wrap="square" lIns="0" tIns="12700" rIns="0" bIns="0" rtlCol="0">
            <a:spAutoFit/>
          </a:bodyPr>
          <a:lstStyle/>
          <a:p>
            <a:pPr marL="12700" defTabSz="548626">
              <a:spcBef>
                <a:spcPts val="100"/>
              </a:spcBef>
            </a:pPr>
            <a:r>
              <a:rPr sz="2400" b="1" spc="-5" dirty="0">
                <a:solidFill>
                  <a:srgbClr val="0000FF"/>
                </a:solidFill>
                <a:latin typeface="Verdana"/>
                <a:cs typeface="Verdana"/>
              </a:rPr>
              <a:t>Small</a:t>
            </a:r>
            <a:r>
              <a:rPr sz="2400" b="1" spc="-91" dirty="0">
                <a:solidFill>
                  <a:srgbClr val="0000FF"/>
                </a:solidFill>
                <a:latin typeface="Verdana"/>
                <a:cs typeface="Verdana"/>
              </a:rPr>
              <a:t> </a:t>
            </a:r>
            <a:r>
              <a:rPr sz="2400" b="1" dirty="0">
                <a:solidFill>
                  <a:srgbClr val="0000FF"/>
                </a:solidFill>
                <a:latin typeface="Verdana"/>
                <a:cs typeface="Verdana"/>
              </a:rPr>
              <a:t>ISI</a:t>
            </a:r>
            <a:endParaRPr sz="2400" dirty="0">
              <a:solidFill>
                <a:srgbClr val="3C3C3B"/>
              </a:solidFill>
              <a:latin typeface="Verdana"/>
              <a:cs typeface="Verdana"/>
            </a:endParaRPr>
          </a:p>
        </p:txBody>
      </p:sp>
      <p:sp>
        <p:nvSpPr>
          <p:cNvPr id="39" name="object 39"/>
          <p:cNvSpPr txBox="1"/>
          <p:nvPr/>
        </p:nvSpPr>
        <p:spPr>
          <a:xfrm>
            <a:off x="4592829" y="3512312"/>
            <a:ext cx="1642745" cy="382156"/>
          </a:xfrm>
          <a:prstGeom prst="rect">
            <a:avLst/>
          </a:prstGeom>
        </p:spPr>
        <p:txBody>
          <a:bodyPr vert="horz" wrap="square" lIns="0" tIns="12700" rIns="0" bIns="0" rtlCol="0">
            <a:spAutoFit/>
          </a:bodyPr>
          <a:lstStyle/>
          <a:p>
            <a:pPr marL="12700" defTabSz="548626">
              <a:spcBef>
                <a:spcPts val="100"/>
              </a:spcBef>
            </a:pPr>
            <a:r>
              <a:rPr sz="2400" b="1" spc="-5" dirty="0">
                <a:solidFill>
                  <a:srgbClr val="FF0000"/>
                </a:solidFill>
                <a:latin typeface="Verdana"/>
                <a:cs typeface="Verdana"/>
              </a:rPr>
              <a:t>Large</a:t>
            </a:r>
            <a:r>
              <a:rPr sz="2400" b="1" spc="-100" dirty="0">
                <a:solidFill>
                  <a:srgbClr val="FF0000"/>
                </a:solidFill>
                <a:latin typeface="Verdana"/>
                <a:cs typeface="Verdana"/>
              </a:rPr>
              <a:t> </a:t>
            </a:r>
            <a:r>
              <a:rPr sz="2400" b="1" dirty="0">
                <a:solidFill>
                  <a:srgbClr val="FF0000"/>
                </a:solidFill>
                <a:latin typeface="Verdana"/>
                <a:cs typeface="Verdana"/>
              </a:rPr>
              <a:t>ISI</a:t>
            </a:r>
            <a:endParaRPr sz="2400" dirty="0">
              <a:solidFill>
                <a:srgbClr val="3C3C3B"/>
              </a:solidFill>
              <a:latin typeface="Verdana"/>
              <a:cs typeface="Verdana"/>
            </a:endParaRPr>
          </a:p>
        </p:txBody>
      </p:sp>
      <p:sp>
        <p:nvSpPr>
          <p:cNvPr id="40" name="object 40"/>
          <p:cNvSpPr txBox="1"/>
          <p:nvPr/>
        </p:nvSpPr>
        <p:spPr>
          <a:xfrm>
            <a:off x="10224769" y="2137664"/>
            <a:ext cx="1035051" cy="627736"/>
          </a:xfrm>
          <a:prstGeom prst="rect">
            <a:avLst/>
          </a:prstGeom>
        </p:spPr>
        <p:txBody>
          <a:bodyPr vert="horz" wrap="square" lIns="0" tIns="12065" rIns="0" bIns="0" rtlCol="0">
            <a:spAutoFit/>
          </a:bodyPr>
          <a:lstStyle/>
          <a:p>
            <a:pPr marL="12700" marR="5080" defTabSz="548626">
              <a:spcBef>
                <a:spcPts val="95"/>
              </a:spcBef>
            </a:pPr>
            <a:r>
              <a:rPr sz="2000" b="1" spc="-11" dirty="0">
                <a:solidFill>
                  <a:srgbClr val="FF00FF"/>
                </a:solidFill>
                <a:latin typeface="Verdana"/>
                <a:cs typeface="Verdana"/>
              </a:rPr>
              <a:t>noise </a:t>
            </a:r>
            <a:r>
              <a:rPr sz="2000" b="1" spc="-5" dirty="0">
                <a:solidFill>
                  <a:srgbClr val="FF00FF"/>
                </a:solidFill>
                <a:latin typeface="Verdana"/>
                <a:cs typeface="Verdana"/>
              </a:rPr>
              <a:t> margin</a:t>
            </a:r>
            <a:endParaRPr sz="2000">
              <a:solidFill>
                <a:srgbClr val="3C3C3B"/>
              </a:solidFill>
              <a:latin typeface="Verdana"/>
              <a:cs typeface="Verdana"/>
            </a:endParaRPr>
          </a:p>
        </p:txBody>
      </p:sp>
      <p:sp>
        <p:nvSpPr>
          <p:cNvPr id="41" name="object 41"/>
          <p:cNvSpPr txBox="1"/>
          <p:nvPr/>
        </p:nvSpPr>
        <p:spPr>
          <a:xfrm>
            <a:off x="10224769" y="3598429"/>
            <a:ext cx="1035051" cy="627736"/>
          </a:xfrm>
          <a:prstGeom prst="rect">
            <a:avLst/>
          </a:prstGeom>
        </p:spPr>
        <p:txBody>
          <a:bodyPr vert="horz" wrap="square" lIns="0" tIns="12065" rIns="0" bIns="0" rtlCol="0">
            <a:spAutoFit/>
          </a:bodyPr>
          <a:lstStyle/>
          <a:p>
            <a:pPr marL="12700" marR="5080" defTabSz="548626">
              <a:spcBef>
                <a:spcPts val="95"/>
              </a:spcBef>
            </a:pPr>
            <a:r>
              <a:rPr sz="2000" b="1" spc="-11" dirty="0">
                <a:solidFill>
                  <a:srgbClr val="FF00FF"/>
                </a:solidFill>
                <a:latin typeface="Verdana"/>
                <a:cs typeface="Verdana"/>
              </a:rPr>
              <a:t>noise </a:t>
            </a:r>
            <a:r>
              <a:rPr sz="2000" b="1" spc="-5" dirty="0">
                <a:solidFill>
                  <a:srgbClr val="FF00FF"/>
                </a:solidFill>
                <a:latin typeface="Verdana"/>
                <a:cs typeface="Verdana"/>
              </a:rPr>
              <a:t> margin</a:t>
            </a:r>
            <a:endParaRPr sz="2000">
              <a:solidFill>
                <a:srgbClr val="3C3C3B"/>
              </a:solidFill>
              <a:latin typeface="Verdana"/>
              <a:cs typeface="Verdana"/>
            </a:endParaRPr>
          </a:p>
        </p:txBody>
      </p:sp>
      <p:sp>
        <p:nvSpPr>
          <p:cNvPr id="42" name="Slide Number Placeholder 41"/>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21</a:t>
            </a:fld>
            <a:endParaRPr lang="en-US" spc="-50" dirty="0"/>
          </a:p>
        </p:txBody>
      </p:sp>
      <p:sp>
        <p:nvSpPr>
          <p:cNvPr id="43" name="Date Placeholder 42"/>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44" name="Footer Placeholder 43"/>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95945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37" grpId="0"/>
      <p:bldP spid="38" grpId="0"/>
      <p:bldP spid="39" grpId="0"/>
      <p:bldP spid="40" grpId="0"/>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998416" y="1470207"/>
            <a:ext cx="3421177" cy="2659103"/>
          </a:xfrm>
          <a:prstGeom prst="rect">
            <a:avLst/>
          </a:prstGeom>
        </p:spPr>
      </p:pic>
      <p:grpSp>
        <p:nvGrpSpPr>
          <p:cNvPr id="3" name="object 3"/>
          <p:cNvGrpSpPr/>
          <p:nvPr/>
        </p:nvGrpSpPr>
        <p:grpSpPr>
          <a:xfrm>
            <a:off x="1123950" y="1470207"/>
            <a:ext cx="3998475" cy="2825313"/>
            <a:chOff x="1123950" y="1470207"/>
            <a:chExt cx="3998475" cy="2825313"/>
          </a:xfrm>
        </p:grpSpPr>
        <p:pic>
          <p:nvPicPr>
            <p:cNvPr id="4" name="object 4"/>
            <p:cNvPicPr/>
            <p:nvPr/>
          </p:nvPicPr>
          <p:blipFill>
            <a:blip r:embed="rId2" cstate="print"/>
            <a:stretch>
              <a:fillRect/>
            </a:stretch>
          </p:blipFill>
          <p:spPr>
            <a:xfrm>
              <a:off x="1701248" y="1470207"/>
              <a:ext cx="3421177" cy="2659103"/>
            </a:xfrm>
            <a:prstGeom prst="rect">
              <a:avLst/>
            </a:prstGeom>
          </p:spPr>
        </p:pic>
        <p:sp>
          <p:nvSpPr>
            <p:cNvPr id="5" name="object 5"/>
            <p:cNvSpPr/>
            <p:nvPr/>
          </p:nvSpPr>
          <p:spPr>
            <a:xfrm>
              <a:off x="2951988" y="2575559"/>
              <a:ext cx="0" cy="1685925"/>
            </a:xfrm>
            <a:custGeom>
              <a:avLst/>
              <a:gdLst/>
              <a:ahLst/>
              <a:cxnLst/>
              <a:rect l="l" t="t" r="r" b="b"/>
              <a:pathLst>
                <a:path h="1685925">
                  <a:moveTo>
                    <a:pt x="0" y="0"/>
                  </a:moveTo>
                  <a:lnTo>
                    <a:pt x="0" y="1685544"/>
                  </a:lnTo>
                </a:path>
              </a:pathLst>
            </a:custGeom>
            <a:ln w="28956">
              <a:solidFill>
                <a:srgbClr val="FFBF00"/>
              </a:solidFill>
              <a:prstDash val="sysDashDot"/>
            </a:ln>
          </p:spPr>
          <p:txBody>
            <a:bodyPr wrap="square" lIns="0" tIns="0" rIns="0" bIns="0" rtlCol="0"/>
            <a:lstStyle/>
            <a:p>
              <a:endParaRPr/>
            </a:p>
          </p:txBody>
        </p:sp>
        <p:sp>
          <p:nvSpPr>
            <p:cNvPr id="6" name="object 6"/>
            <p:cNvSpPr/>
            <p:nvPr/>
          </p:nvSpPr>
          <p:spPr>
            <a:xfrm>
              <a:off x="1169009" y="1945385"/>
              <a:ext cx="3016885" cy="2350135"/>
            </a:xfrm>
            <a:custGeom>
              <a:avLst/>
              <a:gdLst/>
              <a:ahLst/>
              <a:cxnLst/>
              <a:rect l="l" t="t" r="r" b="b"/>
              <a:pathLst>
                <a:path w="3016885" h="2350135">
                  <a:moveTo>
                    <a:pt x="133134" y="244856"/>
                  </a:moveTo>
                  <a:lnTo>
                    <a:pt x="132486" y="236982"/>
                  </a:lnTo>
                  <a:lnTo>
                    <a:pt x="66954" y="0"/>
                  </a:lnTo>
                  <a:lnTo>
                    <a:pt x="660" y="236982"/>
                  </a:lnTo>
                  <a:lnTo>
                    <a:pt x="0" y="244856"/>
                  </a:lnTo>
                  <a:lnTo>
                    <a:pt x="2273" y="251942"/>
                  </a:lnTo>
                  <a:lnTo>
                    <a:pt x="6972" y="257454"/>
                  </a:lnTo>
                  <a:lnTo>
                    <a:pt x="13614" y="260604"/>
                  </a:lnTo>
                  <a:lnTo>
                    <a:pt x="21374" y="261264"/>
                  </a:lnTo>
                  <a:lnTo>
                    <a:pt x="28282" y="258991"/>
                  </a:lnTo>
                  <a:lnTo>
                    <a:pt x="33756" y="254292"/>
                  </a:lnTo>
                  <a:lnTo>
                    <a:pt x="37236" y="247650"/>
                  </a:lnTo>
                  <a:lnTo>
                    <a:pt x="47904" y="209550"/>
                  </a:lnTo>
                  <a:lnTo>
                    <a:pt x="47904" y="1119378"/>
                  </a:lnTo>
                  <a:lnTo>
                    <a:pt x="66802" y="1186891"/>
                  </a:lnTo>
                  <a:lnTo>
                    <a:pt x="37236" y="1081278"/>
                  </a:lnTo>
                  <a:lnTo>
                    <a:pt x="33756" y="1074648"/>
                  </a:lnTo>
                  <a:lnTo>
                    <a:pt x="28282" y="1069949"/>
                  </a:lnTo>
                  <a:lnTo>
                    <a:pt x="21374" y="1067676"/>
                  </a:lnTo>
                  <a:lnTo>
                    <a:pt x="13614" y="1068324"/>
                  </a:lnTo>
                  <a:lnTo>
                    <a:pt x="6972" y="1071473"/>
                  </a:lnTo>
                  <a:lnTo>
                    <a:pt x="2273" y="1076896"/>
                  </a:lnTo>
                  <a:lnTo>
                    <a:pt x="0" y="1083754"/>
                  </a:lnTo>
                  <a:lnTo>
                    <a:pt x="660" y="1091184"/>
                  </a:lnTo>
                  <a:lnTo>
                    <a:pt x="47904" y="1260614"/>
                  </a:lnTo>
                  <a:lnTo>
                    <a:pt x="66954" y="1328928"/>
                  </a:lnTo>
                  <a:lnTo>
                    <a:pt x="86004" y="1259827"/>
                  </a:lnTo>
                  <a:lnTo>
                    <a:pt x="132486" y="1091184"/>
                  </a:lnTo>
                  <a:lnTo>
                    <a:pt x="133134" y="1083754"/>
                  </a:lnTo>
                  <a:lnTo>
                    <a:pt x="130860" y="1076896"/>
                  </a:lnTo>
                  <a:lnTo>
                    <a:pt x="126161" y="1071473"/>
                  </a:lnTo>
                  <a:lnTo>
                    <a:pt x="119532" y="1068324"/>
                  </a:lnTo>
                  <a:lnTo>
                    <a:pt x="111760" y="1067676"/>
                  </a:lnTo>
                  <a:lnTo>
                    <a:pt x="104863" y="1069949"/>
                  </a:lnTo>
                  <a:lnTo>
                    <a:pt x="99377" y="1074648"/>
                  </a:lnTo>
                  <a:lnTo>
                    <a:pt x="95910" y="1081278"/>
                  </a:lnTo>
                  <a:lnTo>
                    <a:pt x="86004" y="1117231"/>
                  </a:lnTo>
                  <a:lnTo>
                    <a:pt x="86004" y="211709"/>
                  </a:lnTo>
                  <a:lnTo>
                    <a:pt x="66802" y="142036"/>
                  </a:lnTo>
                  <a:lnTo>
                    <a:pt x="85242" y="208940"/>
                  </a:lnTo>
                  <a:lnTo>
                    <a:pt x="86004" y="211709"/>
                  </a:lnTo>
                  <a:lnTo>
                    <a:pt x="95910" y="247650"/>
                  </a:lnTo>
                  <a:lnTo>
                    <a:pt x="99377" y="254292"/>
                  </a:lnTo>
                  <a:lnTo>
                    <a:pt x="104863" y="258991"/>
                  </a:lnTo>
                  <a:lnTo>
                    <a:pt x="111760" y="261264"/>
                  </a:lnTo>
                  <a:lnTo>
                    <a:pt x="119532" y="260604"/>
                  </a:lnTo>
                  <a:lnTo>
                    <a:pt x="126161" y="257454"/>
                  </a:lnTo>
                  <a:lnTo>
                    <a:pt x="130860" y="251942"/>
                  </a:lnTo>
                  <a:lnTo>
                    <a:pt x="133134" y="244856"/>
                  </a:lnTo>
                  <a:close/>
                </a:path>
                <a:path w="3016885" h="2350135">
                  <a:moveTo>
                    <a:pt x="3016656" y="2282952"/>
                  </a:moveTo>
                  <a:lnTo>
                    <a:pt x="2778912" y="2217420"/>
                  </a:lnTo>
                  <a:lnTo>
                    <a:pt x="2771470" y="2216772"/>
                  </a:lnTo>
                  <a:lnTo>
                    <a:pt x="2764523" y="2219045"/>
                  </a:lnTo>
                  <a:lnTo>
                    <a:pt x="2758871" y="2223744"/>
                  </a:lnTo>
                  <a:lnTo>
                    <a:pt x="2755290" y="2230374"/>
                  </a:lnTo>
                  <a:lnTo>
                    <a:pt x="2754960" y="2238146"/>
                  </a:lnTo>
                  <a:lnTo>
                    <a:pt x="2757284" y="2245042"/>
                  </a:lnTo>
                  <a:lnTo>
                    <a:pt x="2762034" y="2250529"/>
                  </a:lnTo>
                  <a:lnTo>
                    <a:pt x="2769006" y="2253996"/>
                  </a:lnTo>
                  <a:lnTo>
                    <a:pt x="2804947" y="2263902"/>
                  </a:lnTo>
                  <a:lnTo>
                    <a:pt x="2014639" y="2263902"/>
                  </a:lnTo>
                  <a:lnTo>
                    <a:pt x="2050440" y="2253996"/>
                  </a:lnTo>
                  <a:lnTo>
                    <a:pt x="2057501" y="2250529"/>
                  </a:lnTo>
                  <a:lnTo>
                    <a:pt x="2062441" y="2245042"/>
                  </a:lnTo>
                  <a:lnTo>
                    <a:pt x="2064791" y="2238146"/>
                  </a:lnTo>
                  <a:lnTo>
                    <a:pt x="2064156" y="2230374"/>
                  </a:lnTo>
                  <a:lnTo>
                    <a:pt x="2060562" y="2223744"/>
                  </a:lnTo>
                  <a:lnTo>
                    <a:pt x="2054910" y="2219045"/>
                  </a:lnTo>
                  <a:lnTo>
                    <a:pt x="2047963" y="2216772"/>
                  </a:lnTo>
                  <a:lnTo>
                    <a:pt x="2040534" y="2217420"/>
                  </a:lnTo>
                  <a:lnTo>
                    <a:pt x="1802790" y="2282952"/>
                  </a:lnTo>
                  <a:lnTo>
                    <a:pt x="1874418" y="2302929"/>
                  </a:lnTo>
                  <a:lnTo>
                    <a:pt x="2040534" y="2349246"/>
                  </a:lnTo>
                  <a:lnTo>
                    <a:pt x="2047963" y="2349906"/>
                  </a:lnTo>
                  <a:lnTo>
                    <a:pt x="2054910" y="2347633"/>
                  </a:lnTo>
                  <a:lnTo>
                    <a:pt x="2060562" y="2342934"/>
                  </a:lnTo>
                  <a:lnTo>
                    <a:pt x="2064156" y="2336292"/>
                  </a:lnTo>
                  <a:lnTo>
                    <a:pt x="2064791" y="2328430"/>
                  </a:lnTo>
                  <a:lnTo>
                    <a:pt x="2062441" y="2321344"/>
                  </a:lnTo>
                  <a:lnTo>
                    <a:pt x="2057501" y="2315832"/>
                  </a:lnTo>
                  <a:lnTo>
                    <a:pt x="2050440" y="2312670"/>
                  </a:lnTo>
                  <a:lnTo>
                    <a:pt x="2012505" y="2302002"/>
                  </a:lnTo>
                  <a:lnTo>
                    <a:pt x="2807093" y="2302002"/>
                  </a:lnTo>
                  <a:lnTo>
                    <a:pt x="2769006" y="2312670"/>
                  </a:lnTo>
                  <a:lnTo>
                    <a:pt x="2762034" y="2315832"/>
                  </a:lnTo>
                  <a:lnTo>
                    <a:pt x="2757284" y="2321344"/>
                  </a:lnTo>
                  <a:lnTo>
                    <a:pt x="2754960" y="2328430"/>
                  </a:lnTo>
                  <a:lnTo>
                    <a:pt x="2755290" y="2336292"/>
                  </a:lnTo>
                  <a:lnTo>
                    <a:pt x="2758871" y="2342934"/>
                  </a:lnTo>
                  <a:lnTo>
                    <a:pt x="2764523" y="2347633"/>
                  </a:lnTo>
                  <a:lnTo>
                    <a:pt x="2771470" y="2349906"/>
                  </a:lnTo>
                  <a:lnTo>
                    <a:pt x="2778912" y="2349246"/>
                  </a:lnTo>
                  <a:lnTo>
                    <a:pt x="2945028" y="2302929"/>
                  </a:lnTo>
                  <a:lnTo>
                    <a:pt x="3016656" y="2282952"/>
                  </a:lnTo>
                  <a:close/>
                </a:path>
              </a:pathLst>
            </a:custGeom>
            <a:solidFill>
              <a:srgbClr val="000000"/>
            </a:solidFill>
          </p:spPr>
          <p:txBody>
            <a:bodyPr wrap="square" lIns="0" tIns="0" rIns="0" bIns="0" rtlCol="0"/>
            <a:lstStyle/>
            <a:p>
              <a:endParaRPr/>
            </a:p>
          </p:txBody>
        </p:sp>
        <p:sp>
          <p:nvSpPr>
            <p:cNvPr id="7" name="object 7"/>
            <p:cNvSpPr/>
            <p:nvPr/>
          </p:nvSpPr>
          <p:spPr>
            <a:xfrm>
              <a:off x="1136903" y="1880996"/>
              <a:ext cx="2486025" cy="0"/>
            </a:xfrm>
            <a:custGeom>
              <a:avLst/>
              <a:gdLst/>
              <a:ahLst/>
              <a:cxnLst/>
              <a:rect l="l" t="t" r="r" b="b"/>
              <a:pathLst>
                <a:path w="2486025">
                  <a:moveTo>
                    <a:pt x="0" y="0"/>
                  </a:moveTo>
                  <a:lnTo>
                    <a:pt x="2485644" y="0"/>
                  </a:lnTo>
                </a:path>
              </a:pathLst>
            </a:custGeom>
            <a:ln w="28194">
              <a:solidFill>
                <a:srgbClr val="FFBF00"/>
              </a:solidFill>
              <a:prstDash val="sysDash"/>
            </a:ln>
          </p:spPr>
          <p:txBody>
            <a:bodyPr wrap="square" lIns="0" tIns="0" rIns="0" bIns="0" rtlCol="0"/>
            <a:lstStyle/>
            <a:p>
              <a:endParaRPr/>
            </a:p>
          </p:txBody>
        </p:sp>
        <p:sp>
          <p:nvSpPr>
            <p:cNvPr id="8" name="object 8"/>
            <p:cNvSpPr/>
            <p:nvPr/>
          </p:nvSpPr>
          <p:spPr>
            <a:xfrm>
              <a:off x="1123950" y="1866899"/>
              <a:ext cx="2541270" cy="1454150"/>
            </a:xfrm>
            <a:custGeom>
              <a:avLst/>
              <a:gdLst/>
              <a:ahLst/>
              <a:cxnLst/>
              <a:rect l="l" t="t" r="r" b="b"/>
              <a:pathLst>
                <a:path w="2541270" h="1454150">
                  <a:moveTo>
                    <a:pt x="85344" y="1425702"/>
                  </a:moveTo>
                  <a:lnTo>
                    <a:pt x="0" y="1425702"/>
                  </a:lnTo>
                  <a:lnTo>
                    <a:pt x="0" y="1453896"/>
                  </a:lnTo>
                  <a:lnTo>
                    <a:pt x="85344" y="1453896"/>
                  </a:lnTo>
                  <a:lnTo>
                    <a:pt x="85344" y="1425702"/>
                  </a:lnTo>
                  <a:close/>
                </a:path>
                <a:path w="2541270" h="1454150">
                  <a:moveTo>
                    <a:pt x="2541257" y="0"/>
                  </a:moveTo>
                  <a:lnTo>
                    <a:pt x="2527554" y="0"/>
                  </a:lnTo>
                  <a:lnTo>
                    <a:pt x="2527554" y="28194"/>
                  </a:lnTo>
                  <a:lnTo>
                    <a:pt x="2541257" y="28194"/>
                  </a:lnTo>
                  <a:lnTo>
                    <a:pt x="2541257" y="0"/>
                  </a:lnTo>
                  <a:close/>
                </a:path>
              </a:pathLst>
            </a:custGeom>
            <a:solidFill>
              <a:srgbClr val="FFBF00"/>
            </a:solidFill>
          </p:spPr>
          <p:txBody>
            <a:bodyPr wrap="square" lIns="0" tIns="0" rIns="0" bIns="0" rtlCol="0"/>
            <a:lstStyle/>
            <a:p>
              <a:endParaRPr/>
            </a:p>
          </p:txBody>
        </p:sp>
        <p:sp>
          <p:nvSpPr>
            <p:cNvPr id="9" name="object 9"/>
            <p:cNvSpPr/>
            <p:nvPr/>
          </p:nvSpPr>
          <p:spPr>
            <a:xfrm>
              <a:off x="1238250" y="3306698"/>
              <a:ext cx="2371725" cy="0"/>
            </a:xfrm>
            <a:custGeom>
              <a:avLst/>
              <a:gdLst/>
              <a:ahLst/>
              <a:cxnLst/>
              <a:rect l="l" t="t" r="r" b="b"/>
              <a:pathLst>
                <a:path w="2371725">
                  <a:moveTo>
                    <a:pt x="0" y="0"/>
                  </a:moveTo>
                  <a:lnTo>
                    <a:pt x="2371344" y="0"/>
                  </a:lnTo>
                </a:path>
              </a:pathLst>
            </a:custGeom>
            <a:ln w="28194">
              <a:solidFill>
                <a:srgbClr val="FFBF00"/>
              </a:solidFill>
              <a:prstDash val="sysDash"/>
            </a:ln>
          </p:spPr>
          <p:txBody>
            <a:bodyPr wrap="square" lIns="0" tIns="0" rIns="0" bIns="0" rtlCol="0"/>
            <a:lstStyle/>
            <a:p>
              <a:endParaRPr/>
            </a:p>
          </p:txBody>
        </p:sp>
        <p:sp>
          <p:nvSpPr>
            <p:cNvPr id="10" name="object 10"/>
            <p:cNvSpPr/>
            <p:nvPr/>
          </p:nvSpPr>
          <p:spPr>
            <a:xfrm>
              <a:off x="3638550" y="3292601"/>
              <a:ext cx="13335" cy="28575"/>
            </a:xfrm>
            <a:custGeom>
              <a:avLst/>
              <a:gdLst/>
              <a:ahLst/>
              <a:cxnLst/>
              <a:rect l="l" t="t" r="r" b="b"/>
              <a:pathLst>
                <a:path w="13335" h="28575">
                  <a:moveTo>
                    <a:pt x="12953" y="28194"/>
                  </a:moveTo>
                  <a:lnTo>
                    <a:pt x="12953" y="0"/>
                  </a:lnTo>
                  <a:lnTo>
                    <a:pt x="0" y="0"/>
                  </a:lnTo>
                  <a:lnTo>
                    <a:pt x="0" y="28194"/>
                  </a:lnTo>
                  <a:lnTo>
                    <a:pt x="12953" y="28194"/>
                  </a:lnTo>
                  <a:close/>
                </a:path>
              </a:pathLst>
            </a:custGeom>
            <a:solidFill>
              <a:srgbClr val="FFBF00"/>
            </a:solidFill>
          </p:spPr>
          <p:txBody>
            <a:bodyPr wrap="square" lIns="0" tIns="0" rIns="0" bIns="0" rtlCol="0"/>
            <a:lstStyle/>
            <a:p>
              <a:endParaRPr/>
            </a:p>
          </p:txBody>
        </p:sp>
      </p:grpSp>
      <p:sp>
        <p:nvSpPr>
          <p:cNvPr id="11" name="object 11"/>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NRZ</a:t>
            </a:r>
            <a:r>
              <a:rPr spc="-85" dirty="0"/>
              <a:t> </a:t>
            </a:r>
            <a:r>
              <a:rPr dirty="0"/>
              <a:t>Eye</a:t>
            </a:r>
            <a:r>
              <a:rPr spc="-85" dirty="0"/>
              <a:t> </a:t>
            </a:r>
            <a:r>
              <a:rPr dirty="0"/>
              <a:t>Diagram</a:t>
            </a:r>
            <a:r>
              <a:rPr spc="-60" dirty="0"/>
              <a:t> </a:t>
            </a:r>
            <a:r>
              <a:rPr spc="-10" dirty="0"/>
              <a:t>Analysis</a:t>
            </a:r>
          </a:p>
        </p:txBody>
      </p:sp>
      <p:sp>
        <p:nvSpPr>
          <p:cNvPr id="12" name="object 12"/>
          <p:cNvSpPr txBox="1"/>
          <p:nvPr/>
        </p:nvSpPr>
        <p:spPr>
          <a:xfrm>
            <a:off x="809244" y="5310632"/>
            <a:ext cx="6801484" cy="391160"/>
          </a:xfrm>
          <a:prstGeom prst="rect">
            <a:avLst/>
          </a:prstGeom>
        </p:spPr>
        <p:txBody>
          <a:bodyPr vert="horz" wrap="square" lIns="0" tIns="12700" rIns="0" bIns="0" rtlCol="0">
            <a:spAutoFit/>
          </a:bodyPr>
          <a:lstStyle/>
          <a:p>
            <a:pPr marL="508000" indent="-469900">
              <a:lnSpc>
                <a:spcPct val="100000"/>
              </a:lnSpc>
              <a:spcBef>
                <a:spcPts val="100"/>
              </a:spcBef>
              <a:buClr>
                <a:srgbClr val="CC0000"/>
              </a:buClr>
              <a:buSzPct val="79166"/>
              <a:buFont typeface="Wingdings"/>
              <a:buChar char=""/>
              <a:tabLst>
                <a:tab pos="508000" algn="l"/>
              </a:tabLst>
            </a:pPr>
            <a:r>
              <a:rPr sz="2400" dirty="0">
                <a:latin typeface="Verdana"/>
                <a:cs typeface="Verdana"/>
              </a:rPr>
              <a:t>Eye</a:t>
            </a:r>
            <a:r>
              <a:rPr sz="2400" spc="-30" dirty="0">
                <a:latin typeface="Verdana"/>
                <a:cs typeface="Verdana"/>
              </a:rPr>
              <a:t> </a:t>
            </a:r>
            <a:r>
              <a:rPr sz="2400" dirty="0">
                <a:latin typeface="Verdana"/>
                <a:cs typeface="Verdana"/>
              </a:rPr>
              <a:t>height=</a:t>
            </a:r>
            <a:r>
              <a:rPr sz="2400" spc="5" dirty="0">
                <a:latin typeface="Verdana"/>
                <a:cs typeface="Verdana"/>
              </a:rPr>
              <a:t> </a:t>
            </a:r>
            <a:r>
              <a:rPr sz="2400" dirty="0">
                <a:latin typeface="Verdana"/>
                <a:cs typeface="Verdana"/>
              </a:rPr>
              <a:t>(</a:t>
            </a:r>
            <a:r>
              <a:rPr sz="2400" i="1" dirty="0">
                <a:latin typeface="Verdana"/>
                <a:cs typeface="Verdana"/>
              </a:rPr>
              <a:t>V</a:t>
            </a:r>
            <a:r>
              <a:rPr sz="2400" baseline="-20833" dirty="0">
                <a:latin typeface="Verdana"/>
                <a:cs typeface="Verdana"/>
              </a:rPr>
              <a:t>top</a:t>
            </a:r>
            <a:r>
              <a:rPr sz="2400" spc="-37" baseline="-20833" dirty="0">
                <a:latin typeface="Verdana"/>
                <a:cs typeface="Verdana"/>
              </a:rPr>
              <a:t> </a:t>
            </a:r>
            <a:r>
              <a:rPr sz="2400" dirty="0">
                <a:latin typeface="Verdana"/>
                <a:cs typeface="Verdana"/>
              </a:rPr>
              <a:t>–</a:t>
            </a:r>
            <a:r>
              <a:rPr sz="2400" spc="-20" dirty="0">
                <a:latin typeface="Verdana"/>
                <a:cs typeface="Verdana"/>
              </a:rPr>
              <a:t> </a:t>
            </a:r>
            <a:r>
              <a:rPr sz="2400" dirty="0">
                <a:latin typeface="Verdana"/>
                <a:cs typeface="Verdana"/>
              </a:rPr>
              <a:t>3</a:t>
            </a:r>
            <a:r>
              <a:rPr sz="2400" dirty="0">
                <a:latin typeface="Cambria Math"/>
                <a:cs typeface="Cambria Math"/>
              </a:rPr>
              <a:t>𝝈</a:t>
            </a:r>
            <a:r>
              <a:rPr sz="2400" baseline="-20833" dirty="0">
                <a:latin typeface="Verdana"/>
                <a:cs typeface="Verdana"/>
              </a:rPr>
              <a:t>top</a:t>
            </a:r>
            <a:r>
              <a:rPr sz="2400" dirty="0">
                <a:latin typeface="Verdana"/>
                <a:cs typeface="Verdana"/>
              </a:rPr>
              <a:t>)</a:t>
            </a:r>
            <a:r>
              <a:rPr sz="2400" spc="-15" dirty="0">
                <a:latin typeface="Verdana"/>
                <a:cs typeface="Verdana"/>
              </a:rPr>
              <a:t> </a:t>
            </a:r>
            <a:r>
              <a:rPr sz="2400" dirty="0">
                <a:latin typeface="Verdana"/>
                <a:cs typeface="Verdana"/>
              </a:rPr>
              <a:t>–</a:t>
            </a:r>
            <a:r>
              <a:rPr sz="2400" spc="-20" dirty="0">
                <a:latin typeface="Verdana"/>
                <a:cs typeface="Verdana"/>
              </a:rPr>
              <a:t> </a:t>
            </a:r>
            <a:r>
              <a:rPr sz="2400" dirty="0">
                <a:latin typeface="Verdana"/>
                <a:cs typeface="Verdana"/>
              </a:rPr>
              <a:t>(</a:t>
            </a:r>
            <a:r>
              <a:rPr sz="2400" i="1" dirty="0">
                <a:latin typeface="Verdana"/>
                <a:cs typeface="Verdana"/>
              </a:rPr>
              <a:t>V</a:t>
            </a:r>
            <a:r>
              <a:rPr sz="2400" baseline="-20833" dirty="0">
                <a:latin typeface="Verdana"/>
                <a:cs typeface="Verdana"/>
              </a:rPr>
              <a:t>bot</a:t>
            </a:r>
            <a:r>
              <a:rPr sz="2400" spc="-44" baseline="-20833" dirty="0">
                <a:latin typeface="Verdana"/>
                <a:cs typeface="Verdana"/>
              </a:rPr>
              <a:t> </a:t>
            </a:r>
            <a:r>
              <a:rPr sz="2400" dirty="0">
                <a:latin typeface="Verdana"/>
                <a:cs typeface="Verdana"/>
              </a:rPr>
              <a:t>+</a:t>
            </a:r>
            <a:r>
              <a:rPr sz="2400" spc="-20" dirty="0">
                <a:latin typeface="Verdana"/>
                <a:cs typeface="Verdana"/>
              </a:rPr>
              <a:t> </a:t>
            </a:r>
            <a:r>
              <a:rPr sz="2400" spc="-10" dirty="0">
                <a:latin typeface="Verdana"/>
                <a:cs typeface="Verdana"/>
              </a:rPr>
              <a:t>3</a:t>
            </a:r>
            <a:r>
              <a:rPr sz="2400" spc="-10" dirty="0">
                <a:latin typeface="Cambria Math"/>
                <a:cs typeface="Cambria Math"/>
              </a:rPr>
              <a:t>𝝈</a:t>
            </a:r>
            <a:r>
              <a:rPr sz="2400" spc="-15" baseline="-20833" dirty="0">
                <a:latin typeface="Verdana"/>
                <a:cs typeface="Verdana"/>
              </a:rPr>
              <a:t>bot</a:t>
            </a:r>
            <a:r>
              <a:rPr sz="2400" spc="-10" dirty="0">
                <a:latin typeface="Verdana"/>
                <a:cs typeface="Verdana"/>
              </a:rPr>
              <a:t>)</a:t>
            </a:r>
            <a:endParaRPr sz="2400" dirty="0">
              <a:latin typeface="Verdana"/>
              <a:cs typeface="Verdana"/>
            </a:endParaRPr>
          </a:p>
        </p:txBody>
      </p:sp>
      <p:sp>
        <p:nvSpPr>
          <p:cNvPr id="13" name="object 13"/>
          <p:cNvSpPr txBox="1"/>
          <p:nvPr/>
        </p:nvSpPr>
        <p:spPr>
          <a:xfrm>
            <a:off x="1990598" y="4326890"/>
            <a:ext cx="316674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Verdana"/>
                <a:cs typeface="Verdana"/>
              </a:rPr>
              <a:t>Horizontal</a:t>
            </a:r>
            <a:r>
              <a:rPr sz="1600" spc="-30" dirty="0">
                <a:latin typeface="Verdana"/>
                <a:cs typeface="Verdana"/>
              </a:rPr>
              <a:t> </a:t>
            </a:r>
            <a:r>
              <a:rPr sz="1600" dirty="0">
                <a:latin typeface="Verdana"/>
                <a:cs typeface="Verdana"/>
              </a:rPr>
              <a:t>eye</a:t>
            </a:r>
            <a:r>
              <a:rPr sz="1600" spc="-40" dirty="0">
                <a:latin typeface="Verdana"/>
                <a:cs typeface="Verdana"/>
              </a:rPr>
              <a:t> </a:t>
            </a:r>
            <a:r>
              <a:rPr sz="1600" dirty="0">
                <a:latin typeface="Verdana"/>
                <a:cs typeface="Verdana"/>
              </a:rPr>
              <a:t>opening</a:t>
            </a:r>
            <a:r>
              <a:rPr sz="1600" spc="-30" dirty="0">
                <a:latin typeface="Verdana"/>
                <a:cs typeface="Verdana"/>
              </a:rPr>
              <a:t> </a:t>
            </a:r>
            <a:r>
              <a:rPr sz="1600" dirty="0">
                <a:latin typeface="Verdana"/>
                <a:cs typeface="Verdana"/>
              </a:rPr>
              <a:t>/</a:t>
            </a:r>
            <a:r>
              <a:rPr sz="1600" spc="-25" dirty="0">
                <a:latin typeface="Verdana"/>
                <a:cs typeface="Verdana"/>
              </a:rPr>
              <a:t> </a:t>
            </a:r>
            <a:r>
              <a:rPr sz="1600" spc="-10" dirty="0">
                <a:latin typeface="Verdana"/>
                <a:cs typeface="Verdana"/>
              </a:rPr>
              <a:t>width</a:t>
            </a:r>
            <a:endParaRPr sz="1600" dirty="0">
              <a:latin typeface="Verdana"/>
              <a:cs typeface="Verdana"/>
            </a:endParaRPr>
          </a:p>
        </p:txBody>
      </p:sp>
      <p:sp>
        <p:nvSpPr>
          <p:cNvPr id="14" name="object 14"/>
          <p:cNvSpPr/>
          <p:nvPr/>
        </p:nvSpPr>
        <p:spPr>
          <a:xfrm>
            <a:off x="5225903" y="1811273"/>
            <a:ext cx="133350" cy="1604010"/>
          </a:xfrm>
          <a:custGeom>
            <a:avLst/>
            <a:gdLst/>
            <a:ahLst/>
            <a:cxnLst/>
            <a:rect l="l" t="t" r="r" b="b"/>
            <a:pathLst>
              <a:path w="133350" h="1604010">
                <a:moveTo>
                  <a:pt x="133135" y="245185"/>
                </a:moveTo>
                <a:lnTo>
                  <a:pt x="132480" y="237743"/>
                </a:lnTo>
                <a:lnTo>
                  <a:pt x="66948" y="0"/>
                </a:lnTo>
                <a:lnTo>
                  <a:pt x="654" y="237743"/>
                </a:lnTo>
                <a:lnTo>
                  <a:pt x="0" y="245185"/>
                </a:lnTo>
                <a:lnTo>
                  <a:pt x="2274" y="252126"/>
                </a:lnTo>
                <a:lnTo>
                  <a:pt x="6977" y="257782"/>
                </a:lnTo>
                <a:lnTo>
                  <a:pt x="13608" y="261365"/>
                </a:lnTo>
                <a:lnTo>
                  <a:pt x="21371" y="261687"/>
                </a:lnTo>
                <a:lnTo>
                  <a:pt x="28277" y="259365"/>
                </a:lnTo>
                <a:lnTo>
                  <a:pt x="33754" y="254615"/>
                </a:lnTo>
                <a:lnTo>
                  <a:pt x="37230" y="247649"/>
                </a:lnTo>
                <a:lnTo>
                  <a:pt x="47898" y="209550"/>
                </a:lnTo>
                <a:lnTo>
                  <a:pt x="47898" y="71627"/>
                </a:lnTo>
                <a:lnTo>
                  <a:pt x="85998" y="71627"/>
                </a:lnTo>
                <a:lnTo>
                  <a:pt x="85998" y="212271"/>
                </a:lnTo>
                <a:lnTo>
                  <a:pt x="95904" y="247649"/>
                </a:lnTo>
                <a:lnTo>
                  <a:pt x="99381" y="254615"/>
                </a:lnTo>
                <a:lnTo>
                  <a:pt x="104858" y="259365"/>
                </a:lnTo>
                <a:lnTo>
                  <a:pt x="111763" y="261687"/>
                </a:lnTo>
                <a:lnTo>
                  <a:pt x="119526" y="261365"/>
                </a:lnTo>
                <a:lnTo>
                  <a:pt x="126158" y="257782"/>
                </a:lnTo>
                <a:lnTo>
                  <a:pt x="130861" y="252126"/>
                </a:lnTo>
                <a:lnTo>
                  <a:pt x="133135" y="245185"/>
                </a:lnTo>
                <a:close/>
              </a:path>
              <a:path w="133350" h="1604010">
                <a:moveTo>
                  <a:pt x="66567" y="1461135"/>
                </a:moveTo>
                <a:lnTo>
                  <a:pt x="37230" y="1356359"/>
                </a:lnTo>
                <a:lnTo>
                  <a:pt x="33754" y="1349728"/>
                </a:lnTo>
                <a:lnTo>
                  <a:pt x="28277" y="1345025"/>
                </a:lnTo>
                <a:lnTo>
                  <a:pt x="21371" y="1342751"/>
                </a:lnTo>
                <a:lnTo>
                  <a:pt x="13608" y="1343405"/>
                </a:lnTo>
                <a:lnTo>
                  <a:pt x="6977" y="1346549"/>
                </a:lnTo>
                <a:lnTo>
                  <a:pt x="2274" y="1351978"/>
                </a:lnTo>
                <a:lnTo>
                  <a:pt x="0" y="1358836"/>
                </a:lnTo>
                <a:lnTo>
                  <a:pt x="654" y="1366265"/>
                </a:lnTo>
                <a:lnTo>
                  <a:pt x="47898" y="1535692"/>
                </a:lnTo>
                <a:lnTo>
                  <a:pt x="47898" y="1527810"/>
                </a:lnTo>
                <a:lnTo>
                  <a:pt x="66567" y="1461135"/>
                </a:lnTo>
                <a:close/>
              </a:path>
              <a:path w="133350" h="1604010">
                <a:moveTo>
                  <a:pt x="85998" y="212271"/>
                </a:moveTo>
                <a:lnTo>
                  <a:pt x="85998" y="71627"/>
                </a:lnTo>
                <a:lnTo>
                  <a:pt x="47898" y="71627"/>
                </a:lnTo>
                <a:lnTo>
                  <a:pt x="47898" y="76199"/>
                </a:lnTo>
                <a:lnTo>
                  <a:pt x="85236" y="76199"/>
                </a:lnTo>
                <a:lnTo>
                  <a:pt x="85236" y="209549"/>
                </a:lnTo>
                <a:lnTo>
                  <a:pt x="85998" y="212271"/>
                </a:lnTo>
                <a:close/>
              </a:path>
              <a:path w="133350" h="1604010">
                <a:moveTo>
                  <a:pt x="85236" y="76199"/>
                </a:moveTo>
                <a:lnTo>
                  <a:pt x="47898" y="76199"/>
                </a:lnTo>
                <a:lnTo>
                  <a:pt x="66567" y="142874"/>
                </a:lnTo>
                <a:lnTo>
                  <a:pt x="85236" y="76199"/>
                </a:lnTo>
                <a:close/>
              </a:path>
              <a:path w="133350" h="1604010">
                <a:moveTo>
                  <a:pt x="66567" y="142874"/>
                </a:moveTo>
                <a:lnTo>
                  <a:pt x="47898" y="76199"/>
                </a:lnTo>
                <a:lnTo>
                  <a:pt x="47898" y="209550"/>
                </a:lnTo>
                <a:lnTo>
                  <a:pt x="66567" y="142874"/>
                </a:lnTo>
                <a:close/>
              </a:path>
              <a:path w="133350" h="1604010">
                <a:moveTo>
                  <a:pt x="85998" y="1391738"/>
                </a:moveTo>
                <a:lnTo>
                  <a:pt x="85998" y="212271"/>
                </a:lnTo>
                <a:lnTo>
                  <a:pt x="66567" y="142874"/>
                </a:lnTo>
                <a:lnTo>
                  <a:pt x="47898" y="209550"/>
                </a:lnTo>
                <a:lnTo>
                  <a:pt x="47898" y="1394459"/>
                </a:lnTo>
                <a:lnTo>
                  <a:pt x="66567" y="1461135"/>
                </a:lnTo>
                <a:lnTo>
                  <a:pt x="85998" y="1391738"/>
                </a:lnTo>
                <a:close/>
              </a:path>
              <a:path w="133350" h="1604010">
                <a:moveTo>
                  <a:pt x="85236" y="1527810"/>
                </a:moveTo>
                <a:lnTo>
                  <a:pt x="66567" y="1461135"/>
                </a:lnTo>
                <a:lnTo>
                  <a:pt x="47898" y="1527810"/>
                </a:lnTo>
                <a:lnTo>
                  <a:pt x="85236" y="1527810"/>
                </a:lnTo>
                <a:close/>
              </a:path>
              <a:path w="133350" h="1604010">
                <a:moveTo>
                  <a:pt x="85236" y="1533143"/>
                </a:moveTo>
                <a:lnTo>
                  <a:pt x="85236" y="1527810"/>
                </a:lnTo>
                <a:lnTo>
                  <a:pt x="47898" y="1527810"/>
                </a:lnTo>
                <a:lnTo>
                  <a:pt x="47898" y="1533143"/>
                </a:lnTo>
                <a:lnTo>
                  <a:pt x="85236" y="1533143"/>
                </a:lnTo>
                <a:close/>
              </a:path>
              <a:path w="133350" h="1604010">
                <a:moveTo>
                  <a:pt x="85998" y="1534898"/>
                </a:moveTo>
                <a:lnTo>
                  <a:pt x="85998" y="1533143"/>
                </a:lnTo>
                <a:lnTo>
                  <a:pt x="47898" y="1533143"/>
                </a:lnTo>
                <a:lnTo>
                  <a:pt x="47898" y="1535692"/>
                </a:lnTo>
                <a:lnTo>
                  <a:pt x="66948" y="1604010"/>
                </a:lnTo>
                <a:lnTo>
                  <a:pt x="85998" y="1534898"/>
                </a:lnTo>
                <a:close/>
              </a:path>
              <a:path w="133350" h="1604010">
                <a:moveTo>
                  <a:pt x="85236" y="209549"/>
                </a:moveTo>
                <a:lnTo>
                  <a:pt x="85236" y="76199"/>
                </a:lnTo>
                <a:lnTo>
                  <a:pt x="66567" y="142874"/>
                </a:lnTo>
                <a:lnTo>
                  <a:pt x="85236" y="209549"/>
                </a:lnTo>
                <a:close/>
              </a:path>
              <a:path w="133350" h="1604010">
                <a:moveTo>
                  <a:pt x="133135" y="1358836"/>
                </a:moveTo>
                <a:lnTo>
                  <a:pt x="130861" y="1351978"/>
                </a:lnTo>
                <a:lnTo>
                  <a:pt x="126158" y="1346549"/>
                </a:lnTo>
                <a:lnTo>
                  <a:pt x="119526" y="1343405"/>
                </a:lnTo>
                <a:lnTo>
                  <a:pt x="111763" y="1342751"/>
                </a:lnTo>
                <a:lnTo>
                  <a:pt x="104858" y="1345025"/>
                </a:lnTo>
                <a:lnTo>
                  <a:pt x="99381" y="1349728"/>
                </a:lnTo>
                <a:lnTo>
                  <a:pt x="95904" y="1356359"/>
                </a:lnTo>
                <a:lnTo>
                  <a:pt x="66567" y="1461135"/>
                </a:lnTo>
                <a:lnTo>
                  <a:pt x="85236" y="1527810"/>
                </a:lnTo>
                <a:lnTo>
                  <a:pt x="85236" y="1533143"/>
                </a:lnTo>
                <a:lnTo>
                  <a:pt x="85998" y="1533143"/>
                </a:lnTo>
                <a:lnTo>
                  <a:pt x="85998" y="1534898"/>
                </a:lnTo>
                <a:lnTo>
                  <a:pt x="132480" y="1366265"/>
                </a:lnTo>
                <a:lnTo>
                  <a:pt x="133135" y="1358836"/>
                </a:lnTo>
                <a:close/>
              </a:path>
            </a:pathLst>
          </a:custGeom>
          <a:solidFill>
            <a:srgbClr val="000000"/>
          </a:solidFill>
        </p:spPr>
        <p:txBody>
          <a:bodyPr wrap="square" lIns="0" tIns="0" rIns="0" bIns="0" rtlCol="0"/>
          <a:lstStyle/>
          <a:p>
            <a:endParaRPr/>
          </a:p>
        </p:txBody>
      </p:sp>
      <p:sp>
        <p:nvSpPr>
          <p:cNvPr id="15" name="object 15"/>
          <p:cNvSpPr/>
          <p:nvPr/>
        </p:nvSpPr>
        <p:spPr>
          <a:xfrm>
            <a:off x="4208907" y="2583942"/>
            <a:ext cx="0" cy="1686560"/>
          </a:xfrm>
          <a:custGeom>
            <a:avLst/>
            <a:gdLst/>
            <a:ahLst/>
            <a:cxnLst/>
            <a:rect l="l" t="t" r="r" b="b"/>
            <a:pathLst>
              <a:path h="1686560">
                <a:moveTo>
                  <a:pt x="0" y="0"/>
                </a:moveTo>
                <a:lnTo>
                  <a:pt x="0" y="1686305"/>
                </a:lnTo>
              </a:path>
            </a:pathLst>
          </a:custGeom>
          <a:ln w="28194">
            <a:solidFill>
              <a:srgbClr val="FFBF00"/>
            </a:solidFill>
            <a:prstDash val="sysDash"/>
          </a:ln>
        </p:spPr>
        <p:txBody>
          <a:bodyPr wrap="square" lIns="0" tIns="0" rIns="0" bIns="0" rtlCol="0"/>
          <a:lstStyle/>
          <a:p>
            <a:endParaRPr/>
          </a:p>
        </p:txBody>
      </p:sp>
      <p:sp>
        <p:nvSpPr>
          <p:cNvPr id="16" name="object 16"/>
          <p:cNvSpPr txBox="1"/>
          <p:nvPr/>
        </p:nvSpPr>
        <p:spPr>
          <a:xfrm>
            <a:off x="5451271" y="2057996"/>
            <a:ext cx="516890" cy="1040130"/>
          </a:xfrm>
          <a:prstGeom prst="rect">
            <a:avLst/>
          </a:prstGeom>
        </p:spPr>
        <p:txBody>
          <a:bodyPr vert="vert270" wrap="square" lIns="0" tIns="13970" rIns="0" bIns="0" rtlCol="0">
            <a:spAutoFit/>
          </a:bodyPr>
          <a:lstStyle/>
          <a:p>
            <a:pPr marL="12700" marR="5080" indent="287020">
              <a:lnSpc>
                <a:spcPct val="100000"/>
              </a:lnSpc>
              <a:spcBef>
                <a:spcPts val="110"/>
              </a:spcBef>
            </a:pPr>
            <a:r>
              <a:rPr sz="1600" spc="-25" dirty="0">
                <a:latin typeface="Verdana"/>
                <a:cs typeface="Verdana"/>
              </a:rPr>
              <a:t>Eye </a:t>
            </a:r>
            <a:r>
              <a:rPr sz="1600" spc="-10" dirty="0">
                <a:latin typeface="Verdana"/>
                <a:cs typeface="Verdana"/>
              </a:rPr>
              <a:t>amplitude</a:t>
            </a:r>
            <a:endParaRPr sz="1600" dirty="0">
              <a:latin typeface="Verdana"/>
              <a:cs typeface="Verdana"/>
            </a:endParaRPr>
          </a:p>
        </p:txBody>
      </p:sp>
      <p:sp>
        <p:nvSpPr>
          <p:cNvPr id="17" name="object 17"/>
          <p:cNvSpPr txBox="1"/>
          <p:nvPr/>
        </p:nvSpPr>
        <p:spPr>
          <a:xfrm>
            <a:off x="495223" y="1773532"/>
            <a:ext cx="516890" cy="1712595"/>
          </a:xfrm>
          <a:prstGeom prst="rect">
            <a:avLst/>
          </a:prstGeom>
        </p:spPr>
        <p:txBody>
          <a:bodyPr vert="vert270" wrap="square" lIns="0" tIns="13970" rIns="0" bIns="0" rtlCol="0">
            <a:spAutoFit/>
          </a:bodyPr>
          <a:lstStyle/>
          <a:p>
            <a:pPr marL="12700" marR="5080" indent="283845">
              <a:lnSpc>
                <a:spcPct val="100000"/>
              </a:lnSpc>
              <a:spcBef>
                <a:spcPts val="110"/>
              </a:spcBef>
            </a:pPr>
            <a:r>
              <a:rPr sz="1600" dirty="0">
                <a:latin typeface="Verdana"/>
                <a:cs typeface="Verdana"/>
              </a:rPr>
              <a:t>Vertical</a:t>
            </a:r>
            <a:r>
              <a:rPr sz="1600" spc="-140" dirty="0">
                <a:latin typeface="Verdana"/>
                <a:cs typeface="Verdana"/>
              </a:rPr>
              <a:t> </a:t>
            </a:r>
            <a:r>
              <a:rPr sz="1600" spc="-25" dirty="0">
                <a:latin typeface="Verdana"/>
                <a:cs typeface="Verdana"/>
              </a:rPr>
              <a:t>eye </a:t>
            </a:r>
            <a:r>
              <a:rPr sz="1600" dirty="0">
                <a:latin typeface="Verdana"/>
                <a:cs typeface="Verdana"/>
              </a:rPr>
              <a:t>opening</a:t>
            </a:r>
            <a:r>
              <a:rPr sz="1600" spc="-15" dirty="0">
                <a:latin typeface="Verdana"/>
                <a:cs typeface="Verdana"/>
              </a:rPr>
              <a:t> </a:t>
            </a:r>
            <a:r>
              <a:rPr sz="1600" dirty="0">
                <a:latin typeface="Verdana"/>
                <a:cs typeface="Verdana"/>
              </a:rPr>
              <a:t>/</a:t>
            </a:r>
            <a:r>
              <a:rPr sz="1600" spc="-15" dirty="0">
                <a:latin typeface="Verdana"/>
                <a:cs typeface="Verdana"/>
              </a:rPr>
              <a:t> </a:t>
            </a:r>
            <a:r>
              <a:rPr sz="1600" spc="-10" dirty="0">
                <a:latin typeface="Verdana"/>
                <a:cs typeface="Verdana"/>
              </a:rPr>
              <a:t>height</a:t>
            </a:r>
            <a:endParaRPr sz="1600" dirty="0">
              <a:latin typeface="Verdana"/>
              <a:cs typeface="Verdana"/>
            </a:endParaRPr>
          </a:p>
        </p:txBody>
      </p:sp>
      <p:pic>
        <p:nvPicPr>
          <p:cNvPr id="18" name="object 18"/>
          <p:cNvPicPr/>
          <p:nvPr/>
        </p:nvPicPr>
        <p:blipFill>
          <a:blip r:embed="rId3" cstate="print"/>
          <a:stretch>
            <a:fillRect/>
          </a:stretch>
        </p:blipFill>
        <p:spPr>
          <a:xfrm>
            <a:off x="7248143" y="2859023"/>
            <a:ext cx="906780" cy="1206246"/>
          </a:xfrm>
          <a:prstGeom prst="rect">
            <a:avLst/>
          </a:prstGeom>
        </p:spPr>
      </p:pic>
      <p:pic>
        <p:nvPicPr>
          <p:cNvPr id="19" name="object 19"/>
          <p:cNvPicPr/>
          <p:nvPr/>
        </p:nvPicPr>
        <p:blipFill>
          <a:blip r:embed="rId4" cstate="print"/>
          <a:stretch>
            <a:fillRect/>
          </a:stretch>
        </p:blipFill>
        <p:spPr>
          <a:xfrm>
            <a:off x="7281671" y="1180338"/>
            <a:ext cx="906780" cy="1205483"/>
          </a:xfrm>
          <a:prstGeom prst="rect">
            <a:avLst/>
          </a:prstGeom>
        </p:spPr>
      </p:pic>
      <p:grpSp>
        <p:nvGrpSpPr>
          <p:cNvPr id="20" name="object 20"/>
          <p:cNvGrpSpPr/>
          <p:nvPr/>
        </p:nvGrpSpPr>
        <p:grpSpPr>
          <a:xfrm>
            <a:off x="8557259" y="2620517"/>
            <a:ext cx="1206500" cy="2159635"/>
            <a:chOff x="8557259" y="2620517"/>
            <a:chExt cx="1206500" cy="2159635"/>
          </a:xfrm>
        </p:grpSpPr>
        <p:pic>
          <p:nvPicPr>
            <p:cNvPr id="21" name="object 21"/>
            <p:cNvPicPr/>
            <p:nvPr/>
          </p:nvPicPr>
          <p:blipFill>
            <a:blip r:embed="rId5" cstate="print"/>
            <a:stretch>
              <a:fillRect/>
            </a:stretch>
          </p:blipFill>
          <p:spPr>
            <a:xfrm>
              <a:off x="8557259" y="3873245"/>
              <a:ext cx="1206246" cy="906780"/>
            </a:xfrm>
            <a:prstGeom prst="rect">
              <a:avLst/>
            </a:prstGeom>
          </p:spPr>
        </p:pic>
        <p:sp>
          <p:nvSpPr>
            <p:cNvPr id="22" name="object 22"/>
            <p:cNvSpPr/>
            <p:nvPr/>
          </p:nvSpPr>
          <p:spPr>
            <a:xfrm>
              <a:off x="9129521" y="4592573"/>
              <a:ext cx="28575" cy="85725"/>
            </a:xfrm>
            <a:custGeom>
              <a:avLst/>
              <a:gdLst/>
              <a:ahLst/>
              <a:cxnLst/>
              <a:rect l="l" t="t" r="r" b="b"/>
              <a:pathLst>
                <a:path w="28575" h="85725">
                  <a:moveTo>
                    <a:pt x="28194" y="85344"/>
                  </a:moveTo>
                  <a:lnTo>
                    <a:pt x="28194" y="0"/>
                  </a:lnTo>
                  <a:lnTo>
                    <a:pt x="0" y="0"/>
                  </a:lnTo>
                  <a:lnTo>
                    <a:pt x="0" y="85344"/>
                  </a:lnTo>
                  <a:lnTo>
                    <a:pt x="28194" y="85344"/>
                  </a:lnTo>
                  <a:close/>
                </a:path>
              </a:pathLst>
            </a:custGeom>
            <a:solidFill>
              <a:srgbClr val="FFBF00"/>
            </a:solidFill>
          </p:spPr>
          <p:txBody>
            <a:bodyPr wrap="square" lIns="0" tIns="0" rIns="0" bIns="0" rtlCol="0"/>
            <a:lstStyle/>
            <a:p>
              <a:endParaRPr/>
            </a:p>
          </p:txBody>
        </p:sp>
        <p:sp>
          <p:nvSpPr>
            <p:cNvPr id="23" name="object 23"/>
            <p:cNvSpPr/>
            <p:nvPr/>
          </p:nvSpPr>
          <p:spPr>
            <a:xfrm>
              <a:off x="9143618" y="2649473"/>
              <a:ext cx="0" cy="1914525"/>
            </a:xfrm>
            <a:custGeom>
              <a:avLst/>
              <a:gdLst/>
              <a:ahLst/>
              <a:cxnLst/>
              <a:rect l="l" t="t" r="r" b="b"/>
              <a:pathLst>
                <a:path h="1914525">
                  <a:moveTo>
                    <a:pt x="0" y="0"/>
                  </a:moveTo>
                  <a:lnTo>
                    <a:pt x="0" y="1914143"/>
                  </a:lnTo>
                </a:path>
              </a:pathLst>
            </a:custGeom>
            <a:ln w="28194">
              <a:solidFill>
                <a:srgbClr val="FFBF00"/>
              </a:solidFill>
              <a:prstDash val="sysDash"/>
            </a:ln>
          </p:spPr>
          <p:txBody>
            <a:bodyPr wrap="square" lIns="0" tIns="0" rIns="0" bIns="0" rtlCol="0"/>
            <a:lstStyle/>
            <a:p>
              <a:endParaRPr/>
            </a:p>
          </p:txBody>
        </p:sp>
        <p:sp>
          <p:nvSpPr>
            <p:cNvPr id="24" name="object 24"/>
            <p:cNvSpPr/>
            <p:nvPr/>
          </p:nvSpPr>
          <p:spPr>
            <a:xfrm>
              <a:off x="9129521" y="2620517"/>
              <a:ext cx="28575" cy="1270"/>
            </a:xfrm>
            <a:custGeom>
              <a:avLst/>
              <a:gdLst/>
              <a:ahLst/>
              <a:cxnLst/>
              <a:rect l="l" t="t" r="r" b="b"/>
              <a:pathLst>
                <a:path w="28575" h="1269">
                  <a:moveTo>
                    <a:pt x="28194" y="761"/>
                  </a:moveTo>
                  <a:lnTo>
                    <a:pt x="28194" y="0"/>
                  </a:lnTo>
                  <a:lnTo>
                    <a:pt x="0" y="0"/>
                  </a:lnTo>
                  <a:lnTo>
                    <a:pt x="0" y="761"/>
                  </a:lnTo>
                  <a:lnTo>
                    <a:pt x="28194" y="761"/>
                  </a:lnTo>
                  <a:close/>
                </a:path>
              </a:pathLst>
            </a:custGeom>
            <a:solidFill>
              <a:srgbClr val="FFBF00"/>
            </a:solidFill>
          </p:spPr>
          <p:txBody>
            <a:bodyPr wrap="square" lIns="0" tIns="0" rIns="0" bIns="0" rtlCol="0"/>
            <a:lstStyle/>
            <a:p>
              <a:endParaRPr/>
            </a:p>
          </p:txBody>
        </p:sp>
      </p:grpSp>
      <p:grpSp>
        <p:nvGrpSpPr>
          <p:cNvPr id="25" name="object 25"/>
          <p:cNvGrpSpPr/>
          <p:nvPr/>
        </p:nvGrpSpPr>
        <p:grpSpPr>
          <a:xfrm>
            <a:off x="10070592" y="2631185"/>
            <a:ext cx="1206500" cy="2148840"/>
            <a:chOff x="10070592" y="2631185"/>
            <a:chExt cx="1206500" cy="2148840"/>
          </a:xfrm>
        </p:grpSpPr>
        <p:pic>
          <p:nvPicPr>
            <p:cNvPr id="26" name="object 26"/>
            <p:cNvPicPr/>
            <p:nvPr/>
          </p:nvPicPr>
          <p:blipFill>
            <a:blip r:embed="rId6" cstate="print"/>
            <a:stretch>
              <a:fillRect/>
            </a:stretch>
          </p:blipFill>
          <p:spPr>
            <a:xfrm>
              <a:off x="10070592" y="3873246"/>
              <a:ext cx="1206246" cy="906780"/>
            </a:xfrm>
            <a:prstGeom prst="rect">
              <a:avLst/>
            </a:prstGeom>
          </p:spPr>
        </p:pic>
        <p:sp>
          <p:nvSpPr>
            <p:cNvPr id="27" name="object 27"/>
            <p:cNvSpPr/>
            <p:nvPr/>
          </p:nvSpPr>
          <p:spPr>
            <a:xfrm>
              <a:off x="10626090" y="4603242"/>
              <a:ext cx="29209" cy="82550"/>
            </a:xfrm>
            <a:custGeom>
              <a:avLst/>
              <a:gdLst/>
              <a:ahLst/>
              <a:cxnLst/>
              <a:rect l="l" t="t" r="r" b="b"/>
              <a:pathLst>
                <a:path w="29209" h="82550">
                  <a:moveTo>
                    <a:pt x="0" y="82296"/>
                  </a:moveTo>
                  <a:lnTo>
                    <a:pt x="28955" y="82296"/>
                  </a:lnTo>
                  <a:lnTo>
                    <a:pt x="28955" y="0"/>
                  </a:lnTo>
                  <a:lnTo>
                    <a:pt x="0" y="0"/>
                  </a:lnTo>
                  <a:lnTo>
                    <a:pt x="0" y="82296"/>
                  </a:lnTo>
                  <a:close/>
                </a:path>
              </a:pathLst>
            </a:custGeom>
            <a:solidFill>
              <a:srgbClr val="FFBF00"/>
            </a:solidFill>
          </p:spPr>
          <p:txBody>
            <a:bodyPr wrap="square" lIns="0" tIns="0" rIns="0" bIns="0" rtlCol="0"/>
            <a:lstStyle/>
            <a:p>
              <a:endParaRPr/>
            </a:p>
          </p:txBody>
        </p:sp>
        <p:sp>
          <p:nvSpPr>
            <p:cNvPr id="28" name="object 28"/>
            <p:cNvSpPr/>
            <p:nvPr/>
          </p:nvSpPr>
          <p:spPr>
            <a:xfrm>
              <a:off x="10640568" y="2660142"/>
              <a:ext cx="0" cy="1914525"/>
            </a:xfrm>
            <a:custGeom>
              <a:avLst/>
              <a:gdLst/>
              <a:ahLst/>
              <a:cxnLst/>
              <a:rect l="l" t="t" r="r" b="b"/>
              <a:pathLst>
                <a:path h="1914525">
                  <a:moveTo>
                    <a:pt x="0" y="0"/>
                  </a:moveTo>
                  <a:lnTo>
                    <a:pt x="0" y="1914144"/>
                  </a:lnTo>
                </a:path>
              </a:pathLst>
            </a:custGeom>
            <a:ln w="28955">
              <a:solidFill>
                <a:srgbClr val="FFBF00"/>
              </a:solidFill>
              <a:prstDash val="sysDash"/>
            </a:ln>
          </p:spPr>
          <p:txBody>
            <a:bodyPr wrap="square" lIns="0" tIns="0" rIns="0" bIns="0" rtlCol="0"/>
            <a:lstStyle/>
            <a:p>
              <a:endParaRPr/>
            </a:p>
          </p:txBody>
        </p:sp>
        <p:sp>
          <p:nvSpPr>
            <p:cNvPr id="29" name="object 29"/>
            <p:cNvSpPr/>
            <p:nvPr/>
          </p:nvSpPr>
          <p:spPr>
            <a:xfrm>
              <a:off x="10626090" y="2631185"/>
              <a:ext cx="29209" cy="1270"/>
            </a:xfrm>
            <a:custGeom>
              <a:avLst/>
              <a:gdLst/>
              <a:ahLst/>
              <a:cxnLst/>
              <a:rect l="l" t="t" r="r" b="b"/>
              <a:pathLst>
                <a:path w="29209" h="1269">
                  <a:moveTo>
                    <a:pt x="28955" y="762"/>
                  </a:moveTo>
                  <a:lnTo>
                    <a:pt x="28955" y="0"/>
                  </a:lnTo>
                  <a:lnTo>
                    <a:pt x="0" y="0"/>
                  </a:lnTo>
                  <a:lnTo>
                    <a:pt x="0" y="762"/>
                  </a:lnTo>
                  <a:lnTo>
                    <a:pt x="28955" y="762"/>
                  </a:lnTo>
                  <a:close/>
                </a:path>
              </a:pathLst>
            </a:custGeom>
            <a:solidFill>
              <a:srgbClr val="FFBF00"/>
            </a:solidFill>
          </p:spPr>
          <p:txBody>
            <a:bodyPr wrap="square" lIns="0" tIns="0" rIns="0" bIns="0" rtlCol="0"/>
            <a:lstStyle/>
            <a:p>
              <a:endParaRPr/>
            </a:p>
          </p:txBody>
        </p:sp>
      </p:grpSp>
      <p:sp>
        <p:nvSpPr>
          <p:cNvPr id="30" name="object 30"/>
          <p:cNvSpPr txBox="1"/>
          <p:nvPr/>
        </p:nvSpPr>
        <p:spPr>
          <a:xfrm>
            <a:off x="8772143" y="4771135"/>
            <a:ext cx="724535" cy="330200"/>
          </a:xfrm>
          <a:prstGeom prst="rect">
            <a:avLst/>
          </a:prstGeom>
        </p:spPr>
        <p:txBody>
          <a:bodyPr vert="horz" wrap="square" lIns="0" tIns="12065" rIns="0" bIns="0" rtlCol="0">
            <a:spAutoFit/>
          </a:bodyPr>
          <a:lstStyle/>
          <a:p>
            <a:pPr marL="38100">
              <a:lnSpc>
                <a:spcPct val="100000"/>
              </a:lnSpc>
              <a:spcBef>
                <a:spcPts val="95"/>
              </a:spcBef>
            </a:pPr>
            <a:r>
              <a:rPr sz="3000" i="1" spc="-15" baseline="13888" dirty="0">
                <a:latin typeface="Verdana"/>
                <a:cs typeface="Verdana"/>
              </a:rPr>
              <a:t>t</a:t>
            </a:r>
            <a:r>
              <a:rPr sz="1300" spc="-10" dirty="0">
                <a:latin typeface="Verdana"/>
                <a:cs typeface="Verdana"/>
              </a:rPr>
              <a:t>cross1</a:t>
            </a:r>
            <a:endParaRPr sz="1300">
              <a:latin typeface="Verdana"/>
              <a:cs typeface="Verdana"/>
            </a:endParaRPr>
          </a:p>
        </p:txBody>
      </p:sp>
      <p:sp>
        <p:nvSpPr>
          <p:cNvPr id="31" name="object 31"/>
          <p:cNvSpPr txBox="1"/>
          <p:nvPr/>
        </p:nvSpPr>
        <p:spPr>
          <a:xfrm>
            <a:off x="10289285" y="4779517"/>
            <a:ext cx="724535" cy="330200"/>
          </a:xfrm>
          <a:prstGeom prst="rect">
            <a:avLst/>
          </a:prstGeom>
        </p:spPr>
        <p:txBody>
          <a:bodyPr vert="horz" wrap="square" lIns="0" tIns="12065" rIns="0" bIns="0" rtlCol="0">
            <a:spAutoFit/>
          </a:bodyPr>
          <a:lstStyle/>
          <a:p>
            <a:pPr marL="38100">
              <a:lnSpc>
                <a:spcPct val="100000"/>
              </a:lnSpc>
              <a:spcBef>
                <a:spcPts val="95"/>
              </a:spcBef>
            </a:pPr>
            <a:r>
              <a:rPr sz="3000" i="1" spc="-15" baseline="13888" dirty="0">
                <a:latin typeface="Verdana"/>
                <a:cs typeface="Verdana"/>
              </a:rPr>
              <a:t>t</a:t>
            </a:r>
            <a:r>
              <a:rPr sz="1300" spc="-10" dirty="0">
                <a:latin typeface="Verdana"/>
                <a:cs typeface="Verdana"/>
              </a:rPr>
              <a:t>cross2</a:t>
            </a:r>
            <a:endParaRPr sz="1300">
              <a:latin typeface="Verdana"/>
              <a:cs typeface="Verdana"/>
            </a:endParaRPr>
          </a:p>
        </p:txBody>
      </p:sp>
      <p:sp>
        <p:nvSpPr>
          <p:cNvPr id="32" name="object 32"/>
          <p:cNvSpPr txBox="1"/>
          <p:nvPr/>
        </p:nvSpPr>
        <p:spPr>
          <a:xfrm>
            <a:off x="10962131" y="4288027"/>
            <a:ext cx="784860" cy="330200"/>
          </a:xfrm>
          <a:prstGeom prst="rect">
            <a:avLst/>
          </a:prstGeom>
        </p:spPr>
        <p:txBody>
          <a:bodyPr vert="horz" wrap="square" lIns="0" tIns="12065" rIns="0" bIns="0" rtlCol="0">
            <a:spAutoFit/>
          </a:bodyPr>
          <a:lstStyle/>
          <a:p>
            <a:pPr marL="38100">
              <a:lnSpc>
                <a:spcPct val="100000"/>
              </a:lnSpc>
              <a:spcBef>
                <a:spcPts val="95"/>
              </a:spcBef>
            </a:pPr>
            <a:r>
              <a:rPr sz="3000" spc="-15" baseline="13888" dirty="0">
                <a:latin typeface="Cambria Math"/>
                <a:cs typeface="Cambria Math"/>
              </a:rPr>
              <a:t>𝝈</a:t>
            </a:r>
            <a:r>
              <a:rPr sz="1300" spc="-10" dirty="0">
                <a:latin typeface="Verdana"/>
                <a:cs typeface="Verdana"/>
              </a:rPr>
              <a:t>cross2</a:t>
            </a:r>
            <a:endParaRPr sz="1300" dirty="0">
              <a:latin typeface="Verdana"/>
              <a:cs typeface="Verdana"/>
            </a:endParaRPr>
          </a:p>
        </p:txBody>
      </p:sp>
      <p:sp>
        <p:nvSpPr>
          <p:cNvPr id="33" name="object 33"/>
          <p:cNvSpPr txBox="1"/>
          <p:nvPr/>
        </p:nvSpPr>
        <p:spPr>
          <a:xfrm>
            <a:off x="8092440" y="4288027"/>
            <a:ext cx="784860" cy="330200"/>
          </a:xfrm>
          <a:prstGeom prst="rect">
            <a:avLst/>
          </a:prstGeom>
        </p:spPr>
        <p:txBody>
          <a:bodyPr vert="horz" wrap="square" lIns="0" tIns="12065" rIns="0" bIns="0" rtlCol="0">
            <a:spAutoFit/>
          </a:bodyPr>
          <a:lstStyle/>
          <a:p>
            <a:pPr marL="38100">
              <a:lnSpc>
                <a:spcPct val="100000"/>
              </a:lnSpc>
              <a:spcBef>
                <a:spcPts val="95"/>
              </a:spcBef>
            </a:pPr>
            <a:r>
              <a:rPr sz="3000" spc="-15" baseline="13888" dirty="0">
                <a:latin typeface="Cambria Math"/>
                <a:cs typeface="Cambria Math"/>
              </a:rPr>
              <a:t>𝝈</a:t>
            </a:r>
            <a:r>
              <a:rPr sz="1300" spc="-10" dirty="0">
                <a:latin typeface="Verdana"/>
                <a:cs typeface="Verdana"/>
              </a:rPr>
              <a:t>cross1</a:t>
            </a:r>
            <a:endParaRPr sz="1300">
              <a:latin typeface="Verdana"/>
              <a:cs typeface="Verdana"/>
            </a:endParaRPr>
          </a:p>
        </p:txBody>
      </p:sp>
      <p:sp>
        <p:nvSpPr>
          <p:cNvPr id="34" name="object 34"/>
          <p:cNvSpPr txBox="1"/>
          <p:nvPr/>
        </p:nvSpPr>
        <p:spPr>
          <a:xfrm>
            <a:off x="4762500" y="3104448"/>
            <a:ext cx="3501390" cy="719455"/>
          </a:xfrm>
          <a:prstGeom prst="rect">
            <a:avLst/>
          </a:prstGeom>
        </p:spPr>
        <p:txBody>
          <a:bodyPr vert="horz" wrap="square" lIns="0" tIns="72390" rIns="0" bIns="0" rtlCol="0">
            <a:spAutoFit/>
          </a:bodyPr>
          <a:lstStyle/>
          <a:p>
            <a:pPr algn="ctr">
              <a:lnSpc>
                <a:spcPct val="100000"/>
              </a:lnSpc>
              <a:spcBef>
                <a:spcPts val="570"/>
              </a:spcBef>
              <a:tabLst>
                <a:tab pos="1228090" algn="l"/>
                <a:tab pos="1390015" algn="l"/>
                <a:tab pos="1969135" algn="l"/>
                <a:tab pos="3424554" algn="l"/>
              </a:tabLst>
            </a:pPr>
            <a:r>
              <a:rPr sz="3000" i="1" u="heavy" baseline="13888" dirty="0">
                <a:uFill>
                  <a:solidFill>
                    <a:srgbClr val="FFBF00"/>
                  </a:solidFill>
                </a:uFill>
                <a:latin typeface="Verdana"/>
                <a:cs typeface="Verdana"/>
              </a:rPr>
              <a:t>	</a:t>
            </a:r>
            <a:r>
              <a:rPr sz="3000" i="1" baseline="13888" dirty="0">
                <a:latin typeface="Verdana"/>
                <a:cs typeface="Verdana"/>
              </a:rPr>
              <a:t>	</a:t>
            </a:r>
            <a:r>
              <a:rPr sz="3000" i="1" spc="-30" baseline="13888" dirty="0">
                <a:latin typeface="Verdana"/>
                <a:cs typeface="Verdana"/>
              </a:rPr>
              <a:t>V</a:t>
            </a:r>
            <a:r>
              <a:rPr sz="1300" spc="-20" dirty="0">
                <a:latin typeface="Verdana"/>
                <a:cs typeface="Verdana"/>
              </a:rPr>
              <a:t>bot</a:t>
            </a:r>
            <a:r>
              <a:rPr sz="1300" dirty="0">
                <a:latin typeface="Verdana"/>
                <a:cs typeface="Verdana"/>
              </a:rPr>
              <a:t>	</a:t>
            </a:r>
            <a:r>
              <a:rPr sz="1300" u="heavy" dirty="0">
                <a:uFill>
                  <a:solidFill>
                    <a:srgbClr val="FFBF00"/>
                  </a:solidFill>
                </a:uFill>
                <a:latin typeface="Verdana"/>
                <a:cs typeface="Verdana"/>
              </a:rPr>
              <a:t>	</a:t>
            </a:r>
            <a:endParaRPr sz="1300" dirty="0">
              <a:latin typeface="Verdana"/>
              <a:cs typeface="Verdana"/>
            </a:endParaRPr>
          </a:p>
          <a:p>
            <a:pPr marR="78740" algn="ctr">
              <a:lnSpc>
                <a:spcPct val="100000"/>
              </a:lnSpc>
              <a:spcBef>
                <a:spcPts val="430"/>
              </a:spcBef>
            </a:pPr>
            <a:r>
              <a:rPr sz="1800" spc="-10" dirty="0">
                <a:latin typeface="Verdana"/>
                <a:cs typeface="Verdana"/>
              </a:rPr>
              <a:t>(</a:t>
            </a:r>
            <a:r>
              <a:rPr sz="1800" i="1" spc="-10" dirty="0">
                <a:latin typeface="Verdana"/>
                <a:cs typeface="Verdana"/>
              </a:rPr>
              <a:t>µ</a:t>
            </a:r>
            <a:r>
              <a:rPr sz="1800" spc="-15" baseline="-20833" dirty="0">
                <a:latin typeface="Verdana"/>
                <a:cs typeface="Verdana"/>
              </a:rPr>
              <a:t>bot</a:t>
            </a:r>
            <a:r>
              <a:rPr sz="1800" spc="-10" dirty="0">
                <a:latin typeface="Verdana"/>
                <a:cs typeface="Verdana"/>
              </a:rPr>
              <a:t>)</a:t>
            </a:r>
            <a:endParaRPr sz="1800" dirty="0">
              <a:latin typeface="Verdana"/>
              <a:cs typeface="Verdana"/>
            </a:endParaRPr>
          </a:p>
        </p:txBody>
      </p:sp>
      <p:sp>
        <p:nvSpPr>
          <p:cNvPr id="35" name="object 35"/>
          <p:cNvSpPr txBox="1"/>
          <p:nvPr/>
        </p:nvSpPr>
        <p:spPr>
          <a:xfrm>
            <a:off x="4755896" y="935777"/>
            <a:ext cx="7236459" cy="1221740"/>
          </a:xfrm>
          <a:prstGeom prst="rect">
            <a:avLst/>
          </a:prstGeom>
        </p:spPr>
        <p:txBody>
          <a:bodyPr vert="horz" wrap="square" lIns="0" tIns="149225" rIns="0" bIns="0" rtlCol="0">
            <a:spAutoFit/>
          </a:bodyPr>
          <a:lstStyle/>
          <a:p>
            <a:pPr marL="3635375">
              <a:lnSpc>
                <a:spcPct val="100000"/>
              </a:lnSpc>
              <a:spcBef>
                <a:spcPts val="1175"/>
              </a:spcBef>
            </a:pPr>
            <a:r>
              <a:rPr sz="1800" dirty="0">
                <a:latin typeface="Verdana"/>
                <a:cs typeface="Verdana"/>
              </a:rPr>
              <a:t>Probability</a:t>
            </a:r>
            <a:r>
              <a:rPr sz="1800" spc="-65" dirty="0">
                <a:latin typeface="Verdana"/>
                <a:cs typeface="Verdana"/>
              </a:rPr>
              <a:t> </a:t>
            </a:r>
            <a:r>
              <a:rPr sz="1800" dirty="0">
                <a:latin typeface="Verdana"/>
                <a:cs typeface="Verdana"/>
              </a:rPr>
              <a:t>distribution</a:t>
            </a:r>
            <a:r>
              <a:rPr sz="1800" spc="-65" dirty="0">
                <a:latin typeface="Verdana"/>
                <a:cs typeface="Verdana"/>
              </a:rPr>
              <a:t> </a:t>
            </a:r>
            <a:r>
              <a:rPr sz="1800" dirty="0">
                <a:latin typeface="Verdana"/>
                <a:cs typeface="Verdana"/>
              </a:rPr>
              <a:t>of</a:t>
            </a:r>
            <a:r>
              <a:rPr sz="1800" spc="-70" dirty="0">
                <a:latin typeface="Verdana"/>
                <a:cs typeface="Verdana"/>
              </a:rPr>
              <a:t> </a:t>
            </a:r>
            <a:r>
              <a:rPr sz="1800" spc="-20" dirty="0">
                <a:latin typeface="Verdana"/>
                <a:cs typeface="Verdana"/>
              </a:rPr>
              <a:t>noise</a:t>
            </a:r>
            <a:endParaRPr sz="1800" dirty="0">
              <a:latin typeface="Verdana"/>
              <a:cs typeface="Verdana"/>
            </a:endParaRPr>
          </a:p>
          <a:p>
            <a:pPr marR="3700145" algn="ctr">
              <a:lnSpc>
                <a:spcPct val="100000"/>
              </a:lnSpc>
              <a:spcBef>
                <a:spcPts val="1190"/>
              </a:spcBef>
              <a:tabLst>
                <a:tab pos="1228725" algn="l"/>
                <a:tab pos="1384300" algn="l"/>
                <a:tab pos="1971039" algn="l"/>
                <a:tab pos="3426460" algn="l"/>
              </a:tabLst>
            </a:pPr>
            <a:r>
              <a:rPr sz="3000" i="1" u="heavy" baseline="13888" dirty="0">
                <a:uFill>
                  <a:solidFill>
                    <a:srgbClr val="FFBF00"/>
                  </a:solidFill>
                </a:uFill>
                <a:latin typeface="Verdana"/>
                <a:cs typeface="Verdana"/>
              </a:rPr>
              <a:t>	</a:t>
            </a:r>
            <a:r>
              <a:rPr sz="3000" i="1" baseline="13888" dirty="0">
                <a:latin typeface="Verdana"/>
                <a:cs typeface="Verdana"/>
              </a:rPr>
              <a:t>	</a:t>
            </a:r>
            <a:r>
              <a:rPr sz="3000" i="1" spc="-30" baseline="13888" dirty="0">
                <a:latin typeface="Verdana"/>
                <a:cs typeface="Verdana"/>
              </a:rPr>
              <a:t>V</a:t>
            </a:r>
            <a:r>
              <a:rPr sz="1300" spc="-20" dirty="0">
                <a:latin typeface="Verdana"/>
                <a:cs typeface="Verdana"/>
              </a:rPr>
              <a:t>top</a:t>
            </a:r>
            <a:r>
              <a:rPr sz="1300" dirty="0">
                <a:latin typeface="Verdana"/>
                <a:cs typeface="Verdana"/>
              </a:rPr>
              <a:t>	</a:t>
            </a:r>
            <a:r>
              <a:rPr sz="1300" u="heavy" dirty="0">
                <a:uFill>
                  <a:solidFill>
                    <a:srgbClr val="FFBF00"/>
                  </a:solidFill>
                </a:uFill>
                <a:latin typeface="Verdana"/>
                <a:cs typeface="Verdana"/>
              </a:rPr>
              <a:t>	</a:t>
            </a:r>
            <a:endParaRPr sz="1300" dirty="0">
              <a:latin typeface="Verdana"/>
              <a:cs typeface="Verdana"/>
            </a:endParaRPr>
          </a:p>
          <a:p>
            <a:pPr marR="3779520" algn="ctr">
              <a:lnSpc>
                <a:spcPct val="100000"/>
              </a:lnSpc>
              <a:spcBef>
                <a:spcPts val="430"/>
              </a:spcBef>
            </a:pPr>
            <a:r>
              <a:rPr sz="1800" spc="-10" dirty="0">
                <a:latin typeface="Verdana"/>
                <a:cs typeface="Verdana"/>
              </a:rPr>
              <a:t>(</a:t>
            </a:r>
            <a:r>
              <a:rPr sz="1800" i="1" spc="-10" dirty="0">
                <a:latin typeface="Verdana"/>
                <a:cs typeface="Verdana"/>
              </a:rPr>
              <a:t>µ</a:t>
            </a:r>
            <a:r>
              <a:rPr sz="1800" spc="-15" baseline="-20833" dirty="0">
                <a:latin typeface="Verdana"/>
                <a:cs typeface="Verdana"/>
              </a:rPr>
              <a:t>top</a:t>
            </a:r>
            <a:r>
              <a:rPr sz="1800" spc="-10" dirty="0">
                <a:latin typeface="Verdana"/>
                <a:cs typeface="Verdana"/>
              </a:rPr>
              <a:t>)</a:t>
            </a:r>
            <a:endParaRPr sz="1800" dirty="0">
              <a:latin typeface="Verdana"/>
              <a:cs typeface="Verdana"/>
            </a:endParaRPr>
          </a:p>
        </p:txBody>
      </p:sp>
      <p:sp>
        <p:nvSpPr>
          <p:cNvPr id="36" name="object 36"/>
          <p:cNvSpPr/>
          <p:nvPr/>
        </p:nvSpPr>
        <p:spPr>
          <a:xfrm>
            <a:off x="7723631" y="1226058"/>
            <a:ext cx="561340" cy="291465"/>
          </a:xfrm>
          <a:custGeom>
            <a:avLst/>
            <a:gdLst/>
            <a:ahLst/>
            <a:cxnLst/>
            <a:rect l="l" t="t" r="r" b="b"/>
            <a:pathLst>
              <a:path w="561340" h="291465">
                <a:moveTo>
                  <a:pt x="44195" y="160019"/>
                </a:moveTo>
                <a:lnTo>
                  <a:pt x="42671" y="157733"/>
                </a:lnTo>
                <a:lnTo>
                  <a:pt x="40385" y="156971"/>
                </a:lnTo>
                <a:lnTo>
                  <a:pt x="37337" y="156209"/>
                </a:lnTo>
                <a:lnTo>
                  <a:pt x="35051" y="157733"/>
                </a:lnTo>
                <a:lnTo>
                  <a:pt x="34289" y="160781"/>
                </a:lnTo>
                <a:lnTo>
                  <a:pt x="0" y="291083"/>
                </a:lnTo>
                <a:lnTo>
                  <a:pt x="3809" y="288629"/>
                </a:lnTo>
                <a:lnTo>
                  <a:pt x="3809" y="277367"/>
                </a:lnTo>
                <a:lnTo>
                  <a:pt x="4571" y="276337"/>
                </a:lnTo>
                <a:lnTo>
                  <a:pt x="4571" y="275843"/>
                </a:lnTo>
                <a:lnTo>
                  <a:pt x="5256" y="275411"/>
                </a:lnTo>
                <a:lnTo>
                  <a:pt x="18445" y="257538"/>
                </a:lnTo>
                <a:lnTo>
                  <a:pt x="43433" y="163067"/>
                </a:lnTo>
                <a:lnTo>
                  <a:pt x="44195" y="160019"/>
                </a:lnTo>
                <a:close/>
              </a:path>
              <a:path w="561340" h="291465">
                <a:moveTo>
                  <a:pt x="27937" y="261069"/>
                </a:moveTo>
                <a:lnTo>
                  <a:pt x="15416" y="268986"/>
                </a:lnTo>
                <a:lnTo>
                  <a:pt x="12191" y="281177"/>
                </a:lnTo>
                <a:lnTo>
                  <a:pt x="4812" y="276012"/>
                </a:lnTo>
                <a:lnTo>
                  <a:pt x="3809" y="277367"/>
                </a:lnTo>
                <a:lnTo>
                  <a:pt x="11429" y="282701"/>
                </a:lnTo>
                <a:lnTo>
                  <a:pt x="24383" y="265937"/>
                </a:lnTo>
                <a:lnTo>
                  <a:pt x="27937" y="261069"/>
                </a:lnTo>
                <a:close/>
              </a:path>
              <a:path w="561340" h="291465">
                <a:moveTo>
                  <a:pt x="115823" y="216407"/>
                </a:moveTo>
                <a:lnTo>
                  <a:pt x="115823" y="213359"/>
                </a:lnTo>
                <a:lnTo>
                  <a:pt x="115061" y="211073"/>
                </a:lnTo>
                <a:lnTo>
                  <a:pt x="113537" y="209549"/>
                </a:lnTo>
                <a:lnTo>
                  <a:pt x="110489" y="208787"/>
                </a:lnTo>
                <a:lnTo>
                  <a:pt x="108203" y="210311"/>
                </a:lnTo>
                <a:lnTo>
                  <a:pt x="27937" y="261069"/>
                </a:lnTo>
                <a:lnTo>
                  <a:pt x="24383" y="265937"/>
                </a:lnTo>
                <a:lnTo>
                  <a:pt x="11429" y="282701"/>
                </a:lnTo>
                <a:lnTo>
                  <a:pt x="3809" y="277367"/>
                </a:lnTo>
                <a:lnTo>
                  <a:pt x="3809" y="288629"/>
                </a:lnTo>
                <a:lnTo>
                  <a:pt x="113537" y="217931"/>
                </a:lnTo>
                <a:lnTo>
                  <a:pt x="115823" y="216407"/>
                </a:lnTo>
                <a:close/>
              </a:path>
              <a:path w="561340" h="291465">
                <a:moveTo>
                  <a:pt x="5256" y="275411"/>
                </a:moveTo>
                <a:lnTo>
                  <a:pt x="4571" y="275843"/>
                </a:lnTo>
                <a:lnTo>
                  <a:pt x="4812" y="276012"/>
                </a:lnTo>
                <a:lnTo>
                  <a:pt x="5256" y="275411"/>
                </a:lnTo>
                <a:close/>
              </a:path>
              <a:path w="561340" h="291465">
                <a:moveTo>
                  <a:pt x="4812" y="276012"/>
                </a:moveTo>
                <a:lnTo>
                  <a:pt x="4571" y="275843"/>
                </a:lnTo>
                <a:lnTo>
                  <a:pt x="4571" y="276337"/>
                </a:lnTo>
                <a:lnTo>
                  <a:pt x="4812" y="276012"/>
                </a:lnTo>
                <a:close/>
              </a:path>
              <a:path w="561340" h="291465">
                <a:moveTo>
                  <a:pt x="15416" y="268986"/>
                </a:moveTo>
                <a:lnTo>
                  <a:pt x="5256" y="275411"/>
                </a:lnTo>
                <a:lnTo>
                  <a:pt x="4812" y="276012"/>
                </a:lnTo>
                <a:lnTo>
                  <a:pt x="12191" y="281177"/>
                </a:lnTo>
                <a:lnTo>
                  <a:pt x="15416" y="268986"/>
                </a:lnTo>
                <a:close/>
              </a:path>
              <a:path w="561340" h="291465">
                <a:moveTo>
                  <a:pt x="18445" y="257538"/>
                </a:moveTo>
                <a:lnTo>
                  <a:pt x="5256" y="275411"/>
                </a:lnTo>
                <a:lnTo>
                  <a:pt x="15416" y="268986"/>
                </a:lnTo>
                <a:lnTo>
                  <a:pt x="18445" y="257538"/>
                </a:lnTo>
                <a:close/>
              </a:path>
              <a:path w="561340" h="291465">
                <a:moveTo>
                  <a:pt x="560831" y="9905"/>
                </a:moveTo>
                <a:lnTo>
                  <a:pt x="559307" y="0"/>
                </a:lnTo>
                <a:lnTo>
                  <a:pt x="509777" y="7619"/>
                </a:lnTo>
                <a:lnTo>
                  <a:pt x="461009" y="16001"/>
                </a:lnTo>
                <a:lnTo>
                  <a:pt x="436625" y="19811"/>
                </a:lnTo>
                <a:lnTo>
                  <a:pt x="388619" y="28955"/>
                </a:lnTo>
                <a:lnTo>
                  <a:pt x="320039" y="44957"/>
                </a:lnTo>
                <a:lnTo>
                  <a:pt x="277367" y="57149"/>
                </a:lnTo>
                <a:lnTo>
                  <a:pt x="256793" y="64769"/>
                </a:lnTo>
                <a:lnTo>
                  <a:pt x="236981" y="71627"/>
                </a:lnTo>
                <a:lnTo>
                  <a:pt x="199643" y="88391"/>
                </a:lnTo>
                <a:lnTo>
                  <a:pt x="166115" y="108203"/>
                </a:lnTo>
                <a:lnTo>
                  <a:pt x="121919" y="140969"/>
                </a:lnTo>
                <a:lnTo>
                  <a:pt x="70865" y="191261"/>
                </a:lnTo>
                <a:lnTo>
                  <a:pt x="59435" y="204977"/>
                </a:lnTo>
                <a:lnTo>
                  <a:pt x="48005" y="217931"/>
                </a:lnTo>
                <a:lnTo>
                  <a:pt x="37337" y="231647"/>
                </a:lnTo>
                <a:lnTo>
                  <a:pt x="18445" y="257538"/>
                </a:lnTo>
                <a:lnTo>
                  <a:pt x="15416" y="268986"/>
                </a:lnTo>
                <a:lnTo>
                  <a:pt x="27937" y="261069"/>
                </a:lnTo>
                <a:lnTo>
                  <a:pt x="44957" y="237743"/>
                </a:lnTo>
                <a:lnTo>
                  <a:pt x="55625" y="224027"/>
                </a:lnTo>
                <a:lnTo>
                  <a:pt x="102107" y="172211"/>
                </a:lnTo>
                <a:lnTo>
                  <a:pt x="141731" y="137159"/>
                </a:lnTo>
                <a:lnTo>
                  <a:pt x="187451" y="106679"/>
                </a:lnTo>
                <a:lnTo>
                  <a:pt x="221741" y="88391"/>
                </a:lnTo>
                <a:lnTo>
                  <a:pt x="259841" y="73151"/>
                </a:lnTo>
                <a:lnTo>
                  <a:pt x="300989" y="60197"/>
                </a:lnTo>
                <a:lnTo>
                  <a:pt x="344423" y="48767"/>
                </a:lnTo>
                <a:lnTo>
                  <a:pt x="390905" y="38861"/>
                </a:lnTo>
                <a:lnTo>
                  <a:pt x="414527" y="33527"/>
                </a:lnTo>
                <a:lnTo>
                  <a:pt x="438149" y="29717"/>
                </a:lnTo>
                <a:lnTo>
                  <a:pt x="462533" y="25145"/>
                </a:lnTo>
                <a:lnTo>
                  <a:pt x="511301" y="17525"/>
                </a:lnTo>
                <a:lnTo>
                  <a:pt x="560831" y="9905"/>
                </a:lnTo>
                <a:close/>
              </a:path>
            </a:pathLst>
          </a:custGeom>
          <a:solidFill>
            <a:srgbClr val="000000"/>
          </a:solidFill>
        </p:spPr>
        <p:txBody>
          <a:bodyPr wrap="square" lIns="0" tIns="0" rIns="0" bIns="0" rtlCol="0"/>
          <a:lstStyle/>
          <a:p>
            <a:endParaRPr/>
          </a:p>
        </p:txBody>
      </p:sp>
      <p:sp>
        <p:nvSpPr>
          <p:cNvPr id="37" name="object 37"/>
          <p:cNvSpPr txBox="1"/>
          <p:nvPr/>
        </p:nvSpPr>
        <p:spPr>
          <a:xfrm>
            <a:off x="7552167" y="3514854"/>
            <a:ext cx="307777" cy="646809"/>
          </a:xfrm>
          <a:prstGeom prst="rect">
            <a:avLst/>
          </a:prstGeom>
        </p:spPr>
        <p:txBody>
          <a:bodyPr vert="vert" wrap="square" lIns="0" tIns="62230" rIns="0" bIns="0" rtlCol="0">
            <a:spAutoFit/>
          </a:bodyPr>
          <a:lstStyle/>
          <a:p>
            <a:pPr marL="12700">
              <a:lnSpc>
                <a:spcPts val="2380"/>
              </a:lnSpc>
              <a:spcBef>
                <a:spcPts val="490"/>
              </a:spcBef>
            </a:pPr>
            <a:r>
              <a:rPr sz="3000" spc="-30" baseline="13888" dirty="0">
                <a:latin typeface="Cambria Math"/>
                <a:cs typeface="Cambria Math"/>
              </a:rPr>
              <a:t>𝝈</a:t>
            </a:r>
            <a:r>
              <a:rPr sz="1300" spc="-20" dirty="0">
                <a:latin typeface="Verdana"/>
                <a:cs typeface="Verdana"/>
              </a:rPr>
              <a:t>bot</a:t>
            </a:r>
            <a:endParaRPr sz="1300" dirty="0">
              <a:latin typeface="Verdana"/>
              <a:cs typeface="Verdana"/>
            </a:endParaRPr>
          </a:p>
        </p:txBody>
      </p:sp>
      <p:sp>
        <p:nvSpPr>
          <p:cNvPr id="39" name="object 39"/>
          <p:cNvSpPr txBox="1"/>
          <p:nvPr/>
        </p:nvSpPr>
        <p:spPr>
          <a:xfrm>
            <a:off x="1304797" y="5747906"/>
            <a:ext cx="7473315" cy="450215"/>
          </a:xfrm>
          <a:prstGeom prst="rect">
            <a:avLst/>
          </a:prstGeom>
        </p:spPr>
        <p:txBody>
          <a:bodyPr vert="horz" wrap="square" lIns="0" tIns="89535" rIns="0" bIns="0" rtlCol="0">
            <a:spAutoFit/>
          </a:bodyPr>
          <a:lstStyle/>
          <a:p>
            <a:pPr marL="12700">
              <a:lnSpc>
                <a:spcPts val="2835"/>
              </a:lnSpc>
              <a:spcBef>
                <a:spcPts val="705"/>
              </a:spcBef>
            </a:pPr>
            <a:r>
              <a:rPr sz="3600" baseline="13888" dirty="0">
                <a:latin typeface="Verdana"/>
                <a:cs typeface="Verdana"/>
              </a:rPr>
              <a:t>Eye</a:t>
            </a:r>
            <a:r>
              <a:rPr sz="3600" spc="-52" baseline="13888" dirty="0">
                <a:latin typeface="Verdana"/>
                <a:cs typeface="Verdana"/>
              </a:rPr>
              <a:t> </a:t>
            </a:r>
            <a:r>
              <a:rPr sz="3600" baseline="13888" dirty="0">
                <a:latin typeface="Verdana"/>
                <a:cs typeface="Verdana"/>
              </a:rPr>
              <a:t>width</a:t>
            </a:r>
            <a:r>
              <a:rPr sz="3600" spc="-15" baseline="13888" dirty="0">
                <a:latin typeface="Verdana"/>
                <a:cs typeface="Verdana"/>
              </a:rPr>
              <a:t> </a:t>
            </a:r>
            <a:r>
              <a:rPr sz="3600" baseline="13888" dirty="0">
                <a:latin typeface="Verdana"/>
                <a:cs typeface="Verdana"/>
              </a:rPr>
              <a:t>=</a:t>
            </a:r>
            <a:r>
              <a:rPr sz="3600" spc="-52" baseline="13888" dirty="0">
                <a:latin typeface="Verdana"/>
                <a:cs typeface="Verdana"/>
              </a:rPr>
              <a:t> </a:t>
            </a:r>
            <a:r>
              <a:rPr sz="3600" baseline="13888" dirty="0">
                <a:latin typeface="Verdana"/>
                <a:cs typeface="Verdana"/>
              </a:rPr>
              <a:t>(</a:t>
            </a:r>
            <a:r>
              <a:rPr sz="3600" i="1" baseline="13888" dirty="0">
                <a:latin typeface="Verdana"/>
                <a:cs typeface="Verdana"/>
              </a:rPr>
              <a:t>t</a:t>
            </a:r>
            <a:r>
              <a:rPr sz="1600" dirty="0">
                <a:latin typeface="Verdana"/>
                <a:cs typeface="Verdana"/>
              </a:rPr>
              <a:t>cross2</a:t>
            </a:r>
            <a:r>
              <a:rPr sz="1600" spc="-15" dirty="0">
                <a:latin typeface="Verdana"/>
                <a:cs typeface="Verdana"/>
              </a:rPr>
              <a:t> </a:t>
            </a:r>
            <a:r>
              <a:rPr sz="3600" baseline="13888" dirty="0">
                <a:latin typeface="Verdana"/>
                <a:cs typeface="Verdana"/>
              </a:rPr>
              <a:t>–</a:t>
            </a:r>
            <a:r>
              <a:rPr sz="3600" spc="-44" baseline="13888" dirty="0">
                <a:latin typeface="Verdana"/>
                <a:cs typeface="Verdana"/>
              </a:rPr>
              <a:t> </a:t>
            </a:r>
            <a:r>
              <a:rPr sz="3600" baseline="13888" dirty="0">
                <a:latin typeface="Verdana"/>
                <a:cs typeface="Verdana"/>
              </a:rPr>
              <a:t>3</a:t>
            </a:r>
            <a:r>
              <a:rPr sz="3600" baseline="13888" dirty="0">
                <a:latin typeface="Cambria Math"/>
                <a:cs typeface="Cambria Math"/>
              </a:rPr>
              <a:t>𝝈</a:t>
            </a:r>
            <a:r>
              <a:rPr sz="1600" dirty="0">
                <a:latin typeface="Verdana"/>
                <a:cs typeface="Verdana"/>
              </a:rPr>
              <a:t>cross2</a:t>
            </a:r>
            <a:r>
              <a:rPr sz="3600" baseline="13888" dirty="0">
                <a:latin typeface="Verdana"/>
                <a:cs typeface="Verdana"/>
              </a:rPr>
              <a:t>)</a:t>
            </a:r>
            <a:r>
              <a:rPr sz="3600" spc="-30" baseline="13888" dirty="0">
                <a:latin typeface="Verdana"/>
                <a:cs typeface="Verdana"/>
              </a:rPr>
              <a:t> </a:t>
            </a:r>
            <a:r>
              <a:rPr sz="3600" baseline="13888" dirty="0">
                <a:latin typeface="Verdana"/>
                <a:cs typeface="Verdana"/>
              </a:rPr>
              <a:t>–</a:t>
            </a:r>
            <a:r>
              <a:rPr sz="3600" spc="-44" baseline="13888" dirty="0">
                <a:latin typeface="Verdana"/>
                <a:cs typeface="Verdana"/>
              </a:rPr>
              <a:t> </a:t>
            </a:r>
            <a:r>
              <a:rPr sz="3600" baseline="13888" dirty="0">
                <a:latin typeface="Verdana"/>
                <a:cs typeface="Verdana"/>
              </a:rPr>
              <a:t>(</a:t>
            </a:r>
            <a:r>
              <a:rPr sz="3600" i="1" baseline="13888" dirty="0">
                <a:latin typeface="Verdana"/>
                <a:cs typeface="Verdana"/>
              </a:rPr>
              <a:t>t</a:t>
            </a:r>
            <a:r>
              <a:rPr sz="1600" dirty="0">
                <a:latin typeface="Verdana"/>
                <a:cs typeface="Verdana"/>
              </a:rPr>
              <a:t>cross1</a:t>
            </a:r>
            <a:r>
              <a:rPr sz="1600" spc="-30" dirty="0">
                <a:latin typeface="Verdana"/>
                <a:cs typeface="Verdana"/>
              </a:rPr>
              <a:t> </a:t>
            </a:r>
            <a:r>
              <a:rPr sz="3600" baseline="13888" dirty="0">
                <a:latin typeface="Verdana"/>
                <a:cs typeface="Verdana"/>
              </a:rPr>
              <a:t>+</a:t>
            </a:r>
            <a:r>
              <a:rPr sz="3600" spc="-44" baseline="13888" dirty="0">
                <a:latin typeface="Verdana"/>
                <a:cs typeface="Verdana"/>
              </a:rPr>
              <a:t> </a:t>
            </a:r>
            <a:r>
              <a:rPr sz="3600" baseline="13888" dirty="0">
                <a:latin typeface="Verdana"/>
                <a:cs typeface="Verdana"/>
              </a:rPr>
              <a:t>3</a:t>
            </a:r>
            <a:r>
              <a:rPr sz="3600" baseline="13888" dirty="0">
                <a:latin typeface="Cambria Math"/>
                <a:cs typeface="Cambria Math"/>
              </a:rPr>
              <a:t>𝝈</a:t>
            </a:r>
            <a:r>
              <a:rPr sz="3600" spc="7" baseline="13888" dirty="0">
                <a:latin typeface="Cambria Math"/>
                <a:cs typeface="Cambria Math"/>
              </a:rPr>
              <a:t> </a:t>
            </a:r>
            <a:r>
              <a:rPr sz="1600" spc="-10" dirty="0">
                <a:latin typeface="Verdana"/>
                <a:cs typeface="Verdana"/>
              </a:rPr>
              <a:t>cross1</a:t>
            </a:r>
            <a:r>
              <a:rPr sz="3600" spc="-15" baseline="13888" dirty="0">
                <a:latin typeface="Verdana"/>
                <a:cs typeface="Verdana"/>
              </a:rPr>
              <a:t>)</a:t>
            </a:r>
            <a:endParaRPr sz="3600" baseline="13888" dirty="0">
              <a:latin typeface="Verdana"/>
              <a:cs typeface="Verdana"/>
            </a:endParaRPr>
          </a:p>
        </p:txBody>
      </p:sp>
      <p:sp>
        <p:nvSpPr>
          <p:cNvPr id="40" name="object 40"/>
          <p:cNvSpPr txBox="1"/>
          <p:nvPr/>
        </p:nvSpPr>
        <p:spPr>
          <a:xfrm>
            <a:off x="834644" y="5835150"/>
            <a:ext cx="243204" cy="296545"/>
          </a:xfrm>
          <a:prstGeom prst="rect">
            <a:avLst/>
          </a:prstGeom>
        </p:spPr>
        <p:txBody>
          <a:bodyPr vert="horz" wrap="square" lIns="0" tIns="0" rIns="0" bIns="0" rtlCol="0">
            <a:spAutoFit/>
          </a:bodyPr>
          <a:lstStyle/>
          <a:p>
            <a:pPr marL="12700">
              <a:lnSpc>
                <a:spcPts val="2205"/>
              </a:lnSpc>
            </a:pPr>
            <a:r>
              <a:rPr sz="1900" spc="-50" dirty="0">
                <a:solidFill>
                  <a:srgbClr val="CC0000"/>
                </a:solidFill>
                <a:latin typeface="Wingdings"/>
                <a:cs typeface="Wingdings"/>
              </a:rPr>
              <a:t></a:t>
            </a:r>
            <a:endParaRPr sz="1900">
              <a:latin typeface="Wingdings"/>
              <a:cs typeface="Wingdings"/>
            </a:endParaRPr>
          </a:p>
        </p:txBody>
      </p:sp>
      <p:sp>
        <p:nvSpPr>
          <p:cNvPr id="38" name="object 38"/>
          <p:cNvSpPr txBox="1"/>
          <p:nvPr/>
        </p:nvSpPr>
        <p:spPr>
          <a:xfrm>
            <a:off x="7560550" y="1990726"/>
            <a:ext cx="307777" cy="509016"/>
          </a:xfrm>
          <a:prstGeom prst="rect">
            <a:avLst/>
          </a:prstGeom>
        </p:spPr>
        <p:txBody>
          <a:bodyPr vert="vert" wrap="square" lIns="0" tIns="62230" rIns="0" bIns="0" rtlCol="0">
            <a:spAutoFit/>
          </a:bodyPr>
          <a:lstStyle/>
          <a:p>
            <a:pPr marL="12700">
              <a:lnSpc>
                <a:spcPts val="2380"/>
              </a:lnSpc>
              <a:spcBef>
                <a:spcPts val="490"/>
              </a:spcBef>
            </a:pPr>
            <a:r>
              <a:rPr sz="3000" spc="-30" baseline="13888" dirty="0">
                <a:latin typeface="Cambria Math"/>
                <a:cs typeface="Cambria Math"/>
              </a:rPr>
              <a:t>𝝈</a:t>
            </a:r>
            <a:r>
              <a:rPr sz="1300" spc="-20" dirty="0">
                <a:latin typeface="Verdana"/>
                <a:cs typeface="Verdana"/>
              </a:rPr>
              <a:t>top</a:t>
            </a:r>
            <a:endParaRPr sz="1300" dirty="0">
              <a:latin typeface="Verdana"/>
              <a:cs typeface="Verdana"/>
            </a:endParaRPr>
          </a:p>
        </p:txBody>
      </p:sp>
      <p:sp>
        <p:nvSpPr>
          <p:cNvPr id="42" name="Slide Number Placeholder 41"/>
          <p:cNvSpPr>
            <a:spLocks noGrp="1"/>
          </p:cNvSpPr>
          <p:nvPr>
            <p:ph type="sldNum" sz="quarter" idx="7"/>
          </p:nvPr>
        </p:nvSpPr>
        <p:spPr>
          <a:xfrm>
            <a:off x="9347200" y="6420123"/>
            <a:ext cx="2514600" cy="365125"/>
          </a:xfrm>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22</a:t>
            </a:fld>
            <a:endParaRPr lang="en-US" spc="-50" dirty="0"/>
          </a:p>
        </p:txBody>
      </p:sp>
      <p:sp>
        <p:nvSpPr>
          <p:cNvPr id="43" name="Date Placeholder 42"/>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44" name="Footer Placeholder 43"/>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13207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5" grpId="0" animBg="1"/>
      <p:bldP spid="16" grpId="0"/>
      <p:bldP spid="17" grpId="0"/>
      <p:bldP spid="30" grpId="0"/>
      <p:bldP spid="31" grpId="0"/>
      <p:bldP spid="32" grpId="0"/>
      <p:bldP spid="33" grpId="0"/>
      <p:bldP spid="34" grpId="0"/>
      <p:bldP spid="35" grpId="0"/>
      <p:bldP spid="36" grpId="0" animBg="1"/>
      <p:bldP spid="37" grpId="0"/>
      <p:bldP spid="39" grpId="0"/>
      <p:bldP spid="40" grpId="0"/>
      <p:bldP spid="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Bit</a:t>
            </a:r>
            <a:r>
              <a:rPr spc="-50" dirty="0"/>
              <a:t> </a:t>
            </a:r>
            <a:r>
              <a:rPr dirty="0"/>
              <a:t>Error</a:t>
            </a:r>
            <a:r>
              <a:rPr spc="-50" dirty="0"/>
              <a:t> </a:t>
            </a:r>
            <a:r>
              <a:rPr dirty="0"/>
              <a:t>Rate</a:t>
            </a:r>
            <a:r>
              <a:rPr spc="-50" dirty="0"/>
              <a:t> </a:t>
            </a:r>
            <a:r>
              <a:rPr spc="-10" dirty="0"/>
              <a:t>(</a:t>
            </a:r>
            <a:r>
              <a:rPr i="1" spc="-10" dirty="0">
                <a:latin typeface="Verdana"/>
                <a:cs typeface="Verdana"/>
              </a:rPr>
              <a:t>BER</a:t>
            </a:r>
            <a:r>
              <a:rPr spc="-10" dirty="0"/>
              <a:t>)</a:t>
            </a:r>
          </a:p>
        </p:txBody>
      </p:sp>
      <p:sp>
        <p:nvSpPr>
          <p:cNvPr id="3" name="object 3"/>
          <p:cNvSpPr txBox="1"/>
          <p:nvPr/>
        </p:nvSpPr>
        <p:spPr>
          <a:xfrm>
            <a:off x="834644" y="1364996"/>
            <a:ext cx="5483225" cy="751840"/>
          </a:xfrm>
          <a:prstGeom prst="rect">
            <a:avLst/>
          </a:prstGeom>
        </p:spPr>
        <p:txBody>
          <a:bodyPr vert="horz" wrap="square" lIns="0" tIns="28575" rIns="0" bIns="0" rtlCol="0">
            <a:spAutoFit/>
          </a:bodyPr>
          <a:lstStyle/>
          <a:p>
            <a:pPr marL="482600" marR="5080" indent="-470534">
              <a:lnSpc>
                <a:spcPts val="2840"/>
              </a:lnSpc>
              <a:spcBef>
                <a:spcPts val="225"/>
              </a:spcBef>
              <a:buClr>
                <a:srgbClr val="CC0000"/>
              </a:buClr>
              <a:buSzPct val="79166"/>
              <a:buFont typeface="Wingdings"/>
              <a:buChar char=""/>
              <a:tabLst>
                <a:tab pos="482600" algn="l"/>
              </a:tabLst>
            </a:pPr>
            <a:r>
              <a:rPr sz="2400" dirty="0">
                <a:latin typeface="Verdana"/>
                <a:cs typeface="Verdana"/>
              </a:rPr>
              <a:t>If</a:t>
            </a:r>
            <a:r>
              <a:rPr sz="2400" spc="-20" dirty="0">
                <a:latin typeface="Verdana"/>
                <a:cs typeface="Verdana"/>
              </a:rPr>
              <a:t> </a:t>
            </a:r>
            <a:r>
              <a:rPr sz="2400" dirty="0">
                <a:latin typeface="Verdana"/>
                <a:cs typeface="Verdana"/>
              </a:rPr>
              <a:t>the</a:t>
            </a:r>
            <a:r>
              <a:rPr sz="2400" spc="-15" dirty="0">
                <a:latin typeface="Verdana"/>
                <a:cs typeface="Verdana"/>
              </a:rPr>
              <a:t> </a:t>
            </a:r>
            <a:r>
              <a:rPr sz="2400" dirty="0">
                <a:latin typeface="Verdana"/>
                <a:cs typeface="Verdana"/>
              </a:rPr>
              <a:t>received</a:t>
            </a:r>
            <a:r>
              <a:rPr sz="2400" spc="-15" dirty="0">
                <a:latin typeface="Verdana"/>
                <a:cs typeface="Verdana"/>
              </a:rPr>
              <a:t> </a:t>
            </a:r>
            <a:r>
              <a:rPr sz="2400" dirty="0">
                <a:latin typeface="Verdana"/>
                <a:cs typeface="Verdana"/>
              </a:rPr>
              <a:t>bit</a:t>
            </a:r>
            <a:r>
              <a:rPr sz="2400" spc="-20" dirty="0">
                <a:latin typeface="Verdana"/>
                <a:cs typeface="Verdana"/>
              </a:rPr>
              <a:t> </a:t>
            </a:r>
            <a:r>
              <a:rPr sz="2400" dirty="0">
                <a:latin typeface="Verdana"/>
                <a:cs typeface="Verdana"/>
              </a:rPr>
              <a:t>is</a:t>
            </a:r>
            <a:r>
              <a:rPr sz="2400" spc="-15" dirty="0">
                <a:latin typeface="Verdana"/>
                <a:cs typeface="Verdana"/>
              </a:rPr>
              <a:t> </a:t>
            </a:r>
            <a:r>
              <a:rPr sz="2400" spc="-10" dirty="0">
                <a:latin typeface="Verdana"/>
                <a:cs typeface="Verdana"/>
              </a:rPr>
              <a:t>different </a:t>
            </a:r>
            <a:r>
              <a:rPr sz="2400" dirty="0">
                <a:latin typeface="Verdana"/>
                <a:cs typeface="Verdana"/>
              </a:rPr>
              <a:t>from</a:t>
            </a:r>
            <a:r>
              <a:rPr sz="2400" spc="-50" dirty="0">
                <a:latin typeface="Verdana"/>
                <a:cs typeface="Verdana"/>
              </a:rPr>
              <a:t> </a:t>
            </a:r>
            <a:r>
              <a:rPr sz="2400" dirty="0">
                <a:latin typeface="Verdana"/>
                <a:cs typeface="Verdana"/>
              </a:rPr>
              <a:t>the</a:t>
            </a:r>
            <a:r>
              <a:rPr sz="2400" spc="-50" dirty="0">
                <a:latin typeface="Verdana"/>
                <a:cs typeface="Verdana"/>
              </a:rPr>
              <a:t> </a:t>
            </a:r>
            <a:r>
              <a:rPr sz="2400" dirty="0">
                <a:latin typeface="Verdana"/>
                <a:cs typeface="Verdana"/>
              </a:rPr>
              <a:t>transmitted</a:t>
            </a:r>
            <a:r>
              <a:rPr sz="2400" spc="-40" dirty="0">
                <a:latin typeface="Verdana"/>
                <a:cs typeface="Verdana"/>
              </a:rPr>
              <a:t> </a:t>
            </a:r>
            <a:r>
              <a:rPr sz="2400" dirty="0">
                <a:solidFill>
                  <a:srgbClr val="FF0000"/>
                </a:solidFill>
                <a:latin typeface="Wingdings"/>
                <a:cs typeface="Wingdings"/>
              </a:rPr>
              <a:t></a:t>
            </a:r>
            <a:r>
              <a:rPr sz="2400" spc="190" dirty="0">
                <a:solidFill>
                  <a:srgbClr val="FF0000"/>
                </a:solidFill>
                <a:latin typeface="Times New Roman"/>
                <a:cs typeface="Times New Roman"/>
              </a:rPr>
              <a:t> </a:t>
            </a:r>
            <a:r>
              <a:rPr sz="2400" dirty="0">
                <a:solidFill>
                  <a:srgbClr val="FF0000"/>
                </a:solidFill>
                <a:latin typeface="Verdana"/>
                <a:cs typeface="Verdana"/>
              </a:rPr>
              <a:t>bit</a:t>
            </a:r>
            <a:r>
              <a:rPr sz="2400" spc="-45" dirty="0">
                <a:solidFill>
                  <a:srgbClr val="FF0000"/>
                </a:solidFill>
                <a:latin typeface="Verdana"/>
                <a:cs typeface="Verdana"/>
              </a:rPr>
              <a:t> </a:t>
            </a:r>
            <a:r>
              <a:rPr sz="2400" spc="-10" dirty="0">
                <a:solidFill>
                  <a:srgbClr val="FF0000"/>
                </a:solidFill>
                <a:latin typeface="Verdana"/>
                <a:cs typeface="Verdana"/>
              </a:rPr>
              <a:t>error</a:t>
            </a:r>
            <a:endParaRPr sz="2400" dirty="0">
              <a:latin typeface="Verdana"/>
              <a:cs typeface="Verdana"/>
            </a:endParaRPr>
          </a:p>
        </p:txBody>
      </p:sp>
      <p:sp>
        <p:nvSpPr>
          <p:cNvPr id="4" name="object 4"/>
          <p:cNvSpPr txBox="1"/>
          <p:nvPr/>
        </p:nvSpPr>
        <p:spPr>
          <a:xfrm>
            <a:off x="7236206" y="1364996"/>
            <a:ext cx="951865" cy="391160"/>
          </a:xfrm>
          <a:prstGeom prst="rect">
            <a:avLst/>
          </a:prstGeom>
        </p:spPr>
        <p:txBody>
          <a:bodyPr vert="horz" wrap="square" lIns="0" tIns="12700" rIns="0" bIns="0" rtlCol="0">
            <a:spAutoFit/>
          </a:bodyPr>
          <a:lstStyle/>
          <a:p>
            <a:pPr marL="12700">
              <a:lnSpc>
                <a:spcPct val="100000"/>
              </a:lnSpc>
              <a:spcBef>
                <a:spcPts val="100"/>
              </a:spcBef>
              <a:tabLst>
                <a:tab pos="938530" algn="l"/>
              </a:tabLst>
            </a:pPr>
            <a:r>
              <a:rPr sz="2400" u="heavy" dirty="0">
                <a:uFill>
                  <a:solidFill>
                    <a:srgbClr val="FFBF00"/>
                  </a:solidFill>
                </a:uFill>
                <a:latin typeface="Verdana"/>
                <a:cs typeface="Verdana"/>
              </a:rPr>
              <a:t>	</a:t>
            </a:r>
            <a:endParaRPr sz="2400">
              <a:latin typeface="Verdana"/>
              <a:cs typeface="Verdana"/>
            </a:endParaRPr>
          </a:p>
        </p:txBody>
      </p:sp>
      <p:sp>
        <p:nvSpPr>
          <p:cNvPr id="5" name="object 5"/>
          <p:cNvSpPr txBox="1"/>
          <p:nvPr/>
        </p:nvSpPr>
        <p:spPr>
          <a:xfrm>
            <a:off x="834644" y="2877566"/>
            <a:ext cx="243204" cy="318135"/>
          </a:xfrm>
          <a:prstGeom prst="rect">
            <a:avLst/>
          </a:prstGeom>
        </p:spPr>
        <p:txBody>
          <a:bodyPr vert="horz" wrap="square" lIns="0" tIns="15240" rIns="0" bIns="0" rtlCol="0">
            <a:spAutoFit/>
          </a:bodyPr>
          <a:lstStyle/>
          <a:p>
            <a:pPr marL="12700">
              <a:lnSpc>
                <a:spcPct val="100000"/>
              </a:lnSpc>
              <a:spcBef>
                <a:spcPts val="120"/>
              </a:spcBef>
            </a:pPr>
            <a:r>
              <a:rPr sz="1900" spc="-50" dirty="0">
                <a:solidFill>
                  <a:srgbClr val="CC0000"/>
                </a:solidFill>
                <a:latin typeface="Wingdings"/>
                <a:cs typeface="Wingdings"/>
              </a:rPr>
              <a:t></a:t>
            </a:r>
            <a:endParaRPr sz="1900">
              <a:latin typeface="Wingdings"/>
              <a:cs typeface="Wingdings"/>
            </a:endParaRPr>
          </a:p>
        </p:txBody>
      </p:sp>
      <p:sp>
        <p:nvSpPr>
          <p:cNvPr id="6" name="object 6"/>
          <p:cNvSpPr txBox="1"/>
          <p:nvPr/>
        </p:nvSpPr>
        <p:spPr>
          <a:xfrm>
            <a:off x="2315210" y="2638297"/>
            <a:ext cx="3609975" cy="391160"/>
          </a:xfrm>
          <a:prstGeom prst="rect">
            <a:avLst/>
          </a:prstGeom>
        </p:spPr>
        <p:txBody>
          <a:bodyPr vert="horz" wrap="square" lIns="0" tIns="12700" rIns="0" bIns="0" rtlCol="0">
            <a:spAutoFit/>
          </a:bodyPr>
          <a:lstStyle/>
          <a:p>
            <a:pPr marL="12700">
              <a:lnSpc>
                <a:spcPct val="100000"/>
              </a:lnSpc>
              <a:spcBef>
                <a:spcPts val="100"/>
              </a:spcBef>
              <a:tabLst>
                <a:tab pos="576580" algn="l"/>
                <a:tab pos="3596640" algn="l"/>
              </a:tabLst>
            </a:pPr>
            <a:r>
              <a:rPr sz="2400" i="1" u="heavy" dirty="0">
                <a:uFill>
                  <a:solidFill>
                    <a:srgbClr val="000000"/>
                  </a:solidFill>
                </a:uFill>
                <a:latin typeface="Verdana"/>
                <a:cs typeface="Verdana"/>
              </a:rPr>
              <a:t>	No.</a:t>
            </a:r>
            <a:r>
              <a:rPr sz="2400" i="1" u="heavy" spc="-25" dirty="0">
                <a:uFill>
                  <a:solidFill>
                    <a:srgbClr val="000000"/>
                  </a:solidFill>
                </a:uFill>
                <a:latin typeface="Verdana"/>
                <a:cs typeface="Verdana"/>
              </a:rPr>
              <a:t> </a:t>
            </a:r>
            <a:r>
              <a:rPr sz="2400" i="1" u="heavy" dirty="0">
                <a:uFill>
                  <a:solidFill>
                    <a:srgbClr val="000000"/>
                  </a:solidFill>
                </a:uFill>
                <a:latin typeface="Verdana"/>
                <a:cs typeface="Verdana"/>
              </a:rPr>
              <a:t>of</a:t>
            </a:r>
            <a:r>
              <a:rPr sz="2400" i="1" u="heavy" spc="-20" dirty="0">
                <a:uFill>
                  <a:solidFill>
                    <a:srgbClr val="000000"/>
                  </a:solidFill>
                </a:uFill>
                <a:latin typeface="Verdana"/>
                <a:cs typeface="Verdana"/>
              </a:rPr>
              <a:t> </a:t>
            </a:r>
            <a:r>
              <a:rPr sz="2400" i="1" u="heavy" dirty="0">
                <a:uFill>
                  <a:solidFill>
                    <a:srgbClr val="000000"/>
                  </a:solidFill>
                </a:uFill>
                <a:latin typeface="Verdana"/>
                <a:cs typeface="Verdana"/>
              </a:rPr>
              <a:t>bit</a:t>
            </a:r>
            <a:r>
              <a:rPr sz="2400" i="1" u="heavy" spc="-15" dirty="0">
                <a:uFill>
                  <a:solidFill>
                    <a:srgbClr val="000000"/>
                  </a:solidFill>
                </a:uFill>
                <a:latin typeface="Verdana"/>
                <a:cs typeface="Verdana"/>
              </a:rPr>
              <a:t> </a:t>
            </a:r>
            <a:r>
              <a:rPr sz="2400" i="1" u="heavy" spc="-10" dirty="0">
                <a:uFill>
                  <a:solidFill>
                    <a:srgbClr val="000000"/>
                  </a:solidFill>
                </a:uFill>
                <a:latin typeface="Verdana"/>
                <a:cs typeface="Verdana"/>
              </a:rPr>
              <a:t>errors</a:t>
            </a:r>
            <a:r>
              <a:rPr sz="2400" i="1" u="heavy" dirty="0">
                <a:uFill>
                  <a:solidFill>
                    <a:srgbClr val="000000"/>
                  </a:solidFill>
                </a:uFill>
                <a:latin typeface="Verdana"/>
                <a:cs typeface="Verdana"/>
              </a:rPr>
              <a:t>	</a:t>
            </a:r>
            <a:endParaRPr sz="2400">
              <a:latin typeface="Verdana"/>
              <a:cs typeface="Verdana"/>
            </a:endParaRPr>
          </a:p>
        </p:txBody>
      </p:sp>
      <p:sp>
        <p:nvSpPr>
          <p:cNvPr id="7" name="object 7"/>
          <p:cNvSpPr txBox="1"/>
          <p:nvPr/>
        </p:nvSpPr>
        <p:spPr>
          <a:xfrm>
            <a:off x="1279397" y="2992628"/>
            <a:ext cx="4565015" cy="391160"/>
          </a:xfrm>
          <a:prstGeom prst="rect">
            <a:avLst/>
          </a:prstGeom>
        </p:spPr>
        <p:txBody>
          <a:bodyPr vert="horz" wrap="square" lIns="0" tIns="12700" rIns="0" bIns="0" rtlCol="0">
            <a:spAutoFit/>
          </a:bodyPr>
          <a:lstStyle/>
          <a:p>
            <a:pPr marL="38100">
              <a:lnSpc>
                <a:spcPct val="100000"/>
              </a:lnSpc>
              <a:spcBef>
                <a:spcPts val="100"/>
              </a:spcBef>
            </a:pPr>
            <a:r>
              <a:rPr sz="3600" i="1" spc="-30" baseline="32407" dirty="0">
                <a:latin typeface="Verdana"/>
                <a:cs typeface="Verdana"/>
              </a:rPr>
              <a:t>BER</a:t>
            </a:r>
            <a:r>
              <a:rPr sz="3600" i="1" spc="-292" baseline="32407" dirty="0">
                <a:latin typeface="Verdana"/>
                <a:cs typeface="Verdana"/>
              </a:rPr>
              <a:t> </a:t>
            </a:r>
            <a:r>
              <a:rPr sz="3600" baseline="32407" dirty="0">
                <a:latin typeface="Cambria Math"/>
                <a:cs typeface="Cambria Math"/>
              </a:rPr>
              <a:t>=</a:t>
            </a:r>
            <a:r>
              <a:rPr sz="3600" spc="120" baseline="32407" dirty="0">
                <a:latin typeface="Cambria Math"/>
                <a:cs typeface="Cambria Math"/>
              </a:rPr>
              <a:t> </a:t>
            </a:r>
            <a:r>
              <a:rPr sz="2400" i="1" dirty="0">
                <a:latin typeface="Verdana"/>
                <a:cs typeface="Verdana"/>
              </a:rPr>
              <a:t>No.</a:t>
            </a:r>
            <a:r>
              <a:rPr sz="2400" i="1" spc="-40" dirty="0">
                <a:latin typeface="Verdana"/>
                <a:cs typeface="Verdana"/>
              </a:rPr>
              <a:t> </a:t>
            </a:r>
            <a:r>
              <a:rPr sz="2400" i="1" dirty="0">
                <a:latin typeface="Verdana"/>
                <a:cs typeface="Verdana"/>
              </a:rPr>
              <a:t>of</a:t>
            </a:r>
            <a:r>
              <a:rPr sz="2400" i="1" spc="-40" dirty="0">
                <a:latin typeface="Verdana"/>
                <a:cs typeface="Verdana"/>
              </a:rPr>
              <a:t> </a:t>
            </a:r>
            <a:r>
              <a:rPr sz="2400" i="1" dirty="0">
                <a:latin typeface="Verdana"/>
                <a:cs typeface="Verdana"/>
              </a:rPr>
              <a:t>transmitted</a:t>
            </a:r>
            <a:r>
              <a:rPr sz="2400" i="1" spc="-40" dirty="0">
                <a:latin typeface="Verdana"/>
                <a:cs typeface="Verdana"/>
              </a:rPr>
              <a:t> </a:t>
            </a:r>
            <a:r>
              <a:rPr sz="2400" i="1" spc="-20" dirty="0">
                <a:latin typeface="Verdana"/>
                <a:cs typeface="Verdana"/>
              </a:rPr>
              <a:t>bits</a:t>
            </a:r>
            <a:endParaRPr sz="2400">
              <a:latin typeface="Verdana"/>
              <a:cs typeface="Verdana"/>
            </a:endParaRPr>
          </a:p>
        </p:txBody>
      </p:sp>
      <p:sp>
        <p:nvSpPr>
          <p:cNvPr id="8" name="object 8"/>
          <p:cNvSpPr txBox="1"/>
          <p:nvPr/>
        </p:nvSpPr>
        <p:spPr>
          <a:xfrm>
            <a:off x="796544" y="3811778"/>
            <a:ext cx="9954260" cy="1635125"/>
          </a:xfrm>
          <a:prstGeom prst="rect">
            <a:avLst/>
          </a:prstGeom>
        </p:spPr>
        <p:txBody>
          <a:bodyPr vert="horz" wrap="square" lIns="0" tIns="12700" rIns="0" bIns="0" rtlCol="0">
            <a:spAutoFit/>
          </a:bodyPr>
          <a:lstStyle/>
          <a:p>
            <a:pPr marL="520700" marR="4362450" indent="-470534">
              <a:lnSpc>
                <a:spcPct val="100000"/>
              </a:lnSpc>
              <a:spcBef>
                <a:spcPts val="100"/>
              </a:spcBef>
              <a:buClr>
                <a:srgbClr val="CC0000"/>
              </a:buClr>
              <a:buSzPct val="79166"/>
              <a:buFont typeface="Wingdings"/>
              <a:buChar char=""/>
              <a:tabLst>
                <a:tab pos="520700" algn="l"/>
              </a:tabLst>
            </a:pPr>
            <a:r>
              <a:rPr sz="2400" i="1" dirty="0">
                <a:latin typeface="Verdana"/>
                <a:cs typeface="Verdana"/>
              </a:rPr>
              <a:t>BER</a:t>
            </a:r>
            <a:r>
              <a:rPr sz="2400" i="1" spc="-60" dirty="0">
                <a:latin typeface="Verdana"/>
                <a:cs typeface="Verdana"/>
              </a:rPr>
              <a:t> </a:t>
            </a:r>
            <a:r>
              <a:rPr sz="2400" spc="-10" dirty="0">
                <a:latin typeface="Verdana"/>
                <a:cs typeface="Verdana"/>
              </a:rPr>
              <a:t>characterization:</a:t>
            </a:r>
            <a:r>
              <a:rPr sz="2400" spc="-55" dirty="0">
                <a:latin typeface="Verdana"/>
                <a:cs typeface="Verdana"/>
              </a:rPr>
              <a:t> </a:t>
            </a:r>
            <a:r>
              <a:rPr sz="2400" i="1" spc="-20" dirty="0">
                <a:latin typeface="Verdana"/>
                <a:cs typeface="Verdana"/>
              </a:rPr>
              <a:t>BER</a:t>
            </a:r>
            <a:r>
              <a:rPr sz="2400" spc="-20" dirty="0">
                <a:latin typeface="Verdana"/>
                <a:cs typeface="Verdana"/>
              </a:rPr>
              <a:t>-</a:t>
            </a:r>
            <a:r>
              <a:rPr sz="2400" spc="-10" dirty="0">
                <a:latin typeface="Verdana"/>
                <a:cs typeface="Verdana"/>
              </a:rPr>
              <a:t>tester </a:t>
            </a:r>
            <a:r>
              <a:rPr sz="2400" dirty="0">
                <a:latin typeface="Verdana"/>
                <a:cs typeface="Verdana"/>
              </a:rPr>
              <a:t>or</a:t>
            </a:r>
            <a:r>
              <a:rPr sz="2400" spc="-30" dirty="0">
                <a:latin typeface="Verdana"/>
                <a:cs typeface="Verdana"/>
              </a:rPr>
              <a:t> </a:t>
            </a:r>
            <a:r>
              <a:rPr sz="2400" dirty="0">
                <a:latin typeface="Verdana"/>
                <a:cs typeface="Verdana"/>
              </a:rPr>
              <a:t>loop</a:t>
            </a:r>
            <a:r>
              <a:rPr sz="2400" spc="-10" dirty="0">
                <a:latin typeface="Verdana"/>
                <a:cs typeface="Verdana"/>
              </a:rPr>
              <a:t> </a:t>
            </a:r>
            <a:r>
              <a:rPr sz="2400" spc="-20" dirty="0">
                <a:latin typeface="Verdana"/>
                <a:cs typeface="Verdana"/>
              </a:rPr>
              <a:t>back</a:t>
            </a:r>
            <a:endParaRPr sz="2400" dirty="0">
              <a:latin typeface="Verdana"/>
              <a:cs typeface="Verdana"/>
            </a:endParaRPr>
          </a:p>
          <a:p>
            <a:pPr>
              <a:lnSpc>
                <a:spcPct val="100000"/>
              </a:lnSpc>
              <a:spcBef>
                <a:spcPts val="1115"/>
              </a:spcBef>
              <a:buClr>
                <a:srgbClr val="CC0000"/>
              </a:buClr>
              <a:buFont typeface="Wingdings"/>
              <a:buChar char=""/>
            </a:pPr>
            <a:endParaRPr sz="2400" dirty="0">
              <a:latin typeface="Verdana"/>
              <a:cs typeface="Verdana"/>
            </a:endParaRPr>
          </a:p>
          <a:p>
            <a:pPr marL="520700" indent="-469900">
              <a:lnSpc>
                <a:spcPct val="100000"/>
              </a:lnSpc>
              <a:buClr>
                <a:srgbClr val="CC0000"/>
              </a:buClr>
              <a:buSzPct val="79166"/>
              <a:buFont typeface="Wingdings"/>
              <a:buChar char=""/>
              <a:tabLst>
                <a:tab pos="520700" algn="l"/>
              </a:tabLst>
            </a:pPr>
            <a:r>
              <a:rPr sz="2400" dirty="0">
                <a:latin typeface="Verdana"/>
                <a:cs typeface="Verdana"/>
              </a:rPr>
              <a:t>Mathematical</a:t>
            </a:r>
            <a:r>
              <a:rPr sz="2400" spc="-80" dirty="0">
                <a:latin typeface="Verdana"/>
                <a:cs typeface="Verdana"/>
              </a:rPr>
              <a:t> </a:t>
            </a:r>
            <a:r>
              <a:rPr sz="2400" dirty="0">
                <a:latin typeface="Verdana"/>
                <a:cs typeface="Verdana"/>
              </a:rPr>
              <a:t>model</a:t>
            </a:r>
            <a:r>
              <a:rPr sz="2400" spc="-80" dirty="0">
                <a:latin typeface="Verdana"/>
                <a:cs typeface="Verdana"/>
              </a:rPr>
              <a:t> </a:t>
            </a:r>
            <a:r>
              <a:rPr sz="2400" dirty="0">
                <a:latin typeface="Verdana"/>
                <a:cs typeface="Verdana"/>
              </a:rPr>
              <a:t>with</a:t>
            </a:r>
            <a:r>
              <a:rPr sz="2400" spc="-75" dirty="0">
                <a:latin typeface="Verdana"/>
                <a:cs typeface="Verdana"/>
              </a:rPr>
              <a:t> </a:t>
            </a:r>
            <a:r>
              <a:rPr sz="2400" dirty="0">
                <a:latin typeface="Verdana"/>
                <a:cs typeface="Verdana"/>
              </a:rPr>
              <a:t>a</a:t>
            </a:r>
            <a:r>
              <a:rPr sz="2400" spc="-105" dirty="0">
                <a:latin typeface="Verdana"/>
                <a:cs typeface="Verdana"/>
              </a:rPr>
              <a:t> </a:t>
            </a:r>
            <a:r>
              <a:rPr sz="2400" dirty="0">
                <a:latin typeface="Verdana"/>
                <a:cs typeface="Verdana"/>
              </a:rPr>
              <a:t>normalized</a:t>
            </a:r>
            <a:r>
              <a:rPr sz="2400" spc="-75" dirty="0">
                <a:latin typeface="Verdana"/>
                <a:cs typeface="Verdana"/>
              </a:rPr>
              <a:t> </a:t>
            </a:r>
            <a:r>
              <a:rPr sz="2400" dirty="0">
                <a:latin typeface="Verdana"/>
                <a:cs typeface="Verdana"/>
              </a:rPr>
              <a:t>threshold</a:t>
            </a:r>
            <a:r>
              <a:rPr sz="2400" spc="-75" dirty="0">
                <a:latin typeface="Verdana"/>
                <a:cs typeface="Verdana"/>
              </a:rPr>
              <a:t> </a:t>
            </a:r>
            <a:r>
              <a:rPr sz="2400" dirty="0">
                <a:latin typeface="Verdana"/>
                <a:cs typeface="Verdana"/>
              </a:rPr>
              <a:t>of</a:t>
            </a:r>
            <a:r>
              <a:rPr sz="2400" spc="-85" dirty="0">
                <a:latin typeface="Verdana"/>
                <a:cs typeface="Verdana"/>
              </a:rPr>
              <a:t> </a:t>
            </a:r>
            <a:r>
              <a:rPr sz="2400" i="1" spc="-10" dirty="0">
                <a:latin typeface="Verdana"/>
                <a:cs typeface="Verdana"/>
              </a:rPr>
              <a:t>V</a:t>
            </a:r>
            <a:r>
              <a:rPr sz="2400" spc="-15" baseline="-20833" dirty="0">
                <a:latin typeface="Verdana"/>
                <a:cs typeface="Verdana"/>
              </a:rPr>
              <a:t>DTH</a:t>
            </a:r>
            <a:r>
              <a:rPr sz="2400" spc="-10" dirty="0">
                <a:latin typeface="Verdana"/>
                <a:cs typeface="Verdana"/>
              </a:rPr>
              <a:t>=0.5</a:t>
            </a:r>
            <a:endParaRPr sz="2400" dirty="0">
              <a:latin typeface="Verdana"/>
              <a:cs typeface="Verdana"/>
            </a:endParaRPr>
          </a:p>
        </p:txBody>
      </p:sp>
      <p:sp>
        <p:nvSpPr>
          <p:cNvPr id="9" name="object 9"/>
          <p:cNvSpPr txBox="1"/>
          <p:nvPr/>
        </p:nvSpPr>
        <p:spPr>
          <a:xfrm>
            <a:off x="1305560" y="5533135"/>
            <a:ext cx="177800"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CC0000"/>
                </a:solidFill>
                <a:latin typeface="Wingdings"/>
                <a:cs typeface="Wingdings"/>
              </a:rPr>
              <a:t></a:t>
            </a:r>
            <a:endParaRPr sz="1600">
              <a:latin typeface="Wingdings"/>
              <a:cs typeface="Wingdings"/>
            </a:endParaRPr>
          </a:p>
        </p:txBody>
      </p:sp>
      <p:sp>
        <p:nvSpPr>
          <p:cNvPr id="10" name="object 10"/>
          <p:cNvSpPr txBox="1"/>
          <p:nvPr/>
        </p:nvSpPr>
        <p:spPr>
          <a:xfrm>
            <a:off x="2365501" y="5482844"/>
            <a:ext cx="6349365"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Verdana"/>
                <a:cs typeface="Verdana"/>
              </a:rPr>
              <a:t>This</a:t>
            </a:r>
            <a:r>
              <a:rPr sz="2000" spc="-45" dirty="0">
                <a:latin typeface="Verdana"/>
                <a:cs typeface="Verdana"/>
              </a:rPr>
              <a:t> </a:t>
            </a:r>
            <a:r>
              <a:rPr sz="2000" dirty="0">
                <a:latin typeface="Verdana"/>
                <a:cs typeface="Verdana"/>
              </a:rPr>
              <a:t>area</a:t>
            </a:r>
            <a:r>
              <a:rPr sz="2000" spc="-45" dirty="0">
                <a:latin typeface="Verdana"/>
                <a:cs typeface="Verdana"/>
              </a:rPr>
              <a:t> </a:t>
            </a:r>
            <a:r>
              <a:rPr sz="2000" dirty="0">
                <a:latin typeface="Verdana"/>
                <a:cs typeface="Verdana"/>
              </a:rPr>
              <a:t>is</a:t>
            </a:r>
            <a:r>
              <a:rPr sz="2000" spc="-45" dirty="0">
                <a:latin typeface="Verdana"/>
                <a:cs typeface="Verdana"/>
              </a:rPr>
              <a:t> </a:t>
            </a:r>
            <a:r>
              <a:rPr sz="2000" dirty="0">
                <a:latin typeface="Verdana"/>
                <a:cs typeface="Verdana"/>
              </a:rPr>
              <a:t>the</a:t>
            </a:r>
            <a:r>
              <a:rPr sz="2000" spc="-45" dirty="0">
                <a:latin typeface="Verdana"/>
                <a:cs typeface="Verdana"/>
              </a:rPr>
              <a:t> </a:t>
            </a:r>
            <a:r>
              <a:rPr sz="2000" dirty="0">
                <a:latin typeface="Verdana"/>
                <a:cs typeface="Verdana"/>
              </a:rPr>
              <a:t>probability</a:t>
            </a:r>
            <a:r>
              <a:rPr sz="2000" spc="-15" dirty="0">
                <a:latin typeface="Verdana"/>
                <a:cs typeface="Verdana"/>
              </a:rPr>
              <a:t> </a:t>
            </a:r>
            <a:r>
              <a:rPr sz="2000" dirty="0">
                <a:latin typeface="Verdana"/>
                <a:cs typeface="Verdana"/>
              </a:rPr>
              <a:t>that</a:t>
            </a:r>
            <a:r>
              <a:rPr sz="2000" spc="-45" dirty="0">
                <a:latin typeface="Verdana"/>
                <a:cs typeface="Verdana"/>
              </a:rPr>
              <a:t> </a:t>
            </a:r>
            <a:r>
              <a:rPr sz="2000" dirty="0">
                <a:latin typeface="Verdana"/>
                <a:cs typeface="Verdana"/>
              </a:rPr>
              <a:t>0</a:t>
            </a:r>
            <a:r>
              <a:rPr sz="2000" spc="-45" dirty="0">
                <a:latin typeface="Verdana"/>
                <a:cs typeface="Verdana"/>
              </a:rPr>
              <a:t> </a:t>
            </a:r>
            <a:r>
              <a:rPr sz="2000" dirty="0">
                <a:latin typeface="Verdana"/>
                <a:cs typeface="Verdana"/>
              </a:rPr>
              <a:t>is</a:t>
            </a:r>
            <a:r>
              <a:rPr sz="2000" spc="-40" dirty="0">
                <a:latin typeface="Verdana"/>
                <a:cs typeface="Verdana"/>
              </a:rPr>
              <a:t> </a:t>
            </a:r>
            <a:r>
              <a:rPr sz="2000" dirty="0">
                <a:latin typeface="Verdana"/>
                <a:cs typeface="Verdana"/>
              </a:rPr>
              <a:t>decoded</a:t>
            </a:r>
            <a:r>
              <a:rPr sz="2000" spc="-25" dirty="0">
                <a:latin typeface="Verdana"/>
                <a:cs typeface="Verdana"/>
              </a:rPr>
              <a:t> </a:t>
            </a:r>
            <a:r>
              <a:rPr sz="2000" dirty="0">
                <a:latin typeface="Verdana"/>
                <a:cs typeface="Verdana"/>
              </a:rPr>
              <a:t>as</a:t>
            </a:r>
            <a:r>
              <a:rPr sz="2000" spc="-45" dirty="0">
                <a:latin typeface="Verdana"/>
                <a:cs typeface="Verdana"/>
              </a:rPr>
              <a:t> </a:t>
            </a:r>
            <a:r>
              <a:rPr sz="2000" spc="-50" dirty="0">
                <a:latin typeface="Verdana"/>
                <a:cs typeface="Verdana"/>
              </a:rPr>
              <a:t>1</a:t>
            </a:r>
            <a:endParaRPr sz="2000">
              <a:latin typeface="Verdana"/>
              <a:cs typeface="Verdana"/>
            </a:endParaRPr>
          </a:p>
        </p:txBody>
      </p:sp>
      <p:grpSp>
        <p:nvGrpSpPr>
          <p:cNvPr id="11" name="object 11"/>
          <p:cNvGrpSpPr/>
          <p:nvPr/>
        </p:nvGrpSpPr>
        <p:grpSpPr>
          <a:xfrm>
            <a:off x="7244333" y="1384427"/>
            <a:ext cx="4175760" cy="2745105"/>
            <a:chOff x="7244333" y="1384427"/>
            <a:chExt cx="4175760" cy="2745105"/>
          </a:xfrm>
        </p:grpSpPr>
        <p:pic>
          <p:nvPicPr>
            <p:cNvPr id="12" name="object 12"/>
            <p:cNvPicPr/>
            <p:nvPr/>
          </p:nvPicPr>
          <p:blipFill>
            <a:blip r:embed="rId3" cstate="print"/>
            <a:stretch>
              <a:fillRect/>
            </a:stretch>
          </p:blipFill>
          <p:spPr>
            <a:xfrm>
              <a:off x="7998416" y="1470207"/>
              <a:ext cx="3421177" cy="2659103"/>
            </a:xfrm>
            <a:prstGeom prst="rect">
              <a:avLst/>
            </a:prstGeom>
          </p:spPr>
        </p:pic>
        <p:sp>
          <p:nvSpPr>
            <p:cNvPr id="13" name="object 13"/>
            <p:cNvSpPr/>
            <p:nvPr/>
          </p:nvSpPr>
          <p:spPr>
            <a:xfrm>
              <a:off x="7244333" y="3424428"/>
              <a:ext cx="85725" cy="28575"/>
            </a:xfrm>
            <a:custGeom>
              <a:avLst/>
              <a:gdLst/>
              <a:ahLst/>
              <a:cxnLst/>
              <a:rect l="l" t="t" r="r" b="b"/>
              <a:pathLst>
                <a:path w="85725" h="28575">
                  <a:moveTo>
                    <a:pt x="85344" y="28194"/>
                  </a:moveTo>
                  <a:lnTo>
                    <a:pt x="85344" y="0"/>
                  </a:lnTo>
                  <a:lnTo>
                    <a:pt x="0" y="0"/>
                  </a:lnTo>
                  <a:lnTo>
                    <a:pt x="0" y="28194"/>
                  </a:lnTo>
                  <a:lnTo>
                    <a:pt x="85344" y="28194"/>
                  </a:lnTo>
                  <a:close/>
                </a:path>
              </a:pathLst>
            </a:custGeom>
            <a:solidFill>
              <a:srgbClr val="FFBF00"/>
            </a:solidFill>
          </p:spPr>
          <p:txBody>
            <a:bodyPr wrap="square" lIns="0" tIns="0" rIns="0" bIns="0" rtlCol="0"/>
            <a:lstStyle/>
            <a:p>
              <a:endParaRPr/>
            </a:p>
          </p:txBody>
        </p:sp>
        <p:sp>
          <p:nvSpPr>
            <p:cNvPr id="14" name="object 14"/>
            <p:cNvSpPr/>
            <p:nvPr/>
          </p:nvSpPr>
          <p:spPr>
            <a:xfrm>
              <a:off x="7358633" y="3438525"/>
              <a:ext cx="771525" cy="0"/>
            </a:xfrm>
            <a:custGeom>
              <a:avLst/>
              <a:gdLst/>
              <a:ahLst/>
              <a:cxnLst/>
              <a:rect l="l" t="t" r="r" b="b"/>
              <a:pathLst>
                <a:path w="771525">
                  <a:moveTo>
                    <a:pt x="0" y="0"/>
                  </a:moveTo>
                  <a:lnTo>
                    <a:pt x="771144" y="0"/>
                  </a:lnTo>
                </a:path>
              </a:pathLst>
            </a:custGeom>
            <a:ln w="28194">
              <a:solidFill>
                <a:srgbClr val="FFBF00"/>
              </a:solidFill>
              <a:prstDash val="sysDash"/>
            </a:ln>
          </p:spPr>
          <p:txBody>
            <a:bodyPr wrap="square" lIns="0" tIns="0" rIns="0" bIns="0" rtlCol="0"/>
            <a:lstStyle/>
            <a:p>
              <a:endParaRPr/>
            </a:p>
          </p:txBody>
        </p:sp>
        <p:sp>
          <p:nvSpPr>
            <p:cNvPr id="15" name="object 15"/>
            <p:cNvSpPr/>
            <p:nvPr/>
          </p:nvSpPr>
          <p:spPr>
            <a:xfrm>
              <a:off x="8158734" y="2634233"/>
              <a:ext cx="2383790" cy="818515"/>
            </a:xfrm>
            <a:custGeom>
              <a:avLst/>
              <a:gdLst/>
              <a:ahLst/>
              <a:cxnLst/>
              <a:rect l="l" t="t" r="r" b="b"/>
              <a:pathLst>
                <a:path w="2383790" h="818514">
                  <a:moveTo>
                    <a:pt x="11417" y="790194"/>
                  </a:moveTo>
                  <a:lnTo>
                    <a:pt x="0" y="790194"/>
                  </a:lnTo>
                  <a:lnTo>
                    <a:pt x="0" y="818388"/>
                  </a:lnTo>
                  <a:lnTo>
                    <a:pt x="11417" y="818388"/>
                  </a:lnTo>
                  <a:lnTo>
                    <a:pt x="11417" y="790194"/>
                  </a:lnTo>
                  <a:close/>
                </a:path>
                <a:path w="2383790" h="818514">
                  <a:moveTo>
                    <a:pt x="2383536" y="0"/>
                  </a:moveTo>
                  <a:lnTo>
                    <a:pt x="2354580" y="0"/>
                  </a:lnTo>
                  <a:lnTo>
                    <a:pt x="2354580" y="86106"/>
                  </a:lnTo>
                  <a:lnTo>
                    <a:pt x="2383536" y="86106"/>
                  </a:lnTo>
                  <a:lnTo>
                    <a:pt x="2383536" y="0"/>
                  </a:lnTo>
                  <a:close/>
                </a:path>
              </a:pathLst>
            </a:custGeom>
            <a:solidFill>
              <a:srgbClr val="FFBF00"/>
            </a:solidFill>
          </p:spPr>
          <p:txBody>
            <a:bodyPr wrap="square" lIns="0" tIns="0" rIns="0" bIns="0" rtlCol="0"/>
            <a:lstStyle/>
            <a:p>
              <a:endParaRPr/>
            </a:p>
          </p:txBody>
        </p:sp>
        <p:sp>
          <p:nvSpPr>
            <p:cNvPr id="16" name="object 16"/>
            <p:cNvSpPr/>
            <p:nvPr/>
          </p:nvSpPr>
          <p:spPr>
            <a:xfrm>
              <a:off x="10527791" y="1399032"/>
              <a:ext cx="203200" cy="1328420"/>
            </a:xfrm>
            <a:custGeom>
              <a:avLst/>
              <a:gdLst/>
              <a:ahLst/>
              <a:cxnLst/>
              <a:rect l="l" t="t" r="r" b="b"/>
              <a:pathLst>
                <a:path w="203200" h="1328420">
                  <a:moveTo>
                    <a:pt x="0" y="0"/>
                  </a:moveTo>
                  <a:lnTo>
                    <a:pt x="0" y="1207007"/>
                  </a:lnTo>
                </a:path>
                <a:path w="203200" h="1328420">
                  <a:moveTo>
                    <a:pt x="202691" y="6857"/>
                  </a:moveTo>
                  <a:lnTo>
                    <a:pt x="202691" y="1328165"/>
                  </a:lnTo>
                </a:path>
              </a:pathLst>
            </a:custGeom>
            <a:ln w="28955">
              <a:solidFill>
                <a:srgbClr val="FFBF00"/>
              </a:solidFill>
              <a:prstDash val="sysDash"/>
            </a:ln>
          </p:spPr>
          <p:txBody>
            <a:bodyPr wrap="square" lIns="0" tIns="0" rIns="0" bIns="0" rtlCol="0"/>
            <a:lstStyle/>
            <a:p>
              <a:endParaRPr/>
            </a:p>
          </p:txBody>
        </p:sp>
      </p:grpSp>
      <p:sp>
        <p:nvSpPr>
          <p:cNvPr id="17" name="object 17"/>
          <p:cNvSpPr txBox="1"/>
          <p:nvPr/>
        </p:nvSpPr>
        <p:spPr>
          <a:xfrm>
            <a:off x="10334243" y="1143254"/>
            <a:ext cx="506095" cy="330200"/>
          </a:xfrm>
          <a:prstGeom prst="rect">
            <a:avLst/>
          </a:prstGeom>
        </p:spPr>
        <p:txBody>
          <a:bodyPr vert="horz" wrap="square" lIns="0" tIns="12065" rIns="0" bIns="0" rtlCol="0">
            <a:spAutoFit/>
          </a:bodyPr>
          <a:lstStyle/>
          <a:p>
            <a:pPr marL="38100">
              <a:lnSpc>
                <a:spcPct val="100000"/>
              </a:lnSpc>
              <a:spcBef>
                <a:spcPts val="95"/>
              </a:spcBef>
            </a:pPr>
            <a:r>
              <a:rPr sz="3000" i="1" spc="-15" baseline="13888" dirty="0">
                <a:latin typeface="Verdana"/>
                <a:cs typeface="Verdana"/>
              </a:rPr>
              <a:t>t</a:t>
            </a:r>
            <a:r>
              <a:rPr sz="1300" spc="-10" dirty="0">
                <a:latin typeface="Verdana"/>
                <a:cs typeface="Verdana"/>
              </a:rPr>
              <a:t>j,pp</a:t>
            </a:r>
            <a:endParaRPr sz="1300">
              <a:latin typeface="Verdana"/>
              <a:cs typeface="Verdana"/>
            </a:endParaRPr>
          </a:p>
        </p:txBody>
      </p:sp>
      <p:sp>
        <p:nvSpPr>
          <p:cNvPr id="18" name="object 18"/>
          <p:cNvSpPr/>
          <p:nvPr/>
        </p:nvSpPr>
        <p:spPr>
          <a:xfrm>
            <a:off x="6656831" y="2641092"/>
            <a:ext cx="504825" cy="2436495"/>
          </a:xfrm>
          <a:custGeom>
            <a:avLst/>
            <a:gdLst/>
            <a:ahLst/>
            <a:cxnLst/>
            <a:rect l="l" t="t" r="r" b="b"/>
            <a:pathLst>
              <a:path w="504825" h="2436495">
                <a:moveTo>
                  <a:pt x="479206" y="45258"/>
                </a:moveTo>
                <a:lnTo>
                  <a:pt x="422909" y="129539"/>
                </a:lnTo>
                <a:lnTo>
                  <a:pt x="399287" y="175259"/>
                </a:lnTo>
                <a:lnTo>
                  <a:pt x="352043" y="270509"/>
                </a:lnTo>
                <a:lnTo>
                  <a:pt x="306323" y="371856"/>
                </a:lnTo>
                <a:lnTo>
                  <a:pt x="284225" y="425195"/>
                </a:lnTo>
                <a:lnTo>
                  <a:pt x="262889" y="481583"/>
                </a:lnTo>
                <a:lnTo>
                  <a:pt x="242315" y="539495"/>
                </a:lnTo>
                <a:lnTo>
                  <a:pt x="222503" y="600456"/>
                </a:lnTo>
                <a:lnTo>
                  <a:pt x="213359" y="632459"/>
                </a:lnTo>
                <a:lnTo>
                  <a:pt x="203453" y="664463"/>
                </a:lnTo>
                <a:lnTo>
                  <a:pt x="194309" y="697991"/>
                </a:lnTo>
                <a:lnTo>
                  <a:pt x="185927" y="731519"/>
                </a:lnTo>
                <a:lnTo>
                  <a:pt x="176783" y="766571"/>
                </a:lnTo>
                <a:lnTo>
                  <a:pt x="160019" y="838961"/>
                </a:lnTo>
                <a:lnTo>
                  <a:pt x="144779" y="915161"/>
                </a:lnTo>
                <a:lnTo>
                  <a:pt x="137921" y="954785"/>
                </a:lnTo>
                <a:lnTo>
                  <a:pt x="130301" y="995933"/>
                </a:lnTo>
                <a:lnTo>
                  <a:pt x="123443" y="1037082"/>
                </a:lnTo>
                <a:lnTo>
                  <a:pt x="117347" y="1078992"/>
                </a:lnTo>
                <a:lnTo>
                  <a:pt x="110489" y="1122426"/>
                </a:lnTo>
                <a:lnTo>
                  <a:pt x="104393" y="1166622"/>
                </a:lnTo>
                <a:lnTo>
                  <a:pt x="87629" y="1303020"/>
                </a:lnTo>
                <a:lnTo>
                  <a:pt x="76961" y="1396745"/>
                </a:lnTo>
                <a:lnTo>
                  <a:pt x="49529" y="1693926"/>
                </a:lnTo>
                <a:lnTo>
                  <a:pt x="0" y="2435352"/>
                </a:lnTo>
                <a:lnTo>
                  <a:pt x="19050" y="2436114"/>
                </a:lnTo>
                <a:lnTo>
                  <a:pt x="45719" y="2007108"/>
                </a:lnTo>
                <a:lnTo>
                  <a:pt x="68579" y="1695450"/>
                </a:lnTo>
                <a:lnTo>
                  <a:pt x="86105" y="1495805"/>
                </a:lnTo>
                <a:lnTo>
                  <a:pt x="96011" y="1399032"/>
                </a:lnTo>
                <a:lnTo>
                  <a:pt x="117347" y="1213104"/>
                </a:lnTo>
                <a:lnTo>
                  <a:pt x="135635" y="1082039"/>
                </a:lnTo>
                <a:lnTo>
                  <a:pt x="156209" y="958595"/>
                </a:lnTo>
                <a:lnTo>
                  <a:pt x="179069" y="842772"/>
                </a:lnTo>
                <a:lnTo>
                  <a:pt x="204215" y="736091"/>
                </a:lnTo>
                <a:lnTo>
                  <a:pt x="213359" y="702563"/>
                </a:lnTo>
                <a:lnTo>
                  <a:pt x="221741" y="669797"/>
                </a:lnTo>
                <a:lnTo>
                  <a:pt x="231647" y="637794"/>
                </a:lnTo>
                <a:lnTo>
                  <a:pt x="240791" y="605789"/>
                </a:lnTo>
                <a:lnTo>
                  <a:pt x="260603" y="545591"/>
                </a:lnTo>
                <a:lnTo>
                  <a:pt x="281177" y="487680"/>
                </a:lnTo>
                <a:lnTo>
                  <a:pt x="302513" y="432053"/>
                </a:lnTo>
                <a:lnTo>
                  <a:pt x="323849" y="379475"/>
                </a:lnTo>
                <a:lnTo>
                  <a:pt x="346709" y="328421"/>
                </a:lnTo>
                <a:lnTo>
                  <a:pt x="369569" y="278891"/>
                </a:lnTo>
                <a:lnTo>
                  <a:pt x="392429" y="230886"/>
                </a:lnTo>
                <a:lnTo>
                  <a:pt x="416051" y="183641"/>
                </a:lnTo>
                <a:lnTo>
                  <a:pt x="439673" y="137921"/>
                </a:lnTo>
                <a:lnTo>
                  <a:pt x="475753" y="71563"/>
                </a:lnTo>
                <a:lnTo>
                  <a:pt x="479206" y="45258"/>
                </a:lnTo>
                <a:close/>
              </a:path>
              <a:path w="504825" h="2436495">
                <a:moveTo>
                  <a:pt x="504443" y="0"/>
                </a:moveTo>
                <a:lnTo>
                  <a:pt x="391667" y="94487"/>
                </a:lnTo>
                <a:lnTo>
                  <a:pt x="387857" y="97536"/>
                </a:lnTo>
                <a:lnTo>
                  <a:pt x="387095" y="103631"/>
                </a:lnTo>
                <a:lnTo>
                  <a:pt x="390905" y="108203"/>
                </a:lnTo>
                <a:lnTo>
                  <a:pt x="393953" y="112013"/>
                </a:lnTo>
                <a:lnTo>
                  <a:pt x="400049" y="112775"/>
                </a:lnTo>
                <a:lnTo>
                  <a:pt x="403859" y="108965"/>
                </a:lnTo>
                <a:lnTo>
                  <a:pt x="459566" y="61864"/>
                </a:lnTo>
                <a:lnTo>
                  <a:pt x="483107" y="18287"/>
                </a:lnTo>
                <a:lnTo>
                  <a:pt x="499871" y="27431"/>
                </a:lnTo>
                <a:lnTo>
                  <a:pt x="499871" y="34930"/>
                </a:lnTo>
                <a:lnTo>
                  <a:pt x="504443" y="0"/>
                </a:lnTo>
                <a:close/>
              </a:path>
              <a:path w="504825" h="2436495">
                <a:moveTo>
                  <a:pt x="499871" y="27431"/>
                </a:moveTo>
                <a:lnTo>
                  <a:pt x="483107" y="18287"/>
                </a:lnTo>
                <a:lnTo>
                  <a:pt x="459566" y="61864"/>
                </a:lnTo>
                <a:lnTo>
                  <a:pt x="479206" y="45258"/>
                </a:lnTo>
                <a:lnTo>
                  <a:pt x="482345" y="21336"/>
                </a:lnTo>
                <a:lnTo>
                  <a:pt x="497585" y="29718"/>
                </a:lnTo>
                <a:lnTo>
                  <a:pt x="497585" y="31614"/>
                </a:lnTo>
                <a:lnTo>
                  <a:pt x="499871" y="27431"/>
                </a:lnTo>
                <a:close/>
              </a:path>
              <a:path w="504825" h="2436495">
                <a:moveTo>
                  <a:pt x="499871" y="34930"/>
                </a:moveTo>
                <a:lnTo>
                  <a:pt x="499871" y="27431"/>
                </a:lnTo>
                <a:lnTo>
                  <a:pt x="475753" y="71563"/>
                </a:lnTo>
                <a:lnTo>
                  <a:pt x="466343" y="143256"/>
                </a:lnTo>
                <a:lnTo>
                  <a:pt x="465581" y="148589"/>
                </a:lnTo>
                <a:lnTo>
                  <a:pt x="469391" y="153162"/>
                </a:lnTo>
                <a:lnTo>
                  <a:pt x="480059" y="154686"/>
                </a:lnTo>
                <a:lnTo>
                  <a:pt x="484631" y="150875"/>
                </a:lnTo>
                <a:lnTo>
                  <a:pt x="485393" y="145541"/>
                </a:lnTo>
                <a:lnTo>
                  <a:pt x="499871" y="34930"/>
                </a:lnTo>
                <a:close/>
              </a:path>
              <a:path w="504825" h="2436495">
                <a:moveTo>
                  <a:pt x="497585" y="31614"/>
                </a:moveTo>
                <a:lnTo>
                  <a:pt x="497585" y="29718"/>
                </a:lnTo>
                <a:lnTo>
                  <a:pt x="479206" y="45258"/>
                </a:lnTo>
                <a:lnTo>
                  <a:pt x="475753" y="71563"/>
                </a:lnTo>
                <a:lnTo>
                  <a:pt x="497585" y="31614"/>
                </a:lnTo>
                <a:close/>
              </a:path>
              <a:path w="504825" h="2436495">
                <a:moveTo>
                  <a:pt x="497585" y="29718"/>
                </a:moveTo>
                <a:lnTo>
                  <a:pt x="482345" y="21336"/>
                </a:lnTo>
                <a:lnTo>
                  <a:pt x="479206" y="45258"/>
                </a:lnTo>
                <a:lnTo>
                  <a:pt x="497585" y="29718"/>
                </a:lnTo>
                <a:close/>
              </a:path>
            </a:pathLst>
          </a:custGeom>
          <a:solidFill>
            <a:srgbClr val="000000"/>
          </a:solidFill>
        </p:spPr>
        <p:txBody>
          <a:bodyPr wrap="square" lIns="0" tIns="0" rIns="0" bIns="0" rtlCol="0"/>
          <a:lstStyle/>
          <a:p>
            <a:endParaRPr/>
          </a:p>
        </p:txBody>
      </p:sp>
      <p:grpSp>
        <p:nvGrpSpPr>
          <p:cNvPr id="19" name="object 19"/>
          <p:cNvGrpSpPr/>
          <p:nvPr/>
        </p:nvGrpSpPr>
        <p:grpSpPr>
          <a:xfrm>
            <a:off x="7225283" y="1180338"/>
            <a:ext cx="2736850" cy="2889885"/>
            <a:chOff x="7225283" y="1180338"/>
            <a:chExt cx="2736850" cy="2889885"/>
          </a:xfrm>
        </p:grpSpPr>
        <p:pic>
          <p:nvPicPr>
            <p:cNvPr id="20" name="object 20"/>
            <p:cNvPicPr/>
            <p:nvPr/>
          </p:nvPicPr>
          <p:blipFill>
            <a:blip r:embed="rId4" cstate="print"/>
            <a:stretch>
              <a:fillRect/>
            </a:stretch>
          </p:blipFill>
          <p:spPr>
            <a:xfrm>
              <a:off x="7277099" y="1180338"/>
              <a:ext cx="911352" cy="1210055"/>
            </a:xfrm>
            <a:prstGeom prst="rect">
              <a:avLst/>
            </a:prstGeom>
          </p:spPr>
        </p:pic>
        <p:pic>
          <p:nvPicPr>
            <p:cNvPr id="21" name="object 21"/>
            <p:cNvPicPr/>
            <p:nvPr/>
          </p:nvPicPr>
          <p:blipFill>
            <a:blip r:embed="rId5" cstate="print"/>
            <a:stretch>
              <a:fillRect/>
            </a:stretch>
          </p:blipFill>
          <p:spPr>
            <a:xfrm>
              <a:off x="7277099" y="2859024"/>
              <a:ext cx="911352" cy="1210817"/>
            </a:xfrm>
            <a:prstGeom prst="rect">
              <a:avLst/>
            </a:prstGeom>
          </p:spPr>
        </p:pic>
        <p:sp>
          <p:nvSpPr>
            <p:cNvPr id="22" name="object 22"/>
            <p:cNvSpPr/>
            <p:nvPr/>
          </p:nvSpPr>
          <p:spPr>
            <a:xfrm>
              <a:off x="7306055" y="2339340"/>
              <a:ext cx="91440" cy="692150"/>
            </a:xfrm>
            <a:custGeom>
              <a:avLst/>
              <a:gdLst/>
              <a:ahLst/>
              <a:cxnLst/>
              <a:rect l="l" t="t" r="r" b="b"/>
              <a:pathLst>
                <a:path w="91440" h="692150">
                  <a:moveTo>
                    <a:pt x="91439" y="690372"/>
                  </a:moveTo>
                  <a:lnTo>
                    <a:pt x="12953" y="0"/>
                  </a:lnTo>
                  <a:lnTo>
                    <a:pt x="0" y="1524"/>
                  </a:lnTo>
                  <a:lnTo>
                    <a:pt x="78485" y="691896"/>
                  </a:lnTo>
                  <a:lnTo>
                    <a:pt x="91439" y="690372"/>
                  </a:lnTo>
                  <a:close/>
                </a:path>
              </a:pathLst>
            </a:custGeom>
            <a:solidFill>
              <a:srgbClr val="FF0000"/>
            </a:solidFill>
          </p:spPr>
          <p:txBody>
            <a:bodyPr wrap="square" lIns="0" tIns="0" rIns="0" bIns="0" rtlCol="0"/>
            <a:lstStyle/>
            <a:p>
              <a:endParaRPr/>
            </a:p>
          </p:txBody>
        </p:sp>
        <p:sp>
          <p:nvSpPr>
            <p:cNvPr id="23" name="object 23"/>
            <p:cNvSpPr/>
            <p:nvPr/>
          </p:nvSpPr>
          <p:spPr>
            <a:xfrm>
              <a:off x="7304531" y="2177033"/>
              <a:ext cx="90805" cy="692785"/>
            </a:xfrm>
            <a:custGeom>
              <a:avLst/>
              <a:gdLst/>
              <a:ahLst/>
              <a:cxnLst/>
              <a:rect l="l" t="t" r="r" b="b"/>
              <a:pathLst>
                <a:path w="90804" h="692785">
                  <a:moveTo>
                    <a:pt x="90678" y="1523"/>
                  </a:moveTo>
                  <a:lnTo>
                    <a:pt x="77724" y="0"/>
                  </a:lnTo>
                  <a:lnTo>
                    <a:pt x="0" y="691134"/>
                  </a:lnTo>
                  <a:lnTo>
                    <a:pt x="12192" y="692658"/>
                  </a:lnTo>
                  <a:lnTo>
                    <a:pt x="90678" y="1523"/>
                  </a:lnTo>
                  <a:close/>
                </a:path>
              </a:pathLst>
            </a:custGeom>
            <a:solidFill>
              <a:srgbClr val="0000FF"/>
            </a:solidFill>
          </p:spPr>
          <p:txBody>
            <a:bodyPr wrap="square" lIns="0" tIns="0" rIns="0" bIns="0" rtlCol="0"/>
            <a:lstStyle/>
            <a:p>
              <a:endParaRPr/>
            </a:p>
          </p:txBody>
        </p:sp>
        <p:sp>
          <p:nvSpPr>
            <p:cNvPr id="24" name="object 24"/>
            <p:cNvSpPr/>
            <p:nvPr/>
          </p:nvSpPr>
          <p:spPr>
            <a:xfrm>
              <a:off x="7225283" y="2564130"/>
              <a:ext cx="2110105" cy="85725"/>
            </a:xfrm>
            <a:custGeom>
              <a:avLst/>
              <a:gdLst/>
              <a:ahLst/>
              <a:cxnLst/>
              <a:rect l="l" t="t" r="r" b="b"/>
              <a:pathLst>
                <a:path w="2110104" h="85725">
                  <a:moveTo>
                    <a:pt x="85344" y="57150"/>
                  </a:moveTo>
                  <a:lnTo>
                    <a:pt x="85344" y="28193"/>
                  </a:lnTo>
                  <a:lnTo>
                    <a:pt x="0" y="28193"/>
                  </a:lnTo>
                  <a:lnTo>
                    <a:pt x="0" y="57150"/>
                  </a:lnTo>
                  <a:lnTo>
                    <a:pt x="85344" y="57150"/>
                  </a:lnTo>
                  <a:close/>
                </a:path>
                <a:path w="2110104" h="85725">
                  <a:moveTo>
                    <a:pt x="199644" y="57150"/>
                  </a:moveTo>
                  <a:lnTo>
                    <a:pt x="199644" y="28193"/>
                  </a:lnTo>
                  <a:lnTo>
                    <a:pt x="114300" y="28193"/>
                  </a:lnTo>
                  <a:lnTo>
                    <a:pt x="114300" y="57150"/>
                  </a:lnTo>
                  <a:lnTo>
                    <a:pt x="199644" y="57150"/>
                  </a:lnTo>
                  <a:close/>
                </a:path>
                <a:path w="2110104" h="85725">
                  <a:moveTo>
                    <a:pt x="313944" y="57150"/>
                  </a:moveTo>
                  <a:lnTo>
                    <a:pt x="313944" y="28193"/>
                  </a:lnTo>
                  <a:lnTo>
                    <a:pt x="228600" y="28193"/>
                  </a:lnTo>
                  <a:lnTo>
                    <a:pt x="228600" y="57150"/>
                  </a:lnTo>
                  <a:lnTo>
                    <a:pt x="313944" y="57150"/>
                  </a:lnTo>
                  <a:close/>
                </a:path>
                <a:path w="2110104" h="85725">
                  <a:moveTo>
                    <a:pt x="428244" y="57150"/>
                  </a:moveTo>
                  <a:lnTo>
                    <a:pt x="428244" y="28193"/>
                  </a:lnTo>
                  <a:lnTo>
                    <a:pt x="342900" y="28193"/>
                  </a:lnTo>
                  <a:lnTo>
                    <a:pt x="342900" y="57150"/>
                  </a:lnTo>
                  <a:lnTo>
                    <a:pt x="428244" y="57150"/>
                  </a:lnTo>
                  <a:close/>
                </a:path>
                <a:path w="2110104" h="85725">
                  <a:moveTo>
                    <a:pt x="542544" y="57150"/>
                  </a:moveTo>
                  <a:lnTo>
                    <a:pt x="542544" y="28193"/>
                  </a:lnTo>
                  <a:lnTo>
                    <a:pt x="457200" y="28193"/>
                  </a:lnTo>
                  <a:lnTo>
                    <a:pt x="457200" y="57150"/>
                  </a:lnTo>
                  <a:lnTo>
                    <a:pt x="542544" y="57150"/>
                  </a:lnTo>
                  <a:close/>
                </a:path>
                <a:path w="2110104" h="85725">
                  <a:moveTo>
                    <a:pt x="656844" y="57150"/>
                  </a:moveTo>
                  <a:lnTo>
                    <a:pt x="656844" y="28193"/>
                  </a:lnTo>
                  <a:lnTo>
                    <a:pt x="571500" y="28193"/>
                  </a:lnTo>
                  <a:lnTo>
                    <a:pt x="571500" y="57150"/>
                  </a:lnTo>
                  <a:lnTo>
                    <a:pt x="656844" y="57150"/>
                  </a:lnTo>
                  <a:close/>
                </a:path>
                <a:path w="2110104" h="85725">
                  <a:moveTo>
                    <a:pt x="771144" y="57150"/>
                  </a:moveTo>
                  <a:lnTo>
                    <a:pt x="771144" y="28193"/>
                  </a:lnTo>
                  <a:lnTo>
                    <a:pt x="685800" y="28193"/>
                  </a:lnTo>
                  <a:lnTo>
                    <a:pt x="685800" y="57150"/>
                  </a:lnTo>
                  <a:lnTo>
                    <a:pt x="771144" y="57150"/>
                  </a:lnTo>
                  <a:close/>
                </a:path>
                <a:path w="2110104" h="85725">
                  <a:moveTo>
                    <a:pt x="885444" y="57150"/>
                  </a:moveTo>
                  <a:lnTo>
                    <a:pt x="885444" y="28193"/>
                  </a:lnTo>
                  <a:lnTo>
                    <a:pt x="800100" y="28193"/>
                  </a:lnTo>
                  <a:lnTo>
                    <a:pt x="800100" y="57150"/>
                  </a:lnTo>
                  <a:lnTo>
                    <a:pt x="885444" y="57150"/>
                  </a:lnTo>
                  <a:close/>
                </a:path>
                <a:path w="2110104" h="85725">
                  <a:moveTo>
                    <a:pt x="999744" y="57150"/>
                  </a:moveTo>
                  <a:lnTo>
                    <a:pt x="999744" y="28193"/>
                  </a:lnTo>
                  <a:lnTo>
                    <a:pt x="914400" y="28193"/>
                  </a:lnTo>
                  <a:lnTo>
                    <a:pt x="914400" y="57150"/>
                  </a:lnTo>
                  <a:lnTo>
                    <a:pt x="999744" y="57150"/>
                  </a:lnTo>
                  <a:close/>
                </a:path>
                <a:path w="2110104" h="85725">
                  <a:moveTo>
                    <a:pt x="1114044" y="57150"/>
                  </a:moveTo>
                  <a:lnTo>
                    <a:pt x="1114044" y="28193"/>
                  </a:lnTo>
                  <a:lnTo>
                    <a:pt x="1028700" y="28193"/>
                  </a:lnTo>
                  <a:lnTo>
                    <a:pt x="1028700" y="57150"/>
                  </a:lnTo>
                  <a:lnTo>
                    <a:pt x="1114044" y="57150"/>
                  </a:lnTo>
                  <a:close/>
                </a:path>
                <a:path w="2110104" h="85725">
                  <a:moveTo>
                    <a:pt x="1228344" y="57150"/>
                  </a:moveTo>
                  <a:lnTo>
                    <a:pt x="1228344" y="28193"/>
                  </a:lnTo>
                  <a:lnTo>
                    <a:pt x="1143000" y="28193"/>
                  </a:lnTo>
                  <a:lnTo>
                    <a:pt x="1143000" y="57150"/>
                  </a:lnTo>
                  <a:lnTo>
                    <a:pt x="1228344" y="57150"/>
                  </a:lnTo>
                  <a:close/>
                </a:path>
                <a:path w="2110104" h="85725">
                  <a:moveTo>
                    <a:pt x="1342644" y="57150"/>
                  </a:moveTo>
                  <a:lnTo>
                    <a:pt x="1342644" y="28193"/>
                  </a:lnTo>
                  <a:lnTo>
                    <a:pt x="1257300" y="28193"/>
                  </a:lnTo>
                  <a:lnTo>
                    <a:pt x="1257300" y="57150"/>
                  </a:lnTo>
                  <a:lnTo>
                    <a:pt x="1342644" y="57150"/>
                  </a:lnTo>
                  <a:close/>
                </a:path>
                <a:path w="2110104" h="85725">
                  <a:moveTo>
                    <a:pt x="1456944" y="57150"/>
                  </a:moveTo>
                  <a:lnTo>
                    <a:pt x="1456944" y="28193"/>
                  </a:lnTo>
                  <a:lnTo>
                    <a:pt x="1371600" y="28193"/>
                  </a:lnTo>
                  <a:lnTo>
                    <a:pt x="1371600" y="57150"/>
                  </a:lnTo>
                  <a:lnTo>
                    <a:pt x="1456944" y="57150"/>
                  </a:lnTo>
                  <a:close/>
                </a:path>
                <a:path w="2110104" h="85725">
                  <a:moveTo>
                    <a:pt x="1571244" y="57150"/>
                  </a:moveTo>
                  <a:lnTo>
                    <a:pt x="1571244" y="28193"/>
                  </a:lnTo>
                  <a:lnTo>
                    <a:pt x="1485900" y="28193"/>
                  </a:lnTo>
                  <a:lnTo>
                    <a:pt x="1485900" y="57150"/>
                  </a:lnTo>
                  <a:lnTo>
                    <a:pt x="1571244" y="57150"/>
                  </a:lnTo>
                  <a:close/>
                </a:path>
                <a:path w="2110104" h="85725">
                  <a:moveTo>
                    <a:pt x="1685544" y="57149"/>
                  </a:moveTo>
                  <a:lnTo>
                    <a:pt x="1685544" y="28193"/>
                  </a:lnTo>
                  <a:lnTo>
                    <a:pt x="1600200" y="28193"/>
                  </a:lnTo>
                  <a:lnTo>
                    <a:pt x="1600200" y="57150"/>
                  </a:lnTo>
                  <a:lnTo>
                    <a:pt x="1685544" y="57149"/>
                  </a:lnTo>
                  <a:close/>
                </a:path>
                <a:path w="2110104" h="85725">
                  <a:moveTo>
                    <a:pt x="1799844" y="57149"/>
                  </a:moveTo>
                  <a:lnTo>
                    <a:pt x="1799844" y="28193"/>
                  </a:lnTo>
                  <a:lnTo>
                    <a:pt x="1714500" y="28193"/>
                  </a:lnTo>
                  <a:lnTo>
                    <a:pt x="1714500" y="57149"/>
                  </a:lnTo>
                  <a:lnTo>
                    <a:pt x="1799844" y="57149"/>
                  </a:lnTo>
                  <a:close/>
                </a:path>
                <a:path w="2110104" h="85725">
                  <a:moveTo>
                    <a:pt x="1914144" y="57149"/>
                  </a:moveTo>
                  <a:lnTo>
                    <a:pt x="1914144" y="28193"/>
                  </a:lnTo>
                  <a:lnTo>
                    <a:pt x="1828800" y="28193"/>
                  </a:lnTo>
                  <a:lnTo>
                    <a:pt x="1828800" y="57149"/>
                  </a:lnTo>
                  <a:lnTo>
                    <a:pt x="1914144" y="57149"/>
                  </a:lnTo>
                  <a:close/>
                </a:path>
                <a:path w="2110104" h="85725">
                  <a:moveTo>
                    <a:pt x="1981961" y="57149"/>
                  </a:moveTo>
                  <a:lnTo>
                    <a:pt x="1981961" y="28193"/>
                  </a:lnTo>
                  <a:lnTo>
                    <a:pt x="1943100" y="28193"/>
                  </a:lnTo>
                  <a:lnTo>
                    <a:pt x="1943100" y="57149"/>
                  </a:lnTo>
                  <a:lnTo>
                    <a:pt x="1981961" y="57149"/>
                  </a:lnTo>
                  <a:close/>
                </a:path>
                <a:path w="2110104" h="85725">
                  <a:moveTo>
                    <a:pt x="2109978" y="42671"/>
                  </a:moveTo>
                  <a:lnTo>
                    <a:pt x="1967484" y="0"/>
                  </a:lnTo>
                  <a:lnTo>
                    <a:pt x="1967484" y="28193"/>
                  </a:lnTo>
                  <a:lnTo>
                    <a:pt x="1981961" y="28193"/>
                  </a:lnTo>
                  <a:lnTo>
                    <a:pt x="1981961" y="81008"/>
                  </a:lnTo>
                  <a:lnTo>
                    <a:pt x="2109978" y="42671"/>
                  </a:lnTo>
                  <a:close/>
                </a:path>
                <a:path w="2110104" h="85725">
                  <a:moveTo>
                    <a:pt x="1981961" y="81008"/>
                  </a:moveTo>
                  <a:lnTo>
                    <a:pt x="1981961" y="57149"/>
                  </a:lnTo>
                  <a:lnTo>
                    <a:pt x="1967484" y="57149"/>
                  </a:lnTo>
                  <a:lnTo>
                    <a:pt x="1967484" y="85343"/>
                  </a:lnTo>
                  <a:lnTo>
                    <a:pt x="1981961" y="81008"/>
                  </a:lnTo>
                  <a:close/>
                </a:path>
              </a:pathLst>
            </a:custGeom>
            <a:solidFill>
              <a:srgbClr val="00FFFF"/>
            </a:solidFill>
          </p:spPr>
          <p:txBody>
            <a:bodyPr wrap="square" lIns="0" tIns="0" rIns="0" bIns="0" rtlCol="0"/>
            <a:lstStyle/>
            <a:p>
              <a:endParaRPr/>
            </a:p>
          </p:txBody>
        </p:sp>
        <p:sp>
          <p:nvSpPr>
            <p:cNvPr id="25" name="object 25"/>
            <p:cNvSpPr/>
            <p:nvPr/>
          </p:nvSpPr>
          <p:spPr>
            <a:xfrm>
              <a:off x="7244333" y="1931670"/>
              <a:ext cx="112395" cy="675640"/>
            </a:xfrm>
            <a:custGeom>
              <a:avLst/>
              <a:gdLst/>
              <a:ahLst/>
              <a:cxnLst/>
              <a:rect l="l" t="t" r="r" b="b"/>
              <a:pathLst>
                <a:path w="112395" h="675639">
                  <a:moveTo>
                    <a:pt x="112014" y="675131"/>
                  </a:moveTo>
                  <a:lnTo>
                    <a:pt x="0" y="0"/>
                  </a:lnTo>
                  <a:lnTo>
                    <a:pt x="0" y="675131"/>
                  </a:lnTo>
                  <a:lnTo>
                    <a:pt x="112014" y="675131"/>
                  </a:lnTo>
                  <a:close/>
                </a:path>
              </a:pathLst>
            </a:custGeom>
            <a:solidFill>
              <a:srgbClr val="FF0000"/>
            </a:solidFill>
          </p:spPr>
          <p:txBody>
            <a:bodyPr wrap="square" lIns="0" tIns="0" rIns="0" bIns="0" rtlCol="0"/>
            <a:lstStyle/>
            <a:p>
              <a:endParaRPr/>
            </a:p>
          </p:txBody>
        </p:sp>
        <p:sp>
          <p:nvSpPr>
            <p:cNvPr id="26" name="object 26"/>
            <p:cNvSpPr/>
            <p:nvPr/>
          </p:nvSpPr>
          <p:spPr>
            <a:xfrm>
              <a:off x="7244333" y="2599182"/>
              <a:ext cx="109855" cy="700405"/>
            </a:xfrm>
            <a:custGeom>
              <a:avLst/>
              <a:gdLst/>
              <a:ahLst/>
              <a:cxnLst/>
              <a:rect l="l" t="t" r="r" b="b"/>
              <a:pathLst>
                <a:path w="109854" h="700404">
                  <a:moveTo>
                    <a:pt x="109728" y="0"/>
                  </a:moveTo>
                  <a:lnTo>
                    <a:pt x="0" y="0"/>
                  </a:lnTo>
                  <a:lnTo>
                    <a:pt x="0" y="700278"/>
                  </a:lnTo>
                  <a:lnTo>
                    <a:pt x="109728" y="0"/>
                  </a:lnTo>
                  <a:close/>
                </a:path>
              </a:pathLst>
            </a:custGeom>
            <a:solidFill>
              <a:srgbClr val="0000FF"/>
            </a:solidFill>
          </p:spPr>
          <p:txBody>
            <a:bodyPr wrap="square" lIns="0" tIns="0" rIns="0" bIns="0" rtlCol="0"/>
            <a:lstStyle/>
            <a:p>
              <a:endParaRPr/>
            </a:p>
          </p:txBody>
        </p:sp>
        <p:sp>
          <p:nvSpPr>
            <p:cNvPr id="27" name="object 27"/>
            <p:cNvSpPr/>
            <p:nvPr/>
          </p:nvSpPr>
          <p:spPr>
            <a:xfrm>
              <a:off x="9876281" y="1466850"/>
              <a:ext cx="85725" cy="600075"/>
            </a:xfrm>
            <a:custGeom>
              <a:avLst/>
              <a:gdLst/>
              <a:ahLst/>
              <a:cxnLst/>
              <a:rect l="l" t="t" r="r" b="b"/>
              <a:pathLst>
                <a:path w="85725" h="600075">
                  <a:moveTo>
                    <a:pt x="57150" y="86106"/>
                  </a:moveTo>
                  <a:lnTo>
                    <a:pt x="57150" y="0"/>
                  </a:lnTo>
                  <a:lnTo>
                    <a:pt x="28194" y="0"/>
                  </a:lnTo>
                  <a:lnTo>
                    <a:pt x="28194" y="86106"/>
                  </a:lnTo>
                  <a:lnTo>
                    <a:pt x="57150" y="86106"/>
                  </a:lnTo>
                  <a:close/>
                </a:path>
                <a:path w="85725" h="600075">
                  <a:moveTo>
                    <a:pt x="57150" y="200406"/>
                  </a:moveTo>
                  <a:lnTo>
                    <a:pt x="57150" y="114300"/>
                  </a:lnTo>
                  <a:lnTo>
                    <a:pt x="28194" y="114300"/>
                  </a:lnTo>
                  <a:lnTo>
                    <a:pt x="28194" y="200406"/>
                  </a:lnTo>
                  <a:lnTo>
                    <a:pt x="57150" y="200406"/>
                  </a:lnTo>
                  <a:close/>
                </a:path>
                <a:path w="85725" h="600075">
                  <a:moveTo>
                    <a:pt x="57150" y="314706"/>
                  </a:moveTo>
                  <a:lnTo>
                    <a:pt x="57150" y="228600"/>
                  </a:lnTo>
                  <a:lnTo>
                    <a:pt x="28194" y="228600"/>
                  </a:lnTo>
                  <a:lnTo>
                    <a:pt x="28194" y="314706"/>
                  </a:lnTo>
                  <a:lnTo>
                    <a:pt x="57150" y="314706"/>
                  </a:lnTo>
                  <a:close/>
                </a:path>
                <a:path w="85725" h="600075">
                  <a:moveTo>
                    <a:pt x="57150" y="429006"/>
                  </a:moveTo>
                  <a:lnTo>
                    <a:pt x="57150" y="342900"/>
                  </a:lnTo>
                  <a:lnTo>
                    <a:pt x="28194" y="342900"/>
                  </a:lnTo>
                  <a:lnTo>
                    <a:pt x="28194" y="429006"/>
                  </a:lnTo>
                  <a:lnTo>
                    <a:pt x="57150" y="429006"/>
                  </a:lnTo>
                  <a:close/>
                </a:path>
                <a:path w="85725" h="600075">
                  <a:moveTo>
                    <a:pt x="85344" y="456438"/>
                  </a:moveTo>
                  <a:lnTo>
                    <a:pt x="0" y="456438"/>
                  </a:lnTo>
                  <a:lnTo>
                    <a:pt x="28194" y="551089"/>
                  </a:lnTo>
                  <a:lnTo>
                    <a:pt x="28194" y="457200"/>
                  </a:lnTo>
                  <a:lnTo>
                    <a:pt x="57150" y="457200"/>
                  </a:lnTo>
                  <a:lnTo>
                    <a:pt x="57150" y="551089"/>
                  </a:lnTo>
                  <a:lnTo>
                    <a:pt x="85344" y="456438"/>
                  </a:lnTo>
                  <a:close/>
                </a:path>
                <a:path w="85725" h="600075">
                  <a:moveTo>
                    <a:pt x="57150" y="470916"/>
                  </a:moveTo>
                  <a:lnTo>
                    <a:pt x="57150" y="457200"/>
                  </a:lnTo>
                  <a:lnTo>
                    <a:pt x="28194" y="457200"/>
                  </a:lnTo>
                  <a:lnTo>
                    <a:pt x="28194" y="470916"/>
                  </a:lnTo>
                  <a:lnTo>
                    <a:pt x="57150" y="470916"/>
                  </a:lnTo>
                  <a:close/>
                </a:path>
                <a:path w="85725" h="600075">
                  <a:moveTo>
                    <a:pt x="57150" y="551089"/>
                  </a:moveTo>
                  <a:lnTo>
                    <a:pt x="57150" y="470916"/>
                  </a:lnTo>
                  <a:lnTo>
                    <a:pt x="28194" y="470916"/>
                  </a:lnTo>
                  <a:lnTo>
                    <a:pt x="28194" y="551089"/>
                  </a:lnTo>
                  <a:lnTo>
                    <a:pt x="42672" y="599694"/>
                  </a:lnTo>
                  <a:lnTo>
                    <a:pt x="57150" y="551089"/>
                  </a:lnTo>
                  <a:close/>
                </a:path>
              </a:pathLst>
            </a:custGeom>
            <a:solidFill>
              <a:srgbClr val="FFBF00"/>
            </a:solidFill>
          </p:spPr>
          <p:txBody>
            <a:bodyPr wrap="square" lIns="0" tIns="0" rIns="0" bIns="0" rtlCol="0"/>
            <a:lstStyle/>
            <a:p>
              <a:endParaRPr/>
            </a:p>
          </p:txBody>
        </p:sp>
      </p:grpSp>
      <p:sp>
        <p:nvSpPr>
          <p:cNvPr id="28" name="object 28"/>
          <p:cNvSpPr/>
          <p:nvPr/>
        </p:nvSpPr>
        <p:spPr>
          <a:xfrm>
            <a:off x="1629155" y="5588508"/>
            <a:ext cx="675640" cy="113030"/>
          </a:xfrm>
          <a:custGeom>
            <a:avLst/>
            <a:gdLst/>
            <a:ahLst/>
            <a:cxnLst/>
            <a:rect l="l" t="t" r="r" b="b"/>
            <a:pathLst>
              <a:path w="675639" h="113029">
                <a:moveTo>
                  <a:pt x="675132" y="112775"/>
                </a:moveTo>
                <a:lnTo>
                  <a:pt x="675132" y="0"/>
                </a:lnTo>
                <a:lnTo>
                  <a:pt x="0" y="112775"/>
                </a:lnTo>
                <a:lnTo>
                  <a:pt x="675132" y="112775"/>
                </a:lnTo>
                <a:close/>
              </a:path>
            </a:pathLst>
          </a:custGeom>
          <a:solidFill>
            <a:srgbClr val="FF0000"/>
          </a:solidFill>
        </p:spPr>
        <p:txBody>
          <a:bodyPr wrap="square" lIns="0" tIns="0" rIns="0" bIns="0" rtlCol="0"/>
          <a:lstStyle/>
          <a:p>
            <a:endParaRPr/>
          </a:p>
        </p:txBody>
      </p:sp>
      <p:sp>
        <p:nvSpPr>
          <p:cNvPr id="29" name="object 29"/>
          <p:cNvSpPr/>
          <p:nvPr/>
        </p:nvSpPr>
        <p:spPr>
          <a:xfrm>
            <a:off x="1629155" y="5937503"/>
            <a:ext cx="700405" cy="109220"/>
          </a:xfrm>
          <a:custGeom>
            <a:avLst/>
            <a:gdLst/>
            <a:ahLst/>
            <a:cxnLst/>
            <a:rect l="l" t="t" r="r" b="b"/>
            <a:pathLst>
              <a:path w="700405" h="109220">
                <a:moveTo>
                  <a:pt x="700278" y="108965"/>
                </a:moveTo>
                <a:lnTo>
                  <a:pt x="0" y="0"/>
                </a:lnTo>
                <a:lnTo>
                  <a:pt x="0" y="108965"/>
                </a:lnTo>
                <a:lnTo>
                  <a:pt x="700278" y="108965"/>
                </a:lnTo>
                <a:close/>
              </a:path>
            </a:pathLst>
          </a:custGeom>
          <a:solidFill>
            <a:srgbClr val="0000FF"/>
          </a:solidFill>
        </p:spPr>
        <p:txBody>
          <a:bodyPr wrap="square" lIns="0" tIns="0" rIns="0" bIns="0" rtlCol="0"/>
          <a:lstStyle/>
          <a:p>
            <a:endParaRPr/>
          </a:p>
        </p:txBody>
      </p:sp>
      <p:sp>
        <p:nvSpPr>
          <p:cNvPr id="30" name="object 30"/>
          <p:cNvSpPr txBox="1"/>
          <p:nvPr/>
        </p:nvSpPr>
        <p:spPr>
          <a:xfrm>
            <a:off x="9433559" y="2498089"/>
            <a:ext cx="607695" cy="330200"/>
          </a:xfrm>
          <a:prstGeom prst="rect">
            <a:avLst/>
          </a:prstGeom>
        </p:spPr>
        <p:txBody>
          <a:bodyPr vert="horz" wrap="square" lIns="0" tIns="12065" rIns="0" bIns="0" rtlCol="0">
            <a:spAutoFit/>
          </a:bodyPr>
          <a:lstStyle/>
          <a:p>
            <a:pPr marL="38100">
              <a:lnSpc>
                <a:spcPct val="100000"/>
              </a:lnSpc>
              <a:spcBef>
                <a:spcPts val="95"/>
              </a:spcBef>
            </a:pPr>
            <a:r>
              <a:rPr sz="3000" i="1" spc="-30" baseline="13888" dirty="0">
                <a:solidFill>
                  <a:srgbClr val="00FFFF"/>
                </a:solidFill>
                <a:latin typeface="Verdana"/>
                <a:cs typeface="Verdana"/>
              </a:rPr>
              <a:t>V</a:t>
            </a:r>
            <a:r>
              <a:rPr sz="1300" spc="-20" dirty="0">
                <a:solidFill>
                  <a:srgbClr val="00FFFF"/>
                </a:solidFill>
                <a:latin typeface="Verdana"/>
                <a:cs typeface="Verdana"/>
              </a:rPr>
              <a:t>DTH</a:t>
            </a:r>
            <a:endParaRPr sz="1300">
              <a:latin typeface="Verdana"/>
              <a:cs typeface="Verdana"/>
            </a:endParaRPr>
          </a:p>
        </p:txBody>
      </p:sp>
      <p:sp>
        <p:nvSpPr>
          <p:cNvPr id="32" name="object 32"/>
          <p:cNvSpPr txBox="1"/>
          <p:nvPr/>
        </p:nvSpPr>
        <p:spPr>
          <a:xfrm>
            <a:off x="2365501" y="5847241"/>
            <a:ext cx="6349365" cy="321242"/>
          </a:xfrm>
          <a:prstGeom prst="rect">
            <a:avLst/>
          </a:prstGeom>
        </p:spPr>
        <p:txBody>
          <a:bodyPr vert="horz" wrap="square" lIns="0" tIns="13335" rIns="0" bIns="0" rtlCol="0">
            <a:spAutoFit/>
          </a:bodyPr>
          <a:lstStyle/>
          <a:p>
            <a:pPr marL="12700">
              <a:lnSpc>
                <a:spcPct val="100000"/>
              </a:lnSpc>
              <a:spcBef>
                <a:spcPts val="105"/>
              </a:spcBef>
            </a:pPr>
            <a:r>
              <a:rPr sz="2000" dirty="0">
                <a:latin typeface="Verdana"/>
                <a:cs typeface="Verdana"/>
              </a:rPr>
              <a:t>This</a:t>
            </a:r>
            <a:r>
              <a:rPr sz="2000" spc="-45" dirty="0">
                <a:latin typeface="Verdana"/>
                <a:cs typeface="Verdana"/>
              </a:rPr>
              <a:t> </a:t>
            </a:r>
            <a:r>
              <a:rPr sz="2000" dirty="0">
                <a:latin typeface="Verdana"/>
                <a:cs typeface="Verdana"/>
              </a:rPr>
              <a:t>area</a:t>
            </a:r>
            <a:r>
              <a:rPr sz="2000" spc="-45" dirty="0">
                <a:latin typeface="Verdana"/>
                <a:cs typeface="Verdana"/>
              </a:rPr>
              <a:t> </a:t>
            </a:r>
            <a:r>
              <a:rPr sz="2000" dirty="0">
                <a:latin typeface="Verdana"/>
                <a:cs typeface="Verdana"/>
              </a:rPr>
              <a:t>is</a:t>
            </a:r>
            <a:r>
              <a:rPr sz="2000" spc="-45" dirty="0">
                <a:latin typeface="Verdana"/>
                <a:cs typeface="Verdana"/>
              </a:rPr>
              <a:t> </a:t>
            </a:r>
            <a:r>
              <a:rPr sz="2000" dirty="0">
                <a:latin typeface="Verdana"/>
                <a:cs typeface="Verdana"/>
              </a:rPr>
              <a:t>the</a:t>
            </a:r>
            <a:r>
              <a:rPr sz="2000" spc="-45" dirty="0">
                <a:latin typeface="Verdana"/>
                <a:cs typeface="Verdana"/>
              </a:rPr>
              <a:t> </a:t>
            </a:r>
            <a:r>
              <a:rPr sz="2000" dirty="0">
                <a:latin typeface="Verdana"/>
                <a:cs typeface="Verdana"/>
              </a:rPr>
              <a:t>probability</a:t>
            </a:r>
            <a:r>
              <a:rPr sz="2000" spc="-15" dirty="0">
                <a:latin typeface="Verdana"/>
                <a:cs typeface="Verdana"/>
              </a:rPr>
              <a:t> </a:t>
            </a:r>
            <a:r>
              <a:rPr sz="2000" dirty="0">
                <a:latin typeface="Verdana"/>
                <a:cs typeface="Verdana"/>
              </a:rPr>
              <a:t>that</a:t>
            </a:r>
            <a:r>
              <a:rPr sz="2000" spc="-45" dirty="0">
                <a:latin typeface="Verdana"/>
                <a:cs typeface="Verdana"/>
              </a:rPr>
              <a:t> </a:t>
            </a:r>
            <a:r>
              <a:rPr sz="2000" dirty="0">
                <a:latin typeface="Verdana"/>
                <a:cs typeface="Verdana"/>
              </a:rPr>
              <a:t>1</a:t>
            </a:r>
            <a:r>
              <a:rPr sz="2000" spc="-45" dirty="0">
                <a:latin typeface="Verdana"/>
                <a:cs typeface="Verdana"/>
              </a:rPr>
              <a:t> </a:t>
            </a:r>
            <a:r>
              <a:rPr sz="2000" dirty="0">
                <a:latin typeface="Verdana"/>
                <a:cs typeface="Verdana"/>
              </a:rPr>
              <a:t>is</a:t>
            </a:r>
            <a:r>
              <a:rPr sz="2000" spc="-40" dirty="0">
                <a:latin typeface="Verdana"/>
                <a:cs typeface="Verdana"/>
              </a:rPr>
              <a:t> </a:t>
            </a:r>
            <a:r>
              <a:rPr sz="2000" dirty="0">
                <a:latin typeface="Verdana"/>
                <a:cs typeface="Verdana"/>
              </a:rPr>
              <a:t>decoded</a:t>
            </a:r>
            <a:r>
              <a:rPr sz="2000" spc="-25" dirty="0">
                <a:latin typeface="Verdana"/>
                <a:cs typeface="Verdana"/>
              </a:rPr>
              <a:t> </a:t>
            </a:r>
            <a:r>
              <a:rPr sz="2000" dirty="0">
                <a:latin typeface="Verdana"/>
                <a:cs typeface="Verdana"/>
              </a:rPr>
              <a:t>as</a:t>
            </a:r>
            <a:r>
              <a:rPr sz="2000" spc="-45" dirty="0">
                <a:latin typeface="Verdana"/>
                <a:cs typeface="Verdana"/>
              </a:rPr>
              <a:t> </a:t>
            </a:r>
            <a:r>
              <a:rPr sz="2000" spc="-50" dirty="0">
                <a:latin typeface="Verdana"/>
                <a:cs typeface="Verdana"/>
              </a:rPr>
              <a:t>0</a:t>
            </a:r>
            <a:endParaRPr sz="2000" dirty="0">
              <a:latin typeface="Verdana"/>
              <a:cs typeface="Verdana"/>
            </a:endParaRPr>
          </a:p>
        </p:txBody>
      </p:sp>
      <p:sp>
        <p:nvSpPr>
          <p:cNvPr id="31" name="object 31"/>
          <p:cNvSpPr txBox="1"/>
          <p:nvPr/>
        </p:nvSpPr>
        <p:spPr>
          <a:xfrm>
            <a:off x="9796271" y="1073150"/>
            <a:ext cx="292100" cy="330200"/>
          </a:xfrm>
          <a:prstGeom prst="rect">
            <a:avLst/>
          </a:prstGeom>
        </p:spPr>
        <p:txBody>
          <a:bodyPr vert="horz" wrap="square" lIns="0" tIns="12065" rIns="0" bIns="0" rtlCol="0">
            <a:spAutoFit/>
          </a:bodyPr>
          <a:lstStyle/>
          <a:p>
            <a:pPr marL="38100">
              <a:lnSpc>
                <a:spcPct val="100000"/>
              </a:lnSpc>
              <a:spcBef>
                <a:spcPts val="95"/>
              </a:spcBef>
            </a:pPr>
            <a:r>
              <a:rPr sz="2000" i="1" spc="-25" dirty="0">
                <a:solidFill>
                  <a:srgbClr val="FFC000"/>
                </a:solidFill>
                <a:latin typeface="Verdana"/>
                <a:cs typeface="Verdana"/>
              </a:rPr>
              <a:t>t</a:t>
            </a:r>
            <a:r>
              <a:rPr sz="1950" spc="-37" baseline="-21367" dirty="0">
                <a:solidFill>
                  <a:srgbClr val="FFC000"/>
                </a:solidFill>
                <a:latin typeface="Verdana"/>
                <a:cs typeface="Verdana"/>
              </a:rPr>
              <a:t>S</a:t>
            </a:r>
            <a:endParaRPr sz="1950" baseline="-21367">
              <a:latin typeface="Verdana"/>
              <a:cs typeface="Verdana"/>
            </a:endParaRPr>
          </a:p>
        </p:txBody>
      </p:sp>
      <p:sp>
        <p:nvSpPr>
          <p:cNvPr id="33" name="Slide Number Placeholder 32"/>
          <p:cNvSpPr>
            <a:spLocks noGrp="1"/>
          </p:cNvSpPr>
          <p:nvPr>
            <p:ph type="sldNum" sz="quarter" idx="7"/>
          </p:nvPr>
        </p:nvSpPr>
        <p:spPr>
          <a:xfrm>
            <a:off x="9347200" y="6442074"/>
            <a:ext cx="2514600" cy="365125"/>
          </a:xfrm>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23</a:t>
            </a:fld>
            <a:endParaRPr lang="en-US" spc="-50" dirty="0"/>
          </a:p>
        </p:txBody>
      </p:sp>
      <p:sp>
        <p:nvSpPr>
          <p:cNvPr id="34" name="Date Placeholder 33"/>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35" name="Footer Placeholder 34"/>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23904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7" grpId="0"/>
      <p:bldP spid="18" grpId="0" animBg="1"/>
      <p:bldP spid="28" grpId="0" animBg="1"/>
      <p:bldP spid="29" grpId="0" animBg="1"/>
      <p:bldP spid="30" grpId="0"/>
      <p:bldP spid="32" grpId="0"/>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Bit</a:t>
            </a:r>
            <a:r>
              <a:rPr spc="-55" dirty="0"/>
              <a:t> </a:t>
            </a:r>
            <a:r>
              <a:rPr dirty="0"/>
              <a:t>Error</a:t>
            </a:r>
            <a:r>
              <a:rPr spc="-50" dirty="0"/>
              <a:t> </a:t>
            </a:r>
            <a:r>
              <a:rPr dirty="0"/>
              <a:t>Rate</a:t>
            </a:r>
            <a:r>
              <a:rPr spc="-55" dirty="0"/>
              <a:t> </a:t>
            </a:r>
            <a:r>
              <a:rPr dirty="0"/>
              <a:t>(</a:t>
            </a:r>
            <a:r>
              <a:rPr i="1" dirty="0">
                <a:latin typeface="Verdana"/>
                <a:cs typeface="Verdana"/>
              </a:rPr>
              <a:t>BER</a:t>
            </a:r>
            <a:r>
              <a:rPr dirty="0"/>
              <a:t>)</a:t>
            </a:r>
            <a:r>
              <a:rPr spc="-65" dirty="0"/>
              <a:t> </a:t>
            </a:r>
            <a:r>
              <a:rPr spc="-25" dirty="0"/>
              <a:t>II</a:t>
            </a:r>
          </a:p>
        </p:txBody>
      </p:sp>
      <p:sp>
        <p:nvSpPr>
          <p:cNvPr id="3" name="object 3"/>
          <p:cNvSpPr txBox="1"/>
          <p:nvPr/>
        </p:nvSpPr>
        <p:spPr>
          <a:xfrm>
            <a:off x="809244" y="1294516"/>
            <a:ext cx="7612380" cy="824865"/>
          </a:xfrm>
          <a:prstGeom prst="rect">
            <a:avLst/>
          </a:prstGeom>
        </p:spPr>
        <p:txBody>
          <a:bodyPr vert="horz" wrap="square" lIns="0" tIns="83185" rIns="0" bIns="0" rtlCol="0">
            <a:spAutoFit/>
          </a:bodyPr>
          <a:lstStyle/>
          <a:p>
            <a:pPr marL="508000" indent="-469900">
              <a:lnSpc>
                <a:spcPct val="100000"/>
              </a:lnSpc>
              <a:spcBef>
                <a:spcPts val="655"/>
              </a:spcBef>
              <a:buClr>
                <a:srgbClr val="CC0000"/>
              </a:buClr>
              <a:buSzPct val="79166"/>
              <a:buFont typeface="Wingdings"/>
              <a:buChar char=""/>
              <a:tabLst>
                <a:tab pos="508000" algn="l"/>
              </a:tabLst>
            </a:pPr>
            <a:r>
              <a:rPr sz="2400" dirty="0">
                <a:latin typeface="Verdana"/>
                <a:cs typeface="Verdana"/>
              </a:rPr>
              <a:t>Noise</a:t>
            </a:r>
            <a:r>
              <a:rPr sz="2400" spc="-65" dirty="0">
                <a:latin typeface="Verdana"/>
                <a:cs typeface="Verdana"/>
              </a:rPr>
              <a:t> </a:t>
            </a:r>
            <a:r>
              <a:rPr sz="2400" dirty="0">
                <a:latin typeface="Verdana"/>
                <a:cs typeface="Verdana"/>
              </a:rPr>
              <a:t>is</a:t>
            </a:r>
            <a:r>
              <a:rPr sz="2400" spc="-65" dirty="0">
                <a:latin typeface="Verdana"/>
                <a:cs typeface="Verdana"/>
              </a:rPr>
              <a:t> </a:t>
            </a:r>
            <a:r>
              <a:rPr sz="2400" dirty="0">
                <a:latin typeface="Verdana"/>
                <a:cs typeface="Verdana"/>
              </a:rPr>
              <a:t>assumed</a:t>
            </a:r>
            <a:r>
              <a:rPr sz="2400" spc="-60" dirty="0">
                <a:latin typeface="Verdana"/>
                <a:cs typeface="Verdana"/>
              </a:rPr>
              <a:t> </a:t>
            </a:r>
            <a:r>
              <a:rPr sz="2400" dirty="0">
                <a:latin typeface="Verdana"/>
                <a:cs typeface="Verdana"/>
              </a:rPr>
              <a:t>to</a:t>
            </a:r>
            <a:r>
              <a:rPr sz="2400" spc="-65" dirty="0">
                <a:latin typeface="Verdana"/>
                <a:cs typeface="Verdana"/>
              </a:rPr>
              <a:t> </a:t>
            </a:r>
            <a:r>
              <a:rPr sz="2400" dirty="0">
                <a:latin typeface="Verdana"/>
                <a:cs typeface="Verdana"/>
              </a:rPr>
              <a:t>be</a:t>
            </a:r>
            <a:r>
              <a:rPr sz="2400" spc="-60" dirty="0">
                <a:latin typeface="Verdana"/>
                <a:cs typeface="Verdana"/>
              </a:rPr>
              <a:t> </a:t>
            </a:r>
            <a:r>
              <a:rPr sz="2400" dirty="0">
                <a:latin typeface="Verdana"/>
                <a:cs typeface="Verdana"/>
              </a:rPr>
              <a:t>normal</a:t>
            </a:r>
            <a:r>
              <a:rPr sz="2400" spc="-65" dirty="0">
                <a:latin typeface="Verdana"/>
                <a:cs typeface="Verdana"/>
              </a:rPr>
              <a:t> </a:t>
            </a:r>
            <a:r>
              <a:rPr sz="2400" dirty="0">
                <a:latin typeface="Verdana"/>
                <a:cs typeface="Verdana"/>
              </a:rPr>
              <a:t>distributed</a:t>
            </a:r>
            <a:r>
              <a:rPr sz="2400" spc="-50" dirty="0">
                <a:latin typeface="Verdana"/>
                <a:cs typeface="Verdana"/>
              </a:rPr>
              <a:t> </a:t>
            </a:r>
            <a:r>
              <a:rPr sz="2400" spc="-25" dirty="0">
                <a:latin typeface="Verdana"/>
                <a:cs typeface="Verdana"/>
              </a:rPr>
              <a:t>[3]</a:t>
            </a:r>
            <a:endParaRPr sz="2400">
              <a:latin typeface="Verdana"/>
              <a:cs typeface="Verdana"/>
            </a:endParaRPr>
          </a:p>
          <a:p>
            <a:pPr marL="946150" lvl="1" indent="-437515">
              <a:lnSpc>
                <a:spcPct val="100000"/>
              </a:lnSpc>
              <a:spcBef>
                <a:spcPts val="459"/>
              </a:spcBef>
              <a:buClr>
                <a:srgbClr val="CC0000"/>
              </a:buClr>
              <a:buSzPct val="80000"/>
              <a:buFont typeface="Wingdings"/>
              <a:buChar char=""/>
              <a:tabLst>
                <a:tab pos="946150" algn="l"/>
              </a:tabLst>
            </a:pPr>
            <a:r>
              <a:rPr sz="2000" dirty="0">
                <a:latin typeface="Verdana"/>
                <a:cs typeface="Verdana"/>
              </a:rPr>
              <a:t>Mean</a:t>
            </a:r>
            <a:r>
              <a:rPr sz="2000" spc="-30" dirty="0">
                <a:latin typeface="Verdana"/>
                <a:cs typeface="Verdana"/>
              </a:rPr>
              <a:t> </a:t>
            </a:r>
            <a:r>
              <a:rPr sz="2000" dirty="0">
                <a:latin typeface="Verdana"/>
                <a:cs typeface="Verdana"/>
              </a:rPr>
              <a:t>free</a:t>
            </a:r>
            <a:r>
              <a:rPr sz="2000" spc="-30" dirty="0">
                <a:latin typeface="Verdana"/>
                <a:cs typeface="Verdana"/>
              </a:rPr>
              <a:t> </a:t>
            </a:r>
            <a:r>
              <a:rPr sz="2000" dirty="0">
                <a:solidFill>
                  <a:srgbClr val="0000FF"/>
                </a:solidFill>
                <a:latin typeface="Cambria Math"/>
                <a:cs typeface="Cambria Math"/>
              </a:rPr>
              <a:t>𝜇</a:t>
            </a:r>
            <a:r>
              <a:rPr sz="2000" spc="150" dirty="0">
                <a:solidFill>
                  <a:srgbClr val="0000FF"/>
                </a:solidFill>
                <a:latin typeface="Cambria Math"/>
                <a:cs typeface="Cambria Math"/>
              </a:rPr>
              <a:t> </a:t>
            </a:r>
            <a:r>
              <a:rPr sz="2000" dirty="0">
                <a:solidFill>
                  <a:srgbClr val="0000FF"/>
                </a:solidFill>
                <a:latin typeface="Cambria Math"/>
                <a:cs typeface="Cambria Math"/>
              </a:rPr>
              <a:t>=</a:t>
            </a:r>
            <a:r>
              <a:rPr sz="2000" spc="100" dirty="0">
                <a:solidFill>
                  <a:srgbClr val="0000FF"/>
                </a:solidFill>
                <a:latin typeface="Cambria Math"/>
                <a:cs typeface="Cambria Math"/>
              </a:rPr>
              <a:t> </a:t>
            </a:r>
            <a:r>
              <a:rPr sz="2000" dirty="0">
                <a:solidFill>
                  <a:srgbClr val="0000FF"/>
                </a:solidFill>
                <a:latin typeface="Cambria Math"/>
                <a:cs typeface="Cambria Math"/>
              </a:rPr>
              <a:t>0</a:t>
            </a:r>
            <a:r>
              <a:rPr sz="2000" spc="245" dirty="0">
                <a:solidFill>
                  <a:srgbClr val="0000FF"/>
                </a:solidFill>
                <a:latin typeface="Cambria Math"/>
                <a:cs typeface="Cambria Math"/>
              </a:rPr>
              <a:t> </a:t>
            </a:r>
            <a:r>
              <a:rPr sz="2000" dirty="0">
                <a:latin typeface="Verdana"/>
                <a:cs typeface="Verdana"/>
              </a:rPr>
              <a:t>and</a:t>
            </a:r>
            <a:r>
              <a:rPr sz="2000" spc="-25" dirty="0">
                <a:latin typeface="Verdana"/>
                <a:cs typeface="Verdana"/>
              </a:rPr>
              <a:t> </a:t>
            </a:r>
            <a:r>
              <a:rPr sz="2000" dirty="0">
                <a:latin typeface="Verdana"/>
                <a:cs typeface="Verdana"/>
              </a:rPr>
              <a:t>variance</a:t>
            </a:r>
            <a:r>
              <a:rPr sz="2000" spc="-25" dirty="0">
                <a:latin typeface="Verdana"/>
                <a:cs typeface="Verdana"/>
              </a:rPr>
              <a:t> </a:t>
            </a:r>
            <a:r>
              <a:rPr sz="2000" spc="45" dirty="0">
                <a:solidFill>
                  <a:srgbClr val="0000FF"/>
                </a:solidFill>
                <a:latin typeface="Cambria Math"/>
                <a:cs typeface="Cambria Math"/>
              </a:rPr>
              <a:t>𝜎</a:t>
            </a:r>
            <a:r>
              <a:rPr sz="2175" spc="67" baseline="28735" dirty="0">
                <a:solidFill>
                  <a:srgbClr val="0000FF"/>
                </a:solidFill>
                <a:latin typeface="Cambria Math"/>
                <a:cs typeface="Cambria Math"/>
              </a:rPr>
              <a:t>2</a:t>
            </a:r>
            <a:endParaRPr sz="2175" baseline="28735">
              <a:latin typeface="Cambria Math"/>
              <a:cs typeface="Cambria Math"/>
            </a:endParaRPr>
          </a:p>
        </p:txBody>
      </p:sp>
      <p:sp>
        <p:nvSpPr>
          <p:cNvPr id="4" name="object 4"/>
          <p:cNvSpPr txBox="1"/>
          <p:nvPr/>
        </p:nvSpPr>
        <p:spPr>
          <a:xfrm>
            <a:off x="809244" y="2608579"/>
            <a:ext cx="6605270" cy="756920"/>
          </a:xfrm>
          <a:prstGeom prst="rect">
            <a:avLst/>
          </a:prstGeom>
        </p:spPr>
        <p:txBody>
          <a:bodyPr vert="horz" wrap="square" lIns="0" tIns="12700" rIns="0" bIns="0" rtlCol="0">
            <a:spAutoFit/>
          </a:bodyPr>
          <a:lstStyle/>
          <a:p>
            <a:pPr marL="508000" marR="30480" indent="-470534">
              <a:lnSpc>
                <a:spcPct val="100000"/>
              </a:lnSpc>
              <a:spcBef>
                <a:spcPts val="100"/>
              </a:spcBef>
              <a:buClr>
                <a:srgbClr val="CC0000"/>
              </a:buClr>
              <a:buSzPct val="79166"/>
              <a:buFont typeface="Wingdings"/>
              <a:buChar char=""/>
              <a:tabLst>
                <a:tab pos="508000" algn="l"/>
              </a:tabLst>
            </a:pPr>
            <a:r>
              <a:rPr sz="2400" i="1" dirty="0">
                <a:latin typeface="Verdana"/>
                <a:cs typeface="Verdana"/>
              </a:rPr>
              <a:t>“BER”</a:t>
            </a:r>
            <a:r>
              <a:rPr sz="2400" i="1" spc="-55" dirty="0">
                <a:latin typeface="Verdana"/>
                <a:cs typeface="Verdana"/>
              </a:rPr>
              <a:t> </a:t>
            </a:r>
            <a:r>
              <a:rPr sz="2400" dirty="0">
                <a:latin typeface="Verdana"/>
                <a:cs typeface="Verdana"/>
              </a:rPr>
              <a:t>means</a:t>
            </a:r>
            <a:r>
              <a:rPr sz="2400" spc="-55" dirty="0">
                <a:latin typeface="Verdana"/>
                <a:cs typeface="Verdana"/>
              </a:rPr>
              <a:t> </a:t>
            </a:r>
            <a:r>
              <a:rPr sz="2400" dirty="0">
                <a:latin typeface="Verdana"/>
                <a:cs typeface="Verdana"/>
              </a:rPr>
              <a:t>the</a:t>
            </a:r>
            <a:r>
              <a:rPr sz="2400" spc="-55" dirty="0">
                <a:latin typeface="Verdana"/>
                <a:cs typeface="Verdana"/>
              </a:rPr>
              <a:t> </a:t>
            </a:r>
            <a:r>
              <a:rPr sz="2400" dirty="0">
                <a:latin typeface="Verdana"/>
                <a:cs typeface="Verdana"/>
              </a:rPr>
              <a:t>probability</a:t>
            </a:r>
            <a:r>
              <a:rPr sz="2400" spc="-30" dirty="0">
                <a:latin typeface="Verdana"/>
                <a:cs typeface="Verdana"/>
              </a:rPr>
              <a:t> </a:t>
            </a:r>
            <a:r>
              <a:rPr sz="2400" dirty="0">
                <a:latin typeface="Verdana"/>
                <a:cs typeface="Verdana"/>
              </a:rPr>
              <a:t>that</a:t>
            </a:r>
            <a:r>
              <a:rPr sz="2400" spc="-55" dirty="0">
                <a:latin typeface="Verdana"/>
                <a:cs typeface="Verdana"/>
              </a:rPr>
              <a:t> </a:t>
            </a:r>
            <a:r>
              <a:rPr sz="2400" spc="-10" dirty="0">
                <a:latin typeface="Verdana"/>
                <a:cs typeface="Verdana"/>
              </a:rPr>
              <a:t>noise </a:t>
            </a:r>
            <a:r>
              <a:rPr sz="2400" dirty="0">
                <a:latin typeface="Verdana"/>
                <a:cs typeface="Verdana"/>
              </a:rPr>
              <a:t>becomes</a:t>
            </a:r>
            <a:r>
              <a:rPr sz="2400" spc="-65" dirty="0">
                <a:latin typeface="Verdana"/>
                <a:cs typeface="Verdana"/>
              </a:rPr>
              <a:t> </a:t>
            </a:r>
            <a:r>
              <a:rPr sz="2400" dirty="0">
                <a:latin typeface="Verdana"/>
                <a:cs typeface="Verdana"/>
              </a:rPr>
              <a:t>larger</a:t>
            </a:r>
            <a:r>
              <a:rPr sz="2400" spc="-60" dirty="0">
                <a:latin typeface="Verdana"/>
                <a:cs typeface="Verdana"/>
              </a:rPr>
              <a:t> </a:t>
            </a:r>
            <a:r>
              <a:rPr sz="2400" dirty="0">
                <a:latin typeface="Verdana"/>
                <a:cs typeface="Verdana"/>
              </a:rPr>
              <a:t>than</a:t>
            </a:r>
            <a:r>
              <a:rPr sz="2400" spc="-65" dirty="0">
                <a:latin typeface="Verdana"/>
                <a:cs typeface="Verdana"/>
              </a:rPr>
              <a:t> </a:t>
            </a:r>
            <a:r>
              <a:rPr sz="2400" dirty="0">
                <a:latin typeface="Verdana"/>
                <a:cs typeface="Verdana"/>
              </a:rPr>
              <a:t>the</a:t>
            </a:r>
            <a:r>
              <a:rPr sz="2400" spc="-60" dirty="0">
                <a:latin typeface="Verdana"/>
                <a:cs typeface="Verdana"/>
              </a:rPr>
              <a:t> </a:t>
            </a:r>
            <a:r>
              <a:rPr sz="2400" dirty="0">
                <a:latin typeface="Verdana"/>
                <a:cs typeface="Verdana"/>
              </a:rPr>
              <a:t>threshold</a:t>
            </a:r>
            <a:r>
              <a:rPr sz="2400" spc="-75" dirty="0">
                <a:latin typeface="Verdana"/>
                <a:cs typeface="Verdana"/>
              </a:rPr>
              <a:t> </a:t>
            </a:r>
            <a:r>
              <a:rPr sz="2400" i="1" spc="-20" dirty="0">
                <a:latin typeface="Verdana"/>
                <a:cs typeface="Verdana"/>
              </a:rPr>
              <a:t>V</a:t>
            </a:r>
            <a:r>
              <a:rPr sz="2400" spc="-30" baseline="-20833" dirty="0">
                <a:latin typeface="Verdana"/>
                <a:cs typeface="Verdana"/>
              </a:rPr>
              <a:t>DTH</a:t>
            </a:r>
            <a:endParaRPr sz="2400" baseline="-20833">
              <a:latin typeface="Verdana"/>
              <a:cs typeface="Verdana"/>
            </a:endParaRPr>
          </a:p>
        </p:txBody>
      </p:sp>
      <p:sp>
        <p:nvSpPr>
          <p:cNvPr id="5" name="object 5"/>
          <p:cNvSpPr txBox="1"/>
          <p:nvPr/>
        </p:nvSpPr>
        <p:spPr>
          <a:xfrm>
            <a:off x="834644" y="5351779"/>
            <a:ext cx="6790690" cy="391160"/>
          </a:xfrm>
          <a:prstGeom prst="rect">
            <a:avLst/>
          </a:prstGeom>
        </p:spPr>
        <p:txBody>
          <a:bodyPr vert="horz" wrap="square" lIns="0" tIns="12700" rIns="0" bIns="0" rtlCol="0">
            <a:spAutoFit/>
          </a:bodyPr>
          <a:lstStyle/>
          <a:p>
            <a:pPr marL="482600" indent="-469900">
              <a:lnSpc>
                <a:spcPct val="100000"/>
              </a:lnSpc>
              <a:spcBef>
                <a:spcPts val="100"/>
              </a:spcBef>
              <a:buClr>
                <a:srgbClr val="CC0000"/>
              </a:buClr>
              <a:buSzPct val="79166"/>
              <a:buFont typeface="Wingdings"/>
              <a:buChar char=""/>
              <a:tabLst>
                <a:tab pos="482600" algn="l"/>
              </a:tabLst>
            </a:pPr>
            <a:r>
              <a:rPr sz="2400" dirty="0">
                <a:solidFill>
                  <a:srgbClr val="FF0000"/>
                </a:solidFill>
                <a:latin typeface="Verdana"/>
                <a:cs typeface="Verdana"/>
              </a:rPr>
              <a:t>For</a:t>
            </a:r>
            <a:r>
              <a:rPr sz="2400" spc="-80" dirty="0">
                <a:solidFill>
                  <a:srgbClr val="FF0000"/>
                </a:solidFill>
                <a:latin typeface="Verdana"/>
                <a:cs typeface="Verdana"/>
              </a:rPr>
              <a:t> </a:t>
            </a:r>
            <a:r>
              <a:rPr sz="2400" dirty="0">
                <a:solidFill>
                  <a:srgbClr val="FF0000"/>
                </a:solidFill>
                <a:latin typeface="Verdana"/>
                <a:cs typeface="Verdana"/>
              </a:rPr>
              <a:t>low</a:t>
            </a:r>
            <a:r>
              <a:rPr sz="2400" spc="-65" dirty="0">
                <a:solidFill>
                  <a:srgbClr val="FF0000"/>
                </a:solidFill>
                <a:latin typeface="Verdana"/>
                <a:cs typeface="Verdana"/>
              </a:rPr>
              <a:t> </a:t>
            </a:r>
            <a:r>
              <a:rPr sz="2400" i="1" dirty="0">
                <a:solidFill>
                  <a:srgbClr val="FF0000"/>
                </a:solidFill>
                <a:latin typeface="Verdana"/>
                <a:cs typeface="Verdana"/>
              </a:rPr>
              <a:t>BER:</a:t>
            </a:r>
            <a:r>
              <a:rPr sz="2400" i="1" spc="-65" dirty="0">
                <a:solidFill>
                  <a:srgbClr val="FF0000"/>
                </a:solidFill>
                <a:latin typeface="Verdana"/>
                <a:cs typeface="Verdana"/>
              </a:rPr>
              <a:t> </a:t>
            </a:r>
            <a:r>
              <a:rPr sz="2400" dirty="0">
                <a:latin typeface="Verdana"/>
                <a:cs typeface="Verdana"/>
              </a:rPr>
              <a:t>maximize</a:t>
            </a:r>
            <a:r>
              <a:rPr sz="2400" spc="-50" dirty="0">
                <a:latin typeface="Verdana"/>
                <a:cs typeface="Verdana"/>
              </a:rPr>
              <a:t> </a:t>
            </a:r>
            <a:r>
              <a:rPr sz="2400" dirty="0">
                <a:latin typeface="Verdana"/>
                <a:cs typeface="Verdana"/>
              </a:rPr>
              <a:t>signal</a:t>
            </a:r>
            <a:r>
              <a:rPr sz="2400" spc="-50" dirty="0">
                <a:latin typeface="Verdana"/>
                <a:cs typeface="Verdana"/>
              </a:rPr>
              <a:t> </a:t>
            </a:r>
            <a:r>
              <a:rPr sz="2400" spc="-10" dirty="0">
                <a:latin typeface="Verdana"/>
                <a:cs typeface="Verdana"/>
              </a:rPr>
              <a:t>amplitude,</a:t>
            </a:r>
            <a:endParaRPr sz="2400">
              <a:latin typeface="Verdana"/>
              <a:cs typeface="Verdana"/>
            </a:endParaRPr>
          </a:p>
        </p:txBody>
      </p:sp>
      <p:grpSp>
        <p:nvGrpSpPr>
          <p:cNvPr id="6" name="object 6"/>
          <p:cNvGrpSpPr/>
          <p:nvPr/>
        </p:nvGrpSpPr>
        <p:grpSpPr>
          <a:xfrm>
            <a:off x="8450580" y="1088897"/>
            <a:ext cx="2616200" cy="1060450"/>
            <a:chOff x="8450580" y="1088897"/>
            <a:chExt cx="2616200" cy="1060450"/>
          </a:xfrm>
        </p:grpSpPr>
        <p:pic>
          <p:nvPicPr>
            <p:cNvPr id="7" name="object 7"/>
            <p:cNvPicPr/>
            <p:nvPr/>
          </p:nvPicPr>
          <p:blipFill>
            <a:blip r:embed="rId2" cstate="print"/>
            <a:stretch>
              <a:fillRect/>
            </a:stretch>
          </p:blipFill>
          <p:spPr>
            <a:xfrm>
              <a:off x="9260300" y="1262948"/>
              <a:ext cx="898185" cy="765998"/>
            </a:xfrm>
            <a:prstGeom prst="rect">
              <a:avLst/>
            </a:prstGeom>
          </p:spPr>
        </p:pic>
        <p:sp>
          <p:nvSpPr>
            <p:cNvPr id="8" name="object 8"/>
            <p:cNvSpPr/>
            <p:nvPr/>
          </p:nvSpPr>
          <p:spPr>
            <a:xfrm>
              <a:off x="10111740" y="1985009"/>
              <a:ext cx="713740" cy="119380"/>
            </a:xfrm>
            <a:custGeom>
              <a:avLst/>
              <a:gdLst/>
              <a:ahLst/>
              <a:cxnLst/>
              <a:rect l="l" t="t" r="r" b="b"/>
              <a:pathLst>
                <a:path w="713740" h="119380">
                  <a:moveTo>
                    <a:pt x="713232" y="105917"/>
                  </a:moveTo>
                  <a:lnTo>
                    <a:pt x="1524" y="0"/>
                  </a:lnTo>
                  <a:lnTo>
                    <a:pt x="0" y="12954"/>
                  </a:lnTo>
                  <a:lnTo>
                    <a:pt x="711708" y="118871"/>
                  </a:lnTo>
                  <a:lnTo>
                    <a:pt x="713232" y="105917"/>
                  </a:lnTo>
                  <a:close/>
                </a:path>
              </a:pathLst>
            </a:custGeom>
            <a:solidFill>
              <a:srgbClr val="BF0000"/>
            </a:solidFill>
          </p:spPr>
          <p:txBody>
            <a:bodyPr wrap="square" lIns="0" tIns="0" rIns="0" bIns="0" rtlCol="0"/>
            <a:lstStyle/>
            <a:p>
              <a:endParaRPr/>
            </a:p>
          </p:txBody>
        </p:sp>
        <p:sp>
          <p:nvSpPr>
            <p:cNvPr id="9" name="object 9"/>
            <p:cNvSpPr/>
            <p:nvPr/>
          </p:nvSpPr>
          <p:spPr>
            <a:xfrm>
              <a:off x="8450580" y="2045969"/>
              <a:ext cx="2616200" cy="102870"/>
            </a:xfrm>
            <a:custGeom>
              <a:avLst/>
              <a:gdLst/>
              <a:ahLst/>
              <a:cxnLst/>
              <a:rect l="l" t="t" r="r" b="b"/>
              <a:pathLst>
                <a:path w="2616200" h="102869">
                  <a:moveTo>
                    <a:pt x="2581353" y="51435"/>
                  </a:moveTo>
                  <a:lnTo>
                    <a:pt x="2564602" y="44958"/>
                  </a:lnTo>
                  <a:lnTo>
                    <a:pt x="0" y="44958"/>
                  </a:lnTo>
                  <a:lnTo>
                    <a:pt x="0" y="57912"/>
                  </a:lnTo>
                  <a:lnTo>
                    <a:pt x="2564602" y="57912"/>
                  </a:lnTo>
                  <a:lnTo>
                    <a:pt x="2581353" y="51435"/>
                  </a:lnTo>
                  <a:close/>
                </a:path>
                <a:path w="2616200" h="102869">
                  <a:moveTo>
                    <a:pt x="2615946" y="51054"/>
                  </a:moveTo>
                  <a:lnTo>
                    <a:pt x="2486405" y="762"/>
                  </a:lnTo>
                  <a:lnTo>
                    <a:pt x="2483358" y="0"/>
                  </a:lnTo>
                  <a:lnTo>
                    <a:pt x="2479548" y="1524"/>
                  </a:lnTo>
                  <a:lnTo>
                    <a:pt x="2476500" y="7620"/>
                  </a:lnTo>
                  <a:lnTo>
                    <a:pt x="2478786" y="11430"/>
                  </a:lnTo>
                  <a:lnTo>
                    <a:pt x="2481834" y="12954"/>
                  </a:lnTo>
                  <a:lnTo>
                    <a:pt x="2564602" y="44958"/>
                  </a:lnTo>
                  <a:lnTo>
                    <a:pt x="2598420" y="44958"/>
                  </a:lnTo>
                  <a:lnTo>
                    <a:pt x="2598420" y="57961"/>
                  </a:lnTo>
                  <a:lnTo>
                    <a:pt x="2615946" y="51054"/>
                  </a:lnTo>
                  <a:close/>
                </a:path>
                <a:path w="2616200" h="102869">
                  <a:moveTo>
                    <a:pt x="2598420" y="57961"/>
                  </a:moveTo>
                  <a:lnTo>
                    <a:pt x="2564602" y="57912"/>
                  </a:lnTo>
                  <a:lnTo>
                    <a:pt x="2481834" y="89916"/>
                  </a:lnTo>
                  <a:lnTo>
                    <a:pt x="2478786" y="91440"/>
                  </a:lnTo>
                  <a:lnTo>
                    <a:pt x="2476500" y="94488"/>
                  </a:lnTo>
                  <a:lnTo>
                    <a:pt x="2478024" y="98298"/>
                  </a:lnTo>
                  <a:lnTo>
                    <a:pt x="2479548" y="101346"/>
                  </a:lnTo>
                  <a:lnTo>
                    <a:pt x="2483358" y="102870"/>
                  </a:lnTo>
                  <a:lnTo>
                    <a:pt x="2486405" y="102108"/>
                  </a:lnTo>
                  <a:lnTo>
                    <a:pt x="2598420" y="57961"/>
                  </a:lnTo>
                  <a:close/>
                </a:path>
                <a:path w="2616200" h="102869">
                  <a:moveTo>
                    <a:pt x="2598420" y="57912"/>
                  </a:moveTo>
                  <a:lnTo>
                    <a:pt x="2598420" y="44958"/>
                  </a:lnTo>
                  <a:lnTo>
                    <a:pt x="2564602" y="44958"/>
                  </a:lnTo>
                  <a:lnTo>
                    <a:pt x="2581353" y="51435"/>
                  </a:lnTo>
                  <a:lnTo>
                    <a:pt x="2596134" y="45720"/>
                  </a:lnTo>
                  <a:lnTo>
                    <a:pt x="2596134" y="57912"/>
                  </a:lnTo>
                  <a:lnTo>
                    <a:pt x="2598420" y="57912"/>
                  </a:lnTo>
                  <a:close/>
                </a:path>
                <a:path w="2616200" h="102869">
                  <a:moveTo>
                    <a:pt x="2596134" y="57912"/>
                  </a:moveTo>
                  <a:lnTo>
                    <a:pt x="2596134" y="57150"/>
                  </a:lnTo>
                  <a:lnTo>
                    <a:pt x="2581353" y="51435"/>
                  </a:lnTo>
                  <a:lnTo>
                    <a:pt x="2564602" y="57912"/>
                  </a:lnTo>
                  <a:lnTo>
                    <a:pt x="2596134" y="57912"/>
                  </a:lnTo>
                  <a:close/>
                </a:path>
                <a:path w="2616200" h="102869">
                  <a:moveTo>
                    <a:pt x="2596134" y="57150"/>
                  </a:moveTo>
                  <a:lnTo>
                    <a:pt x="2596134" y="45720"/>
                  </a:lnTo>
                  <a:lnTo>
                    <a:pt x="2581353" y="51435"/>
                  </a:lnTo>
                  <a:lnTo>
                    <a:pt x="2596134" y="57150"/>
                  </a:lnTo>
                  <a:close/>
                </a:path>
              </a:pathLst>
            </a:custGeom>
            <a:solidFill>
              <a:srgbClr val="000000"/>
            </a:solidFill>
          </p:spPr>
          <p:txBody>
            <a:bodyPr wrap="square" lIns="0" tIns="0" rIns="0" bIns="0" rtlCol="0"/>
            <a:lstStyle/>
            <a:p>
              <a:endParaRPr/>
            </a:p>
          </p:txBody>
        </p:sp>
        <p:sp>
          <p:nvSpPr>
            <p:cNvPr id="10" name="object 10"/>
            <p:cNvSpPr/>
            <p:nvPr/>
          </p:nvSpPr>
          <p:spPr>
            <a:xfrm>
              <a:off x="8585454" y="1985771"/>
              <a:ext cx="2239010" cy="111760"/>
            </a:xfrm>
            <a:custGeom>
              <a:avLst/>
              <a:gdLst/>
              <a:ahLst/>
              <a:cxnLst/>
              <a:rect l="l" t="t" r="r" b="b"/>
              <a:pathLst>
                <a:path w="2239009" h="111760">
                  <a:moveTo>
                    <a:pt x="713232" y="12192"/>
                  </a:moveTo>
                  <a:lnTo>
                    <a:pt x="711708" y="0"/>
                  </a:lnTo>
                  <a:lnTo>
                    <a:pt x="0" y="97536"/>
                  </a:lnTo>
                  <a:lnTo>
                    <a:pt x="1524" y="109728"/>
                  </a:lnTo>
                  <a:lnTo>
                    <a:pt x="713232" y="12192"/>
                  </a:lnTo>
                  <a:close/>
                </a:path>
                <a:path w="2239009" h="111760">
                  <a:moveTo>
                    <a:pt x="2238756" y="111252"/>
                  </a:moveTo>
                  <a:lnTo>
                    <a:pt x="1687830" y="24384"/>
                  </a:lnTo>
                  <a:lnTo>
                    <a:pt x="1687830" y="111252"/>
                  </a:lnTo>
                  <a:lnTo>
                    <a:pt x="2238756" y="111252"/>
                  </a:lnTo>
                  <a:close/>
                </a:path>
              </a:pathLst>
            </a:custGeom>
            <a:solidFill>
              <a:srgbClr val="BF0000"/>
            </a:solidFill>
          </p:spPr>
          <p:txBody>
            <a:bodyPr wrap="square" lIns="0" tIns="0" rIns="0" bIns="0" rtlCol="0"/>
            <a:lstStyle/>
            <a:p>
              <a:endParaRPr/>
            </a:p>
          </p:txBody>
        </p:sp>
        <p:sp>
          <p:nvSpPr>
            <p:cNvPr id="11" name="object 11"/>
            <p:cNvSpPr/>
            <p:nvPr/>
          </p:nvSpPr>
          <p:spPr>
            <a:xfrm>
              <a:off x="9659874" y="1088897"/>
              <a:ext cx="102870" cy="1056640"/>
            </a:xfrm>
            <a:custGeom>
              <a:avLst/>
              <a:gdLst/>
              <a:ahLst/>
              <a:cxnLst/>
              <a:rect l="l" t="t" r="r" b="b"/>
              <a:pathLst>
                <a:path w="102870" h="1056639">
                  <a:moveTo>
                    <a:pt x="102870" y="132588"/>
                  </a:moveTo>
                  <a:lnTo>
                    <a:pt x="102107" y="129540"/>
                  </a:lnTo>
                  <a:lnTo>
                    <a:pt x="51053" y="0"/>
                  </a:lnTo>
                  <a:lnTo>
                    <a:pt x="761" y="129540"/>
                  </a:lnTo>
                  <a:lnTo>
                    <a:pt x="0" y="132588"/>
                  </a:lnTo>
                  <a:lnTo>
                    <a:pt x="1524" y="136398"/>
                  </a:lnTo>
                  <a:lnTo>
                    <a:pt x="4572" y="137922"/>
                  </a:lnTo>
                  <a:lnTo>
                    <a:pt x="7620" y="138684"/>
                  </a:lnTo>
                  <a:lnTo>
                    <a:pt x="11429" y="137160"/>
                  </a:lnTo>
                  <a:lnTo>
                    <a:pt x="12953" y="134112"/>
                  </a:lnTo>
                  <a:lnTo>
                    <a:pt x="44957" y="51343"/>
                  </a:lnTo>
                  <a:lnTo>
                    <a:pt x="44957" y="17526"/>
                  </a:lnTo>
                  <a:lnTo>
                    <a:pt x="57911" y="17526"/>
                  </a:lnTo>
                  <a:lnTo>
                    <a:pt x="57911" y="51343"/>
                  </a:lnTo>
                  <a:lnTo>
                    <a:pt x="89916" y="134112"/>
                  </a:lnTo>
                  <a:lnTo>
                    <a:pt x="91440" y="137160"/>
                  </a:lnTo>
                  <a:lnTo>
                    <a:pt x="95250" y="138684"/>
                  </a:lnTo>
                  <a:lnTo>
                    <a:pt x="98298" y="137922"/>
                  </a:lnTo>
                  <a:lnTo>
                    <a:pt x="101346" y="136398"/>
                  </a:lnTo>
                  <a:lnTo>
                    <a:pt x="102870" y="132588"/>
                  </a:lnTo>
                  <a:close/>
                </a:path>
                <a:path w="102870" h="1056639">
                  <a:moveTo>
                    <a:pt x="57911" y="51343"/>
                  </a:moveTo>
                  <a:lnTo>
                    <a:pt x="57911" y="17526"/>
                  </a:lnTo>
                  <a:lnTo>
                    <a:pt x="44957" y="17526"/>
                  </a:lnTo>
                  <a:lnTo>
                    <a:pt x="44957" y="51343"/>
                  </a:lnTo>
                  <a:lnTo>
                    <a:pt x="45720" y="49372"/>
                  </a:lnTo>
                  <a:lnTo>
                    <a:pt x="45720" y="19812"/>
                  </a:lnTo>
                  <a:lnTo>
                    <a:pt x="57150" y="19812"/>
                  </a:lnTo>
                  <a:lnTo>
                    <a:pt x="57150" y="49372"/>
                  </a:lnTo>
                  <a:lnTo>
                    <a:pt x="57911" y="51343"/>
                  </a:lnTo>
                  <a:close/>
                </a:path>
                <a:path w="102870" h="1056639">
                  <a:moveTo>
                    <a:pt x="57911" y="1056132"/>
                  </a:moveTo>
                  <a:lnTo>
                    <a:pt x="57911" y="51343"/>
                  </a:lnTo>
                  <a:lnTo>
                    <a:pt x="51435" y="34592"/>
                  </a:lnTo>
                  <a:lnTo>
                    <a:pt x="44957" y="51343"/>
                  </a:lnTo>
                  <a:lnTo>
                    <a:pt x="44957" y="1056132"/>
                  </a:lnTo>
                  <a:lnTo>
                    <a:pt x="57911" y="1056132"/>
                  </a:lnTo>
                  <a:close/>
                </a:path>
                <a:path w="102870" h="1056639">
                  <a:moveTo>
                    <a:pt x="57150" y="19812"/>
                  </a:moveTo>
                  <a:lnTo>
                    <a:pt x="45720" y="19812"/>
                  </a:lnTo>
                  <a:lnTo>
                    <a:pt x="51435" y="34592"/>
                  </a:lnTo>
                  <a:lnTo>
                    <a:pt x="57150" y="19812"/>
                  </a:lnTo>
                  <a:close/>
                </a:path>
                <a:path w="102870" h="1056639">
                  <a:moveTo>
                    <a:pt x="51435" y="34592"/>
                  </a:moveTo>
                  <a:lnTo>
                    <a:pt x="45720" y="19812"/>
                  </a:lnTo>
                  <a:lnTo>
                    <a:pt x="45720" y="49372"/>
                  </a:lnTo>
                  <a:lnTo>
                    <a:pt x="51435" y="34592"/>
                  </a:lnTo>
                  <a:close/>
                </a:path>
                <a:path w="102870" h="1056639">
                  <a:moveTo>
                    <a:pt x="57150" y="49372"/>
                  </a:moveTo>
                  <a:lnTo>
                    <a:pt x="57150" y="19812"/>
                  </a:lnTo>
                  <a:lnTo>
                    <a:pt x="51435" y="34592"/>
                  </a:lnTo>
                  <a:lnTo>
                    <a:pt x="57150" y="49372"/>
                  </a:lnTo>
                  <a:close/>
                </a:path>
              </a:pathLst>
            </a:custGeom>
            <a:solidFill>
              <a:srgbClr val="000000"/>
            </a:solidFill>
          </p:spPr>
          <p:txBody>
            <a:bodyPr wrap="square" lIns="0" tIns="0" rIns="0" bIns="0" rtlCol="0"/>
            <a:lstStyle/>
            <a:p>
              <a:endParaRPr/>
            </a:p>
          </p:txBody>
        </p:sp>
      </p:grpSp>
      <p:sp>
        <p:nvSpPr>
          <p:cNvPr id="12" name="object 12"/>
          <p:cNvSpPr txBox="1"/>
          <p:nvPr/>
        </p:nvSpPr>
        <p:spPr>
          <a:xfrm>
            <a:off x="10134899" y="2155189"/>
            <a:ext cx="316230" cy="238760"/>
          </a:xfrm>
          <a:prstGeom prst="rect">
            <a:avLst/>
          </a:prstGeom>
        </p:spPr>
        <p:txBody>
          <a:bodyPr vert="horz" wrap="square" lIns="0" tIns="12065" rIns="0" bIns="0" rtlCol="0">
            <a:spAutoFit/>
          </a:bodyPr>
          <a:lstStyle/>
          <a:p>
            <a:pPr marL="12700">
              <a:lnSpc>
                <a:spcPct val="100000"/>
              </a:lnSpc>
              <a:spcBef>
                <a:spcPts val="95"/>
              </a:spcBef>
            </a:pPr>
            <a:r>
              <a:rPr sz="1400" spc="-25" dirty="0">
                <a:latin typeface="Verdana"/>
                <a:cs typeface="Verdana"/>
              </a:rPr>
              <a:t>0.5</a:t>
            </a:r>
            <a:endParaRPr sz="1400">
              <a:latin typeface="Verdana"/>
              <a:cs typeface="Verdana"/>
            </a:endParaRPr>
          </a:p>
        </p:txBody>
      </p:sp>
      <p:sp>
        <p:nvSpPr>
          <p:cNvPr id="13" name="object 13"/>
          <p:cNvSpPr txBox="1"/>
          <p:nvPr/>
        </p:nvSpPr>
        <p:spPr>
          <a:xfrm>
            <a:off x="11185651" y="1952503"/>
            <a:ext cx="445770" cy="238760"/>
          </a:xfrm>
          <a:prstGeom prst="rect">
            <a:avLst/>
          </a:prstGeom>
        </p:spPr>
        <p:txBody>
          <a:bodyPr vert="horz" wrap="square" lIns="0" tIns="12065" rIns="0" bIns="0" rtlCol="0">
            <a:spAutoFit/>
          </a:bodyPr>
          <a:lstStyle/>
          <a:p>
            <a:pPr marL="12700">
              <a:lnSpc>
                <a:spcPct val="100000"/>
              </a:lnSpc>
              <a:spcBef>
                <a:spcPts val="95"/>
              </a:spcBef>
            </a:pPr>
            <a:r>
              <a:rPr sz="1400" i="1" spc="-20" dirty="0">
                <a:latin typeface="Verdana"/>
                <a:cs typeface="Verdana"/>
              </a:rPr>
              <a:t>x</a:t>
            </a:r>
            <a:r>
              <a:rPr sz="1400" spc="-20" dirty="0">
                <a:latin typeface="Verdana"/>
                <a:cs typeface="Verdana"/>
              </a:rPr>
              <a:t>/1V</a:t>
            </a:r>
            <a:endParaRPr sz="1400">
              <a:latin typeface="Verdana"/>
              <a:cs typeface="Verdana"/>
            </a:endParaRPr>
          </a:p>
        </p:txBody>
      </p:sp>
      <p:sp>
        <p:nvSpPr>
          <p:cNvPr id="14" name="object 14"/>
          <p:cNvSpPr/>
          <p:nvPr/>
        </p:nvSpPr>
        <p:spPr>
          <a:xfrm>
            <a:off x="8458200" y="2657094"/>
            <a:ext cx="779145" cy="188595"/>
          </a:xfrm>
          <a:custGeom>
            <a:avLst/>
            <a:gdLst/>
            <a:ahLst/>
            <a:cxnLst/>
            <a:rect l="l" t="t" r="r" b="b"/>
            <a:pathLst>
              <a:path w="779145" h="188594">
                <a:moveTo>
                  <a:pt x="778763" y="93726"/>
                </a:moveTo>
                <a:lnTo>
                  <a:pt x="770405" y="46041"/>
                </a:lnTo>
                <a:lnTo>
                  <a:pt x="744569" y="11810"/>
                </a:lnTo>
                <a:lnTo>
                  <a:pt x="719327" y="0"/>
                </a:lnTo>
                <a:lnTo>
                  <a:pt x="716279" y="7620"/>
                </a:lnTo>
                <a:lnTo>
                  <a:pt x="727424" y="12049"/>
                </a:lnTo>
                <a:lnTo>
                  <a:pt x="736853" y="18478"/>
                </a:lnTo>
                <a:lnTo>
                  <a:pt x="759142" y="62293"/>
                </a:lnTo>
                <a:lnTo>
                  <a:pt x="761999" y="92964"/>
                </a:lnTo>
                <a:lnTo>
                  <a:pt x="761999" y="157522"/>
                </a:lnTo>
                <a:lnTo>
                  <a:pt x="763523" y="155448"/>
                </a:lnTo>
                <a:lnTo>
                  <a:pt x="770405" y="142160"/>
                </a:lnTo>
                <a:lnTo>
                  <a:pt x="775144" y="127444"/>
                </a:lnTo>
                <a:lnTo>
                  <a:pt x="777882" y="111299"/>
                </a:lnTo>
                <a:lnTo>
                  <a:pt x="778763" y="93726"/>
                </a:lnTo>
                <a:close/>
              </a:path>
              <a:path w="779145" h="188594">
                <a:moveTo>
                  <a:pt x="761999" y="157522"/>
                </a:moveTo>
                <a:lnTo>
                  <a:pt x="761999" y="92964"/>
                </a:lnTo>
                <a:lnTo>
                  <a:pt x="761285" y="109501"/>
                </a:lnTo>
                <a:lnTo>
                  <a:pt x="759142" y="124682"/>
                </a:lnTo>
                <a:lnTo>
                  <a:pt x="744247" y="160555"/>
                </a:lnTo>
                <a:lnTo>
                  <a:pt x="716279" y="180594"/>
                </a:lnTo>
                <a:lnTo>
                  <a:pt x="719327" y="188214"/>
                </a:lnTo>
                <a:lnTo>
                  <a:pt x="732877" y="183201"/>
                </a:lnTo>
                <a:lnTo>
                  <a:pt x="744854" y="176117"/>
                </a:lnTo>
                <a:lnTo>
                  <a:pt x="755118" y="166889"/>
                </a:lnTo>
                <a:lnTo>
                  <a:pt x="761999" y="157522"/>
                </a:lnTo>
                <a:close/>
              </a:path>
              <a:path w="779145" h="188594">
                <a:moveTo>
                  <a:pt x="62483" y="7620"/>
                </a:moveTo>
                <a:lnTo>
                  <a:pt x="59435" y="0"/>
                </a:lnTo>
                <a:lnTo>
                  <a:pt x="45993" y="4691"/>
                </a:lnTo>
                <a:lnTo>
                  <a:pt x="34194" y="11811"/>
                </a:lnTo>
                <a:lnTo>
                  <a:pt x="8358" y="46041"/>
                </a:lnTo>
                <a:lnTo>
                  <a:pt x="0" y="93726"/>
                </a:lnTo>
                <a:lnTo>
                  <a:pt x="881" y="111299"/>
                </a:lnTo>
                <a:lnTo>
                  <a:pt x="3619" y="127444"/>
                </a:lnTo>
                <a:lnTo>
                  <a:pt x="8358" y="142160"/>
                </a:lnTo>
                <a:lnTo>
                  <a:pt x="15239" y="155448"/>
                </a:lnTo>
                <a:lnTo>
                  <a:pt x="16763" y="157446"/>
                </a:lnTo>
                <a:lnTo>
                  <a:pt x="16763" y="92964"/>
                </a:lnTo>
                <a:lnTo>
                  <a:pt x="17478" y="76985"/>
                </a:lnTo>
                <a:lnTo>
                  <a:pt x="28193" y="37338"/>
                </a:lnTo>
                <a:lnTo>
                  <a:pt x="51768" y="12049"/>
                </a:lnTo>
                <a:lnTo>
                  <a:pt x="62483" y="7620"/>
                </a:lnTo>
                <a:close/>
              </a:path>
              <a:path w="779145" h="188594">
                <a:moveTo>
                  <a:pt x="62483" y="180594"/>
                </a:moveTo>
                <a:lnTo>
                  <a:pt x="28193" y="150114"/>
                </a:lnTo>
                <a:lnTo>
                  <a:pt x="17478" y="109501"/>
                </a:lnTo>
                <a:lnTo>
                  <a:pt x="16763" y="92964"/>
                </a:lnTo>
                <a:lnTo>
                  <a:pt x="16763" y="157446"/>
                </a:lnTo>
                <a:lnTo>
                  <a:pt x="23967" y="166889"/>
                </a:lnTo>
                <a:lnTo>
                  <a:pt x="34194" y="176117"/>
                </a:lnTo>
                <a:lnTo>
                  <a:pt x="45993" y="183201"/>
                </a:lnTo>
                <a:lnTo>
                  <a:pt x="59435" y="188214"/>
                </a:lnTo>
                <a:lnTo>
                  <a:pt x="62483" y="180594"/>
                </a:lnTo>
                <a:close/>
              </a:path>
            </a:pathLst>
          </a:custGeom>
          <a:solidFill>
            <a:srgbClr val="BF0000"/>
          </a:solidFill>
        </p:spPr>
        <p:txBody>
          <a:bodyPr wrap="square" lIns="0" tIns="0" rIns="0" bIns="0" rtlCol="0"/>
          <a:lstStyle/>
          <a:p>
            <a:endParaRPr/>
          </a:p>
        </p:txBody>
      </p:sp>
      <p:sp>
        <p:nvSpPr>
          <p:cNvPr id="15" name="object 15"/>
          <p:cNvSpPr txBox="1"/>
          <p:nvPr/>
        </p:nvSpPr>
        <p:spPr>
          <a:xfrm>
            <a:off x="7914385" y="2097464"/>
            <a:ext cx="1945639" cy="946785"/>
          </a:xfrm>
          <a:prstGeom prst="rect">
            <a:avLst/>
          </a:prstGeom>
        </p:spPr>
        <p:txBody>
          <a:bodyPr vert="horz" wrap="square" lIns="0" tIns="69850" rIns="0" bIns="0" rtlCol="0">
            <a:spAutoFit/>
          </a:bodyPr>
          <a:lstStyle/>
          <a:p>
            <a:pPr marL="1713864">
              <a:lnSpc>
                <a:spcPct val="100000"/>
              </a:lnSpc>
              <a:spcBef>
                <a:spcPts val="550"/>
              </a:spcBef>
            </a:pPr>
            <a:r>
              <a:rPr sz="1400" spc="-50" dirty="0">
                <a:latin typeface="Verdana"/>
                <a:cs typeface="Verdana"/>
              </a:rPr>
              <a:t>0</a:t>
            </a:r>
            <a:endParaRPr sz="1400">
              <a:latin typeface="Verdana"/>
              <a:cs typeface="Verdana"/>
            </a:endParaRPr>
          </a:p>
          <a:p>
            <a:pPr marL="1769745">
              <a:lnSpc>
                <a:spcPts val="1375"/>
              </a:lnSpc>
              <a:spcBef>
                <a:spcPts val="400"/>
              </a:spcBef>
            </a:pPr>
            <a:r>
              <a:rPr sz="1150" spc="45" dirty="0">
                <a:solidFill>
                  <a:srgbClr val="C00000"/>
                </a:solidFill>
                <a:latin typeface="Cambria Math"/>
                <a:cs typeface="Cambria Math"/>
              </a:rPr>
              <a:t>∞</a:t>
            </a:r>
            <a:endParaRPr sz="1150">
              <a:latin typeface="Cambria Math"/>
              <a:cs typeface="Cambria Math"/>
            </a:endParaRPr>
          </a:p>
          <a:p>
            <a:pPr marL="50800">
              <a:lnSpc>
                <a:spcPts val="1914"/>
              </a:lnSpc>
              <a:tabLst>
                <a:tab pos="1397000" algn="l"/>
              </a:tabLst>
            </a:pPr>
            <a:r>
              <a:rPr sz="1600" dirty="0">
                <a:solidFill>
                  <a:srgbClr val="C00000"/>
                </a:solidFill>
                <a:latin typeface="Cambria Math"/>
                <a:cs typeface="Cambria Math"/>
              </a:rPr>
              <a:t>𝑝</a:t>
            </a:r>
            <a:r>
              <a:rPr sz="1725" baseline="-14492" dirty="0">
                <a:solidFill>
                  <a:srgbClr val="C00000"/>
                </a:solidFill>
                <a:latin typeface="Cambria Math"/>
                <a:cs typeface="Cambria Math"/>
              </a:rPr>
              <a:t>𝑒𝑟𝑟</a:t>
            </a:r>
            <a:r>
              <a:rPr sz="1725" spc="82" baseline="-14492" dirty="0">
                <a:solidFill>
                  <a:srgbClr val="C00000"/>
                </a:solidFill>
                <a:latin typeface="Cambria Math"/>
                <a:cs typeface="Cambria Math"/>
              </a:rPr>
              <a:t> </a:t>
            </a:r>
            <a:r>
              <a:rPr sz="1725" baseline="-14492" dirty="0">
                <a:solidFill>
                  <a:srgbClr val="C00000"/>
                </a:solidFill>
                <a:latin typeface="Cambria Math"/>
                <a:cs typeface="Cambria Math"/>
              </a:rPr>
              <a:t>0</a:t>
            </a:r>
            <a:r>
              <a:rPr sz="1725" spc="209" baseline="-14492" dirty="0">
                <a:solidFill>
                  <a:srgbClr val="C00000"/>
                </a:solidFill>
                <a:latin typeface="Cambria Math"/>
                <a:cs typeface="Cambria Math"/>
              </a:rPr>
              <a:t>  </a:t>
            </a:r>
            <a:r>
              <a:rPr sz="1600" dirty="0">
                <a:solidFill>
                  <a:srgbClr val="C00000"/>
                </a:solidFill>
                <a:latin typeface="Cambria Math"/>
                <a:cs typeface="Cambria Math"/>
              </a:rPr>
              <a:t>𝑥</a:t>
            </a:r>
            <a:r>
              <a:rPr sz="1600" spc="-80" dirty="0">
                <a:solidFill>
                  <a:srgbClr val="C00000"/>
                </a:solidFill>
                <a:latin typeface="Cambria Math"/>
                <a:cs typeface="Cambria Math"/>
              </a:rPr>
              <a:t> </a:t>
            </a:r>
            <a:r>
              <a:rPr sz="1600" dirty="0">
                <a:solidFill>
                  <a:srgbClr val="C00000"/>
                </a:solidFill>
                <a:latin typeface="Cambria Math"/>
                <a:cs typeface="Cambria Math"/>
              </a:rPr>
              <a:t>≥</a:t>
            </a:r>
            <a:r>
              <a:rPr sz="1600" spc="130" dirty="0">
                <a:solidFill>
                  <a:srgbClr val="C00000"/>
                </a:solidFill>
                <a:latin typeface="Cambria Math"/>
                <a:cs typeface="Cambria Math"/>
              </a:rPr>
              <a:t> </a:t>
            </a:r>
            <a:r>
              <a:rPr sz="1600" spc="-25" dirty="0">
                <a:solidFill>
                  <a:srgbClr val="C00000"/>
                </a:solidFill>
                <a:latin typeface="Cambria Math"/>
                <a:cs typeface="Cambria Math"/>
              </a:rPr>
              <a:t>0.5</a:t>
            </a:r>
            <a:r>
              <a:rPr sz="1600" dirty="0">
                <a:solidFill>
                  <a:srgbClr val="C00000"/>
                </a:solidFill>
                <a:latin typeface="Cambria Math"/>
                <a:cs typeface="Cambria Math"/>
              </a:rPr>
              <a:t>	</a:t>
            </a:r>
            <a:r>
              <a:rPr sz="1600" spc="285" dirty="0">
                <a:solidFill>
                  <a:srgbClr val="C00000"/>
                </a:solidFill>
                <a:latin typeface="Cambria Math"/>
                <a:cs typeface="Cambria Math"/>
              </a:rPr>
              <a:t>=</a:t>
            </a:r>
            <a:r>
              <a:rPr sz="1600" dirty="0">
                <a:solidFill>
                  <a:srgbClr val="C00000"/>
                </a:solidFill>
                <a:latin typeface="Cambria Math"/>
                <a:cs typeface="Cambria Math"/>
              </a:rPr>
              <a:t> </a:t>
            </a:r>
            <a:r>
              <a:rPr sz="1600" spc="100" dirty="0">
                <a:solidFill>
                  <a:srgbClr val="C00000"/>
                </a:solidFill>
                <a:latin typeface="Cambria Math"/>
                <a:cs typeface="Cambria Math"/>
              </a:rPr>
              <a:t>∫ </a:t>
            </a:r>
            <a:endParaRPr sz="1600">
              <a:latin typeface="Cambria Math"/>
              <a:cs typeface="Cambria Math"/>
            </a:endParaRPr>
          </a:p>
          <a:p>
            <a:pPr marL="1694814">
              <a:lnSpc>
                <a:spcPct val="100000"/>
              </a:lnSpc>
              <a:spcBef>
                <a:spcPts val="50"/>
              </a:spcBef>
            </a:pPr>
            <a:r>
              <a:rPr sz="1150" spc="-25" dirty="0">
                <a:solidFill>
                  <a:srgbClr val="C00000"/>
                </a:solidFill>
                <a:latin typeface="Cambria Math"/>
                <a:cs typeface="Cambria Math"/>
              </a:rPr>
              <a:t>0.5</a:t>
            </a:r>
            <a:endParaRPr sz="1150">
              <a:latin typeface="Cambria Math"/>
              <a:cs typeface="Cambria Math"/>
            </a:endParaRPr>
          </a:p>
        </p:txBody>
      </p:sp>
      <p:sp>
        <p:nvSpPr>
          <p:cNvPr id="16" name="object 16"/>
          <p:cNvSpPr/>
          <p:nvPr/>
        </p:nvSpPr>
        <p:spPr>
          <a:xfrm>
            <a:off x="9870185" y="2491739"/>
            <a:ext cx="1656714" cy="519430"/>
          </a:xfrm>
          <a:custGeom>
            <a:avLst/>
            <a:gdLst/>
            <a:ahLst/>
            <a:cxnLst/>
            <a:rect l="l" t="t" r="r" b="b"/>
            <a:pathLst>
              <a:path w="1656715" h="519430">
                <a:moveTo>
                  <a:pt x="1656588" y="259079"/>
                </a:moveTo>
                <a:lnTo>
                  <a:pt x="1655147" y="217336"/>
                </a:lnTo>
                <a:lnTo>
                  <a:pt x="1650777" y="177736"/>
                </a:lnTo>
                <a:lnTo>
                  <a:pt x="1643407" y="140136"/>
                </a:lnTo>
                <a:lnTo>
                  <a:pt x="1619952" y="71794"/>
                </a:lnTo>
                <a:lnTo>
                  <a:pt x="1587638" y="19740"/>
                </a:lnTo>
                <a:lnTo>
                  <a:pt x="1568196" y="0"/>
                </a:lnTo>
                <a:lnTo>
                  <a:pt x="1563624" y="7620"/>
                </a:lnTo>
                <a:lnTo>
                  <a:pt x="1579899" y="27336"/>
                </a:lnTo>
                <a:lnTo>
                  <a:pt x="1594389" y="51053"/>
                </a:lnTo>
                <a:lnTo>
                  <a:pt x="1617726" y="110489"/>
                </a:lnTo>
                <a:lnTo>
                  <a:pt x="1632108" y="180784"/>
                </a:lnTo>
                <a:lnTo>
                  <a:pt x="1635621" y="218932"/>
                </a:lnTo>
                <a:lnTo>
                  <a:pt x="1636776" y="259079"/>
                </a:lnTo>
                <a:lnTo>
                  <a:pt x="1636776" y="400567"/>
                </a:lnTo>
                <a:lnTo>
                  <a:pt x="1643407" y="377594"/>
                </a:lnTo>
                <a:lnTo>
                  <a:pt x="1650777" y="339852"/>
                </a:lnTo>
                <a:lnTo>
                  <a:pt x="1655147" y="300394"/>
                </a:lnTo>
                <a:lnTo>
                  <a:pt x="1656588" y="259079"/>
                </a:lnTo>
                <a:close/>
              </a:path>
              <a:path w="1656715" h="519430">
                <a:moveTo>
                  <a:pt x="1636776" y="400567"/>
                </a:moveTo>
                <a:lnTo>
                  <a:pt x="1636776" y="259079"/>
                </a:lnTo>
                <a:lnTo>
                  <a:pt x="1635621" y="298799"/>
                </a:lnTo>
                <a:lnTo>
                  <a:pt x="1632108" y="336804"/>
                </a:lnTo>
                <a:lnTo>
                  <a:pt x="1617726" y="407670"/>
                </a:lnTo>
                <a:lnTo>
                  <a:pt x="1594675" y="467772"/>
                </a:lnTo>
                <a:lnTo>
                  <a:pt x="1563624" y="511302"/>
                </a:lnTo>
                <a:lnTo>
                  <a:pt x="1568196" y="518922"/>
                </a:lnTo>
                <a:lnTo>
                  <a:pt x="1587638" y="499491"/>
                </a:lnTo>
                <a:lnTo>
                  <a:pt x="1604867" y="475488"/>
                </a:lnTo>
                <a:lnTo>
                  <a:pt x="1619952" y="446913"/>
                </a:lnTo>
                <a:lnTo>
                  <a:pt x="1632966" y="413766"/>
                </a:lnTo>
                <a:lnTo>
                  <a:pt x="1636776" y="400567"/>
                </a:lnTo>
                <a:close/>
              </a:path>
              <a:path w="1656715" h="519430">
                <a:moveTo>
                  <a:pt x="93726" y="7620"/>
                </a:moveTo>
                <a:lnTo>
                  <a:pt x="52482" y="43624"/>
                </a:lnTo>
                <a:lnTo>
                  <a:pt x="24384" y="104394"/>
                </a:lnTo>
                <a:lnTo>
                  <a:pt x="6191" y="177736"/>
                </a:lnTo>
                <a:lnTo>
                  <a:pt x="1559" y="217336"/>
                </a:lnTo>
                <a:lnTo>
                  <a:pt x="0" y="259080"/>
                </a:lnTo>
                <a:lnTo>
                  <a:pt x="1559" y="300394"/>
                </a:lnTo>
                <a:lnTo>
                  <a:pt x="6191" y="339851"/>
                </a:lnTo>
                <a:lnTo>
                  <a:pt x="13823" y="377594"/>
                </a:lnTo>
                <a:lnTo>
                  <a:pt x="19812" y="398106"/>
                </a:lnTo>
                <a:lnTo>
                  <a:pt x="19812" y="259080"/>
                </a:lnTo>
                <a:lnTo>
                  <a:pt x="21074" y="218932"/>
                </a:lnTo>
                <a:lnTo>
                  <a:pt x="24765" y="180784"/>
                </a:lnTo>
                <a:lnTo>
                  <a:pt x="38862" y="110490"/>
                </a:lnTo>
                <a:lnTo>
                  <a:pt x="62293" y="51054"/>
                </a:lnTo>
                <a:lnTo>
                  <a:pt x="77009" y="27336"/>
                </a:lnTo>
                <a:lnTo>
                  <a:pt x="93726" y="7620"/>
                </a:lnTo>
                <a:close/>
              </a:path>
              <a:path w="1656715" h="519430">
                <a:moveTo>
                  <a:pt x="93726" y="511302"/>
                </a:moveTo>
                <a:lnTo>
                  <a:pt x="62293" y="467772"/>
                </a:lnTo>
                <a:lnTo>
                  <a:pt x="38862" y="407670"/>
                </a:lnTo>
                <a:lnTo>
                  <a:pt x="24765" y="336804"/>
                </a:lnTo>
                <a:lnTo>
                  <a:pt x="21074" y="298799"/>
                </a:lnTo>
                <a:lnTo>
                  <a:pt x="19812" y="259080"/>
                </a:lnTo>
                <a:lnTo>
                  <a:pt x="19812" y="398106"/>
                </a:lnTo>
                <a:lnTo>
                  <a:pt x="37397" y="446913"/>
                </a:lnTo>
                <a:lnTo>
                  <a:pt x="69711" y="499491"/>
                </a:lnTo>
                <a:lnTo>
                  <a:pt x="89154" y="518922"/>
                </a:lnTo>
                <a:lnTo>
                  <a:pt x="93726" y="511302"/>
                </a:lnTo>
                <a:close/>
              </a:path>
            </a:pathLst>
          </a:custGeom>
          <a:solidFill>
            <a:srgbClr val="BF0000"/>
          </a:solidFill>
        </p:spPr>
        <p:txBody>
          <a:bodyPr wrap="square" lIns="0" tIns="0" rIns="0" bIns="0" rtlCol="0"/>
          <a:lstStyle/>
          <a:p>
            <a:endParaRPr/>
          </a:p>
        </p:txBody>
      </p:sp>
      <p:sp>
        <p:nvSpPr>
          <p:cNvPr id="17" name="object 17"/>
          <p:cNvSpPr txBox="1"/>
          <p:nvPr/>
        </p:nvSpPr>
        <p:spPr>
          <a:xfrm>
            <a:off x="10199623" y="2438654"/>
            <a:ext cx="138430"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C00000"/>
                </a:solidFill>
                <a:latin typeface="Cambria Math"/>
                <a:cs typeface="Cambria Math"/>
              </a:rPr>
              <a:t>1</a:t>
            </a:r>
            <a:endParaRPr sz="1600">
              <a:latin typeface="Cambria Math"/>
              <a:cs typeface="Cambria Math"/>
            </a:endParaRPr>
          </a:p>
        </p:txBody>
      </p:sp>
      <p:sp>
        <p:nvSpPr>
          <p:cNvPr id="18" name="object 18"/>
          <p:cNvSpPr/>
          <p:nvPr/>
        </p:nvSpPr>
        <p:spPr>
          <a:xfrm>
            <a:off x="9973818" y="2797301"/>
            <a:ext cx="592455" cy="196215"/>
          </a:xfrm>
          <a:custGeom>
            <a:avLst/>
            <a:gdLst/>
            <a:ahLst/>
            <a:cxnLst/>
            <a:rect l="l" t="t" r="r" b="b"/>
            <a:pathLst>
              <a:path w="592454" h="196214">
                <a:moveTo>
                  <a:pt x="592074" y="12953"/>
                </a:moveTo>
                <a:lnTo>
                  <a:pt x="592074" y="0"/>
                </a:lnTo>
                <a:lnTo>
                  <a:pt x="129540" y="0"/>
                </a:lnTo>
                <a:lnTo>
                  <a:pt x="116586" y="0"/>
                </a:lnTo>
                <a:lnTo>
                  <a:pt x="67056" y="169926"/>
                </a:lnTo>
                <a:lnTo>
                  <a:pt x="32004" y="92964"/>
                </a:lnTo>
                <a:lnTo>
                  <a:pt x="0" y="107442"/>
                </a:lnTo>
                <a:lnTo>
                  <a:pt x="3048" y="115062"/>
                </a:lnTo>
                <a:lnTo>
                  <a:pt x="19812" y="107442"/>
                </a:lnTo>
                <a:lnTo>
                  <a:pt x="60960" y="195834"/>
                </a:lnTo>
                <a:lnTo>
                  <a:pt x="70104" y="195834"/>
                </a:lnTo>
                <a:lnTo>
                  <a:pt x="124206" y="12954"/>
                </a:lnTo>
                <a:lnTo>
                  <a:pt x="592074" y="12953"/>
                </a:lnTo>
                <a:close/>
              </a:path>
            </a:pathLst>
          </a:custGeom>
          <a:solidFill>
            <a:srgbClr val="BF0000"/>
          </a:solidFill>
        </p:spPr>
        <p:txBody>
          <a:bodyPr wrap="square" lIns="0" tIns="0" rIns="0" bIns="0" rtlCol="0"/>
          <a:lstStyle/>
          <a:p>
            <a:endParaRPr/>
          </a:p>
        </p:txBody>
      </p:sp>
      <p:sp>
        <p:nvSpPr>
          <p:cNvPr id="19" name="object 19"/>
          <p:cNvSpPr txBox="1"/>
          <p:nvPr/>
        </p:nvSpPr>
        <p:spPr>
          <a:xfrm>
            <a:off x="10066019" y="2768599"/>
            <a:ext cx="532130" cy="269875"/>
          </a:xfrm>
          <a:prstGeom prst="rect">
            <a:avLst/>
          </a:prstGeom>
        </p:spPr>
        <p:txBody>
          <a:bodyPr vert="horz" wrap="square" lIns="0" tIns="12700" rIns="0" bIns="0" rtlCol="0">
            <a:spAutoFit/>
          </a:bodyPr>
          <a:lstStyle/>
          <a:p>
            <a:pPr marL="38100">
              <a:lnSpc>
                <a:spcPct val="100000"/>
              </a:lnSpc>
              <a:spcBef>
                <a:spcPts val="100"/>
              </a:spcBef>
            </a:pPr>
            <a:r>
              <a:rPr sz="1600" spc="-20" dirty="0">
                <a:solidFill>
                  <a:srgbClr val="C00000"/>
                </a:solidFill>
                <a:latin typeface="Cambria Math"/>
                <a:cs typeface="Cambria Math"/>
              </a:rPr>
              <a:t>2𝜋𝜎</a:t>
            </a:r>
            <a:r>
              <a:rPr sz="1725" spc="-30" baseline="24154" dirty="0">
                <a:solidFill>
                  <a:srgbClr val="C00000"/>
                </a:solidFill>
                <a:latin typeface="Cambria Math"/>
                <a:cs typeface="Cambria Math"/>
              </a:rPr>
              <a:t>2</a:t>
            </a:r>
            <a:endParaRPr sz="1725" baseline="24154">
              <a:latin typeface="Cambria Math"/>
              <a:cs typeface="Cambria Math"/>
            </a:endParaRPr>
          </a:p>
        </p:txBody>
      </p:sp>
      <p:sp>
        <p:nvSpPr>
          <p:cNvPr id="20" name="object 20"/>
          <p:cNvSpPr/>
          <p:nvPr/>
        </p:nvSpPr>
        <p:spPr>
          <a:xfrm>
            <a:off x="9970007" y="2744723"/>
            <a:ext cx="596900" cy="13335"/>
          </a:xfrm>
          <a:custGeom>
            <a:avLst/>
            <a:gdLst/>
            <a:ahLst/>
            <a:cxnLst/>
            <a:rect l="l" t="t" r="r" b="b"/>
            <a:pathLst>
              <a:path w="596900" h="13335">
                <a:moveTo>
                  <a:pt x="596646" y="12954"/>
                </a:moveTo>
                <a:lnTo>
                  <a:pt x="596646" y="0"/>
                </a:lnTo>
                <a:lnTo>
                  <a:pt x="0" y="0"/>
                </a:lnTo>
                <a:lnTo>
                  <a:pt x="0" y="12954"/>
                </a:lnTo>
                <a:lnTo>
                  <a:pt x="596646" y="12954"/>
                </a:lnTo>
                <a:close/>
              </a:path>
            </a:pathLst>
          </a:custGeom>
          <a:solidFill>
            <a:srgbClr val="BF0000"/>
          </a:solidFill>
        </p:spPr>
        <p:txBody>
          <a:bodyPr wrap="square" lIns="0" tIns="0" rIns="0" bIns="0" rtlCol="0"/>
          <a:lstStyle/>
          <a:p>
            <a:endParaRPr/>
          </a:p>
        </p:txBody>
      </p:sp>
      <p:sp>
        <p:nvSpPr>
          <p:cNvPr id="21" name="object 21"/>
          <p:cNvSpPr txBox="1"/>
          <p:nvPr/>
        </p:nvSpPr>
        <p:spPr>
          <a:xfrm>
            <a:off x="10588243" y="2592577"/>
            <a:ext cx="126364"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C00000"/>
                </a:solidFill>
                <a:latin typeface="Cambria Math"/>
                <a:cs typeface="Cambria Math"/>
              </a:rPr>
              <a:t>𝑒</a:t>
            </a:r>
            <a:endParaRPr sz="1600">
              <a:latin typeface="Cambria Math"/>
              <a:cs typeface="Cambria Math"/>
            </a:endParaRPr>
          </a:p>
        </p:txBody>
      </p:sp>
      <p:sp>
        <p:nvSpPr>
          <p:cNvPr id="22" name="object 22"/>
          <p:cNvSpPr/>
          <p:nvPr/>
        </p:nvSpPr>
        <p:spPr>
          <a:xfrm>
            <a:off x="10834116" y="2496311"/>
            <a:ext cx="493395" cy="138430"/>
          </a:xfrm>
          <a:custGeom>
            <a:avLst/>
            <a:gdLst/>
            <a:ahLst/>
            <a:cxnLst/>
            <a:rect l="l" t="t" r="r" b="b"/>
            <a:pathLst>
              <a:path w="493395" h="138430">
                <a:moveTo>
                  <a:pt x="493014" y="69342"/>
                </a:moveTo>
                <a:lnTo>
                  <a:pt x="481584" y="24383"/>
                </a:lnTo>
                <a:lnTo>
                  <a:pt x="448818" y="0"/>
                </a:lnTo>
                <a:lnTo>
                  <a:pt x="447294" y="6096"/>
                </a:lnTo>
                <a:lnTo>
                  <a:pt x="455295" y="9536"/>
                </a:lnTo>
                <a:lnTo>
                  <a:pt x="462153" y="14192"/>
                </a:lnTo>
                <a:lnTo>
                  <a:pt x="479619" y="56685"/>
                </a:lnTo>
                <a:lnTo>
                  <a:pt x="480060" y="68580"/>
                </a:lnTo>
                <a:lnTo>
                  <a:pt x="480060" y="115652"/>
                </a:lnTo>
                <a:lnTo>
                  <a:pt x="481584" y="113538"/>
                </a:lnTo>
                <a:lnTo>
                  <a:pt x="486584" y="103953"/>
                </a:lnTo>
                <a:lnTo>
                  <a:pt x="490156" y="93440"/>
                </a:lnTo>
                <a:lnTo>
                  <a:pt x="492299" y="81926"/>
                </a:lnTo>
                <a:lnTo>
                  <a:pt x="493014" y="69342"/>
                </a:lnTo>
                <a:close/>
              </a:path>
              <a:path w="493395" h="138430">
                <a:moveTo>
                  <a:pt x="480060" y="115652"/>
                </a:moveTo>
                <a:lnTo>
                  <a:pt x="480060" y="68580"/>
                </a:lnTo>
                <a:lnTo>
                  <a:pt x="479619" y="80593"/>
                </a:lnTo>
                <a:lnTo>
                  <a:pt x="478250" y="91535"/>
                </a:lnTo>
                <a:lnTo>
                  <a:pt x="455295" y="129028"/>
                </a:lnTo>
                <a:lnTo>
                  <a:pt x="447294" y="132588"/>
                </a:lnTo>
                <a:lnTo>
                  <a:pt x="448818" y="137922"/>
                </a:lnTo>
                <a:lnTo>
                  <a:pt x="458974" y="134326"/>
                </a:lnTo>
                <a:lnTo>
                  <a:pt x="467772" y="129159"/>
                </a:lnTo>
                <a:lnTo>
                  <a:pt x="475285" y="122277"/>
                </a:lnTo>
                <a:lnTo>
                  <a:pt x="480060" y="115652"/>
                </a:lnTo>
                <a:close/>
              </a:path>
              <a:path w="493395" h="138430">
                <a:moveTo>
                  <a:pt x="45720" y="6096"/>
                </a:moveTo>
                <a:lnTo>
                  <a:pt x="44196" y="0"/>
                </a:lnTo>
                <a:lnTo>
                  <a:pt x="34039" y="3702"/>
                </a:lnTo>
                <a:lnTo>
                  <a:pt x="25241" y="9048"/>
                </a:lnTo>
                <a:lnTo>
                  <a:pt x="2857" y="44862"/>
                </a:lnTo>
                <a:lnTo>
                  <a:pt x="0" y="69342"/>
                </a:lnTo>
                <a:lnTo>
                  <a:pt x="714" y="81926"/>
                </a:lnTo>
                <a:lnTo>
                  <a:pt x="2857" y="93440"/>
                </a:lnTo>
                <a:lnTo>
                  <a:pt x="6429" y="103953"/>
                </a:lnTo>
                <a:lnTo>
                  <a:pt x="11430" y="113538"/>
                </a:lnTo>
                <a:lnTo>
                  <a:pt x="12954" y="115652"/>
                </a:lnTo>
                <a:lnTo>
                  <a:pt x="12954" y="68580"/>
                </a:lnTo>
                <a:lnTo>
                  <a:pt x="13394" y="56685"/>
                </a:lnTo>
                <a:lnTo>
                  <a:pt x="25574" y="20133"/>
                </a:lnTo>
                <a:lnTo>
                  <a:pt x="38147" y="9536"/>
                </a:lnTo>
                <a:lnTo>
                  <a:pt x="45720" y="6096"/>
                </a:lnTo>
                <a:close/>
              </a:path>
              <a:path w="493395" h="138430">
                <a:moveTo>
                  <a:pt x="45720" y="132588"/>
                </a:moveTo>
                <a:lnTo>
                  <a:pt x="17133" y="101476"/>
                </a:lnTo>
                <a:lnTo>
                  <a:pt x="12954" y="68580"/>
                </a:lnTo>
                <a:lnTo>
                  <a:pt x="12954" y="115652"/>
                </a:lnTo>
                <a:lnTo>
                  <a:pt x="17728" y="122277"/>
                </a:lnTo>
                <a:lnTo>
                  <a:pt x="25241" y="129159"/>
                </a:lnTo>
                <a:lnTo>
                  <a:pt x="34039" y="134326"/>
                </a:lnTo>
                <a:lnTo>
                  <a:pt x="44196" y="137922"/>
                </a:lnTo>
                <a:lnTo>
                  <a:pt x="45720" y="132588"/>
                </a:lnTo>
                <a:close/>
              </a:path>
            </a:pathLst>
          </a:custGeom>
          <a:solidFill>
            <a:srgbClr val="BF0000"/>
          </a:solidFill>
        </p:spPr>
        <p:txBody>
          <a:bodyPr wrap="square" lIns="0" tIns="0" rIns="0" bIns="0" rtlCol="0"/>
          <a:lstStyle/>
          <a:p>
            <a:endParaRPr/>
          </a:p>
        </p:txBody>
      </p:sp>
      <p:sp>
        <p:nvSpPr>
          <p:cNvPr id="23" name="object 23"/>
          <p:cNvSpPr txBox="1"/>
          <p:nvPr/>
        </p:nvSpPr>
        <p:spPr>
          <a:xfrm>
            <a:off x="10675619" y="2445512"/>
            <a:ext cx="775970" cy="203835"/>
          </a:xfrm>
          <a:prstGeom prst="rect">
            <a:avLst/>
          </a:prstGeom>
        </p:spPr>
        <p:txBody>
          <a:bodyPr vert="horz" wrap="square" lIns="0" tIns="15240" rIns="0" bIns="0" rtlCol="0">
            <a:spAutoFit/>
          </a:bodyPr>
          <a:lstStyle/>
          <a:p>
            <a:pPr marL="38100">
              <a:lnSpc>
                <a:spcPct val="100000"/>
              </a:lnSpc>
              <a:spcBef>
                <a:spcPts val="120"/>
              </a:spcBef>
            </a:pPr>
            <a:r>
              <a:rPr sz="1725" baseline="-33816" dirty="0">
                <a:solidFill>
                  <a:srgbClr val="C00000"/>
                </a:solidFill>
                <a:latin typeface="Cambria Math"/>
                <a:cs typeface="Cambria Math"/>
              </a:rPr>
              <a:t>−</a:t>
            </a:r>
            <a:r>
              <a:rPr sz="1725" spc="397" baseline="-33816" dirty="0">
                <a:solidFill>
                  <a:srgbClr val="C00000"/>
                </a:solidFill>
                <a:latin typeface="Cambria Math"/>
                <a:cs typeface="Cambria Math"/>
              </a:rPr>
              <a:t> </a:t>
            </a:r>
            <a:r>
              <a:rPr sz="1150" dirty="0">
                <a:solidFill>
                  <a:srgbClr val="C00000"/>
                </a:solidFill>
                <a:latin typeface="Cambria Math"/>
                <a:cs typeface="Cambria Math"/>
              </a:rPr>
              <a:t>0.5−0</a:t>
            </a:r>
            <a:r>
              <a:rPr sz="1150" spc="260" dirty="0">
                <a:solidFill>
                  <a:srgbClr val="C00000"/>
                </a:solidFill>
                <a:latin typeface="Cambria Math"/>
                <a:cs typeface="Cambria Math"/>
              </a:rPr>
              <a:t> </a:t>
            </a:r>
            <a:r>
              <a:rPr sz="1425" spc="-75" baseline="26315" dirty="0">
                <a:solidFill>
                  <a:srgbClr val="C00000"/>
                </a:solidFill>
                <a:latin typeface="Cambria Math"/>
                <a:cs typeface="Cambria Math"/>
              </a:rPr>
              <a:t>2</a:t>
            </a:r>
            <a:endParaRPr sz="1425" baseline="26315">
              <a:latin typeface="Cambria Math"/>
              <a:cs typeface="Cambria Math"/>
            </a:endParaRPr>
          </a:p>
        </p:txBody>
      </p:sp>
      <p:sp>
        <p:nvSpPr>
          <p:cNvPr id="24" name="object 24"/>
          <p:cNvSpPr txBox="1"/>
          <p:nvPr/>
        </p:nvSpPr>
        <p:spPr>
          <a:xfrm>
            <a:off x="10949178" y="2623057"/>
            <a:ext cx="336550" cy="203835"/>
          </a:xfrm>
          <a:prstGeom prst="rect">
            <a:avLst/>
          </a:prstGeom>
        </p:spPr>
        <p:txBody>
          <a:bodyPr vert="horz" wrap="square" lIns="0" tIns="15240" rIns="0" bIns="0" rtlCol="0">
            <a:spAutoFit/>
          </a:bodyPr>
          <a:lstStyle/>
          <a:p>
            <a:pPr marL="38100">
              <a:lnSpc>
                <a:spcPct val="100000"/>
              </a:lnSpc>
              <a:spcBef>
                <a:spcPts val="120"/>
              </a:spcBef>
            </a:pPr>
            <a:r>
              <a:rPr sz="1150" spc="40" dirty="0">
                <a:solidFill>
                  <a:srgbClr val="C00000"/>
                </a:solidFill>
                <a:latin typeface="Cambria Math"/>
                <a:cs typeface="Cambria Math"/>
              </a:rPr>
              <a:t>2σ</a:t>
            </a:r>
            <a:r>
              <a:rPr sz="1425" spc="60" baseline="20467" dirty="0">
                <a:solidFill>
                  <a:srgbClr val="C00000"/>
                </a:solidFill>
                <a:latin typeface="Cambria Math"/>
                <a:cs typeface="Cambria Math"/>
              </a:rPr>
              <a:t>2</a:t>
            </a:r>
            <a:endParaRPr sz="1425" baseline="20467">
              <a:latin typeface="Cambria Math"/>
              <a:cs typeface="Cambria Math"/>
            </a:endParaRPr>
          </a:p>
        </p:txBody>
      </p:sp>
      <p:sp>
        <p:nvSpPr>
          <p:cNvPr id="25" name="object 25"/>
          <p:cNvSpPr/>
          <p:nvPr/>
        </p:nvSpPr>
        <p:spPr>
          <a:xfrm>
            <a:off x="10821161" y="2647188"/>
            <a:ext cx="597535" cy="10160"/>
          </a:xfrm>
          <a:custGeom>
            <a:avLst/>
            <a:gdLst/>
            <a:ahLst/>
            <a:cxnLst/>
            <a:rect l="l" t="t" r="r" b="b"/>
            <a:pathLst>
              <a:path w="597534" h="10160">
                <a:moveTo>
                  <a:pt x="597407" y="9906"/>
                </a:moveTo>
                <a:lnTo>
                  <a:pt x="597407" y="0"/>
                </a:lnTo>
                <a:lnTo>
                  <a:pt x="0" y="0"/>
                </a:lnTo>
                <a:lnTo>
                  <a:pt x="0" y="9906"/>
                </a:lnTo>
                <a:lnTo>
                  <a:pt x="597407" y="9906"/>
                </a:lnTo>
                <a:close/>
              </a:path>
            </a:pathLst>
          </a:custGeom>
          <a:solidFill>
            <a:srgbClr val="BF0000"/>
          </a:solidFill>
        </p:spPr>
        <p:txBody>
          <a:bodyPr wrap="square" lIns="0" tIns="0" rIns="0" bIns="0" rtlCol="0"/>
          <a:lstStyle/>
          <a:p>
            <a:endParaRPr/>
          </a:p>
        </p:txBody>
      </p:sp>
      <p:sp>
        <p:nvSpPr>
          <p:cNvPr id="26" name="object 26"/>
          <p:cNvSpPr txBox="1"/>
          <p:nvPr/>
        </p:nvSpPr>
        <p:spPr>
          <a:xfrm>
            <a:off x="11565890" y="2592577"/>
            <a:ext cx="252095" cy="269875"/>
          </a:xfrm>
          <a:prstGeom prst="rect">
            <a:avLst/>
          </a:prstGeom>
        </p:spPr>
        <p:txBody>
          <a:bodyPr vert="horz" wrap="square" lIns="0" tIns="12700" rIns="0" bIns="0" rtlCol="0">
            <a:spAutoFit/>
          </a:bodyPr>
          <a:lstStyle/>
          <a:p>
            <a:pPr marL="12700">
              <a:lnSpc>
                <a:spcPct val="100000"/>
              </a:lnSpc>
              <a:spcBef>
                <a:spcPts val="100"/>
              </a:spcBef>
            </a:pPr>
            <a:r>
              <a:rPr sz="1600" spc="-25" dirty="0">
                <a:solidFill>
                  <a:srgbClr val="C00000"/>
                </a:solidFill>
                <a:latin typeface="Cambria Math"/>
                <a:cs typeface="Cambria Math"/>
              </a:rPr>
              <a:t>𝑑𝑥</a:t>
            </a:r>
            <a:endParaRPr sz="1600">
              <a:latin typeface="Cambria Math"/>
              <a:cs typeface="Cambria Math"/>
            </a:endParaRPr>
          </a:p>
        </p:txBody>
      </p:sp>
      <p:sp>
        <p:nvSpPr>
          <p:cNvPr id="27" name="object 27"/>
          <p:cNvSpPr txBox="1"/>
          <p:nvPr/>
        </p:nvSpPr>
        <p:spPr>
          <a:xfrm>
            <a:off x="7952485" y="3216655"/>
            <a:ext cx="139065"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C00000"/>
                </a:solidFill>
                <a:latin typeface="Cambria Math"/>
                <a:cs typeface="Cambria Math"/>
              </a:rPr>
              <a:t>𝑝</a:t>
            </a:r>
            <a:endParaRPr sz="1600">
              <a:latin typeface="Cambria Math"/>
              <a:cs typeface="Cambria Math"/>
            </a:endParaRPr>
          </a:p>
        </p:txBody>
      </p:sp>
      <p:sp>
        <p:nvSpPr>
          <p:cNvPr id="28" name="object 28"/>
          <p:cNvSpPr txBox="1"/>
          <p:nvPr/>
        </p:nvSpPr>
        <p:spPr>
          <a:xfrm>
            <a:off x="8059166" y="3312667"/>
            <a:ext cx="386080" cy="203835"/>
          </a:xfrm>
          <a:prstGeom prst="rect">
            <a:avLst/>
          </a:prstGeom>
        </p:spPr>
        <p:txBody>
          <a:bodyPr vert="horz" wrap="square" lIns="0" tIns="15240" rIns="0" bIns="0" rtlCol="0">
            <a:spAutoFit/>
          </a:bodyPr>
          <a:lstStyle/>
          <a:p>
            <a:pPr marL="12700">
              <a:lnSpc>
                <a:spcPct val="100000"/>
              </a:lnSpc>
              <a:spcBef>
                <a:spcPts val="120"/>
              </a:spcBef>
            </a:pPr>
            <a:r>
              <a:rPr sz="1150" spc="55" dirty="0">
                <a:solidFill>
                  <a:srgbClr val="C00000"/>
                </a:solidFill>
                <a:latin typeface="Cambria Math"/>
                <a:cs typeface="Cambria Math"/>
              </a:rPr>
              <a:t>𝑒𝑟𝑟</a:t>
            </a:r>
            <a:r>
              <a:rPr sz="1150" spc="35" dirty="0">
                <a:solidFill>
                  <a:srgbClr val="C00000"/>
                </a:solidFill>
                <a:latin typeface="Cambria Math"/>
                <a:cs typeface="Cambria Math"/>
              </a:rPr>
              <a:t> </a:t>
            </a:r>
            <a:r>
              <a:rPr sz="1150" spc="-50" dirty="0">
                <a:solidFill>
                  <a:srgbClr val="C00000"/>
                </a:solidFill>
                <a:latin typeface="Cambria Math"/>
                <a:cs typeface="Cambria Math"/>
              </a:rPr>
              <a:t>0</a:t>
            </a:r>
            <a:endParaRPr sz="1150">
              <a:latin typeface="Cambria Math"/>
              <a:cs typeface="Cambria Math"/>
            </a:endParaRPr>
          </a:p>
        </p:txBody>
      </p:sp>
      <p:sp>
        <p:nvSpPr>
          <p:cNvPr id="29" name="object 29"/>
          <p:cNvSpPr/>
          <p:nvPr/>
        </p:nvSpPr>
        <p:spPr>
          <a:xfrm>
            <a:off x="8458200" y="3281171"/>
            <a:ext cx="779145" cy="188595"/>
          </a:xfrm>
          <a:custGeom>
            <a:avLst/>
            <a:gdLst/>
            <a:ahLst/>
            <a:cxnLst/>
            <a:rect l="l" t="t" r="r" b="b"/>
            <a:pathLst>
              <a:path w="779145" h="188595">
                <a:moveTo>
                  <a:pt x="778763" y="93726"/>
                </a:moveTo>
                <a:lnTo>
                  <a:pt x="770405" y="46041"/>
                </a:lnTo>
                <a:lnTo>
                  <a:pt x="744569" y="11810"/>
                </a:lnTo>
                <a:lnTo>
                  <a:pt x="719327" y="0"/>
                </a:lnTo>
                <a:lnTo>
                  <a:pt x="716279" y="7620"/>
                </a:lnTo>
                <a:lnTo>
                  <a:pt x="727424" y="12049"/>
                </a:lnTo>
                <a:lnTo>
                  <a:pt x="736853" y="18478"/>
                </a:lnTo>
                <a:lnTo>
                  <a:pt x="759142" y="62293"/>
                </a:lnTo>
                <a:lnTo>
                  <a:pt x="761999" y="92964"/>
                </a:lnTo>
                <a:lnTo>
                  <a:pt x="761999" y="157522"/>
                </a:lnTo>
                <a:lnTo>
                  <a:pt x="763523" y="155448"/>
                </a:lnTo>
                <a:lnTo>
                  <a:pt x="770405" y="142160"/>
                </a:lnTo>
                <a:lnTo>
                  <a:pt x="775144" y="127444"/>
                </a:lnTo>
                <a:lnTo>
                  <a:pt x="777882" y="111299"/>
                </a:lnTo>
                <a:lnTo>
                  <a:pt x="778763" y="93726"/>
                </a:lnTo>
                <a:close/>
              </a:path>
              <a:path w="779145" h="188595">
                <a:moveTo>
                  <a:pt x="761999" y="157522"/>
                </a:moveTo>
                <a:lnTo>
                  <a:pt x="761999" y="92964"/>
                </a:lnTo>
                <a:lnTo>
                  <a:pt x="761285" y="109501"/>
                </a:lnTo>
                <a:lnTo>
                  <a:pt x="759142" y="124682"/>
                </a:lnTo>
                <a:lnTo>
                  <a:pt x="744247" y="160555"/>
                </a:lnTo>
                <a:lnTo>
                  <a:pt x="716279" y="180594"/>
                </a:lnTo>
                <a:lnTo>
                  <a:pt x="719327" y="188214"/>
                </a:lnTo>
                <a:lnTo>
                  <a:pt x="732877" y="183201"/>
                </a:lnTo>
                <a:lnTo>
                  <a:pt x="744854" y="176117"/>
                </a:lnTo>
                <a:lnTo>
                  <a:pt x="755118" y="166889"/>
                </a:lnTo>
                <a:lnTo>
                  <a:pt x="761999" y="157522"/>
                </a:lnTo>
                <a:close/>
              </a:path>
              <a:path w="779145" h="188595">
                <a:moveTo>
                  <a:pt x="62483" y="7620"/>
                </a:moveTo>
                <a:lnTo>
                  <a:pt x="59435" y="0"/>
                </a:lnTo>
                <a:lnTo>
                  <a:pt x="45993" y="4691"/>
                </a:lnTo>
                <a:lnTo>
                  <a:pt x="34194" y="11811"/>
                </a:lnTo>
                <a:lnTo>
                  <a:pt x="8358" y="46041"/>
                </a:lnTo>
                <a:lnTo>
                  <a:pt x="0" y="93726"/>
                </a:lnTo>
                <a:lnTo>
                  <a:pt x="881" y="111299"/>
                </a:lnTo>
                <a:lnTo>
                  <a:pt x="3619" y="127444"/>
                </a:lnTo>
                <a:lnTo>
                  <a:pt x="8358" y="142160"/>
                </a:lnTo>
                <a:lnTo>
                  <a:pt x="15239" y="155448"/>
                </a:lnTo>
                <a:lnTo>
                  <a:pt x="16763" y="157446"/>
                </a:lnTo>
                <a:lnTo>
                  <a:pt x="16763" y="92964"/>
                </a:lnTo>
                <a:lnTo>
                  <a:pt x="17478" y="76985"/>
                </a:lnTo>
                <a:lnTo>
                  <a:pt x="28193" y="37338"/>
                </a:lnTo>
                <a:lnTo>
                  <a:pt x="51768" y="12049"/>
                </a:lnTo>
                <a:lnTo>
                  <a:pt x="62483" y="7620"/>
                </a:lnTo>
                <a:close/>
              </a:path>
              <a:path w="779145" h="188595">
                <a:moveTo>
                  <a:pt x="62483" y="180594"/>
                </a:moveTo>
                <a:lnTo>
                  <a:pt x="28193" y="150114"/>
                </a:lnTo>
                <a:lnTo>
                  <a:pt x="17478" y="109501"/>
                </a:lnTo>
                <a:lnTo>
                  <a:pt x="16763" y="92964"/>
                </a:lnTo>
                <a:lnTo>
                  <a:pt x="16763" y="157446"/>
                </a:lnTo>
                <a:lnTo>
                  <a:pt x="23967" y="166889"/>
                </a:lnTo>
                <a:lnTo>
                  <a:pt x="34194" y="176117"/>
                </a:lnTo>
                <a:lnTo>
                  <a:pt x="45993" y="183201"/>
                </a:lnTo>
                <a:lnTo>
                  <a:pt x="59435" y="188214"/>
                </a:lnTo>
                <a:lnTo>
                  <a:pt x="62483" y="180594"/>
                </a:lnTo>
                <a:close/>
              </a:path>
            </a:pathLst>
          </a:custGeom>
          <a:solidFill>
            <a:srgbClr val="BF0000"/>
          </a:solidFill>
        </p:spPr>
        <p:txBody>
          <a:bodyPr wrap="square" lIns="0" tIns="0" rIns="0" bIns="0" rtlCol="0"/>
          <a:lstStyle/>
          <a:p>
            <a:endParaRPr/>
          </a:p>
        </p:txBody>
      </p:sp>
      <p:sp>
        <p:nvSpPr>
          <p:cNvPr id="30" name="object 30"/>
          <p:cNvSpPr txBox="1"/>
          <p:nvPr/>
        </p:nvSpPr>
        <p:spPr>
          <a:xfrm>
            <a:off x="8512556" y="3216655"/>
            <a:ext cx="671830" cy="26987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C00000"/>
                </a:solidFill>
                <a:latin typeface="Cambria Math"/>
                <a:cs typeface="Cambria Math"/>
              </a:rPr>
              <a:t>𝑥</a:t>
            </a:r>
            <a:r>
              <a:rPr sz="1600" spc="-110" dirty="0">
                <a:solidFill>
                  <a:srgbClr val="C00000"/>
                </a:solidFill>
                <a:latin typeface="Cambria Math"/>
                <a:cs typeface="Cambria Math"/>
              </a:rPr>
              <a:t> </a:t>
            </a:r>
            <a:r>
              <a:rPr sz="1600" dirty="0">
                <a:solidFill>
                  <a:srgbClr val="C00000"/>
                </a:solidFill>
                <a:latin typeface="Cambria Math"/>
                <a:cs typeface="Cambria Math"/>
              </a:rPr>
              <a:t>≥</a:t>
            </a:r>
            <a:r>
              <a:rPr sz="1600" spc="90" dirty="0">
                <a:solidFill>
                  <a:srgbClr val="C00000"/>
                </a:solidFill>
                <a:latin typeface="Cambria Math"/>
                <a:cs typeface="Cambria Math"/>
              </a:rPr>
              <a:t> </a:t>
            </a:r>
            <a:r>
              <a:rPr sz="1600" spc="-25" dirty="0">
                <a:solidFill>
                  <a:srgbClr val="C00000"/>
                </a:solidFill>
                <a:latin typeface="Cambria Math"/>
                <a:cs typeface="Cambria Math"/>
              </a:rPr>
              <a:t>0.5</a:t>
            </a:r>
            <a:endParaRPr sz="1600">
              <a:latin typeface="Cambria Math"/>
              <a:cs typeface="Cambria Math"/>
            </a:endParaRPr>
          </a:p>
        </p:txBody>
      </p:sp>
      <p:sp>
        <p:nvSpPr>
          <p:cNvPr id="31" name="object 31"/>
          <p:cNvSpPr/>
          <p:nvPr/>
        </p:nvSpPr>
        <p:spPr>
          <a:xfrm>
            <a:off x="10085831" y="3115817"/>
            <a:ext cx="822325" cy="519430"/>
          </a:xfrm>
          <a:custGeom>
            <a:avLst/>
            <a:gdLst/>
            <a:ahLst/>
            <a:cxnLst/>
            <a:rect l="l" t="t" r="r" b="b"/>
            <a:pathLst>
              <a:path w="822325" h="519429">
                <a:moveTo>
                  <a:pt x="822197" y="259079"/>
                </a:moveTo>
                <a:lnTo>
                  <a:pt x="820757" y="217336"/>
                </a:lnTo>
                <a:lnTo>
                  <a:pt x="816387" y="177736"/>
                </a:lnTo>
                <a:lnTo>
                  <a:pt x="809017" y="140136"/>
                </a:lnTo>
                <a:lnTo>
                  <a:pt x="785562" y="71794"/>
                </a:lnTo>
                <a:lnTo>
                  <a:pt x="753248" y="19740"/>
                </a:lnTo>
                <a:lnTo>
                  <a:pt x="733805" y="0"/>
                </a:lnTo>
                <a:lnTo>
                  <a:pt x="729233" y="7620"/>
                </a:lnTo>
                <a:lnTo>
                  <a:pt x="745509" y="27336"/>
                </a:lnTo>
                <a:lnTo>
                  <a:pt x="759999" y="51053"/>
                </a:lnTo>
                <a:lnTo>
                  <a:pt x="783335" y="110489"/>
                </a:lnTo>
                <a:lnTo>
                  <a:pt x="797718" y="180784"/>
                </a:lnTo>
                <a:lnTo>
                  <a:pt x="801231" y="218932"/>
                </a:lnTo>
                <a:lnTo>
                  <a:pt x="802385" y="259079"/>
                </a:lnTo>
                <a:lnTo>
                  <a:pt x="802385" y="400567"/>
                </a:lnTo>
                <a:lnTo>
                  <a:pt x="809017" y="377594"/>
                </a:lnTo>
                <a:lnTo>
                  <a:pt x="816387" y="339852"/>
                </a:lnTo>
                <a:lnTo>
                  <a:pt x="820757" y="300394"/>
                </a:lnTo>
                <a:lnTo>
                  <a:pt x="822197" y="259079"/>
                </a:lnTo>
                <a:close/>
              </a:path>
              <a:path w="822325" h="519429">
                <a:moveTo>
                  <a:pt x="802385" y="400567"/>
                </a:moveTo>
                <a:lnTo>
                  <a:pt x="802385" y="259079"/>
                </a:lnTo>
                <a:lnTo>
                  <a:pt x="801231" y="298799"/>
                </a:lnTo>
                <a:lnTo>
                  <a:pt x="797718" y="336804"/>
                </a:lnTo>
                <a:lnTo>
                  <a:pt x="783335" y="407670"/>
                </a:lnTo>
                <a:lnTo>
                  <a:pt x="760285" y="467772"/>
                </a:lnTo>
                <a:lnTo>
                  <a:pt x="729233" y="511302"/>
                </a:lnTo>
                <a:lnTo>
                  <a:pt x="733805" y="518922"/>
                </a:lnTo>
                <a:lnTo>
                  <a:pt x="753248" y="499491"/>
                </a:lnTo>
                <a:lnTo>
                  <a:pt x="770477" y="475488"/>
                </a:lnTo>
                <a:lnTo>
                  <a:pt x="785562" y="446913"/>
                </a:lnTo>
                <a:lnTo>
                  <a:pt x="798575" y="413766"/>
                </a:lnTo>
                <a:lnTo>
                  <a:pt x="802385" y="400567"/>
                </a:lnTo>
                <a:close/>
              </a:path>
              <a:path w="822325" h="519429">
                <a:moveTo>
                  <a:pt x="93725" y="7620"/>
                </a:moveTo>
                <a:lnTo>
                  <a:pt x="52482" y="43624"/>
                </a:lnTo>
                <a:lnTo>
                  <a:pt x="24383" y="104394"/>
                </a:lnTo>
                <a:lnTo>
                  <a:pt x="6191" y="177736"/>
                </a:lnTo>
                <a:lnTo>
                  <a:pt x="1559" y="217336"/>
                </a:lnTo>
                <a:lnTo>
                  <a:pt x="0" y="259080"/>
                </a:lnTo>
                <a:lnTo>
                  <a:pt x="1559" y="300394"/>
                </a:lnTo>
                <a:lnTo>
                  <a:pt x="6191" y="339852"/>
                </a:lnTo>
                <a:lnTo>
                  <a:pt x="13823" y="377594"/>
                </a:lnTo>
                <a:lnTo>
                  <a:pt x="19811" y="398106"/>
                </a:lnTo>
                <a:lnTo>
                  <a:pt x="19811" y="259080"/>
                </a:lnTo>
                <a:lnTo>
                  <a:pt x="21074" y="218932"/>
                </a:lnTo>
                <a:lnTo>
                  <a:pt x="24764" y="180784"/>
                </a:lnTo>
                <a:lnTo>
                  <a:pt x="38861" y="110490"/>
                </a:lnTo>
                <a:lnTo>
                  <a:pt x="62293" y="51054"/>
                </a:lnTo>
                <a:lnTo>
                  <a:pt x="77009" y="27336"/>
                </a:lnTo>
                <a:lnTo>
                  <a:pt x="93725" y="7620"/>
                </a:lnTo>
                <a:close/>
              </a:path>
              <a:path w="822325" h="519429">
                <a:moveTo>
                  <a:pt x="93725" y="511302"/>
                </a:moveTo>
                <a:lnTo>
                  <a:pt x="62293" y="467772"/>
                </a:lnTo>
                <a:lnTo>
                  <a:pt x="38861" y="407670"/>
                </a:lnTo>
                <a:lnTo>
                  <a:pt x="24764" y="336804"/>
                </a:lnTo>
                <a:lnTo>
                  <a:pt x="21074" y="298799"/>
                </a:lnTo>
                <a:lnTo>
                  <a:pt x="19811" y="259080"/>
                </a:lnTo>
                <a:lnTo>
                  <a:pt x="19811" y="398106"/>
                </a:lnTo>
                <a:lnTo>
                  <a:pt x="37397" y="446913"/>
                </a:lnTo>
                <a:lnTo>
                  <a:pt x="69711" y="499491"/>
                </a:lnTo>
                <a:lnTo>
                  <a:pt x="89153" y="518922"/>
                </a:lnTo>
                <a:lnTo>
                  <a:pt x="93725" y="511302"/>
                </a:lnTo>
                <a:close/>
              </a:path>
            </a:pathLst>
          </a:custGeom>
          <a:solidFill>
            <a:srgbClr val="BF0000"/>
          </a:solidFill>
        </p:spPr>
        <p:txBody>
          <a:bodyPr wrap="square" lIns="0" tIns="0" rIns="0" bIns="0" rtlCol="0"/>
          <a:lstStyle/>
          <a:p>
            <a:endParaRPr/>
          </a:p>
        </p:txBody>
      </p:sp>
      <p:sp>
        <p:nvSpPr>
          <p:cNvPr id="32" name="object 32"/>
          <p:cNvSpPr txBox="1"/>
          <p:nvPr/>
        </p:nvSpPr>
        <p:spPr>
          <a:xfrm>
            <a:off x="9273526" y="3062731"/>
            <a:ext cx="1573530" cy="269875"/>
          </a:xfrm>
          <a:prstGeom prst="rect">
            <a:avLst/>
          </a:prstGeom>
        </p:spPr>
        <p:txBody>
          <a:bodyPr vert="horz" wrap="square" lIns="0" tIns="12700" rIns="0" bIns="0" rtlCol="0">
            <a:spAutoFit/>
          </a:bodyPr>
          <a:lstStyle/>
          <a:p>
            <a:pPr marL="38100">
              <a:lnSpc>
                <a:spcPct val="100000"/>
              </a:lnSpc>
              <a:spcBef>
                <a:spcPts val="100"/>
              </a:spcBef>
              <a:tabLst>
                <a:tab pos="912494" algn="l"/>
              </a:tabLst>
            </a:pPr>
            <a:r>
              <a:rPr sz="2400" baseline="-41666" dirty="0">
                <a:solidFill>
                  <a:srgbClr val="C00000"/>
                </a:solidFill>
                <a:latin typeface="Cambria Math"/>
                <a:cs typeface="Cambria Math"/>
              </a:rPr>
              <a:t>=</a:t>
            </a:r>
            <a:r>
              <a:rPr sz="2400" spc="112" baseline="-41666" dirty="0">
                <a:solidFill>
                  <a:srgbClr val="C00000"/>
                </a:solidFill>
                <a:latin typeface="Cambria Math"/>
                <a:cs typeface="Cambria Math"/>
              </a:rPr>
              <a:t> </a:t>
            </a:r>
            <a:r>
              <a:rPr sz="2400" baseline="-41666" dirty="0">
                <a:solidFill>
                  <a:srgbClr val="C00000"/>
                </a:solidFill>
                <a:latin typeface="Cambria Math"/>
                <a:cs typeface="Cambria Math"/>
              </a:rPr>
              <a:t>1</a:t>
            </a:r>
            <a:r>
              <a:rPr sz="2400" spc="-15" baseline="-41666" dirty="0">
                <a:solidFill>
                  <a:srgbClr val="C00000"/>
                </a:solidFill>
                <a:latin typeface="Cambria Math"/>
                <a:cs typeface="Cambria Math"/>
              </a:rPr>
              <a:t> </a:t>
            </a:r>
            <a:r>
              <a:rPr sz="2400" baseline="-41666" dirty="0">
                <a:solidFill>
                  <a:srgbClr val="C00000"/>
                </a:solidFill>
                <a:latin typeface="Cambria Math"/>
                <a:cs typeface="Cambria Math"/>
              </a:rPr>
              <a:t>−</a:t>
            </a:r>
            <a:r>
              <a:rPr sz="2400" spc="-15" baseline="-41666" dirty="0">
                <a:solidFill>
                  <a:srgbClr val="C00000"/>
                </a:solidFill>
                <a:latin typeface="Cambria Math"/>
                <a:cs typeface="Cambria Math"/>
              </a:rPr>
              <a:t> </a:t>
            </a:r>
            <a:r>
              <a:rPr sz="2400" spc="-75" baseline="-41666" dirty="0">
                <a:solidFill>
                  <a:srgbClr val="C00000"/>
                </a:solidFill>
                <a:latin typeface="Cambria Math"/>
                <a:cs typeface="Cambria Math"/>
              </a:rPr>
              <a:t>Φ</a:t>
            </a:r>
            <a:r>
              <a:rPr sz="2400" baseline="-41666" dirty="0">
                <a:solidFill>
                  <a:srgbClr val="C00000"/>
                </a:solidFill>
                <a:latin typeface="Cambria Math"/>
                <a:cs typeface="Cambria Math"/>
              </a:rPr>
              <a:t>	</a:t>
            </a:r>
            <a:r>
              <a:rPr sz="1600" dirty="0">
                <a:solidFill>
                  <a:srgbClr val="C00000"/>
                </a:solidFill>
                <a:latin typeface="Cambria Math"/>
                <a:cs typeface="Cambria Math"/>
              </a:rPr>
              <a:t>0.5</a:t>
            </a:r>
            <a:r>
              <a:rPr sz="1600" spc="-15" dirty="0">
                <a:solidFill>
                  <a:srgbClr val="C00000"/>
                </a:solidFill>
                <a:latin typeface="Cambria Math"/>
                <a:cs typeface="Cambria Math"/>
              </a:rPr>
              <a:t> </a:t>
            </a:r>
            <a:r>
              <a:rPr sz="1600" dirty="0">
                <a:solidFill>
                  <a:srgbClr val="C00000"/>
                </a:solidFill>
                <a:latin typeface="Cambria Math"/>
                <a:cs typeface="Cambria Math"/>
              </a:rPr>
              <a:t>−</a:t>
            </a:r>
            <a:r>
              <a:rPr sz="1600" spc="5" dirty="0">
                <a:solidFill>
                  <a:srgbClr val="C00000"/>
                </a:solidFill>
                <a:latin typeface="Cambria Math"/>
                <a:cs typeface="Cambria Math"/>
              </a:rPr>
              <a:t> </a:t>
            </a:r>
            <a:r>
              <a:rPr sz="1600" spc="-50" dirty="0">
                <a:solidFill>
                  <a:srgbClr val="C00000"/>
                </a:solidFill>
                <a:latin typeface="Cambria Math"/>
                <a:cs typeface="Cambria Math"/>
              </a:rPr>
              <a:t>0</a:t>
            </a:r>
            <a:endParaRPr sz="1600">
              <a:latin typeface="Cambria Math"/>
              <a:cs typeface="Cambria Math"/>
            </a:endParaRPr>
          </a:p>
        </p:txBody>
      </p:sp>
      <p:sp>
        <p:nvSpPr>
          <p:cNvPr id="33" name="object 33"/>
          <p:cNvSpPr txBox="1"/>
          <p:nvPr/>
        </p:nvSpPr>
        <p:spPr>
          <a:xfrm>
            <a:off x="10422133" y="3353060"/>
            <a:ext cx="144780"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C00000"/>
                </a:solidFill>
                <a:latin typeface="Cambria Math"/>
                <a:cs typeface="Cambria Math"/>
              </a:rPr>
              <a:t>𝜎</a:t>
            </a:r>
            <a:endParaRPr sz="1600">
              <a:latin typeface="Cambria Math"/>
              <a:cs typeface="Cambria Math"/>
            </a:endParaRPr>
          </a:p>
        </p:txBody>
      </p:sp>
      <p:sp>
        <p:nvSpPr>
          <p:cNvPr id="34" name="object 34"/>
          <p:cNvSpPr/>
          <p:nvPr/>
        </p:nvSpPr>
        <p:spPr>
          <a:xfrm>
            <a:off x="10185654" y="3368802"/>
            <a:ext cx="622300" cy="13335"/>
          </a:xfrm>
          <a:custGeom>
            <a:avLst/>
            <a:gdLst/>
            <a:ahLst/>
            <a:cxnLst/>
            <a:rect l="l" t="t" r="r" b="b"/>
            <a:pathLst>
              <a:path w="622300" h="13335">
                <a:moveTo>
                  <a:pt x="621792" y="12953"/>
                </a:moveTo>
                <a:lnTo>
                  <a:pt x="621792" y="0"/>
                </a:lnTo>
                <a:lnTo>
                  <a:pt x="0" y="0"/>
                </a:lnTo>
                <a:lnTo>
                  <a:pt x="0" y="12953"/>
                </a:lnTo>
                <a:lnTo>
                  <a:pt x="621792" y="12953"/>
                </a:lnTo>
                <a:close/>
              </a:path>
            </a:pathLst>
          </a:custGeom>
          <a:solidFill>
            <a:srgbClr val="BF0000"/>
          </a:solidFill>
        </p:spPr>
        <p:txBody>
          <a:bodyPr wrap="square" lIns="0" tIns="0" rIns="0" bIns="0" rtlCol="0"/>
          <a:lstStyle/>
          <a:p>
            <a:endParaRPr/>
          </a:p>
        </p:txBody>
      </p:sp>
      <p:sp>
        <p:nvSpPr>
          <p:cNvPr id="35" name="object 35"/>
          <p:cNvSpPr/>
          <p:nvPr/>
        </p:nvSpPr>
        <p:spPr>
          <a:xfrm>
            <a:off x="11400281" y="3115817"/>
            <a:ext cx="654050" cy="519430"/>
          </a:xfrm>
          <a:custGeom>
            <a:avLst/>
            <a:gdLst/>
            <a:ahLst/>
            <a:cxnLst/>
            <a:rect l="l" t="t" r="r" b="b"/>
            <a:pathLst>
              <a:path w="654050" h="519429">
                <a:moveTo>
                  <a:pt x="653795" y="259079"/>
                </a:moveTo>
                <a:lnTo>
                  <a:pt x="652355" y="217336"/>
                </a:lnTo>
                <a:lnTo>
                  <a:pt x="647985" y="177736"/>
                </a:lnTo>
                <a:lnTo>
                  <a:pt x="640615" y="140136"/>
                </a:lnTo>
                <a:lnTo>
                  <a:pt x="617160" y="71794"/>
                </a:lnTo>
                <a:lnTo>
                  <a:pt x="584846" y="19740"/>
                </a:lnTo>
                <a:lnTo>
                  <a:pt x="565403" y="0"/>
                </a:lnTo>
                <a:lnTo>
                  <a:pt x="560831" y="7620"/>
                </a:lnTo>
                <a:lnTo>
                  <a:pt x="577107" y="27336"/>
                </a:lnTo>
                <a:lnTo>
                  <a:pt x="591597" y="51053"/>
                </a:lnTo>
                <a:lnTo>
                  <a:pt x="614933" y="110489"/>
                </a:lnTo>
                <a:lnTo>
                  <a:pt x="629316" y="180784"/>
                </a:lnTo>
                <a:lnTo>
                  <a:pt x="632829" y="218932"/>
                </a:lnTo>
                <a:lnTo>
                  <a:pt x="633983" y="259079"/>
                </a:lnTo>
                <a:lnTo>
                  <a:pt x="633983" y="400567"/>
                </a:lnTo>
                <a:lnTo>
                  <a:pt x="640615" y="377594"/>
                </a:lnTo>
                <a:lnTo>
                  <a:pt x="647985" y="339852"/>
                </a:lnTo>
                <a:lnTo>
                  <a:pt x="652355" y="300394"/>
                </a:lnTo>
                <a:lnTo>
                  <a:pt x="653795" y="259079"/>
                </a:lnTo>
                <a:close/>
              </a:path>
              <a:path w="654050" h="519429">
                <a:moveTo>
                  <a:pt x="633983" y="400567"/>
                </a:moveTo>
                <a:lnTo>
                  <a:pt x="633983" y="259079"/>
                </a:lnTo>
                <a:lnTo>
                  <a:pt x="632829" y="298799"/>
                </a:lnTo>
                <a:lnTo>
                  <a:pt x="629316" y="336804"/>
                </a:lnTo>
                <a:lnTo>
                  <a:pt x="614933" y="407670"/>
                </a:lnTo>
                <a:lnTo>
                  <a:pt x="591883" y="467772"/>
                </a:lnTo>
                <a:lnTo>
                  <a:pt x="560831" y="511302"/>
                </a:lnTo>
                <a:lnTo>
                  <a:pt x="565403" y="518922"/>
                </a:lnTo>
                <a:lnTo>
                  <a:pt x="584846" y="499491"/>
                </a:lnTo>
                <a:lnTo>
                  <a:pt x="602075" y="475488"/>
                </a:lnTo>
                <a:lnTo>
                  <a:pt x="617160" y="446913"/>
                </a:lnTo>
                <a:lnTo>
                  <a:pt x="630173" y="413766"/>
                </a:lnTo>
                <a:lnTo>
                  <a:pt x="633983" y="400567"/>
                </a:lnTo>
                <a:close/>
              </a:path>
              <a:path w="654050" h="519429">
                <a:moveTo>
                  <a:pt x="93725" y="7620"/>
                </a:moveTo>
                <a:lnTo>
                  <a:pt x="52482" y="43624"/>
                </a:lnTo>
                <a:lnTo>
                  <a:pt x="24383" y="104394"/>
                </a:lnTo>
                <a:lnTo>
                  <a:pt x="6191" y="177736"/>
                </a:lnTo>
                <a:lnTo>
                  <a:pt x="1559" y="217336"/>
                </a:lnTo>
                <a:lnTo>
                  <a:pt x="0" y="259080"/>
                </a:lnTo>
                <a:lnTo>
                  <a:pt x="1559" y="300394"/>
                </a:lnTo>
                <a:lnTo>
                  <a:pt x="6191" y="339852"/>
                </a:lnTo>
                <a:lnTo>
                  <a:pt x="13823" y="377594"/>
                </a:lnTo>
                <a:lnTo>
                  <a:pt x="19811" y="398106"/>
                </a:lnTo>
                <a:lnTo>
                  <a:pt x="19811" y="259080"/>
                </a:lnTo>
                <a:lnTo>
                  <a:pt x="21074" y="218932"/>
                </a:lnTo>
                <a:lnTo>
                  <a:pt x="24764" y="180784"/>
                </a:lnTo>
                <a:lnTo>
                  <a:pt x="38861" y="110490"/>
                </a:lnTo>
                <a:lnTo>
                  <a:pt x="62293" y="51054"/>
                </a:lnTo>
                <a:lnTo>
                  <a:pt x="77009" y="27336"/>
                </a:lnTo>
                <a:lnTo>
                  <a:pt x="93725" y="7620"/>
                </a:lnTo>
                <a:close/>
              </a:path>
              <a:path w="654050" h="519429">
                <a:moveTo>
                  <a:pt x="93725" y="511302"/>
                </a:moveTo>
                <a:lnTo>
                  <a:pt x="62293" y="467772"/>
                </a:lnTo>
                <a:lnTo>
                  <a:pt x="38861" y="407670"/>
                </a:lnTo>
                <a:lnTo>
                  <a:pt x="24764" y="336804"/>
                </a:lnTo>
                <a:lnTo>
                  <a:pt x="21074" y="298799"/>
                </a:lnTo>
                <a:lnTo>
                  <a:pt x="19811" y="259080"/>
                </a:lnTo>
                <a:lnTo>
                  <a:pt x="19811" y="398106"/>
                </a:lnTo>
                <a:lnTo>
                  <a:pt x="37397" y="446913"/>
                </a:lnTo>
                <a:lnTo>
                  <a:pt x="69711" y="499491"/>
                </a:lnTo>
                <a:lnTo>
                  <a:pt x="89153" y="518922"/>
                </a:lnTo>
                <a:lnTo>
                  <a:pt x="93725" y="511302"/>
                </a:lnTo>
                <a:close/>
              </a:path>
            </a:pathLst>
          </a:custGeom>
          <a:solidFill>
            <a:srgbClr val="BF0000"/>
          </a:solidFill>
        </p:spPr>
        <p:txBody>
          <a:bodyPr wrap="square" lIns="0" tIns="0" rIns="0" bIns="0" rtlCol="0"/>
          <a:lstStyle/>
          <a:p>
            <a:endParaRPr/>
          </a:p>
        </p:txBody>
      </p:sp>
      <p:sp>
        <p:nvSpPr>
          <p:cNvPr id="36" name="object 36"/>
          <p:cNvSpPr txBox="1"/>
          <p:nvPr/>
        </p:nvSpPr>
        <p:spPr>
          <a:xfrm>
            <a:off x="10943843" y="3062722"/>
            <a:ext cx="1049655" cy="269875"/>
          </a:xfrm>
          <a:prstGeom prst="rect">
            <a:avLst/>
          </a:prstGeom>
        </p:spPr>
        <p:txBody>
          <a:bodyPr vert="horz" wrap="square" lIns="0" tIns="12700" rIns="0" bIns="0" rtlCol="0">
            <a:spAutoFit/>
          </a:bodyPr>
          <a:lstStyle/>
          <a:p>
            <a:pPr marL="38100">
              <a:lnSpc>
                <a:spcPct val="100000"/>
              </a:lnSpc>
              <a:spcBef>
                <a:spcPts val="100"/>
              </a:spcBef>
              <a:tabLst>
                <a:tab pos="556895" algn="l"/>
              </a:tabLst>
            </a:pPr>
            <a:r>
              <a:rPr sz="2400" spc="112" baseline="-41666" dirty="0">
                <a:solidFill>
                  <a:srgbClr val="C00000"/>
                </a:solidFill>
                <a:latin typeface="Cambria Math"/>
                <a:cs typeface="Cambria Math"/>
              </a:rPr>
              <a:t>=</a:t>
            </a:r>
            <a:r>
              <a:rPr sz="2400" baseline="-41666" dirty="0">
                <a:solidFill>
                  <a:srgbClr val="C00000"/>
                </a:solidFill>
                <a:latin typeface="Cambria Math"/>
                <a:cs typeface="Cambria Math"/>
              </a:rPr>
              <a:t> </a:t>
            </a:r>
            <a:r>
              <a:rPr sz="2400" spc="-75" baseline="-41666" dirty="0">
                <a:solidFill>
                  <a:srgbClr val="C00000"/>
                </a:solidFill>
                <a:latin typeface="Cambria Math"/>
                <a:cs typeface="Cambria Math"/>
              </a:rPr>
              <a:t>Φ</a:t>
            </a:r>
            <a:r>
              <a:rPr sz="2400" baseline="-41666" dirty="0">
                <a:solidFill>
                  <a:srgbClr val="C00000"/>
                </a:solidFill>
                <a:latin typeface="Cambria Math"/>
                <a:cs typeface="Cambria Math"/>
              </a:rPr>
              <a:t>	</a:t>
            </a:r>
            <a:r>
              <a:rPr sz="2400" spc="-30" baseline="-41666" dirty="0">
                <a:solidFill>
                  <a:srgbClr val="C00000"/>
                </a:solidFill>
                <a:latin typeface="Cambria Math"/>
                <a:cs typeface="Cambria Math"/>
              </a:rPr>
              <a:t>−</a:t>
            </a:r>
            <a:r>
              <a:rPr sz="2400" spc="-112" baseline="-41666" dirty="0">
                <a:solidFill>
                  <a:srgbClr val="C00000"/>
                </a:solidFill>
                <a:latin typeface="Cambria Math"/>
                <a:cs typeface="Cambria Math"/>
              </a:rPr>
              <a:t> </a:t>
            </a:r>
            <a:r>
              <a:rPr sz="1600" spc="-25" dirty="0">
                <a:solidFill>
                  <a:srgbClr val="C00000"/>
                </a:solidFill>
                <a:latin typeface="Cambria Math"/>
                <a:cs typeface="Cambria Math"/>
              </a:rPr>
              <a:t>0.5</a:t>
            </a:r>
            <a:endParaRPr sz="1600">
              <a:latin typeface="Cambria Math"/>
              <a:cs typeface="Cambria Math"/>
            </a:endParaRPr>
          </a:p>
        </p:txBody>
      </p:sp>
      <p:sp>
        <p:nvSpPr>
          <p:cNvPr id="37" name="object 37"/>
          <p:cNvSpPr txBox="1"/>
          <p:nvPr/>
        </p:nvSpPr>
        <p:spPr>
          <a:xfrm>
            <a:off x="11745718" y="3353051"/>
            <a:ext cx="144780"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C00000"/>
                </a:solidFill>
                <a:latin typeface="Cambria Math"/>
                <a:cs typeface="Cambria Math"/>
              </a:rPr>
              <a:t>𝜎</a:t>
            </a:r>
            <a:endParaRPr sz="1600">
              <a:latin typeface="Cambria Math"/>
              <a:cs typeface="Cambria Math"/>
            </a:endParaRPr>
          </a:p>
        </p:txBody>
      </p:sp>
      <p:sp>
        <p:nvSpPr>
          <p:cNvPr id="38" name="object 38"/>
          <p:cNvSpPr/>
          <p:nvPr/>
        </p:nvSpPr>
        <p:spPr>
          <a:xfrm>
            <a:off x="11686793" y="3368802"/>
            <a:ext cx="266700" cy="13335"/>
          </a:xfrm>
          <a:custGeom>
            <a:avLst/>
            <a:gdLst/>
            <a:ahLst/>
            <a:cxnLst/>
            <a:rect l="l" t="t" r="r" b="b"/>
            <a:pathLst>
              <a:path w="266700" h="13335">
                <a:moveTo>
                  <a:pt x="266700" y="12953"/>
                </a:moveTo>
                <a:lnTo>
                  <a:pt x="266700" y="0"/>
                </a:lnTo>
                <a:lnTo>
                  <a:pt x="0" y="0"/>
                </a:lnTo>
                <a:lnTo>
                  <a:pt x="0" y="12953"/>
                </a:lnTo>
                <a:lnTo>
                  <a:pt x="266700" y="12953"/>
                </a:lnTo>
                <a:close/>
              </a:path>
            </a:pathLst>
          </a:custGeom>
          <a:solidFill>
            <a:srgbClr val="BF0000"/>
          </a:solidFill>
        </p:spPr>
        <p:txBody>
          <a:bodyPr wrap="square" lIns="0" tIns="0" rIns="0" bIns="0" rtlCol="0"/>
          <a:lstStyle/>
          <a:p>
            <a:endParaRPr/>
          </a:p>
        </p:txBody>
      </p:sp>
      <p:sp>
        <p:nvSpPr>
          <p:cNvPr id="39" name="object 39"/>
          <p:cNvSpPr/>
          <p:nvPr/>
        </p:nvSpPr>
        <p:spPr>
          <a:xfrm>
            <a:off x="10267175" y="1862327"/>
            <a:ext cx="10160" cy="276225"/>
          </a:xfrm>
          <a:custGeom>
            <a:avLst/>
            <a:gdLst/>
            <a:ahLst/>
            <a:cxnLst/>
            <a:rect l="l" t="t" r="r" b="b"/>
            <a:pathLst>
              <a:path w="10159" h="276225">
                <a:moveTo>
                  <a:pt x="9918" y="266700"/>
                </a:moveTo>
                <a:lnTo>
                  <a:pt x="0" y="266700"/>
                </a:lnTo>
                <a:lnTo>
                  <a:pt x="0" y="275844"/>
                </a:lnTo>
                <a:lnTo>
                  <a:pt x="9918" y="275844"/>
                </a:lnTo>
                <a:lnTo>
                  <a:pt x="9918" y="266700"/>
                </a:lnTo>
                <a:close/>
              </a:path>
              <a:path w="10159" h="276225">
                <a:moveTo>
                  <a:pt x="9918" y="200406"/>
                </a:moveTo>
                <a:lnTo>
                  <a:pt x="0" y="200406"/>
                </a:lnTo>
                <a:lnTo>
                  <a:pt x="0" y="238506"/>
                </a:lnTo>
                <a:lnTo>
                  <a:pt x="9918" y="238506"/>
                </a:lnTo>
                <a:lnTo>
                  <a:pt x="9918" y="200406"/>
                </a:lnTo>
                <a:close/>
              </a:path>
              <a:path w="10159" h="276225">
                <a:moveTo>
                  <a:pt x="9918" y="133350"/>
                </a:moveTo>
                <a:lnTo>
                  <a:pt x="0" y="133350"/>
                </a:lnTo>
                <a:lnTo>
                  <a:pt x="0" y="171450"/>
                </a:lnTo>
                <a:lnTo>
                  <a:pt x="9918" y="171450"/>
                </a:lnTo>
                <a:lnTo>
                  <a:pt x="9918" y="133350"/>
                </a:lnTo>
                <a:close/>
              </a:path>
              <a:path w="10159" h="276225">
                <a:moveTo>
                  <a:pt x="9918" y="67056"/>
                </a:moveTo>
                <a:lnTo>
                  <a:pt x="0" y="67056"/>
                </a:lnTo>
                <a:lnTo>
                  <a:pt x="0" y="105156"/>
                </a:lnTo>
                <a:lnTo>
                  <a:pt x="9918" y="105156"/>
                </a:lnTo>
                <a:lnTo>
                  <a:pt x="9918" y="67056"/>
                </a:lnTo>
                <a:close/>
              </a:path>
              <a:path w="10159" h="276225">
                <a:moveTo>
                  <a:pt x="9918" y="0"/>
                </a:moveTo>
                <a:lnTo>
                  <a:pt x="0" y="0"/>
                </a:lnTo>
                <a:lnTo>
                  <a:pt x="0" y="38100"/>
                </a:lnTo>
                <a:lnTo>
                  <a:pt x="9918" y="38100"/>
                </a:lnTo>
                <a:lnTo>
                  <a:pt x="9918" y="0"/>
                </a:lnTo>
                <a:close/>
              </a:path>
            </a:pathLst>
          </a:custGeom>
          <a:solidFill>
            <a:srgbClr val="000000"/>
          </a:solidFill>
        </p:spPr>
        <p:txBody>
          <a:bodyPr wrap="square" lIns="0" tIns="0" rIns="0" bIns="0" rtlCol="0"/>
          <a:lstStyle/>
          <a:p>
            <a:endParaRPr/>
          </a:p>
        </p:txBody>
      </p:sp>
      <p:grpSp>
        <p:nvGrpSpPr>
          <p:cNvPr id="40" name="object 40"/>
          <p:cNvGrpSpPr/>
          <p:nvPr/>
        </p:nvGrpSpPr>
        <p:grpSpPr>
          <a:xfrm>
            <a:off x="8449056" y="3628644"/>
            <a:ext cx="2616200" cy="1060450"/>
            <a:chOff x="8449056" y="3628644"/>
            <a:chExt cx="2616200" cy="1060450"/>
          </a:xfrm>
        </p:grpSpPr>
        <p:pic>
          <p:nvPicPr>
            <p:cNvPr id="41" name="object 41"/>
            <p:cNvPicPr/>
            <p:nvPr/>
          </p:nvPicPr>
          <p:blipFill>
            <a:blip r:embed="rId3" cstate="print"/>
            <a:stretch>
              <a:fillRect/>
            </a:stretch>
          </p:blipFill>
          <p:spPr>
            <a:xfrm>
              <a:off x="9280778" y="3827595"/>
              <a:ext cx="857142" cy="719600"/>
            </a:xfrm>
            <a:prstGeom prst="rect">
              <a:avLst/>
            </a:prstGeom>
          </p:spPr>
        </p:pic>
        <p:sp>
          <p:nvSpPr>
            <p:cNvPr id="42" name="object 42"/>
            <p:cNvSpPr/>
            <p:nvPr/>
          </p:nvSpPr>
          <p:spPr>
            <a:xfrm>
              <a:off x="10110216" y="4524755"/>
              <a:ext cx="713740" cy="118110"/>
            </a:xfrm>
            <a:custGeom>
              <a:avLst/>
              <a:gdLst/>
              <a:ahLst/>
              <a:cxnLst/>
              <a:rect l="l" t="t" r="r" b="b"/>
              <a:pathLst>
                <a:path w="713740" h="118110">
                  <a:moveTo>
                    <a:pt x="713232" y="105917"/>
                  </a:moveTo>
                  <a:lnTo>
                    <a:pt x="1524" y="0"/>
                  </a:lnTo>
                  <a:lnTo>
                    <a:pt x="0" y="12954"/>
                  </a:lnTo>
                  <a:lnTo>
                    <a:pt x="711708" y="118109"/>
                  </a:lnTo>
                  <a:lnTo>
                    <a:pt x="713232" y="105917"/>
                  </a:lnTo>
                  <a:close/>
                </a:path>
              </a:pathLst>
            </a:custGeom>
            <a:solidFill>
              <a:srgbClr val="0000FF"/>
            </a:solidFill>
          </p:spPr>
          <p:txBody>
            <a:bodyPr wrap="square" lIns="0" tIns="0" rIns="0" bIns="0" rtlCol="0"/>
            <a:lstStyle/>
            <a:p>
              <a:endParaRPr/>
            </a:p>
          </p:txBody>
        </p:sp>
        <p:sp>
          <p:nvSpPr>
            <p:cNvPr id="43" name="object 43"/>
            <p:cNvSpPr/>
            <p:nvPr/>
          </p:nvSpPr>
          <p:spPr>
            <a:xfrm>
              <a:off x="8449056" y="4585716"/>
              <a:ext cx="2616200" cy="102870"/>
            </a:xfrm>
            <a:custGeom>
              <a:avLst/>
              <a:gdLst/>
              <a:ahLst/>
              <a:cxnLst/>
              <a:rect l="l" t="t" r="r" b="b"/>
              <a:pathLst>
                <a:path w="2616200" h="102870">
                  <a:moveTo>
                    <a:pt x="2580503" y="51106"/>
                  </a:moveTo>
                  <a:lnTo>
                    <a:pt x="2564602" y="44958"/>
                  </a:lnTo>
                  <a:lnTo>
                    <a:pt x="0" y="44958"/>
                  </a:lnTo>
                  <a:lnTo>
                    <a:pt x="0" y="57912"/>
                  </a:lnTo>
                  <a:lnTo>
                    <a:pt x="2563200" y="57912"/>
                  </a:lnTo>
                  <a:lnTo>
                    <a:pt x="2580503" y="51106"/>
                  </a:lnTo>
                  <a:close/>
                </a:path>
                <a:path w="2616200" h="102870">
                  <a:moveTo>
                    <a:pt x="2615946" y="51054"/>
                  </a:moveTo>
                  <a:lnTo>
                    <a:pt x="2486405" y="762"/>
                  </a:lnTo>
                  <a:lnTo>
                    <a:pt x="2483358" y="0"/>
                  </a:lnTo>
                  <a:lnTo>
                    <a:pt x="2479548" y="1524"/>
                  </a:lnTo>
                  <a:lnTo>
                    <a:pt x="2478024" y="4572"/>
                  </a:lnTo>
                  <a:lnTo>
                    <a:pt x="2477262" y="7620"/>
                  </a:lnTo>
                  <a:lnTo>
                    <a:pt x="2478786" y="11430"/>
                  </a:lnTo>
                  <a:lnTo>
                    <a:pt x="2481834" y="12954"/>
                  </a:lnTo>
                  <a:lnTo>
                    <a:pt x="2564602" y="44958"/>
                  </a:lnTo>
                  <a:lnTo>
                    <a:pt x="2598420" y="44958"/>
                  </a:lnTo>
                  <a:lnTo>
                    <a:pt x="2598420" y="57858"/>
                  </a:lnTo>
                  <a:lnTo>
                    <a:pt x="2615946" y="51054"/>
                  </a:lnTo>
                  <a:close/>
                </a:path>
                <a:path w="2616200" h="102870">
                  <a:moveTo>
                    <a:pt x="2598281" y="57912"/>
                  </a:moveTo>
                  <a:lnTo>
                    <a:pt x="2563200" y="57912"/>
                  </a:lnTo>
                  <a:lnTo>
                    <a:pt x="2481834" y="89916"/>
                  </a:lnTo>
                  <a:lnTo>
                    <a:pt x="2478786" y="90678"/>
                  </a:lnTo>
                  <a:lnTo>
                    <a:pt x="2477262" y="94487"/>
                  </a:lnTo>
                  <a:lnTo>
                    <a:pt x="2478024" y="98298"/>
                  </a:lnTo>
                  <a:lnTo>
                    <a:pt x="2479548" y="101346"/>
                  </a:lnTo>
                  <a:lnTo>
                    <a:pt x="2483358" y="102870"/>
                  </a:lnTo>
                  <a:lnTo>
                    <a:pt x="2486405" y="101346"/>
                  </a:lnTo>
                  <a:lnTo>
                    <a:pt x="2598281" y="57912"/>
                  </a:lnTo>
                  <a:close/>
                </a:path>
                <a:path w="2616200" h="102870">
                  <a:moveTo>
                    <a:pt x="2596134" y="57912"/>
                  </a:moveTo>
                  <a:lnTo>
                    <a:pt x="2596134" y="57150"/>
                  </a:lnTo>
                  <a:lnTo>
                    <a:pt x="2580503" y="51106"/>
                  </a:lnTo>
                  <a:lnTo>
                    <a:pt x="2563200" y="57912"/>
                  </a:lnTo>
                  <a:lnTo>
                    <a:pt x="2596134" y="57912"/>
                  </a:lnTo>
                  <a:close/>
                </a:path>
                <a:path w="2616200" h="102870">
                  <a:moveTo>
                    <a:pt x="2596134" y="44958"/>
                  </a:moveTo>
                  <a:lnTo>
                    <a:pt x="2564602" y="44958"/>
                  </a:lnTo>
                  <a:lnTo>
                    <a:pt x="2580503" y="51106"/>
                  </a:lnTo>
                  <a:lnTo>
                    <a:pt x="2596134" y="44958"/>
                  </a:lnTo>
                  <a:close/>
                </a:path>
                <a:path w="2616200" h="102870">
                  <a:moveTo>
                    <a:pt x="2598420" y="57858"/>
                  </a:moveTo>
                  <a:lnTo>
                    <a:pt x="2598420" y="44958"/>
                  </a:lnTo>
                  <a:lnTo>
                    <a:pt x="2596134" y="44958"/>
                  </a:lnTo>
                  <a:lnTo>
                    <a:pt x="2580503" y="51106"/>
                  </a:lnTo>
                  <a:lnTo>
                    <a:pt x="2596134" y="57150"/>
                  </a:lnTo>
                  <a:lnTo>
                    <a:pt x="2596134" y="57912"/>
                  </a:lnTo>
                  <a:lnTo>
                    <a:pt x="2598420" y="57858"/>
                  </a:lnTo>
                  <a:close/>
                </a:path>
                <a:path w="2616200" h="102870">
                  <a:moveTo>
                    <a:pt x="2598420" y="57912"/>
                  </a:moveTo>
                  <a:lnTo>
                    <a:pt x="2598281" y="57912"/>
                  </a:lnTo>
                  <a:lnTo>
                    <a:pt x="2598420" y="57912"/>
                  </a:lnTo>
                  <a:close/>
                </a:path>
              </a:pathLst>
            </a:custGeom>
            <a:solidFill>
              <a:srgbClr val="000000"/>
            </a:solidFill>
          </p:spPr>
          <p:txBody>
            <a:bodyPr wrap="square" lIns="0" tIns="0" rIns="0" bIns="0" rtlCol="0"/>
            <a:lstStyle/>
            <a:p>
              <a:endParaRPr/>
            </a:p>
          </p:txBody>
        </p:sp>
        <p:sp>
          <p:nvSpPr>
            <p:cNvPr id="44" name="object 44"/>
            <p:cNvSpPr/>
            <p:nvPr/>
          </p:nvSpPr>
          <p:spPr>
            <a:xfrm>
              <a:off x="8583930" y="4524755"/>
              <a:ext cx="714375" cy="110489"/>
            </a:xfrm>
            <a:custGeom>
              <a:avLst/>
              <a:gdLst/>
              <a:ahLst/>
              <a:cxnLst/>
              <a:rect l="l" t="t" r="r" b="b"/>
              <a:pathLst>
                <a:path w="714375" h="110489">
                  <a:moveTo>
                    <a:pt x="713994" y="12953"/>
                  </a:moveTo>
                  <a:lnTo>
                    <a:pt x="711708" y="0"/>
                  </a:lnTo>
                  <a:lnTo>
                    <a:pt x="0" y="98297"/>
                  </a:lnTo>
                  <a:lnTo>
                    <a:pt x="1524" y="110489"/>
                  </a:lnTo>
                  <a:lnTo>
                    <a:pt x="713994" y="12953"/>
                  </a:lnTo>
                  <a:close/>
                </a:path>
              </a:pathLst>
            </a:custGeom>
            <a:solidFill>
              <a:srgbClr val="0000FF"/>
            </a:solidFill>
          </p:spPr>
          <p:txBody>
            <a:bodyPr wrap="square" lIns="0" tIns="0" rIns="0" bIns="0" rtlCol="0"/>
            <a:lstStyle/>
            <a:p>
              <a:endParaRPr/>
            </a:p>
          </p:txBody>
        </p:sp>
        <p:sp>
          <p:nvSpPr>
            <p:cNvPr id="45" name="object 45"/>
            <p:cNvSpPr/>
            <p:nvPr/>
          </p:nvSpPr>
          <p:spPr>
            <a:xfrm>
              <a:off x="9658350" y="3628644"/>
              <a:ext cx="102870" cy="1056640"/>
            </a:xfrm>
            <a:custGeom>
              <a:avLst/>
              <a:gdLst/>
              <a:ahLst/>
              <a:cxnLst/>
              <a:rect l="l" t="t" r="r" b="b"/>
              <a:pathLst>
                <a:path w="102870" h="1056639">
                  <a:moveTo>
                    <a:pt x="57911" y="51343"/>
                  </a:moveTo>
                  <a:lnTo>
                    <a:pt x="57911" y="17525"/>
                  </a:lnTo>
                  <a:lnTo>
                    <a:pt x="44957" y="17525"/>
                  </a:lnTo>
                  <a:lnTo>
                    <a:pt x="761" y="129539"/>
                  </a:lnTo>
                  <a:lnTo>
                    <a:pt x="0" y="132587"/>
                  </a:lnTo>
                  <a:lnTo>
                    <a:pt x="1524" y="136397"/>
                  </a:lnTo>
                  <a:lnTo>
                    <a:pt x="4572" y="137921"/>
                  </a:lnTo>
                  <a:lnTo>
                    <a:pt x="8381" y="138683"/>
                  </a:lnTo>
                  <a:lnTo>
                    <a:pt x="11429" y="137159"/>
                  </a:lnTo>
                  <a:lnTo>
                    <a:pt x="12953" y="134111"/>
                  </a:lnTo>
                  <a:lnTo>
                    <a:pt x="45720" y="49372"/>
                  </a:lnTo>
                  <a:lnTo>
                    <a:pt x="45720" y="19811"/>
                  </a:lnTo>
                  <a:lnTo>
                    <a:pt x="57150" y="19811"/>
                  </a:lnTo>
                  <a:lnTo>
                    <a:pt x="57150" y="49372"/>
                  </a:lnTo>
                  <a:lnTo>
                    <a:pt x="57911" y="51343"/>
                  </a:lnTo>
                  <a:close/>
                </a:path>
                <a:path w="102870" h="1056639">
                  <a:moveTo>
                    <a:pt x="102870" y="132587"/>
                  </a:moveTo>
                  <a:lnTo>
                    <a:pt x="102107" y="129539"/>
                  </a:lnTo>
                  <a:lnTo>
                    <a:pt x="51816" y="0"/>
                  </a:lnTo>
                  <a:lnTo>
                    <a:pt x="44957" y="17400"/>
                  </a:lnTo>
                  <a:lnTo>
                    <a:pt x="57911" y="17525"/>
                  </a:lnTo>
                  <a:lnTo>
                    <a:pt x="57911" y="51343"/>
                  </a:lnTo>
                  <a:lnTo>
                    <a:pt x="89916" y="134111"/>
                  </a:lnTo>
                  <a:lnTo>
                    <a:pt x="91440" y="137159"/>
                  </a:lnTo>
                  <a:lnTo>
                    <a:pt x="95250" y="138683"/>
                  </a:lnTo>
                  <a:lnTo>
                    <a:pt x="98298" y="137921"/>
                  </a:lnTo>
                  <a:lnTo>
                    <a:pt x="101346" y="136397"/>
                  </a:lnTo>
                  <a:lnTo>
                    <a:pt x="102870" y="132587"/>
                  </a:lnTo>
                  <a:close/>
                </a:path>
                <a:path w="102870" h="1056639">
                  <a:moveTo>
                    <a:pt x="57911" y="1056131"/>
                  </a:moveTo>
                  <a:lnTo>
                    <a:pt x="57911" y="51343"/>
                  </a:lnTo>
                  <a:lnTo>
                    <a:pt x="51434" y="34592"/>
                  </a:lnTo>
                  <a:lnTo>
                    <a:pt x="44957" y="51343"/>
                  </a:lnTo>
                  <a:lnTo>
                    <a:pt x="44957" y="1056131"/>
                  </a:lnTo>
                  <a:lnTo>
                    <a:pt x="57911" y="1056131"/>
                  </a:lnTo>
                  <a:close/>
                </a:path>
                <a:path w="102870" h="1056639">
                  <a:moveTo>
                    <a:pt x="57150" y="19811"/>
                  </a:moveTo>
                  <a:lnTo>
                    <a:pt x="45720" y="19811"/>
                  </a:lnTo>
                  <a:lnTo>
                    <a:pt x="51434" y="34592"/>
                  </a:lnTo>
                  <a:lnTo>
                    <a:pt x="57150" y="19811"/>
                  </a:lnTo>
                  <a:close/>
                </a:path>
                <a:path w="102870" h="1056639">
                  <a:moveTo>
                    <a:pt x="51434" y="34592"/>
                  </a:moveTo>
                  <a:lnTo>
                    <a:pt x="45720" y="19811"/>
                  </a:lnTo>
                  <a:lnTo>
                    <a:pt x="45720" y="49372"/>
                  </a:lnTo>
                  <a:lnTo>
                    <a:pt x="51434" y="34592"/>
                  </a:lnTo>
                  <a:close/>
                </a:path>
                <a:path w="102870" h="1056639">
                  <a:moveTo>
                    <a:pt x="57150" y="49372"/>
                  </a:moveTo>
                  <a:lnTo>
                    <a:pt x="57150" y="19811"/>
                  </a:lnTo>
                  <a:lnTo>
                    <a:pt x="51434" y="34592"/>
                  </a:lnTo>
                  <a:lnTo>
                    <a:pt x="57150" y="49372"/>
                  </a:lnTo>
                  <a:close/>
                </a:path>
              </a:pathLst>
            </a:custGeom>
            <a:solidFill>
              <a:srgbClr val="000000"/>
            </a:solidFill>
          </p:spPr>
          <p:txBody>
            <a:bodyPr wrap="square" lIns="0" tIns="0" rIns="0" bIns="0" rtlCol="0"/>
            <a:lstStyle/>
            <a:p>
              <a:endParaRPr/>
            </a:p>
          </p:txBody>
        </p:sp>
        <p:sp>
          <p:nvSpPr>
            <p:cNvPr id="46" name="object 46"/>
            <p:cNvSpPr/>
            <p:nvPr/>
          </p:nvSpPr>
          <p:spPr>
            <a:xfrm>
              <a:off x="8584692" y="4562094"/>
              <a:ext cx="525780" cy="74295"/>
            </a:xfrm>
            <a:custGeom>
              <a:avLst/>
              <a:gdLst/>
              <a:ahLst/>
              <a:cxnLst/>
              <a:rect l="l" t="t" r="r" b="b"/>
              <a:pathLst>
                <a:path w="525779" h="74295">
                  <a:moveTo>
                    <a:pt x="525779" y="73913"/>
                  </a:moveTo>
                  <a:lnTo>
                    <a:pt x="525779" y="0"/>
                  </a:lnTo>
                  <a:lnTo>
                    <a:pt x="0" y="73913"/>
                  </a:lnTo>
                  <a:lnTo>
                    <a:pt x="525779" y="73913"/>
                  </a:lnTo>
                  <a:close/>
                </a:path>
              </a:pathLst>
            </a:custGeom>
            <a:solidFill>
              <a:srgbClr val="0000FF"/>
            </a:solidFill>
          </p:spPr>
          <p:txBody>
            <a:bodyPr wrap="square" lIns="0" tIns="0" rIns="0" bIns="0" rtlCol="0"/>
            <a:lstStyle/>
            <a:p>
              <a:endParaRPr/>
            </a:p>
          </p:txBody>
        </p:sp>
      </p:grpSp>
      <p:sp>
        <p:nvSpPr>
          <p:cNvPr id="47" name="object 47"/>
          <p:cNvSpPr txBox="1"/>
          <p:nvPr/>
        </p:nvSpPr>
        <p:spPr>
          <a:xfrm>
            <a:off x="11184125" y="4492249"/>
            <a:ext cx="445770" cy="238760"/>
          </a:xfrm>
          <a:prstGeom prst="rect">
            <a:avLst/>
          </a:prstGeom>
        </p:spPr>
        <p:txBody>
          <a:bodyPr vert="horz" wrap="square" lIns="0" tIns="12065" rIns="0" bIns="0" rtlCol="0">
            <a:spAutoFit/>
          </a:bodyPr>
          <a:lstStyle/>
          <a:p>
            <a:pPr marL="12700">
              <a:lnSpc>
                <a:spcPct val="100000"/>
              </a:lnSpc>
              <a:spcBef>
                <a:spcPts val="95"/>
              </a:spcBef>
            </a:pPr>
            <a:r>
              <a:rPr sz="1400" i="1" spc="-20" dirty="0">
                <a:latin typeface="Verdana"/>
                <a:cs typeface="Verdana"/>
              </a:rPr>
              <a:t>x</a:t>
            </a:r>
            <a:r>
              <a:rPr sz="1400" spc="-20" dirty="0">
                <a:latin typeface="Verdana"/>
                <a:cs typeface="Verdana"/>
              </a:rPr>
              <a:t>/1V</a:t>
            </a:r>
            <a:endParaRPr sz="1400">
              <a:latin typeface="Verdana"/>
              <a:cs typeface="Verdana"/>
            </a:endParaRPr>
          </a:p>
        </p:txBody>
      </p:sp>
      <p:sp>
        <p:nvSpPr>
          <p:cNvPr id="48" name="object 48"/>
          <p:cNvSpPr/>
          <p:nvPr/>
        </p:nvSpPr>
        <p:spPr>
          <a:xfrm>
            <a:off x="8538971" y="5138165"/>
            <a:ext cx="779145" cy="188595"/>
          </a:xfrm>
          <a:custGeom>
            <a:avLst/>
            <a:gdLst/>
            <a:ahLst/>
            <a:cxnLst/>
            <a:rect l="l" t="t" r="r" b="b"/>
            <a:pathLst>
              <a:path w="779145" h="188595">
                <a:moveTo>
                  <a:pt x="778763" y="93726"/>
                </a:moveTo>
                <a:lnTo>
                  <a:pt x="770405" y="46041"/>
                </a:lnTo>
                <a:lnTo>
                  <a:pt x="744569" y="11810"/>
                </a:lnTo>
                <a:lnTo>
                  <a:pt x="719327" y="0"/>
                </a:lnTo>
                <a:lnTo>
                  <a:pt x="716279" y="7620"/>
                </a:lnTo>
                <a:lnTo>
                  <a:pt x="727424" y="12049"/>
                </a:lnTo>
                <a:lnTo>
                  <a:pt x="736853" y="18478"/>
                </a:lnTo>
                <a:lnTo>
                  <a:pt x="759142" y="62293"/>
                </a:lnTo>
                <a:lnTo>
                  <a:pt x="761999" y="92964"/>
                </a:lnTo>
                <a:lnTo>
                  <a:pt x="761999" y="157522"/>
                </a:lnTo>
                <a:lnTo>
                  <a:pt x="763523" y="155448"/>
                </a:lnTo>
                <a:lnTo>
                  <a:pt x="770405" y="141839"/>
                </a:lnTo>
                <a:lnTo>
                  <a:pt x="775144" y="127158"/>
                </a:lnTo>
                <a:lnTo>
                  <a:pt x="777882" y="111192"/>
                </a:lnTo>
                <a:lnTo>
                  <a:pt x="778763" y="93726"/>
                </a:lnTo>
                <a:close/>
              </a:path>
              <a:path w="779145" h="188595">
                <a:moveTo>
                  <a:pt x="761999" y="157522"/>
                </a:moveTo>
                <a:lnTo>
                  <a:pt x="761999" y="92964"/>
                </a:lnTo>
                <a:lnTo>
                  <a:pt x="761285" y="109394"/>
                </a:lnTo>
                <a:lnTo>
                  <a:pt x="759142" y="124396"/>
                </a:lnTo>
                <a:lnTo>
                  <a:pt x="744247" y="160555"/>
                </a:lnTo>
                <a:lnTo>
                  <a:pt x="716279" y="180594"/>
                </a:lnTo>
                <a:lnTo>
                  <a:pt x="719327" y="188214"/>
                </a:lnTo>
                <a:lnTo>
                  <a:pt x="732877" y="183201"/>
                </a:lnTo>
                <a:lnTo>
                  <a:pt x="744854" y="176117"/>
                </a:lnTo>
                <a:lnTo>
                  <a:pt x="755118" y="166889"/>
                </a:lnTo>
                <a:lnTo>
                  <a:pt x="761999" y="157522"/>
                </a:lnTo>
                <a:close/>
              </a:path>
              <a:path w="779145" h="188595">
                <a:moveTo>
                  <a:pt x="62483" y="7620"/>
                </a:moveTo>
                <a:lnTo>
                  <a:pt x="59435" y="0"/>
                </a:lnTo>
                <a:lnTo>
                  <a:pt x="45993" y="4691"/>
                </a:lnTo>
                <a:lnTo>
                  <a:pt x="34194" y="11811"/>
                </a:lnTo>
                <a:lnTo>
                  <a:pt x="8358" y="46041"/>
                </a:lnTo>
                <a:lnTo>
                  <a:pt x="0" y="93726"/>
                </a:lnTo>
                <a:lnTo>
                  <a:pt x="881" y="111192"/>
                </a:lnTo>
                <a:lnTo>
                  <a:pt x="3619" y="127158"/>
                </a:lnTo>
                <a:lnTo>
                  <a:pt x="8358" y="141839"/>
                </a:lnTo>
                <a:lnTo>
                  <a:pt x="15239" y="155448"/>
                </a:lnTo>
                <a:lnTo>
                  <a:pt x="16763" y="157446"/>
                </a:lnTo>
                <a:lnTo>
                  <a:pt x="16763" y="92964"/>
                </a:lnTo>
                <a:lnTo>
                  <a:pt x="17478" y="76985"/>
                </a:lnTo>
                <a:lnTo>
                  <a:pt x="28193" y="37338"/>
                </a:lnTo>
                <a:lnTo>
                  <a:pt x="51768" y="12049"/>
                </a:lnTo>
                <a:lnTo>
                  <a:pt x="62483" y="7620"/>
                </a:lnTo>
                <a:close/>
              </a:path>
              <a:path w="779145" h="188595">
                <a:moveTo>
                  <a:pt x="62483" y="180594"/>
                </a:moveTo>
                <a:lnTo>
                  <a:pt x="28193" y="150114"/>
                </a:lnTo>
                <a:lnTo>
                  <a:pt x="17478" y="109394"/>
                </a:lnTo>
                <a:lnTo>
                  <a:pt x="16763" y="92964"/>
                </a:lnTo>
                <a:lnTo>
                  <a:pt x="16763" y="157446"/>
                </a:lnTo>
                <a:lnTo>
                  <a:pt x="23967" y="166889"/>
                </a:lnTo>
                <a:lnTo>
                  <a:pt x="34194" y="176117"/>
                </a:lnTo>
                <a:lnTo>
                  <a:pt x="45993" y="183201"/>
                </a:lnTo>
                <a:lnTo>
                  <a:pt x="59435" y="188214"/>
                </a:lnTo>
                <a:lnTo>
                  <a:pt x="62483" y="180594"/>
                </a:lnTo>
                <a:close/>
              </a:path>
            </a:pathLst>
          </a:custGeom>
          <a:solidFill>
            <a:srgbClr val="0000FF"/>
          </a:solidFill>
        </p:spPr>
        <p:txBody>
          <a:bodyPr wrap="square" lIns="0" tIns="0" rIns="0" bIns="0" rtlCol="0"/>
          <a:lstStyle/>
          <a:p>
            <a:endParaRPr/>
          </a:p>
        </p:txBody>
      </p:sp>
      <p:sp>
        <p:nvSpPr>
          <p:cNvPr id="49" name="object 49"/>
          <p:cNvSpPr txBox="1"/>
          <p:nvPr/>
        </p:nvSpPr>
        <p:spPr>
          <a:xfrm>
            <a:off x="7982457" y="4694935"/>
            <a:ext cx="1878330" cy="648335"/>
          </a:xfrm>
          <a:prstGeom prst="rect">
            <a:avLst/>
          </a:prstGeom>
        </p:spPr>
        <p:txBody>
          <a:bodyPr vert="horz" wrap="square" lIns="0" tIns="12065" rIns="0" bIns="0" rtlCol="0">
            <a:spAutoFit/>
          </a:bodyPr>
          <a:lstStyle/>
          <a:p>
            <a:pPr marL="994410">
              <a:lnSpc>
                <a:spcPct val="100000"/>
              </a:lnSpc>
              <a:spcBef>
                <a:spcPts val="95"/>
              </a:spcBef>
              <a:tabLst>
                <a:tab pos="1645285" algn="l"/>
              </a:tabLst>
            </a:pPr>
            <a:r>
              <a:rPr sz="1400" spc="-25" dirty="0">
                <a:latin typeface="Verdana"/>
                <a:cs typeface="Verdana"/>
              </a:rPr>
              <a:t>0.5</a:t>
            </a:r>
            <a:r>
              <a:rPr sz="1400" dirty="0">
                <a:latin typeface="Verdana"/>
                <a:cs typeface="Verdana"/>
              </a:rPr>
              <a:t>	</a:t>
            </a:r>
            <a:r>
              <a:rPr sz="1400" spc="-50" dirty="0">
                <a:latin typeface="Verdana"/>
                <a:cs typeface="Verdana"/>
              </a:rPr>
              <a:t>1</a:t>
            </a:r>
            <a:endParaRPr sz="1400">
              <a:latin typeface="Verdana"/>
              <a:cs typeface="Verdana"/>
            </a:endParaRPr>
          </a:p>
          <a:p>
            <a:pPr marL="63500">
              <a:lnSpc>
                <a:spcPct val="100000"/>
              </a:lnSpc>
              <a:spcBef>
                <a:spcPts val="1305"/>
              </a:spcBef>
              <a:tabLst>
                <a:tab pos="1409700" algn="l"/>
              </a:tabLst>
            </a:pPr>
            <a:r>
              <a:rPr sz="1600" dirty="0">
                <a:solidFill>
                  <a:srgbClr val="0000FF"/>
                </a:solidFill>
                <a:latin typeface="Cambria Math"/>
                <a:cs typeface="Cambria Math"/>
              </a:rPr>
              <a:t>𝑝</a:t>
            </a:r>
            <a:r>
              <a:rPr sz="1725" baseline="-14492" dirty="0">
                <a:solidFill>
                  <a:srgbClr val="0000FF"/>
                </a:solidFill>
                <a:latin typeface="Cambria Math"/>
                <a:cs typeface="Cambria Math"/>
              </a:rPr>
              <a:t>𝑒𝑟𝑟</a:t>
            </a:r>
            <a:r>
              <a:rPr sz="1725" spc="82" baseline="-14492" dirty="0">
                <a:solidFill>
                  <a:srgbClr val="0000FF"/>
                </a:solidFill>
                <a:latin typeface="Cambria Math"/>
                <a:cs typeface="Cambria Math"/>
              </a:rPr>
              <a:t> </a:t>
            </a:r>
            <a:r>
              <a:rPr sz="1725" baseline="-14492" dirty="0">
                <a:solidFill>
                  <a:srgbClr val="0000FF"/>
                </a:solidFill>
                <a:latin typeface="Cambria Math"/>
                <a:cs typeface="Cambria Math"/>
              </a:rPr>
              <a:t>1</a:t>
            </a:r>
            <a:r>
              <a:rPr sz="1725" spc="217" baseline="-14492" dirty="0">
                <a:solidFill>
                  <a:srgbClr val="0000FF"/>
                </a:solidFill>
                <a:latin typeface="Cambria Math"/>
                <a:cs typeface="Cambria Math"/>
              </a:rPr>
              <a:t>  </a:t>
            </a:r>
            <a:r>
              <a:rPr sz="1600" dirty="0">
                <a:solidFill>
                  <a:srgbClr val="0000FF"/>
                </a:solidFill>
                <a:latin typeface="Cambria Math"/>
                <a:cs typeface="Cambria Math"/>
              </a:rPr>
              <a:t>𝑥</a:t>
            </a:r>
            <a:r>
              <a:rPr sz="1600" spc="-85" dirty="0">
                <a:solidFill>
                  <a:srgbClr val="0000FF"/>
                </a:solidFill>
                <a:latin typeface="Cambria Math"/>
                <a:cs typeface="Cambria Math"/>
              </a:rPr>
              <a:t> </a:t>
            </a:r>
            <a:r>
              <a:rPr sz="1600" dirty="0">
                <a:solidFill>
                  <a:srgbClr val="0000FF"/>
                </a:solidFill>
                <a:latin typeface="Cambria Math"/>
                <a:cs typeface="Cambria Math"/>
              </a:rPr>
              <a:t>≤</a:t>
            </a:r>
            <a:r>
              <a:rPr sz="1600" spc="135" dirty="0">
                <a:solidFill>
                  <a:srgbClr val="0000FF"/>
                </a:solidFill>
                <a:latin typeface="Cambria Math"/>
                <a:cs typeface="Cambria Math"/>
              </a:rPr>
              <a:t> </a:t>
            </a:r>
            <a:r>
              <a:rPr sz="1600" spc="-25" dirty="0">
                <a:solidFill>
                  <a:srgbClr val="0000FF"/>
                </a:solidFill>
                <a:latin typeface="Cambria Math"/>
                <a:cs typeface="Cambria Math"/>
              </a:rPr>
              <a:t>0.5</a:t>
            </a:r>
            <a:r>
              <a:rPr sz="1600" dirty="0">
                <a:solidFill>
                  <a:srgbClr val="0000FF"/>
                </a:solidFill>
                <a:latin typeface="Cambria Math"/>
                <a:cs typeface="Cambria Math"/>
              </a:rPr>
              <a:t>	</a:t>
            </a:r>
            <a:r>
              <a:rPr sz="1600" spc="285" dirty="0">
                <a:solidFill>
                  <a:srgbClr val="0000FF"/>
                </a:solidFill>
                <a:latin typeface="Cambria Math"/>
                <a:cs typeface="Cambria Math"/>
              </a:rPr>
              <a:t>=</a:t>
            </a:r>
            <a:r>
              <a:rPr sz="1600" dirty="0">
                <a:solidFill>
                  <a:srgbClr val="0000FF"/>
                </a:solidFill>
                <a:latin typeface="Cambria Math"/>
                <a:cs typeface="Cambria Math"/>
              </a:rPr>
              <a:t> </a:t>
            </a:r>
            <a:r>
              <a:rPr sz="1600" spc="100" dirty="0">
                <a:solidFill>
                  <a:srgbClr val="0000FF"/>
                </a:solidFill>
                <a:latin typeface="Cambria Math"/>
                <a:cs typeface="Cambria Math"/>
              </a:rPr>
              <a:t>∫ </a:t>
            </a:r>
            <a:endParaRPr sz="1600">
              <a:latin typeface="Cambria Math"/>
              <a:cs typeface="Cambria Math"/>
            </a:endParaRPr>
          </a:p>
        </p:txBody>
      </p:sp>
      <p:sp>
        <p:nvSpPr>
          <p:cNvPr id="50" name="object 50"/>
          <p:cNvSpPr/>
          <p:nvPr/>
        </p:nvSpPr>
        <p:spPr>
          <a:xfrm>
            <a:off x="10016490" y="4972811"/>
            <a:ext cx="1656714" cy="519430"/>
          </a:xfrm>
          <a:custGeom>
            <a:avLst/>
            <a:gdLst/>
            <a:ahLst/>
            <a:cxnLst/>
            <a:rect l="l" t="t" r="r" b="b"/>
            <a:pathLst>
              <a:path w="1656715" h="519429">
                <a:moveTo>
                  <a:pt x="1656588" y="259079"/>
                </a:moveTo>
                <a:lnTo>
                  <a:pt x="1655147" y="217336"/>
                </a:lnTo>
                <a:lnTo>
                  <a:pt x="1650777" y="177736"/>
                </a:lnTo>
                <a:lnTo>
                  <a:pt x="1643407" y="140136"/>
                </a:lnTo>
                <a:lnTo>
                  <a:pt x="1619952" y="71794"/>
                </a:lnTo>
                <a:lnTo>
                  <a:pt x="1587638" y="19740"/>
                </a:lnTo>
                <a:lnTo>
                  <a:pt x="1568196" y="0"/>
                </a:lnTo>
                <a:lnTo>
                  <a:pt x="1563624" y="7620"/>
                </a:lnTo>
                <a:lnTo>
                  <a:pt x="1579899" y="27336"/>
                </a:lnTo>
                <a:lnTo>
                  <a:pt x="1594389" y="51053"/>
                </a:lnTo>
                <a:lnTo>
                  <a:pt x="1617726" y="110489"/>
                </a:lnTo>
                <a:lnTo>
                  <a:pt x="1632108" y="180784"/>
                </a:lnTo>
                <a:lnTo>
                  <a:pt x="1635621" y="218932"/>
                </a:lnTo>
                <a:lnTo>
                  <a:pt x="1636776" y="259079"/>
                </a:lnTo>
                <a:lnTo>
                  <a:pt x="1636776" y="400567"/>
                </a:lnTo>
                <a:lnTo>
                  <a:pt x="1643407" y="377594"/>
                </a:lnTo>
                <a:lnTo>
                  <a:pt x="1650777" y="339852"/>
                </a:lnTo>
                <a:lnTo>
                  <a:pt x="1655147" y="300394"/>
                </a:lnTo>
                <a:lnTo>
                  <a:pt x="1656588" y="259079"/>
                </a:lnTo>
                <a:close/>
              </a:path>
              <a:path w="1656715" h="519429">
                <a:moveTo>
                  <a:pt x="1636776" y="400567"/>
                </a:moveTo>
                <a:lnTo>
                  <a:pt x="1636776" y="259079"/>
                </a:lnTo>
                <a:lnTo>
                  <a:pt x="1635621" y="298799"/>
                </a:lnTo>
                <a:lnTo>
                  <a:pt x="1632108" y="336804"/>
                </a:lnTo>
                <a:lnTo>
                  <a:pt x="1617726" y="407670"/>
                </a:lnTo>
                <a:lnTo>
                  <a:pt x="1594675" y="467486"/>
                </a:lnTo>
                <a:lnTo>
                  <a:pt x="1563624" y="511302"/>
                </a:lnTo>
                <a:lnTo>
                  <a:pt x="1568196" y="518922"/>
                </a:lnTo>
                <a:lnTo>
                  <a:pt x="1587638" y="499062"/>
                </a:lnTo>
                <a:lnTo>
                  <a:pt x="1604867" y="474916"/>
                </a:lnTo>
                <a:lnTo>
                  <a:pt x="1619952" y="446484"/>
                </a:lnTo>
                <a:lnTo>
                  <a:pt x="1632966" y="413766"/>
                </a:lnTo>
                <a:lnTo>
                  <a:pt x="1636776" y="400567"/>
                </a:lnTo>
                <a:close/>
              </a:path>
              <a:path w="1656715" h="519429">
                <a:moveTo>
                  <a:pt x="93726" y="7620"/>
                </a:moveTo>
                <a:lnTo>
                  <a:pt x="52482" y="43624"/>
                </a:lnTo>
                <a:lnTo>
                  <a:pt x="24384" y="104394"/>
                </a:lnTo>
                <a:lnTo>
                  <a:pt x="6191" y="177736"/>
                </a:lnTo>
                <a:lnTo>
                  <a:pt x="1559" y="217336"/>
                </a:lnTo>
                <a:lnTo>
                  <a:pt x="0" y="259080"/>
                </a:lnTo>
                <a:lnTo>
                  <a:pt x="1559" y="300394"/>
                </a:lnTo>
                <a:lnTo>
                  <a:pt x="6191" y="339851"/>
                </a:lnTo>
                <a:lnTo>
                  <a:pt x="13823" y="377594"/>
                </a:lnTo>
                <a:lnTo>
                  <a:pt x="19812" y="398106"/>
                </a:lnTo>
                <a:lnTo>
                  <a:pt x="19812" y="259080"/>
                </a:lnTo>
                <a:lnTo>
                  <a:pt x="21074" y="218932"/>
                </a:lnTo>
                <a:lnTo>
                  <a:pt x="24765" y="180784"/>
                </a:lnTo>
                <a:lnTo>
                  <a:pt x="38862" y="110490"/>
                </a:lnTo>
                <a:lnTo>
                  <a:pt x="62293" y="51054"/>
                </a:lnTo>
                <a:lnTo>
                  <a:pt x="77009" y="27336"/>
                </a:lnTo>
                <a:lnTo>
                  <a:pt x="93726" y="7620"/>
                </a:lnTo>
                <a:close/>
              </a:path>
              <a:path w="1656715" h="519429">
                <a:moveTo>
                  <a:pt x="93726" y="511302"/>
                </a:moveTo>
                <a:lnTo>
                  <a:pt x="62293" y="467487"/>
                </a:lnTo>
                <a:lnTo>
                  <a:pt x="38862" y="407670"/>
                </a:lnTo>
                <a:lnTo>
                  <a:pt x="24765" y="336804"/>
                </a:lnTo>
                <a:lnTo>
                  <a:pt x="21074" y="298799"/>
                </a:lnTo>
                <a:lnTo>
                  <a:pt x="19812" y="259080"/>
                </a:lnTo>
                <a:lnTo>
                  <a:pt x="19812" y="398106"/>
                </a:lnTo>
                <a:lnTo>
                  <a:pt x="37397" y="446484"/>
                </a:lnTo>
                <a:lnTo>
                  <a:pt x="69711" y="499062"/>
                </a:lnTo>
                <a:lnTo>
                  <a:pt x="89154" y="518922"/>
                </a:lnTo>
                <a:lnTo>
                  <a:pt x="93726" y="511302"/>
                </a:lnTo>
                <a:close/>
              </a:path>
            </a:pathLst>
          </a:custGeom>
          <a:solidFill>
            <a:srgbClr val="0000FF"/>
          </a:solidFill>
        </p:spPr>
        <p:txBody>
          <a:bodyPr wrap="square" lIns="0" tIns="0" rIns="0" bIns="0" rtlCol="0"/>
          <a:lstStyle/>
          <a:p>
            <a:endParaRPr/>
          </a:p>
        </p:txBody>
      </p:sp>
      <p:sp>
        <p:nvSpPr>
          <p:cNvPr id="51" name="object 51"/>
          <p:cNvSpPr txBox="1"/>
          <p:nvPr/>
        </p:nvSpPr>
        <p:spPr>
          <a:xfrm>
            <a:off x="10345928" y="4919726"/>
            <a:ext cx="138430"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0000FF"/>
                </a:solidFill>
                <a:latin typeface="Cambria Math"/>
                <a:cs typeface="Cambria Math"/>
              </a:rPr>
              <a:t>1</a:t>
            </a:r>
            <a:endParaRPr sz="1600">
              <a:latin typeface="Cambria Math"/>
              <a:cs typeface="Cambria Math"/>
            </a:endParaRPr>
          </a:p>
        </p:txBody>
      </p:sp>
      <p:sp>
        <p:nvSpPr>
          <p:cNvPr id="52" name="object 52"/>
          <p:cNvSpPr/>
          <p:nvPr/>
        </p:nvSpPr>
        <p:spPr>
          <a:xfrm>
            <a:off x="10120121" y="5278373"/>
            <a:ext cx="592455" cy="196215"/>
          </a:xfrm>
          <a:custGeom>
            <a:avLst/>
            <a:gdLst/>
            <a:ahLst/>
            <a:cxnLst/>
            <a:rect l="l" t="t" r="r" b="b"/>
            <a:pathLst>
              <a:path w="592454" h="196214">
                <a:moveTo>
                  <a:pt x="592074" y="12953"/>
                </a:moveTo>
                <a:lnTo>
                  <a:pt x="592074" y="0"/>
                </a:lnTo>
                <a:lnTo>
                  <a:pt x="129540" y="0"/>
                </a:lnTo>
                <a:lnTo>
                  <a:pt x="116586" y="0"/>
                </a:lnTo>
                <a:lnTo>
                  <a:pt x="67056" y="169926"/>
                </a:lnTo>
                <a:lnTo>
                  <a:pt x="32004" y="92202"/>
                </a:lnTo>
                <a:lnTo>
                  <a:pt x="0" y="107442"/>
                </a:lnTo>
                <a:lnTo>
                  <a:pt x="3048" y="115062"/>
                </a:lnTo>
                <a:lnTo>
                  <a:pt x="19812" y="107442"/>
                </a:lnTo>
                <a:lnTo>
                  <a:pt x="60960" y="195834"/>
                </a:lnTo>
                <a:lnTo>
                  <a:pt x="70104" y="195834"/>
                </a:lnTo>
                <a:lnTo>
                  <a:pt x="124206" y="12954"/>
                </a:lnTo>
                <a:lnTo>
                  <a:pt x="592074" y="12953"/>
                </a:lnTo>
                <a:close/>
              </a:path>
            </a:pathLst>
          </a:custGeom>
          <a:solidFill>
            <a:srgbClr val="0000FF"/>
          </a:solidFill>
        </p:spPr>
        <p:txBody>
          <a:bodyPr wrap="square" lIns="0" tIns="0" rIns="0" bIns="0" rtlCol="0"/>
          <a:lstStyle/>
          <a:p>
            <a:endParaRPr/>
          </a:p>
        </p:txBody>
      </p:sp>
      <p:sp>
        <p:nvSpPr>
          <p:cNvPr id="53" name="object 53"/>
          <p:cNvSpPr txBox="1"/>
          <p:nvPr/>
        </p:nvSpPr>
        <p:spPr>
          <a:xfrm>
            <a:off x="10212323" y="5249671"/>
            <a:ext cx="531495" cy="269875"/>
          </a:xfrm>
          <a:prstGeom prst="rect">
            <a:avLst/>
          </a:prstGeom>
        </p:spPr>
        <p:txBody>
          <a:bodyPr vert="horz" wrap="square" lIns="0" tIns="12700" rIns="0" bIns="0" rtlCol="0">
            <a:spAutoFit/>
          </a:bodyPr>
          <a:lstStyle/>
          <a:p>
            <a:pPr marL="38100">
              <a:lnSpc>
                <a:spcPct val="100000"/>
              </a:lnSpc>
              <a:spcBef>
                <a:spcPts val="100"/>
              </a:spcBef>
            </a:pPr>
            <a:r>
              <a:rPr sz="1600" spc="-20" dirty="0">
                <a:solidFill>
                  <a:srgbClr val="0000FF"/>
                </a:solidFill>
                <a:latin typeface="Cambria Math"/>
                <a:cs typeface="Cambria Math"/>
              </a:rPr>
              <a:t>2𝜋𝜎</a:t>
            </a:r>
            <a:r>
              <a:rPr sz="1725" spc="-30" baseline="24154" dirty="0">
                <a:solidFill>
                  <a:srgbClr val="0000FF"/>
                </a:solidFill>
                <a:latin typeface="Cambria Math"/>
                <a:cs typeface="Cambria Math"/>
              </a:rPr>
              <a:t>2</a:t>
            </a:r>
            <a:endParaRPr sz="1725" baseline="24154">
              <a:latin typeface="Cambria Math"/>
              <a:cs typeface="Cambria Math"/>
            </a:endParaRPr>
          </a:p>
        </p:txBody>
      </p:sp>
      <p:sp>
        <p:nvSpPr>
          <p:cNvPr id="54" name="object 54"/>
          <p:cNvSpPr/>
          <p:nvPr/>
        </p:nvSpPr>
        <p:spPr>
          <a:xfrm>
            <a:off x="10116311" y="5225796"/>
            <a:ext cx="596900" cy="13335"/>
          </a:xfrm>
          <a:custGeom>
            <a:avLst/>
            <a:gdLst/>
            <a:ahLst/>
            <a:cxnLst/>
            <a:rect l="l" t="t" r="r" b="b"/>
            <a:pathLst>
              <a:path w="596900" h="13335">
                <a:moveTo>
                  <a:pt x="596646" y="12953"/>
                </a:moveTo>
                <a:lnTo>
                  <a:pt x="596646" y="0"/>
                </a:lnTo>
                <a:lnTo>
                  <a:pt x="0" y="0"/>
                </a:lnTo>
                <a:lnTo>
                  <a:pt x="0" y="12953"/>
                </a:lnTo>
                <a:lnTo>
                  <a:pt x="596646" y="12953"/>
                </a:lnTo>
                <a:close/>
              </a:path>
            </a:pathLst>
          </a:custGeom>
          <a:solidFill>
            <a:srgbClr val="0000FF"/>
          </a:solidFill>
        </p:spPr>
        <p:txBody>
          <a:bodyPr wrap="square" lIns="0" tIns="0" rIns="0" bIns="0" rtlCol="0"/>
          <a:lstStyle/>
          <a:p>
            <a:endParaRPr/>
          </a:p>
        </p:txBody>
      </p:sp>
      <p:sp>
        <p:nvSpPr>
          <p:cNvPr id="55" name="object 55"/>
          <p:cNvSpPr txBox="1"/>
          <p:nvPr/>
        </p:nvSpPr>
        <p:spPr>
          <a:xfrm>
            <a:off x="10734547" y="5073650"/>
            <a:ext cx="126364" cy="26987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0000FF"/>
                </a:solidFill>
                <a:latin typeface="Cambria Math"/>
                <a:cs typeface="Cambria Math"/>
              </a:rPr>
              <a:t>𝑒</a:t>
            </a:r>
            <a:endParaRPr sz="1600">
              <a:latin typeface="Cambria Math"/>
              <a:cs typeface="Cambria Math"/>
            </a:endParaRPr>
          </a:p>
        </p:txBody>
      </p:sp>
      <p:sp>
        <p:nvSpPr>
          <p:cNvPr id="56" name="object 56"/>
          <p:cNvSpPr/>
          <p:nvPr/>
        </p:nvSpPr>
        <p:spPr>
          <a:xfrm>
            <a:off x="10980419" y="4977384"/>
            <a:ext cx="493395" cy="138430"/>
          </a:xfrm>
          <a:custGeom>
            <a:avLst/>
            <a:gdLst/>
            <a:ahLst/>
            <a:cxnLst/>
            <a:rect l="l" t="t" r="r" b="b"/>
            <a:pathLst>
              <a:path w="493395" h="138429">
                <a:moveTo>
                  <a:pt x="493014" y="69342"/>
                </a:moveTo>
                <a:lnTo>
                  <a:pt x="481584" y="24383"/>
                </a:lnTo>
                <a:lnTo>
                  <a:pt x="448818" y="0"/>
                </a:lnTo>
                <a:lnTo>
                  <a:pt x="447294" y="6096"/>
                </a:lnTo>
                <a:lnTo>
                  <a:pt x="455295" y="9536"/>
                </a:lnTo>
                <a:lnTo>
                  <a:pt x="462153" y="14192"/>
                </a:lnTo>
                <a:lnTo>
                  <a:pt x="479619" y="56578"/>
                </a:lnTo>
                <a:lnTo>
                  <a:pt x="480060" y="68580"/>
                </a:lnTo>
                <a:lnTo>
                  <a:pt x="480060" y="115652"/>
                </a:lnTo>
                <a:lnTo>
                  <a:pt x="481584" y="113538"/>
                </a:lnTo>
                <a:lnTo>
                  <a:pt x="486584" y="103953"/>
                </a:lnTo>
                <a:lnTo>
                  <a:pt x="490156" y="93440"/>
                </a:lnTo>
                <a:lnTo>
                  <a:pt x="492299" y="81926"/>
                </a:lnTo>
                <a:lnTo>
                  <a:pt x="493014" y="69342"/>
                </a:lnTo>
                <a:close/>
              </a:path>
              <a:path w="493395" h="138429">
                <a:moveTo>
                  <a:pt x="480060" y="115652"/>
                </a:moveTo>
                <a:lnTo>
                  <a:pt x="480060" y="68580"/>
                </a:lnTo>
                <a:lnTo>
                  <a:pt x="479619" y="80593"/>
                </a:lnTo>
                <a:lnTo>
                  <a:pt x="478250" y="91535"/>
                </a:lnTo>
                <a:lnTo>
                  <a:pt x="455295" y="129028"/>
                </a:lnTo>
                <a:lnTo>
                  <a:pt x="447294" y="132588"/>
                </a:lnTo>
                <a:lnTo>
                  <a:pt x="448818" y="137922"/>
                </a:lnTo>
                <a:lnTo>
                  <a:pt x="458974" y="134326"/>
                </a:lnTo>
                <a:lnTo>
                  <a:pt x="467772" y="129159"/>
                </a:lnTo>
                <a:lnTo>
                  <a:pt x="475285" y="122277"/>
                </a:lnTo>
                <a:lnTo>
                  <a:pt x="480060" y="115652"/>
                </a:lnTo>
                <a:close/>
              </a:path>
              <a:path w="493395" h="138429">
                <a:moveTo>
                  <a:pt x="45720" y="6096"/>
                </a:moveTo>
                <a:lnTo>
                  <a:pt x="44196" y="0"/>
                </a:lnTo>
                <a:lnTo>
                  <a:pt x="34039" y="3702"/>
                </a:lnTo>
                <a:lnTo>
                  <a:pt x="25241" y="9048"/>
                </a:lnTo>
                <a:lnTo>
                  <a:pt x="2857" y="44862"/>
                </a:lnTo>
                <a:lnTo>
                  <a:pt x="0" y="69342"/>
                </a:lnTo>
                <a:lnTo>
                  <a:pt x="714" y="81926"/>
                </a:lnTo>
                <a:lnTo>
                  <a:pt x="2857" y="93440"/>
                </a:lnTo>
                <a:lnTo>
                  <a:pt x="6429" y="103953"/>
                </a:lnTo>
                <a:lnTo>
                  <a:pt x="11430" y="113538"/>
                </a:lnTo>
                <a:lnTo>
                  <a:pt x="12954" y="115652"/>
                </a:lnTo>
                <a:lnTo>
                  <a:pt x="12954" y="68580"/>
                </a:lnTo>
                <a:lnTo>
                  <a:pt x="13394" y="56578"/>
                </a:lnTo>
                <a:lnTo>
                  <a:pt x="25574" y="20133"/>
                </a:lnTo>
                <a:lnTo>
                  <a:pt x="38147" y="9536"/>
                </a:lnTo>
                <a:lnTo>
                  <a:pt x="45720" y="6096"/>
                </a:lnTo>
                <a:close/>
              </a:path>
              <a:path w="493395" h="138429">
                <a:moveTo>
                  <a:pt x="45720" y="132588"/>
                </a:moveTo>
                <a:lnTo>
                  <a:pt x="17133" y="101476"/>
                </a:lnTo>
                <a:lnTo>
                  <a:pt x="12954" y="68580"/>
                </a:lnTo>
                <a:lnTo>
                  <a:pt x="12954" y="115652"/>
                </a:lnTo>
                <a:lnTo>
                  <a:pt x="17728" y="122277"/>
                </a:lnTo>
                <a:lnTo>
                  <a:pt x="25241" y="129159"/>
                </a:lnTo>
                <a:lnTo>
                  <a:pt x="34039" y="134326"/>
                </a:lnTo>
                <a:lnTo>
                  <a:pt x="44196" y="137922"/>
                </a:lnTo>
                <a:lnTo>
                  <a:pt x="45720" y="132588"/>
                </a:lnTo>
                <a:close/>
              </a:path>
            </a:pathLst>
          </a:custGeom>
          <a:solidFill>
            <a:srgbClr val="0000FF"/>
          </a:solidFill>
        </p:spPr>
        <p:txBody>
          <a:bodyPr wrap="square" lIns="0" tIns="0" rIns="0" bIns="0" rtlCol="0"/>
          <a:lstStyle/>
          <a:p>
            <a:endParaRPr/>
          </a:p>
        </p:txBody>
      </p:sp>
      <p:sp>
        <p:nvSpPr>
          <p:cNvPr id="57" name="object 57"/>
          <p:cNvSpPr txBox="1"/>
          <p:nvPr/>
        </p:nvSpPr>
        <p:spPr>
          <a:xfrm>
            <a:off x="10821923" y="4926583"/>
            <a:ext cx="775970" cy="203835"/>
          </a:xfrm>
          <a:prstGeom prst="rect">
            <a:avLst/>
          </a:prstGeom>
        </p:spPr>
        <p:txBody>
          <a:bodyPr vert="horz" wrap="square" lIns="0" tIns="15240" rIns="0" bIns="0" rtlCol="0">
            <a:spAutoFit/>
          </a:bodyPr>
          <a:lstStyle/>
          <a:p>
            <a:pPr marL="38100">
              <a:lnSpc>
                <a:spcPct val="100000"/>
              </a:lnSpc>
              <a:spcBef>
                <a:spcPts val="120"/>
              </a:spcBef>
            </a:pPr>
            <a:r>
              <a:rPr sz="1725" baseline="-33816" dirty="0">
                <a:solidFill>
                  <a:srgbClr val="0000FF"/>
                </a:solidFill>
                <a:latin typeface="Cambria Math"/>
                <a:cs typeface="Cambria Math"/>
              </a:rPr>
              <a:t>−</a:t>
            </a:r>
            <a:r>
              <a:rPr sz="1725" spc="397" baseline="-33816" dirty="0">
                <a:solidFill>
                  <a:srgbClr val="0000FF"/>
                </a:solidFill>
                <a:latin typeface="Cambria Math"/>
                <a:cs typeface="Cambria Math"/>
              </a:rPr>
              <a:t> </a:t>
            </a:r>
            <a:r>
              <a:rPr sz="1150" dirty="0">
                <a:solidFill>
                  <a:srgbClr val="0000FF"/>
                </a:solidFill>
                <a:latin typeface="Cambria Math"/>
                <a:cs typeface="Cambria Math"/>
              </a:rPr>
              <a:t>0.5−1</a:t>
            </a:r>
            <a:r>
              <a:rPr sz="1150" spc="260" dirty="0">
                <a:solidFill>
                  <a:srgbClr val="0000FF"/>
                </a:solidFill>
                <a:latin typeface="Cambria Math"/>
                <a:cs typeface="Cambria Math"/>
              </a:rPr>
              <a:t> </a:t>
            </a:r>
            <a:r>
              <a:rPr sz="1425" spc="-75" baseline="26315" dirty="0">
                <a:solidFill>
                  <a:srgbClr val="0000FF"/>
                </a:solidFill>
                <a:latin typeface="Cambria Math"/>
                <a:cs typeface="Cambria Math"/>
              </a:rPr>
              <a:t>2</a:t>
            </a:r>
            <a:endParaRPr sz="1425" baseline="26315">
              <a:latin typeface="Cambria Math"/>
              <a:cs typeface="Cambria Math"/>
            </a:endParaRPr>
          </a:p>
        </p:txBody>
      </p:sp>
      <p:sp>
        <p:nvSpPr>
          <p:cNvPr id="58" name="object 58"/>
          <p:cNvSpPr txBox="1"/>
          <p:nvPr/>
        </p:nvSpPr>
        <p:spPr>
          <a:xfrm>
            <a:off x="11095481" y="5104129"/>
            <a:ext cx="336550" cy="203835"/>
          </a:xfrm>
          <a:prstGeom prst="rect">
            <a:avLst/>
          </a:prstGeom>
        </p:spPr>
        <p:txBody>
          <a:bodyPr vert="horz" wrap="square" lIns="0" tIns="15240" rIns="0" bIns="0" rtlCol="0">
            <a:spAutoFit/>
          </a:bodyPr>
          <a:lstStyle/>
          <a:p>
            <a:pPr marL="38100">
              <a:lnSpc>
                <a:spcPct val="100000"/>
              </a:lnSpc>
              <a:spcBef>
                <a:spcPts val="120"/>
              </a:spcBef>
            </a:pPr>
            <a:r>
              <a:rPr sz="1150" spc="40" dirty="0">
                <a:solidFill>
                  <a:srgbClr val="0000FF"/>
                </a:solidFill>
                <a:latin typeface="Cambria Math"/>
                <a:cs typeface="Cambria Math"/>
              </a:rPr>
              <a:t>2σ</a:t>
            </a:r>
            <a:r>
              <a:rPr sz="1425" spc="60" baseline="20467" dirty="0">
                <a:solidFill>
                  <a:srgbClr val="0000FF"/>
                </a:solidFill>
                <a:latin typeface="Cambria Math"/>
                <a:cs typeface="Cambria Math"/>
              </a:rPr>
              <a:t>2</a:t>
            </a:r>
            <a:endParaRPr sz="1425" baseline="20467">
              <a:latin typeface="Cambria Math"/>
              <a:cs typeface="Cambria Math"/>
            </a:endParaRPr>
          </a:p>
        </p:txBody>
      </p:sp>
      <p:sp>
        <p:nvSpPr>
          <p:cNvPr id="59" name="object 59"/>
          <p:cNvSpPr/>
          <p:nvPr/>
        </p:nvSpPr>
        <p:spPr>
          <a:xfrm>
            <a:off x="10967466" y="5128259"/>
            <a:ext cx="597535" cy="10160"/>
          </a:xfrm>
          <a:custGeom>
            <a:avLst/>
            <a:gdLst/>
            <a:ahLst/>
            <a:cxnLst/>
            <a:rect l="l" t="t" r="r" b="b"/>
            <a:pathLst>
              <a:path w="597534" h="10160">
                <a:moveTo>
                  <a:pt x="597407" y="9905"/>
                </a:moveTo>
                <a:lnTo>
                  <a:pt x="597407" y="0"/>
                </a:lnTo>
                <a:lnTo>
                  <a:pt x="0" y="0"/>
                </a:lnTo>
                <a:lnTo>
                  <a:pt x="0" y="9905"/>
                </a:lnTo>
                <a:lnTo>
                  <a:pt x="597407" y="9905"/>
                </a:lnTo>
                <a:close/>
              </a:path>
            </a:pathLst>
          </a:custGeom>
          <a:solidFill>
            <a:srgbClr val="0000FF"/>
          </a:solidFill>
        </p:spPr>
        <p:txBody>
          <a:bodyPr wrap="square" lIns="0" tIns="0" rIns="0" bIns="0" rtlCol="0"/>
          <a:lstStyle/>
          <a:p>
            <a:endParaRPr/>
          </a:p>
        </p:txBody>
      </p:sp>
      <p:sp>
        <p:nvSpPr>
          <p:cNvPr id="60" name="object 60"/>
          <p:cNvSpPr txBox="1"/>
          <p:nvPr/>
        </p:nvSpPr>
        <p:spPr>
          <a:xfrm>
            <a:off x="11711431" y="5073650"/>
            <a:ext cx="252095" cy="269875"/>
          </a:xfrm>
          <a:prstGeom prst="rect">
            <a:avLst/>
          </a:prstGeom>
        </p:spPr>
        <p:txBody>
          <a:bodyPr vert="horz" wrap="square" lIns="0" tIns="12700" rIns="0" bIns="0" rtlCol="0">
            <a:spAutoFit/>
          </a:bodyPr>
          <a:lstStyle/>
          <a:p>
            <a:pPr marL="12700">
              <a:lnSpc>
                <a:spcPct val="100000"/>
              </a:lnSpc>
              <a:spcBef>
                <a:spcPts val="100"/>
              </a:spcBef>
            </a:pPr>
            <a:r>
              <a:rPr sz="1600" spc="-25" dirty="0">
                <a:solidFill>
                  <a:srgbClr val="0000FF"/>
                </a:solidFill>
                <a:latin typeface="Cambria Math"/>
                <a:cs typeface="Cambria Math"/>
              </a:rPr>
              <a:t>𝑑𝑥</a:t>
            </a:r>
            <a:endParaRPr sz="1600">
              <a:latin typeface="Cambria Math"/>
              <a:cs typeface="Cambria Math"/>
            </a:endParaRPr>
          </a:p>
        </p:txBody>
      </p:sp>
      <p:sp>
        <p:nvSpPr>
          <p:cNvPr id="61" name="object 61"/>
          <p:cNvSpPr txBox="1"/>
          <p:nvPr/>
        </p:nvSpPr>
        <p:spPr>
          <a:xfrm>
            <a:off x="9752330" y="4897627"/>
            <a:ext cx="227965" cy="203835"/>
          </a:xfrm>
          <a:prstGeom prst="rect">
            <a:avLst/>
          </a:prstGeom>
        </p:spPr>
        <p:txBody>
          <a:bodyPr vert="horz" wrap="square" lIns="0" tIns="15240" rIns="0" bIns="0" rtlCol="0">
            <a:spAutoFit/>
          </a:bodyPr>
          <a:lstStyle/>
          <a:p>
            <a:pPr marL="12700">
              <a:lnSpc>
                <a:spcPct val="100000"/>
              </a:lnSpc>
              <a:spcBef>
                <a:spcPts val="120"/>
              </a:spcBef>
            </a:pPr>
            <a:r>
              <a:rPr sz="1150" spc="-25" dirty="0">
                <a:solidFill>
                  <a:srgbClr val="0000FF"/>
                </a:solidFill>
                <a:latin typeface="Cambria Math"/>
                <a:cs typeface="Cambria Math"/>
              </a:rPr>
              <a:t>0.5</a:t>
            </a:r>
            <a:endParaRPr sz="1150">
              <a:latin typeface="Cambria Math"/>
              <a:cs typeface="Cambria Math"/>
            </a:endParaRPr>
          </a:p>
        </p:txBody>
      </p:sp>
      <p:sp>
        <p:nvSpPr>
          <p:cNvPr id="62" name="object 62"/>
          <p:cNvSpPr txBox="1"/>
          <p:nvPr/>
        </p:nvSpPr>
        <p:spPr>
          <a:xfrm>
            <a:off x="9677648" y="5321302"/>
            <a:ext cx="271145" cy="203835"/>
          </a:xfrm>
          <a:prstGeom prst="rect">
            <a:avLst/>
          </a:prstGeom>
        </p:spPr>
        <p:txBody>
          <a:bodyPr vert="horz" wrap="square" lIns="0" tIns="15240" rIns="0" bIns="0" rtlCol="0">
            <a:spAutoFit/>
          </a:bodyPr>
          <a:lstStyle/>
          <a:p>
            <a:pPr marL="12700">
              <a:lnSpc>
                <a:spcPct val="100000"/>
              </a:lnSpc>
              <a:spcBef>
                <a:spcPts val="120"/>
              </a:spcBef>
            </a:pPr>
            <a:r>
              <a:rPr sz="1150" spc="-25" dirty="0">
                <a:solidFill>
                  <a:srgbClr val="0000FF"/>
                </a:solidFill>
                <a:latin typeface="Cambria Math"/>
                <a:cs typeface="Cambria Math"/>
              </a:rPr>
              <a:t>−∞</a:t>
            </a:r>
            <a:endParaRPr sz="1150">
              <a:latin typeface="Cambria Math"/>
              <a:cs typeface="Cambria Math"/>
            </a:endParaRPr>
          </a:p>
        </p:txBody>
      </p:sp>
      <p:sp>
        <p:nvSpPr>
          <p:cNvPr id="63" name="object 63"/>
          <p:cNvSpPr/>
          <p:nvPr/>
        </p:nvSpPr>
        <p:spPr>
          <a:xfrm>
            <a:off x="8458200" y="5762244"/>
            <a:ext cx="779145" cy="188595"/>
          </a:xfrm>
          <a:custGeom>
            <a:avLst/>
            <a:gdLst/>
            <a:ahLst/>
            <a:cxnLst/>
            <a:rect l="l" t="t" r="r" b="b"/>
            <a:pathLst>
              <a:path w="779145" h="188595">
                <a:moveTo>
                  <a:pt x="778763" y="93726"/>
                </a:moveTo>
                <a:lnTo>
                  <a:pt x="770405" y="46041"/>
                </a:lnTo>
                <a:lnTo>
                  <a:pt x="744569" y="11810"/>
                </a:lnTo>
                <a:lnTo>
                  <a:pt x="719327" y="0"/>
                </a:lnTo>
                <a:lnTo>
                  <a:pt x="716279" y="7620"/>
                </a:lnTo>
                <a:lnTo>
                  <a:pt x="727424" y="12049"/>
                </a:lnTo>
                <a:lnTo>
                  <a:pt x="736853" y="18478"/>
                </a:lnTo>
                <a:lnTo>
                  <a:pt x="759142" y="62293"/>
                </a:lnTo>
                <a:lnTo>
                  <a:pt x="761999" y="92964"/>
                </a:lnTo>
                <a:lnTo>
                  <a:pt x="761999" y="157522"/>
                </a:lnTo>
                <a:lnTo>
                  <a:pt x="763523" y="155448"/>
                </a:lnTo>
                <a:lnTo>
                  <a:pt x="770405" y="141839"/>
                </a:lnTo>
                <a:lnTo>
                  <a:pt x="775144" y="127158"/>
                </a:lnTo>
                <a:lnTo>
                  <a:pt x="777882" y="111192"/>
                </a:lnTo>
                <a:lnTo>
                  <a:pt x="778763" y="93726"/>
                </a:lnTo>
                <a:close/>
              </a:path>
              <a:path w="779145" h="188595">
                <a:moveTo>
                  <a:pt x="761999" y="157522"/>
                </a:moveTo>
                <a:lnTo>
                  <a:pt x="761999" y="92964"/>
                </a:lnTo>
                <a:lnTo>
                  <a:pt x="761285" y="109394"/>
                </a:lnTo>
                <a:lnTo>
                  <a:pt x="759142" y="124396"/>
                </a:lnTo>
                <a:lnTo>
                  <a:pt x="744247" y="160555"/>
                </a:lnTo>
                <a:lnTo>
                  <a:pt x="716279" y="180594"/>
                </a:lnTo>
                <a:lnTo>
                  <a:pt x="719327" y="188214"/>
                </a:lnTo>
                <a:lnTo>
                  <a:pt x="732877" y="183201"/>
                </a:lnTo>
                <a:lnTo>
                  <a:pt x="744854" y="176117"/>
                </a:lnTo>
                <a:lnTo>
                  <a:pt x="755118" y="166889"/>
                </a:lnTo>
                <a:lnTo>
                  <a:pt x="761999" y="157522"/>
                </a:lnTo>
                <a:close/>
              </a:path>
              <a:path w="779145" h="188595">
                <a:moveTo>
                  <a:pt x="62483" y="7620"/>
                </a:moveTo>
                <a:lnTo>
                  <a:pt x="59435" y="0"/>
                </a:lnTo>
                <a:lnTo>
                  <a:pt x="45993" y="4691"/>
                </a:lnTo>
                <a:lnTo>
                  <a:pt x="34194" y="11811"/>
                </a:lnTo>
                <a:lnTo>
                  <a:pt x="8358" y="46041"/>
                </a:lnTo>
                <a:lnTo>
                  <a:pt x="0" y="93726"/>
                </a:lnTo>
                <a:lnTo>
                  <a:pt x="881" y="111192"/>
                </a:lnTo>
                <a:lnTo>
                  <a:pt x="3619" y="127158"/>
                </a:lnTo>
                <a:lnTo>
                  <a:pt x="8358" y="141839"/>
                </a:lnTo>
                <a:lnTo>
                  <a:pt x="15239" y="155448"/>
                </a:lnTo>
                <a:lnTo>
                  <a:pt x="16763" y="157446"/>
                </a:lnTo>
                <a:lnTo>
                  <a:pt x="16763" y="92964"/>
                </a:lnTo>
                <a:lnTo>
                  <a:pt x="17478" y="76985"/>
                </a:lnTo>
                <a:lnTo>
                  <a:pt x="28193" y="37338"/>
                </a:lnTo>
                <a:lnTo>
                  <a:pt x="51768" y="12049"/>
                </a:lnTo>
                <a:lnTo>
                  <a:pt x="62483" y="7620"/>
                </a:lnTo>
                <a:close/>
              </a:path>
              <a:path w="779145" h="188595">
                <a:moveTo>
                  <a:pt x="62483" y="180594"/>
                </a:moveTo>
                <a:lnTo>
                  <a:pt x="28193" y="150114"/>
                </a:lnTo>
                <a:lnTo>
                  <a:pt x="17478" y="109394"/>
                </a:lnTo>
                <a:lnTo>
                  <a:pt x="16763" y="92964"/>
                </a:lnTo>
                <a:lnTo>
                  <a:pt x="16763" y="157446"/>
                </a:lnTo>
                <a:lnTo>
                  <a:pt x="23967" y="166889"/>
                </a:lnTo>
                <a:lnTo>
                  <a:pt x="34194" y="176117"/>
                </a:lnTo>
                <a:lnTo>
                  <a:pt x="45993" y="183201"/>
                </a:lnTo>
                <a:lnTo>
                  <a:pt x="59435" y="188214"/>
                </a:lnTo>
                <a:lnTo>
                  <a:pt x="62483" y="180594"/>
                </a:lnTo>
                <a:close/>
              </a:path>
            </a:pathLst>
          </a:custGeom>
          <a:solidFill>
            <a:srgbClr val="0000FF"/>
          </a:solidFill>
        </p:spPr>
        <p:txBody>
          <a:bodyPr wrap="square" lIns="0" tIns="0" rIns="0" bIns="0" rtlCol="0"/>
          <a:lstStyle/>
          <a:p>
            <a:endParaRPr/>
          </a:p>
        </p:txBody>
      </p:sp>
      <p:sp>
        <p:nvSpPr>
          <p:cNvPr id="64" name="object 64"/>
          <p:cNvSpPr/>
          <p:nvPr/>
        </p:nvSpPr>
        <p:spPr>
          <a:xfrm>
            <a:off x="9730740" y="5596890"/>
            <a:ext cx="821690" cy="519430"/>
          </a:xfrm>
          <a:custGeom>
            <a:avLst/>
            <a:gdLst/>
            <a:ahLst/>
            <a:cxnLst/>
            <a:rect l="l" t="t" r="r" b="b"/>
            <a:pathLst>
              <a:path w="821690" h="519429">
                <a:moveTo>
                  <a:pt x="821436" y="259079"/>
                </a:moveTo>
                <a:lnTo>
                  <a:pt x="819995" y="217336"/>
                </a:lnTo>
                <a:lnTo>
                  <a:pt x="815625" y="177736"/>
                </a:lnTo>
                <a:lnTo>
                  <a:pt x="808255" y="140136"/>
                </a:lnTo>
                <a:lnTo>
                  <a:pt x="784800" y="71794"/>
                </a:lnTo>
                <a:lnTo>
                  <a:pt x="752486" y="19740"/>
                </a:lnTo>
                <a:lnTo>
                  <a:pt x="733044" y="0"/>
                </a:lnTo>
                <a:lnTo>
                  <a:pt x="728472" y="7620"/>
                </a:lnTo>
                <a:lnTo>
                  <a:pt x="744747" y="27336"/>
                </a:lnTo>
                <a:lnTo>
                  <a:pt x="759237" y="51053"/>
                </a:lnTo>
                <a:lnTo>
                  <a:pt x="782574" y="110489"/>
                </a:lnTo>
                <a:lnTo>
                  <a:pt x="796956" y="180784"/>
                </a:lnTo>
                <a:lnTo>
                  <a:pt x="800469" y="218932"/>
                </a:lnTo>
                <a:lnTo>
                  <a:pt x="801624" y="259079"/>
                </a:lnTo>
                <a:lnTo>
                  <a:pt x="801624" y="400567"/>
                </a:lnTo>
                <a:lnTo>
                  <a:pt x="808255" y="377594"/>
                </a:lnTo>
                <a:lnTo>
                  <a:pt x="815625" y="339852"/>
                </a:lnTo>
                <a:lnTo>
                  <a:pt x="819995" y="300394"/>
                </a:lnTo>
                <a:lnTo>
                  <a:pt x="821436" y="259079"/>
                </a:lnTo>
                <a:close/>
              </a:path>
              <a:path w="821690" h="519429">
                <a:moveTo>
                  <a:pt x="801624" y="400567"/>
                </a:moveTo>
                <a:lnTo>
                  <a:pt x="801624" y="259079"/>
                </a:lnTo>
                <a:lnTo>
                  <a:pt x="800469" y="298799"/>
                </a:lnTo>
                <a:lnTo>
                  <a:pt x="796956" y="336804"/>
                </a:lnTo>
                <a:lnTo>
                  <a:pt x="782574" y="407670"/>
                </a:lnTo>
                <a:lnTo>
                  <a:pt x="759523" y="467486"/>
                </a:lnTo>
                <a:lnTo>
                  <a:pt x="728472" y="511302"/>
                </a:lnTo>
                <a:lnTo>
                  <a:pt x="733044" y="518922"/>
                </a:lnTo>
                <a:lnTo>
                  <a:pt x="752486" y="499062"/>
                </a:lnTo>
                <a:lnTo>
                  <a:pt x="769715" y="474916"/>
                </a:lnTo>
                <a:lnTo>
                  <a:pt x="784800" y="446484"/>
                </a:lnTo>
                <a:lnTo>
                  <a:pt x="797814" y="413766"/>
                </a:lnTo>
                <a:lnTo>
                  <a:pt x="801624" y="400567"/>
                </a:lnTo>
                <a:close/>
              </a:path>
              <a:path w="821690" h="519429">
                <a:moveTo>
                  <a:pt x="93726" y="7620"/>
                </a:moveTo>
                <a:lnTo>
                  <a:pt x="52482" y="43624"/>
                </a:lnTo>
                <a:lnTo>
                  <a:pt x="24384" y="104394"/>
                </a:lnTo>
                <a:lnTo>
                  <a:pt x="6191" y="177736"/>
                </a:lnTo>
                <a:lnTo>
                  <a:pt x="1559" y="217336"/>
                </a:lnTo>
                <a:lnTo>
                  <a:pt x="0" y="259080"/>
                </a:lnTo>
                <a:lnTo>
                  <a:pt x="1559" y="300394"/>
                </a:lnTo>
                <a:lnTo>
                  <a:pt x="6191" y="339852"/>
                </a:lnTo>
                <a:lnTo>
                  <a:pt x="13823" y="377594"/>
                </a:lnTo>
                <a:lnTo>
                  <a:pt x="19812" y="398106"/>
                </a:lnTo>
                <a:lnTo>
                  <a:pt x="19812" y="259080"/>
                </a:lnTo>
                <a:lnTo>
                  <a:pt x="21074" y="218932"/>
                </a:lnTo>
                <a:lnTo>
                  <a:pt x="24765" y="180784"/>
                </a:lnTo>
                <a:lnTo>
                  <a:pt x="38862" y="110490"/>
                </a:lnTo>
                <a:lnTo>
                  <a:pt x="62293" y="51054"/>
                </a:lnTo>
                <a:lnTo>
                  <a:pt x="77009" y="27336"/>
                </a:lnTo>
                <a:lnTo>
                  <a:pt x="93726" y="7620"/>
                </a:lnTo>
                <a:close/>
              </a:path>
              <a:path w="821690" h="519429">
                <a:moveTo>
                  <a:pt x="93726" y="511302"/>
                </a:moveTo>
                <a:lnTo>
                  <a:pt x="62293" y="467487"/>
                </a:lnTo>
                <a:lnTo>
                  <a:pt x="38862" y="407670"/>
                </a:lnTo>
                <a:lnTo>
                  <a:pt x="24765" y="336804"/>
                </a:lnTo>
                <a:lnTo>
                  <a:pt x="21074" y="298799"/>
                </a:lnTo>
                <a:lnTo>
                  <a:pt x="19812" y="259080"/>
                </a:lnTo>
                <a:lnTo>
                  <a:pt x="19812" y="398106"/>
                </a:lnTo>
                <a:lnTo>
                  <a:pt x="37397" y="446484"/>
                </a:lnTo>
                <a:lnTo>
                  <a:pt x="69711" y="499062"/>
                </a:lnTo>
                <a:lnTo>
                  <a:pt x="89154" y="518922"/>
                </a:lnTo>
                <a:lnTo>
                  <a:pt x="93726" y="511302"/>
                </a:lnTo>
                <a:close/>
              </a:path>
            </a:pathLst>
          </a:custGeom>
          <a:solidFill>
            <a:srgbClr val="0000FF"/>
          </a:solidFill>
        </p:spPr>
        <p:txBody>
          <a:bodyPr wrap="square" lIns="0" tIns="0" rIns="0" bIns="0" rtlCol="0"/>
          <a:lstStyle/>
          <a:p>
            <a:endParaRPr/>
          </a:p>
        </p:txBody>
      </p:sp>
      <p:sp>
        <p:nvSpPr>
          <p:cNvPr id="65" name="object 65"/>
          <p:cNvSpPr txBox="1"/>
          <p:nvPr/>
        </p:nvSpPr>
        <p:spPr>
          <a:xfrm>
            <a:off x="9818623" y="5543803"/>
            <a:ext cx="647065" cy="26987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FF"/>
                </a:solidFill>
                <a:latin typeface="Cambria Math"/>
                <a:cs typeface="Cambria Math"/>
              </a:rPr>
              <a:t>0.5</a:t>
            </a:r>
            <a:r>
              <a:rPr sz="1600" spc="-15" dirty="0">
                <a:solidFill>
                  <a:srgbClr val="0000FF"/>
                </a:solidFill>
                <a:latin typeface="Cambria Math"/>
                <a:cs typeface="Cambria Math"/>
              </a:rPr>
              <a:t> </a:t>
            </a:r>
            <a:r>
              <a:rPr sz="1600" dirty="0">
                <a:solidFill>
                  <a:srgbClr val="0000FF"/>
                </a:solidFill>
                <a:latin typeface="Cambria Math"/>
                <a:cs typeface="Cambria Math"/>
              </a:rPr>
              <a:t>−</a:t>
            </a:r>
            <a:r>
              <a:rPr sz="1600" spc="-5" dirty="0">
                <a:solidFill>
                  <a:srgbClr val="0000FF"/>
                </a:solidFill>
                <a:latin typeface="Cambria Math"/>
                <a:cs typeface="Cambria Math"/>
              </a:rPr>
              <a:t> </a:t>
            </a:r>
            <a:r>
              <a:rPr sz="1600" spc="-50" dirty="0">
                <a:solidFill>
                  <a:srgbClr val="0000FF"/>
                </a:solidFill>
                <a:latin typeface="Cambria Math"/>
                <a:cs typeface="Cambria Math"/>
              </a:rPr>
              <a:t>1</a:t>
            </a:r>
            <a:endParaRPr sz="1600">
              <a:latin typeface="Cambria Math"/>
              <a:cs typeface="Cambria Math"/>
            </a:endParaRPr>
          </a:p>
        </p:txBody>
      </p:sp>
      <p:sp>
        <p:nvSpPr>
          <p:cNvPr id="66" name="object 66"/>
          <p:cNvSpPr/>
          <p:nvPr/>
        </p:nvSpPr>
        <p:spPr>
          <a:xfrm>
            <a:off x="9830561" y="5849873"/>
            <a:ext cx="622300" cy="13335"/>
          </a:xfrm>
          <a:custGeom>
            <a:avLst/>
            <a:gdLst/>
            <a:ahLst/>
            <a:cxnLst/>
            <a:rect l="l" t="t" r="r" b="b"/>
            <a:pathLst>
              <a:path w="622300" h="13335">
                <a:moveTo>
                  <a:pt x="621792" y="12953"/>
                </a:moveTo>
                <a:lnTo>
                  <a:pt x="621792" y="0"/>
                </a:lnTo>
                <a:lnTo>
                  <a:pt x="0" y="0"/>
                </a:lnTo>
                <a:lnTo>
                  <a:pt x="0" y="12953"/>
                </a:lnTo>
                <a:lnTo>
                  <a:pt x="621792" y="12953"/>
                </a:lnTo>
                <a:close/>
              </a:path>
            </a:pathLst>
          </a:custGeom>
          <a:solidFill>
            <a:srgbClr val="0000FF"/>
          </a:solidFill>
        </p:spPr>
        <p:txBody>
          <a:bodyPr wrap="square" lIns="0" tIns="0" rIns="0" bIns="0" rtlCol="0"/>
          <a:lstStyle/>
          <a:p>
            <a:endParaRPr/>
          </a:p>
        </p:txBody>
      </p:sp>
      <p:sp>
        <p:nvSpPr>
          <p:cNvPr id="67" name="object 67"/>
          <p:cNvSpPr/>
          <p:nvPr/>
        </p:nvSpPr>
        <p:spPr>
          <a:xfrm>
            <a:off x="11045190" y="5596890"/>
            <a:ext cx="653415" cy="519430"/>
          </a:xfrm>
          <a:custGeom>
            <a:avLst/>
            <a:gdLst/>
            <a:ahLst/>
            <a:cxnLst/>
            <a:rect l="l" t="t" r="r" b="b"/>
            <a:pathLst>
              <a:path w="653415" h="519429">
                <a:moveTo>
                  <a:pt x="653034" y="259079"/>
                </a:moveTo>
                <a:lnTo>
                  <a:pt x="651593" y="217336"/>
                </a:lnTo>
                <a:lnTo>
                  <a:pt x="647223" y="177736"/>
                </a:lnTo>
                <a:lnTo>
                  <a:pt x="639853" y="140136"/>
                </a:lnTo>
                <a:lnTo>
                  <a:pt x="616398" y="71794"/>
                </a:lnTo>
                <a:lnTo>
                  <a:pt x="584084" y="19740"/>
                </a:lnTo>
                <a:lnTo>
                  <a:pt x="564642" y="0"/>
                </a:lnTo>
                <a:lnTo>
                  <a:pt x="560070" y="7620"/>
                </a:lnTo>
                <a:lnTo>
                  <a:pt x="576345" y="27336"/>
                </a:lnTo>
                <a:lnTo>
                  <a:pt x="590835" y="51053"/>
                </a:lnTo>
                <a:lnTo>
                  <a:pt x="614172" y="110489"/>
                </a:lnTo>
                <a:lnTo>
                  <a:pt x="628554" y="180784"/>
                </a:lnTo>
                <a:lnTo>
                  <a:pt x="632067" y="218932"/>
                </a:lnTo>
                <a:lnTo>
                  <a:pt x="633222" y="259079"/>
                </a:lnTo>
                <a:lnTo>
                  <a:pt x="633222" y="400567"/>
                </a:lnTo>
                <a:lnTo>
                  <a:pt x="639853" y="377594"/>
                </a:lnTo>
                <a:lnTo>
                  <a:pt x="647223" y="339852"/>
                </a:lnTo>
                <a:lnTo>
                  <a:pt x="651593" y="300394"/>
                </a:lnTo>
                <a:lnTo>
                  <a:pt x="653034" y="259079"/>
                </a:lnTo>
                <a:close/>
              </a:path>
              <a:path w="653415" h="519429">
                <a:moveTo>
                  <a:pt x="633222" y="400567"/>
                </a:moveTo>
                <a:lnTo>
                  <a:pt x="633222" y="259079"/>
                </a:lnTo>
                <a:lnTo>
                  <a:pt x="632067" y="298799"/>
                </a:lnTo>
                <a:lnTo>
                  <a:pt x="628554" y="336804"/>
                </a:lnTo>
                <a:lnTo>
                  <a:pt x="614172" y="407670"/>
                </a:lnTo>
                <a:lnTo>
                  <a:pt x="591121" y="467486"/>
                </a:lnTo>
                <a:lnTo>
                  <a:pt x="560070" y="511302"/>
                </a:lnTo>
                <a:lnTo>
                  <a:pt x="564642" y="518922"/>
                </a:lnTo>
                <a:lnTo>
                  <a:pt x="584084" y="499062"/>
                </a:lnTo>
                <a:lnTo>
                  <a:pt x="601313" y="474916"/>
                </a:lnTo>
                <a:lnTo>
                  <a:pt x="616398" y="446484"/>
                </a:lnTo>
                <a:lnTo>
                  <a:pt x="629412" y="413766"/>
                </a:lnTo>
                <a:lnTo>
                  <a:pt x="633222" y="400567"/>
                </a:lnTo>
                <a:close/>
              </a:path>
              <a:path w="653415" h="519429">
                <a:moveTo>
                  <a:pt x="93726" y="7620"/>
                </a:moveTo>
                <a:lnTo>
                  <a:pt x="52482" y="43624"/>
                </a:lnTo>
                <a:lnTo>
                  <a:pt x="24384" y="104394"/>
                </a:lnTo>
                <a:lnTo>
                  <a:pt x="6191" y="177736"/>
                </a:lnTo>
                <a:lnTo>
                  <a:pt x="1559" y="217336"/>
                </a:lnTo>
                <a:lnTo>
                  <a:pt x="0" y="259080"/>
                </a:lnTo>
                <a:lnTo>
                  <a:pt x="1559" y="300394"/>
                </a:lnTo>
                <a:lnTo>
                  <a:pt x="6191" y="339852"/>
                </a:lnTo>
                <a:lnTo>
                  <a:pt x="13823" y="377594"/>
                </a:lnTo>
                <a:lnTo>
                  <a:pt x="19812" y="398106"/>
                </a:lnTo>
                <a:lnTo>
                  <a:pt x="19812" y="259080"/>
                </a:lnTo>
                <a:lnTo>
                  <a:pt x="21074" y="218932"/>
                </a:lnTo>
                <a:lnTo>
                  <a:pt x="24765" y="180784"/>
                </a:lnTo>
                <a:lnTo>
                  <a:pt x="38862" y="110490"/>
                </a:lnTo>
                <a:lnTo>
                  <a:pt x="62293" y="51054"/>
                </a:lnTo>
                <a:lnTo>
                  <a:pt x="77009" y="27336"/>
                </a:lnTo>
                <a:lnTo>
                  <a:pt x="93726" y="7620"/>
                </a:lnTo>
                <a:close/>
              </a:path>
              <a:path w="653415" h="519429">
                <a:moveTo>
                  <a:pt x="93726" y="511302"/>
                </a:moveTo>
                <a:lnTo>
                  <a:pt x="62293" y="467487"/>
                </a:lnTo>
                <a:lnTo>
                  <a:pt x="38862" y="407670"/>
                </a:lnTo>
                <a:lnTo>
                  <a:pt x="24765" y="336804"/>
                </a:lnTo>
                <a:lnTo>
                  <a:pt x="21074" y="298799"/>
                </a:lnTo>
                <a:lnTo>
                  <a:pt x="19812" y="259080"/>
                </a:lnTo>
                <a:lnTo>
                  <a:pt x="19812" y="398106"/>
                </a:lnTo>
                <a:lnTo>
                  <a:pt x="37397" y="446484"/>
                </a:lnTo>
                <a:lnTo>
                  <a:pt x="69711" y="499062"/>
                </a:lnTo>
                <a:lnTo>
                  <a:pt x="89154" y="518922"/>
                </a:lnTo>
                <a:lnTo>
                  <a:pt x="93726" y="511302"/>
                </a:lnTo>
                <a:close/>
              </a:path>
            </a:pathLst>
          </a:custGeom>
          <a:solidFill>
            <a:srgbClr val="0000FF"/>
          </a:solidFill>
        </p:spPr>
        <p:txBody>
          <a:bodyPr wrap="square" lIns="0" tIns="0" rIns="0" bIns="0" rtlCol="0"/>
          <a:lstStyle/>
          <a:p>
            <a:endParaRPr/>
          </a:p>
        </p:txBody>
      </p:sp>
      <p:sp>
        <p:nvSpPr>
          <p:cNvPr id="68" name="object 68"/>
          <p:cNvSpPr txBox="1"/>
          <p:nvPr/>
        </p:nvSpPr>
        <p:spPr>
          <a:xfrm>
            <a:off x="11319010" y="5543794"/>
            <a:ext cx="293370" cy="269875"/>
          </a:xfrm>
          <a:prstGeom prst="rect">
            <a:avLst/>
          </a:prstGeom>
        </p:spPr>
        <p:txBody>
          <a:bodyPr vert="horz" wrap="square" lIns="0" tIns="12700" rIns="0" bIns="0" rtlCol="0">
            <a:spAutoFit/>
          </a:bodyPr>
          <a:lstStyle/>
          <a:p>
            <a:pPr marL="12700">
              <a:lnSpc>
                <a:spcPct val="100000"/>
              </a:lnSpc>
              <a:spcBef>
                <a:spcPts val="100"/>
              </a:spcBef>
            </a:pPr>
            <a:r>
              <a:rPr sz="1600" spc="-25" dirty="0">
                <a:solidFill>
                  <a:srgbClr val="0000FF"/>
                </a:solidFill>
                <a:latin typeface="Cambria Math"/>
                <a:cs typeface="Cambria Math"/>
              </a:rPr>
              <a:t>0.5</a:t>
            </a:r>
            <a:endParaRPr sz="1600">
              <a:latin typeface="Cambria Math"/>
              <a:cs typeface="Cambria Math"/>
            </a:endParaRPr>
          </a:p>
        </p:txBody>
      </p:sp>
      <p:sp>
        <p:nvSpPr>
          <p:cNvPr id="69" name="object 69"/>
          <p:cNvSpPr/>
          <p:nvPr/>
        </p:nvSpPr>
        <p:spPr>
          <a:xfrm>
            <a:off x="11330940" y="5849873"/>
            <a:ext cx="266700" cy="13335"/>
          </a:xfrm>
          <a:custGeom>
            <a:avLst/>
            <a:gdLst/>
            <a:ahLst/>
            <a:cxnLst/>
            <a:rect l="l" t="t" r="r" b="b"/>
            <a:pathLst>
              <a:path w="266700" h="13335">
                <a:moveTo>
                  <a:pt x="266700" y="12953"/>
                </a:moveTo>
                <a:lnTo>
                  <a:pt x="266700" y="0"/>
                </a:lnTo>
                <a:lnTo>
                  <a:pt x="0" y="0"/>
                </a:lnTo>
                <a:lnTo>
                  <a:pt x="0" y="12953"/>
                </a:lnTo>
                <a:lnTo>
                  <a:pt x="266700" y="12953"/>
                </a:lnTo>
                <a:close/>
              </a:path>
            </a:pathLst>
          </a:custGeom>
          <a:solidFill>
            <a:srgbClr val="0000FF"/>
          </a:solidFill>
        </p:spPr>
        <p:txBody>
          <a:bodyPr wrap="square" lIns="0" tIns="0" rIns="0" bIns="0" rtlCol="0"/>
          <a:lstStyle/>
          <a:p>
            <a:endParaRPr/>
          </a:p>
        </p:txBody>
      </p:sp>
      <p:sp>
        <p:nvSpPr>
          <p:cNvPr id="70" name="object 70"/>
          <p:cNvSpPr/>
          <p:nvPr/>
        </p:nvSpPr>
        <p:spPr>
          <a:xfrm>
            <a:off x="1434846" y="4286250"/>
            <a:ext cx="873760" cy="189230"/>
          </a:xfrm>
          <a:custGeom>
            <a:avLst/>
            <a:gdLst/>
            <a:ahLst/>
            <a:cxnLst/>
            <a:rect l="l" t="t" r="r" b="b"/>
            <a:pathLst>
              <a:path w="873760" h="189229">
                <a:moveTo>
                  <a:pt x="873251" y="94488"/>
                </a:moveTo>
                <a:lnTo>
                  <a:pt x="864250" y="46803"/>
                </a:lnTo>
                <a:lnTo>
                  <a:pt x="838581" y="12477"/>
                </a:lnTo>
                <a:lnTo>
                  <a:pt x="813054" y="0"/>
                </a:lnTo>
                <a:lnTo>
                  <a:pt x="810005" y="8382"/>
                </a:lnTo>
                <a:lnTo>
                  <a:pt x="821162" y="12811"/>
                </a:lnTo>
                <a:lnTo>
                  <a:pt x="830675" y="19240"/>
                </a:lnTo>
                <a:lnTo>
                  <a:pt x="852963" y="63055"/>
                </a:lnTo>
                <a:lnTo>
                  <a:pt x="855726" y="93726"/>
                </a:lnTo>
                <a:lnTo>
                  <a:pt x="855726" y="158284"/>
                </a:lnTo>
                <a:lnTo>
                  <a:pt x="857250" y="156210"/>
                </a:lnTo>
                <a:lnTo>
                  <a:pt x="864250" y="142601"/>
                </a:lnTo>
                <a:lnTo>
                  <a:pt x="869251" y="127920"/>
                </a:lnTo>
                <a:lnTo>
                  <a:pt x="872251" y="111954"/>
                </a:lnTo>
                <a:lnTo>
                  <a:pt x="873251" y="94488"/>
                </a:lnTo>
                <a:close/>
              </a:path>
              <a:path w="873760" h="189229">
                <a:moveTo>
                  <a:pt x="855726" y="158284"/>
                </a:moveTo>
                <a:lnTo>
                  <a:pt x="855726" y="93726"/>
                </a:lnTo>
                <a:lnTo>
                  <a:pt x="855011" y="110156"/>
                </a:lnTo>
                <a:lnTo>
                  <a:pt x="852868" y="125158"/>
                </a:lnTo>
                <a:lnTo>
                  <a:pt x="838307" y="161317"/>
                </a:lnTo>
                <a:lnTo>
                  <a:pt x="810768" y="181356"/>
                </a:lnTo>
                <a:lnTo>
                  <a:pt x="813054" y="188976"/>
                </a:lnTo>
                <a:lnTo>
                  <a:pt x="826603" y="183963"/>
                </a:lnTo>
                <a:lnTo>
                  <a:pt x="838616" y="176847"/>
                </a:lnTo>
                <a:lnTo>
                  <a:pt x="848844" y="167651"/>
                </a:lnTo>
                <a:lnTo>
                  <a:pt x="855726" y="158284"/>
                </a:lnTo>
                <a:close/>
              </a:path>
              <a:path w="873760" h="189229">
                <a:moveTo>
                  <a:pt x="62483" y="8382"/>
                </a:moveTo>
                <a:lnTo>
                  <a:pt x="60197" y="0"/>
                </a:lnTo>
                <a:lnTo>
                  <a:pt x="46315" y="5131"/>
                </a:lnTo>
                <a:lnTo>
                  <a:pt x="34289" y="12477"/>
                </a:lnTo>
                <a:lnTo>
                  <a:pt x="8679" y="46803"/>
                </a:lnTo>
                <a:lnTo>
                  <a:pt x="0" y="94488"/>
                </a:lnTo>
                <a:lnTo>
                  <a:pt x="988" y="111954"/>
                </a:lnTo>
                <a:lnTo>
                  <a:pt x="3905" y="127920"/>
                </a:lnTo>
                <a:lnTo>
                  <a:pt x="8679" y="142601"/>
                </a:lnTo>
                <a:lnTo>
                  <a:pt x="15239" y="156210"/>
                </a:lnTo>
                <a:lnTo>
                  <a:pt x="16763" y="158205"/>
                </a:lnTo>
                <a:lnTo>
                  <a:pt x="16763" y="93726"/>
                </a:lnTo>
                <a:lnTo>
                  <a:pt x="17478" y="77747"/>
                </a:lnTo>
                <a:lnTo>
                  <a:pt x="28193" y="38100"/>
                </a:lnTo>
                <a:lnTo>
                  <a:pt x="51768" y="12811"/>
                </a:lnTo>
                <a:lnTo>
                  <a:pt x="62483" y="8382"/>
                </a:lnTo>
                <a:close/>
              </a:path>
              <a:path w="873760" h="189229">
                <a:moveTo>
                  <a:pt x="62483" y="181356"/>
                </a:moveTo>
                <a:lnTo>
                  <a:pt x="28193" y="150876"/>
                </a:lnTo>
                <a:lnTo>
                  <a:pt x="17478" y="110156"/>
                </a:lnTo>
                <a:lnTo>
                  <a:pt x="16763" y="93726"/>
                </a:lnTo>
                <a:lnTo>
                  <a:pt x="16763" y="158205"/>
                </a:lnTo>
                <a:lnTo>
                  <a:pt x="23979" y="167651"/>
                </a:lnTo>
                <a:lnTo>
                  <a:pt x="34289" y="176879"/>
                </a:lnTo>
                <a:lnTo>
                  <a:pt x="46315" y="183963"/>
                </a:lnTo>
                <a:lnTo>
                  <a:pt x="60197" y="188976"/>
                </a:lnTo>
                <a:lnTo>
                  <a:pt x="62483" y="181356"/>
                </a:lnTo>
                <a:close/>
              </a:path>
            </a:pathLst>
          </a:custGeom>
          <a:solidFill>
            <a:srgbClr val="0000FF"/>
          </a:solidFill>
        </p:spPr>
        <p:txBody>
          <a:bodyPr wrap="square" lIns="0" tIns="0" rIns="0" bIns="0" rtlCol="0"/>
          <a:lstStyle/>
          <a:p>
            <a:endParaRPr/>
          </a:p>
        </p:txBody>
      </p:sp>
      <p:sp>
        <p:nvSpPr>
          <p:cNvPr id="71" name="object 71"/>
          <p:cNvSpPr/>
          <p:nvPr/>
        </p:nvSpPr>
        <p:spPr>
          <a:xfrm>
            <a:off x="2724150" y="4286250"/>
            <a:ext cx="748030" cy="189230"/>
          </a:xfrm>
          <a:custGeom>
            <a:avLst/>
            <a:gdLst/>
            <a:ahLst/>
            <a:cxnLst/>
            <a:rect l="l" t="t" r="r" b="b"/>
            <a:pathLst>
              <a:path w="748029" h="189229">
                <a:moveTo>
                  <a:pt x="747522" y="94488"/>
                </a:moveTo>
                <a:lnTo>
                  <a:pt x="738520" y="46803"/>
                </a:lnTo>
                <a:lnTo>
                  <a:pt x="712851" y="12477"/>
                </a:lnTo>
                <a:lnTo>
                  <a:pt x="687324" y="0"/>
                </a:lnTo>
                <a:lnTo>
                  <a:pt x="684276" y="8382"/>
                </a:lnTo>
                <a:lnTo>
                  <a:pt x="695432" y="12811"/>
                </a:lnTo>
                <a:lnTo>
                  <a:pt x="704945" y="19240"/>
                </a:lnTo>
                <a:lnTo>
                  <a:pt x="727233" y="63055"/>
                </a:lnTo>
                <a:lnTo>
                  <a:pt x="729996" y="93726"/>
                </a:lnTo>
                <a:lnTo>
                  <a:pt x="729996" y="158284"/>
                </a:lnTo>
                <a:lnTo>
                  <a:pt x="731520" y="156210"/>
                </a:lnTo>
                <a:lnTo>
                  <a:pt x="738520" y="142601"/>
                </a:lnTo>
                <a:lnTo>
                  <a:pt x="743521" y="127920"/>
                </a:lnTo>
                <a:lnTo>
                  <a:pt x="746521" y="111954"/>
                </a:lnTo>
                <a:lnTo>
                  <a:pt x="747522" y="94488"/>
                </a:lnTo>
                <a:close/>
              </a:path>
              <a:path w="748029" h="189229">
                <a:moveTo>
                  <a:pt x="729996" y="158284"/>
                </a:moveTo>
                <a:lnTo>
                  <a:pt x="729996" y="93726"/>
                </a:lnTo>
                <a:lnTo>
                  <a:pt x="729281" y="110156"/>
                </a:lnTo>
                <a:lnTo>
                  <a:pt x="727138" y="125158"/>
                </a:lnTo>
                <a:lnTo>
                  <a:pt x="712577" y="161317"/>
                </a:lnTo>
                <a:lnTo>
                  <a:pt x="685038" y="181356"/>
                </a:lnTo>
                <a:lnTo>
                  <a:pt x="687324" y="188976"/>
                </a:lnTo>
                <a:lnTo>
                  <a:pt x="700873" y="183963"/>
                </a:lnTo>
                <a:lnTo>
                  <a:pt x="712886" y="176847"/>
                </a:lnTo>
                <a:lnTo>
                  <a:pt x="723114" y="167651"/>
                </a:lnTo>
                <a:lnTo>
                  <a:pt x="729996" y="158284"/>
                </a:lnTo>
                <a:close/>
              </a:path>
              <a:path w="748029" h="189229">
                <a:moveTo>
                  <a:pt x="62484" y="8382"/>
                </a:moveTo>
                <a:lnTo>
                  <a:pt x="60198" y="0"/>
                </a:lnTo>
                <a:lnTo>
                  <a:pt x="46315" y="5131"/>
                </a:lnTo>
                <a:lnTo>
                  <a:pt x="34290" y="12477"/>
                </a:lnTo>
                <a:lnTo>
                  <a:pt x="8679" y="46803"/>
                </a:lnTo>
                <a:lnTo>
                  <a:pt x="0" y="94488"/>
                </a:lnTo>
                <a:lnTo>
                  <a:pt x="988" y="111954"/>
                </a:lnTo>
                <a:lnTo>
                  <a:pt x="3905" y="127920"/>
                </a:lnTo>
                <a:lnTo>
                  <a:pt x="8679" y="142601"/>
                </a:lnTo>
                <a:lnTo>
                  <a:pt x="15240" y="156210"/>
                </a:lnTo>
                <a:lnTo>
                  <a:pt x="16764" y="158205"/>
                </a:lnTo>
                <a:lnTo>
                  <a:pt x="16764" y="93726"/>
                </a:lnTo>
                <a:lnTo>
                  <a:pt x="17478" y="77747"/>
                </a:lnTo>
                <a:lnTo>
                  <a:pt x="28194" y="38100"/>
                </a:lnTo>
                <a:lnTo>
                  <a:pt x="51768" y="12811"/>
                </a:lnTo>
                <a:lnTo>
                  <a:pt x="62484" y="8382"/>
                </a:lnTo>
                <a:close/>
              </a:path>
              <a:path w="748029" h="189229">
                <a:moveTo>
                  <a:pt x="62484" y="181356"/>
                </a:moveTo>
                <a:lnTo>
                  <a:pt x="28194" y="150876"/>
                </a:lnTo>
                <a:lnTo>
                  <a:pt x="17478" y="110156"/>
                </a:lnTo>
                <a:lnTo>
                  <a:pt x="16764" y="93726"/>
                </a:lnTo>
                <a:lnTo>
                  <a:pt x="16764" y="158205"/>
                </a:lnTo>
                <a:lnTo>
                  <a:pt x="23979" y="167651"/>
                </a:lnTo>
                <a:lnTo>
                  <a:pt x="34290" y="176879"/>
                </a:lnTo>
                <a:lnTo>
                  <a:pt x="46315" y="183963"/>
                </a:lnTo>
                <a:lnTo>
                  <a:pt x="60198" y="188976"/>
                </a:lnTo>
                <a:lnTo>
                  <a:pt x="62484" y="181356"/>
                </a:lnTo>
                <a:close/>
              </a:path>
            </a:pathLst>
          </a:custGeom>
          <a:solidFill>
            <a:srgbClr val="000000"/>
          </a:solidFill>
        </p:spPr>
        <p:txBody>
          <a:bodyPr wrap="square" lIns="0" tIns="0" rIns="0" bIns="0" rtlCol="0"/>
          <a:lstStyle/>
          <a:p>
            <a:endParaRPr/>
          </a:p>
        </p:txBody>
      </p:sp>
      <p:sp>
        <p:nvSpPr>
          <p:cNvPr id="72" name="object 72"/>
          <p:cNvSpPr/>
          <p:nvPr/>
        </p:nvSpPr>
        <p:spPr>
          <a:xfrm>
            <a:off x="4130040" y="4286250"/>
            <a:ext cx="779780" cy="189230"/>
          </a:xfrm>
          <a:custGeom>
            <a:avLst/>
            <a:gdLst/>
            <a:ahLst/>
            <a:cxnLst/>
            <a:rect l="l" t="t" r="r" b="b"/>
            <a:pathLst>
              <a:path w="779779" h="189229">
                <a:moveTo>
                  <a:pt x="779525" y="94488"/>
                </a:moveTo>
                <a:lnTo>
                  <a:pt x="770524" y="46803"/>
                </a:lnTo>
                <a:lnTo>
                  <a:pt x="744854" y="12477"/>
                </a:lnTo>
                <a:lnTo>
                  <a:pt x="719327" y="0"/>
                </a:lnTo>
                <a:lnTo>
                  <a:pt x="716279" y="8382"/>
                </a:lnTo>
                <a:lnTo>
                  <a:pt x="727436" y="12811"/>
                </a:lnTo>
                <a:lnTo>
                  <a:pt x="736949" y="19240"/>
                </a:lnTo>
                <a:lnTo>
                  <a:pt x="759237" y="63055"/>
                </a:lnTo>
                <a:lnTo>
                  <a:pt x="761999" y="93726"/>
                </a:lnTo>
                <a:lnTo>
                  <a:pt x="761999" y="158284"/>
                </a:lnTo>
                <a:lnTo>
                  <a:pt x="763523" y="156210"/>
                </a:lnTo>
                <a:lnTo>
                  <a:pt x="770524" y="142601"/>
                </a:lnTo>
                <a:lnTo>
                  <a:pt x="775525" y="127920"/>
                </a:lnTo>
                <a:lnTo>
                  <a:pt x="778525" y="111954"/>
                </a:lnTo>
                <a:lnTo>
                  <a:pt x="779525" y="94488"/>
                </a:lnTo>
                <a:close/>
              </a:path>
              <a:path w="779779" h="189229">
                <a:moveTo>
                  <a:pt x="761999" y="158284"/>
                </a:moveTo>
                <a:lnTo>
                  <a:pt x="761999" y="93726"/>
                </a:lnTo>
                <a:lnTo>
                  <a:pt x="761285" y="110156"/>
                </a:lnTo>
                <a:lnTo>
                  <a:pt x="759142" y="125158"/>
                </a:lnTo>
                <a:lnTo>
                  <a:pt x="744581" y="161317"/>
                </a:lnTo>
                <a:lnTo>
                  <a:pt x="717041" y="181356"/>
                </a:lnTo>
                <a:lnTo>
                  <a:pt x="719327" y="188976"/>
                </a:lnTo>
                <a:lnTo>
                  <a:pt x="732877" y="183963"/>
                </a:lnTo>
                <a:lnTo>
                  <a:pt x="744890" y="176847"/>
                </a:lnTo>
                <a:lnTo>
                  <a:pt x="755118" y="167651"/>
                </a:lnTo>
                <a:lnTo>
                  <a:pt x="761999" y="158284"/>
                </a:lnTo>
                <a:close/>
              </a:path>
              <a:path w="779779" h="189229">
                <a:moveTo>
                  <a:pt x="62483" y="8382"/>
                </a:moveTo>
                <a:lnTo>
                  <a:pt x="60197" y="0"/>
                </a:lnTo>
                <a:lnTo>
                  <a:pt x="46315" y="5131"/>
                </a:lnTo>
                <a:lnTo>
                  <a:pt x="34289" y="12477"/>
                </a:lnTo>
                <a:lnTo>
                  <a:pt x="8679" y="46803"/>
                </a:lnTo>
                <a:lnTo>
                  <a:pt x="0" y="94488"/>
                </a:lnTo>
                <a:lnTo>
                  <a:pt x="988" y="111954"/>
                </a:lnTo>
                <a:lnTo>
                  <a:pt x="3905" y="127920"/>
                </a:lnTo>
                <a:lnTo>
                  <a:pt x="8679" y="142601"/>
                </a:lnTo>
                <a:lnTo>
                  <a:pt x="15239" y="156210"/>
                </a:lnTo>
                <a:lnTo>
                  <a:pt x="16763" y="158205"/>
                </a:lnTo>
                <a:lnTo>
                  <a:pt x="16763" y="93726"/>
                </a:lnTo>
                <a:lnTo>
                  <a:pt x="17478" y="77747"/>
                </a:lnTo>
                <a:lnTo>
                  <a:pt x="28193" y="38100"/>
                </a:lnTo>
                <a:lnTo>
                  <a:pt x="51768" y="12811"/>
                </a:lnTo>
                <a:lnTo>
                  <a:pt x="62483" y="8382"/>
                </a:lnTo>
                <a:close/>
              </a:path>
              <a:path w="779779" h="189229">
                <a:moveTo>
                  <a:pt x="62483" y="181356"/>
                </a:moveTo>
                <a:lnTo>
                  <a:pt x="28193" y="150876"/>
                </a:lnTo>
                <a:lnTo>
                  <a:pt x="17478" y="110156"/>
                </a:lnTo>
                <a:lnTo>
                  <a:pt x="16763" y="93726"/>
                </a:lnTo>
                <a:lnTo>
                  <a:pt x="16763" y="158205"/>
                </a:lnTo>
                <a:lnTo>
                  <a:pt x="23979" y="167651"/>
                </a:lnTo>
                <a:lnTo>
                  <a:pt x="34289" y="176879"/>
                </a:lnTo>
                <a:lnTo>
                  <a:pt x="46315" y="183963"/>
                </a:lnTo>
                <a:lnTo>
                  <a:pt x="60197" y="188976"/>
                </a:lnTo>
                <a:lnTo>
                  <a:pt x="62483" y="181356"/>
                </a:lnTo>
                <a:close/>
              </a:path>
            </a:pathLst>
          </a:custGeom>
          <a:solidFill>
            <a:srgbClr val="BF0000"/>
          </a:solidFill>
        </p:spPr>
        <p:txBody>
          <a:bodyPr wrap="square" lIns="0" tIns="0" rIns="0" bIns="0" rtlCol="0"/>
          <a:lstStyle/>
          <a:p>
            <a:endParaRPr/>
          </a:p>
        </p:txBody>
      </p:sp>
      <p:sp>
        <p:nvSpPr>
          <p:cNvPr id="73" name="object 73"/>
          <p:cNvSpPr/>
          <p:nvPr/>
        </p:nvSpPr>
        <p:spPr>
          <a:xfrm>
            <a:off x="5301996" y="4286250"/>
            <a:ext cx="748665" cy="189230"/>
          </a:xfrm>
          <a:custGeom>
            <a:avLst/>
            <a:gdLst/>
            <a:ahLst/>
            <a:cxnLst/>
            <a:rect l="l" t="t" r="r" b="b"/>
            <a:pathLst>
              <a:path w="748664" h="189229">
                <a:moveTo>
                  <a:pt x="748284" y="94488"/>
                </a:moveTo>
                <a:lnTo>
                  <a:pt x="739282" y="46803"/>
                </a:lnTo>
                <a:lnTo>
                  <a:pt x="713613" y="12477"/>
                </a:lnTo>
                <a:lnTo>
                  <a:pt x="688086" y="0"/>
                </a:lnTo>
                <a:lnTo>
                  <a:pt x="685038" y="8382"/>
                </a:lnTo>
                <a:lnTo>
                  <a:pt x="696194" y="12811"/>
                </a:lnTo>
                <a:lnTo>
                  <a:pt x="705707" y="19240"/>
                </a:lnTo>
                <a:lnTo>
                  <a:pt x="727995" y="63055"/>
                </a:lnTo>
                <a:lnTo>
                  <a:pt x="730758" y="93726"/>
                </a:lnTo>
                <a:lnTo>
                  <a:pt x="730758" y="158284"/>
                </a:lnTo>
                <a:lnTo>
                  <a:pt x="732282" y="156210"/>
                </a:lnTo>
                <a:lnTo>
                  <a:pt x="739282" y="142601"/>
                </a:lnTo>
                <a:lnTo>
                  <a:pt x="744283" y="127920"/>
                </a:lnTo>
                <a:lnTo>
                  <a:pt x="747283" y="111954"/>
                </a:lnTo>
                <a:lnTo>
                  <a:pt x="748284" y="94488"/>
                </a:lnTo>
                <a:close/>
              </a:path>
              <a:path w="748664" h="189229">
                <a:moveTo>
                  <a:pt x="730758" y="158284"/>
                </a:moveTo>
                <a:lnTo>
                  <a:pt x="730758" y="93726"/>
                </a:lnTo>
                <a:lnTo>
                  <a:pt x="730043" y="110156"/>
                </a:lnTo>
                <a:lnTo>
                  <a:pt x="727900" y="125158"/>
                </a:lnTo>
                <a:lnTo>
                  <a:pt x="713339" y="161317"/>
                </a:lnTo>
                <a:lnTo>
                  <a:pt x="685800" y="181356"/>
                </a:lnTo>
                <a:lnTo>
                  <a:pt x="688086" y="188976"/>
                </a:lnTo>
                <a:lnTo>
                  <a:pt x="701635" y="183963"/>
                </a:lnTo>
                <a:lnTo>
                  <a:pt x="713648" y="176847"/>
                </a:lnTo>
                <a:lnTo>
                  <a:pt x="723876" y="167651"/>
                </a:lnTo>
                <a:lnTo>
                  <a:pt x="730758" y="158284"/>
                </a:lnTo>
                <a:close/>
              </a:path>
              <a:path w="748664" h="189229">
                <a:moveTo>
                  <a:pt x="62484" y="8382"/>
                </a:moveTo>
                <a:lnTo>
                  <a:pt x="60198" y="0"/>
                </a:lnTo>
                <a:lnTo>
                  <a:pt x="46315" y="5131"/>
                </a:lnTo>
                <a:lnTo>
                  <a:pt x="34290" y="12477"/>
                </a:lnTo>
                <a:lnTo>
                  <a:pt x="8679" y="46803"/>
                </a:lnTo>
                <a:lnTo>
                  <a:pt x="0" y="94488"/>
                </a:lnTo>
                <a:lnTo>
                  <a:pt x="988" y="111954"/>
                </a:lnTo>
                <a:lnTo>
                  <a:pt x="3905" y="127920"/>
                </a:lnTo>
                <a:lnTo>
                  <a:pt x="8679" y="142601"/>
                </a:lnTo>
                <a:lnTo>
                  <a:pt x="15240" y="156210"/>
                </a:lnTo>
                <a:lnTo>
                  <a:pt x="16764" y="158205"/>
                </a:lnTo>
                <a:lnTo>
                  <a:pt x="16764" y="93726"/>
                </a:lnTo>
                <a:lnTo>
                  <a:pt x="17478" y="77747"/>
                </a:lnTo>
                <a:lnTo>
                  <a:pt x="28194" y="38100"/>
                </a:lnTo>
                <a:lnTo>
                  <a:pt x="51768" y="12811"/>
                </a:lnTo>
                <a:lnTo>
                  <a:pt x="62484" y="8382"/>
                </a:lnTo>
                <a:close/>
              </a:path>
              <a:path w="748664" h="189229">
                <a:moveTo>
                  <a:pt x="62484" y="181356"/>
                </a:moveTo>
                <a:lnTo>
                  <a:pt x="28194" y="150876"/>
                </a:lnTo>
                <a:lnTo>
                  <a:pt x="17478" y="110156"/>
                </a:lnTo>
                <a:lnTo>
                  <a:pt x="16764" y="93726"/>
                </a:lnTo>
                <a:lnTo>
                  <a:pt x="16764" y="158205"/>
                </a:lnTo>
                <a:lnTo>
                  <a:pt x="23979" y="167651"/>
                </a:lnTo>
                <a:lnTo>
                  <a:pt x="34290" y="176879"/>
                </a:lnTo>
                <a:lnTo>
                  <a:pt x="46315" y="183963"/>
                </a:lnTo>
                <a:lnTo>
                  <a:pt x="60198" y="188976"/>
                </a:lnTo>
                <a:lnTo>
                  <a:pt x="62484" y="181356"/>
                </a:lnTo>
                <a:close/>
              </a:path>
            </a:pathLst>
          </a:custGeom>
          <a:solidFill>
            <a:srgbClr val="000000"/>
          </a:solidFill>
        </p:spPr>
        <p:txBody>
          <a:bodyPr wrap="square" lIns="0" tIns="0" rIns="0" bIns="0" rtlCol="0"/>
          <a:lstStyle/>
          <a:p>
            <a:endParaRPr/>
          </a:p>
        </p:txBody>
      </p:sp>
      <p:sp>
        <p:nvSpPr>
          <p:cNvPr id="74" name="object 74"/>
          <p:cNvSpPr/>
          <p:nvPr/>
        </p:nvSpPr>
        <p:spPr>
          <a:xfrm>
            <a:off x="6707885" y="4286250"/>
            <a:ext cx="780415" cy="189230"/>
          </a:xfrm>
          <a:custGeom>
            <a:avLst/>
            <a:gdLst/>
            <a:ahLst/>
            <a:cxnLst/>
            <a:rect l="l" t="t" r="r" b="b"/>
            <a:pathLst>
              <a:path w="780415" h="189229">
                <a:moveTo>
                  <a:pt x="780288" y="94488"/>
                </a:moveTo>
                <a:lnTo>
                  <a:pt x="771286" y="46803"/>
                </a:lnTo>
                <a:lnTo>
                  <a:pt x="745617" y="12477"/>
                </a:lnTo>
                <a:lnTo>
                  <a:pt x="720090" y="0"/>
                </a:lnTo>
                <a:lnTo>
                  <a:pt x="717042" y="8382"/>
                </a:lnTo>
                <a:lnTo>
                  <a:pt x="728198" y="12811"/>
                </a:lnTo>
                <a:lnTo>
                  <a:pt x="737711" y="19240"/>
                </a:lnTo>
                <a:lnTo>
                  <a:pt x="759999" y="63055"/>
                </a:lnTo>
                <a:lnTo>
                  <a:pt x="762762" y="93726"/>
                </a:lnTo>
                <a:lnTo>
                  <a:pt x="762762" y="158284"/>
                </a:lnTo>
                <a:lnTo>
                  <a:pt x="764286" y="156210"/>
                </a:lnTo>
                <a:lnTo>
                  <a:pt x="771286" y="142601"/>
                </a:lnTo>
                <a:lnTo>
                  <a:pt x="776287" y="127920"/>
                </a:lnTo>
                <a:lnTo>
                  <a:pt x="779287" y="111954"/>
                </a:lnTo>
                <a:lnTo>
                  <a:pt x="780288" y="94488"/>
                </a:lnTo>
                <a:close/>
              </a:path>
              <a:path w="780415" h="189229">
                <a:moveTo>
                  <a:pt x="762762" y="158284"/>
                </a:moveTo>
                <a:lnTo>
                  <a:pt x="762762" y="93726"/>
                </a:lnTo>
                <a:lnTo>
                  <a:pt x="762047" y="110156"/>
                </a:lnTo>
                <a:lnTo>
                  <a:pt x="759904" y="125158"/>
                </a:lnTo>
                <a:lnTo>
                  <a:pt x="745343" y="161317"/>
                </a:lnTo>
                <a:lnTo>
                  <a:pt x="717804" y="181356"/>
                </a:lnTo>
                <a:lnTo>
                  <a:pt x="720090" y="188976"/>
                </a:lnTo>
                <a:lnTo>
                  <a:pt x="733639" y="183963"/>
                </a:lnTo>
                <a:lnTo>
                  <a:pt x="745652" y="176847"/>
                </a:lnTo>
                <a:lnTo>
                  <a:pt x="755880" y="167651"/>
                </a:lnTo>
                <a:lnTo>
                  <a:pt x="762762" y="158284"/>
                </a:lnTo>
                <a:close/>
              </a:path>
              <a:path w="780415" h="189229">
                <a:moveTo>
                  <a:pt x="62484" y="8382"/>
                </a:moveTo>
                <a:lnTo>
                  <a:pt x="60198" y="0"/>
                </a:lnTo>
                <a:lnTo>
                  <a:pt x="46315" y="5131"/>
                </a:lnTo>
                <a:lnTo>
                  <a:pt x="34290" y="12477"/>
                </a:lnTo>
                <a:lnTo>
                  <a:pt x="8679" y="46803"/>
                </a:lnTo>
                <a:lnTo>
                  <a:pt x="0" y="94488"/>
                </a:lnTo>
                <a:lnTo>
                  <a:pt x="988" y="111954"/>
                </a:lnTo>
                <a:lnTo>
                  <a:pt x="3905" y="127920"/>
                </a:lnTo>
                <a:lnTo>
                  <a:pt x="8679" y="142601"/>
                </a:lnTo>
                <a:lnTo>
                  <a:pt x="15240" y="156210"/>
                </a:lnTo>
                <a:lnTo>
                  <a:pt x="16764" y="158205"/>
                </a:lnTo>
                <a:lnTo>
                  <a:pt x="16764" y="93726"/>
                </a:lnTo>
                <a:lnTo>
                  <a:pt x="17478" y="77747"/>
                </a:lnTo>
                <a:lnTo>
                  <a:pt x="28194" y="38100"/>
                </a:lnTo>
                <a:lnTo>
                  <a:pt x="51768" y="12811"/>
                </a:lnTo>
                <a:lnTo>
                  <a:pt x="62484" y="8382"/>
                </a:lnTo>
                <a:close/>
              </a:path>
              <a:path w="780415" h="189229">
                <a:moveTo>
                  <a:pt x="62484" y="181356"/>
                </a:moveTo>
                <a:lnTo>
                  <a:pt x="28194" y="150876"/>
                </a:lnTo>
                <a:lnTo>
                  <a:pt x="17478" y="110156"/>
                </a:lnTo>
                <a:lnTo>
                  <a:pt x="16764" y="93726"/>
                </a:lnTo>
                <a:lnTo>
                  <a:pt x="16764" y="158205"/>
                </a:lnTo>
                <a:lnTo>
                  <a:pt x="23979" y="167651"/>
                </a:lnTo>
                <a:lnTo>
                  <a:pt x="34290" y="176879"/>
                </a:lnTo>
                <a:lnTo>
                  <a:pt x="46315" y="183963"/>
                </a:lnTo>
                <a:lnTo>
                  <a:pt x="60198" y="188976"/>
                </a:lnTo>
                <a:lnTo>
                  <a:pt x="62484" y="181356"/>
                </a:lnTo>
                <a:close/>
              </a:path>
            </a:pathLst>
          </a:custGeom>
          <a:solidFill>
            <a:srgbClr val="0000FF"/>
          </a:solidFill>
        </p:spPr>
        <p:txBody>
          <a:bodyPr wrap="square" lIns="0" tIns="0" rIns="0" bIns="0" rtlCol="0"/>
          <a:lstStyle/>
          <a:p>
            <a:endParaRPr/>
          </a:p>
        </p:txBody>
      </p:sp>
      <p:sp>
        <p:nvSpPr>
          <p:cNvPr id="75" name="object 75"/>
          <p:cNvSpPr txBox="1"/>
          <p:nvPr/>
        </p:nvSpPr>
        <p:spPr>
          <a:xfrm>
            <a:off x="809244" y="3649246"/>
            <a:ext cx="6877684" cy="843280"/>
          </a:xfrm>
          <a:prstGeom prst="rect">
            <a:avLst/>
          </a:prstGeom>
        </p:spPr>
        <p:txBody>
          <a:bodyPr vert="horz" wrap="square" lIns="0" tIns="137160" rIns="0" bIns="0" rtlCol="0">
            <a:spAutoFit/>
          </a:bodyPr>
          <a:lstStyle/>
          <a:p>
            <a:pPr marL="508000" indent="-469900">
              <a:lnSpc>
                <a:spcPct val="100000"/>
              </a:lnSpc>
              <a:spcBef>
                <a:spcPts val="1080"/>
              </a:spcBef>
              <a:buClr>
                <a:srgbClr val="CC0000"/>
              </a:buClr>
              <a:buSzPct val="79166"/>
              <a:buFont typeface="Wingdings"/>
              <a:buChar char=""/>
              <a:tabLst>
                <a:tab pos="508000" algn="l"/>
              </a:tabLst>
            </a:pPr>
            <a:r>
              <a:rPr sz="2400" dirty="0">
                <a:latin typeface="Verdana"/>
                <a:cs typeface="Verdana"/>
              </a:rPr>
              <a:t>Probability</a:t>
            </a:r>
            <a:r>
              <a:rPr sz="2400" spc="-20" dirty="0">
                <a:latin typeface="Verdana"/>
                <a:cs typeface="Verdana"/>
              </a:rPr>
              <a:t> </a:t>
            </a:r>
            <a:r>
              <a:rPr sz="2400" dirty="0">
                <a:latin typeface="Verdana"/>
                <a:cs typeface="Verdana"/>
              </a:rPr>
              <a:t>of</a:t>
            </a:r>
            <a:r>
              <a:rPr sz="2400" spc="-35" dirty="0">
                <a:latin typeface="Verdana"/>
                <a:cs typeface="Verdana"/>
              </a:rPr>
              <a:t> </a:t>
            </a:r>
            <a:r>
              <a:rPr sz="2400" dirty="0">
                <a:latin typeface="Verdana"/>
                <a:cs typeface="Verdana"/>
              </a:rPr>
              <a:t>an</a:t>
            </a:r>
            <a:r>
              <a:rPr sz="2400" spc="-45" dirty="0">
                <a:latin typeface="Verdana"/>
                <a:cs typeface="Verdana"/>
              </a:rPr>
              <a:t> </a:t>
            </a:r>
            <a:r>
              <a:rPr sz="2400" dirty="0">
                <a:latin typeface="Verdana"/>
                <a:cs typeface="Verdana"/>
              </a:rPr>
              <a:t>error</a:t>
            </a:r>
            <a:r>
              <a:rPr sz="2400" spc="-65" dirty="0">
                <a:latin typeface="Verdana"/>
                <a:cs typeface="Verdana"/>
              </a:rPr>
              <a:t> </a:t>
            </a:r>
            <a:r>
              <a:rPr sz="2400" i="1" dirty="0">
                <a:solidFill>
                  <a:srgbClr val="0000FF"/>
                </a:solidFill>
                <a:latin typeface="Verdana"/>
                <a:cs typeface="Verdana"/>
              </a:rPr>
              <a:t>p</a:t>
            </a:r>
            <a:r>
              <a:rPr sz="2400" dirty="0">
                <a:solidFill>
                  <a:srgbClr val="0000FF"/>
                </a:solidFill>
                <a:latin typeface="Verdana"/>
                <a:cs typeface="Verdana"/>
              </a:rPr>
              <a:t>(bit</a:t>
            </a:r>
            <a:r>
              <a:rPr sz="2400" spc="-35" dirty="0">
                <a:solidFill>
                  <a:srgbClr val="0000FF"/>
                </a:solidFill>
                <a:latin typeface="Verdana"/>
                <a:cs typeface="Verdana"/>
              </a:rPr>
              <a:t> </a:t>
            </a:r>
            <a:r>
              <a:rPr sz="2400" dirty="0">
                <a:solidFill>
                  <a:srgbClr val="0000FF"/>
                </a:solidFill>
                <a:latin typeface="Verdana"/>
                <a:cs typeface="Verdana"/>
              </a:rPr>
              <a:t>error)</a:t>
            </a:r>
            <a:r>
              <a:rPr sz="2400" spc="-50" dirty="0">
                <a:solidFill>
                  <a:srgbClr val="0000FF"/>
                </a:solidFill>
                <a:latin typeface="Verdana"/>
                <a:cs typeface="Verdana"/>
              </a:rPr>
              <a:t> </a:t>
            </a:r>
            <a:r>
              <a:rPr sz="2400" dirty="0">
                <a:latin typeface="Wingdings"/>
                <a:cs typeface="Wingdings"/>
              </a:rPr>
              <a:t></a:t>
            </a:r>
            <a:r>
              <a:rPr sz="2400" spc="190" dirty="0">
                <a:latin typeface="Times New Roman"/>
                <a:cs typeface="Times New Roman"/>
              </a:rPr>
              <a:t> </a:t>
            </a:r>
            <a:r>
              <a:rPr sz="2400" i="1" spc="-25" dirty="0">
                <a:latin typeface="Verdana"/>
                <a:cs typeface="Verdana"/>
              </a:rPr>
              <a:t>BER</a:t>
            </a:r>
            <a:endParaRPr sz="2400">
              <a:latin typeface="Verdana"/>
              <a:cs typeface="Verdana"/>
            </a:endParaRPr>
          </a:p>
          <a:p>
            <a:pPr marL="492759">
              <a:lnSpc>
                <a:spcPct val="100000"/>
              </a:lnSpc>
              <a:spcBef>
                <a:spcPts val="655"/>
              </a:spcBef>
              <a:tabLst>
                <a:tab pos="1572260" algn="l"/>
                <a:tab pos="2725420" algn="l"/>
                <a:tab pos="4162425" algn="l"/>
                <a:tab pos="5303520" algn="l"/>
              </a:tabLst>
            </a:pPr>
            <a:r>
              <a:rPr sz="1600" dirty="0">
                <a:solidFill>
                  <a:srgbClr val="0000FF"/>
                </a:solidFill>
                <a:latin typeface="Cambria Math"/>
                <a:cs typeface="Cambria Math"/>
              </a:rPr>
              <a:t>𝑝</a:t>
            </a:r>
            <a:r>
              <a:rPr sz="1600" spc="300" dirty="0">
                <a:solidFill>
                  <a:srgbClr val="0000FF"/>
                </a:solidFill>
                <a:latin typeface="Cambria Math"/>
                <a:cs typeface="Cambria Math"/>
              </a:rPr>
              <a:t> </a:t>
            </a:r>
            <a:r>
              <a:rPr sz="1600" dirty="0">
                <a:solidFill>
                  <a:srgbClr val="0000FF"/>
                </a:solidFill>
                <a:latin typeface="Cambria Math"/>
                <a:cs typeface="Cambria Math"/>
              </a:rPr>
              <a:t>bit</a:t>
            </a:r>
            <a:r>
              <a:rPr sz="1600" spc="-5" dirty="0">
                <a:solidFill>
                  <a:srgbClr val="0000FF"/>
                </a:solidFill>
                <a:latin typeface="Cambria Math"/>
                <a:cs typeface="Cambria Math"/>
              </a:rPr>
              <a:t> </a:t>
            </a:r>
            <a:r>
              <a:rPr sz="1600" spc="-20" dirty="0">
                <a:solidFill>
                  <a:srgbClr val="0000FF"/>
                </a:solidFill>
                <a:latin typeface="Cambria Math"/>
                <a:cs typeface="Cambria Math"/>
              </a:rPr>
              <a:t>error</a:t>
            </a:r>
            <a:r>
              <a:rPr sz="1600" dirty="0">
                <a:solidFill>
                  <a:srgbClr val="0000FF"/>
                </a:solidFill>
                <a:latin typeface="Cambria Math"/>
                <a:cs typeface="Cambria Math"/>
              </a:rPr>
              <a:t>	=</a:t>
            </a:r>
            <a:r>
              <a:rPr sz="1600" spc="90" dirty="0">
                <a:solidFill>
                  <a:srgbClr val="0000FF"/>
                </a:solidFill>
                <a:latin typeface="Cambria Math"/>
                <a:cs typeface="Cambria Math"/>
              </a:rPr>
              <a:t> </a:t>
            </a:r>
            <a:r>
              <a:rPr sz="1600" dirty="0">
                <a:latin typeface="Cambria Math"/>
                <a:cs typeface="Cambria Math"/>
              </a:rPr>
              <a:t>𝑝</a:t>
            </a:r>
            <a:r>
              <a:rPr sz="1600" spc="310" dirty="0">
                <a:latin typeface="Cambria Math"/>
                <a:cs typeface="Cambria Math"/>
              </a:rPr>
              <a:t> </a:t>
            </a:r>
            <a:r>
              <a:rPr sz="1600" dirty="0">
                <a:latin typeface="Cambria Math"/>
                <a:cs typeface="Cambria Math"/>
              </a:rPr>
              <a:t>TX</a:t>
            </a:r>
            <a:r>
              <a:rPr sz="1600" spc="80" dirty="0">
                <a:latin typeface="Cambria Math"/>
                <a:cs typeface="Cambria Math"/>
              </a:rPr>
              <a:t> </a:t>
            </a:r>
            <a:r>
              <a:rPr sz="1600" dirty="0">
                <a:latin typeface="Cambria Math"/>
                <a:cs typeface="Cambria Math"/>
              </a:rPr>
              <a:t>=</a:t>
            </a:r>
            <a:r>
              <a:rPr sz="1600" spc="85" dirty="0">
                <a:latin typeface="Cambria Math"/>
                <a:cs typeface="Cambria Math"/>
              </a:rPr>
              <a:t> </a:t>
            </a:r>
            <a:r>
              <a:rPr sz="1600" spc="-50" dirty="0">
                <a:latin typeface="Cambria Math"/>
                <a:cs typeface="Cambria Math"/>
              </a:rPr>
              <a:t>0</a:t>
            </a:r>
            <a:r>
              <a:rPr sz="1600" dirty="0">
                <a:latin typeface="Cambria Math"/>
                <a:cs typeface="Cambria Math"/>
              </a:rPr>
              <a:t>	·</a:t>
            </a:r>
            <a:r>
              <a:rPr sz="1600" spc="20" dirty="0">
                <a:latin typeface="Cambria Math"/>
                <a:cs typeface="Cambria Math"/>
              </a:rPr>
              <a:t> </a:t>
            </a:r>
            <a:r>
              <a:rPr sz="1600" dirty="0">
                <a:solidFill>
                  <a:srgbClr val="C00000"/>
                </a:solidFill>
                <a:latin typeface="Cambria Math"/>
                <a:cs typeface="Cambria Math"/>
              </a:rPr>
              <a:t>𝑝</a:t>
            </a:r>
            <a:r>
              <a:rPr sz="1725" baseline="-14492" dirty="0">
                <a:solidFill>
                  <a:srgbClr val="C00000"/>
                </a:solidFill>
                <a:latin typeface="Cambria Math"/>
                <a:cs typeface="Cambria Math"/>
              </a:rPr>
              <a:t>𝑒𝑟𝑟</a:t>
            </a:r>
            <a:r>
              <a:rPr sz="1725" spc="75" baseline="-14492" dirty="0">
                <a:solidFill>
                  <a:srgbClr val="C00000"/>
                </a:solidFill>
                <a:latin typeface="Cambria Math"/>
                <a:cs typeface="Cambria Math"/>
              </a:rPr>
              <a:t> </a:t>
            </a:r>
            <a:r>
              <a:rPr sz="1725" baseline="-14492" dirty="0">
                <a:solidFill>
                  <a:srgbClr val="C00000"/>
                </a:solidFill>
                <a:latin typeface="Cambria Math"/>
                <a:cs typeface="Cambria Math"/>
              </a:rPr>
              <a:t>0</a:t>
            </a:r>
            <a:r>
              <a:rPr sz="1725" spc="202" baseline="-14492" dirty="0">
                <a:solidFill>
                  <a:srgbClr val="C00000"/>
                </a:solidFill>
                <a:latin typeface="Cambria Math"/>
                <a:cs typeface="Cambria Math"/>
              </a:rPr>
              <a:t>  </a:t>
            </a:r>
            <a:r>
              <a:rPr sz="1600" dirty="0">
                <a:solidFill>
                  <a:srgbClr val="C00000"/>
                </a:solidFill>
                <a:latin typeface="Cambria Math"/>
                <a:cs typeface="Cambria Math"/>
              </a:rPr>
              <a:t>𝑥</a:t>
            </a:r>
            <a:r>
              <a:rPr sz="1600" spc="-85" dirty="0">
                <a:solidFill>
                  <a:srgbClr val="C00000"/>
                </a:solidFill>
                <a:latin typeface="Cambria Math"/>
                <a:cs typeface="Cambria Math"/>
              </a:rPr>
              <a:t> </a:t>
            </a:r>
            <a:r>
              <a:rPr sz="1600" dirty="0">
                <a:solidFill>
                  <a:srgbClr val="C00000"/>
                </a:solidFill>
                <a:latin typeface="Cambria Math"/>
                <a:cs typeface="Cambria Math"/>
              </a:rPr>
              <a:t>≥</a:t>
            </a:r>
            <a:r>
              <a:rPr sz="1600" spc="125" dirty="0">
                <a:solidFill>
                  <a:srgbClr val="C00000"/>
                </a:solidFill>
                <a:latin typeface="Cambria Math"/>
                <a:cs typeface="Cambria Math"/>
              </a:rPr>
              <a:t> </a:t>
            </a:r>
            <a:r>
              <a:rPr sz="1600" spc="-25" dirty="0">
                <a:solidFill>
                  <a:srgbClr val="C00000"/>
                </a:solidFill>
                <a:latin typeface="Cambria Math"/>
                <a:cs typeface="Cambria Math"/>
              </a:rPr>
              <a:t>0.5</a:t>
            </a:r>
            <a:r>
              <a:rPr sz="1600" dirty="0">
                <a:solidFill>
                  <a:srgbClr val="C00000"/>
                </a:solidFill>
                <a:latin typeface="Cambria Math"/>
                <a:cs typeface="Cambria Math"/>
              </a:rPr>
              <a:t>	</a:t>
            </a:r>
            <a:r>
              <a:rPr sz="1600" dirty="0">
                <a:latin typeface="Cambria Math"/>
                <a:cs typeface="Cambria Math"/>
              </a:rPr>
              <a:t>+</a:t>
            </a:r>
            <a:r>
              <a:rPr sz="1600" spc="-5" dirty="0">
                <a:latin typeface="Cambria Math"/>
                <a:cs typeface="Cambria Math"/>
              </a:rPr>
              <a:t> </a:t>
            </a:r>
            <a:r>
              <a:rPr sz="1600" dirty="0">
                <a:latin typeface="Cambria Math"/>
                <a:cs typeface="Cambria Math"/>
              </a:rPr>
              <a:t>𝑝</a:t>
            </a:r>
            <a:r>
              <a:rPr sz="1600" spc="140" dirty="0">
                <a:latin typeface="Cambria Math"/>
                <a:cs typeface="Cambria Math"/>
              </a:rPr>
              <a:t> </a:t>
            </a:r>
            <a:r>
              <a:rPr sz="1600" dirty="0">
                <a:latin typeface="Cambria Math"/>
                <a:cs typeface="Cambria Math"/>
              </a:rPr>
              <a:t>TX</a:t>
            </a:r>
            <a:r>
              <a:rPr sz="1600" spc="75" dirty="0">
                <a:latin typeface="Cambria Math"/>
                <a:cs typeface="Cambria Math"/>
              </a:rPr>
              <a:t> </a:t>
            </a:r>
            <a:r>
              <a:rPr sz="1600" dirty="0">
                <a:latin typeface="Cambria Math"/>
                <a:cs typeface="Cambria Math"/>
              </a:rPr>
              <a:t>=</a:t>
            </a:r>
            <a:r>
              <a:rPr sz="1600" spc="95" dirty="0">
                <a:latin typeface="Cambria Math"/>
                <a:cs typeface="Cambria Math"/>
              </a:rPr>
              <a:t> </a:t>
            </a:r>
            <a:r>
              <a:rPr sz="1600" spc="-50" dirty="0">
                <a:latin typeface="Cambria Math"/>
                <a:cs typeface="Cambria Math"/>
              </a:rPr>
              <a:t>1</a:t>
            </a:r>
            <a:r>
              <a:rPr sz="1600" dirty="0">
                <a:latin typeface="Cambria Math"/>
                <a:cs typeface="Cambria Math"/>
              </a:rPr>
              <a:t>	·</a:t>
            </a:r>
            <a:r>
              <a:rPr sz="1600" spc="30" dirty="0">
                <a:latin typeface="Cambria Math"/>
                <a:cs typeface="Cambria Math"/>
              </a:rPr>
              <a:t> </a:t>
            </a:r>
            <a:r>
              <a:rPr sz="1600" dirty="0">
                <a:solidFill>
                  <a:srgbClr val="0000FF"/>
                </a:solidFill>
                <a:latin typeface="Cambria Math"/>
                <a:cs typeface="Cambria Math"/>
              </a:rPr>
              <a:t>𝑝</a:t>
            </a:r>
            <a:r>
              <a:rPr sz="1725" baseline="-14492" dirty="0">
                <a:solidFill>
                  <a:srgbClr val="0000FF"/>
                </a:solidFill>
                <a:latin typeface="Cambria Math"/>
                <a:cs typeface="Cambria Math"/>
              </a:rPr>
              <a:t>𝑒𝑟𝑟</a:t>
            </a:r>
            <a:r>
              <a:rPr sz="1725" spc="82" baseline="-14492" dirty="0">
                <a:solidFill>
                  <a:srgbClr val="0000FF"/>
                </a:solidFill>
                <a:latin typeface="Cambria Math"/>
                <a:cs typeface="Cambria Math"/>
              </a:rPr>
              <a:t> </a:t>
            </a:r>
            <a:r>
              <a:rPr sz="1725" baseline="-14492" dirty="0">
                <a:solidFill>
                  <a:srgbClr val="0000FF"/>
                </a:solidFill>
                <a:latin typeface="Cambria Math"/>
                <a:cs typeface="Cambria Math"/>
              </a:rPr>
              <a:t>1</a:t>
            </a:r>
            <a:r>
              <a:rPr sz="1725" spc="202" baseline="-14492" dirty="0">
                <a:solidFill>
                  <a:srgbClr val="0000FF"/>
                </a:solidFill>
                <a:latin typeface="Cambria Math"/>
                <a:cs typeface="Cambria Math"/>
              </a:rPr>
              <a:t>  </a:t>
            </a:r>
            <a:r>
              <a:rPr sz="1600" dirty="0">
                <a:solidFill>
                  <a:srgbClr val="0000FF"/>
                </a:solidFill>
                <a:latin typeface="Cambria Math"/>
                <a:cs typeface="Cambria Math"/>
              </a:rPr>
              <a:t>𝑥</a:t>
            </a:r>
            <a:r>
              <a:rPr sz="1600" spc="-85" dirty="0">
                <a:solidFill>
                  <a:srgbClr val="0000FF"/>
                </a:solidFill>
                <a:latin typeface="Cambria Math"/>
                <a:cs typeface="Cambria Math"/>
              </a:rPr>
              <a:t> </a:t>
            </a:r>
            <a:r>
              <a:rPr sz="1600" dirty="0">
                <a:solidFill>
                  <a:srgbClr val="0000FF"/>
                </a:solidFill>
                <a:latin typeface="Cambria Math"/>
                <a:cs typeface="Cambria Math"/>
              </a:rPr>
              <a:t>≤</a:t>
            </a:r>
            <a:r>
              <a:rPr sz="1600" spc="130" dirty="0">
                <a:solidFill>
                  <a:srgbClr val="0000FF"/>
                </a:solidFill>
                <a:latin typeface="Cambria Math"/>
                <a:cs typeface="Cambria Math"/>
              </a:rPr>
              <a:t> </a:t>
            </a:r>
            <a:r>
              <a:rPr sz="1600" spc="-25" dirty="0">
                <a:solidFill>
                  <a:srgbClr val="0000FF"/>
                </a:solidFill>
                <a:latin typeface="Cambria Math"/>
                <a:cs typeface="Cambria Math"/>
              </a:rPr>
              <a:t>0.5</a:t>
            </a:r>
            <a:endParaRPr sz="1600">
              <a:latin typeface="Cambria Math"/>
              <a:cs typeface="Cambria Math"/>
            </a:endParaRPr>
          </a:p>
        </p:txBody>
      </p:sp>
      <p:sp>
        <p:nvSpPr>
          <p:cNvPr id="76" name="object 76"/>
          <p:cNvSpPr/>
          <p:nvPr/>
        </p:nvSpPr>
        <p:spPr>
          <a:xfrm>
            <a:off x="1434846" y="4620767"/>
            <a:ext cx="873760" cy="189230"/>
          </a:xfrm>
          <a:custGeom>
            <a:avLst/>
            <a:gdLst/>
            <a:ahLst/>
            <a:cxnLst/>
            <a:rect l="l" t="t" r="r" b="b"/>
            <a:pathLst>
              <a:path w="873760" h="189229">
                <a:moveTo>
                  <a:pt x="873251" y="94488"/>
                </a:moveTo>
                <a:lnTo>
                  <a:pt x="864250" y="46803"/>
                </a:lnTo>
                <a:lnTo>
                  <a:pt x="838581" y="12477"/>
                </a:lnTo>
                <a:lnTo>
                  <a:pt x="813054" y="0"/>
                </a:lnTo>
                <a:lnTo>
                  <a:pt x="810005" y="8382"/>
                </a:lnTo>
                <a:lnTo>
                  <a:pt x="821162" y="12811"/>
                </a:lnTo>
                <a:lnTo>
                  <a:pt x="830675" y="19240"/>
                </a:lnTo>
                <a:lnTo>
                  <a:pt x="852963" y="63055"/>
                </a:lnTo>
                <a:lnTo>
                  <a:pt x="855726" y="93726"/>
                </a:lnTo>
                <a:lnTo>
                  <a:pt x="855726" y="158284"/>
                </a:lnTo>
                <a:lnTo>
                  <a:pt x="857250" y="156210"/>
                </a:lnTo>
                <a:lnTo>
                  <a:pt x="864250" y="142601"/>
                </a:lnTo>
                <a:lnTo>
                  <a:pt x="869251" y="127920"/>
                </a:lnTo>
                <a:lnTo>
                  <a:pt x="872251" y="111954"/>
                </a:lnTo>
                <a:lnTo>
                  <a:pt x="873251" y="94488"/>
                </a:lnTo>
                <a:close/>
              </a:path>
              <a:path w="873760" h="189229">
                <a:moveTo>
                  <a:pt x="855726" y="158284"/>
                </a:moveTo>
                <a:lnTo>
                  <a:pt x="855726" y="93726"/>
                </a:lnTo>
                <a:lnTo>
                  <a:pt x="855011" y="110156"/>
                </a:lnTo>
                <a:lnTo>
                  <a:pt x="852868" y="125158"/>
                </a:lnTo>
                <a:lnTo>
                  <a:pt x="838307" y="161317"/>
                </a:lnTo>
                <a:lnTo>
                  <a:pt x="810768" y="181356"/>
                </a:lnTo>
                <a:lnTo>
                  <a:pt x="813054" y="188976"/>
                </a:lnTo>
                <a:lnTo>
                  <a:pt x="826603" y="183963"/>
                </a:lnTo>
                <a:lnTo>
                  <a:pt x="838616" y="176847"/>
                </a:lnTo>
                <a:lnTo>
                  <a:pt x="848844" y="167651"/>
                </a:lnTo>
                <a:lnTo>
                  <a:pt x="855726" y="158284"/>
                </a:lnTo>
                <a:close/>
              </a:path>
              <a:path w="873760" h="189229">
                <a:moveTo>
                  <a:pt x="62483" y="8382"/>
                </a:moveTo>
                <a:lnTo>
                  <a:pt x="60197" y="0"/>
                </a:lnTo>
                <a:lnTo>
                  <a:pt x="46315" y="5131"/>
                </a:lnTo>
                <a:lnTo>
                  <a:pt x="34289" y="12477"/>
                </a:lnTo>
                <a:lnTo>
                  <a:pt x="8679" y="46803"/>
                </a:lnTo>
                <a:lnTo>
                  <a:pt x="0" y="94488"/>
                </a:lnTo>
                <a:lnTo>
                  <a:pt x="988" y="111954"/>
                </a:lnTo>
                <a:lnTo>
                  <a:pt x="3905" y="127920"/>
                </a:lnTo>
                <a:lnTo>
                  <a:pt x="8679" y="142601"/>
                </a:lnTo>
                <a:lnTo>
                  <a:pt x="15239" y="156210"/>
                </a:lnTo>
                <a:lnTo>
                  <a:pt x="16763" y="158205"/>
                </a:lnTo>
                <a:lnTo>
                  <a:pt x="16763" y="93726"/>
                </a:lnTo>
                <a:lnTo>
                  <a:pt x="17478" y="77747"/>
                </a:lnTo>
                <a:lnTo>
                  <a:pt x="28193" y="38100"/>
                </a:lnTo>
                <a:lnTo>
                  <a:pt x="51768" y="12811"/>
                </a:lnTo>
                <a:lnTo>
                  <a:pt x="62483" y="8382"/>
                </a:lnTo>
                <a:close/>
              </a:path>
              <a:path w="873760" h="189229">
                <a:moveTo>
                  <a:pt x="62483" y="181356"/>
                </a:moveTo>
                <a:lnTo>
                  <a:pt x="28193" y="150876"/>
                </a:lnTo>
                <a:lnTo>
                  <a:pt x="17478" y="110156"/>
                </a:lnTo>
                <a:lnTo>
                  <a:pt x="16763" y="93726"/>
                </a:lnTo>
                <a:lnTo>
                  <a:pt x="16763" y="158205"/>
                </a:lnTo>
                <a:lnTo>
                  <a:pt x="23979" y="167651"/>
                </a:lnTo>
                <a:lnTo>
                  <a:pt x="34289" y="176879"/>
                </a:lnTo>
                <a:lnTo>
                  <a:pt x="46315" y="183963"/>
                </a:lnTo>
                <a:lnTo>
                  <a:pt x="60197" y="188976"/>
                </a:lnTo>
                <a:lnTo>
                  <a:pt x="62483" y="181356"/>
                </a:lnTo>
                <a:close/>
              </a:path>
            </a:pathLst>
          </a:custGeom>
          <a:solidFill>
            <a:srgbClr val="0000FF"/>
          </a:solidFill>
        </p:spPr>
        <p:txBody>
          <a:bodyPr wrap="square" lIns="0" tIns="0" rIns="0" bIns="0" rtlCol="0"/>
          <a:lstStyle/>
          <a:p>
            <a:endParaRPr/>
          </a:p>
        </p:txBody>
      </p:sp>
      <p:sp>
        <p:nvSpPr>
          <p:cNvPr id="77" name="object 77"/>
          <p:cNvSpPr txBox="1"/>
          <p:nvPr/>
        </p:nvSpPr>
        <p:spPr>
          <a:xfrm>
            <a:off x="1289573" y="4557015"/>
            <a:ext cx="2305685" cy="269875"/>
          </a:xfrm>
          <a:prstGeom prst="rect">
            <a:avLst/>
          </a:prstGeom>
        </p:spPr>
        <p:txBody>
          <a:bodyPr vert="horz" wrap="square" lIns="0" tIns="12700" rIns="0" bIns="0" rtlCol="0">
            <a:spAutoFit/>
          </a:bodyPr>
          <a:lstStyle/>
          <a:p>
            <a:pPr marL="12700">
              <a:lnSpc>
                <a:spcPct val="100000"/>
              </a:lnSpc>
              <a:spcBef>
                <a:spcPts val="100"/>
              </a:spcBef>
              <a:tabLst>
                <a:tab pos="1092200" algn="l"/>
                <a:tab pos="1702435" algn="l"/>
                <a:tab pos="2235200" algn="l"/>
              </a:tabLst>
            </a:pPr>
            <a:r>
              <a:rPr sz="1600" dirty="0">
                <a:solidFill>
                  <a:srgbClr val="0000FF"/>
                </a:solidFill>
                <a:latin typeface="Cambria Math"/>
                <a:cs typeface="Cambria Math"/>
              </a:rPr>
              <a:t>𝑝</a:t>
            </a:r>
            <a:r>
              <a:rPr sz="1600" spc="300" dirty="0">
                <a:solidFill>
                  <a:srgbClr val="0000FF"/>
                </a:solidFill>
                <a:latin typeface="Cambria Math"/>
                <a:cs typeface="Cambria Math"/>
              </a:rPr>
              <a:t> </a:t>
            </a:r>
            <a:r>
              <a:rPr sz="1600" dirty="0">
                <a:solidFill>
                  <a:srgbClr val="0000FF"/>
                </a:solidFill>
                <a:latin typeface="Cambria Math"/>
                <a:cs typeface="Cambria Math"/>
              </a:rPr>
              <a:t>bit</a:t>
            </a:r>
            <a:r>
              <a:rPr sz="1600" spc="-5" dirty="0">
                <a:solidFill>
                  <a:srgbClr val="0000FF"/>
                </a:solidFill>
                <a:latin typeface="Cambria Math"/>
                <a:cs typeface="Cambria Math"/>
              </a:rPr>
              <a:t> </a:t>
            </a:r>
            <a:r>
              <a:rPr sz="1600" spc="-20" dirty="0">
                <a:solidFill>
                  <a:srgbClr val="0000FF"/>
                </a:solidFill>
                <a:latin typeface="Cambria Math"/>
                <a:cs typeface="Cambria Math"/>
              </a:rPr>
              <a:t>error</a:t>
            </a:r>
            <a:r>
              <a:rPr sz="1600" dirty="0">
                <a:solidFill>
                  <a:srgbClr val="0000FF"/>
                </a:solidFill>
                <a:latin typeface="Cambria Math"/>
                <a:cs typeface="Cambria Math"/>
              </a:rPr>
              <a:t>	</a:t>
            </a:r>
            <a:r>
              <a:rPr sz="1600" spc="-50" dirty="0">
                <a:solidFill>
                  <a:srgbClr val="0000FF"/>
                </a:solidFill>
                <a:latin typeface="Cambria Math"/>
                <a:cs typeface="Cambria Math"/>
              </a:rPr>
              <a:t>=</a:t>
            </a:r>
            <a:r>
              <a:rPr sz="1600" dirty="0">
                <a:solidFill>
                  <a:srgbClr val="0000FF"/>
                </a:solidFill>
                <a:latin typeface="Cambria Math"/>
                <a:cs typeface="Cambria Math"/>
              </a:rPr>
              <a:t>	</a:t>
            </a:r>
            <a:r>
              <a:rPr sz="1600" spc="-25" dirty="0">
                <a:latin typeface="Cambria Math"/>
                <a:cs typeface="Cambria Math"/>
              </a:rPr>
              <a:t>0.5</a:t>
            </a:r>
            <a:r>
              <a:rPr sz="1600" dirty="0">
                <a:latin typeface="Cambria Math"/>
                <a:cs typeface="Cambria Math"/>
              </a:rPr>
              <a:t>	</a:t>
            </a:r>
            <a:r>
              <a:rPr sz="1600" spc="-50" dirty="0">
                <a:latin typeface="Cambria Math"/>
                <a:cs typeface="Cambria Math"/>
              </a:rPr>
              <a:t>·</a:t>
            </a:r>
            <a:endParaRPr sz="1600">
              <a:latin typeface="Cambria Math"/>
              <a:cs typeface="Cambria Math"/>
            </a:endParaRPr>
          </a:p>
        </p:txBody>
      </p:sp>
      <p:sp>
        <p:nvSpPr>
          <p:cNvPr id="78" name="object 78"/>
          <p:cNvSpPr/>
          <p:nvPr/>
        </p:nvSpPr>
        <p:spPr>
          <a:xfrm>
            <a:off x="4161282" y="4592573"/>
            <a:ext cx="501650" cy="246379"/>
          </a:xfrm>
          <a:custGeom>
            <a:avLst/>
            <a:gdLst/>
            <a:ahLst/>
            <a:cxnLst/>
            <a:rect l="l" t="t" r="r" b="b"/>
            <a:pathLst>
              <a:path w="501650" h="246379">
                <a:moveTo>
                  <a:pt x="67056" y="8382"/>
                </a:moveTo>
                <a:lnTo>
                  <a:pt x="64770" y="0"/>
                </a:lnTo>
                <a:lnTo>
                  <a:pt x="49872" y="5715"/>
                </a:lnTo>
                <a:lnTo>
                  <a:pt x="37045" y="14770"/>
                </a:lnTo>
                <a:lnTo>
                  <a:pt x="9321" y="60553"/>
                </a:lnTo>
                <a:lnTo>
                  <a:pt x="1003" y="100863"/>
                </a:lnTo>
                <a:lnTo>
                  <a:pt x="0" y="123444"/>
                </a:lnTo>
                <a:lnTo>
                  <a:pt x="1003" y="145707"/>
                </a:lnTo>
                <a:lnTo>
                  <a:pt x="9321" y="185928"/>
                </a:lnTo>
                <a:lnTo>
                  <a:pt x="37045" y="231368"/>
                </a:lnTo>
                <a:lnTo>
                  <a:pt x="64770" y="246126"/>
                </a:lnTo>
                <a:lnTo>
                  <a:pt x="67056" y="237744"/>
                </a:lnTo>
                <a:lnTo>
                  <a:pt x="55765" y="231876"/>
                </a:lnTo>
                <a:lnTo>
                  <a:pt x="45910" y="223367"/>
                </a:lnTo>
                <a:lnTo>
                  <a:pt x="25031" y="182283"/>
                </a:lnTo>
                <a:lnTo>
                  <a:pt x="18288" y="123444"/>
                </a:lnTo>
                <a:lnTo>
                  <a:pt x="19011" y="101587"/>
                </a:lnTo>
                <a:lnTo>
                  <a:pt x="25031" y="63868"/>
                </a:lnTo>
                <a:lnTo>
                  <a:pt x="45910" y="22771"/>
                </a:lnTo>
                <a:lnTo>
                  <a:pt x="55765" y="14262"/>
                </a:lnTo>
                <a:lnTo>
                  <a:pt x="67056" y="8382"/>
                </a:lnTo>
                <a:close/>
              </a:path>
              <a:path w="501650" h="246379">
                <a:moveTo>
                  <a:pt x="427482" y="134112"/>
                </a:moveTo>
                <a:lnTo>
                  <a:pt x="225552" y="134112"/>
                </a:lnTo>
                <a:lnTo>
                  <a:pt x="225552" y="144018"/>
                </a:lnTo>
                <a:lnTo>
                  <a:pt x="427482" y="144018"/>
                </a:lnTo>
                <a:lnTo>
                  <a:pt x="427482" y="134112"/>
                </a:lnTo>
                <a:close/>
              </a:path>
              <a:path w="501650" h="246379">
                <a:moveTo>
                  <a:pt x="501396" y="123444"/>
                </a:moveTo>
                <a:lnTo>
                  <a:pt x="497014" y="79921"/>
                </a:lnTo>
                <a:lnTo>
                  <a:pt x="484632" y="42672"/>
                </a:lnTo>
                <a:lnTo>
                  <a:pt x="451192" y="5715"/>
                </a:lnTo>
                <a:lnTo>
                  <a:pt x="436626" y="0"/>
                </a:lnTo>
                <a:lnTo>
                  <a:pt x="434340" y="8382"/>
                </a:lnTo>
                <a:lnTo>
                  <a:pt x="445617" y="14262"/>
                </a:lnTo>
                <a:lnTo>
                  <a:pt x="455485" y="22771"/>
                </a:lnTo>
                <a:lnTo>
                  <a:pt x="476034" y="63868"/>
                </a:lnTo>
                <a:lnTo>
                  <a:pt x="482269" y="101587"/>
                </a:lnTo>
                <a:lnTo>
                  <a:pt x="483108" y="123444"/>
                </a:lnTo>
                <a:lnTo>
                  <a:pt x="482269" y="144868"/>
                </a:lnTo>
                <a:lnTo>
                  <a:pt x="470916" y="198120"/>
                </a:lnTo>
                <a:lnTo>
                  <a:pt x="445617" y="231876"/>
                </a:lnTo>
                <a:lnTo>
                  <a:pt x="434340" y="237744"/>
                </a:lnTo>
                <a:lnTo>
                  <a:pt x="436626" y="246126"/>
                </a:lnTo>
                <a:lnTo>
                  <a:pt x="475195" y="219024"/>
                </a:lnTo>
                <a:lnTo>
                  <a:pt x="497014" y="166598"/>
                </a:lnTo>
                <a:lnTo>
                  <a:pt x="500265" y="145707"/>
                </a:lnTo>
                <a:lnTo>
                  <a:pt x="501396" y="123444"/>
                </a:lnTo>
                <a:close/>
              </a:path>
            </a:pathLst>
          </a:custGeom>
          <a:solidFill>
            <a:srgbClr val="BF0000"/>
          </a:solidFill>
        </p:spPr>
        <p:txBody>
          <a:bodyPr wrap="square" lIns="0" tIns="0" rIns="0" bIns="0" rtlCol="0"/>
          <a:lstStyle/>
          <a:p>
            <a:endParaRPr/>
          </a:p>
        </p:txBody>
      </p:sp>
      <p:sp>
        <p:nvSpPr>
          <p:cNvPr id="79" name="object 79"/>
          <p:cNvSpPr txBox="1"/>
          <p:nvPr/>
        </p:nvSpPr>
        <p:spPr>
          <a:xfrm>
            <a:off x="5024110" y="4557014"/>
            <a:ext cx="1214120" cy="269875"/>
          </a:xfrm>
          <a:prstGeom prst="rect">
            <a:avLst/>
          </a:prstGeom>
        </p:spPr>
        <p:txBody>
          <a:bodyPr vert="horz" wrap="square" lIns="0" tIns="12700" rIns="0" bIns="0" rtlCol="0">
            <a:spAutoFit/>
          </a:bodyPr>
          <a:lstStyle/>
          <a:p>
            <a:pPr marL="12700">
              <a:lnSpc>
                <a:spcPct val="100000"/>
              </a:lnSpc>
              <a:spcBef>
                <a:spcPts val="100"/>
              </a:spcBef>
              <a:tabLst>
                <a:tab pos="476250" algn="l"/>
                <a:tab pos="1143635" algn="l"/>
              </a:tabLst>
            </a:pPr>
            <a:r>
              <a:rPr sz="1600" spc="-50" dirty="0">
                <a:latin typeface="Cambria Math"/>
                <a:cs typeface="Cambria Math"/>
              </a:rPr>
              <a:t>+</a:t>
            </a:r>
            <a:r>
              <a:rPr sz="1600" dirty="0">
                <a:latin typeface="Cambria Math"/>
                <a:cs typeface="Cambria Math"/>
              </a:rPr>
              <a:t>	</a:t>
            </a:r>
            <a:r>
              <a:rPr sz="1600" spc="-25" dirty="0">
                <a:latin typeface="Cambria Math"/>
                <a:cs typeface="Cambria Math"/>
              </a:rPr>
              <a:t>0.5</a:t>
            </a:r>
            <a:r>
              <a:rPr sz="1600" dirty="0">
                <a:latin typeface="Cambria Math"/>
                <a:cs typeface="Cambria Math"/>
              </a:rPr>
              <a:t>	</a:t>
            </a:r>
            <a:r>
              <a:rPr sz="1600" spc="-50" dirty="0">
                <a:latin typeface="Cambria Math"/>
                <a:cs typeface="Cambria Math"/>
              </a:rPr>
              <a:t>·</a:t>
            </a:r>
            <a:endParaRPr sz="1600">
              <a:latin typeface="Cambria Math"/>
              <a:cs typeface="Cambria Math"/>
            </a:endParaRPr>
          </a:p>
        </p:txBody>
      </p:sp>
      <p:sp>
        <p:nvSpPr>
          <p:cNvPr id="80" name="object 80"/>
          <p:cNvSpPr/>
          <p:nvPr/>
        </p:nvSpPr>
        <p:spPr>
          <a:xfrm>
            <a:off x="6759702" y="4592573"/>
            <a:ext cx="501650" cy="246379"/>
          </a:xfrm>
          <a:custGeom>
            <a:avLst/>
            <a:gdLst/>
            <a:ahLst/>
            <a:cxnLst/>
            <a:rect l="l" t="t" r="r" b="b"/>
            <a:pathLst>
              <a:path w="501650" h="246379">
                <a:moveTo>
                  <a:pt x="501395" y="123444"/>
                </a:moveTo>
                <a:lnTo>
                  <a:pt x="497014" y="79914"/>
                </a:lnTo>
                <a:lnTo>
                  <a:pt x="484631" y="42671"/>
                </a:lnTo>
                <a:lnTo>
                  <a:pt x="451199" y="5703"/>
                </a:lnTo>
                <a:lnTo>
                  <a:pt x="436625" y="0"/>
                </a:lnTo>
                <a:lnTo>
                  <a:pt x="434339" y="8382"/>
                </a:lnTo>
                <a:lnTo>
                  <a:pt x="445627" y="14251"/>
                </a:lnTo>
                <a:lnTo>
                  <a:pt x="455485" y="22764"/>
                </a:lnTo>
                <a:lnTo>
                  <a:pt x="476035" y="63865"/>
                </a:lnTo>
                <a:lnTo>
                  <a:pt x="482274" y="101584"/>
                </a:lnTo>
                <a:lnTo>
                  <a:pt x="483108" y="123444"/>
                </a:lnTo>
                <a:lnTo>
                  <a:pt x="483108" y="205968"/>
                </a:lnTo>
                <a:lnTo>
                  <a:pt x="484631" y="203454"/>
                </a:lnTo>
                <a:lnTo>
                  <a:pt x="491751" y="185916"/>
                </a:lnTo>
                <a:lnTo>
                  <a:pt x="497014" y="166592"/>
                </a:lnTo>
                <a:lnTo>
                  <a:pt x="500276" y="145696"/>
                </a:lnTo>
                <a:lnTo>
                  <a:pt x="501395" y="123444"/>
                </a:lnTo>
                <a:close/>
              </a:path>
              <a:path w="501650" h="246379">
                <a:moveTo>
                  <a:pt x="483108" y="205968"/>
                </a:moveTo>
                <a:lnTo>
                  <a:pt x="483108" y="123444"/>
                </a:lnTo>
                <a:lnTo>
                  <a:pt x="482274" y="144863"/>
                </a:lnTo>
                <a:lnTo>
                  <a:pt x="479869" y="164496"/>
                </a:lnTo>
                <a:lnTo>
                  <a:pt x="463915" y="212133"/>
                </a:lnTo>
                <a:lnTo>
                  <a:pt x="434339" y="237744"/>
                </a:lnTo>
                <a:lnTo>
                  <a:pt x="436625" y="246126"/>
                </a:lnTo>
                <a:lnTo>
                  <a:pt x="451199" y="240422"/>
                </a:lnTo>
                <a:lnTo>
                  <a:pt x="464058" y="231362"/>
                </a:lnTo>
                <a:lnTo>
                  <a:pt x="475202" y="219015"/>
                </a:lnTo>
                <a:lnTo>
                  <a:pt x="483108" y="205968"/>
                </a:lnTo>
                <a:close/>
              </a:path>
              <a:path w="501650" h="246379">
                <a:moveTo>
                  <a:pt x="67055" y="8382"/>
                </a:moveTo>
                <a:lnTo>
                  <a:pt x="64769" y="0"/>
                </a:lnTo>
                <a:lnTo>
                  <a:pt x="49875" y="5703"/>
                </a:lnTo>
                <a:lnTo>
                  <a:pt x="37052" y="14763"/>
                </a:lnTo>
                <a:lnTo>
                  <a:pt x="9322" y="60543"/>
                </a:lnTo>
                <a:lnTo>
                  <a:pt x="1012" y="100857"/>
                </a:lnTo>
                <a:lnTo>
                  <a:pt x="0" y="123444"/>
                </a:lnTo>
                <a:lnTo>
                  <a:pt x="1012" y="145696"/>
                </a:lnTo>
                <a:lnTo>
                  <a:pt x="4095" y="166592"/>
                </a:lnTo>
                <a:lnTo>
                  <a:pt x="9322" y="185916"/>
                </a:lnTo>
                <a:lnTo>
                  <a:pt x="16763" y="203454"/>
                </a:lnTo>
                <a:lnTo>
                  <a:pt x="18287" y="205997"/>
                </a:lnTo>
                <a:lnTo>
                  <a:pt x="18287" y="123444"/>
                </a:lnTo>
                <a:lnTo>
                  <a:pt x="19014" y="101584"/>
                </a:lnTo>
                <a:lnTo>
                  <a:pt x="25038" y="63865"/>
                </a:lnTo>
                <a:lnTo>
                  <a:pt x="45910" y="22764"/>
                </a:lnTo>
                <a:lnTo>
                  <a:pt x="55768" y="14251"/>
                </a:lnTo>
                <a:lnTo>
                  <a:pt x="67055" y="8382"/>
                </a:lnTo>
                <a:close/>
              </a:path>
              <a:path w="501650" h="246379">
                <a:moveTo>
                  <a:pt x="67055" y="237744"/>
                </a:moveTo>
                <a:lnTo>
                  <a:pt x="37480" y="212133"/>
                </a:lnTo>
                <a:lnTo>
                  <a:pt x="21240" y="164496"/>
                </a:lnTo>
                <a:lnTo>
                  <a:pt x="18287" y="123444"/>
                </a:lnTo>
                <a:lnTo>
                  <a:pt x="18287" y="205997"/>
                </a:lnTo>
                <a:lnTo>
                  <a:pt x="26086" y="219015"/>
                </a:lnTo>
                <a:lnTo>
                  <a:pt x="37052" y="231362"/>
                </a:lnTo>
                <a:lnTo>
                  <a:pt x="49875" y="240422"/>
                </a:lnTo>
                <a:lnTo>
                  <a:pt x="64769" y="246126"/>
                </a:lnTo>
                <a:lnTo>
                  <a:pt x="67055" y="237744"/>
                </a:lnTo>
                <a:close/>
              </a:path>
            </a:pathLst>
          </a:custGeom>
          <a:solidFill>
            <a:srgbClr val="0000FF"/>
          </a:solidFill>
        </p:spPr>
        <p:txBody>
          <a:bodyPr wrap="square" lIns="0" tIns="0" rIns="0" bIns="0" rtlCol="0"/>
          <a:lstStyle/>
          <a:p>
            <a:endParaRPr/>
          </a:p>
        </p:txBody>
      </p:sp>
      <p:sp>
        <p:nvSpPr>
          <p:cNvPr id="81" name="object 81"/>
          <p:cNvSpPr txBox="1"/>
          <p:nvPr/>
        </p:nvSpPr>
        <p:spPr>
          <a:xfrm>
            <a:off x="3932935" y="4470146"/>
            <a:ext cx="3306445" cy="269875"/>
          </a:xfrm>
          <a:prstGeom prst="rect">
            <a:avLst/>
          </a:prstGeom>
        </p:spPr>
        <p:txBody>
          <a:bodyPr vert="horz" wrap="square" lIns="0" tIns="12700" rIns="0" bIns="0" rtlCol="0">
            <a:spAutoFit/>
          </a:bodyPr>
          <a:lstStyle/>
          <a:p>
            <a:pPr marL="50800">
              <a:lnSpc>
                <a:spcPct val="100000"/>
              </a:lnSpc>
              <a:spcBef>
                <a:spcPts val="100"/>
              </a:spcBef>
              <a:tabLst>
                <a:tab pos="2648585" algn="l"/>
              </a:tabLst>
            </a:pPr>
            <a:r>
              <a:rPr sz="2400" baseline="-24305" dirty="0">
                <a:solidFill>
                  <a:srgbClr val="C00000"/>
                </a:solidFill>
                <a:latin typeface="Cambria Math"/>
                <a:cs typeface="Cambria Math"/>
              </a:rPr>
              <a:t>Φ</a:t>
            </a:r>
            <a:r>
              <a:rPr sz="2400" spc="525" baseline="-24305" dirty="0">
                <a:solidFill>
                  <a:srgbClr val="C00000"/>
                </a:solidFill>
                <a:latin typeface="Cambria Math"/>
                <a:cs typeface="Cambria Math"/>
              </a:rPr>
              <a:t> </a:t>
            </a:r>
            <a:r>
              <a:rPr sz="2400" spc="-30" baseline="-24305" dirty="0">
                <a:solidFill>
                  <a:srgbClr val="C00000"/>
                </a:solidFill>
                <a:latin typeface="Cambria Math"/>
                <a:cs typeface="Cambria Math"/>
              </a:rPr>
              <a:t>−</a:t>
            </a:r>
            <a:r>
              <a:rPr sz="1150" spc="-20" dirty="0">
                <a:solidFill>
                  <a:srgbClr val="C00000"/>
                </a:solidFill>
                <a:latin typeface="Cambria Math"/>
                <a:cs typeface="Cambria Math"/>
              </a:rPr>
              <a:t>0.5</a:t>
            </a:r>
            <a:r>
              <a:rPr sz="1150" dirty="0">
                <a:solidFill>
                  <a:srgbClr val="C00000"/>
                </a:solidFill>
                <a:latin typeface="Cambria Math"/>
                <a:cs typeface="Cambria Math"/>
              </a:rPr>
              <a:t>	</a:t>
            </a:r>
            <a:r>
              <a:rPr sz="2400" baseline="-24305" dirty="0">
                <a:solidFill>
                  <a:srgbClr val="0000FF"/>
                </a:solidFill>
                <a:latin typeface="Cambria Math"/>
                <a:cs typeface="Cambria Math"/>
              </a:rPr>
              <a:t>Φ</a:t>
            </a:r>
            <a:r>
              <a:rPr sz="2400" spc="525" baseline="-24305" dirty="0">
                <a:solidFill>
                  <a:srgbClr val="0000FF"/>
                </a:solidFill>
                <a:latin typeface="Cambria Math"/>
                <a:cs typeface="Cambria Math"/>
              </a:rPr>
              <a:t> </a:t>
            </a:r>
            <a:r>
              <a:rPr sz="2400" spc="-30" baseline="-24305" dirty="0">
                <a:solidFill>
                  <a:srgbClr val="0000FF"/>
                </a:solidFill>
                <a:latin typeface="Cambria Math"/>
                <a:cs typeface="Cambria Math"/>
              </a:rPr>
              <a:t>−</a:t>
            </a:r>
            <a:r>
              <a:rPr sz="1150" spc="-20" dirty="0">
                <a:solidFill>
                  <a:srgbClr val="0000FF"/>
                </a:solidFill>
                <a:latin typeface="Cambria Math"/>
                <a:cs typeface="Cambria Math"/>
              </a:rPr>
              <a:t>0.5</a:t>
            </a:r>
            <a:endParaRPr sz="1150">
              <a:latin typeface="Cambria Math"/>
              <a:cs typeface="Cambria Math"/>
            </a:endParaRPr>
          </a:p>
        </p:txBody>
      </p:sp>
      <p:sp>
        <p:nvSpPr>
          <p:cNvPr id="82" name="object 82"/>
          <p:cNvSpPr txBox="1"/>
          <p:nvPr/>
        </p:nvSpPr>
        <p:spPr>
          <a:xfrm>
            <a:off x="4425178" y="4686556"/>
            <a:ext cx="2720975" cy="203835"/>
          </a:xfrm>
          <a:prstGeom prst="rect">
            <a:avLst/>
          </a:prstGeom>
        </p:spPr>
        <p:txBody>
          <a:bodyPr vert="horz" wrap="square" lIns="0" tIns="15240" rIns="0" bIns="0" rtlCol="0">
            <a:spAutoFit/>
          </a:bodyPr>
          <a:lstStyle/>
          <a:p>
            <a:pPr marL="12700">
              <a:lnSpc>
                <a:spcPct val="100000"/>
              </a:lnSpc>
              <a:spcBef>
                <a:spcPts val="120"/>
              </a:spcBef>
              <a:tabLst>
                <a:tab pos="2610485" algn="l"/>
              </a:tabLst>
            </a:pPr>
            <a:r>
              <a:rPr sz="1150" spc="45" dirty="0">
                <a:solidFill>
                  <a:srgbClr val="C00000"/>
                </a:solidFill>
                <a:latin typeface="Cambria Math"/>
                <a:cs typeface="Cambria Math"/>
              </a:rPr>
              <a:t>σ</a:t>
            </a:r>
            <a:r>
              <a:rPr sz="1150" dirty="0">
                <a:solidFill>
                  <a:srgbClr val="C00000"/>
                </a:solidFill>
                <a:latin typeface="Cambria Math"/>
                <a:cs typeface="Cambria Math"/>
              </a:rPr>
              <a:t>	</a:t>
            </a:r>
            <a:r>
              <a:rPr sz="1150" spc="45" dirty="0">
                <a:solidFill>
                  <a:srgbClr val="0000FF"/>
                </a:solidFill>
                <a:latin typeface="Cambria Math"/>
                <a:cs typeface="Cambria Math"/>
              </a:rPr>
              <a:t>σ</a:t>
            </a:r>
            <a:endParaRPr sz="1150">
              <a:latin typeface="Cambria Math"/>
              <a:cs typeface="Cambria Math"/>
            </a:endParaRPr>
          </a:p>
        </p:txBody>
      </p:sp>
      <p:sp>
        <p:nvSpPr>
          <p:cNvPr id="83" name="object 83"/>
          <p:cNvSpPr/>
          <p:nvPr/>
        </p:nvSpPr>
        <p:spPr>
          <a:xfrm>
            <a:off x="6985254" y="4726685"/>
            <a:ext cx="201930" cy="10160"/>
          </a:xfrm>
          <a:custGeom>
            <a:avLst/>
            <a:gdLst/>
            <a:ahLst/>
            <a:cxnLst/>
            <a:rect l="l" t="t" r="r" b="b"/>
            <a:pathLst>
              <a:path w="201929" h="10160">
                <a:moveTo>
                  <a:pt x="201929" y="9905"/>
                </a:moveTo>
                <a:lnTo>
                  <a:pt x="201929" y="0"/>
                </a:lnTo>
                <a:lnTo>
                  <a:pt x="0" y="0"/>
                </a:lnTo>
                <a:lnTo>
                  <a:pt x="0" y="9905"/>
                </a:lnTo>
                <a:lnTo>
                  <a:pt x="201929" y="9905"/>
                </a:lnTo>
                <a:close/>
              </a:path>
            </a:pathLst>
          </a:custGeom>
          <a:solidFill>
            <a:srgbClr val="0000FF"/>
          </a:solidFill>
        </p:spPr>
        <p:txBody>
          <a:bodyPr wrap="square" lIns="0" tIns="0" rIns="0" bIns="0" rtlCol="0"/>
          <a:lstStyle/>
          <a:p>
            <a:endParaRPr/>
          </a:p>
        </p:txBody>
      </p:sp>
      <p:sp>
        <p:nvSpPr>
          <p:cNvPr id="84" name="object 84"/>
          <p:cNvSpPr/>
          <p:nvPr/>
        </p:nvSpPr>
        <p:spPr>
          <a:xfrm>
            <a:off x="1434846" y="4985765"/>
            <a:ext cx="873760" cy="189230"/>
          </a:xfrm>
          <a:custGeom>
            <a:avLst/>
            <a:gdLst/>
            <a:ahLst/>
            <a:cxnLst/>
            <a:rect l="l" t="t" r="r" b="b"/>
            <a:pathLst>
              <a:path w="873760" h="189229">
                <a:moveTo>
                  <a:pt x="873251" y="94488"/>
                </a:moveTo>
                <a:lnTo>
                  <a:pt x="864250" y="46803"/>
                </a:lnTo>
                <a:lnTo>
                  <a:pt x="838581" y="12477"/>
                </a:lnTo>
                <a:lnTo>
                  <a:pt x="813054" y="0"/>
                </a:lnTo>
                <a:lnTo>
                  <a:pt x="810005" y="8382"/>
                </a:lnTo>
                <a:lnTo>
                  <a:pt x="821162" y="12811"/>
                </a:lnTo>
                <a:lnTo>
                  <a:pt x="830675" y="19240"/>
                </a:lnTo>
                <a:lnTo>
                  <a:pt x="852963" y="63055"/>
                </a:lnTo>
                <a:lnTo>
                  <a:pt x="855726" y="93726"/>
                </a:lnTo>
                <a:lnTo>
                  <a:pt x="855726" y="158284"/>
                </a:lnTo>
                <a:lnTo>
                  <a:pt x="857250" y="156210"/>
                </a:lnTo>
                <a:lnTo>
                  <a:pt x="864250" y="142601"/>
                </a:lnTo>
                <a:lnTo>
                  <a:pt x="869251" y="127920"/>
                </a:lnTo>
                <a:lnTo>
                  <a:pt x="872251" y="111954"/>
                </a:lnTo>
                <a:lnTo>
                  <a:pt x="873251" y="94488"/>
                </a:lnTo>
                <a:close/>
              </a:path>
              <a:path w="873760" h="189229">
                <a:moveTo>
                  <a:pt x="855726" y="158284"/>
                </a:moveTo>
                <a:lnTo>
                  <a:pt x="855726" y="93726"/>
                </a:lnTo>
                <a:lnTo>
                  <a:pt x="855011" y="110156"/>
                </a:lnTo>
                <a:lnTo>
                  <a:pt x="852868" y="125158"/>
                </a:lnTo>
                <a:lnTo>
                  <a:pt x="838307" y="161317"/>
                </a:lnTo>
                <a:lnTo>
                  <a:pt x="810768" y="181356"/>
                </a:lnTo>
                <a:lnTo>
                  <a:pt x="813054" y="188976"/>
                </a:lnTo>
                <a:lnTo>
                  <a:pt x="826603" y="183963"/>
                </a:lnTo>
                <a:lnTo>
                  <a:pt x="838616" y="176847"/>
                </a:lnTo>
                <a:lnTo>
                  <a:pt x="848844" y="167651"/>
                </a:lnTo>
                <a:lnTo>
                  <a:pt x="855726" y="158284"/>
                </a:lnTo>
                <a:close/>
              </a:path>
              <a:path w="873760" h="189229">
                <a:moveTo>
                  <a:pt x="62483" y="8382"/>
                </a:moveTo>
                <a:lnTo>
                  <a:pt x="60197" y="0"/>
                </a:lnTo>
                <a:lnTo>
                  <a:pt x="46315" y="5131"/>
                </a:lnTo>
                <a:lnTo>
                  <a:pt x="34289" y="12477"/>
                </a:lnTo>
                <a:lnTo>
                  <a:pt x="8679" y="46803"/>
                </a:lnTo>
                <a:lnTo>
                  <a:pt x="0" y="94488"/>
                </a:lnTo>
                <a:lnTo>
                  <a:pt x="988" y="111954"/>
                </a:lnTo>
                <a:lnTo>
                  <a:pt x="3905" y="127920"/>
                </a:lnTo>
                <a:lnTo>
                  <a:pt x="8679" y="142601"/>
                </a:lnTo>
                <a:lnTo>
                  <a:pt x="15239" y="156210"/>
                </a:lnTo>
                <a:lnTo>
                  <a:pt x="16763" y="158205"/>
                </a:lnTo>
                <a:lnTo>
                  <a:pt x="16763" y="93726"/>
                </a:lnTo>
                <a:lnTo>
                  <a:pt x="17478" y="77747"/>
                </a:lnTo>
                <a:lnTo>
                  <a:pt x="28193" y="38100"/>
                </a:lnTo>
                <a:lnTo>
                  <a:pt x="51768" y="12811"/>
                </a:lnTo>
                <a:lnTo>
                  <a:pt x="62483" y="8382"/>
                </a:lnTo>
                <a:close/>
              </a:path>
              <a:path w="873760" h="189229">
                <a:moveTo>
                  <a:pt x="62483" y="181356"/>
                </a:moveTo>
                <a:lnTo>
                  <a:pt x="28193" y="150876"/>
                </a:lnTo>
                <a:lnTo>
                  <a:pt x="17478" y="110156"/>
                </a:lnTo>
                <a:lnTo>
                  <a:pt x="16763" y="93726"/>
                </a:lnTo>
                <a:lnTo>
                  <a:pt x="16763" y="158205"/>
                </a:lnTo>
                <a:lnTo>
                  <a:pt x="23979" y="167651"/>
                </a:lnTo>
                <a:lnTo>
                  <a:pt x="34289" y="176879"/>
                </a:lnTo>
                <a:lnTo>
                  <a:pt x="46315" y="183963"/>
                </a:lnTo>
                <a:lnTo>
                  <a:pt x="60197" y="188976"/>
                </a:lnTo>
                <a:lnTo>
                  <a:pt x="62483" y="181356"/>
                </a:lnTo>
                <a:close/>
              </a:path>
            </a:pathLst>
          </a:custGeom>
          <a:solidFill>
            <a:srgbClr val="0000FF"/>
          </a:solidFill>
        </p:spPr>
        <p:txBody>
          <a:bodyPr wrap="square" lIns="0" tIns="0" rIns="0" bIns="0" rtlCol="0"/>
          <a:lstStyle/>
          <a:p>
            <a:endParaRPr/>
          </a:p>
        </p:txBody>
      </p:sp>
      <p:sp>
        <p:nvSpPr>
          <p:cNvPr id="85" name="object 85"/>
          <p:cNvSpPr txBox="1"/>
          <p:nvPr/>
        </p:nvSpPr>
        <p:spPr>
          <a:xfrm>
            <a:off x="1289553" y="4922010"/>
            <a:ext cx="965200" cy="26987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FF"/>
                </a:solidFill>
                <a:latin typeface="Cambria Math"/>
                <a:cs typeface="Cambria Math"/>
              </a:rPr>
              <a:t>𝑝</a:t>
            </a:r>
            <a:r>
              <a:rPr sz="1600" spc="300" dirty="0">
                <a:solidFill>
                  <a:srgbClr val="0000FF"/>
                </a:solidFill>
                <a:latin typeface="Cambria Math"/>
                <a:cs typeface="Cambria Math"/>
              </a:rPr>
              <a:t> </a:t>
            </a:r>
            <a:r>
              <a:rPr sz="1600" dirty="0">
                <a:solidFill>
                  <a:srgbClr val="0000FF"/>
                </a:solidFill>
                <a:latin typeface="Cambria Math"/>
                <a:cs typeface="Cambria Math"/>
              </a:rPr>
              <a:t>bit</a:t>
            </a:r>
            <a:r>
              <a:rPr sz="1600" spc="-5" dirty="0">
                <a:solidFill>
                  <a:srgbClr val="0000FF"/>
                </a:solidFill>
                <a:latin typeface="Cambria Math"/>
                <a:cs typeface="Cambria Math"/>
              </a:rPr>
              <a:t> </a:t>
            </a:r>
            <a:r>
              <a:rPr sz="1600" spc="-20" dirty="0">
                <a:solidFill>
                  <a:srgbClr val="0000FF"/>
                </a:solidFill>
                <a:latin typeface="Cambria Math"/>
                <a:cs typeface="Cambria Math"/>
              </a:rPr>
              <a:t>error</a:t>
            </a:r>
            <a:endParaRPr sz="1600">
              <a:latin typeface="Cambria Math"/>
              <a:cs typeface="Cambria Math"/>
            </a:endParaRPr>
          </a:p>
        </p:txBody>
      </p:sp>
      <p:sp>
        <p:nvSpPr>
          <p:cNvPr id="86" name="object 86"/>
          <p:cNvSpPr/>
          <p:nvPr/>
        </p:nvSpPr>
        <p:spPr>
          <a:xfrm>
            <a:off x="2769107" y="4957571"/>
            <a:ext cx="501650" cy="246379"/>
          </a:xfrm>
          <a:custGeom>
            <a:avLst/>
            <a:gdLst/>
            <a:ahLst/>
            <a:cxnLst/>
            <a:rect l="l" t="t" r="r" b="b"/>
            <a:pathLst>
              <a:path w="501650" h="246379">
                <a:moveTo>
                  <a:pt x="501395" y="123444"/>
                </a:moveTo>
                <a:lnTo>
                  <a:pt x="497014" y="79914"/>
                </a:lnTo>
                <a:lnTo>
                  <a:pt x="484631" y="42671"/>
                </a:lnTo>
                <a:lnTo>
                  <a:pt x="451199" y="5703"/>
                </a:lnTo>
                <a:lnTo>
                  <a:pt x="436625" y="0"/>
                </a:lnTo>
                <a:lnTo>
                  <a:pt x="434339" y="8382"/>
                </a:lnTo>
                <a:lnTo>
                  <a:pt x="445627" y="14251"/>
                </a:lnTo>
                <a:lnTo>
                  <a:pt x="455485" y="22764"/>
                </a:lnTo>
                <a:lnTo>
                  <a:pt x="476035" y="63865"/>
                </a:lnTo>
                <a:lnTo>
                  <a:pt x="482274" y="101584"/>
                </a:lnTo>
                <a:lnTo>
                  <a:pt x="483108" y="123444"/>
                </a:lnTo>
                <a:lnTo>
                  <a:pt x="483108" y="205968"/>
                </a:lnTo>
                <a:lnTo>
                  <a:pt x="484631" y="203454"/>
                </a:lnTo>
                <a:lnTo>
                  <a:pt x="491751" y="185916"/>
                </a:lnTo>
                <a:lnTo>
                  <a:pt x="497014" y="166592"/>
                </a:lnTo>
                <a:lnTo>
                  <a:pt x="500276" y="145696"/>
                </a:lnTo>
                <a:lnTo>
                  <a:pt x="501395" y="123444"/>
                </a:lnTo>
                <a:close/>
              </a:path>
              <a:path w="501650" h="246379">
                <a:moveTo>
                  <a:pt x="483108" y="205968"/>
                </a:moveTo>
                <a:lnTo>
                  <a:pt x="483108" y="123444"/>
                </a:lnTo>
                <a:lnTo>
                  <a:pt x="482274" y="144863"/>
                </a:lnTo>
                <a:lnTo>
                  <a:pt x="479869" y="164496"/>
                </a:lnTo>
                <a:lnTo>
                  <a:pt x="463915" y="212133"/>
                </a:lnTo>
                <a:lnTo>
                  <a:pt x="434339" y="237744"/>
                </a:lnTo>
                <a:lnTo>
                  <a:pt x="436625" y="246126"/>
                </a:lnTo>
                <a:lnTo>
                  <a:pt x="451199" y="240422"/>
                </a:lnTo>
                <a:lnTo>
                  <a:pt x="464058" y="231362"/>
                </a:lnTo>
                <a:lnTo>
                  <a:pt x="475202" y="219015"/>
                </a:lnTo>
                <a:lnTo>
                  <a:pt x="483108" y="205968"/>
                </a:lnTo>
                <a:close/>
              </a:path>
              <a:path w="501650" h="246379">
                <a:moveTo>
                  <a:pt x="67055" y="8382"/>
                </a:moveTo>
                <a:lnTo>
                  <a:pt x="64769" y="0"/>
                </a:lnTo>
                <a:lnTo>
                  <a:pt x="49875" y="5703"/>
                </a:lnTo>
                <a:lnTo>
                  <a:pt x="37052" y="14763"/>
                </a:lnTo>
                <a:lnTo>
                  <a:pt x="9322" y="60543"/>
                </a:lnTo>
                <a:lnTo>
                  <a:pt x="1012" y="100857"/>
                </a:lnTo>
                <a:lnTo>
                  <a:pt x="0" y="123444"/>
                </a:lnTo>
                <a:lnTo>
                  <a:pt x="1012" y="145696"/>
                </a:lnTo>
                <a:lnTo>
                  <a:pt x="4095" y="166592"/>
                </a:lnTo>
                <a:lnTo>
                  <a:pt x="9322" y="185916"/>
                </a:lnTo>
                <a:lnTo>
                  <a:pt x="16763" y="203454"/>
                </a:lnTo>
                <a:lnTo>
                  <a:pt x="18287" y="205997"/>
                </a:lnTo>
                <a:lnTo>
                  <a:pt x="18287" y="123444"/>
                </a:lnTo>
                <a:lnTo>
                  <a:pt x="19014" y="101584"/>
                </a:lnTo>
                <a:lnTo>
                  <a:pt x="25038" y="63865"/>
                </a:lnTo>
                <a:lnTo>
                  <a:pt x="45910" y="22764"/>
                </a:lnTo>
                <a:lnTo>
                  <a:pt x="55768" y="14251"/>
                </a:lnTo>
                <a:lnTo>
                  <a:pt x="67055" y="8382"/>
                </a:lnTo>
                <a:close/>
              </a:path>
              <a:path w="501650" h="246379">
                <a:moveTo>
                  <a:pt x="67055" y="237744"/>
                </a:moveTo>
                <a:lnTo>
                  <a:pt x="37480" y="212133"/>
                </a:lnTo>
                <a:lnTo>
                  <a:pt x="21240" y="164496"/>
                </a:lnTo>
                <a:lnTo>
                  <a:pt x="18287" y="123444"/>
                </a:lnTo>
                <a:lnTo>
                  <a:pt x="18287" y="205997"/>
                </a:lnTo>
                <a:lnTo>
                  <a:pt x="26086" y="219015"/>
                </a:lnTo>
                <a:lnTo>
                  <a:pt x="37052" y="231362"/>
                </a:lnTo>
                <a:lnTo>
                  <a:pt x="49875" y="240422"/>
                </a:lnTo>
                <a:lnTo>
                  <a:pt x="64769" y="246126"/>
                </a:lnTo>
                <a:lnTo>
                  <a:pt x="67055" y="237744"/>
                </a:lnTo>
                <a:close/>
              </a:path>
            </a:pathLst>
          </a:custGeom>
          <a:solidFill>
            <a:srgbClr val="000000"/>
          </a:solidFill>
        </p:spPr>
        <p:txBody>
          <a:bodyPr wrap="square" lIns="0" tIns="0" rIns="0" bIns="0" rtlCol="0"/>
          <a:lstStyle/>
          <a:p>
            <a:endParaRPr/>
          </a:p>
        </p:txBody>
      </p:sp>
      <p:sp>
        <p:nvSpPr>
          <p:cNvPr id="87" name="object 87"/>
          <p:cNvSpPr txBox="1"/>
          <p:nvPr/>
        </p:nvSpPr>
        <p:spPr>
          <a:xfrm>
            <a:off x="2343903" y="4835144"/>
            <a:ext cx="892175" cy="269875"/>
          </a:xfrm>
          <a:prstGeom prst="rect">
            <a:avLst/>
          </a:prstGeom>
        </p:spPr>
        <p:txBody>
          <a:bodyPr vert="horz" wrap="square" lIns="0" tIns="12700" rIns="0" bIns="0" rtlCol="0">
            <a:spAutoFit/>
          </a:bodyPr>
          <a:lstStyle/>
          <a:p>
            <a:pPr marL="38100">
              <a:lnSpc>
                <a:spcPct val="100000"/>
              </a:lnSpc>
              <a:spcBef>
                <a:spcPts val="100"/>
              </a:spcBef>
            </a:pPr>
            <a:r>
              <a:rPr sz="2400" spc="127" baseline="-24305" dirty="0">
                <a:latin typeface="Cambria Math"/>
                <a:cs typeface="Cambria Math"/>
              </a:rPr>
              <a:t>=</a:t>
            </a:r>
            <a:r>
              <a:rPr sz="2400" spc="-7" baseline="-24305" dirty="0">
                <a:latin typeface="Cambria Math"/>
                <a:cs typeface="Cambria Math"/>
              </a:rPr>
              <a:t> </a:t>
            </a:r>
            <a:r>
              <a:rPr sz="2400" baseline="-24305" dirty="0">
                <a:latin typeface="Cambria Math"/>
                <a:cs typeface="Cambria Math"/>
              </a:rPr>
              <a:t>Φ</a:t>
            </a:r>
            <a:r>
              <a:rPr sz="2400" spc="540" baseline="-24305" dirty="0">
                <a:latin typeface="Cambria Math"/>
                <a:cs typeface="Cambria Math"/>
              </a:rPr>
              <a:t> </a:t>
            </a:r>
            <a:r>
              <a:rPr sz="2400" spc="-30" baseline="-24305" dirty="0">
                <a:latin typeface="Cambria Math"/>
                <a:cs typeface="Cambria Math"/>
              </a:rPr>
              <a:t>−</a:t>
            </a:r>
            <a:r>
              <a:rPr sz="1150" spc="-20" dirty="0">
                <a:latin typeface="Cambria Math"/>
                <a:cs typeface="Cambria Math"/>
              </a:rPr>
              <a:t>0.5</a:t>
            </a:r>
            <a:endParaRPr sz="1150">
              <a:latin typeface="Cambria Math"/>
              <a:cs typeface="Cambria Math"/>
            </a:endParaRPr>
          </a:p>
        </p:txBody>
      </p:sp>
      <p:sp>
        <p:nvSpPr>
          <p:cNvPr id="88" name="object 88"/>
          <p:cNvSpPr txBox="1"/>
          <p:nvPr/>
        </p:nvSpPr>
        <p:spPr>
          <a:xfrm>
            <a:off x="3033004" y="5051554"/>
            <a:ext cx="122555" cy="203835"/>
          </a:xfrm>
          <a:prstGeom prst="rect">
            <a:avLst/>
          </a:prstGeom>
        </p:spPr>
        <p:txBody>
          <a:bodyPr vert="horz" wrap="square" lIns="0" tIns="15240" rIns="0" bIns="0" rtlCol="0">
            <a:spAutoFit/>
          </a:bodyPr>
          <a:lstStyle/>
          <a:p>
            <a:pPr marL="12700">
              <a:lnSpc>
                <a:spcPct val="100000"/>
              </a:lnSpc>
              <a:spcBef>
                <a:spcPts val="120"/>
              </a:spcBef>
            </a:pPr>
            <a:r>
              <a:rPr sz="1150" spc="45" dirty="0">
                <a:latin typeface="Cambria Math"/>
                <a:cs typeface="Cambria Math"/>
              </a:rPr>
              <a:t>σ</a:t>
            </a:r>
            <a:endParaRPr sz="1150">
              <a:latin typeface="Cambria Math"/>
              <a:cs typeface="Cambria Math"/>
            </a:endParaRPr>
          </a:p>
        </p:txBody>
      </p:sp>
      <p:sp>
        <p:nvSpPr>
          <p:cNvPr id="89" name="object 89"/>
          <p:cNvSpPr/>
          <p:nvPr/>
        </p:nvSpPr>
        <p:spPr>
          <a:xfrm>
            <a:off x="2994660" y="5091684"/>
            <a:ext cx="201930" cy="10160"/>
          </a:xfrm>
          <a:custGeom>
            <a:avLst/>
            <a:gdLst/>
            <a:ahLst/>
            <a:cxnLst/>
            <a:rect l="l" t="t" r="r" b="b"/>
            <a:pathLst>
              <a:path w="201930" h="10160">
                <a:moveTo>
                  <a:pt x="201930" y="9905"/>
                </a:moveTo>
                <a:lnTo>
                  <a:pt x="201930" y="0"/>
                </a:lnTo>
                <a:lnTo>
                  <a:pt x="0" y="0"/>
                </a:lnTo>
                <a:lnTo>
                  <a:pt x="0" y="9905"/>
                </a:lnTo>
                <a:lnTo>
                  <a:pt x="201930" y="9905"/>
                </a:lnTo>
                <a:close/>
              </a:path>
            </a:pathLst>
          </a:custGeom>
          <a:solidFill>
            <a:srgbClr val="000000"/>
          </a:solidFill>
        </p:spPr>
        <p:txBody>
          <a:bodyPr wrap="square" lIns="0" tIns="0" rIns="0" bIns="0" rtlCol="0"/>
          <a:lstStyle/>
          <a:p>
            <a:endParaRPr/>
          </a:p>
        </p:txBody>
      </p:sp>
      <p:sp>
        <p:nvSpPr>
          <p:cNvPr id="90" name="object 90"/>
          <p:cNvSpPr txBox="1"/>
          <p:nvPr/>
        </p:nvSpPr>
        <p:spPr>
          <a:xfrm>
            <a:off x="10044176" y="1532636"/>
            <a:ext cx="164465" cy="269875"/>
          </a:xfrm>
          <a:prstGeom prst="rect">
            <a:avLst/>
          </a:prstGeom>
        </p:spPr>
        <p:txBody>
          <a:bodyPr vert="horz" wrap="square" lIns="0" tIns="12700" rIns="0" bIns="0" rtlCol="0">
            <a:spAutoFit/>
          </a:bodyPr>
          <a:lstStyle/>
          <a:p>
            <a:pPr marL="12700">
              <a:lnSpc>
                <a:spcPct val="100000"/>
              </a:lnSpc>
              <a:spcBef>
                <a:spcPts val="100"/>
              </a:spcBef>
            </a:pPr>
            <a:r>
              <a:rPr sz="1600" i="1" spc="-50" dirty="0">
                <a:latin typeface="Verdana"/>
                <a:cs typeface="Verdana"/>
              </a:rPr>
              <a:t>V</a:t>
            </a:r>
            <a:endParaRPr sz="1600">
              <a:latin typeface="Verdana"/>
              <a:cs typeface="Verdana"/>
            </a:endParaRPr>
          </a:p>
        </p:txBody>
      </p:sp>
      <p:sp>
        <p:nvSpPr>
          <p:cNvPr id="91" name="object 91"/>
          <p:cNvSpPr txBox="1"/>
          <p:nvPr/>
        </p:nvSpPr>
        <p:spPr>
          <a:xfrm>
            <a:off x="10182859" y="1650746"/>
            <a:ext cx="313055" cy="188595"/>
          </a:xfrm>
          <a:prstGeom prst="rect">
            <a:avLst/>
          </a:prstGeom>
        </p:spPr>
        <p:txBody>
          <a:bodyPr vert="horz" wrap="square" lIns="0" tIns="14604" rIns="0" bIns="0" rtlCol="0">
            <a:spAutoFit/>
          </a:bodyPr>
          <a:lstStyle/>
          <a:p>
            <a:pPr marL="12700">
              <a:lnSpc>
                <a:spcPct val="100000"/>
              </a:lnSpc>
              <a:spcBef>
                <a:spcPts val="114"/>
              </a:spcBef>
            </a:pPr>
            <a:r>
              <a:rPr sz="1050" spc="-25" dirty="0">
                <a:latin typeface="Verdana"/>
                <a:cs typeface="Verdana"/>
              </a:rPr>
              <a:t>DTH</a:t>
            </a:r>
            <a:endParaRPr sz="1050">
              <a:latin typeface="Verdana"/>
              <a:cs typeface="Verdana"/>
            </a:endParaRPr>
          </a:p>
        </p:txBody>
      </p:sp>
      <p:sp>
        <p:nvSpPr>
          <p:cNvPr id="92" name="object 92"/>
          <p:cNvSpPr txBox="1"/>
          <p:nvPr/>
        </p:nvSpPr>
        <p:spPr>
          <a:xfrm>
            <a:off x="8848343" y="4172203"/>
            <a:ext cx="502284" cy="269875"/>
          </a:xfrm>
          <a:prstGeom prst="rect">
            <a:avLst/>
          </a:prstGeom>
        </p:spPr>
        <p:txBody>
          <a:bodyPr vert="horz" wrap="square" lIns="0" tIns="12700" rIns="0" bIns="0" rtlCol="0">
            <a:spAutoFit/>
          </a:bodyPr>
          <a:lstStyle/>
          <a:p>
            <a:pPr marL="38100">
              <a:lnSpc>
                <a:spcPct val="100000"/>
              </a:lnSpc>
              <a:spcBef>
                <a:spcPts val="100"/>
              </a:spcBef>
            </a:pPr>
            <a:r>
              <a:rPr sz="2400" i="1" spc="-30" baseline="13888" dirty="0">
                <a:latin typeface="Verdana"/>
                <a:cs typeface="Verdana"/>
              </a:rPr>
              <a:t>V</a:t>
            </a:r>
            <a:r>
              <a:rPr sz="1050" spc="-20" dirty="0">
                <a:latin typeface="Verdana"/>
                <a:cs typeface="Verdana"/>
              </a:rPr>
              <a:t>DTH</a:t>
            </a:r>
            <a:endParaRPr sz="1050">
              <a:latin typeface="Verdana"/>
              <a:cs typeface="Verdana"/>
            </a:endParaRPr>
          </a:p>
        </p:txBody>
      </p:sp>
      <p:sp>
        <p:nvSpPr>
          <p:cNvPr id="93" name="object 93"/>
          <p:cNvSpPr/>
          <p:nvPr/>
        </p:nvSpPr>
        <p:spPr>
          <a:xfrm>
            <a:off x="9093708" y="4437888"/>
            <a:ext cx="13335" cy="238125"/>
          </a:xfrm>
          <a:custGeom>
            <a:avLst/>
            <a:gdLst/>
            <a:ahLst/>
            <a:cxnLst/>
            <a:rect l="l" t="t" r="r" b="b"/>
            <a:pathLst>
              <a:path w="13334" h="238125">
                <a:moveTo>
                  <a:pt x="9906" y="0"/>
                </a:moveTo>
                <a:lnTo>
                  <a:pt x="0" y="0"/>
                </a:lnTo>
                <a:lnTo>
                  <a:pt x="762" y="38100"/>
                </a:lnTo>
                <a:lnTo>
                  <a:pt x="9906" y="38100"/>
                </a:lnTo>
                <a:lnTo>
                  <a:pt x="9906" y="0"/>
                </a:lnTo>
                <a:close/>
              </a:path>
              <a:path w="13334" h="238125">
                <a:moveTo>
                  <a:pt x="11430" y="104394"/>
                </a:moveTo>
                <a:lnTo>
                  <a:pt x="10668" y="66294"/>
                </a:lnTo>
                <a:lnTo>
                  <a:pt x="762" y="66294"/>
                </a:lnTo>
                <a:lnTo>
                  <a:pt x="1524" y="104394"/>
                </a:lnTo>
                <a:lnTo>
                  <a:pt x="11430" y="104394"/>
                </a:lnTo>
                <a:close/>
              </a:path>
              <a:path w="13334" h="238125">
                <a:moveTo>
                  <a:pt x="12192" y="171450"/>
                </a:moveTo>
                <a:lnTo>
                  <a:pt x="11430" y="133350"/>
                </a:lnTo>
                <a:lnTo>
                  <a:pt x="2286" y="133350"/>
                </a:lnTo>
                <a:lnTo>
                  <a:pt x="2286" y="171450"/>
                </a:lnTo>
                <a:lnTo>
                  <a:pt x="12192" y="171450"/>
                </a:lnTo>
                <a:close/>
              </a:path>
              <a:path w="13334" h="238125">
                <a:moveTo>
                  <a:pt x="12954" y="237744"/>
                </a:moveTo>
                <a:lnTo>
                  <a:pt x="12192" y="199644"/>
                </a:lnTo>
                <a:lnTo>
                  <a:pt x="3048" y="199644"/>
                </a:lnTo>
                <a:lnTo>
                  <a:pt x="3810" y="237744"/>
                </a:lnTo>
                <a:lnTo>
                  <a:pt x="12954" y="237744"/>
                </a:lnTo>
                <a:close/>
              </a:path>
            </a:pathLst>
          </a:custGeom>
          <a:solidFill>
            <a:srgbClr val="000000"/>
          </a:solidFill>
        </p:spPr>
        <p:txBody>
          <a:bodyPr wrap="square" lIns="0" tIns="0" rIns="0" bIns="0" rtlCol="0"/>
          <a:lstStyle/>
          <a:p>
            <a:endParaRPr/>
          </a:p>
        </p:txBody>
      </p:sp>
      <p:sp>
        <p:nvSpPr>
          <p:cNvPr id="94" name="object 94"/>
          <p:cNvSpPr/>
          <p:nvPr/>
        </p:nvSpPr>
        <p:spPr>
          <a:xfrm>
            <a:off x="10630661" y="1125474"/>
            <a:ext cx="638175" cy="336550"/>
          </a:xfrm>
          <a:custGeom>
            <a:avLst/>
            <a:gdLst/>
            <a:ahLst/>
            <a:cxnLst/>
            <a:rect l="l" t="t" r="r" b="b"/>
            <a:pathLst>
              <a:path w="638175" h="336550">
                <a:moveTo>
                  <a:pt x="637793" y="168402"/>
                </a:moveTo>
                <a:lnTo>
                  <a:pt x="632745" y="111442"/>
                </a:lnTo>
                <a:lnTo>
                  <a:pt x="617981" y="62484"/>
                </a:lnTo>
                <a:lnTo>
                  <a:pt x="595121" y="24098"/>
                </a:lnTo>
                <a:lnTo>
                  <a:pt x="565403" y="0"/>
                </a:lnTo>
                <a:lnTo>
                  <a:pt x="562355" y="8382"/>
                </a:lnTo>
                <a:lnTo>
                  <a:pt x="574786" y="18514"/>
                </a:lnTo>
                <a:lnTo>
                  <a:pt x="585787" y="31718"/>
                </a:lnTo>
                <a:lnTo>
                  <a:pt x="603503" y="67056"/>
                </a:lnTo>
                <a:lnTo>
                  <a:pt x="614838" y="113442"/>
                </a:lnTo>
                <a:lnTo>
                  <a:pt x="618743" y="168402"/>
                </a:lnTo>
                <a:lnTo>
                  <a:pt x="618743" y="271446"/>
                </a:lnTo>
                <a:lnTo>
                  <a:pt x="626542" y="249840"/>
                </a:lnTo>
                <a:lnTo>
                  <a:pt x="632745" y="224408"/>
                </a:lnTo>
                <a:lnTo>
                  <a:pt x="636520" y="197262"/>
                </a:lnTo>
                <a:lnTo>
                  <a:pt x="637793" y="168402"/>
                </a:lnTo>
                <a:close/>
              </a:path>
              <a:path w="638175" h="336550">
                <a:moveTo>
                  <a:pt x="618743" y="271446"/>
                </a:moveTo>
                <a:lnTo>
                  <a:pt x="618743" y="168402"/>
                </a:lnTo>
                <a:lnTo>
                  <a:pt x="617755" y="196536"/>
                </a:lnTo>
                <a:lnTo>
                  <a:pt x="614838" y="222599"/>
                </a:lnTo>
                <a:lnTo>
                  <a:pt x="603503" y="268224"/>
                </a:lnTo>
                <a:lnTo>
                  <a:pt x="585787" y="304228"/>
                </a:lnTo>
                <a:lnTo>
                  <a:pt x="562355" y="327660"/>
                </a:lnTo>
                <a:lnTo>
                  <a:pt x="565403" y="336042"/>
                </a:lnTo>
                <a:lnTo>
                  <a:pt x="581120" y="325743"/>
                </a:lnTo>
                <a:lnTo>
                  <a:pt x="595121" y="311943"/>
                </a:lnTo>
                <a:lnTo>
                  <a:pt x="607409" y="294572"/>
                </a:lnTo>
                <a:lnTo>
                  <a:pt x="617981" y="273558"/>
                </a:lnTo>
                <a:lnTo>
                  <a:pt x="618743" y="271446"/>
                </a:lnTo>
                <a:close/>
              </a:path>
              <a:path w="638175" h="336550">
                <a:moveTo>
                  <a:pt x="75437" y="8382"/>
                </a:moveTo>
                <a:lnTo>
                  <a:pt x="30384" y="41469"/>
                </a:lnTo>
                <a:lnTo>
                  <a:pt x="10929" y="85891"/>
                </a:lnTo>
                <a:lnTo>
                  <a:pt x="1166" y="138993"/>
                </a:lnTo>
                <a:lnTo>
                  <a:pt x="0" y="168402"/>
                </a:lnTo>
                <a:lnTo>
                  <a:pt x="1166" y="197262"/>
                </a:lnTo>
                <a:lnTo>
                  <a:pt x="4762" y="224408"/>
                </a:lnTo>
                <a:lnTo>
                  <a:pt x="10929" y="249840"/>
                </a:lnTo>
                <a:lnTo>
                  <a:pt x="19049" y="271523"/>
                </a:lnTo>
                <a:lnTo>
                  <a:pt x="19049" y="168402"/>
                </a:lnTo>
                <a:lnTo>
                  <a:pt x="19931" y="139815"/>
                </a:lnTo>
                <a:lnTo>
                  <a:pt x="27408" y="89213"/>
                </a:lnTo>
                <a:lnTo>
                  <a:pt x="42433" y="47922"/>
                </a:lnTo>
                <a:lnTo>
                  <a:pt x="63007" y="18514"/>
                </a:lnTo>
                <a:lnTo>
                  <a:pt x="75437" y="8382"/>
                </a:lnTo>
                <a:close/>
              </a:path>
              <a:path w="638175" h="336550">
                <a:moveTo>
                  <a:pt x="75437" y="327660"/>
                </a:moveTo>
                <a:lnTo>
                  <a:pt x="42112" y="287797"/>
                </a:lnTo>
                <a:lnTo>
                  <a:pt x="27086" y="246518"/>
                </a:lnTo>
                <a:lnTo>
                  <a:pt x="19919" y="196536"/>
                </a:lnTo>
                <a:lnTo>
                  <a:pt x="19049" y="168402"/>
                </a:lnTo>
                <a:lnTo>
                  <a:pt x="19049" y="271523"/>
                </a:lnTo>
                <a:lnTo>
                  <a:pt x="42671" y="311943"/>
                </a:lnTo>
                <a:lnTo>
                  <a:pt x="72389" y="336042"/>
                </a:lnTo>
                <a:lnTo>
                  <a:pt x="75437" y="327660"/>
                </a:lnTo>
                <a:close/>
              </a:path>
            </a:pathLst>
          </a:custGeom>
          <a:solidFill>
            <a:srgbClr val="000000"/>
          </a:solidFill>
        </p:spPr>
        <p:txBody>
          <a:bodyPr wrap="square" lIns="0" tIns="0" rIns="0" bIns="0" rtlCol="0"/>
          <a:lstStyle/>
          <a:p>
            <a:endParaRPr/>
          </a:p>
        </p:txBody>
      </p:sp>
      <p:sp>
        <p:nvSpPr>
          <p:cNvPr id="95" name="object 95"/>
          <p:cNvSpPr txBox="1"/>
          <p:nvPr/>
        </p:nvSpPr>
        <p:spPr>
          <a:xfrm>
            <a:off x="10380726" y="980948"/>
            <a:ext cx="838835" cy="269875"/>
          </a:xfrm>
          <a:prstGeom prst="rect">
            <a:avLst/>
          </a:prstGeom>
        </p:spPr>
        <p:txBody>
          <a:bodyPr vert="horz" wrap="square" lIns="0" tIns="12700" rIns="0" bIns="0" rtlCol="0">
            <a:spAutoFit/>
          </a:bodyPr>
          <a:lstStyle/>
          <a:p>
            <a:pPr marL="38100">
              <a:lnSpc>
                <a:spcPct val="100000"/>
              </a:lnSpc>
              <a:spcBef>
                <a:spcPts val="100"/>
              </a:spcBef>
              <a:tabLst>
                <a:tab pos="332105" algn="l"/>
              </a:tabLst>
            </a:pPr>
            <a:r>
              <a:rPr sz="2400" spc="-75" baseline="-41666" dirty="0">
                <a:latin typeface="Cambria Math"/>
                <a:cs typeface="Cambria Math"/>
              </a:rPr>
              <a:t>Φ</a:t>
            </a:r>
            <a:r>
              <a:rPr sz="2400" baseline="-41666" dirty="0">
                <a:latin typeface="Cambria Math"/>
                <a:cs typeface="Cambria Math"/>
              </a:rPr>
              <a:t>	</a:t>
            </a:r>
            <a:r>
              <a:rPr sz="1600" dirty="0">
                <a:latin typeface="Cambria Math"/>
                <a:cs typeface="Cambria Math"/>
              </a:rPr>
              <a:t>𝑥</a:t>
            </a:r>
            <a:r>
              <a:rPr sz="1600" spc="-155" dirty="0">
                <a:latin typeface="Cambria Math"/>
                <a:cs typeface="Cambria Math"/>
              </a:rPr>
              <a:t> </a:t>
            </a:r>
            <a:r>
              <a:rPr sz="1600" dirty="0">
                <a:latin typeface="Cambria Math"/>
                <a:cs typeface="Cambria Math"/>
              </a:rPr>
              <a:t>−</a:t>
            </a:r>
            <a:r>
              <a:rPr sz="1600" spc="-15" dirty="0">
                <a:latin typeface="Cambria Math"/>
                <a:cs typeface="Cambria Math"/>
              </a:rPr>
              <a:t> </a:t>
            </a:r>
            <a:r>
              <a:rPr sz="1600" spc="-50" dirty="0">
                <a:latin typeface="Cambria Math"/>
                <a:cs typeface="Cambria Math"/>
              </a:rPr>
              <a:t>𝜇</a:t>
            </a:r>
            <a:endParaRPr sz="1600">
              <a:latin typeface="Cambria Math"/>
              <a:cs typeface="Cambria Math"/>
            </a:endParaRPr>
          </a:p>
        </p:txBody>
      </p:sp>
      <p:sp>
        <p:nvSpPr>
          <p:cNvPr id="96" name="object 96"/>
          <p:cNvSpPr txBox="1"/>
          <p:nvPr/>
        </p:nvSpPr>
        <p:spPr>
          <a:xfrm>
            <a:off x="10874760" y="1271276"/>
            <a:ext cx="144780" cy="269875"/>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ambria Math"/>
                <a:cs typeface="Cambria Math"/>
              </a:rPr>
              <a:t>𝜎</a:t>
            </a:r>
            <a:endParaRPr sz="1600">
              <a:latin typeface="Cambria Math"/>
              <a:cs typeface="Cambria Math"/>
            </a:endParaRPr>
          </a:p>
        </p:txBody>
      </p:sp>
      <p:sp>
        <p:nvSpPr>
          <p:cNvPr id="97" name="object 97"/>
          <p:cNvSpPr/>
          <p:nvPr/>
        </p:nvSpPr>
        <p:spPr>
          <a:xfrm>
            <a:off x="10712957" y="1287017"/>
            <a:ext cx="473709" cy="13335"/>
          </a:xfrm>
          <a:custGeom>
            <a:avLst/>
            <a:gdLst/>
            <a:ahLst/>
            <a:cxnLst/>
            <a:rect l="l" t="t" r="r" b="b"/>
            <a:pathLst>
              <a:path w="473709" h="13334">
                <a:moveTo>
                  <a:pt x="0" y="12954"/>
                </a:moveTo>
                <a:lnTo>
                  <a:pt x="0" y="0"/>
                </a:lnTo>
                <a:lnTo>
                  <a:pt x="473201" y="0"/>
                </a:lnTo>
                <a:lnTo>
                  <a:pt x="473201" y="12954"/>
                </a:lnTo>
                <a:lnTo>
                  <a:pt x="0" y="12954"/>
                </a:lnTo>
                <a:close/>
              </a:path>
            </a:pathLst>
          </a:custGeom>
          <a:solidFill>
            <a:srgbClr val="000000"/>
          </a:solidFill>
        </p:spPr>
        <p:txBody>
          <a:bodyPr wrap="square" lIns="0" tIns="0" rIns="0" bIns="0" rtlCol="0"/>
          <a:lstStyle/>
          <a:p>
            <a:endParaRPr/>
          </a:p>
        </p:txBody>
      </p:sp>
      <p:sp>
        <p:nvSpPr>
          <p:cNvPr id="98" name="object 98"/>
          <p:cNvSpPr txBox="1"/>
          <p:nvPr/>
        </p:nvSpPr>
        <p:spPr>
          <a:xfrm>
            <a:off x="11329669" y="1134872"/>
            <a:ext cx="621030"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Cambria Math"/>
                <a:cs typeface="Cambria Math"/>
              </a:rPr>
              <a:t>≡</a:t>
            </a:r>
            <a:r>
              <a:rPr sz="1600" spc="80" dirty="0">
                <a:latin typeface="Cambria Math"/>
                <a:cs typeface="Cambria Math"/>
              </a:rPr>
              <a:t> </a:t>
            </a:r>
            <a:r>
              <a:rPr sz="1600" spc="-25" dirty="0">
                <a:latin typeface="Cambria Math"/>
                <a:cs typeface="Cambria Math"/>
              </a:rPr>
              <a:t>𝐶𝐷𝐹</a:t>
            </a:r>
            <a:endParaRPr sz="1600">
              <a:latin typeface="Cambria Math"/>
              <a:cs typeface="Cambria Math"/>
            </a:endParaRPr>
          </a:p>
        </p:txBody>
      </p:sp>
      <p:sp>
        <p:nvSpPr>
          <p:cNvPr id="99" name="object 99"/>
          <p:cNvSpPr txBox="1"/>
          <p:nvPr/>
        </p:nvSpPr>
        <p:spPr>
          <a:xfrm>
            <a:off x="7952485" y="5707860"/>
            <a:ext cx="492759" cy="293370"/>
          </a:xfrm>
          <a:prstGeom prst="rect">
            <a:avLst/>
          </a:prstGeom>
        </p:spPr>
        <p:txBody>
          <a:bodyPr vert="horz" wrap="square" lIns="0" tIns="43815" rIns="0" bIns="0" rtlCol="0">
            <a:spAutoFit/>
          </a:bodyPr>
          <a:lstStyle/>
          <a:p>
            <a:pPr marL="12700">
              <a:lnSpc>
                <a:spcPct val="100000"/>
              </a:lnSpc>
              <a:spcBef>
                <a:spcPts val="345"/>
              </a:spcBef>
            </a:pPr>
            <a:r>
              <a:rPr sz="2400" baseline="10416" dirty="0">
                <a:solidFill>
                  <a:srgbClr val="0000FF"/>
                </a:solidFill>
                <a:latin typeface="Cambria Math"/>
                <a:cs typeface="Cambria Math"/>
              </a:rPr>
              <a:t>𝑝</a:t>
            </a:r>
            <a:r>
              <a:rPr sz="1150" dirty="0">
                <a:solidFill>
                  <a:srgbClr val="0000FF"/>
                </a:solidFill>
                <a:latin typeface="Cambria Math"/>
                <a:cs typeface="Cambria Math"/>
              </a:rPr>
              <a:t>𝑒𝑟𝑟</a:t>
            </a:r>
            <a:r>
              <a:rPr sz="1150" spc="145" dirty="0">
                <a:solidFill>
                  <a:srgbClr val="0000FF"/>
                </a:solidFill>
                <a:latin typeface="Cambria Math"/>
                <a:cs typeface="Cambria Math"/>
              </a:rPr>
              <a:t> </a:t>
            </a:r>
            <a:r>
              <a:rPr sz="1150" spc="-50" dirty="0">
                <a:solidFill>
                  <a:srgbClr val="0000FF"/>
                </a:solidFill>
                <a:latin typeface="Cambria Math"/>
                <a:cs typeface="Cambria Math"/>
              </a:rPr>
              <a:t>1</a:t>
            </a:r>
            <a:endParaRPr sz="1150">
              <a:latin typeface="Cambria Math"/>
              <a:cs typeface="Cambria Math"/>
            </a:endParaRPr>
          </a:p>
        </p:txBody>
      </p:sp>
      <p:sp>
        <p:nvSpPr>
          <p:cNvPr id="100" name="object 100"/>
          <p:cNvSpPr txBox="1"/>
          <p:nvPr/>
        </p:nvSpPr>
        <p:spPr>
          <a:xfrm>
            <a:off x="8512556" y="5707860"/>
            <a:ext cx="1237615" cy="264160"/>
          </a:xfrm>
          <a:prstGeom prst="rect">
            <a:avLst/>
          </a:prstGeom>
        </p:spPr>
        <p:txBody>
          <a:bodyPr vert="horz" wrap="square" lIns="0" tIns="2540" rIns="0" bIns="0" rtlCol="0">
            <a:spAutoFit/>
          </a:bodyPr>
          <a:lstStyle/>
          <a:p>
            <a:pPr marL="12700">
              <a:lnSpc>
                <a:spcPct val="100000"/>
              </a:lnSpc>
              <a:spcBef>
                <a:spcPts val="20"/>
              </a:spcBef>
              <a:tabLst>
                <a:tab pos="798830" algn="l"/>
              </a:tabLst>
            </a:pPr>
            <a:r>
              <a:rPr sz="1600" dirty="0">
                <a:solidFill>
                  <a:srgbClr val="0000FF"/>
                </a:solidFill>
                <a:latin typeface="Cambria Math"/>
                <a:cs typeface="Cambria Math"/>
              </a:rPr>
              <a:t>𝑥</a:t>
            </a:r>
            <a:r>
              <a:rPr sz="1600" spc="-110" dirty="0">
                <a:solidFill>
                  <a:srgbClr val="0000FF"/>
                </a:solidFill>
                <a:latin typeface="Cambria Math"/>
                <a:cs typeface="Cambria Math"/>
              </a:rPr>
              <a:t> </a:t>
            </a:r>
            <a:r>
              <a:rPr sz="1600" dirty="0">
                <a:solidFill>
                  <a:srgbClr val="0000FF"/>
                </a:solidFill>
                <a:latin typeface="Cambria Math"/>
                <a:cs typeface="Cambria Math"/>
              </a:rPr>
              <a:t>≤</a:t>
            </a:r>
            <a:r>
              <a:rPr sz="1600" spc="90" dirty="0">
                <a:solidFill>
                  <a:srgbClr val="0000FF"/>
                </a:solidFill>
                <a:latin typeface="Cambria Math"/>
                <a:cs typeface="Cambria Math"/>
              </a:rPr>
              <a:t> </a:t>
            </a:r>
            <a:r>
              <a:rPr sz="1600" spc="-25" dirty="0">
                <a:solidFill>
                  <a:srgbClr val="0000FF"/>
                </a:solidFill>
                <a:latin typeface="Cambria Math"/>
                <a:cs typeface="Cambria Math"/>
              </a:rPr>
              <a:t>0.5</a:t>
            </a:r>
            <a:r>
              <a:rPr sz="1600" dirty="0">
                <a:solidFill>
                  <a:srgbClr val="0000FF"/>
                </a:solidFill>
                <a:latin typeface="Cambria Math"/>
                <a:cs typeface="Cambria Math"/>
              </a:rPr>
              <a:t>	</a:t>
            </a:r>
            <a:r>
              <a:rPr sz="1600" spc="75" dirty="0">
                <a:solidFill>
                  <a:srgbClr val="0000FF"/>
                </a:solidFill>
                <a:latin typeface="Cambria Math"/>
                <a:cs typeface="Cambria Math"/>
              </a:rPr>
              <a:t>=</a:t>
            </a:r>
            <a:r>
              <a:rPr sz="1600" dirty="0">
                <a:solidFill>
                  <a:srgbClr val="0000FF"/>
                </a:solidFill>
                <a:latin typeface="Cambria Math"/>
                <a:cs typeface="Cambria Math"/>
              </a:rPr>
              <a:t> </a:t>
            </a:r>
            <a:r>
              <a:rPr sz="1600" spc="-50" dirty="0">
                <a:solidFill>
                  <a:srgbClr val="0000FF"/>
                </a:solidFill>
                <a:latin typeface="Cambria Math"/>
                <a:cs typeface="Cambria Math"/>
              </a:rPr>
              <a:t>Φ </a:t>
            </a:r>
            <a:endParaRPr sz="1600">
              <a:latin typeface="Cambria Math"/>
              <a:cs typeface="Cambria Math"/>
            </a:endParaRPr>
          </a:p>
        </p:txBody>
      </p:sp>
      <p:sp>
        <p:nvSpPr>
          <p:cNvPr id="101" name="object 101"/>
          <p:cNvSpPr txBox="1"/>
          <p:nvPr/>
        </p:nvSpPr>
        <p:spPr>
          <a:xfrm>
            <a:off x="10613390" y="5707860"/>
            <a:ext cx="697230" cy="264160"/>
          </a:xfrm>
          <a:prstGeom prst="rect">
            <a:avLst/>
          </a:prstGeom>
        </p:spPr>
        <p:txBody>
          <a:bodyPr vert="horz" wrap="square" lIns="0" tIns="2540" rIns="0" bIns="0" rtlCol="0">
            <a:spAutoFit/>
          </a:bodyPr>
          <a:lstStyle/>
          <a:p>
            <a:pPr marL="12700">
              <a:lnSpc>
                <a:spcPct val="100000"/>
              </a:lnSpc>
              <a:spcBef>
                <a:spcPts val="20"/>
              </a:spcBef>
              <a:tabLst>
                <a:tab pos="532130" algn="l"/>
              </a:tabLst>
            </a:pPr>
            <a:r>
              <a:rPr sz="1600" spc="75" dirty="0">
                <a:solidFill>
                  <a:srgbClr val="0000FF"/>
                </a:solidFill>
                <a:latin typeface="Cambria Math"/>
                <a:cs typeface="Cambria Math"/>
              </a:rPr>
              <a:t>=</a:t>
            </a:r>
            <a:r>
              <a:rPr sz="1600" dirty="0">
                <a:solidFill>
                  <a:srgbClr val="0000FF"/>
                </a:solidFill>
                <a:latin typeface="Cambria Math"/>
                <a:cs typeface="Cambria Math"/>
              </a:rPr>
              <a:t> </a:t>
            </a:r>
            <a:r>
              <a:rPr sz="1600" spc="-50" dirty="0">
                <a:solidFill>
                  <a:srgbClr val="0000FF"/>
                </a:solidFill>
                <a:latin typeface="Cambria Math"/>
                <a:cs typeface="Cambria Math"/>
              </a:rPr>
              <a:t>Φ</a:t>
            </a:r>
            <a:r>
              <a:rPr sz="1600" dirty="0">
                <a:solidFill>
                  <a:srgbClr val="0000FF"/>
                </a:solidFill>
                <a:latin typeface="Cambria Math"/>
                <a:cs typeface="Cambria Math"/>
              </a:rPr>
              <a:t>	</a:t>
            </a:r>
            <a:r>
              <a:rPr sz="1600" spc="-50" dirty="0">
                <a:solidFill>
                  <a:srgbClr val="0000FF"/>
                </a:solidFill>
                <a:latin typeface="Cambria Math"/>
                <a:cs typeface="Cambria Math"/>
              </a:rPr>
              <a:t>−</a:t>
            </a:r>
            <a:endParaRPr sz="1600">
              <a:latin typeface="Cambria Math"/>
              <a:cs typeface="Cambria Math"/>
            </a:endParaRPr>
          </a:p>
        </p:txBody>
      </p:sp>
      <p:sp>
        <p:nvSpPr>
          <p:cNvPr id="102" name="object 102"/>
          <p:cNvSpPr txBox="1"/>
          <p:nvPr/>
        </p:nvSpPr>
        <p:spPr>
          <a:xfrm>
            <a:off x="1304797" y="5715903"/>
            <a:ext cx="3498850" cy="396240"/>
          </a:xfrm>
          <a:prstGeom prst="rect">
            <a:avLst/>
          </a:prstGeom>
        </p:spPr>
        <p:txBody>
          <a:bodyPr vert="horz" wrap="square" lIns="0" tIns="13970" rIns="0" bIns="0" rtlCol="0">
            <a:spAutoFit/>
          </a:bodyPr>
          <a:lstStyle/>
          <a:p>
            <a:pPr marL="12700">
              <a:lnSpc>
                <a:spcPct val="100000"/>
              </a:lnSpc>
              <a:spcBef>
                <a:spcPts val="110"/>
              </a:spcBef>
            </a:pPr>
            <a:r>
              <a:rPr sz="2400" dirty="0">
                <a:latin typeface="Verdana"/>
                <a:cs typeface="Verdana"/>
              </a:rPr>
              <a:t>minimize</a:t>
            </a:r>
            <a:r>
              <a:rPr sz="2400" spc="-35" dirty="0">
                <a:latin typeface="Verdana"/>
                <a:cs typeface="Verdana"/>
              </a:rPr>
              <a:t> </a:t>
            </a:r>
            <a:r>
              <a:rPr sz="2400" dirty="0">
                <a:latin typeface="Verdana"/>
                <a:cs typeface="Verdana"/>
              </a:rPr>
              <a:t>noise</a:t>
            </a:r>
            <a:r>
              <a:rPr sz="2400" spc="-35" dirty="0">
                <a:latin typeface="Verdana"/>
                <a:cs typeface="Verdana"/>
              </a:rPr>
              <a:t> </a:t>
            </a:r>
            <a:r>
              <a:rPr sz="2400" dirty="0">
                <a:latin typeface="Verdana"/>
                <a:cs typeface="Verdana"/>
              </a:rPr>
              <a:t>&amp;</a:t>
            </a:r>
            <a:r>
              <a:rPr sz="2400" spc="-55" dirty="0">
                <a:latin typeface="Verdana"/>
                <a:cs typeface="Verdana"/>
              </a:rPr>
              <a:t> </a:t>
            </a:r>
            <a:r>
              <a:rPr sz="2400" spc="-10" dirty="0">
                <a:latin typeface="Verdana"/>
                <a:cs typeface="Verdana"/>
              </a:rPr>
              <a:t>jitter</a:t>
            </a:r>
            <a:endParaRPr sz="2400">
              <a:latin typeface="Verdana"/>
              <a:cs typeface="Verdana"/>
            </a:endParaRPr>
          </a:p>
        </p:txBody>
      </p:sp>
      <p:sp>
        <p:nvSpPr>
          <p:cNvPr id="103" name="object 103"/>
          <p:cNvSpPr txBox="1"/>
          <p:nvPr/>
        </p:nvSpPr>
        <p:spPr>
          <a:xfrm>
            <a:off x="10067021" y="5844265"/>
            <a:ext cx="144780" cy="264160"/>
          </a:xfrm>
          <a:prstGeom prst="rect">
            <a:avLst/>
          </a:prstGeom>
        </p:spPr>
        <p:txBody>
          <a:bodyPr vert="horz" wrap="square" lIns="0" tIns="2540" rIns="0" bIns="0" rtlCol="0">
            <a:spAutoFit/>
          </a:bodyPr>
          <a:lstStyle/>
          <a:p>
            <a:pPr marL="12700">
              <a:lnSpc>
                <a:spcPct val="100000"/>
              </a:lnSpc>
              <a:spcBef>
                <a:spcPts val="20"/>
              </a:spcBef>
            </a:pPr>
            <a:r>
              <a:rPr sz="1600" spc="-50" dirty="0">
                <a:solidFill>
                  <a:srgbClr val="0000FF"/>
                </a:solidFill>
                <a:latin typeface="Cambria Math"/>
                <a:cs typeface="Cambria Math"/>
              </a:rPr>
              <a:t>𝜎</a:t>
            </a:r>
            <a:endParaRPr sz="1600">
              <a:latin typeface="Cambria Math"/>
              <a:cs typeface="Cambria Math"/>
            </a:endParaRPr>
          </a:p>
        </p:txBody>
      </p:sp>
      <p:sp>
        <p:nvSpPr>
          <p:cNvPr id="104" name="object 104"/>
          <p:cNvSpPr txBox="1"/>
          <p:nvPr/>
        </p:nvSpPr>
        <p:spPr>
          <a:xfrm>
            <a:off x="11389873" y="5844256"/>
            <a:ext cx="144780" cy="264160"/>
          </a:xfrm>
          <a:prstGeom prst="rect">
            <a:avLst/>
          </a:prstGeom>
        </p:spPr>
        <p:txBody>
          <a:bodyPr vert="horz" wrap="square" lIns="0" tIns="2540" rIns="0" bIns="0" rtlCol="0">
            <a:spAutoFit/>
          </a:bodyPr>
          <a:lstStyle/>
          <a:p>
            <a:pPr marL="12700">
              <a:lnSpc>
                <a:spcPct val="100000"/>
              </a:lnSpc>
              <a:spcBef>
                <a:spcPts val="20"/>
              </a:spcBef>
            </a:pPr>
            <a:r>
              <a:rPr sz="1600" spc="-50" dirty="0">
                <a:solidFill>
                  <a:srgbClr val="0000FF"/>
                </a:solidFill>
                <a:latin typeface="Cambria Math"/>
                <a:cs typeface="Cambria Math"/>
              </a:rPr>
              <a:t>𝜎</a:t>
            </a:r>
            <a:endParaRPr sz="1600">
              <a:latin typeface="Cambria Math"/>
              <a:cs typeface="Cambria Math"/>
            </a:endParaRPr>
          </a:p>
        </p:txBody>
      </p:sp>
      <p:sp>
        <p:nvSpPr>
          <p:cNvPr id="105" name="Slide Number Placeholder 104"/>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24</a:t>
            </a:fld>
            <a:endParaRPr lang="en-US" spc="-50" dirty="0"/>
          </a:p>
        </p:txBody>
      </p:sp>
      <p:sp>
        <p:nvSpPr>
          <p:cNvPr id="106" name="Date Placeholder 105"/>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07" name="Footer Placeholder 106"/>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199468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object 2"/>
          <p:cNvGrpSpPr/>
          <p:nvPr/>
        </p:nvGrpSpPr>
        <p:grpSpPr>
          <a:xfrm>
            <a:off x="5800153" y="2621279"/>
            <a:ext cx="3201670" cy="1900555"/>
            <a:chOff x="5800153" y="2621279"/>
            <a:chExt cx="3201670" cy="1900555"/>
          </a:xfrm>
        </p:grpSpPr>
        <p:sp>
          <p:nvSpPr>
            <p:cNvPr id="3" name="object 3"/>
            <p:cNvSpPr/>
            <p:nvPr/>
          </p:nvSpPr>
          <p:spPr>
            <a:xfrm>
              <a:off x="6256781" y="3033035"/>
              <a:ext cx="811530" cy="1353185"/>
            </a:xfrm>
            <a:custGeom>
              <a:avLst/>
              <a:gdLst/>
              <a:ahLst/>
              <a:cxnLst/>
              <a:rect l="l" t="t" r="r" b="b"/>
              <a:pathLst>
                <a:path w="811529" h="1353185">
                  <a:moveTo>
                    <a:pt x="0" y="5820"/>
                  </a:moveTo>
                  <a:lnTo>
                    <a:pt x="48017" y="5318"/>
                  </a:lnTo>
                  <a:lnTo>
                    <a:pt x="99366" y="3016"/>
                  </a:lnTo>
                  <a:lnTo>
                    <a:pt x="152155" y="662"/>
                  </a:lnTo>
                  <a:lnTo>
                    <a:pt x="204491" y="0"/>
                  </a:lnTo>
                  <a:lnTo>
                    <a:pt x="254481" y="2776"/>
                  </a:lnTo>
                  <a:lnTo>
                    <a:pt x="300232" y="10739"/>
                  </a:lnTo>
                  <a:lnTo>
                    <a:pt x="339851" y="25632"/>
                  </a:lnTo>
                  <a:lnTo>
                    <a:pt x="376999" y="53445"/>
                  </a:lnTo>
                  <a:lnTo>
                    <a:pt x="405574" y="90402"/>
                  </a:lnTo>
                  <a:lnTo>
                    <a:pt x="428148" y="133646"/>
                  </a:lnTo>
                  <a:lnTo>
                    <a:pt x="447293" y="180318"/>
                  </a:lnTo>
                  <a:lnTo>
                    <a:pt x="466183" y="229416"/>
                  </a:lnTo>
                  <a:lnTo>
                    <a:pt x="484479" y="278848"/>
                  </a:lnTo>
                  <a:lnTo>
                    <a:pt x="502226" y="328581"/>
                  </a:lnTo>
                  <a:lnTo>
                    <a:pt x="519470" y="378584"/>
                  </a:lnTo>
                  <a:lnTo>
                    <a:pt x="536257" y="428825"/>
                  </a:lnTo>
                  <a:lnTo>
                    <a:pt x="552632" y="479272"/>
                  </a:lnTo>
                  <a:lnTo>
                    <a:pt x="568642" y="529892"/>
                  </a:lnTo>
                  <a:lnTo>
                    <a:pt x="584332" y="580655"/>
                  </a:lnTo>
                  <a:lnTo>
                    <a:pt x="599747" y="631526"/>
                  </a:lnTo>
                  <a:lnTo>
                    <a:pt x="614934" y="682476"/>
                  </a:lnTo>
                  <a:lnTo>
                    <a:pt x="629084" y="730178"/>
                  </a:lnTo>
                  <a:lnTo>
                    <a:pt x="643139" y="777924"/>
                  </a:lnTo>
                  <a:lnTo>
                    <a:pt x="657116" y="825709"/>
                  </a:lnTo>
                  <a:lnTo>
                    <a:pt x="671037" y="873531"/>
                  </a:lnTo>
                  <a:lnTo>
                    <a:pt x="684921" y="921387"/>
                  </a:lnTo>
                  <a:lnTo>
                    <a:pt x="698789" y="969272"/>
                  </a:lnTo>
                  <a:lnTo>
                    <a:pt x="712660" y="1017185"/>
                  </a:lnTo>
                  <a:lnTo>
                    <a:pt x="726554" y="1065120"/>
                  </a:lnTo>
                  <a:lnTo>
                    <a:pt x="740492" y="1113075"/>
                  </a:lnTo>
                  <a:lnTo>
                    <a:pt x="754493" y="1161048"/>
                  </a:lnTo>
                  <a:lnTo>
                    <a:pt x="768577" y="1209033"/>
                  </a:lnTo>
                  <a:lnTo>
                    <a:pt x="782765" y="1257028"/>
                  </a:lnTo>
                  <a:lnTo>
                    <a:pt x="797075" y="1305031"/>
                  </a:lnTo>
                  <a:lnTo>
                    <a:pt x="811529" y="1353036"/>
                  </a:lnTo>
                </a:path>
              </a:pathLst>
            </a:custGeom>
            <a:ln w="23672">
              <a:solidFill>
                <a:srgbClr val="FF0000"/>
              </a:solidFill>
              <a:prstDash val="dot"/>
            </a:ln>
          </p:spPr>
          <p:txBody>
            <a:bodyPr wrap="square" lIns="0" tIns="0" rIns="0" bIns="0" rtlCol="0"/>
            <a:lstStyle/>
            <a:p>
              <a:endParaRPr/>
            </a:p>
          </p:txBody>
        </p:sp>
        <p:sp>
          <p:nvSpPr>
            <p:cNvPr id="4" name="object 4"/>
            <p:cNvSpPr/>
            <p:nvPr/>
          </p:nvSpPr>
          <p:spPr>
            <a:xfrm>
              <a:off x="5804915" y="2871977"/>
              <a:ext cx="622300" cy="311785"/>
            </a:xfrm>
            <a:custGeom>
              <a:avLst/>
              <a:gdLst/>
              <a:ahLst/>
              <a:cxnLst/>
              <a:rect l="l" t="t" r="r" b="b"/>
              <a:pathLst>
                <a:path w="622300" h="311785">
                  <a:moveTo>
                    <a:pt x="0" y="0"/>
                  </a:moveTo>
                  <a:lnTo>
                    <a:pt x="0" y="311658"/>
                  </a:lnTo>
                  <a:lnTo>
                    <a:pt x="621792" y="311658"/>
                  </a:lnTo>
                  <a:lnTo>
                    <a:pt x="621792" y="0"/>
                  </a:lnTo>
                  <a:lnTo>
                    <a:pt x="0" y="0"/>
                  </a:lnTo>
                  <a:close/>
                </a:path>
              </a:pathLst>
            </a:custGeom>
            <a:ln w="9499">
              <a:solidFill>
                <a:srgbClr val="FFFFFF"/>
              </a:solidFill>
            </a:ln>
          </p:spPr>
          <p:txBody>
            <a:bodyPr wrap="square" lIns="0" tIns="0" rIns="0" bIns="0" rtlCol="0"/>
            <a:lstStyle/>
            <a:p>
              <a:endParaRPr/>
            </a:p>
          </p:txBody>
        </p:sp>
        <p:sp>
          <p:nvSpPr>
            <p:cNvPr id="5" name="object 5"/>
            <p:cNvSpPr/>
            <p:nvPr/>
          </p:nvSpPr>
          <p:spPr>
            <a:xfrm>
              <a:off x="6456425" y="2795777"/>
              <a:ext cx="0" cy="1713864"/>
            </a:xfrm>
            <a:custGeom>
              <a:avLst/>
              <a:gdLst/>
              <a:ahLst/>
              <a:cxnLst/>
              <a:rect l="l" t="t" r="r" b="b"/>
              <a:pathLst>
                <a:path h="1713864">
                  <a:moveTo>
                    <a:pt x="0" y="0"/>
                  </a:moveTo>
                  <a:lnTo>
                    <a:pt x="0" y="1713738"/>
                  </a:lnTo>
                </a:path>
              </a:pathLst>
            </a:custGeom>
            <a:ln w="23647">
              <a:solidFill>
                <a:srgbClr val="000000"/>
              </a:solidFill>
            </a:ln>
          </p:spPr>
          <p:txBody>
            <a:bodyPr wrap="square" lIns="0" tIns="0" rIns="0" bIns="0" rtlCol="0"/>
            <a:lstStyle/>
            <a:p>
              <a:endParaRPr/>
            </a:p>
          </p:txBody>
        </p:sp>
        <p:sp>
          <p:nvSpPr>
            <p:cNvPr id="6" name="object 6"/>
            <p:cNvSpPr/>
            <p:nvPr/>
          </p:nvSpPr>
          <p:spPr>
            <a:xfrm>
              <a:off x="6393179" y="2621279"/>
              <a:ext cx="127635" cy="189865"/>
            </a:xfrm>
            <a:custGeom>
              <a:avLst/>
              <a:gdLst/>
              <a:ahLst/>
              <a:cxnLst/>
              <a:rect l="l" t="t" r="r" b="b"/>
              <a:pathLst>
                <a:path w="127634" h="189864">
                  <a:moveTo>
                    <a:pt x="127254" y="189737"/>
                  </a:moveTo>
                  <a:lnTo>
                    <a:pt x="63245" y="0"/>
                  </a:lnTo>
                  <a:lnTo>
                    <a:pt x="0" y="189737"/>
                  </a:lnTo>
                  <a:lnTo>
                    <a:pt x="127254" y="189737"/>
                  </a:lnTo>
                  <a:close/>
                </a:path>
              </a:pathLst>
            </a:custGeom>
            <a:solidFill>
              <a:srgbClr val="000000"/>
            </a:solidFill>
          </p:spPr>
          <p:txBody>
            <a:bodyPr wrap="square" lIns="0" tIns="0" rIns="0" bIns="0" rtlCol="0"/>
            <a:lstStyle/>
            <a:p>
              <a:endParaRPr/>
            </a:p>
          </p:txBody>
        </p:sp>
        <p:sp>
          <p:nvSpPr>
            <p:cNvPr id="7" name="object 7"/>
            <p:cNvSpPr/>
            <p:nvPr/>
          </p:nvSpPr>
          <p:spPr>
            <a:xfrm>
              <a:off x="6226301" y="4319777"/>
              <a:ext cx="2600325" cy="0"/>
            </a:xfrm>
            <a:custGeom>
              <a:avLst/>
              <a:gdLst/>
              <a:ahLst/>
              <a:cxnLst/>
              <a:rect l="l" t="t" r="r" b="b"/>
              <a:pathLst>
                <a:path w="2600325">
                  <a:moveTo>
                    <a:pt x="2599944" y="0"/>
                  </a:moveTo>
                  <a:lnTo>
                    <a:pt x="0" y="0"/>
                  </a:lnTo>
                </a:path>
              </a:pathLst>
            </a:custGeom>
            <a:ln w="23736">
              <a:solidFill>
                <a:srgbClr val="000000"/>
              </a:solidFill>
            </a:ln>
          </p:spPr>
          <p:txBody>
            <a:bodyPr wrap="square" lIns="0" tIns="0" rIns="0" bIns="0" rtlCol="0"/>
            <a:lstStyle/>
            <a:p>
              <a:endParaRPr/>
            </a:p>
          </p:txBody>
        </p:sp>
        <p:sp>
          <p:nvSpPr>
            <p:cNvPr id="8" name="object 8"/>
            <p:cNvSpPr/>
            <p:nvPr/>
          </p:nvSpPr>
          <p:spPr>
            <a:xfrm>
              <a:off x="8810243" y="4256531"/>
              <a:ext cx="191770" cy="127000"/>
            </a:xfrm>
            <a:custGeom>
              <a:avLst/>
              <a:gdLst/>
              <a:ahLst/>
              <a:cxnLst/>
              <a:rect l="l" t="t" r="r" b="b"/>
              <a:pathLst>
                <a:path w="191770" h="127000">
                  <a:moveTo>
                    <a:pt x="191262" y="63245"/>
                  </a:moveTo>
                  <a:lnTo>
                    <a:pt x="0" y="0"/>
                  </a:lnTo>
                  <a:lnTo>
                    <a:pt x="0" y="126491"/>
                  </a:lnTo>
                  <a:lnTo>
                    <a:pt x="191262" y="63245"/>
                  </a:lnTo>
                  <a:close/>
                </a:path>
              </a:pathLst>
            </a:custGeom>
            <a:solidFill>
              <a:srgbClr val="000000"/>
            </a:solidFill>
          </p:spPr>
          <p:txBody>
            <a:bodyPr wrap="square" lIns="0" tIns="0" rIns="0" bIns="0" rtlCol="0"/>
            <a:lstStyle/>
            <a:p>
              <a:endParaRPr/>
            </a:p>
          </p:txBody>
        </p:sp>
        <p:sp>
          <p:nvSpPr>
            <p:cNvPr id="9" name="object 9"/>
            <p:cNvSpPr/>
            <p:nvPr/>
          </p:nvSpPr>
          <p:spPr>
            <a:xfrm>
              <a:off x="6673595"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10" name="object 10"/>
            <p:cNvSpPr/>
            <p:nvPr/>
          </p:nvSpPr>
          <p:spPr>
            <a:xfrm>
              <a:off x="8558021"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11" name="object 11"/>
            <p:cNvSpPr/>
            <p:nvPr/>
          </p:nvSpPr>
          <p:spPr>
            <a:xfrm>
              <a:off x="6780275" y="4456175"/>
              <a:ext cx="1671955" cy="0"/>
            </a:xfrm>
            <a:custGeom>
              <a:avLst/>
              <a:gdLst/>
              <a:ahLst/>
              <a:cxnLst/>
              <a:rect l="l" t="t" r="r" b="b"/>
              <a:pathLst>
                <a:path w="1671954">
                  <a:moveTo>
                    <a:pt x="0" y="0"/>
                  </a:moveTo>
                  <a:lnTo>
                    <a:pt x="1671827" y="0"/>
                  </a:lnTo>
                </a:path>
              </a:pathLst>
            </a:custGeom>
            <a:ln w="15824">
              <a:solidFill>
                <a:srgbClr val="000000"/>
              </a:solidFill>
            </a:ln>
          </p:spPr>
          <p:txBody>
            <a:bodyPr wrap="square" lIns="0" tIns="0" rIns="0" bIns="0" rtlCol="0"/>
            <a:lstStyle/>
            <a:p>
              <a:endParaRPr/>
            </a:p>
          </p:txBody>
        </p:sp>
        <p:sp>
          <p:nvSpPr>
            <p:cNvPr id="12" name="object 12"/>
            <p:cNvSpPr/>
            <p:nvPr/>
          </p:nvSpPr>
          <p:spPr>
            <a:xfrm>
              <a:off x="6673596" y="4418075"/>
              <a:ext cx="1884680" cy="77470"/>
            </a:xfrm>
            <a:custGeom>
              <a:avLst/>
              <a:gdLst/>
              <a:ahLst/>
              <a:cxnLst/>
              <a:rect l="l" t="t" r="r" b="b"/>
              <a:pathLst>
                <a:path w="1884679" h="77470">
                  <a:moveTo>
                    <a:pt x="115824" y="0"/>
                  </a:moveTo>
                  <a:lnTo>
                    <a:pt x="0" y="38100"/>
                  </a:lnTo>
                  <a:lnTo>
                    <a:pt x="115824" y="76962"/>
                  </a:lnTo>
                  <a:lnTo>
                    <a:pt x="115824" y="0"/>
                  </a:lnTo>
                  <a:close/>
                </a:path>
                <a:path w="1884679" h="77470">
                  <a:moveTo>
                    <a:pt x="1884426" y="38100"/>
                  </a:moveTo>
                  <a:lnTo>
                    <a:pt x="1768602" y="0"/>
                  </a:lnTo>
                  <a:lnTo>
                    <a:pt x="1768602" y="76962"/>
                  </a:lnTo>
                  <a:lnTo>
                    <a:pt x="1884426" y="38100"/>
                  </a:lnTo>
                  <a:close/>
                </a:path>
              </a:pathLst>
            </a:custGeom>
            <a:solidFill>
              <a:srgbClr val="000000"/>
            </a:solidFill>
          </p:spPr>
          <p:txBody>
            <a:bodyPr wrap="square" lIns="0" tIns="0" rIns="0" bIns="0" rtlCol="0"/>
            <a:lstStyle/>
            <a:p>
              <a:endParaRPr/>
            </a:p>
          </p:txBody>
        </p:sp>
        <p:sp>
          <p:nvSpPr>
            <p:cNvPr id="13" name="object 13"/>
            <p:cNvSpPr/>
            <p:nvPr/>
          </p:nvSpPr>
          <p:spPr>
            <a:xfrm>
              <a:off x="6456425" y="3732275"/>
              <a:ext cx="2386965" cy="0"/>
            </a:xfrm>
            <a:custGeom>
              <a:avLst/>
              <a:gdLst/>
              <a:ahLst/>
              <a:cxnLst/>
              <a:rect l="l" t="t" r="r" b="b"/>
              <a:pathLst>
                <a:path w="2386965">
                  <a:moveTo>
                    <a:pt x="0" y="0"/>
                  </a:moveTo>
                  <a:lnTo>
                    <a:pt x="2386583" y="0"/>
                  </a:lnTo>
                </a:path>
              </a:pathLst>
            </a:custGeom>
            <a:ln w="11874">
              <a:solidFill>
                <a:srgbClr val="000000"/>
              </a:solidFill>
              <a:prstDash val="sysDash"/>
            </a:ln>
          </p:spPr>
          <p:txBody>
            <a:bodyPr wrap="square" lIns="0" tIns="0" rIns="0" bIns="0" rtlCol="0"/>
            <a:lstStyle/>
            <a:p>
              <a:endParaRPr/>
            </a:p>
          </p:txBody>
        </p:sp>
      </p:grpSp>
      <p:sp>
        <p:nvSpPr>
          <p:cNvPr id="14" name="object 14"/>
          <p:cNvSpPr txBox="1"/>
          <p:nvPr/>
        </p:nvSpPr>
        <p:spPr>
          <a:xfrm>
            <a:off x="6049517" y="2965575"/>
            <a:ext cx="280670" cy="217804"/>
          </a:xfrm>
          <a:prstGeom prst="rect">
            <a:avLst/>
          </a:prstGeom>
        </p:spPr>
        <p:txBody>
          <a:bodyPr vert="horz" wrap="square" lIns="0" tIns="0" rIns="0" bIns="0" rtlCol="0">
            <a:spAutoFit/>
          </a:bodyPr>
          <a:lstStyle/>
          <a:p>
            <a:pPr>
              <a:lnSpc>
                <a:spcPts val="1625"/>
              </a:lnSpc>
            </a:pPr>
            <a:r>
              <a:rPr sz="1700" spc="-25" dirty="0">
                <a:solidFill>
                  <a:srgbClr val="0000FF"/>
                </a:solidFill>
                <a:latin typeface="Calibri"/>
                <a:cs typeface="Calibri"/>
              </a:rPr>
              <a:t>0.5</a:t>
            </a:r>
            <a:endParaRPr sz="1700">
              <a:latin typeface="Calibri"/>
              <a:cs typeface="Calibri"/>
            </a:endParaRPr>
          </a:p>
        </p:txBody>
      </p:sp>
      <p:sp>
        <p:nvSpPr>
          <p:cNvPr id="15" name="object 15"/>
          <p:cNvSpPr txBox="1"/>
          <p:nvPr/>
        </p:nvSpPr>
        <p:spPr>
          <a:xfrm>
            <a:off x="7148321" y="4566537"/>
            <a:ext cx="884555" cy="217804"/>
          </a:xfrm>
          <a:prstGeom prst="rect">
            <a:avLst/>
          </a:prstGeom>
        </p:spPr>
        <p:txBody>
          <a:bodyPr vert="horz" wrap="square" lIns="0" tIns="0" rIns="0" bIns="0" rtlCol="0">
            <a:spAutoFit/>
          </a:bodyPr>
          <a:lstStyle/>
          <a:p>
            <a:pPr>
              <a:lnSpc>
                <a:spcPts val="1625"/>
              </a:lnSpc>
            </a:pPr>
            <a:r>
              <a:rPr sz="1700" spc="80" dirty="0">
                <a:latin typeface="Calibri"/>
                <a:cs typeface="Calibri"/>
              </a:rPr>
              <a:t>B</a:t>
            </a:r>
            <a:r>
              <a:rPr sz="1700" spc="-1315" dirty="0">
                <a:latin typeface="Calibri"/>
                <a:cs typeface="Calibri"/>
              </a:rPr>
              <a:t>i</a:t>
            </a:r>
            <a:r>
              <a:rPr sz="1700" spc="80" dirty="0">
                <a:latin typeface="Calibri"/>
                <a:cs typeface="Calibri"/>
              </a:rPr>
              <a:t>B</a:t>
            </a:r>
            <a:r>
              <a:rPr sz="1700" spc="25" dirty="0">
                <a:latin typeface="Calibri"/>
                <a:cs typeface="Calibri"/>
              </a:rPr>
              <a:t>i</a:t>
            </a:r>
            <a:r>
              <a:rPr sz="1700" spc="-535" dirty="0">
                <a:latin typeface="Calibri"/>
                <a:cs typeface="Calibri"/>
              </a:rPr>
              <a:t>t</a:t>
            </a:r>
            <a:r>
              <a:rPr sz="1700" spc="45" dirty="0">
                <a:latin typeface="Calibri"/>
                <a:cs typeface="Calibri"/>
              </a:rPr>
              <a:t>t</a:t>
            </a:r>
            <a:r>
              <a:rPr sz="1700" spc="500" dirty="0">
                <a:latin typeface="Calibri"/>
                <a:cs typeface="Calibri"/>
              </a:rPr>
              <a:t> </a:t>
            </a:r>
            <a:r>
              <a:rPr sz="1700" spc="-944" dirty="0">
                <a:latin typeface="Calibri"/>
                <a:cs typeface="Calibri"/>
              </a:rPr>
              <a:t>p</a:t>
            </a:r>
            <a:r>
              <a:rPr sz="1700" spc="-60" dirty="0">
                <a:latin typeface="Calibri"/>
                <a:cs typeface="Calibri"/>
              </a:rPr>
              <a:t>p</a:t>
            </a:r>
            <a:r>
              <a:rPr sz="1700" spc="-905" dirty="0">
                <a:latin typeface="Calibri"/>
                <a:cs typeface="Calibri"/>
              </a:rPr>
              <a:t>e</a:t>
            </a:r>
            <a:r>
              <a:rPr sz="1700" dirty="0">
                <a:latin typeface="Calibri"/>
                <a:cs typeface="Calibri"/>
              </a:rPr>
              <a:t>e</a:t>
            </a:r>
            <a:r>
              <a:rPr sz="1700" spc="-635" dirty="0">
                <a:latin typeface="Calibri"/>
                <a:cs typeface="Calibri"/>
              </a:rPr>
              <a:t>r</a:t>
            </a:r>
            <a:r>
              <a:rPr sz="1700" spc="-45" dirty="0">
                <a:latin typeface="Calibri"/>
                <a:cs typeface="Calibri"/>
              </a:rPr>
              <a:t>r</a:t>
            </a:r>
            <a:r>
              <a:rPr sz="1700" spc="-440" dirty="0">
                <a:latin typeface="Calibri"/>
                <a:cs typeface="Calibri"/>
              </a:rPr>
              <a:t>i</a:t>
            </a:r>
            <a:r>
              <a:rPr sz="1700" spc="-70" dirty="0">
                <a:latin typeface="Calibri"/>
                <a:cs typeface="Calibri"/>
              </a:rPr>
              <a:t>i</a:t>
            </a:r>
            <a:r>
              <a:rPr sz="1700" spc="-955" dirty="0">
                <a:latin typeface="Calibri"/>
                <a:cs typeface="Calibri"/>
              </a:rPr>
              <a:t>o</a:t>
            </a:r>
            <a:r>
              <a:rPr sz="1700" spc="15" dirty="0">
                <a:latin typeface="Calibri"/>
                <a:cs typeface="Calibri"/>
              </a:rPr>
              <a:t>o</a:t>
            </a:r>
            <a:r>
              <a:rPr sz="1700" spc="-944" dirty="0">
                <a:latin typeface="Calibri"/>
                <a:cs typeface="Calibri"/>
              </a:rPr>
              <a:t>d</a:t>
            </a:r>
            <a:r>
              <a:rPr sz="1700" spc="-45" dirty="0">
                <a:latin typeface="Calibri"/>
                <a:cs typeface="Calibri"/>
              </a:rPr>
              <a:t>d</a:t>
            </a:r>
            <a:endParaRPr sz="1700">
              <a:latin typeface="Calibri"/>
              <a:cs typeface="Calibri"/>
            </a:endParaRPr>
          </a:p>
        </p:txBody>
      </p:sp>
      <p:grpSp>
        <p:nvGrpSpPr>
          <p:cNvPr id="16" name="object 16"/>
          <p:cNvGrpSpPr/>
          <p:nvPr/>
        </p:nvGrpSpPr>
        <p:grpSpPr>
          <a:xfrm>
            <a:off x="6444589" y="3012295"/>
            <a:ext cx="2325370" cy="1376680"/>
            <a:chOff x="6444589" y="3012295"/>
            <a:chExt cx="2325370" cy="1376680"/>
          </a:xfrm>
        </p:grpSpPr>
        <p:sp>
          <p:nvSpPr>
            <p:cNvPr id="17" name="object 17"/>
            <p:cNvSpPr/>
            <p:nvPr/>
          </p:nvSpPr>
          <p:spPr>
            <a:xfrm>
              <a:off x="7946136" y="3024131"/>
              <a:ext cx="811530" cy="1353185"/>
            </a:xfrm>
            <a:custGeom>
              <a:avLst/>
              <a:gdLst/>
              <a:ahLst/>
              <a:cxnLst/>
              <a:rect l="l" t="t" r="r" b="b"/>
              <a:pathLst>
                <a:path w="811529" h="1353185">
                  <a:moveTo>
                    <a:pt x="811529" y="5580"/>
                  </a:moveTo>
                  <a:lnTo>
                    <a:pt x="763512" y="5318"/>
                  </a:lnTo>
                  <a:lnTo>
                    <a:pt x="712163" y="3110"/>
                  </a:lnTo>
                  <a:lnTo>
                    <a:pt x="659374" y="742"/>
                  </a:lnTo>
                  <a:lnTo>
                    <a:pt x="607038" y="0"/>
                  </a:lnTo>
                  <a:lnTo>
                    <a:pt x="557048" y="2670"/>
                  </a:lnTo>
                  <a:lnTo>
                    <a:pt x="511297" y="10539"/>
                  </a:lnTo>
                  <a:lnTo>
                    <a:pt x="471677" y="25392"/>
                  </a:lnTo>
                  <a:lnTo>
                    <a:pt x="434530" y="53324"/>
                  </a:lnTo>
                  <a:lnTo>
                    <a:pt x="405955" y="90543"/>
                  </a:lnTo>
                  <a:lnTo>
                    <a:pt x="383381" y="134049"/>
                  </a:lnTo>
                  <a:lnTo>
                    <a:pt x="364235" y="180840"/>
                  </a:lnTo>
                  <a:lnTo>
                    <a:pt x="345346" y="229917"/>
                  </a:lnTo>
                  <a:lnTo>
                    <a:pt x="327050" y="279290"/>
                  </a:lnTo>
                  <a:lnTo>
                    <a:pt x="309303" y="328939"/>
                  </a:lnTo>
                  <a:lnTo>
                    <a:pt x="292059" y="378838"/>
                  </a:lnTo>
                  <a:lnTo>
                    <a:pt x="275272" y="428966"/>
                  </a:lnTo>
                  <a:lnTo>
                    <a:pt x="258897" y="479300"/>
                  </a:lnTo>
                  <a:lnTo>
                    <a:pt x="242887" y="529817"/>
                  </a:lnTo>
                  <a:lnTo>
                    <a:pt x="227197" y="580494"/>
                  </a:lnTo>
                  <a:lnTo>
                    <a:pt x="211782" y="631308"/>
                  </a:lnTo>
                  <a:lnTo>
                    <a:pt x="196595" y="682236"/>
                  </a:lnTo>
                  <a:lnTo>
                    <a:pt x="182445" y="729938"/>
                  </a:lnTo>
                  <a:lnTo>
                    <a:pt x="168390" y="777684"/>
                  </a:lnTo>
                  <a:lnTo>
                    <a:pt x="154413" y="825469"/>
                  </a:lnTo>
                  <a:lnTo>
                    <a:pt x="140492" y="873291"/>
                  </a:lnTo>
                  <a:lnTo>
                    <a:pt x="126608" y="921147"/>
                  </a:lnTo>
                  <a:lnTo>
                    <a:pt x="112740" y="969032"/>
                  </a:lnTo>
                  <a:lnTo>
                    <a:pt x="98869" y="1016945"/>
                  </a:lnTo>
                  <a:lnTo>
                    <a:pt x="84975" y="1064880"/>
                  </a:lnTo>
                  <a:lnTo>
                    <a:pt x="71037" y="1112836"/>
                  </a:lnTo>
                  <a:lnTo>
                    <a:pt x="57036" y="1160808"/>
                  </a:lnTo>
                  <a:lnTo>
                    <a:pt x="42952" y="1208793"/>
                  </a:lnTo>
                  <a:lnTo>
                    <a:pt x="28764" y="1256789"/>
                  </a:lnTo>
                  <a:lnTo>
                    <a:pt x="14454" y="1304791"/>
                  </a:lnTo>
                  <a:lnTo>
                    <a:pt x="0" y="1352796"/>
                  </a:lnTo>
                </a:path>
              </a:pathLst>
            </a:custGeom>
            <a:ln w="23672">
              <a:solidFill>
                <a:srgbClr val="0000FF"/>
              </a:solidFill>
            </a:ln>
          </p:spPr>
          <p:txBody>
            <a:bodyPr wrap="square" lIns="0" tIns="0" rIns="0" bIns="0" rtlCol="0"/>
            <a:lstStyle/>
            <a:p>
              <a:endParaRPr/>
            </a:p>
          </p:txBody>
        </p:sp>
        <p:sp>
          <p:nvSpPr>
            <p:cNvPr id="18" name="object 18"/>
            <p:cNvSpPr/>
            <p:nvPr/>
          </p:nvSpPr>
          <p:spPr>
            <a:xfrm>
              <a:off x="6456425" y="3024131"/>
              <a:ext cx="811530" cy="1353185"/>
            </a:xfrm>
            <a:custGeom>
              <a:avLst/>
              <a:gdLst/>
              <a:ahLst/>
              <a:cxnLst/>
              <a:rect l="l" t="t" r="r" b="b"/>
              <a:pathLst>
                <a:path w="811529" h="1353185">
                  <a:moveTo>
                    <a:pt x="0" y="5580"/>
                  </a:moveTo>
                  <a:lnTo>
                    <a:pt x="48057" y="5318"/>
                  </a:lnTo>
                  <a:lnTo>
                    <a:pt x="99499" y="3110"/>
                  </a:lnTo>
                  <a:lnTo>
                    <a:pt x="152395" y="742"/>
                  </a:lnTo>
                  <a:lnTo>
                    <a:pt x="204811" y="0"/>
                  </a:lnTo>
                  <a:lnTo>
                    <a:pt x="254814" y="2670"/>
                  </a:lnTo>
                  <a:lnTo>
                    <a:pt x="300472" y="10539"/>
                  </a:lnTo>
                  <a:lnTo>
                    <a:pt x="339852" y="25392"/>
                  </a:lnTo>
                  <a:lnTo>
                    <a:pt x="376999" y="53324"/>
                  </a:lnTo>
                  <a:lnTo>
                    <a:pt x="405574" y="90543"/>
                  </a:lnTo>
                  <a:lnTo>
                    <a:pt x="428148" y="134049"/>
                  </a:lnTo>
                  <a:lnTo>
                    <a:pt x="447294" y="180840"/>
                  </a:lnTo>
                  <a:lnTo>
                    <a:pt x="466184" y="229917"/>
                  </a:lnTo>
                  <a:lnTo>
                    <a:pt x="484485" y="279290"/>
                  </a:lnTo>
                  <a:lnTo>
                    <a:pt x="502247" y="328939"/>
                  </a:lnTo>
                  <a:lnTo>
                    <a:pt x="519519" y="378838"/>
                  </a:lnTo>
                  <a:lnTo>
                    <a:pt x="536352" y="428966"/>
                  </a:lnTo>
                  <a:lnTo>
                    <a:pt x="552797" y="479300"/>
                  </a:lnTo>
                  <a:lnTo>
                    <a:pt x="568903" y="529817"/>
                  </a:lnTo>
                  <a:lnTo>
                    <a:pt x="584722" y="580494"/>
                  </a:lnTo>
                  <a:lnTo>
                    <a:pt x="600302" y="631308"/>
                  </a:lnTo>
                  <a:lnTo>
                    <a:pt x="615696" y="682236"/>
                  </a:lnTo>
                  <a:lnTo>
                    <a:pt x="629835" y="729938"/>
                  </a:lnTo>
                  <a:lnTo>
                    <a:pt x="643858" y="777684"/>
                  </a:lnTo>
                  <a:lnTo>
                    <a:pt x="657788" y="825469"/>
                  </a:lnTo>
                  <a:lnTo>
                    <a:pt x="671648" y="873291"/>
                  </a:lnTo>
                  <a:lnTo>
                    <a:pt x="685461" y="921147"/>
                  </a:lnTo>
                  <a:lnTo>
                    <a:pt x="699251" y="969032"/>
                  </a:lnTo>
                  <a:lnTo>
                    <a:pt x="713041" y="1016945"/>
                  </a:lnTo>
                  <a:lnTo>
                    <a:pt x="726854" y="1064880"/>
                  </a:lnTo>
                  <a:lnTo>
                    <a:pt x="740714" y="1112836"/>
                  </a:lnTo>
                  <a:lnTo>
                    <a:pt x="754644" y="1160808"/>
                  </a:lnTo>
                  <a:lnTo>
                    <a:pt x="768667" y="1208793"/>
                  </a:lnTo>
                  <a:lnTo>
                    <a:pt x="782807" y="1256789"/>
                  </a:lnTo>
                  <a:lnTo>
                    <a:pt x="797086" y="1304791"/>
                  </a:lnTo>
                  <a:lnTo>
                    <a:pt x="811530" y="1352796"/>
                  </a:lnTo>
                </a:path>
              </a:pathLst>
            </a:custGeom>
            <a:ln w="23672">
              <a:solidFill>
                <a:srgbClr val="0000FF"/>
              </a:solidFill>
            </a:ln>
          </p:spPr>
          <p:txBody>
            <a:bodyPr wrap="square" lIns="0" tIns="0" rIns="0" bIns="0" rtlCol="0"/>
            <a:lstStyle/>
            <a:p>
              <a:endParaRPr/>
            </a:p>
          </p:txBody>
        </p:sp>
        <p:sp>
          <p:nvSpPr>
            <p:cNvPr id="19" name="object 19"/>
            <p:cNvSpPr/>
            <p:nvPr/>
          </p:nvSpPr>
          <p:spPr>
            <a:xfrm>
              <a:off x="7076693" y="3318510"/>
              <a:ext cx="0" cy="414020"/>
            </a:xfrm>
            <a:custGeom>
              <a:avLst/>
              <a:gdLst/>
              <a:ahLst/>
              <a:cxnLst/>
              <a:rect l="l" t="t" r="r" b="b"/>
              <a:pathLst>
                <a:path h="414020">
                  <a:moveTo>
                    <a:pt x="0" y="413765"/>
                  </a:moveTo>
                  <a:lnTo>
                    <a:pt x="0" y="0"/>
                  </a:lnTo>
                </a:path>
              </a:pathLst>
            </a:custGeom>
            <a:ln w="9474">
              <a:solidFill>
                <a:srgbClr val="000000"/>
              </a:solidFill>
            </a:ln>
          </p:spPr>
          <p:txBody>
            <a:bodyPr wrap="square" lIns="0" tIns="0" rIns="0" bIns="0" rtlCol="0"/>
            <a:lstStyle/>
            <a:p>
              <a:endParaRPr/>
            </a:p>
          </p:txBody>
        </p:sp>
        <p:sp>
          <p:nvSpPr>
            <p:cNvPr id="20" name="object 20"/>
            <p:cNvSpPr/>
            <p:nvPr/>
          </p:nvSpPr>
          <p:spPr>
            <a:xfrm>
              <a:off x="8111489" y="3340608"/>
              <a:ext cx="0" cy="391795"/>
            </a:xfrm>
            <a:custGeom>
              <a:avLst/>
              <a:gdLst/>
              <a:ahLst/>
              <a:cxnLst/>
              <a:rect l="l" t="t" r="r" b="b"/>
              <a:pathLst>
                <a:path h="391795">
                  <a:moveTo>
                    <a:pt x="0" y="391667"/>
                  </a:moveTo>
                  <a:lnTo>
                    <a:pt x="0" y="0"/>
                  </a:lnTo>
                </a:path>
              </a:pathLst>
            </a:custGeom>
            <a:ln w="9474">
              <a:solidFill>
                <a:srgbClr val="000000"/>
              </a:solidFill>
            </a:ln>
          </p:spPr>
          <p:txBody>
            <a:bodyPr wrap="square" lIns="0" tIns="0" rIns="0" bIns="0" rtlCol="0"/>
            <a:lstStyle/>
            <a:p>
              <a:endParaRPr/>
            </a:p>
          </p:txBody>
        </p:sp>
        <p:sp>
          <p:nvSpPr>
            <p:cNvPr id="21" name="object 21"/>
            <p:cNvSpPr/>
            <p:nvPr/>
          </p:nvSpPr>
          <p:spPr>
            <a:xfrm>
              <a:off x="7183373" y="3385565"/>
              <a:ext cx="821690" cy="0"/>
            </a:xfrm>
            <a:custGeom>
              <a:avLst/>
              <a:gdLst/>
              <a:ahLst/>
              <a:cxnLst/>
              <a:rect l="l" t="t" r="r" b="b"/>
              <a:pathLst>
                <a:path w="821690">
                  <a:moveTo>
                    <a:pt x="0" y="0"/>
                  </a:moveTo>
                  <a:lnTo>
                    <a:pt x="821436" y="0"/>
                  </a:lnTo>
                </a:path>
              </a:pathLst>
            </a:custGeom>
            <a:ln w="15824">
              <a:solidFill>
                <a:srgbClr val="000000"/>
              </a:solidFill>
            </a:ln>
          </p:spPr>
          <p:txBody>
            <a:bodyPr wrap="square" lIns="0" tIns="0" rIns="0" bIns="0" rtlCol="0"/>
            <a:lstStyle/>
            <a:p>
              <a:endParaRPr/>
            </a:p>
          </p:txBody>
        </p:sp>
        <p:sp>
          <p:nvSpPr>
            <p:cNvPr id="22" name="object 22"/>
            <p:cNvSpPr/>
            <p:nvPr/>
          </p:nvSpPr>
          <p:spPr>
            <a:xfrm>
              <a:off x="7076694" y="3346703"/>
              <a:ext cx="1035050" cy="77470"/>
            </a:xfrm>
            <a:custGeom>
              <a:avLst/>
              <a:gdLst/>
              <a:ahLst/>
              <a:cxnLst/>
              <a:rect l="l" t="t" r="r" b="b"/>
              <a:pathLst>
                <a:path w="1035050" h="77470">
                  <a:moveTo>
                    <a:pt x="115824" y="0"/>
                  </a:moveTo>
                  <a:lnTo>
                    <a:pt x="0" y="38862"/>
                  </a:lnTo>
                  <a:lnTo>
                    <a:pt x="115824" y="76962"/>
                  </a:lnTo>
                  <a:lnTo>
                    <a:pt x="115824" y="0"/>
                  </a:lnTo>
                  <a:close/>
                </a:path>
                <a:path w="1035050" h="77470">
                  <a:moveTo>
                    <a:pt x="1034796" y="38862"/>
                  </a:moveTo>
                  <a:lnTo>
                    <a:pt x="918972" y="0"/>
                  </a:lnTo>
                  <a:lnTo>
                    <a:pt x="918972" y="76962"/>
                  </a:lnTo>
                  <a:lnTo>
                    <a:pt x="1034796" y="38862"/>
                  </a:lnTo>
                  <a:close/>
                </a:path>
              </a:pathLst>
            </a:custGeom>
            <a:solidFill>
              <a:srgbClr val="000000"/>
            </a:solidFill>
          </p:spPr>
          <p:txBody>
            <a:bodyPr wrap="square" lIns="0" tIns="0" rIns="0" bIns="0" rtlCol="0"/>
            <a:lstStyle/>
            <a:p>
              <a:endParaRPr/>
            </a:p>
          </p:txBody>
        </p:sp>
      </p:grpSp>
      <p:grpSp>
        <p:nvGrpSpPr>
          <p:cNvPr id="23" name="object 23"/>
          <p:cNvGrpSpPr/>
          <p:nvPr/>
        </p:nvGrpSpPr>
        <p:grpSpPr>
          <a:xfrm>
            <a:off x="2573273" y="2621279"/>
            <a:ext cx="2775585" cy="1888489"/>
            <a:chOff x="2573273" y="2621279"/>
            <a:chExt cx="2775585" cy="1888489"/>
          </a:xfrm>
        </p:grpSpPr>
        <p:sp>
          <p:nvSpPr>
            <p:cNvPr id="24" name="object 24"/>
            <p:cNvSpPr/>
            <p:nvPr/>
          </p:nvSpPr>
          <p:spPr>
            <a:xfrm>
              <a:off x="2803397" y="2795777"/>
              <a:ext cx="0" cy="1713864"/>
            </a:xfrm>
            <a:custGeom>
              <a:avLst/>
              <a:gdLst/>
              <a:ahLst/>
              <a:cxnLst/>
              <a:rect l="l" t="t" r="r" b="b"/>
              <a:pathLst>
                <a:path h="1713864">
                  <a:moveTo>
                    <a:pt x="0" y="0"/>
                  </a:moveTo>
                  <a:lnTo>
                    <a:pt x="0" y="1713738"/>
                  </a:lnTo>
                </a:path>
              </a:pathLst>
            </a:custGeom>
            <a:ln w="23647">
              <a:solidFill>
                <a:srgbClr val="000000"/>
              </a:solidFill>
            </a:ln>
          </p:spPr>
          <p:txBody>
            <a:bodyPr wrap="square" lIns="0" tIns="0" rIns="0" bIns="0" rtlCol="0"/>
            <a:lstStyle/>
            <a:p>
              <a:endParaRPr/>
            </a:p>
          </p:txBody>
        </p:sp>
        <p:sp>
          <p:nvSpPr>
            <p:cNvPr id="25" name="object 25"/>
            <p:cNvSpPr/>
            <p:nvPr/>
          </p:nvSpPr>
          <p:spPr>
            <a:xfrm>
              <a:off x="2740151" y="2621279"/>
              <a:ext cx="127635" cy="189865"/>
            </a:xfrm>
            <a:custGeom>
              <a:avLst/>
              <a:gdLst/>
              <a:ahLst/>
              <a:cxnLst/>
              <a:rect l="l" t="t" r="r" b="b"/>
              <a:pathLst>
                <a:path w="127635" h="189864">
                  <a:moveTo>
                    <a:pt x="127254" y="189737"/>
                  </a:moveTo>
                  <a:lnTo>
                    <a:pt x="63245" y="0"/>
                  </a:lnTo>
                  <a:lnTo>
                    <a:pt x="0" y="189737"/>
                  </a:lnTo>
                  <a:lnTo>
                    <a:pt x="127254" y="189737"/>
                  </a:lnTo>
                  <a:close/>
                </a:path>
              </a:pathLst>
            </a:custGeom>
            <a:solidFill>
              <a:srgbClr val="000000"/>
            </a:solidFill>
          </p:spPr>
          <p:txBody>
            <a:bodyPr wrap="square" lIns="0" tIns="0" rIns="0" bIns="0" rtlCol="0"/>
            <a:lstStyle/>
            <a:p>
              <a:endParaRPr/>
            </a:p>
          </p:txBody>
        </p:sp>
        <p:sp>
          <p:nvSpPr>
            <p:cNvPr id="26" name="object 26"/>
            <p:cNvSpPr/>
            <p:nvPr/>
          </p:nvSpPr>
          <p:spPr>
            <a:xfrm>
              <a:off x="2573273" y="4319777"/>
              <a:ext cx="2600325" cy="0"/>
            </a:xfrm>
            <a:custGeom>
              <a:avLst/>
              <a:gdLst/>
              <a:ahLst/>
              <a:cxnLst/>
              <a:rect l="l" t="t" r="r" b="b"/>
              <a:pathLst>
                <a:path w="2600325">
                  <a:moveTo>
                    <a:pt x="2599944" y="0"/>
                  </a:moveTo>
                  <a:lnTo>
                    <a:pt x="0" y="0"/>
                  </a:lnTo>
                </a:path>
              </a:pathLst>
            </a:custGeom>
            <a:ln w="23736">
              <a:solidFill>
                <a:srgbClr val="000000"/>
              </a:solidFill>
            </a:ln>
          </p:spPr>
          <p:txBody>
            <a:bodyPr wrap="square" lIns="0" tIns="0" rIns="0" bIns="0" rtlCol="0"/>
            <a:lstStyle/>
            <a:p>
              <a:endParaRPr/>
            </a:p>
          </p:txBody>
        </p:sp>
        <p:sp>
          <p:nvSpPr>
            <p:cNvPr id="27" name="object 27"/>
            <p:cNvSpPr/>
            <p:nvPr/>
          </p:nvSpPr>
          <p:spPr>
            <a:xfrm>
              <a:off x="5157216" y="4256531"/>
              <a:ext cx="191770" cy="127000"/>
            </a:xfrm>
            <a:custGeom>
              <a:avLst/>
              <a:gdLst/>
              <a:ahLst/>
              <a:cxnLst/>
              <a:rect l="l" t="t" r="r" b="b"/>
              <a:pathLst>
                <a:path w="191770" h="127000">
                  <a:moveTo>
                    <a:pt x="191262" y="63246"/>
                  </a:moveTo>
                  <a:lnTo>
                    <a:pt x="0" y="0"/>
                  </a:lnTo>
                  <a:lnTo>
                    <a:pt x="0" y="126492"/>
                  </a:lnTo>
                  <a:lnTo>
                    <a:pt x="191262" y="63246"/>
                  </a:lnTo>
                  <a:close/>
                </a:path>
              </a:pathLst>
            </a:custGeom>
            <a:solidFill>
              <a:srgbClr val="000000"/>
            </a:solidFill>
          </p:spPr>
          <p:txBody>
            <a:bodyPr wrap="square" lIns="0" tIns="0" rIns="0" bIns="0" rtlCol="0"/>
            <a:lstStyle/>
            <a:p>
              <a:endParaRPr/>
            </a:p>
          </p:txBody>
        </p:sp>
        <p:sp>
          <p:nvSpPr>
            <p:cNvPr id="28" name="object 28"/>
            <p:cNvSpPr/>
            <p:nvPr/>
          </p:nvSpPr>
          <p:spPr>
            <a:xfrm>
              <a:off x="3020567"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29" name="object 29"/>
            <p:cNvSpPr/>
            <p:nvPr/>
          </p:nvSpPr>
          <p:spPr>
            <a:xfrm>
              <a:off x="4904994"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30" name="object 30"/>
            <p:cNvSpPr/>
            <p:nvPr/>
          </p:nvSpPr>
          <p:spPr>
            <a:xfrm>
              <a:off x="3127247" y="4456175"/>
              <a:ext cx="1671955" cy="0"/>
            </a:xfrm>
            <a:custGeom>
              <a:avLst/>
              <a:gdLst/>
              <a:ahLst/>
              <a:cxnLst/>
              <a:rect l="l" t="t" r="r" b="b"/>
              <a:pathLst>
                <a:path w="1671954">
                  <a:moveTo>
                    <a:pt x="0" y="0"/>
                  </a:moveTo>
                  <a:lnTo>
                    <a:pt x="1671827" y="0"/>
                  </a:lnTo>
                </a:path>
              </a:pathLst>
            </a:custGeom>
            <a:ln w="15824">
              <a:solidFill>
                <a:srgbClr val="000000"/>
              </a:solidFill>
            </a:ln>
          </p:spPr>
          <p:txBody>
            <a:bodyPr wrap="square" lIns="0" tIns="0" rIns="0" bIns="0" rtlCol="0"/>
            <a:lstStyle/>
            <a:p>
              <a:endParaRPr/>
            </a:p>
          </p:txBody>
        </p:sp>
        <p:sp>
          <p:nvSpPr>
            <p:cNvPr id="31" name="object 31"/>
            <p:cNvSpPr/>
            <p:nvPr/>
          </p:nvSpPr>
          <p:spPr>
            <a:xfrm>
              <a:off x="3020568" y="4418075"/>
              <a:ext cx="1884680" cy="77470"/>
            </a:xfrm>
            <a:custGeom>
              <a:avLst/>
              <a:gdLst/>
              <a:ahLst/>
              <a:cxnLst/>
              <a:rect l="l" t="t" r="r" b="b"/>
              <a:pathLst>
                <a:path w="1884679" h="77470">
                  <a:moveTo>
                    <a:pt x="115824" y="0"/>
                  </a:moveTo>
                  <a:lnTo>
                    <a:pt x="0" y="38100"/>
                  </a:lnTo>
                  <a:lnTo>
                    <a:pt x="115824" y="76962"/>
                  </a:lnTo>
                  <a:lnTo>
                    <a:pt x="115824" y="0"/>
                  </a:lnTo>
                  <a:close/>
                </a:path>
                <a:path w="1884679" h="77470">
                  <a:moveTo>
                    <a:pt x="1884426" y="38100"/>
                  </a:moveTo>
                  <a:lnTo>
                    <a:pt x="1768602" y="0"/>
                  </a:lnTo>
                  <a:lnTo>
                    <a:pt x="1768602" y="76962"/>
                  </a:lnTo>
                  <a:lnTo>
                    <a:pt x="1884426" y="38100"/>
                  </a:lnTo>
                  <a:close/>
                </a:path>
              </a:pathLst>
            </a:custGeom>
            <a:solidFill>
              <a:srgbClr val="000000"/>
            </a:solidFill>
          </p:spPr>
          <p:txBody>
            <a:bodyPr wrap="square" lIns="0" tIns="0" rIns="0" bIns="0" rtlCol="0"/>
            <a:lstStyle/>
            <a:p>
              <a:endParaRPr/>
            </a:p>
          </p:txBody>
        </p:sp>
        <p:sp>
          <p:nvSpPr>
            <p:cNvPr id="32" name="object 32"/>
            <p:cNvSpPr/>
            <p:nvPr/>
          </p:nvSpPr>
          <p:spPr>
            <a:xfrm>
              <a:off x="2803397" y="3732275"/>
              <a:ext cx="2386965" cy="0"/>
            </a:xfrm>
            <a:custGeom>
              <a:avLst/>
              <a:gdLst/>
              <a:ahLst/>
              <a:cxnLst/>
              <a:rect l="l" t="t" r="r" b="b"/>
              <a:pathLst>
                <a:path w="2386965">
                  <a:moveTo>
                    <a:pt x="0" y="0"/>
                  </a:moveTo>
                  <a:lnTo>
                    <a:pt x="2386584" y="0"/>
                  </a:lnTo>
                </a:path>
              </a:pathLst>
            </a:custGeom>
            <a:ln w="11874">
              <a:solidFill>
                <a:srgbClr val="000000"/>
              </a:solidFill>
              <a:prstDash val="sysDash"/>
            </a:ln>
          </p:spPr>
          <p:txBody>
            <a:bodyPr wrap="square" lIns="0" tIns="0" rIns="0" bIns="0" rtlCol="0"/>
            <a:lstStyle/>
            <a:p>
              <a:endParaRPr/>
            </a:p>
          </p:txBody>
        </p:sp>
        <p:sp>
          <p:nvSpPr>
            <p:cNvPr id="33" name="object 33"/>
            <p:cNvSpPr/>
            <p:nvPr/>
          </p:nvSpPr>
          <p:spPr>
            <a:xfrm>
              <a:off x="3423665" y="3318509"/>
              <a:ext cx="0" cy="414020"/>
            </a:xfrm>
            <a:custGeom>
              <a:avLst/>
              <a:gdLst/>
              <a:ahLst/>
              <a:cxnLst/>
              <a:rect l="l" t="t" r="r" b="b"/>
              <a:pathLst>
                <a:path h="414020">
                  <a:moveTo>
                    <a:pt x="0" y="413765"/>
                  </a:moveTo>
                  <a:lnTo>
                    <a:pt x="0" y="0"/>
                  </a:lnTo>
                </a:path>
              </a:pathLst>
            </a:custGeom>
            <a:ln w="9474">
              <a:solidFill>
                <a:srgbClr val="000000"/>
              </a:solidFill>
            </a:ln>
          </p:spPr>
          <p:txBody>
            <a:bodyPr wrap="square" lIns="0" tIns="0" rIns="0" bIns="0" rtlCol="0"/>
            <a:lstStyle/>
            <a:p>
              <a:endParaRPr/>
            </a:p>
          </p:txBody>
        </p:sp>
        <p:sp>
          <p:nvSpPr>
            <p:cNvPr id="34" name="object 34"/>
            <p:cNvSpPr/>
            <p:nvPr/>
          </p:nvSpPr>
          <p:spPr>
            <a:xfrm>
              <a:off x="4457700" y="3340607"/>
              <a:ext cx="0" cy="391795"/>
            </a:xfrm>
            <a:custGeom>
              <a:avLst/>
              <a:gdLst/>
              <a:ahLst/>
              <a:cxnLst/>
              <a:rect l="l" t="t" r="r" b="b"/>
              <a:pathLst>
                <a:path h="391795">
                  <a:moveTo>
                    <a:pt x="0" y="391667"/>
                  </a:moveTo>
                  <a:lnTo>
                    <a:pt x="0" y="0"/>
                  </a:lnTo>
                </a:path>
              </a:pathLst>
            </a:custGeom>
            <a:ln w="9474">
              <a:solidFill>
                <a:srgbClr val="000000"/>
              </a:solidFill>
            </a:ln>
          </p:spPr>
          <p:txBody>
            <a:bodyPr wrap="square" lIns="0" tIns="0" rIns="0" bIns="0" rtlCol="0"/>
            <a:lstStyle/>
            <a:p>
              <a:endParaRPr/>
            </a:p>
          </p:txBody>
        </p:sp>
        <p:sp>
          <p:nvSpPr>
            <p:cNvPr id="35" name="object 35"/>
            <p:cNvSpPr/>
            <p:nvPr/>
          </p:nvSpPr>
          <p:spPr>
            <a:xfrm>
              <a:off x="3529583" y="3385565"/>
              <a:ext cx="822325" cy="0"/>
            </a:xfrm>
            <a:custGeom>
              <a:avLst/>
              <a:gdLst/>
              <a:ahLst/>
              <a:cxnLst/>
              <a:rect l="l" t="t" r="r" b="b"/>
              <a:pathLst>
                <a:path w="822325">
                  <a:moveTo>
                    <a:pt x="0" y="0"/>
                  </a:moveTo>
                  <a:lnTo>
                    <a:pt x="822197" y="0"/>
                  </a:lnTo>
                </a:path>
              </a:pathLst>
            </a:custGeom>
            <a:ln w="15824">
              <a:solidFill>
                <a:srgbClr val="000000"/>
              </a:solidFill>
            </a:ln>
          </p:spPr>
          <p:txBody>
            <a:bodyPr wrap="square" lIns="0" tIns="0" rIns="0" bIns="0" rtlCol="0"/>
            <a:lstStyle/>
            <a:p>
              <a:endParaRPr/>
            </a:p>
          </p:txBody>
        </p:sp>
        <p:sp>
          <p:nvSpPr>
            <p:cNvPr id="36" name="object 36"/>
            <p:cNvSpPr/>
            <p:nvPr/>
          </p:nvSpPr>
          <p:spPr>
            <a:xfrm>
              <a:off x="3423666" y="3346703"/>
              <a:ext cx="1034415" cy="77470"/>
            </a:xfrm>
            <a:custGeom>
              <a:avLst/>
              <a:gdLst/>
              <a:ahLst/>
              <a:cxnLst/>
              <a:rect l="l" t="t" r="r" b="b"/>
              <a:pathLst>
                <a:path w="1034414" h="77470">
                  <a:moveTo>
                    <a:pt x="115824" y="0"/>
                  </a:moveTo>
                  <a:lnTo>
                    <a:pt x="0" y="38862"/>
                  </a:lnTo>
                  <a:lnTo>
                    <a:pt x="115824" y="76962"/>
                  </a:lnTo>
                  <a:lnTo>
                    <a:pt x="115824" y="0"/>
                  </a:lnTo>
                  <a:close/>
                </a:path>
                <a:path w="1034414" h="77470">
                  <a:moveTo>
                    <a:pt x="1034034" y="38862"/>
                  </a:moveTo>
                  <a:lnTo>
                    <a:pt x="918210" y="0"/>
                  </a:lnTo>
                  <a:lnTo>
                    <a:pt x="918210" y="76962"/>
                  </a:lnTo>
                  <a:lnTo>
                    <a:pt x="1034034" y="38862"/>
                  </a:lnTo>
                  <a:close/>
                </a:path>
              </a:pathLst>
            </a:custGeom>
            <a:solidFill>
              <a:srgbClr val="000000"/>
            </a:solidFill>
          </p:spPr>
          <p:txBody>
            <a:bodyPr wrap="square" lIns="0" tIns="0" rIns="0" bIns="0" rtlCol="0"/>
            <a:lstStyle/>
            <a:p>
              <a:endParaRPr/>
            </a:p>
          </p:txBody>
        </p:sp>
        <p:sp>
          <p:nvSpPr>
            <p:cNvPr id="37" name="object 37"/>
            <p:cNvSpPr/>
            <p:nvPr/>
          </p:nvSpPr>
          <p:spPr>
            <a:xfrm>
              <a:off x="4043933" y="3017273"/>
              <a:ext cx="811530" cy="1353820"/>
            </a:xfrm>
            <a:custGeom>
              <a:avLst/>
              <a:gdLst/>
              <a:ahLst/>
              <a:cxnLst/>
              <a:rect l="l" t="t" r="r" b="b"/>
              <a:pathLst>
                <a:path w="811529" h="1353820">
                  <a:moveTo>
                    <a:pt x="811529" y="5580"/>
                  </a:moveTo>
                  <a:lnTo>
                    <a:pt x="763512" y="5318"/>
                  </a:lnTo>
                  <a:lnTo>
                    <a:pt x="712163" y="3110"/>
                  </a:lnTo>
                  <a:lnTo>
                    <a:pt x="659374" y="742"/>
                  </a:lnTo>
                  <a:lnTo>
                    <a:pt x="607038" y="0"/>
                  </a:lnTo>
                  <a:lnTo>
                    <a:pt x="557048" y="2670"/>
                  </a:lnTo>
                  <a:lnTo>
                    <a:pt x="511297" y="10539"/>
                  </a:lnTo>
                  <a:lnTo>
                    <a:pt x="471677" y="25392"/>
                  </a:lnTo>
                  <a:lnTo>
                    <a:pt x="434530" y="53324"/>
                  </a:lnTo>
                  <a:lnTo>
                    <a:pt x="405955" y="90543"/>
                  </a:lnTo>
                  <a:lnTo>
                    <a:pt x="383381" y="134049"/>
                  </a:lnTo>
                  <a:lnTo>
                    <a:pt x="364236" y="180840"/>
                  </a:lnTo>
                  <a:lnTo>
                    <a:pt x="345346" y="229917"/>
                  </a:lnTo>
                  <a:lnTo>
                    <a:pt x="327050" y="279290"/>
                  </a:lnTo>
                  <a:lnTo>
                    <a:pt x="309303" y="328939"/>
                  </a:lnTo>
                  <a:lnTo>
                    <a:pt x="292059" y="378838"/>
                  </a:lnTo>
                  <a:lnTo>
                    <a:pt x="275272" y="428966"/>
                  </a:lnTo>
                  <a:lnTo>
                    <a:pt x="258897" y="479300"/>
                  </a:lnTo>
                  <a:lnTo>
                    <a:pt x="242887" y="529817"/>
                  </a:lnTo>
                  <a:lnTo>
                    <a:pt x="227197" y="580494"/>
                  </a:lnTo>
                  <a:lnTo>
                    <a:pt x="211782" y="631308"/>
                  </a:lnTo>
                  <a:lnTo>
                    <a:pt x="196595" y="682236"/>
                  </a:lnTo>
                  <a:lnTo>
                    <a:pt x="182304" y="729939"/>
                  </a:lnTo>
                  <a:lnTo>
                    <a:pt x="168150" y="777686"/>
                  </a:lnTo>
                  <a:lnTo>
                    <a:pt x="154110" y="825477"/>
                  </a:lnTo>
                  <a:lnTo>
                    <a:pt x="140159" y="873309"/>
                  </a:lnTo>
                  <a:lnTo>
                    <a:pt x="126270" y="921182"/>
                  </a:lnTo>
                  <a:lnTo>
                    <a:pt x="112420" y="969092"/>
                  </a:lnTo>
                  <a:lnTo>
                    <a:pt x="98583" y="1017040"/>
                  </a:lnTo>
                  <a:lnTo>
                    <a:pt x="84735" y="1065022"/>
                  </a:lnTo>
                  <a:lnTo>
                    <a:pt x="70850" y="1113038"/>
                  </a:lnTo>
                  <a:lnTo>
                    <a:pt x="56903" y="1161085"/>
                  </a:lnTo>
                  <a:lnTo>
                    <a:pt x="42869" y="1209163"/>
                  </a:lnTo>
                  <a:lnTo>
                    <a:pt x="28724" y="1257268"/>
                  </a:lnTo>
                  <a:lnTo>
                    <a:pt x="14443" y="1305401"/>
                  </a:lnTo>
                  <a:lnTo>
                    <a:pt x="0" y="1353558"/>
                  </a:lnTo>
                </a:path>
              </a:pathLst>
            </a:custGeom>
            <a:ln w="23672">
              <a:solidFill>
                <a:srgbClr val="FF0000"/>
              </a:solidFill>
              <a:prstDash val="dot"/>
            </a:ln>
          </p:spPr>
          <p:txBody>
            <a:bodyPr wrap="square" lIns="0" tIns="0" rIns="0" bIns="0" rtlCol="0"/>
            <a:lstStyle/>
            <a:p>
              <a:endParaRPr/>
            </a:p>
          </p:txBody>
        </p:sp>
        <p:sp>
          <p:nvSpPr>
            <p:cNvPr id="38" name="object 38"/>
            <p:cNvSpPr/>
            <p:nvPr/>
          </p:nvSpPr>
          <p:spPr>
            <a:xfrm>
              <a:off x="4285488" y="3024131"/>
              <a:ext cx="811530" cy="1353185"/>
            </a:xfrm>
            <a:custGeom>
              <a:avLst/>
              <a:gdLst/>
              <a:ahLst/>
              <a:cxnLst/>
              <a:rect l="l" t="t" r="r" b="b"/>
              <a:pathLst>
                <a:path w="811529" h="1353185">
                  <a:moveTo>
                    <a:pt x="811529" y="5580"/>
                  </a:moveTo>
                  <a:lnTo>
                    <a:pt x="763472" y="5318"/>
                  </a:lnTo>
                  <a:lnTo>
                    <a:pt x="712030" y="3110"/>
                  </a:lnTo>
                  <a:lnTo>
                    <a:pt x="659134" y="742"/>
                  </a:lnTo>
                  <a:lnTo>
                    <a:pt x="606718" y="0"/>
                  </a:lnTo>
                  <a:lnTo>
                    <a:pt x="556715" y="2670"/>
                  </a:lnTo>
                  <a:lnTo>
                    <a:pt x="511057" y="10539"/>
                  </a:lnTo>
                  <a:lnTo>
                    <a:pt x="471677" y="25392"/>
                  </a:lnTo>
                  <a:lnTo>
                    <a:pt x="434209" y="53324"/>
                  </a:lnTo>
                  <a:lnTo>
                    <a:pt x="405669" y="90543"/>
                  </a:lnTo>
                  <a:lnTo>
                    <a:pt x="383274" y="134049"/>
                  </a:lnTo>
                  <a:lnTo>
                    <a:pt x="364235" y="180840"/>
                  </a:lnTo>
                  <a:lnTo>
                    <a:pt x="345345" y="229917"/>
                  </a:lnTo>
                  <a:lnTo>
                    <a:pt x="327044" y="279290"/>
                  </a:lnTo>
                  <a:lnTo>
                    <a:pt x="309282" y="328939"/>
                  </a:lnTo>
                  <a:lnTo>
                    <a:pt x="292010" y="378838"/>
                  </a:lnTo>
                  <a:lnTo>
                    <a:pt x="275177" y="428966"/>
                  </a:lnTo>
                  <a:lnTo>
                    <a:pt x="258732" y="479300"/>
                  </a:lnTo>
                  <a:lnTo>
                    <a:pt x="242626" y="529817"/>
                  </a:lnTo>
                  <a:lnTo>
                    <a:pt x="226807" y="580494"/>
                  </a:lnTo>
                  <a:lnTo>
                    <a:pt x="211227" y="631308"/>
                  </a:lnTo>
                  <a:lnTo>
                    <a:pt x="195833" y="682236"/>
                  </a:lnTo>
                  <a:lnTo>
                    <a:pt x="181694" y="729938"/>
                  </a:lnTo>
                  <a:lnTo>
                    <a:pt x="167671" y="777684"/>
                  </a:lnTo>
                  <a:lnTo>
                    <a:pt x="153741" y="825469"/>
                  </a:lnTo>
                  <a:lnTo>
                    <a:pt x="139881" y="873291"/>
                  </a:lnTo>
                  <a:lnTo>
                    <a:pt x="126068" y="921147"/>
                  </a:lnTo>
                  <a:lnTo>
                    <a:pt x="112278" y="969032"/>
                  </a:lnTo>
                  <a:lnTo>
                    <a:pt x="98488" y="1016945"/>
                  </a:lnTo>
                  <a:lnTo>
                    <a:pt x="84675" y="1064880"/>
                  </a:lnTo>
                  <a:lnTo>
                    <a:pt x="70815" y="1112836"/>
                  </a:lnTo>
                  <a:lnTo>
                    <a:pt x="56885" y="1160808"/>
                  </a:lnTo>
                  <a:lnTo>
                    <a:pt x="42862" y="1208793"/>
                  </a:lnTo>
                  <a:lnTo>
                    <a:pt x="28722" y="1256789"/>
                  </a:lnTo>
                  <a:lnTo>
                    <a:pt x="14443" y="1304791"/>
                  </a:lnTo>
                  <a:lnTo>
                    <a:pt x="0" y="1352796"/>
                  </a:lnTo>
                </a:path>
              </a:pathLst>
            </a:custGeom>
            <a:ln w="23672">
              <a:solidFill>
                <a:srgbClr val="0000FF"/>
              </a:solidFill>
            </a:ln>
          </p:spPr>
          <p:txBody>
            <a:bodyPr wrap="square" lIns="0" tIns="0" rIns="0" bIns="0" rtlCol="0"/>
            <a:lstStyle/>
            <a:p>
              <a:endParaRPr/>
            </a:p>
          </p:txBody>
        </p:sp>
        <p:sp>
          <p:nvSpPr>
            <p:cNvPr id="39" name="object 39"/>
            <p:cNvSpPr/>
            <p:nvPr/>
          </p:nvSpPr>
          <p:spPr>
            <a:xfrm>
              <a:off x="3049523" y="3017273"/>
              <a:ext cx="811530" cy="1353820"/>
            </a:xfrm>
            <a:custGeom>
              <a:avLst/>
              <a:gdLst/>
              <a:ahLst/>
              <a:cxnLst/>
              <a:rect l="l" t="t" r="r" b="b"/>
              <a:pathLst>
                <a:path w="811529" h="1353820">
                  <a:moveTo>
                    <a:pt x="0" y="5580"/>
                  </a:moveTo>
                  <a:lnTo>
                    <a:pt x="48017" y="5318"/>
                  </a:lnTo>
                  <a:lnTo>
                    <a:pt x="99366" y="3110"/>
                  </a:lnTo>
                  <a:lnTo>
                    <a:pt x="152155" y="742"/>
                  </a:lnTo>
                  <a:lnTo>
                    <a:pt x="204491" y="0"/>
                  </a:lnTo>
                  <a:lnTo>
                    <a:pt x="254481" y="2670"/>
                  </a:lnTo>
                  <a:lnTo>
                    <a:pt x="300232" y="10539"/>
                  </a:lnTo>
                  <a:lnTo>
                    <a:pt x="339851" y="25392"/>
                  </a:lnTo>
                  <a:lnTo>
                    <a:pt x="376999" y="53324"/>
                  </a:lnTo>
                  <a:lnTo>
                    <a:pt x="405574" y="90543"/>
                  </a:lnTo>
                  <a:lnTo>
                    <a:pt x="428148" y="134049"/>
                  </a:lnTo>
                  <a:lnTo>
                    <a:pt x="447293" y="180840"/>
                  </a:lnTo>
                  <a:lnTo>
                    <a:pt x="466183" y="229917"/>
                  </a:lnTo>
                  <a:lnTo>
                    <a:pt x="484479" y="279290"/>
                  </a:lnTo>
                  <a:lnTo>
                    <a:pt x="502226" y="328939"/>
                  </a:lnTo>
                  <a:lnTo>
                    <a:pt x="519470" y="378838"/>
                  </a:lnTo>
                  <a:lnTo>
                    <a:pt x="536257" y="428966"/>
                  </a:lnTo>
                  <a:lnTo>
                    <a:pt x="552632" y="479300"/>
                  </a:lnTo>
                  <a:lnTo>
                    <a:pt x="568642" y="529817"/>
                  </a:lnTo>
                  <a:lnTo>
                    <a:pt x="584332" y="580494"/>
                  </a:lnTo>
                  <a:lnTo>
                    <a:pt x="599747" y="631308"/>
                  </a:lnTo>
                  <a:lnTo>
                    <a:pt x="614933" y="682236"/>
                  </a:lnTo>
                  <a:lnTo>
                    <a:pt x="629084" y="729939"/>
                  </a:lnTo>
                  <a:lnTo>
                    <a:pt x="643139" y="777686"/>
                  </a:lnTo>
                  <a:lnTo>
                    <a:pt x="657116" y="825477"/>
                  </a:lnTo>
                  <a:lnTo>
                    <a:pt x="671037" y="873309"/>
                  </a:lnTo>
                  <a:lnTo>
                    <a:pt x="684921" y="921182"/>
                  </a:lnTo>
                  <a:lnTo>
                    <a:pt x="698789" y="969092"/>
                  </a:lnTo>
                  <a:lnTo>
                    <a:pt x="712660" y="1017040"/>
                  </a:lnTo>
                  <a:lnTo>
                    <a:pt x="726554" y="1065022"/>
                  </a:lnTo>
                  <a:lnTo>
                    <a:pt x="740492" y="1113038"/>
                  </a:lnTo>
                  <a:lnTo>
                    <a:pt x="754493" y="1161085"/>
                  </a:lnTo>
                  <a:lnTo>
                    <a:pt x="768577" y="1209163"/>
                  </a:lnTo>
                  <a:lnTo>
                    <a:pt x="782765" y="1257268"/>
                  </a:lnTo>
                  <a:lnTo>
                    <a:pt x="797075" y="1305401"/>
                  </a:lnTo>
                  <a:lnTo>
                    <a:pt x="811529" y="1353558"/>
                  </a:lnTo>
                </a:path>
              </a:pathLst>
            </a:custGeom>
            <a:ln w="23672">
              <a:solidFill>
                <a:srgbClr val="FF0000"/>
              </a:solidFill>
              <a:prstDash val="dot"/>
            </a:ln>
          </p:spPr>
          <p:txBody>
            <a:bodyPr wrap="square" lIns="0" tIns="0" rIns="0" bIns="0" rtlCol="0"/>
            <a:lstStyle/>
            <a:p>
              <a:endParaRPr/>
            </a:p>
          </p:txBody>
        </p:sp>
        <p:sp>
          <p:nvSpPr>
            <p:cNvPr id="40" name="object 40"/>
            <p:cNvSpPr/>
            <p:nvPr/>
          </p:nvSpPr>
          <p:spPr>
            <a:xfrm>
              <a:off x="2807969" y="3024131"/>
              <a:ext cx="811530" cy="1353185"/>
            </a:xfrm>
            <a:custGeom>
              <a:avLst/>
              <a:gdLst/>
              <a:ahLst/>
              <a:cxnLst/>
              <a:rect l="l" t="t" r="r" b="b"/>
              <a:pathLst>
                <a:path w="811529" h="1353185">
                  <a:moveTo>
                    <a:pt x="0" y="5580"/>
                  </a:moveTo>
                  <a:lnTo>
                    <a:pt x="48057" y="5318"/>
                  </a:lnTo>
                  <a:lnTo>
                    <a:pt x="99499" y="3110"/>
                  </a:lnTo>
                  <a:lnTo>
                    <a:pt x="152395" y="742"/>
                  </a:lnTo>
                  <a:lnTo>
                    <a:pt x="204811" y="0"/>
                  </a:lnTo>
                  <a:lnTo>
                    <a:pt x="254814" y="2670"/>
                  </a:lnTo>
                  <a:lnTo>
                    <a:pt x="300472" y="10539"/>
                  </a:lnTo>
                  <a:lnTo>
                    <a:pt x="339852" y="25392"/>
                  </a:lnTo>
                  <a:lnTo>
                    <a:pt x="376999" y="53324"/>
                  </a:lnTo>
                  <a:lnTo>
                    <a:pt x="405574" y="90543"/>
                  </a:lnTo>
                  <a:lnTo>
                    <a:pt x="428148" y="134049"/>
                  </a:lnTo>
                  <a:lnTo>
                    <a:pt x="447294" y="180840"/>
                  </a:lnTo>
                  <a:lnTo>
                    <a:pt x="466184" y="229917"/>
                  </a:lnTo>
                  <a:lnTo>
                    <a:pt x="484485" y="279290"/>
                  </a:lnTo>
                  <a:lnTo>
                    <a:pt x="502247" y="328939"/>
                  </a:lnTo>
                  <a:lnTo>
                    <a:pt x="519519" y="378838"/>
                  </a:lnTo>
                  <a:lnTo>
                    <a:pt x="536352" y="428966"/>
                  </a:lnTo>
                  <a:lnTo>
                    <a:pt x="552797" y="479300"/>
                  </a:lnTo>
                  <a:lnTo>
                    <a:pt x="568903" y="529817"/>
                  </a:lnTo>
                  <a:lnTo>
                    <a:pt x="584722" y="580494"/>
                  </a:lnTo>
                  <a:lnTo>
                    <a:pt x="600302" y="631308"/>
                  </a:lnTo>
                  <a:lnTo>
                    <a:pt x="615696" y="682236"/>
                  </a:lnTo>
                  <a:lnTo>
                    <a:pt x="629835" y="729938"/>
                  </a:lnTo>
                  <a:lnTo>
                    <a:pt x="643858" y="777684"/>
                  </a:lnTo>
                  <a:lnTo>
                    <a:pt x="657788" y="825469"/>
                  </a:lnTo>
                  <a:lnTo>
                    <a:pt x="671648" y="873291"/>
                  </a:lnTo>
                  <a:lnTo>
                    <a:pt x="685461" y="921147"/>
                  </a:lnTo>
                  <a:lnTo>
                    <a:pt x="699251" y="969032"/>
                  </a:lnTo>
                  <a:lnTo>
                    <a:pt x="713041" y="1016945"/>
                  </a:lnTo>
                  <a:lnTo>
                    <a:pt x="726854" y="1064880"/>
                  </a:lnTo>
                  <a:lnTo>
                    <a:pt x="740714" y="1112836"/>
                  </a:lnTo>
                  <a:lnTo>
                    <a:pt x="754644" y="1160808"/>
                  </a:lnTo>
                  <a:lnTo>
                    <a:pt x="768667" y="1208793"/>
                  </a:lnTo>
                  <a:lnTo>
                    <a:pt x="782807" y="1256789"/>
                  </a:lnTo>
                  <a:lnTo>
                    <a:pt x="797086" y="1304791"/>
                  </a:lnTo>
                  <a:lnTo>
                    <a:pt x="811530" y="1352796"/>
                  </a:lnTo>
                </a:path>
              </a:pathLst>
            </a:custGeom>
            <a:ln w="23672">
              <a:solidFill>
                <a:srgbClr val="0000FF"/>
              </a:solidFill>
            </a:ln>
          </p:spPr>
          <p:txBody>
            <a:bodyPr wrap="square" lIns="0" tIns="0" rIns="0" bIns="0" rtlCol="0"/>
            <a:lstStyle/>
            <a:p>
              <a:endParaRPr/>
            </a:p>
          </p:txBody>
        </p:sp>
      </p:grpSp>
      <p:sp>
        <p:nvSpPr>
          <p:cNvPr id="41" name="object 41"/>
          <p:cNvSpPr/>
          <p:nvPr/>
        </p:nvSpPr>
        <p:spPr>
          <a:xfrm>
            <a:off x="8167116" y="3029465"/>
            <a:ext cx="811530" cy="1353185"/>
          </a:xfrm>
          <a:custGeom>
            <a:avLst/>
            <a:gdLst/>
            <a:ahLst/>
            <a:cxnLst/>
            <a:rect l="l" t="t" r="r" b="b"/>
            <a:pathLst>
              <a:path w="811529" h="1353185">
                <a:moveTo>
                  <a:pt x="811529" y="5580"/>
                </a:moveTo>
                <a:lnTo>
                  <a:pt x="763512" y="5318"/>
                </a:lnTo>
                <a:lnTo>
                  <a:pt x="712163" y="3110"/>
                </a:lnTo>
                <a:lnTo>
                  <a:pt x="659374" y="742"/>
                </a:lnTo>
                <a:lnTo>
                  <a:pt x="607038" y="0"/>
                </a:lnTo>
                <a:lnTo>
                  <a:pt x="557048" y="2670"/>
                </a:lnTo>
                <a:lnTo>
                  <a:pt x="511297" y="10539"/>
                </a:lnTo>
                <a:lnTo>
                  <a:pt x="471677" y="25392"/>
                </a:lnTo>
                <a:lnTo>
                  <a:pt x="434530" y="53312"/>
                </a:lnTo>
                <a:lnTo>
                  <a:pt x="405955" y="90448"/>
                </a:lnTo>
                <a:lnTo>
                  <a:pt x="383381" y="133727"/>
                </a:lnTo>
                <a:lnTo>
                  <a:pt x="364235" y="180078"/>
                </a:lnTo>
                <a:lnTo>
                  <a:pt x="345346" y="229361"/>
                </a:lnTo>
                <a:lnTo>
                  <a:pt x="327050" y="278900"/>
                </a:lnTo>
                <a:lnTo>
                  <a:pt x="309303" y="328677"/>
                </a:lnTo>
                <a:lnTo>
                  <a:pt x="292059" y="378674"/>
                </a:lnTo>
                <a:lnTo>
                  <a:pt x="275272" y="428871"/>
                </a:lnTo>
                <a:lnTo>
                  <a:pt x="258897" y="479251"/>
                </a:lnTo>
                <a:lnTo>
                  <a:pt x="242887" y="529796"/>
                </a:lnTo>
                <a:lnTo>
                  <a:pt x="227197" y="580488"/>
                </a:lnTo>
                <a:lnTo>
                  <a:pt x="211782" y="631307"/>
                </a:lnTo>
                <a:lnTo>
                  <a:pt x="196595" y="682236"/>
                </a:lnTo>
                <a:lnTo>
                  <a:pt x="182304" y="729938"/>
                </a:lnTo>
                <a:lnTo>
                  <a:pt x="168150" y="777684"/>
                </a:lnTo>
                <a:lnTo>
                  <a:pt x="154110" y="825469"/>
                </a:lnTo>
                <a:lnTo>
                  <a:pt x="140159" y="873291"/>
                </a:lnTo>
                <a:lnTo>
                  <a:pt x="126270" y="921147"/>
                </a:lnTo>
                <a:lnTo>
                  <a:pt x="112420" y="969032"/>
                </a:lnTo>
                <a:lnTo>
                  <a:pt x="98583" y="1016945"/>
                </a:lnTo>
                <a:lnTo>
                  <a:pt x="84735" y="1064880"/>
                </a:lnTo>
                <a:lnTo>
                  <a:pt x="70850" y="1112836"/>
                </a:lnTo>
                <a:lnTo>
                  <a:pt x="56903" y="1160808"/>
                </a:lnTo>
                <a:lnTo>
                  <a:pt x="42869" y="1208793"/>
                </a:lnTo>
                <a:lnTo>
                  <a:pt x="28724" y="1256789"/>
                </a:lnTo>
                <a:lnTo>
                  <a:pt x="14443" y="1304791"/>
                </a:lnTo>
                <a:lnTo>
                  <a:pt x="0" y="1352796"/>
                </a:lnTo>
              </a:path>
            </a:pathLst>
          </a:custGeom>
          <a:ln w="23672">
            <a:solidFill>
              <a:srgbClr val="FF0000"/>
            </a:solidFill>
            <a:prstDash val="dot"/>
          </a:ln>
        </p:spPr>
        <p:txBody>
          <a:bodyPr wrap="square" lIns="0" tIns="0" rIns="0" bIns="0" rtlCol="0"/>
          <a:lstStyle/>
          <a:p>
            <a:endParaRPr/>
          </a:p>
        </p:txBody>
      </p:sp>
      <p:grpSp>
        <p:nvGrpSpPr>
          <p:cNvPr id="42" name="object 42"/>
          <p:cNvGrpSpPr/>
          <p:nvPr/>
        </p:nvGrpSpPr>
        <p:grpSpPr>
          <a:xfrm>
            <a:off x="5800153" y="2621279"/>
            <a:ext cx="3201670" cy="1900555"/>
            <a:chOff x="5800153" y="2621279"/>
            <a:chExt cx="3201670" cy="1900555"/>
          </a:xfrm>
        </p:grpSpPr>
        <p:sp>
          <p:nvSpPr>
            <p:cNvPr id="43" name="object 43"/>
            <p:cNvSpPr/>
            <p:nvPr/>
          </p:nvSpPr>
          <p:spPr>
            <a:xfrm>
              <a:off x="5804915" y="2871977"/>
              <a:ext cx="622300" cy="311785"/>
            </a:xfrm>
            <a:custGeom>
              <a:avLst/>
              <a:gdLst/>
              <a:ahLst/>
              <a:cxnLst/>
              <a:rect l="l" t="t" r="r" b="b"/>
              <a:pathLst>
                <a:path w="622300" h="311785">
                  <a:moveTo>
                    <a:pt x="621791" y="311657"/>
                  </a:moveTo>
                  <a:lnTo>
                    <a:pt x="621791" y="0"/>
                  </a:lnTo>
                  <a:lnTo>
                    <a:pt x="0" y="0"/>
                  </a:lnTo>
                  <a:lnTo>
                    <a:pt x="0" y="311657"/>
                  </a:lnTo>
                  <a:lnTo>
                    <a:pt x="621791" y="311657"/>
                  </a:lnTo>
                  <a:close/>
                </a:path>
              </a:pathLst>
            </a:custGeom>
            <a:solidFill>
              <a:srgbClr val="FFFFFF"/>
            </a:solidFill>
          </p:spPr>
          <p:txBody>
            <a:bodyPr wrap="square" lIns="0" tIns="0" rIns="0" bIns="0" rtlCol="0"/>
            <a:lstStyle/>
            <a:p>
              <a:endParaRPr/>
            </a:p>
          </p:txBody>
        </p:sp>
        <p:sp>
          <p:nvSpPr>
            <p:cNvPr id="44" name="object 44"/>
            <p:cNvSpPr/>
            <p:nvPr/>
          </p:nvSpPr>
          <p:spPr>
            <a:xfrm>
              <a:off x="5804915" y="2871977"/>
              <a:ext cx="622300" cy="311785"/>
            </a:xfrm>
            <a:custGeom>
              <a:avLst/>
              <a:gdLst/>
              <a:ahLst/>
              <a:cxnLst/>
              <a:rect l="l" t="t" r="r" b="b"/>
              <a:pathLst>
                <a:path w="622300" h="311785">
                  <a:moveTo>
                    <a:pt x="0" y="0"/>
                  </a:moveTo>
                  <a:lnTo>
                    <a:pt x="0" y="311658"/>
                  </a:lnTo>
                  <a:lnTo>
                    <a:pt x="621792" y="311658"/>
                  </a:lnTo>
                  <a:lnTo>
                    <a:pt x="621792" y="0"/>
                  </a:lnTo>
                  <a:lnTo>
                    <a:pt x="0" y="0"/>
                  </a:lnTo>
                  <a:close/>
                </a:path>
              </a:pathLst>
            </a:custGeom>
            <a:ln w="9499">
              <a:solidFill>
                <a:srgbClr val="FFFFFF"/>
              </a:solidFill>
            </a:ln>
          </p:spPr>
          <p:txBody>
            <a:bodyPr wrap="square" lIns="0" tIns="0" rIns="0" bIns="0" rtlCol="0"/>
            <a:lstStyle/>
            <a:p>
              <a:endParaRPr/>
            </a:p>
          </p:txBody>
        </p:sp>
        <p:sp>
          <p:nvSpPr>
            <p:cNvPr id="45" name="object 45"/>
            <p:cNvSpPr/>
            <p:nvPr/>
          </p:nvSpPr>
          <p:spPr>
            <a:xfrm>
              <a:off x="6456425" y="2795777"/>
              <a:ext cx="0" cy="1713864"/>
            </a:xfrm>
            <a:custGeom>
              <a:avLst/>
              <a:gdLst/>
              <a:ahLst/>
              <a:cxnLst/>
              <a:rect l="l" t="t" r="r" b="b"/>
              <a:pathLst>
                <a:path h="1713864">
                  <a:moveTo>
                    <a:pt x="0" y="0"/>
                  </a:moveTo>
                  <a:lnTo>
                    <a:pt x="0" y="1713738"/>
                  </a:lnTo>
                </a:path>
              </a:pathLst>
            </a:custGeom>
            <a:ln w="23647">
              <a:solidFill>
                <a:srgbClr val="000000"/>
              </a:solidFill>
            </a:ln>
          </p:spPr>
          <p:txBody>
            <a:bodyPr wrap="square" lIns="0" tIns="0" rIns="0" bIns="0" rtlCol="0"/>
            <a:lstStyle/>
            <a:p>
              <a:endParaRPr/>
            </a:p>
          </p:txBody>
        </p:sp>
        <p:sp>
          <p:nvSpPr>
            <p:cNvPr id="46" name="object 46"/>
            <p:cNvSpPr/>
            <p:nvPr/>
          </p:nvSpPr>
          <p:spPr>
            <a:xfrm>
              <a:off x="6393179" y="2621279"/>
              <a:ext cx="127635" cy="189865"/>
            </a:xfrm>
            <a:custGeom>
              <a:avLst/>
              <a:gdLst/>
              <a:ahLst/>
              <a:cxnLst/>
              <a:rect l="l" t="t" r="r" b="b"/>
              <a:pathLst>
                <a:path w="127634" h="189864">
                  <a:moveTo>
                    <a:pt x="127254" y="189737"/>
                  </a:moveTo>
                  <a:lnTo>
                    <a:pt x="63245" y="0"/>
                  </a:lnTo>
                  <a:lnTo>
                    <a:pt x="0" y="189737"/>
                  </a:lnTo>
                  <a:lnTo>
                    <a:pt x="127254" y="189737"/>
                  </a:lnTo>
                  <a:close/>
                </a:path>
              </a:pathLst>
            </a:custGeom>
            <a:solidFill>
              <a:srgbClr val="000000"/>
            </a:solidFill>
          </p:spPr>
          <p:txBody>
            <a:bodyPr wrap="square" lIns="0" tIns="0" rIns="0" bIns="0" rtlCol="0"/>
            <a:lstStyle/>
            <a:p>
              <a:endParaRPr/>
            </a:p>
          </p:txBody>
        </p:sp>
        <p:sp>
          <p:nvSpPr>
            <p:cNvPr id="47" name="object 47"/>
            <p:cNvSpPr/>
            <p:nvPr/>
          </p:nvSpPr>
          <p:spPr>
            <a:xfrm>
              <a:off x="6226301" y="4319777"/>
              <a:ext cx="2600325" cy="0"/>
            </a:xfrm>
            <a:custGeom>
              <a:avLst/>
              <a:gdLst/>
              <a:ahLst/>
              <a:cxnLst/>
              <a:rect l="l" t="t" r="r" b="b"/>
              <a:pathLst>
                <a:path w="2600325">
                  <a:moveTo>
                    <a:pt x="2599944" y="0"/>
                  </a:moveTo>
                  <a:lnTo>
                    <a:pt x="0" y="0"/>
                  </a:lnTo>
                </a:path>
              </a:pathLst>
            </a:custGeom>
            <a:ln w="23736">
              <a:solidFill>
                <a:srgbClr val="000000"/>
              </a:solidFill>
            </a:ln>
          </p:spPr>
          <p:txBody>
            <a:bodyPr wrap="square" lIns="0" tIns="0" rIns="0" bIns="0" rtlCol="0"/>
            <a:lstStyle/>
            <a:p>
              <a:endParaRPr/>
            </a:p>
          </p:txBody>
        </p:sp>
        <p:sp>
          <p:nvSpPr>
            <p:cNvPr id="48" name="object 48"/>
            <p:cNvSpPr/>
            <p:nvPr/>
          </p:nvSpPr>
          <p:spPr>
            <a:xfrm>
              <a:off x="8810243" y="4256531"/>
              <a:ext cx="191770" cy="127000"/>
            </a:xfrm>
            <a:custGeom>
              <a:avLst/>
              <a:gdLst/>
              <a:ahLst/>
              <a:cxnLst/>
              <a:rect l="l" t="t" r="r" b="b"/>
              <a:pathLst>
                <a:path w="191770" h="127000">
                  <a:moveTo>
                    <a:pt x="191262" y="63245"/>
                  </a:moveTo>
                  <a:lnTo>
                    <a:pt x="0" y="0"/>
                  </a:lnTo>
                  <a:lnTo>
                    <a:pt x="0" y="126491"/>
                  </a:lnTo>
                  <a:lnTo>
                    <a:pt x="191262" y="63245"/>
                  </a:lnTo>
                  <a:close/>
                </a:path>
              </a:pathLst>
            </a:custGeom>
            <a:solidFill>
              <a:srgbClr val="000000"/>
            </a:solidFill>
          </p:spPr>
          <p:txBody>
            <a:bodyPr wrap="square" lIns="0" tIns="0" rIns="0" bIns="0" rtlCol="0"/>
            <a:lstStyle/>
            <a:p>
              <a:endParaRPr/>
            </a:p>
          </p:txBody>
        </p:sp>
        <p:sp>
          <p:nvSpPr>
            <p:cNvPr id="49" name="object 49"/>
            <p:cNvSpPr/>
            <p:nvPr/>
          </p:nvSpPr>
          <p:spPr>
            <a:xfrm>
              <a:off x="6673595"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50" name="object 50"/>
            <p:cNvSpPr/>
            <p:nvPr/>
          </p:nvSpPr>
          <p:spPr>
            <a:xfrm>
              <a:off x="8558021"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51" name="object 51"/>
            <p:cNvSpPr/>
            <p:nvPr/>
          </p:nvSpPr>
          <p:spPr>
            <a:xfrm>
              <a:off x="6780275" y="4456175"/>
              <a:ext cx="1671955" cy="0"/>
            </a:xfrm>
            <a:custGeom>
              <a:avLst/>
              <a:gdLst/>
              <a:ahLst/>
              <a:cxnLst/>
              <a:rect l="l" t="t" r="r" b="b"/>
              <a:pathLst>
                <a:path w="1671954">
                  <a:moveTo>
                    <a:pt x="0" y="0"/>
                  </a:moveTo>
                  <a:lnTo>
                    <a:pt x="1671827" y="0"/>
                  </a:lnTo>
                </a:path>
              </a:pathLst>
            </a:custGeom>
            <a:ln w="15824">
              <a:solidFill>
                <a:srgbClr val="000000"/>
              </a:solidFill>
            </a:ln>
          </p:spPr>
          <p:txBody>
            <a:bodyPr wrap="square" lIns="0" tIns="0" rIns="0" bIns="0" rtlCol="0"/>
            <a:lstStyle/>
            <a:p>
              <a:endParaRPr/>
            </a:p>
          </p:txBody>
        </p:sp>
        <p:sp>
          <p:nvSpPr>
            <p:cNvPr id="52" name="object 52"/>
            <p:cNvSpPr/>
            <p:nvPr/>
          </p:nvSpPr>
          <p:spPr>
            <a:xfrm>
              <a:off x="6673596" y="4418075"/>
              <a:ext cx="1884680" cy="77470"/>
            </a:xfrm>
            <a:custGeom>
              <a:avLst/>
              <a:gdLst/>
              <a:ahLst/>
              <a:cxnLst/>
              <a:rect l="l" t="t" r="r" b="b"/>
              <a:pathLst>
                <a:path w="1884679" h="77470">
                  <a:moveTo>
                    <a:pt x="115824" y="0"/>
                  </a:moveTo>
                  <a:lnTo>
                    <a:pt x="0" y="38100"/>
                  </a:lnTo>
                  <a:lnTo>
                    <a:pt x="115824" y="76962"/>
                  </a:lnTo>
                  <a:lnTo>
                    <a:pt x="115824" y="0"/>
                  </a:lnTo>
                  <a:close/>
                </a:path>
                <a:path w="1884679" h="77470">
                  <a:moveTo>
                    <a:pt x="1884426" y="38100"/>
                  </a:moveTo>
                  <a:lnTo>
                    <a:pt x="1768602" y="0"/>
                  </a:lnTo>
                  <a:lnTo>
                    <a:pt x="1768602" y="76962"/>
                  </a:lnTo>
                  <a:lnTo>
                    <a:pt x="1884426" y="38100"/>
                  </a:lnTo>
                  <a:close/>
                </a:path>
              </a:pathLst>
            </a:custGeom>
            <a:solidFill>
              <a:srgbClr val="000000"/>
            </a:solidFill>
          </p:spPr>
          <p:txBody>
            <a:bodyPr wrap="square" lIns="0" tIns="0" rIns="0" bIns="0" rtlCol="0"/>
            <a:lstStyle/>
            <a:p>
              <a:endParaRPr/>
            </a:p>
          </p:txBody>
        </p:sp>
        <p:sp>
          <p:nvSpPr>
            <p:cNvPr id="53" name="object 53"/>
            <p:cNvSpPr/>
            <p:nvPr/>
          </p:nvSpPr>
          <p:spPr>
            <a:xfrm>
              <a:off x="6456425" y="3732275"/>
              <a:ext cx="2386965" cy="0"/>
            </a:xfrm>
            <a:custGeom>
              <a:avLst/>
              <a:gdLst/>
              <a:ahLst/>
              <a:cxnLst/>
              <a:rect l="l" t="t" r="r" b="b"/>
              <a:pathLst>
                <a:path w="2386965">
                  <a:moveTo>
                    <a:pt x="0" y="0"/>
                  </a:moveTo>
                  <a:lnTo>
                    <a:pt x="2386583" y="0"/>
                  </a:lnTo>
                </a:path>
              </a:pathLst>
            </a:custGeom>
            <a:ln w="11874">
              <a:solidFill>
                <a:srgbClr val="000000"/>
              </a:solidFill>
              <a:prstDash val="sysDash"/>
            </a:ln>
          </p:spPr>
          <p:txBody>
            <a:bodyPr wrap="square" lIns="0" tIns="0" rIns="0" bIns="0" rtlCol="0"/>
            <a:lstStyle/>
            <a:p>
              <a:endParaRPr/>
            </a:p>
          </p:txBody>
        </p:sp>
      </p:grpSp>
      <p:sp>
        <p:nvSpPr>
          <p:cNvPr id="54" name="object 54"/>
          <p:cNvSpPr txBox="1"/>
          <p:nvPr/>
        </p:nvSpPr>
        <p:spPr>
          <a:xfrm>
            <a:off x="7098296" y="2545670"/>
            <a:ext cx="1023619" cy="551180"/>
          </a:xfrm>
          <a:prstGeom prst="rect">
            <a:avLst/>
          </a:prstGeom>
        </p:spPr>
        <p:txBody>
          <a:bodyPr vert="horz" wrap="square" lIns="0" tIns="8890" rIns="0" bIns="0" rtlCol="0">
            <a:spAutoFit/>
          </a:bodyPr>
          <a:lstStyle/>
          <a:p>
            <a:pPr marL="12700" marR="5080" indent="156845">
              <a:lnSpc>
                <a:spcPct val="102099"/>
              </a:lnSpc>
              <a:spcBef>
                <a:spcPts val="70"/>
              </a:spcBef>
            </a:pPr>
            <a:r>
              <a:rPr sz="1700" spc="-10" dirty="0">
                <a:latin typeface="Calibri"/>
                <a:cs typeface="Calibri"/>
              </a:rPr>
              <a:t>Vertical </a:t>
            </a:r>
            <a:r>
              <a:rPr sz="1700" dirty="0">
                <a:latin typeface="Calibri"/>
                <a:cs typeface="Calibri"/>
              </a:rPr>
              <a:t>eye</a:t>
            </a:r>
            <a:r>
              <a:rPr sz="1700" spc="40" dirty="0">
                <a:latin typeface="Calibri"/>
                <a:cs typeface="Calibri"/>
              </a:rPr>
              <a:t> </a:t>
            </a:r>
            <a:r>
              <a:rPr sz="1700" spc="-10" dirty="0">
                <a:latin typeface="Calibri"/>
                <a:cs typeface="Calibri"/>
              </a:rPr>
              <a:t>margin</a:t>
            </a:r>
            <a:endParaRPr sz="1700">
              <a:latin typeface="Calibri"/>
              <a:cs typeface="Calibri"/>
            </a:endParaRPr>
          </a:p>
        </p:txBody>
      </p:sp>
      <p:grpSp>
        <p:nvGrpSpPr>
          <p:cNvPr id="55" name="object 55"/>
          <p:cNvGrpSpPr/>
          <p:nvPr/>
        </p:nvGrpSpPr>
        <p:grpSpPr>
          <a:xfrm>
            <a:off x="6444360" y="3012066"/>
            <a:ext cx="2325370" cy="1377315"/>
            <a:chOff x="6444360" y="3012066"/>
            <a:chExt cx="2325370" cy="1377315"/>
          </a:xfrm>
        </p:grpSpPr>
        <p:sp>
          <p:nvSpPr>
            <p:cNvPr id="56" name="object 56"/>
            <p:cNvSpPr/>
            <p:nvPr/>
          </p:nvSpPr>
          <p:spPr>
            <a:xfrm>
              <a:off x="7946135" y="3024131"/>
              <a:ext cx="811530" cy="1353185"/>
            </a:xfrm>
            <a:custGeom>
              <a:avLst/>
              <a:gdLst/>
              <a:ahLst/>
              <a:cxnLst/>
              <a:rect l="l" t="t" r="r" b="b"/>
              <a:pathLst>
                <a:path w="811529" h="1353185">
                  <a:moveTo>
                    <a:pt x="811529" y="5580"/>
                  </a:moveTo>
                  <a:lnTo>
                    <a:pt x="763512" y="5318"/>
                  </a:lnTo>
                  <a:lnTo>
                    <a:pt x="712163" y="3110"/>
                  </a:lnTo>
                  <a:lnTo>
                    <a:pt x="659374" y="742"/>
                  </a:lnTo>
                  <a:lnTo>
                    <a:pt x="607038" y="0"/>
                  </a:lnTo>
                  <a:lnTo>
                    <a:pt x="557048" y="2670"/>
                  </a:lnTo>
                  <a:lnTo>
                    <a:pt x="511297" y="10539"/>
                  </a:lnTo>
                  <a:lnTo>
                    <a:pt x="471677" y="25392"/>
                  </a:lnTo>
                  <a:lnTo>
                    <a:pt x="434530" y="53324"/>
                  </a:lnTo>
                  <a:lnTo>
                    <a:pt x="405955" y="90543"/>
                  </a:lnTo>
                  <a:lnTo>
                    <a:pt x="383381" y="134049"/>
                  </a:lnTo>
                  <a:lnTo>
                    <a:pt x="364235" y="180840"/>
                  </a:lnTo>
                  <a:lnTo>
                    <a:pt x="345346" y="229917"/>
                  </a:lnTo>
                  <a:lnTo>
                    <a:pt x="327050" y="279290"/>
                  </a:lnTo>
                  <a:lnTo>
                    <a:pt x="309303" y="328939"/>
                  </a:lnTo>
                  <a:lnTo>
                    <a:pt x="292059" y="378838"/>
                  </a:lnTo>
                  <a:lnTo>
                    <a:pt x="275272" y="428966"/>
                  </a:lnTo>
                  <a:lnTo>
                    <a:pt x="258897" y="479300"/>
                  </a:lnTo>
                  <a:lnTo>
                    <a:pt x="242887" y="529817"/>
                  </a:lnTo>
                  <a:lnTo>
                    <a:pt x="227197" y="580494"/>
                  </a:lnTo>
                  <a:lnTo>
                    <a:pt x="211782" y="631308"/>
                  </a:lnTo>
                  <a:lnTo>
                    <a:pt x="196595" y="682236"/>
                  </a:lnTo>
                  <a:lnTo>
                    <a:pt x="182445" y="729938"/>
                  </a:lnTo>
                  <a:lnTo>
                    <a:pt x="168390" y="777684"/>
                  </a:lnTo>
                  <a:lnTo>
                    <a:pt x="154413" y="825469"/>
                  </a:lnTo>
                  <a:lnTo>
                    <a:pt x="140492" y="873291"/>
                  </a:lnTo>
                  <a:lnTo>
                    <a:pt x="126608" y="921147"/>
                  </a:lnTo>
                  <a:lnTo>
                    <a:pt x="112740" y="969032"/>
                  </a:lnTo>
                  <a:lnTo>
                    <a:pt x="98869" y="1016945"/>
                  </a:lnTo>
                  <a:lnTo>
                    <a:pt x="84975" y="1064880"/>
                  </a:lnTo>
                  <a:lnTo>
                    <a:pt x="71037" y="1112836"/>
                  </a:lnTo>
                  <a:lnTo>
                    <a:pt x="57036" y="1160808"/>
                  </a:lnTo>
                  <a:lnTo>
                    <a:pt x="42952" y="1208793"/>
                  </a:lnTo>
                  <a:lnTo>
                    <a:pt x="28764" y="1256789"/>
                  </a:lnTo>
                  <a:lnTo>
                    <a:pt x="14454" y="1304791"/>
                  </a:lnTo>
                  <a:lnTo>
                    <a:pt x="0" y="1352796"/>
                  </a:lnTo>
                </a:path>
              </a:pathLst>
            </a:custGeom>
            <a:ln w="23672">
              <a:solidFill>
                <a:srgbClr val="0000FF"/>
              </a:solidFill>
            </a:ln>
          </p:spPr>
          <p:txBody>
            <a:bodyPr wrap="square" lIns="0" tIns="0" rIns="0" bIns="0" rtlCol="0"/>
            <a:lstStyle/>
            <a:p>
              <a:endParaRPr/>
            </a:p>
          </p:txBody>
        </p:sp>
        <p:sp>
          <p:nvSpPr>
            <p:cNvPr id="57" name="object 57"/>
            <p:cNvSpPr/>
            <p:nvPr/>
          </p:nvSpPr>
          <p:spPr>
            <a:xfrm>
              <a:off x="6456425" y="3024131"/>
              <a:ext cx="811530" cy="1353185"/>
            </a:xfrm>
            <a:custGeom>
              <a:avLst/>
              <a:gdLst/>
              <a:ahLst/>
              <a:cxnLst/>
              <a:rect l="l" t="t" r="r" b="b"/>
              <a:pathLst>
                <a:path w="811529" h="1353185">
                  <a:moveTo>
                    <a:pt x="0" y="5580"/>
                  </a:moveTo>
                  <a:lnTo>
                    <a:pt x="48057" y="5318"/>
                  </a:lnTo>
                  <a:lnTo>
                    <a:pt x="99499" y="3110"/>
                  </a:lnTo>
                  <a:lnTo>
                    <a:pt x="152395" y="742"/>
                  </a:lnTo>
                  <a:lnTo>
                    <a:pt x="204811" y="0"/>
                  </a:lnTo>
                  <a:lnTo>
                    <a:pt x="254814" y="2670"/>
                  </a:lnTo>
                  <a:lnTo>
                    <a:pt x="300472" y="10539"/>
                  </a:lnTo>
                  <a:lnTo>
                    <a:pt x="339852" y="25392"/>
                  </a:lnTo>
                  <a:lnTo>
                    <a:pt x="376999" y="53324"/>
                  </a:lnTo>
                  <a:lnTo>
                    <a:pt x="405574" y="90543"/>
                  </a:lnTo>
                  <a:lnTo>
                    <a:pt x="428148" y="134049"/>
                  </a:lnTo>
                  <a:lnTo>
                    <a:pt x="447294" y="180840"/>
                  </a:lnTo>
                  <a:lnTo>
                    <a:pt x="466184" y="229917"/>
                  </a:lnTo>
                  <a:lnTo>
                    <a:pt x="484485" y="279290"/>
                  </a:lnTo>
                  <a:lnTo>
                    <a:pt x="502247" y="328939"/>
                  </a:lnTo>
                  <a:lnTo>
                    <a:pt x="519519" y="378838"/>
                  </a:lnTo>
                  <a:lnTo>
                    <a:pt x="536352" y="428966"/>
                  </a:lnTo>
                  <a:lnTo>
                    <a:pt x="552797" y="479300"/>
                  </a:lnTo>
                  <a:lnTo>
                    <a:pt x="568903" y="529817"/>
                  </a:lnTo>
                  <a:lnTo>
                    <a:pt x="584722" y="580494"/>
                  </a:lnTo>
                  <a:lnTo>
                    <a:pt x="600302" y="631308"/>
                  </a:lnTo>
                  <a:lnTo>
                    <a:pt x="615696" y="682236"/>
                  </a:lnTo>
                  <a:lnTo>
                    <a:pt x="629835" y="729938"/>
                  </a:lnTo>
                  <a:lnTo>
                    <a:pt x="643858" y="777684"/>
                  </a:lnTo>
                  <a:lnTo>
                    <a:pt x="657788" y="825469"/>
                  </a:lnTo>
                  <a:lnTo>
                    <a:pt x="671648" y="873291"/>
                  </a:lnTo>
                  <a:lnTo>
                    <a:pt x="685461" y="921147"/>
                  </a:lnTo>
                  <a:lnTo>
                    <a:pt x="699251" y="969032"/>
                  </a:lnTo>
                  <a:lnTo>
                    <a:pt x="713041" y="1016945"/>
                  </a:lnTo>
                  <a:lnTo>
                    <a:pt x="726854" y="1064880"/>
                  </a:lnTo>
                  <a:lnTo>
                    <a:pt x="740714" y="1112836"/>
                  </a:lnTo>
                  <a:lnTo>
                    <a:pt x="754644" y="1160808"/>
                  </a:lnTo>
                  <a:lnTo>
                    <a:pt x="768667" y="1208793"/>
                  </a:lnTo>
                  <a:lnTo>
                    <a:pt x="782807" y="1256789"/>
                  </a:lnTo>
                  <a:lnTo>
                    <a:pt x="797086" y="1304791"/>
                  </a:lnTo>
                  <a:lnTo>
                    <a:pt x="811530" y="1352796"/>
                  </a:lnTo>
                </a:path>
              </a:pathLst>
            </a:custGeom>
            <a:ln w="23672">
              <a:solidFill>
                <a:srgbClr val="0000FF"/>
              </a:solidFill>
            </a:ln>
          </p:spPr>
          <p:txBody>
            <a:bodyPr wrap="square" lIns="0" tIns="0" rIns="0" bIns="0" rtlCol="0"/>
            <a:lstStyle/>
            <a:p>
              <a:endParaRPr/>
            </a:p>
          </p:txBody>
        </p:sp>
        <p:sp>
          <p:nvSpPr>
            <p:cNvPr id="58" name="object 58"/>
            <p:cNvSpPr/>
            <p:nvPr/>
          </p:nvSpPr>
          <p:spPr>
            <a:xfrm>
              <a:off x="7076693" y="3318509"/>
              <a:ext cx="0" cy="414020"/>
            </a:xfrm>
            <a:custGeom>
              <a:avLst/>
              <a:gdLst/>
              <a:ahLst/>
              <a:cxnLst/>
              <a:rect l="l" t="t" r="r" b="b"/>
              <a:pathLst>
                <a:path h="414020">
                  <a:moveTo>
                    <a:pt x="0" y="413765"/>
                  </a:moveTo>
                  <a:lnTo>
                    <a:pt x="0" y="0"/>
                  </a:lnTo>
                </a:path>
              </a:pathLst>
            </a:custGeom>
            <a:ln w="9474">
              <a:solidFill>
                <a:srgbClr val="000000"/>
              </a:solidFill>
            </a:ln>
          </p:spPr>
          <p:txBody>
            <a:bodyPr wrap="square" lIns="0" tIns="0" rIns="0" bIns="0" rtlCol="0"/>
            <a:lstStyle/>
            <a:p>
              <a:endParaRPr/>
            </a:p>
          </p:txBody>
        </p:sp>
        <p:sp>
          <p:nvSpPr>
            <p:cNvPr id="59" name="object 59"/>
            <p:cNvSpPr/>
            <p:nvPr/>
          </p:nvSpPr>
          <p:spPr>
            <a:xfrm>
              <a:off x="8111489" y="3340607"/>
              <a:ext cx="0" cy="391795"/>
            </a:xfrm>
            <a:custGeom>
              <a:avLst/>
              <a:gdLst/>
              <a:ahLst/>
              <a:cxnLst/>
              <a:rect l="l" t="t" r="r" b="b"/>
              <a:pathLst>
                <a:path h="391795">
                  <a:moveTo>
                    <a:pt x="0" y="391667"/>
                  </a:moveTo>
                  <a:lnTo>
                    <a:pt x="0" y="0"/>
                  </a:lnTo>
                </a:path>
              </a:pathLst>
            </a:custGeom>
            <a:ln w="9474">
              <a:solidFill>
                <a:srgbClr val="000000"/>
              </a:solidFill>
            </a:ln>
          </p:spPr>
          <p:txBody>
            <a:bodyPr wrap="square" lIns="0" tIns="0" rIns="0" bIns="0" rtlCol="0"/>
            <a:lstStyle/>
            <a:p>
              <a:endParaRPr/>
            </a:p>
          </p:txBody>
        </p:sp>
        <p:sp>
          <p:nvSpPr>
            <p:cNvPr id="60" name="object 60"/>
            <p:cNvSpPr/>
            <p:nvPr/>
          </p:nvSpPr>
          <p:spPr>
            <a:xfrm>
              <a:off x="7183373" y="3385565"/>
              <a:ext cx="821690" cy="0"/>
            </a:xfrm>
            <a:custGeom>
              <a:avLst/>
              <a:gdLst/>
              <a:ahLst/>
              <a:cxnLst/>
              <a:rect l="l" t="t" r="r" b="b"/>
              <a:pathLst>
                <a:path w="821690">
                  <a:moveTo>
                    <a:pt x="0" y="0"/>
                  </a:moveTo>
                  <a:lnTo>
                    <a:pt x="821436" y="0"/>
                  </a:lnTo>
                </a:path>
              </a:pathLst>
            </a:custGeom>
            <a:ln w="15824">
              <a:solidFill>
                <a:srgbClr val="000000"/>
              </a:solidFill>
            </a:ln>
          </p:spPr>
          <p:txBody>
            <a:bodyPr wrap="square" lIns="0" tIns="0" rIns="0" bIns="0" rtlCol="0"/>
            <a:lstStyle/>
            <a:p>
              <a:endParaRPr/>
            </a:p>
          </p:txBody>
        </p:sp>
        <p:sp>
          <p:nvSpPr>
            <p:cNvPr id="61" name="object 61"/>
            <p:cNvSpPr/>
            <p:nvPr/>
          </p:nvSpPr>
          <p:spPr>
            <a:xfrm>
              <a:off x="7076694" y="3346703"/>
              <a:ext cx="1035050" cy="77470"/>
            </a:xfrm>
            <a:custGeom>
              <a:avLst/>
              <a:gdLst/>
              <a:ahLst/>
              <a:cxnLst/>
              <a:rect l="l" t="t" r="r" b="b"/>
              <a:pathLst>
                <a:path w="1035050" h="77470">
                  <a:moveTo>
                    <a:pt x="115824" y="0"/>
                  </a:moveTo>
                  <a:lnTo>
                    <a:pt x="0" y="38862"/>
                  </a:lnTo>
                  <a:lnTo>
                    <a:pt x="115824" y="76962"/>
                  </a:lnTo>
                  <a:lnTo>
                    <a:pt x="115824" y="0"/>
                  </a:lnTo>
                  <a:close/>
                </a:path>
                <a:path w="1035050" h="77470">
                  <a:moveTo>
                    <a:pt x="1034796" y="38862"/>
                  </a:moveTo>
                  <a:lnTo>
                    <a:pt x="918972" y="0"/>
                  </a:lnTo>
                  <a:lnTo>
                    <a:pt x="918972" y="76962"/>
                  </a:lnTo>
                  <a:lnTo>
                    <a:pt x="1034796" y="38862"/>
                  </a:lnTo>
                  <a:close/>
                </a:path>
              </a:pathLst>
            </a:custGeom>
            <a:solidFill>
              <a:srgbClr val="000000"/>
            </a:solidFill>
          </p:spPr>
          <p:txBody>
            <a:bodyPr wrap="square" lIns="0" tIns="0" rIns="0" bIns="0" rtlCol="0"/>
            <a:lstStyle/>
            <a:p>
              <a:endParaRPr/>
            </a:p>
          </p:txBody>
        </p:sp>
      </p:grpSp>
      <p:sp>
        <p:nvSpPr>
          <p:cNvPr id="62" name="object 62"/>
          <p:cNvSpPr txBox="1"/>
          <p:nvPr/>
        </p:nvSpPr>
        <p:spPr>
          <a:xfrm>
            <a:off x="8935211" y="4150510"/>
            <a:ext cx="549910" cy="366395"/>
          </a:xfrm>
          <a:prstGeom prst="rect">
            <a:avLst/>
          </a:prstGeom>
        </p:spPr>
        <p:txBody>
          <a:bodyPr vert="horz" wrap="square" lIns="0" tIns="17145" rIns="0" bIns="0" rtlCol="0">
            <a:spAutoFit/>
          </a:bodyPr>
          <a:lstStyle/>
          <a:p>
            <a:pPr marL="38100">
              <a:lnSpc>
                <a:spcPct val="100000"/>
              </a:lnSpc>
              <a:spcBef>
                <a:spcPts val="135"/>
              </a:spcBef>
            </a:pPr>
            <a:r>
              <a:rPr sz="3300" i="1" spc="-30" baseline="7575" dirty="0">
                <a:latin typeface="Calibri"/>
                <a:cs typeface="Calibri"/>
              </a:rPr>
              <a:t>V</a:t>
            </a:r>
            <a:r>
              <a:rPr sz="1400" spc="-20" dirty="0">
                <a:latin typeface="Calibri"/>
                <a:cs typeface="Calibri"/>
              </a:rPr>
              <a:t>DTH</a:t>
            </a:r>
            <a:endParaRPr sz="1400">
              <a:latin typeface="Calibri"/>
              <a:cs typeface="Calibri"/>
            </a:endParaRPr>
          </a:p>
        </p:txBody>
      </p:sp>
      <p:sp>
        <p:nvSpPr>
          <p:cNvPr id="63" name="object 63"/>
          <p:cNvSpPr txBox="1"/>
          <p:nvPr/>
        </p:nvSpPr>
        <p:spPr>
          <a:xfrm>
            <a:off x="6454902" y="4498935"/>
            <a:ext cx="445770" cy="332105"/>
          </a:xfrm>
          <a:prstGeom prst="rect">
            <a:avLst/>
          </a:prstGeom>
        </p:spPr>
        <p:txBody>
          <a:bodyPr vert="horz" wrap="square" lIns="0" tIns="13970" rIns="0" bIns="0" rtlCol="0">
            <a:spAutoFit/>
          </a:bodyPr>
          <a:lstStyle/>
          <a:p>
            <a:pPr marL="38100">
              <a:lnSpc>
                <a:spcPct val="100000"/>
              </a:lnSpc>
              <a:spcBef>
                <a:spcPts val="110"/>
              </a:spcBef>
            </a:pPr>
            <a:r>
              <a:rPr sz="3000" i="1" spc="-30" baseline="8333" dirty="0">
                <a:solidFill>
                  <a:srgbClr val="0000FF"/>
                </a:solidFill>
                <a:latin typeface="Calibri"/>
                <a:cs typeface="Calibri"/>
              </a:rPr>
              <a:t>V</a:t>
            </a:r>
            <a:r>
              <a:rPr sz="1250" spc="-20" dirty="0">
                <a:solidFill>
                  <a:srgbClr val="0000FF"/>
                </a:solidFill>
                <a:latin typeface="Calibri"/>
                <a:cs typeface="Calibri"/>
              </a:rPr>
              <a:t>bot</a:t>
            </a:r>
            <a:endParaRPr sz="1250">
              <a:latin typeface="Calibri"/>
              <a:cs typeface="Calibri"/>
            </a:endParaRPr>
          </a:p>
        </p:txBody>
      </p:sp>
      <p:sp>
        <p:nvSpPr>
          <p:cNvPr id="64" name="object 64"/>
          <p:cNvSpPr txBox="1"/>
          <p:nvPr/>
        </p:nvSpPr>
        <p:spPr>
          <a:xfrm>
            <a:off x="6423914" y="4766397"/>
            <a:ext cx="514984" cy="332105"/>
          </a:xfrm>
          <a:prstGeom prst="rect">
            <a:avLst/>
          </a:prstGeom>
        </p:spPr>
        <p:txBody>
          <a:bodyPr vert="horz" wrap="square" lIns="0" tIns="13970" rIns="0" bIns="0" rtlCol="0">
            <a:spAutoFit/>
          </a:bodyPr>
          <a:lstStyle/>
          <a:p>
            <a:pPr marL="12700">
              <a:lnSpc>
                <a:spcPct val="100000"/>
              </a:lnSpc>
              <a:spcBef>
                <a:spcPts val="110"/>
              </a:spcBef>
            </a:pPr>
            <a:r>
              <a:rPr sz="2000" spc="-10" dirty="0">
                <a:solidFill>
                  <a:srgbClr val="0000FF"/>
                </a:solidFill>
                <a:latin typeface="Calibri"/>
                <a:cs typeface="Calibri"/>
              </a:rPr>
              <a:t>("0")</a:t>
            </a:r>
            <a:endParaRPr sz="2000">
              <a:latin typeface="Calibri"/>
              <a:cs typeface="Calibri"/>
            </a:endParaRPr>
          </a:p>
        </p:txBody>
      </p:sp>
      <p:sp>
        <p:nvSpPr>
          <p:cNvPr id="65" name="object 65"/>
          <p:cNvSpPr txBox="1"/>
          <p:nvPr/>
        </p:nvSpPr>
        <p:spPr>
          <a:xfrm>
            <a:off x="8264652" y="4498935"/>
            <a:ext cx="564515" cy="599440"/>
          </a:xfrm>
          <a:prstGeom prst="rect">
            <a:avLst/>
          </a:prstGeom>
        </p:spPr>
        <p:txBody>
          <a:bodyPr vert="horz" wrap="square" lIns="0" tIns="13970" rIns="0" bIns="0" rtlCol="0">
            <a:spAutoFit/>
          </a:bodyPr>
          <a:lstStyle/>
          <a:p>
            <a:pPr marL="93980">
              <a:lnSpc>
                <a:spcPts val="2255"/>
              </a:lnSpc>
              <a:spcBef>
                <a:spcPts val="110"/>
              </a:spcBef>
            </a:pPr>
            <a:r>
              <a:rPr sz="3000" i="1" spc="-30" baseline="8333" dirty="0">
                <a:solidFill>
                  <a:srgbClr val="0000FF"/>
                </a:solidFill>
                <a:latin typeface="Calibri"/>
                <a:cs typeface="Calibri"/>
              </a:rPr>
              <a:t>V</a:t>
            </a:r>
            <a:r>
              <a:rPr sz="1250" spc="-20" dirty="0">
                <a:solidFill>
                  <a:srgbClr val="0000FF"/>
                </a:solidFill>
                <a:latin typeface="Calibri"/>
                <a:cs typeface="Calibri"/>
              </a:rPr>
              <a:t>top</a:t>
            </a:r>
            <a:endParaRPr sz="1250">
              <a:latin typeface="Calibri"/>
              <a:cs typeface="Calibri"/>
            </a:endParaRPr>
          </a:p>
          <a:p>
            <a:pPr marL="38100">
              <a:lnSpc>
                <a:spcPts val="2255"/>
              </a:lnSpc>
            </a:pPr>
            <a:r>
              <a:rPr sz="2000" spc="-10" dirty="0">
                <a:solidFill>
                  <a:srgbClr val="0000FF"/>
                </a:solidFill>
                <a:latin typeface="Calibri"/>
                <a:cs typeface="Calibri"/>
              </a:rPr>
              <a:t>("1")</a:t>
            </a:r>
            <a:endParaRPr sz="2000">
              <a:latin typeface="Calibri"/>
              <a:cs typeface="Calibri"/>
            </a:endParaRPr>
          </a:p>
        </p:txBody>
      </p:sp>
      <p:grpSp>
        <p:nvGrpSpPr>
          <p:cNvPr id="66" name="object 66"/>
          <p:cNvGrpSpPr/>
          <p:nvPr/>
        </p:nvGrpSpPr>
        <p:grpSpPr>
          <a:xfrm>
            <a:off x="2561208" y="2621279"/>
            <a:ext cx="2787650" cy="1900555"/>
            <a:chOff x="2561208" y="2621279"/>
            <a:chExt cx="2787650" cy="1900555"/>
          </a:xfrm>
        </p:grpSpPr>
        <p:sp>
          <p:nvSpPr>
            <p:cNvPr id="67" name="object 67"/>
            <p:cNvSpPr/>
            <p:nvPr/>
          </p:nvSpPr>
          <p:spPr>
            <a:xfrm>
              <a:off x="2803397" y="2795777"/>
              <a:ext cx="0" cy="1713864"/>
            </a:xfrm>
            <a:custGeom>
              <a:avLst/>
              <a:gdLst/>
              <a:ahLst/>
              <a:cxnLst/>
              <a:rect l="l" t="t" r="r" b="b"/>
              <a:pathLst>
                <a:path h="1713864">
                  <a:moveTo>
                    <a:pt x="0" y="0"/>
                  </a:moveTo>
                  <a:lnTo>
                    <a:pt x="0" y="1713738"/>
                  </a:lnTo>
                </a:path>
              </a:pathLst>
            </a:custGeom>
            <a:ln w="23647">
              <a:solidFill>
                <a:srgbClr val="000000"/>
              </a:solidFill>
            </a:ln>
          </p:spPr>
          <p:txBody>
            <a:bodyPr wrap="square" lIns="0" tIns="0" rIns="0" bIns="0" rtlCol="0"/>
            <a:lstStyle/>
            <a:p>
              <a:endParaRPr/>
            </a:p>
          </p:txBody>
        </p:sp>
        <p:sp>
          <p:nvSpPr>
            <p:cNvPr id="68" name="object 68"/>
            <p:cNvSpPr/>
            <p:nvPr/>
          </p:nvSpPr>
          <p:spPr>
            <a:xfrm>
              <a:off x="2740151" y="2621279"/>
              <a:ext cx="127635" cy="189865"/>
            </a:xfrm>
            <a:custGeom>
              <a:avLst/>
              <a:gdLst/>
              <a:ahLst/>
              <a:cxnLst/>
              <a:rect l="l" t="t" r="r" b="b"/>
              <a:pathLst>
                <a:path w="127635" h="189864">
                  <a:moveTo>
                    <a:pt x="127254" y="189737"/>
                  </a:moveTo>
                  <a:lnTo>
                    <a:pt x="63245" y="0"/>
                  </a:lnTo>
                  <a:lnTo>
                    <a:pt x="0" y="189737"/>
                  </a:lnTo>
                  <a:lnTo>
                    <a:pt x="127254" y="189737"/>
                  </a:lnTo>
                  <a:close/>
                </a:path>
              </a:pathLst>
            </a:custGeom>
            <a:solidFill>
              <a:srgbClr val="000000"/>
            </a:solidFill>
          </p:spPr>
          <p:txBody>
            <a:bodyPr wrap="square" lIns="0" tIns="0" rIns="0" bIns="0" rtlCol="0"/>
            <a:lstStyle/>
            <a:p>
              <a:endParaRPr/>
            </a:p>
          </p:txBody>
        </p:sp>
        <p:sp>
          <p:nvSpPr>
            <p:cNvPr id="69" name="object 69"/>
            <p:cNvSpPr/>
            <p:nvPr/>
          </p:nvSpPr>
          <p:spPr>
            <a:xfrm>
              <a:off x="2573273" y="4319777"/>
              <a:ext cx="2600325" cy="0"/>
            </a:xfrm>
            <a:custGeom>
              <a:avLst/>
              <a:gdLst/>
              <a:ahLst/>
              <a:cxnLst/>
              <a:rect l="l" t="t" r="r" b="b"/>
              <a:pathLst>
                <a:path w="2600325">
                  <a:moveTo>
                    <a:pt x="2599944" y="0"/>
                  </a:moveTo>
                  <a:lnTo>
                    <a:pt x="0" y="0"/>
                  </a:lnTo>
                </a:path>
              </a:pathLst>
            </a:custGeom>
            <a:ln w="23736">
              <a:solidFill>
                <a:srgbClr val="000000"/>
              </a:solidFill>
            </a:ln>
          </p:spPr>
          <p:txBody>
            <a:bodyPr wrap="square" lIns="0" tIns="0" rIns="0" bIns="0" rtlCol="0"/>
            <a:lstStyle/>
            <a:p>
              <a:endParaRPr/>
            </a:p>
          </p:txBody>
        </p:sp>
        <p:sp>
          <p:nvSpPr>
            <p:cNvPr id="70" name="object 70"/>
            <p:cNvSpPr/>
            <p:nvPr/>
          </p:nvSpPr>
          <p:spPr>
            <a:xfrm>
              <a:off x="5157216" y="4256531"/>
              <a:ext cx="191770" cy="127000"/>
            </a:xfrm>
            <a:custGeom>
              <a:avLst/>
              <a:gdLst/>
              <a:ahLst/>
              <a:cxnLst/>
              <a:rect l="l" t="t" r="r" b="b"/>
              <a:pathLst>
                <a:path w="191770" h="127000">
                  <a:moveTo>
                    <a:pt x="191262" y="63246"/>
                  </a:moveTo>
                  <a:lnTo>
                    <a:pt x="0" y="0"/>
                  </a:lnTo>
                  <a:lnTo>
                    <a:pt x="0" y="126492"/>
                  </a:lnTo>
                  <a:lnTo>
                    <a:pt x="191262" y="63246"/>
                  </a:lnTo>
                  <a:close/>
                </a:path>
              </a:pathLst>
            </a:custGeom>
            <a:solidFill>
              <a:srgbClr val="000000"/>
            </a:solidFill>
          </p:spPr>
          <p:txBody>
            <a:bodyPr wrap="square" lIns="0" tIns="0" rIns="0" bIns="0" rtlCol="0"/>
            <a:lstStyle/>
            <a:p>
              <a:endParaRPr/>
            </a:p>
          </p:txBody>
        </p:sp>
        <p:sp>
          <p:nvSpPr>
            <p:cNvPr id="71" name="object 71"/>
            <p:cNvSpPr/>
            <p:nvPr/>
          </p:nvSpPr>
          <p:spPr>
            <a:xfrm>
              <a:off x="3020567"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72" name="object 72"/>
            <p:cNvSpPr/>
            <p:nvPr/>
          </p:nvSpPr>
          <p:spPr>
            <a:xfrm>
              <a:off x="4904994" y="2963417"/>
              <a:ext cx="0" cy="1546225"/>
            </a:xfrm>
            <a:custGeom>
              <a:avLst/>
              <a:gdLst/>
              <a:ahLst/>
              <a:cxnLst/>
              <a:rect l="l" t="t" r="r" b="b"/>
              <a:pathLst>
                <a:path h="1546225">
                  <a:moveTo>
                    <a:pt x="0" y="0"/>
                  </a:moveTo>
                  <a:lnTo>
                    <a:pt x="0" y="1546098"/>
                  </a:lnTo>
                </a:path>
              </a:pathLst>
            </a:custGeom>
            <a:ln w="9474">
              <a:solidFill>
                <a:srgbClr val="000000"/>
              </a:solidFill>
            </a:ln>
          </p:spPr>
          <p:txBody>
            <a:bodyPr wrap="square" lIns="0" tIns="0" rIns="0" bIns="0" rtlCol="0"/>
            <a:lstStyle/>
            <a:p>
              <a:endParaRPr/>
            </a:p>
          </p:txBody>
        </p:sp>
        <p:sp>
          <p:nvSpPr>
            <p:cNvPr id="73" name="object 73"/>
            <p:cNvSpPr/>
            <p:nvPr/>
          </p:nvSpPr>
          <p:spPr>
            <a:xfrm>
              <a:off x="3127247" y="4456175"/>
              <a:ext cx="1671955" cy="0"/>
            </a:xfrm>
            <a:custGeom>
              <a:avLst/>
              <a:gdLst/>
              <a:ahLst/>
              <a:cxnLst/>
              <a:rect l="l" t="t" r="r" b="b"/>
              <a:pathLst>
                <a:path w="1671954">
                  <a:moveTo>
                    <a:pt x="0" y="0"/>
                  </a:moveTo>
                  <a:lnTo>
                    <a:pt x="1671827" y="0"/>
                  </a:lnTo>
                </a:path>
              </a:pathLst>
            </a:custGeom>
            <a:ln w="15824">
              <a:solidFill>
                <a:srgbClr val="000000"/>
              </a:solidFill>
            </a:ln>
          </p:spPr>
          <p:txBody>
            <a:bodyPr wrap="square" lIns="0" tIns="0" rIns="0" bIns="0" rtlCol="0"/>
            <a:lstStyle/>
            <a:p>
              <a:endParaRPr/>
            </a:p>
          </p:txBody>
        </p:sp>
        <p:sp>
          <p:nvSpPr>
            <p:cNvPr id="74" name="object 74"/>
            <p:cNvSpPr/>
            <p:nvPr/>
          </p:nvSpPr>
          <p:spPr>
            <a:xfrm>
              <a:off x="3020568" y="4418075"/>
              <a:ext cx="1884680" cy="77470"/>
            </a:xfrm>
            <a:custGeom>
              <a:avLst/>
              <a:gdLst/>
              <a:ahLst/>
              <a:cxnLst/>
              <a:rect l="l" t="t" r="r" b="b"/>
              <a:pathLst>
                <a:path w="1884679" h="77470">
                  <a:moveTo>
                    <a:pt x="115824" y="0"/>
                  </a:moveTo>
                  <a:lnTo>
                    <a:pt x="0" y="38100"/>
                  </a:lnTo>
                  <a:lnTo>
                    <a:pt x="115824" y="76962"/>
                  </a:lnTo>
                  <a:lnTo>
                    <a:pt x="115824" y="0"/>
                  </a:lnTo>
                  <a:close/>
                </a:path>
                <a:path w="1884679" h="77470">
                  <a:moveTo>
                    <a:pt x="1884426" y="38100"/>
                  </a:moveTo>
                  <a:lnTo>
                    <a:pt x="1768602" y="0"/>
                  </a:lnTo>
                  <a:lnTo>
                    <a:pt x="1768602" y="76962"/>
                  </a:lnTo>
                  <a:lnTo>
                    <a:pt x="1884426" y="38100"/>
                  </a:lnTo>
                  <a:close/>
                </a:path>
              </a:pathLst>
            </a:custGeom>
            <a:solidFill>
              <a:srgbClr val="000000"/>
            </a:solidFill>
          </p:spPr>
          <p:txBody>
            <a:bodyPr wrap="square" lIns="0" tIns="0" rIns="0" bIns="0" rtlCol="0"/>
            <a:lstStyle/>
            <a:p>
              <a:endParaRPr/>
            </a:p>
          </p:txBody>
        </p:sp>
        <p:sp>
          <p:nvSpPr>
            <p:cNvPr id="75" name="object 75"/>
            <p:cNvSpPr/>
            <p:nvPr/>
          </p:nvSpPr>
          <p:spPr>
            <a:xfrm>
              <a:off x="2803397" y="3732275"/>
              <a:ext cx="2386965" cy="0"/>
            </a:xfrm>
            <a:custGeom>
              <a:avLst/>
              <a:gdLst/>
              <a:ahLst/>
              <a:cxnLst/>
              <a:rect l="l" t="t" r="r" b="b"/>
              <a:pathLst>
                <a:path w="2386965">
                  <a:moveTo>
                    <a:pt x="0" y="0"/>
                  </a:moveTo>
                  <a:lnTo>
                    <a:pt x="2386584" y="0"/>
                  </a:lnTo>
                </a:path>
              </a:pathLst>
            </a:custGeom>
            <a:ln w="11874">
              <a:solidFill>
                <a:srgbClr val="000000"/>
              </a:solidFill>
              <a:prstDash val="sysDash"/>
            </a:ln>
          </p:spPr>
          <p:txBody>
            <a:bodyPr wrap="square" lIns="0" tIns="0" rIns="0" bIns="0" rtlCol="0"/>
            <a:lstStyle/>
            <a:p>
              <a:endParaRPr/>
            </a:p>
          </p:txBody>
        </p:sp>
      </p:grpSp>
      <p:sp>
        <p:nvSpPr>
          <p:cNvPr id="76" name="object 76"/>
          <p:cNvSpPr txBox="1"/>
          <p:nvPr/>
        </p:nvSpPr>
        <p:spPr>
          <a:xfrm>
            <a:off x="3483355" y="4499438"/>
            <a:ext cx="909319" cy="287020"/>
          </a:xfrm>
          <a:prstGeom prst="rect">
            <a:avLst/>
          </a:prstGeom>
        </p:spPr>
        <p:txBody>
          <a:bodyPr vert="horz" wrap="square" lIns="0" tIns="13970" rIns="0" bIns="0" rtlCol="0">
            <a:spAutoFit/>
          </a:bodyPr>
          <a:lstStyle/>
          <a:p>
            <a:pPr marL="12700">
              <a:lnSpc>
                <a:spcPct val="100000"/>
              </a:lnSpc>
              <a:spcBef>
                <a:spcPts val="110"/>
              </a:spcBef>
            </a:pPr>
            <a:r>
              <a:rPr sz="1700" dirty="0">
                <a:latin typeface="Calibri"/>
                <a:cs typeface="Calibri"/>
              </a:rPr>
              <a:t>Bit</a:t>
            </a:r>
            <a:r>
              <a:rPr sz="1700" spc="30" dirty="0">
                <a:latin typeface="Calibri"/>
                <a:cs typeface="Calibri"/>
              </a:rPr>
              <a:t> </a:t>
            </a:r>
            <a:r>
              <a:rPr sz="1700" spc="-10" dirty="0">
                <a:latin typeface="Calibri"/>
                <a:cs typeface="Calibri"/>
              </a:rPr>
              <a:t>period</a:t>
            </a:r>
            <a:endParaRPr sz="1700">
              <a:latin typeface="Calibri"/>
              <a:cs typeface="Calibri"/>
            </a:endParaRPr>
          </a:p>
        </p:txBody>
      </p:sp>
      <p:sp>
        <p:nvSpPr>
          <p:cNvPr id="77" name="object 77"/>
          <p:cNvSpPr txBox="1"/>
          <p:nvPr/>
        </p:nvSpPr>
        <p:spPr>
          <a:xfrm>
            <a:off x="3445265" y="2810092"/>
            <a:ext cx="1023619" cy="287020"/>
          </a:xfrm>
          <a:prstGeom prst="rect">
            <a:avLst/>
          </a:prstGeom>
        </p:spPr>
        <p:txBody>
          <a:bodyPr vert="horz" wrap="square" lIns="0" tIns="13970" rIns="0" bIns="0" rtlCol="0">
            <a:spAutoFit/>
          </a:bodyPr>
          <a:lstStyle/>
          <a:p>
            <a:pPr marL="12700">
              <a:lnSpc>
                <a:spcPct val="100000"/>
              </a:lnSpc>
              <a:spcBef>
                <a:spcPts val="110"/>
              </a:spcBef>
            </a:pPr>
            <a:r>
              <a:rPr sz="1700" dirty="0">
                <a:latin typeface="Calibri"/>
                <a:cs typeface="Calibri"/>
              </a:rPr>
              <a:t>eye</a:t>
            </a:r>
            <a:r>
              <a:rPr sz="1700" spc="40" dirty="0">
                <a:latin typeface="Calibri"/>
                <a:cs typeface="Calibri"/>
              </a:rPr>
              <a:t> </a:t>
            </a:r>
            <a:r>
              <a:rPr sz="1700" spc="-10" dirty="0">
                <a:latin typeface="Calibri"/>
                <a:cs typeface="Calibri"/>
              </a:rPr>
              <a:t>margin</a:t>
            </a:r>
            <a:endParaRPr sz="1700">
              <a:latin typeface="Calibri"/>
              <a:cs typeface="Calibri"/>
            </a:endParaRPr>
          </a:p>
        </p:txBody>
      </p:sp>
      <p:sp>
        <p:nvSpPr>
          <p:cNvPr id="78" name="object 78"/>
          <p:cNvSpPr txBox="1"/>
          <p:nvPr/>
        </p:nvSpPr>
        <p:spPr>
          <a:xfrm>
            <a:off x="2259583" y="2404959"/>
            <a:ext cx="4083685" cy="332105"/>
          </a:xfrm>
          <a:prstGeom prst="rect">
            <a:avLst/>
          </a:prstGeom>
        </p:spPr>
        <p:txBody>
          <a:bodyPr vert="horz" wrap="square" lIns="0" tIns="13970" rIns="0" bIns="0" rtlCol="0">
            <a:spAutoFit/>
          </a:bodyPr>
          <a:lstStyle/>
          <a:p>
            <a:pPr marL="12700">
              <a:lnSpc>
                <a:spcPct val="100000"/>
              </a:lnSpc>
              <a:spcBef>
                <a:spcPts val="110"/>
              </a:spcBef>
              <a:tabLst>
                <a:tab pos="3665220" algn="l"/>
              </a:tabLst>
            </a:pPr>
            <a:r>
              <a:rPr sz="2000" i="1" spc="-25" dirty="0">
                <a:latin typeface="Calibri"/>
                <a:cs typeface="Calibri"/>
              </a:rPr>
              <a:t>BER</a:t>
            </a:r>
            <a:r>
              <a:rPr sz="2000" i="1" dirty="0">
                <a:latin typeface="Calibri"/>
                <a:cs typeface="Calibri"/>
              </a:rPr>
              <a:t>	</a:t>
            </a:r>
            <a:r>
              <a:rPr sz="2000" i="1" spc="-25" dirty="0">
                <a:latin typeface="Calibri"/>
                <a:cs typeface="Calibri"/>
              </a:rPr>
              <a:t>BER</a:t>
            </a:r>
            <a:endParaRPr sz="2000">
              <a:latin typeface="Calibri"/>
              <a:cs typeface="Calibri"/>
            </a:endParaRPr>
          </a:p>
        </p:txBody>
      </p:sp>
      <p:sp>
        <p:nvSpPr>
          <p:cNvPr id="79" name="object 79"/>
          <p:cNvSpPr txBox="1"/>
          <p:nvPr/>
        </p:nvSpPr>
        <p:spPr>
          <a:xfrm>
            <a:off x="2383789" y="2898476"/>
            <a:ext cx="3959225" cy="287020"/>
          </a:xfrm>
          <a:prstGeom prst="rect">
            <a:avLst/>
          </a:prstGeom>
        </p:spPr>
        <p:txBody>
          <a:bodyPr vert="horz" wrap="square" lIns="0" tIns="13970" rIns="0" bIns="0" rtlCol="0">
            <a:spAutoFit/>
          </a:bodyPr>
          <a:lstStyle/>
          <a:p>
            <a:pPr marL="12700">
              <a:lnSpc>
                <a:spcPct val="100000"/>
              </a:lnSpc>
              <a:spcBef>
                <a:spcPts val="110"/>
              </a:spcBef>
              <a:tabLst>
                <a:tab pos="3665220" algn="l"/>
              </a:tabLst>
            </a:pPr>
            <a:r>
              <a:rPr sz="1700" spc="-25" dirty="0">
                <a:solidFill>
                  <a:srgbClr val="0000FF"/>
                </a:solidFill>
                <a:latin typeface="Calibri"/>
                <a:cs typeface="Calibri"/>
              </a:rPr>
              <a:t>0.5</a:t>
            </a:r>
            <a:r>
              <a:rPr sz="1700" dirty="0">
                <a:solidFill>
                  <a:srgbClr val="0000FF"/>
                </a:solidFill>
                <a:latin typeface="Calibri"/>
                <a:cs typeface="Calibri"/>
              </a:rPr>
              <a:t>	</a:t>
            </a:r>
            <a:r>
              <a:rPr sz="1700" spc="-25" dirty="0">
                <a:solidFill>
                  <a:srgbClr val="0000FF"/>
                </a:solidFill>
                <a:latin typeface="Calibri"/>
                <a:cs typeface="Calibri"/>
              </a:rPr>
              <a:t>0.5</a:t>
            </a:r>
            <a:endParaRPr sz="1700">
              <a:latin typeface="Calibri"/>
              <a:cs typeface="Calibri"/>
            </a:endParaRPr>
          </a:p>
        </p:txBody>
      </p:sp>
      <p:sp>
        <p:nvSpPr>
          <p:cNvPr id="80" name="object 80"/>
          <p:cNvSpPr txBox="1"/>
          <p:nvPr/>
        </p:nvSpPr>
        <p:spPr>
          <a:xfrm>
            <a:off x="2278638" y="3487502"/>
            <a:ext cx="4171315" cy="287020"/>
          </a:xfrm>
          <a:prstGeom prst="rect">
            <a:avLst/>
          </a:prstGeom>
        </p:spPr>
        <p:txBody>
          <a:bodyPr vert="horz" wrap="square" lIns="0" tIns="13970" rIns="0" bIns="0" rtlCol="0">
            <a:spAutoFit/>
          </a:bodyPr>
          <a:lstStyle/>
          <a:p>
            <a:pPr marL="50800">
              <a:lnSpc>
                <a:spcPct val="100000"/>
              </a:lnSpc>
              <a:spcBef>
                <a:spcPts val="110"/>
              </a:spcBef>
              <a:tabLst>
                <a:tab pos="3703320" algn="l"/>
              </a:tabLst>
            </a:pPr>
            <a:r>
              <a:rPr sz="2550" baseline="-27777" dirty="0">
                <a:solidFill>
                  <a:srgbClr val="0000FF"/>
                </a:solidFill>
                <a:latin typeface="Calibri"/>
                <a:cs typeface="Calibri"/>
              </a:rPr>
              <a:t>10</a:t>
            </a:r>
            <a:r>
              <a:rPr sz="1100" dirty="0">
                <a:solidFill>
                  <a:srgbClr val="0000FF"/>
                </a:solidFill>
                <a:latin typeface="Calibri"/>
                <a:cs typeface="Calibri"/>
              </a:rPr>
              <a:t>-</a:t>
            </a:r>
            <a:r>
              <a:rPr sz="1100" spc="-25" dirty="0">
                <a:solidFill>
                  <a:srgbClr val="0000FF"/>
                </a:solidFill>
                <a:latin typeface="Calibri"/>
                <a:cs typeface="Calibri"/>
              </a:rPr>
              <a:t>12</a:t>
            </a:r>
            <a:r>
              <a:rPr sz="1100" dirty="0">
                <a:solidFill>
                  <a:srgbClr val="0000FF"/>
                </a:solidFill>
                <a:latin typeface="Calibri"/>
                <a:cs typeface="Calibri"/>
              </a:rPr>
              <a:t>	</a:t>
            </a:r>
            <a:r>
              <a:rPr sz="2550" baseline="-27777" dirty="0">
                <a:solidFill>
                  <a:srgbClr val="0000FF"/>
                </a:solidFill>
                <a:latin typeface="Calibri"/>
                <a:cs typeface="Calibri"/>
              </a:rPr>
              <a:t>10</a:t>
            </a:r>
            <a:r>
              <a:rPr sz="1100" dirty="0">
                <a:solidFill>
                  <a:srgbClr val="0000FF"/>
                </a:solidFill>
                <a:latin typeface="Calibri"/>
                <a:cs typeface="Calibri"/>
              </a:rPr>
              <a:t>-</a:t>
            </a:r>
            <a:r>
              <a:rPr sz="1100" spc="-25" dirty="0">
                <a:solidFill>
                  <a:srgbClr val="0000FF"/>
                </a:solidFill>
                <a:latin typeface="Calibri"/>
                <a:cs typeface="Calibri"/>
              </a:rPr>
              <a:t>12</a:t>
            </a:r>
            <a:endParaRPr sz="1100">
              <a:latin typeface="Calibri"/>
              <a:cs typeface="Calibri"/>
            </a:endParaRPr>
          </a:p>
        </p:txBody>
      </p:sp>
      <p:grpSp>
        <p:nvGrpSpPr>
          <p:cNvPr id="81" name="object 81"/>
          <p:cNvGrpSpPr/>
          <p:nvPr/>
        </p:nvGrpSpPr>
        <p:grpSpPr>
          <a:xfrm>
            <a:off x="2796133" y="3012295"/>
            <a:ext cx="2313305" cy="1376680"/>
            <a:chOff x="2796133" y="3012295"/>
            <a:chExt cx="2313305" cy="1376680"/>
          </a:xfrm>
        </p:grpSpPr>
        <p:sp>
          <p:nvSpPr>
            <p:cNvPr id="82" name="object 82"/>
            <p:cNvSpPr/>
            <p:nvPr/>
          </p:nvSpPr>
          <p:spPr>
            <a:xfrm>
              <a:off x="3423665" y="3318510"/>
              <a:ext cx="0" cy="414020"/>
            </a:xfrm>
            <a:custGeom>
              <a:avLst/>
              <a:gdLst/>
              <a:ahLst/>
              <a:cxnLst/>
              <a:rect l="l" t="t" r="r" b="b"/>
              <a:pathLst>
                <a:path h="414020">
                  <a:moveTo>
                    <a:pt x="0" y="413765"/>
                  </a:moveTo>
                  <a:lnTo>
                    <a:pt x="0" y="0"/>
                  </a:lnTo>
                </a:path>
              </a:pathLst>
            </a:custGeom>
            <a:ln w="9474">
              <a:solidFill>
                <a:srgbClr val="000000"/>
              </a:solidFill>
            </a:ln>
          </p:spPr>
          <p:txBody>
            <a:bodyPr wrap="square" lIns="0" tIns="0" rIns="0" bIns="0" rtlCol="0"/>
            <a:lstStyle/>
            <a:p>
              <a:endParaRPr/>
            </a:p>
          </p:txBody>
        </p:sp>
        <p:sp>
          <p:nvSpPr>
            <p:cNvPr id="83" name="object 83"/>
            <p:cNvSpPr/>
            <p:nvPr/>
          </p:nvSpPr>
          <p:spPr>
            <a:xfrm>
              <a:off x="4457700" y="3340608"/>
              <a:ext cx="0" cy="391795"/>
            </a:xfrm>
            <a:custGeom>
              <a:avLst/>
              <a:gdLst/>
              <a:ahLst/>
              <a:cxnLst/>
              <a:rect l="l" t="t" r="r" b="b"/>
              <a:pathLst>
                <a:path h="391795">
                  <a:moveTo>
                    <a:pt x="0" y="391667"/>
                  </a:moveTo>
                  <a:lnTo>
                    <a:pt x="0" y="0"/>
                  </a:lnTo>
                </a:path>
              </a:pathLst>
            </a:custGeom>
            <a:ln w="9474">
              <a:solidFill>
                <a:srgbClr val="000000"/>
              </a:solidFill>
            </a:ln>
          </p:spPr>
          <p:txBody>
            <a:bodyPr wrap="square" lIns="0" tIns="0" rIns="0" bIns="0" rtlCol="0"/>
            <a:lstStyle/>
            <a:p>
              <a:endParaRPr/>
            </a:p>
          </p:txBody>
        </p:sp>
        <p:sp>
          <p:nvSpPr>
            <p:cNvPr id="84" name="object 84"/>
            <p:cNvSpPr/>
            <p:nvPr/>
          </p:nvSpPr>
          <p:spPr>
            <a:xfrm>
              <a:off x="3529583" y="3385565"/>
              <a:ext cx="822325" cy="0"/>
            </a:xfrm>
            <a:custGeom>
              <a:avLst/>
              <a:gdLst/>
              <a:ahLst/>
              <a:cxnLst/>
              <a:rect l="l" t="t" r="r" b="b"/>
              <a:pathLst>
                <a:path w="822325">
                  <a:moveTo>
                    <a:pt x="0" y="0"/>
                  </a:moveTo>
                  <a:lnTo>
                    <a:pt x="822197" y="0"/>
                  </a:lnTo>
                </a:path>
              </a:pathLst>
            </a:custGeom>
            <a:ln w="15824">
              <a:solidFill>
                <a:srgbClr val="000000"/>
              </a:solidFill>
            </a:ln>
          </p:spPr>
          <p:txBody>
            <a:bodyPr wrap="square" lIns="0" tIns="0" rIns="0" bIns="0" rtlCol="0"/>
            <a:lstStyle/>
            <a:p>
              <a:endParaRPr/>
            </a:p>
          </p:txBody>
        </p:sp>
        <p:sp>
          <p:nvSpPr>
            <p:cNvPr id="85" name="object 85"/>
            <p:cNvSpPr/>
            <p:nvPr/>
          </p:nvSpPr>
          <p:spPr>
            <a:xfrm>
              <a:off x="3423666" y="3346703"/>
              <a:ext cx="1034415" cy="77470"/>
            </a:xfrm>
            <a:custGeom>
              <a:avLst/>
              <a:gdLst/>
              <a:ahLst/>
              <a:cxnLst/>
              <a:rect l="l" t="t" r="r" b="b"/>
              <a:pathLst>
                <a:path w="1034414" h="77470">
                  <a:moveTo>
                    <a:pt x="115824" y="0"/>
                  </a:moveTo>
                  <a:lnTo>
                    <a:pt x="0" y="38862"/>
                  </a:lnTo>
                  <a:lnTo>
                    <a:pt x="115824" y="76962"/>
                  </a:lnTo>
                  <a:lnTo>
                    <a:pt x="115824" y="0"/>
                  </a:lnTo>
                  <a:close/>
                </a:path>
                <a:path w="1034414" h="77470">
                  <a:moveTo>
                    <a:pt x="1034034" y="38862"/>
                  </a:moveTo>
                  <a:lnTo>
                    <a:pt x="918210" y="0"/>
                  </a:lnTo>
                  <a:lnTo>
                    <a:pt x="918210" y="76962"/>
                  </a:lnTo>
                  <a:lnTo>
                    <a:pt x="1034034" y="38862"/>
                  </a:lnTo>
                  <a:close/>
                </a:path>
              </a:pathLst>
            </a:custGeom>
            <a:solidFill>
              <a:srgbClr val="000000"/>
            </a:solidFill>
          </p:spPr>
          <p:txBody>
            <a:bodyPr wrap="square" lIns="0" tIns="0" rIns="0" bIns="0" rtlCol="0"/>
            <a:lstStyle/>
            <a:p>
              <a:endParaRPr/>
            </a:p>
          </p:txBody>
        </p:sp>
        <p:sp>
          <p:nvSpPr>
            <p:cNvPr id="86" name="object 86"/>
            <p:cNvSpPr/>
            <p:nvPr/>
          </p:nvSpPr>
          <p:spPr>
            <a:xfrm>
              <a:off x="4285488" y="3024131"/>
              <a:ext cx="811530" cy="1353185"/>
            </a:xfrm>
            <a:custGeom>
              <a:avLst/>
              <a:gdLst/>
              <a:ahLst/>
              <a:cxnLst/>
              <a:rect l="l" t="t" r="r" b="b"/>
              <a:pathLst>
                <a:path w="811529" h="1353185">
                  <a:moveTo>
                    <a:pt x="811529" y="5580"/>
                  </a:moveTo>
                  <a:lnTo>
                    <a:pt x="763472" y="5318"/>
                  </a:lnTo>
                  <a:lnTo>
                    <a:pt x="712030" y="3110"/>
                  </a:lnTo>
                  <a:lnTo>
                    <a:pt x="659134" y="742"/>
                  </a:lnTo>
                  <a:lnTo>
                    <a:pt x="606718" y="0"/>
                  </a:lnTo>
                  <a:lnTo>
                    <a:pt x="556715" y="2670"/>
                  </a:lnTo>
                  <a:lnTo>
                    <a:pt x="511057" y="10539"/>
                  </a:lnTo>
                  <a:lnTo>
                    <a:pt x="471677" y="25392"/>
                  </a:lnTo>
                  <a:lnTo>
                    <a:pt x="434209" y="53324"/>
                  </a:lnTo>
                  <a:lnTo>
                    <a:pt x="405669" y="90543"/>
                  </a:lnTo>
                  <a:lnTo>
                    <a:pt x="383274" y="134049"/>
                  </a:lnTo>
                  <a:lnTo>
                    <a:pt x="364235" y="180840"/>
                  </a:lnTo>
                  <a:lnTo>
                    <a:pt x="345345" y="229917"/>
                  </a:lnTo>
                  <a:lnTo>
                    <a:pt x="327044" y="279290"/>
                  </a:lnTo>
                  <a:lnTo>
                    <a:pt x="309282" y="328939"/>
                  </a:lnTo>
                  <a:lnTo>
                    <a:pt x="292010" y="378838"/>
                  </a:lnTo>
                  <a:lnTo>
                    <a:pt x="275177" y="428966"/>
                  </a:lnTo>
                  <a:lnTo>
                    <a:pt x="258732" y="479300"/>
                  </a:lnTo>
                  <a:lnTo>
                    <a:pt x="242626" y="529817"/>
                  </a:lnTo>
                  <a:lnTo>
                    <a:pt x="226807" y="580494"/>
                  </a:lnTo>
                  <a:lnTo>
                    <a:pt x="211227" y="631308"/>
                  </a:lnTo>
                  <a:lnTo>
                    <a:pt x="195833" y="682236"/>
                  </a:lnTo>
                  <a:lnTo>
                    <a:pt x="181694" y="729938"/>
                  </a:lnTo>
                  <a:lnTo>
                    <a:pt x="167671" y="777684"/>
                  </a:lnTo>
                  <a:lnTo>
                    <a:pt x="153741" y="825469"/>
                  </a:lnTo>
                  <a:lnTo>
                    <a:pt x="139881" y="873291"/>
                  </a:lnTo>
                  <a:lnTo>
                    <a:pt x="126068" y="921147"/>
                  </a:lnTo>
                  <a:lnTo>
                    <a:pt x="112278" y="969032"/>
                  </a:lnTo>
                  <a:lnTo>
                    <a:pt x="98488" y="1016945"/>
                  </a:lnTo>
                  <a:lnTo>
                    <a:pt x="84675" y="1064880"/>
                  </a:lnTo>
                  <a:lnTo>
                    <a:pt x="70815" y="1112836"/>
                  </a:lnTo>
                  <a:lnTo>
                    <a:pt x="56885" y="1160808"/>
                  </a:lnTo>
                  <a:lnTo>
                    <a:pt x="42862" y="1208793"/>
                  </a:lnTo>
                  <a:lnTo>
                    <a:pt x="28722" y="1256789"/>
                  </a:lnTo>
                  <a:lnTo>
                    <a:pt x="14443" y="1304791"/>
                  </a:lnTo>
                  <a:lnTo>
                    <a:pt x="0" y="1352796"/>
                  </a:lnTo>
                </a:path>
              </a:pathLst>
            </a:custGeom>
            <a:ln w="23672">
              <a:solidFill>
                <a:srgbClr val="0000FF"/>
              </a:solidFill>
            </a:ln>
          </p:spPr>
          <p:txBody>
            <a:bodyPr wrap="square" lIns="0" tIns="0" rIns="0" bIns="0" rtlCol="0"/>
            <a:lstStyle/>
            <a:p>
              <a:endParaRPr/>
            </a:p>
          </p:txBody>
        </p:sp>
        <p:sp>
          <p:nvSpPr>
            <p:cNvPr id="87" name="object 87"/>
            <p:cNvSpPr/>
            <p:nvPr/>
          </p:nvSpPr>
          <p:spPr>
            <a:xfrm>
              <a:off x="2807969" y="3024131"/>
              <a:ext cx="811530" cy="1353185"/>
            </a:xfrm>
            <a:custGeom>
              <a:avLst/>
              <a:gdLst/>
              <a:ahLst/>
              <a:cxnLst/>
              <a:rect l="l" t="t" r="r" b="b"/>
              <a:pathLst>
                <a:path w="811529" h="1353185">
                  <a:moveTo>
                    <a:pt x="0" y="5580"/>
                  </a:moveTo>
                  <a:lnTo>
                    <a:pt x="48057" y="5318"/>
                  </a:lnTo>
                  <a:lnTo>
                    <a:pt x="99499" y="3110"/>
                  </a:lnTo>
                  <a:lnTo>
                    <a:pt x="152395" y="742"/>
                  </a:lnTo>
                  <a:lnTo>
                    <a:pt x="204811" y="0"/>
                  </a:lnTo>
                  <a:lnTo>
                    <a:pt x="254814" y="2670"/>
                  </a:lnTo>
                  <a:lnTo>
                    <a:pt x="300472" y="10539"/>
                  </a:lnTo>
                  <a:lnTo>
                    <a:pt x="339852" y="25392"/>
                  </a:lnTo>
                  <a:lnTo>
                    <a:pt x="376999" y="53324"/>
                  </a:lnTo>
                  <a:lnTo>
                    <a:pt x="405574" y="90543"/>
                  </a:lnTo>
                  <a:lnTo>
                    <a:pt x="428148" y="134049"/>
                  </a:lnTo>
                  <a:lnTo>
                    <a:pt x="447294" y="180840"/>
                  </a:lnTo>
                  <a:lnTo>
                    <a:pt x="466184" y="229917"/>
                  </a:lnTo>
                  <a:lnTo>
                    <a:pt x="484485" y="279290"/>
                  </a:lnTo>
                  <a:lnTo>
                    <a:pt x="502247" y="328939"/>
                  </a:lnTo>
                  <a:lnTo>
                    <a:pt x="519519" y="378838"/>
                  </a:lnTo>
                  <a:lnTo>
                    <a:pt x="536352" y="428966"/>
                  </a:lnTo>
                  <a:lnTo>
                    <a:pt x="552797" y="479300"/>
                  </a:lnTo>
                  <a:lnTo>
                    <a:pt x="568903" y="529817"/>
                  </a:lnTo>
                  <a:lnTo>
                    <a:pt x="584722" y="580494"/>
                  </a:lnTo>
                  <a:lnTo>
                    <a:pt x="600302" y="631308"/>
                  </a:lnTo>
                  <a:lnTo>
                    <a:pt x="615696" y="682236"/>
                  </a:lnTo>
                  <a:lnTo>
                    <a:pt x="629835" y="729938"/>
                  </a:lnTo>
                  <a:lnTo>
                    <a:pt x="643858" y="777684"/>
                  </a:lnTo>
                  <a:lnTo>
                    <a:pt x="657788" y="825469"/>
                  </a:lnTo>
                  <a:lnTo>
                    <a:pt x="671648" y="873291"/>
                  </a:lnTo>
                  <a:lnTo>
                    <a:pt x="685461" y="921147"/>
                  </a:lnTo>
                  <a:lnTo>
                    <a:pt x="699251" y="969032"/>
                  </a:lnTo>
                  <a:lnTo>
                    <a:pt x="713041" y="1016945"/>
                  </a:lnTo>
                  <a:lnTo>
                    <a:pt x="726854" y="1064880"/>
                  </a:lnTo>
                  <a:lnTo>
                    <a:pt x="740714" y="1112836"/>
                  </a:lnTo>
                  <a:lnTo>
                    <a:pt x="754644" y="1160808"/>
                  </a:lnTo>
                  <a:lnTo>
                    <a:pt x="768667" y="1208793"/>
                  </a:lnTo>
                  <a:lnTo>
                    <a:pt x="782807" y="1256789"/>
                  </a:lnTo>
                  <a:lnTo>
                    <a:pt x="797086" y="1304791"/>
                  </a:lnTo>
                  <a:lnTo>
                    <a:pt x="811530" y="1352796"/>
                  </a:lnTo>
                </a:path>
              </a:pathLst>
            </a:custGeom>
            <a:ln w="23672">
              <a:solidFill>
                <a:srgbClr val="0000FF"/>
              </a:solidFill>
            </a:ln>
          </p:spPr>
          <p:txBody>
            <a:bodyPr wrap="square" lIns="0" tIns="0" rIns="0" bIns="0" rtlCol="0"/>
            <a:lstStyle/>
            <a:p>
              <a:endParaRPr/>
            </a:p>
          </p:txBody>
        </p:sp>
      </p:grpSp>
      <p:sp>
        <p:nvSpPr>
          <p:cNvPr id="88" name="object 88"/>
          <p:cNvSpPr txBox="1"/>
          <p:nvPr/>
        </p:nvSpPr>
        <p:spPr>
          <a:xfrm>
            <a:off x="3454155" y="2509520"/>
            <a:ext cx="1474470" cy="330200"/>
          </a:xfrm>
          <a:prstGeom prst="rect">
            <a:avLst/>
          </a:prstGeom>
        </p:spPr>
        <p:txBody>
          <a:bodyPr vert="horz" wrap="square" lIns="0" tIns="12065" rIns="0" bIns="0" rtlCol="0">
            <a:spAutoFit/>
          </a:bodyPr>
          <a:lstStyle/>
          <a:p>
            <a:pPr marL="38100">
              <a:lnSpc>
                <a:spcPct val="100000"/>
              </a:lnSpc>
              <a:spcBef>
                <a:spcPts val="95"/>
              </a:spcBef>
            </a:pPr>
            <a:r>
              <a:rPr sz="1700" dirty="0">
                <a:latin typeface="Calibri"/>
                <a:cs typeface="Calibri"/>
              </a:rPr>
              <a:t>Horizontal</a:t>
            </a:r>
            <a:r>
              <a:rPr sz="1700" spc="459" dirty="0">
                <a:latin typeface="Calibri"/>
                <a:cs typeface="Calibri"/>
              </a:rPr>
              <a:t> </a:t>
            </a:r>
            <a:r>
              <a:rPr sz="3000" spc="-37" baseline="-29166" dirty="0">
                <a:latin typeface="Verdana"/>
                <a:cs typeface="Verdana"/>
              </a:rPr>
              <a:t>(</a:t>
            </a:r>
            <a:r>
              <a:rPr sz="3000" spc="-37" baseline="-29166" dirty="0">
                <a:solidFill>
                  <a:srgbClr val="FF0000"/>
                </a:solidFill>
                <a:latin typeface="Microsoft Sans Serif"/>
                <a:cs typeface="Microsoft Sans Serif"/>
              </a:rPr>
              <a:t>1</a:t>
            </a:r>
            <a:r>
              <a:rPr sz="3000" spc="-37" baseline="-29166" dirty="0">
                <a:latin typeface="Verdana"/>
                <a:cs typeface="Verdana"/>
              </a:rPr>
              <a:t>)</a:t>
            </a:r>
            <a:endParaRPr sz="3000" baseline="-29166">
              <a:latin typeface="Verdana"/>
              <a:cs typeface="Verdana"/>
            </a:endParaRPr>
          </a:p>
        </p:txBody>
      </p:sp>
      <p:sp>
        <p:nvSpPr>
          <p:cNvPr id="89" name="object 89"/>
          <p:cNvSpPr txBox="1"/>
          <p:nvPr/>
        </p:nvSpPr>
        <p:spPr>
          <a:xfrm>
            <a:off x="5397246" y="4110887"/>
            <a:ext cx="255270" cy="366395"/>
          </a:xfrm>
          <a:prstGeom prst="rect">
            <a:avLst/>
          </a:prstGeom>
        </p:spPr>
        <p:txBody>
          <a:bodyPr vert="horz" wrap="square" lIns="0" tIns="17145" rIns="0" bIns="0" rtlCol="0">
            <a:spAutoFit/>
          </a:bodyPr>
          <a:lstStyle/>
          <a:p>
            <a:pPr marL="38100">
              <a:lnSpc>
                <a:spcPct val="100000"/>
              </a:lnSpc>
              <a:spcBef>
                <a:spcPts val="135"/>
              </a:spcBef>
            </a:pPr>
            <a:r>
              <a:rPr sz="2200" i="1" spc="-25" dirty="0">
                <a:latin typeface="Calibri"/>
                <a:cs typeface="Calibri"/>
              </a:rPr>
              <a:t>t</a:t>
            </a:r>
            <a:r>
              <a:rPr sz="2100" spc="-37" baseline="-11904" dirty="0">
                <a:latin typeface="Calibri"/>
                <a:cs typeface="Calibri"/>
              </a:rPr>
              <a:t>S</a:t>
            </a:r>
            <a:endParaRPr sz="2100" baseline="-11904">
              <a:latin typeface="Calibri"/>
              <a:cs typeface="Calibri"/>
            </a:endParaRPr>
          </a:p>
        </p:txBody>
      </p:sp>
      <p:sp>
        <p:nvSpPr>
          <p:cNvPr id="90" name="object 90"/>
          <p:cNvSpPr txBox="1"/>
          <p:nvPr/>
        </p:nvSpPr>
        <p:spPr>
          <a:xfrm>
            <a:off x="2936239" y="4518747"/>
            <a:ext cx="155575" cy="332105"/>
          </a:xfrm>
          <a:prstGeom prst="rect">
            <a:avLst/>
          </a:prstGeom>
        </p:spPr>
        <p:txBody>
          <a:bodyPr vert="horz" wrap="square" lIns="0" tIns="13970" rIns="0" bIns="0" rtlCol="0">
            <a:spAutoFit/>
          </a:bodyPr>
          <a:lstStyle/>
          <a:p>
            <a:pPr marL="12700">
              <a:lnSpc>
                <a:spcPct val="100000"/>
              </a:lnSpc>
              <a:spcBef>
                <a:spcPts val="110"/>
              </a:spcBef>
            </a:pPr>
            <a:r>
              <a:rPr sz="2000" spc="-50" dirty="0">
                <a:solidFill>
                  <a:srgbClr val="0000FF"/>
                </a:solidFill>
                <a:latin typeface="Calibri"/>
                <a:cs typeface="Calibri"/>
              </a:rPr>
              <a:t>0</a:t>
            </a:r>
            <a:endParaRPr sz="2000">
              <a:latin typeface="Calibri"/>
              <a:cs typeface="Calibri"/>
            </a:endParaRPr>
          </a:p>
        </p:txBody>
      </p:sp>
      <p:sp>
        <p:nvSpPr>
          <p:cNvPr id="91" name="object 91"/>
          <p:cNvSpPr txBox="1"/>
          <p:nvPr/>
        </p:nvSpPr>
        <p:spPr>
          <a:xfrm>
            <a:off x="4732792" y="4553799"/>
            <a:ext cx="378460" cy="332105"/>
          </a:xfrm>
          <a:prstGeom prst="rect">
            <a:avLst/>
          </a:prstGeom>
        </p:spPr>
        <p:txBody>
          <a:bodyPr vert="horz" wrap="square" lIns="0" tIns="13970" rIns="0" bIns="0" rtlCol="0">
            <a:spAutoFit/>
          </a:bodyPr>
          <a:lstStyle/>
          <a:p>
            <a:pPr marL="38100">
              <a:lnSpc>
                <a:spcPct val="100000"/>
              </a:lnSpc>
              <a:spcBef>
                <a:spcPts val="110"/>
              </a:spcBef>
            </a:pPr>
            <a:r>
              <a:rPr sz="3000" i="1" spc="-30" baseline="8333" dirty="0">
                <a:solidFill>
                  <a:srgbClr val="0000FF"/>
                </a:solidFill>
                <a:latin typeface="Calibri"/>
                <a:cs typeface="Calibri"/>
              </a:rPr>
              <a:t>T</a:t>
            </a:r>
            <a:r>
              <a:rPr sz="1250" spc="-20" dirty="0">
                <a:solidFill>
                  <a:srgbClr val="0000FF"/>
                </a:solidFill>
                <a:latin typeface="Calibri"/>
                <a:cs typeface="Calibri"/>
              </a:rPr>
              <a:t>bit</a:t>
            </a:r>
            <a:endParaRPr sz="1250">
              <a:latin typeface="Calibri"/>
              <a:cs typeface="Calibri"/>
            </a:endParaRPr>
          </a:p>
        </p:txBody>
      </p:sp>
      <p:sp>
        <p:nvSpPr>
          <p:cNvPr id="92" name="object 9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Bit</a:t>
            </a:r>
            <a:r>
              <a:rPr spc="-55" dirty="0"/>
              <a:t> </a:t>
            </a:r>
            <a:r>
              <a:rPr dirty="0"/>
              <a:t>Error</a:t>
            </a:r>
            <a:r>
              <a:rPr spc="-50" dirty="0"/>
              <a:t> </a:t>
            </a:r>
            <a:r>
              <a:rPr dirty="0"/>
              <a:t>Rate</a:t>
            </a:r>
            <a:r>
              <a:rPr spc="-55" dirty="0"/>
              <a:t> </a:t>
            </a:r>
            <a:r>
              <a:rPr dirty="0"/>
              <a:t>(</a:t>
            </a:r>
            <a:r>
              <a:rPr i="1" dirty="0">
                <a:latin typeface="Verdana"/>
                <a:cs typeface="Verdana"/>
              </a:rPr>
              <a:t>BER</a:t>
            </a:r>
            <a:r>
              <a:rPr dirty="0"/>
              <a:t>)</a:t>
            </a:r>
            <a:r>
              <a:rPr spc="-65" dirty="0"/>
              <a:t> </a:t>
            </a:r>
            <a:r>
              <a:rPr spc="-25" dirty="0"/>
              <a:t>III</a:t>
            </a:r>
          </a:p>
        </p:txBody>
      </p:sp>
      <p:sp>
        <p:nvSpPr>
          <p:cNvPr id="93" name="object 93"/>
          <p:cNvSpPr txBox="1"/>
          <p:nvPr/>
        </p:nvSpPr>
        <p:spPr>
          <a:xfrm>
            <a:off x="809244" y="1290093"/>
            <a:ext cx="8909685" cy="831850"/>
          </a:xfrm>
          <a:prstGeom prst="rect">
            <a:avLst/>
          </a:prstGeom>
        </p:spPr>
        <p:txBody>
          <a:bodyPr vert="horz" wrap="square" lIns="0" tIns="86360" rIns="0" bIns="0" rtlCol="0">
            <a:spAutoFit/>
          </a:bodyPr>
          <a:lstStyle/>
          <a:p>
            <a:pPr marL="508000" indent="-469900">
              <a:lnSpc>
                <a:spcPct val="100000"/>
              </a:lnSpc>
              <a:spcBef>
                <a:spcPts val="680"/>
              </a:spcBef>
              <a:buClr>
                <a:srgbClr val="CC0000"/>
              </a:buClr>
              <a:buSzPct val="79166"/>
              <a:buFont typeface="Wingdings"/>
              <a:buChar char=""/>
              <a:tabLst>
                <a:tab pos="508000" algn="l"/>
              </a:tabLst>
            </a:pPr>
            <a:r>
              <a:rPr sz="2400" dirty="0">
                <a:latin typeface="Verdana"/>
                <a:cs typeface="Verdana"/>
              </a:rPr>
              <a:t>Vertical</a:t>
            </a:r>
            <a:r>
              <a:rPr sz="2400" spc="-70" dirty="0">
                <a:latin typeface="Verdana"/>
                <a:cs typeface="Verdana"/>
              </a:rPr>
              <a:t> </a:t>
            </a:r>
            <a:r>
              <a:rPr sz="2400" dirty="0">
                <a:latin typeface="Verdana"/>
                <a:cs typeface="Verdana"/>
              </a:rPr>
              <a:t>and</a:t>
            </a:r>
            <a:r>
              <a:rPr sz="2400" spc="-70" dirty="0">
                <a:latin typeface="Verdana"/>
                <a:cs typeface="Verdana"/>
              </a:rPr>
              <a:t> </a:t>
            </a:r>
            <a:r>
              <a:rPr sz="2400" dirty="0">
                <a:latin typeface="Verdana"/>
                <a:cs typeface="Verdana"/>
              </a:rPr>
              <a:t>horizontal</a:t>
            </a:r>
            <a:r>
              <a:rPr sz="2400" spc="-35" dirty="0">
                <a:latin typeface="Verdana"/>
                <a:cs typeface="Verdana"/>
              </a:rPr>
              <a:t> </a:t>
            </a:r>
            <a:r>
              <a:rPr sz="2400" i="1" spc="-25" dirty="0">
                <a:latin typeface="Verdana"/>
                <a:cs typeface="Verdana"/>
              </a:rPr>
              <a:t>BER</a:t>
            </a:r>
            <a:endParaRPr sz="2400">
              <a:latin typeface="Verdana"/>
              <a:cs typeface="Verdana"/>
            </a:endParaRPr>
          </a:p>
          <a:p>
            <a:pPr marL="946150" lvl="1" indent="-437515">
              <a:lnSpc>
                <a:spcPct val="100000"/>
              </a:lnSpc>
              <a:spcBef>
                <a:spcPts val="484"/>
              </a:spcBef>
              <a:buClr>
                <a:srgbClr val="CC0000"/>
              </a:buClr>
              <a:buSzPct val="80000"/>
              <a:buFont typeface="Wingdings"/>
              <a:buChar char=""/>
              <a:tabLst>
                <a:tab pos="946150" algn="l"/>
              </a:tabLst>
            </a:pPr>
            <a:r>
              <a:rPr sz="2000" i="1" dirty="0">
                <a:latin typeface="Verdana"/>
                <a:cs typeface="Verdana"/>
              </a:rPr>
              <a:t>BER</a:t>
            </a:r>
            <a:r>
              <a:rPr sz="2000" i="1" spc="-45" dirty="0">
                <a:latin typeface="Verdana"/>
                <a:cs typeface="Verdana"/>
              </a:rPr>
              <a:t> </a:t>
            </a:r>
            <a:r>
              <a:rPr sz="2000" dirty="0">
                <a:latin typeface="Verdana"/>
                <a:cs typeface="Verdana"/>
              </a:rPr>
              <a:t>depends</a:t>
            </a:r>
            <a:r>
              <a:rPr sz="2000" spc="-35" dirty="0">
                <a:latin typeface="Verdana"/>
                <a:cs typeface="Verdana"/>
              </a:rPr>
              <a:t> </a:t>
            </a:r>
            <a:r>
              <a:rPr sz="2000" dirty="0">
                <a:latin typeface="Verdana"/>
                <a:cs typeface="Verdana"/>
              </a:rPr>
              <a:t>on</a:t>
            </a:r>
            <a:r>
              <a:rPr sz="2000" spc="-50" dirty="0">
                <a:latin typeface="Verdana"/>
                <a:cs typeface="Verdana"/>
              </a:rPr>
              <a:t> </a:t>
            </a:r>
            <a:r>
              <a:rPr sz="2000" dirty="0">
                <a:latin typeface="Verdana"/>
                <a:cs typeface="Verdana"/>
              </a:rPr>
              <a:t>decision</a:t>
            </a:r>
            <a:r>
              <a:rPr sz="2000" spc="-35" dirty="0">
                <a:latin typeface="Verdana"/>
                <a:cs typeface="Verdana"/>
              </a:rPr>
              <a:t> </a:t>
            </a:r>
            <a:r>
              <a:rPr sz="2000" dirty="0">
                <a:latin typeface="Verdana"/>
                <a:cs typeface="Verdana"/>
              </a:rPr>
              <a:t>threshold</a:t>
            </a:r>
            <a:r>
              <a:rPr sz="2000" spc="-55" dirty="0">
                <a:latin typeface="Verdana"/>
                <a:cs typeface="Verdana"/>
              </a:rPr>
              <a:t> </a:t>
            </a:r>
            <a:r>
              <a:rPr sz="2000" i="1" dirty="0">
                <a:latin typeface="Verdana"/>
                <a:cs typeface="Verdana"/>
              </a:rPr>
              <a:t>V</a:t>
            </a:r>
            <a:r>
              <a:rPr sz="1950" baseline="-21367" dirty="0">
                <a:latin typeface="Verdana"/>
                <a:cs typeface="Verdana"/>
              </a:rPr>
              <a:t>DTH</a:t>
            </a:r>
            <a:r>
              <a:rPr sz="1950" spc="307" baseline="-21367" dirty="0">
                <a:latin typeface="Verdana"/>
                <a:cs typeface="Verdana"/>
              </a:rPr>
              <a:t> </a:t>
            </a:r>
            <a:r>
              <a:rPr sz="2000" dirty="0">
                <a:latin typeface="Verdana"/>
                <a:cs typeface="Verdana"/>
              </a:rPr>
              <a:t>and</a:t>
            </a:r>
            <a:r>
              <a:rPr sz="2000" spc="-35" dirty="0">
                <a:latin typeface="Verdana"/>
                <a:cs typeface="Verdana"/>
              </a:rPr>
              <a:t> </a:t>
            </a:r>
            <a:r>
              <a:rPr sz="2000" dirty="0">
                <a:latin typeface="Verdana"/>
                <a:cs typeface="Verdana"/>
              </a:rPr>
              <a:t>sample</a:t>
            </a:r>
            <a:r>
              <a:rPr sz="2000" spc="-40" dirty="0">
                <a:latin typeface="Verdana"/>
                <a:cs typeface="Verdana"/>
              </a:rPr>
              <a:t> </a:t>
            </a:r>
            <a:r>
              <a:rPr sz="2000" dirty="0">
                <a:latin typeface="Verdana"/>
                <a:cs typeface="Verdana"/>
              </a:rPr>
              <a:t>instant</a:t>
            </a:r>
            <a:r>
              <a:rPr sz="2000" spc="-45" dirty="0">
                <a:latin typeface="Verdana"/>
                <a:cs typeface="Verdana"/>
              </a:rPr>
              <a:t> </a:t>
            </a:r>
            <a:r>
              <a:rPr sz="2000" i="1" spc="-25" dirty="0">
                <a:latin typeface="Verdana"/>
                <a:cs typeface="Verdana"/>
              </a:rPr>
              <a:t>t</a:t>
            </a:r>
            <a:r>
              <a:rPr sz="1950" spc="-37" baseline="-21367" dirty="0">
                <a:latin typeface="Verdana"/>
                <a:cs typeface="Verdana"/>
              </a:rPr>
              <a:t>S</a:t>
            </a:r>
            <a:endParaRPr sz="1950" baseline="-21367">
              <a:latin typeface="Verdana"/>
              <a:cs typeface="Verdana"/>
            </a:endParaRPr>
          </a:p>
        </p:txBody>
      </p:sp>
      <p:sp>
        <p:nvSpPr>
          <p:cNvPr id="94" name="object 94"/>
          <p:cNvSpPr txBox="1"/>
          <p:nvPr/>
        </p:nvSpPr>
        <p:spPr>
          <a:xfrm>
            <a:off x="809244" y="5162803"/>
            <a:ext cx="9939020" cy="903605"/>
          </a:xfrm>
          <a:prstGeom prst="rect">
            <a:avLst/>
          </a:prstGeom>
        </p:spPr>
        <p:txBody>
          <a:bodyPr vert="horz" wrap="square" lIns="0" tIns="85725" rIns="0" bIns="0" rtlCol="0">
            <a:spAutoFit/>
          </a:bodyPr>
          <a:lstStyle/>
          <a:p>
            <a:pPr marL="508000" indent="-469900">
              <a:lnSpc>
                <a:spcPct val="100000"/>
              </a:lnSpc>
              <a:spcBef>
                <a:spcPts val="675"/>
              </a:spcBef>
              <a:buClr>
                <a:srgbClr val="CC0000"/>
              </a:buClr>
              <a:buSzPct val="79166"/>
              <a:buFont typeface="Wingdings"/>
              <a:buChar char=""/>
              <a:tabLst>
                <a:tab pos="508000" algn="l"/>
              </a:tabLst>
            </a:pPr>
            <a:r>
              <a:rPr sz="2400" dirty="0">
                <a:latin typeface="Verdana"/>
                <a:cs typeface="Verdana"/>
              </a:rPr>
              <a:t>(</a:t>
            </a:r>
            <a:r>
              <a:rPr sz="2400" dirty="0">
                <a:solidFill>
                  <a:srgbClr val="FF0000"/>
                </a:solidFill>
                <a:latin typeface="Microsoft Sans Serif"/>
                <a:cs typeface="Microsoft Sans Serif"/>
              </a:rPr>
              <a:t>1</a:t>
            </a:r>
            <a:r>
              <a:rPr sz="2400" dirty="0">
                <a:latin typeface="Verdana"/>
                <a:cs typeface="Verdana"/>
              </a:rPr>
              <a:t>)</a:t>
            </a:r>
            <a:r>
              <a:rPr sz="2400" spc="-40" dirty="0">
                <a:latin typeface="Verdana"/>
                <a:cs typeface="Verdana"/>
              </a:rPr>
              <a:t> </a:t>
            </a:r>
            <a:r>
              <a:rPr sz="2400" dirty="0">
                <a:latin typeface="Verdana"/>
                <a:cs typeface="Verdana"/>
              </a:rPr>
              <a:t>Faster</a:t>
            </a:r>
            <a:r>
              <a:rPr sz="2400" spc="-40" dirty="0">
                <a:latin typeface="Verdana"/>
                <a:cs typeface="Verdana"/>
              </a:rPr>
              <a:t> </a:t>
            </a:r>
            <a:r>
              <a:rPr sz="2400" dirty="0">
                <a:latin typeface="Verdana"/>
                <a:cs typeface="Verdana"/>
              </a:rPr>
              <a:t>link</a:t>
            </a:r>
            <a:r>
              <a:rPr sz="2400" spc="-15" dirty="0">
                <a:latin typeface="Verdana"/>
                <a:cs typeface="Verdana"/>
              </a:rPr>
              <a:t> </a:t>
            </a:r>
            <a:r>
              <a:rPr sz="2400" dirty="0">
                <a:latin typeface="Verdana"/>
                <a:cs typeface="Verdana"/>
              </a:rPr>
              <a:t>speed</a:t>
            </a:r>
            <a:r>
              <a:rPr sz="2400" spc="-40" dirty="0">
                <a:latin typeface="Verdana"/>
                <a:cs typeface="Verdana"/>
              </a:rPr>
              <a:t> </a:t>
            </a:r>
            <a:r>
              <a:rPr sz="2400" dirty="0">
                <a:latin typeface="Wingdings"/>
                <a:cs typeface="Wingdings"/>
              </a:rPr>
              <a:t></a:t>
            </a:r>
            <a:r>
              <a:rPr sz="2400" spc="204" dirty="0">
                <a:latin typeface="Times New Roman"/>
                <a:cs typeface="Times New Roman"/>
              </a:rPr>
              <a:t> </a:t>
            </a:r>
            <a:r>
              <a:rPr sz="2400" dirty="0">
                <a:latin typeface="Verdana"/>
                <a:cs typeface="Verdana"/>
              </a:rPr>
              <a:t>shorter</a:t>
            </a:r>
            <a:r>
              <a:rPr sz="2400" spc="-25" dirty="0">
                <a:latin typeface="Verdana"/>
                <a:cs typeface="Verdana"/>
              </a:rPr>
              <a:t> </a:t>
            </a:r>
            <a:r>
              <a:rPr sz="2400" dirty="0">
                <a:latin typeface="Verdana"/>
                <a:cs typeface="Verdana"/>
              </a:rPr>
              <a:t>bit</a:t>
            </a:r>
            <a:r>
              <a:rPr sz="2400" spc="-20" dirty="0">
                <a:latin typeface="Verdana"/>
                <a:cs typeface="Verdana"/>
              </a:rPr>
              <a:t> </a:t>
            </a:r>
            <a:r>
              <a:rPr sz="2400" dirty="0">
                <a:latin typeface="Verdana"/>
                <a:cs typeface="Verdana"/>
              </a:rPr>
              <a:t>period</a:t>
            </a:r>
            <a:r>
              <a:rPr sz="2400" spc="-20" dirty="0">
                <a:latin typeface="Verdana"/>
                <a:cs typeface="Verdana"/>
              </a:rPr>
              <a:t> </a:t>
            </a:r>
            <a:r>
              <a:rPr sz="2400" dirty="0">
                <a:latin typeface="Verdana"/>
                <a:cs typeface="Verdana"/>
              </a:rPr>
              <a:t>(</a:t>
            </a:r>
            <a:r>
              <a:rPr sz="2400" i="1" dirty="0">
                <a:latin typeface="Verdana"/>
                <a:cs typeface="Verdana"/>
              </a:rPr>
              <a:t>T</a:t>
            </a:r>
            <a:r>
              <a:rPr sz="2400" baseline="-20833" dirty="0">
                <a:latin typeface="Verdana"/>
                <a:cs typeface="Verdana"/>
              </a:rPr>
              <a:t>bit</a:t>
            </a:r>
            <a:r>
              <a:rPr sz="2400" dirty="0">
                <a:latin typeface="Verdana"/>
                <a:cs typeface="Verdana"/>
              </a:rPr>
              <a:t>)</a:t>
            </a:r>
            <a:r>
              <a:rPr sz="2400" spc="-45" dirty="0">
                <a:latin typeface="Verdana"/>
                <a:cs typeface="Verdana"/>
              </a:rPr>
              <a:t> </a:t>
            </a:r>
            <a:r>
              <a:rPr sz="2400" dirty="0">
                <a:solidFill>
                  <a:srgbClr val="FF0000"/>
                </a:solidFill>
                <a:latin typeface="Wingdings"/>
                <a:cs typeface="Wingdings"/>
              </a:rPr>
              <a:t></a:t>
            </a:r>
            <a:r>
              <a:rPr sz="2400" spc="204" dirty="0">
                <a:solidFill>
                  <a:srgbClr val="FF0000"/>
                </a:solidFill>
                <a:latin typeface="Times New Roman"/>
                <a:cs typeface="Times New Roman"/>
              </a:rPr>
              <a:t> </a:t>
            </a:r>
            <a:r>
              <a:rPr sz="2400" dirty="0">
                <a:solidFill>
                  <a:srgbClr val="FF0000"/>
                </a:solidFill>
                <a:latin typeface="Verdana"/>
                <a:cs typeface="Verdana"/>
              </a:rPr>
              <a:t>higher</a:t>
            </a:r>
            <a:r>
              <a:rPr sz="2400" spc="-15" dirty="0">
                <a:solidFill>
                  <a:srgbClr val="FF0000"/>
                </a:solidFill>
                <a:latin typeface="Verdana"/>
                <a:cs typeface="Verdana"/>
              </a:rPr>
              <a:t> </a:t>
            </a:r>
            <a:r>
              <a:rPr sz="2400" i="1" spc="-25" dirty="0">
                <a:solidFill>
                  <a:srgbClr val="FF0000"/>
                </a:solidFill>
                <a:latin typeface="Verdana"/>
                <a:cs typeface="Verdana"/>
              </a:rPr>
              <a:t>BER</a:t>
            </a:r>
            <a:endParaRPr sz="2400">
              <a:latin typeface="Verdana"/>
              <a:cs typeface="Verdana"/>
            </a:endParaRPr>
          </a:p>
          <a:p>
            <a:pPr marL="508000" indent="-469900">
              <a:lnSpc>
                <a:spcPct val="100000"/>
              </a:lnSpc>
              <a:spcBef>
                <a:spcPts val="575"/>
              </a:spcBef>
              <a:buClr>
                <a:srgbClr val="CC0000"/>
              </a:buClr>
              <a:buSzPct val="79166"/>
              <a:buFont typeface="Wingdings"/>
              <a:buChar char=""/>
              <a:tabLst>
                <a:tab pos="508000" algn="l"/>
              </a:tabLst>
            </a:pPr>
            <a:r>
              <a:rPr sz="2400" dirty="0">
                <a:latin typeface="Verdana"/>
                <a:cs typeface="Verdana"/>
              </a:rPr>
              <a:t>(</a:t>
            </a:r>
            <a:r>
              <a:rPr sz="2400" dirty="0">
                <a:solidFill>
                  <a:srgbClr val="FF0000"/>
                </a:solidFill>
                <a:latin typeface="Microsoft Sans Serif"/>
                <a:cs typeface="Microsoft Sans Serif"/>
              </a:rPr>
              <a:t>2</a:t>
            </a:r>
            <a:r>
              <a:rPr sz="2400" dirty="0">
                <a:latin typeface="Verdana"/>
                <a:cs typeface="Verdana"/>
              </a:rPr>
              <a:t>)</a:t>
            </a:r>
            <a:r>
              <a:rPr sz="2400" spc="-55" dirty="0">
                <a:latin typeface="Verdana"/>
                <a:cs typeface="Verdana"/>
              </a:rPr>
              <a:t> </a:t>
            </a:r>
            <a:r>
              <a:rPr sz="2400" dirty="0">
                <a:latin typeface="Verdana"/>
                <a:cs typeface="Verdana"/>
              </a:rPr>
              <a:t>Higher</a:t>
            </a:r>
            <a:r>
              <a:rPr sz="2400" spc="-35" dirty="0">
                <a:latin typeface="Verdana"/>
                <a:cs typeface="Verdana"/>
              </a:rPr>
              <a:t> </a:t>
            </a:r>
            <a:r>
              <a:rPr sz="2400" dirty="0">
                <a:latin typeface="Verdana"/>
                <a:cs typeface="Verdana"/>
              </a:rPr>
              <a:t>TX</a:t>
            </a:r>
            <a:r>
              <a:rPr sz="2400" spc="-50" dirty="0">
                <a:latin typeface="Verdana"/>
                <a:cs typeface="Verdana"/>
              </a:rPr>
              <a:t> </a:t>
            </a:r>
            <a:r>
              <a:rPr sz="2400" dirty="0">
                <a:latin typeface="Verdana"/>
                <a:cs typeface="Verdana"/>
              </a:rPr>
              <a:t>eye</a:t>
            </a:r>
            <a:r>
              <a:rPr sz="2400" spc="-50" dirty="0">
                <a:latin typeface="Verdana"/>
                <a:cs typeface="Verdana"/>
              </a:rPr>
              <a:t> </a:t>
            </a:r>
            <a:r>
              <a:rPr sz="2400" dirty="0">
                <a:latin typeface="Verdana"/>
                <a:cs typeface="Verdana"/>
              </a:rPr>
              <a:t>amplitude</a:t>
            </a:r>
            <a:r>
              <a:rPr sz="2400" spc="-50" dirty="0">
                <a:latin typeface="Verdana"/>
                <a:cs typeface="Verdana"/>
              </a:rPr>
              <a:t> </a:t>
            </a:r>
            <a:r>
              <a:rPr sz="2400" dirty="0">
                <a:latin typeface="Wingdings"/>
                <a:cs typeface="Wingdings"/>
              </a:rPr>
              <a:t></a:t>
            </a:r>
            <a:r>
              <a:rPr sz="2400" spc="190" dirty="0">
                <a:latin typeface="Times New Roman"/>
                <a:cs typeface="Times New Roman"/>
              </a:rPr>
              <a:t> </a:t>
            </a:r>
            <a:r>
              <a:rPr sz="2400" dirty="0">
                <a:latin typeface="Verdana"/>
                <a:cs typeface="Verdana"/>
              </a:rPr>
              <a:t>improved</a:t>
            </a:r>
            <a:r>
              <a:rPr sz="2400" spc="-20" dirty="0">
                <a:latin typeface="Verdana"/>
                <a:cs typeface="Verdana"/>
              </a:rPr>
              <a:t> </a:t>
            </a:r>
            <a:r>
              <a:rPr sz="2400" i="1" dirty="0">
                <a:latin typeface="Verdana"/>
                <a:cs typeface="Verdana"/>
              </a:rPr>
              <a:t>SNR</a:t>
            </a:r>
            <a:r>
              <a:rPr sz="2400" i="1" spc="-45" dirty="0">
                <a:latin typeface="Verdana"/>
                <a:cs typeface="Verdana"/>
              </a:rPr>
              <a:t> </a:t>
            </a:r>
            <a:r>
              <a:rPr sz="2400" dirty="0">
                <a:solidFill>
                  <a:srgbClr val="FF0000"/>
                </a:solidFill>
                <a:latin typeface="Wingdings"/>
                <a:cs typeface="Wingdings"/>
              </a:rPr>
              <a:t></a:t>
            </a:r>
            <a:r>
              <a:rPr sz="2400" spc="195" dirty="0">
                <a:solidFill>
                  <a:srgbClr val="FF0000"/>
                </a:solidFill>
                <a:latin typeface="Times New Roman"/>
                <a:cs typeface="Times New Roman"/>
              </a:rPr>
              <a:t> </a:t>
            </a:r>
            <a:r>
              <a:rPr sz="2400" dirty="0">
                <a:solidFill>
                  <a:srgbClr val="FF0000"/>
                </a:solidFill>
                <a:latin typeface="Verdana"/>
                <a:cs typeface="Verdana"/>
              </a:rPr>
              <a:t>lower</a:t>
            </a:r>
            <a:r>
              <a:rPr sz="2400" spc="-50" dirty="0">
                <a:solidFill>
                  <a:srgbClr val="FF0000"/>
                </a:solidFill>
                <a:latin typeface="Verdana"/>
                <a:cs typeface="Verdana"/>
              </a:rPr>
              <a:t> </a:t>
            </a:r>
            <a:r>
              <a:rPr sz="2400" i="1" spc="-25" dirty="0">
                <a:solidFill>
                  <a:srgbClr val="FF0000"/>
                </a:solidFill>
                <a:latin typeface="Verdana"/>
                <a:cs typeface="Verdana"/>
              </a:rPr>
              <a:t>BER</a:t>
            </a:r>
            <a:endParaRPr sz="2400">
              <a:latin typeface="Verdana"/>
              <a:cs typeface="Verdana"/>
            </a:endParaRPr>
          </a:p>
        </p:txBody>
      </p:sp>
      <p:sp>
        <p:nvSpPr>
          <p:cNvPr id="95" name="object 95"/>
          <p:cNvSpPr/>
          <p:nvPr/>
        </p:nvSpPr>
        <p:spPr>
          <a:xfrm>
            <a:off x="1200150" y="3019043"/>
            <a:ext cx="670560" cy="1137285"/>
          </a:xfrm>
          <a:custGeom>
            <a:avLst/>
            <a:gdLst/>
            <a:ahLst/>
            <a:cxnLst/>
            <a:rect l="l" t="t" r="r" b="b"/>
            <a:pathLst>
              <a:path w="670560" h="1137285">
                <a:moveTo>
                  <a:pt x="670560" y="801624"/>
                </a:moveTo>
                <a:lnTo>
                  <a:pt x="501396" y="801624"/>
                </a:lnTo>
                <a:lnTo>
                  <a:pt x="501396" y="0"/>
                </a:lnTo>
                <a:lnTo>
                  <a:pt x="168402" y="0"/>
                </a:lnTo>
                <a:lnTo>
                  <a:pt x="168402" y="801624"/>
                </a:lnTo>
                <a:lnTo>
                  <a:pt x="0" y="801624"/>
                </a:lnTo>
                <a:lnTo>
                  <a:pt x="11430" y="813054"/>
                </a:lnTo>
                <a:lnTo>
                  <a:pt x="331470" y="1133094"/>
                </a:lnTo>
                <a:lnTo>
                  <a:pt x="335280" y="1136904"/>
                </a:lnTo>
                <a:lnTo>
                  <a:pt x="338328" y="1133856"/>
                </a:lnTo>
                <a:lnTo>
                  <a:pt x="659130" y="813054"/>
                </a:lnTo>
                <a:lnTo>
                  <a:pt x="670560" y="801624"/>
                </a:lnTo>
                <a:close/>
              </a:path>
            </a:pathLst>
          </a:custGeom>
          <a:solidFill>
            <a:srgbClr val="0000FF"/>
          </a:solidFill>
        </p:spPr>
        <p:txBody>
          <a:bodyPr wrap="square" lIns="0" tIns="0" rIns="0" bIns="0" rtlCol="0"/>
          <a:lstStyle/>
          <a:p>
            <a:endParaRPr/>
          </a:p>
        </p:txBody>
      </p:sp>
      <p:sp>
        <p:nvSpPr>
          <p:cNvPr id="96" name="object 96"/>
          <p:cNvSpPr txBox="1"/>
          <p:nvPr/>
        </p:nvSpPr>
        <p:spPr>
          <a:xfrm>
            <a:off x="1356013" y="3175314"/>
            <a:ext cx="334010" cy="808990"/>
          </a:xfrm>
          <a:prstGeom prst="rect">
            <a:avLst/>
          </a:prstGeom>
        </p:spPr>
        <p:txBody>
          <a:bodyPr vert="vert270" wrap="square" lIns="0" tIns="13335" rIns="0" bIns="0" rtlCol="0">
            <a:spAutoFit/>
          </a:bodyPr>
          <a:lstStyle/>
          <a:p>
            <a:pPr marL="12700">
              <a:lnSpc>
                <a:spcPct val="100000"/>
              </a:lnSpc>
              <a:spcBef>
                <a:spcPts val="105"/>
              </a:spcBef>
            </a:pPr>
            <a:r>
              <a:rPr sz="2000" spc="-10" dirty="0">
                <a:solidFill>
                  <a:srgbClr val="FFFFFF"/>
                </a:solidFill>
                <a:latin typeface="Verdana"/>
                <a:cs typeface="Verdana"/>
              </a:rPr>
              <a:t>Better</a:t>
            </a:r>
            <a:endParaRPr sz="2000">
              <a:latin typeface="Verdana"/>
              <a:cs typeface="Verdana"/>
            </a:endParaRPr>
          </a:p>
        </p:txBody>
      </p:sp>
      <p:sp>
        <p:nvSpPr>
          <p:cNvPr id="97" name="object 97"/>
          <p:cNvSpPr txBox="1"/>
          <p:nvPr/>
        </p:nvSpPr>
        <p:spPr>
          <a:xfrm>
            <a:off x="9033762" y="2840227"/>
            <a:ext cx="396875" cy="330200"/>
          </a:xfrm>
          <a:prstGeom prst="rect">
            <a:avLst/>
          </a:prstGeom>
        </p:spPr>
        <p:txBody>
          <a:bodyPr vert="horz" wrap="square" lIns="0" tIns="12065" rIns="0" bIns="0" rtlCol="0">
            <a:spAutoFit/>
          </a:bodyPr>
          <a:lstStyle/>
          <a:p>
            <a:pPr marL="12700">
              <a:lnSpc>
                <a:spcPct val="100000"/>
              </a:lnSpc>
              <a:spcBef>
                <a:spcPts val="95"/>
              </a:spcBef>
            </a:pPr>
            <a:r>
              <a:rPr sz="2000" spc="-25" dirty="0">
                <a:latin typeface="Verdana"/>
                <a:cs typeface="Verdana"/>
              </a:rPr>
              <a:t>(</a:t>
            </a:r>
            <a:r>
              <a:rPr sz="2000" spc="-25" dirty="0">
                <a:solidFill>
                  <a:srgbClr val="FF0000"/>
                </a:solidFill>
                <a:latin typeface="Microsoft Sans Serif"/>
                <a:cs typeface="Microsoft Sans Serif"/>
              </a:rPr>
              <a:t>2</a:t>
            </a:r>
            <a:r>
              <a:rPr sz="2000" spc="-25" dirty="0">
                <a:latin typeface="Verdana"/>
                <a:cs typeface="Verdana"/>
              </a:rPr>
              <a:t>)</a:t>
            </a:r>
            <a:endParaRPr sz="2000">
              <a:latin typeface="Verdana"/>
              <a:cs typeface="Verdana"/>
            </a:endParaRPr>
          </a:p>
        </p:txBody>
      </p:sp>
      <p:sp>
        <p:nvSpPr>
          <p:cNvPr id="98" name="object 98"/>
          <p:cNvSpPr/>
          <p:nvPr/>
        </p:nvSpPr>
        <p:spPr>
          <a:xfrm>
            <a:off x="6894576" y="4485132"/>
            <a:ext cx="1405890" cy="323215"/>
          </a:xfrm>
          <a:custGeom>
            <a:avLst/>
            <a:gdLst/>
            <a:ahLst/>
            <a:cxnLst/>
            <a:rect l="l" t="t" r="r" b="b"/>
            <a:pathLst>
              <a:path w="1405890" h="323214">
                <a:moveTo>
                  <a:pt x="1405890" y="323088"/>
                </a:moveTo>
                <a:lnTo>
                  <a:pt x="1405890" y="0"/>
                </a:lnTo>
                <a:lnTo>
                  <a:pt x="0" y="0"/>
                </a:lnTo>
                <a:lnTo>
                  <a:pt x="0" y="323088"/>
                </a:lnTo>
                <a:lnTo>
                  <a:pt x="1405890" y="323088"/>
                </a:lnTo>
                <a:close/>
              </a:path>
            </a:pathLst>
          </a:custGeom>
          <a:solidFill>
            <a:srgbClr val="FFFFFF"/>
          </a:solidFill>
        </p:spPr>
        <p:txBody>
          <a:bodyPr wrap="square" lIns="0" tIns="0" rIns="0" bIns="0" rtlCol="0"/>
          <a:lstStyle/>
          <a:p>
            <a:endParaRPr/>
          </a:p>
        </p:txBody>
      </p:sp>
      <p:sp>
        <p:nvSpPr>
          <p:cNvPr id="99" name="object 99"/>
          <p:cNvSpPr txBox="1"/>
          <p:nvPr/>
        </p:nvSpPr>
        <p:spPr>
          <a:xfrm>
            <a:off x="6973316" y="4512817"/>
            <a:ext cx="1232535" cy="254000"/>
          </a:xfrm>
          <a:prstGeom prst="rect">
            <a:avLst/>
          </a:prstGeom>
        </p:spPr>
        <p:txBody>
          <a:bodyPr vert="horz" wrap="square" lIns="0" tIns="12700" rIns="0" bIns="0" rtlCol="0">
            <a:spAutoFit/>
          </a:bodyPr>
          <a:lstStyle/>
          <a:p>
            <a:pPr marL="12700">
              <a:lnSpc>
                <a:spcPct val="100000"/>
              </a:lnSpc>
              <a:spcBef>
                <a:spcPts val="100"/>
              </a:spcBef>
            </a:pPr>
            <a:r>
              <a:rPr sz="1500" dirty="0">
                <a:latin typeface="Microsoft Sans Serif"/>
                <a:cs typeface="Microsoft Sans Serif"/>
              </a:rPr>
              <a:t>Eye</a:t>
            </a:r>
            <a:r>
              <a:rPr sz="1500" spc="-25" dirty="0">
                <a:latin typeface="Microsoft Sans Serif"/>
                <a:cs typeface="Microsoft Sans Serif"/>
              </a:rPr>
              <a:t> </a:t>
            </a:r>
            <a:r>
              <a:rPr sz="1500" spc="-10" dirty="0">
                <a:latin typeface="Microsoft Sans Serif"/>
                <a:cs typeface="Microsoft Sans Serif"/>
              </a:rPr>
              <a:t>amplitude</a:t>
            </a:r>
            <a:endParaRPr sz="1500">
              <a:latin typeface="Microsoft Sans Serif"/>
              <a:cs typeface="Microsoft Sans Serif"/>
            </a:endParaRPr>
          </a:p>
        </p:txBody>
      </p:sp>
      <p:sp>
        <p:nvSpPr>
          <p:cNvPr id="100" name="Slide Number Placeholder 9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25</a:t>
            </a:fld>
            <a:endParaRPr lang="en-US" spc="-50" dirty="0"/>
          </a:p>
        </p:txBody>
      </p:sp>
      <p:sp>
        <p:nvSpPr>
          <p:cNvPr id="101" name="Date Placeholder 10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02" name="Footer Placeholder 10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801631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PAM4</a:t>
            </a:r>
            <a:r>
              <a:rPr spc="-50" dirty="0"/>
              <a:t> </a:t>
            </a:r>
            <a:r>
              <a:rPr dirty="0"/>
              <a:t>Eye</a:t>
            </a:r>
            <a:r>
              <a:rPr spc="-45" dirty="0"/>
              <a:t> </a:t>
            </a:r>
            <a:r>
              <a:rPr spc="-10" dirty="0"/>
              <a:t>Linearity</a:t>
            </a:r>
          </a:p>
        </p:txBody>
      </p:sp>
      <p:sp>
        <p:nvSpPr>
          <p:cNvPr id="3" name="object 3"/>
          <p:cNvSpPr txBox="1"/>
          <p:nvPr/>
        </p:nvSpPr>
        <p:spPr>
          <a:xfrm>
            <a:off x="809244" y="3925315"/>
            <a:ext cx="10547985" cy="2128520"/>
          </a:xfrm>
          <a:prstGeom prst="rect">
            <a:avLst/>
          </a:prstGeom>
        </p:spPr>
        <p:txBody>
          <a:bodyPr vert="horz" wrap="square" lIns="0" tIns="85725" rIns="0" bIns="0" rtlCol="0">
            <a:spAutoFit/>
          </a:bodyPr>
          <a:lstStyle/>
          <a:p>
            <a:pPr marL="508000" indent="-469900">
              <a:lnSpc>
                <a:spcPct val="100000"/>
              </a:lnSpc>
              <a:spcBef>
                <a:spcPts val="675"/>
              </a:spcBef>
              <a:buClr>
                <a:srgbClr val="CC0000"/>
              </a:buClr>
              <a:buSzPct val="79166"/>
              <a:buFont typeface="Wingdings"/>
              <a:buChar char=""/>
              <a:tabLst>
                <a:tab pos="508000" algn="l"/>
              </a:tabLst>
            </a:pPr>
            <a:r>
              <a:rPr sz="2400" dirty="0">
                <a:latin typeface="Verdana"/>
                <a:cs typeface="Verdana"/>
              </a:rPr>
              <a:t>PAM4</a:t>
            </a:r>
            <a:r>
              <a:rPr sz="2400" spc="-70" dirty="0">
                <a:latin typeface="Verdana"/>
                <a:cs typeface="Verdana"/>
              </a:rPr>
              <a:t> </a:t>
            </a:r>
            <a:r>
              <a:rPr sz="2400" dirty="0">
                <a:latin typeface="Verdana"/>
                <a:cs typeface="Verdana"/>
              </a:rPr>
              <a:t>eye</a:t>
            </a:r>
            <a:r>
              <a:rPr sz="2400" spc="-65" dirty="0">
                <a:latin typeface="Verdana"/>
                <a:cs typeface="Verdana"/>
              </a:rPr>
              <a:t> </a:t>
            </a:r>
            <a:r>
              <a:rPr sz="2400" dirty="0">
                <a:latin typeface="Verdana"/>
                <a:cs typeface="Verdana"/>
              </a:rPr>
              <a:t>linearity</a:t>
            </a:r>
            <a:r>
              <a:rPr sz="2400" spc="-40" dirty="0">
                <a:latin typeface="Verdana"/>
                <a:cs typeface="Verdana"/>
              </a:rPr>
              <a:t> </a:t>
            </a:r>
            <a:r>
              <a:rPr sz="2400" dirty="0">
                <a:latin typeface="Verdana"/>
                <a:cs typeface="Verdana"/>
              </a:rPr>
              <a:t>critical</a:t>
            </a:r>
            <a:r>
              <a:rPr sz="2400" spc="-45" dirty="0">
                <a:latin typeface="Verdana"/>
                <a:cs typeface="Verdana"/>
              </a:rPr>
              <a:t> </a:t>
            </a:r>
            <a:r>
              <a:rPr sz="2400" dirty="0">
                <a:latin typeface="Verdana"/>
                <a:cs typeface="Verdana"/>
              </a:rPr>
              <a:t>for</a:t>
            </a:r>
            <a:r>
              <a:rPr sz="2400" spc="-70" dirty="0">
                <a:latin typeface="Verdana"/>
                <a:cs typeface="Verdana"/>
              </a:rPr>
              <a:t> </a:t>
            </a:r>
            <a:r>
              <a:rPr sz="2400" dirty="0">
                <a:solidFill>
                  <a:srgbClr val="FF0000"/>
                </a:solidFill>
                <a:latin typeface="Verdana"/>
                <a:cs typeface="Verdana"/>
              </a:rPr>
              <a:t>low</a:t>
            </a:r>
            <a:r>
              <a:rPr sz="2400" spc="-55" dirty="0">
                <a:solidFill>
                  <a:srgbClr val="FF0000"/>
                </a:solidFill>
                <a:latin typeface="Verdana"/>
                <a:cs typeface="Verdana"/>
              </a:rPr>
              <a:t> </a:t>
            </a:r>
            <a:r>
              <a:rPr sz="2400" i="1" spc="-25" dirty="0">
                <a:solidFill>
                  <a:srgbClr val="FF0000"/>
                </a:solidFill>
                <a:latin typeface="Verdana"/>
                <a:cs typeface="Verdana"/>
              </a:rPr>
              <a:t>BER</a:t>
            </a:r>
            <a:endParaRPr sz="2400">
              <a:latin typeface="Verdana"/>
              <a:cs typeface="Verdana"/>
            </a:endParaRPr>
          </a:p>
          <a:p>
            <a:pPr marL="508000" indent="-469900">
              <a:lnSpc>
                <a:spcPct val="100000"/>
              </a:lnSpc>
              <a:spcBef>
                <a:spcPts val="575"/>
              </a:spcBef>
              <a:buClr>
                <a:srgbClr val="CC0000"/>
              </a:buClr>
              <a:buSzPct val="79166"/>
              <a:buFont typeface="Wingdings"/>
              <a:buChar char=""/>
              <a:tabLst>
                <a:tab pos="508000" algn="l"/>
              </a:tabLst>
            </a:pPr>
            <a:r>
              <a:rPr sz="2400" dirty="0">
                <a:latin typeface="Verdana"/>
                <a:cs typeface="Verdana"/>
              </a:rPr>
              <a:t>Eye </a:t>
            </a:r>
            <a:r>
              <a:rPr sz="2400" spc="-10" dirty="0">
                <a:latin typeface="Verdana"/>
                <a:cs typeface="Verdana"/>
              </a:rPr>
              <a:t>compression:</a:t>
            </a:r>
            <a:endParaRPr sz="2400">
              <a:latin typeface="Verdana"/>
              <a:cs typeface="Verdana"/>
            </a:endParaRPr>
          </a:p>
          <a:p>
            <a:pPr marL="946150" lvl="1" indent="-437515">
              <a:lnSpc>
                <a:spcPct val="100000"/>
              </a:lnSpc>
              <a:spcBef>
                <a:spcPts val="420"/>
              </a:spcBef>
              <a:buClr>
                <a:srgbClr val="CC0000"/>
              </a:buClr>
              <a:buSzPct val="80000"/>
              <a:buFont typeface="Wingdings"/>
              <a:buChar char=""/>
              <a:tabLst>
                <a:tab pos="946150" algn="l"/>
              </a:tabLst>
            </a:pPr>
            <a:r>
              <a:rPr sz="2000" dirty="0">
                <a:latin typeface="Verdana"/>
                <a:cs typeface="Verdana"/>
              </a:rPr>
              <a:t>Minimum</a:t>
            </a:r>
            <a:r>
              <a:rPr sz="2000" spc="-50" dirty="0">
                <a:latin typeface="Verdana"/>
                <a:cs typeface="Verdana"/>
              </a:rPr>
              <a:t> </a:t>
            </a:r>
            <a:r>
              <a:rPr sz="2000" dirty="0">
                <a:latin typeface="Verdana"/>
                <a:cs typeface="Verdana"/>
              </a:rPr>
              <a:t>signal</a:t>
            </a:r>
            <a:r>
              <a:rPr sz="2000" spc="-55" dirty="0">
                <a:latin typeface="Verdana"/>
                <a:cs typeface="Verdana"/>
              </a:rPr>
              <a:t> </a:t>
            </a:r>
            <a:r>
              <a:rPr sz="2000" dirty="0">
                <a:latin typeface="Verdana"/>
                <a:cs typeface="Verdana"/>
              </a:rPr>
              <a:t>level</a:t>
            </a:r>
            <a:r>
              <a:rPr sz="2000" spc="-50" dirty="0">
                <a:latin typeface="Verdana"/>
                <a:cs typeface="Verdana"/>
              </a:rPr>
              <a:t> </a:t>
            </a:r>
            <a:r>
              <a:rPr sz="2200" dirty="0">
                <a:solidFill>
                  <a:srgbClr val="0000FF"/>
                </a:solidFill>
                <a:latin typeface="Cambria Math"/>
                <a:cs typeface="Cambria Math"/>
              </a:rPr>
              <a:t>𝑆</a:t>
            </a:r>
            <a:r>
              <a:rPr sz="2400" baseline="-15625" dirty="0">
                <a:solidFill>
                  <a:srgbClr val="0000FF"/>
                </a:solidFill>
                <a:latin typeface="Cambria Math"/>
                <a:cs typeface="Cambria Math"/>
              </a:rPr>
              <a:t>𝑀𝐼𝑁</a:t>
            </a:r>
            <a:r>
              <a:rPr sz="2400" spc="592" baseline="-15625" dirty="0">
                <a:solidFill>
                  <a:srgbClr val="0000FF"/>
                </a:solidFill>
                <a:latin typeface="Cambria Math"/>
                <a:cs typeface="Cambria Math"/>
              </a:rPr>
              <a:t> </a:t>
            </a:r>
            <a:r>
              <a:rPr sz="2000" dirty="0">
                <a:latin typeface="Wingdings"/>
                <a:cs typeface="Wingdings"/>
              </a:rPr>
              <a:t></a:t>
            </a:r>
            <a:r>
              <a:rPr sz="2000" spc="145" dirty="0">
                <a:latin typeface="Times New Roman"/>
                <a:cs typeface="Times New Roman"/>
              </a:rPr>
              <a:t> </a:t>
            </a:r>
            <a:r>
              <a:rPr sz="2000" dirty="0">
                <a:latin typeface="Verdana"/>
                <a:cs typeface="Verdana"/>
              </a:rPr>
              <a:t>swing</a:t>
            </a:r>
            <a:r>
              <a:rPr sz="2000" spc="-60" dirty="0">
                <a:latin typeface="Verdana"/>
                <a:cs typeface="Verdana"/>
              </a:rPr>
              <a:t> </a:t>
            </a:r>
            <a:r>
              <a:rPr sz="2000" dirty="0">
                <a:latin typeface="Verdana"/>
                <a:cs typeface="Verdana"/>
              </a:rPr>
              <a:t>between</a:t>
            </a:r>
            <a:r>
              <a:rPr sz="2000" spc="-60" dirty="0">
                <a:latin typeface="Verdana"/>
                <a:cs typeface="Verdana"/>
              </a:rPr>
              <a:t> </a:t>
            </a:r>
            <a:r>
              <a:rPr sz="2000" dirty="0">
                <a:latin typeface="Verdana"/>
                <a:cs typeface="Verdana"/>
              </a:rPr>
              <a:t>adjacent</a:t>
            </a:r>
            <a:r>
              <a:rPr sz="2000" spc="-60" dirty="0">
                <a:latin typeface="Verdana"/>
                <a:cs typeface="Verdana"/>
              </a:rPr>
              <a:t> </a:t>
            </a:r>
            <a:r>
              <a:rPr sz="2000" dirty="0">
                <a:latin typeface="Verdana"/>
                <a:cs typeface="Verdana"/>
              </a:rPr>
              <a:t>symbol</a:t>
            </a:r>
            <a:r>
              <a:rPr sz="2000" spc="-40" dirty="0">
                <a:latin typeface="Verdana"/>
                <a:cs typeface="Verdana"/>
              </a:rPr>
              <a:t> </a:t>
            </a:r>
            <a:r>
              <a:rPr sz="2000" spc="-10" dirty="0">
                <a:latin typeface="Verdana"/>
                <a:cs typeface="Verdana"/>
              </a:rPr>
              <a:t>levels</a:t>
            </a:r>
            <a:endParaRPr sz="2000">
              <a:latin typeface="Verdana"/>
              <a:cs typeface="Verdana"/>
            </a:endParaRPr>
          </a:p>
          <a:p>
            <a:pPr marL="946150" lvl="1" indent="-437515">
              <a:lnSpc>
                <a:spcPct val="100000"/>
              </a:lnSpc>
              <a:spcBef>
                <a:spcPts val="459"/>
              </a:spcBef>
              <a:buClr>
                <a:srgbClr val="CC0000"/>
              </a:buClr>
              <a:buSzPct val="80000"/>
              <a:buFont typeface="Wingdings"/>
              <a:buChar char=""/>
              <a:tabLst>
                <a:tab pos="946150" algn="l"/>
              </a:tabLst>
            </a:pPr>
            <a:r>
              <a:rPr sz="2000" dirty="0">
                <a:latin typeface="Verdana"/>
                <a:cs typeface="Verdana"/>
              </a:rPr>
              <a:t>Resulting</a:t>
            </a:r>
            <a:r>
              <a:rPr sz="2000" spc="-65" dirty="0">
                <a:latin typeface="Verdana"/>
                <a:cs typeface="Verdana"/>
              </a:rPr>
              <a:t> </a:t>
            </a:r>
            <a:r>
              <a:rPr sz="2000" dirty="0">
                <a:latin typeface="Verdana"/>
                <a:cs typeface="Verdana"/>
              </a:rPr>
              <a:t>relative</a:t>
            </a:r>
            <a:r>
              <a:rPr sz="2000" spc="-65" dirty="0">
                <a:latin typeface="Verdana"/>
                <a:cs typeface="Verdana"/>
              </a:rPr>
              <a:t> </a:t>
            </a:r>
            <a:r>
              <a:rPr sz="2000" dirty="0">
                <a:latin typeface="Verdana"/>
                <a:cs typeface="Verdana"/>
              </a:rPr>
              <a:t>level</a:t>
            </a:r>
            <a:r>
              <a:rPr sz="2000" spc="-65" dirty="0">
                <a:latin typeface="Verdana"/>
                <a:cs typeface="Verdana"/>
              </a:rPr>
              <a:t> </a:t>
            </a:r>
            <a:r>
              <a:rPr sz="2000" dirty="0">
                <a:latin typeface="Verdana"/>
                <a:cs typeface="Verdana"/>
              </a:rPr>
              <a:t>mismatch</a:t>
            </a:r>
            <a:r>
              <a:rPr sz="2000" spc="-60" dirty="0">
                <a:latin typeface="Verdana"/>
                <a:cs typeface="Verdana"/>
              </a:rPr>
              <a:t> </a:t>
            </a:r>
            <a:r>
              <a:rPr sz="2000" spc="-10" dirty="0">
                <a:latin typeface="Verdana"/>
                <a:cs typeface="Verdana"/>
              </a:rPr>
              <a:t>(</a:t>
            </a:r>
            <a:r>
              <a:rPr sz="2200" spc="-10" dirty="0">
                <a:solidFill>
                  <a:srgbClr val="0000FF"/>
                </a:solidFill>
                <a:latin typeface="Cambria Math"/>
                <a:cs typeface="Cambria Math"/>
              </a:rPr>
              <a:t>𝑅𝐿𝑀</a:t>
            </a:r>
            <a:r>
              <a:rPr sz="2000" spc="-10" dirty="0">
                <a:latin typeface="Verdana"/>
                <a:cs typeface="Verdana"/>
              </a:rPr>
              <a:t>)</a:t>
            </a:r>
            <a:endParaRPr sz="2000">
              <a:latin typeface="Verdana"/>
              <a:cs typeface="Verdana"/>
            </a:endParaRPr>
          </a:p>
          <a:p>
            <a:pPr marL="508000" indent="-469900">
              <a:lnSpc>
                <a:spcPct val="100000"/>
              </a:lnSpc>
              <a:spcBef>
                <a:spcPts val="610"/>
              </a:spcBef>
              <a:buClr>
                <a:srgbClr val="CC0000"/>
              </a:buClr>
              <a:buSzPct val="79166"/>
              <a:buFont typeface="Wingdings"/>
              <a:buChar char=""/>
              <a:tabLst>
                <a:tab pos="508000" algn="l"/>
              </a:tabLst>
            </a:pPr>
            <a:r>
              <a:rPr sz="2400" dirty="0">
                <a:solidFill>
                  <a:srgbClr val="0000FF"/>
                </a:solidFill>
                <a:latin typeface="Verdana"/>
                <a:cs typeface="Verdana"/>
              </a:rPr>
              <a:t>Eye</a:t>
            </a:r>
            <a:r>
              <a:rPr sz="2400" spc="-85" dirty="0">
                <a:solidFill>
                  <a:srgbClr val="0000FF"/>
                </a:solidFill>
                <a:latin typeface="Verdana"/>
                <a:cs typeface="Verdana"/>
              </a:rPr>
              <a:t> </a:t>
            </a:r>
            <a:r>
              <a:rPr sz="2400" dirty="0">
                <a:solidFill>
                  <a:srgbClr val="0000FF"/>
                </a:solidFill>
                <a:latin typeface="Verdana"/>
                <a:cs typeface="Verdana"/>
              </a:rPr>
              <a:t>linearity</a:t>
            </a:r>
            <a:r>
              <a:rPr sz="2400" dirty="0">
                <a:latin typeface="Verdana"/>
                <a:cs typeface="Verdana"/>
              </a:rPr>
              <a:t>:</a:t>
            </a:r>
            <a:r>
              <a:rPr sz="2400" spc="-55" dirty="0">
                <a:latin typeface="Verdana"/>
                <a:cs typeface="Verdana"/>
              </a:rPr>
              <a:t> </a:t>
            </a:r>
            <a:r>
              <a:rPr sz="2400" dirty="0">
                <a:latin typeface="Verdana"/>
                <a:cs typeface="Verdana"/>
              </a:rPr>
              <a:t>Compares</a:t>
            </a:r>
            <a:r>
              <a:rPr sz="2400" spc="-70" dirty="0">
                <a:latin typeface="Verdana"/>
                <a:cs typeface="Verdana"/>
              </a:rPr>
              <a:t> </a:t>
            </a:r>
            <a:r>
              <a:rPr sz="2400" dirty="0">
                <a:latin typeface="Verdana"/>
                <a:cs typeface="Verdana"/>
              </a:rPr>
              <a:t>maximum</a:t>
            </a:r>
            <a:r>
              <a:rPr sz="2400" spc="-55" dirty="0">
                <a:latin typeface="Verdana"/>
                <a:cs typeface="Verdana"/>
              </a:rPr>
              <a:t> </a:t>
            </a:r>
            <a:r>
              <a:rPr sz="2400" dirty="0">
                <a:latin typeface="Verdana"/>
                <a:cs typeface="Verdana"/>
              </a:rPr>
              <a:t>to</a:t>
            </a:r>
            <a:r>
              <a:rPr sz="2400" spc="-75" dirty="0">
                <a:latin typeface="Verdana"/>
                <a:cs typeface="Verdana"/>
              </a:rPr>
              <a:t> </a:t>
            </a:r>
            <a:r>
              <a:rPr sz="2400" dirty="0">
                <a:latin typeface="Verdana"/>
                <a:cs typeface="Verdana"/>
              </a:rPr>
              <a:t>minimum</a:t>
            </a:r>
            <a:r>
              <a:rPr sz="2400" spc="-55" dirty="0">
                <a:latin typeface="Verdana"/>
                <a:cs typeface="Verdana"/>
              </a:rPr>
              <a:t> </a:t>
            </a:r>
            <a:r>
              <a:rPr sz="2400" dirty="0">
                <a:latin typeface="Verdana"/>
                <a:cs typeface="Verdana"/>
              </a:rPr>
              <a:t>eye</a:t>
            </a:r>
            <a:r>
              <a:rPr sz="2400" spc="-80" dirty="0">
                <a:latin typeface="Verdana"/>
                <a:cs typeface="Verdana"/>
              </a:rPr>
              <a:t> </a:t>
            </a:r>
            <a:r>
              <a:rPr sz="2400" dirty="0">
                <a:latin typeface="Verdana"/>
                <a:cs typeface="Verdana"/>
              </a:rPr>
              <a:t>voltage</a:t>
            </a:r>
            <a:r>
              <a:rPr sz="2400" spc="-55" dirty="0">
                <a:latin typeface="Verdana"/>
                <a:cs typeface="Verdana"/>
              </a:rPr>
              <a:t> </a:t>
            </a:r>
            <a:r>
              <a:rPr sz="2400" spc="-10" dirty="0">
                <a:latin typeface="Verdana"/>
                <a:cs typeface="Verdana"/>
              </a:rPr>
              <a:t>level</a:t>
            </a:r>
            <a:endParaRPr sz="2400">
              <a:latin typeface="Verdana"/>
              <a:cs typeface="Verdana"/>
            </a:endParaRPr>
          </a:p>
        </p:txBody>
      </p:sp>
      <p:sp>
        <p:nvSpPr>
          <p:cNvPr id="4" name="object 4"/>
          <p:cNvSpPr/>
          <p:nvPr/>
        </p:nvSpPr>
        <p:spPr>
          <a:xfrm>
            <a:off x="8121395" y="1431036"/>
            <a:ext cx="2713990" cy="235585"/>
          </a:xfrm>
          <a:custGeom>
            <a:avLst/>
            <a:gdLst/>
            <a:ahLst/>
            <a:cxnLst/>
            <a:rect l="l" t="t" r="r" b="b"/>
            <a:pathLst>
              <a:path w="2713990" h="235585">
                <a:moveTo>
                  <a:pt x="2713481" y="118110"/>
                </a:moveTo>
                <a:lnTo>
                  <a:pt x="2708814" y="76581"/>
                </a:lnTo>
                <a:lnTo>
                  <a:pt x="2683597" y="27324"/>
                </a:lnTo>
                <a:lnTo>
                  <a:pt x="2638805" y="0"/>
                </a:lnTo>
                <a:lnTo>
                  <a:pt x="2634995" y="9906"/>
                </a:lnTo>
                <a:lnTo>
                  <a:pt x="2648854" y="15740"/>
                </a:lnTo>
                <a:lnTo>
                  <a:pt x="2660713" y="24003"/>
                </a:lnTo>
                <a:lnTo>
                  <a:pt x="2684430" y="61936"/>
                </a:lnTo>
                <a:lnTo>
                  <a:pt x="2692145" y="116586"/>
                </a:lnTo>
                <a:lnTo>
                  <a:pt x="2692145" y="197415"/>
                </a:lnTo>
                <a:lnTo>
                  <a:pt x="2694431" y="194310"/>
                </a:lnTo>
                <a:lnTo>
                  <a:pt x="2702873" y="177581"/>
                </a:lnTo>
                <a:lnTo>
                  <a:pt x="2708814" y="159353"/>
                </a:lnTo>
                <a:lnTo>
                  <a:pt x="2712327" y="139553"/>
                </a:lnTo>
                <a:lnTo>
                  <a:pt x="2713481" y="118110"/>
                </a:lnTo>
                <a:close/>
              </a:path>
              <a:path w="2713990" h="235585">
                <a:moveTo>
                  <a:pt x="2692145" y="197415"/>
                </a:moveTo>
                <a:lnTo>
                  <a:pt x="2692145" y="116586"/>
                </a:lnTo>
                <a:lnTo>
                  <a:pt x="2691288" y="137314"/>
                </a:lnTo>
                <a:lnTo>
                  <a:pt x="2688716" y="156114"/>
                </a:lnTo>
                <a:lnTo>
                  <a:pt x="2670571" y="201240"/>
                </a:lnTo>
                <a:lnTo>
                  <a:pt x="2635757" y="225552"/>
                </a:lnTo>
                <a:lnTo>
                  <a:pt x="2638805" y="235458"/>
                </a:lnTo>
                <a:lnTo>
                  <a:pt x="2655962" y="229457"/>
                </a:lnTo>
                <a:lnTo>
                  <a:pt x="2670905" y="220599"/>
                </a:lnTo>
                <a:lnTo>
                  <a:pt x="2683704" y="208883"/>
                </a:lnTo>
                <a:lnTo>
                  <a:pt x="2692145" y="197415"/>
                </a:lnTo>
                <a:close/>
              </a:path>
              <a:path w="2713990" h="235585">
                <a:moveTo>
                  <a:pt x="77723" y="9906"/>
                </a:moveTo>
                <a:lnTo>
                  <a:pt x="74675" y="0"/>
                </a:lnTo>
                <a:lnTo>
                  <a:pt x="57519" y="6441"/>
                </a:lnTo>
                <a:lnTo>
                  <a:pt x="42576" y="15525"/>
                </a:lnTo>
                <a:lnTo>
                  <a:pt x="10608" y="58316"/>
                </a:lnTo>
                <a:lnTo>
                  <a:pt x="1154" y="96559"/>
                </a:lnTo>
                <a:lnTo>
                  <a:pt x="0" y="118110"/>
                </a:lnTo>
                <a:lnTo>
                  <a:pt x="1154" y="139553"/>
                </a:lnTo>
                <a:lnTo>
                  <a:pt x="4667" y="159353"/>
                </a:lnTo>
                <a:lnTo>
                  <a:pt x="10608" y="177581"/>
                </a:lnTo>
                <a:lnTo>
                  <a:pt x="19049" y="194310"/>
                </a:lnTo>
                <a:lnTo>
                  <a:pt x="21335" y="197415"/>
                </a:lnTo>
                <a:lnTo>
                  <a:pt x="21335" y="116586"/>
                </a:lnTo>
                <a:lnTo>
                  <a:pt x="22193" y="96750"/>
                </a:lnTo>
                <a:lnTo>
                  <a:pt x="35051" y="47244"/>
                </a:lnTo>
                <a:lnTo>
                  <a:pt x="64305" y="15740"/>
                </a:lnTo>
                <a:lnTo>
                  <a:pt x="77723" y="9906"/>
                </a:lnTo>
                <a:close/>
              </a:path>
              <a:path w="2713990" h="235585">
                <a:moveTo>
                  <a:pt x="77723" y="225552"/>
                </a:moveTo>
                <a:lnTo>
                  <a:pt x="42898" y="201227"/>
                </a:lnTo>
                <a:lnTo>
                  <a:pt x="24764" y="156114"/>
                </a:lnTo>
                <a:lnTo>
                  <a:pt x="21335" y="116586"/>
                </a:lnTo>
                <a:lnTo>
                  <a:pt x="21335" y="197415"/>
                </a:lnTo>
                <a:lnTo>
                  <a:pt x="29777" y="208883"/>
                </a:lnTo>
                <a:lnTo>
                  <a:pt x="42576" y="220598"/>
                </a:lnTo>
                <a:lnTo>
                  <a:pt x="57519" y="229457"/>
                </a:lnTo>
                <a:lnTo>
                  <a:pt x="74675" y="235458"/>
                </a:lnTo>
                <a:lnTo>
                  <a:pt x="77723" y="225552"/>
                </a:lnTo>
                <a:close/>
              </a:path>
            </a:pathLst>
          </a:custGeom>
          <a:solidFill>
            <a:srgbClr val="000000"/>
          </a:solidFill>
        </p:spPr>
        <p:txBody>
          <a:bodyPr wrap="square" lIns="0" tIns="0" rIns="0" bIns="0" rtlCol="0"/>
          <a:lstStyle/>
          <a:p>
            <a:endParaRPr/>
          </a:p>
        </p:txBody>
      </p:sp>
      <p:sp>
        <p:nvSpPr>
          <p:cNvPr id="5" name="object 5"/>
          <p:cNvSpPr txBox="1"/>
          <p:nvPr/>
        </p:nvSpPr>
        <p:spPr>
          <a:xfrm>
            <a:off x="6797040" y="1355089"/>
            <a:ext cx="3982720" cy="330200"/>
          </a:xfrm>
          <a:prstGeom prst="rect">
            <a:avLst/>
          </a:prstGeom>
        </p:spPr>
        <p:txBody>
          <a:bodyPr vert="horz" wrap="square" lIns="0" tIns="12065" rIns="0" bIns="0" rtlCol="0">
            <a:spAutoFit/>
          </a:bodyPr>
          <a:lstStyle/>
          <a:p>
            <a:pPr marL="38100">
              <a:lnSpc>
                <a:spcPct val="100000"/>
              </a:lnSpc>
              <a:spcBef>
                <a:spcPts val="95"/>
              </a:spcBef>
            </a:pPr>
            <a:r>
              <a:rPr sz="2000" dirty="0">
                <a:solidFill>
                  <a:srgbClr val="0000FF"/>
                </a:solidFill>
                <a:latin typeface="Cambria Math"/>
                <a:cs typeface="Cambria Math"/>
              </a:rPr>
              <a:t>𝑆</a:t>
            </a:r>
            <a:r>
              <a:rPr sz="2175" baseline="-15325" dirty="0">
                <a:solidFill>
                  <a:srgbClr val="0000FF"/>
                </a:solidFill>
                <a:latin typeface="Cambria Math"/>
                <a:cs typeface="Cambria Math"/>
              </a:rPr>
              <a:t>MIN</a:t>
            </a:r>
            <a:r>
              <a:rPr sz="2175" spc="367" baseline="-15325" dirty="0">
                <a:solidFill>
                  <a:srgbClr val="0000FF"/>
                </a:solidFill>
                <a:latin typeface="Cambria Math"/>
                <a:cs typeface="Cambria Math"/>
              </a:rPr>
              <a:t> </a:t>
            </a:r>
            <a:r>
              <a:rPr sz="2000" dirty="0">
                <a:latin typeface="Cambria Math"/>
                <a:cs typeface="Cambria Math"/>
              </a:rPr>
              <a:t>=</a:t>
            </a:r>
            <a:r>
              <a:rPr sz="2000" spc="85" dirty="0">
                <a:latin typeface="Cambria Math"/>
                <a:cs typeface="Cambria Math"/>
              </a:rPr>
              <a:t> </a:t>
            </a:r>
            <a:r>
              <a:rPr sz="2000" dirty="0">
                <a:latin typeface="Cambria Math"/>
                <a:cs typeface="Cambria Math"/>
              </a:rPr>
              <a:t>min</a:t>
            </a:r>
            <a:r>
              <a:rPr sz="2000" spc="330" dirty="0">
                <a:latin typeface="Cambria Math"/>
                <a:cs typeface="Cambria Math"/>
              </a:rPr>
              <a:t> </a:t>
            </a:r>
            <a:r>
              <a:rPr sz="2000" spc="-35" dirty="0">
                <a:latin typeface="Cambria Math"/>
                <a:cs typeface="Cambria Math"/>
              </a:rPr>
              <a:t>𝑉</a:t>
            </a:r>
            <a:r>
              <a:rPr sz="2175" spc="-52" baseline="-15325" dirty="0">
                <a:latin typeface="Cambria Math"/>
                <a:cs typeface="Cambria Math"/>
              </a:rPr>
              <a:t>3</a:t>
            </a:r>
            <a:r>
              <a:rPr sz="2175" spc="270" baseline="-15325" dirty="0">
                <a:latin typeface="Cambria Math"/>
                <a:cs typeface="Cambria Math"/>
              </a:rPr>
              <a:t> </a:t>
            </a:r>
            <a:r>
              <a:rPr sz="2000" dirty="0">
                <a:latin typeface="Cambria Math"/>
                <a:cs typeface="Cambria Math"/>
              </a:rPr>
              <a:t>−</a:t>
            </a:r>
            <a:r>
              <a:rPr sz="2000" spc="-25" dirty="0">
                <a:latin typeface="Cambria Math"/>
                <a:cs typeface="Cambria Math"/>
              </a:rPr>
              <a:t> </a:t>
            </a:r>
            <a:r>
              <a:rPr sz="2000" spc="-60" dirty="0">
                <a:latin typeface="Cambria Math"/>
                <a:cs typeface="Cambria Math"/>
              </a:rPr>
              <a:t>𝑉</a:t>
            </a:r>
            <a:r>
              <a:rPr sz="2175" spc="-89" baseline="-15325" dirty="0">
                <a:latin typeface="Cambria Math"/>
                <a:cs typeface="Cambria Math"/>
              </a:rPr>
              <a:t>2</a:t>
            </a:r>
            <a:r>
              <a:rPr sz="2000" spc="-60" dirty="0">
                <a:latin typeface="Cambria Math"/>
                <a:cs typeface="Cambria Math"/>
              </a:rPr>
              <a:t>,</a:t>
            </a:r>
            <a:r>
              <a:rPr sz="2000" spc="-105" dirty="0">
                <a:latin typeface="Cambria Math"/>
                <a:cs typeface="Cambria Math"/>
              </a:rPr>
              <a:t> </a:t>
            </a:r>
            <a:r>
              <a:rPr sz="2000" spc="-35" dirty="0">
                <a:latin typeface="Cambria Math"/>
                <a:cs typeface="Cambria Math"/>
              </a:rPr>
              <a:t>𝑉</a:t>
            </a:r>
            <a:r>
              <a:rPr sz="2175" spc="-52" baseline="-15325" dirty="0">
                <a:latin typeface="Cambria Math"/>
                <a:cs typeface="Cambria Math"/>
              </a:rPr>
              <a:t>2</a:t>
            </a:r>
            <a:r>
              <a:rPr sz="2175" spc="277" baseline="-15325" dirty="0">
                <a:latin typeface="Cambria Math"/>
                <a:cs typeface="Cambria Math"/>
              </a:rPr>
              <a:t> </a:t>
            </a:r>
            <a:r>
              <a:rPr sz="2000" dirty="0">
                <a:latin typeface="Cambria Math"/>
                <a:cs typeface="Cambria Math"/>
              </a:rPr>
              <a:t>−</a:t>
            </a:r>
            <a:r>
              <a:rPr sz="2000" spc="-25" dirty="0">
                <a:latin typeface="Cambria Math"/>
                <a:cs typeface="Cambria Math"/>
              </a:rPr>
              <a:t> </a:t>
            </a:r>
            <a:r>
              <a:rPr sz="2000" spc="-75" dirty="0">
                <a:latin typeface="Cambria Math"/>
                <a:cs typeface="Cambria Math"/>
              </a:rPr>
              <a:t>𝑉</a:t>
            </a:r>
            <a:r>
              <a:rPr sz="2175" spc="-112" baseline="-15325" dirty="0">
                <a:latin typeface="Cambria Math"/>
                <a:cs typeface="Cambria Math"/>
              </a:rPr>
              <a:t>1</a:t>
            </a:r>
            <a:r>
              <a:rPr sz="2000" spc="-75" dirty="0">
                <a:latin typeface="Cambria Math"/>
                <a:cs typeface="Cambria Math"/>
              </a:rPr>
              <a:t>,</a:t>
            </a:r>
            <a:r>
              <a:rPr sz="2000" spc="-105" dirty="0">
                <a:latin typeface="Cambria Math"/>
                <a:cs typeface="Cambria Math"/>
              </a:rPr>
              <a:t> </a:t>
            </a:r>
            <a:r>
              <a:rPr sz="2000" spc="-55" dirty="0">
                <a:latin typeface="Cambria Math"/>
                <a:cs typeface="Cambria Math"/>
              </a:rPr>
              <a:t>𝑉</a:t>
            </a:r>
            <a:r>
              <a:rPr sz="2175" spc="-82" baseline="-15325" dirty="0">
                <a:latin typeface="Cambria Math"/>
                <a:cs typeface="Cambria Math"/>
              </a:rPr>
              <a:t>1</a:t>
            </a:r>
            <a:r>
              <a:rPr sz="2175" spc="277" baseline="-15325" dirty="0">
                <a:latin typeface="Cambria Math"/>
                <a:cs typeface="Cambria Math"/>
              </a:rPr>
              <a:t> </a:t>
            </a:r>
            <a:r>
              <a:rPr sz="2000" dirty="0">
                <a:latin typeface="Cambria Math"/>
                <a:cs typeface="Cambria Math"/>
              </a:rPr>
              <a:t>−</a:t>
            </a:r>
            <a:r>
              <a:rPr sz="2000" spc="-20" dirty="0">
                <a:latin typeface="Cambria Math"/>
                <a:cs typeface="Cambria Math"/>
              </a:rPr>
              <a:t> </a:t>
            </a:r>
            <a:r>
              <a:rPr sz="2000" spc="-25" dirty="0">
                <a:latin typeface="Cambria Math"/>
                <a:cs typeface="Cambria Math"/>
              </a:rPr>
              <a:t>𝑉</a:t>
            </a:r>
            <a:r>
              <a:rPr sz="2175" spc="-37" baseline="-15325" dirty="0">
                <a:latin typeface="Cambria Math"/>
                <a:cs typeface="Cambria Math"/>
              </a:rPr>
              <a:t>0</a:t>
            </a:r>
            <a:endParaRPr sz="2175" baseline="-15325">
              <a:latin typeface="Cambria Math"/>
              <a:cs typeface="Cambria Math"/>
            </a:endParaRPr>
          </a:p>
        </p:txBody>
      </p:sp>
      <p:sp>
        <p:nvSpPr>
          <p:cNvPr id="6" name="object 6"/>
          <p:cNvSpPr txBox="1"/>
          <p:nvPr/>
        </p:nvSpPr>
        <p:spPr>
          <a:xfrm>
            <a:off x="6812280" y="2905749"/>
            <a:ext cx="4994910" cy="330200"/>
          </a:xfrm>
          <a:prstGeom prst="rect">
            <a:avLst/>
          </a:prstGeom>
        </p:spPr>
        <p:txBody>
          <a:bodyPr vert="horz" wrap="square" lIns="0" tIns="12065" rIns="0" bIns="0" rtlCol="0">
            <a:spAutoFit/>
          </a:bodyPr>
          <a:lstStyle/>
          <a:p>
            <a:pPr marL="38100">
              <a:lnSpc>
                <a:spcPct val="100000"/>
              </a:lnSpc>
              <a:spcBef>
                <a:spcPts val="95"/>
              </a:spcBef>
            </a:pPr>
            <a:r>
              <a:rPr sz="3000" baseline="-41666" dirty="0">
                <a:solidFill>
                  <a:srgbClr val="0000FF"/>
                </a:solidFill>
                <a:latin typeface="Cambria Math"/>
                <a:cs typeface="Cambria Math"/>
              </a:rPr>
              <a:t>Eye</a:t>
            </a:r>
            <a:r>
              <a:rPr sz="3000" spc="-165" baseline="-41666" dirty="0">
                <a:solidFill>
                  <a:srgbClr val="0000FF"/>
                </a:solidFill>
                <a:latin typeface="Cambria Math"/>
                <a:cs typeface="Cambria Math"/>
              </a:rPr>
              <a:t> </a:t>
            </a:r>
            <a:r>
              <a:rPr sz="3000" baseline="-41666" dirty="0">
                <a:solidFill>
                  <a:srgbClr val="0000FF"/>
                </a:solidFill>
                <a:latin typeface="Cambria Math"/>
                <a:cs typeface="Cambria Math"/>
              </a:rPr>
              <a:t>linearity</a:t>
            </a:r>
            <a:r>
              <a:rPr sz="3000" spc="44" baseline="-41666" dirty="0">
                <a:solidFill>
                  <a:srgbClr val="0000FF"/>
                </a:solidFill>
                <a:latin typeface="Cambria Math"/>
                <a:cs typeface="Cambria Math"/>
              </a:rPr>
              <a:t> </a:t>
            </a:r>
            <a:r>
              <a:rPr sz="3000" baseline="-41666" dirty="0">
                <a:latin typeface="Cambria Math"/>
                <a:cs typeface="Cambria Math"/>
              </a:rPr>
              <a:t>=</a:t>
            </a:r>
            <a:r>
              <a:rPr sz="3000" spc="89" baseline="-41666" dirty="0">
                <a:latin typeface="Cambria Math"/>
                <a:cs typeface="Cambria Math"/>
              </a:rPr>
              <a:t> </a:t>
            </a:r>
            <a:r>
              <a:rPr sz="2000" spc="-25" dirty="0">
                <a:latin typeface="Cambria Math"/>
                <a:cs typeface="Cambria Math"/>
              </a:rPr>
              <a:t>max(𝑉</a:t>
            </a:r>
            <a:r>
              <a:rPr sz="2175" spc="-37" baseline="-15325" dirty="0">
                <a:latin typeface="Cambria Math"/>
                <a:cs typeface="Cambria Math"/>
              </a:rPr>
              <a:t>1</a:t>
            </a:r>
            <a:r>
              <a:rPr sz="2175" spc="232" baseline="-15325" dirty="0">
                <a:latin typeface="Cambria Math"/>
                <a:cs typeface="Cambria Math"/>
              </a:rPr>
              <a:t> </a:t>
            </a:r>
            <a:r>
              <a:rPr sz="2000" dirty="0">
                <a:latin typeface="Cambria Math"/>
                <a:cs typeface="Cambria Math"/>
              </a:rPr>
              <a:t>−</a:t>
            </a:r>
            <a:r>
              <a:rPr sz="2000" spc="-45" dirty="0">
                <a:latin typeface="Cambria Math"/>
                <a:cs typeface="Cambria Math"/>
              </a:rPr>
              <a:t> </a:t>
            </a:r>
            <a:r>
              <a:rPr sz="2000" spc="-60" dirty="0">
                <a:latin typeface="Cambria Math"/>
                <a:cs typeface="Cambria Math"/>
              </a:rPr>
              <a:t>𝑉</a:t>
            </a:r>
            <a:r>
              <a:rPr sz="2175" spc="-89" baseline="-15325" dirty="0">
                <a:latin typeface="Cambria Math"/>
                <a:cs typeface="Cambria Math"/>
              </a:rPr>
              <a:t>0</a:t>
            </a:r>
            <a:r>
              <a:rPr sz="2000" spc="-60" dirty="0">
                <a:latin typeface="Cambria Math"/>
                <a:cs typeface="Cambria Math"/>
              </a:rPr>
              <a:t>,</a:t>
            </a:r>
            <a:r>
              <a:rPr sz="2000" spc="-110" dirty="0">
                <a:latin typeface="Cambria Math"/>
                <a:cs typeface="Cambria Math"/>
              </a:rPr>
              <a:t> </a:t>
            </a:r>
            <a:r>
              <a:rPr sz="2000" spc="-35" dirty="0">
                <a:latin typeface="Cambria Math"/>
                <a:cs typeface="Cambria Math"/>
              </a:rPr>
              <a:t>𝑉</a:t>
            </a:r>
            <a:r>
              <a:rPr sz="2175" spc="-52" baseline="-15325" dirty="0">
                <a:latin typeface="Cambria Math"/>
                <a:cs typeface="Cambria Math"/>
              </a:rPr>
              <a:t>2</a:t>
            </a:r>
            <a:r>
              <a:rPr sz="2175" spc="240" baseline="-15325" dirty="0">
                <a:latin typeface="Cambria Math"/>
                <a:cs typeface="Cambria Math"/>
              </a:rPr>
              <a:t> </a:t>
            </a:r>
            <a:r>
              <a:rPr sz="2000" dirty="0">
                <a:latin typeface="Cambria Math"/>
                <a:cs typeface="Cambria Math"/>
              </a:rPr>
              <a:t>−</a:t>
            </a:r>
            <a:r>
              <a:rPr sz="2000" spc="-40" dirty="0">
                <a:latin typeface="Cambria Math"/>
                <a:cs typeface="Cambria Math"/>
              </a:rPr>
              <a:t> </a:t>
            </a:r>
            <a:r>
              <a:rPr sz="2000" spc="-75" dirty="0">
                <a:latin typeface="Cambria Math"/>
                <a:cs typeface="Cambria Math"/>
              </a:rPr>
              <a:t>𝑉</a:t>
            </a:r>
            <a:r>
              <a:rPr sz="2175" spc="-112" baseline="-15325" dirty="0">
                <a:latin typeface="Cambria Math"/>
                <a:cs typeface="Cambria Math"/>
              </a:rPr>
              <a:t>1</a:t>
            </a:r>
            <a:r>
              <a:rPr sz="2000" spc="-75" dirty="0">
                <a:latin typeface="Cambria Math"/>
                <a:cs typeface="Cambria Math"/>
              </a:rPr>
              <a:t>,</a:t>
            </a:r>
            <a:r>
              <a:rPr sz="2000" spc="-110" dirty="0">
                <a:latin typeface="Cambria Math"/>
                <a:cs typeface="Cambria Math"/>
              </a:rPr>
              <a:t> </a:t>
            </a:r>
            <a:r>
              <a:rPr sz="2000" spc="-35" dirty="0">
                <a:latin typeface="Cambria Math"/>
                <a:cs typeface="Cambria Math"/>
              </a:rPr>
              <a:t>𝑉</a:t>
            </a:r>
            <a:r>
              <a:rPr sz="2175" spc="-52" baseline="-15325" dirty="0">
                <a:latin typeface="Cambria Math"/>
                <a:cs typeface="Cambria Math"/>
              </a:rPr>
              <a:t>3</a:t>
            </a:r>
            <a:r>
              <a:rPr sz="2175" spc="240" baseline="-15325" dirty="0">
                <a:latin typeface="Cambria Math"/>
                <a:cs typeface="Cambria Math"/>
              </a:rPr>
              <a:t> </a:t>
            </a:r>
            <a:r>
              <a:rPr sz="2000" dirty="0">
                <a:latin typeface="Cambria Math"/>
                <a:cs typeface="Cambria Math"/>
              </a:rPr>
              <a:t>−</a:t>
            </a:r>
            <a:r>
              <a:rPr sz="2000" spc="-45" dirty="0">
                <a:latin typeface="Cambria Math"/>
                <a:cs typeface="Cambria Math"/>
              </a:rPr>
              <a:t> </a:t>
            </a:r>
            <a:r>
              <a:rPr sz="2000" spc="-25" dirty="0">
                <a:latin typeface="Cambria Math"/>
                <a:cs typeface="Cambria Math"/>
              </a:rPr>
              <a:t>𝑉</a:t>
            </a:r>
            <a:r>
              <a:rPr sz="2175" spc="-37" baseline="-15325" dirty="0">
                <a:latin typeface="Cambria Math"/>
                <a:cs typeface="Cambria Math"/>
              </a:rPr>
              <a:t>2</a:t>
            </a:r>
            <a:r>
              <a:rPr sz="2000" spc="-25" dirty="0">
                <a:latin typeface="Cambria Math"/>
                <a:cs typeface="Cambria Math"/>
              </a:rPr>
              <a:t>)</a:t>
            </a:r>
            <a:endParaRPr sz="2000">
              <a:latin typeface="Cambria Math"/>
              <a:cs typeface="Cambria Math"/>
            </a:endParaRPr>
          </a:p>
        </p:txBody>
      </p:sp>
      <p:sp>
        <p:nvSpPr>
          <p:cNvPr id="7" name="object 7"/>
          <p:cNvSpPr txBox="1"/>
          <p:nvPr/>
        </p:nvSpPr>
        <p:spPr>
          <a:xfrm>
            <a:off x="8531349" y="3267703"/>
            <a:ext cx="3258185" cy="330200"/>
          </a:xfrm>
          <a:prstGeom prst="rect">
            <a:avLst/>
          </a:prstGeom>
        </p:spPr>
        <p:txBody>
          <a:bodyPr vert="horz" wrap="square" lIns="0" tIns="12065" rIns="0" bIns="0" rtlCol="0">
            <a:spAutoFit/>
          </a:bodyPr>
          <a:lstStyle/>
          <a:p>
            <a:pPr marL="38100">
              <a:lnSpc>
                <a:spcPct val="100000"/>
              </a:lnSpc>
              <a:spcBef>
                <a:spcPts val="95"/>
              </a:spcBef>
            </a:pPr>
            <a:r>
              <a:rPr sz="2000" spc="-25" dirty="0">
                <a:latin typeface="Cambria Math"/>
                <a:cs typeface="Cambria Math"/>
              </a:rPr>
              <a:t>min(𝑉</a:t>
            </a:r>
            <a:r>
              <a:rPr sz="2175" spc="-37" baseline="-15325" dirty="0">
                <a:latin typeface="Cambria Math"/>
                <a:cs typeface="Cambria Math"/>
              </a:rPr>
              <a:t>1</a:t>
            </a:r>
            <a:r>
              <a:rPr sz="2175" spc="75" baseline="-15325" dirty="0">
                <a:latin typeface="Cambria Math"/>
                <a:cs typeface="Cambria Math"/>
              </a:rPr>
              <a:t> </a:t>
            </a:r>
            <a:r>
              <a:rPr sz="2000" dirty="0">
                <a:latin typeface="Cambria Math"/>
                <a:cs typeface="Cambria Math"/>
              </a:rPr>
              <a:t>−</a:t>
            </a:r>
            <a:r>
              <a:rPr sz="2000" spc="-55" dirty="0">
                <a:latin typeface="Cambria Math"/>
                <a:cs typeface="Cambria Math"/>
              </a:rPr>
              <a:t> </a:t>
            </a:r>
            <a:r>
              <a:rPr sz="2000" spc="-60" dirty="0">
                <a:latin typeface="Cambria Math"/>
                <a:cs typeface="Cambria Math"/>
              </a:rPr>
              <a:t>𝑉</a:t>
            </a:r>
            <a:r>
              <a:rPr sz="2175" spc="-89" baseline="-15325" dirty="0">
                <a:latin typeface="Cambria Math"/>
                <a:cs typeface="Cambria Math"/>
              </a:rPr>
              <a:t>0</a:t>
            </a:r>
            <a:r>
              <a:rPr sz="2000" spc="-60" dirty="0">
                <a:latin typeface="Cambria Math"/>
                <a:cs typeface="Cambria Math"/>
              </a:rPr>
              <a:t>,</a:t>
            </a:r>
            <a:r>
              <a:rPr sz="2000" spc="-110" dirty="0">
                <a:latin typeface="Cambria Math"/>
                <a:cs typeface="Cambria Math"/>
              </a:rPr>
              <a:t> </a:t>
            </a:r>
            <a:r>
              <a:rPr sz="2000" spc="-35" dirty="0">
                <a:latin typeface="Cambria Math"/>
                <a:cs typeface="Cambria Math"/>
              </a:rPr>
              <a:t>𝑉</a:t>
            </a:r>
            <a:r>
              <a:rPr sz="2175" spc="-52" baseline="-15325" dirty="0">
                <a:latin typeface="Cambria Math"/>
                <a:cs typeface="Cambria Math"/>
              </a:rPr>
              <a:t>2</a:t>
            </a:r>
            <a:r>
              <a:rPr sz="2175" spc="217" baseline="-15325" dirty="0">
                <a:latin typeface="Cambria Math"/>
                <a:cs typeface="Cambria Math"/>
              </a:rPr>
              <a:t> </a:t>
            </a:r>
            <a:r>
              <a:rPr sz="2000" dirty="0">
                <a:latin typeface="Cambria Math"/>
                <a:cs typeface="Cambria Math"/>
              </a:rPr>
              <a:t>−</a:t>
            </a:r>
            <a:r>
              <a:rPr sz="2000" spc="-60" dirty="0">
                <a:latin typeface="Cambria Math"/>
                <a:cs typeface="Cambria Math"/>
              </a:rPr>
              <a:t> </a:t>
            </a:r>
            <a:r>
              <a:rPr sz="2000" spc="-75" dirty="0">
                <a:latin typeface="Cambria Math"/>
                <a:cs typeface="Cambria Math"/>
              </a:rPr>
              <a:t>𝑉</a:t>
            </a:r>
            <a:r>
              <a:rPr sz="2175" spc="-112" baseline="-15325" dirty="0">
                <a:latin typeface="Cambria Math"/>
                <a:cs typeface="Cambria Math"/>
              </a:rPr>
              <a:t>1</a:t>
            </a:r>
            <a:r>
              <a:rPr sz="2000" spc="-75" dirty="0">
                <a:latin typeface="Cambria Math"/>
                <a:cs typeface="Cambria Math"/>
              </a:rPr>
              <a:t>,</a:t>
            </a:r>
            <a:r>
              <a:rPr sz="2000" spc="-110" dirty="0">
                <a:latin typeface="Cambria Math"/>
                <a:cs typeface="Cambria Math"/>
              </a:rPr>
              <a:t> </a:t>
            </a:r>
            <a:r>
              <a:rPr sz="2000" spc="-35" dirty="0">
                <a:latin typeface="Cambria Math"/>
                <a:cs typeface="Cambria Math"/>
              </a:rPr>
              <a:t>𝑉</a:t>
            </a:r>
            <a:r>
              <a:rPr sz="2175" spc="-52" baseline="-15325" dirty="0">
                <a:latin typeface="Cambria Math"/>
                <a:cs typeface="Cambria Math"/>
              </a:rPr>
              <a:t>3</a:t>
            </a:r>
            <a:r>
              <a:rPr sz="2175" spc="225" baseline="-15325" dirty="0">
                <a:latin typeface="Cambria Math"/>
                <a:cs typeface="Cambria Math"/>
              </a:rPr>
              <a:t> </a:t>
            </a:r>
            <a:r>
              <a:rPr sz="2000" dirty="0">
                <a:latin typeface="Cambria Math"/>
                <a:cs typeface="Cambria Math"/>
              </a:rPr>
              <a:t>−</a:t>
            </a:r>
            <a:r>
              <a:rPr sz="2000" spc="-60" dirty="0">
                <a:latin typeface="Cambria Math"/>
                <a:cs typeface="Cambria Math"/>
              </a:rPr>
              <a:t> </a:t>
            </a:r>
            <a:r>
              <a:rPr sz="2000" spc="-25" dirty="0">
                <a:latin typeface="Cambria Math"/>
                <a:cs typeface="Cambria Math"/>
              </a:rPr>
              <a:t>𝑉</a:t>
            </a:r>
            <a:r>
              <a:rPr sz="2175" spc="-37" baseline="-15325" dirty="0">
                <a:latin typeface="Cambria Math"/>
                <a:cs typeface="Cambria Math"/>
              </a:rPr>
              <a:t>2</a:t>
            </a:r>
            <a:r>
              <a:rPr sz="2000" spc="-25" dirty="0">
                <a:latin typeface="Cambria Math"/>
                <a:cs typeface="Cambria Math"/>
              </a:rPr>
              <a:t>)</a:t>
            </a:r>
            <a:endParaRPr sz="2000">
              <a:latin typeface="Cambria Math"/>
              <a:cs typeface="Cambria Math"/>
            </a:endParaRPr>
          </a:p>
        </p:txBody>
      </p:sp>
      <p:sp>
        <p:nvSpPr>
          <p:cNvPr id="8" name="object 8"/>
          <p:cNvSpPr/>
          <p:nvPr/>
        </p:nvSpPr>
        <p:spPr>
          <a:xfrm>
            <a:off x="8551164" y="3282696"/>
            <a:ext cx="3215640" cy="17145"/>
          </a:xfrm>
          <a:custGeom>
            <a:avLst/>
            <a:gdLst/>
            <a:ahLst/>
            <a:cxnLst/>
            <a:rect l="l" t="t" r="r" b="b"/>
            <a:pathLst>
              <a:path w="3215640" h="17145">
                <a:moveTo>
                  <a:pt x="0" y="16763"/>
                </a:moveTo>
                <a:lnTo>
                  <a:pt x="0" y="0"/>
                </a:lnTo>
                <a:lnTo>
                  <a:pt x="3215639" y="0"/>
                </a:lnTo>
                <a:lnTo>
                  <a:pt x="3215639" y="16763"/>
                </a:lnTo>
                <a:lnTo>
                  <a:pt x="0" y="16763"/>
                </a:lnTo>
                <a:close/>
              </a:path>
            </a:pathLst>
          </a:custGeom>
          <a:solidFill>
            <a:srgbClr val="000000"/>
          </a:solidFill>
        </p:spPr>
        <p:txBody>
          <a:bodyPr wrap="square" lIns="0" tIns="0" rIns="0" bIns="0" rtlCol="0"/>
          <a:lstStyle/>
          <a:p>
            <a:endParaRPr/>
          </a:p>
        </p:txBody>
      </p:sp>
      <p:sp>
        <p:nvSpPr>
          <p:cNvPr id="9" name="object 9"/>
          <p:cNvSpPr txBox="1"/>
          <p:nvPr/>
        </p:nvSpPr>
        <p:spPr>
          <a:xfrm>
            <a:off x="6784847" y="2005075"/>
            <a:ext cx="1807210" cy="330200"/>
          </a:xfrm>
          <a:prstGeom prst="rect">
            <a:avLst/>
          </a:prstGeom>
        </p:spPr>
        <p:txBody>
          <a:bodyPr vert="horz" wrap="square" lIns="0" tIns="12065" rIns="0" bIns="0" rtlCol="0">
            <a:spAutoFit/>
          </a:bodyPr>
          <a:lstStyle/>
          <a:p>
            <a:pPr marL="38100">
              <a:lnSpc>
                <a:spcPct val="100000"/>
              </a:lnSpc>
              <a:spcBef>
                <a:spcPts val="95"/>
              </a:spcBef>
            </a:pPr>
            <a:r>
              <a:rPr sz="2000" dirty="0">
                <a:solidFill>
                  <a:srgbClr val="0000FF"/>
                </a:solidFill>
                <a:latin typeface="Cambria Math"/>
                <a:cs typeface="Cambria Math"/>
              </a:rPr>
              <a:t>𝑅𝐿𝑀</a:t>
            </a:r>
            <a:r>
              <a:rPr sz="2000" spc="145" dirty="0">
                <a:solidFill>
                  <a:srgbClr val="0000FF"/>
                </a:solidFill>
                <a:latin typeface="Cambria Math"/>
                <a:cs typeface="Cambria Math"/>
              </a:rPr>
              <a:t> </a:t>
            </a:r>
            <a:r>
              <a:rPr sz="2000" dirty="0">
                <a:latin typeface="Cambria Math"/>
                <a:cs typeface="Cambria Math"/>
              </a:rPr>
              <a:t>=</a:t>
            </a:r>
            <a:r>
              <a:rPr sz="2000" spc="100" dirty="0">
                <a:latin typeface="Cambria Math"/>
                <a:cs typeface="Cambria Math"/>
              </a:rPr>
              <a:t> </a:t>
            </a:r>
            <a:r>
              <a:rPr sz="3000" baseline="41666" dirty="0">
                <a:latin typeface="Cambria Math"/>
                <a:cs typeface="Cambria Math"/>
              </a:rPr>
              <a:t>3</a:t>
            </a:r>
            <a:r>
              <a:rPr sz="3000" spc="615" baseline="41666" dirty="0">
                <a:latin typeface="Cambria Math"/>
                <a:cs typeface="Cambria Math"/>
              </a:rPr>
              <a:t> </a:t>
            </a:r>
            <a:r>
              <a:rPr sz="3000" baseline="41666" dirty="0">
                <a:latin typeface="Cambria Math"/>
                <a:cs typeface="Cambria Math"/>
              </a:rPr>
              <a:t>⋅</a:t>
            </a:r>
            <a:r>
              <a:rPr sz="3000" spc="-15" baseline="41666" dirty="0">
                <a:latin typeface="Cambria Math"/>
                <a:cs typeface="Cambria Math"/>
              </a:rPr>
              <a:t> </a:t>
            </a:r>
            <a:r>
              <a:rPr sz="3000" spc="44" baseline="41666" dirty="0">
                <a:solidFill>
                  <a:srgbClr val="0000FF"/>
                </a:solidFill>
                <a:latin typeface="Cambria Math"/>
                <a:cs typeface="Cambria Math"/>
              </a:rPr>
              <a:t>𝑆</a:t>
            </a:r>
            <a:r>
              <a:rPr sz="2175" spc="44" baseline="42145" dirty="0">
                <a:solidFill>
                  <a:srgbClr val="0000FF"/>
                </a:solidFill>
                <a:latin typeface="Cambria Math"/>
                <a:cs typeface="Cambria Math"/>
              </a:rPr>
              <a:t>MIN</a:t>
            </a:r>
            <a:endParaRPr sz="2175" baseline="42145">
              <a:latin typeface="Cambria Math"/>
              <a:cs typeface="Cambria Math"/>
            </a:endParaRPr>
          </a:p>
        </p:txBody>
      </p:sp>
      <p:sp>
        <p:nvSpPr>
          <p:cNvPr id="10" name="object 10"/>
          <p:cNvSpPr txBox="1"/>
          <p:nvPr/>
        </p:nvSpPr>
        <p:spPr>
          <a:xfrm>
            <a:off x="7685531" y="2175001"/>
            <a:ext cx="855980" cy="330200"/>
          </a:xfrm>
          <a:prstGeom prst="rect">
            <a:avLst/>
          </a:prstGeom>
        </p:spPr>
        <p:txBody>
          <a:bodyPr vert="horz" wrap="square" lIns="0" tIns="12065" rIns="0" bIns="0" rtlCol="0">
            <a:spAutoFit/>
          </a:bodyPr>
          <a:lstStyle/>
          <a:p>
            <a:pPr marL="38100">
              <a:lnSpc>
                <a:spcPct val="100000"/>
              </a:lnSpc>
              <a:spcBef>
                <a:spcPts val="95"/>
              </a:spcBef>
            </a:pPr>
            <a:r>
              <a:rPr sz="2000" spc="-35" dirty="0">
                <a:latin typeface="Cambria Math"/>
                <a:cs typeface="Cambria Math"/>
              </a:rPr>
              <a:t>𝑉</a:t>
            </a:r>
            <a:r>
              <a:rPr sz="2175" spc="-52" baseline="-15325" dirty="0">
                <a:latin typeface="Cambria Math"/>
                <a:cs typeface="Cambria Math"/>
              </a:rPr>
              <a:t>3</a:t>
            </a:r>
            <a:r>
              <a:rPr sz="2175" spc="172" baseline="-15325" dirty="0">
                <a:latin typeface="Cambria Math"/>
                <a:cs typeface="Cambria Math"/>
              </a:rPr>
              <a:t> </a:t>
            </a:r>
            <a:r>
              <a:rPr sz="2000" dirty="0">
                <a:latin typeface="Cambria Math"/>
                <a:cs typeface="Cambria Math"/>
              </a:rPr>
              <a:t>−</a:t>
            </a:r>
            <a:r>
              <a:rPr sz="2000" spc="-80" dirty="0">
                <a:latin typeface="Cambria Math"/>
                <a:cs typeface="Cambria Math"/>
              </a:rPr>
              <a:t> </a:t>
            </a:r>
            <a:r>
              <a:rPr sz="2000" spc="-35" dirty="0">
                <a:latin typeface="Cambria Math"/>
                <a:cs typeface="Cambria Math"/>
              </a:rPr>
              <a:t>𝑉</a:t>
            </a:r>
            <a:r>
              <a:rPr sz="2175" spc="-52" baseline="-15325" dirty="0">
                <a:latin typeface="Cambria Math"/>
                <a:cs typeface="Cambria Math"/>
              </a:rPr>
              <a:t>0</a:t>
            </a:r>
            <a:endParaRPr sz="2175" baseline="-15325">
              <a:latin typeface="Cambria Math"/>
              <a:cs typeface="Cambria Math"/>
            </a:endParaRPr>
          </a:p>
        </p:txBody>
      </p:sp>
      <p:sp>
        <p:nvSpPr>
          <p:cNvPr id="11" name="object 11"/>
          <p:cNvSpPr/>
          <p:nvPr/>
        </p:nvSpPr>
        <p:spPr>
          <a:xfrm>
            <a:off x="7673340" y="2190750"/>
            <a:ext cx="890269" cy="17145"/>
          </a:xfrm>
          <a:custGeom>
            <a:avLst/>
            <a:gdLst/>
            <a:ahLst/>
            <a:cxnLst/>
            <a:rect l="l" t="t" r="r" b="b"/>
            <a:pathLst>
              <a:path w="890270" h="17144">
                <a:moveTo>
                  <a:pt x="0" y="16763"/>
                </a:moveTo>
                <a:lnTo>
                  <a:pt x="0" y="0"/>
                </a:lnTo>
                <a:lnTo>
                  <a:pt x="890016" y="0"/>
                </a:lnTo>
                <a:lnTo>
                  <a:pt x="890016" y="16763"/>
                </a:lnTo>
                <a:lnTo>
                  <a:pt x="0" y="16763"/>
                </a:lnTo>
                <a:close/>
              </a:path>
            </a:pathLst>
          </a:custGeom>
          <a:solidFill>
            <a:srgbClr val="000000"/>
          </a:solidFill>
        </p:spPr>
        <p:txBody>
          <a:bodyPr wrap="square" lIns="0" tIns="0" rIns="0" bIns="0" rtlCol="0"/>
          <a:lstStyle/>
          <a:p>
            <a:endParaRPr/>
          </a:p>
        </p:txBody>
      </p:sp>
      <p:grpSp>
        <p:nvGrpSpPr>
          <p:cNvPr id="12" name="object 12"/>
          <p:cNvGrpSpPr/>
          <p:nvPr/>
        </p:nvGrpSpPr>
        <p:grpSpPr>
          <a:xfrm>
            <a:off x="1143000" y="1084325"/>
            <a:ext cx="4086225" cy="2889885"/>
            <a:chOff x="1143000" y="1084325"/>
            <a:chExt cx="4086225" cy="2889885"/>
          </a:xfrm>
        </p:grpSpPr>
        <p:pic>
          <p:nvPicPr>
            <p:cNvPr id="13" name="object 13"/>
            <p:cNvPicPr/>
            <p:nvPr/>
          </p:nvPicPr>
          <p:blipFill>
            <a:blip r:embed="rId2" cstate="print"/>
            <a:stretch>
              <a:fillRect/>
            </a:stretch>
          </p:blipFill>
          <p:spPr>
            <a:xfrm>
              <a:off x="1143000" y="1084325"/>
              <a:ext cx="4085844" cy="2889504"/>
            </a:xfrm>
            <a:prstGeom prst="rect">
              <a:avLst/>
            </a:prstGeom>
          </p:spPr>
        </p:pic>
        <p:sp>
          <p:nvSpPr>
            <p:cNvPr id="14" name="object 14"/>
            <p:cNvSpPr/>
            <p:nvPr/>
          </p:nvSpPr>
          <p:spPr>
            <a:xfrm>
              <a:off x="4632959" y="1559814"/>
              <a:ext cx="505459" cy="0"/>
            </a:xfrm>
            <a:custGeom>
              <a:avLst/>
              <a:gdLst/>
              <a:ahLst/>
              <a:cxnLst/>
              <a:rect l="l" t="t" r="r" b="b"/>
              <a:pathLst>
                <a:path w="505460">
                  <a:moveTo>
                    <a:pt x="0" y="0"/>
                  </a:moveTo>
                  <a:lnTo>
                    <a:pt x="505205" y="0"/>
                  </a:lnTo>
                </a:path>
              </a:pathLst>
            </a:custGeom>
            <a:ln w="9143">
              <a:solidFill>
                <a:srgbClr val="000000"/>
              </a:solidFill>
              <a:prstDash val="sysDash"/>
            </a:ln>
          </p:spPr>
          <p:txBody>
            <a:bodyPr wrap="square" lIns="0" tIns="0" rIns="0" bIns="0" rtlCol="0"/>
            <a:lstStyle/>
            <a:p>
              <a:endParaRPr/>
            </a:p>
          </p:txBody>
        </p:sp>
        <p:sp>
          <p:nvSpPr>
            <p:cNvPr id="15" name="object 15"/>
            <p:cNvSpPr/>
            <p:nvPr/>
          </p:nvSpPr>
          <p:spPr>
            <a:xfrm>
              <a:off x="4632959" y="2127122"/>
              <a:ext cx="505459" cy="0"/>
            </a:xfrm>
            <a:custGeom>
              <a:avLst/>
              <a:gdLst/>
              <a:ahLst/>
              <a:cxnLst/>
              <a:rect l="l" t="t" r="r" b="b"/>
              <a:pathLst>
                <a:path w="505460">
                  <a:moveTo>
                    <a:pt x="0" y="0"/>
                  </a:moveTo>
                  <a:lnTo>
                    <a:pt x="505205" y="0"/>
                  </a:lnTo>
                </a:path>
              </a:pathLst>
            </a:custGeom>
            <a:ln w="9906">
              <a:solidFill>
                <a:srgbClr val="000000"/>
              </a:solidFill>
              <a:prstDash val="sysDash"/>
            </a:ln>
          </p:spPr>
          <p:txBody>
            <a:bodyPr wrap="square" lIns="0" tIns="0" rIns="0" bIns="0" rtlCol="0"/>
            <a:lstStyle/>
            <a:p>
              <a:endParaRPr/>
            </a:p>
          </p:txBody>
        </p:sp>
        <p:sp>
          <p:nvSpPr>
            <p:cNvPr id="16" name="object 16"/>
            <p:cNvSpPr/>
            <p:nvPr/>
          </p:nvSpPr>
          <p:spPr>
            <a:xfrm>
              <a:off x="4632959" y="2721863"/>
              <a:ext cx="505459" cy="0"/>
            </a:xfrm>
            <a:custGeom>
              <a:avLst/>
              <a:gdLst/>
              <a:ahLst/>
              <a:cxnLst/>
              <a:rect l="l" t="t" r="r" b="b"/>
              <a:pathLst>
                <a:path w="505460">
                  <a:moveTo>
                    <a:pt x="0" y="0"/>
                  </a:moveTo>
                  <a:lnTo>
                    <a:pt x="505205" y="0"/>
                  </a:lnTo>
                </a:path>
              </a:pathLst>
            </a:custGeom>
            <a:ln w="9143">
              <a:solidFill>
                <a:srgbClr val="000000"/>
              </a:solidFill>
              <a:prstDash val="sysDash"/>
            </a:ln>
          </p:spPr>
          <p:txBody>
            <a:bodyPr wrap="square" lIns="0" tIns="0" rIns="0" bIns="0" rtlCol="0"/>
            <a:lstStyle/>
            <a:p>
              <a:endParaRPr/>
            </a:p>
          </p:txBody>
        </p:sp>
        <p:sp>
          <p:nvSpPr>
            <p:cNvPr id="17" name="object 17"/>
            <p:cNvSpPr/>
            <p:nvPr/>
          </p:nvSpPr>
          <p:spPr>
            <a:xfrm>
              <a:off x="4632959" y="3279647"/>
              <a:ext cx="505459" cy="0"/>
            </a:xfrm>
            <a:custGeom>
              <a:avLst/>
              <a:gdLst/>
              <a:ahLst/>
              <a:cxnLst/>
              <a:rect l="l" t="t" r="r" b="b"/>
              <a:pathLst>
                <a:path w="505460">
                  <a:moveTo>
                    <a:pt x="0" y="0"/>
                  </a:moveTo>
                  <a:lnTo>
                    <a:pt x="505205" y="0"/>
                  </a:lnTo>
                </a:path>
              </a:pathLst>
            </a:custGeom>
            <a:ln w="9144">
              <a:solidFill>
                <a:srgbClr val="000000"/>
              </a:solidFill>
              <a:prstDash val="sysDash"/>
            </a:ln>
          </p:spPr>
          <p:txBody>
            <a:bodyPr wrap="square" lIns="0" tIns="0" rIns="0" bIns="0" rtlCol="0"/>
            <a:lstStyle/>
            <a:p>
              <a:endParaRPr/>
            </a:p>
          </p:txBody>
        </p:sp>
      </p:grpSp>
      <p:sp>
        <p:nvSpPr>
          <p:cNvPr id="18" name="object 18"/>
          <p:cNvSpPr txBox="1"/>
          <p:nvPr/>
        </p:nvSpPr>
        <p:spPr>
          <a:xfrm>
            <a:off x="5276850" y="1373377"/>
            <a:ext cx="361315" cy="1489075"/>
          </a:xfrm>
          <a:prstGeom prst="rect">
            <a:avLst/>
          </a:prstGeom>
        </p:spPr>
        <p:txBody>
          <a:bodyPr vert="horz" wrap="square" lIns="0" tIns="12065" rIns="0" bIns="0" rtlCol="0">
            <a:spAutoFit/>
          </a:bodyPr>
          <a:lstStyle/>
          <a:p>
            <a:pPr marL="42545">
              <a:lnSpc>
                <a:spcPct val="100000"/>
              </a:lnSpc>
              <a:spcBef>
                <a:spcPts val="95"/>
              </a:spcBef>
            </a:pPr>
            <a:r>
              <a:rPr sz="2000" i="1" spc="-25" dirty="0">
                <a:latin typeface="Verdana"/>
                <a:cs typeface="Verdana"/>
              </a:rPr>
              <a:t>V</a:t>
            </a:r>
            <a:r>
              <a:rPr sz="1950" spc="-37" baseline="-21367" dirty="0">
                <a:latin typeface="Verdana"/>
                <a:cs typeface="Verdana"/>
              </a:rPr>
              <a:t>3</a:t>
            </a:r>
            <a:endParaRPr sz="1950" baseline="-21367">
              <a:latin typeface="Verdana"/>
              <a:cs typeface="Verdana"/>
            </a:endParaRPr>
          </a:p>
          <a:p>
            <a:pPr marL="42545" marR="30480" indent="-5080">
              <a:lnSpc>
                <a:spcPts val="4660"/>
              </a:lnSpc>
              <a:spcBef>
                <a:spcPts val="145"/>
              </a:spcBef>
            </a:pPr>
            <a:r>
              <a:rPr sz="2000" i="1" spc="-25" dirty="0">
                <a:latin typeface="Verdana"/>
                <a:cs typeface="Verdana"/>
              </a:rPr>
              <a:t>V</a:t>
            </a:r>
            <a:r>
              <a:rPr sz="1950" spc="-37" baseline="-21367" dirty="0">
                <a:latin typeface="Verdana"/>
                <a:cs typeface="Verdana"/>
              </a:rPr>
              <a:t>2 </a:t>
            </a:r>
            <a:r>
              <a:rPr sz="2000" i="1" spc="-25" dirty="0">
                <a:latin typeface="Verdana"/>
                <a:cs typeface="Verdana"/>
              </a:rPr>
              <a:t>V</a:t>
            </a:r>
            <a:r>
              <a:rPr sz="1950" spc="-37" baseline="-21367" dirty="0">
                <a:latin typeface="Verdana"/>
                <a:cs typeface="Verdana"/>
              </a:rPr>
              <a:t>1</a:t>
            </a:r>
            <a:endParaRPr sz="1950" baseline="-21367">
              <a:latin typeface="Verdana"/>
              <a:cs typeface="Verdana"/>
            </a:endParaRPr>
          </a:p>
        </p:txBody>
      </p:sp>
      <p:sp>
        <p:nvSpPr>
          <p:cNvPr id="19" name="object 19"/>
          <p:cNvSpPr txBox="1"/>
          <p:nvPr/>
        </p:nvSpPr>
        <p:spPr>
          <a:xfrm>
            <a:off x="5325109" y="3109213"/>
            <a:ext cx="198755" cy="330200"/>
          </a:xfrm>
          <a:prstGeom prst="rect">
            <a:avLst/>
          </a:prstGeom>
        </p:spPr>
        <p:txBody>
          <a:bodyPr vert="horz" wrap="square" lIns="0" tIns="12065" rIns="0" bIns="0" rtlCol="0">
            <a:spAutoFit/>
          </a:bodyPr>
          <a:lstStyle/>
          <a:p>
            <a:pPr marL="12700">
              <a:lnSpc>
                <a:spcPct val="100000"/>
              </a:lnSpc>
              <a:spcBef>
                <a:spcPts val="95"/>
              </a:spcBef>
            </a:pPr>
            <a:r>
              <a:rPr sz="2000" i="1" spc="-50" dirty="0">
                <a:latin typeface="Verdana"/>
                <a:cs typeface="Verdana"/>
              </a:rPr>
              <a:t>V</a:t>
            </a:r>
            <a:endParaRPr sz="2000">
              <a:latin typeface="Verdana"/>
              <a:cs typeface="Verdana"/>
            </a:endParaRPr>
          </a:p>
        </p:txBody>
      </p:sp>
      <p:sp>
        <p:nvSpPr>
          <p:cNvPr id="20" name="object 20"/>
          <p:cNvSpPr txBox="1"/>
          <p:nvPr/>
        </p:nvSpPr>
        <p:spPr>
          <a:xfrm>
            <a:off x="5498084" y="3256279"/>
            <a:ext cx="133350" cy="228600"/>
          </a:xfrm>
          <a:prstGeom prst="rect">
            <a:avLst/>
          </a:prstGeom>
        </p:spPr>
        <p:txBody>
          <a:bodyPr vert="horz" wrap="square" lIns="0" tIns="16510" rIns="0" bIns="0" rtlCol="0">
            <a:spAutoFit/>
          </a:bodyPr>
          <a:lstStyle/>
          <a:p>
            <a:pPr marL="12700">
              <a:lnSpc>
                <a:spcPct val="100000"/>
              </a:lnSpc>
              <a:spcBef>
                <a:spcPts val="130"/>
              </a:spcBef>
            </a:pPr>
            <a:r>
              <a:rPr sz="1300" spc="-50" dirty="0">
                <a:latin typeface="Verdana"/>
                <a:cs typeface="Verdana"/>
              </a:rPr>
              <a:t>0</a:t>
            </a:r>
            <a:endParaRPr sz="1300">
              <a:latin typeface="Verdana"/>
              <a:cs typeface="Verdana"/>
            </a:endParaRPr>
          </a:p>
        </p:txBody>
      </p:sp>
      <p:sp>
        <p:nvSpPr>
          <p:cNvPr id="21" name="Slide Number Placeholder 20"/>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26</a:t>
            </a:fld>
            <a:endParaRPr lang="en-US" spc="-50" dirty="0"/>
          </a:p>
        </p:txBody>
      </p:sp>
      <p:sp>
        <p:nvSpPr>
          <p:cNvPr id="22" name="Date Placeholder 21"/>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23" name="Footer Placeholder 22"/>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4227955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dirty="0"/>
              <a:t>Basic</a:t>
            </a:r>
            <a:r>
              <a:rPr spc="-30" dirty="0"/>
              <a:t> </a:t>
            </a:r>
            <a:r>
              <a:rPr dirty="0"/>
              <a:t>Wireline</a:t>
            </a:r>
            <a:r>
              <a:rPr spc="5" dirty="0"/>
              <a:t> </a:t>
            </a:r>
            <a:r>
              <a:rPr dirty="0"/>
              <a:t>Link</a:t>
            </a:r>
            <a:r>
              <a:rPr spc="-30" dirty="0"/>
              <a:t> </a:t>
            </a:r>
            <a:r>
              <a:rPr dirty="0"/>
              <a:t>-</a:t>
            </a:r>
            <a:r>
              <a:rPr spc="-15" dirty="0"/>
              <a:t> </a:t>
            </a:r>
            <a:r>
              <a:rPr spc="-25" dirty="0"/>
              <a:t>TX</a:t>
            </a:r>
          </a:p>
        </p:txBody>
      </p:sp>
      <p:sp>
        <p:nvSpPr>
          <p:cNvPr id="3" name="object 3"/>
          <p:cNvSpPr txBox="1"/>
          <p:nvPr/>
        </p:nvSpPr>
        <p:spPr>
          <a:xfrm>
            <a:off x="834644" y="3925315"/>
            <a:ext cx="8681720" cy="1781175"/>
          </a:xfrm>
          <a:prstGeom prst="rect">
            <a:avLst/>
          </a:prstGeom>
        </p:spPr>
        <p:txBody>
          <a:bodyPr vert="horz" wrap="square" lIns="0" tIns="85725" rIns="0" bIns="0" rtlCol="0">
            <a:spAutoFit/>
          </a:bodyPr>
          <a:lstStyle/>
          <a:p>
            <a:pPr marL="482600" indent="-469900">
              <a:lnSpc>
                <a:spcPct val="100000"/>
              </a:lnSpc>
              <a:spcBef>
                <a:spcPts val="675"/>
              </a:spcBef>
              <a:buClr>
                <a:srgbClr val="CC0000"/>
              </a:buClr>
              <a:buSzPct val="79166"/>
              <a:buFont typeface="Wingdings"/>
              <a:buChar char=""/>
              <a:tabLst>
                <a:tab pos="482600" algn="l"/>
              </a:tabLst>
            </a:pPr>
            <a:r>
              <a:rPr sz="2400" dirty="0">
                <a:solidFill>
                  <a:srgbClr val="0000FF"/>
                </a:solidFill>
                <a:latin typeface="Verdana"/>
                <a:cs typeface="Verdana"/>
              </a:rPr>
              <a:t>TX</a:t>
            </a:r>
            <a:r>
              <a:rPr sz="2400" spc="-60" dirty="0">
                <a:solidFill>
                  <a:srgbClr val="0000FF"/>
                </a:solidFill>
                <a:latin typeface="Verdana"/>
                <a:cs typeface="Verdana"/>
              </a:rPr>
              <a:t> </a:t>
            </a:r>
            <a:r>
              <a:rPr sz="2400" dirty="0">
                <a:latin typeface="Verdana"/>
                <a:cs typeface="Verdana"/>
              </a:rPr>
              <a:t>serializes</a:t>
            </a:r>
            <a:r>
              <a:rPr sz="2400" spc="-45" dirty="0">
                <a:latin typeface="Verdana"/>
                <a:cs typeface="Verdana"/>
              </a:rPr>
              <a:t> </a:t>
            </a:r>
            <a:r>
              <a:rPr sz="2400" dirty="0">
                <a:latin typeface="Verdana"/>
                <a:cs typeface="Verdana"/>
              </a:rPr>
              <a:t>parallel</a:t>
            </a:r>
            <a:r>
              <a:rPr sz="2400" spc="-45" dirty="0">
                <a:latin typeface="Verdana"/>
                <a:cs typeface="Verdana"/>
              </a:rPr>
              <a:t> </a:t>
            </a:r>
            <a:r>
              <a:rPr sz="2400" spc="-20" dirty="0">
                <a:latin typeface="Verdana"/>
                <a:cs typeface="Verdana"/>
              </a:rPr>
              <a:t>data</a:t>
            </a:r>
            <a:endParaRPr sz="2400">
              <a:latin typeface="Verdana"/>
              <a:cs typeface="Verdana"/>
            </a:endParaRPr>
          </a:p>
          <a:p>
            <a:pPr marL="482600" indent="-469900">
              <a:lnSpc>
                <a:spcPct val="100000"/>
              </a:lnSpc>
              <a:spcBef>
                <a:spcPts val="575"/>
              </a:spcBef>
              <a:buClr>
                <a:srgbClr val="CC0000"/>
              </a:buClr>
              <a:buSzPct val="79166"/>
              <a:buFont typeface="Wingdings"/>
              <a:buChar char=""/>
              <a:tabLst>
                <a:tab pos="482600" algn="l"/>
              </a:tabLst>
            </a:pPr>
            <a:r>
              <a:rPr sz="2400" dirty="0">
                <a:solidFill>
                  <a:srgbClr val="0000FF"/>
                </a:solidFill>
                <a:latin typeface="Verdana"/>
                <a:cs typeface="Verdana"/>
              </a:rPr>
              <a:t>TX</a:t>
            </a:r>
            <a:r>
              <a:rPr sz="2400" spc="-85" dirty="0">
                <a:solidFill>
                  <a:srgbClr val="0000FF"/>
                </a:solidFill>
                <a:latin typeface="Verdana"/>
                <a:cs typeface="Verdana"/>
              </a:rPr>
              <a:t> </a:t>
            </a:r>
            <a:r>
              <a:rPr sz="2400" dirty="0">
                <a:latin typeface="Verdana"/>
                <a:cs typeface="Verdana"/>
              </a:rPr>
              <a:t>drives</a:t>
            </a:r>
            <a:r>
              <a:rPr sz="2400" spc="-80" dirty="0">
                <a:latin typeface="Verdana"/>
                <a:cs typeface="Verdana"/>
              </a:rPr>
              <a:t> </a:t>
            </a:r>
            <a:r>
              <a:rPr sz="2400" dirty="0">
                <a:latin typeface="Verdana"/>
                <a:cs typeface="Verdana"/>
              </a:rPr>
              <a:t>channel</a:t>
            </a:r>
            <a:r>
              <a:rPr sz="2400" spc="-75" dirty="0">
                <a:latin typeface="Verdana"/>
                <a:cs typeface="Verdana"/>
              </a:rPr>
              <a:t> </a:t>
            </a:r>
            <a:r>
              <a:rPr sz="2400" dirty="0">
                <a:latin typeface="Verdana"/>
                <a:cs typeface="Verdana"/>
              </a:rPr>
              <a:t>with</a:t>
            </a:r>
            <a:r>
              <a:rPr sz="2400" spc="-75" dirty="0">
                <a:latin typeface="Verdana"/>
                <a:cs typeface="Verdana"/>
              </a:rPr>
              <a:t> </a:t>
            </a:r>
            <a:r>
              <a:rPr sz="2400" dirty="0">
                <a:latin typeface="Verdana"/>
                <a:cs typeface="Verdana"/>
              </a:rPr>
              <a:t>large</a:t>
            </a:r>
            <a:r>
              <a:rPr sz="2400" spc="-75" dirty="0">
                <a:latin typeface="Verdana"/>
                <a:cs typeface="Verdana"/>
              </a:rPr>
              <a:t> </a:t>
            </a:r>
            <a:r>
              <a:rPr sz="2400" dirty="0">
                <a:latin typeface="Verdana"/>
                <a:cs typeface="Verdana"/>
              </a:rPr>
              <a:t>(enough)</a:t>
            </a:r>
            <a:r>
              <a:rPr sz="2400" spc="-75" dirty="0">
                <a:latin typeface="Verdana"/>
                <a:cs typeface="Verdana"/>
              </a:rPr>
              <a:t> </a:t>
            </a:r>
            <a:r>
              <a:rPr sz="2400" dirty="0">
                <a:latin typeface="Verdana"/>
                <a:cs typeface="Verdana"/>
              </a:rPr>
              <a:t>voltage</a:t>
            </a:r>
            <a:r>
              <a:rPr sz="2400" spc="-75" dirty="0">
                <a:latin typeface="Verdana"/>
                <a:cs typeface="Verdana"/>
              </a:rPr>
              <a:t> </a:t>
            </a:r>
            <a:r>
              <a:rPr sz="2400" spc="-10" dirty="0">
                <a:latin typeface="Verdana"/>
                <a:cs typeface="Verdana"/>
              </a:rPr>
              <a:t>swing</a:t>
            </a:r>
            <a:endParaRPr sz="2400">
              <a:latin typeface="Verdana"/>
              <a:cs typeface="Verdana"/>
            </a:endParaRPr>
          </a:p>
          <a:p>
            <a:pPr marL="482600" indent="-469900">
              <a:lnSpc>
                <a:spcPct val="100000"/>
              </a:lnSpc>
              <a:spcBef>
                <a:spcPts val="575"/>
              </a:spcBef>
              <a:buClr>
                <a:srgbClr val="CC0000"/>
              </a:buClr>
              <a:buSzPct val="79166"/>
              <a:buFont typeface="Wingdings"/>
              <a:buChar char=""/>
              <a:tabLst>
                <a:tab pos="482600" algn="l"/>
              </a:tabLst>
            </a:pPr>
            <a:r>
              <a:rPr sz="2400" dirty="0">
                <a:solidFill>
                  <a:srgbClr val="0000FF"/>
                </a:solidFill>
                <a:latin typeface="Verdana"/>
                <a:cs typeface="Verdana"/>
              </a:rPr>
              <a:t>TX</a:t>
            </a:r>
            <a:r>
              <a:rPr sz="2400" spc="-65" dirty="0">
                <a:solidFill>
                  <a:srgbClr val="0000FF"/>
                </a:solidFill>
                <a:latin typeface="Verdana"/>
                <a:cs typeface="Verdana"/>
              </a:rPr>
              <a:t> </a:t>
            </a:r>
            <a:r>
              <a:rPr sz="2400" dirty="0">
                <a:latin typeface="Verdana"/>
                <a:cs typeface="Verdana"/>
              </a:rPr>
              <a:t>amplitude</a:t>
            </a:r>
            <a:r>
              <a:rPr sz="2400" spc="-45" dirty="0">
                <a:latin typeface="Verdana"/>
                <a:cs typeface="Verdana"/>
              </a:rPr>
              <a:t> </a:t>
            </a:r>
            <a:r>
              <a:rPr sz="2400" dirty="0">
                <a:latin typeface="Verdana"/>
                <a:cs typeface="Verdana"/>
              </a:rPr>
              <a:t>critical</a:t>
            </a:r>
            <a:r>
              <a:rPr sz="2400" spc="-45" dirty="0">
                <a:latin typeface="Verdana"/>
                <a:cs typeface="Verdana"/>
              </a:rPr>
              <a:t> </a:t>
            </a:r>
            <a:r>
              <a:rPr sz="2400" dirty="0">
                <a:latin typeface="Verdana"/>
                <a:cs typeface="Verdana"/>
              </a:rPr>
              <a:t>for</a:t>
            </a:r>
            <a:r>
              <a:rPr sz="2400" spc="-70" dirty="0">
                <a:latin typeface="Verdana"/>
                <a:cs typeface="Verdana"/>
              </a:rPr>
              <a:t> </a:t>
            </a:r>
            <a:r>
              <a:rPr sz="2400" dirty="0">
                <a:latin typeface="Verdana"/>
                <a:cs typeface="Verdana"/>
              </a:rPr>
              <a:t>link</a:t>
            </a:r>
            <a:r>
              <a:rPr sz="2400" spc="-50" dirty="0">
                <a:latin typeface="Verdana"/>
                <a:cs typeface="Verdana"/>
              </a:rPr>
              <a:t> </a:t>
            </a:r>
            <a:r>
              <a:rPr sz="2400" i="1" dirty="0">
                <a:latin typeface="Verdana"/>
                <a:cs typeface="Verdana"/>
              </a:rPr>
              <a:t>SNR</a:t>
            </a:r>
            <a:r>
              <a:rPr sz="2400" i="1" spc="-65" dirty="0">
                <a:latin typeface="Verdana"/>
                <a:cs typeface="Verdana"/>
              </a:rPr>
              <a:t> </a:t>
            </a:r>
            <a:r>
              <a:rPr sz="2400" dirty="0">
                <a:latin typeface="Verdana"/>
                <a:cs typeface="Verdana"/>
              </a:rPr>
              <a:t>and</a:t>
            </a:r>
            <a:r>
              <a:rPr sz="2400" spc="-60" dirty="0">
                <a:latin typeface="Verdana"/>
                <a:cs typeface="Verdana"/>
              </a:rPr>
              <a:t> </a:t>
            </a:r>
            <a:r>
              <a:rPr sz="2400" i="1" spc="-25" dirty="0">
                <a:latin typeface="Verdana"/>
                <a:cs typeface="Verdana"/>
              </a:rPr>
              <a:t>BER</a:t>
            </a:r>
            <a:endParaRPr sz="2400">
              <a:latin typeface="Verdana"/>
              <a:cs typeface="Verdana"/>
            </a:endParaRPr>
          </a:p>
          <a:p>
            <a:pPr marL="482600" indent="-469900">
              <a:lnSpc>
                <a:spcPct val="100000"/>
              </a:lnSpc>
              <a:spcBef>
                <a:spcPts val="575"/>
              </a:spcBef>
              <a:buClr>
                <a:srgbClr val="CC0000"/>
              </a:buClr>
              <a:buSzPct val="79166"/>
              <a:buFont typeface="Wingdings"/>
              <a:buChar char=""/>
              <a:tabLst>
                <a:tab pos="482600" algn="l"/>
              </a:tabLst>
            </a:pPr>
            <a:r>
              <a:rPr sz="2400" dirty="0">
                <a:solidFill>
                  <a:srgbClr val="0000FF"/>
                </a:solidFill>
                <a:latin typeface="Verdana"/>
                <a:cs typeface="Verdana"/>
              </a:rPr>
              <a:t>TX</a:t>
            </a:r>
            <a:r>
              <a:rPr sz="2400" spc="-55" dirty="0">
                <a:solidFill>
                  <a:srgbClr val="0000FF"/>
                </a:solidFill>
                <a:latin typeface="Verdana"/>
                <a:cs typeface="Verdana"/>
              </a:rPr>
              <a:t> </a:t>
            </a:r>
            <a:r>
              <a:rPr sz="2400" dirty="0">
                <a:latin typeface="Verdana"/>
                <a:cs typeface="Verdana"/>
              </a:rPr>
              <a:t>linearity</a:t>
            </a:r>
            <a:r>
              <a:rPr sz="2400" spc="-35" dirty="0">
                <a:latin typeface="Verdana"/>
                <a:cs typeface="Verdana"/>
              </a:rPr>
              <a:t> </a:t>
            </a:r>
            <a:r>
              <a:rPr sz="2400" dirty="0">
                <a:latin typeface="Verdana"/>
                <a:cs typeface="Verdana"/>
              </a:rPr>
              <a:t>critical</a:t>
            </a:r>
            <a:r>
              <a:rPr sz="2400" spc="-25" dirty="0">
                <a:latin typeface="Verdana"/>
                <a:cs typeface="Verdana"/>
              </a:rPr>
              <a:t> </a:t>
            </a:r>
            <a:r>
              <a:rPr sz="2400" dirty="0">
                <a:latin typeface="Verdana"/>
                <a:cs typeface="Verdana"/>
              </a:rPr>
              <a:t>for</a:t>
            </a:r>
            <a:r>
              <a:rPr sz="2400" spc="-55" dirty="0">
                <a:latin typeface="Verdana"/>
                <a:cs typeface="Verdana"/>
              </a:rPr>
              <a:t> </a:t>
            </a:r>
            <a:r>
              <a:rPr sz="2400" spc="-10" dirty="0">
                <a:latin typeface="Verdana"/>
                <a:cs typeface="Verdana"/>
              </a:rPr>
              <a:t>PAM4-</a:t>
            </a:r>
            <a:r>
              <a:rPr sz="2400" dirty="0">
                <a:latin typeface="Verdana"/>
                <a:cs typeface="Verdana"/>
              </a:rPr>
              <a:t>based</a:t>
            </a:r>
            <a:r>
              <a:rPr sz="2400" spc="-50" dirty="0">
                <a:latin typeface="Verdana"/>
                <a:cs typeface="Verdana"/>
              </a:rPr>
              <a:t> </a:t>
            </a:r>
            <a:r>
              <a:rPr sz="2400" dirty="0">
                <a:latin typeface="Verdana"/>
                <a:cs typeface="Verdana"/>
              </a:rPr>
              <a:t>link</a:t>
            </a:r>
            <a:r>
              <a:rPr sz="2400" spc="-40" dirty="0">
                <a:latin typeface="Verdana"/>
                <a:cs typeface="Verdana"/>
              </a:rPr>
              <a:t> </a:t>
            </a:r>
            <a:r>
              <a:rPr sz="2400" i="1" dirty="0">
                <a:latin typeface="Verdana"/>
                <a:cs typeface="Verdana"/>
              </a:rPr>
              <a:t>SNR</a:t>
            </a:r>
            <a:r>
              <a:rPr sz="2400" i="1" spc="-40" dirty="0">
                <a:latin typeface="Verdana"/>
                <a:cs typeface="Verdana"/>
              </a:rPr>
              <a:t> </a:t>
            </a:r>
            <a:r>
              <a:rPr sz="2400" dirty="0">
                <a:latin typeface="Verdana"/>
                <a:cs typeface="Verdana"/>
              </a:rPr>
              <a:t>and</a:t>
            </a:r>
            <a:r>
              <a:rPr sz="2400" spc="-45" dirty="0">
                <a:latin typeface="Verdana"/>
                <a:cs typeface="Verdana"/>
              </a:rPr>
              <a:t> </a:t>
            </a:r>
            <a:r>
              <a:rPr sz="2400" i="1" spc="-25" dirty="0">
                <a:latin typeface="Verdana"/>
                <a:cs typeface="Verdana"/>
              </a:rPr>
              <a:t>BER</a:t>
            </a:r>
            <a:endParaRPr sz="2400">
              <a:latin typeface="Verdana"/>
              <a:cs typeface="Verdana"/>
            </a:endParaRPr>
          </a:p>
        </p:txBody>
      </p:sp>
      <p:grpSp>
        <p:nvGrpSpPr>
          <p:cNvPr id="4" name="object 4"/>
          <p:cNvGrpSpPr/>
          <p:nvPr/>
        </p:nvGrpSpPr>
        <p:grpSpPr>
          <a:xfrm>
            <a:off x="1221486" y="1196339"/>
            <a:ext cx="9389110" cy="2277110"/>
            <a:chOff x="1221486" y="1196339"/>
            <a:chExt cx="9389110" cy="2277110"/>
          </a:xfrm>
        </p:grpSpPr>
        <p:sp>
          <p:nvSpPr>
            <p:cNvPr id="5" name="object 5"/>
            <p:cNvSpPr/>
            <p:nvPr/>
          </p:nvSpPr>
          <p:spPr>
            <a:xfrm>
              <a:off x="1221486" y="1196339"/>
              <a:ext cx="3655695" cy="2277110"/>
            </a:xfrm>
            <a:custGeom>
              <a:avLst/>
              <a:gdLst/>
              <a:ahLst/>
              <a:cxnLst/>
              <a:rect l="l" t="t" r="r" b="b"/>
              <a:pathLst>
                <a:path w="3655695" h="2277110">
                  <a:moveTo>
                    <a:pt x="28194" y="2262378"/>
                  </a:moveTo>
                  <a:lnTo>
                    <a:pt x="28194" y="2148078"/>
                  </a:lnTo>
                  <a:lnTo>
                    <a:pt x="0" y="2148078"/>
                  </a:lnTo>
                  <a:lnTo>
                    <a:pt x="0" y="2262378"/>
                  </a:lnTo>
                  <a:lnTo>
                    <a:pt x="28194" y="2262378"/>
                  </a:lnTo>
                  <a:close/>
                </a:path>
                <a:path w="3655695" h="2277110">
                  <a:moveTo>
                    <a:pt x="28194" y="2061972"/>
                  </a:moveTo>
                  <a:lnTo>
                    <a:pt x="28194" y="1947672"/>
                  </a:lnTo>
                  <a:lnTo>
                    <a:pt x="0" y="1947672"/>
                  </a:lnTo>
                  <a:lnTo>
                    <a:pt x="0" y="2061972"/>
                  </a:lnTo>
                  <a:lnTo>
                    <a:pt x="28194" y="2061972"/>
                  </a:lnTo>
                  <a:close/>
                </a:path>
                <a:path w="3655695" h="2277110">
                  <a:moveTo>
                    <a:pt x="28194" y="1862328"/>
                  </a:moveTo>
                  <a:lnTo>
                    <a:pt x="28194" y="1748028"/>
                  </a:lnTo>
                  <a:lnTo>
                    <a:pt x="0" y="1748028"/>
                  </a:lnTo>
                  <a:lnTo>
                    <a:pt x="0" y="1862328"/>
                  </a:lnTo>
                  <a:lnTo>
                    <a:pt x="28194" y="1862328"/>
                  </a:lnTo>
                  <a:close/>
                </a:path>
                <a:path w="3655695" h="2277110">
                  <a:moveTo>
                    <a:pt x="28194" y="1662684"/>
                  </a:moveTo>
                  <a:lnTo>
                    <a:pt x="28194" y="1548384"/>
                  </a:lnTo>
                  <a:lnTo>
                    <a:pt x="0" y="1548384"/>
                  </a:lnTo>
                  <a:lnTo>
                    <a:pt x="0" y="1662684"/>
                  </a:lnTo>
                  <a:lnTo>
                    <a:pt x="28194" y="1662684"/>
                  </a:lnTo>
                  <a:close/>
                </a:path>
                <a:path w="3655695" h="2277110">
                  <a:moveTo>
                    <a:pt x="28194" y="1462278"/>
                  </a:moveTo>
                  <a:lnTo>
                    <a:pt x="28194" y="1347978"/>
                  </a:lnTo>
                  <a:lnTo>
                    <a:pt x="0" y="1347978"/>
                  </a:lnTo>
                  <a:lnTo>
                    <a:pt x="0" y="1462278"/>
                  </a:lnTo>
                  <a:lnTo>
                    <a:pt x="28194" y="1462278"/>
                  </a:lnTo>
                  <a:close/>
                </a:path>
                <a:path w="3655695" h="2277110">
                  <a:moveTo>
                    <a:pt x="28194" y="1262634"/>
                  </a:moveTo>
                  <a:lnTo>
                    <a:pt x="28194" y="1148334"/>
                  </a:lnTo>
                  <a:lnTo>
                    <a:pt x="0" y="1148334"/>
                  </a:lnTo>
                  <a:lnTo>
                    <a:pt x="0" y="1262634"/>
                  </a:lnTo>
                  <a:lnTo>
                    <a:pt x="28194" y="1262634"/>
                  </a:lnTo>
                  <a:close/>
                </a:path>
                <a:path w="3655695" h="2277110">
                  <a:moveTo>
                    <a:pt x="28194" y="1062228"/>
                  </a:moveTo>
                  <a:lnTo>
                    <a:pt x="28194" y="947928"/>
                  </a:lnTo>
                  <a:lnTo>
                    <a:pt x="0" y="947928"/>
                  </a:lnTo>
                  <a:lnTo>
                    <a:pt x="0" y="1062228"/>
                  </a:lnTo>
                  <a:lnTo>
                    <a:pt x="28194" y="1062228"/>
                  </a:lnTo>
                  <a:close/>
                </a:path>
                <a:path w="3655695" h="2277110">
                  <a:moveTo>
                    <a:pt x="28194" y="862584"/>
                  </a:moveTo>
                  <a:lnTo>
                    <a:pt x="28194" y="748284"/>
                  </a:lnTo>
                  <a:lnTo>
                    <a:pt x="0" y="748284"/>
                  </a:lnTo>
                  <a:lnTo>
                    <a:pt x="0" y="862584"/>
                  </a:lnTo>
                  <a:lnTo>
                    <a:pt x="28194" y="862584"/>
                  </a:lnTo>
                  <a:close/>
                </a:path>
                <a:path w="3655695" h="2277110">
                  <a:moveTo>
                    <a:pt x="28194" y="662178"/>
                  </a:moveTo>
                  <a:lnTo>
                    <a:pt x="28194" y="547878"/>
                  </a:lnTo>
                  <a:lnTo>
                    <a:pt x="0" y="547878"/>
                  </a:lnTo>
                  <a:lnTo>
                    <a:pt x="0" y="662178"/>
                  </a:lnTo>
                  <a:lnTo>
                    <a:pt x="28194" y="662178"/>
                  </a:lnTo>
                  <a:close/>
                </a:path>
                <a:path w="3655695" h="2277110">
                  <a:moveTo>
                    <a:pt x="28194" y="462534"/>
                  </a:moveTo>
                  <a:lnTo>
                    <a:pt x="28194" y="348234"/>
                  </a:lnTo>
                  <a:lnTo>
                    <a:pt x="0" y="348234"/>
                  </a:lnTo>
                  <a:lnTo>
                    <a:pt x="0" y="462534"/>
                  </a:lnTo>
                  <a:lnTo>
                    <a:pt x="28194" y="462534"/>
                  </a:lnTo>
                  <a:close/>
                </a:path>
                <a:path w="3655695" h="2277110">
                  <a:moveTo>
                    <a:pt x="28193" y="262128"/>
                  </a:moveTo>
                  <a:lnTo>
                    <a:pt x="28193" y="147828"/>
                  </a:lnTo>
                  <a:lnTo>
                    <a:pt x="0" y="147828"/>
                  </a:lnTo>
                  <a:lnTo>
                    <a:pt x="0" y="262128"/>
                  </a:lnTo>
                  <a:lnTo>
                    <a:pt x="28193" y="262128"/>
                  </a:lnTo>
                  <a:close/>
                </a:path>
                <a:path w="3655695" h="2277110">
                  <a:moveTo>
                    <a:pt x="80009" y="28194"/>
                  </a:moveTo>
                  <a:lnTo>
                    <a:pt x="80009" y="0"/>
                  </a:lnTo>
                  <a:lnTo>
                    <a:pt x="6095" y="0"/>
                  </a:lnTo>
                  <a:lnTo>
                    <a:pt x="0" y="6096"/>
                  </a:lnTo>
                  <a:lnTo>
                    <a:pt x="0" y="62484"/>
                  </a:lnTo>
                  <a:lnTo>
                    <a:pt x="14477" y="62484"/>
                  </a:lnTo>
                  <a:lnTo>
                    <a:pt x="14477" y="28194"/>
                  </a:lnTo>
                  <a:lnTo>
                    <a:pt x="28193" y="14478"/>
                  </a:lnTo>
                  <a:lnTo>
                    <a:pt x="28193" y="28194"/>
                  </a:lnTo>
                  <a:lnTo>
                    <a:pt x="80009" y="28194"/>
                  </a:lnTo>
                  <a:close/>
                </a:path>
                <a:path w="3655695" h="2277110">
                  <a:moveTo>
                    <a:pt x="28193" y="28194"/>
                  </a:moveTo>
                  <a:lnTo>
                    <a:pt x="28193" y="14478"/>
                  </a:lnTo>
                  <a:lnTo>
                    <a:pt x="14477" y="28194"/>
                  </a:lnTo>
                  <a:lnTo>
                    <a:pt x="28193" y="28194"/>
                  </a:lnTo>
                  <a:close/>
                </a:path>
                <a:path w="3655695" h="2277110">
                  <a:moveTo>
                    <a:pt x="28193" y="62484"/>
                  </a:moveTo>
                  <a:lnTo>
                    <a:pt x="28193" y="28194"/>
                  </a:lnTo>
                  <a:lnTo>
                    <a:pt x="14477" y="28194"/>
                  </a:lnTo>
                  <a:lnTo>
                    <a:pt x="14477" y="62484"/>
                  </a:lnTo>
                  <a:lnTo>
                    <a:pt x="28193" y="62484"/>
                  </a:lnTo>
                  <a:close/>
                </a:path>
                <a:path w="3655695" h="2277110">
                  <a:moveTo>
                    <a:pt x="280416" y="28193"/>
                  </a:moveTo>
                  <a:lnTo>
                    <a:pt x="280416" y="0"/>
                  </a:lnTo>
                  <a:lnTo>
                    <a:pt x="166115" y="0"/>
                  </a:lnTo>
                  <a:lnTo>
                    <a:pt x="166115" y="28194"/>
                  </a:lnTo>
                  <a:lnTo>
                    <a:pt x="280416" y="28193"/>
                  </a:lnTo>
                  <a:close/>
                </a:path>
                <a:path w="3655695" h="2277110">
                  <a:moveTo>
                    <a:pt x="480060" y="28193"/>
                  </a:moveTo>
                  <a:lnTo>
                    <a:pt x="480060" y="0"/>
                  </a:lnTo>
                  <a:lnTo>
                    <a:pt x="365759" y="0"/>
                  </a:lnTo>
                  <a:lnTo>
                    <a:pt x="365759" y="28193"/>
                  </a:lnTo>
                  <a:lnTo>
                    <a:pt x="480060" y="28193"/>
                  </a:lnTo>
                  <a:close/>
                </a:path>
                <a:path w="3655695" h="2277110">
                  <a:moveTo>
                    <a:pt x="680465" y="28193"/>
                  </a:moveTo>
                  <a:lnTo>
                    <a:pt x="680465" y="0"/>
                  </a:lnTo>
                  <a:lnTo>
                    <a:pt x="566165" y="0"/>
                  </a:lnTo>
                  <a:lnTo>
                    <a:pt x="566165" y="28193"/>
                  </a:lnTo>
                  <a:lnTo>
                    <a:pt x="680465" y="28193"/>
                  </a:lnTo>
                  <a:close/>
                </a:path>
                <a:path w="3655695" h="2277110">
                  <a:moveTo>
                    <a:pt x="880109" y="28193"/>
                  </a:moveTo>
                  <a:lnTo>
                    <a:pt x="880109" y="0"/>
                  </a:lnTo>
                  <a:lnTo>
                    <a:pt x="765809" y="0"/>
                  </a:lnTo>
                  <a:lnTo>
                    <a:pt x="765809" y="28193"/>
                  </a:lnTo>
                  <a:lnTo>
                    <a:pt x="880109" y="28193"/>
                  </a:lnTo>
                  <a:close/>
                </a:path>
                <a:path w="3655695" h="2277110">
                  <a:moveTo>
                    <a:pt x="1080515" y="28193"/>
                  </a:moveTo>
                  <a:lnTo>
                    <a:pt x="1080515" y="0"/>
                  </a:lnTo>
                  <a:lnTo>
                    <a:pt x="966215" y="0"/>
                  </a:lnTo>
                  <a:lnTo>
                    <a:pt x="966215" y="28193"/>
                  </a:lnTo>
                  <a:lnTo>
                    <a:pt x="1080515" y="28193"/>
                  </a:lnTo>
                  <a:close/>
                </a:path>
                <a:path w="3655695" h="2277110">
                  <a:moveTo>
                    <a:pt x="1280159" y="28193"/>
                  </a:moveTo>
                  <a:lnTo>
                    <a:pt x="1280159" y="0"/>
                  </a:lnTo>
                  <a:lnTo>
                    <a:pt x="1165859" y="0"/>
                  </a:lnTo>
                  <a:lnTo>
                    <a:pt x="1165859" y="28193"/>
                  </a:lnTo>
                  <a:lnTo>
                    <a:pt x="1280159" y="28193"/>
                  </a:lnTo>
                  <a:close/>
                </a:path>
                <a:path w="3655695" h="2277110">
                  <a:moveTo>
                    <a:pt x="1480565" y="28193"/>
                  </a:moveTo>
                  <a:lnTo>
                    <a:pt x="1480565" y="0"/>
                  </a:lnTo>
                  <a:lnTo>
                    <a:pt x="1366265" y="0"/>
                  </a:lnTo>
                  <a:lnTo>
                    <a:pt x="1366265" y="28193"/>
                  </a:lnTo>
                  <a:lnTo>
                    <a:pt x="1480565" y="28193"/>
                  </a:lnTo>
                  <a:close/>
                </a:path>
                <a:path w="3655695" h="2277110">
                  <a:moveTo>
                    <a:pt x="1680209" y="28193"/>
                  </a:moveTo>
                  <a:lnTo>
                    <a:pt x="1680209" y="0"/>
                  </a:lnTo>
                  <a:lnTo>
                    <a:pt x="1565909" y="0"/>
                  </a:lnTo>
                  <a:lnTo>
                    <a:pt x="1565909" y="28193"/>
                  </a:lnTo>
                  <a:lnTo>
                    <a:pt x="1680209" y="28193"/>
                  </a:lnTo>
                  <a:close/>
                </a:path>
                <a:path w="3655695" h="2277110">
                  <a:moveTo>
                    <a:pt x="1880615" y="28193"/>
                  </a:moveTo>
                  <a:lnTo>
                    <a:pt x="1880615" y="0"/>
                  </a:lnTo>
                  <a:lnTo>
                    <a:pt x="1766315" y="0"/>
                  </a:lnTo>
                  <a:lnTo>
                    <a:pt x="1766315" y="28193"/>
                  </a:lnTo>
                  <a:lnTo>
                    <a:pt x="1880615" y="28193"/>
                  </a:lnTo>
                  <a:close/>
                </a:path>
                <a:path w="3655695" h="2277110">
                  <a:moveTo>
                    <a:pt x="2080260" y="28193"/>
                  </a:moveTo>
                  <a:lnTo>
                    <a:pt x="2080260" y="0"/>
                  </a:lnTo>
                  <a:lnTo>
                    <a:pt x="1965959" y="0"/>
                  </a:lnTo>
                  <a:lnTo>
                    <a:pt x="1965959" y="28193"/>
                  </a:lnTo>
                  <a:lnTo>
                    <a:pt x="2080260" y="28193"/>
                  </a:lnTo>
                  <a:close/>
                </a:path>
                <a:path w="3655695" h="2277110">
                  <a:moveTo>
                    <a:pt x="2280666" y="28193"/>
                  </a:moveTo>
                  <a:lnTo>
                    <a:pt x="2280666" y="0"/>
                  </a:lnTo>
                  <a:lnTo>
                    <a:pt x="2166366" y="0"/>
                  </a:lnTo>
                  <a:lnTo>
                    <a:pt x="2166366" y="28193"/>
                  </a:lnTo>
                  <a:lnTo>
                    <a:pt x="2280666" y="28193"/>
                  </a:lnTo>
                  <a:close/>
                </a:path>
                <a:path w="3655695" h="2277110">
                  <a:moveTo>
                    <a:pt x="2480310" y="28193"/>
                  </a:moveTo>
                  <a:lnTo>
                    <a:pt x="2480310" y="0"/>
                  </a:lnTo>
                  <a:lnTo>
                    <a:pt x="2366010" y="0"/>
                  </a:lnTo>
                  <a:lnTo>
                    <a:pt x="2366010" y="28193"/>
                  </a:lnTo>
                  <a:lnTo>
                    <a:pt x="2480310" y="28193"/>
                  </a:lnTo>
                  <a:close/>
                </a:path>
                <a:path w="3655695" h="2277110">
                  <a:moveTo>
                    <a:pt x="2680716" y="28193"/>
                  </a:moveTo>
                  <a:lnTo>
                    <a:pt x="2680716" y="0"/>
                  </a:lnTo>
                  <a:lnTo>
                    <a:pt x="2566416" y="0"/>
                  </a:lnTo>
                  <a:lnTo>
                    <a:pt x="2566416" y="28193"/>
                  </a:lnTo>
                  <a:lnTo>
                    <a:pt x="2680716" y="28193"/>
                  </a:lnTo>
                  <a:close/>
                </a:path>
                <a:path w="3655695" h="2277110">
                  <a:moveTo>
                    <a:pt x="2880360" y="28193"/>
                  </a:moveTo>
                  <a:lnTo>
                    <a:pt x="2880360" y="0"/>
                  </a:lnTo>
                  <a:lnTo>
                    <a:pt x="2766060" y="0"/>
                  </a:lnTo>
                  <a:lnTo>
                    <a:pt x="2766060" y="28193"/>
                  </a:lnTo>
                  <a:lnTo>
                    <a:pt x="2880360" y="28193"/>
                  </a:lnTo>
                  <a:close/>
                </a:path>
                <a:path w="3655695" h="2277110">
                  <a:moveTo>
                    <a:pt x="3080004" y="28193"/>
                  </a:moveTo>
                  <a:lnTo>
                    <a:pt x="3080004" y="0"/>
                  </a:lnTo>
                  <a:lnTo>
                    <a:pt x="2965704" y="0"/>
                  </a:lnTo>
                  <a:lnTo>
                    <a:pt x="2965704" y="28193"/>
                  </a:lnTo>
                  <a:lnTo>
                    <a:pt x="3080004" y="28193"/>
                  </a:lnTo>
                  <a:close/>
                </a:path>
                <a:path w="3655695" h="2277110">
                  <a:moveTo>
                    <a:pt x="3280410" y="28193"/>
                  </a:moveTo>
                  <a:lnTo>
                    <a:pt x="3280410" y="0"/>
                  </a:lnTo>
                  <a:lnTo>
                    <a:pt x="3166110" y="0"/>
                  </a:lnTo>
                  <a:lnTo>
                    <a:pt x="3166110" y="28193"/>
                  </a:lnTo>
                  <a:lnTo>
                    <a:pt x="3280410" y="28193"/>
                  </a:lnTo>
                  <a:close/>
                </a:path>
                <a:path w="3655695" h="2277110">
                  <a:moveTo>
                    <a:pt x="3480054" y="28193"/>
                  </a:moveTo>
                  <a:lnTo>
                    <a:pt x="3480054" y="0"/>
                  </a:lnTo>
                  <a:lnTo>
                    <a:pt x="3365754" y="0"/>
                  </a:lnTo>
                  <a:lnTo>
                    <a:pt x="3365754" y="28193"/>
                  </a:lnTo>
                  <a:lnTo>
                    <a:pt x="3480054" y="28193"/>
                  </a:lnTo>
                  <a:close/>
                </a:path>
                <a:path w="3655695" h="2277110">
                  <a:moveTo>
                    <a:pt x="3655314" y="53339"/>
                  </a:moveTo>
                  <a:lnTo>
                    <a:pt x="3655314" y="6095"/>
                  </a:lnTo>
                  <a:lnTo>
                    <a:pt x="3649217" y="0"/>
                  </a:lnTo>
                  <a:lnTo>
                    <a:pt x="3566160" y="0"/>
                  </a:lnTo>
                  <a:lnTo>
                    <a:pt x="3566160" y="28193"/>
                  </a:lnTo>
                  <a:lnTo>
                    <a:pt x="3627119" y="28193"/>
                  </a:lnTo>
                  <a:lnTo>
                    <a:pt x="3627119" y="14477"/>
                  </a:lnTo>
                  <a:lnTo>
                    <a:pt x="3640836" y="28193"/>
                  </a:lnTo>
                  <a:lnTo>
                    <a:pt x="3640836" y="53339"/>
                  </a:lnTo>
                  <a:lnTo>
                    <a:pt x="3655314" y="53339"/>
                  </a:lnTo>
                  <a:close/>
                </a:path>
                <a:path w="3655695" h="2277110">
                  <a:moveTo>
                    <a:pt x="3640836" y="28193"/>
                  </a:moveTo>
                  <a:lnTo>
                    <a:pt x="3627119" y="14477"/>
                  </a:lnTo>
                  <a:lnTo>
                    <a:pt x="3627119" y="28193"/>
                  </a:lnTo>
                  <a:lnTo>
                    <a:pt x="3640836" y="28193"/>
                  </a:lnTo>
                  <a:close/>
                </a:path>
                <a:path w="3655695" h="2277110">
                  <a:moveTo>
                    <a:pt x="3640836" y="53339"/>
                  </a:moveTo>
                  <a:lnTo>
                    <a:pt x="3640836" y="28193"/>
                  </a:lnTo>
                  <a:lnTo>
                    <a:pt x="3627119" y="28193"/>
                  </a:lnTo>
                  <a:lnTo>
                    <a:pt x="3627119" y="53339"/>
                  </a:lnTo>
                  <a:lnTo>
                    <a:pt x="3640836" y="53339"/>
                  </a:lnTo>
                  <a:close/>
                </a:path>
                <a:path w="3655695" h="2277110">
                  <a:moveTo>
                    <a:pt x="3655314" y="253745"/>
                  </a:moveTo>
                  <a:lnTo>
                    <a:pt x="3655314" y="139445"/>
                  </a:lnTo>
                  <a:lnTo>
                    <a:pt x="3627119" y="139445"/>
                  </a:lnTo>
                  <a:lnTo>
                    <a:pt x="3627119" y="253745"/>
                  </a:lnTo>
                  <a:lnTo>
                    <a:pt x="3655314" y="253745"/>
                  </a:lnTo>
                  <a:close/>
                </a:path>
                <a:path w="3655695" h="2277110">
                  <a:moveTo>
                    <a:pt x="3655314" y="453389"/>
                  </a:moveTo>
                  <a:lnTo>
                    <a:pt x="3655314" y="339089"/>
                  </a:lnTo>
                  <a:lnTo>
                    <a:pt x="3627119" y="339089"/>
                  </a:lnTo>
                  <a:lnTo>
                    <a:pt x="3627119" y="453389"/>
                  </a:lnTo>
                  <a:lnTo>
                    <a:pt x="3655314" y="453389"/>
                  </a:lnTo>
                  <a:close/>
                </a:path>
                <a:path w="3655695" h="2277110">
                  <a:moveTo>
                    <a:pt x="3655314" y="653033"/>
                  </a:moveTo>
                  <a:lnTo>
                    <a:pt x="3655314" y="539495"/>
                  </a:lnTo>
                  <a:lnTo>
                    <a:pt x="3627119" y="539495"/>
                  </a:lnTo>
                  <a:lnTo>
                    <a:pt x="3627119" y="653033"/>
                  </a:lnTo>
                  <a:lnTo>
                    <a:pt x="3655314" y="653033"/>
                  </a:lnTo>
                  <a:close/>
                </a:path>
                <a:path w="3655695" h="2277110">
                  <a:moveTo>
                    <a:pt x="3655314" y="853439"/>
                  </a:moveTo>
                  <a:lnTo>
                    <a:pt x="3655314" y="739139"/>
                  </a:lnTo>
                  <a:lnTo>
                    <a:pt x="3627119" y="739139"/>
                  </a:lnTo>
                  <a:lnTo>
                    <a:pt x="3627119" y="853439"/>
                  </a:lnTo>
                  <a:lnTo>
                    <a:pt x="3655314" y="853439"/>
                  </a:lnTo>
                  <a:close/>
                </a:path>
                <a:path w="3655695" h="2277110">
                  <a:moveTo>
                    <a:pt x="3655314" y="1053083"/>
                  </a:moveTo>
                  <a:lnTo>
                    <a:pt x="3655314" y="938783"/>
                  </a:lnTo>
                  <a:lnTo>
                    <a:pt x="3627119" y="938783"/>
                  </a:lnTo>
                  <a:lnTo>
                    <a:pt x="3627119" y="1053083"/>
                  </a:lnTo>
                  <a:lnTo>
                    <a:pt x="3655314" y="1053083"/>
                  </a:lnTo>
                  <a:close/>
                </a:path>
                <a:path w="3655695" h="2277110">
                  <a:moveTo>
                    <a:pt x="3655314" y="1253489"/>
                  </a:moveTo>
                  <a:lnTo>
                    <a:pt x="3655314" y="1139189"/>
                  </a:lnTo>
                  <a:lnTo>
                    <a:pt x="3627119" y="1139189"/>
                  </a:lnTo>
                  <a:lnTo>
                    <a:pt x="3627119" y="1253489"/>
                  </a:lnTo>
                  <a:lnTo>
                    <a:pt x="3655314" y="1253489"/>
                  </a:lnTo>
                  <a:close/>
                </a:path>
                <a:path w="3655695" h="2277110">
                  <a:moveTo>
                    <a:pt x="3655314" y="1453133"/>
                  </a:moveTo>
                  <a:lnTo>
                    <a:pt x="3655314" y="1338833"/>
                  </a:lnTo>
                  <a:lnTo>
                    <a:pt x="3627119" y="1338833"/>
                  </a:lnTo>
                  <a:lnTo>
                    <a:pt x="3627119" y="1453133"/>
                  </a:lnTo>
                  <a:lnTo>
                    <a:pt x="3655314" y="1453133"/>
                  </a:lnTo>
                  <a:close/>
                </a:path>
                <a:path w="3655695" h="2277110">
                  <a:moveTo>
                    <a:pt x="3655314" y="1653539"/>
                  </a:moveTo>
                  <a:lnTo>
                    <a:pt x="3655314" y="1539239"/>
                  </a:lnTo>
                  <a:lnTo>
                    <a:pt x="3627119" y="1539239"/>
                  </a:lnTo>
                  <a:lnTo>
                    <a:pt x="3627119" y="1653539"/>
                  </a:lnTo>
                  <a:lnTo>
                    <a:pt x="3655314" y="1653539"/>
                  </a:lnTo>
                  <a:close/>
                </a:path>
                <a:path w="3655695" h="2277110">
                  <a:moveTo>
                    <a:pt x="3655314" y="1853183"/>
                  </a:moveTo>
                  <a:lnTo>
                    <a:pt x="3655314" y="1738883"/>
                  </a:lnTo>
                  <a:lnTo>
                    <a:pt x="3627119" y="1738883"/>
                  </a:lnTo>
                  <a:lnTo>
                    <a:pt x="3627119" y="1853183"/>
                  </a:lnTo>
                  <a:lnTo>
                    <a:pt x="3655314" y="1853183"/>
                  </a:lnTo>
                  <a:close/>
                </a:path>
                <a:path w="3655695" h="2277110">
                  <a:moveTo>
                    <a:pt x="3655314" y="2053589"/>
                  </a:moveTo>
                  <a:lnTo>
                    <a:pt x="3655314" y="1939289"/>
                  </a:lnTo>
                  <a:lnTo>
                    <a:pt x="3627119" y="1939289"/>
                  </a:lnTo>
                  <a:lnTo>
                    <a:pt x="3627119" y="2053589"/>
                  </a:lnTo>
                  <a:lnTo>
                    <a:pt x="3655314" y="2053589"/>
                  </a:lnTo>
                  <a:close/>
                </a:path>
                <a:path w="3655695" h="2277110">
                  <a:moveTo>
                    <a:pt x="3655314" y="2253234"/>
                  </a:moveTo>
                  <a:lnTo>
                    <a:pt x="3655314" y="2138934"/>
                  </a:lnTo>
                  <a:lnTo>
                    <a:pt x="3627119" y="2138934"/>
                  </a:lnTo>
                  <a:lnTo>
                    <a:pt x="3627119" y="2253234"/>
                  </a:lnTo>
                  <a:lnTo>
                    <a:pt x="3655314" y="2253234"/>
                  </a:lnTo>
                  <a:close/>
                </a:path>
                <a:path w="3655695" h="2277110">
                  <a:moveTo>
                    <a:pt x="3564636" y="2276855"/>
                  </a:moveTo>
                  <a:lnTo>
                    <a:pt x="3564636" y="2247900"/>
                  </a:lnTo>
                  <a:lnTo>
                    <a:pt x="3450336" y="2247900"/>
                  </a:lnTo>
                  <a:lnTo>
                    <a:pt x="3450336" y="2276855"/>
                  </a:lnTo>
                  <a:lnTo>
                    <a:pt x="3564636" y="2276855"/>
                  </a:lnTo>
                  <a:close/>
                </a:path>
                <a:path w="3655695" h="2277110">
                  <a:moveTo>
                    <a:pt x="3364229" y="2276855"/>
                  </a:moveTo>
                  <a:lnTo>
                    <a:pt x="3364229" y="2247900"/>
                  </a:lnTo>
                  <a:lnTo>
                    <a:pt x="3249929" y="2247900"/>
                  </a:lnTo>
                  <a:lnTo>
                    <a:pt x="3249929" y="2276855"/>
                  </a:lnTo>
                  <a:lnTo>
                    <a:pt x="3364229" y="2276855"/>
                  </a:lnTo>
                  <a:close/>
                </a:path>
                <a:path w="3655695" h="2277110">
                  <a:moveTo>
                    <a:pt x="3164586" y="2276855"/>
                  </a:moveTo>
                  <a:lnTo>
                    <a:pt x="3164586" y="2247900"/>
                  </a:lnTo>
                  <a:lnTo>
                    <a:pt x="3050286" y="2247900"/>
                  </a:lnTo>
                  <a:lnTo>
                    <a:pt x="3050286" y="2276855"/>
                  </a:lnTo>
                  <a:lnTo>
                    <a:pt x="3164586" y="2276855"/>
                  </a:lnTo>
                  <a:close/>
                </a:path>
                <a:path w="3655695" h="2277110">
                  <a:moveTo>
                    <a:pt x="2964179" y="2276855"/>
                  </a:moveTo>
                  <a:lnTo>
                    <a:pt x="2964179" y="2247900"/>
                  </a:lnTo>
                  <a:lnTo>
                    <a:pt x="2849879" y="2247900"/>
                  </a:lnTo>
                  <a:lnTo>
                    <a:pt x="2849879" y="2276855"/>
                  </a:lnTo>
                  <a:lnTo>
                    <a:pt x="2964179" y="2276855"/>
                  </a:lnTo>
                  <a:close/>
                </a:path>
                <a:path w="3655695" h="2277110">
                  <a:moveTo>
                    <a:pt x="2764536" y="2276855"/>
                  </a:moveTo>
                  <a:lnTo>
                    <a:pt x="2764536" y="2247900"/>
                  </a:lnTo>
                  <a:lnTo>
                    <a:pt x="2650236" y="2247900"/>
                  </a:lnTo>
                  <a:lnTo>
                    <a:pt x="2650236" y="2276855"/>
                  </a:lnTo>
                  <a:lnTo>
                    <a:pt x="2764536" y="2276855"/>
                  </a:lnTo>
                  <a:close/>
                </a:path>
                <a:path w="3655695" h="2277110">
                  <a:moveTo>
                    <a:pt x="2564129" y="2276855"/>
                  </a:moveTo>
                  <a:lnTo>
                    <a:pt x="2564129" y="2247900"/>
                  </a:lnTo>
                  <a:lnTo>
                    <a:pt x="2449829" y="2247900"/>
                  </a:lnTo>
                  <a:lnTo>
                    <a:pt x="2449829" y="2276855"/>
                  </a:lnTo>
                  <a:lnTo>
                    <a:pt x="2564129" y="2276855"/>
                  </a:lnTo>
                  <a:close/>
                </a:path>
                <a:path w="3655695" h="2277110">
                  <a:moveTo>
                    <a:pt x="2364486" y="2276855"/>
                  </a:moveTo>
                  <a:lnTo>
                    <a:pt x="2364486" y="2247900"/>
                  </a:lnTo>
                  <a:lnTo>
                    <a:pt x="2250186" y="2247900"/>
                  </a:lnTo>
                  <a:lnTo>
                    <a:pt x="2250186" y="2276855"/>
                  </a:lnTo>
                  <a:lnTo>
                    <a:pt x="2364486" y="2276855"/>
                  </a:lnTo>
                  <a:close/>
                </a:path>
                <a:path w="3655695" h="2277110">
                  <a:moveTo>
                    <a:pt x="2164079" y="2276855"/>
                  </a:moveTo>
                  <a:lnTo>
                    <a:pt x="2164079" y="2247900"/>
                  </a:lnTo>
                  <a:lnTo>
                    <a:pt x="2049779" y="2247900"/>
                  </a:lnTo>
                  <a:lnTo>
                    <a:pt x="2049779" y="2276855"/>
                  </a:lnTo>
                  <a:lnTo>
                    <a:pt x="2164079" y="2276855"/>
                  </a:lnTo>
                  <a:close/>
                </a:path>
                <a:path w="3655695" h="2277110">
                  <a:moveTo>
                    <a:pt x="1964436" y="2276855"/>
                  </a:moveTo>
                  <a:lnTo>
                    <a:pt x="1964436" y="2247900"/>
                  </a:lnTo>
                  <a:lnTo>
                    <a:pt x="1850136" y="2247900"/>
                  </a:lnTo>
                  <a:lnTo>
                    <a:pt x="1850136" y="2276855"/>
                  </a:lnTo>
                  <a:lnTo>
                    <a:pt x="1964436" y="2276855"/>
                  </a:lnTo>
                  <a:close/>
                </a:path>
                <a:path w="3655695" h="2277110">
                  <a:moveTo>
                    <a:pt x="1764030" y="2276855"/>
                  </a:moveTo>
                  <a:lnTo>
                    <a:pt x="1764030" y="2247900"/>
                  </a:lnTo>
                  <a:lnTo>
                    <a:pt x="1650492" y="2247900"/>
                  </a:lnTo>
                  <a:lnTo>
                    <a:pt x="1650492" y="2276855"/>
                  </a:lnTo>
                  <a:lnTo>
                    <a:pt x="1764030" y="2276855"/>
                  </a:lnTo>
                  <a:close/>
                </a:path>
                <a:path w="3655695" h="2277110">
                  <a:moveTo>
                    <a:pt x="1564386" y="2276855"/>
                  </a:moveTo>
                  <a:lnTo>
                    <a:pt x="1564386" y="2247900"/>
                  </a:lnTo>
                  <a:lnTo>
                    <a:pt x="1450086" y="2247900"/>
                  </a:lnTo>
                  <a:lnTo>
                    <a:pt x="1450086" y="2276855"/>
                  </a:lnTo>
                  <a:lnTo>
                    <a:pt x="1564386" y="2276855"/>
                  </a:lnTo>
                  <a:close/>
                </a:path>
                <a:path w="3655695" h="2277110">
                  <a:moveTo>
                    <a:pt x="1364742" y="2276855"/>
                  </a:moveTo>
                  <a:lnTo>
                    <a:pt x="1364742" y="2247900"/>
                  </a:lnTo>
                  <a:lnTo>
                    <a:pt x="1250442" y="2247900"/>
                  </a:lnTo>
                  <a:lnTo>
                    <a:pt x="1250442" y="2276855"/>
                  </a:lnTo>
                  <a:lnTo>
                    <a:pt x="1364742" y="2276855"/>
                  </a:lnTo>
                  <a:close/>
                </a:path>
                <a:path w="3655695" h="2277110">
                  <a:moveTo>
                    <a:pt x="1164336" y="2276855"/>
                  </a:moveTo>
                  <a:lnTo>
                    <a:pt x="1164336" y="2247900"/>
                  </a:lnTo>
                  <a:lnTo>
                    <a:pt x="1050036" y="2247900"/>
                  </a:lnTo>
                  <a:lnTo>
                    <a:pt x="1050036" y="2276855"/>
                  </a:lnTo>
                  <a:lnTo>
                    <a:pt x="1164336" y="2276855"/>
                  </a:lnTo>
                  <a:close/>
                </a:path>
                <a:path w="3655695" h="2277110">
                  <a:moveTo>
                    <a:pt x="964692" y="2276855"/>
                  </a:moveTo>
                  <a:lnTo>
                    <a:pt x="964692" y="2247900"/>
                  </a:lnTo>
                  <a:lnTo>
                    <a:pt x="850392" y="2247900"/>
                  </a:lnTo>
                  <a:lnTo>
                    <a:pt x="850392" y="2276855"/>
                  </a:lnTo>
                  <a:lnTo>
                    <a:pt x="964692" y="2276855"/>
                  </a:lnTo>
                  <a:close/>
                </a:path>
                <a:path w="3655695" h="2277110">
                  <a:moveTo>
                    <a:pt x="764286" y="2276855"/>
                  </a:moveTo>
                  <a:lnTo>
                    <a:pt x="764286" y="2247900"/>
                  </a:lnTo>
                  <a:lnTo>
                    <a:pt x="649986" y="2247900"/>
                  </a:lnTo>
                  <a:lnTo>
                    <a:pt x="649986" y="2276855"/>
                  </a:lnTo>
                  <a:lnTo>
                    <a:pt x="764286" y="2276855"/>
                  </a:lnTo>
                  <a:close/>
                </a:path>
                <a:path w="3655695" h="2277110">
                  <a:moveTo>
                    <a:pt x="564642" y="2276855"/>
                  </a:moveTo>
                  <a:lnTo>
                    <a:pt x="564642" y="2247900"/>
                  </a:lnTo>
                  <a:lnTo>
                    <a:pt x="450342" y="2247900"/>
                  </a:lnTo>
                  <a:lnTo>
                    <a:pt x="450342" y="2276855"/>
                  </a:lnTo>
                  <a:lnTo>
                    <a:pt x="564642" y="2276855"/>
                  </a:lnTo>
                  <a:close/>
                </a:path>
                <a:path w="3655695" h="2277110">
                  <a:moveTo>
                    <a:pt x="364236" y="2276855"/>
                  </a:moveTo>
                  <a:lnTo>
                    <a:pt x="364236" y="2247900"/>
                  </a:lnTo>
                  <a:lnTo>
                    <a:pt x="249936" y="2247900"/>
                  </a:lnTo>
                  <a:lnTo>
                    <a:pt x="249936" y="2276855"/>
                  </a:lnTo>
                  <a:lnTo>
                    <a:pt x="364236" y="2276855"/>
                  </a:lnTo>
                  <a:close/>
                </a:path>
                <a:path w="3655695" h="2277110">
                  <a:moveTo>
                    <a:pt x="164592" y="2276855"/>
                  </a:moveTo>
                  <a:lnTo>
                    <a:pt x="164592" y="2247900"/>
                  </a:lnTo>
                  <a:lnTo>
                    <a:pt x="50292" y="2247900"/>
                  </a:lnTo>
                  <a:lnTo>
                    <a:pt x="50292" y="2276855"/>
                  </a:lnTo>
                  <a:lnTo>
                    <a:pt x="164592" y="2276855"/>
                  </a:lnTo>
                  <a:close/>
                </a:path>
              </a:pathLst>
            </a:custGeom>
            <a:solidFill>
              <a:srgbClr val="0000FF"/>
            </a:solidFill>
          </p:spPr>
          <p:txBody>
            <a:bodyPr wrap="square" lIns="0" tIns="0" rIns="0" bIns="0" rtlCol="0"/>
            <a:lstStyle/>
            <a:p>
              <a:endParaRPr/>
            </a:p>
          </p:txBody>
        </p:sp>
        <p:sp>
          <p:nvSpPr>
            <p:cNvPr id="6" name="object 6"/>
            <p:cNvSpPr/>
            <p:nvPr/>
          </p:nvSpPr>
          <p:spPr>
            <a:xfrm>
              <a:off x="6936486" y="1196339"/>
              <a:ext cx="3674110" cy="2277110"/>
            </a:xfrm>
            <a:custGeom>
              <a:avLst/>
              <a:gdLst/>
              <a:ahLst/>
              <a:cxnLst/>
              <a:rect l="l" t="t" r="r" b="b"/>
              <a:pathLst>
                <a:path w="3674109" h="2277110">
                  <a:moveTo>
                    <a:pt x="28955" y="2262378"/>
                  </a:moveTo>
                  <a:lnTo>
                    <a:pt x="28955" y="2148078"/>
                  </a:lnTo>
                  <a:lnTo>
                    <a:pt x="0" y="2148078"/>
                  </a:lnTo>
                  <a:lnTo>
                    <a:pt x="0" y="2262378"/>
                  </a:lnTo>
                  <a:lnTo>
                    <a:pt x="28955" y="2262378"/>
                  </a:lnTo>
                  <a:close/>
                </a:path>
                <a:path w="3674109" h="2277110">
                  <a:moveTo>
                    <a:pt x="28955" y="2061972"/>
                  </a:moveTo>
                  <a:lnTo>
                    <a:pt x="28955" y="1947672"/>
                  </a:lnTo>
                  <a:lnTo>
                    <a:pt x="0" y="1947672"/>
                  </a:lnTo>
                  <a:lnTo>
                    <a:pt x="0" y="2061972"/>
                  </a:lnTo>
                  <a:lnTo>
                    <a:pt x="28955" y="2061972"/>
                  </a:lnTo>
                  <a:close/>
                </a:path>
                <a:path w="3674109" h="2277110">
                  <a:moveTo>
                    <a:pt x="28955" y="1862328"/>
                  </a:moveTo>
                  <a:lnTo>
                    <a:pt x="28955" y="1748028"/>
                  </a:lnTo>
                  <a:lnTo>
                    <a:pt x="0" y="1748028"/>
                  </a:lnTo>
                  <a:lnTo>
                    <a:pt x="0" y="1862328"/>
                  </a:lnTo>
                  <a:lnTo>
                    <a:pt x="28955" y="1862328"/>
                  </a:lnTo>
                  <a:close/>
                </a:path>
                <a:path w="3674109" h="2277110">
                  <a:moveTo>
                    <a:pt x="28955" y="1662684"/>
                  </a:moveTo>
                  <a:lnTo>
                    <a:pt x="28955" y="1548384"/>
                  </a:lnTo>
                  <a:lnTo>
                    <a:pt x="0" y="1548384"/>
                  </a:lnTo>
                  <a:lnTo>
                    <a:pt x="0" y="1662684"/>
                  </a:lnTo>
                  <a:lnTo>
                    <a:pt x="28955" y="1662684"/>
                  </a:lnTo>
                  <a:close/>
                </a:path>
                <a:path w="3674109" h="2277110">
                  <a:moveTo>
                    <a:pt x="28955" y="1462278"/>
                  </a:moveTo>
                  <a:lnTo>
                    <a:pt x="28955" y="1347978"/>
                  </a:lnTo>
                  <a:lnTo>
                    <a:pt x="0" y="1347978"/>
                  </a:lnTo>
                  <a:lnTo>
                    <a:pt x="0" y="1462278"/>
                  </a:lnTo>
                  <a:lnTo>
                    <a:pt x="28955" y="1462278"/>
                  </a:lnTo>
                  <a:close/>
                </a:path>
                <a:path w="3674109" h="2277110">
                  <a:moveTo>
                    <a:pt x="28955" y="1262634"/>
                  </a:moveTo>
                  <a:lnTo>
                    <a:pt x="28955" y="1148334"/>
                  </a:lnTo>
                  <a:lnTo>
                    <a:pt x="0" y="1148334"/>
                  </a:lnTo>
                  <a:lnTo>
                    <a:pt x="0" y="1262634"/>
                  </a:lnTo>
                  <a:lnTo>
                    <a:pt x="28955" y="1262634"/>
                  </a:lnTo>
                  <a:close/>
                </a:path>
                <a:path w="3674109" h="2277110">
                  <a:moveTo>
                    <a:pt x="28955" y="1062228"/>
                  </a:moveTo>
                  <a:lnTo>
                    <a:pt x="28955" y="947928"/>
                  </a:lnTo>
                  <a:lnTo>
                    <a:pt x="0" y="947928"/>
                  </a:lnTo>
                  <a:lnTo>
                    <a:pt x="0" y="1062228"/>
                  </a:lnTo>
                  <a:lnTo>
                    <a:pt x="28955" y="1062228"/>
                  </a:lnTo>
                  <a:close/>
                </a:path>
                <a:path w="3674109" h="2277110">
                  <a:moveTo>
                    <a:pt x="28955" y="862584"/>
                  </a:moveTo>
                  <a:lnTo>
                    <a:pt x="28955" y="748284"/>
                  </a:lnTo>
                  <a:lnTo>
                    <a:pt x="0" y="748284"/>
                  </a:lnTo>
                  <a:lnTo>
                    <a:pt x="0" y="862584"/>
                  </a:lnTo>
                  <a:lnTo>
                    <a:pt x="28955" y="862584"/>
                  </a:lnTo>
                  <a:close/>
                </a:path>
                <a:path w="3674109" h="2277110">
                  <a:moveTo>
                    <a:pt x="28955" y="662178"/>
                  </a:moveTo>
                  <a:lnTo>
                    <a:pt x="28955" y="547878"/>
                  </a:lnTo>
                  <a:lnTo>
                    <a:pt x="0" y="547878"/>
                  </a:lnTo>
                  <a:lnTo>
                    <a:pt x="0" y="662178"/>
                  </a:lnTo>
                  <a:lnTo>
                    <a:pt x="28955" y="662178"/>
                  </a:lnTo>
                  <a:close/>
                </a:path>
                <a:path w="3674109" h="2277110">
                  <a:moveTo>
                    <a:pt x="28955" y="462534"/>
                  </a:moveTo>
                  <a:lnTo>
                    <a:pt x="28955" y="348234"/>
                  </a:lnTo>
                  <a:lnTo>
                    <a:pt x="0" y="348234"/>
                  </a:lnTo>
                  <a:lnTo>
                    <a:pt x="0" y="462534"/>
                  </a:lnTo>
                  <a:lnTo>
                    <a:pt x="28955" y="462534"/>
                  </a:lnTo>
                  <a:close/>
                </a:path>
                <a:path w="3674109" h="2277110">
                  <a:moveTo>
                    <a:pt x="28955" y="262128"/>
                  </a:moveTo>
                  <a:lnTo>
                    <a:pt x="28955" y="147828"/>
                  </a:lnTo>
                  <a:lnTo>
                    <a:pt x="0" y="147828"/>
                  </a:lnTo>
                  <a:lnTo>
                    <a:pt x="0" y="262128"/>
                  </a:lnTo>
                  <a:lnTo>
                    <a:pt x="28955" y="262128"/>
                  </a:lnTo>
                  <a:close/>
                </a:path>
                <a:path w="3674109" h="2277110">
                  <a:moveTo>
                    <a:pt x="80772" y="28194"/>
                  </a:moveTo>
                  <a:lnTo>
                    <a:pt x="80772" y="0"/>
                  </a:lnTo>
                  <a:lnTo>
                    <a:pt x="6858" y="0"/>
                  </a:lnTo>
                  <a:lnTo>
                    <a:pt x="0" y="6096"/>
                  </a:lnTo>
                  <a:lnTo>
                    <a:pt x="0" y="62484"/>
                  </a:lnTo>
                  <a:lnTo>
                    <a:pt x="14478" y="62484"/>
                  </a:lnTo>
                  <a:lnTo>
                    <a:pt x="14478" y="28194"/>
                  </a:lnTo>
                  <a:lnTo>
                    <a:pt x="28956" y="14478"/>
                  </a:lnTo>
                  <a:lnTo>
                    <a:pt x="28956" y="28194"/>
                  </a:lnTo>
                  <a:lnTo>
                    <a:pt x="80772" y="28194"/>
                  </a:lnTo>
                  <a:close/>
                </a:path>
                <a:path w="3674109" h="2277110">
                  <a:moveTo>
                    <a:pt x="28956" y="28194"/>
                  </a:moveTo>
                  <a:lnTo>
                    <a:pt x="28956" y="14478"/>
                  </a:lnTo>
                  <a:lnTo>
                    <a:pt x="14478" y="28194"/>
                  </a:lnTo>
                  <a:lnTo>
                    <a:pt x="28956" y="28194"/>
                  </a:lnTo>
                  <a:close/>
                </a:path>
                <a:path w="3674109" h="2277110">
                  <a:moveTo>
                    <a:pt x="28956" y="62484"/>
                  </a:moveTo>
                  <a:lnTo>
                    <a:pt x="28956" y="28194"/>
                  </a:lnTo>
                  <a:lnTo>
                    <a:pt x="14478" y="28194"/>
                  </a:lnTo>
                  <a:lnTo>
                    <a:pt x="14478" y="62484"/>
                  </a:lnTo>
                  <a:lnTo>
                    <a:pt x="28956" y="62484"/>
                  </a:lnTo>
                  <a:close/>
                </a:path>
                <a:path w="3674109" h="2277110">
                  <a:moveTo>
                    <a:pt x="280416" y="28194"/>
                  </a:moveTo>
                  <a:lnTo>
                    <a:pt x="280416" y="0"/>
                  </a:lnTo>
                  <a:lnTo>
                    <a:pt x="166116" y="0"/>
                  </a:lnTo>
                  <a:lnTo>
                    <a:pt x="166116" y="28194"/>
                  </a:lnTo>
                  <a:lnTo>
                    <a:pt x="280416" y="28194"/>
                  </a:lnTo>
                  <a:close/>
                </a:path>
                <a:path w="3674109" h="2277110">
                  <a:moveTo>
                    <a:pt x="480822" y="28194"/>
                  </a:moveTo>
                  <a:lnTo>
                    <a:pt x="480822" y="0"/>
                  </a:lnTo>
                  <a:lnTo>
                    <a:pt x="366522" y="0"/>
                  </a:lnTo>
                  <a:lnTo>
                    <a:pt x="366522" y="28194"/>
                  </a:lnTo>
                  <a:lnTo>
                    <a:pt x="480822" y="28194"/>
                  </a:lnTo>
                  <a:close/>
                </a:path>
                <a:path w="3674109" h="2277110">
                  <a:moveTo>
                    <a:pt x="680467" y="28194"/>
                  </a:moveTo>
                  <a:lnTo>
                    <a:pt x="680467" y="0"/>
                  </a:lnTo>
                  <a:lnTo>
                    <a:pt x="566166" y="0"/>
                  </a:lnTo>
                  <a:lnTo>
                    <a:pt x="566166" y="28194"/>
                  </a:lnTo>
                  <a:lnTo>
                    <a:pt x="680467" y="28194"/>
                  </a:lnTo>
                  <a:close/>
                </a:path>
                <a:path w="3674109" h="2277110">
                  <a:moveTo>
                    <a:pt x="880872" y="28194"/>
                  </a:moveTo>
                  <a:lnTo>
                    <a:pt x="880872" y="0"/>
                  </a:lnTo>
                  <a:lnTo>
                    <a:pt x="766572" y="0"/>
                  </a:lnTo>
                  <a:lnTo>
                    <a:pt x="766572" y="28194"/>
                  </a:lnTo>
                  <a:lnTo>
                    <a:pt x="880872" y="28194"/>
                  </a:lnTo>
                  <a:close/>
                </a:path>
                <a:path w="3674109" h="2277110">
                  <a:moveTo>
                    <a:pt x="1080516" y="28194"/>
                  </a:moveTo>
                  <a:lnTo>
                    <a:pt x="1080516" y="0"/>
                  </a:lnTo>
                  <a:lnTo>
                    <a:pt x="966216" y="0"/>
                  </a:lnTo>
                  <a:lnTo>
                    <a:pt x="966216" y="28194"/>
                  </a:lnTo>
                  <a:lnTo>
                    <a:pt x="1080516" y="28194"/>
                  </a:lnTo>
                  <a:close/>
                </a:path>
                <a:path w="3674109" h="2277110">
                  <a:moveTo>
                    <a:pt x="1280922" y="28194"/>
                  </a:moveTo>
                  <a:lnTo>
                    <a:pt x="1280922" y="0"/>
                  </a:lnTo>
                  <a:lnTo>
                    <a:pt x="1166622" y="0"/>
                  </a:lnTo>
                  <a:lnTo>
                    <a:pt x="1166622" y="28194"/>
                  </a:lnTo>
                  <a:lnTo>
                    <a:pt x="1280922" y="28194"/>
                  </a:lnTo>
                  <a:close/>
                </a:path>
                <a:path w="3674109" h="2277110">
                  <a:moveTo>
                    <a:pt x="1480566" y="28194"/>
                  </a:moveTo>
                  <a:lnTo>
                    <a:pt x="1480566" y="0"/>
                  </a:lnTo>
                  <a:lnTo>
                    <a:pt x="1366266" y="0"/>
                  </a:lnTo>
                  <a:lnTo>
                    <a:pt x="1366266" y="28194"/>
                  </a:lnTo>
                  <a:lnTo>
                    <a:pt x="1480566" y="28194"/>
                  </a:lnTo>
                  <a:close/>
                </a:path>
                <a:path w="3674109" h="2277110">
                  <a:moveTo>
                    <a:pt x="1680972" y="28194"/>
                  </a:moveTo>
                  <a:lnTo>
                    <a:pt x="1680972" y="0"/>
                  </a:lnTo>
                  <a:lnTo>
                    <a:pt x="1566672" y="0"/>
                  </a:lnTo>
                  <a:lnTo>
                    <a:pt x="1566672" y="28194"/>
                  </a:lnTo>
                  <a:lnTo>
                    <a:pt x="1680972" y="28194"/>
                  </a:lnTo>
                  <a:close/>
                </a:path>
                <a:path w="3674109" h="2277110">
                  <a:moveTo>
                    <a:pt x="1880616" y="28194"/>
                  </a:moveTo>
                  <a:lnTo>
                    <a:pt x="1880616" y="0"/>
                  </a:lnTo>
                  <a:lnTo>
                    <a:pt x="1766316" y="0"/>
                  </a:lnTo>
                  <a:lnTo>
                    <a:pt x="1766316" y="28194"/>
                  </a:lnTo>
                  <a:lnTo>
                    <a:pt x="1880616" y="28194"/>
                  </a:lnTo>
                  <a:close/>
                </a:path>
                <a:path w="3674109" h="2277110">
                  <a:moveTo>
                    <a:pt x="2080260" y="28194"/>
                  </a:moveTo>
                  <a:lnTo>
                    <a:pt x="2080260" y="0"/>
                  </a:lnTo>
                  <a:lnTo>
                    <a:pt x="1966722" y="0"/>
                  </a:lnTo>
                  <a:lnTo>
                    <a:pt x="1966722" y="28194"/>
                  </a:lnTo>
                  <a:lnTo>
                    <a:pt x="2080260" y="28194"/>
                  </a:lnTo>
                  <a:close/>
                </a:path>
                <a:path w="3674109" h="2277110">
                  <a:moveTo>
                    <a:pt x="2280666" y="28194"/>
                  </a:moveTo>
                  <a:lnTo>
                    <a:pt x="2280666" y="0"/>
                  </a:lnTo>
                  <a:lnTo>
                    <a:pt x="2166366" y="0"/>
                  </a:lnTo>
                  <a:lnTo>
                    <a:pt x="2166366" y="28194"/>
                  </a:lnTo>
                  <a:lnTo>
                    <a:pt x="2280666" y="28194"/>
                  </a:lnTo>
                  <a:close/>
                </a:path>
                <a:path w="3674109" h="2277110">
                  <a:moveTo>
                    <a:pt x="2480310" y="28194"/>
                  </a:moveTo>
                  <a:lnTo>
                    <a:pt x="2480310" y="0"/>
                  </a:lnTo>
                  <a:lnTo>
                    <a:pt x="2366010" y="0"/>
                  </a:lnTo>
                  <a:lnTo>
                    <a:pt x="2366010" y="28194"/>
                  </a:lnTo>
                  <a:lnTo>
                    <a:pt x="2480310" y="28194"/>
                  </a:lnTo>
                  <a:close/>
                </a:path>
                <a:path w="3674109" h="2277110">
                  <a:moveTo>
                    <a:pt x="2680716" y="28194"/>
                  </a:moveTo>
                  <a:lnTo>
                    <a:pt x="2680716" y="0"/>
                  </a:lnTo>
                  <a:lnTo>
                    <a:pt x="2566416" y="0"/>
                  </a:lnTo>
                  <a:lnTo>
                    <a:pt x="2566416" y="28194"/>
                  </a:lnTo>
                  <a:lnTo>
                    <a:pt x="2680716" y="28194"/>
                  </a:lnTo>
                  <a:close/>
                </a:path>
                <a:path w="3674109" h="2277110">
                  <a:moveTo>
                    <a:pt x="2880360" y="28194"/>
                  </a:moveTo>
                  <a:lnTo>
                    <a:pt x="2880360" y="0"/>
                  </a:lnTo>
                  <a:lnTo>
                    <a:pt x="2766060" y="0"/>
                  </a:lnTo>
                  <a:lnTo>
                    <a:pt x="2766060" y="28194"/>
                  </a:lnTo>
                  <a:lnTo>
                    <a:pt x="2880360" y="28194"/>
                  </a:lnTo>
                  <a:close/>
                </a:path>
                <a:path w="3674109" h="2277110">
                  <a:moveTo>
                    <a:pt x="3080766" y="28194"/>
                  </a:moveTo>
                  <a:lnTo>
                    <a:pt x="3080766" y="0"/>
                  </a:lnTo>
                  <a:lnTo>
                    <a:pt x="2966466" y="0"/>
                  </a:lnTo>
                  <a:lnTo>
                    <a:pt x="2966466" y="28194"/>
                  </a:lnTo>
                  <a:lnTo>
                    <a:pt x="3080766" y="28194"/>
                  </a:lnTo>
                  <a:close/>
                </a:path>
                <a:path w="3674109" h="2277110">
                  <a:moveTo>
                    <a:pt x="3280410" y="28194"/>
                  </a:moveTo>
                  <a:lnTo>
                    <a:pt x="3280410" y="0"/>
                  </a:lnTo>
                  <a:lnTo>
                    <a:pt x="3166110" y="0"/>
                  </a:lnTo>
                  <a:lnTo>
                    <a:pt x="3166110" y="28194"/>
                  </a:lnTo>
                  <a:lnTo>
                    <a:pt x="3280410" y="28194"/>
                  </a:lnTo>
                  <a:close/>
                </a:path>
                <a:path w="3674109" h="2277110">
                  <a:moveTo>
                    <a:pt x="3480816" y="28194"/>
                  </a:moveTo>
                  <a:lnTo>
                    <a:pt x="3480816" y="0"/>
                  </a:lnTo>
                  <a:lnTo>
                    <a:pt x="3366516" y="0"/>
                  </a:lnTo>
                  <a:lnTo>
                    <a:pt x="3366516" y="28194"/>
                  </a:lnTo>
                  <a:lnTo>
                    <a:pt x="3480816" y="28194"/>
                  </a:lnTo>
                  <a:close/>
                </a:path>
                <a:path w="3674109" h="2277110">
                  <a:moveTo>
                    <a:pt x="3673602" y="35814"/>
                  </a:moveTo>
                  <a:lnTo>
                    <a:pt x="3673602" y="6096"/>
                  </a:lnTo>
                  <a:lnTo>
                    <a:pt x="3666744" y="0"/>
                  </a:lnTo>
                  <a:lnTo>
                    <a:pt x="3566160" y="0"/>
                  </a:lnTo>
                  <a:lnTo>
                    <a:pt x="3566160" y="28194"/>
                  </a:lnTo>
                  <a:lnTo>
                    <a:pt x="3644646" y="28194"/>
                  </a:lnTo>
                  <a:lnTo>
                    <a:pt x="3644646" y="14478"/>
                  </a:lnTo>
                  <a:lnTo>
                    <a:pt x="3659124" y="28194"/>
                  </a:lnTo>
                  <a:lnTo>
                    <a:pt x="3659124" y="35814"/>
                  </a:lnTo>
                  <a:lnTo>
                    <a:pt x="3673602" y="35814"/>
                  </a:lnTo>
                  <a:close/>
                </a:path>
                <a:path w="3674109" h="2277110">
                  <a:moveTo>
                    <a:pt x="3659124" y="28194"/>
                  </a:moveTo>
                  <a:lnTo>
                    <a:pt x="3644646" y="14478"/>
                  </a:lnTo>
                  <a:lnTo>
                    <a:pt x="3644646" y="28194"/>
                  </a:lnTo>
                  <a:lnTo>
                    <a:pt x="3659124" y="28194"/>
                  </a:lnTo>
                  <a:close/>
                </a:path>
                <a:path w="3674109" h="2277110">
                  <a:moveTo>
                    <a:pt x="3659124" y="35814"/>
                  </a:moveTo>
                  <a:lnTo>
                    <a:pt x="3659124" y="28194"/>
                  </a:lnTo>
                  <a:lnTo>
                    <a:pt x="3644646" y="28194"/>
                  </a:lnTo>
                  <a:lnTo>
                    <a:pt x="3644646" y="35814"/>
                  </a:lnTo>
                  <a:lnTo>
                    <a:pt x="3659124" y="35814"/>
                  </a:lnTo>
                  <a:close/>
                </a:path>
                <a:path w="3674109" h="2277110">
                  <a:moveTo>
                    <a:pt x="3673602" y="236220"/>
                  </a:moveTo>
                  <a:lnTo>
                    <a:pt x="3673602" y="121920"/>
                  </a:lnTo>
                  <a:lnTo>
                    <a:pt x="3644646" y="121920"/>
                  </a:lnTo>
                  <a:lnTo>
                    <a:pt x="3644646" y="236220"/>
                  </a:lnTo>
                  <a:lnTo>
                    <a:pt x="3673602" y="236220"/>
                  </a:lnTo>
                  <a:close/>
                </a:path>
                <a:path w="3674109" h="2277110">
                  <a:moveTo>
                    <a:pt x="3673602" y="435863"/>
                  </a:moveTo>
                  <a:lnTo>
                    <a:pt x="3673602" y="321564"/>
                  </a:lnTo>
                  <a:lnTo>
                    <a:pt x="3644646" y="321564"/>
                  </a:lnTo>
                  <a:lnTo>
                    <a:pt x="3644646" y="435863"/>
                  </a:lnTo>
                  <a:lnTo>
                    <a:pt x="3673602" y="435863"/>
                  </a:lnTo>
                  <a:close/>
                </a:path>
                <a:path w="3674109" h="2277110">
                  <a:moveTo>
                    <a:pt x="3673602" y="636270"/>
                  </a:moveTo>
                  <a:lnTo>
                    <a:pt x="3673602" y="521970"/>
                  </a:lnTo>
                  <a:lnTo>
                    <a:pt x="3644646" y="521970"/>
                  </a:lnTo>
                  <a:lnTo>
                    <a:pt x="3644646" y="636270"/>
                  </a:lnTo>
                  <a:lnTo>
                    <a:pt x="3673602" y="636270"/>
                  </a:lnTo>
                  <a:close/>
                </a:path>
                <a:path w="3674109" h="2277110">
                  <a:moveTo>
                    <a:pt x="3673602" y="835914"/>
                  </a:moveTo>
                  <a:lnTo>
                    <a:pt x="3673602" y="721614"/>
                  </a:lnTo>
                  <a:lnTo>
                    <a:pt x="3644646" y="721614"/>
                  </a:lnTo>
                  <a:lnTo>
                    <a:pt x="3644646" y="835914"/>
                  </a:lnTo>
                  <a:lnTo>
                    <a:pt x="3673602" y="835914"/>
                  </a:lnTo>
                  <a:close/>
                </a:path>
                <a:path w="3674109" h="2277110">
                  <a:moveTo>
                    <a:pt x="3673602" y="1035558"/>
                  </a:moveTo>
                  <a:lnTo>
                    <a:pt x="3673602" y="921258"/>
                  </a:lnTo>
                  <a:lnTo>
                    <a:pt x="3644646" y="921258"/>
                  </a:lnTo>
                  <a:lnTo>
                    <a:pt x="3644646" y="1035558"/>
                  </a:lnTo>
                  <a:lnTo>
                    <a:pt x="3673602" y="1035558"/>
                  </a:lnTo>
                  <a:close/>
                </a:path>
                <a:path w="3674109" h="2277110">
                  <a:moveTo>
                    <a:pt x="3673602" y="1235964"/>
                  </a:moveTo>
                  <a:lnTo>
                    <a:pt x="3673602" y="1121664"/>
                  </a:lnTo>
                  <a:lnTo>
                    <a:pt x="3644646" y="1121664"/>
                  </a:lnTo>
                  <a:lnTo>
                    <a:pt x="3644646" y="1235964"/>
                  </a:lnTo>
                  <a:lnTo>
                    <a:pt x="3673602" y="1235964"/>
                  </a:lnTo>
                  <a:close/>
                </a:path>
                <a:path w="3674109" h="2277110">
                  <a:moveTo>
                    <a:pt x="3673602" y="1435608"/>
                  </a:moveTo>
                  <a:lnTo>
                    <a:pt x="3673602" y="1321308"/>
                  </a:lnTo>
                  <a:lnTo>
                    <a:pt x="3644646" y="1321308"/>
                  </a:lnTo>
                  <a:lnTo>
                    <a:pt x="3644646" y="1435608"/>
                  </a:lnTo>
                  <a:lnTo>
                    <a:pt x="3673602" y="1435608"/>
                  </a:lnTo>
                  <a:close/>
                </a:path>
                <a:path w="3674109" h="2277110">
                  <a:moveTo>
                    <a:pt x="3673602" y="1636014"/>
                  </a:moveTo>
                  <a:lnTo>
                    <a:pt x="3673602" y="1521714"/>
                  </a:lnTo>
                  <a:lnTo>
                    <a:pt x="3644646" y="1521714"/>
                  </a:lnTo>
                  <a:lnTo>
                    <a:pt x="3644646" y="1636014"/>
                  </a:lnTo>
                  <a:lnTo>
                    <a:pt x="3673602" y="1636014"/>
                  </a:lnTo>
                  <a:close/>
                </a:path>
                <a:path w="3674109" h="2277110">
                  <a:moveTo>
                    <a:pt x="3673602" y="1835658"/>
                  </a:moveTo>
                  <a:lnTo>
                    <a:pt x="3673602" y="1721358"/>
                  </a:lnTo>
                  <a:lnTo>
                    <a:pt x="3644646" y="1721358"/>
                  </a:lnTo>
                  <a:lnTo>
                    <a:pt x="3644646" y="1835658"/>
                  </a:lnTo>
                  <a:lnTo>
                    <a:pt x="3673602" y="1835658"/>
                  </a:lnTo>
                  <a:close/>
                </a:path>
                <a:path w="3674109" h="2277110">
                  <a:moveTo>
                    <a:pt x="3673602" y="2036064"/>
                  </a:moveTo>
                  <a:lnTo>
                    <a:pt x="3673602" y="1921764"/>
                  </a:lnTo>
                  <a:lnTo>
                    <a:pt x="3644646" y="1921764"/>
                  </a:lnTo>
                  <a:lnTo>
                    <a:pt x="3644646" y="2036064"/>
                  </a:lnTo>
                  <a:lnTo>
                    <a:pt x="3673602" y="2036064"/>
                  </a:lnTo>
                  <a:close/>
                </a:path>
                <a:path w="3674109" h="2277110">
                  <a:moveTo>
                    <a:pt x="3673602" y="2235708"/>
                  </a:moveTo>
                  <a:lnTo>
                    <a:pt x="3673602" y="2121408"/>
                  </a:lnTo>
                  <a:lnTo>
                    <a:pt x="3644646" y="2121408"/>
                  </a:lnTo>
                  <a:lnTo>
                    <a:pt x="3644646" y="2235708"/>
                  </a:lnTo>
                  <a:lnTo>
                    <a:pt x="3673602" y="2235708"/>
                  </a:lnTo>
                  <a:close/>
                </a:path>
                <a:path w="3674109" h="2277110">
                  <a:moveTo>
                    <a:pt x="3599688" y="2276855"/>
                  </a:moveTo>
                  <a:lnTo>
                    <a:pt x="3599688" y="2247900"/>
                  </a:lnTo>
                  <a:lnTo>
                    <a:pt x="3485388" y="2247900"/>
                  </a:lnTo>
                  <a:lnTo>
                    <a:pt x="3485388" y="2276855"/>
                  </a:lnTo>
                  <a:lnTo>
                    <a:pt x="3599688" y="2276855"/>
                  </a:lnTo>
                  <a:close/>
                </a:path>
                <a:path w="3674109" h="2277110">
                  <a:moveTo>
                    <a:pt x="3400044" y="2276855"/>
                  </a:moveTo>
                  <a:lnTo>
                    <a:pt x="3400044" y="2247900"/>
                  </a:lnTo>
                  <a:lnTo>
                    <a:pt x="3285744" y="2247900"/>
                  </a:lnTo>
                  <a:lnTo>
                    <a:pt x="3285744" y="2276855"/>
                  </a:lnTo>
                  <a:lnTo>
                    <a:pt x="3400044" y="2276855"/>
                  </a:lnTo>
                  <a:close/>
                </a:path>
                <a:path w="3674109" h="2277110">
                  <a:moveTo>
                    <a:pt x="3199638" y="2276855"/>
                  </a:moveTo>
                  <a:lnTo>
                    <a:pt x="3199638" y="2247900"/>
                  </a:lnTo>
                  <a:lnTo>
                    <a:pt x="3085338" y="2247900"/>
                  </a:lnTo>
                  <a:lnTo>
                    <a:pt x="3085338" y="2276855"/>
                  </a:lnTo>
                  <a:lnTo>
                    <a:pt x="3199638" y="2276855"/>
                  </a:lnTo>
                  <a:close/>
                </a:path>
                <a:path w="3674109" h="2277110">
                  <a:moveTo>
                    <a:pt x="2999994" y="2276855"/>
                  </a:moveTo>
                  <a:lnTo>
                    <a:pt x="2999994" y="2247900"/>
                  </a:lnTo>
                  <a:lnTo>
                    <a:pt x="2885694" y="2247900"/>
                  </a:lnTo>
                  <a:lnTo>
                    <a:pt x="2885694" y="2276855"/>
                  </a:lnTo>
                  <a:lnTo>
                    <a:pt x="2999994" y="2276855"/>
                  </a:lnTo>
                  <a:close/>
                </a:path>
                <a:path w="3674109" h="2277110">
                  <a:moveTo>
                    <a:pt x="2799588" y="2276855"/>
                  </a:moveTo>
                  <a:lnTo>
                    <a:pt x="2799588" y="2247900"/>
                  </a:lnTo>
                  <a:lnTo>
                    <a:pt x="2685288" y="2247900"/>
                  </a:lnTo>
                  <a:lnTo>
                    <a:pt x="2685288" y="2276855"/>
                  </a:lnTo>
                  <a:lnTo>
                    <a:pt x="2799588" y="2276855"/>
                  </a:lnTo>
                  <a:close/>
                </a:path>
                <a:path w="3674109" h="2277110">
                  <a:moveTo>
                    <a:pt x="2599944" y="2276855"/>
                  </a:moveTo>
                  <a:lnTo>
                    <a:pt x="2599944" y="2247900"/>
                  </a:lnTo>
                  <a:lnTo>
                    <a:pt x="2485644" y="2247900"/>
                  </a:lnTo>
                  <a:lnTo>
                    <a:pt x="2485644" y="2276855"/>
                  </a:lnTo>
                  <a:lnTo>
                    <a:pt x="2599944" y="2276855"/>
                  </a:lnTo>
                  <a:close/>
                </a:path>
                <a:path w="3674109" h="2277110">
                  <a:moveTo>
                    <a:pt x="2399538" y="2276855"/>
                  </a:moveTo>
                  <a:lnTo>
                    <a:pt x="2399538" y="2247900"/>
                  </a:lnTo>
                  <a:lnTo>
                    <a:pt x="2285238" y="2247900"/>
                  </a:lnTo>
                  <a:lnTo>
                    <a:pt x="2285238" y="2276855"/>
                  </a:lnTo>
                  <a:lnTo>
                    <a:pt x="2399538" y="2276855"/>
                  </a:lnTo>
                  <a:close/>
                </a:path>
                <a:path w="3674109" h="2277110">
                  <a:moveTo>
                    <a:pt x="2199894" y="2276855"/>
                  </a:moveTo>
                  <a:lnTo>
                    <a:pt x="2199894" y="2247900"/>
                  </a:lnTo>
                  <a:lnTo>
                    <a:pt x="2085594" y="2247900"/>
                  </a:lnTo>
                  <a:lnTo>
                    <a:pt x="2085594" y="2276855"/>
                  </a:lnTo>
                  <a:lnTo>
                    <a:pt x="2199894" y="2276855"/>
                  </a:lnTo>
                  <a:close/>
                </a:path>
                <a:path w="3674109" h="2277110">
                  <a:moveTo>
                    <a:pt x="1999488" y="2276855"/>
                  </a:moveTo>
                  <a:lnTo>
                    <a:pt x="1999488" y="2247900"/>
                  </a:lnTo>
                  <a:lnTo>
                    <a:pt x="1885188" y="2247900"/>
                  </a:lnTo>
                  <a:lnTo>
                    <a:pt x="1885188" y="2276855"/>
                  </a:lnTo>
                  <a:lnTo>
                    <a:pt x="1999488" y="2276855"/>
                  </a:lnTo>
                  <a:close/>
                </a:path>
                <a:path w="3674109" h="2277110">
                  <a:moveTo>
                    <a:pt x="1799844" y="2276855"/>
                  </a:moveTo>
                  <a:lnTo>
                    <a:pt x="1799844" y="2247900"/>
                  </a:lnTo>
                  <a:lnTo>
                    <a:pt x="1685544" y="2247900"/>
                  </a:lnTo>
                  <a:lnTo>
                    <a:pt x="1685544" y="2276855"/>
                  </a:lnTo>
                  <a:lnTo>
                    <a:pt x="1799844" y="2276855"/>
                  </a:lnTo>
                  <a:close/>
                </a:path>
                <a:path w="3674109" h="2277110">
                  <a:moveTo>
                    <a:pt x="1599438" y="2276855"/>
                  </a:moveTo>
                  <a:lnTo>
                    <a:pt x="1599438" y="2247900"/>
                  </a:lnTo>
                  <a:lnTo>
                    <a:pt x="1485138" y="2247900"/>
                  </a:lnTo>
                  <a:lnTo>
                    <a:pt x="1485138" y="2276855"/>
                  </a:lnTo>
                  <a:lnTo>
                    <a:pt x="1599438" y="2276855"/>
                  </a:lnTo>
                  <a:close/>
                </a:path>
                <a:path w="3674109" h="2277110">
                  <a:moveTo>
                    <a:pt x="1399794" y="2276855"/>
                  </a:moveTo>
                  <a:lnTo>
                    <a:pt x="1399794" y="2247900"/>
                  </a:lnTo>
                  <a:lnTo>
                    <a:pt x="1285494" y="2247900"/>
                  </a:lnTo>
                  <a:lnTo>
                    <a:pt x="1285494" y="2276855"/>
                  </a:lnTo>
                  <a:lnTo>
                    <a:pt x="1399794" y="2276855"/>
                  </a:lnTo>
                  <a:close/>
                </a:path>
                <a:path w="3674109" h="2277110">
                  <a:moveTo>
                    <a:pt x="1199388" y="2276855"/>
                  </a:moveTo>
                  <a:lnTo>
                    <a:pt x="1199388" y="2247900"/>
                  </a:lnTo>
                  <a:lnTo>
                    <a:pt x="1085088" y="2247900"/>
                  </a:lnTo>
                  <a:lnTo>
                    <a:pt x="1085088" y="2276855"/>
                  </a:lnTo>
                  <a:lnTo>
                    <a:pt x="1199388" y="2276855"/>
                  </a:lnTo>
                  <a:close/>
                </a:path>
                <a:path w="3674109" h="2277110">
                  <a:moveTo>
                    <a:pt x="999744" y="2276855"/>
                  </a:moveTo>
                  <a:lnTo>
                    <a:pt x="999744" y="2247900"/>
                  </a:lnTo>
                  <a:lnTo>
                    <a:pt x="885444" y="2247900"/>
                  </a:lnTo>
                  <a:lnTo>
                    <a:pt x="885444" y="2276855"/>
                  </a:lnTo>
                  <a:lnTo>
                    <a:pt x="999744" y="2276855"/>
                  </a:lnTo>
                  <a:close/>
                </a:path>
                <a:path w="3674109" h="2277110">
                  <a:moveTo>
                    <a:pt x="800100" y="2276855"/>
                  </a:moveTo>
                  <a:lnTo>
                    <a:pt x="800100" y="2247900"/>
                  </a:lnTo>
                  <a:lnTo>
                    <a:pt x="685800" y="2247900"/>
                  </a:lnTo>
                  <a:lnTo>
                    <a:pt x="685800" y="2276855"/>
                  </a:lnTo>
                  <a:lnTo>
                    <a:pt x="800100" y="2276855"/>
                  </a:lnTo>
                  <a:close/>
                </a:path>
                <a:path w="3674109" h="2277110">
                  <a:moveTo>
                    <a:pt x="599694" y="2276855"/>
                  </a:moveTo>
                  <a:lnTo>
                    <a:pt x="599694" y="2247900"/>
                  </a:lnTo>
                  <a:lnTo>
                    <a:pt x="485394" y="2247900"/>
                  </a:lnTo>
                  <a:lnTo>
                    <a:pt x="485394" y="2276855"/>
                  </a:lnTo>
                  <a:lnTo>
                    <a:pt x="599694" y="2276855"/>
                  </a:lnTo>
                  <a:close/>
                </a:path>
                <a:path w="3674109" h="2277110">
                  <a:moveTo>
                    <a:pt x="400050" y="2276855"/>
                  </a:moveTo>
                  <a:lnTo>
                    <a:pt x="400050" y="2247900"/>
                  </a:lnTo>
                  <a:lnTo>
                    <a:pt x="285750" y="2247900"/>
                  </a:lnTo>
                  <a:lnTo>
                    <a:pt x="285750" y="2276855"/>
                  </a:lnTo>
                  <a:lnTo>
                    <a:pt x="400050" y="2276855"/>
                  </a:lnTo>
                  <a:close/>
                </a:path>
                <a:path w="3674109" h="2277110">
                  <a:moveTo>
                    <a:pt x="199644" y="2276855"/>
                  </a:moveTo>
                  <a:lnTo>
                    <a:pt x="199644" y="2247900"/>
                  </a:lnTo>
                  <a:lnTo>
                    <a:pt x="85344" y="2247900"/>
                  </a:lnTo>
                  <a:lnTo>
                    <a:pt x="85344" y="2276855"/>
                  </a:lnTo>
                  <a:lnTo>
                    <a:pt x="199644" y="2276855"/>
                  </a:lnTo>
                  <a:close/>
                </a:path>
              </a:pathLst>
            </a:custGeom>
            <a:solidFill>
              <a:srgbClr val="FF0000"/>
            </a:solidFill>
          </p:spPr>
          <p:txBody>
            <a:bodyPr wrap="square" lIns="0" tIns="0" rIns="0" bIns="0" rtlCol="0"/>
            <a:lstStyle/>
            <a:p>
              <a:endParaRPr/>
            </a:p>
          </p:txBody>
        </p:sp>
        <p:sp>
          <p:nvSpPr>
            <p:cNvPr id="7" name="object 7"/>
            <p:cNvSpPr/>
            <p:nvPr/>
          </p:nvSpPr>
          <p:spPr>
            <a:xfrm>
              <a:off x="5259324" y="2052827"/>
              <a:ext cx="63500" cy="0"/>
            </a:xfrm>
            <a:custGeom>
              <a:avLst/>
              <a:gdLst/>
              <a:ahLst/>
              <a:cxnLst/>
              <a:rect l="l" t="t" r="r" b="b"/>
              <a:pathLst>
                <a:path w="63500">
                  <a:moveTo>
                    <a:pt x="63246" y="0"/>
                  </a:moveTo>
                  <a:lnTo>
                    <a:pt x="0" y="0"/>
                  </a:lnTo>
                </a:path>
              </a:pathLst>
            </a:custGeom>
            <a:ln w="37084">
              <a:solidFill>
                <a:srgbClr val="000000"/>
              </a:solidFill>
            </a:ln>
          </p:spPr>
          <p:txBody>
            <a:bodyPr wrap="square" lIns="0" tIns="0" rIns="0" bIns="0" rtlCol="0"/>
            <a:lstStyle/>
            <a:p>
              <a:endParaRPr/>
            </a:p>
          </p:txBody>
        </p:sp>
        <p:sp>
          <p:nvSpPr>
            <p:cNvPr id="8" name="object 8"/>
            <p:cNvSpPr/>
            <p:nvPr/>
          </p:nvSpPr>
          <p:spPr>
            <a:xfrm>
              <a:off x="5259324" y="1946909"/>
              <a:ext cx="1311910" cy="212090"/>
            </a:xfrm>
            <a:custGeom>
              <a:avLst/>
              <a:gdLst/>
              <a:ahLst/>
              <a:cxnLst/>
              <a:rect l="l" t="t" r="r" b="b"/>
              <a:pathLst>
                <a:path w="1311909" h="212089">
                  <a:moveTo>
                    <a:pt x="1247394" y="211836"/>
                  </a:moveTo>
                  <a:lnTo>
                    <a:pt x="1272182" y="203537"/>
                  </a:lnTo>
                  <a:lnTo>
                    <a:pt x="1292542" y="180879"/>
                  </a:lnTo>
                  <a:lnTo>
                    <a:pt x="1306329" y="147220"/>
                  </a:lnTo>
                  <a:lnTo>
                    <a:pt x="1311402" y="105918"/>
                  </a:lnTo>
                  <a:lnTo>
                    <a:pt x="1306329" y="64615"/>
                  </a:lnTo>
                  <a:lnTo>
                    <a:pt x="1292542" y="30956"/>
                  </a:lnTo>
                  <a:lnTo>
                    <a:pt x="1272182" y="8298"/>
                  </a:lnTo>
                  <a:lnTo>
                    <a:pt x="1247394" y="0"/>
                  </a:lnTo>
                  <a:lnTo>
                    <a:pt x="63246" y="0"/>
                  </a:lnTo>
                  <a:lnTo>
                    <a:pt x="38576" y="8298"/>
                  </a:lnTo>
                  <a:lnTo>
                    <a:pt x="18478" y="30956"/>
                  </a:lnTo>
                  <a:lnTo>
                    <a:pt x="4953" y="64615"/>
                  </a:lnTo>
                  <a:lnTo>
                    <a:pt x="0" y="105918"/>
                  </a:lnTo>
                  <a:lnTo>
                    <a:pt x="4953" y="147220"/>
                  </a:lnTo>
                  <a:lnTo>
                    <a:pt x="18478" y="180879"/>
                  </a:lnTo>
                  <a:lnTo>
                    <a:pt x="38576" y="203537"/>
                  </a:lnTo>
                  <a:lnTo>
                    <a:pt x="63246" y="211836"/>
                  </a:lnTo>
                  <a:lnTo>
                    <a:pt x="1247394" y="211836"/>
                  </a:lnTo>
                  <a:close/>
                </a:path>
              </a:pathLst>
            </a:custGeom>
            <a:ln w="37083">
              <a:solidFill>
                <a:srgbClr val="0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5304027" y="1928367"/>
              <a:ext cx="101091" cy="248919"/>
            </a:xfrm>
            <a:prstGeom prst="rect">
              <a:avLst/>
            </a:prstGeom>
          </p:spPr>
        </p:pic>
        <p:sp>
          <p:nvSpPr>
            <p:cNvPr id="10" name="object 10"/>
            <p:cNvSpPr/>
            <p:nvPr/>
          </p:nvSpPr>
          <p:spPr>
            <a:xfrm>
              <a:off x="1567434" y="1533143"/>
              <a:ext cx="0" cy="1039494"/>
            </a:xfrm>
            <a:custGeom>
              <a:avLst/>
              <a:gdLst/>
              <a:ahLst/>
              <a:cxnLst/>
              <a:rect l="l" t="t" r="r" b="b"/>
              <a:pathLst>
                <a:path h="1039494">
                  <a:moveTo>
                    <a:pt x="0" y="0"/>
                  </a:moveTo>
                  <a:lnTo>
                    <a:pt x="0" y="1039368"/>
                  </a:lnTo>
                </a:path>
              </a:pathLst>
            </a:custGeom>
            <a:ln w="37084">
              <a:solidFill>
                <a:srgbClr val="000000"/>
              </a:solidFill>
            </a:ln>
          </p:spPr>
          <p:txBody>
            <a:bodyPr wrap="square" lIns="0" tIns="0" rIns="0" bIns="0" rtlCol="0"/>
            <a:lstStyle/>
            <a:p>
              <a:endParaRPr/>
            </a:p>
          </p:txBody>
        </p:sp>
        <p:sp>
          <p:nvSpPr>
            <p:cNvPr id="11" name="object 11"/>
            <p:cNvSpPr/>
            <p:nvPr/>
          </p:nvSpPr>
          <p:spPr>
            <a:xfrm>
              <a:off x="1944623" y="1677161"/>
              <a:ext cx="0" cy="751840"/>
            </a:xfrm>
            <a:custGeom>
              <a:avLst/>
              <a:gdLst/>
              <a:ahLst/>
              <a:cxnLst/>
              <a:rect l="l" t="t" r="r" b="b"/>
              <a:pathLst>
                <a:path h="751839">
                  <a:moveTo>
                    <a:pt x="0" y="0"/>
                  </a:moveTo>
                  <a:lnTo>
                    <a:pt x="0" y="751332"/>
                  </a:lnTo>
                </a:path>
              </a:pathLst>
            </a:custGeom>
            <a:ln w="37084">
              <a:solidFill>
                <a:srgbClr val="000000"/>
              </a:solidFill>
            </a:ln>
          </p:spPr>
          <p:txBody>
            <a:bodyPr wrap="square" lIns="0" tIns="0" rIns="0" bIns="0" rtlCol="0"/>
            <a:lstStyle/>
            <a:p>
              <a:endParaRPr/>
            </a:p>
          </p:txBody>
        </p:sp>
        <p:sp>
          <p:nvSpPr>
            <p:cNvPr id="12" name="object 12"/>
            <p:cNvSpPr/>
            <p:nvPr/>
          </p:nvSpPr>
          <p:spPr>
            <a:xfrm>
              <a:off x="1567434" y="2428493"/>
              <a:ext cx="377190" cy="144145"/>
            </a:xfrm>
            <a:custGeom>
              <a:avLst/>
              <a:gdLst/>
              <a:ahLst/>
              <a:cxnLst/>
              <a:rect l="l" t="t" r="r" b="b"/>
              <a:pathLst>
                <a:path w="377189" h="144144">
                  <a:moveTo>
                    <a:pt x="377190" y="0"/>
                  </a:moveTo>
                  <a:lnTo>
                    <a:pt x="0" y="144018"/>
                  </a:lnTo>
                </a:path>
              </a:pathLst>
            </a:custGeom>
            <a:ln w="37211">
              <a:solidFill>
                <a:srgbClr val="000000"/>
              </a:solidFill>
            </a:ln>
          </p:spPr>
          <p:txBody>
            <a:bodyPr wrap="square" lIns="0" tIns="0" rIns="0" bIns="0" rtlCol="0"/>
            <a:lstStyle/>
            <a:p>
              <a:endParaRPr/>
            </a:p>
          </p:txBody>
        </p:sp>
        <p:sp>
          <p:nvSpPr>
            <p:cNvPr id="13" name="object 13"/>
            <p:cNvSpPr/>
            <p:nvPr/>
          </p:nvSpPr>
          <p:spPr>
            <a:xfrm>
              <a:off x="1567434" y="1533143"/>
              <a:ext cx="377190" cy="144145"/>
            </a:xfrm>
            <a:custGeom>
              <a:avLst/>
              <a:gdLst/>
              <a:ahLst/>
              <a:cxnLst/>
              <a:rect l="l" t="t" r="r" b="b"/>
              <a:pathLst>
                <a:path w="377189" h="144144">
                  <a:moveTo>
                    <a:pt x="0" y="0"/>
                  </a:moveTo>
                  <a:lnTo>
                    <a:pt x="377190" y="144017"/>
                  </a:lnTo>
                </a:path>
              </a:pathLst>
            </a:custGeom>
            <a:ln w="37211">
              <a:solidFill>
                <a:srgbClr val="000000"/>
              </a:solidFill>
            </a:ln>
          </p:spPr>
          <p:txBody>
            <a:bodyPr wrap="square" lIns="0" tIns="0" rIns="0" bIns="0" rtlCol="0"/>
            <a:lstStyle/>
            <a:p>
              <a:endParaRPr/>
            </a:p>
          </p:txBody>
        </p:sp>
        <p:sp>
          <p:nvSpPr>
            <p:cNvPr id="14" name="object 14"/>
            <p:cNvSpPr/>
            <p:nvPr/>
          </p:nvSpPr>
          <p:spPr>
            <a:xfrm>
              <a:off x="1341120" y="1661159"/>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5" name="object 15"/>
            <p:cNvSpPr/>
            <p:nvPr/>
          </p:nvSpPr>
          <p:spPr>
            <a:xfrm>
              <a:off x="1341120" y="1856993"/>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6" name="object 16"/>
            <p:cNvSpPr/>
            <p:nvPr/>
          </p:nvSpPr>
          <p:spPr>
            <a:xfrm>
              <a:off x="1341120" y="2052827"/>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7" name="object 17"/>
            <p:cNvSpPr/>
            <p:nvPr/>
          </p:nvSpPr>
          <p:spPr>
            <a:xfrm>
              <a:off x="1341120" y="2248661"/>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sp>
          <p:nvSpPr>
            <p:cNvPr id="18" name="object 18"/>
            <p:cNvSpPr/>
            <p:nvPr/>
          </p:nvSpPr>
          <p:spPr>
            <a:xfrm>
              <a:off x="1341120" y="2444495"/>
              <a:ext cx="226695" cy="0"/>
            </a:xfrm>
            <a:custGeom>
              <a:avLst/>
              <a:gdLst/>
              <a:ahLst/>
              <a:cxnLst/>
              <a:rect l="l" t="t" r="r" b="b"/>
              <a:pathLst>
                <a:path w="226694">
                  <a:moveTo>
                    <a:pt x="0" y="0"/>
                  </a:moveTo>
                  <a:lnTo>
                    <a:pt x="226314" y="0"/>
                  </a:lnTo>
                </a:path>
              </a:pathLst>
            </a:custGeom>
            <a:ln w="37236">
              <a:solidFill>
                <a:srgbClr val="000000"/>
              </a:solidFill>
            </a:ln>
          </p:spPr>
          <p:txBody>
            <a:bodyPr wrap="square" lIns="0" tIns="0" rIns="0" bIns="0" rtlCol="0"/>
            <a:lstStyle/>
            <a:p>
              <a:endParaRPr/>
            </a:p>
          </p:txBody>
        </p:sp>
      </p:grpSp>
      <p:sp>
        <p:nvSpPr>
          <p:cNvPr id="19" name="object 19"/>
          <p:cNvSpPr txBox="1"/>
          <p:nvPr/>
        </p:nvSpPr>
        <p:spPr>
          <a:xfrm>
            <a:off x="774445" y="1169162"/>
            <a:ext cx="355600" cy="330200"/>
          </a:xfrm>
          <a:prstGeom prst="rect">
            <a:avLst/>
          </a:prstGeom>
        </p:spPr>
        <p:txBody>
          <a:bodyPr vert="horz" wrap="square" lIns="0" tIns="12065" rIns="0" bIns="0" rtlCol="0">
            <a:spAutoFit/>
          </a:bodyPr>
          <a:lstStyle/>
          <a:p>
            <a:pPr marL="12700">
              <a:lnSpc>
                <a:spcPct val="100000"/>
              </a:lnSpc>
              <a:spcBef>
                <a:spcPts val="95"/>
              </a:spcBef>
            </a:pPr>
            <a:r>
              <a:rPr sz="2000" spc="-25" dirty="0">
                <a:solidFill>
                  <a:srgbClr val="0000FF"/>
                </a:solidFill>
                <a:latin typeface="Verdana"/>
                <a:cs typeface="Verdana"/>
              </a:rPr>
              <a:t>TX</a:t>
            </a:r>
            <a:endParaRPr sz="2000">
              <a:latin typeface="Verdana"/>
              <a:cs typeface="Verdana"/>
            </a:endParaRPr>
          </a:p>
        </p:txBody>
      </p:sp>
      <p:sp>
        <p:nvSpPr>
          <p:cNvPr id="20" name="object 20"/>
          <p:cNvSpPr txBox="1"/>
          <p:nvPr/>
        </p:nvSpPr>
        <p:spPr>
          <a:xfrm>
            <a:off x="10719307" y="1188212"/>
            <a:ext cx="376555" cy="330200"/>
          </a:xfrm>
          <a:prstGeom prst="rect">
            <a:avLst/>
          </a:prstGeom>
        </p:spPr>
        <p:txBody>
          <a:bodyPr vert="horz" wrap="square" lIns="0" tIns="12065" rIns="0" bIns="0" rtlCol="0">
            <a:spAutoFit/>
          </a:bodyPr>
          <a:lstStyle/>
          <a:p>
            <a:pPr marL="12700">
              <a:lnSpc>
                <a:spcPct val="100000"/>
              </a:lnSpc>
              <a:spcBef>
                <a:spcPts val="95"/>
              </a:spcBef>
            </a:pPr>
            <a:r>
              <a:rPr sz="2000" spc="-25" dirty="0">
                <a:solidFill>
                  <a:srgbClr val="FF0000"/>
                </a:solidFill>
                <a:latin typeface="Verdana"/>
                <a:cs typeface="Verdana"/>
              </a:rPr>
              <a:t>RX</a:t>
            </a:r>
            <a:endParaRPr sz="2000">
              <a:latin typeface="Verdana"/>
              <a:cs typeface="Verdana"/>
            </a:endParaRPr>
          </a:p>
        </p:txBody>
      </p:sp>
      <p:sp>
        <p:nvSpPr>
          <p:cNvPr id="21" name="object 21"/>
          <p:cNvSpPr txBox="1"/>
          <p:nvPr/>
        </p:nvSpPr>
        <p:spPr>
          <a:xfrm>
            <a:off x="5770626" y="1590949"/>
            <a:ext cx="300990" cy="298450"/>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Arial"/>
                <a:cs typeface="Arial"/>
              </a:rPr>
              <a:t>Z</a:t>
            </a:r>
            <a:r>
              <a:rPr sz="1725" spc="-37" baseline="-12077" dirty="0">
                <a:latin typeface="Microsoft Sans Serif"/>
                <a:cs typeface="Microsoft Sans Serif"/>
              </a:rPr>
              <a:t>L</a:t>
            </a:r>
            <a:endParaRPr sz="1725" baseline="-12077">
              <a:latin typeface="Microsoft Sans Serif"/>
              <a:cs typeface="Microsoft Sans Serif"/>
            </a:endParaRPr>
          </a:p>
        </p:txBody>
      </p:sp>
      <p:sp>
        <p:nvSpPr>
          <p:cNvPr id="22" name="object 22"/>
          <p:cNvSpPr txBox="1"/>
          <p:nvPr/>
        </p:nvSpPr>
        <p:spPr>
          <a:xfrm>
            <a:off x="1646358" y="1813691"/>
            <a:ext cx="254000" cy="489584"/>
          </a:xfrm>
          <a:prstGeom prst="rect">
            <a:avLst/>
          </a:prstGeom>
        </p:spPr>
        <p:txBody>
          <a:bodyPr vert="vert270" wrap="square" lIns="0" tIns="0" rIns="0" bIns="0" rtlCol="0">
            <a:spAutoFit/>
          </a:bodyPr>
          <a:lstStyle/>
          <a:p>
            <a:pPr marL="12700">
              <a:lnSpc>
                <a:spcPts val="1810"/>
              </a:lnSpc>
            </a:pPr>
            <a:r>
              <a:rPr sz="1800" spc="-25" dirty="0">
                <a:latin typeface="Calibri"/>
                <a:cs typeface="Calibri"/>
              </a:rPr>
              <a:t>MUX</a:t>
            </a:r>
            <a:endParaRPr sz="1800">
              <a:latin typeface="Calibri"/>
              <a:cs typeface="Calibri"/>
            </a:endParaRPr>
          </a:p>
        </p:txBody>
      </p:sp>
      <p:sp>
        <p:nvSpPr>
          <p:cNvPr id="23" name="object 23"/>
          <p:cNvSpPr/>
          <p:nvPr/>
        </p:nvSpPr>
        <p:spPr>
          <a:xfrm>
            <a:off x="1944623" y="2052827"/>
            <a:ext cx="180340" cy="0"/>
          </a:xfrm>
          <a:custGeom>
            <a:avLst/>
            <a:gdLst/>
            <a:ahLst/>
            <a:cxnLst/>
            <a:rect l="l" t="t" r="r" b="b"/>
            <a:pathLst>
              <a:path w="180339">
                <a:moveTo>
                  <a:pt x="0" y="0"/>
                </a:moveTo>
                <a:lnTo>
                  <a:pt x="179832" y="0"/>
                </a:lnTo>
              </a:path>
            </a:pathLst>
          </a:custGeom>
          <a:ln w="37236">
            <a:solidFill>
              <a:srgbClr val="000000"/>
            </a:solidFill>
          </a:ln>
        </p:spPr>
        <p:txBody>
          <a:bodyPr wrap="square" lIns="0" tIns="0" rIns="0" bIns="0" rtlCol="0"/>
          <a:lstStyle/>
          <a:p>
            <a:endParaRPr/>
          </a:p>
        </p:txBody>
      </p:sp>
      <p:sp>
        <p:nvSpPr>
          <p:cNvPr id="24" name="object 24"/>
          <p:cNvSpPr txBox="1"/>
          <p:nvPr/>
        </p:nvSpPr>
        <p:spPr>
          <a:xfrm>
            <a:off x="2124455" y="1834895"/>
            <a:ext cx="656590" cy="436245"/>
          </a:xfrm>
          <a:prstGeom prst="rect">
            <a:avLst/>
          </a:prstGeom>
          <a:solidFill>
            <a:srgbClr val="FFFFFF"/>
          </a:solidFill>
          <a:ln w="37236">
            <a:solidFill>
              <a:srgbClr val="000000"/>
            </a:solidFill>
          </a:ln>
        </p:spPr>
        <p:txBody>
          <a:bodyPr vert="horz" wrap="square" lIns="0" tIns="63500" rIns="0" bIns="0" rtlCol="0">
            <a:spAutoFit/>
          </a:bodyPr>
          <a:lstStyle/>
          <a:p>
            <a:pPr marL="176530">
              <a:lnSpc>
                <a:spcPct val="100000"/>
              </a:lnSpc>
              <a:spcBef>
                <a:spcPts val="500"/>
              </a:spcBef>
            </a:pPr>
            <a:r>
              <a:rPr sz="1800" spc="-25" dirty="0">
                <a:latin typeface="Calibri"/>
                <a:cs typeface="Calibri"/>
              </a:rPr>
              <a:t>Eq.</a:t>
            </a:r>
            <a:endParaRPr sz="1800">
              <a:latin typeface="Calibri"/>
              <a:cs typeface="Calibri"/>
            </a:endParaRPr>
          </a:p>
        </p:txBody>
      </p:sp>
      <p:grpSp>
        <p:nvGrpSpPr>
          <p:cNvPr id="25" name="object 25"/>
          <p:cNvGrpSpPr/>
          <p:nvPr/>
        </p:nvGrpSpPr>
        <p:grpSpPr>
          <a:xfrm>
            <a:off x="2950400" y="1541462"/>
            <a:ext cx="1057275" cy="1022985"/>
            <a:chOff x="2950400" y="1541462"/>
            <a:chExt cx="1057275" cy="1022985"/>
          </a:xfrm>
        </p:grpSpPr>
        <p:sp>
          <p:nvSpPr>
            <p:cNvPr id="26" name="object 26"/>
            <p:cNvSpPr/>
            <p:nvPr/>
          </p:nvSpPr>
          <p:spPr>
            <a:xfrm>
              <a:off x="2967228" y="1558290"/>
              <a:ext cx="1023619" cy="989330"/>
            </a:xfrm>
            <a:custGeom>
              <a:avLst/>
              <a:gdLst/>
              <a:ahLst/>
              <a:cxnLst/>
              <a:rect l="l" t="t" r="r" b="b"/>
              <a:pathLst>
                <a:path w="1023620" h="989330">
                  <a:moveTo>
                    <a:pt x="1023366" y="494537"/>
                  </a:moveTo>
                  <a:lnTo>
                    <a:pt x="0" y="0"/>
                  </a:lnTo>
                  <a:lnTo>
                    <a:pt x="0" y="989076"/>
                  </a:lnTo>
                  <a:lnTo>
                    <a:pt x="1023366" y="494537"/>
                  </a:lnTo>
                  <a:close/>
                </a:path>
              </a:pathLst>
            </a:custGeom>
            <a:solidFill>
              <a:srgbClr val="FFFFFF"/>
            </a:solidFill>
          </p:spPr>
          <p:txBody>
            <a:bodyPr wrap="square" lIns="0" tIns="0" rIns="0" bIns="0" rtlCol="0"/>
            <a:lstStyle/>
            <a:p>
              <a:endParaRPr/>
            </a:p>
          </p:txBody>
        </p:sp>
        <p:sp>
          <p:nvSpPr>
            <p:cNvPr id="27" name="object 27"/>
            <p:cNvSpPr/>
            <p:nvPr/>
          </p:nvSpPr>
          <p:spPr>
            <a:xfrm>
              <a:off x="2967228" y="1558290"/>
              <a:ext cx="1023619" cy="989330"/>
            </a:xfrm>
            <a:custGeom>
              <a:avLst/>
              <a:gdLst/>
              <a:ahLst/>
              <a:cxnLst/>
              <a:rect l="l" t="t" r="r" b="b"/>
              <a:pathLst>
                <a:path w="1023620" h="989330">
                  <a:moveTo>
                    <a:pt x="0" y="0"/>
                  </a:moveTo>
                  <a:lnTo>
                    <a:pt x="0" y="989076"/>
                  </a:lnTo>
                  <a:lnTo>
                    <a:pt x="1023366" y="494537"/>
                  </a:lnTo>
                  <a:lnTo>
                    <a:pt x="0" y="0"/>
                  </a:lnTo>
                  <a:close/>
                </a:path>
              </a:pathLst>
            </a:custGeom>
            <a:ln w="33096">
              <a:solidFill>
                <a:srgbClr val="000000"/>
              </a:solidFill>
            </a:ln>
          </p:spPr>
          <p:txBody>
            <a:bodyPr wrap="square" lIns="0" tIns="0" rIns="0" bIns="0" rtlCol="0"/>
            <a:lstStyle/>
            <a:p>
              <a:endParaRPr/>
            </a:p>
          </p:txBody>
        </p:sp>
      </p:grpSp>
      <p:sp>
        <p:nvSpPr>
          <p:cNvPr id="28" name="object 28"/>
          <p:cNvSpPr txBox="1"/>
          <p:nvPr/>
        </p:nvSpPr>
        <p:spPr>
          <a:xfrm>
            <a:off x="3017011" y="1887367"/>
            <a:ext cx="638175" cy="298450"/>
          </a:xfrm>
          <a:prstGeom prst="rect">
            <a:avLst/>
          </a:prstGeom>
        </p:spPr>
        <p:txBody>
          <a:bodyPr vert="horz" wrap="square" lIns="0" tIns="11430" rIns="0" bIns="0" rtlCol="0">
            <a:spAutoFit/>
          </a:bodyPr>
          <a:lstStyle/>
          <a:p>
            <a:pPr marL="12700">
              <a:lnSpc>
                <a:spcPct val="100000"/>
              </a:lnSpc>
              <a:spcBef>
                <a:spcPts val="90"/>
              </a:spcBef>
            </a:pPr>
            <a:r>
              <a:rPr sz="1800" spc="-10" dirty="0">
                <a:latin typeface="Microsoft Sans Serif"/>
                <a:cs typeface="Microsoft Sans Serif"/>
              </a:rPr>
              <a:t>Driver</a:t>
            </a:r>
            <a:endParaRPr sz="1800">
              <a:latin typeface="Microsoft Sans Serif"/>
              <a:cs typeface="Microsoft Sans Serif"/>
            </a:endParaRPr>
          </a:p>
        </p:txBody>
      </p:sp>
      <p:grpSp>
        <p:nvGrpSpPr>
          <p:cNvPr id="29" name="object 29"/>
          <p:cNvGrpSpPr/>
          <p:nvPr/>
        </p:nvGrpSpPr>
        <p:grpSpPr>
          <a:xfrm>
            <a:off x="3971861" y="1318831"/>
            <a:ext cx="1306195" cy="769620"/>
            <a:chOff x="3971861" y="1318831"/>
            <a:chExt cx="1306195" cy="769620"/>
          </a:xfrm>
        </p:grpSpPr>
        <p:sp>
          <p:nvSpPr>
            <p:cNvPr id="30" name="object 30"/>
            <p:cNvSpPr/>
            <p:nvPr/>
          </p:nvSpPr>
          <p:spPr>
            <a:xfrm>
              <a:off x="3990593" y="2052827"/>
              <a:ext cx="1268730" cy="0"/>
            </a:xfrm>
            <a:custGeom>
              <a:avLst/>
              <a:gdLst/>
              <a:ahLst/>
              <a:cxnLst/>
              <a:rect l="l" t="t" r="r" b="b"/>
              <a:pathLst>
                <a:path w="1268729">
                  <a:moveTo>
                    <a:pt x="0" y="0"/>
                  </a:moveTo>
                  <a:lnTo>
                    <a:pt x="815339" y="0"/>
                  </a:lnTo>
                </a:path>
                <a:path w="1268729">
                  <a:moveTo>
                    <a:pt x="943355" y="0"/>
                  </a:moveTo>
                  <a:lnTo>
                    <a:pt x="1268729" y="0"/>
                  </a:lnTo>
                </a:path>
              </a:pathLst>
            </a:custGeom>
            <a:ln w="37236">
              <a:solidFill>
                <a:srgbClr val="000000"/>
              </a:solidFill>
            </a:ln>
          </p:spPr>
          <p:txBody>
            <a:bodyPr wrap="square" lIns="0" tIns="0" rIns="0" bIns="0" rtlCol="0"/>
            <a:lstStyle/>
            <a:p>
              <a:endParaRPr/>
            </a:p>
          </p:txBody>
        </p:sp>
        <p:sp>
          <p:nvSpPr>
            <p:cNvPr id="31" name="object 31"/>
            <p:cNvSpPr/>
            <p:nvPr/>
          </p:nvSpPr>
          <p:spPr>
            <a:xfrm>
              <a:off x="4330445" y="1327404"/>
              <a:ext cx="0" cy="151130"/>
            </a:xfrm>
            <a:custGeom>
              <a:avLst/>
              <a:gdLst/>
              <a:ahLst/>
              <a:cxnLst/>
              <a:rect l="l" t="t" r="r" b="b"/>
              <a:pathLst>
                <a:path h="151130">
                  <a:moveTo>
                    <a:pt x="0" y="150875"/>
                  </a:moveTo>
                  <a:lnTo>
                    <a:pt x="0" y="0"/>
                  </a:lnTo>
                </a:path>
              </a:pathLst>
            </a:custGeom>
            <a:ln w="16548">
              <a:solidFill>
                <a:srgbClr val="000000"/>
              </a:solidFill>
            </a:ln>
          </p:spPr>
          <p:txBody>
            <a:bodyPr wrap="square" lIns="0" tIns="0" rIns="0" bIns="0" rtlCol="0"/>
            <a:lstStyle/>
            <a:p>
              <a:endParaRPr/>
            </a:p>
          </p:txBody>
        </p:sp>
        <p:sp>
          <p:nvSpPr>
            <p:cNvPr id="32" name="object 32"/>
            <p:cNvSpPr/>
            <p:nvPr/>
          </p:nvSpPr>
          <p:spPr>
            <a:xfrm>
              <a:off x="4255007" y="1478280"/>
              <a:ext cx="151130" cy="601345"/>
            </a:xfrm>
            <a:custGeom>
              <a:avLst/>
              <a:gdLst/>
              <a:ahLst/>
              <a:cxnLst/>
              <a:rect l="l" t="t" r="r" b="b"/>
              <a:pathLst>
                <a:path w="151129" h="601344">
                  <a:moveTo>
                    <a:pt x="75437" y="450341"/>
                  </a:moveTo>
                  <a:lnTo>
                    <a:pt x="75437" y="601217"/>
                  </a:lnTo>
                </a:path>
                <a:path w="151129" h="601344">
                  <a:moveTo>
                    <a:pt x="75437" y="450341"/>
                  </a:moveTo>
                  <a:lnTo>
                    <a:pt x="0" y="413003"/>
                  </a:lnTo>
                  <a:lnTo>
                    <a:pt x="150875" y="337565"/>
                  </a:lnTo>
                  <a:lnTo>
                    <a:pt x="0" y="262889"/>
                  </a:lnTo>
                  <a:lnTo>
                    <a:pt x="150875" y="187451"/>
                  </a:lnTo>
                  <a:lnTo>
                    <a:pt x="0" y="112775"/>
                  </a:lnTo>
                  <a:lnTo>
                    <a:pt x="150875" y="37337"/>
                  </a:lnTo>
                  <a:lnTo>
                    <a:pt x="75437" y="0"/>
                  </a:lnTo>
                </a:path>
              </a:pathLst>
            </a:custGeom>
            <a:ln w="16548">
              <a:solidFill>
                <a:srgbClr val="000000"/>
              </a:solidFill>
            </a:ln>
          </p:spPr>
          <p:txBody>
            <a:bodyPr wrap="square" lIns="0" tIns="0" rIns="0" bIns="0" rtlCol="0"/>
            <a:lstStyle/>
            <a:p>
              <a:endParaRPr/>
            </a:p>
          </p:txBody>
        </p:sp>
      </p:grpSp>
      <p:sp>
        <p:nvSpPr>
          <p:cNvPr id="33" name="object 33"/>
          <p:cNvSpPr txBox="1"/>
          <p:nvPr/>
        </p:nvSpPr>
        <p:spPr>
          <a:xfrm>
            <a:off x="4442459" y="1537609"/>
            <a:ext cx="334645" cy="298450"/>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Arial"/>
                <a:cs typeface="Arial"/>
              </a:rPr>
              <a:t>R</a:t>
            </a:r>
            <a:r>
              <a:rPr sz="1725" spc="-37" baseline="-12077" dirty="0">
                <a:latin typeface="Microsoft Sans Serif"/>
                <a:cs typeface="Microsoft Sans Serif"/>
              </a:rPr>
              <a:t>T</a:t>
            </a:r>
            <a:endParaRPr sz="1725" baseline="-12077">
              <a:latin typeface="Microsoft Sans Serif"/>
              <a:cs typeface="Microsoft Sans Serif"/>
            </a:endParaRPr>
          </a:p>
        </p:txBody>
      </p:sp>
      <p:grpSp>
        <p:nvGrpSpPr>
          <p:cNvPr id="34" name="object 34"/>
          <p:cNvGrpSpPr/>
          <p:nvPr/>
        </p:nvGrpSpPr>
        <p:grpSpPr>
          <a:xfrm>
            <a:off x="2761805" y="1308671"/>
            <a:ext cx="2180590" cy="1632585"/>
            <a:chOff x="2761805" y="1308671"/>
            <a:chExt cx="2180590" cy="1632585"/>
          </a:xfrm>
        </p:grpSpPr>
        <p:sp>
          <p:nvSpPr>
            <p:cNvPr id="35" name="object 35"/>
            <p:cNvSpPr/>
            <p:nvPr/>
          </p:nvSpPr>
          <p:spPr>
            <a:xfrm>
              <a:off x="2780537" y="2052827"/>
              <a:ext cx="186690" cy="0"/>
            </a:xfrm>
            <a:custGeom>
              <a:avLst/>
              <a:gdLst/>
              <a:ahLst/>
              <a:cxnLst/>
              <a:rect l="l" t="t" r="r" b="b"/>
              <a:pathLst>
                <a:path w="186689">
                  <a:moveTo>
                    <a:pt x="0" y="0"/>
                  </a:moveTo>
                  <a:lnTo>
                    <a:pt x="186690" y="0"/>
                  </a:lnTo>
                </a:path>
              </a:pathLst>
            </a:custGeom>
            <a:ln w="37236">
              <a:solidFill>
                <a:srgbClr val="000000"/>
              </a:solidFill>
            </a:ln>
          </p:spPr>
          <p:txBody>
            <a:bodyPr wrap="square" lIns="0" tIns="0" rIns="0" bIns="0" rtlCol="0"/>
            <a:lstStyle/>
            <a:p>
              <a:endParaRPr/>
            </a:p>
          </p:txBody>
        </p:sp>
        <p:pic>
          <p:nvPicPr>
            <p:cNvPr id="36" name="object 36"/>
            <p:cNvPicPr/>
            <p:nvPr/>
          </p:nvPicPr>
          <p:blipFill>
            <a:blip r:embed="rId3" cstate="print"/>
            <a:stretch>
              <a:fillRect/>
            </a:stretch>
          </p:blipFill>
          <p:spPr>
            <a:xfrm>
              <a:off x="4285157" y="2008301"/>
              <a:ext cx="89814" cy="89814"/>
            </a:xfrm>
            <a:prstGeom prst="rect">
              <a:avLst/>
            </a:prstGeom>
          </p:spPr>
        </p:pic>
        <p:sp>
          <p:nvSpPr>
            <p:cNvPr id="37" name="object 37"/>
            <p:cNvSpPr/>
            <p:nvPr/>
          </p:nvSpPr>
          <p:spPr>
            <a:xfrm>
              <a:off x="4255007" y="1327403"/>
              <a:ext cx="151130" cy="0"/>
            </a:xfrm>
            <a:custGeom>
              <a:avLst/>
              <a:gdLst/>
              <a:ahLst/>
              <a:cxnLst/>
              <a:rect l="l" t="t" r="r" b="b"/>
              <a:pathLst>
                <a:path w="151129">
                  <a:moveTo>
                    <a:pt x="0" y="0"/>
                  </a:moveTo>
                  <a:lnTo>
                    <a:pt x="150876" y="0"/>
                  </a:lnTo>
                </a:path>
              </a:pathLst>
            </a:custGeom>
            <a:ln w="37236">
              <a:solidFill>
                <a:srgbClr val="000000"/>
              </a:solidFill>
            </a:ln>
          </p:spPr>
          <p:txBody>
            <a:bodyPr wrap="square" lIns="0" tIns="0" rIns="0" bIns="0" rtlCol="0"/>
            <a:lstStyle/>
            <a:p>
              <a:endParaRPr/>
            </a:p>
          </p:txBody>
        </p:sp>
        <p:pic>
          <p:nvPicPr>
            <p:cNvPr id="38" name="object 38"/>
            <p:cNvPicPr/>
            <p:nvPr/>
          </p:nvPicPr>
          <p:blipFill>
            <a:blip r:embed="rId4" cstate="print"/>
            <a:stretch>
              <a:fillRect/>
            </a:stretch>
          </p:blipFill>
          <p:spPr>
            <a:xfrm>
              <a:off x="4797659" y="1980545"/>
              <a:ext cx="144564" cy="144564"/>
            </a:xfrm>
            <a:prstGeom prst="rect">
              <a:avLst/>
            </a:prstGeom>
          </p:spPr>
        </p:pic>
        <p:sp>
          <p:nvSpPr>
            <p:cNvPr id="39" name="object 39"/>
            <p:cNvSpPr/>
            <p:nvPr/>
          </p:nvSpPr>
          <p:spPr>
            <a:xfrm>
              <a:off x="3454907" y="2302763"/>
              <a:ext cx="0" cy="619760"/>
            </a:xfrm>
            <a:custGeom>
              <a:avLst/>
              <a:gdLst/>
              <a:ahLst/>
              <a:cxnLst/>
              <a:rect l="l" t="t" r="r" b="b"/>
              <a:pathLst>
                <a:path h="619760">
                  <a:moveTo>
                    <a:pt x="0" y="0"/>
                  </a:moveTo>
                  <a:lnTo>
                    <a:pt x="0" y="619506"/>
                  </a:lnTo>
                </a:path>
              </a:pathLst>
            </a:custGeom>
            <a:ln w="37083">
              <a:solidFill>
                <a:srgbClr val="000000"/>
              </a:solidFill>
            </a:ln>
          </p:spPr>
          <p:txBody>
            <a:bodyPr wrap="square" lIns="0" tIns="0" rIns="0" bIns="0" rtlCol="0"/>
            <a:lstStyle/>
            <a:p>
              <a:endParaRPr/>
            </a:p>
          </p:txBody>
        </p:sp>
      </p:grpSp>
      <p:sp>
        <p:nvSpPr>
          <p:cNvPr id="40" name="object 40"/>
          <p:cNvSpPr txBox="1"/>
          <p:nvPr/>
        </p:nvSpPr>
        <p:spPr>
          <a:xfrm>
            <a:off x="3127248" y="2922270"/>
            <a:ext cx="656590" cy="436245"/>
          </a:xfrm>
          <a:prstGeom prst="rect">
            <a:avLst/>
          </a:prstGeom>
          <a:solidFill>
            <a:srgbClr val="FFFFFF"/>
          </a:solidFill>
          <a:ln w="37236">
            <a:solidFill>
              <a:srgbClr val="000000"/>
            </a:solidFill>
          </a:ln>
        </p:spPr>
        <p:txBody>
          <a:bodyPr vert="horz" wrap="square" lIns="0" tIns="64135" rIns="0" bIns="0" rtlCol="0">
            <a:spAutoFit/>
          </a:bodyPr>
          <a:lstStyle/>
          <a:p>
            <a:pPr marL="174625">
              <a:lnSpc>
                <a:spcPct val="100000"/>
              </a:lnSpc>
              <a:spcBef>
                <a:spcPts val="505"/>
              </a:spcBef>
            </a:pPr>
            <a:r>
              <a:rPr sz="1800" spc="-25" dirty="0">
                <a:latin typeface="Calibri"/>
                <a:cs typeface="Calibri"/>
              </a:rPr>
              <a:t>PLL</a:t>
            </a:r>
            <a:endParaRPr sz="1800">
              <a:latin typeface="Calibri"/>
              <a:cs typeface="Calibri"/>
            </a:endParaRPr>
          </a:p>
        </p:txBody>
      </p:sp>
      <p:grpSp>
        <p:nvGrpSpPr>
          <p:cNvPr id="41" name="object 41"/>
          <p:cNvGrpSpPr/>
          <p:nvPr/>
        </p:nvGrpSpPr>
        <p:grpSpPr>
          <a:xfrm>
            <a:off x="1683575" y="1514411"/>
            <a:ext cx="8824595" cy="1258570"/>
            <a:chOff x="1683575" y="1514411"/>
            <a:chExt cx="8824595" cy="1258570"/>
          </a:xfrm>
        </p:grpSpPr>
        <p:pic>
          <p:nvPicPr>
            <p:cNvPr id="42" name="object 42"/>
            <p:cNvPicPr/>
            <p:nvPr/>
          </p:nvPicPr>
          <p:blipFill>
            <a:blip r:embed="rId5" cstate="print"/>
            <a:stretch>
              <a:fillRect/>
            </a:stretch>
          </p:blipFill>
          <p:spPr>
            <a:xfrm>
              <a:off x="3410381" y="2682671"/>
              <a:ext cx="89814" cy="89814"/>
            </a:xfrm>
            <a:prstGeom prst="rect">
              <a:avLst/>
            </a:prstGeom>
          </p:spPr>
        </p:pic>
        <p:sp>
          <p:nvSpPr>
            <p:cNvPr id="43" name="object 43"/>
            <p:cNvSpPr/>
            <p:nvPr/>
          </p:nvSpPr>
          <p:spPr>
            <a:xfrm>
              <a:off x="1702308" y="2723388"/>
              <a:ext cx="1727835" cy="8890"/>
            </a:xfrm>
            <a:custGeom>
              <a:avLst/>
              <a:gdLst/>
              <a:ahLst/>
              <a:cxnLst/>
              <a:rect l="l" t="t" r="r" b="b"/>
              <a:pathLst>
                <a:path w="1727835" h="8889">
                  <a:moveTo>
                    <a:pt x="0" y="0"/>
                  </a:moveTo>
                  <a:lnTo>
                    <a:pt x="1727454" y="8381"/>
                  </a:lnTo>
                </a:path>
              </a:pathLst>
            </a:custGeom>
            <a:ln w="37236">
              <a:solidFill>
                <a:srgbClr val="000000"/>
              </a:solidFill>
            </a:ln>
          </p:spPr>
          <p:txBody>
            <a:bodyPr wrap="square" lIns="0" tIns="0" rIns="0" bIns="0" rtlCol="0"/>
            <a:lstStyle/>
            <a:p>
              <a:endParaRPr/>
            </a:p>
          </p:txBody>
        </p:sp>
        <p:sp>
          <p:nvSpPr>
            <p:cNvPr id="44" name="object 44"/>
            <p:cNvSpPr/>
            <p:nvPr/>
          </p:nvSpPr>
          <p:spPr>
            <a:xfrm>
              <a:off x="1702308" y="2521458"/>
              <a:ext cx="0" cy="201930"/>
            </a:xfrm>
            <a:custGeom>
              <a:avLst/>
              <a:gdLst/>
              <a:ahLst/>
              <a:cxnLst/>
              <a:rect l="l" t="t" r="r" b="b"/>
              <a:pathLst>
                <a:path h="201930">
                  <a:moveTo>
                    <a:pt x="0" y="0"/>
                  </a:moveTo>
                  <a:lnTo>
                    <a:pt x="0" y="201930"/>
                  </a:lnTo>
                </a:path>
              </a:pathLst>
            </a:custGeom>
            <a:ln w="37084">
              <a:solidFill>
                <a:srgbClr val="000000"/>
              </a:solidFill>
            </a:ln>
          </p:spPr>
          <p:txBody>
            <a:bodyPr wrap="square" lIns="0" tIns="0" rIns="0" bIns="0" rtlCol="0"/>
            <a:lstStyle/>
            <a:p>
              <a:endParaRPr/>
            </a:p>
          </p:txBody>
        </p:sp>
        <p:sp>
          <p:nvSpPr>
            <p:cNvPr id="45" name="object 45"/>
            <p:cNvSpPr/>
            <p:nvPr/>
          </p:nvSpPr>
          <p:spPr>
            <a:xfrm>
              <a:off x="10262616" y="1533144"/>
              <a:ext cx="0" cy="1039494"/>
            </a:xfrm>
            <a:custGeom>
              <a:avLst/>
              <a:gdLst/>
              <a:ahLst/>
              <a:cxnLst/>
              <a:rect l="l" t="t" r="r" b="b"/>
              <a:pathLst>
                <a:path h="1039494">
                  <a:moveTo>
                    <a:pt x="0" y="0"/>
                  </a:moveTo>
                  <a:lnTo>
                    <a:pt x="0" y="1039368"/>
                  </a:lnTo>
                </a:path>
              </a:pathLst>
            </a:custGeom>
            <a:ln w="37084">
              <a:solidFill>
                <a:srgbClr val="000000"/>
              </a:solidFill>
            </a:ln>
          </p:spPr>
          <p:txBody>
            <a:bodyPr wrap="square" lIns="0" tIns="0" rIns="0" bIns="0" rtlCol="0"/>
            <a:lstStyle/>
            <a:p>
              <a:endParaRPr/>
            </a:p>
          </p:txBody>
        </p:sp>
        <p:sp>
          <p:nvSpPr>
            <p:cNvPr id="46" name="object 46"/>
            <p:cNvSpPr/>
            <p:nvPr/>
          </p:nvSpPr>
          <p:spPr>
            <a:xfrm>
              <a:off x="9885426" y="1677162"/>
              <a:ext cx="0" cy="751840"/>
            </a:xfrm>
            <a:custGeom>
              <a:avLst/>
              <a:gdLst/>
              <a:ahLst/>
              <a:cxnLst/>
              <a:rect l="l" t="t" r="r" b="b"/>
              <a:pathLst>
                <a:path h="751839">
                  <a:moveTo>
                    <a:pt x="0" y="0"/>
                  </a:moveTo>
                  <a:lnTo>
                    <a:pt x="0" y="751332"/>
                  </a:lnTo>
                </a:path>
              </a:pathLst>
            </a:custGeom>
            <a:ln w="37084">
              <a:solidFill>
                <a:srgbClr val="000000"/>
              </a:solidFill>
            </a:ln>
          </p:spPr>
          <p:txBody>
            <a:bodyPr wrap="square" lIns="0" tIns="0" rIns="0" bIns="0" rtlCol="0"/>
            <a:lstStyle/>
            <a:p>
              <a:endParaRPr/>
            </a:p>
          </p:txBody>
        </p:sp>
        <p:sp>
          <p:nvSpPr>
            <p:cNvPr id="47" name="object 47"/>
            <p:cNvSpPr/>
            <p:nvPr/>
          </p:nvSpPr>
          <p:spPr>
            <a:xfrm>
              <a:off x="9885426" y="2428494"/>
              <a:ext cx="377190" cy="144145"/>
            </a:xfrm>
            <a:custGeom>
              <a:avLst/>
              <a:gdLst/>
              <a:ahLst/>
              <a:cxnLst/>
              <a:rect l="l" t="t" r="r" b="b"/>
              <a:pathLst>
                <a:path w="377190" h="144144">
                  <a:moveTo>
                    <a:pt x="0" y="0"/>
                  </a:moveTo>
                  <a:lnTo>
                    <a:pt x="377190" y="144017"/>
                  </a:lnTo>
                </a:path>
              </a:pathLst>
            </a:custGeom>
            <a:ln w="37211">
              <a:solidFill>
                <a:srgbClr val="000000"/>
              </a:solidFill>
            </a:ln>
          </p:spPr>
          <p:txBody>
            <a:bodyPr wrap="square" lIns="0" tIns="0" rIns="0" bIns="0" rtlCol="0"/>
            <a:lstStyle/>
            <a:p>
              <a:endParaRPr/>
            </a:p>
          </p:txBody>
        </p:sp>
        <p:sp>
          <p:nvSpPr>
            <p:cNvPr id="48" name="object 48"/>
            <p:cNvSpPr/>
            <p:nvPr/>
          </p:nvSpPr>
          <p:spPr>
            <a:xfrm>
              <a:off x="9885426" y="1533144"/>
              <a:ext cx="377190" cy="144145"/>
            </a:xfrm>
            <a:custGeom>
              <a:avLst/>
              <a:gdLst/>
              <a:ahLst/>
              <a:cxnLst/>
              <a:rect l="l" t="t" r="r" b="b"/>
              <a:pathLst>
                <a:path w="377190" h="144144">
                  <a:moveTo>
                    <a:pt x="377190" y="0"/>
                  </a:moveTo>
                  <a:lnTo>
                    <a:pt x="0" y="144018"/>
                  </a:lnTo>
                </a:path>
              </a:pathLst>
            </a:custGeom>
            <a:ln w="37211">
              <a:solidFill>
                <a:srgbClr val="000000"/>
              </a:solidFill>
            </a:ln>
          </p:spPr>
          <p:txBody>
            <a:bodyPr wrap="square" lIns="0" tIns="0" rIns="0" bIns="0" rtlCol="0"/>
            <a:lstStyle/>
            <a:p>
              <a:endParaRPr/>
            </a:p>
          </p:txBody>
        </p:sp>
        <p:sp>
          <p:nvSpPr>
            <p:cNvPr id="49" name="object 49"/>
            <p:cNvSpPr/>
            <p:nvPr/>
          </p:nvSpPr>
          <p:spPr>
            <a:xfrm>
              <a:off x="10262616" y="1661160"/>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0" name="object 50"/>
            <p:cNvSpPr/>
            <p:nvPr/>
          </p:nvSpPr>
          <p:spPr>
            <a:xfrm>
              <a:off x="10262616" y="1856994"/>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1" name="object 51"/>
            <p:cNvSpPr/>
            <p:nvPr/>
          </p:nvSpPr>
          <p:spPr>
            <a:xfrm>
              <a:off x="10262616" y="2052828"/>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2" name="object 52"/>
            <p:cNvSpPr/>
            <p:nvPr/>
          </p:nvSpPr>
          <p:spPr>
            <a:xfrm>
              <a:off x="10262616" y="2248662"/>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sp>
          <p:nvSpPr>
            <p:cNvPr id="53" name="object 53"/>
            <p:cNvSpPr/>
            <p:nvPr/>
          </p:nvSpPr>
          <p:spPr>
            <a:xfrm>
              <a:off x="10262616" y="2444496"/>
              <a:ext cx="226695" cy="0"/>
            </a:xfrm>
            <a:custGeom>
              <a:avLst/>
              <a:gdLst/>
              <a:ahLst/>
              <a:cxnLst/>
              <a:rect l="l" t="t" r="r" b="b"/>
              <a:pathLst>
                <a:path w="226695">
                  <a:moveTo>
                    <a:pt x="226314" y="0"/>
                  </a:moveTo>
                  <a:lnTo>
                    <a:pt x="0" y="0"/>
                  </a:lnTo>
                </a:path>
              </a:pathLst>
            </a:custGeom>
            <a:ln w="37236">
              <a:solidFill>
                <a:srgbClr val="000000"/>
              </a:solidFill>
            </a:ln>
          </p:spPr>
          <p:txBody>
            <a:bodyPr wrap="square" lIns="0" tIns="0" rIns="0" bIns="0" rtlCol="0"/>
            <a:lstStyle/>
            <a:p>
              <a:endParaRPr/>
            </a:p>
          </p:txBody>
        </p:sp>
      </p:grpSp>
      <p:sp>
        <p:nvSpPr>
          <p:cNvPr id="54" name="object 54"/>
          <p:cNvSpPr txBox="1"/>
          <p:nvPr/>
        </p:nvSpPr>
        <p:spPr>
          <a:xfrm>
            <a:off x="9964350" y="1683606"/>
            <a:ext cx="254000" cy="747395"/>
          </a:xfrm>
          <a:prstGeom prst="rect">
            <a:avLst/>
          </a:prstGeom>
        </p:spPr>
        <p:txBody>
          <a:bodyPr vert="vert270" wrap="square" lIns="0" tIns="0" rIns="0" bIns="0" rtlCol="0">
            <a:spAutoFit/>
          </a:bodyPr>
          <a:lstStyle/>
          <a:p>
            <a:pPr marL="12700">
              <a:lnSpc>
                <a:spcPts val="1810"/>
              </a:lnSpc>
            </a:pPr>
            <a:r>
              <a:rPr sz="1800" spc="-10" dirty="0">
                <a:latin typeface="Calibri"/>
                <a:cs typeface="Calibri"/>
              </a:rPr>
              <a:t>DEMUX</a:t>
            </a:r>
            <a:endParaRPr sz="1800">
              <a:latin typeface="Calibri"/>
              <a:cs typeface="Calibri"/>
            </a:endParaRPr>
          </a:p>
        </p:txBody>
      </p:sp>
      <p:grpSp>
        <p:nvGrpSpPr>
          <p:cNvPr id="55" name="object 55"/>
          <p:cNvGrpSpPr/>
          <p:nvPr/>
        </p:nvGrpSpPr>
        <p:grpSpPr>
          <a:xfrm>
            <a:off x="6551993" y="1318831"/>
            <a:ext cx="3352165" cy="769620"/>
            <a:chOff x="6551993" y="1318831"/>
            <a:chExt cx="3352165" cy="769620"/>
          </a:xfrm>
        </p:grpSpPr>
        <p:sp>
          <p:nvSpPr>
            <p:cNvPr id="56" name="object 56"/>
            <p:cNvSpPr/>
            <p:nvPr/>
          </p:nvSpPr>
          <p:spPr>
            <a:xfrm>
              <a:off x="9569958" y="2052066"/>
              <a:ext cx="315595" cy="0"/>
            </a:xfrm>
            <a:custGeom>
              <a:avLst/>
              <a:gdLst/>
              <a:ahLst/>
              <a:cxnLst/>
              <a:rect l="l" t="t" r="r" b="b"/>
              <a:pathLst>
                <a:path w="315595">
                  <a:moveTo>
                    <a:pt x="315468" y="0"/>
                  </a:moveTo>
                  <a:lnTo>
                    <a:pt x="0" y="0"/>
                  </a:lnTo>
                </a:path>
              </a:pathLst>
            </a:custGeom>
            <a:ln w="37236">
              <a:solidFill>
                <a:srgbClr val="000000"/>
              </a:solidFill>
            </a:ln>
          </p:spPr>
          <p:txBody>
            <a:bodyPr wrap="square" lIns="0" tIns="0" rIns="0" bIns="0" rtlCol="0"/>
            <a:lstStyle/>
            <a:p>
              <a:endParaRPr/>
            </a:p>
          </p:txBody>
        </p:sp>
        <p:sp>
          <p:nvSpPr>
            <p:cNvPr id="57" name="object 57"/>
            <p:cNvSpPr/>
            <p:nvPr/>
          </p:nvSpPr>
          <p:spPr>
            <a:xfrm>
              <a:off x="6570726" y="2052827"/>
              <a:ext cx="1271270" cy="0"/>
            </a:xfrm>
            <a:custGeom>
              <a:avLst/>
              <a:gdLst/>
              <a:ahLst/>
              <a:cxnLst/>
              <a:rect l="l" t="t" r="r" b="b"/>
              <a:pathLst>
                <a:path w="1271270">
                  <a:moveTo>
                    <a:pt x="0" y="0"/>
                  </a:moveTo>
                  <a:lnTo>
                    <a:pt x="324612" y="0"/>
                  </a:lnTo>
                </a:path>
                <a:path w="1271270">
                  <a:moveTo>
                    <a:pt x="453390" y="0"/>
                  </a:moveTo>
                  <a:lnTo>
                    <a:pt x="1271016" y="0"/>
                  </a:lnTo>
                </a:path>
              </a:pathLst>
            </a:custGeom>
            <a:ln w="37236">
              <a:solidFill>
                <a:srgbClr val="000000"/>
              </a:solidFill>
            </a:ln>
          </p:spPr>
          <p:txBody>
            <a:bodyPr wrap="square" lIns="0" tIns="0" rIns="0" bIns="0" rtlCol="0"/>
            <a:lstStyle/>
            <a:p>
              <a:endParaRPr/>
            </a:p>
          </p:txBody>
        </p:sp>
        <p:sp>
          <p:nvSpPr>
            <p:cNvPr id="58" name="object 58"/>
            <p:cNvSpPr/>
            <p:nvPr/>
          </p:nvSpPr>
          <p:spPr>
            <a:xfrm>
              <a:off x="7499604" y="1327404"/>
              <a:ext cx="0" cy="151130"/>
            </a:xfrm>
            <a:custGeom>
              <a:avLst/>
              <a:gdLst/>
              <a:ahLst/>
              <a:cxnLst/>
              <a:rect l="l" t="t" r="r" b="b"/>
              <a:pathLst>
                <a:path h="151130">
                  <a:moveTo>
                    <a:pt x="0" y="150875"/>
                  </a:moveTo>
                  <a:lnTo>
                    <a:pt x="0" y="0"/>
                  </a:lnTo>
                </a:path>
              </a:pathLst>
            </a:custGeom>
            <a:ln w="16548">
              <a:solidFill>
                <a:srgbClr val="000000"/>
              </a:solidFill>
            </a:ln>
          </p:spPr>
          <p:txBody>
            <a:bodyPr wrap="square" lIns="0" tIns="0" rIns="0" bIns="0" rtlCol="0"/>
            <a:lstStyle/>
            <a:p>
              <a:endParaRPr/>
            </a:p>
          </p:txBody>
        </p:sp>
        <p:sp>
          <p:nvSpPr>
            <p:cNvPr id="59" name="object 59"/>
            <p:cNvSpPr/>
            <p:nvPr/>
          </p:nvSpPr>
          <p:spPr>
            <a:xfrm>
              <a:off x="7424166" y="1478280"/>
              <a:ext cx="151130" cy="601345"/>
            </a:xfrm>
            <a:custGeom>
              <a:avLst/>
              <a:gdLst/>
              <a:ahLst/>
              <a:cxnLst/>
              <a:rect l="l" t="t" r="r" b="b"/>
              <a:pathLst>
                <a:path w="151129" h="601344">
                  <a:moveTo>
                    <a:pt x="75438" y="450341"/>
                  </a:moveTo>
                  <a:lnTo>
                    <a:pt x="75438" y="601217"/>
                  </a:lnTo>
                </a:path>
                <a:path w="151129" h="601344">
                  <a:moveTo>
                    <a:pt x="75438" y="450341"/>
                  </a:moveTo>
                  <a:lnTo>
                    <a:pt x="150876" y="413003"/>
                  </a:lnTo>
                  <a:lnTo>
                    <a:pt x="0" y="337565"/>
                  </a:lnTo>
                  <a:lnTo>
                    <a:pt x="150876" y="262889"/>
                  </a:lnTo>
                  <a:lnTo>
                    <a:pt x="0" y="187451"/>
                  </a:lnTo>
                  <a:lnTo>
                    <a:pt x="150876" y="112775"/>
                  </a:lnTo>
                  <a:lnTo>
                    <a:pt x="0" y="37337"/>
                  </a:lnTo>
                  <a:lnTo>
                    <a:pt x="75438" y="0"/>
                  </a:lnTo>
                </a:path>
              </a:pathLst>
            </a:custGeom>
            <a:ln w="16548">
              <a:solidFill>
                <a:srgbClr val="000000"/>
              </a:solidFill>
            </a:ln>
          </p:spPr>
          <p:txBody>
            <a:bodyPr wrap="square" lIns="0" tIns="0" rIns="0" bIns="0" rtlCol="0"/>
            <a:lstStyle/>
            <a:p>
              <a:endParaRPr/>
            </a:p>
          </p:txBody>
        </p:sp>
      </p:grpSp>
      <p:sp>
        <p:nvSpPr>
          <p:cNvPr id="60" name="object 60"/>
          <p:cNvSpPr txBox="1"/>
          <p:nvPr/>
        </p:nvSpPr>
        <p:spPr>
          <a:xfrm>
            <a:off x="7061454" y="1537609"/>
            <a:ext cx="334645" cy="298450"/>
          </a:xfrm>
          <a:prstGeom prst="rect">
            <a:avLst/>
          </a:prstGeom>
        </p:spPr>
        <p:txBody>
          <a:bodyPr vert="horz" wrap="square" lIns="0" tIns="11430" rIns="0" bIns="0" rtlCol="0">
            <a:spAutoFit/>
          </a:bodyPr>
          <a:lstStyle/>
          <a:p>
            <a:pPr marL="38100">
              <a:lnSpc>
                <a:spcPct val="100000"/>
              </a:lnSpc>
              <a:spcBef>
                <a:spcPts val="90"/>
              </a:spcBef>
            </a:pPr>
            <a:r>
              <a:rPr sz="1800" i="1" spc="-25" dirty="0">
                <a:latin typeface="Arial"/>
                <a:cs typeface="Arial"/>
              </a:rPr>
              <a:t>R</a:t>
            </a:r>
            <a:r>
              <a:rPr sz="1725" spc="-37" baseline="-12077" dirty="0">
                <a:latin typeface="Microsoft Sans Serif"/>
                <a:cs typeface="Microsoft Sans Serif"/>
              </a:rPr>
              <a:t>T</a:t>
            </a:r>
            <a:endParaRPr sz="1725" baseline="-12077">
              <a:latin typeface="Microsoft Sans Serif"/>
              <a:cs typeface="Microsoft Sans Serif"/>
            </a:endParaRPr>
          </a:p>
        </p:txBody>
      </p:sp>
      <p:grpSp>
        <p:nvGrpSpPr>
          <p:cNvPr id="61" name="object 61"/>
          <p:cNvGrpSpPr/>
          <p:nvPr/>
        </p:nvGrpSpPr>
        <p:grpSpPr>
          <a:xfrm>
            <a:off x="6887064" y="1308671"/>
            <a:ext cx="2160905" cy="1416050"/>
            <a:chOff x="6887064" y="1308671"/>
            <a:chExt cx="2160905" cy="1416050"/>
          </a:xfrm>
        </p:grpSpPr>
        <p:sp>
          <p:nvSpPr>
            <p:cNvPr id="62" name="object 62"/>
            <p:cNvSpPr/>
            <p:nvPr/>
          </p:nvSpPr>
          <p:spPr>
            <a:xfrm>
              <a:off x="8497824" y="2052446"/>
              <a:ext cx="530860" cy="0"/>
            </a:xfrm>
            <a:custGeom>
              <a:avLst/>
              <a:gdLst/>
              <a:ahLst/>
              <a:cxnLst/>
              <a:rect l="l" t="t" r="r" b="b"/>
              <a:pathLst>
                <a:path w="530859">
                  <a:moveTo>
                    <a:pt x="0" y="0"/>
                  </a:moveTo>
                  <a:lnTo>
                    <a:pt x="530682" y="0"/>
                  </a:lnTo>
                </a:path>
              </a:pathLst>
            </a:custGeom>
            <a:ln w="37998">
              <a:solidFill>
                <a:srgbClr val="000000"/>
              </a:solidFill>
            </a:ln>
          </p:spPr>
          <p:txBody>
            <a:bodyPr wrap="square" lIns="0" tIns="0" rIns="0" bIns="0" rtlCol="0"/>
            <a:lstStyle/>
            <a:p>
              <a:endParaRPr/>
            </a:p>
          </p:txBody>
        </p:sp>
        <p:pic>
          <p:nvPicPr>
            <p:cNvPr id="63" name="object 63"/>
            <p:cNvPicPr/>
            <p:nvPr/>
          </p:nvPicPr>
          <p:blipFill>
            <a:blip r:embed="rId6" cstate="print"/>
            <a:stretch>
              <a:fillRect/>
            </a:stretch>
          </p:blipFill>
          <p:spPr>
            <a:xfrm>
              <a:off x="7454315" y="2008301"/>
              <a:ext cx="89814" cy="89814"/>
            </a:xfrm>
            <a:prstGeom prst="rect">
              <a:avLst/>
            </a:prstGeom>
          </p:spPr>
        </p:pic>
        <p:sp>
          <p:nvSpPr>
            <p:cNvPr id="64" name="object 64"/>
            <p:cNvSpPr/>
            <p:nvPr/>
          </p:nvSpPr>
          <p:spPr>
            <a:xfrm>
              <a:off x="7424166" y="1327403"/>
              <a:ext cx="151130" cy="0"/>
            </a:xfrm>
            <a:custGeom>
              <a:avLst/>
              <a:gdLst/>
              <a:ahLst/>
              <a:cxnLst/>
              <a:rect l="l" t="t" r="r" b="b"/>
              <a:pathLst>
                <a:path w="151129">
                  <a:moveTo>
                    <a:pt x="150875" y="0"/>
                  </a:moveTo>
                  <a:lnTo>
                    <a:pt x="0" y="0"/>
                  </a:lnTo>
                </a:path>
              </a:pathLst>
            </a:custGeom>
            <a:ln w="37236">
              <a:solidFill>
                <a:srgbClr val="000000"/>
              </a:solidFill>
            </a:ln>
          </p:spPr>
          <p:txBody>
            <a:bodyPr wrap="square" lIns="0" tIns="0" rIns="0" bIns="0" rtlCol="0"/>
            <a:lstStyle/>
            <a:p>
              <a:endParaRPr/>
            </a:p>
          </p:txBody>
        </p:sp>
        <p:pic>
          <p:nvPicPr>
            <p:cNvPr id="65" name="object 65"/>
            <p:cNvPicPr/>
            <p:nvPr/>
          </p:nvPicPr>
          <p:blipFill>
            <a:blip r:embed="rId7" cstate="print"/>
            <a:stretch>
              <a:fillRect/>
            </a:stretch>
          </p:blipFill>
          <p:spPr>
            <a:xfrm>
              <a:off x="6887064" y="1980545"/>
              <a:ext cx="145326" cy="144564"/>
            </a:xfrm>
            <a:prstGeom prst="rect">
              <a:avLst/>
            </a:prstGeom>
          </p:spPr>
        </p:pic>
        <p:sp>
          <p:nvSpPr>
            <p:cNvPr id="66" name="object 66"/>
            <p:cNvSpPr/>
            <p:nvPr/>
          </p:nvSpPr>
          <p:spPr>
            <a:xfrm>
              <a:off x="8681466" y="2052065"/>
              <a:ext cx="0" cy="654050"/>
            </a:xfrm>
            <a:custGeom>
              <a:avLst/>
              <a:gdLst/>
              <a:ahLst/>
              <a:cxnLst/>
              <a:rect l="l" t="t" r="r" b="b"/>
              <a:pathLst>
                <a:path h="654050">
                  <a:moveTo>
                    <a:pt x="0" y="0"/>
                  </a:moveTo>
                  <a:lnTo>
                    <a:pt x="0" y="653796"/>
                  </a:lnTo>
                </a:path>
              </a:pathLst>
            </a:custGeom>
            <a:ln w="37084">
              <a:solidFill>
                <a:srgbClr val="000000"/>
              </a:solidFill>
            </a:ln>
          </p:spPr>
          <p:txBody>
            <a:bodyPr wrap="square" lIns="0" tIns="0" rIns="0" bIns="0" rtlCol="0"/>
            <a:lstStyle/>
            <a:p>
              <a:endParaRPr/>
            </a:p>
          </p:txBody>
        </p:sp>
      </p:grpSp>
      <p:sp>
        <p:nvSpPr>
          <p:cNvPr id="67" name="object 67"/>
          <p:cNvSpPr txBox="1"/>
          <p:nvPr/>
        </p:nvSpPr>
        <p:spPr>
          <a:xfrm>
            <a:off x="7827644" y="2886836"/>
            <a:ext cx="656590" cy="434340"/>
          </a:xfrm>
          <a:prstGeom prst="rect">
            <a:avLst/>
          </a:prstGeom>
          <a:solidFill>
            <a:srgbClr val="FFFFFF"/>
          </a:solidFill>
          <a:ln w="37236">
            <a:solidFill>
              <a:srgbClr val="000000"/>
            </a:solidFill>
          </a:ln>
        </p:spPr>
        <p:txBody>
          <a:bodyPr vert="horz" wrap="square" lIns="0" tIns="62229" rIns="0" bIns="0" rtlCol="0">
            <a:spAutoFit/>
          </a:bodyPr>
          <a:lstStyle/>
          <a:p>
            <a:pPr marL="161925">
              <a:lnSpc>
                <a:spcPct val="100000"/>
              </a:lnSpc>
              <a:spcBef>
                <a:spcPts val="489"/>
              </a:spcBef>
            </a:pPr>
            <a:r>
              <a:rPr sz="1800" spc="-25" dirty="0">
                <a:latin typeface="Calibri"/>
                <a:cs typeface="Calibri"/>
              </a:rPr>
              <a:t>PLL</a:t>
            </a:r>
            <a:endParaRPr sz="1800">
              <a:latin typeface="Calibri"/>
              <a:cs typeface="Calibri"/>
            </a:endParaRPr>
          </a:p>
        </p:txBody>
      </p:sp>
      <p:grpSp>
        <p:nvGrpSpPr>
          <p:cNvPr id="68" name="object 68"/>
          <p:cNvGrpSpPr/>
          <p:nvPr/>
        </p:nvGrpSpPr>
        <p:grpSpPr>
          <a:xfrm>
            <a:off x="8633129" y="1753298"/>
            <a:ext cx="1513840" cy="1154430"/>
            <a:chOff x="8633129" y="1753298"/>
            <a:chExt cx="1513840" cy="1154430"/>
          </a:xfrm>
        </p:grpSpPr>
        <p:pic>
          <p:nvPicPr>
            <p:cNvPr id="69" name="object 69"/>
            <p:cNvPicPr/>
            <p:nvPr/>
          </p:nvPicPr>
          <p:blipFill>
            <a:blip r:embed="rId8" cstate="print"/>
            <a:stretch>
              <a:fillRect/>
            </a:stretch>
          </p:blipFill>
          <p:spPr>
            <a:xfrm>
              <a:off x="8633129" y="2009825"/>
              <a:ext cx="90576" cy="89814"/>
            </a:xfrm>
            <a:prstGeom prst="rect">
              <a:avLst/>
            </a:prstGeom>
          </p:spPr>
        </p:pic>
        <p:sp>
          <p:nvSpPr>
            <p:cNvPr id="70" name="object 70"/>
            <p:cNvSpPr/>
            <p:nvPr/>
          </p:nvSpPr>
          <p:spPr>
            <a:xfrm>
              <a:off x="9605771" y="2888741"/>
              <a:ext cx="521970" cy="0"/>
            </a:xfrm>
            <a:custGeom>
              <a:avLst/>
              <a:gdLst/>
              <a:ahLst/>
              <a:cxnLst/>
              <a:rect l="l" t="t" r="r" b="b"/>
              <a:pathLst>
                <a:path w="521970">
                  <a:moveTo>
                    <a:pt x="521970" y="0"/>
                  </a:moveTo>
                  <a:lnTo>
                    <a:pt x="0" y="0"/>
                  </a:lnTo>
                </a:path>
              </a:pathLst>
            </a:custGeom>
            <a:ln w="37236">
              <a:solidFill>
                <a:srgbClr val="000000"/>
              </a:solidFill>
            </a:ln>
          </p:spPr>
          <p:txBody>
            <a:bodyPr wrap="square" lIns="0" tIns="0" rIns="0" bIns="0" rtlCol="0"/>
            <a:lstStyle/>
            <a:p>
              <a:endParaRPr/>
            </a:p>
          </p:txBody>
        </p:sp>
        <p:sp>
          <p:nvSpPr>
            <p:cNvPr id="71" name="object 71"/>
            <p:cNvSpPr/>
            <p:nvPr/>
          </p:nvSpPr>
          <p:spPr>
            <a:xfrm>
              <a:off x="10127741" y="2521457"/>
              <a:ext cx="0" cy="367665"/>
            </a:xfrm>
            <a:custGeom>
              <a:avLst/>
              <a:gdLst/>
              <a:ahLst/>
              <a:cxnLst/>
              <a:rect l="l" t="t" r="r" b="b"/>
              <a:pathLst>
                <a:path h="367664">
                  <a:moveTo>
                    <a:pt x="0" y="0"/>
                  </a:moveTo>
                  <a:lnTo>
                    <a:pt x="0" y="367284"/>
                  </a:lnTo>
                </a:path>
              </a:pathLst>
            </a:custGeom>
            <a:ln w="37084">
              <a:solidFill>
                <a:srgbClr val="000000"/>
              </a:solidFill>
            </a:ln>
          </p:spPr>
          <p:txBody>
            <a:bodyPr wrap="square" lIns="0" tIns="0" rIns="0" bIns="0" rtlCol="0"/>
            <a:lstStyle/>
            <a:p>
              <a:endParaRPr/>
            </a:p>
          </p:txBody>
        </p:sp>
        <p:sp>
          <p:nvSpPr>
            <p:cNvPr id="72" name="object 72"/>
            <p:cNvSpPr/>
            <p:nvPr/>
          </p:nvSpPr>
          <p:spPr>
            <a:xfrm>
              <a:off x="9009887" y="1770125"/>
              <a:ext cx="565785" cy="563880"/>
            </a:xfrm>
            <a:custGeom>
              <a:avLst/>
              <a:gdLst/>
              <a:ahLst/>
              <a:cxnLst/>
              <a:rect l="l" t="t" r="r" b="b"/>
              <a:pathLst>
                <a:path w="565784" h="563880">
                  <a:moveTo>
                    <a:pt x="565404" y="281939"/>
                  </a:moveTo>
                  <a:lnTo>
                    <a:pt x="0" y="0"/>
                  </a:lnTo>
                  <a:lnTo>
                    <a:pt x="0" y="563880"/>
                  </a:lnTo>
                  <a:lnTo>
                    <a:pt x="565404" y="281939"/>
                  </a:lnTo>
                  <a:close/>
                </a:path>
              </a:pathLst>
            </a:custGeom>
            <a:solidFill>
              <a:srgbClr val="FFFFFF"/>
            </a:solidFill>
          </p:spPr>
          <p:txBody>
            <a:bodyPr wrap="square" lIns="0" tIns="0" rIns="0" bIns="0" rtlCol="0"/>
            <a:lstStyle/>
            <a:p>
              <a:endParaRPr/>
            </a:p>
          </p:txBody>
        </p:sp>
        <p:sp>
          <p:nvSpPr>
            <p:cNvPr id="73" name="object 73"/>
            <p:cNvSpPr/>
            <p:nvPr/>
          </p:nvSpPr>
          <p:spPr>
            <a:xfrm>
              <a:off x="9009887" y="1770125"/>
              <a:ext cx="565785" cy="563880"/>
            </a:xfrm>
            <a:custGeom>
              <a:avLst/>
              <a:gdLst/>
              <a:ahLst/>
              <a:cxnLst/>
              <a:rect l="l" t="t" r="r" b="b"/>
              <a:pathLst>
                <a:path w="565784" h="563880">
                  <a:moveTo>
                    <a:pt x="0" y="0"/>
                  </a:moveTo>
                  <a:lnTo>
                    <a:pt x="0" y="563880"/>
                  </a:lnTo>
                  <a:lnTo>
                    <a:pt x="565404" y="281939"/>
                  </a:lnTo>
                  <a:lnTo>
                    <a:pt x="0" y="0"/>
                  </a:lnTo>
                  <a:close/>
                </a:path>
              </a:pathLst>
            </a:custGeom>
            <a:ln w="33096">
              <a:solidFill>
                <a:srgbClr val="000000"/>
              </a:solidFill>
            </a:ln>
          </p:spPr>
          <p:txBody>
            <a:bodyPr wrap="square" lIns="0" tIns="0" rIns="0" bIns="0" rtlCol="0"/>
            <a:lstStyle/>
            <a:p>
              <a:endParaRPr/>
            </a:p>
          </p:txBody>
        </p:sp>
        <p:sp>
          <p:nvSpPr>
            <p:cNvPr id="74" name="object 74"/>
            <p:cNvSpPr/>
            <p:nvPr/>
          </p:nvSpPr>
          <p:spPr>
            <a:xfrm>
              <a:off x="9066275" y="1939289"/>
              <a:ext cx="170180" cy="226060"/>
            </a:xfrm>
            <a:custGeom>
              <a:avLst/>
              <a:gdLst/>
              <a:ahLst/>
              <a:cxnLst/>
              <a:rect l="l" t="t" r="r" b="b"/>
              <a:pathLst>
                <a:path w="170179" h="226060">
                  <a:moveTo>
                    <a:pt x="0" y="225551"/>
                  </a:moveTo>
                  <a:lnTo>
                    <a:pt x="56388" y="225551"/>
                  </a:lnTo>
                  <a:lnTo>
                    <a:pt x="113537" y="0"/>
                  </a:lnTo>
                  <a:lnTo>
                    <a:pt x="169926" y="0"/>
                  </a:lnTo>
                </a:path>
              </a:pathLst>
            </a:custGeom>
            <a:ln w="16548">
              <a:solidFill>
                <a:srgbClr val="000000"/>
              </a:solidFill>
            </a:ln>
          </p:spPr>
          <p:txBody>
            <a:bodyPr wrap="square" lIns="0" tIns="0" rIns="0" bIns="0" rtlCol="0"/>
            <a:lstStyle/>
            <a:p>
              <a:endParaRPr/>
            </a:p>
          </p:txBody>
        </p:sp>
      </p:grpSp>
      <p:sp>
        <p:nvSpPr>
          <p:cNvPr id="75" name="object 75"/>
          <p:cNvSpPr txBox="1"/>
          <p:nvPr/>
        </p:nvSpPr>
        <p:spPr>
          <a:xfrm>
            <a:off x="7827644" y="1834895"/>
            <a:ext cx="656590" cy="436245"/>
          </a:xfrm>
          <a:prstGeom prst="rect">
            <a:avLst/>
          </a:prstGeom>
          <a:solidFill>
            <a:srgbClr val="FFFFFF"/>
          </a:solidFill>
          <a:ln w="37236">
            <a:solidFill>
              <a:srgbClr val="000000"/>
            </a:solidFill>
          </a:ln>
        </p:spPr>
        <p:txBody>
          <a:bodyPr vert="horz" wrap="square" lIns="0" tIns="63500" rIns="0" bIns="0" rtlCol="0">
            <a:spAutoFit/>
          </a:bodyPr>
          <a:lstStyle/>
          <a:p>
            <a:pPr marL="209550">
              <a:lnSpc>
                <a:spcPct val="100000"/>
              </a:lnSpc>
              <a:spcBef>
                <a:spcPts val="500"/>
              </a:spcBef>
            </a:pPr>
            <a:r>
              <a:rPr sz="1800" spc="-25" dirty="0">
                <a:latin typeface="Calibri"/>
                <a:cs typeface="Calibri"/>
              </a:rPr>
              <a:t>Eq.</a:t>
            </a:r>
            <a:endParaRPr sz="1800">
              <a:latin typeface="Calibri"/>
              <a:cs typeface="Calibri"/>
            </a:endParaRPr>
          </a:p>
        </p:txBody>
      </p:sp>
      <p:sp>
        <p:nvSpPr>
          <p:cNvPr id="76" name="object 76"/>
          <p:cNvSpPr txBox="1"/>
          <p:nvPr/>
        </p:nvSpPr>
        <p:spPr>
          <a:xfrm>
            <a:off x="8948928" y="2535173"/>
            <a:ext cx="657225" cy="707390"/>
          </a:xfrm>
          <a:prstGeom prst="rect">
            <a:avLst/>
          </a:prstGeom>
          <a:solidFill>
            <a:srgbClr val="FFFFFF"/>
          </a:solidFill>
          <a:ln w="37236">
            <a:solidFill>
              <a:srgbClr val="000000"/>
            </a:solidFill>
          </a:ln>
        </p:spPr>
        <p:txBody>
          <a:bodyPr vert="horz" wrap="square" lIns="0" tIns="198755" rIns="0" bIns="0" rtlCol="0">
            <a:spAutoFit/>
          </a:bodyPr>
          <a:lstStyle/>
          <a:p>
            <a:pPr marL="137160">
              <a:lnSpc>
                <a:spcPct val="100000"/>
              </a:lnSpc>
              <a:spcBef>
                <a:spcPts val="1565"/>
              </a:spcBef>
            </a:pPr>
            <a:r>
              <a:rPr sz="1800" spc="-25" dirty="0">
                <a:latin typeface="Calibri"/>
                <a:cs typeface="Calibri"/>
              </a:rPr>
              <a:t>CDR</a:t>
            </a:r>
            <a:endParaRPr sz="1800">
              <a:latin typeface="Calibri"/>
              <a:cs typeface="Calibri"/>
            </a:endParaRPr>
          </a:p>
        </p:txBody>
      </p:sp>
      <p:grpSp>
        <p:nvGrpSpPr>
          <p:cNvPr id="77" name="object 77"/>
          <p:cNvGrpSpPr/>
          <p:nvPr/>
        </p:nvGrpSpPr>
        <p:grpSpPr>
          <a:xfrm>
            <a:off x="4761738" y="2168651"/>
            <a:ext cx="4520565" cy="1243965"/>
            <a:chOff x="4761738" y="2168651"/>
            <a:chExt cx="4520565" cy="1243965"/>
          </a:xfrm>
        </p:grpSpPr>
        <p:sp>
          <p:nvSpPr>
            <p:cNvPr id="78" name="object 78"/>
            <p:cNvSpPr/>
            <p:nvPr/>
          </p:nvSpPr>
          <p:spPr>
            <a:xfrm>
              <a:off x="8681466" y="2705861"/>
              <a:ext cx="267970" cy="0"/>
            </a:xfrm>
            <a:custGeom>
              <a:avLst/>
              <a:gdLst/>
              <a:ahLst/>
              <a:cxnLst/>
              <a:rect l="l" t="t" r="r" b="b"/>
              <a:pathLst>
                <a:path w="267970">
                  <a:moveTo>
                    <a:pt x="267461" y="0"/>
                  </a:moveTo>
                  <a:lnTo>
                    <a:pt x="0" y="0"/>
                  </a:lnTo>
                </a:path>
              </a:pathLst>
            </a:custGeom>
            <a:ln w="37236">
              <a:solidFill>
                <a:srgbClr val="000000"/>
              </a:solidFill>
            </a:ln>
          </p:spPr>
          <p:txBody>
            <a:bodyPr wrap="square" lIns="0" tIns="0" rIns="0" bIns="0" rtlCol="0"/>
            <a:lstStyle/>
            <a:p>
              <a:endParaRPr/>
            </a:p>
          </p:txBody>
        </p:sp>
        <p:sp>
          <p:nvSpPr>
            <p:cNvPr id="79" name="object 79"/>
            <p:cNvSpPr/>
            <p:nvPr/>
          </p:nvSpPr>
          <p:spPr>
            <a:xfrm>
              <a:off x="8470391" y="3102863"/>
              <a:ext cx="478790" cy="0"/>
            </a:xfrm>
            <a:custGeom>
              <a:avLst/>
              <a:gdLst/>
              <a:ahLst/>
              <a:cxnLst/>
              <a:rect l="l" t="t" r="r" b="b"/>
              <a:pathLst>
                <a:path w="478790">
                  <a:moveTo>
                    <a:pt x="478535" y="0"/>
                  </a:moveTo>
                  <a:lnTo>
                    <a:pt x="0" y="0"/>
                  </a:lnTo>
                </a:path>
              </a:pathLst>
            </a:custGeom>
            <a:ln w="37236">
              <a:solidFill>
                <a:srgbClr val="000000"/>
              </a:solidFill>
            </a:ln>
          </p:spPr>
          <p:txBody>
            <a:bodyPr wrap="square" lIns="0" tIns="0" rIns="0" bIns="0" rtlCol="0"/>
            <a:lstStyle/>
            <a:p>
              <a:endParaRPr/>
            </a:p>
          </p:txBody>
        </p:sp>
        <p:sp>
          <p:nvSpPr>
            <p:cNvPr id="80" name="object 80"/>
            <p:cNvSpPr/>
            <p:nvPr/>
          </p:nvSpPr>
          <p:spPr>
            <a:xfrm>
              <a:off x="9263634" y="2207513"/>
              <a:ext cx="0" cy="327660"/>
            </a:xfrm>
            <a:custGeom>
              <a:avLst/>
              <a:gdLst/>
              <a:ahLst/>
              <a:cxnLst/>
              <a:rect l="l" t="t" r="r" b="b"/>
              <a:pathLst>
                <a:path h="327660">
                  <a:moveTo>
                    <a:pt x="0" y="0"/>
                  </a:moveTo>
                  <a:lnTo>
                    <a:pt x="0" y="327660"/>
                  </a:lnTo>
                </a:path>
              </a:pathLst>
            </a:custGeom>
            <a:ln w="37084">
              <a:solidFill>
                <a:srgbClr val="000000"/>
              </a:solidFill>
            </a:ln>
          </p:spPr>
          <p:txBody>
            <a:bodyPr wrap="square" lIns="0" tIns="0" rIns="0" bIns="0" rtlCol="0"/>
            <a:lstStyle/>
            <a:p>
              <a:endParaRPr/>
            </a:p>
          </p:txBody>
        </p:sp>
        <p:pic>
          <p:nvPicPr>
            <p:cNvPr id="81" name="object 81"/>
            <p:cNvPicPr/>
            <p:nvPr/>
          </p:nvPicPr>
          <p:blipFill>
            <a:blip r:embed="rId9" cstate="print"/>
            <a:stretch>
              <a:fillRect/>
            </a:stretch>
          </p:blipFill>
          <p:spPr>
            <a:xfrm>
              <a:off x="4783836" y="2401823"/>
              <a:ext cx="1405127" cy="986027"/>
            </a:xfrm>
            <a:prstGeom prst="rect">
              <a:avLst/>
            </a:prstGeom>
          </p:spPr>
        </p:pic>
        <p:sp>
          <p:nvSpPr>
            <p:cNvPr id="82" name="object 82"/>
            <p:cNvSpPr/>
            <p:nvPr/>
          </p:nvSpPr>
          <p:spPr>
            <a:xfrm>
              <a:off x="4761738" y="2168651"/>
              <a:ext cx="1892935" cy="1243965"/>
            </a:xfrm>
            <a:custGeom>
              <a:avLst/>
              <a:gdLst/>
              <a:ahLst/>
              <a:cxnLst/>
              <a:rect l="l" t="t" r="r" b="b"/>
              <a:pathLst>
                <a:path w="1892934" h="1243964">
                  <a:moveTo>
                    <a:pt x="1452372" y="216408"/>
                  </a:moveTo>
                  <a:lnTo>
                    <a:pt x="1446276" y="210312"/>
                  </a:lnTo>
                  <a:lnTo>
                    <a:pt x="1424178" y="210312"/>
                  </a:lnTo>
                  <a:lnTo>
                    <a:pt x="1424178" y="239268"/>
                  </a:lnTo>
                  <a:lnTo>
                    <a:pt x="1424178" y="1215390"/>
                  </a:lnTo>
                  <a:lnTo>
                    <a:pt x="28956" y="1215390"/>
                  </a:lnTo>
                  <a:lnTo>
                    <a:pt x="28956" y="239268"/>
                  </a:lnTo>
                  <a:lnTo>
                    <a:pt x="1424178" y="239268"/>
                  </a:lnTo>
                  <a:lnTo>
                    <a:pt x="1424178" y="210312"/>
                  </a:lnTo>
                  <a:lnTo>
                    <a:pt x="429717" y="210312"/>
                  </a:lnTo>
                  <a:lnTo>
                    <a:pt x="445770" y="191262"/>
                  </a:lnTo>
                  <a:lnTo>
                    <a:pt x="346481" y="107975"/>
                  </a:lnTo>
                  <a:lnTo>
                    <a:pt x="371094" y="78486"/>
                  </a:lnTo>
                  <a:lnTo>
                    <a:pt x="188976" y="0"/>
                  </a:lnTo>
                  <a:lnTo>
                    <a:pt x="297942" y="166116"/>
                  </a:lnTo>
                  <a:lnTo>
                    <a:pt x="307848" y="154254"/>
                  </a:lnTo>
                  <a:lnTo>
                    <a:pt x="322211" y="137033"/>
                  </a:lnTo>
                  <a:lnTo>
                    <a:pt x="409575" y="210312"/>
                  </a:lnTo>
                  <a:lnTo>
                    <a:pt x="6858" y="210312"/>
                  </a:lnTo>
                  <a:lnTo>
                    <a:pt x="0" y="216408"/>
                  </a:lnTo>
                  <a:lnTo>
                    <a:pt x="0" y="1237488"/>
                  </a:lnTo>
                  <a:lnTo>
                    <a:pt x="6858" y="1243584"/>
                  </a:lnTo>
                  <a:lnTo>
                    <a:pt x="14478" y="1243584"/>
                  </a:lnTo>
                  <a:lnTo>
                    <a:pt x="28956" y="1243584"/>
                  </a:lnTo>
                  <a:lnTo>
                    <a:pt x="1424178" y="1243584"/>
                  </a:lnTo>
                  <a:lnTo>
                    <a:pt x="1437894" y="1243584"/>
                  </a:lnTo>
                  <a:lnTo>
                    <a:pt x="1446276" y="1243584"/>
                  </a:lnTo>
                  <a:lnTo>
                    <a:pt x="1452372" y="1237488"/>
                  </a:lnTo>
                  <a:lnTo>
                    <a:pt x="1452372" y="216408"/>
                  </a:lnTo>
                  <a:close/>
                </a:path>
                <a:path w="1892934" h="1243964">
                  <a:moveTo>
                    <a:pt x="1892808" y="396240"/>
                  </a:moveTo>
                  <a:lnTo>
                    <a:pt x="1835658" y="205740"/>
                  </a:lnTo>
                  <a:lnTo>
                    <a:pt x="1778508" y="396240"/>
                  </a:lnTo>
                  <a:lnTo>
                    <a:pt x="1816608" y="396240"/>
                  </a:lnTo>
                  <a:lnTo>
                    <a:pt x="1816608" y="1024890"/>
                  </a:lnTo>
                  <a:lnTo>
                    <a:pt x="1778508" y="1024890"/>
                  </a:lnTo>
                  <a:lnTo>
                    <a:pt x="1816608" y="1151890"/>
                  </a:lnTo>
                  <a:lnTo>
                    <a:pt x="1835658" y="1215390"/>
                  </a:lnTo>
                  <a:lnTo>
                    <a:pt x="1854708" y="1151890"/>
                  </a:lnTo>
                  <a:lnTo>
                    <a:pt x="1892808" y="1024890"/>
                  </a:lnTo>
                  <a:lnTo>
                    <a:pt x="1854708" y="1024890"/>
                  </a:lnTo>
                  <a:lnTo>
                    <a:pt x="1854708" y="396240"/>
                  </a:lnTo>
                  <a:lnTo>
                    <a:pt x="1892808" y="396240"/>
                  </a:lnTo>
                  <a:close/>
                </a:path>
              </a:pathLst>
            </a:custGeom>
            <a:solidFill>
              <a:srgbClr val="0000FF"/>
            </a:solidFill>
          </p:spPr>
          <p:txBody>
            <a:bodyPr wrap="square" lIns="0" tIns="0" rIns="0" bIns="0" rtlCol="0"/>
            <a:lstStyle/>
            <a:p>
              <a:endParaRPr/>
            </a:p>
          </p:txBody>
        </p:sp>
        <p:sp>
          <p:nvSpPr>
            <p:cNvPr id="83" name="object 83"/>
            <p:cNvSpPr/>
            <p:nvPr/>
          </p:nvSpPr>
          <p:spPr>
            <a:xfrm>
              <a:off x="6285738" y="2724911"/>
              <a:ext cx="577850" cy="307975"/>
            </a:xfrm>
            <a:custGeom>
              <a:avLst/>
              <a:gdLst/>
              <a:ahLst/>
              <a:cxnLst/>
              <a:rect l="l" t="t" r="r" b="b"/>
              <a:pathLst>
                <a:path w="577850" h="307975">
                  <a:moveTo>
                    <a:pt x="577595" y="307848"/>
                  </a:moveTo>
                  <a:lnTo>
                    <a:pt x="577595" y="0"/>
                  </a:lnTo>
                  <a:lnTo>
                    <a:pt x="0" y="0"/>
                  </a:lnTo>
                  <a:lnTo>
                    <a:pt x="0" y="307848"/>
                  </a:lnTo>
                  <a:lnTo>
                    <a:pt x="577595" y="307848"/>
                  </a:lnTo>
                  <a:close/>
                </a:path>
              </a:pathLst>
            </a:custGeom>
            <a:solidFill>
              <a:srgbClr val="FFFFFF"/>
            </a:solidFill>
          </p:spPr>
          <p:txBody>
            <a:bodyPr wrap="square" lIns="0" tIns="0" rIns="0" bIns="0" rtlCol="0"/>
            <a:lstStyle/>
            <a:p>
              <a:endParaRPr/>
            </a:p>
          </p:txBody>
        </p:sp>
      </p:grpSp>
      <p:sp>
        <p:nvSpPr>
          <p:cNvPr id="84" name="object 84"/>
          <p:cNvSpPr txBox="1"/>
          <p:nvPr/>
        </p:nvSpPr>
        <p:spPr>
          <a:xfrm>
            <a:off x="6281165" y="2801366"/>
            <a:ext cx="589280" cy="238760"/>
          </a:xfrm>
          <a:prstGeom prst="rect">
            <a:avLst/>
          </a:prstGeom>
        </p:spPr>
        <p:txBody>
          <a:bodyPr vert="horz" wrap="square" lIns="0" tIns="12065" rIns="0" bIns="0" rtlCol="0">
            <a:spAutoFit/>
          </a:bodyPr>
          <a:lstStyle/>
          <a:p>
            <a:pPr marL="38100">
              <a:lnSpc>
                <a:spcPct val="100000"/>
              </a:lnSpc>
              <a:spcBef>
                <a:spcPts val="95"/>
              </a:spcBef>
            </a:pPr>
            <a:r>
              <a:rPr sz="2100" i="1" spc="-15" baseline="13888" dirty="0">
                <a:solidFill>
                  <a:srgbClr val="0000FF"/>
                </a:solidFill>
                <a:latin typeface="Verdana"/>
                <a:cs typeface="Verdana"/>
              </a:rPr>
              <a:t>V</a:t>
            </a:r>
            <a:r>
              <a:rPr sz="900" spc="-10" dirty="0">
                <a:solidFill>
                  <a:srgbClr val="0000FF"/>
                </a:solidFill>
                <a:latin typeface="Verdana"/>
                <a:cs typeface="Verdana"/>
              </a:rPr>
              <a:t>out,TX</a:t>
            </a:r>
            <a:endParaRPr sz="900">
              <a:latin typeface="Verdana"/>
              <a:cs typeface="Verdana"/>
            </a:endParaRPr>
          </a:p>
        </p:txBody>
      </p:sp>
      <p:sp>
        <p:nvSpPr>
          <p:cNvPr id="85" name="Slide Number Placeholder 84"/>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27</a:t>
            </a:fld>
            <a:endParaRPr lang="en-US" spc="-50" dirty="0"/>
          </a:p>
        </p:txBody>
      </p:sp>
      <p:sp>
        <p:nvSpPr>
          <p:cNvPr id="86" name="Date Placeholder 85"/>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87" name="Footer Placeholder 86"/>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282732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p:txBody>
          <a:bodyPr/>
          <a:lstStyle/>
          <a:p>
            <a:r>
              <a:rPr lang="en-US" sz="2800" dirty="0"/>
              <a:t>Role of Equalizers in Wireline/Optical Links</a:t>
            </a:r>
          </a:p>
        </p:txBody>
      </p:sp>
      <p:sp>
        <p:nvSpPr>
          <p:cNvPr id="4" name="Date Placeholder 3">
            <a:extLst>
              <a:ext uri="{FF2B5EF4-FFF2-40B4-BE49-F238E27FC236}">
                <a16:creationId xmlns:a16="http://schemas.microsoft.com/office/drawing/2014/main" id="{C9BAE22F-9A95-6E47-BBA6-65EDD894AA26}"/>
              </a:ext>
            </a:extLst>
          </p:cNvPr>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Slide Number Placeholder 5">
            <a:extLst>
              <a:ext uri="{FF2B5EF4-FFF2-40B4-BE49-F238E27FC236}">
                <a16:creationId xmlns:a16="http://schemas.microsoft.com/office/drawing/2014/main" id="{3F6BF20A-4150-A04F-B584-430820875AE7}"/>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28</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a:extLst>
              <a:ext uri="{FF2B5EF4-FFF2-40B4-BE49-F238E27FC236}">
                <a16:creationId xmlns:a16="http://schemas.microsoft.com/office/drawing/2014/main" id="{E416D04B-E0A7-5849-88CB-2A3326CBCE37}"/>
              </a:ext>
            </a:extLst>
          </p:cNvPr>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6640835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21335" y="2727981"/>
            <a:ext cx="5520690" cy="1266825"/>
          </a:xfrm>
          <a:prstGeom prst="rect">
            <a:avLst/>
          </a:prstGeom>
        </p:spPr>
        <p:txBody>
          <a:bodyPr vert="horz" wrap="square" lIns="0" tIns="43180" rIns="0" bIns="0" rtlCol="0">
            <a:spAutoFit/>
          </a:bodyPr>
          <a:lstStyle/>
          <a:p>
            <a:pPr marL="482600" marR="0" lvl="0" indent="-470534" algn="l" defTabSz="914400" rtl="0" eaLnBrk="1" fontAlgn="auto" latinLnBrk="0" hangingPunct="1">
              <a:lnSpc>
                <a:spcPct val="100000"/>
              </a:lnSpc>
              <a:spcBef>
                <a:spcPts val="340"/>
              </a:spcBef>
              <a:spcAft>
                <a:spcPts val="0"/>
              </a:spcAft>
              <a:buClr>
                <a:srgbClr val="CC0000"/>
              </a:buClr>
              <a:buSzTx/>
              <a:buFont typeface="Wingdings"/>
              <a:buChar char=""/>
              <a:tabLst>
                <a:tab pos="482600" algn="l"/>
                <a:tab pos="483234"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Equalization</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techniques</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920750" marR="0" lvl="1" indent="-438150" algn="l" defTabSz="914400" rtl="0" eaLnBrk="1" fontAlgn="auto" latinLnBrk="0" hangingPunct="1">
              <a:lnSpc>
                <a:spcPct val="100000"/>
              </a:lnSpc>
              <a:spcBef>
                <a:spcPts val="215"/>
              </a:spcBef>
              <a:spcAft>
                <a:spcPts val="0"/>
              </a:spcAft>
              <a:buClr>
                <a:srgbClr val="CC0000"/>
              </a:buClr>
              <a:buSzTx/>
              <a:buFont typeface="Wingdings"/>
              <a:buChar char=""/>
              <a:tabLst>
                <a:tab pos="920750" algn="l"/>
                <a:tab pos="921385" algn="l"/>
              </a:tabLst>
              <a:defRPr/>
            </a:pPr>
            <a:r>
              <a:rPr kumimoji="0" sz="1800" b="0" i="0" u="none" strike="noStrike" kern="1200" cap="none" spc="-5" normalizeH="0" baseline="0" noProof="0" dirty="0">
                <a:ln>
                  <a:noFill/>
                </a:ln>
                <a:solidFill>
                  <a:prstClr val="black"/>
                </a:solidFill>
                <a:effectLst/>
                <a:uLnTx/>
                <a:uFillTx/>
                <a:latin typeface="Verdana"/>
                <a:ea typeface="+mn-ea"/>
                <a:cs typeface="Verdana"/>
              </a:rPr>
              <a:t>Continuous</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time</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linear</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equalizer</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(CTLE)</a:t>
            </a:r>
            <a:endParaRPr kumimoji="0" sz="1800" b="0" i="0" u="none" strike="noStrike" kern="1200" cap="none" spc="0" normalizeH="0" baseline="0" noProof="0" dirty="0">
              <a:ln>
                <a:noFill/>
              </a:ln>
              <a:solidFill>
                <a:prstClr val="black"/>
              </a:solidFill>
              <a:effectLst/>
              <a:uLnTx/>
              <a:uFillTx/>
              <a:latin typeface="Verdana"/>
              <a:ea typeface="+mn-ea"/>
              <a:cs typeface="Verdana"/>
            </a:endParaRPr>
          </a:p>
          <a:p>
            <a:pPr marL="920750" marR="0" lvl="1" indent="-438150" algn="l" defTabSz="914400" rtl="0" eaLnBrk="1" fontAlgn="auto" latinLnBrk="0" hangingPunct="1">
              <a:lnSpc>
                <a:spcPct val="100000"/>
              </a:lnSpc>
              <a:spcBef>
                <a:spcPts val="219"/>
              </a:spcBef>
              <a:spcAft>
                <a:spcPts val="0"/>
              </a:spcAft>
              <a:buClr>
                <a:srgbClr val="CC0000"/>
              </a:buClr>
              <a:buSzTx/>
              <a:buFont typeface="Wingdings"/>
              <a:buChar char=""/>
              <a:tabLst>
                <a:tab pos="920750" algn="l"/>
                <a:tab pos="921385" algn="l"/>
              </a:tabLst>
              <a:defRPr/>
            </a:pPr>
            <a:r>
              <a:rPr kumimoji="0" sz="1800" b="0" i="0" u="none" strike="noStrike" kern="1200" cap="none" spc="0" normalizeH="0" baseline="0" noProof="0" dirty="0">
                <a:ln>
                  <a:noFill/>
                </a:ln>
                <a:solidFill>
                  <a:prstClr val="black"/>
                </a:solidFill>
                <a:effectLst/>
                <a:uLnTx/>
                <a:uFillTx/>
                <a:latin typeface="Verdana"/>
                <a:ea typeface="+mn-ea"/>
                <a:cs typeface="Verdana"/>
              </a:rPr>
              <a:t>Feed</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forward</a:t>
            </a:r>
            <a:r>
              <a:rPr kumimoji="0" sz="1800" b="0" i="0" u="none" strike="noStrike" kern="1200" cap="none" spc="-3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equalization</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(FFE)</a:t>
            </a:r>
            <a:endParaRPr kumimoji="0" sz="1800" b="0" i="0" u="none" strike="noStrike" kern="1200" cap="none" spc="0" normalizeH="0" baseline="0" noProof="0" dirty="0">
              <a:ln>
                <a:noFill/>
              </a:ln>
              <a:solidFill>
                <a:prstClr val="black"/>
              </a:solidFill>
              <a:effectLst/>
              <a:uLnTx/>
              <a:uFillTx/>
              <a:latin typeface="Verdana"/>
              <a:ea typeface="+mn-ea"/>
              <a:cs typeface="Verdana"/>
            </a:endParaRPr>
          </a:p>
          <a:p>
            <a:pPr marL="920750" marR="0" lvl="1" indent="-438150" algn="l" defTabSz="914400" rtl="0" eaLnBrk="1" fontAlgn="auto" latinLnBrk="0" hangingPunct="1">
              <a:lnSpc>
                <a:spcPct val="100000"/>
              </a:lnSpc>
              <a:spcBef>
                <a:spcPts val="215"/>
              </a:spcBef>
              <a:spcAft>
                <a:spcPts val="0"/>
              </a:spcAft>
              <a:buClr>
                <a:srgbClr val="CC0000"/>
              </a:buClr>
              <a:buSzTx/>
              <a:buFont typeface="Wingdings"/>
              <a:buChar char=""/>
              <a:tabLst>
                <a:tab pos="920750" algn="l"/>
                <a:tab pos="921385" algn="l"/>
              </a:tabLst>
              <a:defRPr/>
            </a:pPr>
            <a:r>
              <a:rPr kumimoji="0" sz="1800" b="0" i="0" u="none" strike="noStrike" kern="1200" cap="none" spc="0" normalizeH="0" baseline="0" noProof="0" dirty="0">
                <a:ln>
                  <a:noFill/>
                </a:ln>
                <a:solidFill>
                  <a:prstClr val="black"/>
                </a:solidFill>
                <a:effectLst/>
                <a:uLnTx/>
                <a:uFillTx/>
                <a:latin typeface="Verdana"/>
                <a:ea typeface="+mn-ea"/>
                <a:cs typeface="Verdana"/>
              </a:rPr>
              <a:t>Decision</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feedback</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equalization</a:t>
            </a:r>
            <a:r>
              <a:rPr kumimoji="0" sz="1800" b="0" i="0" u="none" strike="noStrike" kern="1200" cap="none" spc="-5" normalizeH="0" baseline="0" noProof="0" dirty="0">
                <a:ln>
                  <a:noFill/>
                </a:ln>
                <a:solidFill>
                  <a:prstClr val="black"/>
                </a:solidFill>
                <a:effectLst/>
                <a:uLnTx/>
                <a:uFillTx/>
                <a:latin typeface="Verdana"/>
                <a:ea typeface="+mn-ea"/>
                <a:cs typeface="Verdana"/>
              </a:rPr>
              <a:t> (DFE)</a:t>
            </a:r>
            <a:endParaRPr kumimoji="0" sz="1800" b="0" i="0" u="none" strike="noStrike" kern="1200" cap="none" spc="0" normalizeH="0" baseline="0" noProof="0" dirty="0">
              <a:ln>
                <a:noFill/>
              </a:ln>
              <a:solidFill>
                <a:prstClr val="black"/>
              </a:solidFill>
              <a:effectLst/>
              <a:uLnTx/>
              <a:uFillTx/>
              <a:latin typeface="Verdana"/>
              <a:ea typeface="+mn-ea"/>
              <a:cs typeface="Verdana"/>
            </a:endParaRPr>
          </a:p>
        </p:txBody>
      </p:sp>
      <p:sp>
        <p:nvSpPr>
          <p:cNvPr id="6" name="object 6"/>
          <p:cNvSpPr txBox="1">
            <a:spLocks noGrp="1"/>
          </p:cNvSpPr>
          <p:nvPr>
            <p:ph type="title"/>
          </p:nvPr>
        </p:nvSpPr>
        <p:spPr>
          <a:xfrm>
            <a:off x="3597518" y="382858"/>
            <a:ext cx="4280938" cy="536044"/>
          </a:xfrm>
          <a:prstGeom prst="rect">
            <a:avLst/>
          </a:prstGeom>
        </p:spPr>
        <p:txBody>
          <a:bodyPr vert="horz" wrap="square" lIns="0" tIns="12700" rIns="0" bIns="0" rtlCol="0">
            <a:spAutoFit/>
          </a:bodyPr>
          <a:lstStyle/>
          <a:p>
            <a:pPr marL="12700">
              <a:lnSpc>
                <a:spcPct val="100000"/>
              </a:lnSpc>
              <a:spcBef>
                <a:spcPts val="100"/>
              </a:spcBef>
            </a:pPr>
            <a:r>
              <a:rPr lang="en-US" sz="3400" b="0" spc="-5" dirty="0" smtClean="0">
                <a:latin typeface="Verdana"/>
                <a:cs typeface="Verdana"/>
              </a:rPr>
              <a:t>Channel Behaviors</a:t>
            </a:r>
            <a:endParaRPr sz="3400" dirty="0">
              <a:latin typeface="Verdana"/>
              <a:cs typeface="Verdana"/>
            </a:endParaRPr>
          </a:p>
        </p:txBody>
      </p:sp>
      <p:sp>
        <p:nvSpPr>
          <p:cNvPr id="7" name="object 7"/>
          <p:cNvSpPr txBox="1"/>
          <p:nvPr/>
        </p:nvSpPr>
        <p:spPr>
          <a:xfrm>
            <a:off x="7281162" y="2295398"/>
            <a:ext cx="105854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srgbClr val="FF0000"/>
                </a:solidFill>
                <a:effectLst/>
                <a:uLnTx/>
                <a:uFillTx/>
                <a:latin typeface="Verdana"/>
                <a:ea typeface="+mn-ea"/>
                <a:cs typeface="Verdana"/>
              </a:rPr>
              <a:t>Channel</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8" name="object 8"/>
          <p:cNvGrpSpPr/>
          <p:nvPr/>
        </p:nvGrpSpPr>
        <p:grpSpPr>
          <a:xfrm>
            <a:off x="7896758" y="2973476"/>
            <a:ext cx="2796540" cy="2616200"/>
            <a:chOff x="7896758" y="2973476"/>
            <a:chExt cx="2796540" cy="2616200"/>
          </a:xfrm>
        </p:grpSpPr>
        <p:sp>
          <p:nvSpPr>
            <p:cNvPr id="9" name="object 9"/>
            <p:cNvSpPr/>
            <p:nvPr/>
          </p:nvSpPr>
          <p:spPr>
            <a:xfrm>
              <a:off x="7972043" y="2987802"/>
              <a:ext cx="2707005" cy="2526030"/>
            </a:xfrm>
            <a:custGeom>
              <a:avLst/>
              <a:gdLst/>
              <a:ahLst/>
              <a:cxnLst/>
              <a:rect l="l" t="t" r="r" b="b"/>
              <a:pathLst>
                <a:path w="2707004" h="2526029">
                  <a:moveTo>
                    <a:pt x="2706624" y="2526029"/>
                  </a:moveTo>
                  <a:lnTo>
                    <a:pt x="0" y="2526029"/>
                  </a:lnTo>
                  <a:lnTo>
                    <a:pt x="0" y="0"/>
                  </a:lnTo>
                </a:path>
              </a:pathLst>
            </a:custGeom>
            <a:ln w="286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10617707" y="5453633"/>
              <a:ext cx="60960" cy="121285"/>
            </a:xfrm>
            <a:custGeom>
              <a:avLst/>
              <a:gdLst/>
              <a:ahLst/>
              <a:cxnLst/>
              <a:rect l="l" t="t" r="r" b="b"/>
              <a:pathLst>
                <a:path w="60959" h="121285">
                  <a:moveTo>
                    <a:pt x="0" y="121158"/>
                  </a:moveTo>
                  <a:lnTo>
                    <a:pt x="60960" y="60198"/>
                  </a:lnTo>
                  <a:lnTo>
                    <a:pt x="0" y="0"/>
                  </a:lnTo>
                </a:path>
              </a:pathLst>
            </a:custGeom>
            <a:ln w="286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7911083" y="2987802"/>
              <a:ext cx="121920" cy="60325"/>
            </a:xfrm>
            <a:custGeom>
              <a:avLst/>
              <a:gdLst/>
              <a:ahLst/>
              <a:cxnLst/>
              <a:rect l="l" t="t" r="r" b="b"/>
              <a:pathLst>
                <a:path w="121920" h="60325">
                  <a:moveTo>
                    <a:pt x="121920" y="60198"/>
                  </a:moveTo>
                  <a:lnTo>
                    <a:pt x="60960" y="0"/>
                  </a:lnTo>
                  <a:lnTo>
                    <a:pt x="0" y="60198"/>
                  </a:lnTo>
                </a:path>
              </a:pathLst>
            </a:custGeom>
            <a:ln w="286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7972043" y="3168396"/>
              <a:ext cx="1971039" cy="1971039"/>
            </a:xfrm>
            <a:custGeom>
              <a:avLst/>
              <a:gdLst/>
              <a:ahLst/>
              <a:cxnLst/>
              <a:rect l="l" t="t" r="r" b="b"/>
              <a:pathLst>
                <a:path w="1971040" h="1971039">
                  <a:moveTo>
                    <a:pt x="0" y="0"/>
                  </a:moveTo>
                  <a:lnTo>
                    <a:pt x="1970532" y="1970532"/>
                  </a:lnTo>
                </a:path>
              </a:pathLst>
            </a:custGeom>
            <a:ln w="28651">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 name="object 13"/>
          <p:cNvSpPr txBox="1"/>
          <p:nvPr/>
        </p:nvSpPr>
        <p:spPr>
          <a:xfrm>
            <a:off x="8590280" y="5685979"/>
            <a:ext cx="1213485" cy="335280"/>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defRPr/>
            </a:pPr>
            <a:r>
              <a:rPr kumimoji="0" sz="2000" b="0" i="0" u="none" strike="noStrike" kern="1200" cap="none" spc="0" normalizeH="0" baseline="0" noProof="0" dirty="0">
                <a:ln>
                  <a:noFill/>
                </a:ln>
                <a:solidFill>
                  <a:prstClr val="black"/>
                </a:solidFill>
                <a:effectLst/>
                <a:uLnTx/>
                <a:uFillTx/>
                <a:latin typeface="Malgun Gothic"/>
                <a:ea typeface="+mn-ea"/>
                <a:cs typeface="Malgun Gothic"/>
              </a:rPr>
              <a:t>Frequency</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14" name="object 14"/>
          <p:cNvSpPr txBox="1"/>
          <p:nvPr/>
        </p:nvSpPr>
        <p:spPr>
          <a:xfrm>
            <a:off x="7488963" y="3508780"/>
            <a:ext cx="307777" cy="1612743"/>
          </a:xfrm>
          <a:prstGeom prst="rect">
            <a:avLst/>
          </a:prstGeom>
        </p:spPr>
        <p:txBody>
          <a:bodyPr vert="vert270" wrap="square" lIns="0" tIns="39369" rIns="0" bIns="0" rtlCol="0">
            <a:spAutoFit/>
          </a:bodyPr>
          <a:lstStyle/>
          <a:p>
            <a:pPr marL="12700" marR="0" lvl="0" indent="0" algn="l" defTabSz="914400" rtl="0" eaLnBrk="1" fontAlgn="auto" latinLnBrk="0" hangingPunct="1">
              <a:lnSpc>
                <a:spcPct val="100000"/>
              </a:lnSpc>
              <a:spcBef>
                <a:spcPts val="309"/>
              </a:spcBef>
              <a:spcAft>
                <a:spcPts val="0"/>
              </a:spcAft>
              <a:buClrTx/>
              <a:buSzTx/>
              <a:buFontTx/>
              <a:buNone/>
              <a:tabLst/>
              <a:defRPr/>
            </a:pPr>
            <a:r>
              <a:rPr kumimoji="0" sz="2000" b="0" i="0" u="none" strike="noStrike" kern="1200" cap="none" spc="0" normalizeH="0" baseline="0" noProof="0" dirty="0">
                <a:ln>
                  <a:noFill/>
                </a:ln>
                <a:solidFill>
                  <a:prstClr val="black"/>
                </a:solidFill>
                <a:effectLst/>
                <a:uLnTx/>
                <a:uFillTx/>
                <a:latin typeface="Malgun Gothic"/>
                <a:ea typeface="+mn-ea"/>
                <a:cs typeface="Malgun Gothic"/>
              </a:rPr>
              <a:t>Magnitude</a:t>
            </a:r>
          </a:p>
        </p:txBody>
      </p:sp>
      <p:pic>
        <p:nvPicPr>
          <p:cNvPr id="16" name="object 16"/>
          <p:cNvPicPr/>
          <p:nvPr/>
        </p:nvPicPr>
        <p:blipFill>
          <a:blip r:embed="rId2" cstate="print"/>
          <a:stretch>
            <a:fillRect/>
          </a:stretch>
        </p:blipFill>
        <p:spPr>
          <a:xfrm>
            <a:off x="9302496" y="1394459"/>
            <a:ext cx="1156716" cy="903733"/>
          </a:xfrm>
          <a:prstGeom prst="rect">
            <a:avLst/>
          </a:prstGeom>
        </p:spPr>
      </p:pic>
      <p:sp>
        <p:nvSpPr>
          <p:cNvPr id="17" name="object 17"/>
          <p:cNvSpPr/>
          <p:nvPr/>
        </p:nvSpPr>
        <p:spPr>
          <a:xfrm>
            <a:off x="9302496" y="1393697"/>
            <a:ext cx="1156970" cy="905510"/>
          </a:xfrm>
          <a:custGeom>
            <a:avLst/>
            <a:gdLst/>
            <a:ahLst/>
            <a:cxnLst/>
            <a:rect l="l" t="t" r="r" b="b"/>
            <a:pathLst>
              <a:path w="1156970" h="905510">
                <a:moveTo>
                  <a:pt x="0" y="0"/>
                </a:moveTo>
                <a:lnTo>
                  <a:pt x="0" y="905255"/>
                </a:lnTo>
                <a:lnTo>
                  <a:pt x="1156716" y="905255"/>
                </a:lnTo>
                <a:lnTo>
                  <a:pt x="1156716" y="0"/>
                </a:lnTo>
                <a:lnTo>
                  <a:pt x="0" y="0"/>
                </a:lnTo>
                <a:close/>
              </a:path>
            </a:pathLst>
          </a:custGeom>
          <a:ln w="1907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p:nvPr/>
        </p:nvSpPr>
        <p:spPr>
          <a:xfrm>
            <a:off x="8152638" y="2016251"/>
            <a:ext cx="144145" cy="0"/>
          </a:xfrm>
          <a:custGeom>
            <a:avLst/>
            <a:gdLst/>
            <a:ahLst/>
            <a:cxnLst/>
            <a:rect l="l" t="t" r="r" b="b"/>
            <a:pathLst>
              <a:path w="144145">
                <a:moveTo>
                  <a:pt x="0" y="0"/>
                </a:moveTo>
                <a:lnTo>
                  <a:pt x="14401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object 19"/>
          <p:cNvPicPr/>
          <p:nvPr/>
        </p:nvPicPr>
        <p:blipFill>
          <a:blip r:embed="rId3" cstate="print"/>
          <a:stretch>
            <a:fillRect/>
          </a:stretch>
        </p:blipFill>
        <p:spPr>
          <a:xfrm>
            <a:off x="6650735" y="1830314"/>
            <a:ext cx="1501902" cy="359673"/>
          </a:xfrm>
          <a:prstGeom prst="rect">
            <a:avLst/>
          </a:prstGeom>
        </p:spPr>
      </p:pic>
      <p:sp>
        <p:nvSpPr>
          <p:cNvPr id="20" name="object 20"/>
          <p:cNvSpPr/>
          <p:nvPr/>
        </p:nvSpPr>
        <p:spPr>
          <a:xfrm>
            <a:off x="6649973" y="1828037"/>
            <a:ext cx="1503045" cy="361950"/>
          </a:xfrm>
          <a:custGeom>
            <a:avLst/>
            <a:gdLst/>
            <a:ahLst/>
            <a:cxnLst/>
            <a:rect l="l" t="t" r="r" b="b"/>
            <a:pathLst>
              <a:path w="1503045" h="361950">
                <a:moveTo>
                  <a:pt x="150114" y="361950"/>
                </a:moveTo>
                <a:lnTo>
                  <a:pt x="1352550" y="361949"/>
                </a:lnTo>
                <a:lnTo>
                  <a:pt x="1392509" y="355504"/>
                </a:lnTo>
                <a:lnTo>
                  <a:pt x="1428383" y="337311"/>
                </a:lnTo>
                <a:lnTo>
                  <a:pt x="1458753" y="309086"/>
                </a:lnTo>
                <a:lnTo>
                  <a:pt x="1482202" y="272541"/>
                </a:lnTo>
                <a:lnTo>
                  <a:pt x="1497312" y="229393"/>
                </a:lnTo>
                <a:lnTo>
                  <a:pt x="1502664" y="181355"/>
                </a:lnTo>
                <a:lnTo>
                  <a:pt x="1497312" y="133261"/>
                </a:lnTo>
                <a:lnTo>
                  <a:pt x="1482202" y="89972"/>
                </a:lnTo>
                <a:lnTo>
                  <a:pt x="1458753" y="53244"/>
                </a:lnTo>
                <a:lnTo>
                  <a:pt x="1428383" y="24835"/>
                </a:lnTo>
                <a:lnTo>
                  <a:pt x="1392509" y="6501"/>
                </a:lnTo>
                <a:lnTo>
                  <a:pt x="1352550" y="0"/>
                </a:lnTo>
                <a:lnTo>
                  <a:pt x="1348740" y="5333"/>
                </a:lnTo>
                <a:lnTo>
                  <a:pt x="1352550" y="0"/>
                </a:lnTo>
                <a:lnTo>
                  <a:pt x="173736" y="2285"/>
                </a:lnTo>
                <a:lnTo>
                  <a:pt x="127529" y="8851"/>
                </a:lnTo>
                <a:lnTo>
                  <a:pt x="86021" y="27375"/>
                </a:lnTo>
                <a:lnTo>
                  <a:pt x="50863" y="56102"/>
                </a:lnTo>
                <a:lnTo>
                  <a:pt x="23706" y="93274"/>
                </a:lnTo>
                <a:lnTo>
                  <a:pt x="6201" y="137135"/>
                </a:lnTo>
                <a:lnTo>
                  <a:pt x="0" y="185928"/>
                </a:lnTo>
                <a:lnTo>
                  <a:pt x="8004" y="236567"/>
                </a:lnTo>
                <a:lnTo>
                  <a:pt x="28919" y="281793"/>
                </a:lnTo>
                <a:lnTo>
                  <a:pt x="60844" y="319302"/>
                </a:lnTo>
                <a:lnTo>
                  <a:pt x="101876" y="346789"/>
                </a:lnTo>
                <a:lnTo>
                  <a:pt x="150114" y="361950"/>
                </a:lnTo>
                <a:close/>
              </a:path>
            </a:pathLst>
          </a:custGeom>
          <a:ln w="19075">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object 21"/>
          <p:cNvPicPr/>
          <p:nvPr/>
        </p:nvPicPr>
        <p:blipFill>
          <a:blip r:embed="rId4" cstate="print"/>
          <a:stretch>
            <a:fillRect/>
          </a:stretch>
        </p:blipFill>
        <p:spPr>
          <a:xfrm>
            <a:off x="6649973" y="1828037"/>
            <a:ext cx="300227" cy="361950"/>
          </a:xfrm>
          <a:prstGeom prst="rect">
            <a:avLst/>
          </a:prstGeom>
        </p:spPr>
      </p:pic>
      <p:sp>
        <p:nvSpPr>
          <p:cNvPr id="22" name="object 22"/>
          <p:cNvSpPr/>
          <p:nvPr/>
        </p:nvSpPr>
        <p:spPr>
          <a:xfrm>
            <a:off x="6649973" y="1828037"/>
            <a:ext cx="300355" cy="361950"/>
          </a:xfrm>
          <a:custGeom>
            <a:avLst/>
            <a:gdLst/>
            <a:ahLst/>
            <a:cxnLst/>
            <a:rect l="l" t="t" r="r" b="b"/>
            <a:pathLst>
              <a:path w="300354" h="361950">
                <a:moveTo>
                  <a:pt x="300227" y="181355"/>
                </a:moveTo>
                <a:lnTo>
                  <a:pt x="294876" y="133261"/>
                </a:lnTo>
                <a:lnTo>
                  <a:pt x="279766" y="89972"/>
                </a:lnTo>
                <a:lnTo>
                  <a:pt x="256317" y="53244"/>
                </a:lnTo>
                <a:lnTo>
                  <a:pt x="225947" y="24835"/>
                </a:lnTo>
                <a:lnTo>
                  <a:pt x="190073" y="6501"/>
                </a:lnTo>
                <a:lnTo>
                  <a:pt x="150113" y="0"/>
                </a:lnTo>
                <a:lnTo>
                  <a:pt x="110154" y="6501"/>
                </a:lnTo>
                <a:lnTo>
                  <a:pt x="74280" y="24835"/>
                </a:lnTo>
                <a:lnTo>
                  <a:pt x="43910" y="53244"/>
                </a:lnTo>
                <a:lnTo>
                  <a:pt x="20461" y="89972"/>
                </a:lnTo>
                <a:lnTo>
                  <a:pt x="5351" y="133261"/>
                </a:lnTo>
                <a:lnTo>
                  <a:pt x="0" y="181355"/>
                </a:lnTo>
                <a:lnTo>
                  <a:pt x="5351" y="229393"/>
                </a:lnTo>
                <a:lnTo>
                  <a:pt x="20461" y="272541"/>
                </a:lnTo>
                <a:lnTo>
                  <a:pt x="43910" y="309086"/>
                </a:lnTo>
                <a:lnTo>
                  <a:pt x="74280" y="337311"/>
                </a:lnTo>
                <a:lnTo>
                  <a:pt x="110154" y="355504"/>
                </a:lnTo>
                <a:lnTo>
                  <a:pt x="150113" y="361949"/>
                </a:lnTo>
                <a:lnTo>
                  <a:pt x="190073" y="355504"/>
                </a:lnTo>
                <a:lnTo>
                  <a:pt x="225947" y="337311"/>
                </a:lnTo>
                <a:lnTo>
                  <a:pt x="256317" y="309086"/>
                </a:lnTo>
                <a:lnTo>
                  <a:pt x="279766" y="272541"/>
                </a:lnTo>
                <a:lnTo>
                  <a:pt x="294876" y="229393"/>
                </a:lnTo>
                <a:lnTo>
                  <a:pt x="300227" y="181355"/>
                </a:lnTo>
                <a:close/>
              </a:path>
            </a:pathLst>
          </a:custGeom>
          <a:ln w="19075">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object 23"/>
          <p:cNvPicPr/>
          <p:nvPr/>
        </p:nvPicPr>
        <p:blipFill>
          <a:blip r:embed="rId5" cstate="print"/>
          <a:stretch>
            <a:fillRect/>
          </a:stretch>
        </p:blipFill>
        <p:spPr>
          <a:xfrm>
            <a:off x="5814822" y="1837181"/>
            <a:ext cx="343662" cy="344424"/>
          </a:xfrm>
          <a:prstGeom prst="rect">
            <a:avLst/>
          </a:prstGeom>
        </p:spPr>
      </p:pic>
      <p:sp>
        <p:nvSpPr>
          <p:cNvPr id="24" name="object 24"/>
          <p:cNvSpPr/>
          <p:nvPr/>
        </p:nvSpPr>
        <p:spPr>
          <a:xfrm>
            <a:off x="5814822" y="1837181"/>
            <a:ext cx="344170" cy="344805"/>
          </a:xfrm>
          <a:custGeom>
            <a:avLst/>
            <a:gdLst/>
            <a:ahLst/>
            <a:cxnLst/>
            <a:rect l="l" t="t" r="r" b="b"/>
            <a:pathLst>
              <a:path w="344170" h="344805">
                <a:moveTo>
                  <a:pt x="0" y="0"/>
                </a:moveTo>
                <a:lnTo>
                  <a:pt x="343662" y="172211"/>
                </a:lnTo>
                <a:lnTo>
                  <a:pt x="0" y="344424"/>
                </a:lnTo>
                <a:lnTo>
                  <a:pt x="0" y="0"/>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object 25"/>
          <p:cNvPicPr/>
          <p:nvPr/>
        </p:nvPicPr>
        <p:blipFill>
          <a:blip r:embed="rId6" cstate="print"/>
          <a:stretch>
            <a:fillRect/>
          </a:stretch>
        </p:blipFill>
        <p:spPr>
          <a:xfrm>
            <a:off x="5305805" y="1865375"/>
            <a:ext cx="360425" cy="288035"/>
          </a:xfrm>
          <a:prstGeom prst="rect">
            <a:avLst/>
          </a:prstGeom>
        </p:spPr>
      </p:pic>
      <p:sp>
        <p:nvSpPr>
          <p:cNvPr id="26" name="object 26"/>
          <p:cNvSpPr txBox="1"/>
          <p:nvPr/>
        </p:nvSpPr>
        <p:spPr>
          <a:xfrm>
            <a:off x="5305805" y="1865376"/>
            <a:ext cx="360680" cy="288290"/>
          </a:xfrm>
          <a:prstGeom prst="rect">
            <a:avLst/>
          </a:prstGeom>
          <a:ln w="19075">
            <a:solidFill>
              <a:srgbClr val="0000FF"/>
            </a:solidFill>
          </a:ln>
        </p:spPr>
        <p:txBody>
          <a:bodyPr vert="horz" wrap="square" lIns="0" tIns="42545" rIns="0" bIns="0" rtlCol="0">
            <a:spAutoFit/>
          </a:bodyPr>
          <a:lstStyle/>
          <a:p>
            <a:pPr marL="69215"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0" normalizeH="0" baseline="0" noProof="0" dirty="0">
                <a:ln>
                  <a:noFill/>
                </a:ln>
                <a:solidFill>
                  <a:srgbClr val="0000FF"/>
                </a:solidFill>
                <a:effectLst/>
                <a:uLnTx/>
                <a:uFillTx/>
                <a:latin typeface="Malgun Gothic"/>
                <a:ea typeface="+mn-ea"/>
                <a:cs typeface="Malgun Gothic"/>
              </a:rPr>
              <a:t>FFE</a:t>
            </a:r>
            <a:endParaRPr kumimoji="0" sz="1200" b="0" i="0" u="none" strike="noStrike" kern="1200" cap="none" spc="0" normalizeH="0" baseline="0" noProof="0" dirty="0">
              <a:ln>
                <a:noFill/>
              </a:ln>
              <a:solidFill>
                <a:prstClr val="black"/>
              </a:solidFill>
              <a:effectLst/>
              <a:uLnTx/>
              <a:uFillTx/>
              <a:latin typeface="Malgun Gothic"/>
              <a:ea typeface="+mn-ea"/>
              <a:cs typeface="Malgun Gothic"/>
            </a:endParaRPr>
          </a:p>
        </p:txBody>
      </p:sp>
      <p:grpSp>
        <p:nvGrpSpPr>
          <p:cNvPr id="27" name="object 27"/>
          <p:cNvGrpSpPr/>
          <p:nvPr/>
        </p:nvGrpSpPr>
        <p:grpSpPr>
          <a:xfrm>
            <a:off x="5656389" y="1957577"/>
            <a:ext cx="502284" cy="647700"/>
            <a:chOff x="5656389" y="1957577"/>
            <a:chExt cx="502284" cy="647700"/>
          </a:xfrm>
        </p:grpSpPr>
        <p:sp>
          <p:nvSpPr>
            <p:cNvPr id="28" name="object 28"/>
            <p:cNvSpPr/>
            <p:nvPr/>
          </p:nvSpPr>
          <p:spPr>
            <a:xfrm>
              <a:off x="5666232" y="2009393"/>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object 29"/>
            <p:cNvSpPr/>
            <p:nvPr/>
          </p:nvSpPr>
          <p:spPr>
            <a:xfrm>
              <a:off x="5712714" y="1957577"/>
              <a:ext cx="102235" cy="102870"/>
            </a:xfrm>
            <a:custGeom>
              <a:avLst/>
              <a:gdLst/>
              <a:ahLst/>
              <a:cxnLst/>
              <a:rect l="l" t="t" r="r" b="b"/>
              <a:pathLst>
                <a:path w="102235" h="102869">
                  <a:moveTo>
                    <a:pt x="102108" y="51815"/>
                  </a:moveTo>
                  <a:lnTo>
                    <a:pt x="0" y="0"/>
                  </a:lnTo>
                  <a:lnTo>
                    <a:pt x="9001" y="25396"/>
                  </a:lnTo>
                  <a:lnTo>
                    <a:pt x="12001" y="51720"/>
                  </a:lnTo>
                  <a:lnTo>
                    <a:pt x="9001" y="77902"/>
                  </a:lnTo>
                  <a:lnTo>
                    <a:pt x="0" y="102869"/>
                  </a:lnTo>
                  <a:lnTo>
                    <a:pt x="102108"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object 30"/>
            <p:cNvPicPr/>
            <p:nvPr/>
          </p:nvPicPr>
          <p:blipFill>
            <a:blip r:embed="rId7" cstate="print"/>
            <a:stretch>
              <a:fillRect/>
            </a:stretch>
          </p:blipFill>
          <p:spPr>
            <a:xfrm>
              <a:off x="5798058" y="2317241"/>
              <a:ext cx="360425" cy="288036"/>
            </a:xfrm>
            <a:prstGeom prst="rect">
              <a:avLst/>
            </a:prstGeom>
          </p:spPr>
        </p:pic>
      </p:grpSp>
      <p:sp>
        <p:nvSpPr>
          <p:cNvPr id="31" name="object 31"/>
          <p:cNvSpPr txBox="1"/>
          <p:nvPr/>
        </p:nvSpPr>
        <p:spPr>
          <a:xfrm>
            <a:off x="5798058" y="2317242"/>
            <a:ext cx="360680" cy="288290"/>
          </a:xfrm>
          <a:prstGeom prst="rect">
            <a:avLst/>
          </a:prstGeom>
          <a:ln w="19075">
            <a:solidFill>
              <a:srgbClr val="000000"/>
            </a:solidFill>
          </a:ln>
        </p:spPr>
        <p:txBody>
          <a:bodyPr vert="horz" wrap="square" lIns="0" tIns="42545" rIns="0" bIns="0" rtlCol="0">
            <a:spAutoFit/>
          </a:bodyPr>
          <a:lstStyle/>
          <a:p>
            <a:pPr marL="67310"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33" name="object 33"/>
          <p:cNvSpPr/>
          <p:nvPr/>
        </p:nvSpPr>
        <p:spPr>
          <a:xfrm>
            <a:off x="6158484" y="2009393"/>
            <a:ext cx="146685" cy="0"/>
          </a:xfrm>
          <a:custGeom>
            <a:avLst/>
            <a:gdLst/>
            <a:ahLst/>
            <a:cxnLst/>
            <a:rect l="l" t="t" r="r" b="b"/>
            <a:pathLst>
              <a:path w="146685">
                <a:moveTo>
                  <a:pt x="0" y="0"/>
                </a:moveTo>
                <a:lnTo>
                  <a:pt x="14630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6108954" y="1565147"/>
            <a:ext cx="180975" cy="308610"/>
          </a:xfrm>
          <a:custGeom>
            <a:avLst/>
            <a:gdLst/>
            <a:ahLst/>
            <a:cxnLst/>
            <a:rect l="l" t="t" r="r" b="b"/>
            <a:pathLst>
              <a:path w="180975" h="308610">
                <a:moveTo>
                  <a:pt x="89915" y="0"/>
                </a:moveTo>
                <a:lnTo>
                  <a:pt x="0" y="25908"/>
                </a:lnTo>
                <a:lnTo>
                  <a:pt x="180593" y="77724"/>
                </a:lnTo>
                <a:lnTo>
                  <a:pt x="0" y="128778"/>
                </a:lnTo>
                <a:lnTo>
                  <a:pt x="180593" y="179832"/>
                </a:lnTo>
                <a:lnTo>
                  <a:pt x="0" y="231647"/>
                </a:lnTo>
                <a:lnTo>
                  <a:pt x="180593" y="282702"/>
                </a:lnTo>
                <a:lnTo>
                  <a:pt x="89915" y="30861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6108954" y="1459991"/>
            <a:ext cx="180975" cy="0"/>
          </a:xfrm>
          <a:custGeom>
            <a:avLst/>
            <a:gdLst/>
            <a:ahLst/>
            <a:cxnLst/>
            <a:rect l="l" t="t" r="r" b="b"/>
            <a:pathLst>
              <a:path w="180975">
                <a:moveTo>
                  <a:pt x="0" y="0"/>
                </a:moveTo>
                <a:lnTo>
                  <a:pt x="18059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6198870" y="1459991"/>
            <a:ext cx="0" cy="105410"/>
          </a:xfrm>
          <a:custGeom>
            <a:avLst/>
            <a:gdLst/>
            <a:ahLst/>
            <a:cxnLst/>
            <a:rect l="l" t="t" r="r" b="b"/>
            <a:pathLst>
              <a:path h="105409">
                <a:moveTo>
                  <a:pt x="0" y="0"/>
                </a:moveTo>
                <a:lnTo>
                  <a:pt x="0" y="105155"/>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6198870" y="1873757"/>
            <a:ext cx="0" cy="135890"/>
          </a:xfrm>
          <a:custGeom>
            <a:avLst/>
            <a:gdLst/>
            <a:ahLst/>
            <a:cxnLst/>
            <a:rect l="l" t="t" r="r" b="b"/>
            <a:pathLst>
              <a:path h="135889">
                <a:moveTo>
                  <a:pt x="0" y="0"/>
                </a:moveTo>
                <a:lnTo>
                  <a:pt x="0" y="135636"/>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object 38"/>
          <p:cNvSpPr/>
          <p:nvPr/>
        </p:nvSpPr>
        <p:spPr>
          <a:xfrm>
            <a:off x="5990844" y="2177033"/>
            <a:ext cx="0" cy="140335"/>
          </a:xfrm>
          <a:custGeom>
            <a:avLst/>
            <a:gdLst/>
            <a:ahLst/>
            <a:cxnLst/>
            <a:rect l="l" t="t" r="r" b="b"/>
            <a:pathLst>
              <a:path h="140335">
                <a:moveTo>
                  <a:pt x="0" y="0"/>
                </a:moveTo>
                <a:lnTo>
                  <a:pt x="0" y="140208"/>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bject 39"/>
          <p:cNvSpPr/>
          <p:nvPr/>
        </p:nvSpPr>
        <p:spPr>
          <a:xfrm>
            <a:off x="5939790" y="2100071"/>
            <a:ext cx="102235" cy="102235"/>
          </a:xfrm>
          <a:custGeom>
            <a:avLst/>
            <a:gdLst/>
            <a:ahLst/>
            <a:cxnLst/>
            <a:rect l="l" t="t" r="r" b="b"/>
            <a:pathLst>
              <a:path w="102235" h="102235">
                <a:moveTo>
                  <a:pt x="102107" y="102107"/>
                </a:moveTo>
                <a:lnTo>
                  <a:pt x="51053" y="0"/>
                </a:lnTo>
                <a:lnTo>
                  <a:pt x="0" y="102107"/>
                </a:lnTo>
                <a:lnTo>
                  <a:pt x="24848" y="93106"/>
                </a:lnTo>
                <a:lnTo>
                  <a:pt x="50768" y="90106"/>
                </a:lnTo>
                <a:lnTo>
                  <a:pt x="76831" y="93106"/>
                </a:lnTo>
                <a:lnTo>
                  <a:pt x="102107" y="102107"/>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 name="object 40"/>
          <p:cNvPicPr/>
          <p:nvPr/>
        </p:nvPicPr>
        <p:blipFill>
          <a:blip r:embed="rId8" cstate="print"/>
          <a:stretch>
            <a:fillRect/>
          </a:stretch>
        </p:blipFill>
        <p:spPr>
          <a:xfrm>
            <a:off x="6297168" y="1937003"/>
            <a:ext cx="144017" cy="144779"/>
          </a:xfrm>
          <a:prstGeom prst="rect">
            <a:avLst/>
          </a:prstGeom>
        </p:spPr>
      </p:pic>
      <p:pic>
        <p:nvPicPr>
          <p:cNvPr id="41" name="object 41"/>
          <p:cNvPicPr/>
          <p:nvPr/>
        </p:nvPicPr>
        <p:blipFill>
          <a:blip r:embed="rId9" cstate="print"/>
          <a:stretch>
            <a:fillRect/>
          </a:stretch>
        </p:blipFill>
        <p:spPr>
          <a:xfrm>
            <a:off x="6290799" y="1930634"/>
            <a:ext cx="156756" cy="157518"/>
          </a:xfrm>
          <a:prstGeom prst="rect">
            <a:avLst/>
          </a:prstGeom>
        </p:spPr>
      </p:pic>
      <p:sp>
        <p:nvSpPr>
          <p:cNvPr id="42" name="object 42"/>
          <p:cNvSpPr/>
          <p:nvPr/>
        </p:nvSpPr>
        <p:spPr>
          <a:xfrm>
            <a:off x="6441186" y="2009393"/>
            <a:ext cx="318135" cy="0"/>
          </a:xfrm>
          <a:custGeom>
            <a:avLst/>
            <a:gdLst/>
            <a:ahLst/>
            <a:cxnLst/>
            <a:rect l="l" t="t" r="r" b="b"/>
            <a:pathLst>
              <a:path w="318134">
                <a:moveTo>
                  <a:pt x="0" y="0"/>
                </a:moveTo>
                <a:lnTo>
                  <a:pt x="31775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8450580" y="2015489"/>
            <a:ext cx="230504" cy="0"/>
          </a:xfrm>
          <a:custGeom>
            <a:avLst/>
            <a:gdLst/>
            <a:ahLst/>
            <a:cxnLst/>
            <a:rect l="l" t="t" r="r" b="b"/>
            <a:pathLst>
              <a:path w="230504">
                <a:moveTo>
                  <a:pt x="0" y="0"/>
                </a:moveTo>
                <a:lnTo>
                  <a:pt x="23012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8446770" y="1572005"/>
            <a:ext cx="180340" cy="307975"/>
          </a:xfrm>
          <a:custGeom>
            <a:avLst/>
            <a:gdLst/>
            <a:ahLst/>
            <a:cxnLst/>
            <a:rect l="l" t="t" r="r" b="b"/>
            <a:pathLst>
              <a:path w="180340" h="307975">
                <a:moveTo>
                  <a:pt x="89916" y="0"/>
                </a:moveTo>
                <a:lnTo>
                  <a:pt x="0" y="25908"/>
                </a:lnTo>
                <a:lnTo>
                  <a:pt x="179832" y="76962"/>
                </a:lnTo>
                <a:lnTo>
                  <a:pt x="0" y="128016"/>
                </a:lnTo>
                <a:lnTo>
                  <a:pt x="179832" y="179832"/>
                </a:lnTo>
                <a:lnTo>
                  <a:pt x="0" y="230886"/>
                </a:lnTo>
                <a:lnTo>
                  <a:pt x="179832" y="282702"/>
                </a:lnTo>
                <a:lnTo>
                  <a:pt x="89916" y="307848"/>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8446770" y="1466087"/>
            <a:ext cx="180340" cy="0"/>
          </a:xfrm>
          <a:custGeom>
            <a:avLst/>
            <a:gdLst/>
            <a:ahLst/>
            <a:cxnLst/>
            <a:rect l="l" t="t" r="r" b="b"/>
            <a:pathLst>
              <a:path w="180340">
                <a:moveTo>
                  <a:pt x="0" y="0"/>
                </a:moveTo>
                <a:lnTo>
                  <a:pt x="179832"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8536686" y="1466087"/>
            <a:ext cx="0" cy="106045"/>
          </a:xfrm>
          <a:custGeom>
            <a:avLst/>
            <a:gdLst/>
            <a:ahLst/>
            <a:cxnLst/>
            <a:rect l="l" t="t" r="r" b="b"/>
            <a:pathLst>
              <a:path h="106044">
                <a:moveTo>
                  <a:pt x="0" y="0"/>
                </a:moveTo>
                <a:lnTo>
                  <a:pt x="0" y="105918"/>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8536686" y="1879853"/>
            <a:ext cx="0" cy="135890"/>
          </a:xfrm>
          <a:custGeom>
            <a:avLst/>
            <a:gdLst/>
            <a:ahLst/>
            <a:cxnLst/>
            <a:rect l="l" t="t" r="r" b="b"/>
            <a:pathLst>
              <a:path h="135889">
                <a:moveTo>
                  <a:pt x="0" y="0"/>
                </a:moveTo>
                <a:lnTo>
                  <a:pt x="0" y="135636"/>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object 48"/>
          <p:cNvPicPr/>
          <p:nvPr/>
        </p:nvPicPr>
        <p:blipFill>
          <a:blip r:embed="rId10" cstate="print"/>
          <a:stretch>
            <a:fillRect/>
          </a:stretch>
        </p:blipFill>
        <p:spPr>
          <a:xfrm>
            <a:off x="8302752" y="1949957"/>
            <a:ext cx="144018" cy="144018"/>
          </a:xfrm>
          <a:prstGeom prst="rect">
            <a:avLst/>
          </a:prstGeom>
        </p:spPr>
      </p:pic>
      <p:pic>
        <p:nvPicPr>
          <p:cNvPr id="49" name="object 49"/>
          <p:cNvPicPr/>
          <p:nvPr/>
        </p:nvPicPr>
        <p:blipFill>
          <a:blip r:embed="rId11" cstate="print"/>
          <a:stretch>
            <a:fillRect/>
          </a:stretch>
        </p:blipFill>
        <p:spPr>
          <a:xfrm>
            <a:off x="8296383" y="1943588"/>
            <a:ext cx="156756" cy="156756"/>
          </a:xfrm>
          <a:prstGeom prst="rect">
            <a:avLst/>
          </a:prstGeom>
        </p:spPr>
      </p:pic>
      <p:pic>
        <p:nvPicPr>
          <p:cNvPr id="50" name="object 50"/>
          <p:cNvPicPr/>
          <p:nvPr/>
        </p:nvPicPr>
        <p:blipFill>
          <a:blip r:embed="rId12" cstate="print"/>
          <a:stretch>
            <a:fillRect/>
          </a:stretch>
        </p:blipFill>
        <p:spPr>
          <a:xfrm>
            <a:off x="8680704" y="1877567"/>
            <a:ext cx="436625" cy="288798"/>
          </a:xfrm>
          <a:prstGeom prst="rect">
            <a:avLst/>
          </a:prstGeom>
        </p:spPr>
      </p:pic>
      <p:sp>
        <p:nvSpPr>
          <p:cNvPr id="51" name="object 51"/>
          <p:cNvSpPr txBox="1"/>
          <p:nvPr/>
        </p:nvSpPr>
        <p:spPr>
          <a:xfrm>
            <a:off x="8680704" y="1877567"/>
            <a:ext cx="436880" cy="288925"/>
          </a:xfrm>
          <a:prstGeom prst="rect">
            <a:avLst/>
          </a:prstGeom>
          <a:ln w="19075">
            <a:solidFill>
              <a:srgbClr val="0000FF"/>
            </a:solidFill>
          </a:ln>
        </p:spPr>
        <p:txBody>
          <a:bodyPr vert="horz" wrap="square" lIns="0" tIns="42545" rIns="0" bIns="0" rtlCol="0">
            <a:spAutoFit/>
          </a:bodyPr>
          <a:lstStyle/>
          <a:p>
            <a:pPr marL="57785"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10" normalizeH="0" baseline="0" noProof="0" dirty="0">
                <a:ln>
                  <a:noFill/>
                </a:ln>
                <a:solidFill>
                  <a:srgbClr val="0000FF"/>
                </a:solidFill>
                <a:effectLst/>
                <a:uLnTx/>
                <a:uFillTx/>
                <a:latin typeface="Malgun Gothic"/>
                <a:ea typeface="+mn-ea"/>
                <a:cs typeface="Malgun Gothic"/>
              </a:rPr>
              <a:t>CTLE</a:t>
            </a:r>
            <a:endParaRPr kumimoji="0" sz="1200" b="0" i="0" u="none" strike="noStrike" kern="1200" cap="none" spc="0" normalizeH="0" baseline="0" noProof="0" dirty="0">
              <a:ln>
                <a:noFill/>
              </a:ln>
              <a:solidFill>
                <a:prstClr val="black"/>
              </a:solidFill>
              <a:effectLst/>
              <a:uLnTx/>
              <a:uFillTx/>
              <a:latin typeface="Malgun Gothic"/>
              <a:ea typeface="+mn-ea"/>
              <a:cs typeface="Malgun Gothic"/>
            </a:endParaRPr>
          </a:p>
        </p:txBody>
      </p:sp>
      <p:grpSp>
        <p:nvGrpSpPr>
          <p:cNvPr id="52" name="object 52"/>
          <p:cNvGrpSpPr/>
          <p:nvPr/>
        </p:nvGrpSpPr>
        <p:grpSpPr>
          <a:xfrm>
            <a:off x="9657651" y="2012505"/>
            <a:ext cx="601980" cy="720090"/>
            <a:chOff x="9657651" y="2012505"/>
            <a:chExt cx="601980" cy="720090"/>
          </a:xfrm>
        </p:grpSpPr>
        <p:sp>
          <p:nvSpPr>
            <p:cNvPr id="53" name="object 53"/>
            <p:cNvSpPr/>
            <p:nvPr/>
          </p:nvSpPr>
          <p:spPr>
            <a:xfrm>
              <a:off x="9667494" y="2022347"/>
              <a:ext cx="231140" cy="0"/>
            </a:xfrm>
            <a:custGeom>
              <a:avLst/>
              <a:gdLst/>
              <a:ahLst/>
              <a:cxnLst/>
              <a:rect l="l" t="t" r="r" b="b"/>
              <a:pathLst>
                <a:path w="231140">
                  <a:moveTo>
                    <a:pt x="0" y="0"/>
                  </a:moveTo>
                  <a:lnTo>
                    <a:pt x="230886" y="0"/>
                  </a:lnTo>
                </a:path>
              </a:pathLst>
            </a:custGeom>
            <a:ln w="1907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4" name="object 54"/>
            <p:cNvPicPr/>
            <p:nvPr/>
          </p:nvPicPr>
          <p:blipFill>
            <a:blip r:embed="rId13" cstate="print"/>
            <a:stretch>
              <a:fillRect/>
            </a:stretch>
          </p:blipFill>
          <p:spPr>
            <a:xfrm>
              <a:off x="9660636" y="2444495"/>
              <a:ext cx="598931" cy="288036"/>
            </a:xfrm>
            <a:prstGeom prst="rect">
              <a:avLst/>
            </a:prstGeom>
          </p:spPr>
        </p:pic>
      </p:grpSp>
      <p:sp>
        <p:nvSpPr>
          <p:cNvPr id="55" name="object 55"/>
          <p:cNvSpPr txBox="1"/>
          <p:nvPr/>
        </p:nvSpPr>
        <p:spPr>
          <a:xfrm>
            <a:off x="9660635" y="2444495"/>
            <a:ext cx="599440" cy="288290"/>
          </a:xfrm>
          <a:prstGeom prst="rect">
            <a:avLst/>
          </a:prstGeom>
          <a:ln w="19075">
            <a:solidFill>
              <a:srgbClr val="000000"/>
            </a:solidFill>
          </a:ln>
        </p:spPr>
        <p:txBody>
          <a:bodyPr vert="horz" wrap="square" lIns="0" tIns="42545" rIns="0" bIns="0" rtlCol="0">
            <a:spAutoFit/>
          </a:bodyPr>
          <a:lstStyle/>
          <a:p>
            <a:pPr marL="154305"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5" normalizeH="0" baseline="0" noProof="0" dirty="0">
                <a:ln>
                  <a:noFill/>
                </a:ln>
                <a:solidFill>
                  <a:prstClr val="black"/>
                </a:solidFill>
                <a:effectLst/>
                <a:uLnTx/>
                <a:uFillTx/>
                <a:latin typeface="Malgun Gothic"/>
                <a:ea typeface="+mn-ea"/>
                <a:cs typeface="Malgun Gothic"/>
              </a:rPr>
              <a:t>CDR</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pic>
        <p:nvPicPr>
          <p:cNvPr id="56" name="object 56"/>
          <p:cNvPicPr/>
          <p:nvPr/>
        </p:nvPicPr>
        <p:blipFill>
          <a:blip r:embed="rId14" cstate="print"/>
          <a:stretch>
            <a:fillRect/>
          </a:stretch>
        </p:blipFill>
        <p:spPr>
          <a:xfrm>
            <a:off x="9070085" y="2444495"/>
            <a:ext cx="360425" cy="288036"/>
          </a:xfrm>
          <a:prstGeom prst="rect">
            <a:avLst/>
          </a:prstGeom>
        </p:spPr>
      </p:pic>
      <p:sp>
        <p:nvSpPr>
          <p:cNvPr id="57" name="object 57"/>
          <p:cNvSpPr txBox="1"/>
          <p:nvPr/>
        </p:nvSpPr>
        <p:spPr>
          <a:xfrm>
            <a:off x="9070085" y="2444495"/>
            <a:ext cx="360680" cy="288290"/>
          </a:xfrm>
          <a:prstGeom prst="rect">
            <a:avLst/>
          </a:prstGeom>
          <a:ln w="19075">
            <a:solidFill>
              <a:srgbClr val="000000"/>
            </a:solidFill>
          </a:ln>
        </p:spPr>
        <p:txBody>
          <a:bodyPr vert="horz" wrap="square" lIns="0" tIns="42545" rIns="0" bIns="0" rtlCol="0">
            <a:spAutoFit/>
          </a:bodyPr>
          <a:lstStyle/>
          <a:p>
            <a:pPr marL="67310"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58" name="object 58"/>
          <p:cNvGrpSpPr/>
          <p:nvPr/>
        </p:nvGrpSpPr>
        <p:grpSpPr>
          <a:xfrm>
            <a:off x="4134611" y="1594103"/>
            <a:ext cx="6306820" cy="1045844"/>
            <a:chOff x="4134611" y="1594103"/>
            <a:chExt cx="6306820" cy="1045844"/>
          </a:xfrm>
        </p:grpSpPr>
        <p:pic>
          <p:nvPicPr>
            <p:cNvPr id="59" name="object 59"/>
            <p:cNvPicPr/>
            <p:nvPr/>
          </p:nvPicPr>
          <p:blipFill>
            <a:blip r:embed="rId15" cstate="print"/>
            <a:stretch>
              <a:fillRect/>
            </a:stretch>
          </p:blipFill>
          <p:spPr>
            <a:xfrm>
              <a:off x="9948671" y="1877567"/>
              <a:ext cx="287274" cy="288798"/>
            </a:xfrm>
            <a:prstGeom prst="rect">
              <a:avLst/>
            </a:prstGeom>
          </p:spPr>
        </p:pic>
        <p:sp>
          <p:nvSpPr>
            <p:cNvPr id="60" name="object 60"/>
            <p:cNvSpPr/>
            <p:nvPr/>
          </p:nvSpPr>
          <p:spPr>
            <a:xfrm>
              <a:off x="9948671" y="1877567"/>
              <a:ext cx="287655" cy="288925"/>
            </a:xfrm>
            <a:custGeom>
              <a:avLst/>
              <a:gdLst/>
              <a:ahLst/>
              <a:cxnLst/>
              <a:rect l="l" t="t" r="r" b="b"/>
              <a:pathLst>
                <a:path w="287654" h="288925">
                  <a:moveTo>
                    <a:pt x="0" y="0"/>
                  </a:moveTo>
                  <a:lnTo>
                    <a:pt x="0" y="288798"/>
                  </a:lnTo>
                  <a:lnTo>
                    <a:pt x="287274" y="288798"/>
                  </a:lnTo>
                  <a:lnTo>
                    <a:pt x="287274" y="0"/>
                  </a:lnTo>
                  <a:lnTo>
                    <a:pt x="0" y="0"/>
                  </a:lnTo>
                  <a:close/>
                </a:path>
              </a:pathLst>
            </a:custGeom>
            <a:ln w="15252">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bject 61"/>
            <p:cNvSpPr/>
            <p:nvPr/>
          </p:nvSpPr>
          <p:spPr>
            <a:xfrm>
              <a:off x="10029444" y="1906523"/>
              <a:ext cx="115570" cy="231140"/>
            </a:xfrm>
            <a:custGeom>
              <a:avLst/>
              <a:gdLst/>
              <a:ahLst/>
              <a:cxnLst/>
              <a:rect l="l" t="t" r="r" b="b"/>
              <a:pathLst>
                <a:path w="115570" h="231139">
                  <a:moveTo>
                    <a:pt x="0" y="230886"/>
                  </a:moveTo>
                  <a:lnTo>
                    <a:pt x="57150" y="230886"/>
                  </a:lnTo>
                  <a:lnTo>
                    <a:pt x="57149" y="0"/>
                  </a:lnTo>
                  <a:lnTo>
                    <a:pt x="115061" y="0"/>
                  </a:lnTo>
                </a:path>
              </a:pathLst>
            </a:custGeom>
            <a:ln w="15252">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object 62"/>
            <p:cNvSpPr/>
            <p:nvPr/>
          </p:nvSpPr>
          <p:spPr>
            <a:xfrm>
              <a:off x="10046208" y="2022347"/>
              <a:ext cx="92710" cy="0"/>
            </a:xfrm>
            <a:custGeom>
              <a:avLst/>
              <a:gdLst/>
              <a:ahLst/>
              <a:cxnLst/>
              <a:rect l="l" t="t" r="r" b="b"/>
              <a:pathLst>
                <a:path w="92709">
                  <a:moveTo>
                    <a:pt x="0" y="0"/>
                  </a:moveTo>
                  <a:lnTo>
                    <a:pt x="92202" y="0"/>
                  </a:lnTo>
                </a:path>
              </a:pathLst>
            </a:custGeom>
            <a:ln w="15252">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object 63"/>
            <p:cNvSpPr/>
            <p:nvPr/>
          </p:nvSpPr>
          <p:spPr>
            <a:xfrm>
              <a:off x="10235946" y="2022347"/>
              <a:ext cx="195580" cy="0"/>
            </a:xfrm>
            <a:custGeom>
              <a:avLst/>
              <a:gdLst/>
              <a:ahLst/>
              <a:cxnLst/>
              <a:rect l="l" t="t" r="r" b="b"/>
              <a:pathLst>
                <a:path w="195579">
                  <a:moveTo>
                    <a:pt x="0" y="0"/>
                  </a:moveTo>
                  <a:lnTo>
                    <a:pt x="195072" y="0"/>
                  </a:lnTo>
                </a:path>
              </a:pathLst>
            </a:custGeom>
            <a:ln w="1907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object 64"/>
            <p:cNvSpPr/>
            <p:nvPr/>
          </p:nvSpPr>
          <p:spPr>
            <a:xfrm>
              <a:off x="10086594" y="2244089"/>
              <a:ext cx="0" cy="200660"/>
            </a:xfrm>
            <a:custGeom>
              <a:avLst/>
              <a:gdLst/>
              <a:ahLst/>
              <a:cxnLst/>
              <a:rect l="l" t="t" r="r" b="b"/>
              <a:pathLst>
                <a:path h="200660">
                  <a:moveTo>
                    <a:pt x="0" y="0"/>
                  </a:moveTo>
                  <a:lnTo>
                    <a:pt x="0" y="200406"/>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object 65"/>
            <p:cNvSpPr/>
            <p:nvPr/>
          </p:nvSpPr>
          <p:spPr>
            <a:xfrm>
              <a:off x="10035540" y="2166365"/>
              <a:ext cx="102235" cy="102235"/>
            </a:xfrm>
            <a:custGeom>
              <a:avLst/>
              <a:gdLst/>
              <a:ahLst/>
              <a:cxnLst/>
              <a:rect l="l" t="t" r="r" b="b"/>
              <a:pathLst>
                <a:path w="102234" h="102235">
                  <a:moveTo>
                    <a:pt x="102107" y="102107"/>
                  </a:moveTo>
                  <a:lnTo>
                    <a:pt x="51053" y="0"/>
                  </a:lnTo>
                  <a:lnTo>
                    <a:pt x="0" y="102107"/>
                  </a:lnTo>
                  <a:lnTo>
                    <a:pt x="24955" y="93106"/>
                  </a:lnTo>
                  <a:lnTo>
                    <a:pt x="51053" y="90106"/>
                  </a:lnTo>
                  <a:lnTo>
                    <a:pt x="77152" y="93106"/>
                  </a:lnTo>
                  <a:lnTo>
                    <a:pt x="102107" y="102107"/>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object 66"/>
            <p:cNvSpPr/>
            <p:nvPr/>
          </p:nvSpPr>
          <p:spPr>
            <a:xfrm>
              <a:off x="9430511" y="2588513"/>
              <a:ext cx="158750" cy="0"/>
            </a:xfrm>
            <a:custGeom>
              <a:avLst/>
              <a:gdLst/>
              <a:ahLst/>
              <a:cxnLst/>
              <a:rect l="l" t="t" r="r" b="b"/>
              <a:pathLst>
                <a:path w="158750">
                  <a:moveTo>
                    <a:pt x="158496"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object 67"/>
            <p:cNvSpPr/>
            <p:nvPr/>
          </p:nvSpPr>
          <p:spPr>
            <a:xfrm>
              <a:off x="9563861" y="2536697"/>
              <a:ext cx="102235" cy="102870"/>
            </a:xfrm>
            <a:custGeom>
              <a:avLst/>
              <a:gdLst/>
              <a:ahLst/>
              <a:cxnLst/>
              <a:rect l="l" t="t" r="r" b="b"/>
              <a:pathLst>
                <a:path w="102234"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object 68"/>
            <p:cNvSpPr/>
            <p:nvPr/>
          </p:nvSpPr>
          <p:spPr>
            <a:xfrm>
              <a:off x="9773411" y="2022347"/>
              <a:ext cx="1270" cy="344805"/>
            </a:xfrm>
            <a:custGeom>
              <a:avLst/>
              <a:gdLst/>
              <a:ahLst/>
              <a:cxnLst/>
              <a:rect l="l" t="t" r="r" b="b"/>
              <a:pathLst>
                <a:path w="1270" h="344805">
                  <a:moveTo>
                    <a:pt x="761" y="0"/>
                  </a:moveTo>
                  <a:lnTo>
                    <a:pt x="0" y="344424"/>
                  </a:lnTo>
                </a:path>
              </a:pathLst>
            </a:custGeom>
            <a:ln w="1915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9" name="object 69"/>
            <p:cNvPicPr/>
            <p:nvPr/>
          </p:nvPicPr>
          <p:blipFill>
            <a:blip r:embed="rId16" cstate="print"/>
            <a:stretch>
              <a:fillRect/>
            </a:stretch>
          </p:blipFill>
          <p:spPr>
            <a:xfrm>
              <a:off x="9722358" y="2341625"/>
              <a:ext cx="102108" cy="102870"/>
            </a:xfrm>
            <a:prstGeom prst="rect">
              <a:avLst/>
            </a:prstGeom>
          </p:spPr>
        </p:pic>
        <p:pic>
          <p:nvPicPr>
            <p:cNvPr id="70" name="object 70"/>
            <p:cNvPicPr/>
            <p:nvPr/>
          </p:nvPicPr>
          <p:blipFill>
            <a:blip r:embed="rId17" cstate="print"/>
            <a:stretch>
              <a:fillRect/>
            </a:stretch>
          </p:blipFill>
          <p:spPr>
            <a:xfrm>
              <a:off x="6162090" y="1971852"/>
              <a:ext cx="74320" cy="74320"/>
            </a:xfrm>
            <a:prstGeom prst="rect">
              <a:avLst/>
            </a:prstGeom>
          </p:spPr>
        </p:pic>
        <p:pic>
          <p:nvPicPr>
            <p:cNvPr id="71" name="object 71"/>
            <p:cNvPicPr/>
            <p:nvPr/>
          </p:nvPicPr>
          <p:blipFill>
            <a:blip r:embed="rId18" cstate="print"/>
            <a:stretch>
              <a:fillRect/>
            </a:stretch>
          </p:blipFill>
          <p:spPr>
            <a:xfrm>
              <a:off x="8499144" y="1984806"/>
              <a:ext cx="74320" cy="74320"/>
            </a:xfrm>
            <a:prstGeom prst="rect">
              <a:avLst/>
            </a:prstGeom>
          </p:spPr>
        </p:pic>
        <p:sp>
          <p:nvSpPr>
            <p:cNvPr id="72" name="object 72"/>
            <p:cNvSpPr/>
            <p:nvPr/>
          </p:nvSpPr>
          <p:spPr>
            <a:xfrm>
              <a:off x="9736835" y="1989581"/>
              <a:ext cx="64769" cy="64769"/>
            </a:xfrm>
            <a:custGeom>
              <a:avLst/>
              <a:gdLst/>
              <a:ahLst/>
              <a:cxnLst/>
              <a:rect l="l" t="t" r="r" b="b"/>
              <a:pathLst>
                <a:path w="64770" h="64769">
                  <a:moveTo>
                    <a:pt x="64770" y="32765"/>
                  </a:moveTo>
                  <a:lnTo>
                    <a:pt x="62222" y="19931"/>
                  </a:lnTo>
                  <a:lnTo>
                    <a:pt x="55245" y="9524"/>
                  </a:lnTo>
                  <a:lnTo>
                    <a:pt x="44838" y="2547"/>
                  </a:lnTo>
                  <a:lnTo>
                    <a:pt x="32004" y="0"/>
                  </a:lnTo>
                  <a:lnTo>
                    <a:pt x="19609" y="2547"/>
                  </a:lnTo>
                  <a:lnTo>
                    <a:pt x="9429" y="9524"/>
                  </a:lnTo>
                  <a:lnTo>
                    <a:pt x="2536" y="19931"/>
                  </a:lnTo>
                  <a:lnTo>
                    <a:pt x="0" y="32765"/>
                  </a:lnTo>
                  <a:lnTo>
                    <a:pt x="2536" y="45160"/>
                  </a:lnTo>
                  <a:lnTo>
                    <a:pt x="9429" y="55340"/>
                  </a:lnTo>
                  <a:lnTo>
                    <a:pt x="19609" y="62233"/>
                  </a:lnTo>
                  <a:lnTo>
                    <a:pt x="32004" y="64769"/>
                  </a:lnTo>
                  <a:lnTo>
                    <a:pt x="44838" y="62233"/>
                  </a:lnTo>
                  <a:lnTo>
                    <a:pt x="55245" y="55340"/>
                  </a:lnTo>
                  <a:lnTo>
                    <a:pt x="62222" y="45160"/>
                  </a:lnTo>
                  <a:lnTo>
                    <a:pt x="64770" y="32765"/>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object 73"/>
            <p:cNvSpPr/>
            <p:nvPr/>
          </p:nvSpPr>
          <p:spPr>
            <a:xfrm>
              <a:off x="9736835" y="1989581"/>
              <a:ext cx="64769" cy="64769"/>
            </a:xfrm>
            <a:custGeom>
              <a:avLst/>
              <a:gdLst/>
              <a:ahLst/>
              <a:cxnLst/>
              <a:rect l="l" t="t" r="r" b="b"/>
              <a:pathLst>
                <a:path w="64770" h="64769">
                  <a:moveTo>
                    <a:pt x="64770" y="32765"/>
                  </a:moveTo>
                  <a:lnTo>
                    <a:pt x="62222" y="19931"/>
                  </a:lnTo>
                  <a:lnTo>
                    <a:pt x="55245" y="9524"/>
                  </a:lnTo>
                  <a:lnTo>
                    <a:pt x="44838" y="2547"/>
                  </a:lnTo>
                  <a:lnTo>
                    <a:pt x="32004" y="0"/>
                  </a:lnTo>
                  <a:lnTo>
                    <a:pt x="19609" y="2547"/>
                  </a:lnTo>
                  <a:lnTo>
                    <a:pt x="9429" y="9524"/>
                  </a:lnTo>
                  <a:lnTo>
                    <a:pt x="2536" y="19931"/>
                  </a:lnTo>
                  <a:lnTo>
                    <a:pt x="0" y="32765"/>
                  </a:lnTo>
                  <a:lnTo>
                    <a:pt x="2536" y="45160"/>
                  </a:lnTo>
                  <a:lnTo>
                    <a:pt x="9429" y="55340"/>
                  </a:lnTo>
                  <a:lnTo>
                    <a:pt x="19609" y="62233"/>
                  </a:lnTo>
                  <a:lnTo>
                    <a:pt x="32004" y="64769"/>
                  </a:lnTo>
                  <a:lnTo>
                    <a:pt x="44838" y="62233"/>
                  </a:lnTo>
                  <a:lnTo>
                    <a:pt x="55245" y="55340"/>
                  </a:lnTo>
                  <a:lnTo>
                    <a:pt x="62222" y="45160"/>
                  </a:lnTo>
                  <a:lnTo>
                    <a:pt x="64770" y="32765"/>
                  </a:lnTo>
                  <a:close/>
                </a:path>
              </a:pathLst>
            </a:custGeom>
            <a:ln w="9550">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object 74"/>
            <p:cNvSpPr/>
            <p:nvPr/>
          </p:nvSpPr>
          <p:spPr>
            <a:xfrm>
              <a:off x="5145023" y="2009393"/>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object 75"/>
            <p:cNvSpPr/>
            <p:nvPr/>
          </p:nvSpPr>
          <p:spPr>
            <a:xfrm>
              <a:off x="5191505" y="1957577"/>
              <a:ext cx="102235" cy="102870"/>
            </a:xfrm>
            <a:custGeom>
              <a:avLst/>
              <a:gdLst/>
              <a:ahLst/>
              <a:cxnLst/>
              <a:rect l="l" t="t" r="r" b="b"/>
              <a:pathLst>
                <a:path w="102235" h="102869">
                  <a:moveTo>
                    <a:pt x="102108" y="51815"/>
                  </a:moveTo>
                  <a:lnTo>
                    <a:pt x="0" y="0"/>
                  </a:lnTo>
                  <a:lnTo>
                    <a:pt x="9001" y="25396"/>
                  </a:lnTo>
                  <a:lnTo>
                    <a:pt x="12001" y="51720"/>
                  </a:lnTo>
                  <a:lnTo>
                    <a:pt x="9001" y="77902"/>
                  </a:lnTo>
                  <a:lnTo>
                    <a:pt x="0" y="102869"/>
                  </a:lnTo>
                  <a:lnTo>
                    <a:pt x="102108"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object 76"/>
            <p:cNvSpPr/>
            <p:nvPr/>
          </p:nvSpPr>
          <p:spPr>
            <a:xfrm>
              <a:off x="9749027" y="2022347"/>
              <a:ext cx="123189" cy="0"/>
            </a:xfrm>
            <a:custGeom>
              <a:avLst/>
              <a:gdLst/>
              <a:ahLst/>
              <a:cxnLst/>
              <a:rect l="l" t="t" r="r" b="b"/>
              <a:pathLst>
                <a:path w="123190">
                  <a:moveTo>
                    <a:pt x="0" y="0"/>
                  </a:moveTo>
                  <a:lnTo>
                    <a:pt x="122682" y="0"/>
                  </a:lnTo>
                </a:path>
              </a:pathLst>
            </a:custGeom>
            <a:ln w="1907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object 77"/>
            <p:cNvSpPr/>
            <p:nvPr/>
          </p:nvSpPr>
          <p:spPr>
            <a:xfrm>
              <a:off x="9846564" y="1970531"/>
              <a:ext cx="102235" cy="102870"/>
            </a:xfrm>
            <a:custGeom>
              <a:avLst/>
              <a:gdLst/>
              <a:ahLst/>
              <a:cxnLst/>
              <a:rect l="l" t="t" r="r" b="b"/>
              <a:pathLst>
                <a:path w="102234" h="102869">
                  <a:moveTo>
                    <a:pt x="102107" y="51815"/>
                  </a:moveTo>
                  <a:lnTo>
                    <a:pt x="0" y="0"/>
                  </a:lnTo>
                  <a:lnTo>
                    <a:pt x="9001" y="25288"/>
                  </a:lnTo>
                  <a:lnTo>
                    <a:pt x="12001" y="51434"/>
                  </a:lnTo>
                  <a:lnTo>
                    <a:pt x="9001" y="77581"/>
                  </a:lnTo>
                  <a:lnTo>
                    <a:pt x="0" y="102869"/>
                  </a:lnTo>
                  <a:lnTo>
                    <a:pt x="102107" y="51815"/>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object 78"/>
            <p:cNvSpPr/>
            <p:nvPr/>
          </p:nvSpPr>
          <p:spPr>
            <a:xfrm>
              <a:off x="4748783" y="1739645"/>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object 79"/>
            <p:cNvSpPr/>
            <p:nvPr/>
          </p:nvSpPr>
          <p:spPr>
            <a:xfrm>
              <a:off x="4796027" y="1687829"/>
              <a:ext cx="102235" cy="102870"/>
            </a:xfrm>
            <a:custGeom>
              <a:avLst/>
              <a:gdLst/>
              <a:ahLst/>
              <a:cxnLst/>
              <a:rect l="l" t="t" r="r" b="b"/>
              <a:pathLst>
                <a:path w="102235" h="102869">
                  <a:moveTo>
                    <a:pt x="102108" y="51815"/>
                  </a:moveTo>
                  <a:lnTo>
                    <a:pt x="0" y="0"/>
                  </a:lnTo>
                  <a:lnTo>
                    <a:pt x="9001" y="25396"/>
                  </a:lnTo>
                  <a:lnTo>
                    <a:pt x="12001" y="51720"/>
                  </a:lnTo>
                  <a:lnTo>
                    <a:pt x="9001" y="77902"/>
                  </a:lnTo>
                  <a:lnTo>
                    <a:pt x="0" y="102869"/>
                  </a:lnTo>
                  <a:lnTo>
                    <a:pt x="102108"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object 80"/>
            <p:cNvSpPr/>
            <p:nvPr/>
          </p:nvSpPr>
          <p:spPr>
            <a:xfrm>
              <a:off x="4748783" y="1920239"/>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object 81"/>
            <p:cNvSpPr/>
            <p:nvPr/>
          </p:nvSpPr>
          <p:spPr>
            <a:xfrm>
              <a:off x="4796027" y="1869185"/>
              <a:ext cx="102235" cy="102235"/>
            </a:xfrm>
            <a:custGeom>
              <a:avLst/>
              <a:gdLst/>
              <a:ahLst/>
              <a:cxnLst/>
              <a:rect l="l" t="t" r="r" b="b"/>
              <a:pathLst>
                <a:path w="102235" h="102235">
                  <a:moveTo>
                    <a:pt x="102108" y="51053"/>
                  </a:moveTo>
                  <a:lnTo>
                    <a:pt x="0" y="0"/>
                  </a:lnTo>
                  <a:lnTo>
                    <a:pt x="9001" y="24955"/>
                  </a:lnTo>
                  <a:lnTo>
                    <a:pt x="12001" y="51053"/>
                  </a:lnTo>
                  <a:lnTo>
                    <a:pt x="9001" y="77152"/>
                  </a:lnTo>
                  <a:lnTo>
                    <a:pt x="0" y="102107"/>
                  </a:lnTo>
                  <a:lnTo>
                    <a:pt x="102108"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object 82"/>
            <p:cNvSpPr/>
            <p:nvPr/>
          </p:nvSpPr>
          <p:spPr>
            <a:xfrm>
              <a:off x="4748783" y="2101595"/>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4796027" y="2049779"/>
              <a:ext cx="102235" cy="102870"/>
            </a:xfrm>
            <a:custGeom>
              <a:avLst/>
              <a:gdLst/>
              <a:ahLst/>
              <a:cxnLst/>
              <a:rect l="l" t="t" r="r" b="b"/>
              <a:pathLst>
                <a:path w="102235" h="102869">
                  <a:moveTo>
                    <a:pt x="102108" y="51815"/>
                  </a:moveTo>
                  <a:lnTo>
                    <a:pt x="0" y="0"/>
                  </a:lnTo>
                  <a:lnTo>
                    <a:pt x="9001" y="25288"/>
                  </a:lnTo>
                  <a:lnTo>
                    <a:pt x="12001" y="51434"/>
                  </a:lnTo>
                  <a:lnTo>
                    <a:pt x="9001" y="77581"/>
                  </a:lnTo>
                  <a:lnTo>
                    <a:pt x="0" y="102869"/>
                  </a:lnTo>
                  <a:lnTo>
                    <a:pt x="102108"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object 84"/>
            <p:cNvSpPr/>
            <p:nvPr/>
          </p:nvSpPr>
          <p:spPr>
            <a:xfrm>
              <a:off x="4748783" y="2282189"/>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object 85"/>
            <p:cNvSpPr/>
            <p:nvPr/>
          </p:nvSpPr>
          <p:spPr>
            <a:xfrm>
              <a:off x="4796027" y="2231135"/>
              <a:ext cx="102235" cy="102235"/>
            </a:xfrm>
            <a:custGeom>
              <a:avLst/>
              <a:gdLst/>
              <a:ahLst/>
              <a:cxnLst/>
              <a:rect l="l" t="t" r="r" b="b"/>
              <a:pathLst>
                <a:path w="102235" h="102235">
                  <a:moveTo>
                    <a:pt x="102108" y="51053"/>
                  </a:moveTo>
                  <a:lnTo>
                    <a:pt x="0" y="0"/>
                  </a:lnTo>
                  <a:lnTo>
                    <a:pt x="9001" y="24955"/>
                  </a:lnTo>
                  <a:lnTo>
                    <a:pt x="12001" y="51053"/>
                  </a:lnTo>
                  <a:lnTo>
                    <a:pt x="9001" y="77152"/>
                  </a:lnTo>
                  <a:lnTo>
                    <a:pt x="0" y="102107"/>
                  </a:lnTo>
                  <a:lnTo>
                    <a:pt x="102108"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6" name="object 86"/>
            <p:cNvPicPr/>
            <p:nvPr/>
          </p:nvPicPr>
          <p:blipFill>
            <a:blip r:embed="rId19" cstate="print"/>
            <a:stretch>
              <a:fillRect/>
            </a:stretch>
          </p:blipFill>
          <p:spPr>
            <a:xfrm>
              <a:off x="4134611" y="1594103"/>
              <a:ext cx="598932" cy="831341"/>
            </a:xfrm>
            <a:prstGeom prst="rect">
              <a:avLst/>
            </a:prstGeom>
          </p:spPr>
        </p:pic>
      </p:grpSp>
      <p:sp>
        <p:nvSpPr>
          <p:cNvPr id="87" name="object 87"/>
          <p:cNvSpPr txBox="1"/>
          <p:nvPr/>
        </p:nvSpPr>
        <p:spPr>
          <a:xfrm>
            <a:off x="4134611" y="1594103"/>
            <a:ext cx="599440" cy="831850"/>
          </a:xfrm>
          <a:prstGeom prst="rect">
            <a:avLst/>
          </a:prstGeom>
          <a:ln w="19075">
            <a:solidFill>
              <a:srgbClr val="000000"/>
            </a:solidFill>
          </a:ln>
        </p:spPr>
        <p:txBody>
          <a:bodyPr vert="horz" wrap="square" lIns="0" tIns="6985" rIns="0" bIns="0" rtlCol="0">
            <a:spAutoFit/>
          </a:bodyPr>
          <a:lstStyle/>
          <a:p>
            <a:pPr marL="0" marR="0" lvl="0" indent="0" algn="l" defTabSz="914400" rtl="0" eaLnBrk="1" fontAlgn="auto" latinLnBrk="0" hangingPunct="1">
              <a:lnSpc>
                <a:spcPct val="100000"/>
              </a:lnSpc>
              <a:spcBef>
                <a:spcPts val="55"/>
              </a:spcBef>
              <a:spcAft>
                <a:spcPts val="0"/>
              </a:spcAft>
              <a:buClrTx/>
              <a:buSzTx/>
              <a:buFontTx/>
              <a:buNone/>
              <a:tabLst/>
              <a:defRPr/>
            </a:pPr>
            <a:endParaRPr kumimoji="0" sz="2100" b="0" i="0" u="none" strike="noStrike" kern="1200" cap="none" spc="0" normalizeH="0" baseline="0" noProof="0">
              <a:ln>
                <a:noFill/>
              </a:ln>
              <a:solidFill>
                <a:prstClr val="black"/>
              </a:solidFill>
              <a:effectLst/>
              <a:uLnTx/>
              <a:uFillTx/>
              <a:latin typeface="Times New Roman"/>
              <a:ea typeface="+mn-ea"/>
              <a:cs typeface="Times New Roman"/>
            </a:endParaRPr>
          </a:p>
          <a:p>
            <a:pPr marL="8128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pic>
        <p:nvPicPr>
          <p:cNvPr id="88" name="object 88"/>
          <p:cNvPicPr/>
          <p:nvPr/>
        </p:nvPicPr>
        <p:blipFill>
          <a:blip r:embed="rId20" cstate="print"/>
          <a:stretch>
            <a:fillRect/>
          </a:stretch>
        </p:blipFill>
        <p:spPr>
          <a:xfrm>
            <a:off x="11051285" y="1606296"/>
            <a:ext cx="598931" cy="831341"/>
          </a:xfrm>
          <a:prstGeom prst="rect">
            <a:avLst/>
          </a:prstGeom>
        </p:spPr>
      </p:pic>
      <p:sp>
        <p:nvSpPr>
          <p:cNvPr id="89" name="object 89"/>
          <p:cNvSpPr txBox="1"/>
          <p:nvPr/>
        </p:nvSpPr>
        <p:spPr>
          <a:xfrm>
            <a:off x="11051285" y="1606296"/>
            <a:ext cx="599440" cy="831850"/>
          </a:xfrm>
          <a:prstGeom prst="rect">
            <a:avLst/>
          </a:prstGeom>
          <a:ln w="19075">
            <a:solidFill>
              <a:srgbClr val="000000"/>
            </a:solidFill>
          </a:ln>
        </p:spPr>
        <p:txBody>
          <a:bodyPr vert="horz" wrap="square" lIns="0" tIns="6985" rIns="0" bIns="0" rtlCol="0">
            <a:spAutoFit/>
          </a:bodyPr>
          <a:lstStyle/>
          <a:p>
            <a:pPr marL="0" marR="0" lvl="0" indent="0" algn="l" defTabSz="914400" rtl="0" eaLnBrk="1" fontAlgn="auto" latinLnBrk="0" hangingPunct="1">
              <a:lnSpc>
                <a:spcPct val="100000"/>
              </a:lnSpc>
              <a:spcBef>
                <a:spcPts val="55"/>
              </a:spcBef>
              <a:spcAft>
                <a:spcPts val="0"/>
              </a:spcAft>
              <a:buClrTx/>
              <a:buSzTx/>
              <a:buFontTx/>
              <a:buNone/>
              <a:tabLst/>
              <a:defRPr/>
            </a:pPr>
            <a:endParaRPr kumimoji="0" sz="2100" b="0" i="0" u="none" strike="noStrike" kern="1200" cap="none" spc="0" normalizeH="0" baseline="0" noProof="0">
              <a:ln>
                <a:noFill/>
              </a:ln>
              <a:solidFill>
                <a:prstClr val="black"/>
              </a:solidFill>
              <a:effectLst/>
              <a:uLnTx/>
              <a:uFillTx/>
              <a:latin typeface="Times New Roman"/>
              <a:ea typeface="+mn-ea"/>
              <a:cs typeface="Times New Roman"/>
            </a:endParaRPr>
          </a:p>
          <a:p>
            <a:pPr marL="8128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90" name="object 90"/>
          <p:cNvGrpSpPr/>
          <p:nvPr/>
        </p:nvGrpSpPr>
        <p:grpSpPr>
          <a:xfrm>
            <a:off x="4805171" y="1648968"/>
            <a:ext cx="6243955" cy="735711"/>
            <a:chOff x="4805171" y="1648968"/>
            <a:chExt cx="6243955" cy="735711"/>
          </a:xfrm>
        </p:grpSpPr>
        <p:pic>
          <p:nvPicPr>
            <p:cNvPr id="91" name="object 91"/>
            <p:cNvPicPr/>
            <p:nvPr/>
          </p:nvPicPr>
          <p:blipFill>
            <a:blip r:embed="rId21" cstate="print"/>
            <a:stretch>
              <a:fillRect/>
            </a:stretch>
          </p:blipFill>
          <p:spPr>
            <a:xfrm>
              <a:off x="10595609" y="1663444"/>
              <a:ext cx="255270" cy="720853"/>
            </a:xfrm>
            <a:prstGeom prst="rect">
              <a:avLst/>
            </a:prstGeom>
          </p:spPr>
        </p:pic>
        <p:sp>
          <p:nvSpPr>
            <p:cNvPr id="92" name="object 92"/>
            <p:cNvSpPr/>
            <p:nvPr/>
          </p:nvSpPr>
          <p:spPr>
            <a:xfrm>
              <a:off x="10595609" y="1662684"/>
              <a:ext cx="255270" cy="721995"/>
            </a:xfrm>
            <a:custGeom>
              <a:avLst/>
              <a:gdLst/>
              <a:ahLst/>
              <a:cxnLst/>
              <a:rect l="l" t="t" r="r" b="b"/>
              <a:pathLst>
                <a:path w="255270" h="721994">
                  <a:moveTo>
                    <a:pt x="0" y="541020"/>
                  </a:moveTo>
                  <a:lnTo>
                    <a:pt x="0" y="179070"/>
                  </a:lnTo>
                  <a:lnTo>
                    <a:pt x="255269" y="0"/>
                  </a:lnTo>
                  <a:lnTo>
                    <a:pt x="255270" y="721614"/>
                  </a:lnTo>
                  <a:lnTo>
                    <a:pt x="0" y="541020"/>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object 93"/>
            <p:cNvSpPr/>
            <p:nvPr/>
          </p:nvSpPr>
          <p:spPr>
            <a:xfrm>
              <a:off x="10493501" y="2022348"/>
              <a:ext cx="102235" cy="0"/>
            </a:xfrm>
            <a:custGeom>
              <a:avLst/>
              <a:gdLst/>
              <a:ahLst/>
              <a:cxnLst/>
              <a:rect l="l" t="t" r="r" b="b"/>
              <a:pathLst>
                <a:path w="102234">
                  <a:moveTo>
                    <a:pt x="0" y="0"/>
                  </a:moveTo>
                  <a:lnTo>
                    <a:pt x="102107"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object 94"/>
            <p:cNvSpPr/>
            <p:nvPr/>
          </p:nvSpPr>
          <p:spPr>
            <a:xfrm>
              <a:off x="10850879" y="2293620"/>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object 95"/>
            <p:cNvSpPr/>
            <p:nvPr/>
          </p:nvSpPr>
          <p:spPr>
            <a:xfrm>
              <a:off x="10850879" y="2113026"/>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object 96"/>
            <p:cNvSpPr/>
            <p:nvPr/>
          </p:nvSpPr>
          <p:spPr>
            <a:xfrm>
              <a:off x="10850879" y="1931670"/>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object 97"/>
            <p:cNvSpPr/>
            <p:nvPr/>
          </p:nvSpPr>
          <p:spPr>
            <a:xfrm>
              <a:off x="10850879" y="1751076"/>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8" name="object 98"/>
            <p:cNvPicPr/>
            <p:nvPr/>
          </p:nvPicPr>
          <p:blipFill>
            <a:blip r:embed="rId22" cstate="print"/>
            <a:stretch>
              <a:fillRect/>
            </a:stretch>
          </p:blipFill>
          <p:spPr>
            <a:xfrm>
              <a:off x="4898135" y="1648968"/>
              <a:ext cx="255269" cy="721613"/>
            </a:xfrm>
            <a:prstGeom prst="rect">
              <a:avLst/>
            </a:prstGeom>
          </p:spPr>
        </p:pic>
        <p:sp>
          <p:nvSpPr>
            <p:cNvPr id="99" name="object 99"/>
            <p:cNvSpPr/>
            <p:nvPr/>
          </p:nvSpPr>
          <p:spPr>
            <a:xfrm>
              <a:off x="4898135" y="1648968"/>
              <a:ext cx="255270" cy="721995"/>
            </a:xfrm>
            <a:custGeom>
              <a:avLst/>
              <a:gdLst/>
              <a:ahLst/>
              <a:cxnLst/>
              <a:rect l="l" t="t" r="r" b="b"/>
              <a:pathLst>
                <a:path w="255270" h="721994">
                  <a:moveTo>
                    <a:pt x="255270" y="180594"/>
                  </a:moveTo>
                  <a:lnTo>
                    <a:pt x="255270" y="542544"/>
                  </a:lnTo>
                  <a:lnTo>
                    <a:pt x="0" y="721614"/>
                  </a:lnTo>
                  <a:lnTo>
                    <a:pt x="0" y="0"/>
                  </a:lnTo>
                  <a:lnTo>
                    <a:pt x="255270" y="180594"/>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object 100"/>
            <p:cNvSpPr/>
            <p:nvPr/>
          </p:nvSpPr>
          <p:spPr>
            <a:xfrm>
              <a:off x="5153405" y="2010918"/>
              <a:ext cx="102235" cy="0"/>
            </a:xfrm>
            <a:custGeom>
              <a:avLst/>
              <a:gdLst/>
              <a:ahLst/>
              <a:cxnLst/>
              <a:rect l="l" t="t" r="r" b="b"/>
              <a:pathLst>
                <a:path w="102235">
                  <a:moveTo>
                    <a:pt x="102108"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object 101"/>
            <p:cNvSpPr/>
            <p:nvPr/>
          </p:nvSpPr>
          <p:spPr>
            <a:xfrm>
              <a:off x="4805171" y="1739646"/>
              <a:ext cx="93345" cy="0"/>
            </a:xfrm>
            <a:custGeom>
              <a:avLst/>
              <a:gdLst/>
              <a:ahLst/>
              <a:cxnLst/>
              <a:rect l="l" t="t" r="r" b="b"/>
              <a:pathLst>
                <a:path w="93345">
                  <a:moveTo>
                    <a:pt x="92963"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object 102"/>
            <p:cNvSpPr/>
            <p:nvPr/>
          </p:nvSpPr>
          <p:spPr>
            <a:xfrm>
              <a:off x="4805171" y="1920240"/>
              <a:ext cx="93345" cy="0"/>
            </a:xfrm>
            <a:custGeom>
              <a:avLst/>
              <a:gdLst/>
              <a:ahLst/>
              <a:cxnLst/>
              <a:rect l="l" t="t" r="r" b="b"/>
              <a:pathLst>
                <a:path w="93345">
                  <a:moveTo>
                    <a:pt x="92963"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object 103"/>
            <p:cNvSpPr/>
            <p:nvPr/>
          </p:nvSpPr>
          <p:spPr>
            <a:xfrm>
              <a:off x="4805171" y="2101596"/>
              <a:ext cx="93345" cy="0"/>
            </a:xfrm>
            <a:custGeom>
              <a:avLst/>
              <a:gdLst/>
              <a:ahLst/>
              <a:cxnLst/>
              <a:rect l="l" t="t" r="r" b="b"/>
              <a:pathLst>
                <a:path w="93345">
                  <a:moveTo>
                    <a:pt x="92963"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object 104"/>
            <p:cNvSpPr/>
            <p:nvPr/>
          </p:nvSpPr>
          <p:spPr>
            <a:xfrm>
              <a:off x="4805171" y="2282190"/>
              <a:ext cx="93345" cy="0"/>
            </a:xfrm>
            <a:custGeom>
              <a:avLst/>
              <a:gdLst/>
              <a:ahLst/>
              <a:cxnLst/>
              <a:rect l="l" t="t" r="r" b="b"/>
              <a:pathLst>
                <a:path w="93345">
                  <a:moveTo>
                    <a:pt x="92963"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bject 105"/>
            <p:cNvSpPr/>
            <p:nvPr/>
          </p:nvSpPr>
          <p:spPr>
            <a:xfrm>
              <a:off x="10315194" y="2022348"/>
              <a:ext cx="174625" cy="0"/>
            </a:xfrm>
            <a:custGeom>
              <a:avLst/>
              <a:gdLst/>
              <a:ahLst/>
              <a:cxnLst/>
              <a:rect l="l" t="t" r="r" b="b"/>
              <a:pathLst>
                <a:path w="174625">
                  <a:moveTo>
                    <a:pt x="0" y="0"/>
                  </a:moveTo>
                  <a:lnTo>
                    <a:pt x="17449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p:nvPr/>
          </p:nvSpPr>
          <p:spPr>
            <a:xfrm>
              <a:off x="10464545" y="1971294"/>
              <a:ext cx="102870" cy="102235"/>
            </a:xfrm>
            <a:custGeom>
              <a:avLst/>
              <a:gdLst/>
              <a:ahLst/>
              <a:cxnLst/>
              <a:rect l="l" t="t" r="r" b="b"/>
              <a:pathLst>
                <a:path w="102870" h="102235">
                  <a:moveTo>
                    <a:pt x="102870" y="51053"/>
                  </a:moveTo>
                  <a:lnTo>
                    <a:pt x="762" y="0"/>
                  </a:lnTo>
                  <a:lnTo>
                    <a:pt x="9751" y="24955"/>
                  </a:lnTo>
                  <a:lnTo>
                    <a:pt x="12668" y="51053"/>
                  </a:lnTo>
                  <a:lnTo>
                    <a:pt x="9441" y="77152"/>
                  </a:lnTo>
                  <a:lnTo>
                    <a:pt x="0" y="102107"/>
                  </a:lnTo>
                  <a:lnTo>
                    <a:pt x="102870"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p:nvPr/>
          </p:nvSpPr>
          <p:spPr>
            <a:xfrm>
              <a:off x="10900409" y="1751076"/>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bject 108"/>
            <p:cNvSpPr/>
            <p:nvPr/>
          </p:nvSpPr>
          <p:spPr>
            <a:xfrm>
              <a:off x="10946891" y="1700022"/>
              <a:ext cx="102235" cy="102235"/>
            </a:xfrm>
            <a:custGeom>
              <a:avLst/>
              <a:gdLst/>
              <a:ahLst/>
              <a:cxnLst/>
              <a:rect l="l" t="t" r="r" b="b"/>
              <a:pathLst>
                <a:path w="102234" h="102235">
                  <a:moveTo>
                    <a:pt x="102107" y="51053"/>
                  </a:moveTo>
                  <a:lnTo>
                    <a:pt x="0" y="0"/>
                  </a:lnTo>
                  <a:lnTo>
                    <a:pt x="9001" y="24955"/>
                  </a:lnTo>
                  <a:lnTo>
                    <a:pt x="12001" y="51053"/>
                  </a:lnTo>
                  <a:lnTo>
                    <a:pt x="9001" y="77152"/>
                  </a:lnTo>
                  <a:lnTo>
                    <a:pt x="0" y="102107"/>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bject 109"/>
            <p:cNvSpPr/>
            <p:nvPr/>
          </p:nvSpPr>
          <p:spPr>
            <a:xfrm>
              <a:off x="10900409" y="1931670"/>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object 110"/>
            <p:cNvSpPr/>
            <p:nvPr/>
          </p:nvSpPr>
          <p:spPr>
            <a:xfrm>
              <a:off x="10946891" y="1880616"/>
              <a:ext cx="102235" cy="102870"/>
            </a:xfrm>
            <a:custGeom>
              <a:avLst/>
              <a:gdLst/>
              <a:ahLst/>
              <a:cxnLst/>
              <a:rect l="l" t="t" r="r" b="b"/>
              <a:pathLst>
                <a:path w="102234" h="102869">
                  <a:moveTo>
                    <a:pt x="102107" y="51053"/>
                  </a:moveTo>
                  <a:lnTo>
                    <a:pt x="0" y="0"/>
                  </a:lnTo>
                  <a:lnTo>
                    <a:pt x="9001" y="25288"/>
                  </a:lnTo>
                  <a:lnTo>
                    <a:pt x="12001" y="51434"/>
                  </a:lnTo>
                  <a:lnTo>
                    <a:pt x="9001" y="77581"/>
                  </a:lnTo>
                  <a:lnTo>
                    <a:pt x="0" y="102869"/>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object 111"/>
            <p:cNvSpPr/>
            <p:nvPr/>
          </p:nvSpPr>
          <p:spPr>
            <a:xfrm>
              <a:off x="10900409" y="2113026"/>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object 112"/>
            <p:cNvSpPr/>
            <p:nvPr/>
          </p:nvSpPr>
          <p:spPr>
            <a:xfrm>
              <a:off x="10946891" y="2061972"/>
              <a:ext cx="102235" cy="102235"/>
            </a:xfrm>
            <a:custGeom>
              <a:avLst/>
              <a:gdLst/>
              <a:ahLst/>
              <a:cxnLst/>
              <a:rect l="l" t="t" r="r" b="b"/>
              <a:pathLst>
                <a:path w="102234" h="102235">
                  <a:moveTo>
                    <a:pt x="102107" y="51053"/>
                  </a:moveTo>
                  <a:lnTo>
                    <a:pt x="0" y="0"/>
                  </a:lnTo>
                  <a:lnTo>
                    <a:pt x="9001" y="24955"/>
                  </a:lnTo>
                  <a:lnTo>
                    <a:pt x="12001" y="51053"/>
                  </a:lnTo>
                  <a:lnTo>
                    <a:pt x="9001" y="77152"/>
                  </a:lnTo>
                  <a:lnTo>
                    <a:pt x="0" y="102107"/>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object 113"/>
            <p:cNvSpPr/>
            <p:nvPr/>
          </p:nvSpPr>
          <p:spPr>
            <a:xfrm>
              <a:off x="10900409" y="2293620"/>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object 114"/>
            <p:cNvSpPr/>
            <p:nvPr/>
          </p:nvSpPr>
          <p:spPr>
            <a:xfrm>
              <a:off x="10946891" y="2242566"/>
              <a:ext cx="102235" cy="102870"/>
            </a:xfrm>
            <a:custGeom>
              <a:avLst/>
              <a:gdLst/>
              <a:ahLst/>
              <a:cxnLst/>
              <a:rect l="l" t="t" r="r" b="b"/>
              <a:pathLst>
                <a:path w="102234" h="102869">
                  <a:moveTo>
                    <a:pt x="102107" y="51053"/>
                  </a:moveTo>
                  <a:lnTo>
                    <a:pt x="0" y="0"/>
                  </a:lnTo>
                  <a:lnTo>
                    <a:pt x="9001" y="24967"/>
                  </a:lnTo>
                  <a:lnTo>
                    <a:pt x="12001" y="51149"/>
                  </a:lnTo>
                  <a:lnTo>
                    <a:pt x="9001" y="77473"/>
                  </a:lnTo>
                  <a:lnTo>
                    <a:pt x="0" y="102869"/>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object 115"/>
            <p:cNvSpPr/>
            <p:nvPr/>
          </p:nvSpPr>
          <p:spPr>
            <a:xfrm>
              <a:off x="9117329" y="2016252"/>
              <a:ext cx="239395" cy="0"/>
            </a:xfrm>
            <a:custGeom>
              <a:avLst/>
              <a:gdLst/>
              <a:ahLst/>
              <a:cxnLst/>
              <a:rect l="l" t="t" r="r" b="b"/>
              <a:pathLst>
                <a:path w="239395">
                  <a:moveTo>
                    <a:pt x="0" y="0"/>
                  </a:moveTo>
                  <a:lnTo>
                    <a:pt x="23926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object 116"/>
            <p:cNvSpPr/>
            <p:nvPr/>
          </p:nvSpPr>
          <p:spPr>
            <a:xfrm>
              <a:off x="9332213" y="1965198"/>
              <a:ext cx="102235" cy="102870"/>
            </a:xfrm>
            <a:custGeom>
              <a:avLst/>
              <a:gdLst/>
              <a:ahLst/>
              <a:cxnLst/>
              <a:rect l="l" t="t" r="r" b="b"/>
              <a:pathLst>
                <a:path w="102234" h="102869">
                  <a:moveTo>
                    <a:pt x="102107" y="51053"/>
                  </a:moveTo>
                  <a:lnTo>
                    <a:pt x="0" y="0"/>
                  </a:lnTo>
                  <a:lnTo>
                    <a:pt x="9001" y="24967"/>
                  </a:lnTo>
                  <a:lnTo>
                    <a:pt x="12001" y="51149"/>
                  </a:lnTo>
                  <a:lnTo>
                    <a:pt x="9001" y="77473"/>
                  </a:lnTo>
                  <a:lnTo>
                    <a:pt x="0" y="102869"/>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bject 117"/>
            <p:cNvSpPr/>
            <p:nvPr/>
          </p:nvSpPr>
          <p:spPr>
            <a:xfrm>
              <a:off x="9434321" y="1907286"/>
              <a:ext cx="228600" cy="229870"/>
            </a:xfrm>
            <a:custGeom>
              <a:avLst/>
              <a:gdLst/>
              <a:ahLst/>
              <a:cxnLst/>
              <a:rect l="l" t="t" r="r" b="b"/>
              <a:pathLst>
                <a:path w="228600" h="229869">
                  <a:moveTo>
                    <a:pt x="228600" y="115062"/>
                  </a:moveTo>
                  <a:lnTo>
                    <a:pt x="219634" y="70080"/>
                  </a:lnTo>
                  <a:lnTo>
                    <a:pt x="195167" y="33528"/>
                  </a:lnTo>
                  <a:lnTo>
                    <a:pt x="158841" y="8977"/>
                  </a:lnTo>
                  <a:lnTo>
                    <a:pt x="114300" y="0"/>
                  </a:lnTo>
                  <a:lnTo>
                    <a:pt x="69758" y="8977"/>
                  </a:lnTo>
                  <a:lnTo>
                    <a:pt x="33432" y="33528"/>
                  </a:lnTo>
                  <a:lnTo>
                    <a:pt x="8965" y="70080"/>
                  </a:lnTo>
                  <a:lnTo>
                    <a:pt x="0" y="115062"/>
                  </a:lnTo>
                  <a:lnTo>
                    <a:pt x="8965" y="159603"/>
                  </a:lnTo>
                  <a:lnTo>
                    <a:pt x="33432" y="195929"/>
                  </a:lnTo>
                  <a:lnTo>
                    <a:pt x="69758" y="220396"/>
                  </a:lnTo>
                  <a:lnTo>
                    <a:pt x="114300" y="229362"/>
                  </a:lnTo>
                  <a:lnTo>
                    <a:pt x="158841" y="220396"/>
                  </a:lnTo>
                  <a:lnTo>
                    <a:pt x="195167" y="195929"/>
                  </a:lnTo>
                  <a:lnTo>
                    <a:pt x="219634" y="159603"/>
                  </a:lnTo>
                  <a:lnTo>
                    <a:pt x="228600" y="115062"/>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object 118"/>
            <p:cNvSpPr/>
            <p:nvPr/>
          </p:nvSpPr>
          <p:spPr>
            <a:xfrm>
              <a:off x="9434321" y="1907286"/>
              <a:ext cx="228600" cy="229870"/>
            </a:xfrm>
            <a:custGeom>
              <a:avLst/>
              <a:gdLst/>
              <a:ahLst/>
              <a:cxnLst/>
              <a:rect l="l" t="t" r="r" b="b"/>
              <a:pathLst>
                <a:path w="228600" h="229869">
                  <a:moveTo>
                    <a:pt x="228600" y="115062"/>
                  </a:moveTo>
                  <a:lnTo>
                    <a:pt x="219634" y="70080"/>
                  </a:lnTo>
                  <a:lnTo>
                    <a:pt x="195167" y="33528"/>
                  </a:lnTo>
                  <a:lnTo>
                    <a:pt x="158841" y="8977"/>
                  </a:lnTo>
                  <a:lnTo>
                    <a:pt x="114300" y="0"/>
                  </a:lnTo>
                  <a:lnTo>
                    <a:pt x="69758" y="8977"/>
                  </a:lnTo>
                  <a:lnTo>
                    <a:pt x="33432" y="33528"/>
                  </a:lnTo>
                  <a:lnTo>
                    <a:pt x="8965" y="70080"/>
                  </a:lnTo>
                  <a:lnTo>
                    <a:pt x="0" y="115062"/>
                  </a:lnTo>
                  <a:lnTo>
                    <a:pt x="8965" y="159603"/>
                  </a:lnTo>
                  <a:lnTo>
                    <a:pt x="33432" y="195929"/>
                  </a:lnTo>
                  <a:lnTo>
                    <a:pt x="69758" y="220396"/>
                  </a:lnTo>
                  <a:lnTo>
                    <a:pt x="114300" y="229362"/>
                  </a:lnTo>
                  <a:lnTo>
                    <a:pt x="158841" y="220396"/>
                  </a:lnTo>
                  <a:lnTo>
                    <a:pt x="195167" y="195929"/>
                  </a:lnTo>
                  <a:lnTo>
                    <a:pt x="219634" y="159603"/>
                  </a:lnTo>
                  <a:lnTo>
                    <a:pt x="228600" y="115062"/>
                  </a:lnTo>
                  <a:close/>
                </a:path>
              </a:pathLst>
            </a:custGeom>
            <a:ln w="9550">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19" name="object 119"/>
          <p:cNvPicPr/>
          <p:nvPr/>
        </p:nvPicPr>
        <p:blipFill>
          <a:blip r:embed="rId23" cstate="print"/>
          <a:stretch>
            <a:fillRect/>
          </a:stretch>
        </p:blipFill>
        <p:spPr>
          <a:xfrm>
            <a:off x="9302495" y="1194816"/>
            <a:ext cx="435865" cy="144780"/>
          </a:xfrm>
          <a:prstGeom prst="rect">
            <a:avLst/>
          </a:prstGeom>
        </p:spPr>
      </p:pic>
      <p:sp>
        <p:nvSpPr>
          <p:cNvPr id="120" name="object 120"/>
          <p:cNvSpPr txBox="1"/>
          <p:nvPr/>
        </p:nvSpPr>
        <p:spPr>
          <a:xfrm>
            <a:off x="9380473" y="1152353"/>
            <a:ext cx="285750" cy="20955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200" b="0" i="0" u="none" strike="noStrike" kern="1200" cap="none" spc="-40" normalizeH="0" baseline="0" noProof="0" dirty="0">
                <a:ln>
                  <a:noFill/>
                </a:ln>
                <a:solidFill>
                  <a:srgbClr val="0000FF"/>
                </a:solidFill>
                <a:effectLst/>
                <a:uLnTx/>
                <a:uFillTx/>
                <a:latin typeface="Malgun Gothic"/>
                <a:ea typeface="+mn-ea"/>
                <a:cs typeface="Malgun Gothic"/>
              </a:rPr>
              <a:t>D</a:t>
            </a:r>
            <a:r>
              <a:rPr kumimoji="0" sz="1200" b="0" i="0" u="none" strike="noStrike" kern="1200" cap="none" spc="5" normalizeH="0" baseline="0" noProof="0" dirty="0">
                <a:ln>
                  <a:noFill/>
                </a:ln>
                <a:solidFill>
                  <a:srgbClr val="0000FF"/>
                </a:solidFill>
                <a:effectLst/>
                <a:uLnTx/>
                <a:uFillTx/>
                <a:latin typeface="Malgun Gothic"/>
                <a:ea typeface="+mn-ea"/>
                <a:cs typeface="Malgun Gothic"/>
              </a:rPr>
              <a:t>F</a:t>
            </a:r>
            <a:r>
              <a:rPr kumimoji="0" sz="1200" b="0" i="0" u="none" strike="noStrike" kern="1200" cap="none" spc="0" normalizeH="0" baseline="0" noProof="0" dirty="0">
                <a:ln>
                  <a:noFill/>
                </a:ln>
                <a:solidFill>
                  <a:srgbClr val="0000FF"/>
                </a:solidFill>
                <a:effectLst/>
                <a:uLnTx/>
                <a:uFillTx/>
                <a:latin typeface="Malgun Gothic"/>
                <a:ea typeface="+mn-ea"/>
                <a:cs typeface="Malgun Gothic"/>
              </a:rPr>
              <a:t>E</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121" name="object 121"/>
          <p:cNvSpPr txBox="1"/>
          <p:nvPr/>
        </p:nvSpPr>
        <p:spPr>
          <a:xfrm>
            <a:off x="9487154" y="1906733"/>
            <a:ext cx="132715" cy="20955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200" b="0" i="0" u="none" strike="noStrike" kern="1200" cap="none" spc="0" normalizeH="0" baseline="0" noProof="0" dirty="0">
                <a:ln>
                  <a:noFill/>
                </a:ln>
                <a:solidFill>
                  <a:srgbClr val="0000FF"/>
                </a:solidFill>
                <a:effectLst/>
                <a:uLnTx/>
                <a:uFillTx/>
                <a:latin typeface="Malgun Gothic"/>
                <a:ea typeface="+mn-ea"/>
                <a:cs typeface="Malgun Gothic"/>
              </a:rPr>
              <a:t>+</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122" name="object 122"/>
          <p:cNvGrpSpPr/>
          <p:nvPr/>
        </p:nvGrpSpPr>
        <p:grpSpPr>
          <a:xfrm>
            <a:off x="9457181" y="1466088"/>
            <a:ext cx="929640" cy="445770"/>
            <a:chOff x="9457181" y="1466088"/>
            <a:chExt cx="929640" cy="445770"/>
          </a:xfrm>
        </p:grpSpPr>
        <p:sp>
          <p:nvSpPr>
            <p:cNvPr id="123" name="object 123"/>
            <p:cNvSpPr/>
            <p:nvPr/>
          </p:nvSpPr>
          <p:spPr>
            <a:xfrm>
              <a:off x="9581387" y="1754886"/>
              <a:ext cx="0" cy="79375"/>
            </a:xfrm>
            <a:custGeom>
              <a:avLst/>
              <a:gdLst/>
              <a:ahLst/>
              <a:cxnLst/>
              <a:rect l="l" t="t" r="r" b="b"/>
              <a:pathLst>
                <a:path h="79375">
                  <a:moveTo>
                    <a:pt x="0" y="0"/>
                  </a:moveTo>
                  <a:lnTo>
                    <a:pt x="0" y="79248"/>
                  </a:lnTo>
                </a:path>
              </a:pathLst>
            </a:custGeom>
            <a:ln w="19151">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object 124"/>
            <p:cNvSpPr/>
            <p:nvPr/>
          </p:nvSpPr>
          <p:spPr>
            <a:xfrm>
              <a:off x="9530333" y="1808988"/>
              <a:ext cx="102235" cy="102870"/>
            </a:xfrm>
            <a:custGeom>
              <a:avLst/>
              <a:gdLst/>
              <a:ahLst/>
              <a:cxnLst/>
              <a:rect l="l" t="t" r="r" b="b"/>
              <a:pathLst>
                <a:path w="102234" h="102869">
                  <a:moveTo>
                    <a:pt x="102107" y="0"/>
                  </a:moveTo>
                  <a:lnTo>
                    <a:pt x="76831" y="9001"/>
                  </a:lnTo>
                  <a:lnTo>
                    <a:pt x="50768" y="12001"/>
                  </a:lnTo>
                  <a:lnTo>
                    <a:pt x="24848" y="9001"/>
                  </a:lnTo>
                  <a:lnTo>
                    <a:pt x="0" y="0"/>
                  </a:lnTo>
                  <a:lnTo>
                    <a:pt x="51053" y="102870"/>
                  </a:lnTo>
                  <a:lnTo>
                    <a:pt x="102107" y="0"/>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5" name="object 125"/>
            <p:cNvPicPr/>
            <p:nvPr/>
          </p:nvPicPr>
          <p:blipFill>
            <a:blip r:embed="rId24" cstate="print"/>
            <a:stretch>
              <a:fillRect/>
            </a:stretch>
          </p:blipFill>
          <p:spPr>
            <a:xfrm>
              <a:off x="9457181" y="1466088"/>
              <a:ext cx="929640" cy="288798"/>
            </a:xfrm>
            <a:prstGeom prst="rect">
              <a:avLst/>
            </a:prstGeom>
          </p:spPr>
        </p:pic>
      </p:grpSp>
      <p:sp>
        <p:nvSpPr>
          <p:cNvPr id="126" name="object 126"/>
          <p:cNvSpPr txBox="1"/>
          <p:nvPr/>
        </p:nvSpPr>
        <p:spPr>
          <a:xfrm>
            <a:off x="9457181" y="1466088"/>
            <a:ext cx="929640" cy="288925"/>
          </a:xfrm>
          <a:prstGeom prst="rect">
            <a:avLst/>
          </a:prstGeom>
          <a:ln w="19075">
            <a:solidFill>
              <a:srgbClr val="0000FF"/>
            </a:solidFill>
          </a:ln>
        </p:spPr>
        <p:txBody>
          <a:bodyPr vert="horz" wrap="square" lIns="0" tIns="42545" rIns="0" bIns="0" rtlCol="0">
            <a:spAutoFit/>
          </a:bodyPr>
          <a:lstStyle/>
          <a:p>
            <a:pPr marL="143510"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5" normalizeH="0" baseline="0" noProof="0" dirty="0">
                <a:ln>
                  <a:noFill/>
                </a:ln>
                <a:solidFill>
                  <a:srgbClr val="0000FF"/>
                </a:solidFill>
                <a:effectLst/>
                <a:uLnTx/>
                <a:uFillTx/>
                <a:latin typeface="Malgun Gothic"/>
                <a:ea typeface="+mn-ea"/>
                <a:cs typeface="Malgun Gothic"/>
              </a:rPr>
              <a:t>Feedback</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127" name="object 127"/>
          <p:cNvGrpSpPr/>
          <p:nvPr/>
        </p:nvGrpSpPr>
        <p:grpSpPr>
          <a:xfrm>
            <a:off x="10264140" y="1754885"/>
            <a:ext cx="102235" cy="267970"/>
            <a:chOff x="10264140" y="1754885"/>
            <a:chExt cx="102235" cy="267970"/>
          </a:xfrm>
        </p:grpSpPr>
        <p:sp>
          <p:nvSpPr>
            <p:cNvPr id="128" name="object 128"/>
            <p:cNvSpPr/>
            <p:nvPr/>
          </p:nvSpPr>
          <p:spPr>
            <a:xfrm>
              <a:off x="10315194" y="1832609"/>
              <a:ext cx="0" cy="189865"/>
            </a:xfrm>
            <a:custGeom>
              <a:avLst/>
              <a:gdLst/>
              <a:ahLst/>
              <a:cxnLst/>
              <a:rect l="l" t="t" r="r" b="b"/>
              <a:pathLst>
                <a:path h="189864">
                  <a:moveTo>
                    <a:pt x="0" y="189737"/>
                  </a:moveTo>
                  <a:lnTo>
                    <a:pt x="0" y="0"/>
                  </a:lnTo>
                </a:path>
              </a:pathLst>
            </a:custGeom>
            <a:ln w="19151">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object 129"/>
            <p:cNvSpPr/>
            <p:nvPr/>
          </p:nvSpPr>
          <p:spPr>
            <a:xfrm>
              <a:off x="10264140" y="1754885"/>
              <a:ext cx="102235" cy="102235"/>
            </a:xfrm>
            <a:custGeom>
              <a:avLst/>
              <a:gdLst/>
              <a:ahLst/>
              <a:cxnLst/>
              <a:rect l="l" t="t" r="r" b="b"/>
              <a:pathLst>
                <a:path w="102234" h="102235">
                  <a:moveTo>
                    <a:pt x="102107" y="102107"/>
                  </a:moveTo>
                  <a:lnTo>
                    <a:pt x="51053" y="0"/>
                  </a:lnTo>
                  <a:lnTo>
                    <a:pt x="0" y="102107"/>
                  </a:lnTo>
                  <a:lnTo>
                    <a:pt x="24955" y="93106"/>
                  </a:lnTo>
                  <a:lnTo>
                    <a:pt x="51053" y="90106"/>
                  </a:lnTo>
                  <a:lnTo>
                    <a:pt x="77152" y="93106"/>
                  </a:lnTo>
                  <a:lnTo>
                    <a:pt x="102107" y="102107"/>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Slide Number Placeholder 1"/>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29</a:t>
            </a:fld>
            <a:endParaRPr lang="en-US" spc="-50" dirty="0"/>
          </a:p>
        </p:txBody>
      </p:sp>
      <p:sp>
        <p:nvSpPr>
          <p:cNvPr id="3" name="Date Placeholder 2"/>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5" name="Footer Placeholder 4"/>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70604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3" grpId="0"/>
      <p:bldP spid="14" grpId="0"/>
      <p:bldP spid="18" grpId="0" animBg="1"/>
      <p:bldP spid="20" grpId="0" animBg="1"/>
      <p:bldP spid="22" grpId="0" animBg="1"/>
      <p:bldP spid="4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3745" y="290958"/>
            <a:ext cx="2948940" cy="604520"/>
          </a:xfrm>
          <a:prstGeom prst="rect">
            <a:avLst/>
          </a:prstGeom>
        </p:spPr>
        <p:txBody>
          <a:bodyPr vert="horz" wrap="square" lIns="0" tIns="12065" rIns="0" bIns="0" rtlCol="0">
            <a:spAutoFit/>
          </a:bodyPr>
          <a:lstStyle/>
          <a:p>
            <a:pPr marL="12700">
              <a:lnSpc>
                <a:spcPct val="100000"/>
              </a:lnSpc>
              <a:spcBef>
                <a:spcPts val="95"/>
              </a:spcBef>
            </a:pPr>
            <a:r>
              <a:rPr sz="3800" b="0" spc="-10" dirty="0">
                <a:latin typeface="Verdana"/>
                <a:cs typeface="Verdana"/>
              </a:rPr>
              <a:t>Equalization</a:t>
            </a:r>
            <a:endParaRPr sz="3800" dirty="0">
              <a:latin typeface="Verdana"/>
              <a:cs typeface="Verdana"/>
            </a:endParaRPr>
          </a:p>
        </p:txBody>
      </p:sp>
      <p:sp>
        <p:nvSpPr>
          <p:cNvPr id="3" name="object 3"/>
          <p:cNvSpPr/>
          <p:nvPr/>
        </p:nvSpPr>
        <p:spPr>
          <a:xfrm>
            <a:off x="1037844" y="3528821"/>
            <a:ext cx="1247140" cy="715645"/>
          </a:xfrm>
          <a:custGeom>
            <a:avLst/>
            <a:gdLst/>
            <a:ahLst/>
            <a:cxnLst/>
            <a:rect l="l" t="t" r="r" b="b"/>
            <a:pathLst>
              <a:path w="1247139" h="715645">
                <a:moveTo>
                  <a:pt x="1246632" y="691134"/>
                </a:moveTo>
                <a:lnTo>
                  <a:pt x="1240536" y="685038"/>
                </a:lnTo>
                <a:lnTo>
                  <a:pt x="569214" y="685038"/>
                </a:lnTo>
                <a:lnTo>
                  <a:pt x="569214" y="6096"/>
                </a:lnTo>
                <a:lnTo>
                  <a:pt x="563118" y="0"/>
                </a:lnTo>
                <a:lnTo>
                  <a:pt x="291846" y="0"/>
                </a:lnTo>
                <a:lnTo>
                  <a:pt x="277368" y="0"/>
                </a:lnTo>
                <a:lnTo>
                  <a:pt x="271272" y="6096"/>
                </a:lnTo>
                <a:lnTo>
                  <a:pt x="271272" y="20574"/>
                </a:lnTo>
                <a:lnTo>
                  <a:pt x="273494" y="688594"/>
                </a:lnTo>
                <a:lnTo>
                  <a:pt x="13716" y="685038"/>
                </a:lnTo>
                <a:lnTo>
                  <a:pt x="6858" y="685038"/>
                </a:lnTo>
                <a:lnTo>
                  <a:pt x="0" y="691134"/>
                </a:lnTo>
                <a:lnTo>
                  <a:pt x="0" y="705612"/>
                </a:lnTo>
                <a:lnTo>
                  <a:pt x="6096" y="711708"/>
                </a:lnTo>
                <a:lnTo>
                  <a:pt x="291846" y="715518"/>
                </a:lnTo>
                <a:lnTo>
                  <a:pt x="297942" y="709422"/>
                </a:lnTo>
                <a:lnTo>
                  <a:pt x="297942" y="708380"/>
                </a:lnTo>
                <a:lnTo>
                  <a:pt x="300228" y="706374"/>
                </a:lnTo>
                <a:lnTo>
                  <a:pt x="297980" y="26670"/>
                </a:lnTo>
                <a:lnTo>
                  <a:pt x="541782" y="26670"/>
                </a:lnTo>
                <a:lnTo>
                  <a:pt x="541782" y="706374"/>
                </a:lnTo>
                <a:lnTo>
                  <a:pt x="547878" y="711708"/>
                </a:lnTo>
                <a:lnTo>
                  <a:pt x="569214" y="711708"/>
                </a:lnTo>
                <a:lnTo>
                  <a:pt x="1240536" y="711708"/>
                </a:lnTo>
                <a:lnTo>
                  <a:pt x="1246632" y="706374"/>
                </a:lnTo>
                <a:lnTo>
                  <a:pt x="1246632" y="691134"/>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object 4"/>
          <p:cNvPicPr/>
          <p:nvPr/>
        </p:nvPicPr>
        <p:blipFill>
          <a:blip r:embed="rId2" cstate="print"/>
          <a:stretch>
            <a:fillRect/>
          </a:stretch>
        </p:blipFill>
        <p:spPr>
          <a:xfrm>
            <a:off x="7370826" y="3529584"/>
            <a:ext cx="3323081" cy="887730"/>
          </a:xfrm>
          <a:prstGeom prst="rect">
            <a:avLst/>
          </a:prstGeom>
        </p:spPr>
      </p:pic>
      <p:sp>
        <p:nvSpPr>
          <p:cNvPr id="5" name="object 5"/>
          <p:cNvSpPr/>
          <p:nvPr/>
        </p:nvSpPr>
        <p:spPr>
          <a:xfrm>
            <a:off x="8496300" y="3058667"/>
            <a:ext cx="2353310" cy="414655"/>
          </a:xfrm>
          <a:custGeom>
            <a:avLst/>
            <a:gdLst/>
            <a:ahLst/>
            <a:cxnLst/>
            <a:rect l="l" t="t" r="r" b="b"/>
            <a:pathLst>
              <a:path w="2353309" h="414654">
                <a:moveTo>
                  <a:pt x="1139952" y="199643"/>
                </a:moveTo>
                <a:lnTo>
                  <a:pt x="45719" y="199643"/>
                </a:lnTo>
                <a:lnTo>
                  <a:pt x="44195" y="200405"/>
                </a:lnTo>
                <a:lnTo>
                  <a:pt x="41147" y="200405"/>
                </a:lnTo>
                <a:lnTo>
                  <a:pt x="38099" y="201929"/>
                </a:lnTo>
                <a:lnTo>
                  <a:pt x="37337" y="202691"/>
                </a:lnTo>
                <a:lnTo>
                  <a:pt x="36575" y="202691"/>
                </a:lnTo>
                <a:lnTo>
                  <a:pt x="34289" y="204977"/>
                </a:lnTo>
                <a:lnTo>
                  <a:pt x="33527" y="204977"/>
                </a:lnTo>
                <a:lnTo>
                  <a:pt x="28955" y="209549"/>
                </a:lnTo>
                <a:lnTo>
                  <a:pt x="26669" y="213359"/>
                </a:lnTo>
                <a:lnTo>
                  <a:pt x="25145" y="216407"/>
                </a:lnTo>
                <a:lnTo>
                  <a:pt x="22859" y="220217"/>
                </a:lnTo>
                <a:lnTo>
                  <a:pt x="18287" y="233933"/>
                </a:lnTo>
                <a:lnTo>
                  <a:pt x="15239" y="244601"/>
                </a:lnTo>
                <a:lnTo>
                  <a:pt x="12191" y="256793"/>
                </a:lnTo>
                <a:lnTo>
                  <a:pt x="11429" y="263651"/>
                </a:lnTo>
                <a:lnTo>
                  <a:pt x="8381" y="277367"/>
                </a:lnTo>
                <a:lnTo>
                  <a:pt x="6857" y="292607"/>
                </a:lnTo>
                <a:lnTo>
                  <a:pt x="5333" y="300989"/>
                </a:lnTo>
                <a:lnTo>
                  <a:pt x="2285" y="335279"/>
                </a:lnTo>
                <a:lnTo>
                  <a:pt x="0" y="393191"/>
                </a:lnTo>
                <a:lnTo>
                  <a:pt x="0" y="413765"/>
                </a:lnTo>
                <a:lnTo>
                  <a:pt x="28194" y="414527"/>
                </a:lnTo>
                <a:lnTo>
                  <a:pt x="28956" y="393953"/>
                </a:lnTo>
                <a:lnTo>
                  <a:pt x="28956" y="374141"/>
                </a:lnTo>
                <a:lnTo>
                  <a:pt x="29717" y="355091"/>
                </a:lnTo>
                <a:lnTo>
                  <a:pt x="34290" y="303275"/>
                </a:lnTo>
                <a:lnTo>
                  <a:pt x="35051" y="295655"/>
                </a:lnTo>
                <a:lnTo>
                  <a:pt x="35813" y="288797"/>
                </a:lnTo>
                <a:lnTo>
                  <a:pt x="37337" y="281177"/>
                </a:lnTo>
                <a:lnTo>
                  <a:pt x="38099" y="275081"/>
                </a:lnTo>
                <a:lnTo>
                  <a:pt x="38861" y="268223"/>
                </a:lnTo>
                <a:lnTo>
                  <a:pt x="40385" y="262127"/>
                </a:lnTo>
                <a:lnTo>
                  <a:pt x="41909" y="256793"/>
                </a:lnTo>
                <a:lnTo>
                  <a:pt x="42671" y="251459"/>
                </a:lnTo>
                <a:lnTo>
                  <a:pt x="44195" y="246125"/>
                </a:lnTo>
                <a:lnTo>
                  <a:pt x="45719" y="242315"/>
                </a:lnTo>
                <a:lnTo>
                  <a:pt x="46481" y="237743"/>
                </a:lnTo>
                <a:lnTo>
                  <a:pt x="48005" y="234695"/>
                </a:lnTo>
                <a:lnTo>
                  <a:pt x="48005" y="228599"/>
                </a:lnTo>
                <a:lnTo>
                  <a:pt x="49529" y="227837"/>
                </a:lnTo>
                <a:lnTo>
                  <a:pt x="49910" y="227838"/>
                </a:lnTo>
                <a:lnTo>
                  <a:pt x="50863" y="227456"/>
                </a:lnTo>
                <a:lnTo>
                  <a:pt x="52577" y="226313"/>
                </a:lnTo>
                <a:lnTo>
                  <a:pt x="52577" y="227840"/>
                </a:lnTo>
                <a:lnTo>
                  <a:pt x="1137666" y="228596"/>
                </a:lnTo>
                <a:lnTo>
                  <a:pt x="1137666" y="201929"/>
                </a:lnTo>
                <a:lnTo>
                  <a:pt x="1139952" y="199643"/>
                </a:lnTo>
                <a:close/>
              </a:path>
              <a:path w="2353309" h="414654">
                <a:moveTo>
                  <a:pt x="51307" y="227839"/>
                </a:moveTo>
                <a:lnTo>
                  <a:pt x="49910" y="227838"/>
                </a:lnTo>
                <a:lnTo>
                  <a:pt x="48005" y="228599"/>
                </a:lnTo>
                <a:lnTo>
                  <a:pt x="48005" y="234695"/>
                </a:lnTo>
                <a:lnTo>
                  <a:pt x="49529" y="231647"/>
                </a:lnTo>
                <a:lnTo>
                  <a:pt x="50291" y="229361"/>
                </a:lnTo>
                <a:lnTo>
                  <a:pt x="51307" y="227839"/>
                </a:lnTo>
                <a:close/>
              </a:path>
              <a:path w="2353309" h="414654">
                <a:moveTo>
                  <a:pt x="50863" y="227456"/>
                </a:moveTo>
                <a:lnTo>
                  <a:pt x="49910" y="227838"/>
                </a:lnTo>
                <a:lnTo>
                  <a:pt x="50291" y="227837"/>
                </a:lnTo>
                <a:lnTo>
                  <a:pt x="50863" y="227456"/>
                </a:lnTo>
                <a:close/>
              </a:path>
              <a:path w="2353309" h="414654">
                <a:moveTo>
                  <a:pt x="51815" y="227075"/>
                </a:moveTo>
                <a:lnTo>
                  <a:pt x="50863" y="227456"/>
                </a:lnTo>
                <a:lnTo>
                  <a:pt x="50291" y="227837"/>
                </a:lnTo>
                <a:lnTo>
                  <a:pt x="51815" y="227075"/>
                </a:lnTo>
                <a:close/>
              </a:path>
              <a:path w="2353309" h="414654">
                <a:moveTo>
                  <a:pt x="51815" y="227075"/>
                </a:moveTo>
                <a:lnTo>
                  <a:pt x="50291" y="227837"/>
                </a:lnTo>
                <a:lnTo>
                  <a:pt x="51053" y="227837"/>
                </a:lnTo>
                <a:lnTo>
                  <a:pt x="51815" y="227075"/>
                </a:lnTo>
                <a:close/>
              </a:path>
              <a:path w="2353309" h="414654">
                <a:moveTo>
                  <a:pt x="52577" y="226313"/>
                </a:moveTo>
                <a:lnTo>
                  <a:pt x="50863" y="227456"/>
                </a:lnTo>
                <a:lnTo>
                  <a:pt x="51815" y="227075"/>
                </a:lnTo>
                <a:lnTo>
                  <a:pt x="52577" y="226313"/>
                </a:lnTo>
                <a:close/>
              </a:path>
              <a:path w="2353309" h="414654">
                <a:moveTo>
                  <a:pt x="51815" y="227075"/>
                </a:moveTo>
                <a:lnTo>
                  <a:pt x="51053" y="227837"/>
                </a:lnTo>
                <a:lnTo>
                  <a:pt x="51307" y="227839"/>
                </a:lnTo>
                <a:lnTo>
                  <a:pt x="51815" y="227075"/>
                </a:lnTo>
                <a:close/>
              </a:path>
              <a:path w="2353309" h="414654">
                <a:moveTo>
                  <a:pt x="52577" y="227840"/>
                </a:moveTo>
                <a:lnTo>
                  <a:pt x="52577" y="226313"/>
                </a:lnTo>
                <a:lnTo>
                  <a:pt x="51815" y="227075"/>
                </a:lnTo>
                <a:lnTo>
                  <a:pt x="51307" y="227839"/>
                </a:lnTo>
                <a:lnTo>
                  <a:pt x="52577" y="227840"/>
                </a:lnTo>
                <a:close/>
              </a:path>
              <a:path w="2353309" h="414654">
                <a:moveTo>
                  <a:pt x="1139952" y="200405"/>
                </a:moveTo>
                <a:lnTo>
                  <a:pt x="1138427" y="201167"/>
                </a:lnTo>
                <a:lnTo>
                  <a:pt x="1137666" y="201929"/>
                </a:lnTo>
                <a:lnTo>
                  <a:pt x="1139952" y="200405"/>
                </a:lnTo>
                <a:close/>
              </a:path>
              <a:path w="2353309" h="414654">
                <a:moveTo>
                  <a:pt x="1139952" y="200405"/>
                </a:moveTo>
                <a:lnTo>
                  <a:pt x="1137666" y="201929"/>
                </a:lnTo>
                <a:lnTo>
                  <a:pt x="1137666" y="228596"/>
                </a:lnTo>
                <a:lnTo>
                  <a:pt x="1139190" y="228597"/>
                </a:lnTo>
                <a:lnTo>
                  <a:pt x="1139190" y="201167"/>
                </a:lnTo>
                <a:lnTo>
                  <a:pt x="1139952" y="200405"/>
                </a:lnTo>
                <a:close/>
              </a:path>
              <a:path w="2353309" h="414654">
                <a:moveTo>
                  <a:pt x="1140714" y="199643"/>
                </a:moveTo>
                <a:lnTo>
                  <a:pt x="1139952" y="199643"/>
                </a:lnTo>
                <a:lnTo>
                  <a:pt x="1138427" y="201167"/>
                </a:lnTo>
                <a:lnTo>
                  <a:pt x="1140714" y="199643"/>
                </a:lnTo>
                <a:close/>
              </a:path>
              <a:path w="2353309" h="414654">
                <a:moveTo>
                  <a:pt x="1140714" y="199643"/>
                </a:moveTo>
                <a:lnTo>
                  <a:pt x="1138427" y="201167"/>
                </a:lnTo>
                <a:lnTo>
                  <a:pt x="1139952" y="200405"/>
                </a:lnTo>
                <a:lnTo>
                  <a:pt x="1140714" y="199643"/>
                </a:lnTo>
                <a:close/>
              </a:path>
              <a:path w="2353309" h="414654">
                <a:moveTo>
                  <a:pt x="1143000" y="199643"/>
                </a:moveTo>
                <a:lnTo>
                  <a:pt x="1140714" y="199643"/>
                </a:lnTo>
                <a:lnTo>
                  <a:pt x="1139190" y="201167"/>
                </a:lnTo>
                <a:lnTo>
                  <a:pt x="1143000" y="199643"/>
                </a:lnTo>
                <a:close/>
              </a:path>
              <a:path w="2353309" h="414654">
                <a:moveTo>
                  <a:pt x="1143000" y="228599"/>
                </a:moveTo>
                <a:lnTo>
                  <a:pt x="1143000" y="199643"/>
                </a:lnTo>
                <a:lnTo>
                  <a:pt x="1139190" y="201167"/>
                </a:lnTo>
                <a:lnTo>
                  <a:pt x="1139190" y="228597"/>
                </a:lnTo>
                <a:lnTo>
                  <a:pt x="1143000" y="228599"/>
                </a:lnTo>
                <a:close/>
              </a:path>
              <a:path w="2353309" h="414654">
                <a:moveTo>
                  <a:pt x="1176578" y="180390"/>
                </a:moveTo>
                <a:lnTo>
                  <a:pt x="1175766" y="177545"/>
                </a:lnTo>
                <a:lnTo>
                  <a:pt x="1175004" y="170687"/>
                </a:lnTo>
                <a:lnTo>
                  <a:pt x="1173480" y="164591"/>
                </a:lnTo>
                <a:lnTo>
                  <a:pt x="1171956" y="157733"/>
                </a:lnTo>
                <a:lnTo>
                  <a:pt x="1171194" y="150875"/>
                </a:lnTo>
                <a:lnTo>
                  <a:pt x="1169670" y="143255"/>
                </a:lnTo>
                <a:lnTo>
                  <a:pt x="1168908" y="135635"/>
                </a:lnTo>
                <a:lnTo>
                  <a:pt x="1163574" y="73913"/>
                </a:lnTo>
                <a:lnTo>
                  <a:pt x="1162812" y="54863"/>
                </a:lnTo>
                <a:lnTo>
                  <a:pt x="1162812" y="34289"/>
                </a:lnTo>
                <a:lnTo>
                  <a:pt x="1162050" y="14477"/>
                </a:lnTo>
                <a:lnTo>
                  <a:pt x="1162050" y="34289"/>
                </a:lnTo>
                <a:lnTo>
                  <a:pt x="1159764" y="90677"/>
                </a:lnTo>
                <a:lnTo>
                  <a:pt x="1155954" y="131825"/>
                </a:lnTo>
                <a:lnTo>
                  <a:pt x="1154430" y="139445"/>
                </a:lnTo>
                <a:lnTo>
                  <a:pt x="1152906" y="153161"/>
                </a:lnTo>
                <a:lnTo>
                  <a:pt x="1151382" y="159257"/>
                </a:lnTo>
                <a:lnTo>
                  <a:pt x="1150620" y="165353"/>
                </a:lnTo>
                <a:lnTo>
                  <a:pt x="1149096" y="170687"/>
                </a:lnTo>
                <a:lnTo>
                  <a:pt x="1148334" y="176021"/>
                </a:lnTo>
                <a:lnTo>
                  <a:pt x="1146810" y="181355"/>
                </a:lnTo>
                <a:lnTo>
                  <a:pt x="1145286" y="185165"/>
                </a:lnTo>
                <a:lnTo>
                  <a:pt x="1144524" y="188975"/>
                </a:lnTo>
                <a:lnTo>
                  <a:pt x="1143000" y="192785"/>
                </a:lnTo>
                <a:lnTo>
                  <a:pt x="1142238" y="195833"/>
                </a:lnTo>
                <a:lnTo>
                  <a:pt x="1140714" y="198119"/>
                </a:lnTo>
                <a:lnTo>
                  <a:pt x="1139952" y="199644"/>
                </a:lnTo>
                <a:lnTo>
                  <a:pt x="1143000" y="199643"/>
                </a:lnTo>
                <a:lnTo>
                  <a:pt x="1143000" y="228599"/>
                </a:lnTo>
                <a:lnTo>
                  <a:pt x="1146810" y="227837"/>
                </a:lnTo>
                <a:lnTo>
                  <a:pt x="1148334" y="227837"/>
                </a:lnTo>
                <a:lnTo>
                  <a:pt x="1152906" y="225551"/>
                </a:lnTo>
                <a:lnTo>
                  <a:pt x="1153668" y="225551"/>
                </a:lnTo>
                <a:lnTo>
                  <a:pt x="1154430" y="224789"/>
                </a:lnTo>
                <a:lnTo>
                  <a:pt x="1155192" y="224789"/>
                </a:lnTo>
                <a:lnTo>
                  <a:pt x="1158240" y="221741"/>
                </a:lnTo>
                <a:lnTo>
                  <a:pt x="1159002" y="221741"/>
                </a:lnTo>
                <a:lnTo>
                  <a:pt x="1160526" y="219455"/>
                </a:lnTo>
                <a:lnTo>
                  <a:pt x="1162812" y="216407"/>
                </a:lnTo>
                <a:lnTo>
                  <a:pt x="1165098" y="211835"/>
                </a:lnTo>
                <a:lnTo>
                  <a:pt x="1169670" y="204215"/>
                </a:lnTo>
                <a:lnTo>
                  <a:pt x="1171194" y="198881"/>
                </a:lnTo>
                <a:lnTo>
                  <a:pt x="1172718" y="194309"/>
                </a:lnTo>
                <a:lnTo>
                  <a:pt x="1175766" y="183641"/>
                </a:lnTo>
                <a:lnTo>
                  <a:pt x="1176578" y="180390"/>
                </a:lnTo>
                <a:close/>
              </a:path>
              <a:path w="2353309" h="414654">
                <a:moveTo>
                  <a:pt x="1191006" y="14477"/>
                </a:moveTo>
                <a:lnTo>
                  <a:pt x="1191006" y="6095"/>
                </a:lnTo>
                <a:lnTo>
                  <a:pt x="1184148" y="0"/>
                </a:lnTo>
                <a:lnTo>
                  <a:pt x="1168908" y="0"/>
                </a:lnTo>
                <a:lnTo>
                  <a:pt x="1162050" y="6095"/>
                </a:lnTo>
                <a:lnTo>
                  <a:pt x="1162050" y="14477"/>
                </a:lnTo>
                <a:lnTo>
                  <a:pt x="1191006" y="14477"/>
                </a:lnTo>
                <a:close/>
              </a:path>
              <a:path w="2353309" h="414654">
                <a:moveTo>
                  <a:pt x="1191006" y="35051"/>
                </a:moveTo>
                <a:lnTo>
                  <a:pt x="1191006" y="14477"/>
                </a:lnTo>
                <a:lnTo>
                  <a:pt x="1162050" y="14477"/>
                </a:lnTo>
                <a:lnTo>
                  <a:pt x="1162812" y="34289"/>
                </a:lnTo>
                <a:lnTo>
                  <a:pt x="1162812" y="54863"/>
                </a:lnTo>
                <a:lnTo>
                  <a:pt x="1163574" y="73913"/>
                </a:lnTo>
                <a:lnTo>
                  <a:pt x="1168908" y="135635"/>
                </a:lnTo>
                <a:lnTo>
                  <a:pt x="1169670" y="143255"/>
                </a:lnTo>
                <a:lnTo>
                  <a:pt x="1171194" y="150875"/>
                </a:lnTo>
                <a:lnTo>
                  <a:pt x="1171956" y="157733"/>
                </a:lnTo>
                <a:lnTo>
                  <a:pt x="1173480" y="164591"/>
                </a:lnTo>
                <a:lnTo>
                  <a:pt x="1175004" y="170687"/>
                </a:lnTo>
                <a:lnTo>
                  <a:pt x="1175766" y="177545"/>
                </a:lnTo>
                <a:lnTo>
                  <a:pt x="1176578" y="180390"/>
                </a:lnTo>
                <a:lnTo>
                  <a:pt x="1177290" y="177545"/>
                </a:lnTo>
                <a:lnTo>
                  <a:pt x="1178052" y="171449"/>
                </a:lnTo>
                <a:lnTo>
                  <a:pt x="1181100" y="157733"/>
                </a:lnTo>
                <a:lnTo>
                  <a:pt x="1181862" y="150875"/>
                </a:lnTo>
                <a:lnTo>
                  <a:pt x="1183386" y="143255"/>
                </a:lnTo>
                <a:lnTo>
                  <a:pt x="1189482" y="74675"/>
                </a:lnTo>
                <a:lnTo>
                  <a:pt x="1191006" y="35051"/>
                </a:lnTo>
                <a:close/>
              </a:path>
              <a:path w="2353309" h="414654">
                <a:moveTo>
                  <a:pt x="1213485" y="199643"/>
                </a:moveTo>
                <a:lnTo>
                  <a:pt x="1213104" y="198881"/>
                </a:lnTo>
                <a:lnTo>
                  <a:pt x="1211580" y="196595"/>
                </a:lnTo>
                <a:lnTo>
                  <a:pt x="1210056" y="193547"/>
                </a:lnTo>
                <a:lnTo>
                  <a:pt x="1209294" y="189737"/>
                </a:lnTo>
                <a:lnTo>
                  <a:pt x="1207770" y="185927"/>
                </a:lnTo>
                <a:lnTo>
                  <a:pt x="1206246" y="181355"/>
                </a:lnTo>
                <a:lnTo>
                  <a:pt x="1205484" y="176783"/>
                </a:lnTo>
                <a:lnTo>
                  <a:pt x="1203960" y="171449"/>
                </a:lnTo>
                <a:lnTo>
                  <a:pt x="1202436" y="165353"/>
                </a:lnTo>
                <a:lnTo>
                  <a:pt x="1201674" y="159257"/>
                </a:lnTo>
                <a:lnTo>
                  <a:pt x="1200150" y="153161"/>
                </a:lnTo>
                <a:lnTo>
                  <a:pt x="1198626" y="139445"/>
                </a:lnTo>
                <a:lnTo>
                  <a:pt x="1197102" y="131825"/>
                </a:lnTo>
                <a:lnTo>
                  <a:pt x="1193292" y="90677"/>
                </a:lnTo>
                <a:lnTo>
                  <a:pt x="1191006" y="34289"/>
                </a:lnTo>
                <a:lnTo>
                  <a:pt x="1191006" y="35051"/>
                </a:lnTo>
                <a:lnTo>
                  <a:pt x="1189482" y="74675"/>
                </a:lnTo>
                <a:lnTo>
                  <a:pt x="1183386" y="143255"/>
                </a:lnTo>
                <a:lnTo>
                  <a:pt x="1181862" y="150875"/>
                </a:lnTo>
                <a:lnTo>
                  <a:pt x="1181100" y="157733"/>
                </a:lnTo>
                <a:lnTo>
                  <a:pt x="1178052" y="171449"/>
                </a:lnTo>
                <a:lnTo>
                  <a:pt x="1177290" y="177545"/>
                </a:lnTo>
                <a:lnTo>
                  <a:pt x="1176578" y="180390"/>
                </a:lnTo>
                <a:lnTo>
                  <a:pt x="1181862" y="198881"/>
                </a:lnTo>
                <a:lnTo>
                  <a:pt x="1183386" y="203453"/>
                </a:lnTo>
                <a:lnTo>
                  <a:pt x="1185672" y="207263"/>
                </a:lnTo>
                <a:lnTo>
                  <a:pt x="1187196" y="211073"/>
                </a:lnTo>
                <a:lnTo>
                  <a:pt x="1191768" y="218693"/>
                </a:lnTo>
                <a:lnTo>
                  <a:pt x="1194816" y="221741"/>
                </a:lnTo>
                <a:lnTo>
                  <a:pt x="1194816" y="222503"/>
                </a:lnTo>
                <a:lnTo>
                  <a:pt x="1195578" y="222503"/>
                </a:lnTo>
                <a:lnTo>
                  <a:pt x="1197864" y="224789"/>
                </a:lnTo>
                <a:lnTo>
                  <a:pt x="1198626" y="224789"/>
                </a:lnTo>
                <a:lnTo>
                  <a:pt x="1199388" y="225551"/>
                </a:lnTo>
                <a:lnTo>
                  <a:pt x="1200150" y="225551"/>
                </a:lnTo>
                <a:lnTo>
                  <a:pt x="1204722" y="227837"/>
                </a:lnTo>
                <a:lnTo>
                  <a:pt x="1210056" y="227839"/>
                </a:lnTo>
                <a:lnTo>
                  <a:pt x="1210056" y="199643"/>
                </a:lnTo>
                <a:lnTo>
                  <a:pt x="1213485" y="199643"/>
                </a:lnTo>
                <a:close/>
              </a:path>
              <a:path w="2353309" h="414654">
                <a:moveTo>
                  <a:pt x="1214018" y="200710"/>
                </a:moveTo>
                <a:lnTo>
                  <a:pt x="1213485" y="199643"/>
                </a:lnTo>
                <a:lnTo>
                  <a:pt x="1210056" y="199643"/>
                </a:lnTo>
                <a:lnTo>
                  <a:pt x="1213104" y="200659"/>
                </a:lnTo>
                <a:lnTo>
                  <a:pt x="1213104" y="200405"/>
                </a:lnTo>
                <a:lnTo>
                  <a:pt x="1214018" y="200710"/>
                </a:lnTo>
                <a:close/>
              </a:path>
              <a:path w="2353309" h="414654">
                <a:moveTo>
                  <a:pt x="1215390" y="227843"/>
                </a:moveTo>
                <a:lnTo>
                  <a:pt x="1215390" y="201929"/>
                </a:lnTo>
                <a:lnTo>
                  <a:pt x="1214628" y="201929"/>
                </a:lnTo>
                <a:lnTo>
                  <a:pt x="1214247" y="201167"/>
                </a:lnTo>
                <a:lnTo>
                  <a:pt x="1213866" y="200913"/>
                </a:lnTo>
                <a:lnTo>
                  <a:pt x="1210056" y="199643"/>
                </a:lnTo>
                <a:lnTo>
                  <a:pt x="1210056" y="227839"/>
                </a:lnTo>
                <a:lnTo>
                  <a:pt x="1215390" y="227843"/>
                </a:lnTo>
                <a:close/>
              </a:path>
              <a:path w="2353309" h="414654">
                <a:moveTo>
                  <a:pt x="1214120" y="200913"/>
                </a:moveTo>
                <a:lnTo>
                  <a:pt x="1214018" y="200710"/>
                </a:lnTo>
                <a:lnTo>
                  <a:pt x="1213104" y="200405"/>
                </a:lnTo>
                <a:lnTo>
                  <a:pt x="1214120" y="200913"/>
                </a:lnTo>
                <a:close/>
              </a:path>
              <a:path w="2353309" h="414654">
                <a:moveTo>
                  <a:pt x="1214170" y="201015"/>
                </a:moveTo>
                <a:lnTo>
                  <a:pt x="1213104" y="200405"/>
                </a:lnTo>
                <a:lnTo>
                  <a:pt x="1213866" y="200913"/>
                </a:lnTo>
                <a:lnTo>
                  <a:pt x="1214170" y="201015"/>
                </a:lnTo>
                <a:close/>
              </a:path>
              <a:path w="2353309" h="414654">
                <a:moveTo>
                  <a:pt x="1213866" y="200913"/>
                </a:moveTo>
                <a:lnTo>
                  <a:pt x="1213104" y="200405"/>
                </a:lnTo>
                <a:lnTo>
                  <a:pt x="1213104" y="200659"/>
                </a:lnTo>
                <a:lnTo>
                  <a:pt x="1213866" y="200913"/>
                </a:lnTo>
                <a:close/>
              </a:path>
              <a:path w="2353309" h="414654">
                <a:moveTo>
                  <a:pt x="2353056" y="413765"/>
                </a:moveTo>
                <a:lnTo>
                  <a:pt x="2353056" y="393191"/>
                </a:lnTo>
                <a:lnTo>
                  <a:pt x="2350770" y="335279"/>
                </a:lnTo>
                <a:lnTo>
                  <a:pt x="2347722" y="300227"/>
                </a:lnTo>
                <a:lnTo>
                  <a:pt x="2346198" y="292607"/>
                </a:lnTo>
                <a:lnTo>
                  <a:pt x="2344674" y="277367"/>
                </a:lnTo>
                <a:lnTo>
                  <a:pt x="2343150" y="270509"/>
                </a:lnTo>
                <a:lnTo>
                  <a:pt x="2341626" y="262889"/>
                </a:lnTo>
                <a:lnTo>
                  <a:pt x="2340864" y="256793"/>
                </a:lnTo>
                <a:lnTo>
                  <a:pt x="2337816" y="244601"/>
                </a:lnTo>
                <a:lnTo>
                  <a:pt x="2333244" y="228599"/>
                </a:lnTo>
                <a:lnTo>
                  <a:pt x="2331720" y="224027"/>
                </a:lnTo>
                <a:lnTo>
                  <a:pt x="2329434" y="219455"/>
                </a:lnTo>
                <a:lnTo>
                  <a:pt x="2327910" y="215645"/>
                </a:lnTo>
                <a:lnTo>
                  <a:pt x="2325624" y="211835"/>
                </a:lnTo>
                <a:lnTo>
                  <a:pt x="2322576" y="208025"/>
                </a:lnTo>
                <a:lnTo>
                  <a:pt x="2319528" y="204977"/>
                </a:lnTo>
                <a:lnTo>
                  <a:pt x="2317242" y="203453"/>
                </a:lnTo>
                <a:lnTo>
                  <a:pt x="2316480" y="202691"/>
                </a:lnTo>
                <a:lnTo>
                  <a:pt x="2315718" y="202691"/>
                </a:lnTo>
                <a:lnTo>
                  <a:pt x="2314956" y="201929"/>
                </a:lnTo>
                <a:lnTo>
                  <a:pt x="2311908" y="200405"/>
                </a:lnTo>
                <a:lnTo>
                  <a:pt x="2308860" y="200405"/>
                </a:lnTo>
                <a:lnTo>
                  <a:pt x="2305812" y="199643"/>
                </a:lnTo>
                <a:lnTo>
                  <a:pt x="1213485" y="199643"/>
                </a:lnTo>
                <a:lnTo>
                  <a:pt x="1214018" y="200710"/>
                </a:lnTo>
                <a:lnTo>
                  <a:pt x="1215390" y="201167"/>
                </a:lnTo>
                <a:lnTo>
                  <a:pt x="1215390" y="227843"/>
                </a:lnTo>
                <a:lnTo>
                  <a:pt x="2300478" y="228596"/>
                </a:lnTo>
                <a:lnTo>
                  <a:pt x="2300478" y="226313"/>
                </a:lnTo>
                <a:lnTo>
                  <a:pt x="2302192" y="227456"/>
                </a:lnTo>
                <a:lnTo>
                  <a:pt x="2305048" y="228599"/>
                </a:lnTo>
                <a:lnTo>
                  <a:pt x="2305812" y="228599"/>
                </a:lnTo>
                <a:lnTo>
                  <a:pt x="2305812" y="236981"/>
                </a:lnTo>
                <a:lnTo>
                  <a:pt x="2306574" y="238505"/>
                </a:lnTo>
                <a:lnTo>
                  <a:pt x="2308098" y="242315"/>
                </a:lnTo>
                <a:lnTo>
                  <a:pt x="2308860" y="246887"/>
                </a:lnTo>
                <a:lnTo>
                  <a:pt x="2310384" y="251459"/>
                </a:lnTo>
                <a:lnTo>
                  <a:pt x="2311908" y="256793"/>
                </a:lnTo>
                <a:lnTo>
                  <a:pt x="2312670" y="262889"/>
                </a:lnTo>
                <a:lnTo>
                  <a:pt x="2314194" y="268985"/>
                </a:lnTo>
                <a:lnTo>
                  <a:pt x="2314956" y="275081"/>
                </a:lnTo>
                <a:lnTo>
                  <a:pt x="2316480" y="281939"/>
                </a:lnTo>
                <a:lnTo>
                  <a:pt x="2317242" y="288797"/>
                </a:lnTo>
                <a:lnTo>
                  <a:pt x="2320290" y="320039"/>
                </a:lnTo>
                <a:lnTo>
                  <a:pt x="2323338" y="355091"/>
                </a:lnTo>
                <a:lnTo>
                  <a:pt x="2324100" y="374141"/>
                </a:lnTo>
                <a:lnTo>
                  <a:pt x="2324100" y="393953"/>
                </a:lnTo>
                <a:lnTo>
                  <a:pt x="2324862" y="414527"/>
                </a:lnTo>
                <a:lnTo>
                  <a:pt x="2353056" y="413765"/>
                </a:lnTo>
                <a:close/>
              </a:path>
              <a:path w="2353309" h="414654">
                <a:moveTo>
                  <a:pt x="1214247" y="201167"/>
                </a:moveTo>
                <a:lnTo>
                  <a:pt x="1214170" y="201015"/>
                </a:lnTo>
                <a:lnTo>
                  <a:pt x="1213866" y="200913"/>
                </a:lnTo>
                <a:lnTo>
                  <a:pt x="1214247" y="201167"/>
                </a:lnTo>
                <a:close/>
              </a:path>
              <a:path w="2353309" h="414654">
                <a:moveTo>
                  <a:pt x="1215390" y="201929"/>
                </a:moveTo>
                <a:lnTo>
                  <a:pt x="1215390" y="201167"/>
                </a:lnTo>
                <a:lnTo>
                  <a:pt x="1214018" y="200710"/>
                </a:lnTo>
                <a:lnTo>
                  <a:pt x="1214120" y="200913"/>
                </a:lnTo>
                <a:lnTo>
                  <a:pt x="1214628" y="201167"/>
                </a:lnTo>
                <a:lnTo>
                  <a:pt x="1214628" y="201421"/>
                </a:lnTo>
                <a:lnTo>
                  <a:pt x="1215390" y="201929"/>
                </a:lnTo>
                <a:close/>
              </a:path>
              <a:path w="2353309" h="414654">
                <a:moveTo>
                  <a:pt x="1214628" y="201167"/>
                </a:moveTo>
                <a:lnTo>
                  <a:pt x="1214120" y="200913"/>
                </a:lnTo>
                <a:lnTo>
                  <a:pt x="1214247" y="201040"/>
                </a:lnTo>
                <a:lnTo>
                  <a:pt x="1214628" y="201167"/>
                </a:lnTo>
                <a:close/>
              </a:path>
              <a:path w="2353309" h="414654">
                <a:moveTo>
                  <a:pt x="1214628" y="201421"/>
                </a:moveTo>
                <a:lnTo>
                  <a:pt x="1214628" y="201167"/>
                </a:lnTo>
                <a:lnTo>
                  <a:pt x="1214170" y="201015"/>
                </a:lnTo>
                <a:lnTo>
                  <a:pt x="1214247" y="201167"/>
                </a:lnTo>
                <a:lnTo>
                  <a:pt x="1214628" y="201421"/>
                </a:lnTo>
                <a:close/>
              </a:path>
              <a:path w="2353309" h="414654">
                <a:moveTo>
                  <a:pt x="2302192" y="227456"/>
                </a:moveTo>
                <a:lnTo>
                  <a:pt x="2300478" y="226313"/>
                </a:lnTo>
                <a:lnTo>
                  <a:pt x="2301240" y="227075"/>
                </a:lnTo>
                <a:lnTo>
                  <a:pt x="2302192" y="227456"/>
                </a:lnTo>
                <a:close/>
              </a:path>
              <a:path w="2353309" h="414654">
                <a:moveTo>
                  <a:pt x="2302002" y="228597"/>
                </a:moveTo>
                <a:lnTo>
                  <a:pt x="2302002" y="227837"/>
                </a:lnTo>
                <a:lnTo>
                  <a:pt x="2300478" y="226313"/>
                </a:lnTo>
                <a:lnTo>
                  <a:pt x="2300478" y="228596"/>
                </a:lnTo>
                <a:lnTo>
                  <a:pt x="2302002" y="228597"/>
                </a:lnTo>
                <a:close/>
              </a:path>
              <a:path w="2353309" h="414654">
                <a:moveTo>
                  <a:pt x="2302764" y="227837"/>
                </a:moveTo>
                <a:lnTo>
                  <a:pt x="2302192" y="227456"/>
                </a:lnTo>
                <a:lnTo>
                  <a:pt x="2301240" y="227075"/>
                </a:lnTo>
                <a:lnTo>
                  <a:pt x="2302764" y="227837"/>
                </a:lnTo>
                <a:close/>
              </a:path>
              <a:path w="2353309" h="414654">
                <a:moveTo>
                  <a:pt x="2302764" y="228597"/>
                </a:moveTo>
                <a:lnTo>
                  <a:pt x="2302764" y="227837"/>
                </a:lnTo>
                <a:lnTo>
                  <a:pt x="2301240" y="227075"/>
                </a:lnTo>
                <a:lnTo>
                  <a:pt x="2302002" y="227837"/>
                </a:lnTo>
                <a:lnTo>
                  <a:pt x="2302002" y="228597"/>
                </a:lnTo>
                <a:lnTo>
                  <a:pt x="2302764" y="228597"/>
                </a:lnTo>
                <a:close/>
              </a:path>
              <a:path w="2353309" h="414654">
                <a:moveTo>
                  <a:pt x="2305812" y="236981"/>
                </a:moveTo>
                <a:lnTo>
                  <a:pt x="2305812" y="228599"/>
                </a:lnTo>
                <a:lnTo>
                  <a:pt x="2302002" y="228597"/>
                </a:lnTo>
                <a:lnTo>
                  <a:pt x="2302764" y="230123"/>
                </a:lnTo>
                <a:lnTo>
                  <a:pt x="2304288" y="232409"/>
                </a:lnTo>
                <a:lnTo>
                  <a:pt x="2305050" y="235457"/>
                </a:lnTo>
                <a:lnTo>
                  <a:pt x="2305812" y="236981"/>
                </a:lnTo>
                <a:close/>
              </a:path>
              <a:path w="2353309" h="414654">
                <a:moveTo>
                  <a:pt x="2305048" y="228599"/>
                </a:moveTo>
                <a:lnTo>
                  <a:pt x="2302192" y="227456"/>
                </a:lnTo>
                <a:lnTo>
                  <a:pt x="2302764" y="227837"/>
                </a:lnTo>
                <a:lnTo>
                  <a:pt x="2302764" y="228597"/>
                </a:lnTo>
                <a:lnTo>
                  <a:pt x="2305048" y="228599"/>
                </a:lnTo>
                <a:close/>
              </a:path>
            </a:pathLst>
          </a:custGeom>
          <a:solidFill>
            <a:srgbClr val="9EAD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txBox="1"/>
          <p:nvPr/>
        </p:nvSpPr>
        <p:spPr>
          <a:xfrm>
            <a:off x="7638542" y="2656586"/>
            <a:ext cx="4015740"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Inter</a:t>
            </a:r>
            <a:r>
              <a:rPr kumimoji="0" sz="2000" b="0" i="0" u="none" strike="noStrike" kern="1200" cap="none" spc="-10" normalizeH="0" baseline="0" noProof="0" dirty="0">
                <a:ln>
                  <a:noFill/>
                </a:ln>
                <a:solidFill>
                  <a:prstClr val="black"/>
                </a:solidFill>
                <a:effectLst/>
                <a:uLnTx/>
                <a:uFillTx/>
                <a:latin typeface="Verdana"/>
                <a:ea typeface="+mn-ea"/>
                <a:cs typeface="Verdana"/>
              </a:rPr>
              <a:t> symbol</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Interference</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(ISI)</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 name="object 7"/>
          <p:cNvSpPr txBox="1"/>
          <p:nvPr/>
        </p:nvSpPr>
        <p:spPr>
          <a:xfrm>
            <a:off x="7463279" y="4733040"/>
            <a:ext cx="330644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Single bit </a:t>
            </a:r>
            <a:r>
              <a:rPr kumimoji="0" sz="2000" b="0" i="0" u="none" strike="noStrike" kern="1200" cap="none" spc="-10" normalizeH="0" baseline="0" noProof="0" dirty="0">
                <a:ln>
                  <a:noFill/>
                </a:ln>
                <a:solidFill>
                  <a:prstClr val="black"/>
                </a:solidFill>
                <a:effectLst/>
                <a:uLnTx/>
                <a:uFillTx/>
                <a:latin typeface="Verdana"/>
                <a:ea typeface="+mn-ea"/>
                <a:cs typeface="Verdana"/>
              </a:rPr>
              <a:t>response</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(SBR)</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117" name="Group 116"/>
          <p:cNvGrpSpPr/>
          <p:nvPr/>
        </p:nvGrpSpPr>
        <p:grpSpPr>
          <a:xfrm>
            <a:off x="1495044" y="1184910"/>
            <a:ext cx="3219068" cy="1147825"/>
            <a:chOff x="1495044" y="1184910"/>
            <a:chExt cx="3219068" cy="1147825"/>
          </a:xfrm>
        </p:grpSpPr>
        <p:grpSp>
          <p:nvGrpSpPr>
            <p:cNvPr id="116" name="Group 115"/>
            <p:cNvGrpSpPr/>
            <p:nvPr/>
          </p:nvGrpSpPr>
          <p:grpSpPr>
            <a:xfrm>
              <a:off x="1495044" y="1184910"/>
              <a:ext cx="3219068" cy="1147825"/>
              <a:chOff x="1495044" y="1184910"/>
              <a:chExt cx="3219068" cy="1147825"/>
            </a:xfrm>
          </p:grpSpPr>
          <p:pic>
            <p:nvPicPr>
              <p:cNvPr id="14" name="object 14"/>
              <p:cNvPicPr/>
              <p:nvPr/>
            </p:nvPicPr>
            <p:blipFill>
              <a:blip r:embed="rId3" cstate="print"/>
              <a:stretch>
                <a:fillRect/>
              </a:stretch>
            </p:blipFill>
            <p:spPr>
              <a:xfrm>
                <a:off x="3770376" y="1562861"/>
                <a:ext cx="342900" cy="345186"/>
              </a:xfrm>
              <a:prstGeom prst="rect">
                <a:avLst/>
              </a:prstGeom>
            </p:spPr>
          </p:pic>
          <p:sp>
            <p:nvSpPr>
              <p:cNvPr id="15" name="object 15"/>
              <p:cNvSpPr/>
              <p:nvPr/>
            </p:nvSpPr>
            <p:spPr>
              <a:xfrm>
                <a:off x="3770376" y="1562861"/>
                <a:ext cx="342900" cy="345440"/>
              </a:xfrm>
              <a:custGeom>
                <a:avLst/>
                <a:gdLst/>
                <a:ahLst/>
                <a:cxnLst/>
                <a:rect l="l" t="t" r="r" b="b"/>
                <a:pathLst>
                  <a:path w="342900" h="345439">
                    <a:moveTo>
                      <a:pt x="0" y="0"/>
                    </a:moveTo>
                    <a:lnTo>
                      <a:pt x="342900" y="172211"/>
                    </a:lnTo>
                    <a:lnTo>
                      <a:pt x="0" y="345186"/>
                    </a:lnTo>
                    <a:lnTo>
                      <a:pt x="0" y="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3211068" y="1735836"/>
                <a:ext cx="467359" cy="1270"/>
              </a:xfrm>
              <a:custGeom>
                <a:avLst/>
                <a:gdLst/>
                <a:ahLst/>
                <a:cxnLst/>
                <a:rect l="l" t="t" r="r" b="b"/>
                <a:pathLst>
                  <a:path w="467360" h="1269">
                    <a:moveTo>
                      <a:pt x="0" y="762"/>
                    </a:moveTo>
                    <a:lnTo>
                      <a:pt x="467106"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object 17"/>
              <p:cNvPicPr/>
              <p:nvPr/>
            </p:nvPicPr>
            <p:blipFill>
              <a:blip r:embed="rId4" cstate="print"/>
              <a:stretch>
                <a:fillRect/>
              </a:stretch>
            </p:blipFill>
            <p:spPr>
              <a:xfrm>
                <a:off x="3648456" y="1674876"/>
                <a:ext cx="121920" cy="121920"/>
              </a:xfrm>
              <a:prstGeom prst="rect">
                <a:avLst/>
              </a:prstGeom>
            </p:spPr>
          </p:pic>
          <p:pic>
            <p:nvPicPr>
              <p:cNvPr id="18" name="object 18"/>
              <p:cNvPicPr/>
              <p:nvPr/>
            </p:nvPicPr>
            <p:blipFill>
              <a:blip r:embed="rId5" cstate="print"/>
              <a:stretch>
                <a:fillRect/>
              </a:stretch>
            </p:blipFill>
            <p:spPr>
              <a:xfrm>
                <a:off x="3642360" y="2044445"/>
                <a:ext cx="598932" cy="288036"/>
              </a:xfrm>
              <a:prstGeom prst="rect">
                <a:avLst/>
              </a:prstGeom>
            </p:spPr>
          </p:pic>
          <p:sp>
            <p:nvSpPr>
              <p:cNvPr id="19" name="object 19"/>
              <p:cNvSpPr txBox="1"/>
              <p:nvPr/>
            </p:nvSpPr>
            <p:spPr>
              <a:xfrm>
                <a:off x="3642359" y="2044445"/>
                <a:ext cx="599440" cy="288290"/>
              </a:xfrm>
              <a:prstGeom prst="rect">
                <a:avLst/>
              </a:prstGeom>
              <a:ln w="28600">
                <a:solidFill>
                  <a:srgbClr val="000000"/>
                </a:solidFill>
              </a:ln>
            </p:spPr>
            <p:txBody>
              <a:bodyPr vert="horz" wrap="square" lIns="0" tIns="0" rIns="0" bIns="0" rtlCol="0">
                <a:spAutoFit/>
              </a:bodyPr>
              <a:lstStyle/>
              <a:p>
                <a:pPr marL="95885" marR="0" lvl="0" indent="0" algn="l" defTabSz="914400" rtl="0" eaLnBrk="1" fontAlgn="auto" latinLnBrk="0" hangingPunct="1">
                  <a:lnSpc>
                    <a:spcPts val="2175"/>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21" name="object 21"/>
              <p:cNvSpPr/>
              <p:nvPr/>
            </p:nvSpPr>
            <p:spPr>
              <a:xfrm>
                <a:off x="4113276" y="1735074"/>
                <a:ext cx="146685" cy="0"/>
              </a:xfrm>
              <a:custGeom>
                <a:avLst/>
                <a:gdLst/>
                <a:ahLst/>
                <a:cxnLst/>
                <a:rect l="l" t="t" r="r" b="b"/>
                <a:pathLst>
                  <a:path w="146685">
                    <a:moveTo>
                      <a:pt x="0" y="0"/>
                    </a:moveTo>
                    <a:lnTo>
                      <a:pt x="14630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4063745" y="1290828"/>
                <a:ext cx="180975" cy="308610"/>
              </a:xfrm>
              <a:custGeom>
                <a:avLst/>
                <a:gdLst/>
                <a:ahLst/>
                <a:cxnLst/>
                <a:rect l="l" t="t" r="r" b="b"/>
                <a:pathLst>
                  <a:path w="180975" h="308609">
                    <a:moveTo>
                      <a:pt x="90677" y="0"/>
                    </a:moveTo>
                    <a:lnTo>
                      <a:pt x="0" y="25908"/>
                    </a:lnTo>
                    <a:lnTo>
                      <a:pt x="180593" y="76962"/>
                    </a:lnTo>
                    <a:lnTo>
                      <a:pt x="0" y="128778"/>
                    </a:lnTo>
                    <a:lnTo>
                      <a:pt x="180593" y="179832"/>
                    </a:lnTo>
                    <a:lnTo>
                      <a:pt x="0" y="231647"/>
                    </a:lnTo>
                    <a:lnTo>
                      <a:pt x="180593" y="282702"/>
                    </a:lnTo>
                    <a:lnTo>
                      <a:pt x="90677" y="30861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3"/>
              <p:cNvSpPr/>
              <p:nvPr/>
            </p:nvSpPr>
            <p:spPr>
              <a:xfrm>
                <a:off x="4063745" y="1184910"/>
                <a:ext cx="180975" cy="0"/>
              </a:xfrm>
              <a:custGeom>
                <a:avLst/>
                <a:gdLst/>
                <a:ahLst/>
                <a:cxnLst/>
                <a:rect l="l" t="t" r="r" b="b"/>
                <a:pathLst>
                  <a:path w="180975">
                    <a:moveTo>
                      <a:pt x="0" y="0"/>
                    </a:moveTo>
                    <a:lnTo>
                      <a:pt x="18059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object 24"/>
              <p:cNvSpPr/>
              <p:nvPr/>
            </p:nvSpPr>
            <p:spPr>
              <a:xfrm>
                <a:off x="4154423" y="1184910"/>
                <a:ext cx="0" cy="106045"/>
              </a:xfrm>
              <a:custGeom>
                <a:avLst/>
                <a:gdLst/>
                <a:ahLst/>
                <a:cxnLst/>
                <a:rect l="l" t="t" r="r" b="b"/>
                <a:pathLst>
                  <a:path h="106044">
                    <a:moveTo>
                      <a:pt x="0" y="0"/>
                    </a:moveTo>
                    <a:lnTo>
                      <a:pt x="0" y="105918"/>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object 25"/>
              <p:cNvSpPr/>
              <p:nvPr/>
            </p:nvSpPr>
            <p:spPr>
              <a:xfrm>
                <a:off x="4154423" y="1599438"/>
                <a:ext cx="0" cy="135890"/>
              </a:xfrm>
              <a:custGeom>
                <a:avLst/>
                <a:gdLst/>
                <a:ahLst/>
                <a:cxnLst/>
                <a:rect l="l" t="t" r="r" b="b"/>
                <a:pathLst>
                  <a:path h="135889">
                    <a:moveTo>
                      <a:pt x="0" y="0"/>
                    </a:moveTo>
                    <a:lnTo>
                      <a:pt x="0" y="135636"/>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object 26"/>
              <p:cNvSpPr/>
              <p:nvPr/>
            </p:nvSpPr>
            <p:spPr>
              <a:xfrm>
                <a:off x="3945635" y="1917954"/>
                <a:ext cx="0" cy="125730"/>
              </a:xfrm>
              <a:custGeom>
                <a:avLst/>
                <a:gdLst/>
                <a:ahLst/>
                <a:cxnLst/>
                <a:rect l="l" t="t" r="r" b="b"/>
                <a:pathLst>
                  <a:path h="125730">
                    <a:moveTo>
                      <a:pt x="0" y="0"/>
                    </a:moveTo>
                    <a:lnTo>
                      <a:pt x="0" y="12573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bject 27"/>
              <p:cNvSpPr/>
              <p:nvPr/>
            </p:nvSpPr>
            <p:spPr>
              <a:xfrm>
                <a:off x="3884676" y="1825752"/>
                <a:ext cx="121285" cy="121920"/>
              </a:xfrm>
              <a:custGeom>
                <a:avLst/>
                <a:gdLst/>
                <a:ahLst/>
                <a:cxnLst/>
                <a:rect l="l" t="t" r="r" b="b"/>
                <a:pathLst>
                  <a:path w="121285" h="121919">
                    <a:moveTo>
                      <a:pt x="121158" y="121920"/>
                    </a:moveTo>
                    <a:lnTo>
                      <a:pt x="60960" y="0"/>
                    </a:lnTo>
                    <a:lnTo>
                      <a:pt x="0" y="121920"/>
                    </a:lnTo>
                    <a:lnTo>
                      <a:pt x="29646" y="111204"/>
                    </a:lnTo>
                    <a:lnTo>
                      <a:pt x="60579" y="107632"/>
                    </a:lnTo>
                    <a:lnTo>
                      <a:pt x="91511" y="111204"/>
                    </a:lnTo>
                    <a:lnTo>
                      <a:pt x="121158" y="12192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object 28"/>
              <p:cNvPicPr/>
              <p:nvPr/>
            </p:nvPicPr>
            <p:blipFill>
              <a:blip r:embed="rId6" cstate="print"/>
              <a:stretch>
                <a:fillRect/>
              </a:stretch>
            </p:blipFill>
            <p:spPr>
              <a:xfrm>
                <a:off x="4251960" y="1662684"/>
                <a:ext cx="144017" cy="144779"/>
              </a:xfrm>
              <a:prstGeom prst="rect">
                <a:avLst/>
              </a:prstGeom>
            </p:spPr>
          </p:pic>
          <p:pic>
            <p:nvPicPr>
              <p:cNvPr id="29" name="object 29"/>
              <p:cNvPicPr/>
              <p:nvPr/>
            </p:nvPicPr>
            <p:blipFill>
              <a:blip r:embed="rId7" cstate="print"/>
              <a:stretch>
                <a:fillRect/>
              </a:stretch>
            </p:blipFill>
            <p:spPr>
              <a:xfrm>
                <a:off x="4237621" y="1648345"/>
                <a:ext cx="172694" cy="173456"/>
              </a:xfrm>
              <a:prstGeom prst="rect">
                <a:avLst/>
              </a:prstGeom>
            </p:spPr>
          </p:pic>
          <p:sp>
            <p:nvSpPr>
              <p:cNvPr id="30" name="object 30"/>
              <p:cNvSpPr/>
              <p:nvPr/>
            </p:nvSpPr>
            <p:spPr>
              <a:xfrm>
                <a:off x="4395977" y="1735074"/>
                <a:ext cx="318135" cy="0"/>
              </a:xfrm>
              <a:custGeom>
                <a:avLst/>
                <a:gdLst/>
                <a:ahLst/>
                <a:cxnLst/>
                <a:rect l="l" t="t" r="r" b="b"/>
                <a:pathLst>
                  <a:path w="318135">
                    <a:moveTo>
                      <a:pt x="0" y="0"/>
                    </a:moveTo>
                    <a:lnTo>
                      <a:pt x="31775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0" name="object 50"/>
              <p:cNvPicPr/>
              <p:nvPr/>
            </p:nvPicPr>
            <p:blipFill>
              <a:blip r:embed="rId8" cstate="print"/>
              <a:stretch>
                <a:fillRect/>
              </a:stretch>
            </p:blipFill>
            <p:spPr>
              <a:xfrm>
                <a:off x="4107357" y="1688769"/>
                <a:ext cx="93370" cy="93370"/>
              </a:xfrm>
              <a:prstGeom prst="rect">
                <a:avLst/>
              </a:prstGeom>
            </p:spPr>
          </p:pic>
          <p:sp>
            <p:nvSpPr>
              <p:cNvPr id="56" name="object 56"/>
              <p:cNvSpPr/>
              <p:nvPr/>
            </p:nvSpPr>
            <p:spPr>
              <a:xfrm>
                <a:off x="2704338" y="1465326"/>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2731769" y="1404366"/>
                <a:ext cx="121285" cy="121920"/>
              </a:xfrm>
              <a:custGeom>
                <a:avLst/>
                <a:gdLst/>
                <a:ahLst/>
                <a:cxnLst/>
                <a:rect l="l" t="t" r="r" b="b"/>
                <a:pathLst>
                  <a:path w="121285" h="121919">
                    <a:moveTo>
                      <a:pt x="121157" y="60960"/>
                    </a:moveTo>
                    <a:lnTo>
                      <a:pt x="0" y="0"/>
                    </a:lnTo>
                    <a:lnTo>
                      <a:pt x="10715" y="29658"/>
                    </a:lnTo>
                    <a:lnTo>
                      <a:pt x="14287" y="60674"/>
                    </a:lnTo>
                    <a:lnTo>
                      <a:pt x="10715" y="91832"/>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2704338" y="1645920"/>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2731769" y="1584960"/>
                <a:ext cx="121285" cy="121920"/>
              </a:xfrm>
              <a:custGeom>
                <a:avLst/>
                <a:gdLst/>
                <a:ahLst/>
                <a:cxnLst/>
                <a:rect l="l" t="t" r="r" b="b"/>
                <a:pathLst>
                  <a:path w="121285" h="121919">
                    <a:moveTo>
                      <a:pt x="121157" y="60960"/>
                    </a:moveTo>
                    <a:lnTo>
                      <a:pt x="0" y="0"/>
                    </a:lnTo>
                    <a:lnTo>
                      <a:pt x="10715" y="30087"/>
                    </a:lnTo>
                    <a:lnTo>
                      <a:pt x="14287" y="61245"/>
                    </a:lnTo>
                    <a:lnTo>
                      <a:pt x="10715" y="92261"/>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bject 60"/>
              <p:cNvSpPr/>
              <p:nvPr/>
            </p:nvSpPr>
            <p:spPr>
              <a:xfrm>
                <a:off x="2704338" y="1827276"/>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bject 61"/>
              <p:cNvSpPr/>
              <p:nvPr/>
            </p:nvSpPr>
            <p:spPr>
              <a:xfrm>
                <a:off x="2731769" y="1766316"/>
                <a:ext cx="121285" cy="121920"/>
              </a:xfrm>
              <a:custGeom>
                <a:avLst/>
                <a:gdLst/>
                <a:ahLst/>
                <a:cxnLst/>
                <a:rect l="l" t="t" r="r" b="b"/>
                <a:pathLst>
                  <a:path w="121285" h="121919">
                    <a:moveTo>
                      <a:pt x="121157" y="60960"/>
                    </a:moveTo>
                    <a:lnTo>
                      <a:pt x="0" y="0"/>
                    </a:lnTo>
                    <a:lnTo>
                      <a:pt x="10715" y="30087"/>
                    </a:lnTo>
                    <a:lnTo>
                      <a:pt x="14287" y="61245"/>
                    </a:lnTo>
                    <a:lnTo>
                      <a:pt x="10715" y="92261"/>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object 62"/>
              <p:cNvSpPr/>
              <p:nvPr/>
            </p:nvSpPr>
            <p:spPr>
              <a:xfrm>
                <a:off x="2704338" y="2008632"/>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object 63"/>
              <p:cNvSpPr/>
              <p:nvPr/>
            </p:nvSpPr>
            <p:spPr>
              <a:xfrm>
                <a:off x="2731769" y="1947672"/>
                <a:ext cx="121285" cy="121920"/>
              </a:xfrm>
              <a:custGeom>
                <a:avLst/>
                <a:gdLst/>
                <a:ahLst/>
                <a:cxnLst/>
                <a:rect l="l" t="t" r="r" b="b"/>
                <a:pathLst>
                  <a:path w="121285"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4" name="object 64"/>
              <p:cNvPicPr/>
              <p:nvPr/>
            </p:nvPicPr>
            <p:blipFill>
              <a:blip r:embed="rId9" cstate="print"/>
              <a:stretch>
                <a:fillRect/>
              </a:stretch>
            </p:blipFill>
            <p:spPr>
              <a:xfrm>
                <a:off x="1495805" y="1319022"/>
                <a:ext cx="1192530" cy="832865"/>
              </a:xfrm>
              <a:prstGeom prst="rect">
                <a:avLst/>
              </a:prstGeom>
            </p:spPr>
          </p:pic>
          <p:sp>
            <p:nvSpPr>
              <p:cNvPr id="65" name="object 65"/>
              <p:cNvSpPr txBox="1"/>
              <p:nvPr/>
            </p:nvSpPr>
            <p:spPr>
              <a:xfrm>
                <a:off x="1495044" y="1319022"/>
                <a:ext cx="1193800" cy="833119"/>
              </a:xfrm>
              <a:prstGeom prst="rect">
                <a:avLst/>
              </a:prstGeom>
              <a:ln w="28600">
                <a:solidFill>
                  <a:srgbClr val="000000"/>
                </a:solidFill>
              </a:ln>
            </p:spPr>
            <p:txBody>
              <a:bodyPr vert="horz" wrap="square" lIns="0" tIns="244475" rIns="0" bIns="0" rtlCol="0">
                <a:spAutoFit/>
              </a:bodyPr>
              <a:lstStyle/>
              <a:p>
                <a:pPr marL="204470" marR="0" lvl="0" indent="0" algn="l" defTabSz="914400" rtl="0" eaLnBrk="1" fontAlgn="auto" latinLnBrk="0" hangingPunct="1">
                  <a:lnSpc>
                    <a:spcPct val="100000"/>
                  </a:lnSpc>
                  <a:spcBef>
                    <a:spcPts val="1925"/>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grpSp>
        <p:pic>
          <p:nvPicPr>
            <p:cNvPr id="74" name="object 74"/>
            <p:cNvPicPr/>
            <p:nvPr/>
          </p:nvPicPr>
          <p:blipFill>
            <a:blip r:embed="rId10" cstate="print"/>
            <a:stretch>
              <a:fillRect/>
            </a:stretch>
          </p:blipFill>
          <p:spPr>
            <a:xfrm>
              <a:off x="2852927" y="1374648"/>
              <a:ext cx="255270" cy="722376"/>
            </a:xfrm>
            <a:prstGeom prst="rect">
              <a:avLst/>
            </a:prstGeom>
          </p:spPr>
        </p:pic>
        <p:sp>
          <p:nvSpPr>
            <p:cNvPr id="75" name="object 75"/>
            <p:cNvSpPr/>
            <p:nvPr/>
          </p:nvSpPr>
          <p:spPr>
            <a:xfrm>
              <a:off x="2852927" y="1374648"/>
              <a:ext cx="255270" cy="722630"/>
            </a:xfrm>
            <a:custGeom>
              <a:avLst/>
              <a:gdLst/>
              <a:ahLst/>
              <a:cxnLst/>
              <a:rect l="l" t="t" r="r" b="b"/>
              <a:pathLst>
                <a:path w="255269" h="722630">
                  <a:moveTo>
                    <a:pt x="255269" y="181355"/>
                  </a:moveTo>
                  <a:lnTo>
                    <a:pt x="255269" y="543305"/>
                  </a:lnTo>
                  <a:lnTo>
                    <a:pt x="0" y="722375"/>
                  </a:lnTo>
                  <a:lnTo>
                    <a:pt x="0" y="0"/>
                  </a:lnTo>
                  <a:lnTo>
                    <a:pt x="255269" y="181355"/>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object 76"/>
            <p:cNvSpPr/>
            <p:nvPr/>
          </p:nvSpPr>
          <p:spPr>
            <a:xfrm>
              <a:off x="3108197" y="1736598"/>
              <a:ext cx="102870" cy="0"/>
            </a:xfrm>
            <a:custGeom>
              <a:avLst/>
              <a:gdLst/>
              <a:ahLst/>
              <a:cxnLst/>
              <a:rect l="l" t="t" r="r" b="b"/>
              <a:pathLst>
                <a:path w="102869">
                  <a:moveTo>
                    <a:pt x="102869"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object 77"/>
            <p:cNvSpPr/>
            <p:nvPr/>
          </p:nvSpPr>
          <p:spPr>
            <a:xfrm>
              <a:off x="2760725" y="1465326"/>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object 78"/>
            <p:cNvSpPr/>
            <p:nvPr/>
          </p:nvSpPr>
          <p:spPr>
            <a:xfrm>
              <a:off x="2760725" y="1645920"/>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object 79"/>
            <p:cNvSpPr/>
            <p:nvPr/>
          </p:nvSpPr>
          <p:spPr>
            <a:xfrm>
              <a:off x="2760725" y="1827276"/>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object 80"/>
            <p:cNvSpPr/>
            <p:nvPr/>
          </p:nvSpPr>
          <p:spPr>
            <a:xfrm>
              <a:off x="2760725" y="2008632"/>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 name="Group 117"/>
          <p:cNvGrpSpPr/>
          <p:nvPr/>
        </p:nvGrpSpPr>
        <p:grpSpPr>
          <a:xfrm>
            <a:off x="6242443" y="1191768"/>
            <a:ext cx="3886568" cy="1155573"/>
            <a:chOff x="6242443" y="1191768"/>
            <a:chExt cx="3886568" cy="1155573"/>
          </a:xfrm>
        </p:grpSpPr>
        <p:sp>
          <p:nvSpPr>
            <p:cNvPr id="31" name="object 31"/>
            <p:cNvSpPr/>
            <p:nvPr/>
          </p:nvSpPr>
          <p:spPr>
            <a:xfrm>
              <a:off x="6404610" y="1741931"/>
              <a:ext cx="231140" cy="0"/>
            </a:xfrm>
            <a:custGeom>
              <a:avLst/>
              <a:gdLst/>
              <a:ahLst/>
              <a:cxnLst/>
              <a:rect l="l" t="t" r="r" b="b"/>
              <a:pathLst>
                <a:path w="231140">
                  <a:moveTo>
                    <a:pt x="0" y="0"/>
                  </a:moveTo>
                  <a:lnTo>
                    <a:pt x="230886"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6400799" y="1297686"/>
              <a:ext cx="180975" cy="307975"/>
            </a:xfrm>
            <a:custGeom>
              <a:avLst/>
              <a:gdLst/>
              <a:ahLst/>
              <a:cxnLst/>
              <a:rect l="l" t="t" r="r" b="b"/>
              <a:pathLst>
                <a:path w="180975" h="307975">
                  <a:moveTo>
                    <a:pt x="90677" y="0"/>
                  </a:moveTo>
                  <a:lnTo>
                    <a:pt x="0" y="25146"/>
                  </a:lnTo>
                  <a:lnTo>
                    <a:pt x="180593" y="76962"/>
                  </a:lnTo>
                  <a:lnTo>
                    <a:pt x="0" y="128016"/>
                  </a:lnTo>
                  <a:lnTo>
                    <a:pt x="180593" y="179832"/>
                  </a:lnTo>
                  <a:lnTo>
                    <a:pt x="0" y="230886"/>
                  </a:lnTo>
                  <a:lnTo>
                    <a:pt x="180593" y="282702"/>
                  </a:lnTo>
                  <a:lnTo>
                    <a:pt x="90677" y="307848"/>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object 33"/>
            <p:cNvSpPr/>
            <p:nvPr/>
          </p:nvSpPr>
          <p:spPr>
            <a:xfrm>
              <a:off x="6400799" y="1191768"/>
              <a:ext cx="180975" cy="0"/>
            </a:xfrm>
            <a:custGeom>
              <a:avLst/>
              <a:gdLst/>
              <a:ahLst/>
              <a:cxnLst/>
              <a:rect l="l" t="t" r="r" b="b"/>
              <a:pathLst>
                <a:path w="180975">
                  <a:moveTo>
                    <a:pt x="0" y="0"/>
                  </a:moveTo>
                  <a:lnTo>
                    <a:pt x="18059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6491477" y="1191768"/>
              <a:ext cx="0" cy="106045"/>
            </a:xfrm>
            <a:custGeom>
              <a:avLst/>
              <a:gdLst/>
              <a:ahLst/>
              <a:cxnLst/>
              <a:rect l="l" t="t" r="r" b="b"/>
              <a:pathLst>
                <a:path h="106044">
                  <a:moveTo>
                    <a:pt x="0" y="0"/>
                  </a:moveTo>
                  <a:lnTo>
                    <a:pt x="0" y="105918"/>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6491477" y="1605534"/>
              <a:ext cx="0" cy="136525"/>
            </a:xfrm>
            <a:custGeom>
              <a:avLst/>
              <a:gdLst/>
              <a:ahLst/>
              <a:cxnLst/>
              <a:rect l="l" t="t" r="r" b="b"/>
              <a:pathLst>
                <a:path h="136525">
                  <a:moveTo>
                    <a:pt x="0" y="0"/>
                  </a:moveTo>
                  <a:lnTo>
                    <a:pt x="0" y="136398"/>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object 36"/>
            <p:cNvPicPr/>
            <p:nvPr/>
          </p:nvPicPr>
          <p:blipFill>
            <a:blip r:embed="rId11" cstate="print"/>
            <a:stretch>
              <a:fillRect/>
            </a:stretch>
          </p:blipFill>
          <p:spPr>
            <a:xfrm>
              <a:off x="6256781" y="1675638"/>
              <a:ext cx="144017" cy="144780"/>
            </a:xfrm>
            <a:prstGeom prst="rect">
              <a:avLst/>
            </a:prstGeom>
          </p:spPr>
        </p:pic>
        <p:pic>
          <p:nvPicPr>
            <p:cNvPr id="37" name="object 37"/>
            <p:cNvPicPr/>
            <p:nvPr/>
          </p:nvPicPr>
          <p:blipFill>
            <a:blip r:embed="rId12" cstate="print"/>
            <a:stretch>
              <a:fillRect/>
            </a:stretch>
          </p:blipFill>
          <p:spPr>
            <a:xfrm>
              <a:off x="6242443" y="1661299"/>
              <a:ext cx="172694" cy="173456"/>
            </a:xfrm>
            <a:prstGeom prst="rect">
              <a:avLst/>
            </a:prstGeom>
          </p:spPr>
        </p:pic>
        <p:sp>
          <p:nvSpPr>
            <p:cNvPr id="38" name="object 38"/>
            <p:cNvSpPr/>
            <p:nvPr/>
          </p:nvSpPr>
          <p:spPr>
            <a:xfrm>
              <a:off x="6635495" y="1735836"/>
              <a:ext cx="1289685" cy="6350"/>
            </a:xfrm>
            <a:custGeom>
              <a:avLst/>
              <a:gdLst/>
              <a:ahLst/>
              <a:cxnLst/>
              <a:rect l="l" t="t" r="r" b="b"/>
              <a:pathLst>
                <a:path w="1289684" h="6350">
                  <a:moveTo>
                    <a:pt x="0" y="6096"/>
                  </a:moveTo>
                  <a:lnTo>
                    <a:pt x="128930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object 39"/>
            <p:cNvPicPr/>
            <p:nvPr/>
          </p:nvPicPr>
          <p:blipFill>
            <a:blip r:embed="rId13" cstate="print"/>
            <a:stretch>
              <a:fillRect/>
            </a:stretch>
          </p:blipFill>
          <p:spPr>
            <a:xfrm>
              <a:off x="7975854" y="1591056"/>
              <a:ext cx="286511" cy="288798"/>
            </a:xfrm>
            <a:prstGeom prst="rect">
              <a:avLst/>
            </a:prstGeom>
          </p:spPr>
        </p:pic>
        <p:sp>
          <p:nvSpPr>
            <p:cNvPr id="40" name="object 40"/>
            <p:cNvSpPr/>
            <p:nvPr/>
          </p:nvSpPr>
          <p:spPr>
            <a:xfrm>
              <a:off x="7975854" y="1591056"/>
              <a:ext cx="287020" cy="288925"/>
            </a:xfrm>
            <a:custGeom>
              <a:avLst/>
              <a:gdLst/>
              <a:ahLst/>
              <a:cxnLst/>
              <a:rect l="l" t="t" r="r" b="b"/>
              <a:pathLst>
                <a:path w="287020" h="288925">
                  <a:moveTo>
                    <a:pt x="0" y="0"/>
                  </a:moveTo>
                  <a:lnTo>
                    <a:pt x="0" y="288798"/>
                  </a:lnTo>
                  <a:lnTo>
                    <a:pt x="286512" y="288798"/>
                  </a:lnTo>
                  <a:lnTo>
                    <a:pt x="286512" y="0"/>
                  </a:lnTo>
                  <a:lnTo>
                    <a:pt x="0" y="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8055864" y="1620012"/>
              <a:ext cx="115570" cy="231140"/>
            </a:xfrm>
            <a:custGeom>
              <a:avLst/>
              <a:gdLst/>
              <a:ahLst/>
              <a:cxnLst/>
              <a:rect l="l" t="t" r="r" b="b"/>
              <a:pathLst>
                <a:path w="115570" h="231139">
                  <a:moveTo>
                    <a:pt x="0" y="230886"/>
                  </a:moveTo>
                  <a:lnTo>
                    <a:pt x="57150" y="230886"/>
                  </a:lnTo>
                  <a:lnTo>
                    <a:pt x="57149" y="0"/>
                  </a:lnTo>
                  <a:lnTo>
                    <a:pt x="115061"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8073390" y="1735836"/>
              <a:ext cx="91440" cy="0"/>
            </a:xfrm>
            <a:custGeom>
              <a:avLst/>
              <a:gdLst/>
              <a:ahLst/>
              <a:cxnLst/>
              <a:rect l="l" t="t" r="r" b="b"/>
              <a:pathLst>
                <a:path w="91440">
                  <a:moveTo>
                    <a:pt x="0" y="0"/>
                  </a:moveTo>
                  <a:lnTo>
                    <a:pt x="9144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8262365" y="1735836"/>
              <a:ext cx="195580" cy="0"/>
            </a:xfrm>
            <a:custGeom>
              <a:avLst/>
              <a:gdLst/>
              <a:ahLst/>
              <a:cxnLst/>
              <a:rect l="l" t="t" r="r" b="b"/>
              <a:pathLst>
                <a:path w="195579">
                  <a:moveTo>
                    <a:pt x="0" y="0"/>
                  </a:moveTo>
                  <a:lnTo>
                    <a:pt x="19507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8113014" y="1972056"/>
              <a:ext cx="0" cy="72390"/>
            </a:xfrm>
            <a:custGeom>
              <a:avLst/>
              <a:gdLst/>
              <a:ahLst/>
              <a:cxnLst/>
              <a:rect l="l" t="t" r="r" b="b"/>
              <a:pathLst>
                <a:path h="72389">
                  <a:moveTo>
                    <a:pt x="0" y="0"/>
                  </a:moveTo>
                  <a:lnTo>
                    <a:pt x="0" y="7239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8052815" y="1879854"/>
              <a:ext cx="121285" cy="121920"/>
            </a:xfrm>
            <a:custGeom>
              <a:avLst/>
              <a:gdLst/>
              <a:ahLst/>
              <a:cxnLst/>
              <a:rect l="l" t="t" r="r" b="b"/>
              <a:pathLst>
                <a:path w="121284" h="121919">
                  <a:moveTo>
                    <a:pt x="121158" y="121920"/>
                  </a:moveTo>
                  <a:lnTo>
                    <a:pt x="60198" y="0"/>
                  </a:lnTo>
                  <a:lnTo>
                    <a:pt x="0" y="121920"/>
                  </a:lnTo>
                  <a:lnTo>
                    <a:pt x="29646" y="111204"/>
                  </a:lnTo>
                  <a:lnTo>
                    <a:pt x="60579" y="107632"/>
                  </a:lnTo>
                  <a:lnTo>
                    <a:pt x="91511" y="111204"/>
                  </a:lnTo>
                  <a:lnTo>
                    <a:pt x="121158" y="12192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7382256" y="2188463"/>
              <a:ext cx="123825" cy="0"/>
            </a:xfrm>
            <a:custGeom>
              <a:avLst/>
              <a:gdLst/>
              <a:ahLst/>
              <a:cxnLst/>
              <a:rect l="l" t="t" r="r" b="b"/>
              <a:pathLst>
                <a:path w="123825">
                  <a:moveTo>
                    <a:pt x="123444"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7475981" y="2127504"/>
              <a:ext cx="121285" cy="121920"/>
            </a:xfrm>
            <a:custGeom>
              <a:avLst/>
              <a:gdLst/>
              <a:ahLst/>
              <a:cxnLst/>
              <a:rect l="l" t="t" r="r" b="b"/>
              <a:pathLst>
                <a:path w="121284"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bject 48"/>
            <p:cNvSpPr/>
            <p:nvPr/>
          </p:nvSpPr>
          <p:spPr>
            <a:xfrm>
              <a:off x="7801356" y="1735836"/>
              <a:ext cx="0" cy="215900"/>
            </a:xfrm>
            <a:custGeom>
              <a:avLst/>
              <a:gdLst/>
              <a:ahLst/>
              <a:cxnLst/>
              <a:rect l="l" t="t" r="r" b="b"/>
              <a:pathLst>
                <a:path h="215900">
                  <a:moveTo>
                    <a:pt x="0" y="0"/>
                  </a:moveTo>
                  <a:lnTo>
                    <a:pt x="0" y="215646"/>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bject 49"/>
            <p:cNvSpPr/>
            <p:nvPr/>
          </p:nvSpPr>
          <p:spPr>
            <a:xfrm>
              <a:off x="7740395" y="1922526"/>
              <a:ext cx="121285" cy="121920"/>
            </a:xfrm>
            <a:custGeom>
              <a:avLst/>
              <a:gdLst/>
              <a:ahLst/>
              <a:cxnLst/>
              <a:rect l="l" t="t" r="r" b="b"/>
              <a:pathLst>
                <a:path w="121284" h="121919">
                  <a:moveTo>
                    <a:pt x="121157" y="0"/>
                  </a:moveTo>
                  <a:lnTo>
                    <a:pt x="91511" y="10715"/>
                  </a:lnTo>
                  <a:lnTo>
                    <a:pt x="60578" y="14287"/>
                  </a:lnTo>
                  <a:lnTo>
                    <a:pt x="29646" y="10715"/>
                  </a:lnTo>
                  <a:lnTo>
                    <a:pt x="0" y="0"/>
                  </a:lnTo>
                  <a:lnTo>
                    <a:pt x="60959" y="121920"/>
                  </a:lnTo>
                  <a:lnTo>
                    <a:pt x="121157"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1" name="object 51"/>
            <p:cNvPicPr/>
            <p:nvPr/>
          </p:nvPicPr>
          <p:blipFill>
            <a:blip r:embed="rId14" cstate="print"/>
            <a:stretch>
              <a:fillRect/>
            </a:stretch>
          </p:blipFill>
          <p:spPr>
            <a:xfrm>
              <a:off x="6444411" y="1700961"/>
              <a:ext cx="93370" cy="94132"/>
            </a:xfrm>
            <a:prstGeom prst="rect">
              <a:avLst/>
            </a:prstGeom>
          </p:spPr>
        </p:pic>
        <p:sp>
          <p:nvSpPr>
            <p:cNvPr id="52" name="object 52"/>
            <p:cNvSpPr/>
            <p:nvPr/>
          </p:nvSpPr>
          <p:spPr>
            <a:xfrm>
              <a:off x="7763256" y="1703070"/>
              <a:ext cx="64769" cy="64769"/>
            </a:xfrm>
            <a:custGeom>
              <a:avLst/>
              <a:gdLst/>
              <a:ahLst/>
              <a:cxnLst/>
              <a:rect l="l" t="t" r="r" b="b"/>
              <a:pathLst>
                <a:path w="64770" h="64769">
                  <a:moveTo>
                    <a:pt x="64770" y="32765"/>
                  </a:moveTo>
                  <a:lnTo>
                    <a:pt x="62233" y="19931"/>
                  </a:lnTo>
                  <a:lnTo>
                    <a:pt x="55340" y="9524"/>
                  </a:lnTo>
                  <a:lnTo>
                    <a:pt x="45160" y="2547"/>
                  </a:lnTo>
                  <a:lnTo>
                    <a:pt x="32766" y="0"/>
                  </a:lnTo>
                  <a:lnTo>
                    <a:pt x="19931" y="2547"/>
                  </a:lnTo>
                  <a:lnTo>
                    <a:pt x="9525" y="9524"/>
                  </a:lnTo>
                  <a:lnTo>
                    <a:pt x="2547" y="19931"/>
                  </a:lnTo>
                  <a:lnTo>
                    <a:pt x="0" y="32765"/>
                  </a:lnTo>
                  <a:lnTo>
                    <a:pt x="2547" y="45160"/>
                  </a:lnTo>
                  <a:lnTo>
                    <a:pt x="9525" y="55340"/>
                  </a:lnTo>
                  <a:lnTo>
                    <a:pt x="19931" y="62233"/>
                  </a:lnTo>
                  <a:lnTo>
                    <a:pt x="32766" y="64769"/>
                  </a:lnTo>
                  <a:lnTo>
                    <a:pt x="45160" y="62233"/>
                  </a:lnTo>
                  <a:lnTo>
                    <a:pt x="55340" y="55340"/>
                  </a:lnTo>
                  <a:lnTo>
                    <a:pt x="62233" y="45160"/>
                  </a:lnTo>
                  <a:lnTo>
                    <a:pt x="64770" y="3276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bject 53"/>
            <p:cNvSpPr/>
            <p:nvPr/>
          </p:nvSpPr>
          <p:spPr>
            <a:xfrm>
              <a:off x="7763256" y="1703070"/>
              <a:ext cx="64769" cy="64769"/>
            </a:xfrm>
            <a:custGeom>
              <a:avLst/>
              <a:gdLst/>
              <a:ahLst/>
              <a:cxnLst/>
              <a:rect l="l" t="t" r="r" b="b"/>
              <a:pathLst>
                <a:path w="64770" h="64769">
                  <a:moveTo>
                    <a:pt x="64770" y="32765"/>
                  </a:moveTo>
                  <a:lnTo>
                    <a:pt x="62233" y="19931"/>
                  </a:lnTo>
                  <a:lnTo>
                    <a:pt x="55340" y="9524"/>
                  </a:lnTo>
                  <a:lnTo>
                    <a:pt x="45160" y="2547"/>
                  </a:lnTo>
                  <a:lnTo>
                    <a:pt x="32766" y="0"/>
                  </a:lnTo>
                  <a:lnTo>
                    <a:pt x="19931" y="2547"/>
                  </a:lnTo>
                  <a:lnTo>
                    <a:pt x="9525" y="9524"/>
                  </a:lnTo>
                  <a:lnTo>
                    <a:pt x="2547" y="19931"/>
                  </a:lnTo>
                  <a:lnTo>
                    <a:pt x="0" y="32765"/>
                  </a:lnTo>
                  <a:lnTo>
                    <a:pt x="2547" y="45160"/>
                  </a:lnTo>
                  <a:lnTo>
                    <a:pt x="9525" y="55340"/>
                  </a:lnTo>
                  <a:lnTo>
                    <a:pt x="19931" y="62233"/>
                  </a:lnTo>
                  <a:lnTo>
                    <a:pt x="32766" y="64769"/>
                  </a:lnTo>
                  <a:lnTo>
                    <a:pt x="45160" y="62233"/>
                  </a:lnTo>
                  <a:lnTo>
                    <a:pt x="55340" y="55340"/>
                  </a:lnTo>
                  <a:lnTo>
                    <a:pt x="62233" y="45160"/>
                  </a:lnTo>
                  <a:lnTo>
                    <a:pt x="64770" y="32765"/>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bject 54"/>
            <p:cNvSpPr/>
            <p:nvPr/>
          </p:nvSpPr>
          <p:spPr>
            <a:xfrm>
              <a:off x="7775448" y="1735836"/>
              <a:ext cx="108585" cy="0"/>
            </a:xfrm>
            <a:custGeom>
              <a:avLst/>
              <a:gdLst/>
              <a:ahLst/>
              <a:cxnLst/>
              <a:rect l="l" t="t" r="r" b="b"/>
              <a:pathLst>
                <a:path w="108584">
                  <a:moveTo>
                    <a:pt x="0" y="0"/>
                  </a:moveTo>
                  <a:lnTo>
                    <a:pt x="10820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bject 55"/>
            <p:cNvSpPr/>
            <p:nvPr/>
          </p:nvSpPr>
          <p:spPr>
            <a:xfrm>
              <a:off x="7853933" y="1674113"/>
              <a:ext cx="121920" cy="123189"/>
            </a:xfrm>
            <a:custGeom>
              <a:avLst/>
              <a:gdLst/>
              <a:ahLst/>
              <a:cxnLst/>
              <a:rect l="l" t="t" r="r" b="b"/>
              <a:pathLst>
                <a:path w="121920" h="123189">
                  <a:moveTo>
                    <a:pt x="121920" y="61722"/>
                  </a:moveTo>
                  <a:lnTo>
                    <a:pt x="0" y="0"/>
                  </a:lnTo>
                  <a:lnTo>
                    <a:pt x="10715" y="30099"/>
                  </a:lnTo>
                  <a:lnTo>
                    <a:pt x="14287" y="61341"/>
                  </a:lnTo>
                  <a:lnTo>
                    <a:pt x="10715" y="92583"/>
                  </a:lnTo>
                  <a:lnTo>
                    <a:pt x="0" y="122682"/>
                  </a:lnTo>
                  <a:lnTo>
                    <a:pt x="121920"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object 67"/>
            <p:cNvPicPr/>
            <p:nvPr/>
          </p:nvPicPr>
          <p:blipFill>
            <a:blip r:embed="rId15" cstate="print"/>
            <a:stretch>
              <a:fillRect/>
            </a:stretch>
          </p:blipFill>
          <p:spPr>
            <a:xfrm>
              <a:off x="8475725" y="1376172"/>
              <a:ext cx="256031" cy="722376"/>
            </a:xfrm>
            <a:prstGeom prst="rect">
              <a:avLst/>
            </a:prstGeom>
          </p:spPr>
        </p:pic>
        <p:sp>
          <p:nvSpPr>
            <p:cNvPr id="68" name="object 68"/>
            <p:cNvSpPr/>
            <p:nvPr/>
          </p:nvSpPr>
          <p:spPr>
            <a:xfrm>
              <a:off x="8475725" y="1376172"/>
              <a:ext cx="256540" cy="722630"/>
            </a:xfrm>
            <a:custGeom>
              <a:avLst/>
              <a:gdLst/>
              <a:ahLst/>
              <a:cxnLst/>
              <a:rect l="l" t="t" r="r" b="b"/>
              <a:pathLst>
                <a:path w="256540" h="722630">
                  <a:moveTo>
                    <a:pt x="0" y="541020"/>
                  </a:moveTo>
                  <a:lnTo>
                    <a:pt x="0" y="178308"/>
                  </a:lnTo>
                  <a:lnTo>
                    <a:pt x="256031" y="0"/>
                  </a:lnTo>
                  <a:lnTo>
                    <a:pt x="256032" y="722376"/>
                  </a:lnTo>
                  <a:lnTo>
                    <a:pt x="0" y="54102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object 69"/>
            <p:cNvSpPr/>
            <p:nvPr/>
          </p:nvSpPr>
          <p:spPr>
            <a:xfrm>
              <a:off x="8373617" y="1735836"/>
              <a:ext cx="102235" cy="0"/>
            </a:xfrm>
            <a:custGeom>
              <a:avLst/>
              <a:gdLst/>
              <a:ahLst/>
              <a:cxnLst/>
              <a:rect l="l" t="t" r="r" b="b"/>
              <a:pathLst>
                <a:path w="102234">
                  <a:moveTo>
                    <a:pt x="0" y="0"/>
                  </a:moveTo>
                  <a:lnTo>
                    <a:pt x="10210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p:nvPr/>
          </p:nvSpPr>
          <p:spPr>
            <a:xfrm>
              <a:off x="8731757" y="2007870"/>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object 71"/>
            <p:cNvSpPr/>
            <p:nvPr/>
          </p:nvSpPr>
          <p:spPr>
            <a:xfrm>
              <a:off x="8731757" y="1826514"/>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object 72"/>
            <p:cNvSpPr/>
            <p:nvPr/>
          </p:nvSpPr>
          <p:spPr>
            <a:xfrm>
              <a:off x="8731757" y="1645158"/>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object 73"/>
            <p:cNvSpPr/>
            <p:nvPr/>
          </p:nvSpPr>
          <p:spPr>
            <a:xfrm>
              <a:off x="8731757" y="1464564"/>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object 81"/>
            <p:cNvSpPr/>
            <p:nvPr/>
          </p:nvSpPr>
          <p:spPr>
            <a:xfrm>
              <a:off x="8308848" y="1735836"/>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object 82"/>
            <p:cNvSpPr/>
            <p:nvPr/>
          </p:nvSpPr>
          <p:spPr>
            <a:xfrm>
              <a:off x="8336280" y="1674114"/>
              <a:ext cx="121285" cy="123189"/>
            </a:xfrm>
            <a:custGeom>
              <a:avLst/>
              <a:gdLst/>
              <a:ahLst/>
              <a:cxnLst/>
              <a:rect l="l" t="t" r="r" b="b"/>
              <a:pathLst>
                <a:path w="121284" h="123189">
                  <a:moveTo>
                    <a:pt x="121157" y="61722"/>
                  </a:moveTo>
                  <a:lnTo>
                    <a:pt x="0" y="0"/>
                  </a:lnTo>
                  <a:lnTo>
                    <a:pt x="10715" y="30099"/>
                  </a:lnTo>
                  <a:lnTo>
                    <a:pt x="14287" y="61341"/>
                  </a:lnTo>
                  <a:lnTo>
                    <a:pt x="10715" y="92583"/>
                  </a:lnTo>
                  <a:lnTo>
                    <a:pt x="0" y="122682"/>
                  </a:lnTo>
                  <a:lnTo>
                    <a:pt x="121157"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8780525" y="1464564"/>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object 84"/>
            <p:cNvSpPr/>
            <p:nvPr/>
          </p:nvSpPr>
          <p:spPr>
            <a:xfrm>
              <a:off x="8808719" y="1403604"/>
              <a:ext cx="121285" cy="121920"/>
            </a:xfrm>
            <a:custGeom>
              <a:avLst/>
              <a:gdLst/>
              <a:ahLst/>
              <a:cxnLst/>
              <a:rect l="l" t="t" r="r" b="b"/>
              <a:pathLst>
                <a:path w="121284" h="121919">
                  <a:moveTo>
                    <a:pt x="121157" y="60960"/>
                  </a:moveTo>
                  <a:lnTo>
                    <a:pt x="0" y="0"/>
                  </a:lnTo>
                  <a:lnTo>
                    <a:pt x="10715" y="29658"/>
                  </a:lnTo>
                  <a:lnTo>
                    <a:pt x="14287" y="60674"/>
                  </a:lnTo>
                  <a:lnTo>
                    <a:pt x="10715" y="91832"/>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object 85"/>
            <p:cNvSpPr/>
            <p:nvPr/>
          </p:nvSpPr>
          <p:spPr>
            <a:xfrm>
              <a:off x="8780525" y="1645158"/>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object 86"/>
            <p:cNvSpPr/>
            <p:nvPr/>
          </p:nvSpPr>
          <p:spPr>
            <a:xfrm>
              <a:off x="8808719" y="1584198"/>
              <a:ext cx="121285" cy="121920"/>
            </a:xfrm>
            <a:custGeom>
              <a:avLst/>
              <a:gdLst/>
              <a:ahLst/>
              <a:cxnLst/>
              <a:rect l="l" t="t" r="r" b="b"/>
              <a:pathLst>
                <a:path w="121284" h="121919">
                  <a:moveTo>
                    <a:pt x="121157" y="60960"/>
                  </a:moveTo>
                  <a:lnTo>
                    <a:pt x="0" y="0"/>
                  </a:lnTo>
                  <a:lnTo>
                    <a:pt x="10715" y="30087"/>
                  </a:lnTo>
                  <a:lnTo>
                    <a:pt x="14287" y="61245"/>
                  </a:lnTo>
                  <a:lnTo>
                    <a:pt x="10715" y="92261"/>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object 87"/>
            <p:cNvSpPr/>
            <p:nvPr/>
          </p:nvSpPr>
          <p:spPr>
            <a:xfrm>
              <a:off x="8780525" y="1826514"/>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bject 88"/>
            <p:cNvSpPr/>
            <p:nvPr/>
          </p:nvSpPr>
          <p:spPr>
            <a:xfrm>
              <a:off x="8808719" y="1765554"/>
              <a:ext cx="121285" cy="121920"/>
            </a:xfrm>
            <a:custGeom>
              <a:avLst/>
              <a:gdLst/>
              <a:ahLst/>
              <a:cxnLst/>
              <a:rect l="l" t="t" r="r" b="b"/>
              <a:pathLst>
                <a:path w="121284"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object 89"/>
            <p:cNvSpPr/>
            <p:nvPr/>
          </p:nvSpPr>
          <p:spPr>
            <a:xfrm>
              <a:off x="8780525" y="2007870"/>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object 90"/>
            <p:cNvSpPr/>
            <p:nvPr/>
          </p:nvSpPr>
          <p:spPr>
            <a:xfrm>
              <a:off x="8808719" y="1946910"/>
              <a:ext cx="121285" cy="121920"/>
            </a:xfrm>
            <a:custGeom>
              <a:avLst/>
              <a:gdLst/>
              <a:ahLst/>
              <a:cxnLst/>
              <a:rect l="l" t="t" r="r" b="b"/>
              <a:pathLst>
                <a:path w="121284"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1" name="object 91"/>
            <p:cNvPicPr/>
            <p:nvPr/>
          </p:nvPicPr>
          <p:blipFill>
            <a:blip r:embed="rId16" cstate="print"/>
            <a:stretch>
              <a:fillRect/>
            </a:stretch>
          </p:blipFill>
          <p:spPr>
            <a:xfrm>
              <a:off x="8935211" y="1320546"/>
              <a:ext cx="1193292" cy="832865"/>
            </a:xfrm>
            <a:prstGeom prst="rect">
              <a:avLst/>
            </a:prstGeom>
          </p:spPr>
        </p:pic>
        <p:sp>
          <p:nvSpPr>
            <p:cNvPr id="92" name="object 92"/>
            <p:cNvSpPr txBox="1"/>
            <p:nvPr/>
          </p:nvSpPr>
          <p:spPr>
            <a:xfrm>
              <a:off x="8935211" y="1320546"/>
              <a:ext cx="1193800" cy="833119"/>
            </a:xfrm>
            <a:prstGeom prst="rect">
              <a:avLst/>
            </a:prstGeom>
            <a:ln w="28600">
              <a:solidFill>
                <a:srgbClr val="000000"/>
              </a:solidFill>
            </a:ln>
          </p:spPr>
          <p:txBody>
            <a:bodyPr vert="horz" wrap="square" lIns="0" tIns="244475" rIns="0" bIns="0" rtlCol="0">
              <a:spAutoFit/>
            </a:bodyPr>
            <a:lstStyle/>
            <a:p>
              <a:pPr marL="203835" marR="0" lvl="0" indent="0" algn="l" defTabSz="914400" rtl="0" eaLnBrk="1" fontAlgn="auto" latinLnBrk="0" hangingPunct="1">
                <a:lnSpc>
                  <a:spcPct val="100000"/>
                </a:lnSpc>
                <a:spcBef>
                  <a:spcPts val="1925"/>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2000" b="0" i="0" u="none" strike="noStrike" kern="1200" cap="none" spc="0" normalizeH="0" baseline="0" noProof="0" dirty="0">
                <a:ln>
                  <a:noFill/>
                </a:ln>
                <a:solidFill>
                  <a:prstClr val="black"/>
                </a:solidFill>
                <a:effectLst/>
                <a:uLnTx/>
                <a:uFillTx/>
                <a:latin typeface="Malgun Gothic"/>
                <a:ea typeface="+mn-ea"/>
                <a:cs typeface="Malgun Gothic"/>
              </a:endParaRPr>
            </a:p>
          </p:txBody>
        </p:sp>
        <p:pic>
          <p:nvPicPr>
            <p:cNvPr id="93" name="object 93"/>
            <p:cNvPicPr/>
            <p:nvPr/>
          </p:nvPicPr>
          <p:blipFill>
            <a:blip r:embed="rId17" cstate="print"/>
            <a:stretch>
              <a:fillRect/>
            </a:stretch>
          </p:blipFill>
          <p:spPr>
            <a:xfrm>
              <a:off x="6783323" y="2044445"/>
              <a:ext cx="598931" cy="288036"/>
            </a:xfrm>
            <a:prstGeom prst="rect">
              <a:avLst/>
            </a:prstGeom>
          </p:spPr>
        </p:pic>
        <p:sp>
          <p:nvSpPr>
            <p:cNvPr id="94" name="object 94"/>
            <p:cNvSpPr txBox="1"/>
            <p:nvPr/>
          </p:nvSpPr>
          <p:spPr>
            <a:xfrm>
              <a:off x="6783323" y="2044445"/>
              <a:ext cx="599440" cy="288290"/>
            </a:xfrm>
            <a:prstGeom prst="rect">
              <a:avLst/>
            </a:prstGeom>
            <a:ln w="28600">
              <a:solidFill>
                <a:srgbClr val="000000"/>
              </a:solidFill>
            </a:ln>
          </p:spPr>
          <p:txBody>
            <a:bodyPr vert="horz" wrap="square" lIns="0" tIns="0" rIns="0" bIns="0" rtlCol="0">
              <a:spAutoFit/>
            </a:bodyPr>
            <a:lstStyle/>
            <a:p>
              <a:pPr marL="95885" marR="0" lvl="0" indent="0" algn="l" defTabSz="914400" rtl="0" eaLnBrk="1" fontAlgn="auto" latinLnBrk="0" hangingPunct="1">
                <a:lnSpc>
                  <a:spcPts val="2175"/>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95" name="object 95"/>
            <p:cNvGrpSpPr/>
            <p:nvPr/>
          </p:nvGrpSpPr>
          <p:grpSpPr>
            <a:xfrm>
              <a:off x="7539863" y="2029841"/>
              <a:ext cx="924560" cy="317500"/>
              <a:chOff x="7539863" y="2029841"/>
              <a:chExt cx="924560" cy="317500"/>
            </a:xfrm>
          </p:grpSpPr>
          <p:pic>
            <p:nvPicPr>
              <p:cNvPr id="96" name="object 96"/>
              <p:cNvPicPr/>
              <p:nvPr/>
            </p:nvPicPr>
            <p:blipFill>
              <a:blip r:embed="rId18" cstate="print"/>
              <a:stretch>
                <a:fillRect/>
              </a:stretch>
            </p:blipFill>
            <p:spPr>
              <a:xfrm>
                <a:off x="7554468" y="2044446"/>
                <a:ext cx="895350" cy="288036"/>
              </a:xfrm>
              <a:prstGeom prst="rect">
                <a:avLst/>
              </a:prstGeom>
            </p:spPr>
          </p:pic>
          <p:sp>
            <p:nvSpPr>
              <p:cNvPr id="97" name="object 97"/>
              <p:cNvSpPr/>
              <p:nvPr/>
            </p:nvSpPr>
            <p:spPr>
              <a:xfrm>
                <a:off x="7554468" y="2044446"/>
                <a:ext cx="895350" cy="288290"/>
              </a:xfrm>
              <a:custGeom>
                <a:avLst/>
                <a:gdLst/>
                <a:ahLst/>
                <a:cxnLst/>
                <a:rect l="l" t="t" r="r" b="b"/>
                <a:pathLst>
                  <a:path w="895350" h="288289">
                    <a:moveTo>
                      <a:pt x="0" y="0"/>
                    </a:moveTo>
                    <a:lnTo>
                      <a:pt x="0" y="288036"/>
                    </a:lnTo>
                    <a:lnTo>
                      <a:pt x="895350" y="288036"/>
                    </a:lnTo>
                    <a:lnTo>
                      <a:pt x="895350" y="0"/>
                    </a:lnTo>
                    <a:lnTo>
                      <a:pt x="0" y="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8" name="object 98"/>
            <p:cNvSpPr txBox="1"/>
            <p:nvPr/>
          </p:nvSpPr>
          <p:spPr>
            <a:xfrm>
              <a:off x="7734554" y="1998405"/>
              <a:ext cx="545465" cy="3365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CDR</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grpSp>
      <p:grpSp>
        <p:nvGrpSpPr>
          <p:cNvPr id="114" name="Group 113"/>
          <p:cNvGrpSpPr/>
          <p:nvPr/>
        </p:nvGrpSpPr>
        <p:grpSpPr>
          <a:xfrm>
            <a:off x="4347209" y="1554479"/>
            <a:ext cx="2017776" cy="815340"/>
            <a:chOff x="4347209" y="1554479"/>
            <a:chExt cx="2017776" cy="815340"/>
          </a:xfrm>
        </p:grpSpPr>
        <p:sp>
          <p:nvSpPr>
            <p:cNvPr id="9" name="object 9"/>
            <p:cNvSpPr/>
            <p:nvPr/>
          </p:nvSpPr>
          <p:spPr>
            <a:xfrm>
              <a:off x="6107430" y="1742694"/>
              <a:ext cx="144145" cy="0"/>
            </a:xfrm>
            <a:custGeom>
              <a:avLst/>
              <a:gdLst/>
              <a:ahLst/>
              <a:cxnLst/>
              <a:rect l="l" t="t" r="r" b="b"/>
              <a:pathLst>
                <a:path w="144145">
                  <a:moveTo>
                    <a:pt x="0" y="0"/>
                  </a:moveTo>
                  <a:lnTo>
                    <a:pt x="144018"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object 10"/>
            <p:cNvPicPr/>
            <p:nvPr/>
          </p:nvPicPr>
          <p:blipFill>
            <a:blip r:embed="rId19" cstate="print"/>
            <a:stretch>
              <a:fillRect/>
            </a:stretch>
          </p:blipFill>
          <p:spPr>
            <a:xfrm>
              <a:off x="4604766" y="1554479"/>
              <a:ext cx="1502664" cy="361950"/>
            </a:xfrm>
            <a:prstGeom prst="rect">
              <a:avLst/>
            </a:prstGeom>
          </p:spPr>
        </p:pic>
        <p:sp>
          <p:nvSpPr>
            <p:cNvPr id="11" name="object 11"/>
            <p:cNvSpPr/>
            <p:nvPr/>
          </p:nvSpPr>
          <p:spPr>
            <a:xfrm>
              <a:off x="4604766" y="1554479"/>
              <a:ext cx="1503045" cy="361950"/>
            </a:xfrm>
            <a:custGeom>
              <a:avLst/>
              <a:gdLst/>
              <a:ahLst/>
              <a:cxnLst/>
              <a:rect l="l" t="t" r="r" b="b"/>
              <a:pathLst>
                <a:path w="1503045" h="361950">
                  <a:moveTo>
                    <a:pt x="150113" y="361950"/>
                  </a:moveTo>
                  <a:lnTo>
                    <a:pt x="1352550" y="361949"/>
                  </a:lnTo>
                  <a:lnTo>
                    <a:pt x="1392509" y="355501"/>
                  </a:lnTo>
                  <a:lnTo>
                    <a:pt x="1428383" y="337283"/>
                  </a:lnTo>
                  <a:lnTo>
                    <a:pt x="1458753" y="308990"/>
                  </a:lnTo>
                  <a:lnTo>
                    <a:pt x="1482202" y="272316"/>
                  </a:lnTo>
                  <a:lnTo>
                    <a:pt x="1497312" y="228952"/>
                  </a:lnTo>
                  <a:lnTo>
                    <a:pt x="1502664" y="180593"/>
                  </a:lnTo>
                  <a:lnTo>
                    <a:pt x="1497312" y="132556"/>
                  </a:lnTo>
                  <a:lnTo>
                    <a:pt x="1482202" y="89407"/>
                  </a:lnTo>
                  <a:lnTo>
                    <a:pt x="1458753" y="52863"/>
                  </a:lnTo>
                  <a:lnTo>
                    <a:pt x="1428383" y="24637"/>
                  </a:lnTo>
                  <a:lnTo>
                    <a:pt x="1392509" y="6445"/>
                  </a:lnTo>
                  <a:lnTo>
                    <a:pt x="1352550" y="0"/>
                  </a:lnTo>
                  <a:lnTo>
                    <a:pt x="1348739" y="4571"/>
                  </a:lnTo>
                  <a:lnTo>
                    <a:pt x="1352550" y="0"/>
                  </a:lnTo>
                  <a:lnTo>
                    <a:pt x="173735" y="1524"/>
                  </a:lnTo>
                  <a:lnTo>
                    <a:pt x="127529" y="8089"/>
                  </a:lnTo>
                  <a:lnTo>
                    <a:pt x="86021" y="26613"/>
                  </a:lnTo>
                  <a:lnTo>
                    <a:pt x="50863" y="55340"/>
                  </a:lnTo>
                  <a:lnTo>
                    <a:pt x="23706" y="92512"/>
                  </a:lnTo>
                  <a:lnTo>
                    <a:pt x="6201" y="136373"/>
                  </a:lnTo>
                  <a:lnTo>
                    <a:pt x="0" y="185166"/>
                  </a:lnTo>
                  <a:lnTo>
                    <a:pt x="8004" y="236104"/>
                  </a:lnTo>
                  <a:lnTo>
                    <a:pt x="28919" y="281409"/>
                  </a:lnTo>
                  <a:lnTo>
                    <a:pt x="60844" y="318924"/>
                  </a:lnTo>
                  <a:lnTo>
                    <a:pt x="101876" y="346490"/>
                  </a:lnTo>
                  <a:lnTo>
                    <a:pt x="150113" y="361950"/>
                  </a:lnTo>
                  <a:close/>
                </a:path>
              </a:pathLst>
            </a:custGeom>
            <a:ln w="28600">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object 12"/>
            <p:cNvPicPr/>
            <p:nvPr/>
          </p:nvPicPr>
          <p:blipFill>
            <a:blip r:embed="rId20" cstate="print"/>
            <a:stretch>
              <a:fillRect/>
            </a:stretch>
          </p:blipFill>
          <p:spPr>
            <a:xfrm>
              <a:off x="4604766" y="1554479"/>
              <a:ext cx="300228" cy="361950"/>
            </a:xfrm>
            <a:prstGeom prst="rect">
              <a:avLst/>
            </a:prstGeom>
          </p:spPr>
        </p:pic>
        <p:sp>
          <p:nvSpPr>
            <p:cNvPr id="13" name="object 13"/>
            <p:cNvSpPr/>
            <p:nvPr/>
          </p:nvSpPr>
          <p:spPr>
            <a:xfrm>
              <a:off x="4604766" y="1554479"/>
              <a:ext cx="300355" cy="361950"/>
            </a:xfrm>
            <a:custGeom>
              <a:avLst/>
              <a:gdLst/>
              <a:ahLst/>
              <a:cxnLst/>
              <a:rect l="l" t="t" r="r" b="b"/>
              <a:pathLst>
                <a:path w="300354" h="361950">
                  <a:moveTo>
                    <a:pt x="300227" y="180594"/>
                  </a:moveTo>
                  <a:lnTo>
                    <a:pt x="294876" y="132556"/>
                  </a:lnTo>
                  <a:lnTo>
                    <a:pt x="279766" y="89408"/>
                  </a:lnTo>
                  <a:lnTo>
                    <a:pt x="256317" y="52863"/>
                  </a:lnTo>
                  <a:lnTo>
                    <a:pt x="225947" y="24638"/>
                  </a:lnTo>
                  <a:lnTo>
                    <a:pt x="190073" y="6445"/>
                  </a:lnTo>
                  <a:lnTo>
                    <a:pt x="150113" y="0"/>
                  </a:lnTo>
                  <a:lnTo>
                    <a:pt x="110154" y="6445"/>
                  </a:lnTo>
                  <a:lnTo>
                    <a:pt x="74280" y="24638"/>
                  </a:lnTo>
                  <a:lnTo>
                    <a:pt x="43910" y="52863"/>
                  </a:lnTo>
                  <a:lnTo>
                    <a:pt x="20461" y="89408"/>
                  </a:lnTo>
                  <a:lnTo>
                    <a:pt x="5351" y="132556"/>
                  </a:lnTo>
                  <a:lnTo>
                    <a:pt x="0" y="180594"/>
                  </a:lnTo>
                  <a:lnTo>
                    <a:pt x="5351" y="228952"/>
                  </a:lnTo>
                  <a:lnTo>
                    <a:pt x="20461" y="272316"/>
                  </a:lnTo>
                  <a:lnTo>
                    <a:pt x="43910" y="308991"/>
                  </a:lnTo>
                  <a:lnTo>
                    <a:pt x="74280" y="337283"/>
                  </a:lnTo>
                  <a:lnTo>
                    <a:pt x="110154" y="355501"/>
                  </a:lnTo>
                  <a:lnTo>
                    <a:pt x="150113" y="361950"/>
                  </a:lnTo>
                  <a:lnTo>
                    <a:pt x="190073" y="355501"/>
                  </a:lnTo>
                  <a:lnTo>
                    <a:pt x="225947" y="337283"/>
                  </a:lnTo>
                  <a:lnTo>
                    <a:pt x="256317" y="308991"/>
                  </a:lnTo>
                  <a:lnTo>
                    <a:pt x="279766" y="272316"/>
                  </a:lnTo>
                  <a:lnTo>
                    <a:pt x="294876" y="228952"/>
                  </a:lnTo>
                  <a:lnTo>
                    <a:pt x="300227" y="180594"/>
                  </a:lnTo>
                  <a:close/>
                </a:path>
              </a:pathLst>
            </a:custGeom>
            <a:ln w="28600">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9" name="object 99"/>
            <p:cNvPicPr/>
            <p:nvPr/>
          </p:nvPicPr>
          <p:blipFill>
            <a:blip r:embed="rId21" cstate="print"/>
            <a:stretch>
              <a:fillRect/>
            </a:stretch>
          </p:blipFill>
          <p:spPr>
            <a:xfrm>
              <a:off x="4347209" y="2007107"/>
              <a:ext cx="2017776" cy="362712"/>
            </a:xfrm>
            <a:prstGeom prst="rect">
              <a:avLst/>
            </a:prstGeom>
          </p:spPr>
        </p:pic>
        <p:sp>
          <p:nvSpPr>
            <p:cNvPr id="100" name="object 100"/>
            <p:cNvSpPr txBox="1"/>
            <p:nvPr/>
          </p:nvSpPr>
          <p:spPr>
            <a:xfrm>
              <a:off x="4560823" y="1998405"/>
              <a:ext cx="1602105" cy="3365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2000" b="1" i="0" u="none" strike="noStrike" kern="1200" cap="none" spc="-5" normalizeH="0" baseline="0" noProof="0" dirty="0">
                  <a:ln>
                    <a:noFill/>
                  </a:ln>
                  <a:solidFill>
                    <a:srgbClr val="FF0000"/>
                  </a:solidFill>
                  <a:effectLst/>
                  <a:uLnTx/>
                  <a:uFillTx/>
                  <a:latin typeface="Malgun Gothic"/>
                  <a:ea typeface="+mn-ea"/>
                  <a:cs typeface="Malgun Gothic"/>
                </a:rPr>
                <a:t>Channel(LPF)</a:t>
              </a:r>
              <a:endParaRPr kumimoji="0" sz="2000" b="0" i="0" u="none" strike="noStrike" kern="1200" cap="none" spc="0" normalizeH="0" baseline="0" noProof="0" dirty="0">
                <a:ln>
                  <a:noFill/>
                </a:ln>
                <a:solidFill>
                  <a:prstClr val="black"/>
                </a:solidFill>
                <a:effectLst/>
                <a:uLnTx/>
                <a:uFillTx/>
                <a:latin typeface="Malgun Gothic"/>
                <a:ea typeface="+mn-ea"/>
                <a:cs typeface="Malgun Gothic"/>
              </a:endParaRPr>
            </a:p>
          </p:txBody>
        </p:sp>
      </p:grpSp>
      <p:sp>
        <p:nvSpPr>
          <p:cNvPr id="101" name="object 101"/>
          <p:cNvSpPr txBox="1"/>
          <p:nvPr/>
        </p:nvSpPr>
        <p:spPr>
          <a:xfrm>
            <a:off x="3833876" y="4542154"/>
            <a:ext cx="1815464" cy="706755"/>
          </a:xfrm>
          <a:prstGeom prst="rect">
            <a:avLst/>
          </a:prstGeom>
        </p:spPr>
        <p:txBody>
          <a:bodyPr vert="horz" wrap="square" lIns="0" tIns="77470" rIns="0" bIns="0" rtlCol="0">
            <a:spAutoFit/>
          </a:bodyPr>
          <a:lstStyle/>
          <a:p>
            <a:pPr marL="403860" marR="0" lvl="0" indent="0" algn="l" defTabSz="914400" rtl="0" eaLnBrk="1" fontAlgn="auto" latinLnBrk="0" hangingPunct="1">
              <a:lnSpc>
                <a:spcPct val="100000"/>
              </a:lnSpc>
              <a:spcBef>
                <a:spcPts val="610"/>
              </a:spcBef>
              <a:spcAft>
                <a:spcPts val="0"/>
              </a:spcAft>
              <a:buClrTx/>
              <a:buSzTx/>
              <a:buFontTx/>
              <a:buNone/>
              <a:tabLst/>
              <a:defRPr/>
            </a:pPr>
            <a:r>
              <a:rPr kumimoji="0" sz="1500" b="0" i="0" u="none" strike="noStrike" kern="1200" cap="none" spc="-5" normalizeH="0" baseline="0" noProof="0" dirty="0">
                <a:ln>
                  <a:noFill/>
                </a:ln>
                <a:solidFill>
                  <a:prstClr val="black"/>
                </a:solidFill>
                <a:effectLst/>
                <a:uLnTx/>
                <a:uFillTx/>
                <a:latin typeface="Malgun Gothic"/>
                <a:ea typeface="+mn-ea"/>
                <a:cs typeface="Malgun Gothic"/>
              </a:rPr>
              <a:t>Frequency</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a:p>
            <a:pPr marL="12700" marR="0" lvl="0" indent="0" algn="l" defTabSz="914400" rtl="0" eaLnBrk="1" fontAlgn="auto" latinLnBrk="0" hangingPunct="1">
              <a:lnSpc>
                <a:spcPct val="100000"/>
              </a:lnSpc>
              <a:spcBef>
                <a:spcPts val="655"/>
              </a:spcBef>
              <a:spcAft>
                <a:spcPts val="0"/>
              </a:spcAft>
              <a:buClrTx/>
              <a:buSzTx/>
              <a:buFontTx/>
              <a:buNone/>
              <a:tabLst/>
              <a:defRPr/>
            </a:pPr>
            <a:r>
              <a:rPr kumimoji="0" sz="2000" b="0" i="0" u="none" strike="noStrike" kern="1200" cap="none" spc="-10" normalizeH="0" baseline="0" noProof="0" dirty="0">
                <a:ln>
                  <a:noFill/>
                </a:ln>
                <a:solidFill>
                  <a:srgbClr val="FF0000"/>
                </a:solidFill>
                <a:effectLst/>
                <a:uLnTx/>
                <a:uFillTx/>
                <a:latin typeface="Verdana"/>
                <a:ea typeface="+mn-ea"/>
                <a:cs typeface="Verdana"/>
              </a:rPr>
              <a:t>Channel</a:t>
            </a:r>
            <a:r>
              <a:rPr kumimoji="0" sz="2000" b="0" i="0" u="none" strike="noStrike" kern="1200" cap="none" spc="-50" normalizeH="0" baseline="0" noProof="0" dirty="0">
                <a:ln>
                  <a:noFill/>
                </a:ln>
                <a:solidFill>
                  <a:srgbClr val="FF0000"/>
                </a:solidFill>
                <a:effectLst/>
                <a:uLnTx/>
                <a:uFillTx/>
                <a:latin typeface="Verdana"/>
                <a:ea typeface="+mn-ea"/>
                <a:cs typeface="Verdana"/>
              </a:rPr>
              <a:t> </a:t>
            </a:r>
            <a:r>
              <a:rPr kumimoji="0" sz="2000" b="0" i="0" u="none" strike="noStrike" kern="1200" cap="none" spc="-10" normalizeH="0" baseline="0" noProof="0" dirty="0">
                <a:ln>
                  <a:noFill/>
                </a:ln>
                <a:solidFill>
                  <a:srgbClr val="FF0000"/>
                </a:solidFill>
                <a:effectLst/>
                <a:uLnTx/>
                <a:uFillTx/>
                <a:latin typeface="Verdana"/>
                <a:ea typeface="+mn-ea"/>
                <a:cs typeface="Verdana"/>
              </a:rPr>
              <a:t>(LPF)</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102" name="object 102"/>
          <p:cNvGrpSpPr/>
          <p:nvPr/>
        </p:nvGrpSpPr>
        <p:grpSpPr>
          <a:xfrm>
            <a:off x="3709365" y="2578557"/>
            <a:ext cx="2092960" cy="1957070"/>
            <a:chOff x="3709365" y="2578557"/>
            <a:chExt cx="2092960" cy="1957070"/>
          </a:xfrm>
        </p:grpSpPr>
        <p:sp>
          <p:nvSpPr>
            <p:cNvPr id="103" name="object 103"/>
            <p:cNvSpPr/>
            <p:nvPr/>
          </p:nvSpPr>
          <p:spPr>
            <a:xfrm>
              <a:off x="3765803" y="2589275"/>
              <a:ext cx="2025650" cy="1891030"/>
            </a:xfrm>
            <a:custGeom>
              <a:avLst/>
              <a:gdLst/>
              <a:ahLst/>
              <a:cxnLst/>
              <a:rect l="l" t="t" r="r" b="b"/>
              <a:pathLst>
                <a:path w="2025650" h="1891029">
                  <a:moveTo>
                    <a:pt x="2025396" y="1890522"/>
                  </a:moveTo>
                  <a:lnTo>
                    <a:pt x="0" y="1890522"/>
                  </a:lnTo>
                  <a:lnTo>
                    <a:pt x="0" y="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object 104"/>
            <p:cNvSpPr/>
            <p:nvPr/>
          </p:nvSpPr>
          <p:spPr>
            <a:xfrm>
              <a:off x="5745479" y="4434077"/>
              <a:ext cx="45720" cy="90805"/>
            </a:xfrm>
            <a:custGeom>
              <a:avLst/>
              <a:gdLst/>
              <a:ahLst/>
              <a:cxnLst/>
              <a:rect l="l" t="t" r="r" b="b"/>
              <a:pathLst>
                <a:path w="45720" h="90804">
                  <a:moveTo>
                    <a:pt x="0" y="90678"/>
                  </a:moveTo>
                  <a:lnTo>
                    <a:pt x="45720" y="45720"/>
                  </a:lnTo>
                  <a:lnTo>
                    <a:pt x="0" y="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bject 105"/>
            <p:cNvSpPr/>
            <p:nvPr/>
          </p:nvSpPr>
          <p:spPr>
            <a:xfrm>
              <a:off x="3720083" y="2589275"/>
              <a:ext cx="90805" cy="45720"/>
            </a:xfrm>
            <a:custGeom>
              <a:avLst/>
              <a:gdLst/>
              <a:ahLst/>
              <a:cxnLst/>
              <a:rect l="l" t="t" r="r" b="b"/>
              <a:pathLst>
                <a:path w="90804" h="45719">
                  <a:moveTo>
                    <a:pt x="90677" y="45720"/>
                  </a:moveTo>
                  <a:lnTo>
                    <a:pt x="45719" y="0"/>
                  </a:lnTo>
                  <a:lnTo>
                    <a:pt x="0" y="4572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p:nvPr/>
          </p:nvSpPr>
          <p:spPr>
            <a:xfrm>
              <a:off x="3765803" y="2724149"/>
              <a:ext cx="1474470" cy="1474470"/>
            </a:xfrm>
            <a:custGeom>
              <a:avLst/>
              <a:gdLst/>
              <a:ahLst/>
              <a:cxnLst/>
              <a:rect l="l" t="t" r="r" b="b"/>
              <a:pathLst>
                <a:path w="1474470" h="1474470">
                  <a:moveTo>
                    <a:pt x="0" y="0"/>
                  </a:moveTo>
                  <a:lnTo>
                    <a:pt x="1474470" y="1474469"/>
                  </a:lnTo>
                </a:path>
              </a:pathLst>
            </a:custGeom>
            <a:ln w="21437">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p:nvPr/>
          </p:nvSpPr>
          <p:spPr>
            <a:xfrm>
              <a:off x="4170425" y="3129533"/>
              <a:ext cx="540385" cy="540385"/>
            </a:xfrm>
            <a:custGeom>
              <a:avLst/>
              <a:gdLst/>
              <a:ahLst/>
              <a:cxnLst/>
              <a:rect l="l" t="t" r="r" b="b"/>
              <a:pathLst>
                <a:path w="540385" h="540385">
                  <a:moveTo>
                    <a:pt x="540258" y="540258"/>
                  </a:moveTo>
                  <a:lnTo>
                    <a:pt x="0" y="540258"/>
                  </a:lnTo>
                  <a:lnTo>
                    <a:pt x="0" y="0"/>
                  </a:lnTo>
                </a:path>
              </a:pathLst>
            </a:custGeom>
            <a:ln w="21437">
              <a:solidFill>
                <a:srgbClr val="7E7E7E"/>
              </a:solidFill>
              <a:prstDash val="sys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8" name="object 108"/>
          <p:cNvSpPr txBox="1"/>
          <p:nvPr/>
        </p:nvSpPr>
        <p:spPr>
          <a:xfrm>
            <a:off x="3401424" y="3224026"/>
            <a:ext cx="282575" cy="964565"/>
          </a:xfrm>
          <a:prstGeom prst="rect">
            <a:avLst/>
          </a:prstGeom>
        </p:spPr>
        <p:txBody>
          <a:bodyPr vert="vert270" wrap="square" lIns="0" tIns="31750" rIns="0" bIns="0" rtlCol="0">
            <a:spAutoFit/>
          </a:bodyPr>
          <a:lstStyle/>
          <a:p>
            <a:pPr marL="12700" marR="0" lvl="0" indent="0" algn="l" defTabSz="914400" rtl="0" eaLnBrk="1" fontAlgn="auto" latinLnBrk="0" hangingPunct="1">
              <a:lnSpc>
                <a:spcPct val="100000"/>
              </a:lnSpc>
              <a:spcBef>
                <a:spcPts val="250"/>
              </a:spcBef>
              <a:spcAft>
                <a:spcPts val="0"/>
              </a:spcAft>
              <a:buClrTx/>
              <a:buSzTx/>
              <a:buFontTx/>
              <a:buNone/>
              <a:tabLst/>
              <a:defRPr/>
            </a:pPr>
            <a:r>
              <a:rPr kumimoji="0" sz="1500" b="0" i="0" u="none" strike="noStrike" kern="1200" cap="none" spc="-5" normalizeH="0" baseline="0" noProof="0" dirty="0">
                <a:ln>
                  <a:noFill/>
                </a:ln>
                <a:solidFill>
                  <a:prstClr val="black"/>
                </a:solidFill>
                <a:effectLst/>
                <a:uLnTx/>
                <a:uFillTx/>
                <a:latin typeface="Malgun Gothic"/>
                <a:ea typeface="+mn-ea"/>
                <a:cs typeface="Malgun Gothic"/>
              </a:rPr>
              <a:t>Magnitude</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109" name="object 109"/>
          <p:cNvSpPr txBox="1"/>
          <p:nvPr/>
        </p:nvSpPr>
        <p:spPr>
          <a:xfrm>
            <a:off x="4226052" y="3669953"/>
            <a:ext cx="301625" cy="257175"/>
          </a:xfrm>
          <a:prstGeom prst="rect">
            <a:avLst/>
          </a:prstGeom>
        </p:spPr>
        <p:txBody>
          <a:bodyPr vert="horz" wrap="square" lIns="0" tIns="14604" rIns="0" bIns="0" rtlCol="0">
            <a:spAutoFit/>
          </a:bodyPr>
          <a:lstStyle/>
          <a:p>
            <a:pPr marL="38100" marR="0" lvl="0" indent="0" algn="l" defTabSz="914400" rtl="0" eaLnBrk="1" fontAlgn="auto" latinLnBrk="0" hangingPunct="1">
              <a:lnSpc>
                <a:spcPct val="100000"/>
              </a:lnSpc>
              <a:spcBef>
                <a:spcPts val="114"/>
              </a:spcBef>
              <a:spcAft>
                <a:spcPts val="0"/>
              </a:spcAft>
              <a:buClrTx/>
              <a:buSzTx/>
              <a:buFontTx/>
              <a:buNone/>
              <a:tabLst/>
              <a:defRPr/>
            </a:pPr>
            <a:r>
              <a:rPr kumimoji="0" sz="2250" b="0" i="0" u="none" strike="noStrike" kern="1200" cap="none" spc="-7" normalizeH="0" baseline="-16666" noProof="0" dirty="0">
                <a:ln>
                  <a:noFill/>
                </a:ln>
                <a:solidFill>
                  <a:prstClr val="black"/>
                </a:solidFill>
                <a:effectLst/>
                <a:uLnTx/>
                <a:uFillTx/>
                <a:latin typeface="Malgun Gothic"/>
                <a:ea typeface="+mn-ea"/>
                <a:cs typeface="Malgun Gothic"/>
              </a:rPr>
              <a:t>S</a:t>
            </a:r>
            <a:r>
              <a:rPr kumimoji="0" sz="1000" b="0" i="0" u="none" strike="noStrike" kern="1200" cap="none" spc="-5" normalizeH="0" baseline="0" noProof="0" dirty="0">
                <a:ln>
                  <a:noFill/>
                </a:ln>
                <a:solidFill>
                  <a:prstClr val="black"/>
                </a:solidFill>
                <a:effectLst/>
                <a:uLnTx/>
                <a:uFillTx/>
                <a:latin typeface="Malgun Gothic"/>
                <a:ea typeface="+mn-ea"/>
                <a:cs typeface="Malgun Gothic"/>
              </a:rPr>
              <a:t>-1</a:t>
            </a:r>
            <a:endParaRPr kumimoji="0" sz="10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111" name="Slide Number Placeholder 110"/>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30</a:t>
            </a:fld>
            <a:endParaRPr lang="en-US" spc="-50" dirty="0"/>
          </a:p>
        </p:txBody>
      </p:sp>
      <p:sp>
        <p:nvSpPr>
          <p:cNvPr id="112" name="Date Placeholder 111"/>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3" name="Footer Placeholder 112"/>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87480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p:bldP spid="7" grpId="0"/>
      <p:bldP spid="101" grpId="0"/>
      <p:bldP spid="108" grpId="0"/>
      <p:bldP spid="10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1613" y="280023"/>
            <a:ext cx="8136890" cy="604520"/>
          </a:xfrm>
          <a:prstGeom prst="rect">
            <a:avLst/>
          </a:prstGeom>
        </p:spPr>
        <p:txBody>
          <a:bodyPr vert="horz" wrap="square" lIns="0" tIns="12065" rIns="0" bIns="0" rtlCol="0">
            <a:spAutoFit/>
          </a:bodyPr>
          <a:lstStyle/>
          <a:p>
            <a:pPr marL="12700">
              <a:lnSpc>
                <a:spcPct val="100000"/>
              </a:lnSpc>
              <a:spcBef>
                <a:spcPts val="95"/>
              </a:spcBef>
            </a:pPr>
            <a:r>
              <a:rPr sz="3800" b="0" spc="-10" dirty="0">
                <a:latin typeface="Verdana"/>
                <a:cs typeface="Verdana"/>
              </a:rPr>
              <a:t>Continuous</a:t>
            </a:r>
            <a:r>
              <a:rPr sz="3800" b="0" spc="5" dirty="0">
                <a:latin typeface="Verdana"/>
                <a:cs typeface="Verdana"/>
              </a:rPr>
              <a:t> </a:t>
            </a:r>
            <a:r>
              <a:rPr sz="3800" b="0" spc="-5" dirty="0">
                <a:latin typeface="Verdana"/>
                <a:cs typeface="Verdana"/>
              </a:rPr>
              <a:t>Time</a:t>
            </a:r>
            <a:r>
              <a:rPr sz="3800" b="0" spc="5" dirty="0">
                <a:latin typeface="Verdana"/>
                <a:cs typeface="Verdana"/>
              </a:rPr>
              <a:t> </a:t>
            </a:r>
            <a:r>
              <a:rPr sz="3800" b="0" spc="-5" dirty="0">
                <a:latin typeface="Verdana"/>
                <a:cs typeface="Verdana"/>
              </a:rPr>
              <a:t>Linear</a:t>
            </a:r>
            <a:r>
              <a:rPr sz="3800" b="0" spc="10" dirty="0">
                <a:latin typeface="Verdana"/>
                <a:cs typeface="Verdana"/>
              </a:rPr>
              <a:t> </a:t>
            </a:r>
            <a:r>
              <a:rPr sz="3800" b="0" spc="-10" dirty="0">
                <a:latin typeface="Verdana"/>
                <a:cs typeface="Verdana"/>
              </a:rPr>
              <a:t>Equalizer</a:t>
            </a:r>
            <a:endParaRPr sz="3800" dirty="0">
              <a:latin typeface="Verdana"/>
              <a:cs typeface="Verdana"/>
            </a:endParaRPr>
          </a:p>
        </p:txBody>
      </p:sp>
      <p:grpSp>
        <p:nvGrpSpPr>
          <p:cNvPr id="3" name="object 3"/>
          <p:cNvGrpSpPr/>
          <p:nvPr/>
        </p:nvGrpSpPr>
        <p:grpSpPr>
          <a:xfrm>
            <a:off x="9188208" y="2536710"/>
            <a:ext cx="2080260" cy="2001520"/>
            <a:chOff x="9188208" y="2536710"/>
            <a:chExt cx="2080260" cy="2001520"/>
          </a:xfrm>
        </p:grpSpPr>
        <p:sp>
          <p:nvSpPr>
            <p:cNvPr id="4" name="object 4"/>
            <p:cNvSpPr/>
            <p:nvPr/>
          </p:nvSpPr>
          <p:spPr>
            <a:xfrm>
              <a:off x="9243822" y="2547365"/>
              <a:ext cx="2014220" cy="1933575"/>
            </a:xfrm>
            <a:custGeom>
              <a:avLst/>
              <a:gdLst/>
              <a:ahLst/>
              <a:cxnLst/>
              <a:rect l="l" t="t" r="r" b="b"/>
              <a:pathLst>
                <a:path w="2014220" h="1933575">
                  <a:moveTo>
                    <a:pt x="2013966" y="1933194"/>
                  </a:moveTo>
                  <a:lnTo>
                    <a:pt x="0" y="1933194"/>
                  </a:lnTo>
                  <a:lnTo>
                    <a:pt x="0" y="0"/>
                  </a:lnTo>
                </a:path>
              </a:pathLst>
            </a:custGeom>
            <a:ln w="213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1212830" y="4434077"/>
              <a:ext cx="45085" cy="93345"/>
            </a:xfrm>
            <a:custGeom>
              <a:avLst/>
              <a:gdLst/>
              <a:ahLst/>
              <a:cxnLst/>
              <a:rect l="l" t="t" r="r" b="b"/>
              <a:pathLst>
                <a:path w="45084" h="93345">
                  <a:moveTo>
                    <a:pt x="0" y="92963"/>
                  </a:moveTo>
                  <a:lnTo>
                    <a:pt x="44957" y="46481"/>
                  </a:lnTo>
                  <a:lnTo>
                    <a:pt x="0" y="0"/>
                  </a:lnTo>
                </a:path>
              </a:pathLst>
            </a:custGeom>
            <a:ln w="213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9198864" y="2547365"/>
              <a:ext cx="90170" cy="46990"/>
            </a:xfrm>
            <a:custGeom>
              <a:avLst/>
              <a:gdLst/>
              <a:ahLst/>
              <a:cxnLst/>
              <a:rect l="l" t="t" r="r" b="b"/>
              <a:pathLst>
                <a:path w="90170" h="46989">
                  <a:moveTo>
                    <a:pt x="89916" y="46482"/>
                  </a:moveTo>
                  <a:lnTo>
                    <a:pt x="44958" y="0"/>
                  </a:lnTo>
                  <a:lnTo>
                    <a:pt x="0" y="46482"/>
                  </a:lnTo>
                </a:path>
              </a:pathLst>
            </a:custGeom>
            <a:ln w="213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9243822" y="2961131"/>
              <a:ext cx="939800" cy="0"/>
            </a:xfrm>
            <a:custGeom>
              <a:avLst/>
              <a:gdLst/>
              <a:ahLst/>
              <a:cxnLst/>
              <a:rect l="l" t="t" r="r" b="b"/>
              <a:pathLst>
                <a:path w="939800">
                  <a:moveTo>
                    <a:pt x="0" y="0"/>
                  </a:moveTo>
                  <a:lnTo>
                    <a:pt x="939546" y="0"/>
                  </a:lnTo>
                </a:path>
              </a:pathLst>
            </a:custGeom>
            <a:ln w="21310">
              <a:solidFill>
                <a:srgbClr val="00AF4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p:nvPr/>
          </p:nvSpPr>
          <p:spPr>
            <a:xfrm>
              <a:off x="10183368" y="2961131"/>
              <a:ext cx="258445" cy="266065"/>
            </a:xfrm>
            <a:custGeom>
              <a:avLst/>
              <a:gdLst/>
              <a:ahLst/>
              <a:cxnLst/>
              <a:rect l="l" t="t" r="r" b="b"/>
              <a:pathLst>
                <a:path w="258445" h="266064">
                  <a:moveTo>
                    <a:pt x="0" y="0"/>
                  </a:moveTo>
                  <a:lnTo>
                    <a:pt x="258318" y="265938"/>
                  </a:lnTo>
                </a:path>
              </a:pathLst>
            </a:custGeom>
            <a:ln w="21615">
              <a:solidFill>
                <a:srgbClr val="00AF4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10441686" y="3227069"/>
              <a:ext cx="413384" cy="839469"/>
            </a:xfrm>
            <a:custGeom>
              <a:avLst/>
              <a:gdLst/>
              <a:ahLst/>
              <a:cxnLst/>
              <a:rect l="l" t="t" r="r" b="b"/>
              <a:pathLst>
                <a:path w="413384" h="839470">
                  <a:moveTo>
                    <a:pt x="0" y="0"/>
                  </a:moveTo>
                  <a:lnTo>
                    <a:pt x="413004" y="838962"/>
                  </a:lnTo>
                </a:path>
              </a:pathLst>
            </a:custGeom>
            <a:ln w="21793">
              <a:solidFill>
                <a:srgbClr val="00AF4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object 10"/>
          <p:cNvSpPr txBox="1"/>
          <p:nvPr/>
        </p:nvSpPr>
        <p:spPr>
          <a:xfrm>
            <a:off x="8917169" y="4608922"/>
            <a:ext cx="2229485" cy="818515"/>
          </a:xfrm>
          <a:prstGeom prst="rect">
            <a:avLst/>
          </a:prstGeom>
        </p:spPr>
        <p:txBody>
          <a:bodyPr vert="horz" wrap="square" lIns="0" tIns="12700" rIns="0" bIns="0" rtlCol="0">
            <a:spAutoFit/>
          </a:bodyPr>
          <a:lstStyle/>
          <a:p>
            <a:pPr marL="795655" marR="0" lvl="0" indent="0" algn="l" defTabSz="914400" rtl="0" eaLnBrk="1" fontAlgn="auto" latinLnBrk="0" hangingPunct="1">
              <a:lnSpc>
                <a:spcPts val="1770"/>
              </a:lnSpc>
              <a:spcBef>
                <a:spcPts val="100"/>
              </a:spcBef>
              <a:spcAft>
                <a:spcPts val="0"/>
              </a:spcAft>
              <a:buClrTx/>
              <a:buSzTx/>
              <a:buFontTx/>
              <a:buNone/>
              <a:tabLst/>
              <a:defRPr/>
            </a:pPr>
            <a:r>
              <a:rPr kumimoji="0" sz="1550" b="0" i="0" u="none" strike="noStrike" kern="1200" cap="none" spc="-30" normalizeH="0" baseline="0" noProof="0" dirty="0">
                <a:ln>
                  <a:noFill/>
                </a:ln>
                <a:solidFill>
                  <a:prstClr val="black"/>
                </a:solidFill>
                <a:effectLst/>
                <a:uLnTx/>
                <a:uFillTx/>
                <a:latin typeface="Malgun Gothic"/>
                <a:ea typeface="+mn-ea"/>
                <a:cs typeface="Malgun Gothic"/>
              </a:rPr>
              <a:t>Frequency</a:t>
            </a:r>
            <a:endParaRPr kumimoji="0" sz="1550" b="0" i="0" u="none" strike="noStrike" kern="1200" cap="none" spc="0" normalizeH="0" baseline="0" noProof="0">
              <a:ln>
                <a:noFill/>
              </a:ln>
              <a:solidFill>
                <a:prstClr val="black"/>
              </a:solidFill>
              <a:effectLst/>
              <a:uLnTx/>
              <a:uFillTx/>
              <a:latin typeface="Malgun Gothic"/>
              <a:ea typeface="+mn-ea"/>
              <a:cs typeface="Malgun Gothic"/>
            </a:endParaRPr>
          </a:p>
          <a:p>
            <a:pPr marL="12700" marR="5080" lvl="0" indent="0" algn="l" defTabSz="914400" rtl="0" eaLnBrk="1" fontAlgn="auto" latinLnBrk="0" hangingPunct="1">
              <a:lnSpc>
                <a:spcPts val="2160"/>
              </a:lnSpc>
              <a:spcBef>
                <a:spcPts val="185"/>
              </a:spcBef>
              <a:spcAft>
                <a:spcPts val="0"/>
              </a:spcAft>
              <a:buClrTx/>
              <a:buSzTx/>
              <a:buFontTx/>
              <a:buNone/>
              <a:tabLst/>
              <a:defRPr/>
            </a:pPr>
            <a:r>
              <a:rPr kumimoji="0" sz="2000" b="0" i="0" u="none" strike="noStrike" kern="1200" cap="none" spc="-10" normalizeH="0" baseline="0" noProof="0" dirty="0">
                <a:ln>
                  <a:noFill/>
                </a:ln>
                <a:solidFill>
                  <a:srgbClr val="006500"/>
                </a:solidFill>
                <a:effectLst/>
                <a:uLnTx/>
                <a:uFillTx/>
                <a:latin typeface="Verdana"/>
                <a:ea typeface="+mn-ea"/>
                <a:cs typeface="Verdana"/>
              </a:rPr>
              <a:t>Overall Response </a:t>
            </a:r>
            <a:r>
              <a:rPr kumimoji="0" sz="2000" b="0" i="0" u="none" strike="noStrike" kern="1200" cap="none" spc="-690" normalizeH="0" baseline="0" noProof="0" dirty="0">
                <a:ln>
                  <a:noFill/>
                </a:ln>
                <a:solidFill>
                  <a:srgbClr val="006500"/>
                </a:solidFill>
                <a:effectLst/>
                <a:uLnTx/>
                <a:uFillTx/>
                <a:latin typeface="Verdana"/>
                <a:ea typeface="+mn-ea"/>
                <a:cs typeface="Verdana"/>
              </a:rPr>
              <a:t> </a:t>
            </a:r>
            <a:r>
              <a:rPr kumimoji="0" sz="2000" b="0" i="0" u="none" strike="noStrike" kern="1200" cap="none" spc="-10" normalizeH="0" baseline="0" noProof="0" dirty="0">
                <a:ln>
                  <a:noFill/>
                </a:ln>
                <a:solidFill>
                  <a:srgbClr val="006500"/>
                </a:solidFill>
                <a:effectLst/>
                <a:uLnTx/>
                <a:uFillTx/>
                <a:latin typeface="Verdana"/>
                <a:ea typeface="+mn-ea"/>
                <a:cs typeface="Verdana"/>
              </a:rPr>
              <a:t>(Flat)</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11" name="object 11"/>
          <p:cNvSpPr txBox="1"/>
          <p:nvPr/>
        </p:nvSpPr>
        <p:spPr>
          <a:xfrm>
            <a:off x="8881383" y="3062098"/>
            <a:ext cx="230832" cy="1120519"/>
          </a:xfrm>
          <a:prstGeom prst="rect">
            <a:avLst/>
          </a:prstGeom>
        </p:spPr>
        <p:txBody>
          <a:bodyPr vert="vert270" wrap="square" lIns="0" tIns="30480" rIns="0" bIns="0" rtlCol="0">
            <a:spAutoFit/>
          </a:bodyPr>
          <a:lstStyle/>
          <a:p>
            <a:pPr marL="12700" marR="0" lvl="0" indent="0" algn="l" defTabSz="914400" rtl="0" eaLnBrk="1" fontAlgn="auto" latinLnBrk="0" hangingPunct="1">
              <a:lnSpc>
                <a:spcPct val="100000"/>
              </a:lnSpc>
              <a:spcBef>
                <a:spcPts val="240"/>
              </a:spcBef>
              <a:spcAft>
                <a:spcPts val="0"/>
              </a:spcAft>
              <a:buClrTx/>
              <a:buSzTx/>
              <a:buFontTx/>
              <a:buNone/>
              <a:tabLst/>
              <a:defRPr/>
            </a:pPr>
            <a:r>
              <a:rPr kumimoji="0" sz="1500" b="0" i="0" u="none" strike="noStrike" kern="1200" cap="none" spc="15" normalizeH="0" baseline="0" noProof="0" dirty="0">
                <a:ln>
                  <a:noFill/>
                </a:ln>
                <a:solidFill>
                  <a:prstClr val="black"/>
                </a:solidFill>
                <a:effectLst/>
                <a:uLnTx/>
                <a:uFillTx/>
                <a:latin typeface="Malgun Gothic"/>
                <a:ea typeface="+mn-ea"/>
                <a:cs typeface="Malgun Gothic"/>
              </a:rPr>
              <a:t>Magnitude</a:t>
            </a:r>
            <a:endParaRPr kumimoji="0" sz="1500" b="0" i="0" u="none" strike="noStrike" kern="1200" cap="none" spc="0" normalizeH="0" baseline="0" noProof="0" dirty="0">
              <a:ln>
                <a:noFill/>
              </a:ln>
              <a:solidFill>
                <a:prstClr val="black"/>
              </a:solidFill>
              <a:effectLst/>
              <a:uLnTx/>
              <a:uFillTx/>
              <a:latin typeface="Malgun Gothic"/>
              <a:ea typeface="+mn-ea"/>
              <a:cs typeface="Malgun Gothic"/>
            </a:endParaRPr>
          </a:p>
        </p:txBody>
      </p:sp>
      <p:sp>
        <p:nvSpPr>
          <p:cNvPr id="13" name="object 13"/>
          <p:cNvSpPr txBox="1"/>
          <p:nvPr/>
        </p:nvSpPr>
        <p:spPr>
          <a:xfrm>
            <a:off x="1024374" y="5378959"/>
            <a:ext cx="9613900" cy="720725"/>
          </a:xfrm>
          <a:prstGeom prst="rect">
            <a:avLst/>
          </a:prstGeom>
        </p:spPr>
        <p:txBody>
          <a:bodyPr vert="horz" wrap="square" lIns="0" tIns="73660" rIns="0" bIns="0" rtlCol="0">
            <a:spAutoFit/>
          </a:bodyPr>
          <a:lstStyle/>
          <a:p>
            <a:pPr marL="372745" marR="0" lvl="0" indent="-360680" algn="l" defTabSz="914400" rtl="0" eaLnBrk="1" fontAlgn="auto" latinLnBrk="0" hangingPunct="1">
              <a:lnSpc>
                <a:spcPct val="100000"/>
              </a:lnSpc>
              <a:spcBef>
                <a:spcPts val="580"/>
              </a:spcBef>
              <a:spcAft>
                <a:spcPts val="0"/>
              </a:spcAft>
              <a:buClr>
                <a:srgbClr val="CC0000"/>
              </a:buClr>
              <a:buSzTx/>
              <a:buFont typeface="Wingdings"/>
              <a:buChar char=""/>
              <a:tabLst>
                <a:tab pos="372745" algn="l"/>
                <a:tab pos="373380"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Continuous</a:t>
            </a:r>
            <a:r>
              <a:rPr kumimoji="0" sz="2000" b="0" i="0" u="none" strike="noStrike" kern="1200" cap="none" spc="-5" normalizeH="0" baseline="0" noProof="0" dirty="0">
                <a:ln>
                  <a:noFill/>
                </a:ln>
                <a:solidFill>
                  <a:prstClr val="black"/>
                </a:solidFill>
                <a:effectLst/>
                <a:uLnTx/>
                <a:uFillTx/>
                <a:latin typeface="Verdana"/>
                <a:ea typeface="+mn-ea"/>
                <a:cs typeface="Verdana"/>
              </a:rPr>
              <a:t> time</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linear</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equalizer</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(CTLE)</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810895" marR="0" lvl="1" indent="-360680" algn="l" defTabSz="914400" rtl="0" eaLnBrk="1" fontAlgn="auto" latinLnBrk="0" hangingPunct="1">
              <a:lnSpc>
                <a:spcPct val="100000"/>
              </a:lnSpc>
              <a:spcBef>
                <a:spcPts val="430"/>
              </a:spcBef>
              <a:spcAft>
                <a:spcPts val="0"/>
              </a:spcAft>
              <a:buClr>
                <a:srgbClr val="CC0000"/>
              </a:buClr>
              <a:buSzTx/>
              <a:buFont typeface="Wingdings"/>
              <a:buChar char=""/>
              <a:tabLst>
                <a:tab pos="810895" algn="l"/>
                <a:tab pos="811530" algn="l"/>
              </a:tabLst>
              <a:defRPr/>
            </a:pPr>
            <a:r>
              <a:rPr kumimoji="0" sz="1800" b="0" i="0" u="none" strike="noStrike" kern="1200" cap="none" spc="0" normalizeH="0" baseline="0" noProof="0" dirty="0">
                <a:ln>
                  <a:noFill/>
                </a:ln>
                <a:solidFill>
                  <a:prstClr val="black"/>
                </a:solidFill>
                <a:effectLst/>
                <a:uLnTx/>
                <a:uFillTx/>
                <a:latin typeface="Verdana"/>
                <a:ea typeface="+mn-ea"/>
                <a:cs typeface="Verdana"/>
              </a:rPr>
              <a:t>A</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high-pass filter</a:t>
            </a:r>
            <a:r>
              <a:rPr kumimoji="0" sz="1800" b="0" i="0" u="none" strike="noStrike" kern="1200" cap="none" spc="2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(HPF)</a:t>
            </a:r>
            <a:r>
              <a:rPr kumimoji="0" sz="1800" b="0" i="0" u="none" strike="noStrike" kern="1200" cap="none" spc="0" normalizeH="0" baseline="0" noProof="0" dirty="0">
                <a:ln>
                  <a:noFill/>
                </a:ln>
                <a:solidFill>
                  <a:prstClr val="black"/>
                </a:solidFill>
                <a:effectLst/>
                <a:uLnTx/>
                <a:uFillTx/>
                <a:latin typeface="Verdana"/>
                <a:ea typeface="+mn-ea"/>
                <a:cs typeface="Verdana"/>
              </a:rPr>
              <a:t> flattens</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the</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overall</a:t>
            </a:r>
            <a:r>
              <a:rPr kumimoji="0" sz="1800" b="0" i="0" u="none" strike="noStrike" kern="1200" cap="none" spc="0" normalizeH="0" baseline="0" noProof="0" dirty="0">
                <a:ln>
                  <a:noFill/>
                </a:ln>
                <a:solidFill>
                  <a:prstClr val="black"/>
                </a:solidFill>
                <a:effectLst/>
                <a:uLnTx/>
                <a:uFillTx/>
                <a:latin typeface="Verdana"/>
                <a:ea typeface="+mn-ea"/>
                <a:cs typeface="Verdana"/>
              </a:rPr>
              <a:t> response</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in</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the</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band</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of</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interest.</a:t>
            </a:r>
            <a:endParaRPr kumimoji="0" sz="1800" b="0" i="0" u="none" strike="noStrike" kern="1200" cap="none" spc="0" normalizeH="0" baseline="0" noProof="0" dirty="0">
              <a:ln>
                <a:noFill/>
              </a:ln>
              <a:solidFill>
                <a:prstClr val="black"/>
              </a:solidFill>
              <a:effectLst/>
              <a:uLnTx/>
              <a:uFillTx/>
              <a:latin typeface="Verdana"/>
              <a:ea typeface="+mn-ea"/>
              <a:cs typeface="Verdana"/>
            </a:endParaRPr>
          </a:p>
        </p:txBody>
      </p:sp>
      <p:grpSp>
        <p:nvGrpSpPr>
          <p:cNvPr id="135" name="Group 134"/>
          <p:cNvGrpSpPr/>
          <p:nvPr/>
        </p:nvGrpSpPr>
        <p:grpSpPr>
          <a:xfrm>
            <a:off x="3401424" y="2578557"/>
            <a:ext cx="2400901" cy="2670352"/>
            <a:chOff x="3401424" y="2578557"/>
            <a:chExt cx="2400901" cy="2670352"/>
          </a:xfrm>
        </p:grpSpPr>
        <p:sp>
          <p:nvSpPr>
            <p:cNvPr id="12" name="object 12"/>
            <p:cNvSpPr txBox="1"/>
            <p:nvPr/>
          </p:nvSpPr>
          <p:spPr>
            <a:xfrm>
              <a:off x="3833876" y="4542154"/>
              <a:ext cx="1815464" cy="706755"/>
            </a:xfrm>
            <a:prstGeom prst="rect">
              <a:avLst/>
            </a:prstGeom>
          </p:spPr>
          <p:txBody>
            <a:bodyPr vert="horz" wrap="square" lIns="0" tIns="77470" rIns="0" bIns="0" rtlCol="0">
              <a:spAutoFit/>
            </a:bodyPr>
            <a:lstStyle/>
            <a:p>
              <a:pPr marL="403860" marR="0" lvl="0" indent="0" algn="l" defTabSz="914400" rtl="0" eaLnBrk="1" fontAlgn="auto" latinLnBrk="0" hangingPunct="1">
                <a:lnSpc>
                  <a:spcPct val="100000"/>
                </a:lnSpc>
                <a:spcBef>
                  <a:spcPts val="610"/>
                </a:spcBef>
                <a:spcAft>
                  <a:spcPts val="0"/>
                </a:spcAft>
                <a:buClrTx/>
                <a:buSzTx/>
                <a:buFontTx/>
                <a:buNone/>
                <a:tabLst/>
                <a:defRPr/>
              </a:pPr>
              <a:r>
                <a:rPr kumimoji="0" sz="1500" b="0" i="0" u="none" strike="noStrike" kern="1200" cap="none" spc="-5" normalizeH="0" baseline="0" noProof="0" dirty="0">
                  <a:ln>
                    <a:noFill/>
                  </a:ln>
                  <a:solidFill>
                    <a:prstClr val="black"/>
                  </a:solidFill>
                  <a:effectLst/>
                  <a:uLnTx/>
                  <a:uFillTx/>
                  <a:latin typeface="Malgun Gothic"/>
                  <a:ea typeface="+mn-ea"/>
                  <a:cs typeface="Malgun Gothic"/>
                </a:rPr>
                <a:t>Frequency</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a:p>
              <a:pPr marL="12700" marR="0" lvl="0" indent="0" algn="l" defTabSz="914400" rtl="0" eaLnBrk="1" fontAlgn="auto" latinLnBrk="0" hangingPunct="1">
                <a:lnSpc>
                  <a:spcPct val="100000"/>
                </a:lnSpc>
                <a:spcBef>
                  <a:spcPts val="655"/>
                </a:spcBef>
                <a:spcAft>
                  <a:spcPts val="0"/>
                </a:spcAft>
                <a:buClrTx/>
                <a:buSzTx/>
                <a:buFontTx/>
                <a:buNone/>
                <a:tabLst/>
                <a:defRPr/>
              </a:pPr>
              <a:r>
                <a:rPr kumimoji="0" sz="2000" b="0" i="0" u="none" strike="noStrike" kern="1200" cap="none" spc="-10" normalizeH="0" baseline="0" noProof="0" dirty="0">
                  <a:ln>
                    <a:noFill/>
                  </a:ln>
                  <a:solidFill>
                    <a:srgbClr val="FF0000"/>
                  </a:solidFill>
                  <a:effectLst/>
                  <a:uLnTx/>
                  <a:uFillTx/>
                  <a:latin typeface="Verdana"/>
                  <a:ea typeface="+mn-ea"/>
                  <a:cs typeface="Verdana"/>
                </a:rPr>
                <a:t>Channel</a:t>
              </a:r>
              <a:r>
                <a:rPr kumimoji="0" sz="2000" b="0" i="0" u="none" strike="noStrike" kern="1200" cap="none" spc="-50" normalizeH="0" baseline="0" noProof="0" dirty="0">
                  <a:ln>
                    <a:noFill/>
                  </a:ln>
                  <a:solidFill>
                    <a:srgbClr val="FF0000"/>
                  </a:solidFill>
                  <a:effectLst/>
                  <a:uLnTx/>
                  <a:uFillTx/>
                  <a:latin typeface="Verdana"/>
                  <a:ea typeface="+mn-ea"/>
                  <a:cs typeface="Verdana"/>
                </a:rPr>
                <a:t> </a:t>
              </a:r>
              <a:r>
                <a:rPr kumimoji="0" sz="2000" b="0" i="0" u="none" strike="noStrike" kern="1200" cap="none" spc="-10" normalizeH="0" baseline="0" noProof="0" dirty="0">
                  <a:ln>
                    <a:noFill/>
                  </a:ln>
                  <a:solidFill>
                    <a:srgbClr val="FF0000"/>
                  </a:solidFill>
                  <a:effectLst/>
                  <a:uLnTx/>
                  <a:uFillTx/>
                  <a:latin typeface="Verdana"/>
                  <a:ea typeface="+mn-ea"/>
                  <a:cs typeface="Verdana"/>
                </a:rPr>
                <a:t>(LPF)</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14" name="object 14"/>
            <p:cNvGrpSpPr/>
            <p:nvPr/>
          </p:nvGrpSpPr>
          <p:grpSpPr>
            <a:xfrm>
              <a:off x="3709365" y="2578557"/>
              <a:ext cx="2092960" cy="1957070"/>
              <a:chOff x="3709365" y="2578557"/>
              <a:chExt cx="2092960" cy="1957070"/>
            </a:xfrm>
          </p:grpSpPr>
          <p:sp>
            <p:nvSpPr>
              <p:cNvPr id="15" name="object 15"/>
              <p:cNvSpPr/>
              <p:nvPr/>
            </p:nvSpPr>
            <p:spPr>
              <a:xfrm>
                <a:off x="3765803" y="2589275"/>
                <a:ext cx="2025650" cy="1891030"/>
              </a:xfrm>
              <a:custGeom>
                <a:avLst/>
                <a:gdLst/>
                <a:ahLst/>
                <a:cxnLst/>
                <a:rect l="l" t="t" r="r" b="b"/>
                <a:pathLst>
                  <a:path w="2025650" h="1891029">
                    <a:moveTo>
                      <a:pt x="2025396" y="1890522"/>
                    </a:moveTo>
                    <a:lnTo>
                      <a:pt x="0" y="1890522"/>
                    </a:lnTo>
                    <a:lnTo>
                      <a:pt x="0" y="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5745479" y="4434077"/>
                <a:ext cx="45720" cy="90805"/>
              </a:xfrm>
              <a:custGeom>
                <a:avLst/>
                <a:gdLst/>
                <a:ahLst/>
                <a:cxnLst/>
                <a:rect l="l" t="t" r="r" b="b"/>
                <a:pathLst>
                  <a:path w="45720" h="90804">
                    <a:moveTo>
                      <a:pt x="0" y="90678"/>
                    </a:moveTo>
                    <a:lnTo>
                      <a:pt x="45720" y="45720"/>
                    </a:lnTo>
                    <a:lnTo>
                      <a:pt x="0" y="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7"/>
              <p:cNvSpPr/>
              <p:nvPr/>
            </p:nvSpPr>
            <p:spPr>
              <a:xfrm>
                <a:off x="3720083" y="2589275"/>
                <a:ext cx="90805" cy="45720"/>
              </a:xfrm>
              <a:custGeom>
                <a:avLst/>
                <a:gdLst/>
                <a:ahLst/>
                <a:cxnLst/>
                <a:rect l="l" t="t" r="r" b="b"/>
                <a:pathLst>
                  <a:path w="90804" h="45719">
                    <a:moveTo>
                      <a:pt x="90677" y="45720"/>
                    </a:moveTo>
                    <a:lnTo>
                      <a:pt x="45719" y="0"/>
                    </a:lnTo>
                    <a:lnTo>
                      <a:pt x="0" y="4572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p:nvPr/>
            </p:nvSpPr>
            <p:spPr>
              <a:xfrm>
                <a:off x="3765803" y="2724149"/>
                <a:ext cx="1474470" cy="1474470"/>
              </a:xfrm>
              <a:custGeom>
                <a:avLst/>
                <a:gdLst/>
                <a:ahLst/>
                <a:cxnLst/>
                <a:rect l="l" t="t" r="r" b="b"/>
                <a:pathLst>
                  <a:path w="1474470" h="1474470">
                    <a:moveTo>
                      <a:pt x="0" y="0"/>
                    </a:moveTo>
                    <a:lnTo>
                      <a:pt x="1474470" y="1474469"/>
                    </a:lnTo>
                  </a:path>
                </a:pathLst>
              </a:custGeom>
              <a:ln w="21437">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9"/>
              <p:cNvSpPr/>
              <p:nvPr/>
            </p:nvSpPr>
            <p:spPr>
              <a:xfrm>
                <a:off x="4170425" y="3129533"/>
                <a:ext cx="540385" cy="540385"/>
              </a:xfrm>
              <a:custGeom>
                <a:avLst/>
                <a:gdLst/>
                <a:ahLst/>
                <a:cxnLst/>
                <a:rect l="l" t="t" r="r" b="b"/>
                <a:pathLst>
                  <a:path w="540385" h="540385">
                    <a:moveTo>
                      <a:pt x="540258" y="540258"/>
                    </a:moveTo>
                    <a:lnTo>
                      <a:pt x="0" y="540258"/>
                    </a:lnTo>
                    <a:lnTo>
                      <a:pt x="0" y="0"/>
                    </a:lnTo>
                  </a:path>
                </a:pathLst>
              </a:custGeom>
              <a:ln w="21437">
                <a:solidFill>
                  <a:srgbClr val="7E7E7E"/>
                </a:solidFill>
                <a:prstDash val="sys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0" name="object 20"/>
            <p:cNvSpPr txBox="1"/>
            <p:nvPr/>
          </p:nvSpPr>
          <p:spPr>
            <a:xfrm>
              <a:off x="3401424" y="3224026"/>
              <a:ext cx="282575" cy="964565"/>
            </a:xfrm>
            <a:prstGeom prst="rect">
              <a:avLst/>
            </a:prstGeom>
          </p:spPr>
          <p:txBody>
            <a:bodyPr vert="vert270" wrap="square" lIns="0" tIns="31750" rIns="0" bIns="0" rtlCol="0">
              <a:spAutoFit/>
            </a:bodyPr>
            <a:lstStyle/>
            <a:p>
              <a:pPr marL="12700" marR="0" lvl="0" indent="0" algn="l" defTabSz="914400" rtl="0" eaLnBrk="1" fontAlgn="auto" latinLnBrk="0" hangingPunct="1">
                <a:lnSpc>
                  <a:spcPct val="100000"/>
                </a:lnSpc>
                <a:spcBef>
                  <a:spcPts val="250"/>
                </a:spcBef>
                <a:spcAft>
                  <a:spcPts val="0"/>
                </a:spcAft>
                <a:buClrTx/>
                <a:buSzTx/>
                <a:buFontTx/>
                <a:buNone/>
                <a:tabLst/>
                <a:defRPr/>
              </a:pPr>
              <a:r>
                <a:rPr kumimoji="0" sz="1500" b="0" i="0" u="none" strike="noStrike" kern="1200" cap="none" spc="-5" normalizeH="0" baseline="0" noProof="0" dirty="0">
                  <a:ln>
                    <a:noFill/>
                  </a:ln>
                  <a:solidFill>
                    <a:prstClr val="black"/>
                  </a:solidFill>
                  <a:effectLst/>
                  <a:uLnTx/>
                  <a:uFillTx/>
                  <a:latin typeface="Malgun Gothic"/>
                  <a:ea typeface="+mn-ea"/>
                  <a:cs typeface="Malgun Gothic"/>
                </a:rPr>
                <a:t>Magnitude</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21" name="object 21"/>
            <p:cNvSpPr txBox="1"/>
            <p:nvPr/>
          </p:nvSpPr>
          <p:spPr>
            <a:xfrm>
              <a:off x="4226052" y="3669953"/>
              <a:ext cx="301625" cy="257175"/>
            </a:xfrm>
            <a:prstGeom prst="rect">
              <a:avLst/>
            </a:prstGeom>
          </p:spPr>
          <p:txBody>
            <a:bodyPr vert="horz" wrap="square" lIns="0" tIns="14604" rIns="0" bIns="0" rtlCol="0">
              <a:spAutoFit/>
            </a:bodyPr>
            <a:lstStyle/>
            <a:p>
              <a:pPr marL="38100" marR="0" lvl="0" indent="0" algn="l" defTabSz="914400" rtl="0" eaLnBrk="1" fontAlgn="auto" latinLnBrk="0" hangingPunct="1">
                <a:lnSpc>
                  <a:spcPct val="100000"/>
                </a:lnSpc>
                <a:spcBef>
                  <a:spcPts val="114"/>
                </a:spcBef>
                <a:spcAft>
                  <a:spcPts val="0"/>
                </a:spcAft>
                <a:buClrTx/>
                <a:buSzTx/>
                <a:buFontTx/>
                <a:buNone/>
                <a:tabLst/>
                <a:defRPr/>
              </a:pPr>
              <a:r>
                <a:rPr kumimoji="0" sz="2250" b="0" i="0" u="none" strike="noStrike" kern="1200" cap="none" spc="-7" normalizeH="0" baseline="-16666" noProof="0" dirty="0">
                  <a:ln>
                    <a:noFill/>
                  </a:ln>
                  <a:solidFill>
                    <a:prstClr val="black"/>
                  </a:solidFill>
                  <a:effectLst/>
                  <a:uLnTx/>
                  <a:uFillTx/>
                  <a:latin typeface="Malgun Gothic"/>
                  <a:ea typeface="+mn-ea"/>
                  <a:cs typeface="Malgun Gothic"/>
                </a:rPr>
                <a:t>S</a:t>
              </a:r>
              <a:r>
                <a:rPr kumimoji="0" sz="1000" b="0" i="0" u="none" strike="noStrike" kern="1200" cap="none" spc="-5" normalizeH="0" baseline="0" noProof="0" dirty="0">
                  <a:ln>
                    <a:noFill/>
                  </a:ln>
                  <a:solidFill>
                    <a:prstClr val="black"/>
                  </a:solidFill>
                  <a:effectLst/>
                  <a:uLnTx/>
                  <a:uFillTx/>
                  <a:latin typeface="Malgun Gothic"/>
                  <a:ea typeface="+mn-ea"/>
                  <a:cs typeface="Malgun Gothic"/>
                </a:rPr>
                <a:t>-1</a:t>
              </a:r>
              <a:endParaRPr kumimoji="0" sz="1000" b="0" i="0" u="none" strike="noStrike" kern="1200" cap="none" spc="0" normalizeH="0" baseline="0" noProof="0">
                <a:ln>
                  <a:noFill/>
                </a:ln>
                <a:solidFill>
                  <a:prstClr val="black"/>
                </a:solidFill>
                <a:effectLst/>
                <a:uLnTx/>
                <a:uFillTx/>
                <a:latin typeface="Malgun Gothic"/>
                <a:ea typeface="+mn-ea"/>
                <a:cs typeface="Malgun Gothic"/>
              </a:endParaRPr>
            </a:p>
          </p:txBody>
        </p:sp>
      </p:grpSp>
      <p:grpSp>
        <p:nvGrpSpPr>
          <p:cNvPr id="22" name="object 22"/>
          <p:cNvGrpSpPr/>
          <p:nvPr/>
        </p:nvGrpSpPr>
        <p:grpSpPr>
          <a:xfrm>
            <a:off x="6360286" y="2551048"/>
            <a:ext cx="2092960" cy="1983739"/>
            <a:chOff x="6360286" y="2551048"/>
            <a:chExt cx="2092960" cy="1983739"/>
          </a:xfrm>
        </p:grpSpPr>
        <p:sp>
          <p:nvSpPr>
            <p:cNvPr id="23" name="object 23"/>
            <p:cNvSpPr/>
            <p:nvPr/>
          </p:nvSpPr>
          <p:spPr>
            <a:xfrm>
              <a:off x="6416801" y="2561843"/>
              <a:ext cx="2025650" cy="1915795"/>
            </a:xfrm>
            <a:custGeom>
              <a:avLst/>
              <a:gdLst/>
              <a:ahLst/>
              <a:cxnLst/>
              <a:rect l="l" t="t" r="r" b="b"/>
              <a:pathLst>
                <a:path w="2025650" h="1915795">
                  <a:moveTo>
                    <a:pt x="2025396" y="1915668"/>
                  </a:moveTo>
                  <a:lnTo>
                    <a:pt x="0" y="1915668"/>
                  </a:lnTo>
                  <a:lnTo>
                    <a:pt x="0" y="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object 24"/>
            <p:cNvSpPr/>
            <p:nvPr/>
          </p:nvSpPr>
          <p:spPr>
            <a:xfrm>
              <a:off x="8396477" y="4431791"/>
              <a:ext cx="45720" cy="92710"/>
            </a:xfrm>
            <a:custGeom>
              <a:avLst/>
              <a:gdLst/>
              <a:ahLst/>
              <a:cxnLst/>
              <a:rect l="l" t="t" r="r" b="b"/>
              <a:pathLst>
                <a:path w="45720" h="92710">
                  <a:moveTo>
                    <a:pt x="0" y="92202"/>
                  </a:moveTo>
                  <a:lnTo>
                    <a:pt x="45719" y="45720"/>
                  </a:lnTo>
                  <a:lnTo>
                    <a:pt x="0" y="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object 25"/>
            <p:cNvSpPr/>
            <p:nvPr/>
          </p:nvSpPr>
          <p:spPr>
            <a:xfrm>
              <a:off x="6371081" y="2561843"/>
              <a:ext cx="90805" cy="45720"/>
            </a:xfrm>
            <a:custGeom>
              <a:avLst/>
              <a:gdLst/>
              <a:ahLst/>
              <a:cxnLst/>
              <a:rect l="l" t="t" r="r" b="b"/>
              <a:pathLst>
                <a:path w="90804" h="45719">
                  <a:moveTo>
                    <a:pt x="90677" y="45720"/>
                  </a:moveTo>
                  <a:lnTo>
                    <a:pt x="45719" y="0"/>
                  </a:lnTo>
                  <a:lnTo>
                    <a:pt x="0" y="45720"/>
                  </a:lnTo>
                </a:path>
              </a:pathLst>
            </a:custGeom>
            <a:ln w="214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 name="object 26"/>
          <p:cNvSpPr txBox="1"/>
          <p:nvPr/>
        </p:nvSpPr>
        <p:spPr>
          <a:xfrm>
            <a:off x="6451342" y="4520782"/>
            <a:ext cx="1470025" cy="757555"/>
          </a:xfrm>
          <a:prstGeom prst="rect">
            <a:avLst/>
          </a:prstGeom>
        </p:spPr>
        <p:txBody>
          <a:bodyPr vert="horz" wrap="square" lIns="0" tIns="101600" rIns="0" bIns="0" rtlCol="0">
            <a:spAutoFit/>
          </a:bodyPr>
          <a:lstStyle/>
          <a:p>
            <a:pPr marL="437515" marR="0" lvl="0" indent="0" algn="l" defTabSz="914400" rtl="0" eaLnBrk="1" fontAlgn="auto" latinLnBrk="0" hangingPunct="1">
              <a:lnSpc>
                <a:spcPct val="100000"/>
              </a:lnSpc>
              <a:spcBef>
                <a:spcPts val="800"/>
              </a:spcBef>
              <a:spcAft>
                <a:spcPts val="0"/>
              </a:spcAft>
              <a:buClrTx/>
              <a:buSzTx/>
              <a:buFontTx/>
              <a:buNone/>
              <a:tabLst/>
              <a:defRPr/>
            </a:pPr>
            <a:r>
              <a:rPr kumimoji="0" sz="1500" b="0" i="0" u="none" strike="noStrike" kern="1200" cap="none" spc="-5" normalizeH="0" baseline="0" noProof="0" dirty="0">
                <a:ln>
                  <a:noFill/>
                </a:ln>
                <a:solidFill>
                  <a:prstClr val="black"/>
                </a:solidFill>
                <a:effectLst/>
                <a:uLnTx/>
                <a:uFillTx/>
                <a:latin typeface="Malgun Gothic"/>
                <a:ea typeface="+mn-ea"/>
                <a:cs typeface="Malgun Gothic"/>
              </a:rPr>
              <a:t>Frequency</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a:p>
            <a:pPr marL="12700" marR="0" lvl="0" indent="0" algn="l" defTabSz="914400" rtl="0" eaLnBrk="1" fontAlgn="auto" latinLnBrk="0" hangingPunct="1">
              <a:lnSpc>
                <a:spcPct val="100000"/>
              </a:lnSpc>
              <a:spcBef>
                <a:spcPts val="860"/>
              </a:spcBef>
              <a:spcAft>
                <a:spcPts val="0"/>
              </a:spcAft>
              <a:buClrTx/>
              <a:buSzTx/>
              <a:buFontTx/>
              <a:buNone/>
              <a:tabLst/>
              <a:defRPr/>
            </a:pPr>
            <a:r>
              <a:rPr kumimoji="0" sz="2000" b="0" i="0" u="none" strike="noStrike" kern="1200" cap="none" spc="-5" normalizeH="0" baseline="0" noProof="0" dirty="0">
                <a:ln>
                  <a:noFill/>
                </a:ln>
                <a:solidFill>
                  <a:srgbClr val="0000FF"/>
                </a:solidFill>
                <a:effectLst/>
                <a:uLnTx/>
                <a:uFillTx/>
                <a:latin typeface="Verdana"/>
                <a:ea typeface="+mn-ea"/>
                <a:cs typeface="Verdana"/>
              </a:rPr>
              <a:t>CTLE</a:t>
            </a:r>
            <a:r>
              <a:rPr kumimoji="0" sz="2000" b="0" i="0" u="none" strike="noStrike" kern="1200" cap="none" spc="-65" normalizeH="0" baseline="0" noProof="0" dirty="0">
                <a:ln>
                  <a:noFill/>
                </a:ln>
                <a:solidFill>
                  <a:srgbClr val="0000FF"/>
                </a:solidFill>
                <a:effectLst/>
                <a:uLnTx/>
                <a:uFillTx/>
                <a:latin typeface="Verdana"/>
                <a:ea typeface="+mn-ea"/>
                <a:cs typeface="Verdana"/>
              </a:rPr>
              <a:t> </a:t>
            </a:r>
            <a:r>
              <a:rPr kumimoji="0" sz="2000" b="0" i="0" u="none" strike="noStrike" kern="1200" cap="none" spc="-10" normalizeH="0" baseline="0" noProof="0" dirty="0">
                <a:ln>
                  <a:noFill/>
                </a:ln>
                <a:solidFill>
                  <a:srgbClr val="0000FF"/>
                </a:solidFill>
                <a:effectLst/>
                <a:uLnTx/>
                <a:uFillTx/>
                <a:latin typeface="Verdana"/>
                <a:ea typeface="+mn-ea"/>
                <a:cs typeface="Verdana"/>
              </a:rPr>
              <a:t>(HPF)</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27" name="object 27"/>
          <p:cNvSpPr txBox="1"/>
          <p:nvPr/>
        </p:nvSpPr>
        <p:spPr>
          <a:xfrm>
            <a:off x="6052422" y="3205106"/>
            <a:ext cx="282575" cy="977265"/>
          </a:xfrm>
          <a:prstGeom prst="rect">
            <a:avLst/>
          </a:prstGeom>
        </p:spPr>
        <p:txBody>
          <a:bodyPr vert="vert270" wrap="square" lIns="0" tIns="31750" rIns="0" bIns="0" rtlCol="0">
            <a:spAutoFit/>
          </a:bodyPr>
          <a:lstStyle/>
          <a:p>
            <a:pPr marL="12700" marR="0" lvl="0" indent="0" algn="l" defTabSz="914400" rtl="0" eaLnBrk="1" fontAlgn="auto" latinLnBrk="0" hangingPunct="1">
              <a:lnSpc>
                <a:spcPct val="100000"/>
              </a:lnSpc>
              <a:spcBef>
                <a:spcPts val="250"/>
              </a:spcBef>
              <a:spcAft>
                <a:spcPts val="0"/>
              </a:spcAft>
              <a:buClrTx/>
              <a:buSzTx/>
              <a:buFontTx/>
              <a:buNone/>
              <a:tabLst/>
              <a:defRPr/>
            </a:pPr>
            <a:r>
              <a:rPr kumimoji="0" sz="1500" b="0" i="0" u="none" strike="noStrike" kern="1200" cap="none" spc="-45" normalizeH="0" baseline="0" noProof="0" dirty="0">
                <a:ln>
                  <a:noFill/>
                </a:ln>
                <a:solidFill>
                  <a:prstClr val="black"/>
                </a:solidFill>
                <a:effectLst/>
                <a:uLnTx/>
                <a:uFillTx/>
                <a:latin typeface="Malgun Gothic"/>
                <a:ea typeface="+mn-ea"/>
                <a:cs typeface="Malgun Gothic"/>
              </a:rPr>
              <a:t>M</a:t>
            </a:r>
            <a:r>
              <a:rPr kumimoji="0" sz="1500" b="0" i="0" u="none" strike="noStrike" kern="1200" cap="none" spc="-5" normalizeH="0" baseline="0" noProof="0" dirty="0">
                <a:ln>
                  <a:noFill/>
                </a:ln>
                <a:solidFill>
                  <a:prstClr val="black"/>
                </a:solidFill>
                <a:effectLst/>
                <a:uLnTx/>
                <a:uFillTx/>
                <a:latin typeface="Malgun Gothic"/>
                <a:ea typeface="+mn-ea"/>
                <a:cs typeface="Malgun Gothic"/>
              </a:rPr>
              <a:t>a</a:t>
            </a:r>
            <a:r>
              <a:rPr kumimoji="0" sz="1500" b="0" i="0" u="none" strike="noStrike" kern="1200" cap="none" spc="-15" normalizeH="0" baseline="0" noProof="0" dirty="0">
                <a:ln>
                  <a:noFill/>
                </a:ln>
                <a:solidFill>
                  <a:prstClr val="black"/>
                </a:solidFill>
                <a:effectLst/>
                <a:uLnTx/>
                <a:uFillTx/>
                <a:latin typeface="Malgun Gothic"/>
                <a:ea typeface="+mn-ea"/>
                <a:cs typeface="Malgun Gothic"/>
              </a:rPr>
              <a:t>g</a:t>
            </a:r>
            <a:r>
              <a:rPr kumimoji="0" sz="1500" b="0" i="0" u="none" strike="noStrike" kern="1200" cap="none" spc="20" normalizeH="0" baseline="0" noProof="0" dirty="0">
                <a:ln>
                  <a:noFill/>
                </a:ln>
                <a:solidFill>
                  <a:prstClr val="black"/>
                </a:solidFill>
                <a:effectLst/>
                <a:uLnTx/>
                <a:uFillTx/>
                <a:latin typeface="Malgun Gothic"/>
                <a:ea typeface="+mn-ea"/>
                <a:cs typeface="Malgun Gothic"/>
              </a:rPr>
              <a:t>n</a:t>
            </a:r>
            <a:r>
              <a:rPr kumimoji="0" sz="1500" b="0" i="0" u="none" strike="noStrike" kern="1200" cap="none" spc="-45" normalizeH="0" baseline="0" noProof="0" dirty="0">
                <a:ln>
                  <a:noFill/>
                </a:ln>
                <a:solidFill>
                  <a:prstClr val="black"/>
                </a:solidFill>
                <a:effectLst/>
                <a:uLnTx/>
                <a:uFillTx/>
                <a:latin typeface="Malgun Gothic"/>
                <a:ea typeface="+mn-ea"/>
                <a:cs typeface="Malgun Gothic"/>
              </a:rPr>
              <a:t>i</a:t>
            </a:r>
            <a:r>
              <a:rPr kumimoji="0" sz="1500" b="0" i="0" u="none" strike="noStrike" kern="1200" cap="none" spc="35" normalizeH="0" baseline="0" noProof="0" dirty="0">
                <a:ln>
                  <a:noFill/>
                </a:ln>
                <a:solidFill>
                  <a:prstClr val="black"/>
                </a:solidFill>
                <a:effectLst/>
                <a:uLnTx/>
                <a:uFillTx/>
                <a:latin typeface="Malgun Gothic"/>
                <a:ea typeface="+mn-ea"/>
                <a:cs typeface="Malgun Gothic"/>
              </a:rPr>
              <a:t>t</a:t>
            </a:r>
            <a:r>
              <a:rPr kumimoji="0" sz="1500" b="0" i="0" u="none" strike="noStrike" kern="1200" cap="none" spc="-35" normalizeH="0" baseline="0" noProof="0" dirty="0">
                <a:ln>
                  <a:noFill/>
                </a:ln>
                <a:solidFill>
                  <a:prstClr val="black"/>
                </a:solidFill>
                <a:effectLst/>
                <a:uLnTx/>
                <a:uFillTx/>
                <a:latin typeface="Malgun Gothic"/>
                <a:ea typeface="+mn-ea"/>
                <a:cs typeface="Malgun Gothic"/>
              </a:rPr>
              <a:t>u</a:t>
            </a:r>
            <a:r>
              <a:rPr kumimoji="0" sz="1500" b="0" i="0" u="none" strike="noStrike" kern="1200" cap="none" spc="-15" normalizeH="0" baseline="0" noProof="0" dirty="0">
                <a:ln>
                  <a:noFill/>
                </a:ln>
                <a:solidFill>
                  <a:prstClr val="black"/>
                </a:solidFill>
                <a:effectLst/>
                <a:uLnTx/>
                <a:uFillTx/>
                <a:latin typeface="Malgun Gothic"/>
                <a:ea typeface="+mn-ea"/>
                <a:cs typeface="Malgun Gothic"/>
              </a:rPr>
              <a:t>d</a:t>
            </a:r>
            <a:r>
              <a:rPr kumimoji="0" sz="1500" b="0" i="0" u="none" strike="noStrike" kern="1200" cap="none" spc="0" normalizeH="0" baseline="0" noProof="0" dirty="0">
                <a:ln>
                  <a:noFill/>
                </a:ln>
                <a:solidFill>
                  <a:prstClr val="black"/>
                </a:solidFill>
                <a:effectLst/>
                <a:uLnTx/>
                <a:uFillTx/>
                <a:latin typeface="Malgun Gothic"/>
                <a:ea typeface="+mn-ea"/>
                <a:cs typeface="Malgun Gothic"/>
              </a:rPr>
              <a:t>e</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28" name="object 28"/>
          <p:cNvGrpSpPr/>
          <p:nvPr/>
        </p:nvGrpSpPr>
        <p:grpSpPr>
          <a:xfrm>
            <a:off x="6406013" y="3235331"/>
            <a:ext cx="1776730" cy="979805"/>
            <a:chOff x="6406013" y="3235331"/>
            <a:chExt cx="1776730" cy="979805"/>
          </a:xfrm>
        </p:grpSpPr>
        <p:sp>
          <p:nvSpPr>
            <p:cNvPr id="29" name="object 29"/>
            <p:cNvSpPr/>
            <p:nvPr/>
          </p:nvSpPr>
          <p:spPr>
            <a:xfrm>
              <a:off x="6416801" y="3246120"/>
              <a:ext cx="944880" cy="958215"/>
            </a:xfrm>
            <a:custGeom>
              <a:avLst/>
              <a:gdLst/>
              <a:ahLst/>
              <a:cxnLst/>
              <a:rect l="l" t="t" r="r" b="b"/>
              <a:pathLst>
                <a:path w="944879" h="958214">
                  <a:moveTo>
                    <a:pt x="0" y="957834"/>
                  </a:moveTo>
                  <a:lnTo>
                    <a:pt x="944880" y="0"/>
                  </a:lnTo>
                </a:path>
              </a:pathLst>
            </a:custGeom>
            <a:ln w="21577">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object 30"/>
            <p:cNvSpPr/>
            <p:nvPr/>
          </p:nvSpPr>
          <p:spPr>
            <a:xfrm>
              <a:off x="7361681" y="3246120"/>
              <a:ext cx="270510" cy="0"/>
            </a:xfrm>
            <a:custGeom>
              <a:avLst/>
              <a:gdLst/>
              <a:ahLst/>
              <a:cxnLst/>
              <a:rect l="l" t="t" r="r" b="b"/>
              <a:pathLst>
                <a:path w="270509">
                  <a:moveTo>
                    <a:pt x="0" y="0"/>
                  </a:moveTo>
                  <a:lnTo>
                    <a:pt x="270510" y="0"/>
                  </a:lnTo>
                </a:path>
              </a:pathLst>
            </a:custGeom>
            <a:ln w="21437">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p:nvPr/>
          </p:nvSpPr>
          <p:spPr>
            <a:xfrm>
              <a:off x="7632191" y="3246120"/>
              <a:ext cx="539750" cy="547370"/>
            </a:xfrm>
            <a:custGeom>
              <a:avLst/>
              <a:gdLst/>
              <a:ahLst/>
              <a:cxnLst/>
              <a:rect l="l" t="t" r="r" b="b"/>
              <a:pathLst>
                <a:path w="539750" h="547370">
                  <a:moveTo>
                    <a:pt x="0" y="0"/>
                  </a:moveTo>
                  <a:lnTo>
                    <a:pt x="539496" y="547116"/>
                  </a:lnTo>
                </a:path>
              </a:pathLst>
            </a:custGeom>
            <a:ln w="21577">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 name="object 32"/>
          <p:cNvSpPr txBox="1"/>
          <p:nvPr/>
        </p:nvSpPr>
        <p:spPr>
          <a:xfrm>
            <a:off x="6673850" y="3578145"/>
            <a:ext cx="824865" cy="260350"/>
          </a:xfrm>
          <a:prstGeom prst="rect">
            <a:avLst/>
          </a:prstGeom>
        </p:spPr>
        <p:txBody>
          <a:bodyPr vert="horz" wrap="square" lIns="0" tIns="17780" rIns="0" bIns="0" rtlCol="0">
            <a:spAutoFit/>
          </a:bodyPr>
          <a:lstStyle/>
          <a:p>
            <a:pPr marL="12700" marR="0" lvl="0" indent="0" algn="l" defTabSz="914400" rtl="0" eaLnBrk="1" fontAlgn="auto" latinLnBrk="0" hangingPunct="1">
              <a:lnSpc>
                <a:spcPct val="100000"/>
              </a:lnSpc>
              <a:spcBef>
                <a:spcPts val="140"/>
              </a:spcBef>
              <a:spcAft>
                <a:spcPts val="0"/>
              </a:spcAft>
              <a:buClrTx/>
              <a:buSzTx/>
              <a:buFontTx/>
              <a:buNone/>
              <a:tabLst>
                <a:tab pos="552450" algn="l"/>
                <a:tab pos="706755" algn="l"/>
              </a:tabLst>
              <a:defRPr/>
            </a:pPr>
            <a:r>
              <a:rPr kumimoji="0" sz="1500" b="0" i="0" u="heavy" strike="noStrike" kern="1200" cap="none" spc="0" normalizeH="0" baseline="0" noProof="0" dirty="0">
                <a:ln>
                  <a:noFill/>
                </a:ln>
                <a:solidFill>
                  <a:prstClr val="black"/>
                </a:solidFill>
                <a:effectLst/>
                <a:uLnTx/>
                <a:uFill>
                  <a:solidFill>
                    <a:srgbClr val="7E7E7E"/>
                  </a:solidFill>
                </a:uFill>
                <a:latin typeface="Times New Roman"/>
                <a:ea typeface="+mn-ea"/>
                <a:cs typeface="Times New Roman"/>
              </a:rPr>
              <a:t> 	</a:t>
            </a:r>
            <a:r>
              <a:rPr kumimoji="0" sz="1500" b="0" i="0" u="none" strike="noStrike" kern="1200" cap="none" spc="0" normalizeH="0" baseline="0" noProof="0" dirty="0">
                <a:ln>
                  <a:noFill/>
                </a:ln>
                <a:solidFill>
                  <a:prstClr val="black"/>
                </a:solidFill>
                <a:effectLst/>
                <a:uLnTx/>
                <a:uFillTx/>
                <a:latin typeface="Times New Roman"/>
                <a:ea typeface="+mn-ea"/>
                <a:cs typeface="Times New Roman"/>
              </a:rPr>
              <a:t>	</a:t>
            </a:r>
            <a:r>
              <a:rPr kumimoji="0" sz="1500" b="0" i="0" u="none" strike="noStrike" kern="1200" cap="none" spc="10" normalizeH="0" baseline="0" noProof="0" dirty="0">
                <a:ln>
                  <a:noFill/>
                </a:ln>
                <a:solidFill>
                  <a:prstClr val="black"/>
                </a:solidFill>
                <a:effectLst/>
                <a:uLnTx/>
                <a:uFillTx/>
                <a:latin typeface="Malgun Gothic"/>
                <a:ea typeface="+mn-ea"/>
                <a:cs typeface="Malgun Gothic"/>
              </a:rPr>
              <a:t>S</a:t>
            </a:r>
            <a:endParaRPr kumimoji="0" sz="15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55" name="object 55"/>
          <p:cNvSpPr/>
          <p:nvPr/>
        </p:nvSpPr>
        <p:spPr>
          <a:xfrm>
            <a:off x="4395978" y="1735074"/>
            <a:ext cx="318135" cy="0"/>
          </a:xfrm>
          <a:custGeom>
            <a:avLst/>
            <a:gdLst/>
            <a:ahLst/>
            <a:cxnLst/>
            <a:rect l="l" t="t" r="r" b="b"/>
            <a:pathLst>
              <a:path w="318135">
                <a:moveTo>
                  <a:pt x="0" y="0"/>
                </a:moveTo>
                <a:lnTo>
                  <a:pt x="31775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6" name="Group 135"/>
          <p:cNvGrpSpPr/>
          <p:nvPr/>
        </p:nvGrpSpPr>
        <p:grpSpPr>
          <a:xfrm>
            <a:off x="1495044" y="1184910"/>
            <a:ext cx="2915271" cy="1147825"/>
            <a:chOff x="1495044" y="1184910"/>
            <a:chExt cx="2915271" cy="1147825"/>
          </a:xfrm>
        </p:grpSpPr>
        <p:pic>
          <p:nvPicPr>
            <p:cNvPr id="39" name="object 39"/>
            <p:cNvPicPr/>
            <p:nvPr/>
          </p:nvPicPr>
          <p:blipFill>
            <a:blip r:embed="rId3" cstate="print"/>
            <a:stretch>
              <a:fillRect/>
            </a:stretch>
          </p:blipFill>
          <p:spPr>
            <a:xfrm>
              <a:off x="3770376" y="1563620"/>
              <a:ext cx="342900" cy="344427"/>
            </a:xfrm>
            <a:prstGeom prst="rect">
              <a:avLst/>
            </a:prstGeom>
          </p:spPr>
        </p:pic>
        <p:sp>
          <p:nvSpPr>
            <p:cNvPr id="40" name="object 40"/>
            <p:cNvSpPr/>
            <p:nvPr/>
          </p:nvSpPr>
          <p:spPr>
            <a:xfrm>
              <a:off x="3770376" y="1562861"/>
              <a:ext cx="342900" cy="345440"/>
            </a:xfrm>
            <a:custGeom>
              <a:avLst/>
              <a:gdLst/>
              <a:ahLst/>
              <a:cxnLst/>
              <a:rect l="l" t="t" r="r" b="b"/>
              <a:pathLst>
                <a:path w="342900" h="345439">
                  <a:moveTo>
                    <a:pt x="0" y="0"/>
                  </a:moveTo>
                  <a:lnTo>
                    <a:pt x="342900" y="172211"/>
                  </a:lnTo>
                  <a:lnTo>
                    <a:pt x="0" y="345186"/>
                  </a:lnTo>
                  <a:lnTo>
                    <a:pt x="0" y="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3211068" y="1735836"/>
              <a:ext cx="467359" cy="1270"/>
            </a:xfrm>
            <a:custGeom>
              <a:avLst/>
              <a:gdLst/>
              <a:ahLst/>
              <a:cxnLst/>
              <a:rect l="l" t="t" r="r" b="b"/>
              <a:pathLst>
                <a:path w="467360" h="1269">
                  <a:moveTo>
                    <a:pt x="0" y="762"/>
                  </a:moveTo>
                  <a:lnTo>
                    <a:pt x="467106"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2" name="object 42"/>
            <p:cNvPicPr/>
            <p:nvPr/>
          </p:nvPicPr>
          <p:blipFill>
            <a:blip r:embed="rId4" cstate="print"/>
            <a:stretch>
              <a:fillRect/>
            </a:stretch>
          </p:blipFill>
          <p:spPr>
            <a:xfrm>
              <a:off x="3648456" y="1674876"/>
              <a:ext cx="121920" cy="121920"/>
            </a:xfrm>
            <a:prstGeom prst="rect">
              <a:avLst/>
            </a:prstGeom>
          </p:spPr>
        </p:pic>
        <p:pic>
          <p:nvPicPr>
            <p:cNvPr id="43" name="object 43"/>
            <p:cNvPicPr/>
            <p:nvPr/>
          </p:nvPicPr>
          <p:blipFill>
            <a:blip r:embed="rId5" cstate="print"/>
            <a:stretch>
              <a:fillRect/>
            </a:stretch>
          </p:blipFill>
          <p:spPr>
            <a:xfrm>
              <a:off x="3642360" y="2044445"/>
              <a:ext cx="598932" cy="288036"/>
            </a:xfrm>
            <a:prstGeom prst="rect">
              <a:avLst/>
            </a:prstGeom>
          </p:spPr>
        </p:pic>
        <p:sp>
          <p:nvSpPr>
            <p:cNvPr id="44" name="object 44"/>
            <p:cNvSpPr txBox="1"/>
            <p:nvPr/>
          </p:nvSpPr>
          <p:spPr>
            <a:xfrm>
              <a:off x="3642359" y="2044445"/>
              <a:ext cx="599440" cy="288290"/>
            </a:xfrm>
            <a:prstGeom prst="rect">
              <a:avLst/>
            </a:prstGeom>
            <a:ln w="28600">
              <a:solidFill>
                <a:srgbClr val="000000"/>
              </a:solidFill>
            </a:ln>
          </p:spPr>
          <p:txBody>
            <a:bodyPr vert="horz" wrap="square" lIns="0" tIns="0" rIns="0" bIns="0" rtlCol="0">
              <a:spAutoFit/>
            </a:bodyPr>
            <a:lstStyle/>
            <a:p>
              <a:pPr marL="95885" marR="0" lvl="0" indent="0" algn="l" defTabSz="914400" rtl="0" eaLnBrk="1" fontAlgn="auto" latinLnBrk="0" hangingPunct="1">
                <a:lnSpc>
                  <a:spcPts val="2175"/>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46" name="object 46"/>
            <p:cNvSpPr/>
            <p:nvPr/>
          </p:nvSpPr>
          <p:spPr>
            <a:xfrm>
              <a:off x="4113276" y="1735074"/>
              <a:ext cx="146685" cy="0"/>
            </a:xfrm>
            <a:custGeom>
              <a:avLst/>
              <a:gdLst/>
              <a:ahLst/>
              <a:cxnLst/>
              <a:rect l="l" t="t" r="r" b="b"/>
              <a:pathLst>
                <a:path w="146685">
                  <a:moveTo>
                    <a:pt x="0" y="0"/>
                  </a:moveTo>
                  <a:lnTo>
                    <a:pt x="14630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4063746" y="1290828"/>
              <a:ext cx="180975" cy="308610"/>
            </a:xfrm>
            <a:custGeom>
              <a:avLst/>
              <a:gdLst/>
              <a:ahLst/>
              <a:cxnLst/>
              <a:rect l="l" t="t" r="r" b="b"/>
              <a:pathLst>
                <a:path w="180975" h="308609">
                  <a:moveTo>
                    <a:pt x="90677" y="0"/>
                  </a:moveTo>
                  <a:lnTo>
                    <a:pt x="0" y="25908"/>
                  </a:lnTo>
                  <a:lnTo>
                    <a:pt x="180593" y="76962"/>
                  </a:lnTo>
                  <a:lnTo>
                    <a:pt x="0" y="128778"/>
                  </a:lnTo>
                  <a:lnTo>
                    <a:pt x="180593" y="179832"/>
                  </a:lnTo>
                  <a:lnTo>
                    <a:pt x="0" y="231647"/>
                  </a:lnTo>
                  <a:lnTo>
                    <a:pt x="180593" y="282702"/>
                  </a:lnTo>
                  <a:lnTo>
                    <a:pt x="90677" y="30861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bject 48"/>
            <p:cNvSpPr/>
            <p:nvPr/>
          </p:nvSpPr>
          <p:spPr>
            <a:xfrm>
              <a:off x="4063746" y="1184910"/>
              <a:ext cx="180975" cy="0"/>
            </a:xfrm>
            <a:custGeom>
              <a:avLst/>
              <a:gdLst/>
              <a:ahLst/>
              <a:cxnLst/>
              <a:rect l="l" t="t" r="r" b="b"/>
              <a:pathLst>
                <a:path w="180975">
                  <a:moveTo>
                    <a:pt x="0" y="0"/>
                  </a:moveTo>
                  <a:lnTo>
                    <a:pt x="18059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bject 49"/>
            <p:cNvSpPr/>
            <p:nvPr/>
          </p:nvSpPr>
          <p:spPr>
            <a:xfrm>
              <a:off x="4154424" y="1184910"/>
              <a:ext cx="0" cy="106045"/>
            </a:xfrm>
            <a:custGeom>
              <a:avLst/>
              <a:gdLst/>
              <a:ahLst/>
              <a:cxnLst/>
              <a:rect l="l" t="t" r="r" b="b"/>
              <a:pathLst>
                <a:path h="106044">
                  <a:moveTo>
                    <a:pt x="0" y="0"/>
                  </a:moveTo>
                  <a:lnTo>
                    <a:pt x="0" y="105918"/>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bject 50"/>
            <p:cNvSpPr/>
            <p:nvPr/>
          </p:nvSpPr>
          <p:spPr>
            <a:xfrm>
              <a:off x="4154424" y="1599438"/>
              <a:ext cx="0" cy="135890"/>
            </a:xfrm>
            <a:custGeom>
              <a:avLst/>
              <a:gdLst/>
              <a:ahLst/>
              <a:cxnLst/>
              <a:rect l="l" t="t" r="r" b="b"/>
              <a:pathLst>
                <a:path h="135889">
                  <a:moveTo>
                    <a:pt x="0" y="0"/>
                  </a:moveTo>
                  <a:lnTo>
                    <a:pt x="0" y="135636"/>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bject 51"/>
            <p:cNvSpPr/>
            <p:nvPr/>
          </p:nvSpPr>
          <p:spPr>
            <a:xfrm>
              <a:off x="3945636" y="1917954"/>
              <a:ext cx="0" cy="125730"/>
            </a:xfrm>
            <a:custGeom>
              <a:avLst/>
              <a:gdLst/>
              <a:ahLst/>
              <a:cxnLst/>
              <a:rect l="l" t="t" r="r" b="b"/>
              <a:pathLst>
                <a:path h="125730">
                  <a:moveTo>
                    <a:pt x="0" y="0"/>
                  </a:moveTo>
                  <a:lnTo>
                    <a:pt x="0" y="12573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bject 52"/>
            <p:cNvSpPr/>
            <p:nvPr/>
          </p:nvSpPr>
          <p:spPr>
            <a:xfrm>
              <a:off x="3884676" y="1825752"/>
              <a:ext cx="121285" cy="121920"/>
            </a:xfrm>
            <a:custGeom>
              <a:avLst/>
              <a:gdLst/>
              <a:ahLst/>
              <a:cxnLst/>
              <a:rect l="l" t="t" r="r" b="b"/>
              <a:pathLst>
                <a:path w="121285" h="121919">
                  <a:moveTo>
                    <a:pt x="121158" y="121920"/>
                  </a:moveTo>
                  <a:lnTo>
                    <a:pt x="60960" y="0"/>
                  </a:lnTo>
                  <a:lnTo>
                    <a:pt x="0" y="121920"/>
                  </a:lnTo>
                  <a:lnTo>
                    <a:pt x="29646" y="111204"/>
                  </a:lnTo>
                  <a:lnTo>
                    <a:pt x="60579" y="107632"/>
                  </a:lnTo>
                  <a:lnTo>
                    <a:pt x="91511" y="111204"/>
                  </a:lnTo>
                  <a:lnTo>
                    <a:pt x="121158" y="12192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object 53"/>
            <p:cNvPicPr/>
            <p:nvPr/>
          </p:nvPicPr>
          <p:blipFill>
            <a:blip r:embed="rId6" cstate="print"/>
            <a:stretch>
              <a:fillRect/>
            </a:stretch>
          </p:blipFill>
          <p:spPr>
            <a:xfrm>
              <a:off x="4251960" y="1662684"/>
              <a:ext cx="144017" cy="144779"/>
            </a:xfrm>
            <a:prstGeom prst="rect">
              <a:avLst/>
            </a:prstGeom>
          </p:spPr>
        </p:pic>
        <p:pic>
          <p:nvPicPr>
            <p:cNvPr id="54" name="object 54"/>
            <p:cNvPicPr/>
            <p:nvPr/>
          </p:nvPicPr>
          <p:blipFill>
            <a:blip r:embed="rId7" cstate="print"/>
            <a:stretch>
              <a:fillRect/>
            </a:stretch>
          </p:blipFill>
          <p:spPr>
            <a:xfrm>
              <a:off x="4237621" y="1648345"/>
              <a:ext cx="172694" cy="173456"/>
            </a:xfrm>
            <a:prstGeom prst="rect">
              <a:avLst/>
            </a:prstGeom>
          </p:spPr>
        </p:pic>
        <p:pic>
          <p:nvPicPr>
            <p:cNvPr id="78" name="object 78"/>
            <p:cNvPicPr/>
            <p:nvPr/>
          </p:nvPicPr>
          <p:blipFill>
            <a:blip r:embed="rId8" cstate="print"/>
            <a:stretch>
              <a:fillRect/>
            </a:stretch>
          </p:blipFill>
          <p:spPr>
            <a:xfrm>
              <a:off x="4107357" y="1688769"/>
              <a:ext cx="93370" cy="93370"/>
            </a:xfrm>
            <a:prstGeom prst="rect">
              <a:avLst/>
            </a:prstGeom>
          </p:spPr>
        </p:pic>
        <p:sp>
          <p:nvSpPr>
            <p:cNvPr id="84" name="object 84"/>
            <p:cNvSpPr/>
            <p:nvPr/>
          </p:nvSpPr>
          <p:spPr>
            <a:xfrm>
              <a:off x="2704338" y="1465326"/>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object 85"/>
            <p:cNvSpPr/>
            <p:nvPr/>
          </p:nvSpPr>
          <p:spPr>
            <a:xfrm>
              <a:off x="2731769" y="1404366"/>
              <a:ext cx="121285" cy="121920"/>
            </a:xfrm>
            <a:custGeom>
              <a:avLst/>
              <a:gdLst/>
              <a:ahLst/>
              <a:cxnLst/>
              <a:rect l="l" t="t" r="r" b="b"/>
              <a:pathLst>
                <a:path w="121285" h="121919">
                  <a:moveTo>
                    <a:pt x="121157" y="60960"/>
                  </a:moveTo>
                  <a:lnTo>
                    <a:pt x="0" y="0"/>
                  </a:lnTo>
                  <a:lnTo>
                    <a:pt x="10715" y="29658"/>
                  </a:lnTo>
                  <a:lnTo>
                    <a:pt x="14287" y="60674"/>
                  </a:lnTo>
                  <a:lnTo>
                    <a:pt x="10715" y="91832"/>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object 86"/>
            <p:cNvSpPr/>
            <p:nvPr/>
          </p:nvSpPr>
          <p:spPr>
            <a:xfrm>
              <a:off x="2704338" y="1645920"/>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object 87"/>
            <p:cNvSpPr/>
            <p:nvPr/>
          </p:nvSpPr>
          <p:spPr>
            <a:xfrm>
              <a:off x="2731769" y="1584960"/>
              <a:ext cx="121285" cy="121920"/>
            </a:xfrm>
            <a:custGeom>
              <a:avLst/>
              <a:gdLst/>
              <a:ahLst/>
              <a:cxnLst/>
              <a:rect l="l" t="t" r="r" b="b"/>
              <a:pathLst>
                <a:path w="121285" h="121919">
                  <a:moveTo>
                    <a:pt x="121157" y="60960"/>
                  </a:moveTo>
                  <a:lnTo>
                    <a:pt x="0" y="0"/>
                  </a:lnTo>
                  <a:lnTo>
                    <a:pt x="10715" y="30087"/>
                  </a:lnTo>
                  <a:lnTo>
                    <a:pt x="14287" y="61245"/>
                  </a:lnTo>
                  <a:lnTo>
                    <a:pt x="10715" y="92261"/>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bject 88"/>
            <p:cNvSpPr/>
            <p:nvPr/>
          </p:nvSpPr>
          <p:spPr>
            <a:xfrm>
              <a:off x="2704338" y="1827276"/>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object 89"/>
            <p:cNvSpPr/>
            <p:nvPr/>
          </p:nvSpPr>
          <p:spPr>
            <a:xfrm>
              <a:off x="2731769" y="1766316"/>
              <a:ext cx="121285" cy="121920"/>
            </a:xfrm>
            <a:custGeom>
              <a:avLst/>
              <a:gdLst/>
              <a:ahLst/>
              <a:cxnLst/>
              <a:rect l="l" t="t" r="r" b="b"/>
              <a:pathLst>
                <a:path w="121285" h="121919">
                  <a:moveTo>
                    <a:pt x="121157" y="60960"/>
                  </a:moveTo>
                  <a:lnTo>
                    <a:pt x="0" y="0"/>
                  </a:lnTo>
                  <a:lnTo>
                    <a:pt x="10715" y="30087"/>
                  </a:lnTo>
                  <a:lnTo>
                    <a:pt x="14287" y="61245"/>
                  </a:lnTo>
                  <a:lnTo>
                    <a:pt x="10715" y="92261"/>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object 90"/>
            <p:cNvSpPr/>
            <p:nvPr/>
          </p:nvSpPr>
          <p:spPr>
            <a:xfrm>
              <a:off x="2704338" y="2008631"/>
              <a:ext cx="56515" cy="0"/>
            </a:xfrm>
            <a:custGeom>
              <a:avLst/>
              <a:gdLst/>
              <a:ahLst/>
              <a:cxnLst/>
              <a:rect l="l" t="t" r="r" b="b"/>
              <a:pathLst>
                <a:path w="56514">
                  <a:moveTo>
                    <a:pt x="0" y="0"/>
                  </a:moveTo>
                  <a:lnTo>
                    <a:pt x="5638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object 91"/>
            <p:cNvSpPr/>
            <p:nvPr/>
          </p:nvSpPr>
          <p:spPr>
            <a:xfrm>
              <a:off x="2731769" y="1947672"/>
              <a:ext cx="121285" cy="121920"/>
            </a:xfrm>
            <a:custGeom>
              <a:avLst/>
              <a:gdLst/>
              <a:ahLst/>
              <a:cxnLst/>
              <a:rect l="l" t="t" r="r" b="b"/>
              <a:pathLst>
                <a:path w="121285"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2" name="object 92"/>
            <p:cNvPicPr/>
            <p:nvPr/>
          </p:nvPicPr>
          <p:blipFill>
            <a:blip r:embed="rId9" cstate="print"/>
            <a:stretch>
              <a:fillRect/>
            </a:stretch>
          </p:blipFill>
          <p:spPr>
            <a:xfrm>
              <a:off x="1495044" y="1319022"/>
              <a:ext cx="1193292" cy="832865"/>
            </a:xfrm>
            <a:prstGeom prst="rect">
              <a:avLst/>
            </a:prstGeom>
          </p:spPr>
        </p:pic>
        <p:sp>
          <p:nvSpPr>
            <p:cNvPr id="93" name="object 93"/>
            <p:cNvSpPr txBox="1"/>
            <p:nvPr/>
          </p:nvSpPr>
          <p:spPr>
            <a:xfrm>
              <a:off x="1495044" y="1319022"/>
              <a:ext cx="1193800" cy="833119"/>
            </a:xfrm>
            <a:prstGeom prst="rect">
              <a:avLst/>
            </a:prstGeom>
            <a:ln w="28600">
              <a:solidFill>
                <a:srgbClr val="000000"/>
              </a:solidFill>
            </a:ln>
          </p:spPr>
          <p:txBody>
            <a:bodyPr vert="horz" wrap="square" lIns="0" tIns="244475" rIns="0" bIns="0" rtlCol="0">
              <a:spAutoFit/>
            </a:bodyPr>
            <a:lstStyle/>
            <a:p>
              <a:pPr marL="204470" marR="0" lvl="0" indent="0" algn="l" defTabSz="914400" rtl="0" eaLnBrk="1" fontAlgn="auto" latinLnBrk="0" hangingPunct="1">
                <a:lnSpc>
                  <a:spcPct val="100000"/>
                </a:lnSpc>
                <a:spcBef>
                  <a:spcPts val="1925"/>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pic>
          <p:nvPicPr>
            <p:cNvPr id="102" name="object 102"/>
            <p:cNvPicPr/>
            <p:nvPr/>
          </p:nvPicPr>
          <p:blipFill>
            <a:blip r:embed="rId10" cstate="print"/>
            <a:stretch>
              <a:fillRect/>
            </a:stretch>
          </p:blipFill>
          <p:spPr>
            <a:xfrm>
              <a:off x="2852927" y="1374648"/>
              <a:ext cx="255270" cy="722376"/>
            </a:xfrm>
            <a:prstGeom prst="rect">
              <a:avLst/>
            </a:prstGeom>
          </p:spPr>
        </p:pic>
        <p:sp>
          <p:nvSpPr>
            <p:cNvPr id="103" name="object 103"/>
            <p:cNvSpPr/>
            <p:nvPr/>
          </p:nvSpPr>
          <p:spPr>
            <a:xfrm>
              <a:off x="2852927" y="1374648"/>
              <a:ext cx="255270" cy="722630"/>
            </a:xfrm>
            <a:custGeom>
              <a:avLst/>
              <a:gdLst/>
              <a:ahLst/>
              <a:cxnLst/>
              <a:rect l="l" t="t" r="r" b="b"/>
              <a:pathLst>
                <a:path w="255269" h="722630">
                  <a:moveTo>
                    <a:pt x="255269" y="181355"/>
                  </a:moveTo>
                  <a:lnTo>
                    <a:pt x="255269" y="543305"/>
                  </a:lnTo>
                  <a:lnTo>
                    <a:pt x="0" y="722375"/>
                  </a:lnTo>
                  <a:lnTo>
                    <a:pt x="0" y="0"/>
                  </a:lnTo>
                  <a:lnTo>
                    <a:pt x="255269" y="181355"/>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object 104"/>
            <p:cNvSpPr/>
            <p:nvPr/>
          </p:nvSpPr>
          <p:spPr>
            <a:xfrm>
              <a:off x="3108197" y="1736598"/>
              <a:ext cx="102870" cy="0"/>
            </a:xfrm>
            <a:custGeom>
              <a:avLst/>
              <a:gdLst/>
              <a:ahLst/>
              <a:cxnLst/>
              <a:rect l="l" t="t" r="r" b="b"/>
              <a:pathLst>
                <a:path w="102869">
                  <a:moveTo>
                    <a:pt x="102869"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bject 105"/>
            <p:cNvSpPr/>
            <p:nvPr/>
          </p:nvSpPr>
          <p:spPr>
            <a:xfrm>
              <a:off x="2760725" y="1465326"/>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p:nvPr/>
          </p:nvSpPr>
          <p:spPr>
            <a:xfrm>
              <a:off x="2760725" y="1645920"/>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p:nvPr/>
          </p:nvSpPr>
          <p:spPr>
            <a:xfrm>
              <a:off x="2760725" y="1827276"/>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bject 108"/>
            <p:cNvSpPr/>
            <p:nvPr/>
          </p:nvSpPr>
          <p:spPr>
            <a:xfrm>
              <a:off x="2760725" y="2008632"/>
              <a:ext cx="92710" cy="0"/>
            </a:xfrm>
            <a:custGeom>
              <a:avLst/>
              <a:gdLst/>
              <a:ahLst/>
              <a:cxnLst/>
              <a:rect l="l" t="t" r="r" b="b"/>
              <a:pathLst>
                <a:path w="92710">
                  <a:moveTo>
                    <a:pt x="92201"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37" name="Group 136"/>
          <p:cNvGrpSpPr/>
          <p:nvPr/>
        </p:nvGrpSpPr>
        <p:grpSpPr>
          <a:xfrm>
            <a:off x="6242443" y="1191768"/>
            <a:ext cx="3886568" cy="1155573"/>
            <a:chOff x="6242443" y="1191768"/>
            <a:chExt cx="3886568" cy="1155573"/>
          </a:xfrm>
        </p:grpSpPr>
        <p:sp>
          <p:nvSpPr>
            <p:cNvPr id="56" name="object 56"/>
            <p:cNvSpPr/>
            <p:nvPr/>
          </p:nvSpPr>
          <p:spPr>
            <a:xfrm>
              <a:off x="6404610" y="1741931"/>
              <a:ext cx="231140" cy="0"/>
            </a:xfrm>
            <a:custGeom>
              <a:avLst/>
              <a:gdLst/>
              <a:ahLst/>
              <a:cxnLst/>
              <a:rect l="l" t="t" r="r" b="b"/>
              <a:pathLst>
                <a:path w="231140">
                  <a:moveTo>
                    <a:pt x="0" y="0"/>
                  </a:moveTo>
                  <a:lnTo>
                    <a:pt x="230886"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6400800" y="1297686"/>
              <a:ext cx="180975" cy="307975"/>
            </a:xfrm>
            <a:custGeom>
              <a:avLst/>
              <a:gdLst/>
              <a:ahLst/>
              <a:cxnLst/>
              <a:rect l="l" t="t" r="r" b="b"/>
              <a:pathLst>
                <a:path w="180975" h="307975">
                  <a:moveTo>
                    <a:pt x="90677" y="0"/>
                  </a:moveTo>
                  <a:lnTo>
                    <a:pt x="0" y="25146"/>
                  </a:lnTo>
                  <a:lnTo>
                    <a:pt x="180593" y="76962"/>
                  </a:lnTo>
                  <a:lnTo>
                    <a:pt x="0" y="128016"/>
                  </a:lnTo>
                  <a:lnTo>
                    <a:pt x="180593" y="179832"/>
                  </a:lnTo>
                  <a:lnTo>
                    <a:pt x="0" y="230886"/>
                  </a:lnTo>
                  <a:lnTo>
                    <a:pt x="180593" y="282702"/>
                  </a:lnTo>
                  <a:lnTo>
                    <a:pt x="90677" y="307848"/>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6400800" y="1191768"/>
              <a:ext cx="180975" cy="0"/>
            </a:xfrm>
            <a:custGeom>
              <a:avLst/>
              <a:gdLst/>
              <a:ahLst/>
              <a:cxnLst/>
              <a:rect l="l" t="t" r="r" b="b"/>
              <a:pathLst>
                <a:path w="180975">
                  <a:moveTo>
                    <a:pt x="0" y="0"/>
                  </a:moveTo>
                  <a:lnTo>
                    <a:pt x="18059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6491477" y="1191768"/>
              <a:ext cx="0" cy="106045"/>
            </a:xfrm>
            <a:custGeom>
              <a:avLst/>
              <a:gdLst/>
              <a:ahLst/>
              <a:cxnLst/>
              <a:rect l="l" t="t" r="r" b="b"/>
              <a:pathLst>
                <a:path h="106044">
                  <a:moveTo>
                    <a:pt x="0" y="0"/>
                  </a:moveTo>
                  <a:lnTo>
                    <a:pt x="0" y="105918"/>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bject 60"/>
            <p:cNvSpPr/>
            <p:nvPr/>
          </p:nvSpPr>
          <p:spPr>
            <a:xfrm>
              <a:off x="6491477" y="1605534"/>
              <a:ext cx="0" cy="136525"/>
            </a:xfrm>
            <a:custGeom>
              <a:avLst/>
              <a:gdLst/>
              <a:ahLst/>
              <a:cxnLst/>
              <a:rect l="l" t="t" r="r" b="b"/>
              <a:pathLst>
                <a:path h="136525">
                  <a:moveTo>
                    <a:pt x="0" y="0"/>
                  </a:moveTo>
                  <a:lnTo>
                    <a:pt x="0" y="136398"/>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1" name="object 61"/>
            <p:cNvPicPr/>
            <p:nvPr/>
          </p:nvPicPr>
          <p:blipFill>
            <a:blip r:embed="rId11" cstate="print"/>
            <a:stretch>
              <a:fillRect/>
            </a:stretch>
          </p:blipFill>
          <p:spPr>
            <a:xfrm>
              <a:off x="6257540" y="1675638"/>
              <a:ext cx="143260" cy="144025"/>
            </a:xfrm>
            <a:prstGeom prst="rect">
              <a:avLst/>
            </a:prstGeom>
          </p:spPr>
        </p:pic>
        <p:pic>
          <p:nvPicPr>
            <p:cNvPr id="62" name="object 62"/>
            <p:cNvPicPr/>
            <p:nvPr/>
          </p:nvPicPr>
          <p:blipFill>
            <a:blip r:embed="rId12" cstate="print"/>
            <a:stretch>
              <a:fillRect/>
            </a:stretch>
          </p:blipFill>
          <p:spPr>
            <a:xfrm>
              <a:off x="6242443" y="1661299"/>
              <a:ext cx="172694" cy="173456"/>
            </a:xfrm>
            <a:prstGeom prst="rect">
              <a:avLst/>
            </a:prstGeom>
          </p:spPr>
        </p:pic>
        <p:pic>
          <p:nvPicPr>
            <p:cNvPr id="63" name="object 63"/>
            <p:cNvPicPr/>
            <p:nvPr/>
          </p:nvPicPr>
          <p:blipFill>
            <a:blip r:embed="rId13" cstate="print"/>
            <a:stretch>
              <a:fillRect/>
            </a:stretch>
          </p:blipFill>
          <p:spPr>
            <a:xfrm>
              <a:off x="6635496" y="1549908"/>
              <a:ext cx="895350" cy="362712"/>
            </a:xfrm>
            <a:prstGeom prst="rect">
              <a:avLst/>
            </a:prstGeom>
          </p:spPr>
        </p:pic>
        <p:sp>
          <p:nvSpPr>
            <p:cNvPr id="64" name="object 64"/>
            <p:cNvSpPr txBox="1"/>
            <p:nvPr/>
          </p:nvSpPr>
          <p:spPr>
            <a:xfrm>
              <a:off x="6635495" y="1549908"/>
              <a:ext cx="895350" cy="363220"/>
            </a:xfrm>
            <a:prstGeom prst="rect">
              <a:avLst/>
            </a:prstGeom>
            <a:ln w="28600">
              <a:solidFill>
                <a:srgbClr val="0000FF"/>
              </a:solidFill>
            </a:ln>
          </p:spPr>
          <p:txBody>
            <a:bodyPr vert="horz" wrap="square" lIns="0" tIns="8890" rIns="0" bIns="0" rtlCol="0">
              <a:spAutoFit/>
            </a:bodyPr>
            <a:lstStyle/>
            <a:p>
              <a:pPr marL="162560" marR="0" lvl="0" indent="0" algn="l" defTabSz="914400" rtl="0" eaLnBrk="1" fontAlgn="auto" latinLnBrk="0" hangingPunct="1">
                <a:lnSpc>
                  <a:spcPct val="100000"/>
                </a:lnSpc>
                <a:spcBef>
                  <a:spcPts val="70"/>
                </a:spcBef>
                <a:spcAft>
                  <a:spcPts val="0"/>
                </a:spcAft>
                <a:buClrTx/>
                <a:buSzTx/>
                <a:buFontTx/>
                <a:buNone/>
                <a:tabLst/>
                <a:defRPr/>
              </a:pPr>
              <a:r>
                <a:rPr kumimoji="0" sz="2000" b="1" i="0" u="none" strike="noStrike" kern="1200" cap="none" spc="-5" normalizeH="0" baseline="0" noProof="0" dirty="0">
                  <a:ln>
                    <a:noFill/>
                  </a:ln>
                  <a:solidFill>
                    <a:srgbClr val="0000FF"/>
                  </a:solidFill>
                  <a:effectLst/>
                  <a:uLnTx/>
                  <a:uFillTx/>
                  <a:latin typeface="Malgun Gothic"/>
                  <a:ea typeface="+mn-ea"/>
                  <a:cs typeface="Malgun Gothic"/>
                </a:rPr>
                <a:t>CTLE</a:t>
              </a:r>
              <a:endParaRPr kumimoji="0" sz="2000" b="0" i="0" u="none" strike="noStrike" kern="1200" cap="none" spc="0" normalizeH="0" baseline="0" noProof="0" dirty="0">
                <a:ln>
                  <a:noFill/>
                </a:ln>
                <a:solidFill>
                  <a:prstClr val="black"/>
                </a:solidFill>
                <a:effectLst/>
                <a:uLnTx/>
                <a:uFillTx/>
                <a:latin typeface="Malgun Gothic"/>
                <a:ea typeface="+mn-ea"/>
                <a:cs typeface="Malgun Gothic"/>
              </a:endParaRPr>
            </a:p>
          </p:txBody>
        </p:sp>
        <p:sp>
          <p:nvSpPr>
            <p:cNvPr id="66" name="object 66"/>
            <p:cNvSpPr/>
            <p:nvPr/>
          </p:nvSpPr>
          <p:spPr>
            <a:xfrm>
              <a:off x="7530846" y="1735073"/>
              <a:ext cx="394335" cy="0"/>
            </a:xfrm>
            <a:custGeom>
              <a:avLst/>
              <a:gdLst/>
              <a:ahLst/>
              <a:cxnLst/>
              <a:rect l="l" t="t" r="r" b="b"/>
              <a:pathLst>
                <a:path w="394334">
                  <a:moveTo>
                    <a:pt x="0" y="0"/>
                  </a:moveTo>
                  <a:lnTo>
                    <a:pt x="39395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object 67"/>
            <p:cNvPicPr/>
            <p:nvPr/>
          </p:nvPicPr>
          <p:blipFill>
            <a:blip r:embed="rId14" cstate="print"/>
            <a:stretch>
              <a:fillRect/>
            </a:stretch>
          </p:blipFill>
          <p:spPr>
            <a:xfrm>
              <a:off x="7975853" y="1591056"/>
              <a:ext cx="286511" cy="288798"/>
            </a:xfrm>
            <a:prstGeom prst="rect">
              <a:avLst/>
            </a:prstGeom>
          </p:spPr>
        </p:pic>
        <p:sp>
          <p:nvSpPr>
            <p:cNvPr id="68" name="object 68"/>
            <p:cNvSpPr/>
            <p:nvPr/>
          </p:nvSpPr>
          <p:spPr>
            <a:xfrm>
              <a:off x="7975853" y="1591056"/>
              <a:ext cx="287020" cy="288925"/>
            </a:xfrm>
            <a:custGeom>
              <a:avLst/>
              <a:gdLst/>
              <a:ahLst/>
              <a:cxnLst/>
              <a:rect l="l" t="t" r="r" b="b"/>
              <a:pathLst>
                <a:path w="287020" h="288925">
                  <a:moveTo>
                    <a:pt x="0" y="0"/>
                  </a:moveTo>
                  <a:lnTo>
                    <a:pt x="0" y="288798"/>
                  </a:lnTo>
                  <a:lnTo>
                    <a:pt x="286512" y="288798"/>
                  </a:lnTo>
                  <a:lnTo>
                    <a:pt x="286512" y="0"/>
                  </a:lnTo>
                  <a:lnTo>
                    <a:pt x="0" y="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object 69"/>
            <p:cNvSpPr/>
            <p:nvPr/>
          </p:nvSpPr>
          <p:spPr>
            <a:xfrm>
              <a:off x="8055863" y="1620012"/>
              <a:ext cx="115570" cy="231140"/>
            </a:xfrm>
            <a:custGeom>
              <a:avLst/>
              <a:gdLst/>
              <a:ahLst/>
              <a:cxnLst/>
              <a:rect l="l" t="t" r="r" b="b"/>
              <a:pathLst>
                <a:path w="115570" h="231139">
                  <a:moveTo>
                    <a:pt x="0" y="230886"/>
                  </a:moveTo>
                  <a:lnTo>
                    <a:pt x="57150" y="230886"/>
                  </a:lnTo>
                  <a:lnTo>
                    <a:pt x="57149" y="0"/>
                  </a:lnTo>
                  <a:lnTo>
                    <a:pt x="115061"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p:nvPr/>
          </p:nvSpPr>
          <p:spPr>
            <a:xfrm>
              <a:off x="8073389" y="1735836"/>
              <a:ext cx="91440" cy="0"/>
            </a:xfrm>
            <a:custGeom>
              <a:avLst/>
              <a:gdLst/>
              <a:ahLst/>
              <a:cxnLst/>
              <a:rect l="l" t="t" r="r" b="b"/>
              <a:pathLst>
                <a:path w="91440">
                  <a:moveTo>
                    <a:pt x="0" y="0"/>
                  </a:moveTo>
                  <a:lnTo>
                    <a:pt x="9144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object 71"/>
            <p:cNvSpPr/>
            <p:nvPr/>
          </p:nvSpPr>
          <p:spPr>
            <a:xfrm>
              <a:off x="8262365" y="1735836"/>
              <a:ext cx="195580" cy="0"/>
            </a:xfrm>
            <a:custGeom>
              <a:avLst/>
              <a:gdLst/>
              <a:ahLst/>
              <a:cxnLst/>
              <a:rect l="l" t="t" r="r" b="b"/>
              <a:pathLst>
                <a:path w="195579">
                  <a:moveTo>
                    <a:pt x="0" y="0"/>
                  </a:moveTo>
                  <a:lnTo>
                    <a:pt x="19507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object 72"/>
            <p:cNvSpPr/>
            <p:nvPr/>
          </p:nvSpPr>
          <p:spPr>
            <a:xfrm>
              <a:off x="8113013" y="1972055"/>
              <a:ext cx="0" cy="72390"/>
            </a:xfrm>
            <a:custGeom>
              <a:avLst/>
              <a:gdLst/>
              <a:ahLst/>
              <a:cxnLst/>
              <a:rect l="l" t="t" r="r" b="b"/>
              <a:pathLst>
                <a:path h="72389">
                  <a:moveTo>
                    <a:pt x="0" y="0"/>
                  </a:moveTo>
                  <a:lnTo>
                    <a:pt x="0" y="7239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object 73"/>
            <p:cNvSpPr/>
            <p:nvPr/>
          </p:nvSpPr>
          <p:spPr>
            <a:xfrm>
              <a:off x="8052815" y="1879854"/>
              <a:ext cx="121285" cy="121920"/>
            </a:xfrm>
            <a:custGeom>
              <a:avLst/>
              <a:gdLst/>
              <a:ahLst/>
              <a:cxnLst/>
              <a:rect l="l" t="t" r="r" b="b"/>
              <a:pathLst>
                <a:path w="121284" h="121919">
                  <a:moveTo>
                    <a:pt x="121158" y="121920"/>
                  </a:moveTo>
                  <a:lnTo>
                    <a:pt x="60198" y="0"/>
                  </a:lnTo>
                  <a:lnTo>
                    <a:pt x="0" y="121920"/>
                  </a:lnTo>
                  <a:lnTo>
                    <a:pt x="29646" y="111204"/>
                  </a:lnTo>
                  <a:lnTo>
                    <a:pt x="60579" y="107632"/>
                  </a:lnTo>
                  <a:lnTo>
                    <a:pt x="91511" y="111204"/>
                  </a:lnTo>
                  <a:lnTo>
                    <a:pt x="121158" y="12192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object 74"/>
            <p:cNvSpPr/>
            <p:nvPr/>
          </p:nvSpPr>
          <p:spPr>
            <a:xfrm>
              <a:off x="7382255" y="2188463"/>
              <a:ext cx="123825" cy="0"/>
            </a:xfrm>
            <a:custGeom>
              <a:avLst/>
              <a:gdLst/>
              <a:ahLst/>
              <a:cxnLst/>
              <a:rect l="l" t="t" r="r" b="b"/>
              <a:pathLst>
                <a:path w="123825">
                  <a:moveTo>
                    <a:pt x="123444" y="0"/>
                  </a:moveTo>
                  <a:lnTo>
                    <a:pt x="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object 75"/>
            <p:cNvSpPr/>
            <p:nvPr/>
          </p:nvSpPr>
          <p:spPr>
            <a:xfrm>
              <a:off x="7475982" y="2127504"/>
              <a:ext cx="121285" cy="121920"/>
            </a:xfrm>
            <a:custGeom>
              <a:avLst/>
              <a:gdLst/>
              <a:ahLst/>
              <a:cxnLst/>
              <a:rect l="l" t="t" r="r" b="b"/>
              <a:pathLst>
                <a:path w="121284"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object 76"/>
            <p:cNvSpPr/>
            <p:nvPr/>
          </p:nvSpPr>
          <p:spPr>
            <a:xfrm>
              <a:off x="7801355" y="1735836"/>
              <a:ext cx="0" cy="215900"/>
            </a:xfrm>
            <a:custGeom>
              <a:avLst/>
              <a:gdLst/>
              <a:ahLst/>
              <a:cxnLst/>
              <a:rect l="l" t="t" r="r" b="b"/>
              <a:pathLst>
                <a:path h="215900">
                  <a:moveTo>
                    <a:pt x="0" y="0"/>
                  </a:moveTo>
                  <a:lnTo>
                    <a:pt x="0" y="215646"/>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object 77"/>
            <p:cNvSpPr/>
            <p:nvPr/>
          </p:nvSpPr>
          <p:spPr>
            <a:xfrm>
              <a:off x="7740396" y="1922526"/>
              <a:ext cx="121285" cy="121920"/>
            </a:xfrm>
            <a:custGeom>
              <a:avLst/>
              <a:gdLst/>
              <a:ahLst/>
              <a:cxnLst/>
              <a:rect l="l" t="t" r="r" b="b"/>
              <a:pathLst>
                <a:path w="121284" h="121919">
                  <a:moveTo>
                    <a:pt x="121157" y="0"/>
                  </a:moveTo>
                  <a:lnTo>
                    <a:pt x="91511" y="10715"/>
                  </a:lnTo>
                  <a:lnTo>
                    <a:pt x="60578" y="14287"/>
                  </a:lnTo>
                  <a:lnTo>
                    <a:pt x="29646" y="10715"/>
                  </a:lnTo>
                  <a:lnTo>
                    <a:pt x="0" y="0"/>
                  </a:lnTo>
                  <a:lnTo>
                    <a:pt x="60959" y="121920"/>
                  </a:lnTo>
                  <a:lnTo>
                    <a:pt x="121157"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9" name="object 79"/>
            <p:cNvPicPr/>
            <p:nvPr/>
          </p:nvPicPr>
          <p:blipFill>
            <a:blip r:embed="rId15" cstate="print"/>
            <a:stretch>
              <a:fillRect/>
            </a:stretch>
          </p:blipFill>
          <p:spPr>
            <a:xfrm>
              <a:off x="6444411" y="1700961"/>
              <a:ext cx="93370" cy="94132"/>
            </a:xfrm>
            <a:prstGeom prst="rect">
              <a:avLst/>
            </a:prstGeom>
          </p:spPr>
        </p:pic>
        <p:sp>
          <p:nvSpPr>
            <p:cNvPr id="80" name="object 80"/>
            <p:cNvSpPr/>
            <p:nvPr/>
          </p:nvSpPr>
          <p:spPr>
            <a:xfrm>
              <a:off x="7763255" y="1703070"/>
              <a:ext cx="64769" cy="64769"/>
            </a:xfrm>
            <a:custGeom>
              <a:avLst/>
              <a:gdLst/>
              <a:ahLst/>
              <a:cxnLst/>
              <a:rect l="l" t="t" r="r" b="b"/>
              <a:pathLst>
                <a:path w="64770" h="64769">
                  <a:moveTo>
                    <a:pt x="64770" y="32765"/>
                  </a:moveTo>
                  <a:lnTo>
                    <a:pt x="62233" y="19931"/>
                  </a:lnTo>
                  <a:lnTo>
                    <a:pt x="55340" y="9524"/>
                  </a:lnTo>
                  <a:lnTo>
                    <a:pt x="45160" y="2547"/>
                  </a:lnTo>
                  <a:lnTo>
                    <a:pt x="32766" y="0"/>
                  </a:lnTo>
                  <a:lnTo>
                    <a:pt x="19931" y="2547"/>
                  </a:lnTo>
                  <a:lnTo>
                    <a:pt x="9525" y="9524"/>
                  </a:lnTo>
                  <a:lnTo>
                    <a:pt x="2547" y="19931"/>
                  </a:lnTo>
                  <a:lnTo>
                    <a:pt x="0" y="32765"/>
                  </a:lnTo>
                  <a:lnTo>
                    <a:pt x="2547" y="45160"/>
                  </a:lnTo>
                  <a:lnTo>
                    <a:pt x="9525" y="55340"/>
                  </a:lnTo>
                  <a:lnTo>
                    <a:pt x="19931" y="62233"/>
                  </a:lnTo>
                  <a:lnTo>
                    <a:pt x="32766" y="64769"/>
                  </a:lnTo>
                  <a:lnTo>
                    <a:pt x="45160" y="62233"/>
                  </a:lnTo>
                  <a:lnTo>
                    <a:pt x="55340" y="55340"/>
                  </a:lnTo>
                  <a:lnTo>
                    <a:pt x="62233" y="45160"/>
                  </a:lnTo>
                  <a:lnTo>
                    <a:pt x="64770" y="3276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object 81"/>
            <p:cNvSpPr/>
            <p:nvPr/>
          </p:nvSpPr>
          <p:spPr>
            <a:xfrm>
              <a:off x="7763255" y="1703070"/>
              <a:ext cx="64769" cy="64769"/>
            </a:xfrm>
            <a:custGeom>
              <a:avLst/>
              <a:gdLst/>
              <a:ahLst/>
              <a:cxnLst/>
              <a:rect l="l" t="t" r="r" b="b"/>
              <a:pathLst>
                <a:path w="64770" h="64769">
                  <a:moveTo>
                    <a:pt x="64770" y="32765"/>
                  </a:moveTo>
                  <a:lnTo>
                    <a:pt x="62233" y="19931"/>
                  </a:lnTo>
                  <a:lnTo>
                    <a:pt x="55340" y="9524"/>
                  </a:lnTo>
                  <a:lnTo>
                    <a:pt x="45160" y="2547"/>
                  </a:lnTo>
                  <a:lnTo>
                    <a:pt x="32766" y="0"/>
                  </a:lnTo>
                  <a:lnTo>
                    <a:pt x="19931" y="2547"/>
                  </a:lnTo>
                  <a:lnTo>
                    <a:pt x="9525" y="9524"/>
                  </a:lnTo>
                  <a:lnTo>
                    <a:pt x="2547" y="19931"/>
                  </a:lnTo>
                  <a:lnTo>
                    <a:pt x="0" y="32765"/>
                  </a:lnTo>
                  <a:lnTo>
                    <a:pt x="2547" y="45160"/>
                  </a:lnTo>
                  <a:lnTo>
                    <a:pt x="9525" y="55340"/>
                  </a:lnTo>
                  <a:lnTo>
                    <a:pt x="19931" y="62233"/>
                  </a:lnTo>
                  <a:lnTo>
                    <a:pt x="32766" y="64769"/>
                  </a:lnTo>
                  <a:lnTo>
                    <a:pt x="45160" y="62233"/>
                  </a:lnTo>
                  <a:lnTo>
                    <a:pt x="55340" y="55340"/>
                  </a:lnTo>
                  <a:lnTo>
                    <a:pt x="62233" y="45160"/>
                  </a:lnTo>
                  <a:lnTo>
                    <a:pt x="64770" y="32765"/>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object 82"/>
            <p:cNvSpPr/>
            <p:nvPr/>
          </p:nvSpPr>
          <p:spPr>
            <a:xfrm>
              <a:off x="7775447" y="1735836"/>
              <a:ext cx="108585" cy="0"/>
            </a:xfrm>
            <a:custGeom>
              <a:avLst/>
              <a:gdLst/>
              <a:ahLst/>
              <a:cxnLst/>
              <a:rect l="l" t="t" r="r" b="b"/>
              <a:pathLst>
                <a:path w="108584">
                  <a:moveTo>
                    <a:pt x="0" y="0"/>
                  </a:moveTo>
                  <a:lnTo>
                    <a:pt x="108204"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7853934" y="1674113"/>
              <a:ext cx="121920" cy="123189"/>
            </a:xfrm>
            <a:custGeom>
              <a:avLst/>
              <a:gdLst/>
              <a:ahLst/>
              <a:cxnLst/>
              <a:rect l="l" t="t" r="r" b="b"/>
              <a:pathLst>
                <a:path w="121920" h="123189">
                  <a:moveTo>
                    <a:pt x="121920" y="61722"/>
                  </a:moveTo>
                  <a:lnTo>
                    <a:pt x="0" y="0"/>
                  </a:lnTo>
                  <a:lnTo>
                    <a:pt x="10715" y="30099"/>
                  </a:lnTo>
                  <a:lnTo>
                    <a:pt x="14287" y="61341"/>
                  </a:lnTo>
                  <a:lnTo>
                    <a:pt x="10715" y="92583"/>
                  </a:lnTo>
                  <a:lnTo>
                    <a:pt x="0" y="122682"/>
                  </a:lnTo>
                  <a:lnTo>
                    <a:pt x="121920"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5" name="object 95"/>
            <p:cNvPicPr/>
            <p:nvPr/>
          </p:nvPicPr>
          <p:blipFill>
            <a:blip r:embed="rId16" cstate="print"/>
            <a:stretch>
              <a:fillRect/>
            </a:stretch>
          </p:blipFill>
          <p:spPr>
            <a:xfrm>
              <a:off x="8475725" y="1376172"/>
              <a:ext cx="256031" cy="722376"/>
            </a:xfrm>
            <a:prstGeom prst="rect">
              <a:avLst/>
            </a:prstGeom>
          </p:spPr>
        </p:pic>
        <p:sp>
          <p:nvSpPr>
            <p:cNvPr id="96" name="object 96"/>
            <p:cNvSpPr/>
            <p:nvPr/>
          </p:nvSpPr>
          <p:spPr>
            <a:xfrm>
              <a:off x="8475725" y="1376172"/>
              <a:ext cx="256540" cy="722630"/>
            </a:xfrm>
            <a:custGeom>
              <a:avLst/>
              <a:gdLst/>
              <a:ahLst/>
              <a:cxnLst/>
              <a:rect l="l" t="t" r="r" b="b"/>
              <a:pathLst>
                <a:path w="256540" h="722630">
                  <a:moveTo>
                    <a:pt x="0" y="541020"/>
                  </a:moveTo>
                  <a:lnTo>
                    <a:pt x="0" y="178308"/>
                  </a:lnTo>
                  <a:lnTo>
                    <a:pt x="256031" y="0"/>
                  </a:lnTo>
                  <a:lnTo>
                    <a:pt x="256032" y="722376"/>
                  </a:lnTo>
                  <a:lnTo>
                    <a:pt x="0" y="54102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object 97"/>
            <p:cNvSpPr/>
            <p:nvPr/>
          </p:nvSpPr>
          <p:spPr>
            <a:xfrm>
              <a:off x="8373617" y="1735836"/>
              <a:ext cx="102235" cy="0"/>
            </a:xfrm>
            <a:custGeom>
              <a:avLst/>
              <a:gdLst/>
              <a:ahLst/>
              <a:cxnLst/>
              <a:rect l="l" t="t" r="r" b="b"/>
              <a:pathLst>
                <a:path w="102234">
                  <a:moveTo>
                    <a:pt x="0" y="0"/>
                  </a:moveTo>
                  <a:lnTo>
                    <a:pt x="102107"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object 98"/>
            <p:cNvSpPr/>
            <p:nvPr/>
          </p:nvSpPr>
          <p:spPr>
            <a:xfrm>
              <a:off x="8731757" y="2007870"/>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object 99"/>
            <p:cNvSpPr/>
            <p:nvPr/>
          </p:nvSpPr>
          <p:spPr>
            <a:xfrm>
              <a:off x="8731757" y="1826514"/>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object 100"/>
            <p:cNvSpPr/>
            <p:nvPr/>
          </p:nvSpPr>
          <p:spPr>
            <a:xfrm>
              <a:off x="8731757" y="1645158"/>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object 101"/>
            <p:cNvSpPr/>
            <p:nvPr/>
          </p:nvSpPr>
          <p:spPr>
            <a:xfrm>
              <a:off x="8731757" y="1464564"/>
              <a:ext cx="92710" cy="0"/>
            </a:xfrm>
            <a:custGeom>
              <a:avLst/>
              <a:gdLst/>
              <a:ahLst/>
              <a:cxnLst/>
              <a:rect l="l" t="t" r="r" b="b"/>
              <a:pathLst>
                <a:path w="92709">
                  <a:moveTo>
                    <a:pt x="0" y="0"/>
                  </a:moveTo>
                  <a:lnTo>
                    <a:pt x="92202"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bject 109"/>
            <p:cNvSpPr/>
            <p:nvPr/>
          </p:nvSpPr>
          <p:spPr>
            <a:xfrm>
              <a:off x="8308848" y="1735836"/>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object 110"/>
            <p:cNvSpPr/>
            <p:nvPr/>
          </p:nvSpPr>
          <p:spPr>
            <a:xfrm>
              <a:off x="8336280" y="1674114"/>
              <a:ext cx="121285" cy="123189"/>
            </a:xfrm>
            <a:custGeom>
              <a:avLst/>
              <a:gdLst/>
              <a:ahLst/>
              <a:cxnLst/>
              <a:rect l="l" t="t" r="r" b="b"/>
              <a:pathLst>
                <a:path w="121284" h="123189">
                  <a:moveTo>
                    <a:pt x="121157" y="61722"/>
                  </a:moveTo>
                  <a:lnTo>
                    <a:pt x="0" y="0"/>
                  </a:lnTo>
                  <a:lnTo>
                    <a:pt x="10715" y="30099"/>
                  </a:lnTo>
                  <a:lnTo>
                    <a:pt x="14287" y="61341"/>
                  </a:lnTo>
                  <a:lnTo>
                    <a:pt x="10715" y="92583"/>
                  </a:lnTo>
                  <a:lnTo>
                    <a:pt x="0" y="122682"/>
                  </a:lnTo>
                  <a:lnTo>
                    <a:pt x="121157"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object 111"/>
            <p:cNvSpPr/>
            <p:nvPr/>
          </p:nvSpPr>
          <p:spPr>
            <a:xfrm>
              <a:off x="8780525" y="1464564"/>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object 112"/>
            <p:cNvSpPr/>
            <p:nvPr/>
          </p:nvSpPr>
          <p:spPr>
            <a:xfrm>
              <a:off x="8808719" y="1403604"/>
              <a:ext cx="121285" cy="121920"/>
            </a:xfrm>
            <a:custGeom>
              <a:avLst/>
              <a:gdLst/>
              <a:ahLst/>
              <a:cxnLst/>
              <a:rect l="l" t="t" r="r" b="b"/>
              <a:pathLst>
                <a:path w="121284" h="121919">
                  <a:moveTo>
                    <a:pt x="121157" y="60960"/>
                  </a:moveTo>
                  <a:lnTo>
                    <a:pt x="0" y="0"/>
                  </a:lnTo>
                  <a:lnTo>
                    <a:pt x="10715" y="29658"/>
                  </a:lnTo>
                  <a:lnTo>
                    <a:pt x="14287" y="60674"/>
                  </a:lnTo>
                  <a:lnTo>
                    <a:pt x="10715" y="91832"/>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object 113"/>
            <p:cNvSpPr/>
            <p:nvPr/>
          </p:nvSpPr>
          <p:spPr>
            <a:xfrm>
              <a:off x="8780525" y="1645158"/>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object 114"/>
            <p:cNvSpPr/>
            <p:nvPr/>
          </p:nvSpPr>
          <p:spPr>
            <a:xfrm>
              <a:off x="8808719" y="1584198"/>
              <a:ext cx="121285" cy="121920"/>
            </a:xfrm>
            <a:custGeom>
              <a:avLst/>
              <a:gdLst/>
              <a:ahLst/>
              <a:cxnLst/>
              <a:rect l="l" t="t" r="r" b="b"/>
              <a:pathLst>
                <a:path w="121284" h="121919">
                  <a:moveTo>
                    <a:pt x="121157" y="60960"/>
                  </a:moveTo>
                  <a:lnTo>
                    <a:pt x="0" y="0"/>
                  </a:lnTo>
                  <a:lnTo>
                    <a:pt x="10715" y="30087"/>
                  </a:lnTo>
                  <a:lnTo>
                    <a:pt x="14287" y="61245"/>
                  </a:lnTo>
                  <a:lnTo>
                    <a:pt x="10715" y="92261"/>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object 115"/>
            <p:cNvSpPr/>
            <p:nvPr/>
          </p:nvSpPr>
          <p:spPr>
            <a:xfrm>
              <a:off x="8780525" y="1826514"/>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object 116"/>
            <p:cNvSpPr/>
            <p:nvPr/>
          </p:nvSpPr>
          <p:spPr>
            <a:xfrm>
              <a:off x="8808719" y="1765554"/>
              <a:ext cx="121285" cy="121920"/>
            </a:xfrm>
            <a:custGeom>
              <a:avLst/>
              <a:gdLst/>
              <a:ahLst/>
              <a:cxnLst/>
              <a:rect l="l" t="t" r="r" b="b"/>
              <a:pathLst>
                <a:path w="121284"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bject 117"/>
            <p:cNvSpPr/>
            <p:nvPr/>
          </p:nvSpPr>
          <p:spPr>
            <a:xfrm>
              <a:off x="8780525" y="2007870"/>
              <a:ext cx="57150" cy="0"/>
            </a:xfrm>
            <a:custGeom>
              <a:avLst/>
              <a:gdLst/>
              <a:ahLst/>
              <a:cxnLst/>
              <a:rect l="l" t="t" r="r" b="b"/>
              <a:pathLst>
                <a:path w="57150">
                  <a:moveTo>
                    <a:pt x="0" y="0"/>
                  </a:moveTo>
                  <a:lnTo>
                    <a:pt x="57150"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object 118"/>
            <p:cNvSpPr/>
            <p:nvPr/>
          </p:nvSpPr>
          <p:spPr>
            <a:xfrm>
              <a:off x="8808719" y="1946910"/>
              <a:ext cx="121285" cy="121920"/>
            </a:xfrm>
            <a:custGeom>
              <a:avLst/>
              <a:gdLst/>
              <a:ahLst/>
              <a:cxnLst/>
              <a:rect l="l" t="t" r="r" b="b"/>
              <a:pathLst>
                <a:path w="121284" h="121919">
                  <a:moveTo>
                    <a:pt x="121157" y="60960"/>
                  </a:moveTo>
                  <a:lnTo>
                    <a:pt x="0" y="0"/>
                  </a:lnTo>
                  <a:lnTo>
                    <a:pt x="10715" y="29765"/>
                  </a:lnTo>
                  <a:lnTo>
                    <a:pt x="14287" y="60960"/>
                  </a:lnTo>
                  <a:lnTo>
                    <a:pt x="10715" y="92154"/>
                  </a:lnTo>
                  <a:lnTo>
                    <a:pt x="0" y="121920"/>
                  </a:lnTo>
                  <a:lnTo>
                    <a:pt x="121157"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9" name="object 119"/>
            <p:cNvPicPr/>
            <p:nvPr/>
          </p:nvPicPr>
          <p:blipFill>
            <a:blip r:embed="rId17" cstate="print"/>
            <a:stretch>
              <a:fillRect/>
            </a:stretch>
          </p:blipFill>
          <p:spPr>
            <a:xfrm>
              <a:off x="8935211" y="1320546"/>
              <a:ext cx="1193292" cy="832865"/>
            </a:xfrm>
            <a:prstGeom prst="rect">
              <a:avLst/>
            </a:prstGeom>
          </p:spPr>
        </p:pic>
        <p:sp>
          <p:nvSpPr>
            <p:cNvPr id="120" name="object 120"/>
            <p:cNvSpPr txBox="1"/>
            <p:nvPr/>
          </p:nvSpPr>
          <p:spPr>
            <a:xfrm>
              <a:off x="8935211" y="1320546"/>
              <a:ext cx="1193800" cy="833119"/>
            </a:xfrm>
            <a:prstGeom prst="rect">
              <a:avLst/>
            </a:prstGeom>
            <a:ln w="28600">
              <a:solidFill>
                <a:srgbClr val="000000"/>
              </a:solidFill>
            </a:ln>
          </p:spPr>
          <p:txBody>
            <a:bodyPr vert="horz" wrap="square" lIns="0" tIns="244475" rIns="0" bIns="0" rtlCol="0">
              <a:spAutoFit/>
            </a:bodyPr>
            <a:lstStyle/>
            <a:p>
              <a:pPr marL="203835" marR="0" lvl="0" indent="0" algn="l" defTabSz="914400" rtl="0" eaLnBrk="1" fontAlgn="auto" latinLnBrk="0" hangingPunct="1">
                <a:lnSpc>
                  <a:spcPct val="100000"/>
                </a:lnSpc>
                <a:spcBef>
                  <a:spcPts val="1925"/>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pic>
          <p:nvPicPr>
            <p:cNvPr id="121" name="object 121"/>
            <p:cNvPicPr/>
            <p:nvPr/>
          </p:nvPicPr>
          <p:blipFill>
            <a:blip r:embed="rId18" cstate="print"/>
            <a:stretch>
              <a:fillRect/>
            </a:stretch>
          </p:blipFill>
          <p:spPr>
            <a:xfrm>
              <a:off x="6783323" y="2044445"/>
              <a:ext cx="598931" cy="288036"/>
            </a:xfrm>
            <a:prstGeom prst="rect">
              <a:avLst/>
            </a:prstGeom>
          </p:spPr>
        </p:pic>
        <p:sp>
          <p:nvSpPr>
            <p:cNvPr id="122" name="object 122"/>
            <p:cNvSpPr txBox="1"/>
            <p:nvPr/>
          </p:nvSpPr>
          <p:spPr>
            <a:xfrm>
              <a:off x="6783323" y="2044445"/>
              <a:ext cx="599440" cy="288290"/>
            </a:xfrm>
            <a:prstGeom prst="rect">
              <a:avLst/>
            </a:prstGeom>
            <a:ln w="28600">
              <a:solidFill>
                <a:srgbClr val="000000"/>
              </a:solidFill>
            </a:ln>
          </p:spPr>
          <p:txBody>
            <a:bodyPr vert="horz" wrap="square" lIns="0" tIns="0" rIns="0" bIns="0" rtlCol="0">
              <a:spAutoFit/>
            </a:bodyPr>
            <a:lstStyle/>
            <a:p>
              <a:pPr marL="95885" marR="0" lvl="0" indent="0" algn="l" defTabSz="914400" rtl="0" eaLnBrk="1" fontAlgn="auto" latinLnBrk="0" hangingPunct="1">
                <a:lnSpc>
                  <a:spcPts val="2175"/>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123" name="object 123"/>
            <p:cNvGrpSpPr/>
            <p:nvPr/>
          </p:nvGrpSpPr>
          <p:grpSpPr>
            <a:xfrm>
              <a:off x="7539863" y="2029841"/>
              <a:ext cx="924560" cy="317500"/>
              <a:chOff x="7539863" y="2029841"/>
              <a:chExt cx="924560" cy="317500"/>
            </a:xfrm>
          </p:grpSpPr>
          <p:pic>
            <p:nvPicPr>
              <p:cNvPr id="124" name="object 124"/>
              <p:cNvPicPr/>
              <p:nvPr/>
            </p:nvPicPr>
            <p:blipFill>
              <a:blip r:embed="rId19" cstate="print"/>
              <a:stretch>
                <a:fillRect/>
              </a:stretch>
            </p:blipFill>
            <p:spPr>
              <a:xfrm>
                <a:off x="7554468" y="2044446"/>
                <a:ext cx="895350" cy="288036"/>
              </a:xfrm>
              <a:prstGeom prst="rect">
                <a:avLst/>
              </a:prstGeom>
            </p:spPr>
          </p:pic>
          <p:sp>
            <p:nvSpPr>
              <p:cNvPr id="125" name="object 125"/>
              <p:cNvSpPr/>
              <p:nvPr/>
            </p:nvSpPr>
            <p:spPr>
              <a:xfrm>
                <a:off x="7554468" y="2044446"/>
                <a:ext cx="895350" cy="288290"/>
              </a:xfrm>
              <a:custGeom>
                <a:avLst/>
                <a:gdLst/>
                <a:ahLst/>
                <a:cxnLst/>
                <a:rect l="l" t="t" r="r" b="b"/>
                <a:pathLst>
                  <a:path w="895350" h="288289">
                    <a:moveTo>
                      <a:pt x="0" y="0"/>
                    </a:moveTo>
                    <a:lnTo>
                      <a:pt x="0" y="288036"/>
                    </a:lnTo>
                    <a:lnTo>
                      <a:pt x="895350" y="288036"/>
                    </a:lnTo>
                    <a:lnTo>
                      <a:pt x="895350" y="0"/>
                    </a:lnTo>
                    <a:lnTo>
                      <a:pt x="0" y="0"/>
                    </a:lnTo>
                    <a:close/>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6" name="object 126"/>
            <p:cNvSpPr txBox="1"/>
            <p:nvPr/>
          </p:nvSpPr>
          <p:spPr>
            <a:xfrm>
              <a:off x="7734554" y="1998405"/>
              <a:ext cx="545465" cy="3365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Malgun Gothic"/>
                  <a:ea typeface="+mn-ea"/>
                  <a:cs typeface="Malgun Gothic"/>
                </a:rPr>
                <a:t>CDR</a:t>
              </a:r>
              <a:endParaRPr kumimoji="0" sz="2000" b="0" i="0" u="none" strike="noStrike" kern="1200" cap="none" spc="0" normalizeH="0" baseline="0" noProof="0">
                <a:ln>
                  <a:noFill/>
                </a:ln>
                <a:solidFill>
                  <a:prstClr val="black"/>
                </a:solidFill>
                <a:effectLst/>
                <a:uLnTx/>
                <a:uFillTx/>
                <a:latin typeface="Malgun Gothic"/>
                <a:ea typeface="+mn-ea"/>
                <a:cs typeface="Malgun Gothic"/>
              </a:endParaRPr>
            </a:p>
          </p:txBody>
        </p:sp>
      </p:grpSp>
      <p:pic>
        <p:nvPicPr>
          <p:cNvPr id="127" name="object 127"/>
          <p:cNvPicPr/>
          <p:nvPr/>
        </p:nvPicPr>
        <p:blipFill>
          <a:blip r:embed="rId20" cstate="print"/>
          <a:stretch>
            <a:fillRect/>
          </a:stretch>
        </p:blipFill>
        <p:spPr>
          <a:xfrm>
            <a:off x="4347209" y="2007107"/>
            <a:ext cx="2017776" cy="362712"/>
          </a:xfrm>
          <a:prstGeom prst="rect">
            <a:avLst/>
          </a:prstGeom>
        </p:spPr>
      </p:pic>
      <p:grpSp>
        <p:nvGrpSpPr>
          <p:cNvPr id="134" name="Group 133"/>
          <p:cNvGrpSpPr/>
          <p:nvPr/>
        </p:nvGrpSpPr>
        <p:grpSpPr>
          <a:xfrm>
            <a:off x="4560823" y="1554479"/>
            <a:ext cx="1690752" cy="780476"/>
            <a:chOff x="4560823" y="1554479"/>
            <a:chExt cx="1690752" cy="780476"/>
          </a:xfrm>
        </p:grpSpPr>
        <p:sp>
          <p:nvSpPr>
            <p:cNvPr id="34" name="object 34"/>
            <p:cNvSpPr/>
            <p:nvPr/>
          </p:nvSpPr>
          <p:spPr>
            <a:xfrm>
              <a:off x="6107430" y="1742694"/>
              <a:ext cx="144145" cy="0"/>
            </a:xfrm>
            <a:custGeom>
              <a:avLst/>
              <a:gdLst/>
              <a:ahLst/>
              <a:cxnLst/>
              <a:rect l="l" t="t" r="r" b="b"/>
              <a:pathLst>
                <a:path w="144145">
                  <a:moveTo>
                    <a:pt x="0" y="0"/>
                  </a:moveTo>
                  <a:lnTo>
                    <a:pt x="144018" y="0"/>
                  </a:lnTo>
                </a:path>
              </a:pathLst>
            </a:custGeom>
            <a:ln w="286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5" name="object 35"/>
            <p:cNvPicPr/>
            <p:nvPr/>
          </p:nvPicPr>
          <p:blipFill>
            <a:blip r:embed="rId21" cstate="print"/>
            <a:stretch>
              <a:fillRect/>
            </a:stretch>
          </p:blipFill>
          <p:spPr>
            <a:xfrm>
              <a:off x="4604766" y="1554479"/>
              <a:ext cx="1502664" cy="361950"/>
            </a:xfrm>
            <a:prstGeom prst="rect">
              <a:avLst/>
            </a:prstGeom>
          </p:spPr>
        </p:pic>
        <p:sp>
          <p:nvSpPr>
            <p:cNvPr id="36" name="object 36"/>
            <p:cNvSpPr/>
            <p:nvPr/>
          </p:nvSpPr>
          <p:spPr>
            <a:xfrm>
              <a:off x="4604766" y="1554479"/>
              <a:ext cx="1503045" cy="361950"/>
            </a:xfrm>
            <a:custGeom>
              <a:avLst/>
              <a:gdLst/>
              <a:ahLst/>
              <a:cxnLst/>
              <a:rect l="l" t="t" r="r" b="b"/>
              <a:pathLst>
                <a:path w="1503045" h="361950">
                  <a:moveTo>
                    <a:pt x="150113" y="361950"/>
                  </a:moveTo>
                  <a:lnTo>
                    <a:pt x="1352550" y="361949"/>
                  </a:lnTo>
                  <a:lnTo>
                    <a:pt x="1392509" y="355501"/>
                  </a:lnTo>
                  <a:lnTo>
                    <a:pt x="1428383" y="337283"/>
                  </a:lnTo>
                  <a:lnTo>
                    <a:pt x="1458753" y="308990"/>
                  </a:lnTo>
                  <a:lnTo>
                    <a:pt x="1482202" y="272316"/>
                  </a:lnTo>
                  <a:lnTo>
                    <a:pt x="1497312" y="228952"/>
                  </a:lnTo>
                  <a:lnTo>
                    <a:pt x="1502664" y="180593"/>
                  </a:lnTo>
                  <a:lnTo>
                    <a:pt x="1497312" y="132556"/>
                  </a:lnTo>
                  <a:lnTo>
                    <a:pt x="1482202" y="89407"/>
                  </a:lnTo>
                  <a:lnTo>
                    <a:pt x="1458753" y="52863"/>
                  </a:lnTo>
                  <a:lnTo>
                    <a:pt x="1428383" y="24637"/>
                  </a:lnTo>
                  <a:lnTo>
                    <a:pt x="1392509" y="6445"/>
                  </a:lnTo>
                  <a:lnTo>
                    <a:pt x="1352550" y="0"/>
                  </a:lnTo>
                  <a:lnTo>
                    <a:pt x="1348739" y="4571"/>
                  </a:lnTo>
                  <a:lnTo>
                    <a:pt x="1352550" y="0"/>
                  </a:lnTo>
                  <a:lnTo>
                    <a:pt x="173735" y="1524"/>
                  </a:lnTo>
                  <a:lnTo>
                    <a:pt x="127529" y="8089"/>
                  </a:lnTo>
                  <a:lnTo>
                    <a:pt x="86021" y="26613"/>
                  </a:lnTo>
                  <a:lnTo>
                    <a:pt x="50863" y="55340"/>
                  </a:lnTo>
                  <a:lnTo>
                    <a:pt x="23706" y="92512"/>
                  </a:lnTo>
                  <a:lnTo>
                    <a:pt x="6201" y="136373"/>
                  </a:lnTo>
                  <a:lnTo>
                    <a:pt x="0" y="185166"/>
                  </a:lnTo>
                  <a:lnTo>
                    <a:pt x="8004" y="236104"/>
                  </a:lnTo>
                  <a:lnTo>
                    <a:pt x="28919" y="281409"/>
                  </a:lnTo>
                  <a:lnTo>
                    <a:pt x="60844" y="318924"/>
                  </a:lnTo>
                  <a:lnTo>
                    <a:pt x="101876" y="346490"/>
                  </a:lnTo>
                  <a:lnTo>
                    <a:pt x="150113" y="361950"/>
                  </a:lnTo>
                  <a:close/>
                </a:path>
              </a:pathLst>
            </a:custGeom>
            <a:ln w="28600">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7" name="object 37"/>
            <p:cNvPicPr/>
            <p:nvPr/>
          </p:nvPicPr>
          <p:blipFill>
            <a:blip r:embed="rId22" cstate="print"/>
            <a:stretch>
              <a:fillRect/>
            </a:stretch>
          </p:blipFill>
          <p:spPr>
            <a:xfrm>
              <a:off x="4604766" y="1554479"/>
              <a:ext cx="300228" cy="361950"/>
            </a:xfrm>
            <a:prstGeom prst="rect">
              <a:avLst/>
            </a:prstGeom>
          </p:spPr>
        </p:pic>
        <p:sp>
          <p:nvSpPr>
            <p:cNvPr id="38" name="object 38"/>
            <p:cNvSpPr/>
            <p:nvPr/>
          </p:nvSpPr>
          <p:spPr>
            <a:xfrm>
              <a:off x="4604766" y="1554479"/>
              <a:ext cx="300355" cy="361950"/>
            </a:xfrm>
            <a:custGeom>
              <a:avLst/>
              <a:gdLst/>
              <a:ahLst/>
              <a:cxnLst/>
              <a:rect l="l" t="t" r="r" b="b"/>
              <a:pathLst>
                <a:path w="300354" h="361950">
                  <a:moveTo>
                    <a:pt x="300227" y="180594"/>
                  </a:moveTo>
                  <a:lnTo>
                    <a:pt x="294876" y="132556"/>
                  </a:lnTo>
                  <a:lnTo>
                    <a:pt x="279766" y="89408"/>
                  </a:lnTo>
                  <a:lnTo>
                    <a:pt x="256317" y="52863"/>
                  </a:lnTo>
                  <a:lnTo>
                    <a:pt x="225947" y="24638"/>
                  </a:lnTo>
                  <a:lnTo>
                    <a:pt x="190073" y="6445"/>
                  </a:lnTo>
                  <a:lnTo>
                    <a:pt x="150113" y="0"/>
                  </a:lnTo>
                  <a:lnTo>
                    <a:pt x="110154" y="6445"/>
                  </a:lnTo>
                  <a:lnTo>
                    <a:pt x="74280" y="24638"/>
                  </a:lnTo>
                  <a:lnTo>
                    <a:pt x="43910" y="52863"/>
                  </a:lnTo>
                  <a:lnTo>
                    <a:pt x="20461" y="89408"/>
                  </a:lnTo>
                  <a:lnTo>
                    <a:pt x="5351" y="132556"/>
                  </a:lnTo>
                  <a:lnTo>
                    <a:pt x="0" y="180594"/>
                  </a:lnTo>
                  <a:lnTo>
                    <a:pt x="5351" y="228952"/>
                  </a:lnTo>
                  <a:lnTo>
                    <a:pt x="20461" y="272316"/>
                  </a:lnTo>
                  <a:lnTo>
                    <a:pt x="43910" y="308991"/>
                  </a:lnTo>
                  <a:lnTo>
                    <a:pt x="74280" y="337283"/>
                  </a:lnTo>
                  <a:lnTo>
                    <a:pt x="110154" y="355501"/>
                  </a:lnTo>
                  <a:lnTo>
                    <a:pt x="150113" y="361950"/>
                  </a:lnTo>
                  <a:lnTo>
                    <a:pt x="190073" y="355501"/>
                  </a:lnTo>
                  <a:lnTo>
                    <a:pt x="225947" y="337283"/>
                  </a:lnTo>
                  <a:lnTo>
                    <a:pt x="256317" y="308991"/>
                  </a:lnTo>
                  <a:lnTo>
                    <a:pt x="279766" y="272316"/>
                  </a:lnTo>
                  <a:lnTo>
                    <a:pt x="294876" y="228952"/>
                  </a:lnTo>
                  <a:lnTo>
                    <a:pt x="300227" y="180594"/>
                  </a:lnTo>
                  <a:close/>
                </a:path>
              </a:pathLst>
            </a:custGeom>
            <a:ln w="28600">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object 128"/>
            <p:cNvSpPr txBox="1"/>
            <p:nvPr/>
          </p:nvSpPr>
          <p:spPr>
            <a:xfrm>
              <a:off x="4560823" y="1998405"/>
              <a:ext cx="1602105" cy="3365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2000" b="1" i="0" u="none" strike="noStrike" kern="1200" cap="none" spc="-5" normalizeH="0" baseline="0" noProof="0" dirty="0">
                  <a:ln>
                    <a:noFill/>
                  </a:ln>
                  <a:solidFill>
                    <a:srgbClr val="FF0000"/>
                  </a:solidFill>
                  <a:effectLst/>
                  <a:uLnTx/>
                  <a:uFillTx/>
                  <a:latin typeface="Malgun Gothic"/>
                  <a:ea typeface="+mn-ea"/>
                  <a:cs typeface="Malgun Gothic"/>
                </a:rPr>
                <a:t>Channel(LPF)</a:t>
              </a:r>
              <a:endParaRPr kumimoji="0" sz="2000" b="0" i="0" u="none" strike="noStrike" kern="1200" cap="none" spc="0" normalizeH="0" baseline="0" noProof="0" dirty="0">
                <a:ln>
                  <a:noFill/>
                </a:ln>
                <a:solidFill>
                  <a:prstClr val="black"/>
                </a:solidFill>
                <a:effectLst/>
                <a:uLnTx/>
                <a:uFillTx/>
                <a:latin typeface="Malgun Gothic"/>
                <a:ea typeface="+mn-ea"/>
                <a:cs typeface="Malgun Gothic"/>
              </a:endParaRPr>
            </a:p>
          </p:txBody>
        </p:sp>
      </p:grpSp>
      <p:sp>
        <p:nvSpPr>
          <p:cNvPr id="130" name="Slide Number Placeholder 12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31</a:t>
            </a:fld>
            <a:endParaRPr lang="en-US" spc="-50" dirty="0"/>
          </a:p>
        </p:txBody>
      </p:sp>
      <p:sp>
        <p:nvSpPr>
          <p:cNvPr id="131" name="Date Placeholder 13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32" name="Footer Placeholder 13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13869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6" grpId="0"/>
      <p:bldP spid="27" grpId="0"/>
      <p:bldP spid="3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0090" y="302830"/>
            <a:ext cx="2881630" cy="604520"/>
          </a:xfrm>
          <a:prstGeom prst="rect">
            <a:avLst/>
          </a:prstGeom>
        </p:spPr>
        <p:txBody>
          <a:bodyPr vert="horz" wrap="square" lIns="0" tIns="12065" rIns="0" bIns="0" rtlCol="0">
            <a:spAutoFit/>
          </a:bodyPr>
          <a:lstStyle/>
          <a:p>
            <a:pPr marL="12700">
              <a:lnSpc>
                <a:spcPct val="100000"/>
              </a:lnSpc>
              <a:spcBef>
                <a:spcPts val="95"/>
              </a:spcBef>
            </a:pPr>
            <a:r>
              <a:rPr sz="3800" b="0" spc="-5" dirty="0">
                <a:latin typeface="Verdana"/>
                <a:cs typeface="Verdana"/>
              </a:rPr>
              <a:t>Active</a:t>
            </a:r>
            <a:r>
              <a:rPr sz="3800" b="0" spc="-50" dirty="0">
                <a:latin typeface="Verdana"/>
                <a:cs typeface="Verdana"/>
              </a:rPr>
              <a:t> </a:t>
            </a:r>
            <a:r>
              <a:rPr sz="3800" b="0" spc="-10" dirty="0">
                <a:latin typeface="Verdana"/>
                <a:cs typeface="Verdana"/>
              </a:rPr>
              <a:t>CTLE</a:t>
            </a:r>
            <a:endParaRPr sz="3800" dirty="0">
              <a:latin typeface="Verdana"/>
              <a:cs typeface="Verdana"/>
            </a:endParaRPr>
          </a:p>
        </p:txBody>
      </p:sp>
      <p:pic>
        <p:nvPicPr>
          <p:cNvPr id="3" name="object 3"/>
          <p:cNvPicPr/>
          <p:nvPr/>
        </p:nvPicPr>
        <p:blipFill>
          <a:blip r:embed="rId3" cstate="print"/>
          <a:stretch>
            <a:fillRect/>
          </a:stretch>
        </p:blipFill>
        <p:spPr>
          <a:xfrm>
            <a:off x="5425294" y="1172507"/>
            <a:ext cx="6039611" cy="3712464"/>
          </a:xfrm>
          <a:prstGeom prst="rect">
            <a:avLst/>
          </a:prstGeom>
        </p:spPr>
      </p:pic>
      <p:grpSp>
        <p:nvGrpSpPr>
          <p:cNvPr id="4" name="object 4"/>
          <p:cNvGrpSpPr/>
          <p:nvPr/>
        </p:nvGrpSpPr>
        <p:grpSpPr>
          <a:xfrm>
            <a:off x="2361440" y="2546708"/>
            <a:ext cx="1823720" cy="12065"/>
            <a:chOff x="2361440" y="2546708"/>
            <a:chExt cx="1823720" cy="12065"/>
          </a:xfrm>
        </p:grpSpPr>
        <p:sp>
          <p:nvSpPr>
            <p:cNvPr id="5" name="object 5"/>
            <p:cNvSpPr/>
            <p:nvPr/>
          </p:nvSpPr>
          <p:spPr>
            <a:xfrm>
              <a:off x="2361440" y="2552616"/>
              <a:ext cx="262255" cy="0"/>
            </a:xfrm>
            <a:custGeom>
              <a:avLst/>
              <a:gdLst/>
              <a:ahLst/>
              <a:cxnLst/>
              <a:rect l="l" t="t" r="r" b="b"/>
              <a:pathLst>
                <a:path w="262255">
                  <a:moveTo>
                    <a:pt x="0" y="0"/>
                  </a:moveTo>
                  <a:lnTo>
                    <a:pt x="262129" y="0"/>
                  </a:lnTo>
                </a:path>
              </a:pathLst>
            </a:custGeom>
            <a:ln w="1181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2663193" y="2552616"/>
              <a:ext cx="1522095" cy="0"/>
            </a:xfrm>
            <a:custGeom>
              <a:avLst/>
              <a:gdLst/>
              <a:ahLst/>
              <a:cxnLst/>
              <a:rect l="l" t="t" r="r" b="b"/>
              <a:pathLst>
                <a:path w="1522095">
                  <a:moveTo>
                    <a:pt x="0" y="0"/>
                  </a:moveTo>
                  <a:lnTo>
                    <a:pt x="1521706" y="0"/>
                  </a:lnTo>
                </a:path>
              </a:pathLst>
            </a:custGeom>
            <a:ln w="1181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object 7"/>
          <p:cNvSpPr txBox="1"/>
          <p:nvPr/>
        </p:nvSpPr>
        <p:spPr>
          <a:xfrm>
            <a:off x="974597" y="1252219"/>
            <a:ext cx="4060190" cy="1266825"/>
          </a:xfrm>
          <a:prstGeom prst="rect">
            <a:avLst/>
          </a:prstGeom>
        </p:spPr>
        <p:txBody>
          <a:bodyPr vert="horz" wrap="square" lIns="0" tIns="46990" rIns="0" bIns="0" rtlCol="0">
            <a:spAutoFit/>
          </a:bodyPr>
          <a:lstStyle/>
          <a:p>
            <a:pPr marL="508000" marR="30480" lvl="0" indent="-470534" algn="l" defTabSz="914400" rtl="0" eaLnBrk="1" fontAlgn="auto" latinLnBrk="0" hangingPunct="1">
              <a:lnSpc>
                <a:spcPts val="2160"/>
              </a:lnSpc>
              <a:spcBef>
                <a:spcPts val="370"/>
              </a:spcBef>
              <a:spcAft>
                <a:spcPts val="0"/>
              </a:spcAft>
              <a:buClrTx/>
              <a:buSzTx/>
              <a:buFontTx/>
              <a:buNone/>
              <a:tabLst>
                <a:tab pos="508000" algn="l"/>
              </a:tabLst>
              <a:defRPr/>
            </a:pPr>
            <a:r>
              <a:rPr kumimoji="0" sz="2000" b="0" i="0" u="none" strike="noStrike" kern="1200" cap="none" spc="-5" normalizeH="0" baseline="0" noProof="0" dirty="0">
                <a:ln>
                  <a:noFill/>
                </a:ln>
                <a:solidFill>
                  <a:srgbClr val="CC0000"/>
                </a:solidFill>
                <a:effectLst/>
                <a:uLnTx/>
                <a:uFillTx/>
                <a:latin typeface="Wingdings"/>
                <a:ea typeface="+mn-ea"/>
                <a:cs typeface="Wingdings"/>
              </a:rPr>
              <a:t></a:t>
            </a:r>
            <a:r>
              <a:rPr kumimoji="0" sz="2000" b="0" i="0" u="none" strike="noStrike" kern="1200" cap="none" spc="-5" normalizeH="0" baseline="0" noProof="0" dirty="0">
                <a:ln>
                  <a:noFill/>
                </a:ln>
                <a:solidFill>
                  <a:srgbClr val="CC0000"/>
                </a:solidFill>
                <a:effectLst/>
                <a:uLnTx/>
                <a:uFillTx/>
                <a:latin typeface="Times New Roman"/>
                <a:ea typeface="+mn-ea"/>
                <a:cs typeface="Times New Roman"/>
              </a:rPr>
              <a:t>	</a:t>
            </a:r>
            <a:r>
              <a:rPr kumimoji="0" sz="2000" b="0" i="0" u="none" strike="noStrike" kern="1200" cap="none" spc="-5" normalizeH="0" baseline="0" noProof="0" dirty="0">
                <a:ln>
                  <a:noFill/>
                </a:ln>
                <a:solidFill>
                  <a:prstClr val="black"/>
                </a:solidFill>
                <a:effectLst/>
                <a:uLnTx/>
                <a:uFillTx/>
                <a:latin typeface="Verdana"/>
                <a:ea typeface="+mn-ea"/>
                <a:cs typeface="Verdana"/>
              </a:rPr>
              <a:t>Attenuates </a:t>
            </a:r>
            <a:r>
              <a:rPr kumimoji="0" sz="2000" b="0" i="0" u="none" strike="noStrike" kern="1200" cap="none" spc="-10" normalizeH="0" baseline="0" noProof="0" dirty="0">
                <a:ln>
                  <a:noFill/>
                </a:ln>
                <a:solidFill>
                  <a:prstClr val="black"/>
                </a:solidFill>
                <a:effectLst/>
                <a:uLnTx/>
                <a:uFillTx/>
                <a:latin typeface="Verdana"/>
                <a:ea typeface="+mn-ea"/>
                <a:cs typeface="Verdana"/>
              </a:rPr>
              <a:t>low-frequency </a:t>
            </a:r>
            <a:r>
              <a:rPr kumimoji="0" sz="2000" b="0" i="0" u="none" strike="noStrike" kern="1200" cap="none" spc="-5" normalizeH="0" baseline="0" noProof="0" dirty="0">
                <a:ln>
                  <a:noFill/>
                </a:ln>
                <a:solidFill>
                  <a:prstClr val="black"/>
                </a:solidFill>
                <a:effectLst/>
                <a:uLnTx/>
                <a:uFillTx/>
                <a:latin typeface="Verdana"/>
                <a:ea typeface="+mn-ea"/>
                <a:cs typeface="Verdana"/>
              </a:rPr>
              <a:t> gain by </a:t>
            </a:r>
            <a:r>
              <a:rPr kumimoji="0" sz="2000" b="0" i="0" u="none" strike="noStrike" kern="1200" cap="none" spc="-5" normalizeH="0" baseline="0" noProof="0" dirty="0">
                <a:ln>
                  <a:noFill/>
                </a:ln>
                <a:solidFill>
                  <a:srgbClr val="0000FF"/>
                </a:solidFill>
                <a:effectLst/>
                <a:uLnTx/>
                <a:uFillTx/>
                <a:latin typeface="Verdana"/>
                <a:ea typeface="+mn-ea"/>
                <a:cs typeface="Verdana"/>
              </a:rPr>
              <a:t>frequency-selective </a:t>
            </a:r>
            <a:r>
              <a:rPr kumimoji="0" sz="2000" b="0" i="0" u="none" strike="noStrike" kern="1200" cap="none" spc="-690" normalizeH="0" baseline="0" noProof="0" dirty="0">
                <a:ln>
                  <a:noFill/>
                </a:ln>
                <a:solidFill>
                  <a:srgbClr val="0000FF"/>
                </a:solidFill>
                <a:effectLst/>
                <a:uLnTx/>
                <a:uFillTx/>
                <a:latin typeface="Verdana"/>
                <a:ea typeface="+mn-ea"/>
                <a:cs typeface="Verdana"/>
              </a:rPr>
              <a:t> </a:t>
            </a:r>
            <a:r>
              <a:rPr kumimoji="0" sz="2000" b="0" i="0" u="none" strike="noStrike" kern="1200" cap="none" spc="-10" normalizeH="0" baseline="0" noProof="0" dirty="0">
                <a:ln>
                  <a:noFill/>
                </a:ln>
                <a:solidFill>
                  <a:srgbClr val="0000FF"/>
                </a:solidFill>
                <a:effectLst/>
                <a:uLnTx/>
                <a:uFillTx/>
                <a:latin typeface="Verdana"/>
                <a:ea typeface="+mn-ea"/>
                <a:cs typeface="Verdana"/>
              </a:rPr>
              <a:t>source</a:t>
            </a:r>
            <a:r>
              <a:rPr kumimoji="0" sz="2000" b="0" i="0" u="none" strike="noStrike" kern="1200" cap="none" spc="-15" normalizeH="0" baseline="0" noProof="0" dirty="0">
                <a:ln>
                  <a:noFill/>
                </a:ln>
                <a:solidFill>
                  <a:srgbClr val="0000FF"/>
                </a:solidFill>
                <a:effectLst/>
                <a:uLnTx/>
                <a:uFillTx/>
                <a:latin typeface="Verdana"/>
                <a:ea typeface="+mn-ea"/>
                <a:cs typeface="Verdana"/>
              </a:rPr>
              <a:t> </a:t>
            </a:r>
            <a:r>
              <a:rPr kumimoji="0" sz="2000" b="0" i="0" u="none" strike="noStrike" kern="1200" cap="none" spc="-10" normalizeH="0" baseline="0" noProof="0" dirty="0">
                <a:ln>
                  <a:noFill/>
                </a:ln>
                <a:solidFill>
                  <a:srgbClr val="0000FF"/>
                </a:solidFill>
                <a:effectLst/>
                <a:uLnTx/>
                <a:uFillTx/>
                <a:latin typeface="Verdana"/>
                <a:ea typeface="+mn-ea"/>
                <a:cs typeface="Verdana"/>
              </a:rPr>
              <a:t>degeneration</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821055" marR="0" lvl="0" indent="0" algn="ctr" defTabSz="914400" rtl="0" eaLnBrk="1" fontAlgn="auto" latinLnBrk="0" hangingPunct="1">
              <a:lnSpc>
                <a:spcPct val="100000"/>
              </a:lnSpc>
              <a:spcBef>
                <a:spcPts val="675"/>
              </a:spcBef>
              <a:spcAft>
                <a:spcPts val="0"/>
              </a:spcAft>
              <a:buClrTx/>
              <a:buSzTx/>
              <a:buFontTx/>
              <a:buNone/>
              <a:tabLst/>
              <a:defRPr/>
            </a:pPr>
            <a:r>
              <a:rPr kumimoji="0" sz="1850" b="0" i="1" u="none" strike="noStrike" kern="1200" cap="none" spc="5" normalizeH="0" baseline="0" noProof="0" dirty="0">
                <a:ln>
                  <a:noFill/>
                </a:ln>
                <a:solidFill>
                  <a:prstClr val="black"/>
                </a:solidFill>
                <a:effectLst/>
                <a:uLnTx/>
                <a:uFillTx/>
                <a:latin typeface="Times New Roman"/>
                <a:ea typeface="+mn-ea"/>
                <a:cs typeface="Times New Roman"/>
              </a:rPr>
              <a:t>s</a:t>
            </a:r>
            <a:r>
              <a:rPr kumimoji="0" sz="1850" b="0" i="1" u="none" strike="noStrike" kern="1200" cap="none" spc="-220" normalizeH="0" baseline="0" noProof="0" dirty="0">
                <a:ln>
                  <a:noFill/>
                </a:ln>
                <a:solidFill>
                  <a:prstClr val="black"/>
                </a:solidFill>
                <a:effectLst/>
                <a:uLnTx/>
                <a:uFillTx/>
                <a:latin typeface="Times New Roman"/>
                <a:ea typeface="+mn-ea"/>
                <a:cs typeface="Times New Roman"/>
              </a:rPr>
              <a:t> </a:t>
            </a:r>
            <a:r>
              <a:rPr kumimoji="0" sz="1850" b="0" i="0" u="none" strike="noStrike" kern="1200" cap="none" spc="100" normalizeH="0" baseline="0" noProof="0" dirty="0">
                <a:ln>
                  <a:noFill/>
                </a:ln>
                <a:solidFill>
                  <a:prstClr val="black"/>
                </a:solidFill>
                <a:effectLst/>
                <a:uLnTx/>
                <a:uFillTx/>
                <a:latin typeface="Symbol"/>
                <a:ea typeface="+mn-ea"/>
                <a:cs typeface="Symbol"/>
              </a:rPr>
              <a:t></a:t>
            </a:r>
            <a:r>
              <a:rPr kumimoji="0" sz="1950" b="0" i="0" u="none" strike="noStrike" kern="1200" cap="none" spc="-150" normalizeH="0" baseline="0" noProof="0" dirty="0">
                <a:ln>
                  <a:noFill/>
                </a:ln>
                <a:solidFill>
                  <a:prstClr val="black"/>
                </a:solidFill>
                <a:effectLst/>
                <a:uLnTx/>
                <a:uFillTx/>
                <a:latin typeface="Symbol"/>
                <a:ea typeface="+mn-ea"/>
                <a:cs typeface="Symbol"/>
              </a:rPr>
              <a:t></a:t>
            </a:r>
            <a:r>
              <a:rPr kumimoji="0" sz="1575" b="0" i="1" u="none" strike="noStrike" kern="1200" cap="none" spc="15" normalizeH="0" baseline="-26455" noProof="0" dirty="0">
                <a:ln>
                  <a:noFill/>
                </a:ln>
                <a:solidFill>
                  <a:prstClr val="black"/>
                </a:solidFill>
                <a:effectLst/>
                <a:uLnTx/>
                <a:uFillTx/>
                <a:latin typeface="Times New Roman"/>
                <a:ea typeface="+mn-ea"/>
                <a:cs typeface="Times New Roman"/>
              </a:rPr>
              <a:t>z</a:t>
            </a:r>
            <a:endParaRPr kumimoji="0" sz="1575" b="0" i="0" u="none" strike="noStrike" kern="1200" cap="none" spc="0" normalizeH="0" baseline="-26455" noProof="0" dirty="0">
              <a:ln>
                <a:noFill/>
              </a:ln>
              <a:solidFill>
                <a:prstClr val="black"/>
              </a:solidFill>
              <a:effectLst/>
              <a:uLnTx/>
              <a:uFillTx/>
              <a:latin typeface="Times New Roman"/>
              <a:ea typeface="+mn-ea"/>
              <a:cs typeface="Times New Roman"/>
            </a:endParaRPr>
          </a:p>
        </p:txBody>
      </p:sp>
      <p:sp>
        <p:nvSpPr>
          <p:cNvPr id="8" name="object 8"/>
          <p:cNvSpPr txBox="1"/>
          <p:nvPr/>
        </p:nvSpPr>
        <p:spPr>
          <a:xfrm>
            <a:off x="1642095" y="2288917"/>
            <a:ext cx="994410" cy="398145"/>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1850" b="0" i="1" u="none" strike="noStrike" kern="1200" cap="none" spc="10" normalizeH="0" baseline="0" noProof="0" dirty="0">
                <a:ln>
                  <a:noFill/>
                </a:ln>
                <a:solidFill>
                  <a:prstClr val="black"/>
                </a:solidFill>
                <a:effectLst/>
                <a:uLnTx/>
                <a:uFillTx/>
                <a:latin typeface="Times New Roman"/>
                <a:ea typeface="+mn-ea"/>
                <a:cs typeface="Times New Roman"/>
              </a:rPr>
              <a:t>H</a:t>
            </a:r>
            <a:r>
              <a:rPr kumimoji="0" sz="1850" b="0" i="1" u="none" strike="noStrike" kern="1200" cap="none" spc="-235" normalizeH="0" baseline="0" noProof="0" dirty="0">
                <a:ln>
                  <a:noFill/>
                </a:ln>
                <a:solidFill>
                  <a:prstClr val="black"/>
                </a:solidFill>
                <a:effectLst/>
                <a:uLnTx/>
                <a:uFillTx/>
                <a:latin typeface="Times New Roman"/>
                <a:ea typeface="+mn-ea"/>
                <a:cs typeface="Times New Roman"/>
              </a:rPr>
              <a:t> </a:t>
            </a:r>
            <a:r>
              <a:rPr kumimoji="0" sz="3675" b="0" i="0" u="none" strike="noStrike" kern="1200" cap="none" spc="-172" normalizeH="0" baseline="-3401" noProof="0" dirty="0">
                <a:ln>
                  <a:noFill/>
                </a:ln>
                <a:solidFill>
                  <a:prstClr val="black"/>
                </a:solidFill>
                <a:effectLst/>
                <a:uLnTx/>
                <a:uFillTx/>
                <a:latin typeface="Symbol"/>
                <a:ea typeface="+mn-ea"/>
                <a:cs typeface="Symbol"/>
              </a:rPr>
              <a:t></a:t>
            </a:r>
            <a:r>
              <a:rPr kumimoji="0" sz="1850" b="0" i="1" u="none" strike="noStrike" kern="1200" cap="none" spc="65" normalizeH="0" baseline="0" noProof="0" dirty="0">
                <a:ln>
                  <a:noFill/>
                </a:ln>
                <a:solidFill>
                  <a:prstClr val="black"/>
                </a:solidFill>
                <a:effectLst/>
                <a:uLnTx/>
                <a:uFillTx/>
                <a:latin typeface="Times New Roman"/>
                <a:ea typeface="+mn-ea"/>
                <a:cs typeface="Times New Roman"/>
              </a:rPr>
              <a:t>s</a:t>
            </a:r>
            <a:r>
              <a:rPr kumimoji="0" sz="3675" b="0" i="0" u="none" strike="noStrike" kern="1200" cap="none" spc="-412" normalizeH="0" baseline="-3401" noProof="0" dirty="0">
                <a:ln>
                  <a:noFill/>
                </a:ln>
                <a:solidFill>
                  <a:prstClr val="black"/>
                </a:solidFill>
                <a:effectLst/>
                <a:uLnTx/>
                <a:uFillTx/>
                <a:latin typeface="Symbol"/>
                <a:ea typeface="+mn-ea"/>
                <a:cs typeface="Symbol"/>
              </a:rPr>
              <a:t></a:t>
            </a:r>
            <a:r>
              <a:rPr kumimoji="0" sz="3675" b="0" i="0" u="none" strike="noStrike" kern="1200" cap="none" spc="-322" normalizeH="0" baseline="-3401" noProof="0" dirty="0">
                <a:ln>
                  <a:noFill/>
                </a:ln>
                <a:solidFill>
                  <a:prstClr val="black"/>
                </a:solidFill>
                <a:effectLst/>
                <a:uLnTx/>
                <a:uFillTx/>
                <a:latin typeface="Times New Roman"/>
                <a:ea typeface="+mn-ea"/>
                <a:cs typeface="Times New Roman"/>
              </a:rPr>
              <a:t> </a:t>
            </a:r>
            <a:r>
              <a:rPr kumimoji="0" sz="1850" b="0" i="0" u="none" strike="noStrike" kern="1200" cap="none" spc="5" normalizeH="0" baseline="0" noProof="0" dirty="0">
                <a:ln>
                  <a:noFill/>
                </a:ln>
                <a:solidFill>
                  <a:prstClr val="black"/>
                </a:solidFill>
                <a:effectLst/>
                <a:uLnTx/>
                <a:uFillTx/>
                <a:latin typeface="Symbol"/>
                <a:ea typeface="+mn-ea"/>
                <a:cs typeface="Symbol"/>
              </a:rPr>
              <a:t></a:t>
            </a:r>
            <a:r>
              <a:rPr kumimoji="0" sz="1850" b="0" i="0" u="none" strike="noStrike" kern="1200" cap="none" spc="40" normalizeH="0" baseline="0" noProof="0" dirty="0">
                <a:ln>
                  <a:noFill/>
                </a:ln>
                <a:solidFill>
                  <a:prstClr val="black"/>
                </a:solidFill>
                <a:effectLst/>
                <a:uLnTx/>
                <a:uFillTx/>
                <a:latin typeface="Times New Roman"/>
                <a:ea typeface="+mn-ea"/>
                <a:cs typeface="Times New Roman"/>
              </a:rPr>
              <a:t> </a:t>
            </a:r>
            <a:r>
              <a:rPr kumimoji="0" sz="2775" b="0" i="1" u="none" strike="noStrike" kern="1200" cap="none" spc="-37" normalizeH="0" baseline="37537" noProof="0" dirty="0">
                <a:ln>
                  <a:noFill/>
                </a:ln>
                <a:solidFill>
                  <a:prstClr val="black"/>
                </a:solidFill>
                <a:effectLst/>
                <a:uLnTx/>
                <a:uFillTx/>
                <a:latin typeface="Times New Roman"/>
                <a:ea typeface="+mn-ea"/>
                <a:cs typeface="Times New Roman"/>
              </a:rPr>
              <a:t>g</a:t>
            </a:r>
            <a:r>
              <a:rPr kumimoji="0" sz="1575" b="0" i="1" u="none" strike="noStrike" kern="1200" cap="none" spc="30" normalizeH="0" baseline="39682" noProof="0" dirty="0">
                <a:ln>
                  <a:noFill/>
                </a:ln>
                <a:solidFill>
                  <a:prstClr val="black"/>
                </a:solidFill>
                <a:effectLst/>
                <a:uLnTx/>
                <a:uFillTx/>
                <a:latin typeface="Times New Roman"/>
                <a:ea typeface="+mn-ea"/>
                <a:cs typeface="Times New Roman"/>
              </a:rPr>
              <a:t>m</a:t>
            </a:r>
            <a:endParaRPr kumimoji="0" sz="1575" b="0" i="0" u="none" strike="noStrike" kern="1200" cap="none" spc="0" normalizeH="0" baseline="39682" noProof="0">
              <a:ln>
                <a:noFill/>
              </a:ln>
              <a:solidFill>
                <a:prstClr val="black"/>
              </a:solidFill>
              <a:effectLst/>
              <a:uLnTx/>
              <a:uFillTx/>
              <a:latin typeface="Times New Roman"/>
              <a:ea typeface="+mn-ea"/>
              <a:cs typeface="Times New Roman"/>
            </a:endParaRPr>
          </a:p>
        </p:txBody>
      </p:sp>
      <p:sp>
        <p:nvSpPr>
          <p:cNvPr id="9" name="object 9"/>
          <p:cNvSpPr txBox="1"/>
          <p:nvPr/>
        </p:nvSpPr>
        <p:spPr>
          <a:xfrm>
            <a:off x="2330949" y="2427426"/>
            <a:ext cx="1885950" cy="488315"/>
          </a:xfrm>
          <a:prstGeom prst="rect">
            <a:avLst/>
          </a:prstGeom>
        </p:spPr>
        <p:txBody>
          <a:bodyPr vert="horz" wrap="square" lIns="0" tIns="17145" rIns="0" bIns="0" rtlCol="0">
            <a:spAutoFit/>
          </a:bodyPr>
          <a:lstStyle/>
          <a:p>
            <a:pPr marL="38100" marR="0" lvl="0" indent="0" algn="l" defTabSz="914400" rtl="0" eaLnBrk="1" fontAlgn="auto" latinLnBrk="0" hangingPunct="1">
              <a:lnSpc>
                <a:spcPct val="100000"/>
              </a:lnSpc>
              <a:spcBef>
                <a:spcPts val="135"/>
              </a:spcBef>
              <a:spcAft>
                <a:spcPts val="0"/>
              </a:spcAft>
              <a:buClrTx/>
              <a:buSzTx/>
              <a:buFontTx/>
              <a:buNone/>
              <a:tabLst/>
              <a:defRPr/>
            </a:pPr>
            <a:r>
              <a:rPr kumimoji="0" sz="2775" b="0" i="1" u="none" strike="noStrike" kern="1200" cap="none" spc="-22" normalizeH="0" baseline="6006" noProof="0" dirty="0">
                <a:ln>
                  <a:noFill/>
                </a:ln>
                <a:solidFill>
                  <a:prstClr val="black"/>
                </a:solidFill>
                <a:effectLst/>
                <a:uLnTx/>
                <a:uFillTx/>
                <a:latin typeface="Times New Roman"/>
                <a:ea typeface="+mn-ea"/>
                <a:cs typeface="Times New Roman"/>
              </a:rPr>
              <a:t>C</a:t>
            </a:r>
            <a:r>
              <a:rPr kumimoji="0" sz="1575" b="0" i="1" u="none" strike="noStrike" kern="1200" cap="none" spc="15" normalizeH="0" baseline="-15873" noProof="0" dirty="0">
                <a:ln>
                  <a:noFill/>
                </a:ln>
                <a:solidFill>
                  <a:prstClr val="black"/>
                </a:solidFill>
                <a:effectLst/>
                <a:uLnTx/>
                <a:uFillTx/>
                <a:latin typeface="Times New Roman"/>
                <a:ea typeface="+mn-ea"/>
                <a:cs typeface="Times New Roman"/>
              </a:rPr>
              <a:t>p</a:t>
            </a:r>
            <a:r>
              <a:rPr kumimoji="0" sz="1575" b="0" i="1" u="none" strike="noStrike" kern="1200" cap="none" spc="0" normalizeH="0" baseline="-15873" noProof="0" dirty="0">
                <a:ln>
                  <a:noFill/>
                </a:ln>
                <a:solidFill>
                  <a:prstClr val="black"/>
                </a:solidFill>
                <a:effectLst/>
                <a:uLnTx/>
                <a:uFillTx/>
                <a:latin typeface="Times New Roman"/>
                <a:ea typeface="+mn-ea"/>
                <a:cs typeface="Times New Roman"/>
              </a:rPr>
              <a:t> </a:t>
            </a:r>
            <a:r>
              <a:rPr kumimoji="0" sz="1575" b="0" i="1" u="none" strike="noStrike" kern="1200" cap="none" spc="112" normalizeH="0" baseline="-15873" noProof="0" dirty="0">
                <a:ln>
                  <a:noFill/>
                </a:ln>
                <a:solidFill>
                  <a:prstClr val="black"/>
                </a:solidFill>
                <a:effectLst/>
                <a:uLnTx/>
                <a:uFillTx/>
                <a:latin typeface="Times New Roman"/>
                <a:ea typeface="+mn-ea"/>
                <a:cs typeface="Times New Roman"/>
              </a:rPr>
              <a:t> </a:t>
            </a:r>
            <a:r>
              <a:rPr kumimoji="0" sz="4500" b="0" i="0" u="none" strike="noStrike" kern="1200" cap="none" spc="-450" normalizeH="0" baseline="-4629" noProof="0" dirty="0">
                <a:ln>
                  <a:noFill/>
                </a:ln>
                <a:solidFill>
                  <a:prstClr val="black"/>
                </a:solidFill>
                <a:effectLst/>
                <a:uLnTx/>
                <a:uFillTx/>
                <a:latin typeface="Symbol"/>
                <a:ea typeface="+mn-ea"/>
                <a:cs typeface="Symbol"/>
              </a:rPr>
              <a:t></a:t>
            </a:r>
            <a:r>
              <a:rPr kumimoji="0" sz="1850" b="0" i="1" u="none" strike="noStrike" kern="1200" cap="none" spc="5" normalizeH="0" baseline="0" noProof="0" dirty="0">
                <a:ln>
                  <a:noFill/>
                </a:ln>
                <a:solidFill>
                  <a:prstClr val="black"/>
                </a:solidFill>
                <a:effectLst/>
                <a:uLnTx/>
                <a:uFillTx/>
                <a:latin typeface="Times New Roman"/>
                <a:ea typeface="+mn-ea"/>
                <a:cs typeface="Times New Roman"/>
              </a:rPr>
              <a:t>s</a:t>
            </a:r>
            <a:r>
              <a:rPr kumimoji="0" sz="1850" b="0" i="1" u="none" strike="noStrike" kern="1200" cap="none" spc="-220" normalizeH="0" baseline="0" noProof="0" dirty="0">
                <a:ln>
                  <a:noFill/>
                </a:ln>
                <a:solidFill>
                  <a:prstClr val="black"/>
                </a:solidFill>
                <a:effectLst/>
                <a:uLnTx/>
                <a:uFillTx/>
                <a:latin typeface="Times New Roman"/>
                <a:ea typeface="+mn-ea"/>
                <a:cs typeface="Times New Roman"/>
              </a:rPr>
              <a:t> </a:t>
            </a:r>
            <a:r>
              <a:rPr kumimoji="0" sz="1850" b="0" i="0" u="none" strike="noStrike" kern="1200" cap="none" spc="100" normalizeH="0" baseline="0" noProof="0" dirty="0">
                <a:ln>
                  <a:noFill/>
                </a:ln>
                <a:solidFill>
                  <a:prstClr val="black"/>
                </a:solidFill>
                <a:effectLst/>
                <a:uLnTx/>
                <a:uFillTx/>
                <a:latin typeface="Symbol"/>
                <a:ea typeface="+mn-ea"/>
                <a:cs typeface="Symbol"/>
              </a:rPr>
              <a:t></a:t>
            </a:r>
            <a:r>
              <a:rPr kumimoji="0" sz="1950" b="0" i="0" u="none" strike="noStrike" kern="1200" cap="none" spc="-70" normalizeH="0" baseline="0" noProof="0" dirty="0">
                <a:ln>
                  <a:noFill/>
                </a:ln>
                <a:solidFill>
                  <a:prstClr val="black"/>
                </a:solidFill>
                <a:effectLst/>
                <a:uLnTx/>
                <a:uFillTx/>
                <a:latin typeface="Symbol"/>
                <a:ea typeface="+mn-ea"/>
                <a:cs typeface="Symbol"/>
              </a:rPr>
              <a:t></a:t>
            </a:r>
            <a:r>
              <a:rPr kumimoji="0" sz="1575" b="0" i="1" u="none" strike="noStrike" kern="1200" cap="none" spc="-202" normalizeH="0" baseline="-26455" noProof="0" dirty="0">
                <a:ln>
                  <a:noFill/>
                </a:ln>
                <a:solidFill>
                  <a:prstClr val="black"/>
                </a:solidFill>
                <a:effectLst/>
                <a:uLnTx/>
                <a:uFillTx/>
                <a:latin typeface="Times New Roman"/>
                <a:ea typeface="+mn-ea"/>
                <a:cs typeface="Times New Roman"/>
              </a:rPr>
              <a:t>p</a:t>
            </a:r>
            <a:r>
              <a:rPr kumimoji="0" sz="1125" b="0" i="0" u="none" strike="noStrike" kern="1200" cap="none" spc="22" normalizeH="0" baseline="-55555" noProof="0" dirty="0">
                <a:ln>
                  <a:noFill/>
                </a:ln>
                <a:solidFill>
                  <a:prstClr val="black"/>
                </a:solidFill>
                <a:effectLst/>
                <a:uLnTx/>
                <a:uFillTx/>
                <a:latin typeface="Times New Roman"/>
                <a:ea typeface="+mn-ea"/>
                <a:cs typeface="Times New Roman"/>
              </a:rPr>
              <a:t>1</a:t>
            </a:r>
            <a:r>
              <a:rPr kumimoji="0" sz="1125" b="0" i="0" u="none" strike="noStrike" kern="1200" cap="none" spc="0" normalizeH="0" baseline="-55555" noProof="0" dirty="0">
                <a:ln>
                  <a:noFill/>
                </a:ln>
                <a:solidFill>
                  <a:prstClr val="black"/>
                </a:solidFill>
                <a:effectLst/>
                <a:uLnTx/>
                <a:uFillTx/>
                <a:latin typeface="Times New Roman"/>
                <a:ea typeface="+mn-ea"/>
                <a:cs typeface="Times New Roman"/>
              </a:rPr>
              <a:t> </a:t>
            </a:r>
            <a:r>
              <a:rPr kumimoji="0" sz="1125" b="0" i="0" u="none" strike="noStrike" kern="1200" cap="none" spc="-44" normalizeH="0" baseline="-55555" noProof="0" dirty="0">
                <a:ln>
                  <a:noFill/>
                </a:ln>
                <a:solidFill>
                  <a:prstClr val="black"/>
                </a:solidFill>
                <a:effectLst/>
                <a:uLnTx/>
                <a:uFillTx/>
                <a:latin typeface="Times New Roman"/>
                <a:ea typeface="+mn-ea"/>
                <a:cs typeface="Times New Roman"/>
              </a:rPr>
              <a:t> </a:t>
            </a:r>
            <a:r>
              <a:rPr kumimoji="0" sz="4500" b="0" i="0" u="none" strike="noStrike" kern="1200" cap="none" spc="-465" normalizeH="0" baseline="-4629" noProof="0" dirty="0">
                <a:ln>
                  <a:noFill/>
                </a:ln>
                <a:solidFill>
                  <a:prstClr val="black"/>
                </a:solidFill>
                <a:effectLst/>
                <a:uLnTx/>
                <a:uFillTx/>
                <a:latin typeface="Symbol"/>
                <a:ea typeface="+mn-ea"/>
                <a:cs typeface="Symbol"/>
              </a:rPr>
              <a:t></a:t>
            </a:r>
            <a:r>
              <a:rPr kumimoji="0" sz="4350" b="0" i="0" u="none" strike="noStrike" kern="1200" cap="none" spc="-382" normalizeH="0" baseline="-3831" noProof="0" dirty="0">
                <a:ln>
                  <a:noFill/>
                </a:ln>
                <a:solidFill>
                  <a:prstClr val="black"/>
                </a:solidFill>
                <a:effectLst/>
                <a:uLnTx/>
                <a:uFillTx/>
                <a:latin typeface="Symbol"/>
                <a:ea typeface="+mn-ea"/>
                <a:cs typeface="Symbol"/>
              </a:rPr>
              <a:t></a:t>
            </a:r>
            <a:r>
              <a:rPr kumimoji="0" sz="1850" b="0" i="1" u="none" strike="noStrike" kern="1200" cap="none" spc="5" normalizeH="0" baseline="0" noProof="0" dirty="0">
                <a:ln>
                  <a:noFill/>
                </a:ln>
                <a:solidFill>
                  <a:prstClr val="black"/>
                </a:solidFill>
                <a:effectLst/>
                <a:uLnTx/>
                <a:uFillTx/>
                <a:latin typeface="Times New Roman"/>
                <a:ea typeface="+mn-ea"/>
                <a:cs typeface="Times New Roman"/>
              </a:rPr>
              <a:t>s</a:t>
            </a:r>
            <a:r>
              <a:rPr kumimoji="0" sz="1850" b="0" i="1" u="none" strike="noStrike" kern="1200" cap="none" spc="-225" normalizeH="0" baseline="0" noProof="0" dirty="0">
                <a:ln>
                  <a:noFill/>
                </a:ln>
                <a:solidFill>
                  <a:prstClr val="black"/>
                </a:solidFill>
                <a:effectLst/>
                <a:uLnTx/>
                <a:uFillTx/>
                <a:latin typeface="Times New Roman"/>
                <a:ea typeface="+mn-ea"/>
                <a:cs typeface="Times New Roman"/>
              </a:rPr>
              <a:t> </a:t>
            </a:r>
            <a:r>
              <a:rPr kumimoji="0" sz="1850" b="0" i="0" u="none" strike="noStrike" kern="1200" cap="none" spc="105" normalizeH="0" baseline="0" noProof="0" dirty="0">
                <a:ln>
                  <a:noFill/>
                </a:ln>
                <a:solidFill>
                  <a:prstClr val="black"/>
                </a:solidFill>
                <a:effectLst/>
                <a:uLnTx/>
                <a:uFillTx/>
                <a:latin typeface="Symbol"/>
                <a:ea typeface="+mn-ea"/>
                <a:cs typeface="Symbol"/>
              </a:rPr>
              <a:t></a:t>
            </a:r>
            <a:r>
              <a:rPr kumimoji="0" sz="1950" b="0" i="0" u="none" strike="noStrike" kern="1200" cap="none" spc="-75" normalizeH="0" baseline="0" noProof="0" dirty="0">
                <a:ln>
                  <a:noFill/>
                </a:ln>
                <a:solidFill>
                  <a:prstClr val="black"/>
                </a:solidFill>
                <a:effectLst/>
                <a:uLnTx/>
                <a:uFillTx/>
                <a:latin typeface="Symbol"/>
                <a:ea typeface="+mn-ea"/>
                <a:cs typeface="Symbol"/>
              </a:rPr>
              <a:t></a:t>
            </a:r>
            <a:r>
              <a:rPr kumimoji="0" sz="1575" b="0" i="1" u="none" strike="noStrike" kern="1200" cap="none" spc="75" normalizeH="0" baseline="-26455" noProof="0" dirty="0">
                <a:ln>
                  <a:noFill/>
                </a:ln>
                <a:solidFill>
                  <a:prstClr val="black"/>
                </a:solidFill>
                <a:effectLst/>
                <a:uLnTx/>
                <a:uFillTx/>
                <a:latin typeface="Times New Roman"/>
                <a:ea typeface="+mn-ea"/>
                <a:cs typeface="Times New Roman"/>
              </a:rPr>
              <a:t>p</a:t>
            </a:r>
            <a:r>
              <a:rPr kumimoji="0" sz="1575" b="0" i="0" u="none" strike="noStrike" kern="1200" cap="none" spc="15" normalizeH="0" baseline="-26455" noProof="0" dirty="0">
                <a:ln>
                  <a:noFill/>
                </a:ln>
                <a:solidFill>
                  <a:prstClr val="black"/>
                </a:solidFill>
                <a:effectLst/>
                <a:uLnTx/>
                <a:uFillTx/>
                <a:latin typeface="Times New Roman"/>
                <a:ea typeface="+mn-ea"/>
                <a:cs typeface="Times New Roman"/>
              </a:rPr>
              <a:t>2</a:t>
            </a:r>
            <a:r>
              <a:rPr kumimoji="0" sz="1575" b="0" i="0" u="none" strike="noStrike" kern="1200" cap="none" spc="-37" normalizeH="0" baseline="-26455" noProof="0" dirty="0">
                <a:ln>
                  <a:noFill/>
                </a:ln>
                <a:solidFill>
                  <a:prstClr val="black"/>
                </a:solidFill>
                <a:effectLst/>
                <a:uLnTx/>
                <a:uFillTx/>
                <a:latin typeface="Times New Roman"/>
                <a:ea typeface="+mn-ea"/>
                <a:cs typeface="Times New Roman"/>
              </a:rPr>
              <a:t> </a:t>
            </a:r>
            <a:r>
              <a:rPr kumimoji="0" sz="4350" b="0" i="0" u="none" strike="noStrike" kern="1200" cap="none" spc="-637" normalizeH="0" baseline="-3831" noProof="0" dirty="0">
                <a:ln>
                  <a:noFill/>
                </a:ln>
                <a:solidFill>
                  <a:prstClr val="black"/>
                </a:solidFill>
                <a:effectLst/>
                <a:uLnTx/>
                <a:uFillTx/>
                <a:latin typeface="Symbol"/>
                <a:ea typeface="+mn-ea"/>
                <a:cs typeface="Symbol"/>
              </a:rPr>
              <a:t></a:t>
            </a:r>
            <a:endParaRPr kumimoji="0" sz="4350" b="0" i="0" u="none" strike="noStrike" kern="1200" cap="none" spc="0" normalizeH="0" baseline="-3831" noProof="0">
              <a:ln>
                <a:noFill/>
              </a:ln>
              <a:solidFill>
                <a:prstClr val="black"/>
              </a:solidFill>
              <a:effectLst/>
              <a:uLnTx/>
              <a:uFillTx/>
              <a:latin typeface="Symbol"/>
              <a:ea typeface="+mn-ea"/>
              <a:cs typeface="Symbol"/>
            </a:endParaRPr>
          </a:p>
        </p:txBody>
      </p:sp>
      <p:sp>
        <p:nvSpPr>
          <p:cNvPr id="10" name="object 10"/>
          <p:cNvSpPr txBox="1"/>
          <p:nvPr/>
        </p:nvSpPr>
        <p:spPr>
          <a:xfrm>
            <a:off x="1786126" y="3030778"/>
            <a:ext cx="508000" cy="699135"/>
          </a:xfrm>
          <a:prstGeom prst="rect">
            <a:avLst/>
          </a:prstGeom>
        </p:spPr>
        <p:txBody>
          <a:bodyPr vert="horz" wrap="square" lIns="0" tIns="67310" rIns="0" bIns="0" rtlCol="0">
            <a:spAutoFit/>
          </a:bodyPr>
          <a:lstStyle/>
          <a:p>
            <a:pPr marL="38100" marR="0" lvl="0" indent="0" algn="l" defTabSz="914400" rtl="0" eaLnBrk="1" fontAlgn="auto" latinLnBrk="0" hangingPunct="1">
              <a:lnSpc>
                <a:spcPct val="100000"/>
              </a:lnSpc>
              <a:spcBef>
                <a:spcPts val="530"/>
              </a:spcBef>
              <a:spcAft>
                <a:spcPts val="0"/>
              </a:spcAft>
              <a:buClrTx/>
              <a:buSzTx/>
              <a:buFontTx/>
              <a:buNone/>
              <a:tabLst>
                <a:tab pos="469265" algn="l"/>
              </a:tabLst>
              <a:defRPr/>
            </a:pPr>
            <a:r>
              <a:rPr kumimoji="0" sz="1850" b="0" i="0" u="sng" strike="noStrike" kern="1200" cap="none" spc="0" normalizeH="0" baseline="0" noProof="0" dirty="0">
                <a:ln>
                  <a:noFill/>
                </a:ln>
                <a:solidFill>
                  <a:prstClr val="black"/>
                </a:solidFill>
                <a:effectLst/>
                <a:uLnTx/>
                <a:uFill>
                  <a:solidFill>
                    <a:srgbClr val="000000"/>
                  </a:solidFill>
                </a:uFill>
                <a:latin typeface="Times New Roman"/>
                <a:ea typeface="+mn-ea"/>
                <a:cs typeface="Times New Roman"/>
              </a:rPr>
              <a:t>  </a:t>
            </a:r>
            <a:r>
              <a:rPr kumimoji="0" sz="1850" b="0" i="0" u="sng" strike="noStrike" kern="1200" cap="none" spc="-110" normalizeH="0" baseline="0" noProof="0" dirty="0">
                <a:ln>
                  <a:noFill/>
                </a:ln>
                <a:solidFill>
                  <a:prstClr val="black"/>
                </a:solidFill>
                <a:effectLst/>
                <a:uLnTx/>
                <a:uFill>
                  <a:solidFill>
                    <a:srgbClr val="000000"/>
                  </a:solidFill>
                </a:uFill>
                <a:latin typeface="Times New Roman"/>
                <a:ea typeface="+mn-ea"/>
                <a:cs typeface="Times New Roman"/>
              </a:rPr>
              <a:t> </a:t>
            </a:r>
            <a:r>
              <a:rPr kumimoji="0" sz="1850" b="0" i="0" u="sng" strike="noStrike" kern="1200" cap="none" spc="5" normalizeH="0" baseline="0" noProof="0" dirty="0">
                <a:ln>
                  <a:noFill/>
                </a:ln>
                <a:solidFill>
                  <a:prstClr val="black"/>
                </a:solidFill>
                <a:effectLst/>
                <a:uLnTx/>
                <a:uFill>
                  <a:solidFill>
                    <a:srgbClr val="000000"/>
                  </a:solidFill>
                </a:uFill>
                <a:latin typeface="Times New Roman"/>
                <a:ea typeface="+mn-ea"/>
                <a:cs typeface="Times New Roman"/>
              </a:rPr>
              <a:t>1	</a:t>
            </a:r>
            <a:endParaRPr kumimoji="0" sz="1850" b="0" i="0" u="none" strike="noStrike" kern="1200" cap="none" spc="0" normalizeH="0" baseline="0" noProof="0">
              <a:ln>
                <a:noFill/>
              </a:ln>
              <a:solidFill>
                <a:prstClr val="black"/>
              </a:solidFill>
              <a:effectLst/>
              <a:uLnTx/>
              <a:uFillTx/>
              <a:latin typeface="Times New Roman"/>
              <a:ea typeface="+mn-ea"/>
              <a:cs typeface="Times New Roman"/>
            </a:endParaRPr>
          </a:p>
          <a:p>
            <a:pPr marL="57785" marR="0" lvl="0" indent="0" algn="l" defTabSz="914400" rtl="0" eaLnBrk="1" fontAlgn="auto" latinLnBrk="0" hangingPunct="1">
              <a:lnSpc>
                <a:spcPct val="100000"/>
              </a:lnSpc>
              <a:spcBef>
                <a:spcPts val="430"/>
              </a:spcBef>
              <a:spcAft>
                <a:spcPts val="0"/>
              </a:spcAft>
              <a:buClrTx/>
              <a:buSzTx/>
              <a:buFontTx/>
              <a:buNone/>
              <a:tabLst/>
              <a:defRPr/>
            </a:pPr>
            <a:r>
              <a:rPr kumimoji="0" sz="1850" b="0" i="1" u="none" strike="noStrike" kern="1200" cap="none" spc="-50" normalizeH="0" baseline="0" noProof="0" dirty="0">
                <a:ln>
                  <a:noFill/>
                </a:ln>
                <a:solidFill>
                  <a:prstClr val="black"/>
                </a:solidFill>
                <a:effectLst/>
                <a:uLnTx/>
                <a:uFillTx/>
                <a:latin typeface="Times New Roman"/>
                <a:ea typeface="+mn-ea"/>
                <a:cs typeface="Times New Roman"/>
              </a:rPr>
              <a:t>R</a:t>
            </a:r>
            <a:r>
              <a:rPr kumimoji="0" sz="1575" b="0" i="1" u="none" strike="noStrike" kern="1200" cap="none" spc="-75" normalizeH="0" baseline="-26455" noProof="0" dirty="0">
                <a:ln>
                  <a:noFill/>
                </a:ln>
                <a:solidFill>
                  <a:prstClr val="black"/>
                </a:solidFill>
                <a:effectLst/>
                <a:uLnTx/>
                <a:uFillTx/>
                <a:latin typeface="Times New Roman"/>
                <a:ea typeface="+mn-ea"/>
                <a:cs typeface="Times New Roman"/>
              </a:rPr>
              <a:t>s</a:t>
            </a:r>
            <a:r>
              <a:rPr kumimoji="0" sz="1850" b="0" i="1" u="none" strike="noStrike" kern="1200" cap="none" spc="-50" normalizeH="0" baseline="0" noProof="0" dirty="0">
                <a:ln>
                  <a:noFill/>
                </a:ln>
                <a:solidFill>
                  <a:prstClr val="black"/>
                </a:solidFill>
                <a:effectLst/>
                <a:uLnTx/>
                <a:uFillTx/>
                <a:latin typeface="Times New Roman"/>
                <a:ea typeface="+mn-ea"/>
                <a:cs typeface="Times New Roman"/>
              </a:rPr>
              <a:t>C</a:t>
            </a:r>
            <a:r>
              <a:rPr kumimoji="0" sz="1575" b="0" i="1" u="none" strike="noStrike" kern="1200" cap="none" spc="-75" normalizeH="0" baseline="-26455" noProof="0" dirty="0">
                <a:ln>
                  <a:noFill/>
                </a:ln>
                <a:solidFill>
                  <a:prstClr val="black"/>
                </a:solidFill>
                <a:effectLst/>
                <a:uLnTx/>
                <a:uFillTx/>
                <a:latin typeface="Times New Roman"/>
                <a:ea typeface="+mn-ea"/>
                <a:cs typeface="Times New Roman"/>
              </a:rPr>
              <a:t>s</a:t>
            </a:r>
            <a:endParaRPr kumimoji="0" sz="1575" b="0" i="0" u="none" strike="noStrike" kern="1200" cap="none" spc="0" normalizeH="0" baseline="-26455" noProof="0">
              <a:ln>
                <a:noFill/>
              </a:ln>
              <a:solidFill>
                <a:prstClr val="black"/>
              </a:solidFill>
              <a:effectLst/>
              <a:uLnTx/>
              <a:uFillTx/>
              <a:latin typeface="Times New Roman"/>
              <a:ea typeface="+mn-ea"/>
              <a:cs typeface="Times New Roman"/>
            </a:endParaRPr>
          </a:p>
        </p:txBody>
      </p:sp>
      <p:sp>
        <p:nvSpPr>
          <p:cNvPr id="11" name="object 11"/>
          <p:cNvSpPr txBox="1"/>
          <p:nvPr/>
        </p:nvSpPr>
        <p:spPr>
          <a:xfrm>
            <a:off x="1332738" y="3221243"/>
            <a:ext cx="488315" cy="325755"/>
          </a:xfrm>
          <a:prstGeom prst="rect">
            <a:avLst/>
          </a:prstGeom>
        </p:spPr>
        <p:txBody>
          <a:bodyPr vert="horz" wrap="square" lIns="0" tIns="14604" rIns="0" bIns="0" rtlCol="0">
            <a:spAutoFit/>
          </a:bodyPr>
          <a:lstStyle/>
          <a:p>
            <a:pPr marL="38100" marR="0" lvl="0" indent="0" algn="l" defTabSz="914400" rtl="0" eaLnBrk="1" fontAlgn="auto" latinLnBrk="0" hangingPunct="1">
              <a:lnSpc>
                <a:spcPct val="100000"/>
              </a:lnSpc>
              <a:spcBef>
                <a:spcPts val="114"/>
              </a:spcBef>
              <a:spcAft>
                <a:spcPts val="0"/>
              </a:spcAft>
              <a:buClrTx/>
              <a:buSzTx/>
              <a:buFontTx/>
              <a:buNone/>
              <a:tabLst/>
              <a:defRPr/>
            </a:pPr>
            <a:r>
              <a:rPr kumimoji="0" sz="1950" b="0" i="0" u="none" strike="noStrike" kern="1200" cap="none" spc="-75" normalizeH="0" baseline="0" noProof="0" dirty="0">
                <a:ln>
                  <a:noFill/>
                </a:ln>
                <a:solidFill>
                  <a:prstClr val="black"/>
                </a:solidFill>
                <a:effectLst/>
                <a:uLnTx/>
                <a:uFillTx/>
                <a:latin typeface="Symbol"/>
                <a:ea typeface="+mn-ea"/>
                <a:cs typeface="Symbol"/>
              </a:rPr>
              <a:t></a:t>
            </a:r>
            <a:r>
              <a:rPr kumimoji="0" sz="1575" b="0" i="1" u="none" strike="noStrike" kern="1200" cap="none" spc="-112" normalizeH="0" baseline="-26455" noProof="0" dirty="0">
                <a:ln>
                  <a:noFill/>
                </a:ln>
                <a:solidFill>
                  <a:prstClr val="black"/>
                </a:solidFill>
                <a:effectLst/>
                <a:uLnTx/>
                <a:uFillTx/>
                <a:latin typeface="Times New Roman"/>
                <a:ea typeface="+mn-ea"/>
                <a:cs typeface="Times New Roman"/>
              </a:rPr>
              <a:t>z</a:t>
            </a:r>
            <a:r>
              <a:rPr kumimoji="0" sz="1575" b="0" i="1" u="none" strike="noStrike" kern="1200" cap="none" spc="157" normalizeH="0" baseline="-26455" noProof="0" dirty="0">
                <a:ln>
                  <a:noFill/>
                </a:ln>
                <a:solidFill>
                  <a:prstClr val="black"/>
                </a:solidFill>
                <a:effectLst/>
                <a:uLnTx/>
                <a:uFillTx/>
                <a:latin typeface="Times New Roman"/>
                <a:ea typeface="+mn-ea"/>
                <a:cs typeface="Times New Roman"/>
              </a:rPr>
              <a:t> </a:t>
            </a:r>
            <a:r>
              <a:rPr kumimoji="0" sz="1850" b="0" i="0" u="none" strike="noStrike" kern="1200" cap="none" spc="5" normalizeH="0" baseline="0" noProof="0" dirty="0">
                <a:ln>
                  <a:noFill/>
                </a:ln>
                <a:solidFill>
                  <a:prstClr val="black"/>
                </a:solidFill>
                <a:effectLst/>
                <a:uLnTx/>
                <a:uFillTx/>
                <a:latin typeface="Symbol"/>
                <a:ea typeface="+mn-ea"/>
                <a:cs typeface="Symbol"/>
              </a:rPr>
              <a:t></a:t>
            </a:r>
            <a:endParaRPr kumimoji="0" sz="1850" b="0" i="0" u="none" strike="noStrike" kern="1200" cap="none" spc="0" normalizeH="0" baseline="0" noProof="0">
              <a:ln>
                <a:noFill/>
              </a:ln>
              <a:solidFill>
                <a:prstClr val="black"/>
              </a:solidFill>
              <a:effectLst/>
              <a:uLnTx/>
              <a:uFillTx/>
              <a:latin typeface="Symbol"/>
              <a:ea typeface="+mn-ea"/>
              <a:cs typeface="Symbol"/>
            </a:endParaRPr>
          </a:p>
        </p:txBody>
      </p:sp>
      <p:sp>
        <p:nvSpPr>
          <p:cNvPr id="12" name="object 12"/>
          <p:cNvSpPr txBox="1"/>
          <p:nvPr/>
        </p:nvSpPr>
        <p:spPr>
          <a:xfrm>
            <a:off x="2474210" y="3441894"/>
            <a:ext cx="177165" cy="189865"/>
          </a:xfrm>
          <a:prstGeom prst="rect">
            <a:avLst/>
          </a:prstGeom>
        </p:spPr>
        <p:txBody>
          <a:bodyPr vert="horz" wrap="square" lIns="0" tIns="15875" rIns="0" bIns="0" rtlCol="0">
            <a:spAutoFit/>
          </a:bodyPr>
          <a:lstStyle/>
          <a:p>
            <a:pPr marL="38100" marR="0" lvl="0" indent="0" algn="l" defTabSz="914400" rtl="0" eaLnBrk="1" fontAlgn="auto" latinLnBrk="0" hangingPunct="1">
              <a:lnSpc>
                <a:spcPct val="100000"/>
              </a:lnSpc>
              <a:spcBef>
                <a:spcPts val="125"/>
              </a:spcBef>
              <a:spcAft>
                <a:spcPts val="0"/>
              </a:spcAft>
              <a:buClrTx/>
              <a:buSzTx/>
              <a:buFontTx/>
              <a:buNone/>
              <a:tabLst/>
              <a:defRPr/>
            </a:pPr>
            <a:r>
              <a:rPr kumimoji="0" sz="1050" b="0" i="1" u="none" strike="noStrike" kern="1200" cap="none" spc="-60" normalizeH="0" baseline="0" noProof="0" dirty="0">
                <a:ln>
                  <a:noFill/>
                </a:ln>
                <a:solidFill>
                  <a:prstClr val="black"/>
                </a:solidFill>
                <a:effectLst/>
                <a:uLnTx/>
                <a:uFillTx/>
                <a:latin typeface="Times New Roman"/>
                <a:ea typeface="+mn-ea"/>
                <a:cs typeface="Times New Roman"/>
              </a:rPr>
              <a:t>p</a:t>
            </a:r>
            <a:r>
              <a:rPr kumimoji="0" sz="1125" b="0" i="0" u="none" strike="noStrike" kern="1200" cap="none" spc="-89" normalizeH="0" baseline="-22222" noProof="0" dirty="0">
                <a:ln>
                  <a:noFill/>
                </a:ln>
                <a:solidFill>
                  <a:prstClr val="black"/>
                </a:solidFill>
                <a:effectLst/>
                <a:uLnTx/>
                <a:uFillTx/>
                <a:latin typeface="Times New Roman"/>
                <a:ea typeface="+mn-ea"/>
                <a:cs typeface="Times New Roman"/>
              </a:rPr>
              <a:t>1</a:t>
            </a:r>
            <a:endParaRPr kumimoji="0" sz="1125" b="0" i="0" u="none" strike="noStrike" kern="1200" cap="none" spc="0" normalizeH="0" baseline="-22222" noProof="0">
              <a:ln>
                <a:noFill/>
              </a:ln>
              <a:solidFill>
                <a:prstClr val="black"/>
              </a:solidFill>
              <a:effectLst/>
              <a:uLnTx/>
              <a:uFillTx/>
              <a:latin typeface="Times New Roman"/>
              <a:ea typeface="+mn-ea"/>
              <a:cs typeface="Times New Roman"/>
            </a:endParaRPr>
          </a:p>
        </p:txBody>
      </p:sp>
      <p:sp>
        <p:nvSpPr>
          <p:cNvPr id="13" name="object 13"/>
          <p:cNvSpPr txBox="1"/>
          <p:nvPr/>
        </p:nvSpPr>
        <p:spPr>
          <a:xfrm>
            <a:off x="3507740" y="3284923"/>
            <a:ext cx="313690" cy="189865"/>
          </a:xfrm>
          <a:prstGeom prst="rect">
            <a:avLst/>
          </a:prstGeom>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tab pos="247015" algn="l"/>
              </a:tabLst>
              <a:defRPr/>
            </a:pPr>
            <a:r>
              <a:rPr kumimoji="0" sz="1050" b="0" i="1" u="none" strike="noStrike" kern="1200" cap="none" spc="15" normalizeH="0" baseline="0" noProof="0" dirty="0">
                <a:ln>
                  <a:noFill/>
                </a:ln>
                <a:solidFill>
                  <a:prstClr val="black"/>
                </a:solidFill>
                <a:effectLst/>
                <a:uLnTx/>
                <a:uFillTx/>
                <a:latin typeface="Times New Roman"/>
                <a:ea typeface="+mn-ea"/>
                <a:cs typeface="Times New Roman"/>
              </a:rPr>
              <a:t>m	</a:t>
            </a:r>
            <a:r>
              <a:rPr kumimoji="0" sz="1050" b="0" i="1" u="none" strike="noStrike" kern="1200" cap="none" spc="10" normalizeH="0" baseline="0" noProof="0" dirty="0">
                <a:ln>
                  <a:noFill/>
                </a:ln>
                <a:solidFill>
                  <a:prstClr val="black"/>
                </a:solidFill>
                <a:effectLst/>
                <a:uLnTx/>
                <a:uFillTx/>
                <a:latin typeface="Times New Roman"/>
                <a:ea typeface="+mn-ea"/>
                <a:cs typeface="Times New Roman"/>
              </a:rPr>
              <a:t>s</a:t>
            </a:r>
            <a:endParaRPr kumimoji="0" sz="10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4" name="object 14"/>
          <p:cNvSpPr txBox="1"/>
          <p:nvPr/>
        </p:nvSpPr>
        <p:spPr>
          <a:xfrm>
            <a:off x="3269234" y="3627820"/>
            <a:ext cx="280670" cy="189865"/>
          </a:xfrm>
          <a:prstGeom prst="rect">
            <a:avLst/>
          </a:prstGeom>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tab pos="213995" algn="l"/>
              </a:tabLst>
              <a:defRPr/>
            </a:pPr>
            <a:r>
              <a:rPr kumimoji="0" sz="1050" b="0" i="1" u="none" strike="noStrike" kern="1200" cap="none" spc="10" normalizeH="0" baseline="0" noProof="0" dirty="0">
                <a:ln>
                  <a:noFill/>
                </a:ln>
                <a:solidFill>
                  <a:prstClr val="black"/>
                </a:solidFill>
                <a:effectLst/>
                <a:uLnTx/>
                <a:uFillTx/>
                <a:latin typeface="Times New Roman"/>
                <a:ea typeface="+mn-ea"/>
                <a:cs typeface="Times New Roman"/>
              </a:rPr>
              <a:t>s	s</a:t>
            </a:r>
            <a:endParaRPr kumimoji="0" sz="10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5" name="object 15"/>
          <p:cNvSpPr txBox="1"/>
          <p:nvPr/>
        </p:nvSpPr>
        <p:spPr>
          <a:xfrm>
            <a:off x="3145800" y="3467105"/>
            <a:ext cx="405130" cy="309245"/>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sz="1850" b="0" i="1" u="none" strike="noStrike" kern="1200" cap="none" spc="155" normalizeH="0" baseline="0" noProof="0" dirty="0">
                <a:ln>
                  <a:noFill/>
                </a:ln>
                <a:solidFill>
                  <a:prstClr val="black"/>
                </a:solidFill>
                <a:effectLst/>
                <a:uLnTx/>
                <a:uFillTx/>
                <a:latin typeface="Times New Roman"/>
                <a:ea typeface="+mn-ea"/>
                <a:cs typeface="Times New Roman"/>
              </a:rPr>
              <a:t>RC</a:t>
            </a:r>
            <a:r>
              <a:rPr kumimoji="0" sz="1850" b="0" i="1" u="none" strike="noStrike" kern="1200" cap="none" spc="-160" normalizeH="0" baseline="0" noProof="0" dirty="0">
                <a:ln>
                  <a:noFill/>
                </a:ln>
                <a:solidFill>
                  <a:prstClr val="black"/>
                </a:solidFill>
                <a:effectLst/>
                <a:uLnTx/>
                <a:uFillTx/>
                <a:latin typeface="Times New Roman"/>
                <a:ea typeface="+mn-ea"/>
                <a:cs typeface="Times New Roman"/>
              </a:rPr>
              <a:t> </a:t>
            </a:r>
            <a:endParaRPr kumimoji="0" sz="18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6" name="object 16"/>
          <p:cNvSpPr txBox="1"/>
          <p:nvPr/>
        </p:nvSpPr>
        <p:spPr>
          <a:xfrm>
            <a:off x="2844038" y="3123439"/>
            <a:ext cx="1009650" cy="309245"/>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sz="1850" b="0" i="0" u="sng" strike="noStrike" kern="1200" cap="none" spc="45" normalizeH="0" baseline="0" noProof="0" dirty="0">
                <a:ln>
                  <a:noFill/>
                </a:ln>
                <a:solidFill>
                  <a:prstClr val="black"/>
                </a:solidFill>
                <a:effectLst/>
                <a:uLnTx/>
                <a:uFill>
                  <a:solidFill>
                    <a:srgbClr val="000000"/>
                  </a:solidFill>
                </a:uFill>
                <a:latin typeface="Times New Roman"/>
                <a:ea typeface="+mn-ea"/>
                <a:cs typeface="Times New Roman"/>
              </a:rPr>
              <a:t>1</a:t>
            </a:r>
            <a:r>
              <a:rPr kumimoji="0" sz="1850" b="0" i="0" u="sng" strike="noStrike" kern="1200" cap="none" spc="5" normalizeH="0" baseline="0" noProof="0" dirty="0">
                <a:ln>
                  <a:noFill/>
                </a:ln>
                <a:solidFill>
                  <a:prstClr val="black"/>
                </a:solidFill>
                <a:effectLst/>
                <a:uLnTx/>
                <a:uFill>
                  <a:solidFill>
                    <a:srgbClr val="000000"/>
                  </a:solidFill>
                </a:uFill>
                <a:latin typeface="Symbol"/>
                <a:ea typeface="+mn-ea"/>
                <a:cs typeface="Symbol"/>
              </a:rPr>
              <a:t></a:t>
            </a:r>
            <a:r>
              <a:rPr kumimoji="0" sz="1850" b="0" i="0" u="sng" strike="noStrike" kern="1200" cap="none" spc="-285" normalizeH="0" baseline="0" noProof="0" dirty="0">
                <a:ln>
                  <a:noFill/>
                </a:ln>
                <a:solidFill>
                  <a:prstClr val="black"/>
                </a:solidFill>
                <a:effectLst/>
                <a:uLnTx/>
                <a:uFill>
                  <a:solidFill>
                    <a:srgbClr val="000000"/>
                  </a:solidFill>
                </a:uFill>
                <a:latin typeface="Times New Roman"/>
                <a:ea typeface="+mn-ea"/>
                <a:cs typeface="Times New Roman"/>
              </a:rPr>
              <a:t> </a:t>
            </a:r>
            <a:r>
              <a:rPr kumimoji="0" sz="1850" b="0" i="0" u="sng" strike="noStrike" kern="1200" cap="none" spc="-100" normalizeH="0" baseline="0" noProof="0" dirty="0">
                <a:ln>
                  <a:noFill/>
                </a:ln>
                <a:solidFill>
                  <a:prstClr val="black"/>
                </a:solidFill>
                <a:effectLst/>
                <a:uLnTx/>
                <a:uFill>
                  <a:solidFill>
                    <a:srgbClr val="000000"/>
                  </a:solidFill>
                </a:uFill>
                <a:latin typeface="Times New Roman"/>
                <a:ea typeface="+mn-ea"/>
                <a:cs typeface="Times New Roman"/>
              </a:rPr>
              <a:t>0</a:t>
            </a:r>
            <a:r>
              <a:rPr kumimoji="0" sz="1850" b="0" i="0" u="sng" strike="noStrike" kern="1200" cap="none" spc="-55" normalizeH="0" baseline="0" noProof="0" dirty="0">
                <a:ln>
                  <a:noFill/>
                </a:ln>
                <a:solidFill>
                  <a:prstClr val="black"/>
                </a:solidFill>
                <a:effectLst/>
                <a:uLnTx/>
                <a:uFill>
                  <a:solidFill>
                    <a:srgbClr val="000000"/>
                  </a:solidFill>
                </a:uFill>
                <a:latin typeface="Times New Roman"/>
                <a:ea typeface="+mn-ea"/>
                <a:cs typeface="Times New Roman"/>
              </a:rPr>
              <a:t>.</a:t>
            </a:r>
            <a:r>
              <a:rPr kumimoji="0" sz="1850" b="0" i="0" u="sng" strike="noStrike" kern="1200" cap="none" spc="-20" normalizeH="0" baseline="0" noProof="0" dirty="0">
                <a:ln>
                  <a:noFill/>
                </a:ln>
                <a:solidFill>
                  <a:prstClr val="black"/>
                </a:solidFill>
                <a:effectLst/>
                <a:uLnTx/>
                <a:uFill>
                  <a:solidFill>
                    <a:srgbClr val="000000"/>
                  </a:solidFill>
                </a:uFill>
                <a:latin typeface="Times New Roman"/>
                <a:ea typeface="+mn-ea"/>
                <a:cs typeface="Times New Roman"/>
              </a:rPr>
              <a:t>5</a:t>
            </a:r>
            <a:r>
              <a:rPr kumimoji="0" sz="1850" b="0" i="1" u="sng" strike="noStrike" kern="1200" cap="none" spc="5" normalizeH="0" baseline="0" noProof="0" dirty="0">
                <a:ln>
                  <a:noFill/>
                </a:ln>
                <a:solidFill>
                  <a:prstClr val="black"/>
                </a:solidFill>
                <a:effectLst/>
                <a:uLnTx/>
                <a:uFill>
                  <a:solidFill>
                    <a:srgbClr val="000000"/>
                  </a:solidFill>
                </a:uFill>
                <a:latin typeface="Times New Roman"/>
                <a:ea typeface="+mn-ea"/>
                <a:cs typeface="Times New Roman"/>
              </a:rPr>
              <a:t>g</a:t>
            </a:r>
            <a:r>
              <a:rPr kumimoji="0" sz="1850" b="0" i="1" u="sng" strike="noStrike" kern="1200" cap="none" spc="0" normalizeH="0" baseline="0" noProof="0" dirty="0">
                <a:ln>
                  <a:noFill/>
                </a:ln>
                <a:solidFill>
                  <a:prstClr val="black"/>
                </a:solidFill>
                <a:effectLst/>
                <a:uLnTx/>
                <a:uFill>
                  <a:solidFill>
                    <a:srgbClr val="000000"/>
                  </a:solidFill>
                </a:uFill>
                <a:latin typeface="Times New Roman"/>
                <a:ea typeface="+mn-ea"/>
                <a:cs typeface="Times New Roman"/>
              </a:rPr>
              <a:t> </a:t>
            </a:r>
            <a:r>
              <a:rPr kumimoji="0" sz="1850" b="0" i="1" u="sng" strike="noStrike" kern="1200" cap="none" spc="-80" normalizeH="0" baseline="0" noProof="0" dirty="0">
                <a:ln>
                  <a:noFill/>
                </a:ln>
                <a:solidFill>
                  <a:prstClr val="black"/>
                </a:solidFill>
                <a:effectLst/>
                <a:uLnTx/>
                <a:uFill>
                  <a:solidFill>
                    <a:srgbClr val="000000"/>
                  </a:solidFill>
                </a:uFill>
                <a:latin typeface="Times New Roman"/>
                <a:ea typeface="+mn-ea"/>
                <a:cs typeface="Times New Roman"/>
              </a:rPr>
              <a:t> </a:t>
            </a:r>
            <a:r>
              <a:rPr kumimoji="0" sz="1850" b="0" i="1" u="sng" strike="noStrike" kern="1200" cap="none" spc="5" normalizeH="0" baseline="0" noProof="0" dirty="0">
                <a:ln>
                  <a:noFill/>
                </a:ln>
                <a:solidFill>
                  <a:prstClr val="black"/>
                </a:solidFill>
                <a:effectLst/>
                <a:uLnTx/>
                <a:uFill>
                  <a:solidFill>
                    <a:srgbClr val="000000"/>
                  </a:solidFill>
                </a:uFill>
                <a:latin typeface="Times New Roman"/>
                <a:ea typeface="+mn-ea"/>
                <a:cs typeface="Times New Roman"/>
              </a:rPr>
              <a:t>R</a:t>
            </a:r>
            <a:r>
              <a:rPr kumimoji="0" sz="1850" b="0" i="1" u="sng" strike="noStrike" kern="1200" cap="none" spc="50" normalizeH="0" baseline="0" noProof="0" dirty="0">
                <a:ln>
                  <a:noFill/>
                </a:ln>
                <a:solidFill>
                  <a:prstClr val="black"/>
                </a:solidFill>
                <a:effectLst/>
                <a:uLnTx/>
                <a:uFill>
                  <a:solidFill>
                    <a:srgbClr val="000000"/>
                  </a:solidFill>
                </a:uFill>
                <a:latin typeface="Times New Roman"/>
                <a:ea typeface="+mn-ea"/>
                <a:cs typeface="Times New Roman"/>
              </a:rPr>
              <a:t> </a:t>
            </a:r>
            <a:endParaRPr kumimoji="0" sz="18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7" name="object 17"/>
          <p:cNvSpPr txBox="1"/>
          <p:nvPr/>
        </p:nvSpPr>
        <p:spPr>
          <a:xfrm>
            <a:off x="2338832" y="3267725"/>
            <a:ext cx="499109" cy="325755"/>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tab pos="356235" algn="l"/>
              </a:tabLst>
              <a:defRPr/>
            </a:pPr>
            <a:r>
              <a:rPr kumimoji="0" sz="1950" b="0" i="0" u="none" strike="noStrike" kern="1200" cap="none" spc="-65" normalizeH="0" baseline="0" noProof="0" dirty="0">
                <a:ln>
                  <a:noFill/>
                </a:ln>
                <a:solidFill>
                  <a:prstClr val="black"/>
                </a:solidFill>
                <a:effectLst/>
                <a:uLnTx/>
                <a:uFillTx/>
                <a:latin typeface="Symbol"/>
                <a:ea typeface="+mn-ea"/>
                <a:cs typeface="Symbol"/>
              </a:rPr>
              <a:t></a:t>
            </a:r>
            <a:r>
              <a:rPr kumimoji="0" sz="1950" b="0" i="0" u="none" strike="noStrike" kern="1200" cap="none" spc="-65" normalizeH="0" baseline="0" noProof="0" dirty="0">
                <a:ln>
                  <a:noFill/>
                </a:ln>
                <a:solidFill>
                  <a:prstClr val="black"/>
                </a:solidFill>
                <a:effectLst/>
                <a:uLnTx/>
                <a:uFillTx/>
                <a:latin typeface="Times New Roman"/>
                <a:ea typeface="+mn-ea"/>
                <a:cs typeface="Times New Roman"/>
              </a:rPr>
              <a:t>	</a:t>
            </a:r>
            <a:r>
              <a:rPr kumimoji="0" sz="1850" b="0" i="0" u="none" strike="noStrike" kern="1200" cap="none" spc="5" normalizeH="0" baseline="0" noProof="0" dirty="0">
                <a:ln>
                  <a:noFill/>
                </a:ln>
                <a:solidFill>
                  <a:prstClr val="black"/>
                </a:solidFill>
                <a:effectLst/>
                <a:uLnTx/>
                <a:uFillTx/>
                <a:latin typeface="Symbol"/>
                <a:ea typeface="+mn-ea"/>
                <a:cs typeface="Symbol"/>
              </a:rPr>
              <a:t></a:t>
            </a:r>
            <a:endParaRPr kumimoji="0" sz="1850" b="0" i="0" u="none" strike="noStrike" kern="1200" cap="none" spc="0" normalizeH="0" baseline="0" noProof="0">
              <a:ln>
                <a:noFill/>
              </a:ln>
              <a:solidFill>
                <a:prstClr val="black"/>
              </a:solidFill>
              <a:effectLst/>
              <a:uLnTx/>
              <a:uFillTx/>
              <a:latin typeface="Symbol"/>
              <a:ea typeface="+mn-ea"/>
              <a:cs typeface="Symbol"/>
            </a:endParaRPr>
          </a:p>
        </p:txBody>
      </p:sp>
      <p:sp>
        <p:nvSpPr>
          <p:cNvPr id="18" name="object 18"/>
          <p:cNvSpPr txBox="1"/>
          <p:nvPr/>
        </p:nvSpPr>
        <p:spPr>
          <a:xfrm>
            <a:off x="4491984" y="2990342"/>
            <a:ext cx="575310" cy="699135"/>
          </a:xfrm>
          <a:prstGeom prst="rect">
            <a:avLst/>
          </a:prstGeom>
        </p:spPr>
        <p:txBody>
          <a:bodyPr vert="horz" wrap="square" lIns="0" tIns="67310" rIns="0" bIns="0" rtlCol="0">
            <a:spAutoFit/>
          </a:bodyPr>
          <a:lstStyle/>
          <a:p>
            <a:pPr marL="38100" marR="0" lvl="0" indent="0" algn="l" defTabSz="914400" rtl="0" eaLnBrk="1" fontAlgn="auto" latinLnBrk="0" hangingPunct="1">
              <a:lnSpc>
                <a:spcPct val="100000"/>
              </a:lnSpc>
              <a:spcBef>
                <a:spcPts val="530"/>
              </a:spcBef>
              <a:spcAft>
                <a:spcPts val="0"/>
              </a:spcAft>
              <a:buClrTx/>
              <a:buSzTx/>
              <a:buFontTx/>
              <a:buNone/>
              <a:tabLst>
                <a:tab pos="234950" algn="l"/>
                <a:tab pos="536575" algn="l"/>
              </a:tabLst>
              <a:defRPr/>
            </a:pPr>
            <a:r>
              <a:rPr kumimoji="0" sz="1850" b="0" i="0" u="sng" strike="noStrike" kern="1200" cap="none" spc="0" normalizeH="0" baseline="0" noProof="0" dirty="0">
                <a:ln>
                  <a:noFill/>
                </a:ln>
                <a:solidFill>
                  <a:prstClr val="black"/>
                </a:solidFill>
                <a:effectLst/>
                <a:uLnTx/>
                <a:uFill>
                  <a:solidFill>
                    <a:srgbClr val="000000"/>
                  </a:solidFill>
                </a:uFill>
                <a:latin typeface="Times New Roman"/>
                <a:ea typeface="+mn-ea"/>
                <a:cs typeface="Times New Roman"/>
              </a:rPr>
              <a:t> 	</a:t>
            </a:r>
            <a:r>
              <a:rPr kumimoji="0" sz="1850" b="0" i="0" u="sng" strike="noStrike" kern="1200" cap="none" spc="5" normalizeH="0" baseline="0" noProof="0" dirty="0">
                <a:ln>
                  <a:noFill/>
                </a:ln>
                <a:solidFill>
                  <a:prstClr val="black"/>
                </a:solidFill>
                <a:effectLst/>
                <a:uLnTx/>
                <a:uFill>
                  <a:solidFill>
                    <a:srgbClr val="000000"/>
                  </a:solidFill>
                </a:uFill>
                <a:latin typeface="Times New Roman"/>
                <a:ea typeface="+mn-ea"/>
                <a:cs typeface="Times New Roman"/>
              </a:rPr>
              <a:t>1	</a:t>
            </a:r>
            <a:endParaRPr kumimoji="0" sz="1850" b="0" i="0" u="none" strike="noStrike" kern="1200" cap="none" spc="0" normalizeH="0" baseline="0" noProof="0">
              <a:ln>
                <a:noFill/>
              </a:ln>
              <a:solidFill>
                <a:prstClr val="black"/>
              </a:solidFill>
              <a:effectLst/>
              <a:uLnTx/>
              <a:uFillTx/>
              <a:latin typeface="Times New Roman"/>
              <a:ea typeface="+mn-ea"/>
              <a:cs typeface="Times New Roman"/>
            </a:endParaRPr>
          </a:p>
          <a:p>
            <a:pPr marL="57785" marR="0" lvl="0" indent="0" algn="l" defTabSz="914400" rtl="0" eaLnBrk="1" fontAlgn="auto" latinLnBrk="0" hangingPunct="1">
              <a:lnSpc>
                <a:spcPct val="100000"/>
              </a:lnSpc>
              <a:spcBef>
                <a:spcPts val="430"/>
              </a:spcBef>
              <a:spcAft>
                <a:spcPts val="0"/>
              </a:spcAft>
              <a:buClrTx/>
              <a:buSzTx/>
              <a:buFontTx/>
              <a:buNone/>
              <a:tabLst/>
              <a:defRPr/>
            </a:pPr>
            <a:r>
              <a:rPr kumimoji="0" sz="1850" b="0" i="1" u="none" strike="noStrike" kern="1200" cap="none" spc="-35" normalizeH="0" baseline="0" noProof="0" dirty="0">
                <a:ln>
                  <a:noFill/>
                </a:ln>
                <a:solidFill>
                  <a:prstClr val="black"/>
                </a:solidFill>
                <a:effectLst/>
                <a:uLnTx/>
                <a:uFillTx/>
                <a:latin typeface="Times New Roman"/>
                <a:ea typeface="+mn-ea"/>
                <a:cs typeface="Times New Roman"/>
              </a:rPr>
              <a:t>R</a:t>
            </a:r>
            <a:r>
              <a:rPr kumimoji="0" sz="1575" b="0" i="1" u="none" strike="noStrike" kern="1200" cap="none" spc="-52" normalizeH="0" baseline="-26455" noProof="0" dirty="0">
                <a:ln>
                  <a:noFill/>
                </a:ln>
                <a:solidFill>
                  <a:prstClr val="black"/>
                </a:solidFill>
                <a:effectLst/>
                <a:uLnTx/>
                <a:uFillTx/>
                <a:latin typeface="Times New Roman"/>
                <a:ea typeface="+mn-ea"/>
                <a:cs typeface="Times New Roman"/>
              </a:rPr>
              <a:t>D</a:t>
            </a:r>
            <a:r>
              <a:rPr kumimoji="0" sz="1850" b="0" i="1" u="none" strike="noStrike" kern="1200" cap="none" spc="-35" normalizeH="0" baseline="0" noProof="0" dirty="0">
                <a:ln>
                  <a:noFill/>
                </a:ln>
                <a:solidFill>
                  <a:prstClr val="black"/>
                </a:solidFill>
                <a:effectLst/>
                <a:uLnTx/>
                <a:uFillTx/>
                <a:latin typeface="Times New Roman"/>
                <a:ea typeface="+mn-ea"/>
                <a:cs typeface="Times New Roman"/>
              </a:rPr>
              <a:t>C</a:t>
            </a:r>
            <a:r>
              <a:rPr kumimoji="0" sz="1575" b="0" i="1" u="none" strike="noStrike" kern="1200" cap="none" spc="-52" normalizeH="0" baseline="-26455" noProof="0" dirty="0">
                <a:ln>
                  <a:noFill/>
                </a:ln>
                <a:solidFill>
                  <a:prstClr val="black"/>
                </a:solidFill>
                <a:effectLst/>
                <a:uLnTx/>
                <a:uFillTx/>
                <a:latin typeface="Times New Roman"/>
                <a:ea typeface="+mn-ea"/>
                <a:cs typeface="Times New Roman"/>
              </a:rPr>
              <a:t>p</a:t>
            </a:r>
            <a:endParaRPr kumimoji="0" sz="1575" b="0" i="0" u="none" strike="noStrike" kern="1200" cap="none" spc="0" normalizeH="0" baseline="-26455" noProof="0">
              <a:ln>
                <a:noFill/>
              </a:ln>
              <a:solidFill>
                <a:prstClr val="black"/>
              </a:solidFill>
              <a:effectLst/>
              <a:uLnTx/>
              <a:uFillTx/>
              <a:latin typeface="Times New Roman"/>
              <a:ea typeface="+mn-ea"/>
              <a:cs typeface="Times New Roman"/>
            </a:endParaRPr>
          </a:p>
        </p:txBody>
      </p:sp>
      <p:sp>
        <p:nvSpPr>
          <p:cNvPr id="19" name="object 19"/>
          <p:cNvSpPr txBox="1"/>
          <p:nvPr/>
        </p:nvSpPr>
        <p:spPr>
          <a:xfrm>
            <a:off x="3947921" y="3181124"/>
            <a:ext cx="579120" cy="325120"/>
          </a:xfrm>
          <a:prstGeom prst="rect">
            <a:avLst/>
          </a:prstGeom>
        </p:spPr>
        <p:txBody>
          <a:bodyPr vert="horz" wrap="square" lIns="0" tIns="14604" rIns="0" bIns="0" rtlCol="0">
            <a:spAutoFit/>
          </a:bodyPr>
          <a:lstStyle/>
          <a:p>
            <a:pPr marL="38100" marR="0" lvl="0" indent="0" algn="l" defTabSz="914400" rtl="0" eaLnBrk="1" fontAlgn="auto" latinLnBrk="0" hangingPunct="1">
              <a:lnSpc>
                <a:spcPct val="100000"/>
              </a:lnSpc>
              <a:spcBef>
                <a:spcPts val="114"/>
              </a:spcBef>
              <a:spcAft>
                <a:spcPts val="0"/>
              </a:spcAft>
              <a:buClrTx/>
              <a:buSzTx/>
              <a:buFontTx/>
              <a:buNone/>
              <a:tabLst/>
              <a:defRPr/>
            </a:pPr>
            <a:r>
              <a:rPr kumimoji="0" sz="1950" b="0" i="0" u="none" strike="noStrike" kern="1200" cap="none" spc="-5" normalizeH="0" baseline="0" noProof="0" dirty="0">
                <a:ln>
                  <a:noFill/>
                </a:ln>
                <a:solidFill>
                  <a:prstClr val="black"/>
                </a:solidFill>
                <a:effectLst/>
                <a:uLnTx/>
                <a:uFillTx/>
                <a:latin typeface="Symbol"/>
                <a:ea typeface="+mn-ea"/>
                <a:cs typeface="Symbol"/>
              </a:rPr>
              <a:t></a:t>
            </a:r>
            <a:r>
              <a:rPr kumimoji="0" sz="1575" b="0" i="1" u="none" strike="noStrike" kern="1200" cap="none" spc="-7" normalizeH="0" baseline="-26455" noProof="0" dirty="0">
                <a:ln>
                  <a:noFill/>
                </a:ln>
                <a:solidFill>
                  <a:prstClr val="black"/>
                </a:solidFill>
                <a:effectLst/>
                <a:uLnTx/>
                <a:uFillTx/>
                <a:latin typeface="Times New Roman"/>
                <a:ea typeface="+mn-ea"/>
                <a:cs typeface="Times New Roman"/>
              </a:rPr>
              <a:t>p</a:t>
            </a:r>
            <a:r>
              <a:rPr kumimoji="0" sz="1575" b="0" i="0" u="none" strike="noStrike" kern="1200" cap="none" spc="-7" normalizeH="0" baseline="-26455" noProof="0" dirty="0">
                <a:ln>
                  <a:noFill/>
                </a:ln>
                <a:solidFill>
                  <a:prstClr val="black"/>
                </a:solidFill>
                <a:effectLst/>
                <a:uLnTx/>
                <a:uFillTx/>
                <a:latin typeface="Times New Roman"/>
                <a:ea typeface="+mn-ea"/>
                <a:cs typeface="Times New Roman"/>
              </a:rPr>
              <a:t>2</a:t>
            </a:r>
            <a:r>
              <a:rPr kumimoji="0" sz="1575" b="0" i="0" u="none" strike="noStrike" kern="1200" cap="none" spc="330" normalizeH="0" baseline="-26455" noProof="0" dirty="0">
                <a:ln>
                  <a:noFill/>
                </a:ln>
                <a:solidFill>
                  <a:prstClr val="black"/>
                </a:solidFill>
                <a:effectLst/>
                <a:uLnTx/>
                <a:uFillTx/>
                <a:latin typeface="Times New Roman"/>
                <a:ea typeface="+mn-ea"/>
                <a:cs typeface="Times New Roman"/>
              </a:rPr>
              <a:t> </a:t>
            </a:r>
            <a:r>
              <a:rPr kumimoji="0" sz="1850" b="0" i="0" u="none" strike="noStrike" kern="1200" cap="none" spc="5" normalizeH="0" baseline="0" noProof="0" dirty="0">
                <a:ln>
                  <a:noFill/>
                </a:ln>
                <a:solidFill>
                  <a:prstClr val="black"/>
                </a:solidFill>
                <a:effectLst/>
                <a:uLnTx/>
                <a:uFillTx/>
                <a:latin typeface="Symbol"/>
                <a:ea typeface="+mn-ea"/>
                <a:cs typeface="Symbol"/>
              </a:rPr>
              <a:t></a:t>
            </a:r>
            <a:endParaRPr kumimoji="0" sz="1850" b="0" i="0" u="none" strike="noStrike" kern="1200" cap="none" spc="0" normalizeH="0" baseline="0" noProof="0">
              <a:ln>
                <a:noFill/>
              </a:ln>
              <a:solidFill>
                <a:prstClr val="black"/>
              </a:solidFill>
              <a:effectLst/>
              <a:uLnTx/>
              <a:uFillTx/>
              <a:latin typeface="Symbol"/>
              <a:ea typeface="+mn-ea"/>
              <a:cs typeface="Symbol"/>
            </a:endParaRPr>
          </a:p>
        </p:txBody>
      </p:sp>
      <p:sp>
        <p:nvSpPr>
          <p:cNvPr id="20" name="object 20"/>
          <p:cNvSpPr/>
          <p:nvPr/>
        </p:nvSpPr>
        <p:spPr>
          <a:xfrm>
            <a:off x="4106397" y="5296812"/>
            <a:ext cx="1253490" cy="0"/>
          </a:xfrm>
          <a:custGeom>
            <a:avLst/>
            <a:gdLst/>
            <a:ahLst/>
            <a:cxnLst/>
            <a:rect l="l" t="t" r="r" b="b"/>
            <a:pathLst>
              <a:path w="1253489">
                <a:moveTo>
                  <a:pt x="0" y="0"/>
                </a:moveTo>
                <a:lnTo>
                  <a:pt x="1253485" y="0"/>
                </a:lnTo>
              </a:path>
            </a:pathLst>
          </a:custGeom>
          <a:ln w="1518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txBox="1"/>
          <p:nvPr/>
        </p:nvSpPr>
        <p:spPr>
          <a:xfrm>
            <a:off x="4055364" y="5295139"/>
            <a:ext cx="1301750" cy="39116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400" b="0" i="0" u="none" strike="noStrike" kern="1200" cap="none" spc="45" normalizeH="0" baseline="0" noProof="0" dirty="0">
                <a:ln>
                  <a:noFill/>
                </a:ln>
                <a:solidFill>
                  <a:srgbClr val="0000FF"/>
                </a:solidFill>
                <a:effectLst/>
                <a:uLnTx/>
                <a:uFillTx/>
                <a:latin typeface="Times New Roman"/>
                <a:ea typeface="+mn-ea"/>
                <a:cs typeface="Times New Roman"/>
              </a:rPr>
              <a:t>1</a:t>
            </a:r>
            <a:r>
              <a:rPr kumimoji="0" sz="2400" b="0" i="0" u="none" strike="noStrike" kern="1200" cap="none" spc="-5" normalizeH="0" baseline="0" noProof="0" dirty="0">
                <a:ln>
                  <a:noFill/>
                </a:ln>
                <a:solidFill>
                  <a:srgbClr val="0000FF"/>
                </a:solidFill>
                <a:effectLst/>
                <a:uLnTx/>
                <a:uFillTx/>
                <a:latin typeface="Symbol"/>
                <a:ea typeface="+mn-ea"/>
                <a:cs typeface="Symbol"/>
              </a:rPr>
              <a:t></a:t>
            </a:r>
            <a:r>
              <a:rPr kumimoji="0" sz="2400" b="0" i="0" u="none" strike="noStrike" kern="1200" cap="none" spc="-370" normalizeH="0" baseline="0" noProof="0" dirty="0">
                <a:ln>
                  <a:noFill/>
                </a:ln>
                <a:solidFill>
                  <a:srgbClr val="0000FF"/>
                </a:solidFill>
                <a:effectLst/>
                <a:uLnTx/>
                <a:uFillTx/>
                <a:latin typeface="Times New Roman"/>
                <a:ea typeface="+mn-ea"/>
                <a:cs typeface="Times New Roman"/>
              </a:rPr>
              <a:t> </a:t>
            </a:r>
            <a:r>
              <a:rPr kumimoji="0" sz="2400" b="0" i="0" u="none" strike="noStrike" kern="1200" cap="none" spc="-140" normalizeH="0" baseline="0" noProof="0" dirty="0">
                <a:ln>
                  <a:noFill/>
                </a:ln>
                <a:solidFill>
                  <a:srgbClr val="0000FF"/>
                </a:solidFill>
                <a:effectLst/>
                <a:uLnTx/>
                <a:uFillTx/>
                <a:latin typeface="Times New Roman"/>
                <a:ea typeface="+mn-ea"/>
                <a:cs typeface="Times New Roman"/>
              </a:rPr>
              <a:t>0</a:t>
            </a:r>
            <a:r>
              <a:rPr kumimoji="0" sz="2400" b="0" i="0" u="none" strike="noStrike" kern="1200" cap="none" spc="-70" normalizeH="0" baseline="0" noProof="0" dirty="0">
                <a:ln>
                  <a:noFill/>
                </a:ln>
                <a:solidFill>
                  <a:srgbClr val="0000FF"/>
                </a:solidFill>
                <a:effectLst/>
                <a:uLnTx/>
                <a:uFillTx/>
                <a:latin typeface="Times New Roman"/>
                <a:ea typeface="+mn-ea"/>
                <a:cs typeface="Times New Roman"/>
              </a:rPr>
              <a:t>.</a:t>
            </a:r>
            <a:r>
              <a:rPr kumimoji="0" sz="2400" b="0" i="0" u="none" strike="noStrike" kern="1200" cap="none" spc="-40" normalizeH="0" baseline="0" noProof="0" dirty="0">
                <a:ln>
                  <a:noFill/>
                </a:ln>
                <a:solidFill>
                  <a:srgbClr val="0000FF"/>
                </a:solidFill>
                <a:effectLst/>
                <a:uLnTx/>
                <a:uFillTx/>
                <a:latin typeface="Times New Roman"/>
                <a:ea typeface="+mn-ea"/>
                <a:cs typeface="Times New Roman"/>
              </a:rPr>
              <a:t>5</a:t>
            </a:r>
            <a:r>
              <a:rPr kumimoji="0" sz="2400" b="0" i="1" u="none" strike="noStrike" kern="1200" cap="none" spc="-35" normalizeH="0" baseline="0" noProof="0" dirty="0">
                <a:ln>
                  <a:noFill/>
                </a:ln>
                <a:solidFill>
                  <a:srgbClr val="0000FF"/>
                </a:solidFill>
                <a:effectLst/>
                <a:uLnTx/>
                <a:uFillTx/>
                <a:latin typeface="Times New Roman"/>
                <a:ea typeface="+mn-ea"/>
                <a:cs typeface="Times New Roman"/>
              </a:rPr>
              <a:t>g</a:t>
            </a:r>
            <a:r>
              <a:rPr kumimoji="0" sz="2025" b="0" i="1" u="none" strike="noStrike" kern="1200" cap="none" spc="37" normalizeH="0" baseline="-24691" noProof="0" dirty="0">
                <a:ln>
                  <a:noFill/>
                </a:ln>
                <a:solidFill>
                  <a:srgbClr val="0000FF"/>
                </a:solidFill>
                <a:effectLst/>
                <a:uLnTx/>
                <a:uFillTx/>
                <a:latin typeface="Times New Roman"/>
                <a:ea typeface="+mn-ea"/>
                <a:cs typeface="Times New Roman"/>
              </a:rPr>
              <a:t>m</a:t>
            </a:r>
            <a:r>
              <a:rPr kumimoji="0" sz="2025" b="0" i="1" u="none" strike="noStrike" kern="1200" cap="none" spc="-330" normalizeH="0" baseline="-24691" noProof="0" dirty="0">
                <a:ln>
                  <a:noFill/>
                </a:ln>
                <a:solidFill>
                  <a:srgbClr val="0000FF"/>
                </a:solidFill>
                <a:effectLst/>
                <a:uLnTx/>
                <a:uFillTx/>
                <a:latin typeface="Times New Roman"/>
                <a:ea typeface="+mn-ea"/>
                <a:cs typeface="Times New Roman"/>
              </a:rPr>
              <a:t> </a:t>
            </a:r>
            <a:r>
              <a:rPr kumimoji="0" sz="2400" b="0" i="1" u="none" strike="noStrike" kern="1200" cap="none" spc="-220" normalizeH="0" baseline="0" noProof="0" dirty="0">
                <a:ln>
                  <a:noFill/>
                </a:ln>
                <a:solidFill>
                  <a:srgbClr val="0000FF"/>
                </a:solidFill>
                <a:effectLst/>
                <a:uLnTx/>
                <a:uFillTx/>
                <a:latin typeface="Times New Roman"/>
                <a:ea typeface="+mn-ea"/>
                <a:cs typeface="Times New Roman"/>
              </a:rPr>
              <a:t>R</a:t>
            </a:r>
            <a:r>
              <a:rPr kumimoji="0" sz="2025" b="0" i="1" u="none" strike="noStrike" kern="1200" cap="none" spc="15" normalizeH="0" baseline="-24691" noProof="0" dirty="0">
                <a:ln>
                  <a:noFill/>
                </a:ln>
                <a:solidFill>
                  <a:srgbClr val="0000FF"/>
                </a:solidFill>
                <a:effectLst/>
                <a:uLnTx/>
                <a:uFillTx/>
                <a:latin typeface="Times New Roman"/>
                <a:ea typeface="+mn-ea"/>
                <a:cs typeface="Times New Roman"/>
              </a:rPr>
              <a:t>s</a:t>
            </a:r>
            <a:endParaRPr kumimoji="0" sz="2025" b="0" i="0" u="none" strike="noStrike" kern="1200" cap="none" spc="0" normalizeH="0" baseline="-24691" noProof="0" dirty="0">
              <a:ln>
                <a:noFill/>
              </a:ln>
              <a:solidFill>
                <a:prstClr val="black"/>
              </a:solidFill>
              <a:effectLst/>
              <a:uLnTx/>
              <a:uFillTx/>
              <a:latin typeface="Times New Roman"/>
              <a:ea typeface="+mn-ea"/>
              <a:cs typeface="Times New Roman"/>
            </a:endParaRPr>
          </a:p>
        </p:txBody>
      </p:sp>
      <p:sp>
        <p:nvSpPr>
          <p:cNvPr id="22" name="object 22"/>
          <p:cNvSpPr txBox="1"/>
          <p:nvPr/>
        </p:nvSpPr>
        <p:spPr>
          <a:xfrm>
            <a:off x="4403597" y="4853179"/>
            <a:ext cx="655320" cy="39116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400" b="0" i="1" u="none" strike="noStrike" kern="1200" cap="none" spc="-20" normalizeH="0" baseline="0" noProof="0" dirty="0">
                <a:ln>
                  <a:noFill/>
                </a:ln>
                <a:solidFill>
                  <a:prstClr val="black"/>
                </a:solidFill>
                <a:effectLst/>
                <a:uLnTx/>
                <a:uFillTx/>
                <a:latin typeface="Times New Roman"/>
                <a:ea typeface="+mn-ea"/>
                <a:cs typeface="Times New Roman"/>
              </a:rPr>
              <a:t>g</a:t>
            </a:r>
            <a:r>
              <a:rPr kumimoji="0" sz="2025" b="0" i="1" u="none" strike="noStrike" kern="1200" cap="none" spc="-30" normalizeH="0" baseline="-24691" noProof="0" dirty="0">
                <a:ln>
                  <a:noFill/>
                </a:ln>
                <a:solidFill>
                  <a:prstClr val="black"/>
                </a:solidFill>
                <a:effectLst/>
                <a:uLnTx/>
                <a:uFillTx/>
                <a:latin typeface="Times New Roman"/>
                <a:ea typeface="+mn-ea"/>
                <a:cs typeface="Times New Roman"/>
              </a:rPr>
              <a:t>m</a:t>
            </a:r>
            <a:r>
              <a:rPr kumimoji="0" sz="2400" b="0" i="1" u="none" strike="noStrike" kern="1200" cap="none" spc="-20" normalizeH="0" baseline="0" noProof="0" dirty="0">
                <a:ln>
                  <a:noFill/>
                </a:ln>
                <a:solidFill>
                  <a:prstClr val="black"/>
                </a:solidFill>
                <a:effectLst/>
                <a:uLnTx/>
                <a:uFillTx/>
                <a:latin typeface="Times New Roman"/>
                <a:ea typeface="+mn-ea"/>
                <a:cs typeface="Times New Roman"/>
              </a:rPr>
              <a:t>R</a:t>
            </a:r>
            <a:r>
              <a:rPr kumimoji="0" sz="2025" b="0" i="1" u="none" strike="noStrike" kern="1200" cap="none" spc="-30" normalizeH="0" baseline="-24691" noProof="0" dirty="0">
                <a:ln>
                  <a:noFill/>
                </a:ln>
                <a:solidFill>
                  <a:prstClr val="black"/>
                </a:solidFill>
                <a:effectLst/>
                <a:uLnTx/>
                <a:uFillTx/>
                <a:latin typeface="Times New Roman"/>
                <a:ea typeface="+mn-ea"/>
                <a:cs typeface="Times New Roman"/>
              </a:rPr>
              <a:t>D</a:t>
            </a:r>
            <a:endParaRPr kumimoji="0" sz="2025" b="0" i="0" u="none" strike="noStrike" kern="1200" cap="none" spc="0" normalizeH="0" baseline="-24691" noProof="0">
              <a:ln>
                <a:noFill/>
              </a:ln>
              <a:solidFill>
                <a:prstClr val="black"/>
              </a:solidFill>
              <a:effectLst/>
              <a:uLnTx/>
              <a:uFillTx/>
              <a:latin typeface="Times New Roman"/>
              <a:ea typeface="+mn-ea"/>
              <a:cs typeface="Times New Roman"/>
            </a:endParaRPr>
          </a:p>
        </p:txBody>
      </p:sp>
      <p:sp>
        <p:nvSpPr>
          <p:cNvPr id="23" name="object 23"/>
          <p:cNvSpPr txBox="1"/>
          <p:nvPr/>
        </p:nvSpPr>
        <p:spPr>
          <a:xfrm>
            <a:off x="1228597" y="5055867"/>
            <a:ext cx="2837180" cy="39116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2656205" algn="l"/>
              </a:tabLst>
              <a:defRPr/>
            </a:pPr>
            <a:r>
              <a:rPr kumimoji="0" sz="3000" b="0" i="0" u="none" strike="noStrike" kern="1200" cap="none" spc="-15" normalizeH="0" baseline="1388" noProof="0" dirty="0">
                <a:ln>
                  <a:noFill/>
                </a:ln>
                <a:solidFill>
                  <a:prstClr val="black"/>
                </a:solidFill>
                <a:effectLst/>
                <a:uLnTx/>
                <a:uFillTx/>
                <a:latin typeface="Verdana"/>
                <a:ea typeface="+mn-ea"/>
                <a:cs typeface="Verdana"/>
              </a:rPr>
              <a:t>Lo</a:t>
            </a:r>
            <a:r>
              <a:rPr kumimoji="0" sz="3000" b="0" i="0" u="none" strike="noStrike" kern="1200" cap="none" spc="-30" normalizeH="0" baseline="1388" noProof="0" dirty="0">
                <a:ln>
                  <a:noFill/>
                </a:ln>
                <a:solidFill>
                  <a:prstClr val="black"/>
                </a:solidFill>
                <a:effectLst/>
                <a:uLnTx/>
                <a:uFillTx/>
                <a:latin typeface="Verdana"/>
                <a:ea typeface="+mn-ea"/>
                <a:cs typeface="Verdana"/>
              </a:rPr>
              <a:t>w</a:t>
            </a:r>
            <a:r>
              <a:rPr kumimoji="0" sz="3000" b="0" i="0" u="none" strike="noStrike" kern="1200" cap="none" spc="-15" normalizeH="0" baseline="1388" noProof="0" dirty="0">
                <a:ln>
                  <a:noFill/>
                </a:ln>
                <a:solidFill>
                  <a:prstClr val="black"/>
                </a:solidFill>
                <a:effectLst/>
                <a:uLnTx/>
                <a:uFillTx/>
                <a:latin typeface="Verdana"/>
                <a:ea typeface="+mn-ea"/>
                <a:cs typeface="Verdana"/>
              </a:rPr>
              <a:t>-</a:t>
            </a:r>
            <a:r>
              <a:rPr kumimoji="0" sz="3000" b="0" i="0" u="none" strike="noStrike" kern="1200" cap="none" spc="-7" normalizeH="0" baseline="1388" noProof="0" dirty="0">
                <a:ln>
                  <a:noFill/>
                </a:ln>
                <a:solidFill>
                  <a:prstClr val="black"/>
                </a:solidFill>
                <a:effectLst/>
                <a:uLnTx/>
                <a:uFillTx/>
                <a:latin typeface="Verdana"/>
                <a:ea typeface="+mn-ea"/>
                <a:cs typeface="Verdana"/>
              </a:rPr>
              <a:t>frequency</a:t>
            </a:r>
            <a:r>
              <a:rPr kumimoji="0" sz="3000" b="0" i="0" u="none" strike="noStrike" kern="1200" cap="none" spc="7" normalizeH="0" baseline="1388" noProof="0" dirty="0">
                <a:ln>
                  <a:noFill/>
                </a:ln>
                <a:solidFill>
                  <a:prstClr val="black"/>
                </a:solidFill>
                <a:effectLst/>
                <a:uLnTx/>
                <a:uFillTx/>
                <a:latin typeface="Verdana"/>
                <a:ea typeface="+mn-ea"/>
                <a:cs typeface="Verdana"/>
              </a:rPr>
              <a:t> </a:t>
            </a:r>
            <a:r>
              <a:rPr kumimoji="0" sz="3000" b="0" i="0" u="none" strike="noStrike" kern="1200" cap="none" spc="-15" normalizeH="0" baseline="1388" noProof="0" dirty="0">
                <a:ln>
                  <a:noFill/>
                </a:ln>
                <a:solidFill>
                  <a:prstClr val="black"/>
                </a:solidFill>
                <a:effectLst/>
                <a:uLnTx/>
                <a:uFillTx/>
                <a:latin typeface="Verdana"/>
                <a:ea typeface="+mn-ea"/>
                <a:cs typeface="Verdana"/>
              </a:rPr>
              <a:t>gai</a:t>
            </a:r>
            <a:r>
              <a:rPr kumimoji="0" sz="3000" b="0" i="0" u="none" strike="noStrike" kern="1200" cap="none" spc="-7" normalizeH="0" baseline="1388" noProof="0" dirty="0">
                <a:ln>
                  <a:noFill/>
                </a:ln>
                <a:solidFill>
                  <a:prstClr val="black"/>
                </a:solidFill>
                <a:effectLst/>
                <a:uLnTx/>
                <a:uFillTx/>
                <a:latin typeface="Verdana"/>
                <a:ea typeface="+mn-ea"/>
                <a:cs typeface="Verdana"/>
              </a:rPr>
              <a:t>n</a:t>
            </a:r>
            <a:r>
              <a:rPr kumimoji="0" sz="3000" b="0" i="0" u="none" strike="noStrike" kern="1200" cap="none" spc="0" normalizeH="0" baseline="1388" noProof="0" dirty="0">
                <a:ln>
                  <a:noFill/>
                </a:ln>
                <a:solidFill>
                  <a:prstClr val="black"/>
                </a:solidFill>
                <a:effectLst/>
                <a:uLnTx/>
                <a:uFillTx/>
                <a:latin typeface="Verdana"/>
                <a:ea typeface="+mn-ea"/>
                <a:cs typeface="Verdana"/>
              </a:rPr>
              <a:t>	</a:t>
            </a:r>
            <a:r>
              <a:rPr kumimoji="0" sz="2400" b="0" i="0" u="none" strike="noStrike" kern="1200" cap="none" spc="-5" normalizeH="0" baseline="0" noProof="0" dirty="0">
                <a:ln>
                  <a:noFill/>
                </a:ln>
                <a:solidFill>
                  <a:prstClr val="black"/>
                </a:solidFill>
                <a:effectLst/>
                <a:uLnTx/>
                <a:uFillTx/>
                <a:latin typeface="Symbol"/>
                <a:ea typeface="+mn-ea"/>
                <a:cs typeface="Symbol"/>
              </a:rPr>
              <a:t></a:t>
            </a:r>
            <a:endParaRPr kumimoji="0" sz="2400" b="0" i="0" u="none" strike="noStrike" kern="1200" cap="none" spc="0" normalizeH="0" baseline="0" noProof="0">
              <a:ln>
                <a:noFill/>
              </a:ln>
              <a:solidFill>
                <a:prstClr val="black"/>
              </a:solidFill>
              <a:effectLst/>
              <a:uLnTx/>
              <a:uFillTx/>
              <a:latin typeface="Symbol"/>
              <a:ea typeface="+mn-ea"/>
              <a:cs typeface="Symbol"/>
            </a:endParaRPr>
          </a:p>
        </p:txBody>
      </p:sp>
      <p:sp>
        <p:nvSpPr>
          <p:cNvPr id="24" name="object 24"/>
          <p:cNvSpPr txBox="1"/>
          <p:nvPr/>
        </p:nvSpPr>
        <p:spPr>
          <a:xfrm>
            <a:off x="1199391" y="4181095"/>
            <a:ext cx="3637279" cy="400050"/>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tab pos="2770505" algn="l"/>
              </a:tabLst>
              <a:defRPr/>
            </a:pPr>
            <a:r>
              <a:rPr kumimoji="0" sz="3000" b="0" i="0" u="none" strike="noStrike" kern="1200" cap="none" spc="-15" normalizeH="0" baseline="1388" noProof="0" dirty="0">
                <a:ln>
                  <a:noFill/>
                </a:ln>
                <a:solidFill>
                  <a:prstClr val="black"/>
                </a:solidFill>
                <a:effectLst/>
                <a:uLnTx/>
                <a:uFillTx/>
                <a:latin typeface="Verdana"/>
                <a:ea typeface="+mn-ea"/>
                <a:cs typeface="Verdana"/>
              </a:rPr>
              <a:t>High-frequenc</a:t>
            </a:r>
            <a:r>
              <a:rPr kumimoji="0" sz="3000" b="0" i="0" u="none" strike="noStrike" kern="1200" cap="none" spc="-7" normalizeH="0" baseline="1388" noProof="0" dirty="0">
                <a:ln>
                  <a:noFill/>
                </a:ln>
                <a:solidFill>
                  <a:prstClr val="black"/>
                </a:solidFill>
                <a:effectLst/>
                <a:uLnTx/>
                <a:uFillTx/>
                <a:latin typeface="Verdana"/>
                <a:ea typeface="+mn-ea"/>
                <a:cs typeface="Verdana"/>
              </a:rPr>
              <a:t>y</a:t>
            </a:r>
            <a:r>
              <a:rPr kumimoji="0" sz="3000" b="0" i="0" u="none" strike="noStrike" kern="1200" cap="none" spc="7" normalizeH="0" baseline="1388" noProof="0" dirty="0">
                <a:ln>
                  <a:noFill/>
                </a:ln>
                <a:solidFill>
                  <a:prstClr val="black"/>
                </a:solidFill>
                <a:effectLst/>
                <a:uLnTx/>
                <a:uFillTx/>
                <a:latin typeface="Verdana"/>
                <a:ea typeface="+mn-ea"/>
                <a:cs typeface="Verdana"/>
              </a:rPr>
              <a:t> </a:t>
            </a:r>
            <a:r>
              <a:rPr kumimoji="0" sz="3000" b="0" i="0" u="none" strike="noStrike" kern="1200" cap="none" spc="-15" normalizeH="0" baseline="1388" noProof="0" dirty="0">
                <a:ln>
                  <a:noFill/>
                </a:ln>
                <a:solidFill>
                  <a:prstClr val="black"/>
                </a:solidFill>
                <a:effectLst/>
                <a:uLnTx/>
                <a:uFillTx/>
                <a:latin typeface="Verdana"/>
                <a:ea typeface="+mn-ea"/>
                <a:cs typeface="Verdana"/>
              </a:rPr>
              <a:t>gai</a:t>
            </a:r>
            <a:r>
              <a:rPr kumimoji="0" sz="3000" b="0" i="0" u="none" strike="noStrike" kern="1200" cap="none" spc="-7" normalizeH="0" baseline="1388" noProof="0" dirty="0">
                <a:ln>
                  <a:noFill/>
                </a:ln>
                <a:solidFill>
                  <a:prstClr val="black"/>
                </a:solidFill>
                <a:effectLst/>
                <a:uLnTx/>
                <a:uFillTx/>
                <a:latin typeface="Verdana"/>
                <a:ea typeface="+mn-ea"/>
                <a:cs typeface="Verdana"/>
              </a:rPr>
              <a:t>n</a:t>
            </a:r>
            <a:r>
              <a:rPr kumimoji="0" sz="3000" b="0" i="0" u="none" strike="noStrike" kern="1200" cap="none" spc="0" normalizeH="0" baseline="1388" noProof="0" dirty="0">
                <a:ln>
                  <a:noFill/>
                </a:ln>
                <a:solidFill>
                  <a:prstClr val="black"/>
                </a:solidFill>
                <a:effectLst/>
                <a:uLnTx/>
                <a:uFillTx/>
                <a:latin typeface="Verdana"/>
                <a:ea typeface="+mn-ea"/>
                <a:cs typeface="Verdana"/>
              </a:rPr>
              <a:t>	</a:t>
            </a:r>
            <a:r>
              <a:rPr kumimoji="0" sz="2450" b="0" i="0" u="none" strike="noStrike" kern="1200" cap="none" spc="0" normalizeH="0" baseline="0" noProof="0" dirty="0">
                <a:ln>
                  <a:noFill/>
                </a:ln>
                <a:solidFill>
                  <a:prstClr val="black"/>
                </a:solidFill>
                <a:effectLst/>
                <a:uLnTx/>
                <a:uFillTx/>
                <a:latin typeface="Symbol"/>
                <a:ea typeface="+mn-ea"/>
                <a:cs typeface="Symbol"/>
              </a:rPr>
              <a:t></a:t>
            </a:r>
            <a:r>
              <a:rPr kumimoji="0" sz="2450" b="0" i="0" u="none" strike="noStrike" kern="1200" cap="none" spc="-110" normalizeH="0" baseline="0" noProof="0" dirty="0">
                <a:ln>
                  <a:noFill/>
                </a:ln>
                <a:solidFill>
                  <a:prstClr val="black"/>
                </a:solidFill>
                <a:effectLst/>
                <a:uLnTx/>
                <a:uFillTx/>
                <a:latin typeface="Times New Roman"/>
                <a:ea typeface="+mn-ea"/>
                <a:cs typeface="Times New Roman"/>
              </a:rPr>
              <a:t> </a:t>
            </a:r>
            <a:r>
              <a:rPr kumimoji="0" sz="2450" b="0" i="1" u="none" strike="noStrike" kern="1200" cap="none" spc="-35" normalizeH="0" baseline="0" noProof="0" dirty="0">
                <a:ln>
                  <a:noFill/>
                </a:ln>
                <a:solidFill>
                  <a:prstClr val="black"/>
                </a:solidFill>
                <a:effectLst/>
                <a:uLnTx/>
                <a:uFillTx/>
                <a:latin typeface="Times New Roman"/>
                <a:ea typeface="+mn-ea"/>
                <a:cs typeface="Times New Roman"/>
              </a:rPr>
              <a:t>g</a:t>
            </a:r>
            <a:r>
              <a:rPr kumimoji="0" sz="2100" b="0" i="1" u="none" strike="noStrike" kern="1200" cap="none" spc="195" normalizeH="0" baseline="-25793" noProof="0" dirty="0">
                <a:ln>
                  <a:noFill/>
                </a:ln>
                <a:solidFill>
                  <a:prstClr val="black"/>
                </a:solidFill>
                <a:effectLst/>
                <a:uLnTx/>
                <a:uFillTx/>
                <a:latin typeface="Times New Roman"/>
                <a:ea typeface="+mn-ea"/>
                <a:cs typeface="Times New Roman"/>
              </a:rPr>
              <a:t>m</a:t>
            </a:r>
            <a:r>
              <a:rPr kumimoji="0" sz="2450" b="0" i="1" u="none" strike="noStrike" kern="1200" cap="none" spc="-200" normalizeH="0" baseline="0" noProof="0" dirty="0">
                <a:ln>
                  <a:noFill/>
                </a:ln>
                <a:solidFill>
                  <a:prstClr val="black"/>
                </a:solidFill>
                <a:effectLst/>
                <a:uLnTx/>
                <a:uFillTx/>
                <a:latin typeface="Times New Roman"/>
                <a:ea typeface="+mn-ea"/>
                <a:cs typeface="Times New Roman"/>
              </a:rPr>
              <a:t>R</a:t>
            </a:r>
            <a:r>
              <a:rPr kumimoji="0" sz="2100" b="0" i="1" u="none" strike="noStrike" kern="1200" cap="none" spc="15" normalizeH="0" baseline="-25793" noProof="0" dirty="0">
                <a:ln>
                  <a:noFill/>
                </a:ln>
                <a:solidFill>
                  <a:prstClr val="black"/>
                </a:solidFill>
                <a:effectLst/>
                <a:uLnTx/>
                <a:uFillTx/>
                <a:latin typeface="Times New Roman"/>
                <a:ea typeface="+mn-ea"/>
                <a:cs typeface="Times New Roman"/>
              </a:rPr>
              <a:t>D</a:t>
            </a:r>
            <a:endParaRPr kumimoji="0" sz="2100" b="0" i="0" u="none" strike="noStrike" kern="1200" cap="none" spc="0" normalizeH="0" baseline="-25793" noProof="0">
              <a:ln>
                <a:noFill/>
              </a:ln>
              <a:solidFill>
                <a:prstClr val="black"/>
              </a:solidFill>
              <a:effectLst/>
              <a:uLnTx/>
              <a:uFillTx/>
              <a:latin typeface="Times New Roman"/>
              <a:ea typeface="+mn-ea"/>
              <a:cs typeface="Times New Roman"/>
            </a:endParaRPr>
          </a:p>
        </p:txBody>
      </p:sp>
      <p:grpSp>
        <p:nvGrpSpPr>
          <p:cNvPr id="44" name="Group 43"/>
          <p:cNvGrpSpPr/>
          <p:nvPr/>
        </p:nvGrpSpPr>
        <p:grpSpPr>
          <a:xfrm>
            <a:off x="5910839" y="5031487"/>
            <a:ext cx="1588009" cy="967119"/>
            <a:chOff x="5910839" y="5031487"/>
            <a:chExt cx="1588009" cy="967119"/>
          </a:xfrm>
        </p:grpSpPr>
        <p:sp>
          <p:nvSpPr>
            <p:cNvPr id="25" name="object 25"/>
            <p:cNvSpPr/>
            <p:nvPr/>
          </p:nvSpPr>
          <p:spPr>
            <a:xfrm>
              <a:off x="6112008" y="5510624"/>
              <a:ext cx="1386840" cy="0"/>
            </a:xfrm>
            <a:custGeom>
              <a:avLst/>
              <a:gdLst/>
              <a:ahLst/>
              <a:cxnLst/>
              <a:rect l="l" t="t" r="r" b="b"/>
              <a:pathLst>
                <a:path w="1386840">
                  <a:moveTo>
                    <a:pt x="0" y="0"/>
                  </a:moveTo>
                  <a:lnTo>
                    <a:pt x="1386836" y="0"/>
                  </a:lnTo>
                </a:path>
              </a:pathLst>
            </a:custGeom>
            <a:ln w="1681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object 26"/>
            <p:cNvSpPr txBox="1"/>
            <p:nvPr/>
          </p:nvSpPr>
          <p:spPr>
            <a:xfrm>
              <a:off x="6718045" y="5031487"/>
              <a:ext cx="193675" cy="429259"/>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650" b="0" i="0" u="none" strike="noStrike" kern="1200" cap="none" spc="-5" normalizeH="0" baseline="0" noProof="0" dirty="0">
                  <a:ln>
                    <a:noFill/>
                  </a:ln>
                  <a:solidFill>
                    <a:srgbClr val="0000FF"/>
                  </a:solidFill>
                  <a:effectLst/>
                  <a:uLnTx/>
                  <a:uFillTx/>
                  <a:latin typeface="Times New Roman"/>
                  <a:ea typeface="+mn-ea"/>
                  <a:cs typeface="Times New Roman"/>
                </a:rPr>
                <a:t>1</a:t>
              </a:r>
              <a:endParaRPr kumimoji="0" sz="26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7" name="object 27"/>
            <p:cNvSpPr txBox="1"/>
            <p:nvPr/>
          </p:nvSpPr>
          <p:spPr>
            <a:xfrm>
              <a:off x="7031228" y="5739527"/>
              <a:ext cx="434340" cy="259079"/>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tab pos="345440" algn="l"/>
                </a:tabLst>
                <a:defRPr/>
              </a:pPr>
              <a:r>
                <a:rPr kumimoji="0" sz="1500" b="0" i="1" u="none" strike="noStrike" kern="1200" cap="none" spc="20" normalizeH="0" baseline="0" noProof="0" dirty="0">
                  <a:ln>
                    <a:noFill/>
                  </a:ln>
                  <a:solidFill>
                    <a:srgbClr val="0000FF"/>
                  </a:solidFill>
                  <a:effectLst/>
                  <a:uLnTx/>
                  <a:uFillTx/>
                  <a:latin typeface="Times New Roman"/>
                  <a:ea typeface="+mn-ea"/>
                  <a:cs typeface="Times New Roman"/>
                </a:rPr>
                <a:t>m	</a:t>
              </a:r>
              <a:r>
                <a:rPr kumimoji="0" sz="1500" b="0" i="1" u="none" strike="noStrike" kern="1200" cap="none" spc="10" normalizeH="0" baseline="0" noProof="0" dirty="0">
                  <a:ln>
                    <a:noFill/>
                  </a:ln>
                  <a:solidFill>
                    <a:srgbClr val="0000FF"/>
                  </a:solidFill>
                  <a:effectLst/>
                  <a:uLnTx/>
                  <a:uFillTx/>
                  <a:latin typeface="Times New Roman"/>
                  <a:ea typeface="+mn-ea"/>
                  <a:cs typeface="Times New Roman"/>
                </a:rPr>
                <a:t>s</a:t>
              </a:r>
              <a:endParaRPr kumimoji="0" sz="1500" b="0" i="0" u="none" strike="noStrike" kern="1200" cap="none" spc="0" normalizeH="0" baseline="0" noProof="0" dirty="0">
                <a:ln>
                  <a:noFill/>
                </a:ln>
                <a:solidFill>
                  <a:prstClr val="black"/>
                </a:solidFill>
                <a:effectLst/>
                <a:uLnTx/>
                <a:uFillTx/>
                <a:latin typeface="Times New Roman"/>
                <a:ea typeface="+mn-ea"/>
                <a:cs typeface="Times New Roman"/>
              </a:endParaRPr>
            </a:p>
          </p:txBody>
        </p:sp>
        <p:sp>
          <p:nvSpPr>
            <p:cNvPr id="28" name="object 28"/>
            <p:cNvSpPr txBox="1"/>
            <p:nvPr/>
          </p:nvSpPr>
          <p:spPr>
            <a:xfrm>
              <a:off x="5910839" y="5245617"/>
              <a:ext cx="184785" cy="429259"/>
            </a:xfrm>
            <a:prstGeom prst="rect">
              <a:avLst/>
            </a:prstGeom>
          </p:spPr>
          <p:txBody>
            <a:bodyPr vert="horz" wrap="square" lIns="0" tIns="12065" rIns="0" bIns="0" rtlCol="0">
              <a:spAutoFit/>
            </a:bodyPr>
            <a:lstStyle/>
            <a:p>
              <a:pPr marL="0" marR="0" lvl="0" indent="0" algn="l" defTabSz="914400" rtl="0" eaLnBrk="1" fontAlgn="auto" latinLnBrk="0" hangingPunct="1">
                <a:lnSpc>
                  <a:spcPct val="100000"/>
                </a:lnSpc>
                <a:spcBef>
                  <a:spcPts val="95"/>
                </a:spcBef>
                <a:spcAft>
                  <a:spcPts val="0"/>
                </a:spcAft>
                <a:buClrTx/>
                <a:buSzTx/>
                <a:buFontTx/>
                <a:buNone/>
                <a:tabLst/>
                <a:defRPr/>
              </a:pPr>
              <a:r>
                <a:rPr kumimoji="0" sz="2650" b="0" i="0" u="none" strike="noStrike" kern="1200" cap="none" spc="-5" normalizeH="0" baseline="0" noProof="0" dirty="0">
                  <a:ln>
                    <a:noFill/>
                  </a:ln>
                  <a:solidFill>
                    <a:srgbClr val="0000FF"/>
                  </a:solidFill>
                  <a:effectLst/>
                  <a:uLnTx/>
                  <a:uFillTx/>
                  <a:latin typeface="Symbol"/>
                  <a:ea typeface="+mn-ea"/>
                  <a:cs typeface="Symbol"/>
                </a:rPr>
                <a:t></a:t>
              </a:r>
              <a:endParaRPr kumimoji="0" sz="2650" b="0" i="0" u="none" strike="noStrike" kern="1200" cap="none" spc="0" normalizeH="0" baseline="0" noProof="0">
                <a:ln>
                  <a:noFill/>
                </a:ln>
                <a:solidFill>
                  <a:prstClr val="black"/>
                </a:solidFill>
                <a:effectLst/>
                <a:uLnTx/>
                <a:uFillTx/>
                <a:latin typeface="Symbol"/>
                <a:ea typeface="+mn-ea"/>
                <a:cs typeface="Symbol"/>
              </a:endParaRPr>
            </a:p>
          </p:txBody>
        </p:sp>
        <p:sp>
          <p:nvSpPr>
            <p:cNvPr id="29" name="object 29"/>
            <p:cNvSpPr txBox="1"/>
            <p:nvPr/>
          </p:nvSpPr>
          <p:spPr>
            <a:xfrm>
              <a:off x="6098276" y="5510774"/>
              <a:ext cx="1308100" cy="429259"/>
            </a:xfrm>
            <a:prstGeom prst="rect">
              <a:avLst/>
            </a:prstGeom>
          </p:spPr>
          <p:txBody>
            <a:bodyPr vert="horz" wrap="square" lIns="0" tIns="12065" rIns="0" bIns="0" rtlCol="0">
              <a:spAutoFit/>
            </a:bodyPr>
            <a:lstStyle/>
            <a:p>
              <a:pPr marL="0" marR="0" lvl="0" indent="0" algn="l" defTabSz="914400" rtl="0" eaLnBrk="1" fontAlgn="auto" latinLnBrk="0" hangingPunct="1">
                <a:lnSpc>
                  <a:spcPct val="100000"/>
                </a:lnSpc>
                <a:spcBef>
                  <a:spcPts val="95"/>
                </a:spcBef>
                <a:spcAft>
                  <a:spcPts val="0"/>
                </a:spcAft>
                <a:buClrTx/>
                <a:buSzTx/>
                <a:buFontTx/>
                <a:buNone/>
                <a:tabLst>
                  <a:tab pos="1102360" algn="l"/>
                </a:tabLst>
                <a:defRPr/>
              </a:pPr>
              <a:r>
                <a:rPr kumimoji="0" sz="2650" b="0" i="0" u="none" strike="noStrike" kern="1200" cap="none" spc="50" normalizeH="0" baseline="0" noProof="0" dirty="0">
                  <a:ln>
                    <a:noFill/>
                  </a:ln>
                  <a:solidFill>
                    <a:srgbClr val="0000FF"/>
                  </a:solidFill>
                  <a:effectLst/>
                  <a:uLnTx/>
                  <a:uFillTx/>
                  <a:latin typeface="Times New Roman"/>
                  <a:ea typeface="+mn-ea"/>
                  <a:cs typeface="Times New Roman"/>
                </a:rPr>
                <a:t>1</a:t>
              </a:r>
              <a:r>
                <a:rPr kumimoji="0" sz="2650" b="0" i="0" u="none" strike="noStrike" kern="1200" cap="none" spc="-5" normalizeH="0" baseline="0" noProof="0" dirty="0">
                  <a:ln>
                    <a:noFill/>
                  </a:ln>
                  <a:solidFill>
                    <a:srgbClr val="0000FF"/>
                  </a:solidFill>
                  <a:effectLst/>
                  <a:uLnTx/>
                  <a:uFillTx/>
                  <a:latin typeface="Symbol"/>
                  <a:ea typeface="+mn-ea"/>
                  <a:cs typeface="Symbol"/>
                </a:rPr>
                <a:t></a:t>
              </a:r>
              <a:r>
                <a:rPr kumimoji="0" sz="2650" b="0" i="0" u="none" strike="noStrike" kern="1200" cap="none" spc="-409" normalizeH="0" baseline="0" noProof="0" dirty="0">
                  <a:ln>
                    <a:noFill/>
                  </a:ln>
                  <a:solidFill>
                    <a:srgbClr val="0000FF"/>
                  </a:solidFill>
                  <a:effectLst/>
                  <a:uLnTx/>
                  <a:uFillTx/>
                  <a:latin typeface="Times New Roman"/>
                  <a:ea typeface="+mn-ea"/>
                  <a:cs typeface="Times New Roman"/>
                </a:rPr>
                <a:t> </a:t>
              </a:r>
              <a:r>
                <a:rPr kumimoji="0" sz="2650" b="0" i="0" u="none" strike="noStrike" kern="1200" cap="none" spc="-150" normalizeH="0" baseline="0" noProof="0" dirty="0">
                  <a:ln>
                    <a:noFill/>
                  </a:ln>
                  <a:solidFill>
                    <a:srgbClr val="0000FF"/>
                  </a:solidFill>
                  <a:effectLst/>
                  <a:uLnTx/>
                  <a:uFillTx/>
                  <a:latin typeface="Times New Roman"/>
                  <a:ea typeface="+mn-ea"/>
                  <a:cs typeface="Times New Roman"/>
                </a:rPr>
                <a:t>0</a:t>
              </a:r>
              <a:r>
                <a:rPr kumimoji="0" sz="2650" b="0" i="0" u="none" strike="noStrike" kern="1200" cap="none" spc="-80" normalizeH="0" baseline="0" noProof="0" dirty="0">
                  <a:ln>
                    <a:noFill/>
                  </a:ln>
                  <a:solidFill>
                    <a:srgbClr val="0000FF"/>
                  </a:solidFill>
                  <a:effectLst/>
                  <a:uLnTx/>
                  <a:uFillTx/>
                  <a:latin typeface="Times New Roman"/>
                  <a:ea typeface="+mn-ea"/>
                  <a:cs typeface="Times New Roman"/>
                </a:rPr>
                <a:t>.</a:t>
              </a:r>
              <a:r>
                <a:rPr kumimoji="0" sz="2650" b="0" i="0" u="none" strike="noStrike" kern="1200" cap="none" spc="-35" normalizeH="0" baseline="0" noProof="0" dirty="0">
                  <a:ln>
                    <a:noFill/>
                  </a:ln>
                  <a:solidFill>
                    <a:srgbClr val="0000FF"/>
                  </a:solidFill>
                  <a:effectLst/>
                  <a:uLnTx/>
                  <a:uFillTx/>
                  <a:latin typeface="Times New Roman"/>
                  <a:ea typeface="+mn-ea"/>
                  <a:cs typeface="Times New Roman"/>
                </a:rPr>
                <a:t>5</a:t>
              </a:r>
              <a:r>
                <a:rPr kumimoji="0" sz="2650" b="0" i="1" u="none" strike="noStrike" kern="1200" cap="none" spc="-5" normalizeH="0" baseline="0" noProof="0" dirty="0">
                  <a:ln>
                    <a:noFill/>
                  </a:ln>
                  <a:solidFill>
                    <a:srgbClr val="0000FF"/>
                  </a:solidFill>
                  <a:effectLst/>
                  <a:uLnTx/>
                  <a:uFillTx/>
                  <a:latin typeface="Times New Roman"/>
                  <a:ea typeface="+mn-ea"/>
                  <a:cs typeface="Times New Roman"/>
                </a:rPr>
                <a:t>g</a:t>
              </a:r>
              <a:r>
                <a:rPr kumimoji="0" sz="2650" b="0" i="1" u="none" strike="noStrike" kern="1200" cap="none" spc="0" normalizeH="0" baseline="0" noProof="0" dirty="0">
                  <a:ln>
                    <a:noFill/>
                  </a:ln>
                  <a:solidFill>
                    <a:srgbClr val="0000FF"/>
                  </a:solidFill>
                  <a:effectLst/>
                  <a:uLnTx/>
                  <a:uFillTx/>
                  <a:latin typeface="Times New Roman"/>
                  <a:ea typeface="+mn-ea"/>
                  <a:cs typeface="Times New Roman"/>
                </a:rPr>
                <a:t>	</a:t>
              </a:r>
              <a:r>
                <a:rPr kumimoji="0" sz="2650" b="0" i="1" u="none" strike="noStrike" kern="1200" cap="none" spc="-5" normalizeH="0" baseline="0" noProof="0" dirty="0">
                  <a:ln>
                    <a:noFill/>
                  </a:ln>
                  <a:solidFill>
                    <a:srgbClr val="0000FF"/>
                  </a:solidFill>
                  <a:effectLst/>
                  <a:uLnTx/>
                  <a:uFillTx/>
                  <a:latin typeface="Times New Roman"/>
                  <a:ea typeface="+mn-ea"/>
                  <a:cs typeface="Times New Roman"/>
                </a:rPr>
                <a:t>R</a:t>
              </a:r>
              <a:endParaRPr kumimoji="0" sz="2650" b="0" i="0" u="none" strike="noStrike" kern="1200" cap="none" spc="0" normalizeH="0" baseline="0" noProof="0" dirty="0">
                <a:ln>
                  <a:noFill/>
                </a:ln>
                <a:solidFill>
                  <a:prstClr val="black"/>
                </a:solidFill>
                <a:effectLst/>
                <a:uLnTx/>
                <a:uFillTx/>
                <a:latin typeface="Times New Roman"/>
                <a:ea typeface="+mn-ea"/>
                <a:cs typeface="Times New Roman"/>
              </a:endParaRPr>
            </a:p>
          </p:txBody>
        </p:sp>
      </p:grpSp>
      <p:grpSp>
        <p:nvGrpSpPr>
          <p:cNvPr id="30" name="object 30"/>
          <p:cNvGrpSpPr/>
          <p:nvPr/>
        </p:nvGrpSpPr>
        <p:grpSpPr>
          <a:xfrm>
            <a:off x="5561838" y="2330195"/>
            <a:ext cx="4178935" cy="3202305"/>
            <a:chOff x="5561838" y="2330195"/>
            <a:chExt cx="4178935" cy="3202305"/>
          </a:xfrm>
        </p:grpSpPr>
        <p:sp>
          <p:nvSpPr>
            <p:cNvPr id="31" name="object 31"/>
            <p:cNvSpPr/>
            <p:nvPr/>
          </p:nvSpPr>
          <p:spPr>
            <a:xfrm>
              <a:off x="5561838" y="4990338"/>
              <a:ext cx="394335" cy="542290"/>
            </a:xfrm>
            <a:custGeom>
              <a:avLst/>
              <a:gdLst/>
              <a:ahLst/>
              <a:cxnLst/>
              <a:rect l="l" t="t" r="r" b="b"/>
              <a:pathLst>
                <a:path w="394335" h="542289">
                  <a:moveTo>
                    <a:pt x="394032" y="51866"/>
                  </a:moveTo>
                  <a:lnTo>
                    <a:pt x="391667" y="0"/>
                  </a:lnTo>
                  <a:lnTo>
                    <a:pt x="384475" y="50876"/>
                  </a:lnTo>
                  <a:lnTo>
                    <a:pt x="372627" y="99781"/>
                  </a:lnTo>
                  <a:lnTo>
                    <a:pt x="356383" y="146367"/>
                  </a:lnTo>
                  <a:lnTo>
                    <a:pt x="336000" y="190288"/>
                  </a:lnTo>
                  <a:lnTo>
                    <a:pt x="311735" y="231196"/>
                  </a:lnTo>
                  <a:lnTo>
                    <a:pt x="283846" y="268744"/>
                  </a:lnTo>
                  <a:lnTo>
                    <a:pt x="252591" y="302587"/>
                  </a:lnTo>
                  <a:lnTo>
                    <a:pt x="218227" y="332376"/>
                  </a:lnTo>
                  <a:lnTo>
                    <a:pt x="181012" y="357765"/>
                  </a:lnTo>
                  <a:lnTo>
                    <a:pt x="141204" y="378406"/>
                  </a:lnTo>
                  <a:lnTo>
                    <a:pt x="99060" y="393954"/>
                  </a:lnTo>
                  <a:lnTo>
                    <a:pt x="99059" y="345186"/>
                  </a:lnTo>
                  <a:lnTo>
                    <a:pt x="0" y="457962"/>
                  </a:lnTo>
                  <a:lnTo>
                    <a:pt x="99060" y="541782"/>
                  </a:lnTo>
                  <a:lnTo>
                    <a:pt x="99060" y="493014"/>
                  </a:lnTo>
                  <a:lnTo>
                    <a:pt x="141496" y="477181"/>
                  </a:lnTo>
                  <a:lnTo>
                    <a:pt x="181435" y="456309"/>
                  </a:lnTo>
                  <a:lnTo>
                    <a:pt x="218652" y="430767"/>
                  </a:lnTo>
                  <a:lnTo>
                    <a:pt x="252922" y="400926"/>
                  </a:lnTo>
                  <a:lnTo>
                    <a:pt x="284021" y="367155"/>
                  </a:lnTo>
                  <a:lnTo>
                    <a:pt x="311723" y="329826"/>
                  </a:lnTo>
                  <a:lnTo>
                    <a:pt x="335805" y="289309"/>
                  </a:lnTo>
                  <a:lnTo>
                    <a:pt x="356040" y="245974"/>
                  </a:lnTo>
                  <a:lnTo>
                    <a:pt x="372206" y="200192"/>
                  </a:lnTo>
                  <a:lnTo>
                    <a:pt x="384076" y="152333"/>
                  </a:lnTo>
                  <a:lnTo>
                    <a:pt x="391426" y="102768"/>
                  </a:lnTo>
                  <a:lnTo>
                    <a:pt x="394032" y="51866"/>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5561838" y="4483607"/>
              <a:ext cx="394335" cy="556260"/>
            </a:xfrm>
            <a:custGeom>
              <a:avLst/>
              <a:gdLst/>
              <a:ahLst/>
              <a:cxnLst/>
              <a:rect l="l" t="t" r="r" b="b"/>
              <a:pathLst>
                <a:path w="394335" h="556260">
                  <a:moveTo>
                    <a:pt x="393953" y="556260"/>
                  </a:moveTo>
                  <a:lnTo>
                    <a:pt x="393953" y="457962"/>
                  </a:lnTo>
                  <a:lnTo>
                    <a:pt x="391646" y="408051"/>
                  </a:lnTo>
                  <a:lnTo>
                    <a:pt x="384884" y="359700"/>
                  </a:lnTo>
                  <a:lnTo>
                    <a:pt x="373904" y="313188"/>
                  </a:lnTo>
                  <a:lnTo>
                    <a:pt x="358945" y="268792"/>
                  </a:lnTo>
                  <a:lnTo>
                    <a:pt x="340247" y="226793"/>
                  </a:lnTo>
                  <a:lnTo>
                    <a:pt x="318046" y="187470"/>
                  </a:lnTo>
                  <a:lnTo>
                    <a:pt x="292582" y="151101"/>
                  </a:lnTo>
                  <a:lnTo>
                    <a:pt x="264093" y="117965"/>
                  </a:lnTo>
                  <a:lnTo>
                    <a:pt x="232818" y="88343"/>
                  </a:lnTo>
                  <a:lnTo>
                    <a:pt x="198994" y="62512"/>
                  </a:lnTo>
                  <a:lnTo>
                    <a:pt x="162861" y="40751"/>
                  </a:lnTo>
                  <a:lnTo>
                    <a:pt x="124657" y="23341"/>
                  </a:lnTo>
                  <a:lnTo>
                    <a:pt x="84619" y="10560"/>
                  </a:lnTo>
                  <a:lnTo>
                    <a:pt x="42987" y="2686"/>
                  </a:lnTo>
                  <a:lnTo>
                    <a:pt x="0" y="0"/>
                  </a:lnTo>
                  <a:lnTo>
                    <a:pt x="0" y="99060"/>
                  </a:lnTo>
                  <a:lnTo>
                    <a:pt x="42987" y="101736"/>
                  </a:lnTo>
                  <a:lnTo>
                    <a:pt x="84619" y="109583"/>
                  </a:lnTo>
                  <a:lnTo>
                    <a:pt x="124657" y="122322"/>
                  </a:lnTo>
                  <a:lnTo>
                    <a:pt x="162861" y="139678"/>
                  </a:lnTo>
                  <a:lnTo>
                    <a:pt x="198994" y="161374"/>
                  </a:lnTo>
                  <a:lnTo>
                    <a:pt x="232818" y="187135"/>
                  </a:lnTo>
                  <a:lnTo>
                    <a:pt x="264093" y="216682"/>
                  </a:lnTo>
                  <a:lnTo>
                    <a:pt x="292582" y="249742"/>
                  </a:lnTo>
                  <a:lnTo>
                    <a:pt x="318046" y="286036"/>
                  </a:lnTo>
                  <a:lnTo>
                    <a:pt x="340247" y="325289"/>
                  </a:lnTo>
                  <a:lnTo>
                    <a:pt x="358945" y="367224"/>
                  </a:lnTo>
                  <a:lnTo>
                    <a:pt x="373904" y="411565"/>
                  </a:lnTo>
                  <a:lnTo>
                    <a:pt x="384884" y="458035"/>
                  </a:lnTo>
                  <a:lnTo>
                    <a:pt x="391646" y="506359"/>
                  </a:lnTo>
                  <a:lnTo>
                    <a:pt x="393953" y="556260"/>
                  </a:lnTo>
                  <a:close/>
                </a:path>
              </a:pathLst>
            </a:custGeom>
            <a:solidFill>
              <a:srgbClr val="0000C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object 33"/>
            <p:cNvPicPr/>
            <p:nvPr/>
          </p:nvPicPr>
          <p:blipFill>
            <a:blip r:embed="rId4" cstate="print"/>
            <a:stretch>
              <a:fillRect/>
            </a:stretch>
          </p:blipFill>
          <p:spPr>
            <a:xfrm>
              <a:off x="6271260" y="3424427"/>
              <a:ext cx="503681" cy="1081277"/>
            </a:xfrm>
            <a:prstGeom prst="rect">
              <a:avLst/>
            </a:prstGeom>
          </p:spPr>
        </p:pic>
        <p:sp>
          <p:nvSpPr>
            <p:cNvPr id="34" name="object 34"/>
            <p:cNvSpPr/>
            <p:nvPr/>
          </p:nvSpPr>
          <p:spPr>
            <a:xfrm>
              <a:off x="6867906" y="2330195"/>
              <a:ext cx="2872740" cy="2727960"/>
            </a:xfrm>
            <a:custGeom>
              <a:avLst/>
              <a:gdLst/>
              <a:ahLst/>
              <a:cxnLst/>
              <a:rect l="l" t="t" r="r" b="b"/>
              <a:pathLst>
                <a:path w="2872740" h="2727960">
                  <a:moveTo>
                    <a:pt x="1453134" y="1214628"/>
                  </a:moveTo>
                  <a:lnTo>
                    <a:pt x="1369314" y="1214628"/>
                  </a:lnTo>
                  <a:lnTo>
                    <a:pt x="1369314" y="1252728"/>
                  </a:lnTo>
                  <a:lnTo>
                    <a:pt x="1453134" y="1252728"/>
                  </a:lnTo>
                  <a:lnTo>
                    <a:pt x="1453134" y="1214628"/>
                  </a:lnTo>
                  <a:close/>
                </a:path>
                <a:path w="2872740" h="2727960">
                  <a:moveTo>
                    <a:pt x="1605534" y="1214628"/>
                  </a:moveTo>
                  <a:lnTo>
                    <a:pt x="1491234" y="1214628"/>
                  </a:lnTo>
                  <a:lnTo>
                    <a:pt x="1491234" y="1252728"/>
                  </a:lnTo>
                  <a:lnTo>
                    <a:pt x="1605534" y="1252728"/>
                  </a:lnTo>
                  <a:lnTo>
                    <a:pt x="1605534" y="1214628"/>
                  </a:lnTo>
                  <a:close/>
                </a:path>
                <a:path w="2872740" h="2727960">
                  <a:moveTo>
                    <a:pt x="1696974" y="2681478"/>
                  </a:moveTo>
                  <a:lnTo>
                    <a:pt x="156006" y="1583372"/>
                  </a:lnTo>
                  <a:lnTo>
                    <a:pt x="188976" y="1536954"/>
                  </a:lnTo>
                  <a:lnTo>
                    <a:pt x="0" y="1507236"/>
                  </a:lnTo>
                  <a:lnTo>
                    <a:pt x="89916" y="1676400"/>
                  </a:lnTo>
                  <a:lnTo>
                    <a:pt x="99822" y="1662455"/>
                  </a:lnTo>
                  <a:lnTo>
                    <a:pt x="122707" y="1630222"/>
                  </a:lnTo>
                  <a:lnTo>
                    <a:pt x="1664208" y="2727960"/>
                  </a:lnTo>
                  <a:lnTo>
                    <a:pt x="1696974" y="2681478"/>
                  </a:lnTo>
                  <a:close/>
                </a:path>
                <a:path w="2872740" h="2727960">
                  <a:moveTo>
                    <a:pt x="1757934" y="1214628"/>
                  </a:moveTo>
                  <a:lnTo>
                    <a:pt x="1643634" y="1214628"/>
                  </a:lnTo>
                  <a:lnTo>
                    <a:pt x="1643634" y="1252728"/>
                  </a:lnTo>
                  <a:lnTo>
                    <a:pt x="1757934" y="1252728"/>
                  </a:lnTo>
                  <a:lnTo>
                    <a:pt x="1757934" y="1214628"/>
                  </a:lnTo>
                  <a:close/>
                </a:path>
                <a:path w="2872740" h="2727960">
                  <a:moveTo>
                    <a:pt x="1879092" y="1026414"/>
                  </a:moveTo>
                  <a:lnTo>
                    <a:pt x="1821942" y="1026414"/>
                  </a:lnTo>
                  <a:lnTo>
                    <a:pt x="1821942" y="19050"/>
                  </a:lnTo>
                  <a:lnTo>
                    <a:pt x="1805940" y="19050"/>
                  </a:lnTo>
                  <a:lnTo>
                    <a:pt x="1805940" y="0"/>
                  </a:lnTo>
                  <a:lnTo>
                    <a:pt x="1691640" y="0"/>
                  </a:lnTo>
                  <a:lnTo>
                    <a:pt x="1691640" y="38100"/>
                  </a:lnTo>
                  <a:lnTo>
                    <a:pt x="1764792" y="38100"/>
                  </a:lnTo>
                  <a:lnTo>
                    <a:pt x="1764792" y="1026414"/>
                  </a:lnTo>
                  <a:lnTo>
                    <a:pt x="1707642" y="1026414"/>
                  </a:lnTo>
                  <a:lnTo>
                    <a:pt x="1764792" y="1141234"/>
                  </a:lnTo>
                  <a:lnTo>
                    <a:pt x="1792986" y="1197864"/>
                  </a:lnTo>
                  <a:lnTo>
                    <a:pt x="1821942" y="1140218"/>
                  </a:lnTo>
                  <a:lnTo>
                    <a:pt x="1879092" y="1026414"/>
                  </a:lnTo>
                  <a:close/>
                </a:path>
                <a:path w="2872740" h="2727960">
                  <a:moveTo>
                    <a:pt x="1910334" y="1214628"/>
                  </a:moveTo>
                  <a:lnTo>
                    <a:pt x="1796034" y="1214628"/>
                  </a:lnTo>
                  <a:lnTo>
                    <a:pt x="1796034" y="1252728"/>
                  </a:lnTo>
                  <a:lnTo>
                    <a:pt x="1910334" y="1252728"/>
                  </a:lnTo>
                  <a:lnTo>
                    <a:pt x="1910334" y="1214628"/>
                  </a:lnTo>
                  <a:close/>
                </a:path>
                <a:path w="2872740" h="2727960">
                  <a:moveTo>
                    <a:pt x="1958340" y="0"/>
                  </a:moveTo>
                  <a:lnTo>
                    <a:pt x="1844040" y="0"/>
                  </a:lnTo>
                  <a:lnTo>
                    <a:pt x="1844040" y="38100"/>
                  </a:lnTo>
                  <a:lnTo>
                    <a:pt x="1958340" y="38100"/>
                  </a:lnTo>
                  <a:lnTo>
                    <a:pt x="1958340" y="0"/>
                  </a:lnTo>
                  <a:close/>
                </a:path>
                <a:path w="2872740" h="2727960">
                  <a:moveTo>
                    <a:pt x="2062734" y="1214628"/>
                  </a:moveTo>
                  <a:lnTo>
                    <a:pt x="1948434" y="1214628"/>
                  </a:lnTo>
                  <a:lnTo>
                    <a:pt x="1948434" y="1252728"/>
                  </a:lnTo>
                  <a:lnTo>
                    <a:pt x="2062734" y="1252728"/>
                  </a:lnTo>
                  <a:lnTo>
                    <a:pt x="2062734" y="1214628"/>
                  </a:lnTo>
                  <a:close/>
                </a:path>
                <a:path w="2872740" h="2727960">
                  <a:moveTo>
                    <a:pt x="2110740" y="0"/>
                  </a:moveTo>
                  <a:lnTo>
                    <a:pt x="1996440" y="0"/>
                  </a:lnTo>
                  <a:lnTo>
                    <a:pt x="1996440" y="38100"/>
                  </a:lnTo>
                  <a:lnTo>
                    <a:pt x="2110740" y="38100"/>
                  </a:lnTo>
                  <a:lnTo>
                    <a:pt x="2110740" y="0"/>
                  </a:lnTo>
                  <a:close/>
                </a:path>
                <a:path w="2872740" h="2727960">
                  <a:moveTo>
                    <a:pt x="2263140" y="0"/>
                  </a:moveTo>
                  <a:lnTo>
                    <a:pt x="2148840" y="0"/>
                  </a:lnTo>
                  <a:lnTo>
                    <a:pt x="2148840" y="38100"/>
                  </a:lnTo>
                  <a:lnTo>
                    <a:pt x="2263140" y="38100"/>
                  </a:lnTo>
                  <a:lnTo>
                    <a:pt x="2263140" y="0"/>
                  </a:lnTo>
                  <a:close/>
                </a:path>
                <a:path w="2872740" h="2727960">
                  <a:moveTo>
                    <a:pt x="2415540" y="0"/>
                  </a:moveTo>
                  <a:lnTo>
                    <a:pt x="2301240" y="0"/>
                  </a:lnTo>
                  <a:lnTo>
                    <a:pt x="2301240" y="38100"/>
                  </a:lnTo>
                  <a:lnTo>
                    <a:pt x="2415540" y="38100"/>
                  </a:lnTo>
                  <a:lnTo>
                    <a:pt x="2415540" y="0"/>
                  </a:lnTo>
                  <a:close/>
                </a:path>
                <a:path w="2872740" h="2727960">
                  <a:moveTo>
                    <a:pt x="2567940" y="0"/>
                  </a:moveTo>
                  <a:lnTo>
                    <a:pt x="2453640" y="0"/>
                  </a:lnTo>
                  <a:lnTo>
                    <a:pt x="2453640" y="38100"/>
                  </a:lnTo>
                  <a:lnTo>
                    <a:pt x="2567940" y="38100"/>
                  </a:lnTo>
                  <a:lnTo>
                    <a:pt x="2567940" y="0"/>
                  </a:lnTo>
                  <a:close/>
                </a:path>
                <a:path w="2872740" h="2727960">
                  <a:moveTo>
                    <a:pt x="2720340" y="0"/>
                  </a:moveTo>
                  <a:lnTo>
                    <a:pt x="2606040" y="0"/>
                  </a:lnTo>
                  <a:lnTo>
                    <a:pt x="2606040" y="38100"/>
                  </a:lnTo>
                  <a:lnTo>
                    <a:pt x="2720340" y="38100"/>
                  </a:lnTo>
                  <a:lnTo>
                    <a:pt x="2720340" y="0"/>
                  </a:lnTo>
                  <a:close/>
                </a:path>
                <a:path w="2872740" h="2727960">
                  <a:moveTo>
                    <a:pt x="2872740" y="0"/>
                  </a:moveTo>
                  <a:lnTo>
                    <a:pt x="2758440" y="0"/>
                  </a:lnTo>
                  <a:lnTo>
                    <a:pt x="2758440" y="38100"/>
                  </a:lnTo>
                  <a:lnTo>
                    <a:pt x="2872740" y="38100"/>
                  </a:lnTo>
                  <a:lnTo>
                    <a:pt x="2872740" y="0"/>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7501127" y="2554223"/>
              <a:ext cx="1103630" cy="723265"/>
            </a:xfrm>
            <a:custGeom>
              <a:avLst/>
              <a:gdLst/>
              <a:ahLst/>
              <a:cxnLst/>
              <a:rect l="l" t="t" r="r" b="b"/>
              <a:pathLst>
                <a:path w="1103629" h="723264">
                  <a:moveTo>
                    <a:pt x="1103376" y="723137"/>
                  </a:moveTo>
                  <a:lnTo>
                    <a:pt x="1103376" y="0"/>
                  </a:lnTo>
                  <a:lnTo>
                    <a:pt x="0" y="0"/>
                  </a:lnTo>
                  <a:lnTo>
                    <a:pt x="0" y="723137"/>
                  </a:lnTo>
                  <a:lnTo>
                    <a:pt x="1103376" y="723137"/>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 name="object 37"/>
          <p:cNvSpPr txBox="1"/>
          <p:nvPr/>
        </p:nvSpPr>
        <p:spPr>
          <a:xfrm>
            <a:off x="7974583" y="5183378"/>
            <a:ext cx="2619375" cy="635000"/>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srgbClr val="0000FF"/>
                </a:solidFill>
                <a:effectLst/>
                <a:uLnTx/>
                <a:uFillTx/>
                <a:latin typeface="Verdana"/>
                <a:ea typeface="+mn-ea"/>
                <a:cs typeface="Verdana"/>
              </a:rPr>
              <a:t>Frequency-selective </a:t>
            </a:r>
            <a:r>
              <a:rPr kumimoji="0" sz="2000" b="0" i="0" u="none" strike="noStrike" kern="1200" cap="none" spc="-690" normalizeH="0" baseline="0" noProof="0" dirty="0">
                <a:ln>
                  <a:noFill/>
                </a:ln>
                <a:solidFill>
                  <a:srgbClr val="0000FF"/>
                </a:solidFill>
                <a:effectLst/>
                <a:uLnTx/>
                <a:uFillTx/>
                <a:latin typeface="Verdana"/>
                <a:ea typeface="+mn-ea"/>
                <a:cs typeface="Verdana"/>
              </a:rPr>
              <a:t> </a:t>
            </a:r>
            <a:r>
              <a:rPr kumimoji="0" sz="2000" b="0" i="0" u="none" strike="noStrike" kern="1200" cap="none" spc="-10" normalizeH="0" baseline="0" noProof="0" dirty="0">
                <a:ln>
                  <a:noFill/>
                </a:ln>
                <a:solidFill>
                  <a:srgbClr val="0000FF"/>
                </a:solidFill>
                <a:effectLst/>
                <a:uLnTx/>
                <a:uFillTx/>
                <a:latin typeface="Verdana"/>
                <a:ea typeface="+mn-ea"/>
                <a:cs typeface="Verdana"/>
              </a:rPr>
              <a:t>source</a:t>
            </a:r>
            <a:r>
              <a:rPr kumimoji="0" sz="2000" b="0" i="0" u="none" strike="noStrike" kern="1200" cap="none" spc="-65" normalizeH="0" baseline="0" noProof="0" dirty="0">
                <a:ln>
                  <a:noFill/>
                </a:ln>
                <a:solidFill>
                  <a:srgbClr val="0000FF"/>
                </a:solidFill>
                <a:effectLst/>
                <a:uLnTx/>
                <a:uFillTx/>
                <a:latin typeface="Verdana"/>
                <a:ea typeface="+mn-ea"/>
                <a:cs typeface="Verdana"/>
              </a:rPr>
              <a:t> </a:t>
            </a:r>
            <a:r>
              <a:rPr kumimoji="0" sz="2000" b="0" i="0" u="none" strike="noStrike" kern="1200" cap="none" spc="-10" normalizeH="0" baseline="0" noProof="0" dirty="0">
                <a:ln>
                  <a:noFill/>
                </a:ln>
                <a:solidFill>
                  <a:srgbClr val="0000FF"/>
                </a:solidFill>
                <a:effectLst/>
                <a:uLnTx/>
                <a:uFillTx/>
                <a:latin typeface="Verdana"/>
                <a:ea typeface="+mn-ea"/>
                <a:cs typeface="Verdana"/>
              </a:rPr>
              <a:t>degeneration</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grpSp>
        <p:nvGrpSpPr>
          <p:cNvPr id="45" name="Group 44"/>
          <p:cNvGrpSpPr/>
          <p:nvPr/>
        </p:nvGrpSpPr>
        <p:grpSpPr>
          <a:xfrm>
            <a:off x="7501128" y="2554223"/>
            <a:ext cx="3835400" cy="2262886"/>
            <a:chOff x="7501128" y="2554223"/>
            <a:chExt cx="3835400" cy="2262886"/>
          </a:xfrm>
        </p:grpSpPr>
        <p:sp>
          <p:nvSpPr>
            <p:cNvPr id="36" name="object 36"/>
            <p:cNvSpPr txBox="1"/>
            <p:nvPr/>
          </p:nvSpPr>
          <p:spPr>
            <a:xfrm>
              <a:off x="8627618" y="4486909"/>
              <a:ext cx="2708910"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[8]</a:t>
              </a:r>
              <a:r>
                <a:rPr kumimoji="0" sz="2000" b="0" i="0" u="none" strike="noStrike" kern="1200" cap="none" spc="-10" normalizeH="0" baseline="0" noProof="0" dirty="0">
                  <a:ln>
                    <a:noFill/>
                  </a:ln>
                  <a:solidFill>
                    <a:prstClr val="black"/>
                  </a:solidFill>
                  <a:effectLst/>
                  <a:uLnTx/>
                  <a:uFillTx/>
                  <a:latin typeface="Verdana"/>
                  <a:ea typeface="+mn-ea"/>
                  <a:cs typeface="Verdana"/>
                </a:rPr>
                <a:t> Gondi</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JSSC</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2007</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38" name="object 38"/>
            <p:cNvSpPr txBox="1"/>
            <p:nvPr/>
          </p:nvSpPr>
          <p:spPr>
            <a:xfrm>
              <a:off x="7501128" y="2554223"/>
              <a:ext cx="1103630" cy="418465"/>
            </a:xfrm>
            <a:prstGeom prst="rect">
              <a:avLst/>
            </a:prstGeom>
            <a:solidFill>
              <a:srgbClr val="FFFFFF"/>
            </a:solidFill>
          </p:spPr>
          <p:txBody>
            <a:bodyPr vert="horz" wrap="square" lIns="0" tIns="14604" rIns="0" bIns="0" rtlCol="0">
              <a:spAutoFit/>
            </a:bodyPr>
            <a:lstStyle/>
            <a:p>
              <a:pPr marL="23495" marR="0" lvl="0" indent="0" algn="l" defTabSz="914400" rtl="0" eaLnBrk="1" fontAlgn="auto" latinLnBrk="0" hangingPunct="1">
                <a:lnSpc>
                  <a:spcPct val="100000"/>
                </a:lnSpc>
                <a:spcBef>
                  <a:spcPts val="114"/>
                </a:spcBef>
                <a:spcAft>
                  <a:spcPts val="0"/>
                </a:spcAft>
                <a:buClrTx/>
                <a:buSzTx/>
                <a:buFontTx/>
                <a:buNone/>
                <a:tabLst>
                  <a:tab pos="553085" algn="l"/>
                  <a:tab pos="1049020" algn="l"/>
                </a:tabLst>
                <a:defRPr/>
              </a:pPr>
              <a:r>
                <a:rPr kumimoji="0" sz="2850" b="0" i="0" u="none" strike="noStrike" kern="1200" cap="none" spc="-37" normalizeH="0" baseline="-35087" noProof="0" dirty="0">
                  <a:ln>
                    <a:noFill/>
                  </a:ln>
                  <a:solidFill>
                    <a:srgbClr val="0000FF"/>
                  </a:solidFill>
                  <a:effectLst/>
                  <a:uLnTx/>
                  <a:uFillTx/>
                  <a:latin typeface="Symbol"/>
                  <a:ea typeface="+mn-ea"/>
                  <a:cs typeface="Symbol"/>
                </a:rPr>
                <a:t></a:t>
              </a:r>
              <a:r>
                <a:rPr kumimoji="0" sz="1900" b="0" i="0" u="sng" strike="noStrike" kern="1200" cap="none" spc="-25" normalizeH="0" baseline="0" noProof="0" dirty="0">
                  <a:ln>
                    <a:noFill/>
                  </a:ln>
                  <a:solidFill>
                    <a:srgbClr val="0000FF"/>
                  </a:solidFill>
                  <a:effectLst/>
                  <a:uLnTx/>
                  <a:uFill>
                    <a:solidFill>
                      <a:srgbClr val="0000FF"/>
                    </a:solidFill>
                  </a:uFill>
                  <a:latin typeface="Times New Roman"/>
                  <a:ea typeface="+mn-ea"/>
                  <a:cs typeface="Times New Roman"/>
                </a:rPr>
                <a:t>	</a:t>
              </a:r>
              <a:r>
                <a:rPr kumimoji="0" sz="1900" b="0" i="0" u="sng" strike="noStrike" kern="1200" cap="none" spc="-5" normalizeH="0" baseline="0" noProof="0" dirty="0">
                  <a:ln>
                    <a:noFill/>
                  </a:ln>
                  <a:solidFill>
                    <a:srgbClr val="0000FF"/>
                  </a:solidFill>
                  <a:effectLst/>
                  <a:uLnTx/>
                  <a:uFill>
                    <a:solidFill>
                      <a:srgbClr val="0000FF"/>
                    </a:solidFill>
                  </a:uFill>
                  <a:latin typeface="Times New Roman"/>
                  <a:ea typeface="+mn-ea"/>
                  <a:cs typeface="Times New Roman"/>
                </a:rPr>
                <a:t>1	</a:t>
              </a:r>
              <a:endParaRPr kumimoji="0" sz="1900" b="0" i="0" u="none" strike="noStrike" kern="1200" cap="none" spc="0" normalizeH="0" baseline="0" noProof="0" dirty="0">
                <a:ln>
                  <a:noFill/>
                </a:ln>
                <a:solidFill>
                  <a:prstClr val="black"/>
                </a:solidFill>
                <a:effectLst/>
                <a:uLnTx/>
                <a:uFillTx/>
                <a:latin typeface="Times New Roman"/>
                <a:ea typeface="+mn-ea"/>
                <a:cs typeface="Times New Roman"/>
              </a:endParaRPr>
            </a:p>
          </p:txBody>
        </p:sp>
        <p:sp>
          <p:nvSpPr>
            <p:cNvPr id="39" name="object 39"/>
            <p:cNvSpPr txBox="1"/>
            <p:nvPr/>
          </p:nvSpPr>
          <p:spPr>
            <a:xfrm>
              <a:off x="7501128" y="2972640"/>
              <a:ext cx="1103630" cy="304800"/>
            </a:xfrm>
            <a:prstGeom prst="rect">
              <a:avLst/>
            </a:prstGeom>
            <a:solidFill>
              <a:srgbClr val="FFFFFF"/>
            </a:solidFill>
          </p:spPr>
          <p:txBody>
            <a:bodyPr vert="horz" wrap="square" lIns="0" tIns="0" rIns="0" bIns="0" rtlCol="0">
              <a:spAutoFit/>
            </a:bodyPr>
            <a:lstStyle/>
            <a:p>
              <a:pPr marL="144780" marR="0" lvl="0" indent="0" algn="l" defTabSz="914400" rtl="0" eaLnBrk="1" fontAlgn="auto" latinLnBrk="0" hangingPunct="1">
                <a:lnSpc>
                  <a:spcPts val="1805"/>
                </a:lnSpc>
                <a:spcBef>
                  <a:spcPts val="0"/>
                </a:spcBef>
                <a:spcAft>
                  <a:spcPts val="0"/>
                </a:spcAft>
                <a:buClrTx/>
                <a:buSzTx/>
                <a:buFontTx/>
                <a:buNone/>
                <a:tabLst/>
                <a:defRPr/>
              </a:pPr>
              <a:r>
                <a:rPr kumimoji="0" sz="1900" b="0" i="0" u="none" strike="noStrike" kern="1200" cap="none" spc="-90" normalizeH="0" baseline="0" noProof="0" dirty="0">
                  <a:ln>
                    <a:noFill/>
                  </a:ln>
                  <a:solidFill>
                    <a:srgbClr val="0000FF"/>
                  </a:solidFill>
                  <a:effectLst/>
                  <a:uLnTx/>
                  <a:uFillTx/>
                  <a:latin typeface="Times New Roman"/>
                  <a:ea typeface="+mn-ea"/>
                  <a:cs typeface="Times New Roman"/>
                </a:rPr>
                <a:t>1</a:t>
              </a:r>
              <a:r>
                <a:rPr kumimoji="0" sz="1900" b="0" i="0" u="none" strike="noStrike" kern="1200" cap="none" spc="-90" normalizeH="0" baseline="0" noProof="0" dirty="0">
                  <a:ln>
                    <a:noFill/>
                  </a:ln>
                  <a:solidFill>
                    <a:srgbClr val="0000FF"/>
                  </a:solidFill>
                  <a:effectLst/>
                  <a:uLnTx/>
                  <a:uFillTx/>
                  <a:latin typeface="Symbol"/>
                  <a:ea typeface="+mn-ea"/>
                  <a:cs typeface="Symbol"/>
                </a:rPr>
                <a:t></a:t>
              </a:r>
              <a:r>
                <a:rPr kumimoji="0" sz="1900" b="0" i="0" u="none" strike="noStrike" kern="1200" cap="none" spc="-90" normalizeH="0" baseline="0" noProof="0" dirty="0">
                  <a:ln>
                    <a:noFill/>
                  </a:ln>
                  <a:solidFill>
                    <a:srgbClr val="0000FF"/>
                  </a:solidFill>
                  <a:effectLst/>
                  <a:uLnTx/>
                  <a:uFillTx/>
                  <a:latin typeface="Times New Roman"/>
                  <a:ea typeface="+mn-ea"/>
                  <a:cs typeface="Times New Roman"/>
                </a:rPr>
                <a:t>0.5</a:t>
              </a:r>
              <a:r>
                <a:rPr kumimoji="0" sz="1900" b="0" i="1" u="none" strike="noStrike" kern="1200" cap="none" spc="-90" normalizeH="0" baseline="0" noProof="0" dirty="0">
                  <a:ln>
                    <a:noFill/>
                  </a:ln>
                  <a:solidFill>
                    <a:srgbClr val="0000FF"/>
                  </a:solidFill>
                  <a:effectLst/>
                  <a:uLnTx/>
                  <a:uFillTx/>
                  <a:latin typeface="Times New Roman"/>
                  <a:ea typeface="+mn-ea"/>
                  <a:cs typeface="Times New Roman"/>
                </a:rPr>
                <a:t>g</a:t>
              </a:r>
              <a:r>
                <a:rPr kumimoji="0" sz="1650" b="0" i="1" u="none" strike="noStrike" kern="1200" cap="none" spc="-135" normalizeH="0" baseline="-25252" noProof="0" dirty="0">
                  <a:ln>
                    <a:noFill/>
                  </a:ln>
                  <a:solidFill>
                    <a:srgbClr val="0000FF"/>
                  </a:solidFill>
                  <a:effectLst/>
                  <a:uLnTx/>
                  <a:uFillTx/>
                  <a:latin typeface="Times New Roman"/>
                  <a:ea typeface="+mn-ea"/>
                  <a:cs typeface="Times New Roman"/>
                </a:rPr>
                <a:t>m</a:t>
              </a:r>
              <a:r>
                <a:rPr kumimoji="0" sz="1900" b="0" i="1" u="none" strike="noStrike" kern="1200" cap="none" spc="-90" normalizeH="0" baseline="0" noProof="0" dirty="0">
                  <a:ln>
                    <a:noFill/>
                  </a:ln>
                  <a:solidFill>
                    <a:srgbClr val="0000FF"/>
                  </a:solidFill>
                  <a:effectLst/>
                  <a:uLnTx/>
                  <a:uFillTx/>
                  <a:latin typeface="Times New Roman"/>
                  <a:ea typeface="+mn-ea"/>
                  <a:cs typeface="Times New Roman"/>
                </a:rPr>
                <a:t>R</a:t>
              </a:r>
              <a:r>
                <a:rPr kumimoji="0" sz="1650" b="0" i="1" u="none" strike="noStrike" kern="1200" cap="none" spc="-135" normalizeH="0" baseline="-25252" noProof="0" dirty="0">
                  <a:ln>
                    <a:noFill/>
                  </a:ln>
                  <a:solidFill>
                    <a:srgbClr val="0000FF"/>
                  </a:solidFill>
                  <a:effectLst/>
                  <a:uLnTx/>
                  <a:uFillTx/>
                  <a:latin typeface="Times New Roman"/>
                  <a:ea typeface="+mn-ea"/>
                  <a:cs typeface="Times New Roman"/>
                </a:rPr>
                <a:t>s</a:t>
              </a:r>
              <a:endParaRPr kumimoji="0" sz="1650" b="0" i="0" u="none" strike="noStrike" kern="1200" cap="none" spc="0" normalizeH="0" baseline="-25252" noProof="0" dirty="0">
                <a:ln>
                  <a:noFill/>
                </a:ln>
                <a:solidFill>
                  <a:prstClr val="black"/>
                </a:solidFill>
                <a:effectLst/>
                <a:uLnTx/>
                <a:uFillTx/>
                <a:latin typeface="Times New Roman"/>
                <a:ea typeface="+mn-ea"/>
                <a:cs typeface="Times New Roman"/>
              </a:endParaRPr>
            </a:p>
          </p:txBody>
        </p:sp>
      </p:grpSp>
      <p:sp>
        <p:nvSpPr>
          <p:cNvPr id="41" name="Slide Number Placeholder 40"/>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32</a:t>
            </a:fld>
            <a:endParaRPr lang="en-US" spc="-50" dirty="0"/>
          </a:p>
        </p:txBody>
      </p:sp>
      <p:sp>
        <p:nvSpPr>
          <p:cNvPr id="42" name="Date Placeholder 41"/>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43" name="Footer Placeholder 42"/>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86465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animBg="1"/>
      <p:bldP spid="21" grpId="0"/>
      <p:bldP spid="22" grpId="0"/>
      <p:bldP spid="23" grpId="0"/>
      <p:bldP spid="24" grpId="0"/>
      <p:bldP spid="3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9655" y="276988"/>
            <a:ext cx="7329805" cy="604520"/>
          </a:xfrm>
          <a:prstGeom prst="rect">
            <a:avLst/>
          </a:prstGeom>
        </p:spPr>
        <p:txBody>
          <a:bodyPr vert="horz" wrap="square" lIns="0" tIns="12065" rIns="0" bIns="0" rtlCol="0">
            <a:spAutoFit/>
          </a:bodyPr>
          <a:lstStyle/>
          <a:p>
            <a:pPr marL="12700">
              <a:lnSpc>
                <a:spcPct val="100000"/>
              </a:lnSpc>
              <a:spcBef>
                <a:spcPts val="95"/>
              </a:spcBef>
            </a:pPr>
            <a:r>
              <a:rPr sz="3800" b="0" spc="-5" dirty="0">
                <a:latin typeface="Verdana"/>
                <a:cs typeface="Verdana"/>
              </a:rPr>
              <a:t>Feed</a:t>
            </a:r>
            <a:r>
              <a:rPr sz="3800" b="0" spc="10" dirty="0">
                <a:latin typeface="Verdana"/>
                <a:cs typeface="Verdana"/>
              </a:rPr>
              <a:t> </a:t>
            </a:r>
            <a:r>
              <a:rPr sz="3800" b="0" spc="-5" dirty="0">
                <a:latin typeface="Verdana"/>
                <a:cs typeface="Verdana"/>
              </a:rPr>
              <a:t>Forward</a:t>
            </a:r>
            <a:r>
              <a:rPr sz="3800" b="0" spc="30" dirty="0">
                <a:latin typeface="Verdana"/>
                <a:cs typeface="Verdana"/>
              </a:rPr>
              <a:t> </a:t>
            </a:r>
            <a:r>
              <a:rPr sz="3800" b="0" spc="-10" dirty="0">
                <a:latin typeface="Verdana"/>
                <a:cs typeface="Verdana"/>
              </a:rPr>
              <a:t>Equalization</a:t>
            </a:r>
            <a:r>
              <a:rPr sz="3800" b="0" spc="10" dirty="0">
                <a:latin typeface="Verdana"/>
                <a:cs typeface="Verdana"/>
              </a:rPr>
              <a:t> </a:t>
            </a:r>
            <a:r>
              <a:rPr sz="3800" b="0" spc="-10" dirty="0">
                <a:latin typeface="Verdana"/>
                <a:cs typeface="Verdana"/>
              </a:rPr>
              <a:t>(1)</a:t>
            </a:r>
            <a:endParaRPr sz="3800" dirty="0">
              <a:latin typeface="Verdana"/>
              <a:cs typeface="Verdana"/>
            </a:endParaRPr>
          </a:p>
        </p:txBody>
      </p:sp>
      <p:grpSp>
        <p:nvGrpSpPr>
          <p:cNvPr id="3" name="object 3"/>
          <p:cNvGrpSpPr/>
          <p:nvPr/>
        </p:nvGrpSpPr>
        <p:grpSpPr>
          <a:xfrm>
            <a:off x="3919816" y="2511640"/>
            <a:ext cx="1917064" cy="1793875"/>
            <a:chOff x="3919816" y="2511640"/>
            <a:chExt cx="1917064" cy="1793875"/>
          </a:xfrm>
        </p:grpSpPr>
        <p:sp>
          <p:nvSpPr>
            <p:cNvPr id="4" name="object 4"/>
            <p:cNvSpPr/>
            <p:nvPr/>
          </p:nvSpPr>
          <p:spPr>
            <a:xfrm>
              <a:off x="3971544" y="2521457"/>
              <a:ext cx="1855470" cy="1732280"/>
            </a:xfrm>
            <a:custGeom>
              <a:avLst/>
              <a:gdLst/>
              <a:ahLst/>
              <a:cxnLst/>
              <a:rect l="l" t="t" r="r" b="b"/>
              <a:pathLst>
                <a:path w="1855470" h="1732279">
                  <a:moveTo>
                    <a:pt x="1855469" y="1732026"/>
                  </a:moveTo>
                  <a:lnTo>
                    <a:pt x="0" y="1732026"/>
                  </a:lnTo>
                  <a:lnTo>
                    <a:pt x="0" y="0"/>
                  </a:lnTo>
                </a:path>
              </a:pathLst>
            </a:custGeom>
            <a:ln w="1963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5785104" y="4212335"/>
              <a:ext cx="41910" cy="83185"/>
            </a:xfrm>
            <a:custGeom>
              <a:avLst/>
              <a:gdLst/>
              <a:ahLst/>
              <a:cxnLst/>
              <a:rect l="l" t="t" r="r" b="b"/>
              <a:pathLst>
                <a:path w="41910" h="83185">
                  <a:moveTo>
                    <a:pt x="0" y="83057"/>
                  </a:moveTo>
                  <a:lnTo>
                    <a:pt x="41910" y="41147"/>
                  </a:lnTo>
                  <a:lnTo>
                    <a:pt x="0" y="0"/>
                  </a:lnTo>
                </a:path>
              </a:pathLst>
            </a:custGeom>
            <a:ln w="1963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3929634" y="2521457"/>
              <a:ext cx="83185" cy="41910"/>
            </a:xfrm>
            <a:custGeom>
              <a:avLst/>
              <a:gdLst/>
              <a:ahLst/>
              <a:cxnLst/>
              <a:rect l="l" t="t" r="r" b="b"/>
              <a:pathLst>
                <a:path w="83185" h="41910">
                  <a:moveTo>
                    <a:pt x="83058" y="41910"/>
                  </a:moveTo>
                  <a:lnTo>
                    <a:pt x="41910" y="0"/>
                  </a:lnTo>
                  <a:lnTo>
                    <a:pt x="0" y="41910"/>
                  </a:lnTo>
                </a:path>
              </a:pathLst>
            </a:custGeom>
            <a:ln w="1963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3971544" y="2645663"/>
              <a:ext cx="1350645" cy="1351280"/>
            </a:xfrm>
            <a:custGeom>
              <a:avLst/>
              <a:gdLst/>
              <a:ahLst/>
              <a:cxnLst/>
              <a:rect l="l" t="t" r="r" b="b"/>
              <a:pathLst>
                <a:path w="1350645" h="1351279">
                  <a:moveTo>
                    <a:pt x="0" y="0"/>
                  </a:moveTo>
                  <a:lnTo>
                    <a:pt x="1350264" y="1351026"/>
                  </a:lnTo>
                </a:path>
              </a:pathLst>
            </a:custGeom>
            <a:ln w="19634">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object 8"/>
          <p:cNvSpPr txBox="1"/>
          <p:nvPr/>
        </p:nvSpPr>
        <p:spPr>
          <a:xfrm>
            <a:off x="3636223" y="3102267"/>
            <a:ext cx="260985" cy="885825"/>
          </a:xfrm>
          <a:prstGeom prst="rect">
            <a:avLst/>
          </a:prstGeom>
        </p:spPr>
        <p:txBody>
          <a:bodyPr vert="vert270" wrap="square" lIns="0" tIns="27305" rIns="0" bIns="0" rtlCol="0">
            <a:spAutoFit/>
          </a:bodyPr>
          <a:lstStyle/>
          <a:p>
            <a:pPr marL="12700" marR="0" lvl="0" indent="0" algn="l" defTabSz="914400" rtl="0" eaLnBrk="1" fontAlgn="auto" latinLnBrk="0" hangingPunct="1">
              <a:lnSpc>
                <a:spcPct val="100000"/>
              </a:lnSpc>
              <a:spcBef>
                <a:spcPts val="215"/>
              </a:spcBef>
              <a:spcAft>
                <a:spcPts val="0"/>
              </a:spcAft>
              <a:buClrTx/>
              <a:buSzTx/>
              <a:buFontTx/>
              <a:buNone/>
              <a:tabLst/>
              <a:defRPr/>
            </a:pPr>
            <a:r>
              <a:rPr kumimoji="0" sz="1400" b="0" i="0" u="none" strike="noStrike" kern="1200" cap="none" spc="-20" normalizeH="0" baseline="0" noProof="0" dirty="0">
                <a:ln>
                  <a:noFill/>
                </a:ln>
                <a:solidFill>
                  <a:prstClr val="black"/>
                </a:solidFill>
                <a:effectLst/>
                <a:uLnTx/>
                <a:uFillTx/>
                <a:latin typeface="Malgun Gothic"/>
                <a:ea typeface="+mn-ea"/>
                <a:cs typeface="Malgun Gothic"/>
              </a:rPr>
              <a:t>Magnitude</a:t>
            </a:r>
            <a:endParaRPr kumimoji="0" sz="14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9" name="object 9"/>
          <p:cNvGrpSpPr/>
          <p:nvPr/>
        </p:nvGrpSpPr>
        <p:grpSpPr>
          <a:xfrm>
            <a:off x="1307369" y="2499899"/>
            <a:ext cx="1977389" cy="1850389"/>
            <a:chOff x="1307369" y="2499899"/>
            <a:chExt cx="1977389" cy="1850389"/>
          </a:xfrm>
        </p:grpSpPr>
        <p:sp>
          <p:nvSpPr>
            <p:cNvPr id="10" name="object 10"/>
            <p:cNvSpPr/>
            <p:nvPr/>
          </p:nvSpPr>
          <p:spPr>
            <a:xfrm>
              <a:off x="1360931" y="2510027"/>
              <a:ext cx="1913889" cy="1786255"/>
            </a:xfrm>
            <a:custGeom>
              <a:avLst/>
              <a:gdLst/>
              <a:ahLst/>
              <a:cxnLst/>
              <a:rect l="l" t="t" r="r" b="b"/>
              <a:pathLst>
                <a:path w="1913889" h="1786254">
                  <a:moveTo>
                    <a:pt x="1913382" y="1786127"/>
                  </a:moveTo>
                  <a:lnTo>
                    <a:pt x="0" y="1786127"/>
                  </a:lnTo>
                  <a:lnTo>
                    <a:pt x="0" y="0"/>
                  </a:lnTo>
                </a:path>
              </a:pathLst>
            </a:custGeom>
            <a:ln w="202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3230880" y="4253483"/>
              <a:ext cx="43815" cy="86360"/>
            </a:xfrm>
            <a:custGeom>
              <a:avLst/>
              <a:gdLst/>
              <a:ahLst/>
              <a:cxnLst/>
              <a:rect l="l" t="t" r="r" b="b"/>
              <a:pathLst>
                <a:path w="43814" h="86360">
                  <a:moveTo>
                    <a:pt x="0" y="86106"/>
                  </a:moveTo>
                  <a:lnTo>
                    <a:pt x="43434" y="42672"/>
                  </a:lnTo>
                  <a:lnTo>
                    <a:pt x="0" y="0"/>
                  </a:lnTo>
                </a:path>
              </a:pathLst>
            </a:custGeom>
            <a:ln w="202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1317497" y="2510027"/>
              <a:ext cx="86360" cy="43815"/>
            </a:xfrm>
            <a:custGeom>
              <a:avLst/>
              <a:gdLst/>
              <a:ahLst/>
              <a:cxnLst/>
              <a:rect l="l" t="t" r="r" b="b"/>
              <a:pathLst>
                <a:path w="86359" h="43814">
                  <a:moveTo>
                    <a:pt x="86106" y="43434"/>
                  </a:moveTo>
                  <a:lnTo>
                    <a:pt x="43434" y="0"/>
                  </a:lnTo>
                  <a:lnTo>
                    <a:pt x="0" y="43434"/>
                  </a:lnTo>
                </a:path>
              </a:pathLst>
            </a:custGeom>
            <a:ln w="202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1360931" y="3148583"/>
              <a:ext cx="892810" cy="892810"/>
            </a:xfrm>
            <a:custGeom>
              <a:avLst/>
              <a:gdLst/>
              <a:ahLst/>
              <a:cxnLst/>
              <a:rect l="l" t="t" r="r" b="b"/>
              <a:pathLst>
                <a:path w="892810" h="892810">
                  <a:moveTo>
                    <a:pt x="0" y="892301"/>
                  </a:moveTo>
                  <a:lnTo>
                    <a:pt x="892302" y="0"/>
                  </a:lnTo>
                </a:path>
              </a:pathLst>
            </a:custGeom>
            <a:ln w="20256">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2253233" y="3148583"/>
              <a:ext cx="255270" cy="0"/>
            </a:xfrm>
            <a:custGeom>
              <a:avLst/>
              <a:gdLst/>
              <a:ahLst/>
              <a:cxnLst/>
              <a:rect l="l" t="t" r="r" b="b"/>
              <a:pathLst>
                <a:path w="255269">
                  <a:moveTo>
                    <a:pt x="0" y="0"/>
                  </a:moveTo>
                  <a:lnTo>
                    <a:pt x="255270" y="0"/>
                  </a:lnTo>
                </a:path>
              </a:pathLst>
            </a:custGeom>
            <a:ln w="20256">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2508503" y="3148583"/>
              <a:ext cx="510540" cy="509905"/>
            </a:xfrm>
            <a:custGeom>
              <a:avLst/>
              <a:gdLst/>
              <a:ahLst/>
              <a:cxnLst/>
              <a:rect l="l" t="t" r="r" b="b"/>
              <a:pathLst>
                <a:path w="510539" h="509904">
                  <a:moveTo>
                    <a:pt x="0" y="0"/>
                  </a:moveTo>
                  <a:lnTo>
                    <a:pt x="510540" y="509778"/>
                  </a:lnTo>
                </a:path>
              </a:pathLst>
            </a:custGeom>
            <a:ln w="20256">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object 16"/>
          <p:cNvSpPr txBox="1"/>
          <p:nvPr/>
        </p:nvSpPr>
        <p:spPr>
          <a:xfrm>
            <a:off x="1015731" y="2989047"/>
            <a:ext cx="215444" cy="1033316"/>
          </a:xfrm>
          <a:prstGeom prst="rect">
            <a:avLst/>
          </a:prstGeom>
        </p:spPr>
        <p:txBody>
          <a:bodyPr vert="vert270" wrap="square" lIns="0" tIns="33020" rIns="0" bIns="0" rtlCol="0">
            <a:spAutoFit/>
          </a:bodyPr>
          <a:lstStyle/>
          <a:p>
            <a:pPr marL="12700" marR="0" lvl="0" indent="0" algn="l" defTabSz="914400" rtl="0" eaLnBrk="1" fontAlgn="auto" latinLnBrk="0" hangingPunct="1">
              <a:lnSpc>
                <a:spcPct val="100000"/>
              </a:lnSpc>
              <a:spcBef>
                <a:spcPts val="260"/>
              </a:spcBef>
              <a:spcAft>
                <a:spcPts val="0"/>
              </a:spcAft>
              <a:buClrTx/>
              <a:buSzTx/>
              <a:buFontTx/>
              <a:buNone/>
              <a:tabLst/>
              <a:defRPr/>
            </a:pPr>
            <a:r>
              <a:rPr kumimoji="0" sz="1400" b="0" i="0" u="none" strike="noStrike" kern="1200" cap="none" spc="5" normalizeH="0" baseline="0" noProof="0" dirty="0">
                <a:ln>
                  <a:noFill/>
                </a:ln>
                <a:solidFill>
                  <a:prstClr val="black"/>
                </a:solidFill>
                <a:effectLst/>
                <a:uLnTx/>
                <a:uFillTx/>
                <a:latin typeface="Malgun Gothic"/>
                <a:ea typeface="+mn-ea"/>
                <a:cs typeface="Malgun Gothic"/>
              </a:rPr>
              <a:t>Magnitude</a:t>
            </a:r>
            <a:endParaRPr kumimoji="0" sz="14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17" name="object 17"/>
          <p:cNvGrpSpPr/>
          <p:nvPr/>
        </p:nvGrpSpPr>
        <p:grpSpPr>
          <a:xfrm>
            <a:off x="6374891" y="2334767"/>
            <a:ext cx="2190750" cy="2049780"/>
            <a:chOff x="6374891" y="2334767"/>
            <a:chExt cx="2190750" cy="2049780"/>
          </a:xfrm>
        </p:grpSpPr>
        <p:sp>
          <p:nvSpPr>
            <p:cNvPr id="18" name="object 18"/>
            <p:cNvSpPr/>
            <p:nvPr/>
          </p:nvSpPr>
          <p:spPr>
            <a:xfrm>
              <a:off x="6433565" y="2346197"/>
              <a:ext cx="2120900" cy="1979295"/>
            </a:xfrm>
            <a:custGeom>
              <a:avLst/>
              <a:gdLst/>
              <a:ahLst/>
              <a:cxnLst/>
              <a:rect l="l" t="t" r="r" b="b"/>
              <a:pathLst>
                <a:path w="2120900" h="1979295">
                  <a:moveTo>
                    <a:pt x="2120646" y="1978914"/>
                  </a:moveTo>
                  <a:lnTo>
                    <a:pt x="0" y="1978914"/>
                  </a:lnTo>
                  <a:lnTo>
                    <a:pt x="0" y="0"/>
                  </a:lnTo>
                </a:path>
              </a:pathLst>
            </a:custGeom>
            <a:ln w="224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9"/>
            <p:cNvSpPr/>
            <p:nvPr/>
          </p:nvSpPr>
          <p:spPr>
            <a:xfrm>
              <a:off x="8506205" y="4277867"/>
              <a:ext cx="48260" cy="95250"/>
            </a:xfrm>
            <a:custGeom>
              <a:avLst/>
              <a:gdLst/>
              <a:ahLst/>
              <a:cxnLst/>
              <a:rect l="l" t="t" r="r" b="b"/>
              <a:pathLst>
                <a:path w="48259" h="95250">
                  <a:moveTo>
                    <a:pt x="0" y="95250"/>
                  </a:moveTo>
                  <a:lnTo>
                    <a:pt x="48006" y="47244"/>
                  </a:lnTo>
                  <a:lnTo>
                    <a:pt x="0" y="0"/>
                  </a:lnTo>
                </a:path>
              </a:pathLst>
            </a:custGeom>
            <a:ln w="224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bject 20"/>
            <p:cNvSpPr/>
            <p:nvPr/>
          </p:nvSpPr>
          <p:spPr>
            <a:xfrm>
              <a:off x="6386321" y="2346197"/>
              <a:ext cx="95250" cy="47625"/>
            </a:xfrm>
            <a:custGeom>
              <a:avLst/>
              <a:gdLst/>
              <a:ahLst/>
              <a:cxnLst/>
              <a:rect l="l" t="t" r="r" b="b"/>
              <a:pathLst>
                <a:path w="95250" h="47625">
                  <a:moveTo>
                    <a:pt x="95250" y="47244"/>
                  </a:moveTo>
                  <a:lnTo>
                    <a:pt x="47243" y="0"/>
                  </a:lnTo>
                  <a:lnTo>
                    <a:pt x="0" y="47244"/>
                  </a:lnTo>
                </a:path>
              </a:pathLst>
            </a:custGeom>
            <a:ln w="224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p:nvPr/>
          </p:nvSpPr>
          <p:spPr>
            <a:xfrm>
              <a:off x="6433565" y="2769869"/>
              <a:ext cx="989965" cy="0"/>
            </a:xfrm>
            <a:custGeom>
              <a:avLst/>
              <a:gdLst/>
              <a:ahLst/>
              <a:cxnLst/>
              <a:rect l="l" t="t" r="r" b="b"/>
              <a:pathLst>
                <a:path w="989965">
                  <a:moveTo>
                    <a:pt x="0" y="0"/>
                  </a:moveTo>
                  <a:lnTo>
                    <a:pt x="989838" y="0"/>
                  </a:lnTo>
                </a:path>
              </a:pathLst>
            </a:custGeom>
            <a:ln w="22440">
              <a:solidFill>
                <a:srgbClr val="00AF4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7423403" y="2769869"/>
              <a:ext cx="271780" cy="272415"/>
            </a:xfrm>
            <a:custGeom>
              <a:avLst/>
              <a:gdLst/>
              <a:ahLst/>
              <a:cxnLst/>
              <a:rect l="l" t="t" r="r" b="b"/>
              <a:pathLst>
                <a:path w="271779" h="272414">
                  <a:moveTo>
                    <a:pt x="0" y="0"/>
                  </a:moveTo>
                  <a:lnTo>
                    <a:pt x="271272" y="272034"/>
                  </a:lnTo>
                </a:path>
              </a:pathLst>
            </a:custGeom>
            <a:ln w="22440">
              <a:solidFill>
                <a:srgbClr val="00AF4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3"/>
            <p:cNvSpPr/>
            <p:nvPr/>
          </p:nvSpPr>
          <p:spPr>
            <a:xfrm>
              <a:off x="7694675" y="3041903"/>
              <a:ext cx="435609" cy="859790"/>
            </a:xfrm>
            <a:custGeom>
              <a:avLst/>
              <a:gdLst/>
              <a:ahLst/>
              <a:cxnLst/>
              <a:rect l="l" t="t" r="r" b="b"/>
              <a:pathLst>
                <a:path w="435609" h="859789">
                  <a:moveTo>
                    <a:pt x="0" y="0"/>
                  </a:moveTo>
                  <a:lnTo>
                    <a:pt x="435102" y="859536"/>
                  </a:lnTo>
                </a:path>
              </a:pathLst>
            </a:custGeom>
            <a:ln w="22440">
              <a:solidFill>
                <a:srgbClr val="00AF4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 name="object 24"/>
          <p:cNvSpPr txBox="1"/>
          <p:nvPr/>
        </p:nvSpPr>
        <p:spPr>
          <a:xfrm>
            <a:off x="6052412" y="2896066"/>
            <a:ext cx="246221" cy="1124100"/>
          </a:xfrm>
          <a:prstGeom prst="rect">
            <a:avLst/>
          </a:prstGeom>
        </p:spPr>
        <p:txBody>
          <a:bodyPr vert="vert270" wrap="square" lIns="0" tIns="29209" rIns="0" bIns="0" rtlCol="0">
            <a:spAutoFit/>
          </a:bodyPr>
          <a:lstStyle/>
          <a:p>
            <a:pPr marL="12700" marR="0" lvl="0" indent="0" algn="l" defTabSz="914400" rtl="0" eaLnBrk="1" fontAlgn="auto" latinLnBrk="0" hangingPunct="1">
              <a:lnSpc>
                <a:spcPct val="100000"/>
              </a:lnSpc>
              <a:spcBef>
                <a:spcPts val="229"/>
              </a:spcBef>
              <a:spcAft>
                <a:spcPts val="0"/>
              </a:spcAft>
              <a:buClrTx/>
              <a:buSzTx/>
              <a:buFontTx/>
              <a:buNone/>
              <a:tabLst/>
              <a:defRPr/>
            </a:pPr>
            <a:r>
              <a:rPr kumimoji="0" sz="1600" b="0" i="0" u="none" strike="noStrike" kern="1200" cap="none" spc="-20" normalizeH="0" baseline="0" noProof="0" dirty="0">
                <a:ln>
                  <a:noFill/>
                </a:ln>
                <a:solidFill>
                  <a:prstClr val="black"/>
                </a:solidFill>
                <a:effectLst/>
                <a:uLnTx/>
                <a:uFillTx/>
                <a:latin typeface="Malgun Gothic"/>
                <a:ea typeface="+mn-ea"/>
                <a:cs typeface="Malgun Gothic"/>
              </a:rPr>
              <a:t>Magnitude</a:t>
            </a:r>
            <a:endParaRPr kumimoji="0" sz="1600" b="0" i="0" u="none" strike="noStrike" kern="1200" cap="none" spc="0" normalizeH="0" baseline="0" noProof="0" dirty="0">
              <a:ln>
                <a:noFill/>
              </a:ln>
              <a:solidFill>
                <a:prstClr val="black"/>
              </a:solidFill>
              <a:effectLst/>
              <a:uLnTx/>
              <a:uFillTx/>
              <a:latin typeface="Malgun Gothic"/>
              <a:ea typeface="+mn-ea"/>
              <a:cs typeface="Malgun Gothic"/>
            </a:endParaRPr>
          </a:p>
        </p:txBody>
      </p:sp>
      <p:sp>
        <p:nvSpPr>
          <p:cNvPr id="25" name="object 25"/>
          <p:cNvSpPr txBox="1"/>
          <p:nvPr/>
        </p:nvSpPr>
        <p:spPr>
          <a:xfrm>
            <a:off x="3872738" y="4367305"/>
            <a:ext cx="1815464" cy="737870"/>
          </a:xfrm>
          <a:prstGeom prst="rect">
            <a:avLst/>
          </a:prstGeom>
        </p:spPr>
        <p:txBody>
          <a:bodyPr vert="horz" wrap="square" lIns="0" tIns="11430" rIns="0" bIns="0" rtlCol="0">
            <a:spAutoFit/>
          </a:bodyPr>
          <a:lstStyle/>
          <a:p>
            <a:pPr marL="60960" marR="0" lvl="0" indent="0" algn="ctr" defTabSz="914400" rtl="0" eaLnBrk="1" fontAlgn="auto" latinLnBrk="0" hangingPunct="1">
              <a:lnSpc>
                <a:spcPct val="100000"/>
              </a:lnSpc>
              <a:spcBef>
                <a:spcPts val="90"/>
              </a:spcBef>
              <a:spcAft>
                <a:spcPts val="0"/>
              </a:spcAft>
              <a:buClrTx/>
              <a:buSzTx/>
              <a:buFontTx/>
              <a:buNone/>
              <a:tabLst/>
              <a:defRPr/>
            </a:pPr>
            <a:r>
              <a:rPr kumimoji="0" sz="1400" b="0" i="0" u="none" strike="noStrike" kern="1200" cap="none" spc="-15" normalizeH="0" baseline="0" noProof="0" dirty="0">
                <a:ln>
                  <a:noFill/>
                </a:ln>
                <a:solidFill>
                  <a:prstClr val="black"/>
                </a:solidFill>
                <a:effectLst/>
                <a:uLnTx/>
                <a:uFillTx/>
                <a:latin typeface="Malgun Gothic"/>
                <a:ea typeface="+mn-ea"/>
                <a:cs typeface="Malgun Gothic"/>
              </a:rPr>
              <a:t>Frequency</a:t>
            </a:r>
            <a:endParaRPr kumimoji="0" sz="1400" b="0" i="0" u="none" strike="noStrike" kern="1200" cap="none" spc="0" normalizeH="0" baseline="0" noProof="0">
              <a:ln>
                <a:noFill/>
              </a:ln>
              <a:solidFill>
                <a:prstClr val="black"/>
              </a:solidFill>
              <a:effectLst/>
              <a:uLnTx/>
              <a:uFillTx/>
              <a:latin typeface="Malgun Gothic"/>
              <a:ea typeface="+mn-ea"/>
              <a:cs typeface="Malgun Gothic"/>
            </a:endParaRPr>
          </a:p>
          <a:p>
            <a:pPr marL="0" marR="0" lvl="0" indent="0" algn="ctr" defTabSz="914400" rtl="0" eaLnBrk="1" fontAlgn="auto" latinLnBrk="0" hangingPunct="1">
              <a:lnSpc>
                <a:spcPct val="100000"/>
              </a:lnSpc>
              <a:spcBef>
                <a:spcPts val="1535"/>
              </a:spcBef>
              <a:spcAft>
                <a:spcPts val="0"/>
              </a:spcAft>
              <a:buClrTx/>
              <a:buSzTx/>
              <a:buFontTx/>
              <a:buNone/>
              <a:tabLst/>
              <a:defRPr/>
            </a:pPr>
            <a:r>
              <a:rPr kumimoji="0" sz="2000" b="0" i="0" u="none" strike="noStrike" kern="1200" cap="none" spc="-10" normalizeH="0" baseline="0" noProof="0" dirty="0">
                <a:ln>
                  <a:noFill/>
                </a:ln>
                <a:solidFill>
                  <a:srgbClr val="FF0000"/>
                </a:solidFill>
                <a:effectLst/>
                <a:uLnTx/>
                <a:uFillTx/>
                <a:latin typeface="Verdana"/>
                <a:ea typeface="+mn-ea"/>
                <a:cs typeface="Verdana"/>
              </a:rPr>
              <a:t>Channel</a:t>
            </a:r>
            <a:r>
              <a:rPr kumimoji="0" sz="2000" b="0" i="0" u="none" strike="noStrike" kern="1200" cap="none" spc="-50" normalizeH="0" baseline="0" noProof="0" dirty="0">
                <a:ln>
                  <a:noFill/>
                </a:ln>
                <a:solidFill>
                  <a:srgbClr val="FF0000"/>
                </a:solidFill>
                <a:effectLst/>
                <a:uLnTx/>
                <a:uFillTx/>
                <a:latin typeface="Verdana"/>
                <a:ea typeface="+mn-ea"/>
                <a:cs typeface="Verdana"/>
              </a:rPr>
              <a:t> </a:t>
            </a:r>
            <a:r>
              <a:rPr kumimoji="0" sz="2000" b="0" i="0" u="none" strike="noStrike" kern="1200" cap="none" spc="-10" normalizeH="0" baseline="0" noProof="0" dirty="0">
                <a:ln>
                  <a:noFill/>
                </a:ln>
                <a:solidFill>
                  <a:srgbClr val="FF0000"/>
                </a:solidFill>
                <a:effectLst/>
                <a:uLnTx/>
                <a:uFillTx/>
                <a:latin typeface="Verdana"/>
                <a:ea typeface="+mn-ea"/>
                <a:cs typeface="Verdana"/>
              </a:rPr>
              <a:t>(LPF)</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26" name="object 26"/>
          <p:cNvSpPr txBox="1"/>
          <p:nvPr/>
        </p:nvSpPr>
        <p:spPr>
          <a:xfrm>
            <a:off x="1435101" y="4312408"/>
            <a:ext cx="1286510" cy="792480"/>
          </a:xfrm>
          <a:prstGeom prst="rect">
            <a:avLst/>
          </a:prstGeom>
        </p:spPr>
        <p:txBody>
          <a:bodyPr vert="horz" wrap="square" lIns="0" tIns="118745" rIns="0" bIns="0" rtlCol="0">
            <a:spAutoFit/>
          </a:bodyPr>
          <a:lstStyle/>
          <a:p>
            <a:pPr marL="371475" marR="0" lvl="0" indent="0" algn="l" defTabSz="914400" rtl="0" eaLnBrk="1" fontAlgn="auto" latinLnBrk="0" hangingPunct="1">
              <a:lnSpc>
                <a:spcPct val="100000"/>
              </a:lnSpc>
              <a:spcBef>
                <a:spcPts val="935"/>
              </a:spcBef>
              <a:spcAft>
                <a:spcPts val="0"/>
              </a:spcAft>
              <a:buClrTx/>
              <a:buSzTx/>
              <a:buFontTx/>
              <a:buNone/>
              <a:tabLst/>
              <a:defRPr/>
            </a:pPr>
            <a:r>
              <a:rPr kumimoji="0" sz="1400" b="0" i="0" u="none" strike="noStrike" kern="1200" cap="none" spc="10" normalizeH="0" baseline="0" noProof="0" dirty="0">
                <a:ln>
                  <a:noFill/>
                </a:ln>
                <a:solidFill>
                  <a:prstClr val="black"/>
                </a:solidFill>
                <a:effectLst/>
                <a:uLnTx/>
                <a:uFillTx/>
                <a:latin typeface="Malgun Gothic"/>
                <a:ea typeface="+mn-ea"/>
                <a:cs typeface="Malgun Gothic"/>
              </a:rPr>
              <a:t>Frequency</a:t>
            </a:r>
            <a:endParaRPr kumimoji="0" sz="1400" b="0" i="0" u="none" strike="noStrike" kern="1200" cap="none" spc="0" normalizeH="0" baseline="0" noProof="0">
              <a:ln>
                <a:noFill/>
              </a:ln>
              <a:solidFill>
                <a:prstClr val="black"/>
              </a:solidFill>
              <a:effectLst/>
              <a:uLnTx/>
              <a:uFillTx/>
              <a:latin typeface="Malgun Gothic"/>
              <a:ea typeface="+mn-ea"/>
              <a:cs typeface="Malgun Gothic"/>
            </a:endParaRPr>
          </a:p>
          <a:p>
            <a:pPr marL="12700" marR="0" lvl="0" indent="0" algn="l" defTabSz="914400" rtl="0" eaLnBrk="1" fontAlgn="auto" latinLnBrk="0" hangingPunct="1">
              <a:lnSpc>
                <a:spcPct val="100000"/>
              </a:lnSpc>
              <a:spcBef>
                <a:spcPts val="1125"/>
              </a:spcBef>
              <a:spcAft>
                <a:spcPts val="0"/>
              </a:spcAft>
              <a:buClrTx/>
              <a:buSzTx/>
              <a:buFontTx/>
              <a:buNone/>
              <a:tabLst/>
              <a:defRPr/>
            </a:pPr>
            <a:r>
              <a:rPr kumimoji="0" sz="2000" b="0" i="0" u="none" strike="noStrike" kern="1200" cap="none" spc="-5" normalizeH="0" baseline="0" noProof="0" dirty="0">
                <a:ln>
                  <a:noFill/>
                </a:ln>
                <a:solidFill>
                  <a:srgbClr val="0000FF"/>
                </a:solidFill>
                <a:effectLst/>
                <a:uLnTx/>
                <a:uFillTx/>
                <a:latin typeface="Verdana"/>
                <a:ea typeface="+mn-ea"/>
                <a:cs typeface="Verdana"/>
              </a:rPr>
              <a:t>FFE</a:t>
            </a:r>
            <a:r>
              <a:rPr kumimoji="0" sz="2000" b="0" i="0" u="none" strike="noStrike" kern="1200" cap="none" spc="-60" normalizeH="0" baseline="0" noProof="0" dirty="0">
                <a:ln>
                  <a:noFill/>
                </a:ln>
                <a:solidFill>
                  <a:srgbClr val="0000FF"/>
                </a:solidFill>
                <a:effectLst/>
                <a:uLnTx/>
                <a:uFillTx/>
                <a:latin typeface="Verdana"/>
                <a:ea typeface="+mn-ea"/>
                <a:cs typeface="Verdana"/>
              </a:rPr>
              <a:t> </a:t>
            </a:r>
            <a:r>
              <a:rPr kumimoji="0" sz="2000" b="0" i="0" u="none" strike="noStrike" kern="1200" cap="none" spc="-10" normalizeH="0" baseline="0" noProof="0" dirty="0">
                <a:ln>
                  <a:noFill/>
                </a:ln>
                <a:solidFill>
                  <a:srgbClr val="0000FF"/>
                </a:solidFill>
                <a:effectLst/>
                <a:uLnTx/>
                <a:uFillTx/>
                <a:latin typeface="Verdana"/>
                <a:ea typeface="+mn-ea"/>
                <a:cs typeface="Verdana"/>
              </a:rPr>
              <a:t>(HPF)</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27" name="object 27"/>
          <p:cNvSpPr txBox="1"/>
          <p:nvPr/>
        </p:nvSpPr>
        <p:spPr>
          <a:xfrm>
            <a:off x="6443717" y="4361857"/>
            <a:ext cx="2957830" cy="787400"/>
          </a:xfrm>
          <a:prstGeom prst="rect">
            <a:avLst/>
          </a:prstGeom>
        </p:spPr>
        <p:txBody>
          <a:bodyPr vert="horz" wrap="square" lIns="0" tIns="106680" rIns="0" bIns="0" rtlCol="0">
            <a:spAutoFit/>
          </a:bodyPr>
          <a:lstStyle/>
          <a:p>
            <a:pPr marL="483870" marR="0" lvl="0" indent="0" algn="l" defTabSz="914400" rtl="0" eaLnBrk="1" fontAlgn="auto" latinLnBrk="0" hangingPunct="1">
              <a:lnSpc>
                <a:spcPct val="100000"/>
              </a:lnSpc>
              <a:spcBef>
                <a:spcPts val="840"/>
              </a:spcBef>
              <a:spcAft>
                <a:spcPts val="0"/>
              </a:spcAft>
              <a:buClrTx/>
              <a:buSzTx/>
              <a:buFontTx/>
              <a:buNone/>
              <a:tabLst/>
              <a:defRPr/>
            </a:pPr>
            <a:r>
              <a:rPr kumimoji="0" sz="1600" b="0" i="0" u="none" strike="noStrike" kern="1200" cap="none" spc="-15" normalizeH="0" baseline="0" noProof="0" dirty="0">
                <a:ln>
                  <a:noFill/>
                </a:ln>
                <a:solidFill>
                  <a:prstClr val="black"/>
                </a:solidFill>
                <a:effectLst/>
                <a:uLnTx/>
                <a:uFillTx/>
                <a:latin typeface="Malgun Gothic"/>
                <a:ea typeface="+mn-ea"/>
                <a:cs typeface="Malgun Gothic"/>
              </a:rPr>
              <a:t>Frequency</a:t>
            </a:r>
            <a:endParaRPr kumimoji="0" sz="1600" b="0" i="0" u="none" strike="noStrike" kern="1200" cap="none" spc="0" normalizeH="0" baseline="0" noProof="0">
              <a:ln>
                <a:noFill/>
              </a:ln>
              <a:solidFill>
                <a:prstClr val="black"/>
              </a:solidFill>
              <a:effectLst/>
              <a:uLnTx/>
              <a:uFillTx/>
              <a:latin typeface="Malgun Gothic"/>
              <a:ea typeface="+mn-ea"/>
              <a:cs typeface="Malgun Gothic"/>
            </a:endParaRPr>
          </a:p>
          <a:p>
            <a:pPr marL="12700" marR="0" lvl="0" indent="0" algn="l" defTabSz="914400" rtl="0" eaLnBrk="1" fontAlgn="auto" latinLnBrk="0" hangingPunct="1">
              <a:lnSpc>
                <a:spcPct val="100000"/>
              </a:lnSpc>
              <a:spcBef>
                <a:spcPts val="935"/>
              </a:spcBef>
              <a:spcAft>
                <a:spcPts val="0"/>
              </a:spcAft>
              <a:buClrTx/>
              <a:buSzTx/>
              <a:buFontTx/>
              <a:buNone/>
              <a:tabLst/>
              <a:defRPr/>
            </a:pPr>
            <a:r>
              <a:rPr kumimoji="0" sz="2000" b="0" i="0" u="none" strike="noStrike" kern="1200" cap="none" spc="-10" normalizeH="0" baseline="0" noProof="0" dirty="0">
                <a:ln>
                  <a:noFill/>
                </a:ln>
                <a:solidFill>
                  <a:srgbClr val="006500"/>
                </a:solidFill>
                <a:effectLst/>
                <a:uLnTx/>
                <a:uFillTx/>
                <a:latin typeface="Verdana"/>
                <a:ea typeface="+mn-ea"/>
                <a:cs typeface="Verdana"/>
              </a:rPr>
              <a:t>Overall</a:t>
            </a:r>
            <a:r>
              <a:rPr kumimoji="0" sz="2000" b="0" i="0" u="none" strike="noStrike" kern="1200" cap="none" spc="0" normalizeH="0" baseline="0" noProof="0" dirty="0">
                <a:ln>
                  <a:noFill/>
                </a:ln>
                <a:solidFill>
                  <a:srgbClr val="006500"/>
                </a:solidFill>
                <a:effectLst/>
                <a:uLnTx/>
                <a:uFillTx/>
                <a:latin typeface="Verdana"/>
                <a:ea typeface="+mn-ea"/>
                <a:cs typeface="Verdana"/>
              </a:rPr>
              <a:t> </a:t>
            </a:r>
            <a:r>
              <a:rPr kumimoji="0" sz="2000" b="0" i="0" u="none" strike="noStrike" kern="1200" cap="none" spc="-10" normalizeH="0" baseline="0" noProof="0" dirty="0">
                <a:ln>
                  <a:noFill/>
                </a:ln>
                <a:solidFill>
                  <a:srgbClr val="006500"/>
                </a:solidFill>
                <a:effectLst/>
                <a:uLnTx/>
                <a:uFillTx/>
                <a:latin typeface="Verdana"/>
                <a:ea typeface="+mn-ea"/>
                <a:cs typeface="Verdana"/>
              </a:rPr>
              <a:t>Response</a:t>
            </a:r>
            <a:r>
              <a:rPr kumimoji="0" sz="2000" b="0" i="0" u="none" strike="noStrike" kern="1200" cap="none" spc="-15" normalizeH="0" baseline="0" noProof="0" dirty="0">
                <a:ln>
                  <a:noFill/>
                </a:ln>
                <a:solidFill>
                  <a:srgbClr val="006500"/>
                </a:solidFill>
                <a:effectLst/>
                <a:uLnTx/>
                <a:uFillTx/>
                <a:latin typeface="Verdana"/>
                <a:ea typeface="+mn-ea"/>
                <a:cs typeface="Verdana"/>
              </a:rPr>
              <a:t> </a:t>
            </a:r>
            <a:r>
              <a:rPr kumimoji="0" sz="2000" b="0" i="0" u="none" strike="noStrike" kern="1200" cap="none" spc="-10" normalizeH="0" baseline="0" noProof="0" dirty="0">
                <a:ln>
                  <a:noFill/>
                </a:ln>
                <a:solidFill>
                  <a:srgbClr val="006500"/>
                </a:solidFill>
                <a:effectLst/>
                <a:uLnTx/>
                <a:uFillTx/>
                <a:latin typeface="Verdana"/>
                <a:ea typeface="+mn-ea"/>
                <a:cs typeface="Verdana"/>
              </a:rPr>
              <a:t>(flat)</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29" name="object 29"/>
          <p:cNvSpPr/>
          <p:nvPr/>
        </p:nvSpPr>
        <p:spPr>
          <a:xfrm>
            <a:off x="5292851" y="1697736"/>
            <a:ext cx="144145" cy="0"/>
          </a:xfrm>
          <a:custGeom>
            <a:avLst/>
            <a:gdLst/>
            <a:ahLst/>
            <a:cxnLst/>
            <a:rect l="l" t="t" r="r" b="b"/>
            <a:pathLst>
              <a:path w="144145">
                <a:moveTo>
                  <a:pt x="0" y="0"/>
                </a:moveTo>
                <a:lnTo>
                  <a:pt x="14401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object 30"/>
          <p:cNvPicPr/>
          <p:nvPr/>
        </p:nvPicPr>
        <p:blipFill>
          <a:blip r:embed="rId3" cstate="print"/>
          <a:stretch>
            <a:fillRect/>
          </a:stretch>
        </p:blipFill>
        <p:spPr>
          <a:xfrm>
            <a:off x="3790187" y="1508760"/>
            <a:ext cx="1502664" cy="362712"/>
          </a:xfrm>
          <a:prstGeom prst="rect">
            <a:avLst/>
          </a:prstGeom>
        </p:spPr>
      </p:pic>
      <p:sp>
        <p:nvSpPr>
          <p:cNvPr id="31" name="object 31"/>
          <p:cNvSpPr/>
          <p:nvPr/>
        </p:nvSpPr>
        <p:spPr>
          <a:xfrm>
            <a:off x="3790187" y="1508760"/>
            <a:ext cx="1503045" cy="363220"/>
          </a:xfrm>
          <a:custGeom>
            <a:avLst/>
            <a:gdLst/>
            <a:ahLst/>
            <a:cxnLst/>
            <a:rect l="l" t="t" r="r" b="b"/>
            <a:pathLst>
              <a:path w="1503045" h="363219">
                <a:moveTo>
                  <a:pt x="150113" y="362712"/>
                </a:moveTo>
                <a:lnTo>
                  <a:pt x="1352550" y="362711"/>
                </a:lnTo>
                <a:lnTo>
                  <a:pt x="1392509" y="356210"/>
                </a:lnTo>
                <a:lnTo>
                  <a:pt x="1428383" y="337876"/>
                </a:lnTo>
                <a:lnTo>
                  <a:pt x="1458753" y="309467"/>
                </a:lnTo>
                <a:lnTo>
                  <a:pt x="1482202" y="272739"/>
                </a:lnTo>
                <a:lnTo>
                  <a:pt x="1497312" y="229450"/>
                </a:lnTo>
                <a:lnTo>
                  <a:pt x="1502664" y="181355"/>
                </a:lnTo>
                <a:lnTo>
                  <a:pt x="1497312" y="133261"/>
                </a:lnTo>
                <a:lnTo>
                  <a:pt x="1482202" y="89972"/>
                </a:lnTo>
                <a:lnTo>
                  <a:pt x="1458753" y="53244"/>
                </a:lnTo>
                <a:lnTo>
                  <a:pt x="1428383" y="24835"/>
                </a:lnTo>
                <a:lnTo>
                  <a:pt x="1392509" y="6501"/>
                </a:lnTo>
                <a:lnTo>
                  <a:pt x="1352550" y="0"/>
                </a:lnTo>
                <a:lnTo>
                  <a:pt x="1348739" y="5333"/>
                </a:lnTo>
                <a:lnTo>
                  <a:pt x="1352550" y="0"/>
                </a:lnTo>
                <a:lnTo>
                  <a:pt x="172973" y="2286"/>
                </a:lnTo>
                <a:lnTo>
                  <a:pt x="127088" y="8851"/>
                </a:lnTo>
                <a:lnTo>
                  <a:pt x="85795" y="27375"/>
                </a:lnTo>
                <a:lnTo>
                  <a:pt x="50768" y="56102"/>
                </a:lnTo>
                <a:lnTo>
                  <a:pt x="23678" y="93274"/>
                </a:lnTo>
                <a:lnTo>
                  <a:pt x="6198" y="137135"/>
                </a:lnTo>
                <a:lnTo>
                  <a:pt x="0" y="185928"/>
                </a:lnTo>
                <a:lnTo>
                  <a:pt x="8004" y="236573"/>
                </a:lnTo>
                <a:lnTo>
                  <a:pt x="28919" y="281842"/>
                </a:lnTo>
                <a:lnTo>
                  <a:pt x="60844" y="319466"/>
                </a:lnTo>
                <a:lnTo>
                  <a:pt x="101876" y="347179"/>
                </a:lnTo>
                <a:lnTo>
                  <a:pt x="150113" y="362712"/>
                </a:lnTo>
                <a:close/>
              </a:path>
            </a:pathLst>
          </a:custGeom>
          <a:ln w="19075">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object 32"/>
          <p:cNvPicPr/>
          <p:nvPr/>
        </p:nvPicPr>
        <p:blipFill>
          <a:blip r:embed="rId4" cstate="print"/>
          <a:stretch>
            <a:fillRect/>
          </a:stretch>
        </p:blipFill>
        <p:spPr>
          <a:xfrm>
            <a:off x="3790187" y="1508760"/>
            <a:ext cx="300227" cy="362712"/>
          </a:xfrm>
          <a:prstGeom prst="rect">
            <a:avLst/>
          </a:prstGeom>
        </p:spPr>
      </p:pic>
      <p:sp>
        <p:nvSpPr>
          <p:cNvPr id="33" name="object 33"/>
          <p:cNvSpPr/>
          <p:nvPr/>
        </p:nvSpPr>
        <p:spPr>
          <a:xfrm>
            <a:off x="3790187" y="1508760"/>
            <a:ext cx="300355" cy="363220"/>
          </a:xfrm>
          <a:custGeom>
            <a:avLst/>
            <a:gdLst/>
            <a:ahLst/>
            <a:cxnLst/>
            <a:rect l="l" t="t" r="r" b="b"/>
            <a:pathLst>
              <a:path w="300354" h="363219">
                <a:moveTo>
                  <a:pt x="300227" y="181355"/>
                </a:moveTo>
                <a:lnTo>
                  <a:pt x="294876" y="133261"/>
                </a:lnTo>
                <a:lnTo>
                  <a:pt x="279766" y="89972"/>
                </a:lnTo>
                <a:lnTo>
                  <a:pt x="256317" y="53244"/>
                </a:lnTo>
                <a:lnTo>
                  <a:pt x="225947" y="24835"/>
                </a:lnTo>
                <a:lnTo>
                  <a:pt x="190073" y="6501"/>
                </a:lnTo>
                <a:lnTo>
                  <a:pt x="150113" y="0"/>
                </a:lnTo>
                <a:lnTo>
                  <a:pt x="110154" y="6501"/>
                </a:lnTo>
                <a:lnTo>
                  <a:pt x="74280" y="24835"/>
                </a:lnTo>
                <a:lnTo>
                  <a:pt x="43910" y="53244"/>
                </a:lnTo>
                <a:lnTo>
                  <a:pt x="20461" y="89972"/>
                </a:lnTo>
                <a:lnTo>
                  <a:pt x="5351" y="133261"/>
                </a:lnTo>
                <a:lnTo>
                  <a:pt x="0" y="181355"/>
                </a:lnTo>
                <a:lnTo>
                  <a:pt x="5351" y="229450"/>
                </a:lnTo>
                <a:lnTo>
                  <a:pt x="20461" y="272739"/>
                </a:lnTo>
                <a:lnTo>
                  <a:pt x="43910" y="309467"/>
                </a:lnTo>
                <a:lnTo>
                  <a:pt x="74280" y="337876"/>
                </a:lnTo>
                <a:lnTo>
                  <a:pt x="110154" y="356210"/>
                </a:lnTo>
                <a:lnTo>
                  <a:pt x="150113" y="362711"/>
                </a:lnTo>
                <a:lnTo>
                  <a:pt x="190073" y="356210"/>
                </a:lnTo>
                <a:lnTo>
                  <a:pt x="225947" y="337876"/>
                </a:lnTo>
                <a:lnTo>
                  <a:pt x="256317" y="309467"/>
                </a:lnTo>
                <a:lnTo>
                  <a:pt x="279766" y="272739"/>
                </a:lnTo>
                <a:lnTo>
                  <a:pt x="294876" y="229450"/>
                </a:lnTo>
                <a:lnTo>
                  <a:pt x="300227" y="181355"/>
                </a:lnTo>
                <a:close/>
              </a:path>
            </a:pathLst>
          </a:custGeom>
          <a:ln w="19075">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object 34"/>
          <p:cNvPicPr/>
          <p:nvPr/>
        </p:nvPicPr>
        <p:blipFill>
          <a:blip r:embed="rId5" cstate="print"/>
          <a:stretch>
            <a:fillRect/>
          </a:stretch>
        </p:blipFill>
        <p:spPr>
          <a:xfrm>
            <a:off x="2955035" y="1517142"/>
            <a:ext cx="342900" cy="345947"/>
          </a:xfrm>
          <a:prstGeom prst="rect">
            <a:avLst/>
          </a:prstGeom>
        </p:spPr>
      </p:pic>
      <p:sp>
        <p:nvSpPr>
          <p:cNvPr id="35" name="object 35"/>
          <p:cNvSpPr/>
          <p:nvPr/>
        </p:nvSpPr>
        <p:spPr>
          <a:xfrm>
            <a:off x="2955035" y="1517142"/>
            <a:ext cx="342900" cy="346075"/>
          </a:xfrm>
          <a:custGeom>
            <a:avLst/>
            <a:gdLst/>
            <a:ahLst/>
            <a:cxnLst/>
            <a:rect l="l" t="t" r="r" b="b"/>
            <a:pathLst>
              <a:path w="342900" h="346075">
                <a:moveTo>
                  <a:pt x="0" y="0"/>
                </a:moveTo>
                <a:lnTo>
                  <a:pt x="342900" y="172973"/>
                </a:lnTo>
                <a:lnTo>
                  <a:pt x="0" y="345948"/>
                </a:lnTo>
                <a:lnTo>
                  <a:pt x="0" y="0"/>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2769869" y="1690116"/>
            <a:ext cx="107950" cy="0"/>
          </a:xfrm>
          <a:custGeom>
            <a:avLst/>
            <a:gdLst/>
            <a:ahLst/>
            <a:cxnLst/>
            <a:rect l="l" t="t" r="r" b="b"/>
            <a:pathLst>
              <a:path w="107950">
                <a:moveTo>
                  <a:pt x="0" y="0"/>
                </a:moveTo>
                <a:lnTo>
                  <a:pt x="107442"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2852927" y="1638300"/>
            <a:ext cx="102235" cy="102870"/>
          </a:xfrm>
          <a:custGeom>
            <a:avLst/>
            <a:gdLst/>
            <a:ahLst/>
            <a:cxnLst/>
            <a:rect l="l" t="t" r="r" b="b"/>
            <a:pathLst>
              <a:path w="102235"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8" name="object 38"/>
          <p:cNvPicPr/>
          <p:nvPr/>
        </p:nvPicPr>
        <p:blipFill>
          <a:blip r:embed="rId6" cstate="print"/>
          <a:stretch>
            <a:fillRect/>
          </a:stretch>
        </p:blipFill>
        <p:spPr>
          <a:xfrm>
            <a:off x="2938271" y="1998726"/>
            <a:ext cx="359663" cy="288798"/>
          </a:xfrm>
          <a:prstGeom prst="rect">
            <a:avLst/>
          </a:prstGeom>
        </p:spPr>
      </p:pic>
      <p:sp>
        <p:nvSpPr>
          <p:cNvPr id="39" name="object 39"/>
          <p:cNvSpPr txBox="1"/>
          <p:nvPr/>
        </p:nvSpPr>
        <p:spPr>
          <a:xfrm>
            <a:off x="2938272" y="1998726"/>
            <a:ext cx="360045" cy="288925"/>
          </a:xfrm>
          <a:prstGeom prst="rect">
            <a:avLst/>
          </a:prstGeom>
          <a:ln w="19075">
            <a:solidFill>
              <a:srgbClr val="000000"/>
            </a:solidFill>
          </a:ln>
        </p:spPr>
        <p:txBody>
          <a:bodyPr vert="horz" wrap="square" lIns="0" tIns="43180" rIns="0" bIns="0" rtlCol="0">
            <a:spAutoFit/>
          </a:bodyPr>
          <a:lstStyle/>
          <a:p>
            <a:pPr marL="67310" marR="0" lvl="0" indent="0" algn="l" defTabSz="914400" rtl="0" eaLnBrk="1" fontAlgn="auto" latinLnBrk="0" hangingPunct="1">
              <a:lnSpc>
                <a:spcPct val="100000"/>
              </a:lnSpc>
              <a:spcBef>
                <a:spcPts val="340"/>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40" name="object 40"/>
          <p:cNvGrpSpPr/>
          <p:nvPr/>
        </p:nvGrpSpPr>
        <p:grpSpPr>
          <a:xfrm>
            <a:off x="3079242" y="1130109"/>
            <a:ext cx="4402455" cy="1167765"/>
            <a:chOff x="3079242" y="1130109"/>
            <a:chExt cx="4402455" cy="1167765"/>
          </a:xfrm>
        </p:grpSpPr>
        <p:sp>
          <p:nvSpPr>
            <p:cNvPr id="41" name="object 41"/>
            <p:cNvSpPr/>
            <p:nvPr/>
          </p:nvSpPr>
          <p:spPr>
            <a:xfrm>
              <a:off x="3297936" y="1690116"/>
              <a:ext cx="146685" cy="0"/>
            </a:xfrm>
            <a:custGeom>
              <a:avLst/>
              <a:gdLst/>
              <a:ahLst/>
              <a:cxnLst/>
              <a:rect l="l" t="t" r="r" b="b"/>
              <a:pathLst>
                <a:path w="146685">
                  <a:moveTo>
                    <a:pt x="0" y="0"/>
                  </a:moveTo>
                  <a:lnTo>
                    <a:pt x="14630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3249168" y="1245108"/>
              <a:ext cx="180340" cy="309880"/>
            </a:xfrm>
            <a:custGeom>
              <a:avLst/>
              <a:gdLst/>
              <a:ahLst/>
              <a:cxnLst/>
              <a:rect l="l" t="t" r="r" b="b"/>
              <a:pathLst>
                <a:path w="180339" h="309880">
                  <a:moveTo>
                    <a:pt x="89916" y="0"/>
                  </a:moveTo>
                  <a:lnTo>
                    <a:pt x="0" y="25908"/>
                  </a:lnTo>
                  <a:lnTo>
                    <a:pt x="179832" y="77724"/>
                  </a:lnTo>
                  <a:lnTo>
                    <a:pt x="0" y="128778"/>
                  </a:lnTo>
                  <a:lnTo>
                    <a:pt x="179832" y="180594"/>
                  </a:lnTo>
                  <a:lnTo>
                    <a:pt x="0" y="231647"/>
                  </a:lnTo>
                  <a:lnTo>
                    <a:pt x="179832" y="283464"/>
                  </a:lnTo>
                  <a:lnTo>
                    <a:pt x="89916" y="309372"/>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3249168" y="1139952"/>
              <a:ext cx="180340" cy="0"/>
            </a:xfrm>
            <a:custGeom>
              <a:avLst/>
              <a:gdLst/>
              <a:ahLst/>
              <a:cxnLst/>
              <a:rect l="l" t="t" r="r" b="b"/>
              <a:pathLst>
                <a:path w="180339">
                  <a:moveTo>
                    <a:pt x="0" y="0"/>
                  </a:moveTo>
                  <a:lnTo>
                    <a:pt x="179832"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3339084" y="1139952"/>
              <a:ext cx="0" cy="105410"/>
            </a:xfrm>
            <a:custGeom>
              <a:avLst/>
              <a:gdLst/>
              <a:ahLst/>
              <a:cxnLst/>
              <a:rect l="l" t="t" r="r" b="b"/>
              <a:pathLst>
                <a:path h="105409">
                  <a:moveTo>
                    <a:pt x="0" y="0"/>
                  </a:moveTo>
                  <a:lnTo>
                    <a:pt x="0" y="105155"/>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3339084" y="1554480"/>
              <a:ext cx="0" cy="135890"/>
            </a:xfrm>
            <a:custGeom>
              <a:avLst/>
              <a:gdLst/>
              <a:ahLst/>
              <a:cxnLst/>
              <a:rect l="l" t="t" r="r" b="b"/>
              <a:pathLst>
                <a:path h="135889">
                  <a:moveTo>
                    <a:pt x="0" y="0"/>
                  </a:moveTo>
                  <a:lnTo>
                    <a:pt x="0" y="135636"/>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3130296" y="1858518"/>
              <a:ext cx="0" cy="140335"/>
            </a:xfrm>
            <a:custGeom>
              <a:avLst/>
              <a:gdLst/>
              <a:ahLst/>
              <a:cxnLst/>
              <a:rect l="l" t="t" r="r" b="b"/>
              <a:pathLst>
                <a:path h="140335">
                  <a:moveTo>
                    <a:pt x="0" y="0"/>
                  </a:moveTo>
                  <a:lnTo>
                    <a:pt x="0" y="140208"/>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3079242" y="1780794"/>
              <a:ext cx="102235" cy="102870"/>
            </a:xfrm>
            <a:custGeom>
              <a:avLst/>
              <a:gdLst/>
              <a:ahLst/>
              <a:cxnLst/>
              <a:rect l="l" t="t" r="r" b="b"/>
              <a:pathLst>
                <a:path w="102235" h="102869">
                  <a:moveTo>
                    <a:pt x="102108" y="102870"/>
                  </a:moveTo>
                  <a:lnTo>
                    <a:pt x="51054" y="0"/>
                  </a:lnTo>
                  <a:lnTo>
                    <a:pt x="0" y="102870"/>
                  </a:lnTo>
                  <a:lnTo>
                    <a:pt x="24955" y="93868"/>
                  </a:lnTo>
                  <a:lnTo>
                    <a:pt x="51054" y="90868"/>
                  </a:lnTo>
                  <a:lnTo>
                    <a:pt x="77152" y="93868"/>
                  </a:lnTo>
                  <a:lnTo>
                    <a:pt x="102108" y="10287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object 48"/>
            <p:cNvPicPr/>
            <p:nvPr/>
          </p:nvPicPr>
          <p:blipFill>
            <a:blip r:embed="rId7" cstate="print"/>
            <a:stretch>
              <a:fillRect/>
            </a:stretch>
          </p:blipFill>
          <p:spPr>
            <a:xfrm>
              <a:off x="3436620" y="1617726"/>
              <a:ext cx="144017" cy="144779"/>
            </a:xfrm>
            <a:prstGeom prst="rect">
              <a:avLst/>
            </a:prstGeom>
          </p:spPr>
        </p:pic>
        <p:pic>
          <p:nvPicPr>
            <p:cNvPr id="49" name="object 49"/>
            <p:cNvPicPr/>
            <p:nvPr/>
          </p:nvPicPr>
          <p:blipFill>
            <a:blip r:embed="rId8" cstate="print"/>
            <a:stretch>
              <a:fillRect/>
            </a:stretch>
          </p:blipFill>
          <p:spPr>
            <a:xfrm>
              <a:off x="3430244" y="1611350"/>
              <a:ext cx="156768" cy="157530"/>
            </a:xfrm>
            <a:prstGeom prst="rect">
              <a:avLst/>
            </a:prstGeom>
          </p:spPr>
        </p:pic>
        <p:sp>
          <p:nvSpPr>
            <p:cNvPr id="50" name="object 50"/>
            <p:cNvSpPr/>
            <p:nvPr/>
          </p:nvSpPr>
          <p:spPr>
            <a:xfrm>
              <a:off x="3580638" y="1690116"/>
              <a:ext cx="318135" cy="0"/>
            </a:xfrm>
            <a:custGeom>
              <a:avLst/>
              <a:gdLst/>
              <a:ahLst/>
              <a:cxnLst/>
              <a:rect l="l" t="t" r="r" b="b"/>
              <a:pathLst>
                <a:path w="318135">
                  <a:moveTo>
                    <a:pt x="0" y="0"/>
                  </a:moveTo>
                  <a:lnTo>
                    <a:pt x="31775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bject 51"/>
            <p:cNvSpPr/>
            <p:nvPr/>
          </p:nvSpPr>
          <p:spPr>
            <a:xfrm>
              <a:off x="5590032" y="1690116"/>
              <a:ext cx="1126490" cy="6350"/>
            </a:xfrm>
            <a:custGeom>
              <a:avLst/>
              <a:gdLst/>
              <a:ahLst/>
              <a:cxnLst/>
              <a:rect l="l" t="t" r="r" b="b"/>
              <a:pathLst>
                <a:path w="1126490" h="6350">
                  <a:moveTo>
                    <a:pt x="0" y="6096"/>
                  </a:moveTo>
                  <a:lnTo>
                    <a:pt x="1126236"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bject 52"/>
            <p:cNvSpPr/>
            <p:nvPr/>
          </p:nvSpPr>
          <p:spPr>
            <a:xfrm>
              <a:off x="5586222" y="1251966"/>
              <a:ext cx="180975" cy="308610"/>
            </a:xfrm>
            <a:custGeom>
              <a:avLst/>
              <a:gdLst/>
              <a:ahLst/>
              <a:cxnLst/>
              <a:rect l="l" t="t" r="r" b="b"/>
              <a:pathLst>
                <a:path w="180975" h="308609">
                  <a:moveTo>
                    <a:pt x="90677" y="0"/>
                  </a:moveTo>
                  <a:lnTo>
                    <a:pt x="0" y="25908"/>
                  </a:lnTo>
                  <a:lnTo>
                    <a:pt x="180593" y="76962"/>
                  </a:lnTo>
                  <a:lnTo>
                    <a:pt x="0" y="128778"/>
                  </a:lnTo>
                  <a:lnTo>
                    <a:pt x="180593" y="179832"/>
                  </a:lnTo>
                  <a:lnTo>
                    <a:pt x="0" y="231647"/>
                  </a:lnTo>
                  <a:lnTo>
                    <a:pt x="180593" y="282702"/>
                  </a:lnTo>
                  <a:lnTo>
                    <a:pt x="90677" y="30861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bject 53"/>
            <p:cNvSpPr/>
            <p:nvPr/>
          </p:nvSpPr>
          <p:spPr>
            <a:xfrm>
              <a:off x="5586222" y="1146048"/>
              <a:ext cx="180975" cy="0"/>
            </a:xfrm>
            <a:custGeom>
              <a:avLst/>
              <a:gdLst/>
              <a:ahLst/>
              <a:cxnLst/>
              <a:rect l="l" t="t" r="r" b="b"/>
              <a:pathLst>
                <a:path w="180975">
                  <a:moveTo>
                    <a:pt x="0" y="0"/>
                  </a:moveTo>
                  <a:lnTo>
                    <a:pt x="18059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bject 54"/>
            <p:cNvSpPr/>
            <p:nvPr/>
          </p:nvSpPr>
          <p:spPr>
            <a:xfrm>
              <a:off x="5676900" y="1146048"/>
              <a:ext cx="0" cy="106045"/>
            </a:xfrm>
            <a:custGeom>
              <a:avLst/>
              <a:gdLst/>
              <a:ahLst/>
              <a:cxnLst/>
              <a:rect l="l" t="t" r="r" b="b"/>
              <a:pathLst>
                <a:path h="106044">
                  <a:moveTo>
                    <a:pt x="0" y="0"/>
                  </a:moveTo>
                  <a:lnTo>
                    <a:pt x="0" y="105918"/>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bject 55"/>
            <p:cNvSpPr/>
            <p:nvPr/>
          </p:nvSpPr>
          <p:spPr>
            <a:xfrm>
              <a:off x="5676900" y="1560576"/>
              <a:ext cx="0" cy="135890"/>
            </a:xfrm>
            <a:custGeom>
              <a:avLst/>
              <a:gdLst/>
              <a:ahLst/>
              <a:cxnLst/>
              <a:rect l="l" t="t" r="r" b="b"/>
              <a:pathLst>
                <a:path h="135889">
                  <a:moveTo>
                    <a:pt x="0" y="0"/>
                  </a:moveTo>
                  <a:lnTo>
                    <a:pt x="0" y="135636"/>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6" name="object 56"/>
            <p:cNvPicPr/>
            <p:nvPr/>
          </p:nvPicPr>
          <p:blipFill>
            <a:blip r:embed="rId9" cstate="print"/>
            <a:stretch>
              <a:fillRect/>
            </a:stretch>
          </p:blipFill>
          <p:spPr>
            <a:xfrm>
              <a:off x="5442204" y="1630680"/>
              <a:ext cx="144017" cy="144779"/>
            </a:xfrm>
            <a:prstGeom prst="rect">
              <a:avLst/>
            </a:prstGeom>
          </p:spPr>
        </p:pic>
        <p:pic>
          <p:nvPicPr>
            <p:cNvPr id="57" name="object 57"/>
            <p:cNvPicPr/>
            <p:nvPr/>
          </p:nvPicPr>
          <p:blipFill>
            <a:blip r:embed="rId10" cstate="print"/>
            <a:stretch>
              <a:fillRect/>
            </a:stretch>
          </p:blipFill>
          <p:spPr>
            <a:xfrm>
              <a:off x="5435828" y="1624304"/>
              <a:ext cx="156768" cy="157530"/>
            </a:xfrm>
            <a:prstGeom prst="rect">
              <a:avLst/>
            </a:prstGeom>
          </p:spPr>
        </p:pic>
        <p:sp>
          <p:nvSpPr>
            <p:cNvPr id="58" name="object 58"/>
            <p:cNvSpPr/>
            <p:nvPr/>
          </p:nvSpPr>
          <p:spPr>
            <a:xfrm>
              <a:off x="6716268" y="1690116"/>
              <a:ext cx="394335" cy="0"/>
            </a:xfrm>
            <a:custGeom>
              <a:avLst/>
              <a:gdLst/>
              <a:ahLst/>
              <a:cxnLst/>
              <a:rect l="l" t="t" r="r" b="b"/>
              <a:pathLst>
                <a:path w="394334">
                  <a:moveTo>
                    <a:pt x="0" y="0"/>
                  </a:moveTo>
                  <a:lnTo>
                    <a:pt x="39395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9" name="object 59"/>
            <p:cNvPicPr/>
            <p:nvPr/>
          </p:nvPicPr>
          <p:blipFill>
            <a:blip r:embed="rId11" cstate="print"/>
            <a:stretch>
              <a:fillRect/>
            </a:stretch>
          </p:blipFill>
          <p:spPr>
            <a:xfrm>
              <a:off x="6873239" y="1999488"/>
              <a:ext cx="598170" cy="288036"/>
            </a:xfrm>
            <a:prstGeom prst="rect">
              <a:avLst/>
            </a:prstGeom>
          </p:spPr>
        </p:pic>
        <p:sp>
          <p:nvSpPr>
            <p:cNvPr id="60" name="object 60"/>
            <p:cNvSpPr/>
            <p:nvPr/>
          </p:nvSpPr>
          <p:spPr>
            <a:xfrm>
              <a:off x="6873239" y="1999488"/>
              <a:ext cx="598170" cy="288290"/>
            </a:xfrm>
            <a:custGeom>
              <a:avLst/>
              <a:gdLst/>
              <a:ahLst/>
              <a:cxnLst/>
              <a:rect l="l" t="t" r="r" b="b"/>
              <a:pathLst>
                <a:path w="598170" h="288289">
                  <a:moveTo>
                    <a:pt x="0" y="0"/>
                  </a:moveTo>
                  <a:lnTo>
                    <a:pt x="0" y="288036"/>
                  </a:lnTo>
                  <a:lnTo>
                    <a:pt x="598170" y="288036"/>
                  </a:lnTo>
                  <a:lnTo>
                    <a:pt x="598170" y="0"/>
                  </a:lnTo>
                  <a:lnTo>
                    <a:pt x="0" y="0"/>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1" name="object 61"/>
          <p:cNvSpPr txBox="1"/>
          <p:nvPr/>
        </p:nvSpPr>
        <p:spPr>
          <a:xfrm>
            <a:off x="7014462" y="2028396"/>
            <a:ext cx="328930" cy="20955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200" b="0" i="0" u="none" strike="noStrike" kern="1200" cap="none" spc="-10" normalizeH="0" baseline="0" noProof="0" dirty="0">
                <a:ln>
                  <a:noFill/>
                </a:ln>
                <a:solidFill>
                  <a:prstClr val="black"/>
                </a:solidFill>
                <a:effectLst/>
                <a:uLnTx/>
                <a:uFillTx/>
                <a:latin typeface="Malgun Gothic"/>
                <a:ea typeface="+mn-ea"/>
                <a:cs typeface="Malgun Gothic"/>
              </a:rPr>
              <a:t>C</a:t>
            </a:r>
            <a:r>
              <a:rPr kumimoji="0" sz="1200" b="0" i="0" u="none" strike="noStrike" kern="1200" cap="none" spc="35" normalizeH="0" baseline="0" noProof="0" dirty="0">
                <a:ln>
                  <a:noFill/>
                </a:ln>
                <a:solidFill>
                  <a:prstClr val="black"/>
                </a:solidFill>
                <a:effectLst/>
                <a:uLnTx/>
                <a:uFillTx/>
                <a:latin typeface="Malgun Gothic"/>
                <a:ea typeface="+mn-ea"/>
                <a:cs typeface="Malgun Gothic"/>
              </a:rPr>
              <a:t>D</a:t>
            </a:r>
            <a:r>
              <a:rPr kumimoji="0" sz="1200" b="0" i="0" u="none" strike="noStrike" kern="1200" cap="none" spc="0" normalizeH="0" baseline="0" noProof="0" dirty="0">
                <a:ln>
                  <a:noFill/>
                </a:ln>
                <a:solidFill>
                  <a:prstClr val="black"/>
                </a:solidFill>
                <a:effectLst/>
                <a:uLnTx/>
                <a:uFillTx/>
                <a:latin typeface="Malgun Gothic"/>
                <a:ea typeface="+mn-ea"/>
                <a:cs typeface="Malgun Gothic"/>
              </a:rPr>
              <a:t>R</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pic>
        <p:nvPicPr>
          <p:cNvPr id="62" name="object 62"/>
          <p:cNvPicPr/>
          <p:nvPr/>
        </p:nvPicPr>
        <p:blipFill>
          <a:blip r:embed="rId12" cstate="print"/>
          <a:stretch>
            <a:fillRect/>
          </a:stretch>
        </p:blipFill>
        <p:spPr>
          <a:xfrm>
            <a:off x="6355841" y="1999488"/>
            <a:ext cx="360426" cy="288036"/>
          </a:xfrm>
          <a:prstGeom prst="rect">
            <a:avLst/>
          </a:prstGeom>
        </p:spPr>
      </p:pic>
      <p:sp>
        <p:nvSpPr>
          <p:cNvPr id="63" name="object 63"/>
          <p:cNvSpPr txBox="1"/>
          <p:nvPr/>
        </p:nvSpPr>
        <p:spPr>
          <a:xfrm>
            <a:off x="6355841" y="1999488"/>
            <a:ext cx="360680" cy="288290"/>
          </a:xfrm>
          <a:prstGeom prst="rect">
            <a:avLst/>
          </a:prstGeom>
          <a:ln w="19075">
            <a:solidFill>
              <a:srgbClr val="000000"/>
            </a:solidFill>
          </a:ln>
        </p:spPr>
        <p:txBody>
          <a:bodyPr vert="horz" wrap="square" lIns="0" tIns="42545" rIns="0" bIns="0" rtlCol="0">
            <a:spAutoFit/>
          </a:bodyPr>
          <a:lstStyle/>
          <a:p>
            <a:pPr marL="68580" marR="0" lvl="0" indent="0" algn="l" defTabSz="914400" rtl="0" eaLnBrk="1" fontAlgn="auto" latinLnBrk="0" hangingPunct="1">
              <a:lnSpc>
                <a:spcPct val="100000"/>
              </a:lnSpc>
              <a:spcBef>
                <a:spcPts val="335"/>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PLL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64" name="object 64"/>
          <p:cNvGrpSpPr/>
          <p:nvPr/>
        </p:nvGrpSpPr>
        <p:grpSpPr>
          <a:xfrm>
            <a:off x="1274825" y="1274063"/>
            <a:ext cx="6377940" cy="920750"/>
            <a:chOff x="1274825" y="1274063"/>
            <a:chExt cx="6377940" cy="920750"/>
          </a:xfrm>
        </p:grpSpPr>
        <p:pic>
          <p:nvPicPr>
            <p:cNvPr id="65" name="object 65"/>
            <p:cNvPicPr/>
            <p:nvPr/>
          </p:nvPicPr>
          <p:blipFill>
            <a:blip r:embed="rId13" cstate="print"/>
            <a:stretch>
              <a:fillRect/>
            </a:stretch>
          </p:blipFill>
          <p:spPr>
            <a:xfrm>
              <a:off x="7161275" y="1546097"/>
              <a:ext cx="286511" cy="288798"/>
            </a:xfrm>
            <a:prstGeom prst="rect">
              <a:avLst/>
            </a:prstGeom>
          </p:spPr>
        </p:pic>
        <p:sp>
          <p:nvSpPr>
            <p:cNvPr id="66" name="object 66"/>
            <p:cNvSpPr/>
            <p:nvPr/>
          </p:nvSpPr>
          <p:spPr>
            <a:xfrm>
              <a:off x="7161275" y="1546097"/>
              <a:ext cx="287020" cy="288925"/>
            </a:xfrm>
            <a:custGeom>
              <a:avLst/>
              <a:gdLst/>
              <a:ahLst/>
              <a:cxnLst/>
              <a:rect l="l" t="t" r="r" b="b"/>
              <a:pathLst>
                <a:path w="287020" h="288925">
                  <a:moveTo>
                    <a:pt x="0" y="0"/>
                  </a:moveTo>
                  <a:lnTo>
                    <a:pt x="0" y="288798"/>
                  </a:lnTo>
                  <a:lnTo>
                    <a:pt x="286512" y="288798"/>
                  </a:lnTo>
                  <a:lnTo>
                    <a:pt x="286512" y="0"/>
                  </a:lnTo>
                  <a:lnTo>
                    <a:pt x="0" y="0"/>
                  </a:lnTo>
                  <a:close/>
                </a:path>
              </a:pathLst>
            </a:custGeom>
            <a:ln w="1525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object 67"/>
            <p:cNvSpPr/>
            <p:nvPr/>
          </p:nvSpPr>
          <p:spPr>
            <a:xfrm>
              <a:off x="7241285" y="1575054"/>
              <a:ext cx="115570" cy="231140"/>
            </a:xfrm>
            <a:custGeom>
              <a:avLst/>
              <a:gdLst/>
              <a:ahLst/>
              <a:cxnLst/>
              <a:rect l="l" t="t" r="r" b="b"/>
              <a:pathLst>
                <a:path w="115570" h="231139">
                  <a:moveTo>
                    <a:pt x="0" y="230886"/>
                  </a:moveTo>
                  <a:lnTo>
                    <a:pt x="57912" y="230886"/>
                  </a:lnTo>
                  <a:lnTo>
                    <a:pt x="57911" y="0"/>
                  </a:lnTo>
                  <a:lnTo>
                    <a:pt x="115061" y="0"/>
                  </a:lnTo>
                </a:path>
              </a:pathLst>
            </a:custGeom>
            <a:ln w="1525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object 68"/>
            <p:cNvSpPr/>
            <p:nvPr/>
          </p:nvSpPr>
          <p:spPr>
            <a:xfrm>
              <a:off x="7258811" y="1690115"/>
              <a:ext cx="91440" cy="0"/>
            </a:xfrm>
            <a:custGeom>
              <a:avLst/>
              <a:gdLst/>
              <a:ahLst/>
              <a:cxnLst/>
              <a:rect l="l" t="t" r="r" b="b"/>
              <a:pathLst>
                <a:path w="91440">
                  <a:moveTo>
                    <a:pt x="0" y="0"/>
                  </a:moveTo>
                  <a:lnTo>
                    <a:pt x="91440" y="0"/>
                  </a:lnTo>
                </a:path>
              </a:pathLst>
            </a:custGeom>
            <a:ln w="1525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object 69"/>
            <p:cNvSpPr/>
            <p:nvPr/>
          </p:nvSpPr>
          <p:spPr>
            <a:xfrm>
              <a:off x="7447787" y="1690115"/>
              <a:ext cx="195580" cy="0"/>
            </a:xfrm>
            <a:custGeom>
              <a:avLst/>
              <a:gdLst/>
              <a:ahLst/>
              <a:cxnLst/>
              <a:rect l="l" t="t" r="r" b="b"/>
              <a:pathLst>
                <a:path w="195579">
                  <a:moveTo>
                    <a:pt x="0" y="0"/>
                  </a:moveTo>
                  <a:lnTo>
                    <a:pt x="195072"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p:nvPr/>
          </p:nvSpPr>
          <p:spPr>
            <a:xfrm>
              <a:off x="7299197" y="1912619"/>
              <a:ext cx="0" cy="86995"/>
            </a:xfrm>
            <a:custGeom>
              <a:avLst/>
              <a:gdLst/>
              <a:ahLst/>
              <a:cxnLst/>
              <a:rect l="l" t="t" r="r" b="b"/>
              <a:pathLst>
                <a:path h="86994">
                  <a:moveTo>
                    <a:pt x="0" y="0"/>
                  </a:moveTo>
                  <a:lnTo>
                    <a:pt x="0" y="86868"/>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object 71"/>
            <p:cNvSpPr/>
            <p:nvPr/>
          </p:nvSpPr>
          <p:spPr>
            <a:xfrm>
              <a:off x="7248143" y="1834895"/>
              <a:ext cx="102235" cy="102870"/>
            </a:xfrm>
            <a:custGeom>
              <a:avLst/>
              <a:gdLst/>
              <a:ahLst/>
              <a:cxnLst/>
              <a:rect l="l" t="t" r="r" b="b"/>
              <a:pathLst>
                <a:path w="102234" h="102869">
                  <a:moveTo>
                    <a:pt x="102107" y="102870"/>
                  </a:moveTo>
                  <a:lnTo>
                    <a:pt x="51053" y="0"/>
                  </a:lnTo>
                  <a:lnTo>
                    <a:pt x="0" y="102870"/>
                  </a:lnTo>
                  <a:lnTo>
                    <a:pt x="24848" y="93440"/>
                  </a:lnTo>
                  <a:lnTo>
                    <a:pt x="50768" y="90297"/>
                  </a:lnTo>
                  <a:lnTo>
                    <a:pt x="76831" y="93440"/>
                  </a:lnTo>
                  <a:lnTo>
                    <a:pt x="102107" y="10287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object 72"/>
            <p:cNvSpPr/>
            <p:nvPr/>
          </p:nvSpPr>
          <p:spPr>
            <a:xfrm>
              <a:off x="6716267" y="2143505"/>
              <a:ext cx="79375" cy="0"/>
            </a:xfrm>
            <a:custGeom>
              <a:avLst/>
              <a:gdLst/>
              <a:ahLst/>
              <a:cxnLst/>
              <a:rect l="l" t="t" r="r" b="b"/>
              <a:pathLst>
                <a:path w="79375">
                  <a:moveTo>
                    <a:pt x="79248"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object 73"/>
            <p:cNvSpPr/>
            <p:nvPr/>
          </p:nvSpPr>
          <p:spPr>
            <a:xfrm>
              <a:off x="6770369" y="2091689"/>
              <a:ext cx="102870" cy="102870"/>
            </a:xfrm>
            <a:custGeom>
              <a:avLst/>
              <a:gdLst/>
              <a:ahLst/>
              <a:cxnLst/>
              <a:rect l="l" t="t" r="r" b="b"/>
              <a:pathLst>
                <a:path w="102870" h="102869">
                  <a:moveTo>
                    <a:pt x="102870" y="51815"/>
                  </a:moveTo>
                  <a:lnTo>
                    <a:pt x="0" y="0"/>
                  </a:lnTo>
                  <a:lnTo>
                    <a:pt x="9001" y="25396"/>
                  </a:lnTo>
                  <a:lnTo>
                    <a:pt x="12001" y="51720"/>
                  </a:lnTo>
                  <a:lnTo>
                    <a:pt x="9001" y="77902"/>
                  </a:lnTo>
                  <a:lnTo>
                    <a:pt x="0" y="102869"/>
                  </a:lnTo>
                  <a:lnTo>
                    <a:pt x="102870"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object 74"/>
            <p:cNvSpPr/>
            <p:nvPr/>
          </p:nvSpPr>
          <p:spPr>
            <a:xfrm>
              <a:off x="6986778" y="1690115"/>
              <a:ext cx="0" cy="231140"/>
            </a:xfrm>
            <a:custGeom>
              <a:avLst/>
              <a:gdLst/>
              <a:ahLst/>
              <a:cxnLst/>
              <a:rect l="l" t="t" r="r" b="b"/>
              <a:pathLst>
                <a:path h="231139">
                  <a:moveTo>
                    <a:pt x="0" y="0"/>
                  </a:moveTo>
                  <a:lnTo>
                    <a:pt x="0" y="230886"/>
                  </a:lnTo>
                </a:path>
              </a:pathLst>
            </a:custGeom>
            <a:ln w="1918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object 75"/>
            <p:cNvSpPr/>
            <p:nvPr/>
          </p:nvSpPr>
          <p:spPr>
            <a:xfrm>
              <a:off x="6935723" y="1896618"/>
              <a:ext cx="102235" cy="102870"/>
            </a:xfrm>
            <a:custGeom>
              <a:avLst/>
              <a:gdLst/>
              <a:ahLst/>
              <a:cxnLst/>
              <a:rect l="l" t="t" r="r" b="b"/>
              <a:pathLst>
                <a:path w="102234" h="102869">
                  <a:moveTo>
                    <a:pt x="102107" y="0"/>
                  </a:moveTo>
                  <a:lnTo>
                    <a:pt x="77152" y="9001"/>
                  </a:lnTo>
                  <a:lnTo>
                    <a:pt x="51053" y="12001"/>
                  </a:lnTo>
                  <a:lnTo>
                    <a:pt x="24955" y="9001"/>
                  </a:lnTo>
                  <a:lnTo>
                    <a:pt x="0" y="0"/>
                  </a:lnTo>
                  <a:lnTo>
                    <a:pt x="51053" y="102870"/>
                  </a:lnTo>
                  <a:lnTo>
                    <a:pt x="102107"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6" name="object 76"/>
            <p:cNvPicPr/>
            <p:nvPr/>
          </p:nvPicPr>
          <p:blipFill>
            <a:blip r:embed="rId14" cstate="print"/>
            <a:stretch>
              <a:fillRect/>
            </a:stretch>
          </p:blipFill>
          <p:spPr>
            <a:xfrm>
              <a:off x="3302304" y="1652574"/>
              <a:ext cx="73558" cy="75082"/>
            </a:xfrm>
            <a:prstGeom prst="rect">
              <a:avLst/>
            </a:prstGeom>
          </p:spPr>
        </p:pic>
        <p:pic>
          <p:nvPicPr>
            <p:cNvPr id="77" name="object 77"/>
            <p:cNvPicPr/>
            <p:nvPr/>
          </p:nvPicPr>
          <p:blipFill>
            <a:blip r:embed="rId15" cstate="print"/>
            <a:stretch>
              <a:fillRect/>
            </a:stretch>
          </p:blipFill>
          <p:spPr>
            <a:xfrm>
              <a:off x="5639358" y="1665528"/>
              <a:ext cx="74320" cy="74320"/>
            </a:xfrm>
            <a:prstGeom prst="rect">
              <a:avLst/>
            </a:prstGeom>
          </p:spPr>
        </p:pic>
        <p:sp>
          <p:nvSpPr>
            <p:cNvPr id="78" name="object 78"/>
            <p:cNvSpPr/>
            <p:nvPr/>
          </p:nvSpPr>
          <p:spPr>
            <a:xfrm>
              <a:off x="6948678" y="1657350"/>
              <a:ext cx="64769" cy="66040"/>
            </a:xfrm>
            <a:custGeom>
              <a:avLst/>
              <a:gdLst/>
              <a:ahLst/>
              <a:cxnLst/>
              <a:rect l="l" t="t" r="r" b="b"/>
              <a:pathLst>
                <a:path w="64770" h="66039">
                  <a:moveTo>
                    <a:pt x="64770" y="32765"/>
                  </a:moveTo>
                  <a:lnTo>
                    <a:pt x="62233" y="20252"/>
                  </a:lnTo>
                  <a:lnTo>
                    <a:pt x="55340" y="9810"/>
                  </a:lnTo>
                  <a:lnTo>
                    <a:pt x="45160" y="2655"/>
                  </a:lnTo>
                  <a:lnTo>
                    <a:pt x="32766" y="0"/>
                  </a:lnTo>
                  <a:lnTo>
                    <a:pt x="19931" y="2655"/>
                  </a:lnTo>
                  <a:lnTo>
                    <a:pt x="9525" y="9810"/>
                  </a:lnTo>
                  <a:lnTo>
                    <a:pt x="2547" y="20252"/>
                  </a:lnTo>
                  <a:lnTo>
                    <a:pt x="0" y="32765"/>
                  </a:lnTo>
                  <a:lnTo>
                    <a:pt x="2547" y="45600"/>
                  </a:lnTo>
                  <a:lnTo>
                    <a:pt x="9525" y="56006"/>
                  </a:lnTo>
                  <a:lnTo>
                    <a:pt x="19931" y="62984"/>
                  </a:lnTo>
                  <a:lnTo>
                    <a:pt x="32766" y="65531"/>
                  </a:lnTo>
                  <a:lnTo>
                    <a:pt x="45160" y="62984"/>
                  </a:lnTo>
                  <a:lnTo>
                    <a:pt x="55340" y="56006"/>
                  </a:lnTo>
                  <a:lnTo>
                    <a:pt x="62233" y="45600"/>
                  </a:lnTo>
                  <a:lnTo>
                    <a:pt x="64770" y="3276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object 79"/>
            <p:cNvSpPr/>
            <p:nvPr/>
          </p:nvSpPr>
          <p:spPr>
            <a:xfrm>
              <a:off x="6948678" y="1657350"/>
              <a:ext cx="64769" cy="66040"/>
            </a:xfrm>
            <a:custGeom>
              <a:avLst/>
              <a:gdLst/>
              <a:ahLst/>
              <a:cxnLst/>
              <a:rect l="l" t="t" r="r" b="b"/>
              <a:pathLst>
                <a:path w="64770" h="66039">
                  <a:moveTo>
                    <a:pt x="64770" y="32765"/>
                  </a:moveTo>
                  <a:lnTo>
                    <a:pt x="62233" y="20252"/>
                  </a:lnTo>
                  <a:lnTo>
                    <a:pt x="55340" y="9810"/>
                  </a:lnTo>
                  <a:lnTo>
                    <a:pt x="45160" y="2655"/>
                  </a:lnTo>
                  <a:lnTo>
                    <a:pt x="32766" y="0"/>
                  </a:lnTo>
                  <a:lnTo>
                    <a:pt x="19931" y="2655"/>
                  </a:lnTo>
                  <a:lnTo>
                    <a:pt x="9525" y="9810"/>
                  </a:lnTo>
                  <a:lnTo>
                    <a:pt x="2547" y="20252"/>
                  </a:lnTo>
                  <a:lnTo>
                    <a:pt x="0" y="32765"/>
                  </a:lnTo>
                  <a:lnTo>
                    <a:pt x="2547" y="45600"/>
                  </a:lnTo>
                  <a:lnTo>
                    <a:pt x="9525" y="56006"/>
                  </a:lnTo>
                  <a:lnTo>
                    <a:pt x="19931" y="62984"/>
                  </a:lnTo>
                  <a:lnTo>
                    <a:pt x="32766" y="65531"/>
                  </a:lnTo>
                  <a:lnTo>
                    <a:pt x="45160" y="62984"/>
                  </a:lnTo>
                  <a:lnTo>
                    <a:pt x="55340" y="56006"/>
                  </a:lnTo>
                  <a:lnTo>
                    <a:pt x="62233" y="45600"/>
                  </a:lnTo>
                  <a:lnTo>
                    <a:pt x="64770" y="32765"/>
                  </a:lnTo>
                  <a:close/>
                </a:path>
              </a:pathLst>
            </a:custGeom>
            <a:ln w="955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object 80"/>
            <p:cNvSpPr/>
            <p:nvPr/>
          </p:nvSpPr>
          <p:spPr>
            <a:xfrm>
              <a:off x="6961631" y="1690115"/>
              <a:ext cx="121920" cy="0"/>
            </a:xfrm>
            <a:custGeom>
              <a:avLst/>
              <a:gdLst/>
              <a:ahLst/>
              <a:cxnLst/>
              <a:rect l="l" t="t" r="r" b="b"/>
              <a:pathLst>
                <a:path w="121920">
                  <a:moveTo>
                    <a:pt x="0" y="0"/>
                  </a:moveTo>
                  <a:lnTo>
                    <a:pt x="12192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object 81"/>
            <p:cNvSpPr/>
            <p:nvPr/>
          </p:nvSpPr>
          <p:spPr>
            <a:xfrm>
              <a:off x="7059167" y="1639061"/>
              <a:ext cx="102235" cy="102870"/>
            </a:xfrm>
            <a:custGeom>
              <a:avLst/>
              <a:gdLst/>
              <a:ahLst/>
              <a:cxnLst/>
              <a:rect l="l" t="t" r="r" b="b"/>
              <a:pathLst>
                <a:path w="102234" h="102869">
                  <a:moveTo>
                    <a:pt x="102107" y="51053"/>
                  </a:moveTo>
                  <a:lnTo>
                    <a:pt x="0" y="0"/>
                  </a:lnTo>
                  <a:lnTo>
                    <a:pt x="9001" y="24967"/>
                  </a:lnTo>
                  <a:lnTo>
                    <a:pt x="12001" y="51149"/>
                  </a:lnTo>
                  <a:lnTo>
                    <a:pt x="9001" y="77473"/>
                  </a:lnTo>
                  <a:lnTo>
                    <a:pt x="0" y="102869"/>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object 82"/>
            <p:cNvSpPr/>
            <p:nvPr/>
          </p:nvSpPr>
          <p:spPr>
            <a:xfrm>
              <a:off x="2285237" y="1690115"/>
              <a:ext cx="71120" cy="0"/>
            </a:xfrm>
            <a:custGeom>
              <a:avLst/>
              <a:gdLst/>
              <a:ahLst/>
              <a:cxnLst/>
              <a:rect l="l" t="t" r="r" b="b"/>
              <a:pathLst>
                <a:path w="71119">
                  <a:moveTo>
                    <a:pt x="0" y="0"/>
                  </a:moveTo>
                  <a:lnTo>
                    <a:pt x="70866"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2331719" y="1638300"/>
              <a:ext cx="102235" cy="102870"/>
            </a:xfrm>
            <a:custGeom>
              <a:avLst/>
              <a:gdLst/>
              <a:ahLst/>
              <a:cxnLst/>
              <a:rect l="l" t="t" r="r" b="b"/>
              <a:pathLst>
                <a:path w="102235"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object 84"/>
            <p:cNvSpPr/>
            <p:nvPr/>
          </p:nvSpPr>
          <p:spPr>
            <a:xfrm>
              <a:off x="1888997" y="1419605"/>
              <a:ext cx="71755" cy="0"/>
            </a:xfrm>
            <a:custGeom>
              <a:avLst/>
              <a:gdLst/>
              <a:ahLst/>
              <a:cxnLst/>
              <a:rect l="l" t="t" r="r" b="b"/>
              <a:pathLst>
                <a:path w="71755">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object 85"/>
            <p:cNvSpPr/>
            <p:nvPr/>
          </p:nvSpPr>
          <p:spPr>
            <a:xfrm>
              <a:off x="1935479" y="1368551"/>
              <a:ext cx="102235" cy="102870"/>
            </a:xfrm>
            <a:custGeom>
              <a:avLst/>
              <a:gdLst/>
              <a:ahLst/>
              <a:cxnLst/>
              <a:rect l="l" t="t" r="r" b="b"/>
              <a:pathLst>
                <a:path w="102235" h="102869">
                  <a:moveTo>
                    <a:pt x="102107" y="51053"/>
                  </a:moveTo>
                  <a:lnTo>
                    <a:pt x="0" y="0"/>
                  </a:lnTo>
                  <a:lnTo>
                    <a:pt x="9001" y="24967"/>
                  </a:lnTo>
                  <a:lnTo>
                    <a:pt x="12001" y="51149"/>
                  </a:lnTo>
                  <a:lnTo>
                    <a:pt x="9001" y="77473"/>
                  </a:lnTo>
                  <a:lnTo>
                    <a:pt x="0" y="102869"/>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object 86"/>
            <p:cNvSpPr/>
            <p:nvPr/>
          </p:nvSpPr>
          <p:spPr>
            <a:xfrm>
              <a:off x="1888997" y="1600961"/>
              <a:ext cx="71755" cy="0"/>
            </a:xfrm>
            <a:custGeom>
              <a:avLst/>
              <a:gdLst/>
              <a:ahLst/>
              <a:cxnLst/>
              <a:rect l="l" t="t" r="r" b="b"/>
              <a:pathLst>
                <a:path w="71755">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object 87"/>
            <p:cNvSpPr/>
            <p:nvPr/>
          </p:nvSpPr>
          <p:spPr>
            <a:xfrm>
              <a:off x="1935479" y="1549907"/>
              <a:ext cx="102235" cy="102235"/>
            </a:xfrm>
            <a:custGeom>
              <a:avLst/>
              <a:gdLst/>
              <a:ahLst/>
              <a:cxnLst/>
              <a:rect l="l" t="t" r="r" b="b"/>
              <a:pathLst>
                <a:path w="102235" h="102235">
                  <a:moveTo>
                    <a:pt x="102107" y="51053"/>
                  </a:moveTo>
                  <a:lnTo>
                    <a:pt x="0" y="0"/>
                  </a:lnTo>
                  <a:lnTo>
                    <a:pt x="9001" y="24955"/>
                  </a:lnTo>
                  <a:lnTo>
                    <a:pt x="12001" y="51053"/>
                  </a:lnTo>
                  <a:lnTo>
                    <a:pt x="9001" y="77152"/>
                  </a:lnTo>
                  <a:lnTo>
                    <a:pt x="0" y="102107"/>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bject 88"/>
            <p:cNvSpPr/>
            <p:nvPr/>
          </p:nvSpPr>
          <p:spPr>
            <a:xfrm>
              <a:off x="1888997" y="1782318"/>
              <a:ext cx="71755" cy="0"/>
            </a:xfrm>
            <a:custGeom>
              <a:avLst/>
              <a:gdLst/>
              <a:ahLst/>
              <a:cxnLst/>
              <a:rect l="l" t="t" r="r" b="b"/>
              <a:pathLst>
                <a:path w="71755">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object 89"/>
            <p:cNvSpPr/>
            <p:nvPr/>
          </p:nvSpPr>
          <p:spPr>
            <a:xfrm>
              <a:off x="1935479" y="1730501"/>
              <a:ext cx="102235" cy="102870"/>
            </a:xfrm>
            <a:custGeom>
              <a:avLst/>
              <a:gdLst/>
              <a:ahLst/>
              <a:cxnLst/>
              <a:rect l="l" t="t" r="r" b="b"/>
              <a:pathLst>
                <a:path w="102235"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object 90"/>
            <p:cNvSpPr/>
            <p:nvPr/>
          </p:nvSpPr>
          <p:spPr>
            <a:xfrm>
              <a:off x="1888997" y="1963673"/>
              <a:ext cx="71755" cy="0"/>
            </a:xfrm>
            <a:custGeom>
              <a:avLst/>
              <a:gdLst/>
              <a:ahLst/>
              <a:cxnLst/>
              <a:rect l="l" t="t" r="r" b="b"/>
              <a:pathLst>
                <a:path w="71755">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object 91"/>
            <p:cNvSpPr/>
            <p:nvPr/>
          </p:nvSpPr>
          <p:spPr>
            <a:xfrm>
              <a:off x="1935479" y="1911858"/>
              <a:ext cx="102235" cy="102870"/>
            </a:xfrm>
            <a:custGeom>
              <a:avLst/>
              <a:gdLst/>
              <a:ahLst/>
              <a:cxnLst/>
              <a:rect l="l" t="t" r="r" b="b"/>
              <a:pathLst>
                <a:path w="102235"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2" name="object 92"/>
            <p:cNvPicPr/>
            <p:nvPr/>
          </p:nvPicPr>
          <p:blipFill>
            <a:blip r:embed="rId16" cstate="print"/>
            <a:stretch>
              <a:fillRect/>
            </a:stretch>
          </p:blipFill>
          <p:spPr>
            <a:xfrm>
              <a:off x="1274825" y="1274063"/>
              <a:ext cx="598169" cy="832865"/>
            </a:xfrm>
            <a:prstGeom prst="rect">
              <a:avLst/>
            </a:prstGeom>
          </p:spPr>
        </p:pic>
      </p:grpSp>
      <p:sp>
        <p:nvSpPr>
          <p:cNvPr id="93" name="object 93"/>
          <p:cNvSpPr txBox="1"/>
          <p:nvPr/>
        </p:nvSpPr>
        <p:spPr>
          <a:xfrm>
            <a:off x="1274825" y="1274063"/>
            <a:ext cx="598170" cy="833119"/>
          </a:xfrm>
          <a:prstGeom prst="rect">
            <a:avLst/>
          </a:prstGeom>
          <a:ln w="19075">
            <a:solidFill>
              <a:srgbClr val="000000"/>
            </a:solidFill>
          </a:ln>
        </p:spPr>
        <p:txBody>
          <a:bodyPr vert="horz" wrap="square" lIns="0" tIns="635" rIns="0" bIns="0" rtlCol="0">
            <a:spAutoFit/>
          </a:bodyPr>
          <a:lstStyle/>
          <a:p>
            <a:pPr marL="0" marR="0" lvl="0" indent="0" algn="l" defTabSz="914400" rtl="0" eaLnBrk="1" fontAlgn="auto" latinLnBrk="0" hangingPunct="1">
              <a:lnSpc>
                <a:spcPct val="100000"/>
              </a:lnSpc>
              <a:spcBef>
                <a:spcPts val="5"/>
              </a:spcBef>
              <a:spcAft>
                <a:spcPts val="0"/>
              </a:spcAft>
              <a:buClrTx/>
              <a:buSzTx/>
              <a:buFontTx/>
              <a:buNone/>
              <a:tabLst/>
              <a:defRPr/>
            </a:pPr>
            <a:endParaRPr kumimoji="0" sz="2150" b="0" i="0" u="none" strike="noStrike" kern="1200" cap="none" spc="0" normalizeH="0" baseline="0" noProof="0">
              <a:ln>
                <a:noFill/>
              </a:ln>
              <a:solidFill>
                <a:prstClr val="black"/>
              </a:solidFill>
              <a:effectLst/>
              <a:uLnTx/>
              <a:uFillTx/>
              <a:latin typeface="Times New Roman"/>
              <a:ea typeface="+mn-ea"/>
              <a:cs typeface="Times New Roman"/>
            </a:endParaRPr>
          </a:p>
          <a:p>
            <a:pPr marL="8128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pic>
        <p:nvPicPr>
          <p:cNvPr id="94" name="object 94"/>
          <p:cNvPicPr/>
          <p:nvPr/>
        </p:nvPicPr>
        <p:blipFill>
          <a:blip r:embed="rId17" cstate="print"/>
          <a:stretch>
            <a:fillRect/>
          </a:stretch>
        </p:blipFill>
        <p:spPr>
          <a:xfrm>
            <a:off x="8117585" y="1273302"/>
            <a:ext cx="598931" cy="833627"/>
          </a:xfrm>
          <a:prstGeom prst="rect">
            <a:avLst/>
          </a:prstGeom>
        </p:spPr>
      </p:pic>
      <p:sp>
        <p:nvSpPr>
          <p:cNvPr id="95" name="object 95"/>
          <p:cNvSpPr txBox="1"/>
          <p:nvPr/>
        </p:nvSpPr>
        <p:spPr>
          <a:xfrm>
            <a:off x="8117585" y="1273302"/>
            <a:ext cx="599440" cy="833755"/>
          </a:xfrm>
          <a:prstGeom prst="rect">
            <a:avLst/>
          </a:prstGeom>
          <a:ln w="19075">
            <a:solidFill>
              <a:srgbClr val="000000"/>
            </a:solidFill>
          </a:ln>
        </p:spPr>
        <p:txBody>
          <a:bodyPr vert="horz" wrap="square" lIns="0" tIns="1270" rIns="0" bIns="0" rtlCol="0">
            <a:spAutoFit/>
          </a:bodyPr>
          <a:lstStyle/>
          <a:p>
            <a:pPr marL="0" marR="0" lvl="0" indent="0" algn="l" defTabSz="914400" rtl="0" eaLnBrk="1" fontAlgn="auto" latinLnBrk="0" hangingPunct="1">
              <a:lnSpc>
                <a:spcPct val="100000"/>
              </a:lnSpc>
              <a:spcBef>
                <a:spcPts val="10"/>
              </a:spcBef>
              <a:spcAft>
                <a:spcPts val="0"/>
              </a:spcAft>
              <a:buClrTx/>
              <a:buSzTx/>
              <a:buFontTx/>
              <a:buNone/>
              <a:tabLst/>
              <a:defRPr/>
            </a:pPr>
            <a:endParaRPr kumimoji="0" sz="2150" b="0" i="0" u="none" strike="noStrike" kern="1200" cap="none" spc="0" normalizeH="0" baseline="0" noProof="0">
              <a:ln>
                <a:noFill/>
              </a:ln>
              <a:solidFill>
                <a:prstClr val="black"/>
              </a:solidFill>
              <a:effectLst/>
              <a:uLnTx/>
              <a:uFillTx/>
              <a:latin typeface="Times New Roman"/>
              <a:ea typeface="+mn-ea"/>
              <a:cs typeface="Times New Roman"/>
            </a:endParaRPr>
          </a:p>
          <a:p>
            <a:pPr marL="8128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black"/>
                </a:solidFill>
                <a:effectLst/>
                <a:uLnTx/>
                <a:uFillTx/>
                <a:latin typeface="Malgun Gothic"/>
                <a:ea typeface="+mn-ea"/>
                <a:cs typeface="Malgun Gothic"/>
              </a:rPr>
              <a:t>Digital</a:t>
            </a:r>
            <a:endParaRPr kumimoji="0" sz="12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96" name="object 96"/>
          <p:cNvGrpSpPr/>
          <p:nvPr/>
        </p:nvGrpSpPr>
        <p:grpSpPr>
          <a:xfrm>
            <a:off x="1945385" y="1319390"/>
            <a:ext cx="6170295" cy="744220"/>
            <a:chOff x="1945385" y="1319390"/>
            <a:chExt cx="6170295" cy="744220"/>
          </a:xfrm>
        </p:grpSpPr>
        <p:pic>
          <p:nvPicPr>
            <p:cNvPr id="97" name="object 97"/>
            <p:cNvPicPr/>
            <p:nvPr/>
          </p:nvPicPr>
          <p:blipFill>
            <a:blip r:embed="rId18" cstate="print"/>
            <a:stretch>
              <a:fillRect/>
            </a:stretch>
          </p:blipFill>
          <p:spPr>
            <a:xfrm>
              <a:off x="7661909" y="1330451"/>
              <a:ext cx="255270" cy="723137"/>
            </a:xfrm>
            <a:prstGeom prst="rect">
              <a:avLst/>
            </a:prstGeom>
          </p:spPr>
        </p:pic>
        <p:sp>
          <p:nvSpPr>
            <p:cNvPr id="98" name="object 98"/>
            <p:cNvSpPr/>
            <p:nvPr/>
          </p:nvSpPr>
          <p:spPr>
            <a:xfrm>
              <a:off x="7661909" y="1330451"/>
              <a:ext cx="255270" cy="723265"/>
            </a:xfrm>
            <a:custGeom>
              <a:avLst/>
              <a:gdLst/>
              <a:ahLst/>
              <a:cxnLst/>
              <a:rect l="l" t="t" r="r" b="b"/>
              <a:pathLst>
                <a:path w="255270" h="723264">
                  <a:moveTo>
                    <a:pt x="0" y="541781"/>
                  </a:moveTo>
                  <a:lnTo>
                    <a:pt x="0" y="179069"/>
                  </a:lnTo>
                  <a:lnTo>
                    <a:pt x="255269" y="0"/>
                  </a:lnTo>
                  <a:lnTo>
                    <a:pt x="255270" y="723137"/>
                  </a:lnTo>
                  <a:lnTo>
                    <a:pt x="0" y="541781"/>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object 99"/>
            <p:cNvSpPr/>
            <p:nvPr/>
          </p:nvSpPr>
          <p:spPr>
            <a:xfrm>
              <a:off x="7559039" y="1690877"/>
              <a:ext cx="102870" cy="0"/>
            </a:xfrm>
            <a:custGeom>
              <a:avLst/>
              <a:gdLst/>
              <a:ahLst/>
              <a:cxnLst/>
              <a:rect l="l" t="t" r="r" b="b"/>
              <a:pathLst>
                <a:path w="102870">
                  <a:moveTo>
                    <a:pt x="0" y="0"/>
                  </a:moveTo>
                  <a:lnTo>
                    <a:pt x="10287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object 100"/>
            <p:cNvSpPr/>
            <p:nvPr/>
          </p:nvSpPr>
          <p:spPr>
            <a:xfrm>
              <a:off x="7917179" y="1962912"/>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object 101"/>
            <p:cNvSpPr/>
            <p:nvPr/>
          </p:nvSpPr>
          <p:spPr>
            <a:xfrm>
              <a:off x="7917179" y="1781555"/>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object 102"/>
            <p:cNvSpPr/>
            <p:nvPr/>
          </p:nvSpPr>
          <p:spPr>
            <a:xfrm>
              <a:off x="7917179" y="1600200"/>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object 103"/>
            <p:cNvSpPr/>
            <p:nvPr/>
          </p:nvSpPr>
          <p:spPr>
            <a:xfrm>
              <a:off x="7917179" y="1418843"/>
              <a:ext cx="93345" cy="0"/>
            </a:xfrm>
            <a:custGeom>
              <a:avLst/>
              <a:gdLst/>
              <a:ahLst/>
              <a:cxnLst/>
              <a:rect l="l" t="t" r="r" b="b"/>
              <a:pathLst>
                <a:path w="93345">
                  <a:moveTo>
                    <a:pt x="0" y="0"/>
                  </a:moveTo>
                  <a:lnTo>
                    <a:pt x="92964"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object 104"/>
            <p:cNvSpPr/>
            <p:nvPr/>
          </p:nvSpPr>
          <p:spPr>
            <a:xfrm>
              <a:off x="7494270" y="1690115"/>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bject 105"/>
            <p:cNvSpPr/>
            <p:nvPr/>
          </p:nvSpPr>
          <p:spPr>
            <a:xfrm>
              <a:off x="7540751" y="1639061"/>
              <a:ext cx="102235" cy="102870"/>
            </a:xfrm>
            <a:custGeom>
              <a:avLst/>
              <a:gdLst/>
              <a:ahLst/>
              <a:cxnLst/>
              <a:rect l="l" t="t" r="r" b="b"/>
              <a:pathLst>
                <a:path w="102234" h="102869">
                  <a:moveTo>
                    <a:pt x="102107" y="51053"/>
                  </a:moveTo>
                  <a:lnTo>
                    <a:pt x="0" y="0"/>
                  </a:lnTo>
                  <a:lnTo>
                    <a:pt x="9001" y="24967"/>
                  </a:lnTo>
                  <a:lnTo>
                    <a:pt x="12001" y="51149"/>
                  </a:lnTo>
                  <a:lnTo>
                    <a:pt x="9001" y="77473"/>
                  </a:lnTo>
                  <a:lnTo>
                    <a:pt x="0" y="102869"/>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p:nvPr/>
          </p:nvSpPr>
          <p:spPr>
            <a:xfrm>
              <a:off x="7966709" y="1418843"/>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p:nvPr/>
          </p:nvSpPr>
          <p:spPr>
            <a:xfrm>
              <a:off x="8013191" y="1367790"/>
              <a:ext cx="102235" cy="102235"/>
            </a:xfrm>
            <a:custGeom>
              <a:avLst/>
              <a:gdLst/>
              <a:ahLst/>
              <a:cxnLst/>
              <a:rect l="l" t="t" r="r" b="b"/>
              <a:pathLst>
                <a:path w="102234" h="102234">
                  <a:moveTo>
                    <a:pt x="102107" y="51053"/>
                  </a:moveTo>
                  <a:lnTo>
                    <a:pt x="0" y="0"/>
                  </a:lnTo>
                  <a:lnTo>
                    <a:pt x="9001" y="24955"/>
                  </a:lnTo>
                  <a:lnTo>
                    <a:pt x="12001" y="51053"/>
                  </a:lnTo>
                  <a:lnTo>
                    <a:pt x="9001" y="77152"/>
                  </a:lnTo>
                  <a:lnTo>
                    <a:pt x="0" y="102107"/>
                  </a:lnTo>
                  <a:lnTo>
                    <a:pt x="102107" y="5105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bject 108"/>
            <p:cNvSpPr/>
            <p:nvPr/>
          </p:nvSpPr>
          <p:spPr>
            <a:xfrm>
              <a:off x="7966709" y="1600200"/>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bject 109"/>
            <p:cNvSpPr/>
            <p:nvPr/>
          </p:nvSpPr>
          <p:spPr>
            <a:xfrm>
              <a:off x="8013191" y="1548384"/>
              <a:ext cx="102235" cy="102870"/>
            </a:xfrm>
            <a:custGeom>
              <a:avLst/>
              <a:gdLst/>
              <a:ahLst/>
              <a:cxnLst/>
              <a:rect l="l" t="t" r="r" b="b"/>
              <a:pathLst>
                <a:path w="102234"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object 110"/>
            <p:cNvSpPr/>
            <p:nvPr/>
          </p:nvSpPr>
          <p:spPr>
            <a:xfrm>
              <a:off x="7966709" y="1781555"/>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object 111"/>
            <p:cNvSpPr/>
            <p:nvPr/>
          </p:nvSpPr>
          <p:spPr>
            <a:xfrm>
              <a:off x="8013191" y="1729740"/>
              <a:ext cx="102235" cy="102870"/>
            </a:xfrm>
            <a:custGeom>
              <a:avLst/>
              <a:gdLst/>
              <a:ahLst/>
              <a:cxnLst/>
              <a:rect l="l" t="t" r="r" b="b"/>
              <a:pathLst>
                <a:path w="102234"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object 112"/>
            <p:cNvSpPr/>
            <p:nvPr/>
          </p:nvSpPr>
          <p:spPr>
            <a:xfrm>
              <a:off x="7966709" y="1962912"/>
              <a:ext cx="71755" cy="0"/>
            </a:xfrm>
            <a:custGeom>
              <a:avLst/>
              <a:gdLst/>
              <a:ahLst/>
              <a:cxnLst/>
              <a:rect l="l" t="t" r="r" b="b"/>
              <a:pathLst>
                <a:path w="71754">
                  <a:moveTo>
                    <a:pt x="0" y="0"/>
                  </a:moveTo>
                  <a:lnTo>
                    <a:pt x="71628"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object 113"/>
            <p:cNvSpPr/>
            <p:nvPr/>
          </p:nvSpPr>
          <p:spPr>
            <a:xfrm>
              <a:off x="8013191" y="1911095"/>
              <a:ext cx="102235" cy="102870"/>
            </a:xfrm>
            <a:custGeom>
              <a:avLst/>
              <a:gdLst/>
              <a:ahLst/>
              <a:cxnLst/>
              <a:rect l="l" t="t" r="r" b="b"/>
              <a:pathLst>
                <a:path w="102234" h="102869">
                  <a:moveTo>
                    <a:pt x="102107" y="51815"/>
                  </a:moveTo>
                  <a:lnTo>
                    <a:pt x="0" y="0"/>
                  </a:lnTo>
                  <a:lnTo>
                    <a:pt x="9001" y="25396"/>
                  </a:lnTo>
                  <a:lnTo>
                    <a:pt x="12001" y="51720"/>
                  </a:lnTo>
                  <a:lnTo>
                    <a:pt x="9001" y="77902"/>
                  </a:lnTo>
                  <a:lnTo>
                    <a:pt x="0" y="102869"/>
                  </a:lnTo>
                  <a:lnTo>
                    <a:pt x="102107" y="518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4" name="object 114"/>
            <p:cNvPicPr/>
            <p:nvPr/>
          </p:nvPicPr>
          <p:blipFill>
            <a:blip r:embed="rId19" cstate="print"/>
            <a:stretch>
              <a:fillRect/>
            </a:stretch>
          </p:blipFill>
          <p:spPr>
            <a:xfrm>
              <a:off x="2037587" y="1328927"/>
              <a:ext cx="256031" cy="723138"/>
            </a:xfrm>
            <a:prstGeom prst="rect">
              <a:avLst/>
            </a:prstGeom>
          </p:spPr>
        </p:pic>
        <p:sp>
          <p:nvSpPr>
            <p:cNvPr id="115" name="object 115"/>
            <p:cNvSpPr/>
            <p:nvPr/>
          </p:nvSpPr>
          <p:spPr>
            <a:xfrm>
              <a:off x="2037587" y="1328927"/>
              <a:ext cx="256540" cy="723265"/>
            </a:xfrm>
            <a:custGeom>
              <a:avLst/>
              <a:gdLst/>
              <a:ahLst/>
              <a:cxnLst/>
              <a:rect l="l" t="t" r="r" b="b"/>
              <a:pathLst>
                <a:path w="256539" h="723264">
                  <a:moveTo>
                    <a:pt x="256031" y="181355"/>
                  </a:moveTo>
                  <a:lnTo>
                    <a:pt x="256031" y="544067"/>
                  </a:lnTo>
                  <a:lnTo>
                    <a:pt x="0" y="723137"/>
                  </a:lnTo>
                  <a:lnTo>
                    <a:pt x="0" y="0"/>
                  </a:lnTo>
                  <a:lnTo>
                    <a:pt x="256031" y="181355"/>
                  </a:lnTo>
                  <a:close/>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object 116"/>
            <p:cNvSpPr/>
            <p:nvPr/>
          </p:nvSpPr>
          <p:spPr>
            <a:xfrm>
              <a:off x="2293619" y="1691640"/>
              <a:ext cx="102235" cy="0"/>
            </a:xfrm>
            <a:custGeom>
              <a:avLst/>
              <a:gdLst/>
              <a:ahLst/>
              <a:cxnLst/>
              <a:rect l="l" t="t" r="r" b="b"/>
              <a:pathLst>
                <a:path w="102235">
                  <a:moveTo>
                    <a:pt x="102107"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bject 117"/>
            <p:cNvSpPr/>
            <p:nvPr/>
          </p:nvSpPr>
          <p:spPr>
            <a:xfrm>
              <a:off x="1945385" y="1419605"/>
              <a:ext cx="92710" cy="0"/>
            </a:xfrm>
            <a:custGeom>
              <a:avLst/>
              <a:gdLst/>
              <a:ahLst/>
              <a:cxnLst/>
              <a:rect l="l" t="t" r="r" b="b"/>
              <a:pathLst>
                <a:path w="92710">
                  <a:moveTo>
                    <a:pt x="92201"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object 118"/>
            <p:cNvSpPr/>
            <p:nvPr/>
          </p:nvSpPr>
          <p:spPr>
            <a:xfrm>
              <a:off x="1945385" y="1600961"/>
              <a:ext cx="92710" cy="0"/>
            </a:xfrm>
            <a:custGeom>
              <a:avLst/>
              <a:gdLst/>
              <a:ahLst/>
              <a:cxnLst/>
              <a:rect l="l" t="t" r="r" b="b"/>
              <a:pathLst>
                <a:path w="92710">
                  <a:moveTo>
                    <a:pt x="92201"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object 119"/>
            <p:cNvSpPr/>
            <p:nvPr/>
          </p:nvSpPr>
          <p:spPr>
            <a:xfrm>
              <a:off x="1945385" y="1782318"/>
              <a:ext cx="92710" cy="0"/>
            </a:xfrm>
            <a:custGeom>
              <a:avLst/>
              <a:gdLst/>
              <a:ahLst/>
              <a:cxnLst/>
              <a:rect l="l" t="t" r="r" b="b"/>
              <a:pathLst>
                <a:path w="92710">
                  <a:moveTo>
                    <a:pt x="92201"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object 120"/>
            <p:cNvSpPr/>
            <p:nvPr/>
          </p:nvSpPr>
          <p:spPr>
            <a:xfrm>
              <a:off x="1945385" y="1963673"/>
              <a:ext cx="92710" cy="0"/>
            </a:xfrm>
            <a:custGeom>
              <a:avLst/>
              <a:gdLst/>
              <a:ahLst/>
              <a:cxnLst/>
              <a:rect l="l" t="t" r="r" b="b"/>
              <a:pathLst>
                <a:path w="92710">
                  <a:moveTo>
                    <a:pt x="92201" y="0"/>
                  </a:moveTo>
                  <a:lnTo>
                    <a:pt x="0" y="0"/>
                  </a:lnTo>
                </a:path>
              </a:pathLst>
            </a:custGeom>
            <a:ln w="190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1" name="object 121"/>
            <p:cNvPicPr/>
            <p:nvPr/>
          </p:nvPicPr>
          <p:blipFill>
            <a:blip r:embed="rId20" cstate="print"/>
            <a:stretch>
              <a:fillRect/>
            </a:stretch>
          </p:blipFill>
          <p:spPr>
            <a:xfrm>
              <a:off x="2409443" y="1517142"/>
              <a:ext cx="360425" cy="362712"/>
            </a:xfrm>
            <a:prstGeom prst="rect">
              <a:avLst/>
            </a:prstGeom>
          </p:spPr>
        </p:pic>
        <p:sp>
          <p:nvSpPr>
            <p:cNvPr id="122" name="object 122"/>
            <p:cNvSpPr/>
            <p:nvPr/>
          </p:nvSpPr>
          <p:spPr>
            <a:xfrm>
              <a:off x="2409443" y="1517142"/>
              <a:ext cx="360680" cy="363220"/>
            </a:xfrm>
            <a:custGeom>
              <a:avLst/>
              <a:gdLst/>
              <a:ahLst/>
              <a:cxnLst/>
              <a:rect l="l" t="t" r="r" b="b"/>
              <a:pathLst>
                <a:path w="360680" h="363219">
                  <a:moveTo>
                    <a:pt x="0" y="0"/>
                  </a:moveTo>
                  <a:lnTo>
                    <a:pt x="0" y="362712"/>
                  </a:lnTo>
                  <a:lnTo>
                    <a:pt x="360426" y="362712"/>
                  </a:lnTo>
                  <a:lnTo>
                    <a:pt x="360426" y="0"/>
                  </a:lnTo>
                  <a:lnTo>
                    <a:pt x="0" y="0"/>
                  </a:lnTo>
                  <a:close/>
                </a:path>
              </a:pathLst>
            </a:custGeom>
            <a:ln w="1907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3" name="object 123"/>
          <p:cNvSpPr txBox="1"/>
          <p:nvPr/>
        </p:nvSpPr>
        <p:spPr>
          <a:xfrm>
            <a:off x="2466848" y="1583389"/>
            <a:ext cx="257175" cy="20955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200" b="0" i="0" u="none" strike="noStrike" kern="1200" cap="none" spc="0" normalizeH="0" baseline="0" noProof="0" dirty="0">
                <a:ln>
                  <a:noFill/>
                </a:ln>
                <a:solidFill>
                  <a:srgbClr val="0000FF"/>
                </a:solidFill>
                <a:effectLst/>
                <a:uLnTx/>
                <a:uFillTx/>
                <a:latin typeface="Malgun Gothic"/>
                <a:ea typeface="+mn-ea"/>
                <a:cs typeface="Malgun Gothic"/>
              </a:rPr>
              <a:t>FFE</a:t>
            </a:r>
            <a:endParaRPr kumimoji="0" sz="1200" b="0" i="0" u="none" strike="noStrike" kern="1200" cap="none" spc="0" normalizeH="0" baseline="0" noProof="0" dirty="0">
              <a:ln>
                <a:noFill/>
              </a:ln>
              <a:solidFill>
                <a:prstClr val="black"/>
              </a:solidFill>
              <a:effectLst/>
              <a:uLnTx/>
              <a:uFillTx/>
              <a:latin typeface="Malgun Gothic"/>
              <a:ea typeface="+mn-ea"/>
              <a:cs typeface="Malgun Gothic"/>
            </a:endParaRPr>
          </a:p>
        </p:txBody>
      </p:sp>
      <p:sp>
        <p:nvSpPr>
          <p:cNvPr id="124" name="object 124"/>
          <p:cNvSpPr txBox="1"/>
          <p:nvPr/>
        </p:nvSpPr>
        <p:spPr>
          <a:xfrm>
            <a:off x="1164589" y="5221962"/>
            <a:ext cx="9613900" cy="720725"/>
          </a:xfrm>
          <a:prstGeom prst="rect">
            <a:avLst/>
          </a:prstGeom>
        </p:spPr>
        <p:txBody>
          <a:bodyPr vert="horz" wrap="square" lIns="0" tIns="73660" rIns="0" bIns="0" rtlCol="0">
            <a:spAutoFit/>
          </a:bodyPr>
          <a:lstStyle/>
          <a:p>
            <a:pPr marL="372745" marR="0" lvl="0" indent="-360680" algn="l" defTabSz="914400" rtl="0" eaLnBrk="1" fontAlgn="auto" latinLnBrk="0" hangingPunct="1">
              <a:lnSpc>
                <a:spcPct val="100000"/>
              </a:lnSpc>
              <a:spcBef>
                <a:spcPts val="580"/>
              </a:spcBef>
              <a:spcAft>
                <a:spcPts val="0"/>
              </a:spcAft>
              <a:buClr>
                <a:srgbClr val="CC0000"/>
              </a:buClr>
              <a:buSzTx/>
              <a:buFont typeface="Wingdings"/>
              <a:buChar char=""/>
              <a:tabLst>
                <a:tab pos="372745" algn="l"/>
                <a:tab pos="3733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Feed</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forward</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equalization</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(FFE)</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810895" marR="0" lvl="1" indent="-360680" algn="l" defTabSz="914400" rtl="0" eaLnBrk="1" fontAlgn="auto" latinLnBrk="0" hangingPunct="1">
              <a:lnSpc>
                <a:spcPct val="100000"/>
              </a:lnSpc>
              <a:spcBef>
                <a:spcPts val="434"/>
              </a:spcBef>
              <a:spcAft>
                <a:spcPts val="0"/>
              </a:spcAft>
              <a:buClr>
                <a:srgbClr val="CC0000"/>
              </a:buClr>
              <a:buSzTx/>
              <a:buFont typeface="Wingdings"/>
              <a:buChar char=""/>
              <a:tabLst>
                <a:tab pos="810895" algn="l"/>
                <a:tab pos="811530" algn="l"/>
              </a:tabLst>
              <a:defRPr/>
            </a:pPr>
            <a:r>
              <a:rPr kumimoji="0" sz="1800" b="0" i="0" u="none" strike="noStrike" kern="1200" cap="none" spc="0" normalizeH="0" baseline="0" noProof="0" dirty="0">
                <a:ln>
                  <a:noFill/>
                </a:ln>
                <a:solidFill>
                  <a:prstClr val="black"/>
                </a:solidFill>
                <a:effectLst/>
                <a:uLnTx/>
                <a:uFillTx/>
                <a:latin typeface="Verdana"/>
                <a:ea typeface="+mn-ea"/>
                <a:cs typeface="Verdana"/>
              </a:rPr>
              <a:t>A</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high-pass filter</a:t>
            </a:r>
            <a:r>
              <a:rPr kumimoji="0" sz="1800" b="0" i="0" u="none" strike="noStrike" kern="1200" cap="none" spc="2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(HPF)</a:t>
            </a:r>
            <a:r>
              <a:rPr kumimoji="0" sz="1800" b="0" i="0" u="none" strike="noStrike" kern="1200" cap="none" spc="0" normalizeH="0" baseline="0" noProof="0" dirty="0">
                <a:ln>
                  <a:noFill/>
                </a:ln>
                <a:solidFill>
                  <a:prstClr val="black"/>
                </a:solidFill>
                <a:effectLst/>
                <a:uLnTx/>
                <a:uFillTx/>
                <a:latin typeface="Verdana"/>
                <a:ea typeface="+mn-ea"/>
                <a:cs typeface="Verdana"/>
              </a:rPr>
              <a:t> flattens</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the</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overall</a:t>
            </a:r>
            <a:r>
              <a:rPr kumimoji="0" sz="1800" b="0" i="0" u="none" strike="noStrike" kern="1200" cap="none" spc="0" normalizeH="0" baseline="0" noProof="0" dirty="0">
                <a:ln>
                  <a:noFill/>
                </a:ln>
                <a:solidFill>
                  <a:prstClr val="black"/>
                </a:solidFill>
                <a:effectLst/>
                <a:uLnTx/>
                <a:uFillTx/>
                <a:latin typeface="Verdana"/>
                <a:ea typeface="+mn-ea"/>
                <a:cs typeface="Verdana"/>
              </a:rPr>
              <a:t> response</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in</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the</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band</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of</a:t>
            </a:r>
            <a:r>
              <a:rPr kumimoji="0" sz="1800" b="0" i="0" u="none" strike="noStrike" kern="1200" cap="none" spc="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interest.</a:t>
            </a:r>
            <a:endParaRPr kumimoji="0" sz="1800" b="0" i="0" u="none" strike="noStrike" kern="1200" cap="none" spc="0" normalizeH="0" baseline="0" noProof="0" dirty="0">
              <a:ln>
                <a:noFill/>
              </a:ln>
              <a:solidFill>
                <a:prstClr val="black"/>
              </a:solidFill>
              <a:effectLst/>
              <a:uLnTx/>
              <a:uFillTx/>
              <a:latin typeface="Verdana"/>
              <a:ea typeface="+mn-ea"/>
              <a:cs typeface="Verdana"/>
            </a:endParaRPr>
          </a:p>
        </p:txBody>
      </p:sp>
      <p:sp>
        <p:nvSpPr>
          <p:cNvPr id="126" name="Slide Number Placeholder 125"/>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33</a:t>
            </a:fld>
            <a:endParaRPr lang="en-US" spc="-50" dirty="0"/>
          </a:p>
        </p:txBody>
      </p:sp>
      <p:sp>
        <p:nvSpPr>
          <p:cNvPr id="127" name="Date Placeholder 126"/>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28" name="Footer Placeholder 127"/>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93899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4" grpId="0"/>
      <p:bldP spid="25" grpId="0"/>
      <p:bldP spid="26" grpId="0"/>
      <p:bldP spid="27" grpId="0"/>
      <p:bldP spid="29" grpId="0" animBg="1"/>
      <p:bldP spid="31" grpId="0" animBg="1"/>
      <p:bldP spid="33" grpId="0" animBg="1"/>
      <p:bldP spid="1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9972" y="311417"/>
            <a:ext cx="7329805" cy="604520"/>
          </a:xfrm>
          <a:prstGeom prst="rect">
            <a:avLst/>
          </a:prstGeom>
        </p:spPr>
        <p:txBody>
          <a:bodyPr vert="horz" wrap="square" lIns="0" tIns="12065" rIns="0" bIns="0" rtlCol="0">
            <a:spAutoFit/>
          </a:bodyPr>
          <a:lstStyle/>
          <a:p>
            <a:pPr marL="12700">
              <a:lnSpc>
                <a:spcPct val="100000"/>
              </a:lnSpc>
              <a:spcBef>
                <a:spcPts val="95"/>
              </a:spcBef>
            </a:pPr>
            <a:r>
              <a:rPr sz="3800" b="0" spc="-5" dirty="0">
                <a:latin typeface="Verdana"/>
                <a:cs typeface="Verdana"/>
              </a:rPr>
              <a:t>Feed</a:t>
            </a:r>
            <a:r>
              <a:rPr sz="3800" b="0" spc="10" dirty="0">
                <a:latin typeface="Verdana"/>
                <a:cs typeface="Verdana"/>
              </a:rPr>
              <a:t> </a:t>
            </a:r>
            <a:r>
              <a:rPr sz="3800" b="0" spc="-5" dirty="0">
                <a:latin typeface="Verdana"/>
                <a:cs typeface="Verdana"/>
              </a:rPr>
              <a:t>Forward</a:t>
            </a:r>
            <a:r>
              <a:rPr sz="3800" b="0" spc="30" dirty="0">
                <a:latin typeface="Verdana"/>
                <a:cs typeface="Verdana"/>
              </a:rPr>
              <a:t> </a:t>
            </a:r>
            <a:r>
              <a:rPr sz="3800" b="0" spc="-10" dirty="0">
                <a:latin typeface="Verdana"/>
                <a:cs typeface="Verdana"/>
              </a:rPr>
              <a:t>Equalization</a:t>
            </a:r>
            <a:r>
              <a:rPr sz="3800" b="0" spc="10" dirty="0">
                <a:latin typeface="Verdana"/>
                <a:cs typeface="Verdana"/>
              </a:rPr>
              <a:t> </a:t>
            </a:r>
            <a:r>
              <a:rPr sz="3800" b="0" spc="-10" dirty="0">
                <a:latin typeface="Verdana"/>
                <a:cs typeface="Verdana"/>
              </a:rPr>
              <a:t>(2)</a:t>
            </a:r>
            <a:endParaRPr sz="3800" dirty="0">
              <a:latin typeface="Verdana"/>
              <a:cs typeface="Verdana"/>
            </a:endParaRPr>
          </a:p>
        </p:txBody>
      </p:sp>
      <p:sp>
        <p:nvSpPr>
          <p:cNvPr id="3" name="object 3"/>
          <p:cNvSpPr txBox="1"/>
          <p:nvPr/>
        </p:nvSpPr>
        <p:spPr>
          <a:xfrm>
            <a:off x="1165352" y="5170891"/>
            <a:ext cx="7334250" cy="756920"/>
          </a:xfrm>
          <a:prstGeom prst="rect">
            <a:avLst/>
          </a:prstGeom>
        </p:spPr>
        <p:txBody>
          <a:bodyPr vert="horz" wrap="square" lIns="0" tIns="73660" rIns="0" bIns="0" rtlCol="0">
            <a:spAutoFit/>
          </a:bodyPr>
          <a:lstStyle/>
          <a:p>
            <a:pPr marL="372745" marR="0" lvl="0" indent="-360680" algn="l" defTabSz="914400" rtl="0" eaLnBrk="1" fontAlgn="auto" latinLnBrk="0" hangingPunct="1">
              <a:lnSpc>
                <a:spcPct val="100000"/>
              </a:lnSpc>
              <a:spcBef>
                <a:spcPts val="580"/>
              </a:spcBef>
              <a:spcAft>
                <a:spcPts val="0"/>
              </a:spcAft>
              <a:buClr>
                <a:srgbClr val="CC0000"/>
              </a:buClr>
              <a:buSzTx/>
              <a:buFont typeface="Wingdings"/>
              <a:buChar char=""/>
              <a:tabLst>
                <a:tab pos="372745" algn="l"/>
                <a:tab pos="3733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finite</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impulse</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response</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(FIR)</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filter</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for</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pulse-shaping</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372745" marR="0" lvl="0" indent="-360680" algn="l" defTabSz="914400" rtl="0" eaLnBrk="1" fontAlgn="auto" latinLnBrk="0" hangingPunct="1">
              <a:lnSpc>
                <a:spcPct val="100000"/>
              </a:lnSpc>
              <a:spcBef>
                <a:spcPts val="480"/>
              </a:spcBef>
              <a:spcAft>
                <a:spcPts val="0"/>
              </a:spcAft>
              <a:buClr>
                <a:srgbClr val="CC0000"/>
              </a:buClr>
              <a:buSzTx/>
              <a:buFont typeface="Wingdings"/>
              <a:buChar char=""/>
              <a:tabLst>
                <a:tab pos="372745" algn="l"/>
                <a:tab pos="373380"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Negative</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peaking</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cancels ISI</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4" name="object 4"/>
          <p:cNvSpPr txBox="1"/>
          <p:nvPr/>
        </p:nvSpPr>
        <p:spPr>
          <a:xfrm>
            <a:off x="1483105" y="2902711"/>
            <a:ext cx="2027555" cy="3911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1200" cap="none" spc="-15" normalizeH="0" baseline="0" noProof="0" dirty="0">
                <a:ln>
                  <a:noFill/>
                </a:ln>
                <a:solidFill>
                  <a:srgbClr val="0065FF"/>
                </a:solidFill>
                <a:effectLst/>
                <a:uLnTx/>
                <a:uFillTx/>
                <a:latin typeface="Verdana"/>
                <a:ea typeface="+mn-ea"/>
                <a:cs typeface="Verdana"/>
              </a:rPr>
              <a:t>Feed</a:t>
            </a:r>
            <a:r>
              <a:rPr kumimoji="0" sz="2400" b="0" i="0" u="none" strike="noStrike" kern="1200" cap="none" spc="-85" normalizeH="0" baseline="0" noProof="0" dirty="0">
                <a:ln>
                  <a:noFill/>
                </a:ln>
                <a:solidFill>
                  <a:srgbClr val="0065FF"/>
                </a:solidFill>
                <a:effectLst/>
                <a:uLnTx/>
                <a:uFillTx/>
                <a:latin typeface="Verdana"/>
                <a:ea typeface="+mn-ea"/>
                <a:cs typeface="Verdana"/>
              </a:rPr>
              <a:t> </a:t>
            </a:r>
            <a:r>
              <a:rPr kumimoji="0" sz="2400" b="0" i="0" u="none" strike="noStrike" kern="1200" cap="none" spc="-5" normalizeH="0" baseline="0" noProof="0" dirty="0">
                <a:ln>
                  <a:noFill/>
                </a:ln>
                <a:solidFill>
                  <a:srgbClr val="0065FF"/>
                </a:solidFill>
                <a:effectLst/>
                <a:uLnTx/>
                <a:uFillTx/>
                <a:latin typeface="Verdana"/>
                <a:ea typeface="+mn-ea"/>
                <a:cs typeface="Verdana"/>
              </a:rPr>
              <a:t>forward</a:t>
            </a:r>
            <a:endParaRPr kumimoji="0" sz="2400" b="0" i="0" u="none" strike="noStrike" kern="1200" cap="none" spc="0" normalizeH="0" baseline="0" noProof="0">
              <a:ln>
                <a:noFill/>
              </a:ln>
              <a:solidFill>
                <a:prstClr val="black"/>
              </a:solidFill>
              <a:effectLst/>
              <a:uLnTx/>
              <a:uFillTx/>
              <a:latin typeface="Verdana"/>
              <a:ea typeface="+mn-ea"/>
              <a:cs typeface="Verdana"/>
            </a:endParaRPr>
          </a:p>
        </p:txBody>
      </p:sp>
      <p:sp>
        <p:nvSpPr>
          <p:cNvPr id="5" name="object 5"/>
          <p:cNvSpPr txBox="1"/>
          <p:nvPr/>
        </p:nvSpPr>
        <p:spPr>
          <a:xfrm>
            <a:off x="1483105" y="3268471"/>
            <a:ext cx="2799080" cy="3911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1200" cap="none" spc="0" normalizeH="0" baseline="0" noProof="0" dirty="0">
                <a:ln>
                  <a:noFill/>
                </a:ln>
                <a:solidFill>
                  <a:srgbClr val="0065FF"/>
                </a:solidFill>
                <a:effectLst/>
                <a:uLnTx/>
                <a:uFillTx/>
                <a:latin typeface="Verdana"/>
                <a:ea typeface="+mn-ea"/>
                <a:cs typeface="Verdana"/>
              </a:rPr>
              <a:t>equalization</a:t>
            </a:r>
            <a:r>
              <a:rPr kumimoji="0" sz="2400" b="0" i="0" u="none" strike="noStrike" kern="1200" cap="none" spc="-60" normalizeH="0" baseline="0" noProof="0" dirty="0">
                <a:ln>
                  <a:noFill/>
                </a:ln>
                <a:solidFill>
                  <a:srgbClr val="0065FF"/>
                </a:solidFill>
                <a:effectLst/>
                <a:uLnTx/>
                <a:uFillTx/>
                <a:latin typeface="Verdana"/>
                <a:ea typeface="+mn-ea"/>
                <a:cs typeface="Verdana"/>
              </a:rPr>
              <a:t> </a:t>
            </a:r>
            <a:r>
              <a:rPr kumimoji="0" sz="2400" b="0" i="0" u="none" strike="noStrike" kern="1200" cap="none" spc="0" normalizeH="0" baseline="0" noProof="0" dirty="0">
                <a:ln>
                  <a:noFill/>
                </a:ln>
                <a:solidFill>
                  <a:srgbClr val="0065FF"/>
                </a:solidFill>
                <a:effectLst/>
                <a:uLnTx/>
                <a:uFillTx/>
                <a:latin typeface="Verdana"/>
                <a:ea typeface="+mn-ea"/>
                <a:cs typeface="Verdana"/>
              </a:rPr>
              <a:t>(FFE)</a:t>
            </a:r>
            <a:endParaRPr kumimoji="0" sz="24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6" name="object 6"/>
          <p:cNvGrpSpPr/>
          <p:nvPr/>
        </p:nvGrpSpPr>
        <p:grpSpPr>
          <a:xfrm>
            <a:off x="5989320" y="1836686"/>
            <a:ext cx="2541270" cy="408305"/>
            <a:chOff x="5989320" y="1836686"/>
            <a:chExt cx="2541270" cy="408305"/>
          </a:xfrm>
        </p:grpSpPr>
        <p:pic>
          <p:nvPicPr>
            <p:cNvPr id="7" name="object 7"/>
            <p:cNvPicPr/>
            <p:nvPr/>
          </p:nvPicPr>
          <p:blipFill>
            <a:blip r:embed="rId3" cstate="print"/>
            <a:stretch>
              <a:fillRect/>
            </a:stretch>
          </p:blipFill>
          <p:spPr>
            <a:xfrm>
              <a:off x="6535178" y="1925840"/>
              <a:ext cx="84810" cy="229590"/>
            </a:xfrm>
            <a:prstGeom prst="rect">
              <a:avLst/>
            </a:prstGeom>
          </p:spPr>
        </p:pic>
        <p:sp>
          <p:nvSpPr>
            <p:cNvPr id="8" name="object 8"/>
            <p:cNvSpPr/>
            <p:nvPr/>
          </p:nvSpPr>
          <p:spPr>
            <a:xfrm>
              <a:off x="6587490" y="1939290"/>
              <a:ext cx="1355090" cy="0"/>
            </a:xfrm>
            <a:custGeom>
              <a:avLst/>
              <a:gdLst/>
              <a:ahLst/>
              <a:cxnLst/>
              <a:rect l="l" t="t" r="r" b="b"/>
              <a:pathLst>
                <a:path w="1355090">
                  <a:moveTo>
                    <a:pt x="0" y="0"/>
                  </a:moveTo>
                  <a:lnTo>
                    <a:pt x="1354836" y="0"/>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6577584" y="2141982"/>
              <a:ext cx="1365250" cy="0"/>
            </a:xfrm>
            <a:custGeom>
              <a:avLst/>
              <a:gdLst/>
              <a:ahLst/>
              <a:cxnLst/>
              <a:rect l="l" t="t" r="r" b="b"/>
              <a:pathLst>
                <a:path w="1365250">
                  <a:moveTo>
                    <a:pt x="1364742" y="0"/>
                  </a:moveTo>
                  <a:lnTo>
                    <a:pt x="0" y="0"/>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7942326" y="1939290"/>
              <a:ext cx="29209" cy="203835"/>
            </a:xfrm>
            <a:custGeom>
              <a:avLst/>
              <a:gdLst/>
              <a:ahLst/>
              <a:cxnLst/>
              <a:rect l="l" t="t" r="r" b="b"/>
              <a:pathLst>
                <a:path w="29209" h="203835">
                  <a:moveTo>
                    <a:pt x="0" y="0"/>
                  </a:moveTo>
                  <a:lnTo>
                    <a:pt x="11275" y="7643"/>
                  </a:lnTo>
                  <a:lnTo>
                    <a:pt x="20478" y="28575"/>
                  </a:lnTo>
                  <a:lnTo>
                    <a:pt x="26681" y="59793"/>
                  </a:lnTo>
                  <a:lnTo>
                    <a:pt x="28956" y="98298"/>
                  </a:lnTo>
                  <a:lnTo>
                    <a:pt x="26812" y="139160"/>
                  </a:lnTo>
                  <a:lnTo>
                    <a:pt x="20955" y="172593"/>
                  </a:lnTo>
                  <a:lnTo>
                    <a:pt x="12239" y="195167"/>
                  </a:lnTo>
                  <a:lnTo>
                    <a:pt x="1524" y="203454"/>
                  </a:lnTo>
                  <a:lnTo>
                    <a:pt x="762" y="202692"/>
                  </a:lnTo>
                  <a:lnTo>
                    <a:pt x="0" y="202692"/>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6116574" y="1850136"/>
              <a:ext cx="381000" cy="381000"/>
            </a:xfrm>
            <a:custGeom>
              <a:avLst/>
              <a:gdLst/>
              <a:ahLst/>
              <a:cxnLst/>
              <a:rect l="l" t="t" r="r" b="b"/>
              <a:pathLst>
                <a:path w="381000" h="381000">
                  <a:moveTo>
                    <a:pt x="0" y="0"/>
                  </a:moveTo>
                  <a:lnTo>
                    <a:pt x="381000" y="190499"/>
                  </a:lnTo>
                  <a:lnTo>
                    <a:pt x="0" y="381000"/>
                  </a:lnTo>
                  <a:lnTo>
                    <a:pt x="0" y="0"/>
                  </a:lnTo>
                  <a:close/>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8035290" y="1850136"/>
              <a:ext cx="381000" cy="381000"/>
            </a:xfrm>
            <a:custGeom>
              <a:avLst/>
              <a:gdLst/>
              <a:ahLst/>
              <a:cxnLst/>
              <a:rect l="l" t="t" r="r" b="b"/>
              <a:pathLst>
                <a:path w="381000" h="381000">
                  <a:moveTo>
                    <a:pt x="0" y="0"/>
                  </a:moveTo>
                  <a:lnTo>
                    <a:pt x="381000" y="190499"/>
                  </a:lnTo>
                  <a:lnTo>
                    <a:pt x="0" y="381000"/>
                  </a:lnTo>
                  <a:lnTo>
                    <a:pt x="0" y="0"/>
                  </a:lnTo>
                  <a:close/>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6497574" y="2040636"/>
              <a:ext cx="51435" cy="0"/>
            </a:xfrm>
            <a:custGeom>
              <a:avLst/>
              <a:gdLst/>
              <a:ahLst/>
              <a:cxnLst/>
              <a:rect l="l" t="t" r="r" b="b"/>
              <a:pathLst>
                <a:path w="51434">
                  <a:moveTo>
                    <a:pt x="0" y="0"/>
                  </a:moveTo>
                  <a:lnTo>
                    <a:pt x="51053" y="0"/>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5989320" y="2040636"/>
              <a:ext cx="127635" cy="0"/>
            </a:xfrm>
            <a:custGeom>
              <a:avLst/>
              <a:gdLst/>
              <a:ahLst/>
              <a:cxnLst/>
              <a:rect l="l" t="t" r="r" b="b"/>
              <a:pathLst>
                <a:path w="127635">
                  <a:moveTo>
                    <a:pt x="0" y="0"/>
                  </a:moveTo>
                  <a:lnTo>
                    <a:pt x="127254" y="0"/>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8416290" y="2040636"/>
              <a:ext cx="114300" cy="0"/>
            </a:xfrm>
            <a:custGeom>
              <a:avLst/>
              <a:gdLst/>
              <a:ahLst/>
              <a:cxnLst/>
              <a:rect l="l" t="t" r="r" b="b"/>
              <a:pathLst>
                <a:path w="114300">
                  <a:moveTo>
                    <a:pt x="0" y="0"/>
                  </a:moveTo>
                  <a:lnTo>
                    <a:pt x="114300" y="0"/>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7971282" y="2037588"/>
              <a:ext cx="64135" cy="3175"/>
            </a:xfrm>
            <a:custGeom>
              <a:avLst/>
              <a:gdLst/>
              <a:ahLst/>
              <a:cxnLst/>
              <a:rect l="l" t="t" r="r" b="b"/>
              <a:pathLst>
                <a:path w="64134" h="3175">
                  <a:moveTo>
                    <a:pt x="-13449" y="1524"/>
                  </a:moveTo>
                  <a:lnTo>
                    <a:pt x="77457" y="1524"/>
                  </a:lnTo>
                </a:path>
              </a:pathLst>
            </a:custGeom>
            <a:ln w="2994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 name="object 17"/>
          <p:cNvGrpSpPr/>
          <p:nvPr/>
        </p:nvGrpSpPr>
        <p:grpSpPr>
          <a:xfrm>
            <a:off x="7411973" y="1130426"/>
            <a:ext cx="2353945" cy="584835"/>
            <a:chOff x="7411973" y="1130426"/>
            <a:chExt cx="2353945" cy="584835"/>
          </a:xfrm>
        </p:grpSpPr>
        <p:sp>
          <p:nvSpPr>
            <p:cNvPr id="18" name="object 18"/>
            <p:cNvSpPr/>
            <p:nvPr/>
          </p:nvSpPr>
          <p:spPr>
            <a:xfrm>
              <a:off x="7724393" y="1524762"/>
              <a:ext cx="78105" cy="152400"/>
            </a:xfrm>
            <a:custGeom>
              <a:avLst/>
              <a:gdLst/>
              <a:ahLst/>
              <a:cxnLst/>
              <a:rect l="l" t="t" r="r" b="b"/>
              <a:pathLst>
                <a:path w="78104" h="152400">
                  <a:moveTo>
                    <a:pt x="0" y="152400"/>
                  </a:moveTo>
                  <a:lnTo>
                    <a:pt x="28324" y="148197"/>
                  </a:lnTo>
                  <a:lnTo>
                    <a:pt x="52292" y="118205"/>
                  </a:lnTo>
                  <a:lnTo>
                    <a:pt x="69544" y="67210"/>
                  </a:lnTo>
                  <a:lnTo>
                    <a:pt x="77723" y="0"/>
                  </a:lnTo>
                </a:path>
              </a:pathLst>
            </a:custGeom>
            <a:ln w="26898">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9"/>
            <p:cNvSpPr/>
            <p:nvPr/>
          </p:nvSpPr>
          <p:spPr>
            <a:xfrm>
              <a:off x="7802117" y="1143875"/>
              <a:ext cx="390525" cy="381000"/>
            </a:xfrm>
            <a:custGeom>
              <a:avLst/>
              <a:gdLst/>
              <a:ahLst/>
              <a:cxnLst/>
              <a:rect l="l" t="t" r="r" b="b"/>
              <a:pathLst>
                <a:path w="390525" h="381000">
                  <a:moveTo>
                    <a:pt x="0" y="380886"/>
                  </a:moveTo>
                  <a:lnTo>
                    <a:pt x="3468" y="312962"/>
                  </a:lnTo>
                  <a:lnTo>
                    <a:pt x="10466" y="249615"/>
                  </a:lnTo>
                  <a:lnTo>
                    <a:pt x="20683" y="191626"/>
                  </a:lnTo>
                  <a:lnTo>
                    <a:pt x="33808" y="139777"/>
                  </a:lnTo>
                  <a:lnTo>
                    <a:pt x="49529" y="94850"/>
                  </a:lnTo>
                  <a:lnTo>
                    <a:pt x="67537" y="57627"/>
                  </a:lnTo>
                  <a:lnTo>
                    <a:pt x="109167" y="9420"/>
                  </a:lnTo>
                  <a:lnTo>
                    <a:pt x="132167" y="0"/>
                  </a:lnTo>
                  <a:lnTo>
                    <a:pt x="156210" y="1410"/>
                  </a:lnTo>
                  <a:lnTo>
                    <a:pt x="226680" y="30761"/>
                  </a:lnTo>
                  <a:lnTo>
                    <a:pt x="268033" y="55607"/>
                  </a:lnTo>
                  <a:lnTo>
                    <a:pt x="310529" y="85343"/>
                  </a:lnTo>
                  <a:lnTo>
                    <a:pt x="351966" y="118550"/>
                  </a:lnTo>
                  <a:lnTo>
                    <a:pt x="390144" y="153810"/>
                  </a:lnTo>
                </a:path>
              </a:pathLst>
            </a:custGeom>
            <a:ln w="26898">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bject 20"/>
            <p:cNvSpPr/>
            <p:nvPr/>
          </p:nvSpPr>
          <p:spPr>
            <a:xfrm>
              <a:off x="8192261" y="1297686"/>
              <a:ext cx="311785" cy="151765"/>
            </a:xfrm>
            <a:custGeom>
              <a:avLst/>
              <a:gdLst/>
              <a:ahLst/>
              <a:cxnLst/>
              <a:rect l="l" t="t" r="r" b="b"/>
              <a:pathLst>
                <a:path w="311784" h="151765">
                  <a:moveTo>
                    <a:pt x="0" y="0"/>
                  </a:moveTo>
                  <a:lnTo>
                    <a:pt x="42936" y="35351"/>
                  </a:lnTo>
                  <a:lnTo>
                    <a:pt x="89511" y="67651"/>
                  </a:lnTo>
                  <a:lnTo>
                    <a:pt x="137859" y="95992"/>
                  </a:lnTo>
                  <a:lnTo>
                    <a:pt x="186114" y="119467"/>
                  </a:lnTo>
                  <a:lnTo>
                    <a:pt x="232410" y="137171"/>
                  </a:lnTo>
                  <a:lnTo>
                    <a:pt x="274879" y="148196"/>
                  </a:lnTo>
                  <a:lnTo>
                    <a:pt x="311658" y="151637"/>
                  </a:lnTo>
                </a:path>
              </a:pathLst>
            </a:custGeom>
            <a:ln w="26898">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p:nvPr/>
          </p:nvSpPr>
          <p:spPr>
            <a:xfrm>
              <a:off x="8503919" y="1449324"/>
              <a:ext cx="1248410" cy="189865"/>
            </a:xfrm>
            <a:custGeom>
              <a:avLst/>
              <a:gdLst/>
              <a:ahLst/>
              <a:cxnLst/>
              <a:rect l="l" t="t" r="r" b="b"/>
              <a:pathLst>
                <a:path w="1248409" h="189864">
                  <a:moveTo>
                    <a:pt x="0" y="0"/>
                  </a:moveTo>
                  <a:lnTo>
                    <a:pt x="41495" y="16125"/>
                  </a:lnTo>
                  <a:lnTo>
                    <a:pt x="91037" y="28730"/>
                  </a:lnTo>
                  <a:lnTo>
                    <a:pt x="156550" y="42582"/>
                  </a:lnTo>
                  <a:lnTo>
                    <a:pt x="194885" y="49911"/>
                  </a:lnTo>
                  <a:lnTo>
                    <a:pt x="236720" y="57476"/>
                  </a:lnTo>
                  <a:lnTo>
                    <a:pt x="281891" y="65251"/>
                  </a:lnTo>
                  <a:lnTo>
                    <a:pt x="330234" y="73210"/>
                  </a:lnTo>
                  <a:lnTo>
                    <a:pt x="381584" y="81328"/>
                  </a:lnTo>
                  <a:lnTo>
                    <a:pt x="435779" y="89580"/>
                  </a:lnTo>
                  <a:lnTo>
                    <a:pt x="492652" y="97939"/>
                  </a:lnTo>
                  <a:lnTo>
                    <a:pt x="552041" y="106381"/>
                  </a:lnTo>
                  <a:lnTo>
                    <a:pt x="613781" y="114880"/>
                  </a:lnTo>
                  <a:lnTo>
                    <a:pt x="677708" y="123410"/>
                  </a:lnTo>
                  <a:lnTo>
                    <a:pt x="743658" y="131947"/>
                  </a:lnTo>
                  <a:lnTo>
                    <a:pt x="811466" y="140464"/>
                  </a:lnTo>
                  <a:lnTo>
                    <a:pt x="880969" y="148937"/>
                  </a:lnTo>
                  <a:lnTo>
                    <a:pt x="952002" y="157339"/>
                  </a:lnTo>
                  <a:lnTo>
                    <a:pt x="1024402" y="165646"/>
                  </a:lnTo>
                  <a:lnTo>
                    <a:pt x="1098003" y="173832"/>
                  </a:lnTo>
                  <a:lnTo>
                    <a:pt x="1172642" y="181871"/>
                  </a:lnTo>
                  <a:lnTo>
                    <a:pt x="1248156" y="189737"/>
                  </a:lnTo>
                </a:path>
              </a:pathLst>
            </a:custGeom>
            <a:ln w="26898">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7411973" y="1677162"/>
              <a:ext cx="312420" cy="0"/>
            </a:xfrm>
            <a:custGeom>
              <a:avLst/>
              <a:gdLst/>
              <a:ahLst/>
              <a:cxnLst/>
              <a:rect l="l" t="t" r="r" b="b"/>
              <a:pathLst>
                <a:path w="312420">
                  <a:moveTo>
                    <a:pt x="0" y="0"/>
                  </a:moveTo>
                  <a:lnTo>
                    <a:pt x="312420" y="0"/>
                  </a:lnTo>
                </a:path>
              </a:pathLst>
            </a:custGeom>
            <a:ln w="26898">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object 23"/>
            <p:cNvPicPr/>
            <p:nvPr/>
          </p:nvPicPr>
          <p:blipFill>
            <a:blip r:embed="rId4" cstate="print"/>
            <a:stretch>
              <a:fillRect/>
            </a:stretch>
          </p:blipFill>
          <p:spPr>
            <a:xfrm>
              <a:off x="7529588" y="1638566"/>
              <a:ext cx="77190" cy="76428"/>
            </a:xfrm>
            <a:prstGeom prst="rect">
              <a:avLst/>
            </a:prstGeom>
          </p:spPr>
        </p:pic>
        <p:pic>
          <p:nvPicPr>
            <p:cNvPr id="24" name="object 24"/>
            <p:cNvPicPr/>
            <p:nvPr/>
          </p:nvPicPr>
          <p:blipFill>
            <a:blip r:embed="rId5" cstate="print"/>
            <a:stretch>
              <a:fillRect/>
            </a:stretch>
          </p:blipFill>
          <p:spPr>
            <a:xfrm>
              <a:off x="7861058" y="1148600"/>
              <a:ext cx="77190" cy="77190"/>
            </a:xfrm>
            <a:prstGeom prst="rect">
              <a:avLst/>
            </a:prstGeom>
          </p:spPr>
        </p:pic>
        <p:pic>
          <p:nvPicPr>
            <p:cNvPr id="25" name="object 25"/>
            <p:cNvPicPr/>
            <p:nvPr/>
          </p:nvPicPr>
          <p:blipFill>
            <a:blip r:embed="rId4" cstate="print"/>
            <a:stretch>
              <a:fillRect/>
            </a:stretch>
          </p:blipFill>
          <p:spPr>
            <a:xfrm>
              <a:off x="8153666" y="1259090"/>
              <a:ext cx="77190" cy="76428"/>
            </a:xfrm>
            <a:prstGeom prst="rect">
              <a:avLst/>
            </a:prstGeom>
          </p:spPr>
        </p:pic>
        <p:pic>
          <p:nvPicPr>
            <p:cNvPr id="26" name="object 26"/>
            <p:cNvPicPr/>
            <p:nvPr/>
          </p:nvPicPr>
          <p:blipFill>
            <a:blip r:embed="rId6" cstate="print"/>
            <a:stretch>
              <a:fillRect/>
            </a:stretch>
          </p:blipFill>
          <p:spPr>
            <a:xfrm>
              <a:off x="8465324" y="1410728"/>
              <a:ext cx="77190" cy="77190"/>
            </a:xfrm>
            <a:prstGeom prst="rect">
              <a:avLst/>
            </a:prstGeom>
          </p:spPr>
        </p:pic>
        <p:pic>
          <p:nvPicPr>
            <p:cNvPr id="27" name="object 27"/>
            <p:cNvPicPr/>
            <p:nvPr/>
          </p:nvPicPr>
          <p:blipFill>
            <a:blip r:embed="rId7" cstate="print"/>
            <a:stretch>
              <a:fillRect/>
            </a:stretch>
          </p:blipFill>
          <p:spPr>
            <a:xfrm>
              <a:off x="8777744" y="1473974"/>
              <a:ext cx="76428" cy="76428"/>
            </a:xfrm>
            <a:prstGeom prst="rect">
              <a:avLst/>
            </a:prstGeom>
          </p:spPr>
        </p:pic>
        <p:pic>
          <p:nvPicPr>
            <p:cNvPr id="28" name="object 28"/>
            <p:cNvPicPr/>
            <p:nvPr/>
          </p:nvPicPr>
          <p:blipFill>
            <a:blip r:embed="rId8" cstate="print"/>
            <a:stretch>
              <a:fillRect/>
            </a:stretch>
          </p:blipFill>
          <p:spPr>
            <a:xfrm>
              <a:off x="9116072" y="1525028"/>
              <a:ext cx="77190" cy="76428"/>
            </a:xfrm>
            <a:prstGeom prst="rect">
              <a:avLst/>
            </a:prstGeom>
          </p:spPr>
        </p:pic>
        <p:pic>
          <p:nvPicPr>
            <p:cNvPr id="29" name="object 29"/>
            <p:cNvPicPr/>
            <p:nvPr/>
          </p:nvPicPr>
          <p:blipFill>
            <a:blip r:embed="rId5" cstate="print"/>
            <a:stretch>
              <a:fillRect/>
            </a:stretch>
          </p:blipFill>
          <p:spPr>
            <a:xfrm>
              <a:off x="9401060" y="1562366"/>
              <a:ext cx="77190" cy="77190"/>
            </a:xfrm>
            <a:prstGeom prst="rect">
              <a:avLst/>
            </a:prstGeom>
          </p:spPr>
        </p:pic>
      </p:grpSp>
      <p:sp>
        <p:nvSpPr>
          <p:cNvPr id="30" name="object 30"/>
          <p:cNvSpPr/>
          <p:nvPr/>
        </p:nvSpPr>
        <p:spPr>
          <a:xfrm>
            <a:off x="6241541" y="1194053"/>
            <a:ext cx="659130" cy="466090"/>
          </a:xfrm>
          <a:custGeom>
            <a:avLst/>
            <a:gdLst/>
            <a:ahLst/>
            <a:cxnLst/>
            <a:rect l="l" t="t" r="r" b="b"/>
            <a:pathLst>
              <a:path w="659129" h="466089">
                <a:moveTo>
                  <a:pt x="0" y="465581"/>
                </a:moveTo>
                <a:lnTo>
                  <a:pt x="154686" y="465581"/>
                </a:lnTo>
                <a:lnTo>
                  <a:pt x="154685" y="0"/>
                </a:lnTo>
                <a:lnTo>
                  <a:pt x="310134" y="0"/>
                </a:lnTo>
                <a:lnTo>
                  <a:pt x="310134" y="465581"/>
                </a:lnTo>
                <a:lnTo>
                  <a:pt x="659130" y="465581"/>
                </a:lnTo>
              </a:path>
            </a:pathLst>
          </a:custGeom>
          <a:ln w="26898">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txBox="1"/>
          <p:nvPr/>
        </p:nvSpPr>
        <p:spPr>
          <a:xfrm>
            <a:off x="1533905" y="1418335"/>
            <a:ext cx="4881880" cy="391160"/>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1200" cap="none" spc="0" normalizeH="0" baseline="0" noProof="0" dirty="0">
                <a:ln>
                  <a:noFill/>
                </a:ln>
                <a:solidFill>
                  <a:srgbClr val="FF0000"/>
                </a:solidFill>
                <a:effectLst/>
                <a:uLnTx/>
                <a:uFillTx/>
                <a:latin typeface="Verdana"/>
                <a:ea typeface="+mn-ea"/>
                <a:cs typeface="Verdana"/>
              </a:rPr>
              <a:t>Without</a:t>
            </a:r>
            <a:r>
              <a:rPr kumimoji="0" sz="2400" b="0" i="0" u="none" strike="noStrike" kern="1200" cap="none" spc="25" normalizeH="0" baseline="0" noProof="0" dirty="0">
                <a:ln>
                  <a:noFill/>
                </a:ln>
                <a:solidFill>
                  <a:srgbClr val="FF0000"/>
                </a:solidFill>
                <a:effectLst/>
                <a:uLnTx/>
                <a:uFillTx/>
                <a:latin typeface="Verdana"/>
                <a:ea typeface="+mn-ea"/>
                <a:cs typeface="Verdana"/>
              </a:rPr>
              <a:t> </a:t>
            </a:r>
            <a:r>
              <a:rPr kumimoji="0" sz="2400" b="0" i="0" u="none" strike="noStrike" kern="1200" cap="none" spc="-5" normalizeH="0" baseline="0" noProof="0" dirty="0">
                <a:ln>
                  <a:noFill/>
                </a:ln>
                <a:solidFill>
                  <a:srgbClr val="FF0000"/>
                </a:solidFill>
                <a:effectLst/>
                <a:uLnTx/>
                <a:uFillTx/>
                <a:latin typeface="Verdana"/>
                <a:ea typeface="+mn-ea"/>
                <a:cs typeface="Verdana"/>
              </a:rPr>
              <a:t>equalization</a:t>
            </a:r>
            <a:r>
              <a:rPr kumimoji="0" sz="2400" b="0" i="0" u="none" strike="noStrike" kern="1200" cap="none" spc="15" normalizeH="0" baseline="0" noProof="0" dirty="0">
                <a:ln>
                  <a:noFill/>
                </a:ln>
                <a:solidFill>
                  <a:srgbClr val="FF0000"/>
                </a:solidFill>
                <a:effectLst/>
                <a:uLnTx/>
                <a:uFillTx/>
                <a:latin typeface="Verdana"/>
                <a:ea typeface="+mn-ea"/>
                <a:cs typeface="Verdana"/>
              </a:rPr>
              <a:t> </a:t>
            </a:r>
            <a:r>
              <a:rPr kumimoji="0" sz="3000" b="0" i="0" u="none" strike="noStrike" kern="1200" cap="none" spc="-7" normalizeH="0" baseline="47222" noProof="0" dirty="0">
                <a:ln>
                  <a:noFill/>
                </a:ln>
                <a:solidFill>
                  <a:prstClr val="black"/>
                </a:solidFill>
                <a:effectLst/>
                <a:uLnTx/>
                <a:uFillTx/>
                <a:latin typeface="Verdana"/>
                <a:ea typeface="+mn-ea"/>
                <a:cs typeface="Verdana"/>
              </a:rPr>
              <a:t>…0010000…</a:t>
            </a:r>
            <a:endParaRPr kumimoji="0" sz="3000" b="0" i="0" u="none" strike="noStrike" kern="1200" cap="none" spc="0" normalizeH="0" baseline="47222" noProof="0">
              <a:ln>
                <a:noFill/>
              </a:ln>
              <a:solidFill>
                <a:prstClr val="black"/>
              </a:solidFill>
              <a:effectLst/>
              <a:uLnTx/>
              <a:uFillTx/>
              <a:latin typeface="Verdana"/>
              <a:ea typeface="+mn-ea"/>
              <a:cs typeface="Verdana"/>
            </a:endParaRPr>
          </a:p>
        </p:txBody>
      </p:sp>
      <p:grpSp>
        <p:nvGrpSpPr>
          <p:cNvPr id="32" name="object 32"/>
          <p:cNvGrpSpPr/>
          <p:nvPr/>
        </p:nvGrpSpPr>
        <p:grpSpPr>
          <a:xfrm>
            <a:off x="5691949" y="3549967"/>
            <a:ext cx="2861945" cy="496570"/>
            <a:chOff x="5691949" y="3549967"/>
            <a:chExt cx="2861945" cy="496570"/>
          </a:xfrm>
        </p:grpSpPr>
        <p:sp>
          <p:nvSpPr>
            <p:cNvPr id="33" name="object 33"/>
            <p:cNvSpPr/>
            <p:nvPr/>
          </p:nvSpPr>
          <p:spPr>
            <a:xfrm>
              <a:off x="5708141" y="3566159"/>
              <a:ext cx="463550" cy="464184"/>
            </a:xfrm>
            <a:custGeom>
              <a:avLst/>
              <a:gdLst/>
              <a:ahLst/>
              <a:cxnLst/>
              <a:rect l="l" t="t" r="r" b="b"/>
              <a:pathLst>
                <a:path w="463550" h="464185">
                  <a:moveTo>
                    <a:pt x="0" y="0"/>
                  </a:moveTo>
                  <a:lnTo>
                    <a:pt x="463295" y="232409"/>
                  </a:lnTo>
                  <a:lnTo>
                    <a:pt x="0" y="464058"/>
                  </a:lnTo>
                  <a:lnTo>
                    <a:pt x="0" y="0"/>
                  </a:lnTo>
                  <a:close/>
                </a:path>
              </a:pathLst>
            </a:custGeom>
            <a:ln w="7581">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5708141" y="3566159"/>
              <a:ext cx="463550" cy="464184"/>
            </a:xfrm>
            <a:custGeom>
              <a:avLst/>
              <a:gdLst/>
              <a:ahLst/>
              <a:cxnLst/>
              <a:rect l="l" t="t" r="r" b="b"/>
              <a:pathLst>
                <a:path w="463550" h="464185">
                  <a:moveTo>
                    <a:pt x="0" y="0"/>
                  </a:moveTo>
                  <a:lnTo>
                    <a:pt x="463295" y="232409"/>
                  </a:lnTo>
                  <a:lnTo>
                    <a:pt x="0" y="464058"/>
                  </a:lnTo>
                  <a:lnTo>
                    <a:pt x="0" y="0"/>
                  </a:lnTo>
                  <a:close/>
                </a:path>
              </a:pathLst>
            </a:custGeom>
            <a:ln w="32194">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6806945" y="3656075"/>
              <a:ext cx="70485" cy="247650"/>
            </a:xfrm>
            <a:custGeom>
              <a:avLst/>
              <a:gdLst/>
              <a:ahLst/>
              <a:cxnLst/>
              <a:rect l="l" t="t" r="r" b="b"/>
              <a:pathLst>
                <a:path w="70484" h="247650">
                  <a:moveTo>
                    <a:pt x="70103" y="123443"/>
                  </a:moveTo>
                  <a:lnTo>
                    <a:pt x="67306" y="75545"/>
                  </a:lnTo>
                  <a:lnTo>
                    <a:pt x="59721" y="36290"/>
                  </a:lnTo>
                  <a:lnTo>
                    <a:pt x="48565" y="9751"/>
                  </a:lnTo>
                  <a:lnTo>
                    <a:pt x="35051" y="0"/>
                  </a:lnTo>
                  <a:lnTo>
                    <a:pt x="21216" y="9751"/>
                  </a:lnTo>
                  <a:lnTo>
                    <a:pt x="10096" y="36290"/>
                  </a:lnTo>
                  <a:lnTo>
                    <a:pt x="2690" y="75545"/>
                  </a:lnTo>
                  <a:lnTo>
                    <a:pt x="0" y="123443"/>
                  </a:lnTo>
                  <a:lnTo>
                    <a:pt x="2690" y="171783"/>
                  </a:lnTo>
                  <a:lnTo>
                    <a:pt x="10096" y="211264"/>
                  </a:lnTo>
                  <a:lnTo>
                    <a:pt x="21216" y="237886"/>
                  </a:lnTo>
                  <a:lnTo>
                    <a:pt x="35051" y="247649"/>
                  </a:lnTo>
                  <a:lnTo>
                    <a:pt x="48565" y="237886"/>
                  </a:lnTo>
                  <a:lnTo>
                    <a:pt x="59721" y="211264"/>
                  </a:lnTo>
                  <a:lnTo>
                    <a:pt x="67306" y="171783"/>
                  </a:lnTo>
                  <a:lnTo>
                    <a:pt x="70103" y="123443"/>
                  </a:lnTo>
                  <a:close/>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6854951" y="3656075"/>
              <a:ext cx="1647189" cy="0"/>
            </a:xfrm>
            <a:custGeom>
              <a:avLst/>
              <a:gdLst/>
              <a:ahLst/>
              <a:cxnLst/>
              <a:rect l="l" t="t" r="r" b="b"/>
              <a:pathLst>
                <a:path w="1647190">
                  <a:moveTo>
                    <a:pt x="0" y="0"/>
                  </a:moveTo>
                  <a:lnTo>
                    <a:pt x="1646682"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6841997" y="3903725"/>
              <a:ext cx="1659889" cy="0"/>
            </a:xfrm>
            <a:custGeom>
              <a:avLst/>
              <a:gdLst/>
              <a:ahLst/>
              <a:cxnLst/>
              <a:rect l="l" t="t" r="r" b="b"/>
              <a:pathLst>
                <a:path w="1659890">
                  <a:moveTo>
                    <a:pt x="1659635" y="0"/>
                  </a:moveTo>
                  <a:lnTo>
                    <a:pt x="0"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object 38"/>
            <p:cNvSpPr/>
            <p:nvPr/>
          </p:nvSpPr>
          <p:spPr>
            <a:xfrm>
              <a:off x="8501633" y="3656075"/>
              <a:ext cx="36195" cy="247650"/>
            </a:xfrm>
            <a:custGeom>
              <a:avLst/>
              <a:gdLst/>
              <a:ahLst/>
              <a:cxnLst/>
              <a:rect l="l" t="t" r="r" b="b"/>
              <a:pathLst>
                <a:path w="36195" h="247650">
                  <a:moveTo>
                    <a:pt x="0" y="0"/>
                  </a:moveTo>
                  <a:lnTo>
                    <a:pt x="13954" y="9370"/>
                  </a:lnTo>
                  <a:lnTo>
                    <a:pt x="25336" y="34956"/>
                  </a:lnTo>
                  <a:lnTo>
                    <a:pt x="33004" y="72973"/>
                  </a:lnTo>
                  <a:lnTo>
                    <a:pt x="35814" y="119633"/>
                  </a:lnTo>
                  <a:lnTo>
                    <a:pt x="33147" y="169533"/>
                  </a:lnTo>
                  <a:lnTo>
                    <a:pt x="25908" y="210216"/>
                  </a:lnTo>
                  <a:lnTo>
                    <a:pt x="15240" y="237613"/>
                  </a:lnTo>
                  <a:lnTo>
                    <a:pt x="2286" y="247649"/>
                  </a:lnTo>
                  <a:lnTo>
                    <a:pt x="1524" y="247649"/>
                  </a:lnTo>
                  <a:lnTo>
                    <a:pt x="762" y="247649"/>
                  </a:lnTo>
                  <a:lnTo>
                    <a:pt x="0" y="247649"/>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bject 39"/>
            <p:cNvSpPr/>
            <p:nvPr/>
          </p:nvSpPr>
          <p:spPr>
            <a:xfrm>
              <a:off x="6435851" y="3671315"/>
              <a:ext cx="247015" cy="247650"/>
            </a:xfrm>
            <a:custGeom>
              <a:avLst/>
              <a:gdLst/>
              <a:ahLst/>
              <a:cxnLst/>
              <a:rect l="l" t="t" r="r" b="b"/>
              <a:pathLst>
                <a:path w="247015" h="247650">
                  <a:moveTo>
                    <a:pt x="246887" y="124206"/>
                  </a:moveTo>
                  <a:lnTo>
                    <a:pt x="237243" y="75866"/>
                  </a:lnTo>
                  <a:lnTo>
                    <a:pt x="210883" y="36385"/>
                  </a:lnTo>
                  <a:lnTo>
                    <a:pt x="171664" y="9763"/>
                  </a:lnTo>
                  <a:lnTo>
                    <a:pt x="123443" y="0"/>
                  </a:lnTo>
                  <a:lnTo>
                    <a:pt x="75545" y="9763"/>
                  </a:lnTo>
                  <a:lnTo>
                    <a:pt x="36290" y="36385"/>
                  </a:lnTo>
                  <a:lnTo>
                    <a:pt x="9751" y="75866"/>
                  </a:lnTo>
                  <a:lnTo>
                    <a:pt x="0" y="124206"/>
                  </a:lnTo>
                  <a:lnTo>
                    <a:pt x="9751" y="172104"/>
                  </a:lnTo>
                  <a:lnTo>
                    <a:pt x="36290" y="211359"/>
                  </a:lnTo>
                  <a:lnTo>
                    <a:pt x="75545" y="237898"/>
                  </a:lnTo>
                  <a:lnTo>
                    <a:pt x="123443" y="247650"/>
                  </a:lnTo>
                  <a:lnTo>
                    <a:pt x="171664" y="237898"/>
                  </a:lnTo>
                  <a:lnTo>
                    <a:pt x="210883" y="211359"/>
                  </a:lnTo>
                  <a:lnTo>
                    <a:pt x="237243" y="172104"/>
                  </a:lnTo>
                  <a:lnTo>
                    <a:pt x="246887" y="124206"/>
                  </a:lnTo>
                  <a:close/>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 name="object 40"/>
          <p:cNvSpPr txBox="1"/>
          <p:nvPr/>
        </p:nvSpPr>
        <p:spPr>
          <a:xfrm>
            <a:off x="4264401" y="2826510"/>
            <a:ext cx="2039620"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1798320" algn="l"/>
                <a:tab pos="2026285"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…0010000…	</a:t>
            </a:r>
            <a:r>
              <a:rPr kumimoji="0" sz="2000" b="0" i="0" u="heavy" strike="noStrike" kern="1200" cap="none" spc="-10" normalizeH="0" baseline="0" noProof="0" dirty="0">
                <a:ln>
                  <a:noFill/>
                </a:ln>
                <a:solidFill>
                  <a:prstClr val="black"/>
                </a:solidFill>
                <a:effectLst/>
                <a:uLnTx/>
                <a:uFill>
                  <a:solidFill>
                    <a:srgbClr val="FF0000"/>
                  </a:solidFill>
                </a:uFill>
                <a:latin typeface="Verdana"/>
                <a:ea typeface="+mn-ea"/>
                <a:cs typeface="Verdana"/>
              </a:rPr>
              <a:t> </a:t>
            </a:r>
            <a:r>
              <a:rPr kumimoji="0" sz="2000" b="0" i="0" u="heavy" strike="noStrike" kern="1200" cap="none" spc="-5" normalizeH="0" baseline="0" noProof="0" dirty="0">
                <a:ln>
                  <a:noFill/>
                </a:ln>
                <a:solidFill>
                  <a:prstClr val="black"/>
                </a:solidFill>
                <a:effectLst/>
                <a:uLnTx/>
                <a:uFill>
                  <a:solidFill>
                    <a:srgbClr val="FF0000"/>
                  </a:solidFill>
                </a:uFill>
                <a:latin typeface="Verdana"/>
                <a:ea typeface="+mn-ea"/>
                <a:cs typeface="Verdana"/>
              </a:rPr>
              <a:t>	</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41" name="object 41"/>
          <p:cNvSpPr txBox="1"/>
          <p:nvPr/>
        </p:nvSpPr>
        <p:spPr>
          <a:xfrm>
            <a:off x="6483350" y="3624870"/>
            <a:ext cx="167005" cy="31750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900" b="1" i="0" u="none" strike="noStrike" kern="1200" cap="none" spc="5" normalizeH="0" baseline="0" noProof="0" dirty="0">
                <a:ln>
                  <a:noFill/>
                </a:ln>
                <a:solidFill>
                  <a:prstClr val="black"/>
                </a:solidFill>
                <a:effectLst/>
                <a:uLnTx/>
                <a:uFillTx/>
                <a:latin typeface="Arial"/>
                <a:ea typeface="+mn-ea"/>
                <a:cs typeface="Arial"/>
              </a:rPr>
              <a:t>+</a:t>
            </a:r>
            <a:endParaRPr kumimoji="0" sz="1900" b="0" i="0" u="none" strike="noStrike" kern="1200" cap="none" spc="0" normalizeH="0" baseline="0" noProof="0">
              <a:ln>
                <a:noFill/>
              </a:ln>
              <a:solidFill>
                <a:prstClr val="black"/>
              </a:solidFill>
              <a:effectLst/>
              <a:uLnTx/>
              <a:uFillTx/>
              <a:latin typeface="Arial"/>
              <a:ea typeface="+mn-ea"/>
              <a:cs typeface="Arial"/>
            </a:endParaRPr>
          </a:p>
        </p:txBody>
      </p:sp>
      <p:grpSp>
        <p:nvGrpSpPr>
          <p:cNvPr id="42" name="object 42"/>
          <p:cNvGrpSpPr/>
          <p:nvPr/>
        </p:nvGrpSpPr>
        <p:grpSpPr>
          <a:xfrm>
            <a:off x="5150929" y="3531679"/>
            <a:ext cx="4112895" cy="496570"/>
            <a:chOff x="5150929" y="3531679"/>
            <a:chExt cx="4112895" cy="496570"/>
          </a:xfrm>
        </p:grpSpPr>
        <p:sp>
          <p:nvSpPr>
            <p:cNvPr id="43" name="object 43"/>
            <p:cNvSpPr/>
            <p:nvPr/>
          </p:nvSpPr>
          <p:spPr>
            <a:xfrm>
              <a:off x="5167121" y="3659123"/>
              <a:ext cx="309880" cy="309880"/>
            </a:xfrm>
            <a:custGeom>
              <a:avLst/>
              <a:gdLst/>
              <a:ahLst/>
              <a:cxnLst/>
              <a:rect l="l" t="t" r="r" b="b"/>
              <a:pathLst>
                <a:path w="309879" h="309879">
                  <a:moveTo>
                    <a:pt x="0" y="0"/>
                  </a:moveTo>
                  <a:lnTo>
                    <a:pt x="0" y="309372"/>
                  </a:lnTo>
                  <a:lnTo>
                    <a:pt x="309372" y="309372"/>
                  </a:lnTo>
                  <a:lnTo>
                    <a:pt x="309372" y="0"/>
                  </a:lnTo>
                  <a:lnTo>
                    <a:pt x="0" y="0"/>
                  </a:lnTo>
                  <a:close/>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8644889" y="3547871"/>
              <a:ext cx="464184" cy="464184"/>
            </a:xfrm>
            <a:custGeom>
              <a:avLst/>
              <a:gdLst/>
              <a:ahLst/>
              <a:cxnLst/>
              <a:rect l="l" t="t" r="r" b="b"/>
              <a:pathLst>
                <a:path w="464184" h="464185">
                  <a:moveTo>
                    <a:pt x="0" y="0"/>
                  </a:moveTo>
                  <a:lnTo>
                    <a:pt x="464058" y="232409"/>
                  </a:lnTo>
                  <a:lnTo>
                    <a:pt x="0" y="464058"/>
                  </a:lnTo>
                  <a:lnTo>
                    <a:pt x="0" y="0"/>
                  </a:lnTo>
                  <a:close/>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9108947" y="3780281"/>
              <a:ext cx="139065" cy="0"/>
            </a:xfrm>
            <a:custGeom>
              <a:avLst/>
              <a:gdLst/>
              <a:ahLst/>
              <a:cxnLst/>
              <a:rect l="l" t="t" r="r" b="b"/>
              <a:pathLst>
                <a:path w="139065">
                  <a:moveTo>
                    <a:pt x="0" y="0"/>
                  </a:moveTo>
                  <a:lnTo>
                    <a:pt x="138684"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8567927" y="3775709"/>
              <a:ext cx="77470" cy="5080"/>
            </a:xfrm>
            <a:custGeom>
              <a:avLst/>
              <a:gdLst/>
              <a:ahLst/>
              <a:cxnLst/>
              <a:rect l="l" t="t" r="r" b="b"/>
              <a:pathLst>
                <a:path w="77470" h="5079">
                  <a:moveTo>
                    <a:pt x="-16097" y="2286"/>
                  </a:moveTo>
                  <a:lnTo>
                    <a:pt x="93059" y="2286"/>
                  </a:lnTo>
                </a:path>
              </a:pathLst>
            </a:custGeom>
            <a:ln w="3676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6682739" y="3789425"/>
              <a:ext cx="124460" cy="1270"/>
            </a:xfrm>
            <a:custGeom>
              <a:avLst/>
              <a:gdLst/>
              <a:ahLst/>
              <a:cxnLst/>
              <a:rect l="l" t="t" r="r" b="b"/>
              <a:pathLst>
                <a:path w="124459" h="1270">
                  <a:moveTo>
                    <a:pt x="-16097" y="380"/>
                  </a:moveTo>
                  <a:lnTo>
                    <a:pt x="140303" y="380"/>
                  </a:lnTo>
                </a:path>
              </a:pathLst>
            </a:custGeom>
            <a:ln w="32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8" name="object 48"/>
          <p:cNvSpPr txBox="1"/>
          <p:nvPr/>
        </p:nvSpPr>
        <p:spPr>
          <a:xfrm>
            <a:off x="5207761" y="3668218"/>
            <a:ext cx="173355" cy="27178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600" b="1" i="0" u="none" strike="noStrike" kern="1200" cap="none" spc="5" normalizeH="0" baseline="0" noProof="0" dirty="0">
                <a:ln>
                  <a:noFill/>
                </a:ln>
                <a:solidFill>
                  <a:prstClr val="black"/>
                </a:solidFill>
                <a:effectLst/>
                <a:uLnTx/>
                <a:uFillTx/>
                <a:latin typeface="Arial"/>
                <a:ea typeface="+mn-ea"/>
                <a:cs typeface="Arial"/>
              </a:rPr>
              <a:t>D</a:t>
            </a:r>
            <a:endParaRPr kumimoji="0" sz="1600" b="0" i="0" u="none" strike="noStrike" kern="1200" cap="none" spc="0" normalizeH="0" baseline="0" noProof="0">
              <a:ln>
                <a:noFill/>
              </a:ln>
              <a:solidFill>
                <a:prstClr val="black"/>
              </a:solidFill>
              <a:effectLst/>
              <a:uLnTx/>
              <a:uFillTx/>
              <a:latin typeface="Arial"/>
              <a:ea typeface="+mn-ea"/>
              <a:cs typeface="Arial"/>
            </a:endParaRPr>
          </a:p>
        </p:txBody>
      </p:sp>
      <p:grpSp>
        <p:nvGrpSpPr>
          <p:cNvPr id="49" name="object 49"/>
          <p:cNvGrpSpPr/>
          <p:nvPr/>
        </p:nvGrpSpPr>
        <p:grpSpPr>
          <a:xfrm>
            <a:off x="5159311" y="3308413"/>
            <a:ext cx="549275" cy="1277620"/>
            <a:chOff x="5159311" y="3308413"/>
            <a:chExt cx="549275" cy="1277620"/>
          </a:xfrm>
        </p:grpSpPr>
        <p:sp>
          <p:nvSpPr>
            <p:cNvPr id="50" name="object 50"/>
            <p:cNvSpPr/>
            <p:nvPr/>
          </p:nvSpPr>
          <p:spPr>
            <a:xfrm>
              <a:off x="5476493" y="3798570"/>
              <a:ext cx="75565" cy="0"/>
            </a:xfrm>
            <a:custGeom>
              <a:avLst/>
              <a:gdLst/>
              <a:ahLst/>
              <a:cxnLst/>
              <a:rect l="l" t="t" r="r" b="b"/>
              <a:pathLst>
                <a:path w="75564">
                  <a:moveTo>
                    <a:pt x="75437" y="0"/>
                  </a:moveTo>
                  <a:lnTo>
                    <a:pt x="0"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bject 51"/>
            <p:cNvSpPr/>
            <p:nvPr/>
          </p:nvSpPr>
          <p:spPr>
            <a:xfrm>
              <a:off x="5265420" y="3488435"/>
              <a:ext cx="443230" cy="367030"/>
            </a:xfrm>
            <a:custGeom>
              <a:avLst/>
              <a:gdLst/>
              <a:ahLst/>
              <a:cxnLst/>
              <a:rect l="l" t="t" r="r" b="b"/>
              <a:pathLst>
                <a:path w="443229" h="367029">
                  <a:moveTo>
                    <a:pt x="113538" y="0"/>
                  </a:moveTo>
                  <a:lnTo>
                    <a:pt x="0" y="0"/>
                  </a:lnTo>
                  <a:lnTo>
                    <a:pt x="56388" y="170688"/>
                  </a:lnTo>
                  <a:lnTo>
                    <a:pt x="113538" y="0"/>
                  </a:lnTo>
                  <a:close/>
                </a:path>
                <a:path w="443229" h="367029">
                  <a:moveTo>
                    <a:pt x="442722" y="310146"/>
                  </a:moveTo>
                  <a:lnTo>
                    <a:pt x="272034" y="252996"/>
                  </a:lnTo>
                  <a:lnTo>
                    <a:pt x="272034" y="366534"/>
                  </a:lnTo>
                  <a:lnTo>
                    <a:pt x="442722" y="31014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bject 52"/>
            <p:cNvSpPr/>
            <p:nvPr/>
          </p:nvSpPr>
          <p:spPr>
            <a:xfrm>
              <a:off x="5321807" y="3324606"/>
              <a:ext cx="0" cy="168910"/>
            </a:xfrm>
            <a:custGeom>
              <a:avLst/>
              <a:gdLst/>
              <a:ahLst/>
              <a:cxnLst/>
              <a:rect l="l" t="t" r="r" b="b"/>
              <a:pathLst>
                <a:path h="168910">
                  <a:moveTo>
                    <a:pt x="0" y="0"/>
                  </a:moveTo>
                  <a:lnTo>
                    <a:pt x="0" y="168402"/>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bject 53"/>
            <p:cNvSpPr/>
            <p:nvPr/>
          </p:nvSpPr>
          <p:spPr>
            <a:xfrm>
              <a:off x="5175503" y="4260342"/>
              <a:ext cx="309880" cy="309880"/>
            </a:xfrm>
            <a:custGeom>
              <a:avLst/>
              <a:gdLst/>
              <a:ahLst/>
              <a:cxnLst/>
              <a:rect l="l" t="t" r="r" b="b"/>
              <a:pathLst>
                <a:path w="309879" h="309879">
                  <a:moveTo>
                    <a:pt x="0" y="0"/>
                  </a:moveTo>
                  <a:lnTo>
                    <a:pt x="0" y="309372"/>
                  </a:lnTo>
                  <a:lnTo>
                    <a:pt x="309372" y="309372"/>
                  </a:lnTo>
                  <a:lnTo>
                    <a:pt x="309372" y="0"/>
                  </a:lnTo>
                  <a:lnTo>
                    <a:pt x="0" y="0"/>
                  </a:lnTo>
                  <a:close/>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4" name="object 54"/>
          <p:cNvSpPr txBox="1"/>
          <p:nvPr/>
        </p:nvSpPr>
        <p:spPr>
          <a:xfrm>
            <a:off x="5207761" y="4270960"/>
            <a:ext cx="173355" cy="27178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600" b="1" i="0" u="none" strike="noStrike" kern="1200" cap="none" spc="5" normalizeH="0" baseline="0" noProof="0" dirty="0">
                <a:ln>
                  <a:noFill/>
                </a:ln>
                <a:solidFill>
                  <a:prstClr val="black"/>
                </a:solidFill>
                <a:effectLst/>
                <a:uLnTx/>
                <a:uFillTx/>
                <a:latin typeface="Arial"/>
                <a:ea typeface="+mn-ea"/>
                <a:cs typeface="Arial"/>
              </a:rPr>
              <a:t>D</a:t>
            </a:r>
            <a:endParaRPr kumimoji="0" sz="1600" b="0" i="0" u="none" strike="noStrike" kern="1200" cap="none" spc="0" normalizeH="0" baseline="0" noProof="0">
              <a:ln>
                <a:noFill/>
              </a:ln>
              <a:solidFill>
                <a:prstClr val="black"/>
              </a:solidFill>
              <a:effectLst/>
              <a:uLnTx/>
              <a:uFillTx/>
              <a:latin typeface="Arial"/>
              <a:ea typeface="+mn-ea"/>
              <a:cs typeface="Arial"/>
            </a:endParaRPr>
          </a:p>
        </p:txBody>
      </p:sp>
      <p:grpSp>
        <p:nvGrpSpPr>
          <p:cNvPr id="55" name="object 55"/>
          <p:cNvGrpSpPr/>
          <p:nvPr/>
        </p:nvGrpSpPr>
        <p:grpSpPr>
          <a:xfrm>
            <a:off x="5269229" y="3741420"/>
            <a:ext cx="1359535" cy="922019"/>
            <a:chOff x="5269229" y="3741420"/>
            <a:chExt cx="1359535" cy="922019"/>
          </a:xfrm>
        </p:grpSpPr>
        <p:sp>
          <p:nvSpPr>
            <p:cNvPr id="56" name="object 56"/>
            <p:cNvSpPr/>
            <p:nvPr/>
          </p:nvSpPr>
          <p:spPr>
            <a:xfrm>
              <a:off x="5325617" y="3968496"/>
              <a:ext cx="0" cy="135890"/>
            </a:xfrm>
            <a:custGeom>
              <a:avLst/>
              <a:gdLst/>
              <a:ahLst/>
              <a:cxnLst/>
              <a:rect l="l" t="t" r="r" b="b"/>
              <a:pathLst>
                <a:path h="135889">
                  <a:moveTo>
                    <a:pt x="0" y="0"/>
                  </a:moveTo>
                  <a:lnTo>
                    <a:pt x="0" y="135636"/>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5269229" y="4089654"/>
              <a:ext cx="113664" cy="170815"/>
            </a:xfrm>
            <a:custGeom>
              <a:avLst/>
              <a:gdLst/>
              <a:ahLst/>
              <a:cxnLst/>
              <a:rect l="l" t="t" r="r" b="b"/>
              <a:pathLst>
                <a:path w="113664" h="170814">
                  <a:moveTo>
                    <a:pt x="113537" y="0"/>
                  </a:moveTo>
                  <a:lnTo>
                    <a:pt x="0" y="0"/>
                  </a:lnTo>
                  <a:lnTo>
                    <a:pt x="56387" y="170688"/>
                  </a:lnTo>
                  <a:lnTo>
                    <a:pt x="113537"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5484875" y="4415028"/>
              <a:ext cx="64769" cy="0"/>
            </a:xfrm>
            <a:custGeom>
              <a:avLst/>
              <a:gdLst/>
              <a:ahLst/>
              <a:cxnLst/>
              <a:rect l="l" t="t" r="r" b="b"/>
              <a:pathLst>
                <a:path w="64770">
                  <a:moveTo>
                    <a:pt x="0" y="0"/>
                  </a:moveTo>
                  <a:lnTo>
                    <a:pt x="64769"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5705855" y="4182618"/>
              <a:ext cx="463550" cy="464184"/>
            </a:xfrm>
            <a:custGeom>
              <a:avLst/>
              <a:gdLst/>
              <a:ahLst/>
              <a:cxnLst/>
              <a:rect l="l" t="t" r="r" b="b"/>
              <a:pathLst>
                <a:path w="463550" h="464185">
                  <a:moveTo>
                    <a:pt x="0" y="0"/>
                  </a:moveTo>
                  <a:lnTo>
                    <a:pt x="463295" y="232409"/>
                  </a:lnTo>
                  <a:lnTo>
                    <a:pt x="0" y="464058"/>
                  </a:lnTo>
                  <a:lnTo>
                    <a:pt x="0" y="0"/>
                  </a:lnTo>
                  <a:close/>
                </a:path>
              </a:pathLst>
            </a:custGeom>
            <a:ln w="32194">
              <a:solidFill>
                <a:srgbClr val="0098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bject 60"/>
            <p:cNvSpPr/>
            <p:nvPr/>
          </p:nvSpPr>
          <p:spPr>
            <a:xfrm>
              <a:off x="5535167" y="4357878"/>
              <a:ext cx="170815" cy="113664"/>
            </a:xfrm>
            <a:custGeom>
              <a:avLst/>
              <a:gdLst/>
              <a:ahLst/>
              <a:cxnLst/>
              <a:rect l="l" t="t" r="r" b="b"/>
              <a:pathLst>
                <a:path w="170814" h="113664">
                  <a:moveTo>
                    <a:pt x="170688" y="57149"/>
                  </a:moveTo>
                  <a:lnTo>
                    <a:pt x="0" y="0"/>
                  </a:lnTo>
                  <a:lnTo>
                    <a:pt x="0" y="113538"/>
                  </a:lnTo>
                  <a:lnTo>
                    <a:pt x="170688" y="57149"/>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bject 61"/>
            <p:cNvSpPr/>
            <p:nvPr/>
          </p:nvSpPr>
          <p:spPr>
            <a:xfrm>
              <a:off x="6171437" y="3798570"/>
              <a:ext cx="108585" cy="0"/>
            </a:xfrm>
            <a:custGeom>
              <a:avLst/>
              <a:gdLst/>
              <a:ahLst/>
              <a:cxnLst/>
              <a:rect l="l" t="t" r="r" b="b"/>
              <a:pathLst>
                <a:path w="108585">
                  <a:moveTo>
                    <a:pt x="0" y="0"/>
                  </a:moveTo>
                  <a:lnTo>
                    <a:pt x="108204"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object 62"/>
            <p:cNvSpPr/>
            <p:nvPr/>
          </p:nvSpPr>
          <p:spPr>
            <a:xfrm>
              <a:off x="6265163" y="3741420"/>
              <a:ext cx="170815" cy="113664"/>
            </a:xfrm>
            <a:custGeom>
              <a:avLst/>
              <a:gdLst/>
              <a:ahLst/>
              <a:cxnLst/>
              <a:rect l="l" t="t" r="r" b="b"/>
              <a:pathLst>
                <a:path w="170814" h="113664">
                  <a:moveTo>
                    <a:pt x="170688" y="57149"/>
                  </a:moveTo>
                  <a:lnTo>
                    <a:pt x="0" y="0"/>
                  </a:lnTo>
                  <a:lnTo>
                    <a:pt x="0" y="113538"/>
                  </a:lnTo>
                  <a:lnTo>
                    <a:pt x="170688" y="57149"/>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object 63"/>
            <p:cNvSpPr/>
            <p:nvPr/>
          </p:nvSpPr>
          <p:spPr>
            <a:xfrm>
              <a:off x="6169151" y="4075176"/>
              <a:ext cx="402590" cy="340360"/>
            </a:xfrm>
            <a:custGeom>
              <a:avLst/>
              <a:gdLst/>
              <a:ahLst/>
              <a:cxnLst/>
              <a:rect l="l" t="t" r="r" b="b"/>
              <a:pathLst>
                <a:path w="402590" h="340360">
                  <a:moveTo>
                    <a:pt x="0" y="339851"/>
                  </a:moveTo>
                  <a:lnTo>
                    <a:pt x="402336" y="339851"/>
                  </a:lnTo>
                  <a:lnTo>
                    <a:pt x="402336" y="0"/>
                  </a:lnTo>
                </a:path>
              </a:pathLst>
            </a:custGeom>
            <a:ln w="3219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object 64"/>
            <p:cNvSpPr/>
            <p:nvPr/>
          </p:nvSpPr>
          <p:spPr>
            <a:xfrm>
              <a:off x="6515099" y="3918204"/>
              <a:ext cx="113664" cy="170815"/>
            </a:xfrm>
            <a:custGeom>
              <a:avLst/>
              <a:gdLst/>
              <a:ahLst/>
              <a:cxnLst/>
              <a:rect l="l" t="t" r="r" b="b"/>
              <a:pathLst>
                <a:path w="113665" h="170814">
                  <a:moveTo>
                    <a:pt x="113538" y="170687"/>
                  </a:moveTo>
                  <a:lnTo>
                    <a:pt x="56387" y="0"/>
                  </a:lnTo>
                  <a:lnTo>
                    <a:pt x="0" y="170687"/>
                  </a:lnTo>
                  <a:lnTo>
                    <a:pt x="113538" y="170687"/>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5" name="object 65"/>
          <p:cNvSpPr txBox="1"/>
          <p:nvPr/>
        </p:nvSpPr>
        <p:spPr>
          <a:xfrm>
            <a:off x="5722111" y="3643072"/>
            <a:ext cx="269875" cy="27178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600" b="1" i="0" u="none" strike="noStrike" kern="1200" cap="none" spc="-120" normalizeH="0" baseline="0" noProof="0" dirty="0">
                <a:ln>
                  <a:noFill/>
                </a:ln>
                <a:solidFill>
                  <a:srgbClr val="0000FF"/>
                </a:solidFill>
                <a:effectLst/>
                <a:uLnTx/>
                <a:uFillTx/>
                <a:latin typeface="Arial"/>
                <a:ea typeface="+mn-ea"/>
                <a:cs typeface="Arial"/>
              </a:rPr>
              <a:t>w0</a:t>
            </a:r>
            <a:endParaRPr kumimoji="0" sz="1600" b="0" i="0" u="none" strike="noStrike" kern="1200" cap="none" spc="0" normalizeH="0" baseline="0" noProof="0">
              <a:ln>
                <a:noFill/>
              </a:ln>
              <a:solidFill>
                <a:prstClr val="black"/>
              </a:solidFill>
              <a:effectLst/>
              <a:uLnTx/>
              <a:uFillTx/>
              <a:latin typeface="Arial"/>
              <a:ea typeface="+mn-ea"/>
              <a:cs typeface="Arial"/>
            </a:endParaRPr>
          </a:p>
        </p:txBody>
      </p:sp>
      <p:sp>
        <p:nvSpPr>
          <p:cNvPr id="66" name="object 66"/>
          <p:cNvSpPr txBox="1"/>
          <p:nvPr/>
        </p:nvSpPr>
        <p:spPr>
          <a:xfrm>
            <a:off x="5704579" y="4245819"/>
            <a:ext cx="302260" cy="27178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600" b="1" i="0" u="none" strike="noStrike" kern="1200" cap="none" spc="15" normalizeH="0" baseline="0" noProof="0" dirty="0">
                <a:ln>
                  <a:noFill/>
                </a:ln>
                <a:solidFill>
                  <a:srgbClr val="009900"/>
                </a:solidFill>
                <a:effectLst/>
                <a:uLnTx/>
                <a:uFillTx/>
                <a:latin typeface="Arial"/>
                <a:ea typeface="+mn-ea"/>
                <a:cs typeface="Arial"/>
              </a:rPr>
              <a:t>w1</a:t>
            </a:r>
            <a:endParaRPr kumimoji="0" sz="1600" b="0" i="0" u="none" strike="noStrike" kern="1200" cap="none" spc="0" normalizeH="0" baseline="0" noProof="0">
              <a:ln>
                <a:noFill/>
              </a:ln>
              <a:solidFill>
                <a:prstClr val="black"/>
              </a:solidFill>
              <a:effectLst/>
              <a:uLnTx/>
              <a:uFillTx/>
              <a:latin typeface="Arial"/>
              <a:ea typeface="+mn-ea"/>
              <a:cs typeface="Arial"/>
            </a:endParaRPr>
          </a:p>
        </p:txBody>
      </p:sp>
      <p:grpSp>
        <p:nvGrpSpPr>
          <p:cNvPr id="67" name="object 67"/>
          <p:cNvGrpSpPr/>
          <p:nvPr/>
        </p:nvGrpSpPr>
        <p:grpSpPr>
          <a:xfrm>
            <a:off x="6050851" y="2573845"/>
            <a:ext cx="4404360" cy="1310640"/>
            <a:chOff x="6050851" y="2573845"/>
            <a:chExt cx="4404360" cy="1310640"/>
          </a:xfrm>
        </p:grpSpPr>
        <p:sp>
          <p:nvSpPr>
            <p:cNvPr id="68" name="object 68"/>
            <p:cNvSpPr/>
            <p:nvPr/>
          </p:nvSpPr>
          <p:spPr>
            <a:xfrm>
              <a:off x="8722614" y="3689603"/>
              <a:ext cx="91440" cy="182880"/>
            </a:xfrm>
            <a:custGeom>
              <a:avLst/>
              <a:gdLst/>
              <a:ahLst/>
              <a:cxnLst/>
              <a:rect l="l" t="t" r="r" b="b"/>
              <a:pathLst>
                <a:path w="91440" h="182879">
                  <a:moveTo>
                    <a:pt x="0" y="182879"/>
                  </a:moveTo>
                  <a:lnTo>
                    <a:pt x="45720" y="182879"/>
                  </a:lnTo>
                  <a:lnTo>
                    <a:pt x="45719" y="0"/>
                  </a:lnTo>
                  <a:lnTo>
                    <a:pt x="91439" y="0"/>
                  </a:lnTo>
                </a:path>
              </a:pathLst>
            </a:custGeom>
            <a:ln w="227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object 69"/>
            <p:cNvSpPr/>
            <p:nvPr/>
          </p:nvSpPr>
          <p:spPr>
            <a:xfrm>
              <a:off x="8736330" y="3781043"/>
              <a:ext cx="73660" cy="0"/>
            </a:xfrm>
            <a:custGeom>
              <a:avLst/>
              <a:gdLst/>
              <a:ahLst/>
              <a:cxnLst/>
              <a:rect l="l" t="t" r="r" b="b"/>
              <a:pathLst>
                <a:path w="73659">
                  <a:moveTo>
                    <a:pt x="0" y="0"/>
                  </a:moveTo>
                  <a:lnTo>
                    <a:pt x="73152" y="0"/>
                  </a:lnTo>
                </a:path>
              </a:pathLst>
            </a:custGeom>
            <a:ln w="227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p:nvPr/>
          </p:nvSpPr>
          <p:spPr>
            <a:xfrm>
              <a:off x="6063234" y="2586227"/>
              <a:ext cx="1367790" cy="914400"/>
            </a:xfrm>
            <a:custGeom>
              <a:avLst/>
              <a:gdLst/>
              <a:ahLst/>
              <a:cxnLst/>
              <a:rect l="l" t="t" r="r" b="b"/>
              <a:pathLst>
                <a:path w="1367790" h="914400">
                  <a:moveTo>
                    <a:pt x="0" y="685800"/>
                  </a:moveTo>
                  <a:lnTo>
                    <a:pt x="227838" y="685800"/>
                  </a:lnTo>
                  <a:lnTo>
                    <a:pt x="227837" y="0"/>
                  </a:lnTo>
                  <a:lnTo>
                    <a:pt x="455676" y="0"/>
                  </a:lnTo>
                  <a:lnTo>
                    <a:pt x="455676" y="914400"/>
                  </a:lnTo>
                  <a:lnTo>
                    <a:pt x="684276" y="914400"/>
                  </a:lnTo>
                  <a:lnTo>
                    <a:pt x="684276" y="685800"/>
                  </a:lnTo>
                  <a:lnTo>
                    <a:pt x="1367790" y="685799"/>
                  </a:lnTo>
                </a:path>
              </a:pathLst>
            </a:custGeom>
            <a:ln w="24142">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object 71"/>
            <p:cNvSpPr/>
            <p:nvPr/>
          </p:nvSpPr>
          <p:spPr>
            <a:xfrm>
              <a:off x="8100822" y="3294125"/>
              <a:ext cx="318770" cy="0"/>
            </a:xfrm>
            <a:custGeom>
              <a:avLst/>
              <a:gdLst/>
              <a:ahLst/>
              <a:cxnLst/>
              <a:rect l="l" t="t" r="r" b="b"/>
              <a:pathLst>
                <a:path w="318770">
                  <a:moveTo>
                    <a:pt x="0" y="0"/>
                  </a:moveTo>
                  <a:lnTo>
                    <a:pt x="318516" y="0"/>
                  </a:lnTo>
                </a:path>
              </a:pathLst>
            </a:custGeom>
            <a:ln w="37223">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object 72"/>
            <p:cNvSpPr/>
            <p:nvPr/>
          </p:nvSpPr>
          <p:spPr>
            <a:xfrm>
              <a:off x="8419338" y="3000755"/>
              <a:ext cx="239395" cy="293370"/>
            </a:xfrm>
            <a:custGeom>
              <a:avLst/>
              <a:gdLst/>
              <a:ahLst/>
              <a:cxnLst/>
              <a:rect l="l" t="t" r="r" b="b"/>
              <a:pathLst>
                <a:path w="239395" h="293370">
                  <a:moveTo>
                    <a:pt x="0" y="293370"/>
                  </a:moveTo>
                  <a:lnTo>
                    <a:pt x="45803" y="285619"/>
                  </a:lnTo>
                  <a:lnTo>
                    <a:pt x="83534" y="259365"/>
                  </a:lnTo>
                  <a:lnTo>
                    <a:pt x="109406" y="218682"/>
                  </a:lnTo>
                  <a:lnTo>
                    <a:pt x="119634" y="167640"/>
                  </a:lnTo>
                  <a:lnTo>
                    <a:pt x="126077" y="113044"/>
                  </a:lnTo>
                  <a:lnTo>
                    <a:pt x="143201" y="66275"/>
                  </a:lnTo>
                  <a:lnTo>
                    <a:pt x="169066" y="30041"/>
                  </a:lnTo>
                  <a:lnTo>
                    <a:pt x="201734" y="7046"/>
                  </a:lnTo>
                  <a:lnTo>
                    <a:pt x="239268" y="0"/>
                  </a:lnTo>
                </a:path>
              </a:pathLst>
            </a:custGeom>
            <a:ln w="37223">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3" name="object 73"/>
            <p:cNvPicPr/>
            <p:nvPr/>
          </p:nvPicPr>
          <p:blipFill>
            <a:blip r:embed="rId9" cstate="print"/>
            <a:stretch>
              <a:fillRect/>
            </a:stretch>
          </p:blipFill>
          <p:spPr>
            <a:xfrm>
              <a:off x="8639994" y="2978111"/>
              <a:ext cx="239915" cy="249281"/>
            </a:xfrm>
            <a:prstGeom prst="rect">
              <a:avLst/>
            </a:prstGeom>
          </p:spPr>
        </p:pic>
        <p:sp>
          <p:nvSpPr>
            <p:cNvPr id="74" name="object 74"/>
            <p:cNvSpPr/>
            <p:nvPr/>
          </p:nvSpPr>
          <p:spPr>
            <a:xfrm>
              <a:off x="8894064" y="3222497"/>
              <a:ext cx="1489075" cy="67310"/>
            </a:xfrm>
            <a:custGeom>
              <a:avLst/>
              <a:gdLst/>
              <a:ahLst/>
              <a:cxnLst/>
              <a:rect l="l" t="t" r="r" b="b"/>
              <a:pathLst>
                <a:path w="1489075" h="67310">
                  <a:moveTo>
                    <a:pt x="0" y="0"/>
                  </a:moveTo>
                  <a:lnTo>
                    <a:pt x="32370" y="34487"/>
                  </a:lnTo>
                  <a:lnTo>
                    <a:pt x="70961" y="48101"/>
                  </a:lnTo>
                  <a:lnTo>
                    <a:pt x="121299" y="58476"/>
                  </a:lnTo>
                  <a:lnTo>
                    <a:pt x="180992" y="64999"/>
                  </a:lnTo>
                  <a:lnTo>
                    <a:pt x="247650" y="67055"/>
                  </a:lnTo>
                  <a:lnTo>
                    <a:pt x="1488948" y="67055"/>
                  </a:lnTo>
                </a:path>
              </a:pathLst>
            </a:custGeom>
            <a:ln w="37223">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5" name="object 75"/>
            <p:cNvPicPr/>
            <p:nvPr/>
          </p:nvPicPr>
          <p:blipFill>
            <a:blip r:embed="rId10" cstate="print"/>
            <a:stretch>
              <a:fillRect/>
            </a:stretch>
          </p:blipFill>
          <p:spPr>
            <a:xfrm>
              <a:off x="8607044" y="2927095"/>
              <a:ext cx="84074" cy="129031"/>
            </a:xfrm>
            <a:prstGeom prst="rect">
              <a:avLst/>
            </a:prstGeom>
          </p:spPr>
        </p:pic>
        <p:pic>
          <p:nvPicPr>
            <p:cNvPr id="76" name="object 76"/>
            <p:cNvPicPr/>
            <p:nvPr/>
          </p:nvPicPr>
          <p:blipFill>
            <a:blip r:embed="rId11" cstate="print"/>
            <a:stretch>
              <a:fillRect/>
            </a:stretch>
          </p:blipFill>
          <p:spPr>
            <a:xfrm>
              <a:off x="8345678" y="3236467"/>
              <a:ext cx="84074" cy="128269"/>
            </a:xfrm>
            <a:prstGeom prst="rect">
              <a:avLst/>
            </a:prstGeom>
          </p:spPr>
        </p:pic>
        <p:pic>
          <p:nvPicPr>
            <p:cNvPr id="77" name="object 77"/>
            <p:cNvPicPr/>
            <p:nvPr/>
          </p:nvPicPr>
          <p:blipFill>
            <a:blip r:embed="rId12" cstate="print"/>
            <a:stretch>
              <a:fillRect/>
            </a:stretch>
          </p:blipFill>
          <p:spPr>
            <a:xfrm>
              <a:off x="8851646" y="3194557"/>
              <a:ext cx="84074" cy="129031"/>
            </a:xfrm>
            <a:prstGeom prst="rect">
              <a:avLst/>
            </a:prstGeom>
          </p:spPr>
        </p:pic>
        <p:pic>
          <p:nvPicPr>
            <p:cNvPr id="78" name="object 78"/>
            <p:cNvPicPr/>
            <p:nvPr/>
          </p:nvPicPr>
          <p:blipFill>
            <a:blip r:embed="rId13" cstate="print"/>
            <a:stretch>
              <a:fillRect/>
            </a:stretch>
          </p:blipFill>
          <p:spPr>
            <a:xfrm>
              <a:off x="9104630" y="3236467"/>
              <a:ext cx="84836" cy="128269"/>
            </a:xfrm>
            <a:prstGeom prst="rect">
              <a:avLst/>
            </a:prstGeom>
          </p:spPr>
        </p:pic>
        <p:pic>
          <p:nvPicPr>
            <p:cNvPr id="79" name="object 79"/>
            <p:cNvPicPr/>
            <p:nvPr/>
          </p:nvPicPr>
          <p:blipFill>
            <a:blip r:embed="rId14" cstate="print"/>
            <a:stretch>
              <a:fillRect/>
            </a:stretch>
          </p:blipFill>
          <p:spPr>
            <a:xfrm>
              <a:off x="9358376" y="3236467"/>
              <a:ext cx="84074" cy="128269"/>
            </a:xfrm>
            <a:prstGeom prst="rect">
              <a:avLst/>
            </a:prstGeom>
          </p:spPr>
        </p:pic>
        <p:pic>
          <p:nvPicPr>
            <p:cNvPr id="80" name="object 80"/>
            <p:cNvPicPr/>
            <p:nvPr/>
          </p:nvPicPr>
          <p:blipFill>
            <a:blip r:embed="rId11" cstate="print"/>
            <a:stretch>
              <a:fillRect/>
            </a:stretch>
          </p:blipFill>
          <p:spPr>
            <a:xfrm>
              <a:off x="9611360" y="3236467"/>
              <a:ext cx="84074" cy="128269"/>
            </a:xfrm>
            <a:prstGeom prst="rect">
              <a:avLst/>
            </a:prstGeom>
          </p:spPr>
        </p:pic>
        <p:pic>
          <p:nvPicPr>
            <p:cNvPr id="81" name="object 81"/>
            <p:cNvPicPr/>
            <p:nvPr/>
          </p:nvPicPr>
          <p:blipFill>
            <a:blip r:embed="rId11" cstate="print"/>
            <a:stretch>
              <a:fillRect/>
            </a:stretch>
          </p:blipFill>
          <p:spPr>
            <a:xfrm>
              <a:off x="9864344" y="3236467"/>
              <a:ext cx="84074" cy="128269"/>
            </a:xfrm>
            <a:prstGeom prst="rect">
              <a:avLst/>
            </a:prstGeom>
          </p:spPr>
        </p:pic>
        <p:pic>
          <p:nvPicPr>
            <p:cNvPr id="82" name="object 82"/>
            <p:cNvPicPr/>
            <p:nvPr/>
          </p:nvPicPr>
          <p:blipFill>
            <a:blip r:embed="rId11" cstate="print"/>
            <a:stretch>
              <a:fillRect/>
            </a:stretch>
          </p:blipFill>
          <p:spPr>
            <a:xfrm>
              <a:off x="10117328" y="3236467"/>
              <a:ext cx="84074" cy="128269"/>
            </a:xfrm>
            <a:prstGeom prst="rect">
              <a:avLst/>
            </a:prstGeom>
          </p:spPr>
        </p:pic>
        <p:pic>
          <p:nvPicPr>
            <p:cNvPr id="83" name="object 83"/>
            <p:cNvPicPr/>
            <p:nvPr/>
          </p:nvPicPr>
          <p:blipFill>
            <a:blip r:embed="rId13" cstate="print"/>
            <a:stretch>
              <a:fillRect/>
            </a:stretch>
          </p:blipFill>
          <p:spPr>
            <a:xfrm>
              <a:off x="10370311" y="3236467"/>
              <a:ext cx="84836" cy="128269"/>
            </a:xfrm>
            <a:prstGeom prst="rect">
              <a:avLst/>
            </a:prstGeom>
          </p:spPr>
        </p:pic>
        <p:pic>
          <p:nvPicPr>
            <p:cNvPr id="84" name="object 84"/>
            <p:cNvPicPr/>
            <p:nvPr/>
          </p:nvPicPr>
          <p:blipFill>
            <a:blip r:embed="rId15" cstate="print"/>
            <a:stretch>
              <a:fillRect/>
            </a:stretch>
          </p:blipFill>
          <p:spPr>
            <a:xfrm>
              <a:off x="8107934" y="3236467"/>
              <a:ext cx="84074" cy="128269"/>
            </a:xfrm>
            <a:prstGeom prst="rect">
              <a:avLst/>
            </a:prstGeom>
          </p:spPr>
        </p:pic>
        <p:pic>
          <p:nvPicPr>
            <p:cNvPr id="85" name="object 85"/>
            <p:cNvPicPr/>
            <p:nvPr/>
          </p:nvPicPr>
          <p:blipFill>
            <a:blip r:embed="rId16" cstate="print"/>
            <a:stretch>
              <a:fillRect/>
            </a:stretch>
          </p:blipFill>
          <p:spPr>
            <a:xfrm>
              <a:off x="6350508" y="3108959"/>
              <a:ext cx="537209" cy="541019"/>
            </a:xfrm>
            <a:prstGeom prst="rect">
              <a:avLst/>
            </a:prstGeom>
          </p:spPr>
        </p:pic>
      </p:grpSp>
      <p:sp>
        <p:nvSpPr>
          <p:cNvPr id="86" name="object 86"/>
          <p:cNvSpPr txBox="1"/>
          <p:nvPr/>
        </p:nvSpPr>
        <p:spPr>
          <a:xfrm>
            <a:off x="9176257" y="2543048"/>
            <a:ext cx="151193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1" i="0" u="none" strike="noStrike" kern="1200" cap="none" spc="-5" normalizeH="0" baseline="0" noProof="0" dirty="0">
                <a:ln>
                  <a:noFill/>
                </a:ln>
                <a:solidFill>
                  <a:srgbClr val="00B04F"/>
                </a:solidFill>
                <a:effectLst/>
                <a:uLnTx/>
                <a:uFillTx/>
                <a:latin typeface="Verdana"/>
                <a:ea typeface="+mn-ea"/>
                <a:cs typeface="Verdana"/>
              </a:rPr>
              <a:t>Cancel</a:t>
            </a:r>
            <a:r>
              <a:rPr kumimoji="0" sz="2000" b="1" i="0" u="none" strike="noStrike" kern="1200" cap="none" spc="-40" normalizeH="0" baseline="0" noProof="0" dirty="0">
                <a:ln>
                  <a:noFill/>
                </a:ln>
                <a:solidFill>
                  <a:srgbClr val="00B04F"/>
                </a:solidFill>
                <a:effectLst/>
                <a:uLnTx/>
                <a:uFillTx/>
                <a:latin typeface="Verdana"/>
                <a:ea typeface="+mn-ea"/>
                <a:cs typeface="Verdana"/>
              </a:rPr>
              <a:t> </a:t>
            </a:r>
            <a:r>
              <a:rPr kumimoji="0" sz="2000" b="1" i="0" u="none" strike="noStrike" kern="1200" cap="none" spc="-5" normalizeH="0" baseline="0" noProof="0" dirty="0">
                <a:ln>
                  <a:noFill/>
                </a:ln>
                <a:solidFill>
                  <a:srgbClr val="00B04F"/>
                </a:solidFill>
                <a:effectLst/>
                <a:uLnTx/>
                <a:uFillTx/>
                <a:latin typeface="Verdana"/>
                <a:ea typeface="+mn-ea"/>
                <a:cs typeface="Verdana"/>
              </a:rPr>
              <a:t>ISI</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87" name="object 87"/>
          <p:cNvSpPr/>
          <p:nvPr/>
        </p:nvSpPr>
        <p:spPr>
          <a:xfrm>
            <a:off x="6728459" y="2575560"/>
            <a:ext cx="2420620" cy="592455"/>
          </a:xfrm>
          <a:custGeom>
            <a:avLst/>
            <a:gdLst/>
            <a:ahLst/>
            <a:cxnLst/>
            <a:rect l="l" t="t" r="r" b="b"/>
            <a:pathLst>
              <a:path w="2420620" h="592455">
                <a:moveTo>
                  <a:pt x="2360991" y="336016"/>
                </a:moveTo>
                <a:lnTo>
                  <a:pt x="2330196" y="296418"/>
                </a:lnTo>
                <a:lnTo>
                  <a:pt x="2298954" y="261366"/>
                </a:lnTo>
                <a:lnTo>
                  <a:pt x="2249424" y="217932"/>
                </a:lnTo>
                <a:lnTo>
                  <a:pt x="2235708" y="208026"/>
                </a:lnTo>
                <a:lnTo>
                  <a:pt x="2221230" y="197358"/>
                </a:lnTo>
                <a:lnTo>
                  <a:pt x="2174748" y="169164"/>
                </a:lnTo>
                <a:lnTo>
                  <a:pt x="2139696" y="151638"/>
                </a:lnTo>
                <a:lnTo>
                  <a:pt x="2121408" y="144018"/>
                </a:lnTo>
                <a:lnTo>
                  <a:pt x="2102358" y="135636"/>
                </a:lnTo>
                <a:lnTo>
                  <a:pt x="2081783" y="128778"/>
                </a:lnTo>
                <a:lnTo>
                  <a:pt x="2061210" y="121158"/>
                </a:lnTo>
                <a:lnTo>
                  <a:pt x="2040636" y="114300"/>
                </a:lnTo>
                <a:lnTo>
                  <a:pt x="1994916" y="100584"/>
                </a:lnTo>
                <a:lnTo>
                  <a:pt x="1970532" y="93726"/>
                </a:lnTo>
                <a:lnTo>
                  <a:pt x="1920239" y="80010"/>
                </a:lnTo>
                <a:lnTo>
                  <a:pt x="1893570" y="72390"/>
                </a:lnTo>
                <a:lnTo>
                  <a:pt x="1866138" y="66294"/>
                </a:lnTo>
                <a:lnTo>
                  <a:pt x="1808988" y="52578"/>
                </a:lnTo>
                <a:lnTo>
                  <a:pt x="1749552" y="40386"/>
                </a:lnTo>
                <a:lnTo>
                  <a:pt x="1688592" y="29718"/>
                </a:lnTo>
                <a:lnTo>
                  <a:pt x="1625346" y="19812"/>
                </a:lnTo>
                <a:lnTo>
                  <a:pt x="1560576" y="11430"/>
                </a:lnTo>
                <a:lnTo>
                  <a:pt x="1495044" y="5334"/>
                </a:lnTo>
                <a:lnTo>
                  <a:pt x="1427988" y="1524"/>
                </a:lnTo>
                <a:lnTo>
                  <a:pt x="1360932" y="0"/>
                </a:lnTo>
                <a:lnTo>
                  <a:pt x="1293876" y="1524"/>
                </a:lnTo>
                <a:lnTo>
                  <a:pt x="1226820" y="6096"/>
                </a:lnTo>
                <a:lnTo>
                  <a:pt x="1160526" y="13716"/>
                </a:lnTo>
                <a:lnTo>
                  <a:pt x="1094232" y="25146"/>
                </a:lnTo>
                <a:lnTo>
                  <a:pt x="1028700" y="40386"/>
                </a:lnTo>
                <a:lnTo>
                  <a:pt x="963168" y="59436"/>
                </a:lnTo>
                <a:lnTo>
                  <a:pt x="929640" y="69342"/>
                </a:lnTo>
                <a:lnTo>
                  <a:pt x="829056" y="105156"/>
                </a:lnTo>
                <a:lnTo>
                  <a:pt x="762000" y="132588"/>
                </a:lnTo>
                <a:lnTo>
                  <a:pt x="694182" y="162306"/>
                </a:lnTo>
                <a:lnTo>
                  <a:pt x="625602" y="194310"/>
                </a:lnTo>
                <a:lnTo>
                  <a:pt x="557022" y="227838"/>
                </a:lnTo>
                <a:lnTo>
                  <a:pt x="487680" y="263652"/>
                </a:lnTo>
                <a:lnTo>
                  <a:pt x="348996" y="339090"/>
                </a:lnTo>
                <a:lnTo>
                  <a:pt x="279654" y="378714"/>
                </a:lnTo>
                <a:lnTo>
                  <a:pt x="209550" y="419100"/>
                </a:lnTo>
                <a:lnTo>
                  <a:pt x="0" y="543306"/>
                </a:lnTo>
                <a:lnTo>
                  <a:pt x="28956" y="592074"/>
                </a:lnTo>
                <a:lnTo>
                  <a:pt x="169164" y="509016"/>
                </a:lnTo>
                <a:lnTo>
                  <a:pt x="238506" y="468630"/>
                </a:lnTo>
                <a:lnTo>
                  <a:pt x="377190" y="388620"/>
                </a:lnTo>
                <a:lnTo>
                  <a:pt x="446531" y="350520"/>
                </a:lnTo>
                <a:lnTo>
                  <a:pt x="515112" y="313944"/>
                </a:lnTo>
                <a:lnTo>
                  <a:pt x="582930" y="278892"/>
                </a:lnTo>
                <a:lnTo>
                  <a:pt x="650748" y="245364"/>
                </a:lnTo>
                <a:lnTo>
                  <a:pt x="717804" y="214122"/>
                </a:lnTo>
                <a:lnTo>
                  <a:pt x="784860" y="185166"/>
                </a:lnTo>
                <a:lnTo>
                  <a:pt x="850391" y="158496"/>
                </a:lnTo>
                <a:lnTo>
                  <a:pt x="915924" y="134874"/>
                </a:lnTo>
                <a:lnTo>
                  <a:pt x="979932" y="113538"/>
                </a:lnTo>
                <a:lnTo>
                  <a:pt x="1043940" y="96012"/>
                </a:lnTo>
                <a:lnTo>
                  <a:pt x="1106424" y="81534"/>
                </a:lnTo>
                <a:lnTo>
                  <a:pt x="1168908" y="70104"/>
                </a:lnTo>
                <a:lnTo>
                  <a:pt x="1264920" y="60198"/>
                </a:lnTo>
                <a:lnTo>
                  <a:pt x="1362456" y="57150"/>
                </a:lnTo>
                <a:lnTo>
                  <a:pt x="1427226" y="58674"/>
                </a:lnTo>
                <a:lnTo>
                  <a:pt x="1491234" y="62484"/>
                </a:lnTo>
                <a:lnTo>
                  <a:pt x="1555242" y="68580"/>
                </a:lnTo>
                <a:lnTo>
                  <a:pt x="1618488" y="76200"/>
                </a:lnTo>
                <a:lnTo>
                  <a:pt x="1680210" y="86106"/>
                </a:lnTo>
                <a:lnTo>
                  <a:pt x="1739645" y="96774"/>
                </a:lnTo>
                <a:lnTo>
                  <a:pt x="1797558" y="108966"/>
                </a:lnTo>
                <a:lnTo>
                  <a:pt x="1853183" y="121920"/>
                </a:lnTo>
                <a:lnTo>
                  <a:pt x="1879854" y="128016"/>
                </a:lnTo>
                <a:lnTo>
                  <a:pt x="1930908" y="141732"/>
                </a:lnTo>
                <a:lnTo>
                  <a:pt x="1978914" y="155448"/>
                </a:lnTo>
                <a:lnTo>
                  <a:pt x="2044445" y="176022"/>
                </a:lnTo>
                <a:lnTo>
                  <a:pt x="2063495" y="182118"/>
                </a:lnTo>
                <a:lnTo>
                  <a:pt x="2082545" y="189738"/>
                </a:lnTo>
                <a:lnTo>
                  <a:pt x="2100072" y="196596"/>
                </a:lnTo>
                <a:lnTo>
                  <a:pt x="2116836" y="204216"/>
                </a:lnTo>
                <a:lnTo>
                  <a:pt x="2177034" y="236982"/>
                </a:lnTo>
                <a:lnTo>
                  <a:pt x="2215134" y="263652"/>
                </a:lnTo>
                <a:lnTo>
                  <a:pt x="2248662" y="292608"/>
                </a:lnTo>
                <a:lnTo>
                  <a:pt x="2295906" y="344424"/>
                </a:lnTo>
                <a:lnTo>
                  <a:pt x="2296432" y="345093"/>
                </a:lnTo>
                <a:lnTo>
                  <a:pt x="2360093" y="382892"/>
                </a:lnTo>
                <a:lnTo>
                  <a:pt x="2360991" y="336016"/>
                </a:lnTo>
                <a:close/>
              </a:path>
              <a:path w="2420620" h="592455">
                <a:moveTo>
                  <a:pt x="2411730" y="480521"/>
                </a:moveTo>
                <a:lnTo>
                  <a:pt x="2411730" y="418338"/>
                </a:lnTo>
                <a:lnTo>
                  <a:pt x="2362962" y="446532"/>
                </a:lnTo>
                <a:lnTo>
                  <a:pt x="2349246" y="423672"/>
                </a:lnTo>
                <a:lnTo>
                  <a:pt x="2334768" y="400050"/>
                </a:lnTo>
                <a:lnTo>
                  <a:pt x="2319528" y="377190"/>
                </a:lnTo>
                <a:lnTo>
                  <a:pt x="2311908" y="366522"/>
                </a:lnTo>
                <a:lnTo>
                  <a:pt x="2304288" y="355092"/>
                </a:lnTo>
                <a:lnTo>
                  <a:pt x="2296432" y="345093"/>
                </a:lnTo>
                <a:lnTo>
                  <a:pt x="2231136" y="306324"/>
                </a:lnTo>
                <a:lnTo>
                  <a:pt x="2220777" y="302406"/>
                </a:lnTo>
                <a:lnTo>
                  <a:pt x="2209990" y="302990"/>
                </a:lnTo>
                <a:lnTo>
                  <a:pt x="2200060" y="307717"/>
                </a:lnTo>
                <a:lnTo>
                  <a:pt x="2192274" y="316230"/>
                </a:lnTo>
                <a:lnTo>
                  <a:pt x="2188356" y="327017"/>
                </a:lnTo>
                <a:lnTo>
                  <a:pt x="2188940" y="337947"/>
                </a:lnTo>
                <a:lnTo>
                  <a:pt x="2193667" y="347733"/>
                </a:lnTo>
                <a:lnTo>
                  <a:pt x="2202180" y="355092"/>
                </a:lnTo>
                <a:lnTo>
                  <a:pt x="2411730" y="480521"/>
                </a:lnTo>
                <a:close/>
              </a:path>
              <a:path w="2420620" h="592455">
                <a:moveTo>
                  <a:pt x="2360093" y="382892"/>
                </a:moveTo>
                <a:lnTo>
                  <a:pt x="2296432" y="345093"/>
                </a:lnTo>
                <a:lnTo>
                  <a:pt x="2304288" y="355092"/>
                </a:lnTo>
                <a:lnTo>
                  <a:pt x="2311908" y="366522"/>
                </a:lnTo>
                <a:lnTo>
                  <a:pt x="2319528" y="377190"/>
                </a:lnTo>
                <a:lnTo>
                  <a:pt x="2334768" y="400050"/>
                </a:lnTo>
                <a:lnTo>
                  <a:pt x="2349246" y="423672"/>
                </a:lnTo>
                <a:lnTo>
                  <a:pt x="2359152" y="440182"/>
                </a:lnTo>
                <a:lnTo>
                  <a:pt x="2359152" y="432054"/>
                </a:lnTo>
                <a:lnTo>
                  <a:pt x="2360093" y="382892"/>
                </a:lnTo>
                <a:close/>
              </a:path>
              <a:path w="2420620" h="592455">
                <a:moveTo>
                  <a:pt x="2401824" y="407670"/>
                </a:moveTo>
                <a:lnTo>
                  <a:pt x="2360093" y="382892"/>
                </a:lnTo>
                <a:lnTo>
                  <a:pt x="2359152" y="432054"/>
                </a:lnTo>
                <a:lnTo>
                  <a:pt x="2401824" y="407670"/>
                </a:lnTo>
                <a:close/>
              </a:path>
              <a:path w="2420620" h="592455">
                <a:moveTo>
                  <a:pt x="2401824" y="424064"/>
                </a:moveTo>
                <a:lnTo>
                  <a:pt x="2401824" y="407670"/>
                </a:lnTo>
                <a:lnTo>
                  <a:pt x="2359152" y="432054"/>
                </a:lnTo>
                <a:lnTo>
                  <a:pt x="2359152" y="440182"/>
                </a:lnTo>
                <a:lnTo>
                  <a:pt x="2362962" y="446532"/>
                </a:lnTo>
                <a:lnTo>
                  <a:pt x="2401824" y="424064"/>
                </a:lnTo>
                <a:close/>
              </a:path>
              <a:path w="2420620" h="592455">
                <a:moveTo>
                  <a:pt x="2411730" y="418338"/>
                </a:moveTo>
                <a:lnTo>
                  <a:pt x="2398014" y="393954"/>
                </a:lnTo>
                <a:lnTo>
                  <a:pt x="2382774" y="368808"/>
                </a:lnTo>
                <a:lnTo>
                  <a:pt x="2366772" y="344424"/>
                </a:lnTo>
                <a:lnTo>
                  <a:pt x="2360991" y="336016"/>
                </a:lnTo>
                <a:lnTo>
                  <a:pt x="2360093" y="382892"/>
                </a:lnTo>
                <a:lnTo>
                  <a:pt x="2401824" y="407670"/>
                </a:lnTo>
                <a:lnTo>
                  <a:pt x="2401824" y="424064"/>
                </a:lnTo>
                <a:lnTo>
                  <a:pt x="2411730" y="418338"/>
                </a:lnTo>
                <a:close/>
              </a:path>
              <a:path w="2420620" h="592455">
                <a:moveTo>
                  <a:pt x="2420112" y="234696"/>
                </a:moveTo>
                <a:lnTo>
                  <a:pt x="2418290" y="223420"/>
                </a:lnTo>
                <a:lnTo>
                  <a:pt x="2412396" y="214217"/>
                </a:lnTo>
                <a:lnTo>
                  <a:pt x="2403502" y="208014"/>
                </a:lnTo>
                <a:lnTo>
                  <a:pt x="2392680" y="205740"/>
                </a:lnTo>
                <a:lnTo>
                  <a:pt x="2381392" y="207561"/>
                </a:lnTo>
                <a:lnTo>
                  <a:pt x="2372106" y="213455"/>
                </a:lnTo>
                <a:lnTo>
                  <a:pt x="2365676" y="222349"/>
                </a:lnTo>
                <a:lnTo>
                  <a:pt x="2362962" y="233172"/>
                </a:lnTo>
                <a:lnTo>
                  <a:pt x="2360991" y="336016"/>
                </a:lnTo>
                <a:lnTo>
                  <a:pt x="2366772" y="344424"/>
                </a:lnTo>
                <a:lnTo>
                  <a:pt x="2382774" y="368808"/>
                </a:lnTo>
                <a:lnTo>
                  <a:pt x="2398014" y="393954"/>
                </a:lnTo>
                <a:lnTo>
                  <a:pt x="2411730" y="418338"/>
                </a:lnTo>
                <a:lnTo>
                  <a:pt x="2411730" y="480521"/>
                </a:lnTo>
                <a:lnTo>
                  <a:pt x="2414778" y="482346"/>
                </a:lnTo>
                <a:lnTo>
                  <a:pt x="2420112" y="234696"/>
                </a:lnTo>
                <a:close/>
              </a:path>
            </a:pathLst>
          </a:custGeom>
          <a:solidFill>
            <a:srgbClr val="00AF4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lide Number Placeholder 88"/>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34</a:t>
            </a:fld>
            <a:endParaRPr lang="en-US" spc="-50" dirty="0"/>
          </a:p>
        </p:txBody>
      </p:sp>
      <p:sp>
        <p:nvSpPr>
          <p:cNvPr id="90" name="Date Placeholder 89"/>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91" name="Footer Placeholder 9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6794498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96718" y="323603"/>
            <a:ext cx="7329805" cy="604520"/>
          </a:xfrm>
          <a:prstGeom prst="rect">
            <a:avLst/>
          </a:prstGeom>
        </p:spPr>
        <p:txBody>
          <a:bodyPr vert="horz" wrap="square" lIns="0" tIns="12065" rIns="0" bIns="0" rtlCol="0">
            <a:spAutoFit/>
          </a:bodyPr>
          <a:lstStyle/>
          <a:p>
            <a:pPr marL="12700">
              <a:lnSpc>
                <a:spcPct val="100000"/>
              </a:lnSpc>
              <a:spcBef>
                <a:spcPts val="95"/>
              </a:spcBef>
            </a:pPr>
            <a:r>
              <a:rPr sz="3800" b="0" spc="-5" dirty="0">
                <a:latin typeface="Verdana"/>
                <a:cs typeface="Verdana"/>
              </a:rPr>
              <a:t>Feed</a:t>
            </a:r>
            <a:r>
              <a:rPr sz="3800" b="0" spc="10" dirty="0">
                <a:latin typeface="Verdana"/>
                <a:cs typeface="Verdana"/>
              </a:rPr>
              <a:t> </a:t>
            </a:r>
            <a:r>
              <a:rPr sz="3800" b="0" spc="-5" dirty="0">
                <a:latin typeface="Verdana"/>
                <a:cs typeface="Verdana"/>
              </a:rPr>
              <a:t>Forward</a:t>
            </a:r>
            <a:r>
              <a:rPr sz="3800" b="0" spc="30" dirty="0">
                <a:latin typeface="Verdana"/>
                <a:cs typeface="Verdana"/>
              </a:rPr>
              <a:t> </a:t>
            </a:r>
            <a:r>
              <a:rPr sz="3800" b="0" spc="-10" dirty="0">
                <a:latin typeface="Verdana"/>
                <a:cs typeface="Verdana"/>
              </a:rPr>
              <a:t>Equalization</a:t>
            </a:r>
            <a:r>
              <a:rPr sz="3800" b="0" spc="10" dirty="0">
                <a:latin typeface="Verdana"/>
                <a:cs typeface="Verdana"/>
              </a:rPr>
              <a:t> </a:t>
            </a:r>
            <a:r>
              <a:rPr sz="3800" b="0" spc="-10" dirty="0">
                <a:latin typeface="Verdana"/>
                <a:cs typeface="Verdana"/>
              </a:rPr>
              <a:t>(3)</a:t>
            </a:r>
            <a:endParaRPr sz="3800" dirty="0">
              <a:latin typeface="Verdana"/>
              <a:cs typeface="Verdana"/>
            </a:endParaRPr>
          </a:p>
        </p:txBody>
      </p:sp>
      <p:sp>
        <p:nvSpPr>
          <p:cNvPr id="3" name="object 3"/>
          <p:cNvSpPr/>
          <p:nvPr/>
        </p:nvSpPr>
        <p:spPr>
          <a:xfrm>
            <a:off x="7105650" y="2432304"/>
            <a:ext cx="0" cy="3136900"/>
          </a:xfrm>
          <a:custGeom>
            <a:avLst/>
            <a:gdLst/>
            <a:ahLst/>
            <a:cxnLst/>
            <a:rect l="l" t="t" r="r" b="b"/>
            <a:pathLst>
              <a:path h="3136900">
                <a:moveTo>
                  <a:pt x="0" y="0"/>
                </a:moveTo>
                <a:lnTo>
                  <a:pt x="0" y="3136391"/>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object 4"/>
          <p:cNvSpPr/>
          <p:nvPr/>
        </p:nvSpPr>
        <p:spPr>
          <a:xfrm>
            <a:off x="7409688" y="2432304"/>
            <a:ext cx="0" cy="3136900"/>
          </a:xfrm>
          <a:custGeom>
            <a:avLst/>
            <a:gdLst/>
            <a:ahLst/>
            <a:cxnLst/>
            <a:rect l="l" t="t" r="r" b="b"/>
            <a:pathLst>
              <a:path h="3136900">
                <a:moveTo>
                  <a:pt x="0" y="0"/>
                </a:moveTo>
                <a:lnTo>
                  <a:pt x="0" y="3136391"/>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7713726" y="2432304"/>
            <a:ext cx="0" cy="3136900"/>
          </a:xfrm>
          <a:custGeom>
            <a:avLst/>
            <a:gdLst/>
            <a:ahLst/>
            <a:cxnLst/>
            <a:rect l="l" t="t" r="r" b="b"/>
            <a:pathLst>
              <a:path h="3136900">
                <a:moveTo>
                  <a:pt x="0" y="0"/>
                </a:moveTo>
                <a:lnTo>
                  <a:pt x="0" y="3136391"/>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8017764" y="2432304"/>
            <a:ext cx="0" cy="3136900"/>
          </a:xfrm>
          <a:custGeom>
            <a:avLst/>
            <a:gdLst/>
            <a:ahLst/>
            <a:cxnLst/>
            <a:rect l="l" t="t" r="r" b="b"/>
            <a:pathLst>
              <a:path h="3136900">
                <a:moveTo>
                  <a:pt x="0" y="0"/>
                </a:moveTo>
                <a:lnTo>
                  <a:pt x="0" y="3136391"/>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object 7"/>
          <p:cNvGrpSpPr/>
          <p:nvPr/>
        </p:nvGrpSpPr>
        <p:grpSpPr>
          <a:xfrm>
            <a:off x="3545966" y="1800986"/>
            <a:ext cx="6301740" cy="3772535"/>
            <a:chOff x="3545966" y="1800986"/>
            <a:chExt cx="6301740" cy="3772535"/>
          </a:xfrm>
        </p:grpSpPr>
        <p:sp>
          <p:nvSpPr>
            <p:cNvPr id="8" name="object 8"/>
            <p:cNvSpPr/>
            <p:nvPr/>
          </p:nvSpPr>
          <p:spPr>
            <a:xfrm>
              <a:off x="8321801" y="2432303"/>
              <a:ext cx="304165" cy="1881505"/>
            </a:xfrm>
            <a:custGeom>
              <a:avLst/>
              <a:gdLst/>
              <a:ahLst/>
              <a:cxnLst/>
              <a:rect l="l" t="t" r="r" b="b"/>
              <a:pathLst>
                <a:path w="304165" h="1881504">
                  <a:moveTo>
                    <a:pt x="0" y="1254251"/>
                  </a:moveTo>
                  <a:lnTo>
                    <a:pt x="0" y="1881377"/>
                  </a:lnTo>
                </a:path>
                <a:path w="304165" h="1881504">
                  <a:moveTo>
                    <a:pt x="0" y="0"/>
                  </a:moveTo>
                  <a:lnTo>
                    <a:pt x="0" y="720851"/>
                  </a:lnTo>
                </a:path>
                <a:path w="304165" h="1881504">
                  <a:moveTo>
                    <a:pt x="304038" y="1254251"/>
                  </a:moveTo>
                  <a:lnTo>
                    <a:pt x="304038" y="1881377"/>
                  </a:lnTo>
                </a:path>
                <a:path w="304165" h="1881504">
                  <a:moveTo>
                    <a:pt x="304038" y="0"/>
                  </a:moveTo>
                  <a:lnTo>
                    <a:pt x="304038" y="720851"/>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8929877" y="2432303"/>
              <a:ext cx="913130" cy="3136900"/>
            </a:xfrm>
            <a:custGeom>
              <a:avLst/>
              <a:gdLst/>
              <a:ahLst/>
              <a:cxnLst/>
              <a:rect l="l" t="t" r="r" b="b"/>
              <a:pathLst>
                <a:path w="913129" h="3136900">
                  <a:moveTo>
                    <a:pt x="0" y="0"/>
                  </a:moveTo>
                  <a:lnTo>
                    <a:pt x="0" y="3136391"/>
                  </a:lnTo>
                </a:path>
                <a:path w="913129" h="3136900">
                  <a:moveTo>
                    <a:pt x="304038" y="0"/>
                  </a:moveTo>
                  <a:lnTo>
                    <a:pt x="304038" y="3136391"/>
                  </a:lnTo>
                </a:path>
                <a:path w="913129" h="3136900">
                  <a:moveTo>
                    <a:pt x="608076" y="0"/>
                  </a:moveTo>
                  <a:lnTo>
                    <a:pt x="608076" y="3136391"/>
                  </a:lnTo>
                </a:path>
                <a:path w="913129" h="3136900">
                  <a:moveTo>
                    <a:pt x="912876" y="0"/>
                  </a:moveTo>
                  <a:lnTo>
                    <a:pt x="912876" y="3136391"/>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3563111" y="1818131"/>
              <a:ext cx="492759" cy="506095"/>
            </a:xfrm>
            <a:custGeom>
              <a:avLst/>
              <a:gdLst/>
              <a:ahLst/>
              <a:cxnLst/>
              <a:rect l="l" t="t" r="r" b="b"/>
              <a:pathLst>
                <a:path w="492760" h="506094">
                  <a:moveTo>
                    <a:pt x="0" y="0"/>
                  </a:moveTo>
                  <a:lnTo>
                    <a:pt x="492252" y="252983"/>
                  </a:lnTo>
                  <a:lnTo>
                    <a:pt x="0" y="505968"/>
                  </a:lnTo>
                  <a:lnTo>
                    <a:pt x="0" y="0"/>
                  </a:lnTo>
                  <a:close/>
                </a:path>
              </a:pathLst>
            </a:custGeom>
            <a:ln w="8051">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3563111" y="1818131"/>
              <a:ext cx="492759" cy="506095"/>
            </a:xfrm>
            <a:custGeom>
              <a:avLst/>
              <a:gdLst/>
              <a:ahLst/>
              <a:cxnLst/>
              <a:rect l="l" t="t" r="r" b="b"/>
              <a:pathLst>
                <a:path w="492760" h="506094">
                  <a:moveTo>
                    <a:pt x="0" y="0"/>
                  </a:moveTo>
                  <a:lnTo>
                    <a:pt x="492252" y="252983"/>
                  </a:lnTo>
                  <a:lnTo>
                    <a:pt x="0" y="505968"/>
                  </a:lnTo>
                  <a:lnTo>
                    <a:pt x="0" y="0"/>
                  </a:lnTo>
                  <a:close/>
                </a:path>
              </a:pathLst>
            </a:custGeom>
            <a:ln w="34175">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4729733" y="1915667"/>
              <a:ext cx="74930" cy="269875"/>
            </a:xfrm>
            <a:custGeom>
              <a:avLst/>
              <a:gdLst/>
              <a:ahLst/>
              <a:cxnLst/>
              <a:rect l="l" t="t" r="r" b="b"/>
              <a:pathLst>
                <a:path w="74929" h="269875">
                  <a:moveTo>
                    <a:pt x="74675" y="134874"/>
                  </a:moveTo>
                  <a:lnTo>
                    <a:pt x="71735" y="82296"/>
                  </a:lnTo>
                  <a:lnTo>
                    <a:pt x="63722" y="39433"/>
                  </a:lnTo>
                  <a:lnTo>
                    <a:pt x="51851" y="10572"/>
                  </a:lnTo>
                  <a:lnTo>
                    <a:pt x="37337" y="0"/>
                  </a:lnTo>
                  <a:lnTo>
                    <a:pt x="22502" y="10572"/>
                  </a:lnTo>
                  <a:lnTo>
                    <a:pt x="10667" y="39433"/>
                  </a:lnTo>
                  <a:lnTo>
                    <a:pt x="2833" y="82296"/>
                  </a:lnTo>
                  <a:lnTo>
                    <a:pt x="0" y="134874"/>
                  </a:lnTo>
                  <a:lnTo>
                    <a:pt x="2833" y="187452"/>
                  </a:lnTo>
                  <a:lnTo>
                    <a:pt x="10667" y="230314"/>
                  </a:lnTo>
                  <a:lnTo>
                    <a:pt x="22502" y="259175"/>
                  </a:lnTo>
                  <a:lnTo>
                    <a:pt x="37337" y="269748"/>
                  </a:lnTo>
                  <a:lnTo>
                    <a:pt x="51851" y="259175"/>
                  </a:lnTo>
                  <a:lnTo>
                    <a:pt x="63722" y="230314"/>
                  </a:lnTo>
                  <a:lnTo>
                    <a:pt x="71735" y="187452"/>
                  </a:lnTo>
                  <a:lnTo>
                    <a:pt x="74675" y="134874"/>
                  </a:lnTo>
                  <a:close/>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4780025" y="1915667"/>
              <a:ext cx="1750060" cy="0"/>
            </a:xfrm>
            <a:custGeom>
              <a:avLst/>
              <a:gdLst/>
              <a:ahLst/>
              <a:cxnLst/>
              <a:rect l="l" t="t" r="r" b="b"/>
              <a:pathLst>
                <a:path w="1750059">
                  <a:moveTo>
                    <a:pt x="0" y="0"/>
                  </a:moveTo>
                  <a:lnTo>
                    <a:pt x="1749552"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4767071" y="2185415"/>
              <a:ext cx="1762760" cy="0"/>
            </a:xfrm>
            <a:custGeom>
              <a:avLst/>
              <a:gdLst/>
              <a:ahLst/>
              <a:cxnLst/>
              <a:rect l="l" t="t" r="r" b="b"/>
              <a:pathLst>
                <a:path w="1762759">
                  <a:moveTo>
                    <a:pt x="1762505" y="0"/>
                  </a:moveTo>
                  <a:lnTo>
                    <a:pt x="0"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6529577" y="1915667"/>
              <a:ext cx="37465" cy="269875"/>
            </a:xfrm>
            <a:custGeom>
              <a:avLst/>
              <a:gdLst/>
              <a:ahLst/>
              <a:cxnLst/>
              <a:rect l="l" t="t" r="r" b="b"/>
              <a:pathLst>
                <a:path w="37465" h="269875">
                  <a:moveTo>
                    <a:pt x="0" y="0"/>
                  </a:moveTo>
                  <a:lnTo>
                    <a:pt x="14513" y="10179"/>
                  </a:lnTo>
                  <a:lnTo>
                    <a:pt x="26384" y="38004"/>
                  </a:lnTo>
                  <a:lnTo>
                    <a:pt x="34397" y="79402"/>
                  </a:lnTo>
                  <a:lnTo>
                    <a:pt x="37338" y="130302"/>
                  </a:lnTo>
                  <a:lnTo>
                    <a:pt x="34540" y="184665"/>
                  </a:lnTo>
                  <a:lnTo>
                    <a:pt x="26955" y="229171"/>
                  </a:lnTo>
                  <a:lnTo>
                    <a:pt x="15799" y="259103"/>
                  </a:lnTo>
                  <a:lnTo>
                    <a:pt x="2286" y="269748"/>
                  </a:lnTo>
                  <a:lnTo>
                    <a:pt x="762" y="269748"/>
                  </a:lnTo>
                  <a:lnTo>
                    <a:pt x="0" y="269748"/>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4335779" y="1932431"/>
              <a:ext cx="262255" cy="269875"/>
            </a:xfrm>
            <a:custGeom>
              <a:avLst/>
              <a:gdLst/>
              <a:ahLst/>
              <a:cxnLst/>
              <a:rect l="l" t="t" r="r" b="b"/>
              <a:pathLst>
                <a:path w="262254" h="269875">
                  <a:moveTo>
                    <a:pt x="262127" y="134874"/>
                  </a:moveTo>
                  <a:lnTo>
                    <a:pt x="255446" y="92171"/>
                  </a:lnTo>
                  <a:lnTo>
                    <a:pt x="236841" y="55138"/>
                  </a:lnTo>
                  <a:lnTo>
                    <a:pt x="208471" y="25968"/>
                  </a:lnTo>
                  <a:lnTo>
                    <a:pt x="172492" y="6858"/>
                  </a:lnTo>
                  <a:lnTo>
                    <a:pt x="131063" y="0"/>
                  </a:lnTo>
                  <a:lnTo>
                    <a:pt x="89635" y="6858"/>
                  </a:lnTo>
                  <a:lnTo>
                    <a:pt x="53656" y="25968"/>
                  </a:lnTo>
                  <a:lnTo>
                    <a:pt x="25286" y="55138"/>
                  </a:lnTo>
                  <a:lnTo>
                    <a:pt x="6681" y="92171"/>
                  </a:lnTo>
                  <a:lnTo>
                    <a:pt x="0" y="134874"/>
                  </a:lnTo>
                  <a:lnTo>
                    <a:pt x="6681" y="177576"/>
                  </a:lnTo>
                  <a:lnTo>
                    <a:pt x="25286" y="214609"/>
                  </a:lnTo>
                  <a:lnTo>
                    <a:pt x="53656" y="243779"/>
                  </a:lnTo>
                  <a:lnTo>
                    <a:pt x="89635" y="262890"/>
                  </a:lnTo>
                  <a:lnTo>
                    <a:pt x="131063" y="269748"/>
                  </a:lnTo>
                  <a:lnTo>
                    <a:pt x="172492" y="262890"/>
                  </a:lnTo>
                  <a:lnTo>
                    <a:pt x="208471" y="243779"/>
                  </a:lnTo>
                  <a:lnTo>
                    <a:pt x="236841" y="214609"/>
                  </a:lnTo>
                  <a:lnTo>
                    <a:pt x="255446" y="177576"/>
                  </a:lnTo>
                  <a:lnTo>
                    <a:pt x="262127" y="134874"/>
                  </a:lnTo>
                  <a:close/>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 name="object 17"/>
          <p:cNvSpPr/>
          <p:nvPr/>
        </p:nvSpPr>
        <p:spPr>
          <a:xfrm>
            <a:off x="8625840" y="4847082"/>
            <a:ext cx="0" cy="721995"/>
          </a:xfrm>
          <a:custGeom>
            <a:avLst/>
            <a:gdLst/>
            <a:ahLst/>
            <a:cxnLst/>
            <a:rect l="l" t="t" r="r" b="b"/>
            <a:pathLst>
              <a:path h="721995">
                <a:moveTo>
                  <a:pt x="0" y="0"/>
                </a:moveTo>
                <a:lnTo>
                  <a:pt x="0" y="721613"/>
                </a:lnTo>
              </a:path>
            </a:pathLst>
          </a:custGeom>
          <a:ln w="8305">
            <a:solidFill>
              <a:srgbClr val="000000"/>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txBox="1"/>
          <p:nvPr/>
        </p:nvSpPr>
        <p:spPr>
          <a:xfrm>
            <a:off x="4386326" y="1882787"/>
            <a:ext cx="175895" cy="344170"/>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100" b="1" i="0" u="none" strike="noStrike" kern="1200" cap="none" spc="-45" normalizeH="0" baseline="0" noProof="0" dirty="0">
                <a:ln>
                  <a:noFill/>
                </a:ln>
                <a:solidFill>
                  <a:prstClr val="black"/>
                </a:solidFill>
                <a:effectLst/>
                <a:uLnTx/>
                <a:uFillTx/>
                <a:latin typeface="Arial"/>
                <a:ea typeface="+mn-ea"/>
                <a:cs typeface="Arial"/>
              </a:rPr>
              <a:t>+</a:t>
            </a:r>
            <a:endParaRPr kumimoji="0" sz="2100" b="0" i="0" u="none" strike="noStrike" kern="1200" cap="none" spc="0" normalizeH="0" baseline="0" noProof="0">
              <a:ln>
                <a:noFill/>
              </a:ln>
              <a:solidFill>
                <a:prstClr val="black"/>
              </a:solidFill>
              <a:effectLst/>
              <a:uLnTx/>
              <a:uFillTx/>
              <a:latin typeface="Arial"/>
              <a:ea typeface="+mn-ea"/>
              <a:cs typeface="Arial"/>
            </a:endParaRPr>
          </a:p>
        </p:txBody>
      </p:sp>
      <p:grpSp>
        <p:nvGrpSpPr>
          <p:cNvPr id="19" name="object 19"/>
          <p:cNvGrpSpPr/>
          <p:nvPr/>
        </p:nvGrpSpPr>
        <p:grpSpPr>
          <a:xfrm>
            <a:off x="2972180" y="1780413"/>
            <a:ext cx="4366260" cy="541020"/>
            <a:chOff x="2972180" y="1780413"/>
            <a:chExt cx="4366260" cy="541020"/>
          </a:xfrm>
        </p:grpSpPr>
        <p:sp>
          <p:nvSpPr>
            <p:cNvPr id="20" name="object 20"/>
            <p:cNvSpPr/>
            <p:nvPr/>
          </p:nvSpPr>
          <p:spPr>
            <a:xfrm>
              <a:off x="2989325" y="1918716"/>
              <a:ext cx="327660" cy="338455"/>
            </a:xfrm>
            <a:custGeom>
              <a:avLst/>
              <a:gdLst/>
              <a:ahLst/>
              <a:cxnLst/>
              <a:rect l="l" t="t" r="r" b="b"/>
              <a:pathLst>
                <a:path w="327660" h="338455">
                  <a:moveTo>
                    <a:pt x="0" y="0"/>
                  </a:moveTo>
                  <a:lnTo>
                    <a:pt x="0" y="338327"/>
                  </a:lnTo>
                  <a:lnTo>
                    <a:pt x="327660" y="338327"/>
                  </a:lnTo>
                  <a:lnTo>
                    <a:pt x="327660" y="0"/>
                  </a:lnTo>
                  <a:lnTo>
                    <a:pt x="0" y="0"/>
                  </a:lnTo>
                  <a:close/>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p:nvPr/>
          </p:nvSpPr>
          <p:spPr>
            <a:xfrm>
              <a:off x="6681215" y="1797558"/>
              <a:ext cx="492759" cy="506730"/>
            </a:xfrm>
            <a:custGeom>
              <a:avLst/>
              <a:gdLst/>
              <a:ahLst/>
              <a:cxnLst/>
              <a:rect l="l" t="t" r="r" b="b"/>
              <a:pathLst>
                <a:path w="492759" h="506730">
                  <a:moveTo>
                    <a:pt x="0" y="0"/>
                  </a:moveTo>
                  <a:lnTo>
                    <a:pt x="492252" y="252983"/>
                  </a:lnTo>
                  <a:lnTo>
                    <a:pt x="0" y="506730"/>
                  </a:lnTo>
                  <a:lnTo>
                    <a:pt x="0" y="0"/>
                  </a:lnTo>
                  <a:close/>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7173467" y="2050542"/>
              <a:ext cx="147955" cy="0"/>
            </a:xfrm>
            <a:custGeom>
              <a:avLst/>
              <a:gdLst/>
              <a:ahLst/>
              <a:cxnLst/>
              <a:rect l="l" t="t" r="r" b="b"/>
              <a:pathLst>
                <a:path w="147954">
                  <a:moveTo>
                    <a:pt x="0" y="0"/>
                  </a:moveTo>
                  <a:lnTo>
                    <a:pt x="147828"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3"/>
            <p:cNvSpPr/>
            <p:nvPr/>
          </p:nvSpPr>
          <p:spPr>
            <a:xfrm>
              <a:off x="6599682" y="2045970"/>
              <a:ext cx="81915" cy="5080"/>
            </a:xfrm>
            <a:custGeom>
              <a:avLst/>
              <a:gdLst/>
              <a:ahLst/>
              <a:cxnLst/>
              <a:rect l="l" t="t" r="r" b="b"/>
              <a:pathLst>
                <a:path w="81915" h="5080">
                  <a:moveTo>
                    <a:pt x="-17087" y="2286"/>
                  </a:moveTo>
                  <a:lnTo>
                    <a:pt x="98621" y="2286"/>
                  </a:lnTo>
                </a:path>
              </a:pathLst>
            </a:custGeom>
            <a:ln w="3874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object 24"/>
            <p:cNvSpPr/>
            <p:nvPr/>
          </p:nvSpPr>
          <p:spPr>
            <a:xfrm>
              <a:off x="4597907" y="2061210"/>
              <a:ext cx="132080" cy="1270"/>
            </a:xfrm>
            <a:custGeom>
              <a:avLst/>
              <a:gdLst/>
              <a:ahLst/>
              <a:cxnLst/>
              <a:rect l="l" t="t" r="r" b="b"/>
              <a:pathLst>
                <a:path w="132079" h="1269">
                  <a:moveTo>
                    <a:pt x="-17087" y="380"/>
                  </a:moveTo>
                  <a:lnTo>
                    <a:pt x="148913" y="380"/>
                  </a:lnTo>
                </a:path>
              </a:pathLst>
            </a:custGeom>
            <a:ln w="3493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 name="object 25"/>
          <p:cNvSpPr txBox="1"/>
          <p:nvPr/>
        </p:nvSpPr>
        <p:spPr>
          <a:xfrm>
            <a:off x="3031489" y="1929611"/>
            <a:ext cx="182880" cy="294640"/>
          </a:xfrm>
          <a:prstGeom prst="rect">
            <a:avLst/>
          </a:prstGeom>
        </p:spPr>
        <p:txBody>
          <a:bodyPr vert="horz" wrap="square" lIns="0" tIns="14605" rIns="0" bIns="0" rtlCol="0">
            <a:spAutoFit/>
          </a:bodyPr>
          <a:lstStyle/>
          <a:p>
            <a:pPr marL="12700" marR="0" lvl="0" indent="0" algn="l" defTabSz="914400" rtl="0" eaLnBrk="1" fontAlgn="auto" latinLnBrk="0" hangingPunct="1">
              <a:lnSpc>
                <a:spcPct val="100000"/>
              </a:lnSpc>
              <a:spcBef>
                <a:spcPts val="115"/>
              </a:spcBef>
              <a:spcAft>
                <a:spcPts val="0"/>
              </a:spcAft>
              <a:buClrTx/>
              <a:buSzTx/>
              <a:buFontTx/>
              <a:buNone/>
              <a:tabLst/>
              <a:defRPr/>
            </a:pPr>
            <a:r>
              <a:rPr kumimoji="0" sz="1750" b="1" i="0" u="none" strike="noStrike" kern="1200" cap="none" spc="-30" normalizeH="0" baseline="0" noProof="0" dirty="0">
                <a:ln>
                  <a:noFill/>
                </a:ln>
                <a:solidFill>
                  <a:prstClr val="black"/>
                </a:solidFill>
                <a:effectLst/>
                <a:uLnTx/>
                <a:uFillTx/>
                <a:latin typeface="Arial"/>
                <a:ea typeface="+mn-ea"/>
                <a:cs typeface="Arial"/>
              </a:rPr>
              <a:t>D</a:t>
            </a:r>
            <a:endParaRPr kumimoji="0" sz="1750" b="0" i="0" u="none" strike="noStrike" kern="1200" cap="none" spc="0" normalizeH="0" baseline="0" noProof="0">
              <a:ln>
                <a:noFill/>
              </a:ln>
              <a:solidFill>
                <a:prstClr val="black"/>
              </a:solidFill>
              <a:effectLst/>
              <a:uLnTx/>
              <a:uFillTx/>
              <a:latin typeface="Arial"/>
              <a:ea typeface="+mn-ea"/>
              <a:cs typeface="Arial"/>
            </a:endParaRPr>
          </a:p>
        </p:txBody>
      </p:sp>
      <p:grpSp>
        <p:nvGrpSpPr>
          <p:cNvPr id="26" name="object 26"/>
          <p:cNvGrpSpPr/>
          <p:nvPr/>
        </p:nvGrpSpPr>
        <p:grpSpPr>
          <a:xfrm>
            <a:off x="2980563" y="1536572"/>
            <a:ext cx="582930" cy="1393825"/>
            <a:chOff x="2980563" y="1536572"/>
            <a:chExt cx="582930" cy="1393825"/>
          </a:xfrm>
        </p:grpSpPr>
        <p:sp>
          <p:nvSpPr>
            <p:cNvPr id="27" name="object 27"/>
            <p:cNvSpPr/>
            <p:nvPr/>
          </p:nvSpPr>
          <p:spPr>
            <a:xfrm>
              <a:off x="3316986" y="2071115"/>
              <a:ext cx="81280" cy="0"/>
            </a:xfrm>
            <a:custGeom>
              <a:avLst/>
              <a:gdLst/>
              <a:ahLst/>
              <a:cxnLst/>
              <a:rect l="l" t="t" r="r" b="b"/>
              <a:pathLst>
                <a:path w="81279">
                  <a:moveTo>
                    <a:pt x="80772" y="0"/>
                  </a:moveTo>
                  <a:lnTo>
                    <a:pt x="0"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bject 28"/>
            <p:cNvSpPr/>
            <p:nvPr/>
          </p:nvSpPr>
          <p:spPr>
            <a:xfrm>
              <a:off x="3092958" y="1732787"/>
              <a:ext cx="470534" cy="400050"/>
            </a:xfrm>
            <a:custGeom>
              <a:avLst/>
              <a:gdLst/>
              <a:ahLst/>
              <a:cxnLst/>
              <a:rect l="l" t="t" r="r" b="b"/>
              <a:pathLst>
                <a:path w="470535" h="400050">
                  <a:moveTo>
                    <a:pt x="120396" y="0"/>
                  </a:moveTo>
                  <a:lnTo>
                    <a:pt x="0" y="0"/>
                  </a:lnTo>
                  <a:lnTo>
                    <a:pt x="60198" y="185928"/>
                  </a:lnTo>
                  <a:lnTo>
                    <a:pt x="120396" y="0"/>
                  </a:lnTo>
                  <a:close/>
                </a:path>
                <a:path w="470535" h="400050">
                  <a:moveTo>
                    <a:pt x="470154" y="338328"/>
                  </a:moveTo>
                  <a:lnTo>
                    <a:pt x="289560" y="275844"/>
                  </a:lnTo>
                  <a:lnTo>
                    <a:pt x="289560" y="400050"/>
                  </a:lnTo>
                  <a:lnTo>
                    <a:pt x="470154" y="33832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object 29"/>
            <p:cNvSpPr/>
            <p:nvPr/>
          </p:nvSpPr>
          <p:spPr>
            <a:xfrm>
              <a:off x="3153156" y="1553717"/>
              <a:ext cx="0" cy="184150"/>
            </a:xfrm>
            <a:custGeom>
              <a:avLst/>
              <a:gdLst/>
              <a:ahLst/>
              <a:cxnLst/>
              <a:rect l="l" t="t" r="r" b="b"/>
              <a:pathLst>
                <a:path h="184150">
                  <a:moveTo>
                    <a:pt x="0" y="0"/>
                  </a:moveTo>
                  <a:lnTo>
                    <a:pt x="0" y="183642"/>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object 30"/>
            <p:cNvSpPr/>
            <p:nvPr/>
          </p:nvSpPr>
          <p:spPr>
            <a:xfrm>
              <a:off x="2997708" y="2574797"/>
              <a:ext cx="327660" cy="338455"/>
            </a:xfrm>
            <a:custGeom>
              <a:avLst/>
              <a:gdLst/>
              <a:ahLst/>
              <a:cxnLst/>
              <a:rect l="l" t="t" r="r" b="b"/>
              <a:pathLst>
                <a:path w="327660" h="338455">
                  <a:moveTo>
                    <a:pt x="0" y="0"/>
                  </a:moveTo>
                  <a:lnTo>
                    <a:pt x="0" y="338327"/>
                  </a:lnTo>
                  <a:lnTo>
                    <a:pt x="327660" y="338327"/>
                  </a:lnTo>
                  <a:lnTo>
                    <a:pt x="327660" y="0"/>
                  </a:lnTo>
                  <a:lnTo>
                    <a:pt x="0" y="0"/>
                  </a:lnTo>
                  <a:close/>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1" name="object 31"/>
          <p:cNvSpPr txBox="1"/>
          <p:nvPr/>
        </p:nvSpPr>
        <p:spPr>
          <a:xfrm>
            <a:off x="3031489" y="2587979"/>
            <a:ext cx="182880" cy="294640"/>
          </a:xfrm>
          <a:prstGeom prst="rect">
            <a:avLst/>
          </a:prstGeom>
        </p:spPr>
        <p:txBody>
          <a:bodyPr vert="horz" wrap="square" lIns="0" tIns="14605" rIns="0" bIns="0" rtlCol="0">
            <a:spAutoFit/>
          </a:bodyPr>
          <a:lstStyle/>
          <a:p>
            <a:pPr marL="12700" marR="0" lvl="0" indent="0" algn="l" defTabSz="914400" rtl="0" eaLnBrk="1" fontAlgn="auto" latinLnBrk="0" hangingPunct="1">
              <a:lnSpc>
                <a:spcPct val="100000"/>
              </a:lnSpc>
              <a:spcBef>
                <a:spcPts val="115"/>
              </a:spcBef>
              <a:spcAft>
                <a:spcPts val="0"/>
              </a:spcAft>
              <a:buClrTx/>
              <a:buSzTx/>
              <a:buFontTx/>
              <a:buNone/>
              <a:tabLst/>
              <a:defRPr/>
            </a:pPr>
            <a:r>
              <a:rPr kumimoji="0" sz="1750" b="1" i="0" u="none" strike="noStrike" kern="1200" cap="none" spc="-30" normalizeH="0" baseline="0" noProof="0" dirty="0">
                <a:ln>
                  <a:noFill/>
                </a:ln>
                <a:solidFill>
                  <a:prstClr val="black"/>
                </a:solidFill>
                <a:effectLst/>
                <a:uLnTx/>
                <a:uFillTx/>
                <a:latin typeface="Arial"/>
                <a:ea typeface="+mn-ea"/>
                <a:cs typeface="Arial"/>
              </a:rPr>
              <a:t>D</a:t>
            </a:r>
            <a:endParaRPr kumimoji="0" sz="1750" b="0" i="0" u="none" strike="noStrike" kern="1200" cap="none" spc="0" normalizeH="0" baseline="0" noProof="0">
              <a:ln>
                <a:noFill/>
              </a:ln>
              <a:solidFill>
                <a:prstClr val="black"/>
              </a:solidFill>
              <a:effectLst/>
              <a:uLnTx/>
              <a:uFillTx/>
              <a:latin typeface="Arial"/>
              <a:ea typeface="+mn-ea"/>
              <a:cs typeface="Arial"/>
            </a:endParaRPr>
          </a:p>
        </p:txBody>
      </p:sp>
      <p:grpSp>
        <p:nvGrpSpPr>
          <p:cNvPr id="32" name="object 32"/>
          <p:cNvGrpSpPr/>
          <p:nvPr/>
        </p:nvGrpSpPr>
        <p:grpSpPr>
          <a:xfrm>
            <a:off x="3096767" y="2008632"/>
            <a:ext cx="1443355" cy="1005840"/>
            <a:chOff x="3096767" y="2008632"/>
            <a:chExt cx="1443355" cy="1005840"/>
          </a:xfrm>
        </p:grpSpPr>
        <p:sp>
          <p:nvSpPr>
            <p:cNvPr id="33" name="object 33"/>
            <p:cNvSpPr/>
            <p:nvPr/>
          </p:nvSpPr>
          <p:spPr>
            <a:xfrm>
              <a:off x="3156965" y="2257044"/>
              <a:ext cx="0" cy="147320"/>
            </a:xfrm>
            <a:custGeom>
              <a:avLst/>
              <a:gdLst/>
              <a:ahLst/>
              <a:cxnLst/>
              <a:rect l="l" t="t" r="r" b="b"/>
              <a:pathLst>
                <a:path h="147319">
                  <a:moveTo>
                    <a:pt x="0" y="0"/>
                  </a:moveTo>
                  <a:lnTo>
                    <a:pt x="0" y="147066"/>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3096767" y="2388870"/>
              <a:ext cx="121285" cy="186055"/>
            </a:xfrm>
            <a:custGeom>
              <a:avLst/>
              <a:gdLst/>
              <a:ahLst/>
              <a:cxnLst/>
              <a:rect l="l" t="t" r="r" b="b"/>
              <a:pathLst>
                <a:path w="121285" h="186055">
                  <a:moveTo>
                    <a:pt x="121157" y="0"/>
                  </a:moveTo>
                  <a:lnTo>
                    <a:pt x="0" y="0"/>
                  </a:lnTo>
                  <a:lnTo>
                    <a:pt x="60197" y="185928"/>
                  </a:lnTo>
                  <a:lnTo>
                    <a:pt x="121157"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3325367" y="2743962"/>
              <a:ext cx="69850" cy="0"/>
            </a:xfrm>
            <a:custGeom>
              <a:avLst/>
              <a:gdLst/>
              <a:ahLst/>
              <a:cxnLst/>
              <a:rect l="l" t="t" r="r" b="b"/>
              <a:pathLst>
                <a:path w="69850">
                  <a:moveTo>
                    <a:pt x="0" y="0"/>
                  </a:moveTo>
                  <a:lnTo>
                    <a:pt x="69342"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3560825" y="2490216"/>
              <a:ext cx="492759" cy="506730"/>
            </a:xfrm>
            <a:custGeom>
              <a:avLst/>
              <a:gdLst/>
              <a:ahLst/>
              <a:cxnLst/>
              <a:rect l="l" t="t" r="r" b="b"/>
              <a:pathLst>
                <a:path w="492760" h="506730">
                  <a:moveTo>
                    <a:pt x="0" y="0"/>
                  </a:moveTo>
                  <a:lnTo>
                    <a:pt x="492252" y="253745"/>
                  </a:lnTo>
                  <a:lnTo>
                    <a:pt x="0" y="506730"/>
                  </a:lnTo>
                  <a:lnTo>
                    <a:pt x="0" y="0"/>
                  </a:lnTo>
                  <a:close/>
                </a:path>
              </a:pathLst>
            </a:custGeom>
            <a:ln w="34175">
              <a:solidFill>
                <a:srgbClr val="0098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3379469" y="2681478"/>
              <a:ext cx="181610" cy="124460"/>
            </a:xfrm>
            <a:custGeom>
              <a:avLst/>
              <a:gdLst/>
              <a:ahLst/>
              <a:cxnLst/>
              <a:rect l="l" t="t" r="r" b="b"/>
              <a:pathLst>
                <a:path w="181610" h="124460">
                  <a:moveTo>
                    <a:pt x="181356" y="62483"/>
                  </a:moveTo>
                  <a:lnTo>
                    <a:pt x="0" y="0"/>
                  </a:lnTo>
                  <a:lnTo>
                    <a:pt x="0" y="124205"/>
                  </a:lnTo>
                  <a:lnTo>
                    <a:pt x="181356" y="6248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object 38"/>
            <p:cNvSpPr/>
            <p:nvPr/>
          </p:nvSpPr>
          <p:spPr>
            <a:xfrm>
              <a:off x="4055363" y="2071116"/>
              <a:ext cx="115570" cy="0"/>
            </a:xfrm>
            <a:custGeom>
              <a:avLst/>
              <a:gdLst/>
              <a:ahLst/>
              <a:cxnLst/>
              <a:rect l="l" t="t" r="r" b="b"/>
              <a:pathLst>
                <a:path w="115570">
                  <a:moveTo>
                    <a:pt x="0" y="0"/>
                  </a:moveTo>
                  <a:lnTo>
                    <a:pt x="115062"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bject 39"/>
            <p:cNvSpPr/>
            <p:nvPr/>
          </p:nvSpPr>
          <p:spPr>
            <a:xfrm>
              <a:off x="4154423" y="2008632"/>
              <a:ext cx="181610" cy="124460"/>
            </a:xfrm>
            <a:custGeom>
              <a:avLst/>
              <a:gdLst/>
              <a:ahLst/>
              <a:cxnLst/>
              <a:rect l="l" t="t" r="r" b="b"/>
              <a:pathLst>
                <a:path w="181610" h="124460">
                  <a:moveTo>
                    <a:pt x="181356" y="62483"/>
                  </a:moveTo>
                  <a:lnTo>
                    <a:pt x="0" y="0"/>
                  </a:lnTo>
                  <a:lnTo>
                    <a:pt x="0" y="124205"/>
                  </a:lnTo>
                  <a:lnTo>
                    <a:pt x="181356" y="6248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40"/>
            <p:cNvSpPr/>
            <p:nvPr/>
          </p:nvSpPr>
          <p:spPr>
            <a:xfrm>
              <a:off x="4053077" y="2372868"/>
              <a:ext cx="426720" cy="371475"/>
            </a:xfrm>
            <a:custGeom>
              <a:avLst/>
              <a:gdLst/>
              <a:ahLst/>
              <a:cxnLst/>
              <a:rect l="l" t="t" r="r" b="b"/>
              <a:pathLst>
                <a:path w="426720" h="371475">
                  <a:moveTo>
                    <a:pt x="0" y="371094"/>
                  </a:moveTo>
                  <a:lnTo>
                    <a:pt x="426720" y="371094"/>
                  </a:lnTo>
                  <a:lnTo>
                    <a:pt x="426720" y="0"/>
                  </a:lnTo>
                </a:path>
              </a:pathLst>
            </a:custGeom>
            <a:ln w="34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4419600" y="2201418"/>
              <a:ext cx="120650" cy="186690"/>
            </a:xfrm>
            <a:custGeom>
              <a:avLst/>
              <a:gdLst/>
              <a:ahLst/>
              <a:cxnLst/>
              <a:rect l="l" t="t" r="r" b="b"/>
              <a:pathLst>
                <a:path w="120650" h="186689">
                  <a:moveTo>
                    <a:pt x="120396" y="186689"/>
                  </a:moveTo>
                  <a:lnTo>
                    <a:pt x="60197" y="0"/>
                  </a:lnTo>
                  <a:lnTo>
                    <a:pt x="0" y="186689"/>
                  </a:lnTo>
                  <a:lnTo>
                    <a:pt x="120396" y="186689"/>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2" name="object 42"/>
          <p:cNvSpPr txBox="1"/>
          <p:nvPr/>
        </p:nvSpPr>
        <p:spPr>
          <a:xfrm>
            <a:off x="3578605" y="1902179"/>
            <a:ext cx="285750" cy="294640"/>
          </a:xfrm>
          <a:prstGeom prst="rect">
            <a:avLst/>
          </a:prstGeom>
        </p:spPr>
        <p:txBody>
          <a:bodyPr vert="horz" wrap="square" lIns="0" tIns="14605" rIns="0" bIns="0" rtlCol="0">
            <a:spAutoFit/>
          </a:bodyPr>
          <a:lstStyle/>
          <a:p>
            <a:pPr marL="12700" marR="0" lvl="0" indent="0" algn="l" defTabSz="914400" rtl="0" eaLnBrk="1" fontAlgn="auto" latinLnBrk="0" hangingPunct="1">
              <a:lnSpc>
                <a:spcPct val="100000"/>
              </a:lnSpc>
              <a:spcBef>
                <a:spcPts val="115"/>
              </a:spcBef>
              <a:spcAft>
                <a:spcPts val="0"/>
              </a:spcAft>
              <a:buClrTx/>
              <a:buSzTx/>
              <a:buFontTx/>
              <a:buNone/>
              <a:tabLst/>
              <a:defRPr/>
            </a:pPr>
            <a:r>
              <a:rPr kumimoji="0" lang="en-US" sz="1750" b="1" i="0" u="none" strike="noStrike" kern="1200" cap="none" spc="-170" normalizeH="0" baseline="0" noProof="0" dirty="0">
                <a:ln>
                  <a:noFill/>
                </a:ln>
                <a:solidFill>
                  <a:srgbClr val="0000FF"/>
                </a:solidFill>
                <a:effectLst/>
                <a:uLnTx/>
                <a:uFillTx/>
                <a:latin typeface="Arial"/>
                <a:ea typeface="+mn-ea"/>
                <a:cs typeface="Arial"/>
              </a:rPr>
              <a:t>w</a:t>
            </a:r>
            <a:r>
              <a:rPr kumimoji="0" sz="1750" b="1" i="0" u="none" strike="noStrike" kern="1200" cap="none" spc="-170" normalizeH="0" baseline="0" noProof="0" dirty="0">
                <a:ln>
                  <a:noFill/>
                </a:ln>
                <a:solidFill>
                  <a:srgbClr val="0000FF"/>
                </a:solidFill>
                <a:effectLst/>
                <a:uLnTx/>
                <a:uFillTx/>
                <a:latin typeface="Arial"/>
                <a:ea typeface="+mn-ea"/>
                <a:cs typeface="Arial"/>
              </a:rPr>
              <a:t>0</a:t>
            </a:r>
            <a:endParaRPr kumimoji="0" sz="1750" b="0" i="0" u="none" strike="noStrike" kern="1200" cap="none" spc="0" normalizeH="0" baseline="0" noProof="0" dirty="0">
              <a:ln>
                <a:noFill/>
              </a:ln>
              <a:solidFill>
                <a:prstClr val="black"/>
              </a:solidFill>
              <a:effectLst/>
              <a:uLnTx/>
              <a:uFillTx/>
              <a:latin typeface="Arial"/>
              <a:ea typeface="+mn-ea"/>
              <a:cs typeface="Arial"/>
            </a:endParaRPr>
          </a:p>
        </p:txBody>
      </p:sp>
      <p:sp>
        <p:nvSpPr>
          <p:cNvPr id="43" name="object 43"/>
          <p:cNvSpPr txBox="1"/>
          <p:nvPr/>
        </p:nvSpPr>
        <p:spPr>
          <a:xfrm>
            <a:off x="3559555" y="2559779"/>
            <a:ext cx="318770" cy="294640"/>
          </a:xfrm>
          <a:prstGeom prst="rect">
            <a:avLst/>
          </a:prstGeom>
        </p:spPr>
        <p:txBody>
          <a:bodyPr vert="horz" wrap="square" lIns="0" tIns="14605" rIns="0" bIns="0" rtlCol="0">
            <a:spAutoFit/>
          </a:bodyPr>
          <a:lstStyle/>
          <a:p>
            <a:pPr marL="12700" marR="0" lvl="0" indent="0" algn="l" defTabSz="914400" rtl="0" eaLnBrk="1" fontAlgn="auto" latinLnBrk="0" hangingPunct="1">
              <a:lnSpc>
                <a:spcPct val="100000"/>
              </a:lnSpc>
              <a:spcBef>
                <a:spcPts val="115"/>
              </a:spcBef>
              <a:spcAft>
                <a:spcPts val="0"/>
              </a:spcAft>
              <a:buClrTx/>
              <a:buSzTx/>
              <a:buFontTx/>
              <a:buNone/>
              <a:tabLst/>
              <a:defRPr/>
            </a:pPr>
            <a:r>
              <a:rPr kumimoji="0" sz="1750" b="1" i="0" u="none" strike="noStrike" kern="1200" cap="none" spc="-20" normalizeH="0" baseline="0" noProof="0" dirty="0">
                <a:ln>
                  <a:noFill/>
                </a:ln>
                <a:solidFill>
                  <a:srgbClr val="009900"/>
                </a:solidFill>
                <a:effectLst/>
                <a:uLnTx/>
                <a:uFillTx/>
                <a:latin typeface="Arial"/>
                <a:ea typeface="+mn-ea"/>
                <a:cs typeface="Arial"/>
              </a:rPr>
              <a:t>w1</a:t>
            </a:r>
            <a:endParaRPr kumimoji="0" sz="1750" b="0" i="0" u="none" strike="noStrike" kern="1200" cap="none" spc="0" normalizeH="0" baseline="0" noProof="0">
              <a:ln>
                <a:noFill/>
              </a:ln>
              <a:solidFill>
                <a:prstClr val="black"/>
              </a:solidFill>
              <a:effectLst/>
              <a:uLnTx/>
              <a:uFillTx/>
              <a:latin typeface="Arial"/>
              <a:ea typeface="+mn-ea"/>
              <a:cs typeface="Arial"/>
            </a:endParaRPr>
          </a:p>
        </p:txBody>
      </p:sp>
      <p:grpSp>
        <p:nvGrpSpPr>
          <p:cNvPr id="44" name="object 44"/>
          <p:cNvGrpSpPr/>
          <p:nvPr/>
        </p:nvGrpSpPr>
        <p:grpSpPr>
          <a:xfrm>
            <a:off x="4626102" y="3998124"/>
            <a:ext cx="2150745" cy="332105"/>
            <a:chOff x="4626102" y="3998124"/>
            <a:chExt cx="2150745" cy="332105"/>
          </a:xfrm>
        </p:grpSpPr>
        <p:sp>
          <p:nvSpPr>
            <p:cNvPr id="45" name="object 45"/>
            <p:cNvSpPr/>
            <p:nvPr/>
          </p:nvSpPr>
          <p:spPr>
            <a:xfrm>
              <a:off x="5082540" y="4014215"/>
              <a:ext cx="1678305" cy="299720"/>
            </a:xfrm>
            <a:custGeom>
              <a:avLst/>
              <a:gdLst/>
              <a:ahLst/>
              <a:cxnLst/>
              <a:rect l="l" t="t" r="r" b="b"/>
              <a:pathLst>
                <a:path w="1678304" h="299720">
                  <a:moveTo>
                    <a:pt x="0" y="0"/>
                  </a:moveTo>
                  <a:lnTo>
                    <a:pt x="151638" y="0"/>
                  </a:lnTo>
                  <a:lnTo>
                    <a:pt x="151638" y="299466"/>
                  </a:lnTo>
                  <a:lnTo>
                    <a:pt x="457200" y="299465"/>
                  </a:lnTo>
                  <a:lnTo>
                    <a:pt x="457200" y="0"/>
                  </a:lnTo>
                  <a:lnTo>
                    <a:pt x="1677924" y="0"/>
                  </a:lnTo>
                </a:path>
              </a:pathLst>
            </a:custGeom>
            <a:ln w="32181">
              <a:solidFill>
                <a:srgbClr val="0098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4626102" y="4014215"/>
              <a:ext cx="456565" cy="0"/>
            </a:xfrm>
            <a:custGeom>
              <a:avLst/>
              <a:gdLst/>
              <a:ahLst/>
              <a:cxnLst/>
              <a:rect l="l" t="t" r="r" b="b"/>
              <a:pathLst>
                <a:path w="456564">
                  <a:moveTo>
                    <a:pt x="0" y="0"/>
                  </a:moveTo>
                  <a:lnTo>
                    <a:pt x="456438" y="0"/>
                  </a:lnTo>
                </a:path>
              </a:pathLst>
            </a:custGeom>
            <a:ln w="32181">
              <a:solidFill>
                <a:srgbClr val="0098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8" name="object 48"/>
          <p:cNvSpPr/>
          <p:nvPr/>
        </p:nvSpPr>
        <p:spPr>
          <a:xfrm>
            <a:off x="6763512" y="1952244"/>
            <a:ext cx="97155" cy="200025"/>
          </a:xfrm>
          <a:custGeom>
            <a:avLst/>
            <a:gdLst/>
            <a:ahLst/>
            <a:cxnLst/>
            <a:rect l="l" t="t" r="r" b="b"/>
            <a:pathLst>
              <a:path w="97154" h="200025">
                <a:moveTo>
                  <a:pt x="0" y="199644"/>
                </a:moveTo>
                <a:lnTo>
                  <a:pt x="48768" y="199644"/>
                </a:lnTo>
                <a:lnTo>
                  <a:pt x="48767" y="0"/>
                </a:lnTo>
                <a:lnTo>
                  <a:pt x="96773" y="0"/>
                </a:lnTo>
              </a:path>
            </a:pathLst>
          </a:custGeom>
          <a:ln w="2413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bject 49"/>
          <p:cNvSpPr/>
          <p:nvPr/>
        </p:nvSpPr>
        <p:spPr>
          <a:xfrm>
            <a:off x="6777990" y="2052066"/>
            <a:ext cx="78105" cy="0"/>
          </a:xfrm>
          <a:custGeom>
            <a:avLst/>
            <a:gdLst/>
            <a:ahLst/>
            <a:cxnLst/>
            <a:rect l="l" t="t" r="r" b="b"/>
            <a:pathLst>
              <a:path w="78104">
                <a:moveTo>
                  <a:pt x="0" y="0"/>
                </a:moveTo>
                <a:lnTo>
                  <a:pt x="77724" y="0"/>
                </a:lnTo>
              </a:path>
            </a:pathLst>
          </a:custGeom>
          <a:ln w="2413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bject 50"/>
          <p:cNvSpPr/>
          <p:nvPr/>
        </p:nvSpPr>
        <p:spPr>
          <a:xfrm>
            <a:off x="4626102" y="3059430"/>
            <a:ext cx="1824355" cy="627380"/>
          </a:xfrm>
          <a:custGeom>
            <a:avLst/>
            <a:gdLst/>
            <a:ahLst/>
            <a:cxnLst/>
            <a:rect l="l" t="t" r="r" b="b"/>
            <a:pathLst>
              <a:path w="1824354" h="627379">
                <a:moveTo>
                  <a:pt x="0" y="627126"/>
                </a:moveTo>
                <a:lnTo>
                  <a:pt x="298704" y="627126"/>
                </a:lnTo>
                <a:lnTo>
                  <a:pt x="298703" y="0"/>
                </a:lnTo>
                <a:lnTo>
                  <a:pt x="603504" y="0"/>
                </a:lnTo>
                <a:lnTo>
                  <a:pt x="603504" y="627126"/>
                </a:lnTo>
                <a:lnTo>
                  <a:pt x="1824227" y="627125"/>
                </a:lnTo>
              </a:path>
            </a:pathLst>
          </a:custGeom>
          <a:ln w="32181">
            <a:solidFill>
              <a:srgbClr val="0000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1" name="object 51"/>
          <p:cNvPicPr/>
          <p:nvPr/>
        </p:nvPicPr>
        <p:blipFill>
          <a:blip r:embed="rId3" cstate="print"/>
          <a:stretch>
            <a:fillRect/>
          </a:stretch>
        </p:blipFill>
        <p:spPr>
          <a:xfrm>
            <a:off x="7003135" y="2698597"/>
            <a:ext cx="2916986" cy="987958"/>
          </a:xfrm>
          <a:prstGeom prst="rect">
            <a:avLst/>
          </a:prstGeom>
        </p:spPr>
      </p:pic>
      <p:pic>
        <p:nvPicPr>
          <p:cNvPr id="52" name="object 52"/>
          <p:cNvPicPr/>
          <p:nvPr/>
        </p:nvPicPr>
        <p:blipFill>
          <a:blip r:embed="rId4" cstate="print"/>
          <a:stretch>
            <a:fillRect/>
          </a:stretch>
        </p:blipFill>
        <p:spPr>
          <a:xfrm>
            <a:off x="7022185" y="3911701"/>
            <a:ext cx="2879648" cy="303326"/>
          </a:xfrm>
          <a:prstGeom prst="rect">
            <a:avLst/>
          </a:prstGeom>
        </p:spPr>
      </p:pic>
      <p:sp>
        <p:nvSpPr>
          <p:cNvPr id="53" name="object 53"/>
          <p:cNvSpPr/>
          <p:nvPr/>
        </p:nvSpPr>
        <p:spPr>
          <a:xfrm>
            <a:off x="4626102" y="5568695"/>
            <a:ext cx="304165" cy="0"/>
          </a:xfrm>
          <a:custGeom>
            <a:avLst/>
            <a:gdLst/>
            <a:ahLst/>
            <a:cxnLst/>
            <a:rect l="l" t="t" r="r" b="b"/>
            <a:pathLst>
              <a:path w="304164">
                <a:moveTo>
                  <a:pt x="0" y="0"/>
                </a:moveTo>
                <a:lnTo>
                  <a:pt x="304038" y="0"/>
                </a:lnTo>
              </a:path>
            </a:pathLst>
          </a:custGeom>
          <a:ln w="32181">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bject 54"/>
          <p:cNvSpPr/>
          <p:nvPr/>
        </p:nvSpPr>
        <p:spPr>
          <a:xfrm>
            <a:off x="4930140" y="4627626"/>
            <a:ext cx="1520190" cy="1254760"/>
          </a:xfrm>
          <a:custGeom>
            <a:avLst/>
            <a:gdLst/>
            <a:ahLst/>
            <a:cxnLst/>
            <a:rect l="l" t="t" r="r" b="b"/>
            <a:pathLst>
              <a:path w="1520189" h="1254760">
                <a:moveTo>
                  <a:pt x="0" y="941070"/>
                </a:moveTo>
                <a:lnTo>
                  <a:pt x="0" y="0"/>
                </a:lnTo>
                <a:lnTo>
                  <a:pt x="304038" y="0"/>
                </a:lnTo>
                <a:lnTo>
                  <a:pt x="304038" y="1254252"/>
                </a:lnTo>
                <a:lnTo>
                  <a:pt x="608076" y="1254252"/>
                </a:lnTo>
                <a:lnTo>
                  <a:pt x="608076" y="941070"/>
                </a:lnTo>
                <a:lnTo>
                  <a:pt x="1520190" y="941070"/>
                </a:lnTo>
              </a:path>
            </a:pathLst>
          </a:custGeom>
          <a:ln w="32181">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bject 55"/>
          <p:cNvSpPr/>
          <p:nvPr/>
        </p:nvSpPr>
        <p:spPr>
          <a:xfrm>
            <a:off x="7053072" y="4991861"/>
            <a:ext cx="670560" cy="250825"/>
          </a:xfrm>
          <a:custGeom>
            <a:avLst/>
            <a:gdLst/>
            <a:ahLst/>
            <a:cxnLst/>
            <a:rect l="l" t="t" r="r" b="b"/>
            <a:pathLst>
              <a:path w="670559" h="250825">
                <a:moveTo>
                  <a:pt x="0" y="250698"/>
                </a:moveTo>
                <a:lnTo>
                  <a:pt x="383286" y="250698"/>
                </a:lnTo>
                <a:lnTo>
                  <a:pt x="438245" y="243982"/>
                </a:lnTo>
                <a:lnTo>
                  <a:pt x="483489" y="221551"/>
                </a:lnTo>
                <a:lnTo>
                  <a:pt x="514445" y="186832"/>
                </a:lnTo>
                <a:lnTo>
                  <a:pt x="526542" y="143256"/>
                </a:lnTo>
                <a:lnTo>
                  <a:pt x="534570" y="96755"/>
                </a:lnTo>
                <a:lnTo>
                  <a:pt x="555290" y="56729"/>
                </a:lnTo>
                <a:lnTo>
                  <a:pt x="586398" y="25627"/>
                </a:lnTo>
                <a:lnTo>
                  <a:pt x="625589" y="5900"/>
                </a:lnTo>
                <a:lnTo>
                  <a:pt x="670560" y="0"/>
                </a:lnTo>
              </a:path>
            </a:pathLst>
          </a:custGeom>
          <a:ln w="44716">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object 56"/>
          <p:cNvSpPr/>
          <p:nvPr/>
        </p:nvSpPr>
        <p:spPr>
          <a:xfrm>
            <a:off x="7723632" y="4987983"/>
            <a:ext cx="243840" cy="182245"/>
          </a:xfrm>
          <a:custGeom>
            <a:avLst/>
            <a:gdLst/>
            <a:ahLst/>
            <a:cxnLst/>
            <a:rect l="l" t="t" r="r" b="b"/>
            <a:pathLst>
              <a:path w="243840" h="182245">
                <a:moveTo>
                  <a:pt x="0" y="5402"/>
                </a:moveTo>
                <a:lnTo>
                  <a:pt x="44498" y="0"/>
                </a:lnTo>
                <a:lnTo>
                  <a:pt x="88196" y="6593"/>
                </a:lnTo>
                <a:lnTo>
                  <a:pt x="129642" y="24117"/>
                </a:lnTo>
                <a:lnTo>
                  <a:pt x="167382" y="51504"/>
                </a:lnTo>
                <a:lnTo>
                  <a:pt x="199963" y="87689"/>
                </a:lnTo>
                <a:lnTo>
                  <a:pt x="225934" y="131606"/>
                </a:lnTo>
                <a:lnTo>
                  <a:pt x="243840" y="182186"/>
                </a:lnTo>
              </a:path>
            </a:pathLst>
          </a:custGeom>
          <a:ln w="44716">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8006334" y="5181600"/>
            <a:ext cx="1788795" cy="57150"/>
          </a:xfrm>
          <a:custGeom>
            <a:avLst/>
            <a:gdLst/>
            <a:ahLst/>
            <a:cxnLst/>
            <a:rect l="l" t="t" r="r" b="b"/>
            <a:pathLst>
              <a:path w="1788795" h="57150">
                <a:moveTo>
                  <a:pt x="0" y="0"/>
                </a:moveTo>
                <a:lnTo>
                  <a:pt x="28409" y="25459"/>
                </a:lnTo>
                <a:lnTo>
                  <a:pt x="109337" y="45053"/>
                </a:lnTo>
                <a:lnTo>
                  <a:pt x="165029" y="51751"/>
                </a:lnTo>
                <a:lnTo>
                  <a:pt x="228493" y="55903"/>
                </a:lnTo>
                <a:lnTo>
                  <a:pt x="297942" y="57149"/>
                </a:lnTo>
                <a:lnTo>
                  <a:pt x="1788414" y="57149"/>
                </a:lnTo>
              </a:path>
            </a:pathLst>
          </a:custGeom>
          <a:ln w="44716">
            <a:solidFill>
              <a:srgbClr val="FF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8" name="object 58"/>
          <p:cNvPicPr/>
          <p:nvPr/>
        </p:nvPicPr>
        <p:blipFill>
          <a:blip r:embed="rId5" cstate="print"/>
          <a:stretch>
            <a:fillRect/>
          </a:stretch>
        </p:blipFill>
        <p:spPr>
          <a:xfrm>
            <a:off x="7661586" y="4924482"/>
            <a:ext cx="101231" cy="119519"/>
          </a:xfrm>
          <a:prstGeom prst="rect">
            <a:avLst/>
          </a:prstGeom>
        </p:spPr>
      </p:pic>
      <p:pic>
        <p:nvPicPr>
          <p:cNvPr id="59" name="object 59"/>
          <p:cNvPicPr/>
          <p:nvPr/>
        </p:nvPicPr>
        <p:blipFill>
          <a:blip r:embed="rId6" cstate="print"/>
          <a:stretch>
            <a:fillRect/>
          </a:stretch>
        </p:blipFill>
        <p:spPr>
          <a:xfrm>
            <a:off x="7347642" y="5188134"/>
            <a:ext cx="101231" cy="120281"/>
          </a:xfrm>
          <a:prstGeom prst="rect">
            <a:avLst/>
          </a:prstGeom>
        </p:spPr>
      </p:pic>
      <p:pic>
        <p:nvPicPr>
          <p:cNvPr id="60" name="object 60"/>
          <p:cNvPicPr/>
          <p:nvPr/>
        </p:nvPicPr>
        <p:blipFill>
          <a:blip r:embed="rId7" cstate="print"/>
          <a:stretch>
            <a:fillRect/>
          </a:stretch>
        </p:blipFill>
        <p:spPr>
          <a:xfrm>
            <a:off x="7955718" y="5153082"/>
            <a:ext cx="101231" cy="119519"/>
          </a:xfrm>
          <a:prstGeom prst="rect">
            <a:avLst/>
          </a:prstGeom>
        </p:spPr>
      </p:pic>
      <p:pic>
        <p:nvPicPr>
          <p:cNvPr id="61" name="object 61"/>
          <p:cNvPicPr/>
          <p:nvPr/>
        </p:nvPicPr>
        <p:blipFill>
          <a:blip r:embed="rId8" cstate="print"/>
          <a:stretch>
            <a:fillRect/>
          </a:stretch>
        </p:blipFill>
        <p:spPr>
          <a:xfrm>
            <a:off x="8259756" y="5188134"/>
            <a:ext cx="101231" cy="120281"/>
          </a:xfrm>
          <a:prstGeom prst="rect">
            <a:avLst/>
          </a:prstGeom>
        </p:spPr>
      </p:pic>
      <p:pic>
        <p:nvPicPr>
          <p:cNvPr id="62" name="object 62"/>
          <p:cNvPicPr/>
          <p:nvPr/>
        </p:nvPicPr>
        <p:blipFill>
          <a:blip r:embed="rId9" cstate="print"/>
          <a:stretch>
            <a:fillRect/>
          </a:stretch>
        </p:blipFill>
        <p:spPr>
          <a:xfrm>
            <a:off x="8563794" y="5188134"/>
            <a:ext cx="101231" cy="120281"/>
          </a:xfrm>
          <a:prstGeom prst="rect">
            <a:avLst/>
          </a:prstGeom>
        </p:spPr>
      </p:pic>
      <p:pic>
        <p:nvPicPr>
          <p:cNvPr id="63" name="object 63"/>
          <p:cNvPicPr/>
          <p:nvPr/>
        </p:nvPicPr>
        <p:blipFill>
          <a:blip r:embed="rId10" cstate="print"/>
          <a:stretch>
            <a:fillRect/>
          </a:stretch>
        </p:blipFill>
        <p:spPr>
          <a:xfrm>
            <a:off x="8867832" y="5188134"/>
            <a:ext cx="101231" cy="120281"/>
          </a:xfrm>
          <a:prstGeom prst="rect">
            <a:avLst/>
          </a:prstGeom>
        </p:spPr>
      </p:pic>
      <p:pic>
        <p:nvPicPr>
          <p:cNvPr id="64" name="object 64"/>
          <p:cNvPicPr/>
          <p:nvPr/>
        </p:nvPicPr>
        <p:blipFill>
          <a:blip r:embed="rId10" cstate="print"/>
          <a:stretch>
            <a:fillRect/>
          </a:stretch>
        </p:blipFill>
        <p:spPr>
          <a:xfrm>
            <a:off x="9171870" y="5188134"/>
            <a:ext cx="101231" cy="120281"/>
          </a:xfrm>
          <a:prstGeom prst="rect">
            <a:avLst/>
          </a:prstGeom>
        </p:spPr>
      </p:pic>
      <p:pic>
        <p:nvPicPr>
          <p:cNvPr id="65" name="object 65"/>
          <p:cNvPicPr/>
          <p:nvPr/>
        </p:nvPicPr>
        <p:blipFill>
          <a:blip r:embed="rId10" cstate="print"/>
          <a:stretch>
            <a:fillRect/>
          </a:stretch>
        </p:blipFill>
        <p:spPr>
          <a:xfrm>
            <a:off x="9475908" y="5188134"/>
            <a:ext cx="101231" cy="120281"/>
          </a:xfrm>
          <a:prstGeom prst="rect">
            <a:avLst/>
          </a:prstGeom>
        </p:spPr>
      </p:pic>
      <p:pic>
        <p:nvPicPr>
          <p:cNvPr id="66" name="object 66"/>
          <p:cNvPicPr/>
          <p:nvPr/>
        </p:nvPicPr>
        <p:blipFill>
          <a:blip r:embed="rId10" cstate="print"/>
          <a:stretch>
            <a:fillRect/>
          </a:stretch>
        </p:blipFill>
        <p:spPr>
          <a:xfrm>
            <a:off x="9779946" y="5188134"/>
            <a:ext cx="101231" cy="120281"/>
          </a:xfrm>
          <a:prstGeom prst="rect">
            <a:avLst/>
          </a:prstGeom>
        </p:spPr>
      </p:pic>
      <p:pic>
        <p:nvPicPr>
          <p:cNvPr id="67" name="object 67"/>
          <p:cNvPicPr/>
          <p:nvPr/>
        </p:nvPicPr>
        <p:blipFill>
          <a:blip r:embed="rId6" cstate="print"/>
          <a:stretch>
            <a:fillRect/>
          </a:stretch>
        </p:blipFill>
        <p:spPr>
          <a:xfrm>
            <a:off x="7061892" y="5188134"/>
            <a:ext cx="101231" cy="120281"/>
          </a:xfrm>
          <a:prstGeom prst="rect">
            <a:avLst/>
          </a:prstGeom>
        </p:spPr>
      </p:pic>
      <p:sp>
        <p:nvSpPr>
          <p:cNvPr id="68" name="object 68"/>
          <p:cNvSpPr txBox="1"/>
          <p:nvPr/>
        </p:nvSpPr>
        <p:spPr>
          <a:xfrm>
            <a:off x="2395982" y="1136646"/>
            <a:ext cx="1331595" cy="29146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750" b="0" i="0" u="none" strike="noStrike" kern="1200" cap="none" spc="-45" normalizeH="0" baseline="0" noProof="0" dirty="0">
                <a:ln>
                  <a:noFill/>
                </a:ln>
                <a:solidFill>
                  <a:prstClr val="black"/>
                </a:solidFill>
                <a:effectLst/>
                <a:uLnTx/>
                <a:uFillTx/>
                <a:latin typeface="Verdana"/>
                <a:ea typeface="+mn-ea"/>
                <a:cs typeface="Verdana"/>
              </a:rPr>
              <a:t>…0010000…</a:t>
            </a:r>
            <a:endParaRPr kumimoji="0" sz="1750" b="0" i="0" u="none" strike="noStrike" kern="1200" cap="none" spc="0" normalizeH="0" baseline="0" noProof="0">
              <a:ln>
                <a:noFill/>
              </a:ln>
              <a:solidFill>
                <a:prstClr val="black"/>
              </a:solidFill>
              <a:effectLst/>
              <a:uLnTx/>
              <a:uFillTx/>
              <a:latin typeface="Verdana"/>
              <a:ea typeface="+mn-ea"/>
              <a:cs typeface="Verdana"/>
            </a:endParaRPr>
          </a:p>
        </p:txBody>
      </p:sp>
      <p:sp>
        <p:nvSpPr>
          <p:cNvPr id="69" name="object 69"/>
          <p:cNvSpPr txBox="1"/>
          <p:nvPr/>
        </p:nvSpPr>
        <p:spPr>
          <a:xfrm>
            <a:off x="2702051" y="3178187"/>
            <a:ext cx="1816735" cy="344170"/>
          </a:xfrm>
          <a:prstGeom prst="rect">
            <a:avLst/>
          </a:prstGeom>
        </p:spPr>
        <p:txBody>
          <a:bodyPr vert="horz" wrap="square" lIns="0" tIns="11430" rIns="0" bIns="0" rtlCol="0">
            <a:spAutoFit/>
          </a:bodyPr>
          <a:lstStyle/>
          <a:p>
            <a:pPr marL="38100" marR="0" lvl="0" indent="0" algn="l" defTabSz="914400" rtl="0" eaLnBrk="1" fontAlgn="auto" latinLnBrk="0" hangingPunct="1">
              <a:lnSpc>
                <a:spcPct val="100000"/>
              </a:lnSpc>
              <a:spcBef>
                <a:spcPts val="90"/>
              </a:spcBef>
              <a:spcAft>
                <a:spcPts val="0"/>
              </a:spcAft>
              <a:buClrTx/>
              <a:buSzTx/>
              <a:buFontTx/>
              <a:buNone/>
              <a:tabLst/>
              <a:defRPr/>
            </a:pPr>
            <a:r>
              <a:rPr kumimoji="0" sz="2100" b="1" i="0" u="none" strike="noStrike" kern="1200" cap="none" spc="-50" normalizeH="0" baseline="0" noProof="0" dirty="0">
                <a:ln>
                  <a:noFill/>
                </a:ln>
                <a:solidFill>
                  <a:srgbClr val="0000FF"/>
                </a:solidFill>
                <a:effectLst/>
                <a:uLnTx/>
                <a:uFillTx/>
                <a:latin typeface="Malgun Gothic"/>
                <a:ea typeface="+mn-ea"/>
                <a:cs typeface="Malgun Gothic"/>
              </a:rPr>
              <a:t>Main</a:t>
            </a:r>
            <a:r>
              <a:rPr kumimoji="0" sz="2100" b="1" i="0" u="none" strike="noStrike" kern="1200" cap="none" spc="-35" normalizeH="0" baseline="0" noProof="0" dirty="0">
                <a:ln>
                  <a:noFill/>
                </a:ln>
                <a:solidFill>
                  <a:srgbClr val="0000FF"/>
                </a:solidFill>
                <a:effectLst/>
                <a:uLnTx/>
                <a:uFillTx/>
                <a:latin typeface="Malgun Gothic"/>
                <a:ea typeface="+mn-ea"/>
                <a:cs typeface="Malgun Gothic"/>
              </a:rPr>
              <a:t> </a:t>
            </a:r>
            <a:r>
              <a:rPr kumimoji="0" sz="2100" b="1" i="0" u="none" strike="noStrike" kern="1200" cap="none" spc="-55" normalizeH="0" baseline="0" noProof="0" dirty="0">
                <a:ln>
                  <a:noFill/>
                </a:ln>
                <a:solidFill>
                  <a:srgbClr val="0000FF"/>
                </a:solidFill>
                <a:effectLst/>
                <a:uLnTx/>
                <a:uFillTx/>
                <a:latin typeface="Malgun Gothic"/>
                <a:ea typeface="+mn-ea"/>
                <a:cs typeface="Malgun Gothic"/>
              </a:rPr>
              <a:t>tap</a:t>
            </a:r>
            <a:r>
              <a:rPr kumimoji="0" sz="2100" b="1" i="0" u="none" strike="noStrike" kern="1200" cap="none" spc="-30" normalizeH="0" baseline="0" noProof="0" dirty="0">
                <a:ln>
                  <a:noFill/>
                </a:ln>
                <a:solidFill>
                  <a:srgbClr val="0000FF"/>
                </a:solidFill>
                <a:effectLst/>
                <a:uLnTx/>
                <a:uFillTx/>
                <a:latin typeface="Malgun Gothic"/>
                <a:ea typeface="+mn-ea"/>
                <a:cs typeface="Malgun Gothic"/>
              </a:rPr>
              <a:t> </a:t>
            </a:r>
            <a:r>
              <a:rPr kumimoji="0" sz="2100" b="1" i="0" u="none" strike="noStrike" kern="1200" cap="none" spc="-35" normalizeH="0" baseline="0" noProof="0" dirty="0">
                <a:ln>
                  <a:noFill/>
                </a:ln>
                <a:solidFill>
                  <a:srgbClr val="0000FF"/>
                </a:solidFill>
                <a:effectLst/>
                <a:uLnTx/>
                <a:uFillTx/>
                <a:latin typeface="Malgun Gothic"/>
                <a:ea typeface="+mn-ea"/>
                <a:cs typeface="Malgun Gothic"/>
              </a:rPr>
              <a:t>(W</a:t>
            </a:r>
            <a:r>
              <a:rPr kumimoji="0" sz="2025" b="1" i="0" u="none" strike="noStrike" kern="1200" cap="none" spc="-52" normalizeH="0" baseline="-12345" noProof="0" dirty="0">
                <a:ln>
                  <a:noFill/>
                </a:ln>
                <a:solidFill>
                  <a:srgbClr val="0000FF"/>
                </a:solidFill>
                <a:effectLst/>
                <a:uLnTx/>
                <a:uFillTx/>
                <a:latin typeface="Malgun Gothic"/>
                <a:ea typeface="+mn-ea"/>
                <a:cs typeface="Malgun Gothic"/>
              </a:rPr>
              <a:t>0</a:t>
            </a:r>
            <a:r>
              <a:rPr kumimoji="0" sz="2100" b="1" i="0" u="none" strike="noStrike" kern="1200" cap="none" spc="-35" normalizeH="0" baseline="0" noProof="0" dirty="0">
                <a:ln>
                  <a:noFill/>
                </a:ln>
                <a:solidFill>
                  <a:srgbClr val="0000FF"/>
                </a:solidFill>
                <a:effectLst/>
                <a:uLnTx/>
                <a:uFillTx/>
                <a:latin typeface="Malgun Gothic"/>
                <a:ea typeface="+mn-ea"/>
                <a:cs typeface="Malgun Gothic"/>
              </a:rPr>
              <a:t>)</a:t>
            </a:r>
            <a:endParaRPr kumimoji="0" sz="21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70" name="object 70"/>
          <p:cNvSpPr txBox="1"/>
          <p:nvPr/>
        </p:nvSpPr>
        <p:spPr>
          <a:xfrm>
            <a:off x="2968241" y="5405509"/>
            <a:ext cx="1266825" cy="344170"/>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100" b="1" i="0" u="none" strike="noStrike" kern="1200" cap="none" spc="-35" normalizeH="0" baseline="0" noProof="0" dirty="0">
                <a:ln>
                  <a:noFill/>
                </a:ln>
                <a:solidFill>
                  <a:srgbClr val="FF0000"/>
                </a:solidFill>
                <a:effectLst/>
                <a:uLnTx/>
                <a:uFillTx/>
                <a:latin typeface="Malgun Gothic"/>
                <a:ea typeface="+mn-ea"/>
                <a:cs typeface="Malgun Gothic"/>
              </a:rPr>
              <a:t>TX</a:t>
            </a:r>
            <a:r>
              <a:rPr kumimoji="0" sz="2100" b="1" i="0" u="none" strike="noStrike" kern="1200" cap="none" spc="-110" normalizeH="0" baseline="0" noProof="0" dirty="0">
                <a:ln>
                  <a:noFill/>
                </a:ln>
                <a:solidFill>
                  <a:srgbClr val="FF0000"/>
                </a:solidFill>
                <a:effectLst/>
                <a:uLnTx/>
                <a:uFillTx/>
                <a:latin typeface="Malgun Gothic"/>
                <a:ea typeface="+mn-ea"/>
                <a:cs typeface="Malgun Gothic"/>
              </a:rPr>
              <a:t> </a:t>
            </a:r>
            <a:r>
              <a:rPr kumimoji="0" sz="2100" b="1" i="0" u="none" strike="noStrike" kern="1200" cap="none" spc="-45" normalizeH="0" baseline="0" noProof="0" dirty="0">
                <a:ln>
                  <a:noFill/>
                </a:ln>
                <a:solidFill>
                  <a:srgbClr val="FF0000"/>
                </a:solidFill>
                <a:effectLst/>
                <a:uLnTx/>
                <a:uFillTx/>
                <a:latin typeface="Malgun Gothic"/>
                <a:ea typeface="+mn-ea"/>
                <a:cs typeface="Malgun Gothic"/>
              </a:rPr>
              <a:t>output</a:t>
            </a:r>
            <a:endParaRPr kumimoji="0" sz="21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71" name="object 71"/>
          <p:cNvSpPr txBox="1"/>
          <p:nvPr/>
        </p:nvSpPr>
        <p:spPr>
          <a:xfrm>
            <a:off x="2784356" y="3398979"/>
            <a:ext cx="1481455" cy="1099185"/>
          </a:xfrm>
          <a:prstGeom prst="rect">
            <a:avLst/>
          </a:prstGeom>
        </p:spPr>
        <p:txBody>
          <a:bodyPr vert="horz" wrap="square" lIns="0" tIns="17145" rIns="0" bIns="0" rtlCol="0">
            <a:spAutoFit/>
          </a:bodyPr>
          <a:lstStyle/>
          <a:p>
            <a:pPr marL="787400" marR="0" lvl="0" indent="0" algn="l" defTabSz="914400" rtl="0" eaLnBrk="1" fontAlgn="auto" latinLnBrk="0" hangingPunct="1">
              <a:lnSpc>
                <a:spcPts val="3554"/>
              </a:lnSpc>
              <a:spcBef>
                <a:spcPts val="135"/>
              </a:spcBef>
              <a:spcAft>
                <a:spcPts val="0"/>
              </a:spcAft>
              <a:buClrTx/>
              <a:buSzTx/>
              <a:buFontTx/>
              <a:buNone/>
              <a:tabLst/>
              <a:defRPr/>
            </a:pPr>
            <a:r>
              <a:rPr kumimoji="0" sz="3100" b="0" i="0" u="none" strike="noStrike" kern="1200" cap="none" spc="-45" normalizeH="0" baseline="0" noProof="0" dirty="0">
                <a:ln>
                  <a:noFill/>
                </a:ln>
                <a:solidFill>
                  <a:prstClr val="black"/>
                </a:solidFill>
                <a:effectLst/>
                <a:uLnTx/>
                <a:uFillTx/>
                <a:latin typeface="Malgun Gothic"/>
                <a:ea typeface="+mn-ea"/>
                <a:cs typeface="Malgun Gothic"/>
              </a:rPr>
              <a:t>+</a:t>
            </a:r>
            <a:endParaRPr kumimoji="0" sz="3100" b="0" i="0" u="none" strike="noStrike" kern="1200" cap="none" spc="0" normalizeH="0" baseline="0" noProof="0">
              <a:ln>
                <a:noFill/>
              </a:ln>
              <a:solidFill>
                <a:prstClr val="black"/>
              </a:solidFill>
              <a:effectLst/>
              <a:uLnTx/>
              <a:uFillTx/>
              <a:latin typeface="Malgun Gothic"/>
              <a:ea typeface="+mn-ea"/>
              <a:cs typeface="Malgun Gothic"/>
            </a:endParaRPr>
          </a:p>
          <a:p>
            <a:pPr marL="0" marR="0" lvl="0" indent="0" algn="ctr" defTabSz="914400" rtl="0" eaLnBrk="1" fontAlgn="auto" latinLnBrk="0" hangingPunct="1">
              <a:lnSpc>
                <a:spcPts val="2350"/>
              </a:lnSpc>
              <a:spcBef>
                <a:spcPts val="0"/>
              </a:spcBef>
              <a:spcAft>
                <a:spcPts val="0"/>
              </a:spcAft>
              <a:buClrTx/>
              <a:buSzTx/>
              <a:buFontTx/>
              <a:buNone/>
              <a:tabLst/>
              <a:defRPr/>
            </a:pPr>
            <a:r>
              <a:rPr kumimoji="0" sz="2100" b="1" i="0" u="none" strike="noStrike" kern="1200" cap="none" spc="-40" normalizeH="0" baseline="0" noProof="0" dirty="0">
                <a:ln>
                  <a:noFill/>
                </a:ln>
                <a:solidFill>
                  <a:srgbClr val="009900"/>
                </a:solidFill>
                <a:effectLst/>
                <a:uLnTx/>
                <a:uFillTx/>
                <a:latin typeface="Malgun Gothic"/>
                <a:ea typeface="+mn-ea"/>
                <a:cs typeface="Malgun Gothic"/>
              </a:rPr>
              <a:t>Post-cursor</a:t>
            </a:r>
            <a:endParaRPr kumimoji="0" sz="2100" b="0" i="0" u="none" strike="noStrike" kern="1200" cap="none" spc="0" normalizeH="0" baseline="0" noProof="0">
              <a:ln>
                <a:noFill/>
              </a:ln>
              <a:solidFill>
                <a:prstClr val="black"/>
              </a:solidFill>
              <a:effectLst/>
              <a:uLnTx/>
              <a:uFillTx/>
              <a:latin typeface="Malgun Gothic"/>
              <a:ea typeface="+mn-ea"/>
              <a:cs typeface="Malgun Gothic"/>
            </a:endParaRPr>
          </a:p>
          <a:p>
            <a:pPr marL="635" marR="0" lvl="0" indent="0" algn="ctr" defTabSz="914400" rtl="0" eaLnBrk="1" fontAlgn="auto" latinLnBrk="0" hangingPunct="1">
              <a:lnSpc>
                <a:spcPts val="2515"/>
              </a:lnSpc>
              <a:spcBef>
                <a:spcPts val="0"/>
              </a:spcBef>
              <a:spcAft>
                <a:spcPts val="0"/>
              </a:spcAft>
              <a:buClrTx/>
              <a:buSzTx/>
              <a:buFontTx/>
              <a:buNone/>
              <a:tabLst/>
              <a:defRPr/>
            </a:pPr>
            <a:r>
              <a:rPr kumimoji="0" sz="2100" b="1" i="0" u="none" strike="noStrike" kern="1200" cap="none" spc="-35" normalizeH="0" baseline="0" noProof="0" dirty="0">
                <a:ln>
                  <a:noFill/>
                </a:ln>
                <a:solidFill>
                  <a:srgbClr val="009900"/>
                </a:solidFill>
                <a:effectLst/>
                <a:uLnTx/>
                <a:uFillTx/>
                <a:latin typeface="Malgun Gothic"/>
                <a:ea typeface="+mn-ea"/>
                <a:cs typeface="Malgun Gothic"/>
              </a:rPr>
              <a:t>tap</a:t>
            </a:r>
            <a:r>
              <a:rPr kumimoji="0" sz="2100" b="1" i="0" u="none" strike="noStrike" kern="1200" cap="none" spc="-95" normalizeH="0" baseline="0" noProof="0" dirty="0">
                <a:ln>
                  <a:noFill/>
                </a:ln>
                <a:solidFill>
                  <a:srgbClr val="009900"/>
                </a:solidFill>
                <a:effectLst/>
                <a:uLnTx/>
                <a:uFillTx/>
                <a:latin typeface="Malgun Gothic"/>
                <a:ea typeface="+mn-ea"/>
                <a:cs typeface="Malgun Gothic"/>
              </a:rPr>
              <a:t> </a:t>
            </a:r>
            <a:r>
              <a:rPr kumimoji="0" sz="2100" b="1" i="0" u="none" strike="noStrike" kern="1200" cap="none" spc="-35" normalizeH="0" baseline="0" noProof="0" dirty="0">
                <a:ln>
                  <a:noFill/>
                </a:ln>
                <a:solidFill>
                  <a:srgbClr val="009900"/>
                </a:solidFill>
                <a:effectLst/>
                <a:uLnTx/>
                <a:uFillTx/>
                <a:latin typeface="Malgun Gothic"/>
                <a:ea typeface="+mn-ea"/>
                <a:cs typeface="Malgun Gothic"/>
              </a:rPr>
              <a:t>(W</a:t>
            </a:r>
            <a:r>
              <a:rPr kumimoji="0" sz="2025" b="1" i="0" u="none" strike="noStrike" kern="1200" cap="none" spc="-52" normalizeH="0" baseline="-12345" noProof="0" dirty="0">
                <a:ln>
                  <a:noFill/>
                </a:ln>
                <a:solidFill>
                  <a:srgbClr val="009900"/>
                </a:solidFill>
                <a:effectLst/>
                <a:uLnTx/>
                <a:uFillTx/>
                <a:latin typeface="Malgun Gothic"/>
                <a:ea typeface="+mn-ea"/>
                <a:cs typeface="Malgun Gothic"/>
              </a:rPr>
              <a:t>1</a:t>
            </a:r>
            <a:r>
              <a:rPr kumimoji="0" sz="2100" b="1" i="0" u="none" strike="noStrike" kern="1200" cap="none" spc="-35" normalizeH="0" baseline="0" noProof="0" dirty="0">
                <a:ln>
                  <a:noFill/>
                </a:ln>
                <a:solidFill>
                  <a:srgbClr val="009900"/>
                </a:solidFill>
                <a:effectLst/>
                <a:uLnTx/>
                <a:uFillTx/>
                <a:latin typeface="Malgun Gothic"/>
                <a:ea typeface="+mn-ea"/>
                <a:cs typeface="Malgun Gothic"/>
              </a:rPr>
              <a:t>)</a:t>
            </a:r>
            <a:endParaRPr kumimoji="0" sz="21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72" name="object 72"/>
          <p:cNvSpPr txBox="1"/>
          <p:nvPr/>
        </p:nvSpPr>
        <p:spPr>
          <a:xfrm>
            <a:off x="3486029" y="4636261"/>
            <a:ext cx="539115" cy="304800"/>
          </a:xfrm>
          <a:prstGeom prst="rect">
            <a:avLst/>
          </a:prstGeom>
        </p:spPr>
        <p:txBody>
          <a:bodyPr vert="vert" wrap="square" lIns="0" tIns="45719" rIns="0" bIns="0" rtlCol="0">
            <a:spAutoFit/>
          </a:bodyPr>
          <a:lstStyle/>
          <a:p>
            <a:pPr marL="12700" marR="0" lvl="0" indent="0" algn="l" defTabSz="914400" rtl="0" eaLnBrk="1" fontAlgn="auto" latinLnBrk="0" hangingPunct="1">
              <a:lnSpc>
                <a:spcPct val="100000"/>
              </a:lnSpc>
              <a:spcBef>
                <a:spcPts val="359"/>
              </a:spcBef>
              <a:spcAft>
                <a:spcPts val="0"/>
              </a:spcAft>
              <a:buClrTx/>
              <a:buSzTx/>
              <a:buFontTx/>
              <a:buNone/>
              <a:tabLst/>
              <a:defRPr/>
            </a:pPr>
            <a:r>
              <a:rPr kumimoji="0" sz="3050" b="0" i="0" u="none" strike="noStrike" kern="1200" cap="none" spc="0" normalizeH="0" baseline="0" noProof="0" dirty="0">
                <a:ln>
                  <a:noFill/>
                </a:ln>
                <a:solidFill>
                  <a:prstClr val="black"/>
                </a:solidFill>
                <a:effectLst/>
                <a:uLnTx/>
                <a:uFillTx/>
                <a:latin typeface="Malgun Gothic"/>
                <a:ea typeface="+mn-ea"/>
                <a:cs typeface="Malgun Gothic"/>
              </a:rPr>
              <a:t>=</a:t>
            </a:r>
            <a:endParaRPr kumimoji="0" sz="305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73" name="object 73"/>
          <p:cNvSpPr txBox="1"/>
          <p:nvPr/>
        </p:nvSpPr>
        <p:spPr>
          <a:xfrm>
            <a:off x="8318245" y="3133041"/>
            <a:ext cx="296545" cy="503555"/>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3100" b="0" i="0" u="none" strike="noStrike" kern="1200" cap="none" spc="-45" normalizeH="0" baseline="0" noProof="0" dirty="0">
                <a:ln>
                  <a:noFill/>
                </a:ln>
                <a:solidFill>
                  <a:prstClr val="black"/>
                </a:solidFill>
                <a:effectLst/>
                <a:uLnTx/>
                <a:uFillTx/>
                <a:latin typeface="Malgun Gothic"/>
                <a:ea typeface="+mn-ea"/>
                <a:cs typeface="Malgun Gothic"/>
              </a:rPr>
              <a:t>+</a:t>
            </a:r>
            <a:endParaRPr kumimoji="0" sz="3100" b="0" i="0" u="none" strike="noStrike" kern="1200" cap="none" spc="0" normalizeH="0" baseline="0" noProof="0">
              <a:ln>
                <a:noFill/>
              </a:ln>
              <a:solidFill>
                <a:prstClr val="black"/>
              </a:solidFill>
              <a:effectLst/>
              <a:uLnTx/>
              <a:uFillTx/>
              <a:latin typeface="Malgun Gothic"/>
              <a:ea typeface="+mn-ea"/>
              <a:cs typeface="Malgun Gothic"/>
            </a:endParaRPr>
          </a:p>
        </p:txBody>
      </p:sp>
      <p:sp>
        <p:nvSpPr>
          <p:cNvPr id="74" name="object 74"/>
          <p:cNvSpPr txBox="1"/>
          <p:nvPr/>
        </p:nvSpPr>
        <p:spPr>
          <a:xfrm>
            <a:off x="8288915" y="4432046"/>
            <a:ext cx="539115" cy="1149350"/>
          </a:xfrm>
          <a:prstGeom prst="rect">
            <a:avLst/>
          </a:prstGeom>
        </p:spPr>
        <p:txBody>
          <a:bodyPr vert="vert" wrap="square" lIns="0" tIns="45719" rIns="0" bIns="0" rtlCol="0">
            <a:spAutoFit/>
          </a:bodyPr>
          <a:lstStyle/>
          <a:p>
            <a:pPr marL="12700" marR="0" lvl="0" indent="0" algn="l" defTabSz="914400" rtl="0" eaLnBrk="1" fontAlgn="auto" latinLnBrk="0" hangingPunct="1">
              <a:lnSpc>
                <a:spcPct val="100000"/>
              </a:lnSpc>
              <a:spcBef>
                <a:spcPts val="359"/>
              </a:spcBef>
              <a:spcAft>
                <a:spcPts val="0"/>
              </a:spcAft>
              <a:buClrTx/>
              <a:buSzTx/>
              <a:buFontTx/>
              <a:buNone/>
              <a:tabLst>
                <a:tab pos="1136015" algn="l"/>
              </a:tabLst>
              <a:defRPr/>
            </a:pPr>
            <a:r>
              <a:rPr kumimoji="0" sz="3050" b="0" i="0" u="none" strike="noStrike" kern="1200" cap="none" spc="60" normalizeH="0" baseline="0" noProof="0" dirty="0">
                <a:ln>
                  <a:noFill/>
                </a:ln>
                <a:solidFill>
                  <a:prstClr val="black"/>
                </a:solidFill>
                <a:effectLst/>
                <a:uLnTx/>
                <a:uFillTx/>
                <a:latin typeface="Malgun Gothic"/>
                <a:ea typeface="+mn-ea"/>
                <a:cs typeface="Malgun Gothic"/>
              </a:rPr>
              <a:t>=</a:t>
            </a:r>
            <a:r>
              <a:rPr kumimoji="0" sz="3050" b="0" i="0" u="none" strike="noStrike" kern="1200" cap="none" spc="-105" normalizeH="0" baseline="0" noProof="0" dirty="0">
                <a:ln>
                  <a:noFill/>
                </a:ln>
                <a:solidFill>
                  <a:prstClr val="black"/>
                </a:solidFill>
                <a:effectLst/>
                <a:uLnTx/>
                <a:uFillTx/>
                <a:latin typeface="Malgun Gothic"/>
                <a:ea typeface="+mn-ea"/>
                <a:cs typeface="Malgun Gothic"/>
              </a:rPr>
              <a:t> </a:t>
            </a:r>
            <a:r>
              <a:rPr kumimoji="0" sz="3050" b="0" i="0" u="sng" strike="noStrike" kern="1200" cap="none" spc="0" normalizeH="0" baseline="0" noProof="0" dirty="0">
                <a:ln>
                  <a:noFill/>
                </a:ln>
                <a:solidFill>
                  <a:prstClr val="black"/>
                </a:solidFill>
                <a:effectLst/>
                <a:uLnTx/>
                <a:uFill>
                  <a:solidFill>
                    <a:srgbClr val="000000"/>
                  </a:solidFill>
                </a:uFill>
                <a:latin typeface="Times New Roman"/>
                <a:ea typeface="+mn-ea"/>
                <a:cs typeface="Times New Roman"/>
              </a:rPr>
              <a:t> 	</a:t>
            </a:r>
            <a:endParaRPr kumimoji="0" sz="3050" b="0" i="0" u="none" strike="noStrike" kern="1200" cap="none" spc="0" normalizeH="0" baseline="0" noProof="0" dirty="0">
              <a:ln>
                <a:noFill/>
              </a:ln>
              <a:solidFill>
                <a:prstClr val="black"/>
              </a:solidFill>
              <a:effectLst/>
              <a:uLnTx/>
              <a:uFillTx/>
              <a:latin typeface="Times New Roman"/>
              <a:ea typeface="+mn-ea"/>
              <a:cs typeface="Times New Roman"/>
            </a:endParaRPr>
          </a:p>
        </p:txBody>
      </p:sp>
      <p:sp>
        <p:nvSpPr>
          <p:cNvPr id="75" name="object 75"/>
          <p:cNvSpPr txBox="1"/>
          <p:nvPr/>
        </p:nvSpPr>
        <p:spPr>
          <a:xfrm>
            <a:off x="8243569" y="1576832"/>
            <a:ext cx="268795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2-tap</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FFE</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example</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6" name="Slide Number Placeholder 75"/>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35</a:t>
            </a:fld>
            <a:endParaRPr lang="en-US" spc="-50" dirty="0"/>
          </a:p>
        </p:txBody>
      </p:sp>
      <p:sp>
        <p:nvSpPr>
          <p:cNvPr id="77" name="Date Placeholder 76"/>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78" name="Footer Placeholder 77"/>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9212438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1305" y="337781"/>
            <a:ext cx="5899785" cy="604520"/>
          </a:xfrm>
          <a:prstGeom prst="rect">
            <a:avLst/>
          </a:prstGeom>
        </p:spPr>
        <p:txBody>
          <a:bodyPr vert="horz" wrap="square" lIns="0" tIns="12065" rIns="0" bIns="0" rtlCol="0">
            <a:spAutoFit/>
          </a:bodyPr>
          <a:lstStyle/>
          <a:p>
            <a:pPr marL="12700">
              <a:lnSpc>
                <a:spcPct val="100000"/>
              </a:lnSpc>
              <a:spcBef>
                <a:spcPts val="95"/>
              </a:spcBef>
            </a:pPr>
            <a:r>
              <a:rPr sz="3800" b="0" spc="-5" dirty="0">
                <a:latin typeface="Verdana"/>
                <a:cs typeface="Verdana"/>
              </a:rPr>
              <a:t>A</a:t>
            </a:r>
            <a:r>
              <a:rPr sz="3800" b="0" dirty="0">
                <a:latin typeface="Verdana"/>
                <a:cs typeface="Verdana"/>
              </a:rPr>
              <a:t> </a:t>
            </a:r>
            <a:r>
              <a:rPr sz="3800" b="0" spc="-5" dirty="0">
                <a:latin typeface="Verdana"/>
                <a:cs typeface="Verdana"/>
              </a:rPr>
              <a:t>2-tap FFE TX </a:t>
            </a:r>
            <a:r>
              <a:rPr sz="3800" b="0" spc="-10" dirty="0">
                <a:latin typeface="Verdana"/>
                <a:cs typeface="Verdana"/>
              </a:rPr>
              <a:t>Example</a:t>
            </a:r>
            <a:endParaRPr sz="3800" dirty="0">
              <a:latin typeface="Verdana"/>
              <a:cs typeface="Verdana"/>
            </a:endParaRPr>
          </a:p>
        </p:txBody>
      </p:sp>
      <p:sp>
        <p:nvSpPr>
          <p:cNvPr id="3" name="object 3"/>
          <p:cNvSpPr txBox="1"/>
          <p:nvPr/>
        </p:nvSpPr>
        <p:spPr>
          <a:xfrm>
            <a:off x="928877" y="4739132"/>
            <a:ext cx="10153650" cy="1366520"/>
          </a:xfrm>
          <a:prstGeom prst="rect">
            <a:avLst/>
          </a:prstGeom>
        </p:spPr>
        <p:txBody>
          <a:bodyPr vert="horz" wrap="square" lIns="0" tIns="12065" rIns="0" bIns="0" rtlCol="0">
            <a:spAutoFit/>
          </a:bodyPr>
          <a:lstStyle/>
          <a:p>
            <a:pPr marL="398145" marR="30480" lvl="0" indent="-360680" algn="l" defTabSz="914400" rtl="0" eaLnBrk="1" fontAlgn="auto" latinLnBrk="0" hangingPunct="1">
              <a:lnSpc>
                <a:spcPct val="100000"/>
              </a:lnSpc>
              <a:spcBef>
                <a:spcPts val="95"/>
              </a:spcBef>
              <a:spcAft>
                <a:spcPts val="0"/>
              </a:spcAft>
              <a:buClr>
                <a:srgbClr val="CC0000"/>
              </a:buClr>
              <a:buSzTx/>
              <a:buFont typeface="Wingdings"/>
              <a:buChar char=""/>
              <a:tabLst>
                <a:tab pos="398145" algn="l"/>
                <a:tab pos="3987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 shift register for a </a:t>
            </a:r>
            <a:r>
              <a:rPr kumimoji="0" sz="2000" b="0" i="0" u="none" strike="noStrike" kern="1200" cap="none" spc="-10" normalizeH="0" baseline="0" noProof="0" dirty="0">
                <a:ln>
                  <a:noFill/>
                </a:ln>
                <a:solidFill>
                  <a:prstClr val="black"/>
                </a:solidFill>
                <a:effectLst/>
                <a:uLnTx/>
                <a:uFillTx/>
                <a:latin typeface="Verdana"/>
                <a:ea typeface="+mn-ea"/>
                <a:cs typeface="Verdana"/>
              </a:rPr>
              <a:t>delayed </a:t>
            </a:r>
            <a:r>
              <a:rPr kumimoji="0" sz="2000" b="0" i="0" u="none" strike="noStrike" kern="1200" cap="none" spc="-5" normalizeH="0" baseline="0" noProof="0" dirty="0">
                <a:ln>
                  <a:noFill/>
                </a:ln>
                <a:solidFill>
                  <a:prstClr val="black"/>
                </a:solidFill>
                <a:effectLst/>
                <a:uLnTx/>
                <a:uFillTx/>
                <a:latin typeface="Verdana"/>
                <a:ea typeface="+mn-ea"/>
                <a:cs typeface="Verdana"/>
              </a:rPr>
              <a:t>data </a:t>
            </a:r>
            <a:r>
              <a:rPr kumimoji="0" sz="2000" b="0" i="0" u="none" strike="noStrike" kern="1200" cap="none" spc="-10" normalizeH="0" baseline="0" noProof="0" dirty="0">
                <a:ln>
                  <a:noFill/>
                </a:ln>
                <a:solidFill>
                  <a:prstClr val="black"/>
                </a:solidFill>
                <a:effectLst/>
                <a:uLnTx/>
                <a:uFillTx/>
                <a:latin typeface="Verdana"/>
                <a:ea typeface="+mn-ea"/>
                <a:cs typeface="Verdana"/>
              </a:rPr>
              <a:t>sequence (x</a:t>
            </a:r>
            <a:r>
              <a:rPr kumimoji="0" sz="1950" b="0" i="0" u="none" strike="noStrike" kern="1200" cap="none" spc="-15" normalizeH="0" baseline="-21367" noProof="0" dirty="0">
                <a:ln>
                  <a:noFill/>
                </a:ln>
                <a:solidFill>
                  <a:prstClr val="black"/>
                </a:solidFill>
                <a:effectLst/>
                <a:uLnTx/>
                <a:uFillTx/>
                <a:latin typeface="Verdana"/>
                <a:ea typeface="+mn-ea"/>
                <a:cs typeface="Verdana"/>
              </a:rPr>
              <a:t>0</a:t>
            </a:r>
            <a:r>
              <a:rPr kumimoji="0" sz="1950" b="0" i="0" u="none" strike="noStrike" kern="1200" cap="none" spc="-7" normalizeH="0" baseline="-21367"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 </a:t>
            </a:r>
            <a:r>
              <a:rPr kumimoji="0" sz="2000" b="0" i="0" u="none" strike="noStrike" kern="1200" cap="none" spc="0" normalizeH="0" baseline="0" noProof="0" dirty="0">
                <a:ln>
                  <a:noFill/>
                </a:ln>
                <a:solidFill>
                  <a:prstClr val="black"/>
                </a:solidFill>
                <a:effectLst/>
                <a:uLnTx/>
                <a:uFillTx/>
                <a:latin typeface="Verdana"/>
                <a:ea typeface="+mn-ea"/>
                <a:cs typeface="Verdana"/>
              </a:rPr>
              <a:t>x</a:t>
            </a:r>
            <a:r>
              <a:rPr kumimoji="0" sz="1950" b="0" i="0" u="none" strike="noStrike" kern="1200" cap="none" spc="0" normalizeH="0" baseline="-21367" noProof="0" dirty="0">
                <a:ln>
                  <a:noFill/>
                </a:ln>
                <a:solidFill>
                  <a:prstClr val="black"/>
                </a:solidFill>
                <a:effectLst/>
                <a:uLnTx/>
                <a:uFillTx/>
                <a:latin typeface="Verdana"/>
                <a:ea typeface="+mn-ea"/>
                <a:cs typeface="Verdana"/>
              </a:rPr>
              <a:t>1</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with an </a:t>
            </a:r>
            <a:r>
              <a:rPr kumimoji="0" sz="2000" b="0" i="0" u="none" strike="noStrike" kern="1200" cap="none" spc="-10" normalizeH="0" baseline="0" noProof="0" dirty="0">
                <a:ln>
                  <a:noFill/>
                </a:ln>
                <a:solidFill>
                  <a:prstClr val="black"/>
                </a:solidFill>
                <a:effectLst/>
                <a:uLnTx/>
                <a:uFillTx/>
                <a:latin typeface="Verdana"/>
                <a:ea typeface="+mn-ea"/>
                <a:cs typeface="Verdana"/>
              </a:rPr>
              <a:t>interval </a:t>
            </a:r>
            <a:r>
              <a:rPr kumimoji="0" sz="2000" b="0" i="0" u="none" strike="noStrike" kern="1200" cap="none" spc="-5" normalizeH="0" baseline="0" noProof="0" dirty="0">
                <a:ln>
                  <a:noFill/>
                </a:ln>
                <a:solidFill>
                  <a:prstClr val="black"/>
                </a:solidFill>
                <a:effectLst/>
                <a:uLnTx/>
                <a:uFillTx/>
                <a:latin typeface="Verdana"/>
                <a:ea typeface="+mn-ea"/>
                <a:cs typeface="Verdana"/>
              </a:rPr>
              <a:t>of a </a:t>
            </a:r>
            <a:r>
              <a:rPr kumimoji="0" sz="2000" b="0" i="0" u="none" strike="noStrike" kern="1200" cap="none" spc="-69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bit</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period</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398145" marR="0" lvl="0" indent="-360680" algn="l" defTabSz="914400" rtl="0" eaLnBrk="1" fontAlgn="auto" latinLnBrk="0" hangingPunct="1">
              <a:lnSpc>
                <a:spcPct val="100000"/>
              </a:lnSpc>
              <a:spcBef>
                <a:spcPts val="480"/>
              </a:spcBef>
              <a:spcAft>
                <a:spcPts val="0"/>
              </a:spcAft>
              <a:buClr>
                <a:srgbClr val="CC0000"/>
              </a:buClr>
              <a:buSzTx/>
              <a:buFont typeface="Wingdings"/>
              <a:buChar char=""/>
              <a:tabLst>
                <a:tab pos="398145" algn="l"/>
                <a:tab pos="3987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Tap</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output:</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0" normalizeH="0" baseline="0" noProof="0" dirty="0">
                <a:ln>
                  <a:noFill/>
                </a:ln>
                <a:solidFill>
                  <a:prstClr val="black"/>
                </a:solidFill>
                <a:effectLst/>
                <a:uLnTx/>
                <a:uFillTx/>
                <a:latin typeface="Verdana"/>
                <a:ea typeface="+mn-ea"/>
                <a:cs typeface="Verdana"/>
              </a:rPr>
              <a:t>x</a:t>
            </a:r>
            <a:r>
              <a:rPr kumimoji="0" sz="1950" b="0" i="0" u="none" strike="noStrike" kern="1200" cap="none" spc="0" normalizeH="0" baseline="-21367" noProof="0" dirty="0">
                <a:ln>
                  <a:noFill/>
                </a:ln>
                <a:solidFill>
                  <a:prstClr val="black"/>
                </a:solidFill>
                <a:effectLst/>
                <a:uLnTx/>
                <a:uFillTx/>
                <a:latin typeface="Verdana"/>
                <a:ea typeface="+mn-ea"/>
                <a:cs typeface="Verdana"/>
              </a:rPr>
              <a:t>i</a:t>
            </a:r>
            <a:r>
              <a:rPr kumimoji="0" sz="1950" b="0" i="0" u="none" strike="noStrike" kern="1200" cap="none" spc="375" normalizeH="0" baseline="-21367"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multiplied</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by</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tap</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coefficient</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398145" marR="0" lvl="0" indent="-360680" algn="l" defTabSz="914400" rtl="0" eaLnBrk="1" fontAlgn="auto" latinLnBrk="0" hangingPunct="1">
              <a:lnSpc>
                <a:spcPct val="100000"/>
              </a:lnSpc>
              <a:spcBef>
                <a:spcPts val="480"/>
              </a:spcBef>
              <a:spcAft>
                <a:spcPts val="0"/>
              </a:spcAft>
              <a:buClr>
                <a:srgbClr val="CC0000"/>
              </a:buClr>
              <a:buSzTx/>
              <a:buFont typeface="Wingdings"/>
              <a:buChar char=""/>
              <a:tabLst>
                <a:tab pos="398145" algn="l"/>
                <a:tab pos="3987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FFE </a:t>
            </a:r>
            <a:r>
              <a:rPr kumimoji="0" sz="2000" b="0" i="0" u="none" strike="noStrike" kern="1200" cap="none" spc="-10" normalizeH="0" baseline="0" noProof="0" dirty="0">
                <a:ln>
                  <a:noFill/>
                </a:ln>
                <a:solidFill>
                  <a:prstClr val="black"/>
                </a:solidFill>
                <a:effectLst/>
                <a:uLnTx/>
                <a:uFillTx/>
                <a:latin typeface="Verdana"/>
                <a:ea typeface="+mn-ea"/>
                <a:cs typeface="Verdana"/>
              </a:rPr>
              <a:t>output:</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sum of</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all</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outputs</a:t>
            </a:r>
            <a:r>
              <a:rPr kumimoji="0" sz="2000" b="0" i="0" u="none" strike="noStrike" kern="1200" cap="none" spc="-5" normalizeH="0" baseline="0" noProof="0" dirty="0">
                <a:ln>
                  <a:noFill/>
                </a:ln>
                <a:solidFill>
                  <a:prstClr val="black"/>
                </a:solidFill>
                <a:effectLst/>
                <a:uLnTx/>
                <a:uFillTx/>
                <a:latin typeface="Verdana"/>
                <a:ea typeface="+mn-ea"/>
                <a:cs typeface="Verdana"/>
              </a:rPr>
              <a:t> of</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taps</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4" name="object 4"/>
          <p:cNvSpPr txBox="1"/>
          <p:nvPr/>
        </p:nvSpPr>
        <p:spPr>
          <a:xfrm>
            <a:off x="1947916" y="4091179"/>
            <a:ext cx="2220595" cy="451484"/>
          </a:xfrm>
          <a:prstGeom prst="rect">
            <a:avLst/>
          </a:prstGeom>
        </p:spPr>
        <p:txBody>
          <a:bodyPr vert="horz" wrap="square" lIns="0" tIns="11430" rIns="0" bIns="0" rtlCol="0">
            <a:spAutoFit/>
          </a:bodyPr>
          <a:lstStyle/>
          <a:p>
            <a:pPr marL="50800" marR="0" lvl="0" indent="0" algn="l" defTabSz="914400" rtl="0" eaLnBrk="1" fontAlgn="auto" latinLnBrk="0" hangingPunct="1">
              <a:lnSpc>
                <a:spcPct val="100000"/>
              </a:lnSpc>
              <a:spcBef>
                <a:spcPts val="90"/>
              </a:spcBef>
              <a:spcAft>
                <a:spcPts val="0"/>
              </a:spcAft>
              <a:buClrTx/>
              <a:buSzTx/>
              <a:buFontTx/>
              <a:buNone/>
              <a:tabLst/>
              <a:defRPr/>
            </a:pPr>
            <a:r>
              <a:rPr kumimoji="0" sz="2800" b="0" i="0" u="none" strike="noStrike" kern="1200" cap="none" spc="-5" normalizeH="0" baseline="0" noProof="0" dirty="0">
                <a:ln>
                  <a:noFill/>
                </a:ln>
                <a:solidFill>
                  <a:prstClr val="black"/>
                </a:solidFill>
                <a:effectLst/>
                <a:uLnTx/>
                <a:uFillTx/>
                <a:latin typeface="Symbol"/>
                <a:ea typeface="+mn-ea"/>
                <a:cs typeface="Symbol"/>
              </a:rPr>
              <a:t></a:t>
            </a:r>
            <a:r>
              <a:rPr kumimoji="0" sz="28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00FF"/>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00FF"/>
                </a:solidFill>
                <a:effectLst/>
                <a:uLnTx/>
                <a:uFillTx/>
                <a:latin typeface="Times New Roman"/>
                <a:ea typeface="+mn-ea"/>
                <a:cs typeface="Times New Roman"/>
              </a:rPr>
              <a:t>.</a:t>
            </a:r>
            <a:r>
              <a:rPr kumimoji="0" sz="2800" b="0" i="0" u="none" strike="noStrike" kern="1200" cap="none" spc="235" normalizeH="0" baseline="0" noProof="0" dirty="0">
                <a:ln>
                  <a:noFill/>
                </a:ln>
                <a:solidFill>
                  <a:srgbClr val="0000FF"/>
                </a:solidFill>
                <a:effectLst/>
                <a:uLnTx/>
                <a:uFillTx/>
                <a:latin typeface="Times New Roman"/>
                <a:ea typeface="+mn-ea"/>
                <a:cs typeface="Times New Roman"/>
              </a:rPr>
              <a:t>6</a:t>
            </a:r>
            <a:r>
              <a:rPr kumimoji="0" sz="2800" b="0" i="1" u="none" strike="noStrike" kern="1200" cap="none" spc="-5" normalizeH="0" baseline="0" noProof="0" dirty="0">
                <a:ln>
                  <a:noFill/>
                </a:ln>
                <a:solidFill>
                  <a:srgbClr val="0000FF"/>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00FF"/>
                </a:solidFill>
                <a:effectLst/>
                <a:uLnTx/>
                <a:uFillTx/>
                <a:latin typeface="Times New Roman"/>
                <a:ea typeface="+mn-ea"/>
                <a:cs typeface="Times New Roman"/>
              </a:rPr>
              <a:t>0</a:t>
            </a:r>
            <a:r>
              <a:rPr kumimoji="0" sz="2400" b="0" i="0" u="none" strike="noStrike" kern="1200" cap="none" spc="0" normalizeH="0" baseline="-24305" noProof="0" dirty="0">
                <a:ln>
                  <a:noFill/>
                </a:ln>
                <a:solidFill>
                  <a:srgbClr val="0000FF"/>
                </a:solidFill>
                <a:effectLst/>
                <a:uLnTx/>
                <a:uFillTx/>
                <a:latin typeface="Times New Roman"/>
                <a:ea typeface="+mn-ea"/>
                <a:cs typeface="Times New Roman"/>
              </a:rPr>
              <a:t> </a:t>
            </a:r>
            <a:r>
              <a:rPr kumimoji="0" sz="2400" b="0" i="0" u="none" strike="noStrike" kern="1200" cap="none" spc="22" normalizeH="0" baseline="-24305" noProof="0" dirty="0">
                <a:ln>
                  <a:noFill/>
                </a:ln>
                <a:solidFill>
                  <a:srgbClr val="0000FF"/>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007E00"/>
                </a:solidFill>
                <a:effectLst/>
                <a:uLnTx/>
                <a:uFillTx/>
                <a:latin typeface="Symbol"/>
                <a:ea typeface="+mn-ea"/>
                <a:cs typeface="Symbol"/>
              </a:rPr>
              <a:t></a:t>
            </a:r>
            <a:r>
              <a:rPr kumimoji="0" sz="2800" b="0" i="0" u="none" strike="noStrike" kern="1200" cap="none" spc="-190" normalizeH="0" baseline="0" noProof="0" dirty="0">
                <a:ln>
                  <a:noFill/>
                </a:ln>
                <a:solidFill>
                  <a:srgbClr val="007E00"/>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7E00"/>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7E00"/>
                </a:solidFill>
                <a:effectLst/>
                <a:uLnTx/>
                <a:uFillTx/>
                <a:latin typeface="Times New Roman"/>
                <a:ea typeface="+mn-ea"/>
                <a:cs typeface="Times New Roman"/>
              </a:rPr>
              <a:t>.</a:t>
            </a:r>
            <a:r>
              <a:rPr kumimoji="0" sz="2800" b="0" i="0" u="none" strike="noStrike" kern="1200" cap="none" spc="-5" normalizeH="0" baseline="0" noProof="0" dirty="0">
                <a:ln>
                  <a:noFill/>
                </a:ln>
                <a:solidFill>
                  <a:srgbClr val="007E00"/>
                </a:solidFill>
                <a:effectLst/>
                <a:uLnTx/>
                <a:uFillTx/>
                <a:latin typeface="Times New Roman"/>
                <a:ea typeface="+mn-ea"/>
                <a:cs typeface="Times New Roman"/>
              </a:rPr>
              <a:t>4</a:t>
            </a:r>
            <a:r>
              <a:rPr kumimoji="0" sz="2800" b="0" i="0" u="none" strike="noStrike" kern="1200" cap="none" spc="-459" normalizeH="0" baseline="0" noProof="0" dirty="0">
                <a:ln>
                  <a:noFill/>
                </a:ln>
                <a:solidFill>
                  <a:srgbClr val="007E00"/>
                </a:solidFill>
                <a:effectLst/>
                <a:uLnTx/>
                <a:uFillTx/>
                <a:latin typeface="Times New Roman"/>
                <a:ea typeface="+mn-ea"/>
                <a:cs typeface="Times New Roman"/>
              </a:rPr>
              <a:t> </a:t>
            </a:r>
            <a:r>
              <a:rPr kumimoji="0" sz="2800" b="0" i="1" u="none" strike="noStrike" kern="1200" cap="none" spc="-160" normalizeH="0" baseline="0" noProof="0" dirty="0">
                <a:ln>
                  <a:noFill/>
                </a:ln>
                <a:solidFill>
                  <a:srgbClr val="007E00"/>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7E00"/>
                </a:solidFill>
                <a:effectLst/>
                <a:uLnTx/>
                <a:uFillTx/>
                <a:latin typeface="Times New Roman"/>
                <a:ea typeface="+mn-ea"/>
                <a:cs typeface="Times New Roman"/>
              </a:rPr>
              <a:t>1</a:t>
            </a:r>
            <a:endParaRPr kumimoji="0" sz="2400" b="0" i="0" u="none" strike="noStrike" kern="1200" cap="none" spc="0" normalizeH="0" baseline="-24305" noProof="0">
              <a:ln>
                <a:noFill/>
              </a:ln>
              <a:solidFill>
                <a:prstClr val="black"/>
              </a:solidFill>
              <a:effectLst/>
              <a:uLnTx/>
              <a:uFillTx/>
              <a:latin typeface="Times New Roman"/>
              <a:ea typeface="+mn-ea"/>
              <a:cs typeface="Times New Roman"/>
            </a:endParaRPr>
          </a:p>
        </p:txBody>
      </p:sp>
      <p:sp>
        <p:nvSpPr>
          <p:cNvPr id="5" name="object 5"/>
          <p:cNvSpPr txBox="1"/>
          <p:nvPr/>
        </p:nvSpPr>
        <p:spPr>
          <a:xfrm>
            <a:off x="1215389" y="4182619"/>
            <a:ext cx="685800" cy="451484"/>
          </a:xfrm>
          <a:prstGeom prst="rect">
            <a:avLst/>
          </a:prstGeom>
        </p:spPr>
        <p:txBody>
          <a:bodyPr vert="horz" wrap="square" lIns="0" tIns="11430" rIns="0" bIns="0" rtlCol="0">
            <a:spAutoFit/>
          </a:bodyPr>
          <a:lstStyle/>
          <a:p>
            <a:pPr marL="38100" marR="0" lvl="0" indent="0" algn="l" defTabSz="914400" rtl="0" eaLnBrk="1" fontAlgn="auto" latinLnBrk="0" hangingPunct="1">
              <a:lnSpc>
                <a:spcPct val="100000"/>
              </a:lnSpc>
              <a:spcBef>
                <a:spcPts val="90"/>
              </a:spcBef>
              <a:spcAft>
                <a:spcPts val="0"/>
              </a:spcAft>
              <a:buClrTx/>
              <a:buSzTx/>
              <a:buFontTx/>
              <a:buNone/>
              <a:tabLst/>
              <a:defRPr/>
            </a:pPr>
            <a:r>
              <a:rPr kumimoji="0" sz="4200" b="0" i="1" u="none" strike="noStrike" kern="1200" cap="none" spc="52" normalizeH="0" baseline="13888" noProof="0" dirty="0">
                <a:ln>
                  <a:noFill/>
                </a:ln>
                <a:solidFill>
                  <a:prstClr val="black"/>
                </a:solidFill>
                <a:effectLst/>
                <a:uLnTx/>
                <a:uFillTx/>
                <a:latin typeface="Times New Roman"/>
                <a:ea typeface="+mn-ea"/>
                <a:cs typeface="Times New Roman"/>
              </a:rPr>
              <a:t>V</a:t>
            </a:r>
            <a:r>
              <a:rPr kumimoji="0" sz="1600" b="0" i="1" u="none" strike="noStrike" kern="1200" cap="none" spc="35" normalizeH="0" baseline="0" noProof="0" dirty="0">
                <a:ln>
                  <a:noFill/>
                </a:ln>
                <a:solidFill>
                  <a:prstClr val="black"/>
                </a:solidFill>
                <a:effectLst/>
                <a:uLnTx/>
                <a:uFillTx/>
                <a:latin typeface="Times New Roman"/>
                <a:ea typeface="+mn-ea"/>
                <a:cs typeface="Times New Roman"/>
              </a:rPr>
              <a:t>FFE</a:t>
            </a:r>
            <a:endParaRPr kumimoji="0" sz="16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6" name="object 6"/>
          <p:cNvGrpSpPr/>
          <p:nvPr/>
        </p:nvGrpSpPr>
        <p:grpSpPr>
          <a:xfrm>
            <a:off x="1459230" y="2392679"/>
            <a:ext cx="1978660" cy="1503045"/>
            <a:chOff x="1459230" y="2392679"/>
            <a:chExt cx="1978660" cy="1503045"/>
          </a:xfrm>
        </p:grpSpPr>
        <p:sp>
          <p:nvSpPr>
            <p:cNvPr id="7" name="object 7"/>
            <p:cNvSpPr/>
            <p:nvPr/>
          </p:nvSpPr>
          <p:spPr>
            <a:xfrm>
              <a:off x="1627632" y="2443733"/>
              <a:ext cx="1809750" cy="615950"/>
            </a:xfrm>
            <a:custGeom>
              <a:avLst/>
              <a:gdLst/>
              <a:ahLst/>
              <a:cxnLst/>
              <a:rect l="l" t="t" r="r" b="b"/>
              <a:pathLst>
                <a:path w="1809750" h="615950">
                  <a:moveTo>
                    <a:pt x="582168" y="6858"/>
                  </a:moveTo>
                  <a:lnTo>
                    <a:pt x="576072" y="0"/>
                  </a:lnTo>
                  <a:lnTo>
                    <a:pt x="13716" y="0"/>
                  </a:lnTo>
                  <a:lnTo>
                    <a:pt x="6096" y="0"/>
                  </a:lnTo>
                  <a:lnTo>
                    <a:pt x="0" y="6858"/>
                  </a:lnTo>
                  <a:lnTo>
                    <a:pt x="0" y="22098"/>
                  </a:lnTo>
                  <a:lnTo>
                    <a:pt x="6096" y="28956"/>
                  </a:lnTo>
                  <a:lnTo>
                    <a:pt x="576072" y="28956"/>
                  </a:lnTo>
                  <a:lnTo>
                    <a:pt x="582168" y="22098"/>
                  </a:lnTo>
                  <a:lnTo>
                    <a:pt x="582168" y="6858"/>
                  </a:lnTo>
                  <a:close/>
                </a:path>
                <a:path w="1809750" h="615950">
                  <a:moveTo>
                    <a:pt x="1809750" y="593598"/>
                  </a:moveTo>
                  <a:lnTo>
                    <a:pt x="1803654" y="586740"/>
                  </a:lnTo>
                  <a:lnTo>
                    <a:pt x="1631442" y="586740"/>
                  </a:lnTo>
                  <a:lnTo>
                    <a:pt x="1623822" y="586740"/>
                  </a:lnTo>
                  <a:lnTo>
                    <a:pt x="1617726" y="593598"/>
                  </a:lnTo>
                  <a:lnTo>
                    <a:pt x="1617726" y="609600"/>
                  </a:lnTo>
                  <a:lnTo>
                    <a:pt x="1623822" y="615696"/>
                  </a:lnTo>
                  <a:lnTo>
                    <a:pt x="1803654" y="615696"/>
                  </a:lnTo>
                  <a:lnTo>
                    <a:pt x="1809750" y="609600"/>
                  </a:lnTo>
                  <a:lnTo>
                    <a:pt x="1809750" y="59359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object 8"/>
            <p:cNvPicPr/>
            <p:nvPr/>
          </p:nvPicPr>
          <p:blipFill>
            <a:blip r:embed="rId2" cstate="print"/>
            <a:stretch>
              <a:fillRect/>
            </a:stretch>
          </p:blipFill>
          <p:spPr>
            <a:xfrm>
              <a:off x="2164080" y="2392679"/>
              <a:ext cx="130301" cy="131064"/>
            </a:xfrm>
            <a:prstGeom prst="rect">
              <a:avLst/>
            </a:prstGeom>
          </p:spPr>
        </p:pic>
        <p:sp>
          <p:nvSpPr>
            <p:cNvPr id="9" name="object 9"/>
            <p:cNvSpPr/>
            <p:nvPr/>
          </p:nvSpPr>
          <p:spPr>
            <a:xfrm>
              <a:off x="1459230" y="3522725"/>
              <a:ext cx="760730" cy="372745"/>
            </a:xfrm>
            <a:custGeom>
              <a:avLst/>
              <a:gdLst/>
              <a:ahLst/>
              <a:cxnLst/>
              <a:rect l="l" t="t" r="r" b="b"/>
              <a:pathLst>
                <a:path w="760730" h="372745">
                  <a:moveTo>
                    <a:pt x="362712" y="6858"/>
                  </a:moveTo>
                  <a:lnTo>
                    <a:pt x="356616" y="0"/>
                  </a:lnTo>
                  <a:lnTo>
                    <a:pt x="334518" y="0"/>
                  </a:lnTo>
                  <a:lnTo>
                    <a:pt x="334518" y="28956"/>
                  </a:lnTo>
                  <a:lnTo>
                    <a:pt x="334518" y="343662"/>
                  </a:lnTo>
                  <a:lnTo>
                    <a:pt x="28956" y="343662"/>
                  </a:lnTo>
                  <a:lnTo>
                    <a:pt x="28956" y="28956"/>
                  </a:lnTo>
                  <a:lnTo>
                    <a:pt x="334518" y="28956"/>
                  </a:lnTo>
                  <a:lnTo>
                    <a:pt x="334518" y="0"/>
                  </a:lnTo>
                  <a:lnTo>
                    <a:pt x="6858" y="0"/>
                  </a:lnTo>
                  <a:lnTo>
                    <a:pt x="0" y="6858"/>
                  </a:lnTo>
                  <a:lnTo>
                    <a:pt x="0" y="366522"/>
                  </a:lnTo>
                  <a:lnTo>
                    <a:pt x="6858" y="372618"/>
                  </a:lnTo>
                  <a:lnTo>
                    <a:pt x="14478" y="372618"/>
                  </a:lnTo>
                  <a:lnTo>
                    <a:pt x="28956" y="372618"/>
                  </a:lnTo>
                  <a:lnTo>
                    <a:pt x="334518" y="372618"/>
                  </a:lnTo>
                  <a:lnTo>
                    <a:pt x="348234" y="372618"/>
                  </a:lnTo>
                  <a:lnTo>
                    <a:pt x="356616" y="372618"/>
                  </a:lnTo>
                  <a:lnTo>
                    <a:pt x="362712" y="366522"/>
                  </a:lnTo>
                  <a:lnTo>
                    <a:pt x="362712" y="6858"/>
                  </a:lnTo>
                  <a:close/>
                </a:path>
                <a:path w="760730" h="372745">
                  <a:moveTo>
                    <a:pt x="760476" y="188226"/>
                  </a:moveTo>
                  <a:lnTo>
                    <a:pt x="754380" y="182130"/>
                  </a:lnTo>
                  <a:lnTo>
                    <a:pt x="384810" y="182130"/>
                  </a:lnTo>
                  <a:lnTo>
                    <a:pt x="377190" y="182130"/>
                  </a:lnTo>
                  <a:lnTo>
                    <a:pt x="371094" y="188226"/>
                  </a:lnTo>
                  <a:lnTo>
                    <a:pt x="371094" y="204228"/>
                  </a:lnTo>
                  <a:lnTo>
                    <a:pt x="377190" y="210324"/>
                  </a:lnTo>
                  <a:lnTo>
                    <a:pt x="754380" y="210324"/>
                  </a:lnTo>
                  <a:lnTo>
                    <a:pt x="760476" y="204228"/>
                  </a:lnTo>
                  <a:lnTo>
                    <a:pt x="760476" y="18822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object 10"/>
            <p:cNvPicPr/>
            <p:nvPr/>
          </p:nvPicPr>
          <p:blipFill>
            <a:blip r:embed="rId3" cstate="print"/>
            <a:stretch>
              <a:fillRect/>
            </a:stretch>
          </p:blipFill>
          <p:spPr>
            <a:xfrm>
              <a:off x="2173986" y="3653027"/>
              <a:ext cx="128016" cy="131825"/>
            </a:xfrm>
            <a:prstGeom prst="rect">
              <a:avLst/>
            </a:prstGeom>
          </p:spPr>
        </p:pic>
      </p:grpSp>
      <p:sp>
        <p:nvSpPr>
          <p:cNvPr id="11" name="object 11"/>
          <p:cNvSpPr txBox="1"/>
          <p:nvPr/>
        </p:nvSpPr>
        <p:spPr>
          <a:xfrm>
            <a:off x="1537969" y="3537458"/>
            <a:ext cx="200025"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0" normalizeH="0" baseline="0" noProof="0" dirty="0">
                <a:ln>
                  <a:noFill/>
                </a:ln>
                <a:solidFill>
                  <a:prstClr val="black"/>
                </a:solidFill>
                <a:effectLst/>
                <a:uLnTx/>
                <a:uFillTx/>
                <a:latin typeface="Times New Roman"/>
                <a:ea typeface="+mn-ea"/>
                <a:cs typeface="Times New Roman"/>
              </a:rPr>
              <a:t>D</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12" name="object 12"/>
          <p:cNvGrpSpPr/>
          <p:nvPr/>
        </p:nvGrpSpPr>
        <p:grpSpPr>
          <a:xfrm>
            <a:off x="1575816" y="1994154"/>
            <a:ext cx="1777364" cy="2079625"/>
            <a:chOff x="1575816" y="1994154"/>
            <a:chExt cx="1777364" cy="2079625"/>
          </a:xfrm>
        </p:grpSpPr>
        <p:sp>
          <p:nvSpPr>
            <p:cNvPr id="13" name="object 13"/>
            <p:cNvSpPr/>
            <p:nvPr/>
          </p:nvSpPr>
          <p:spPr>
            <a:xfrm>
              <a:off x="1625346" y="1994154"/>
              <a:ext cx="29209" cy="1421130"/>
            </a:xfrm>
            <a:custGeom>
              <a:avLst/>
              <a:gdLst/>
              <a:ahLst/>
              <a:cxnLst/>
              <a:rect l="l" t="t" r="r" b="b"/>
              <a:pathLst>
                <a:path w="29210" h="1421129">
                  <a:moveTo>
                    <a:pt x="28956" y="1414271"/>
                  </a:moveTo>
                  <a:lnTo>
                    <a:pt x="28956" y="14477"/>
                  </a:lnTo>
                  <a:lnTo>
                    <a:pt x="28956" y="6095"/>
                  </a:lnTo>
                  <a:lnTo>
                    <a:pt x="22098" y="0"/>
                  </a:lnTo>
                  <a:lnTo>
                    <a:pt x="6858" y="0"/>
                  </a:lnTo>
                  <a:lnTo>
                    <a:pt x="0" y="6095"/>
                  </a:lnTo>
                  <a:lnTo>
                    <a:pt x="0" y="1414271"/>
                  </a:lnTo>
                  <a:lnTo>
                    <a:pt x="6858" y="1421130"/>
                  </a:lnTo>
                  <a:lnTo>
                    <a:pt x="22098" y="1421130"/>
                  </a:lnTo>
                  <a:lnTo>
                    <a:pt x="28956" y="141427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object 14"/>
            <p:cNvPicPr/>
            <p:nvPr/>
          </p:nvPicPr>
          <p:blipFill>
            <a:blip r:embed="rId4" cstate="print"/>
            <a:stretch>
              <a:fillRect/>
            </a:stretch>
          </p:blipFill>
          <p:spPr>
            <a:xfrm>
              <a:off x="1575816" y="3368802"/>
              <a:ext cx="128015" cy="131063"/>
            </a:xfrm>
            <a:prstGeom prst="rect">
              <a:avLst/>
            </a:prstGeom>
          </p:spPr>
        </p:pic>
        <p:sp>
          <p:nvSpPr>
            <p:cNvPr id="15" name="object 15"/>
            <p:cNvSpPr/>
            <p:nvPr/>
          </p:nvSpPr>
          <p:spPr>
            <a:xfrm>
              <a:off x="2289810" y="2116848"/>
              <a:ext cx="1062990" cy="1957070"/>
            </a:xfrm>
            <a:custGeom>
              <a:avLst/>
              <a:gdLst/>
              <a:ahLst/>
              <a:cxnLst/>
              <a:rect l="l" t="t" r="r" b="b"/>
              <a:pathLst>
                <a:path w="1062989" h="1957070">
                  <a:moveTo>
                    <a:pt x="1062990" y="1596377"/>
                  </a:moveTo>
                  <a:lnTo>
                    <a:pt x="1056894" y="1589519"/>
                  </a:lnTo>
                  <a:lnTo>
                    <a:pt x="880872" y="1589519"/>
                  </a:lnTo>
                  <a:lnTo>
                    <a:pt x="874547" y="1589519"/>
                  </a:lnTo>
                  <a:lnTo>
                    <a:pt x="874014" y="1588757"/>
                  </a:lnTo>
                  <a:lnTo>
                    <a:pt x="868680" y="1587233"/>
                  </a:lnTo>
                  <a:lnTo>
                    <a:pt x="825766" y="1569961"/>
                  </a:lnTo>
                  <a:lnTo>
                    <a:pt x="825766" y="1600187"/>
                  </a:lnTo>
                  <a:lnTo>
                    <a:pt x="28194" y="1920659"/>
                  </a:lnTo>
                  <a:lnTo>
                    <a:pt x="28194" y="1279728"/>
                  </a:lnTo>
                  <a:lnTo>
                    <a:pt x="825766" y="1600187"/>
                  </a:lnTo>
                  <a:lnTo>
                    <a:pt x="825766" y="1569961"/>
                  </a:lnTo>
                  <a:lnTo>
                    <a:pt x="15240" y="1243571"/>
                  </a:lnTo>
                  <a:lnTo>
                    <a:pt x="9906" y="1243571"/>
                  </a:lnTo>
                  <a:lnTo>
                    <a:pt x="6096" y="1246619"/>
                  </a:lnTo>
                  <a:lnTo>
                    <a:pt x="2286" y="1248905"/>
                  </a:lnTo>
                  <a:lnTo>
                    <a:pt x="0" y="1253477"/>
                  </a:lnTo>
                  <a:lnTo>
                    <a:pt x="0" y="1946897"/>
                  </a:lnTo>
                  <a:lnTo>
                    <a:pt x="2286" y="1951469"/>
                  </a:lnTo>
                  <a:lnTo>
                    <a:pt x="6096" y="1953755"/>
                  </a:lnTo>
                  <a:lnTo>
                    <a:pt x="8382" y="1955584"/>
                  </a:lnTo>
                  <a:lnTo>
                    <a:pt x="9906" y="1956803"/>
                  </a:lnTo>
                  <a:lnTo>
                    <a:pt x="15240" y="1956803"/>
                  </a:lnTo>
                  <a:lnTo>
                    <a:pt x="28194" y="1951596"/>
                  </a:lnTo>
                  <a:lnTo>
                    <a:pt x="858012" y="1617446"/>
                  </a:lnTo>
                  <a:lnTo>
                    <a:pt x="867689" y="1613547"/>
                  </a:lnTo>
                  <a:lnTo>
                    <a:pt x="873252" y="1618475"/>
                  </a:lnTo>
                  <a:lnTo>
                    <a:pt x="1056894" y="1618475"/>
                  </a:lnTo>
                  <a:lnTo>
                    <a:pt x="1062990" y="1612379"/>
                  </a:lnTo>
                  <a:lnTo>
                    <a:pt x="1062990" y="1596377"/>
                  </a:lnTo>
                  <a:close/>
                </a:path>
                <a:path w="1062989" h="1957070">
                  <a:moveTo>
                    <a:pt x="1062990" y="321551"/>
                  </a:moveTo>
                  <a:lnTo>
                    <a:pt x="1056894" y="315455"/>
                  </a:lnTo>
                  <a:lnTo>
                    <a:pt x="873252" y="315455"/>
                  </a:lnTo>
                  <a:lnTo>
                    <a:pt x="871474" y="317030"/>
                  </a:lnTo>
                  <a:lnTo>
                    <a:pt x="868680" y="316230"/>
                  </a:lnTo>
                  <a:lnTo>
                    <a:pt x="822680" y="299199"/>
                  </a:lnTo>
                  <a:lnTo>
                    <a:pt x="822680" y="329565"/>
                  </a:lnTo>
                  <a:lnTo>
                    <a:pt x="9144" y="630174"/>
                  </a:lnTo>
                  <a:lnTo>
                    <a:pt x="28194" y="623125"/>
                  </a:lnTo>
                  <a:lnTo>
                    <a:pt x="28194" y="35991"/>
                  </a:lnTo>
                  <a:lnTo>
                    <a:pt x="822680" y="329565"/>
                  </a:lnTo>
                  <a:lnTo>
                    <a:pt x="822680" y="299199"/>
                  </a:lnTo>
                  <a:lnTo>
                    <a:pt x="19050" y="1524"/>
                  </a:lnTo>
                  <a:lnTo>
                    <a:pt x="14478" y="0"/>
                  </a:lnTo>
                  <a:lnTo>
                    <a:pt x="9906" y="762"/>
                  </a:lnTo>
                  <a:lnTo>
                    <a:pt x="6096" y="3810"/>
                  </a:lnTo>
                  <a:lnTo>
                    <a:pt x="2286" y="6096"/>
                  </a:lnTo>
                  <a:lnTo>
                    <a:pt x="0" y="10668"/>
                  </a:lnTo>
                  <a:lnTo>
                    <a:pt x="0" y="648462"/>
                  </a:lnTo>
                  <a:lnTo>
                    <a:pt x="2286" y="653034"/>
                  </a:lnTo>
                  <a:lnTo>
                    <a:pt x="6096" y="655320"/>
                  </a:lnTo>
                  <a:lnTo>
                    <a:pt x="9144" y="657758"/>
                  </a:lnTo>
                  <a:lnTo>
                    <a:pt x="9906" y="658368"/>
                  </a:lnTo>
                  <a:lnTo>
                    <a:pt x="14478" y="658368"/>
                  </a:lnTo>
                  <a:lnTo>
                    <a:pt x="19050" y="656844"/>
                  </a:lnTo>
                  <a:lnTo>
                    <a:pt x="28194" y="653453"/>
                  </a:lnTo>
                  <a:lnTo>
                    <a:pt x="858774" y="346557"/>
                  </a:lnTo>
                  <a:lnTo>
                    <a:pt x="868680" y="342900"/>
                  </a:lnTo>
                  <a:lnTo>
                    <a:pt x="871194" y="341833"/>
                  </a:lnTo>
                  <a:lnTo>
                    <a:pt x="873252" y="343649"/>
                  </a:lnTo>
                  <a:lnTo>
                    <a:pt x="1034796" y="343649"/>
                  </a:lnTo>
                  <a:lnTo>
                    <a:pt x="1034796" y="795515"/>
                  </a:lnTo>
                  <a:lnTo>
                    <a:pt x="1040892" y="802373"/>
                  </a:lnTo>
                  <a:lnTo>
                    <a:pt x="1048512" y="802373"/>
                  </a:lnTo>
                  <a:lnTo>
                    <a:pt x="1056894" y="802373"/>
                  </a:lnTo>
                  <a:lnTo>
                    <a:pt x="1062990" y="795515"/>
                  </a:lnTo>
                  <a:lnTo>
                    <a:pt x="1062990" y="32155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object 16"/>
          <p:cNvSpPr txBox="1"/>
          <p:nvPr/>
        </p:nvSpPr>
        <p:spPr>
          <a:xfrm>
            <a:off x="2335022" y="3521455"/>
            <a:ext cx="461009"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25"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0</a:t>
            </a:r>
            <a:r>
              <a:rPr kumimoji="0" sz="1900" b="1" i="0" u="none" strike="noStrike" kern="1200" cap="none" spc="-290" normalizeH="0" baseline="0" noProof="0" dirty="0">
                <a:ln>
                  <a:noFill/>
                </a:ln>
                <a:solidFill>
                  <a:srgbClr val="006500"/>
                </a:solidFill>
                <a:effectLst/>
                <a:uLnTx/>
                <a:uFillTx/>
                <a:latin typeface="Times New Roman"/>
                <a:ea typeface="+mn-ea"/>
                <a:cs typeface="Times New Roman"/>
              </a:rPr>
              <a:t> </a:t>
            </a:r>
            <a:r>
              <a:rPr kumimoji="0" sz="1900" b="1" i="0" u="none" strike="noStrike" kern="1200" cap="none" spc="100"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4</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7" name="object 17"/>
          <p:cNvSpPr/>
          <p:nvPr/>
        </p:nvSpPr>
        <p:spPr>
          <a:xfrm>
            <a:off x="3188970" y="2890265"/>
            <a:ext cx="716280" cy="847090"/>
          </a:xfrm>
          <a:custGeom>
            <a:avLst/>
            <a:gdLst/>
            <a:ahLst/>
            <a:cxnLst/>
            <a:rect l="l" t="t" r="r" b="b"/>
            <a:pathLst>
              <a:path w="716279" h="847089">
                <a:moveTo>
                  <a:pt x="167640" y="64008"/>
                </a:moveTo>
                <a:lnTo>
                  <a:pt x="161544" y="57912"/>
                </a:lnTo>
                <a:lnTo>
                  <a:pt x="145542" y="57912"/>
                </a:lnTo>
                <a:lnTo>
                  <a:pt x="139446" y="64008"/>
                </a:lnTo>
                <a:lnTo>
                  <a:pt x="139446" y="247650"/>
                </a:lnTo>
                <a:lnTo>
                  <a:pt x="145542" y="253746"/>
                </a:lnTo>
                <a:lnTo>
                  <a:pt x="161544" y="253746"/>
                </a:lnTo>
                <a:lnTo>
                  <a:pt x="167640" y="247650"/>
                </a:lnTo>
                <a:lnTo>
                  <a:pt x="167640" y="71628"/>
                </a:lnTo>
                <a:lnTo>
                  <a:pt x="167640" y="64008"/>
                </a:lnTo>
                <a:close/>
              </a:path>
              <a:path w="716279" h="847089">
                <a:moveTo>
                  <a:pt x="716280" y="143256"/>
                </a:moveTo>
                <a:lnTo>
                  <a:pt x="709422" y="136398"/>
                </a:lnTo>
                <a:lnTo>
                  <a:pt x="296418" y="136398"/>
                </a:lnTo>
                <a:lnTo>
                  <a:pt x="295656" y="128778"/>
                </a:lnTo>
                <a:lnTo>
                  <a:pt x="284988" y="92202"/>
                </a:lnTo>
                <a:lnTo>
                  <a:pt x="268224" y="62141"/>
                </a:lnTo>
                <a:lnTo>
                  <a:pt x="268224" y="139446"/>
                </a:lnTo>
                <a:lnTo>
                  <a:pt x="268224" y="143256"/>
                </a:lnTo>
                <a:lnTo>
                  <a:pt x="268224" y="158496"/>
                </a:lnTo>
                <a:lnTo>
                  <a:pt x="267462" y="164592"/>
                </a:lnTo>
                <a:lnTo>
                  <a:pt x="266700" y="171450"/>
                </a:lnTo>
                <a:lnTo>
                  <a:pt x="253746" y="211074"/>
                </a:lnTo>
                <a:lnTo>
                  <a:pt x="224028" y="247650"/>
                </a:lnTo>
                <a:lnTo>
                  <a:pt x="189738" y="267462"/>
                </a:lnTo>
                <a:lnTo>
                  <a:pt x="166116" y="273558"/>
                </a:lnTo>
                <a:lnTo>
                  <a:pt x="160782" y="274320"/>
                </a:lnTo>
                <a:lnTo>
                  <a:pt x="156210" y="274891"/>
                </a:lnTo>
                <a:lnTo>
                  <a:pt x="140970" y="274993"/>
                </a:lnTo>
                <a:lnTo>
                  <a:pt x="135636" y="274320"/>
                </a:lnTo>
                <a:lnTo>
                  <a:pt x="130302" y="273558"/>
                </a:lnTo>
                <a:lnTo>
                  <a:pt x="124206" y="272034"/>
                </a:lnTo>
                <a:lnTo>
                  <a:pt x="118110" y="271272"/>
                </a:lnTo>
                <a:lnTo>
                  <a:pt x="112776" y="268986"/>
                </a:lnTo>
                <a:lnTo>
                  <a:pt x="107442" y="267462"/>
                </a:lnTo>
                <a:lnTo>
                  <a:pt x="102108" y="265176"/>
                </a:lnTo>
                <a:lnTo>
                  <a:pt x="96012" y="262890"/>
                </a:lnTo>
                <a:lnTo>
                  <a:pt x="91440" y="259842"/>
                </a:lnTo>
                <a:lnTo>
                  <a:pt x="80772" y="253746"/>
                </a:lnTo>
                <a:lnTo>
                  <a:pt x="48768" y="220218"/>
                </a:lnTo>
                <a:lnTo>
                  <a:pt x="38100" y="198882"/>
                </a:lnTo>
                <a:lnTo>
                  <a:pt x="35814" y="194310"/>
                </a:lnTo>
                <a:lnTo>
                  <a:pt x="29718" y="169926"/>
                </a:lnTo>
                <a:lnTo>
                  <a:pt x="28956" y="163830"/>
                </a:lnTo>
                <a:lnTo>
                  <a:pt x="28956" y="145542"/>
                </a:lnTo>
                <a:lnTo>
                  <a:pt x="29718" y="138684"/>
                </a:lnTo>
                <a:lnTo>
                  <a:pt x="31242" y="126492"/>
                </a:lnTo>
                <a:lnTo>
                  <a:pt x="32766" y="120396"/>
                </a:lnTo>
                <a:lnTo>
                  <a:pt x="34290" y="115062"/>
                </a:lnTo>
                <a:lnTo>
                  <a:pt x="35814" y="108966"/>
                </a:lnTo>
                <a:lnTo>
                  <a:pt x="56388" y="73152"/>
                </a:lnTo>
                <a:lnTo>
                  <a:pt x="92202" y="43434"/>
                </a:lnTo>
                <a:lnTo>
                  <a:pt x="96774" y="41148"/>
                </a:lnTo>
                <a:lnTo>
                  <a:pt x="102108" y="38100"/>
                </a:lnTo>
                <a:lnTo>
                  <a:pt x="108204" y="35814"/>
                </a:lnTo>
                <a:lnTo>
                  <a:pt x="118872" y="32766"/>
                </a:lnTo>
                <a:lnTo>
                  <a:pt x="124968" y="31242"/>
                </a:lnTo>
                <a:lnTo>
                  <a:pt x="131064" y="30480"/>
                </a:lnTo>
                <a:lnTo>
                  <a:pt x="136398" y="29718"/>
                </a:lnTo>
                <a:lnTo>
                  <a:pt x="141732" y="29057"/>
                </a:lnTo>
                <a:lnTo>
                  <a:pt x="156210" y="29057"/>
                </a:lnTo>
                <a:lnTo>
                  <a:pt x="161544" y="29718"/>
                </a:lnTo>
                <a:lnTo>
                  <a:pt x="166878" y="30480"/>
                </a:lnTo>
                <a:lnTo>
                  <a:pt x="172974" y="31242"/>
                </a:lnTo>
                <a:lnTo>
                  <a:pt x="179070" y="32766"/>
                </a:lnTo>
                <a:lnTo>
                  <a:pt x="184404" y="34290"/>
                </a:lnTo>
                <a:lnTo>
                  <a:pt x="189738" y="36576"/>
                </a:lnTo>
                <a:lnTo>
                  <a:pt x="195834" y="38862"/>
                </a:lnTo>
                <a:lnTo>
                  <a:pt x="200406" y="41148"/>
                </a:lnTo>
                <a:lnTo>
                  <a:pt x="205740" y="43434"/>
                </a:lnTo>
                <a:lnTo>
                  <a:pt x="225552" y="57150"/>
                </a:lnTo>
                <a:lnTo>
                  <a:pt x="254508" y="93726"/>
                </a:lnTo>
                <a:lnTo>
                  <a:pt x="262890" y="115824"/>
                </a:lnTo>
                <a:lnTo>
                  <a:pt x="264414" y="121158"/>
                </a:lnTo>
                <a:lnTo>
                  <a:pt x="267462" y="133350"/>
                </a:lnTo>
                <a:lnTo>
                  <a:pt x="268224" y="139446"/>
                </a:lnTo>
                <a:lnTo>
                  <a:pt x="268224" y="62141"/>
                </a:lnTo>
                <a:lnTo>
                  <a:pt x="230886" y="25908"/>
                </a:lnTo>
                <a:lnTo>
                  <a:pt x="212598" y="15240"/>
                </a:lnTo>
                <a:lnTo>
                  <a:pt x="206502" y="12192"/>
                </a:lnTo>
                <a:lnTo>
                  <a:pt x="170688" y="2286"/>
                </a:lnTo>
                <a:lnTo>
                  <a:pt x="163068" y="762"/>
                </a:lnTo>
                <a:lnTo>
                  <a:pt x="155448" y="698"/>
                </a:lnTo>
                <a:lnTo>
                  <a:pt x="147828" y="0"/>
                </a:lnTo>
                <a:lnTo>
                  <a:pt x="140970" y="685"/>
                </a:lnTo>
                <a:lnTo>
                  <a:pt x="133350" y="762"/>
                </a:lnTo>
                <a:lnTo>
                  <a:pt x="125730" y="2286"/>
                </a:lnTo>
                <a:lnTo>
                  <a:pt x="118110" y="3048"/>
                </a:lnTo>
                <a:lnTo>
                  <a:pt x="111252" y="5334"/>
                </a:lnTo>
                <a:lnTo>
                  <a:pt x="103632" y="6858"/>
                </a:lnTo>
                <a:lnTo>
                  <a:pt x="96774" y="9906"/>
                </a:lnTo>
                <a:lnTo>
                  <a:pt x="53340" y="35052"/>
                </a:lnTo>
                <a:lnTo>
                  <a:pt x="25146" y="67818"/>
                </a:lnTo>
                <a:lnTo>
                  <a:pt x="9144" y="100584"/>
                </a:lnTo>
                <a:lnTo>
                  <a:pt x="4572" y="114300"/>
                </a:lnTo>
                <a:lnTo>
                  <a:pt x="1524" y="129540"/>
                </a:lnTo>
                <a:lnTo>
                  <a:pt x="762" y="136398"/>
                </a:lnTo>
                <a:lnTo>
                  <a:pt x="0" y="144780"/>
                </a:lnTo>
                <a:lnTo>
                  <a:pt x="0" y="160020"/>
                </a:lnTo>
                <a:lnTo>
                  <a:pt x="9144" y="204216"/>
                </a:lnTo>
                <a:lnTo>
                  <a:pt x="28956" y="241147"/>
                </a:lnTo>
                <a:lnTo>
                  <a:pt x="66294" y="278130"/>
                </a:lnTo>
                <a:lnTo>
                  <a:pt x="104394" y="296418"/>
                </a:lnTo>
                <a:lnTo>
                  <a:pt x="134112" y="302514"/>
                </a:lnTo>
                <a:lnTo>
                  <a:pt x="135636" y="302691"/>
                </a:lnTo>
                <a:lnTo>
                  <a:pt x="135636" y="840498"/>
                </a:lnTo>
                <a:lnTo>
                  <a:pt x="141732" y="846594"/>
                </a:lnTo>
                <a:lnTo>
                  <a:pt x="157734" y="846594"/>
                </a:lnTo>
                <a:lnTo>
                  <a:pt x="163830" y="840498"/>
                </a:lnTo>
                <a:lnTo>
                  <a:pt x="163830" y="832878"/>
                </a:lnTo>
                <a:lnTo>
                  <a:pt x="163830" y="302514"/>
                </a:lnTo>
                <a:lnTo>
                  <a:pt x="171450" y="301752"/>
                </a:lnTo>
                <a:lnTo>
                  <a:pt x="179070" y="300228"/>
                </a:lnTo>
                <a:lnTo>
                  <a:pt x="185928" y="298704"/>
                </a:lnTo>
                <a:lnTo>
                  <a:pt x="192786" y="296418"/>
                </a:lnTo>
                <a:lnTo>
                  <a:pt x="200406" y="294132"/>
                </a:lnTo>
                <a:lnTo>
                  <a:pt x="206502" y="291084"/>
                </a:lnTo>
                <a:lnTo>
                  <a:pt x="220218" y="284988"/>
                </a:lnTo>
                <a:lnTo>
                  <a:pt x="232410" y="277368"/>
                </a:lnTo>
                <a:lnTo>
                  <a:pt x="263652" y="247650"/>
                </a:lnTo>
                <a:lnTo>
                  <a:pt x="285750" y="210312"/>
                </a:lnTo>
                <a:lnTo>
                  <a:pt x="296570" y="165354"/>
                </a:lnTo>
                <a:lnTo>
                  <a:pt x="709422" y="165354"/>
                </a:lnTo>
                <a:lnTo>
                  <a:pt x="716280" y="158496"/>
                </a:lnTo>
                <a:lnTo>
                  <a:pt x="716280" y="14325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txBox="1"/>
          <p:nvPr/>
        </p:nvSpPr>
        <p:spPr>
          <a:xfrm>
            <a:off x="1780285" y="1189436"/>
            <a:ext cx="2999105" cy="2373630"/>
          </a:xfrm>
          <a:prstGeom prst="rect">
            <a:avLst/>
          </a:prstGeom>
        </p:spPr>
        <p:txBody>
          <a:bodyPr vert="horz" wrap="square" lIns="0" tIns="12700" rIns="0" bIns="0" rtlCol="0">
            <a:spAutoFit/>
          </a:bodyPr>
          <a:lstStyle/>
          <a:p>
            <a:pPr marL="1278890" marR="81280" lvl="0" indent="-116839" algn="ctr" defTabSz="914400" rtl="0" eaLnBrk="1" fontAlgn="auto" latinLnBrk="0" hangingPunct="1">
              <a:lnSpc>
                <a:spcPct val="120000"/>
              </a:lnSpc>
              <a:spcBef>
                <a:spcPts val="100"/>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if 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if</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=0</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88900" marR="0" lvl="0" indent="0" algn="l" defTabSz="914400" rtl="0" eaLnBrk="1" fontAlgn="auto" latinLnBrk="0" hangingPunct="1">
              <a:lnSpc>
                <a:spcPts val="2430"/>
              </a:lnSpc>
              <a:spcBef>
                <a:spcPts val="50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0</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a:p>
            <a:pPr marL="623570" marR="0" lvl="0" indent="0" algn="l" defTabSz="914400" rtl="0" eaLnBrk="1" fontAlgn="auto" latinLnBrk="0" hangingPunct="1">
              <a:lnSpc>
                <a:spcPts val="1950"/>
              </a:lnSpc>
              <a:spcBef>
                <a:spcPts val="0"/>
              </a:spcBef>
              <a:spcAft>
                <a:spcPts val="0"/>
              </a:spcAft>
              <a:buClrTx/>
              <a:buSzTx/>
              <a:buFontTx/>
              <a:buNone/>
              <a:tabLst/>
              <a:defRPr/>
            </a:pPr>
            <a:r>
              <a:rPr kumimoji="0" sz="1900" b="1" i="0" u="none" strike="noStrike" kern="1200" cap="none" spc="95" normalizeH="0" baseline="0" noProof="0" dirty="0">
                <a:ln>
                  <a:noFill/>
                </a:ln>
                <a:solidFill>
                  <a:srgbClr val="0000FF"/>
                </a:solidFill>
                <a:effectLst/>
                <a:uLnTx/>
                <a:uFillTx/>
                <a:latin typeface="Times New Roman"/>
                <a:ea typeface="+mn-ea"/>
                <a:cs typeface="Times New Roman"/>
              </a:rPr>
              <a:t>0.6</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a:p>
            <a:pPr marL="1107440" marR="0" lvl="0" indent="0" algn="ctr" defTabSz="914400" rtl="0" eaLnBrk="1" fontAlgn="auto" latinLnBrk="0" hangingPunct="1">
              <a:lnSpc>
                <a:spcPct val="100000"/>
              </a:lnSpc>
              <a:spcBef>
                <a:spcPts val="800"/>
              </a:spcBef>
              <a:spcAft>
                <a:spcPts val="0"/>
              </a:spcAft>
              <a:buClrTx/>
              <a:buSzTx/>
              <a:buFontTx/>
              <a:buNone/>
              <a:tabLst/>
              <a:defRPr/>
            </a:pPr>
            <a:r>
              <a:rPr kumimoji="0" sz="3450" b="0" i="1" u="none" strike="noStrike" kern="1200" cap="none" spc="15" normalizeH="0" baseline="13285" noProof="0" dirty="0">
                <a:ln>
                  <a:noFill/>
                </a:ln>
                <a:solidFill>
                  <a:prstClr val="black"/>
                </a:solidFill>
                <a:effectLst/>
                <a:uLnTx/>
                <a:uFillTx/>
                <a:latin typeface="Times New Roman"/>
                <a:ea typeface="+mn-ea"/>
                <a:cs typeface="Times New Roman"/>
              </a:rPr>
              <a:t>V</a:t>
            </a:r>
            <a:r>
              <a:rPr kumimoji="0" sz="1500" b="0" i="1" u="none" strike="noStrike" kern="1200" cap="none" spc="10" normalizeH="0" baseline="0" noProof="0" dirty="0">
                <a:ln>
                  <a:noFill/>
                </a:ln>
                <a:solidFill>
                  <a:prstClr val="black"/>
                </a:solidFill>
                <a:effectLst/>
                <a:uLnTx/>
                <a:uFillTx/>
                <a:latin typeface="Times New Roman"/>
                <a:ea typeface="+mn-ea"/>
                <a:cs typeface="Times New Roman"/>
              </a:rPr>
              <a:t>FFE</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a:p>
            <a:pPr marL="166370" marR="0" lvl="0" indent="0" algn="l" defTabSz="914400" rtl="0" eaLnBrk="1" fontAlgn="auto" latinLnBrk="0" hangingPunct="1">
              <a:lnSpc>
                <a:spcPct val="100000"/>
              </a:lnSpc>
              <a:spcBef>
                <a:spcPts val="1520"/>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1</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20" name="Slide Number Placeholder 19"/>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36</a:t>
            </a:fld>
            <a:endParaRPr lang="en-US" spc="-50" dirty="0"/>
          </a:p>
        </p:txBody>
      </p:sp>
      <p:sp>
        <p:nvSpPr>
          <p:cNvPr id="21" name="Date Placeholder 2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22" name="Footer Placeholder 2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82853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9762" y="309402"/>
            <a:ext cx="5267325" cy="604520"/>
          </a:xfrm>
          <a:prstGeom prst="rect">
            <a:avLst/>
          </a:prstGeom>
        </p:spPr>
        <p:txBody>
          <a:bodyPr vert="horz" wrap="square" lIns="0" tIns="12065" rIns="0" bIns="0" rtlCol="0">
            <a:spAutoFit/>
          </a:bodyPr>
          <a:lstStyle/>
          <a:p>
            <a:pPr marL="12700">
              <a:lnSpc>
                <a:spcPct val="100000"/>
              </a:lnSpc>
              <a:spcBef>
                <a:spcPts val="95"/>
              </a:spcBef>
            </a:pPr>
            <a:r>
              <a:rPr sz="3800" b="0" spc="-10" dirty="0">
                <a:latin typeface="Verdana"/>
                <a:cs typeface="Verdana"/>
              </a:rPr>
              <a:t>Current</a:t>
            </a:r>
            <a:r>
              <a:rPr sz="3800" b="0" spc="-5" dirty="0">
                <a:latin typeface="Verdana"/>
                <a:cs typeface="Verdana"/>
              </a:rPr>
              <a:t> Mode</a:t>
            </a:r>
            <a:r>
              <a:rPr sz="3800" b="0" dirty="0">
                <a:latin typeface="Verdana"/>
                <a:cs typeface="Verdana"/>
              </a:rPr>
              <a:t> </a:t>
            </a:r>
            <a:r>
              <a:rPr sz="3800" b="0" spc="-5" dirty="0">
                <a:latin typeface="Verdana"/>
                <a:cs typeface="Verdana"/>
              </a:rPr>
              <a:t>FFE</a:t>
            </a:r>
            <a:r>
              <a:rPr sz="3800" b="0" dirty="0">
                <a:latin typeface="Verdana"/>
                <a:cs typeface="Verdana"/>
              </a:rPr>
              <a:t> </a:t>
            </a:r>
            <a:r>
              <a:rPr sz="3800" b="0" spc="-5" dirty="0">
                <a:latin typeface="Verdana"/>
                <a:cs typeface="Verdana"/>
              </a:rPr>
              <a:t>(1)</a:t>
            </a:r>
            <a:endParaRPr sz="3800" dirty="0">
              <a:latin typeface="Verdana"/>
              <a:cs typeface="Verdana"/>
            </a:endParaRPr>
          </a:p>
        </p:txBody>
      </p:sp>
      <p:sp>
        <p:nvSpPr>
          <p:cNvPr id="3" name="object 3"/>
          <p:cNvSpPr txBox="1"/>
          <p:nvPr/>
        </p:nvSpPr>
        <p:spPr>
          <a:xfrm>
            <a:off x="9332214" y="1610252"/>
            <a:ext cx="142240" cy="239395"/>
          </a:xfrm>
          <a:prstGeom prst="rect">
            <a:avLst/>
          </a:prstGeom>
        </p:spPr>
        <p:txBody>
          <a:bodyPr vert="horz" wrap="square" lIns="0" tIns="0" rIns="0" bIns="0" rtlCol="0">
            <a:spAutoFit/>
          </a:bodyPr>
          <a:lstStyle/>
          <a:p>
            <a:pPr marL="0" marR="0" lvl="0" indent="0" algn="l" defTabSz="914400" rtl="0" eaLnBrk="1" fontAlgn="auto" latinLnBrk="0" hangingPunct="1">
              <a:lnSpc>
                <a:spcPts val="1855"/>
              </a:lnSpc>
              <a:spcBef>
                <a:spcPts val="0"/>
              </a:spcBef>
              <a:spcAft>
                <a:spcPts val="0"/>
              </a:spcAft>
              <a:buClrTx/>
              <a:buSzTx/>
              <a:buFontTx/>
              <a:buNone/>
              <a:tabLst/>
              <a:defRPr/>
            </a:pPr>
            <a:r>
              <a:rPr kumimoji="0" sz="1700" b="0" i="0" u="none" strike="noStrike" kern="1200" cap="none" spc="155" normalizeH="0" baseline="0" noProof="0" dirty="0">
                <a:ln>
                  <a:noFill/>
                </a:ln>
                <a:solidFill>
                  <a:prstClr val="black"/>
                </a:solidFill>
                <a:effectLst/>
                <a:uLnTx/>
                <a:uFillTx/>
                <a:latin typeface="Times New Roman"/>
                <a:ea typeface="+mn-ea"/>
                <a:cs typeface="Times New Roman"/>
              </a:rPr>
              <a:t>&lt;</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4" name="object 4"/>
          <p:cNvSpPr txBox="1"/>
          <p:nvPr/>
        </p:nvSpPr>
        <p:spPr>
          <a:xfrm>
            <a:off x="10098785" y="2268063"/>
            <a:ext cx="86360"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9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object 5"/>
          <p:cNvSpPr txBox="1"/>
          <p:nvPr/>
        </p:nvSpPr>
        <p:spPr>
          <a:xfrm>
            <a:off x="10021835" y="1914498"/>
            <a:ext cx="147955"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16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6" name="object 6"/>
          <p:cNvSpPr/>
          <p:nvPr/>
        </p:nvSpPr>
        <p:spPr>
          <a:xfrm>
            <a:off x="8137087" y="2900938"/>
            <a:ext cx="210820" cy="0"/>
          </a:xfrm>
          <a:custGeom>
            <a:avLst/>
            <a:gdLst/>
            <a:ahLst/>
            <a:cxnLst/>
            <a:rect l="l" t="t" r="r" b="b"/>
            <a:pathLst>
              <a:path w="210820">
                <a:moveTo>
                  <a:pt x="0" y="0"/>
                </a:moveTo>
                <a:lnTo>
                  <a:pt x="210299" y="0"/>
                </a:lnTo>
              </a:path>
            </a:pathLst>
          </a:custGeom>
          <a:ln w="944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object 7"/>
          <p:cNvGrpSpPr/>
          <p:nvPr/>
        </p:nvGrpSpPr>
        <p:grpSpPr>
          <a:xfrm>
            <a:off x="7181088" y="1253229"/>
            <a:ext cx="2807970" cy="2872740"/>
            <a:chOff x="7181088" y="1253229"/>
            <a:chExt cx="2807970" cy="2872740"/>
          </a:xfrm>
        </p:grpSpPr>
        <p:sp>
          <p:nvSpPr>
            <p:cNvPr id="8" name="object 8"/>
            <p:cNvSpPr/>
            <p:nvPr/>
          </p:nvSpPr>
          <p:spPr>
            <a:xfrm>
              <a:off x="7350252" y="3338321"/>
              <a:ext cx="462915" cy="0"/>
            </a:xfrm>
            <a:custGeom>
              <a:avLst/>
              <a:gdLst/>
              <a:ahLst/>
              <a:cxnLst/>
              <a:rect l="l" t="t" r="r" b="b"/>
              <a:pathLst>
                <a:path w="462915">
                  <a:moveTo>
                    <a:pt x="462533"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7427976" y="3525011"/>
              <a:ext cx="298450" cy="289560"/>
            </a:xfrm>
            <a:custGeom>
              <a:avLst/>
              <a:gdLst/>
              <a:ahLst/>
              <a:cxnLst/>
              <a:rect l="l" t="t" r="r" b="b"/>
              <a:pathLst>
                <a:path w="298450" h="289560">
                  <a:moveTo>
                    <a:pt x="297942" y="144779"/>
                  </a:moveTo>
                  <a:lnTo>
                    <a:pt x="290315" y="98999"/>
                  </a:lnTo>
                  <a:lnTo>
                    <a:pt x="269120" y="59253"/>
                  </a:lnTo>
                  <a:lnTo>
                    <a:pt x="236878" y="27919"/>
                  </a:lnTo>
                  <a:lnTo>
                    <a:pt x="196114" y="7376"/>
                  </a:lnTo>
                  <a:lnTo>
                    <a:pt x="149352" y="0"/>
                  </a:lnTo>
                  <a:lnTo>
                    <a:pt x="102217" y="7376"/>
                  </a:lnTo>
                  <a:lnTo>
                    <a:pt x="61228" y="27919"/>
                  </a:lnTo>
                  <a:lnTo>
                    <a:pt x="28870" y="59253"/>
                  </a:lnTo>
                  <a:lnTo>
                    <a:pt x="7632" y="98999"/>
                  </a:lnTo>
                  <a:lnTo>
                    <a:pt x="0" y="144779"/>
                  </a:lnTo>
                  <a:lnTo>
                    <a:pt x="7632" y="190560"/>
                  </a:lnTo>
                  <a:lnTo>
                    <a:pt x="28870" y="230306"/>
                  </a:lnTo>
                  <a:lnTo>
                    <a:pt x="61228" y="261640"/>
                  </a:lnTo>
                  <a:lnTo>
                    <a:pt x="102217" y="282183"/>
                  </a:lnTo>
                  <a:lnTo>
                    <a:pt x="149352" y="289559"/>
                  </a:lnTo>
                  <a:lnTo>
                    <a:pt x="196114" y="282183"/>
                  </a:lnTo>
                  <a:lnTo>
                    <a:pt x="236878" y="261640"/>
                  </a:lnTo>
                  <a:lnTo>
                    <a:pt x="269120" y="230306"/>
                  </a:lnTo>
                  <a:lnTo>
                    <a:pt x="290315" y="190560"/>
                  </a:lnTo>
                  <a:lnTo>
                    <a:pt x="297942"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7576566" y="3453383"/>
              <a:ext cx="1270" cy="234315"/>
            </a:xfrm>
            <a:custGeom>
              <a:avLst/>
              <a:gdLst/>
              <a:ahLst/>
              <a:cxnLst/>
              <a:rect l="l" t="t" r="r" b="b"/>
              <a:pathLst>
                <a:path w="1270" h="234314">
                  <a:moveTo>
                    <a:pt x="761"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7523226" y="3675887"/>
              <a:ext cx="107950" cy="139065"/>
            </a:xfrm>
            <a:custGeom>
              <a:avLst/>
              <a:gdLst/>
              <a:ahLst/>
              <a:cxnLst/>
              <a:rect l="l" t="t" r="r" b="b"/>
              <a:pathLst>
                <a:path w="107950" h="139064">
                  <a:moveTo>
                    <a:pt x="107442" y="0"/>
                  </a:moveTo>
                  <a:lnTo>
                    <a:pt x="0" y="0"/>
                  </a:lnTo>
                  <a:lnTo>
                    <a:pt x="53340" y="138684"/>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7578090" y="3814571"/>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7460742" y="3987546"/>
              <a:ext cx="235585" cy="0"/>
            </a:xfrm>
            <a:custGeom>
              <a:avLst/>
              <a:gdLst/>
              <a:ahLst/>
              <a:cxnLst/>
              <a:rect l="l" t="t" r="r" b="b"/>
              <a:pathLst>
                <a:path w="235584">
                  <a:moveTo>
                    <a:pt x="0" y="0"/>
                  </a:moveTo>
                  <a:lnTo>
                    <a:pt x="235458"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7500366" y="4038599"/>
              <a:ext cx="156210" cy="0"/>
            </a:xfrm>
            <a:custGeom>
              <a:avLst/>
              <a:gdLst/>
              <a:ahLst/>
              <a:cxnLst/>
              <a:rect l="l" t="t" r="r" b="b"/>
              <a:pathLst>
                <a:path w="156209">
                  <a:moveTo>
                    <a:pt x="0" y="0"/>
                  </a:moveTo>
                  <a:lnTo>
                    <a:pt x="15621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7539228" y="4088891"/>
              <a:ext cx="78740" cy="0"/>
            </a:xfrm>
            <a:custGeom>
              <a:avLst/>
              <a:gdLst/>
              <a:ahLst/>
              <a:cxnLst/>
              <a:rect l="l" t="t" r="r" b="b"/>
              <a:pathLst>
                <a:path w="78740">
                  <a:moveTo>
                    <a:pt x="0" y="0"/>
                  </a:moveTo>
                  <a:lnTo>
                    <a:pt x="7848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7578090" y="3886961"/>
              <a:ext cx="0" cy="100965"/>
            </a:xfrm>
            <a:custGeom>
              <a:avLst/>
              <a:gdLst/>
              <a:ahLst/>
              <a:cxnLst/>
              <a:rect l="l" t="t" r="r" b="b"/>
              <a:pathLst>
                <a:path h="100964">
                  <a:moveTo>
                    <a:pt x="0" y="100584"/>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7"/>
            <p:cNvSpPr/>
            <p:nvPr/>
          </p:nvSpPr>
          <p:spPr>
            <a:xfrm>
              <a:off x="7576566" y="3338321"/>
              <a:ext cx="1270" cy="120650"/>
            </a:xfrm>
            <a:custGeom>
              <a:avLst/>
              <a:gdLst/>
              <a:ahLst/>
              <a:cxnLst/>
              <a:rect l="l" t="t" r="r" b="b"/>
              <a:pathLst>
                <a:path w="1270" h="120650">
                  <a:moveTo>
                    <a:pt x="380" y="-7435"/>
                  </a:moveTo>
                  <a:lnTo>
                    <a:pt x="380" y="127831"/>
                  </a:lnTo>
                </a:path>
              </a:pathLst>
            </a:custGeom>
            <a:ln w="156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p:nvPr/>
          </p:nvSpPr>
          <p:spPr>
            <a:xfrm>
              <a:off x="7812786" y="2966465"/>
              <a:ext cx="216535" cy="372110"/>
            </a:xfrm>
            <a:custGeom>
              <a:avLst/>
              <a:gdLst/>
              <a:ahLst/>
              <a:cxnLst/>
              <a:rect l="l" t="t" r="r" b="b"/>
              <a:pathLst>
                <a:path w="216534" h="372110">
                  <a:moveTo>
                    <a:pt x="0" y="371856"/>
                  </a:moveTo>
                  <a:lnTo>
                    <a:pt x="0" y="185928"/>
                  </a:lnTo>
                  <a:lnTo>
                    <a:pt x="216407"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9"/>
            <p:cNvSpPr/>
            <p:nvPr/>
          </p:nvSpPr>
          <p:spPr>
            <a:xfrm>
              <a:off x="7812786" y="2314955"/>
              <a:ext cx="0" cy="491490"/>
            </a:xfrm>
            <a:custGeom>
              <a:avLst/>
              <a:gdLst/>
              <a:ahLst/>
              <a:cxnLst/>
              <a:rect l="l" t="t" r="r" b="b"/>
              <a:pathLst>
                <a:path h="491489">
                  <a:moveTo>
                    <a:pt x="0" y="4914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bject 20"/>
            <p:cNvSpPr/>
            <p:nvPr/>
          </p:nvSpPr>
          <p:spPr>
            <a:xfrm>
              <a:off x="7802880" y="1846325"/>
              <a:ext cx="10160" cy="468630"/>
            </a:xfrm>
            <a:custGeom>
              <a:avLst/>
              <a:gdLst/>
              <a:ahLst/>
              <a:cxnLst/>
              <a:rect l="l" t="t" r="r" b="b"/>
              <a:pathLst>
                <a:path w="10159" h="468630">
                  <a:moveTo>
                    <a:pt x="9905" y="46862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p:nvPr/>
          </p:nvSpPr>
          <p:spPr>
            <a:xfrm>
              <a:off x="7350252" y="2269236"/>
              <a:ext cx="0" cy="485775"/>
            </a:xfrm>
            <a:custGeom>
              <a:avLst/>
              <a:gdLst/>
              <a:ahLst/>
              <a:cxnLst/>
              <a:rect l="l" t="t" r="r" b="b"/>
              <a:pathLst>
                <a:path h="485775">
                  <a:moveTo>
                    <a:pt x="0" y="485394"/>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7350252" y="1846325"/>
              <a:ext cx="0" cy="454659"/>
            </a:xfrm>
            <a:custGeom>
              <a:avLst/>
              <a:gdLst/>
              <a:ahLst/>
              <a:cxnLst/>
              <a:rect l="l" t="t" r="r" b="b"/>
              <a:pathLst>
                <a:path h="454660">
                  <a:moveTo>
                    <a:pt x="0" y="454151"/>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object 23"/>
            <p:cNvPicPr/>
            <p:nvPr/>
          </p:nvPicPr>
          <p:blipFill>
            <a:blip r:embed="rId2" cstate="print"/>
            <a:stretch>
              <a:fillRect/>
            </a:stretch>
          </p:blipFill>
          <p:spPr>
            <a:xfrm>
              <a:off x="7293794" y="2477954"/>
              <a:ext cx="113677" cy="87007"/>
            </a:xfrm>
            <a:prstGeom prst="rect">
              <a:avLst/>
            </a:prstGeom>
          </p:spPr>
        </p:pic>
        <p:sp>
          <p:nvSpPr>
            <p:cNvPr id="24" name="object 24"/>
            <p:cNvSpPr/>
            <p:nvPr/>
          </p:nvSpPr>
          <p:spPr>
            <a:xfrm>
              <a:off x="7370826" y="2533650"/>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object 25"/>
            <p:cNvPicPr/>
            <p:nvPr/>
          </p:nvPicPr>
          <p:blipFill>
            <a:blip r:embed="rId2" cstate="print"/>
            <a:stretch>
              <a:fillRect/>
            </a:stretch>
          </p:blipFill>
          <p:spPr>
            <a:xfrm>
              <a:off x="7770044" y="2035232"/>
              <a:ext cx="113677" cy="87007"/>
            </a:xfrm>
            <a:prstGeom prst="rect">
              <a:avLst/>
            </a:prstGeom>
          </p:spPr>
        </p:pic>
        <p:sp>
          <p:nvSpPr>
            <p:cNvPr id="26" name="object 26"/>
            <p:cNvSpPr/>
            <p:nvPr/>
          </p:nvSpPr>
          <p:spPr>
            <a:xfrm>
              <a:off x="7781544" y="2077211"/>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bject 27"/>
            <p:cNvSpPr/>
            <p:nvPr/>
          </p:nvSpPr>
          <p:spPr>
            <a:xfrm>
              <a:off x="9611867" y="2077211"/>
              <a:ext cx="160020" cy="0"/>
            </a:xfrm>
            <a:custGeom>
              <a:avLst/>
              <a:gdLst/>
              <a:ahLst/>
              <a:cxnLst/>
              <a:rect l="l" t="t" r="r" b="b"/>
              <a:pathLst>
                <a:path w="160020">
                  <a:moveTo>
                    <a:pt x="0" y="0"/>
                  </a:moveTo>
                  <a:lnTo>
                    <a:pt x="160020"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bject 28"/>
            <p:cNvSpPr/>
            <p:nvPr/>
          </p:nvSpPr>
          <p:spPr>
            <a:xfrm>
              <a:off x="9761982" y="2042921"/>
              <a:ext cx="119380" cy="68580"/>
            </a:xfrm>
            <a:custGeom>
              <a:avLst/>
              <a:gdLst/>
              <a:ahLst/>
              <a:cxnLst/>
              <a:rect l="l" t="t" r="r" b="b"/>
              <a:pathLst>
                <a:path w="119379" h="68580">
                  <a:moveTo>
                    <a:pt x="118872" y="34290"/>
                  </a:moveTo>
                  <a:lnTo>
                    <a:pt x="0" y="0"/>
                  </a:lnTo>
                  <a:lnTo>
                    <a:pt x="0" y="68580"/>
                  </a:lnTo>
                  <a:lnTo>
                    <a:pt x="118872" y="3429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object 29"/>
            <p:cNvSpPr/>
            <p:nvPr/>
          </p:nvSpPr>
          <p:spPr>
            <a:xfrm>
              <a:off x="9611867" y="2076450"/>
              <a:ext cx="5080" cy="704215"/>
            </a:xfrm>
            <a:custGeom>
              <a:avLst/>
              <a:gdLst/>
              <a:ahLst/>
              <a:cxnLst/>
              <a:rect l="l" t="t" r="r" b="b"/>
              <a:pathLst>
                <a:path w="5079" h="704214">
                  <a:moveTo>
                    <a:pt x="4572" y="0"/>
                  </a:moveTo>
                  <a:lnTo>
                    <a:pt x="0" y="704088"/>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object 30"/>
            <p:cNvSpPr/>
            <p:nvPr/>
          </p:nvSpPr>
          <p:spPr>
            <a:xfrm>
              <a:off x="9537192" y="2077211"/>
              <a:ext cx="271780" cy="0"/>
            </a:xfrm>
            <a:custGeom>
              <a:avLst/>
              <a:gdLst/>
              <a:ahLst/>
              <a:cxnLst/>
              <a:rect l="l" t="t" r="r" b="b"/>
              <a:pathLst>
                <a:path w="271779">
                  <a:moveTo>
                    <a:pt x="0" y="0"/>
                  </a:moveTo>
                  <a:lnTo>
                    <a:pt x="2712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p:nvPr/>
          </p:nvSpPr>
          <p:spPr>
            <a:xfrm>
              <a:off x="9160002" y="2533650"/>
              <a:ext cx="829310" cy="0"/>
            </a:xfrm>
            <a:custGeom>
              <a:avLst/>
              <a:gdLst/>
              <a:ahLst/>
              <a:cxnLst/>
              <a:rect l="l" t="t" r="r" b="b"/>
              <a:pathLst>
                <a:path w="829309">
                  <a:moveTo>
                    <a:pt x="0" y="0"/>
                  </a:moveTo>
                  <a:lnTo>
                    <a:pt x="82905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9754361" y="2533650"/>
              <a:ext cx="159385" cy="0"/>
            </a:xfrm>
            <a:custGeom>
              <a:avLst/>
              <a:gdLst/>
              <a:ahLst/>
              <a:cxnLst/>
              <a:rect l="l" t="t" r="r" b="b"/>
              <a:pathLst>
                <a:path w="159384">
                  <a:moveTo>
                    <a:pt x="159257" y="0"/>
                  </a:moveTo>
                  <a:lnTo>
                    <a:pt x="0"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object 33"/>
            <p:cNvSpPr/>
            <p:nvPr/>
          </p:nvSpPr>
          <p:spPr>
            <a:xfrm>
              <a:off x="9645395" y="2499359"/>
              <a:ext cx="119380" cy="68580"/>
            </a:xfrm>
            <a:custGeom>
              <a:avLst/>
              <a:gdLst/>
              <a:ahLst/>
              <a:cxnLst/>
              <a:rect l="l" t="t" r="r" b="b"/>
              <a:pathLst>
                <a:path w="119379" h="68580">
                  <a:moveTo>
                    <a:pt x="118872" y="68580"/>
                  </a:moveTo>
                  <a:lnTo>
                    <a:pt x="118872" y="0"/>
                  </a:lnTo>
                  <a:lnTo>
                    <a:pt x="0" y="34290"/>
                  </a:lnTo>
                  <a:lnTo>
                    <a:pt x="118872" y="6858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object 34"/>
            <p:cNvPicPr/>
            <p:nvPr/>
          </p:nvPicPr>
          <p:blipFill>
            <a:blip r:embed="rId3" cstate="print"/>
            <a:stretch>
              <a:fillRect/>
            </a:stretch>
          </p:blipFill>
          <p:spPr>
            <a:xfrm>
              <a:off x="7774616" y="2780537"/>
              <a:ext cx="77101" cy="224097"/>
            </a:xfrm>
            <a:prstGeom prst="rect">
              <a:avLst/>
            </a:prstGeom>
          </p:spPr>
        </p:pic>
        <p:pic>
          <p:nvPicPr>
            <p:cNvPr id="35" name="object 35"/>
            <p:cNvPicPr/>
            <p:nvPr/>
          </p:nvPicPr>
          <p:blipFill>
            <a:blip r:embed="rId4" cstate="print"/>
            <a:stretch>
              <a:fillRect/>
            </a:stretch>
          </p:blipFill>
          <p:spPr>
            <a:xfrm>
              <a:off x="7774616" y="3114224"/>
              <a:ext cx="77101" cy="76339"/>
            </a:xfrm>
            <a:prstGeom prst="rect">
              <a:avLst/>
            </a:prstGeom>
          </p:spPr>
        </p:pic>
        <p:sp>
          <p:nvSpPr>
            <p:cNvPr id="36" name="object 36"/>
            <p:cNvSpPr/>
            <p:nvPr/>
          </p:nvSpPr>
          <p:spPr>
            <a:xfrm>
              <a:off x="7350252" y="2741675"/>
              <a:ext cx="0" cy="596900"/>
            </a:xfrm>
            <a:custGeom>
              <a:avLst/>
              <a:gdLst/>
              <a:ahLst/>
              <a:cxnLst/>
              <a:rect l="l" t="t" r="r" b="b"/>
              <a:pathLst>
                <a:path h="596900">
                  <a:moveTo>
                    <a:pt x="0" y="0"/>
                  </a:moveTo>
                  <a:lnTo>
                    <a:pt x="0" y="596646"/>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7" name="object 37"/>
            <p:cNvPicPr/>
            <p:nvPr/>
          </p:nvPicPr>
          <p:blipFill>
            <a:blip r:embed="rId5" cstate="print"/>
            <a:stretch>
              <a:fillRect/>
            </a:stretch>
          </p:blipFill>
          <p:spPr>
            <a:xfrm>
              <a:off x="7305224" y="2900102"/>
              <a:ext cx="90817" cy="80911"/>
            </a:xfrm>
            <a:prstGeom prst="rect">
              <a:avLst/>
            </a:prstGeom>
          </p:spPr>
        </p:pic>
        <p:pic>
          <p:nvPicPr>
            <p:cNvPr id="38" name="object 38"/>
            <p:cNvPicPr/>
            <p:nvPr/>
          </p:nvPicPr>
          <p:blipFill>
            <a:blip r:embed="rId5" cstate="print"/>
            <a:stretch>
              <a:fillRect/>
            </a:stretch>
          </p:blipFill>
          <p:spPr>
            <a:xfrm>
              <a:off x="7305224" y="3098984"/>
              <a:ext cx="90817" cy="80911"/>
            </a:xfrm>
            <a:prstGeom prst="rect">
              <a:avLst/>
            </a:prstGeom>
          </p:spPr>
        </p:pic>
        <p:sp>
          <p:nvSpPr>
            <p:cNvPr id="39" name="object 39"/>
            <p:cNvSpPr/>
            <p:nvPr/>
          </p:nvSpPr>
          <p:spPr>
            <a:xfrm>
              <a:off x="9163050" y="3358133"/>
              <a:ext cx="448945" cy="0"/>
            </a:xfrm>
            <a:custGeom>
              <a:avLst/>
              <a:gdLst/>
              <a:ahLst/>
              <a:cxnLst/>
              <a:rect l="l" t="t" r="r" b="b"/>
              <a:pathLst>
                <a:path w="448945">
                  <a:moveTo>
                    <a:pt x="0" y="0"/>
                  </a:moveTo>
                  <a:lnTo>
                    <a:pt x="448818"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40"/>
            <p:cNvSpPr/>
            <p:nvPr/>
          </p:nvSpPr>
          <p:spPr>
            <a:xfrm>
              <a:off x="9236964" y="3553205"/>
              <a:ext cx="298450" cy="288925"/>
            </a:xfrm>
            <a:custGeom>
              <a:avLst/>
              <a:gdLst/>
              <a:ahLst/>
              <a:cxnLst/>
              <a:rect l="l" t="t" r="r" b="b"/>
              <a:pathLst>
                <a:path w="298450" h="288925">
                  <a:moveTo>
                    <a:pt x="0" y="144779"/>
                  </a:moveTo>
                  <a:lnTo>
                    <a:pt x="7552" y="98999"/>
                  </a:lnTo>
                  <a:lnTo>
                    <a:pt x="28602" y="59253"/>
                  </a:lnTo>
                  <a:lnTo>
                    <a:pt x="60734" y="27919"/>
                  </a:lnTo>
                  <a:lnTo>
                    <a:pt x="101534" y="7376"/>
                  </a:lnTo>
                  <a:lnTo>
                    <a:pt x="148590" y="0"/>
                  </a:lnTo>
                  <a:lnTo>
                    <a:pt x="195724" y="7376"/>
                  </a:lnTo>
                  <a:lnTo>
                    <a:pt x="236713" y="27919"/>
                  </a:lnTo>
                  <a:lnTo>
                    <a:pt x="269071" y="59253"/>
                  </a:lnTo>
                  <a:lnTo>
                    <a:pt x="290309" y="98999"/>
                  </a:lnTo>
                  <a:lnTo>
                    <a:pt x="297942" y="144779"/>
                  </a:lnTo>
                  <a:lnTo>
                    <a:pt x="290309" y="190481"/>
                  </a:lnTo>
                  <a:lnTo>
                    <a:pt x="269071" y="230038"/>
                  </a:lnTo>
                  <a:lnTo>
                    <a:pt x="236713" y="261146"/>
                  </a:lnTo>
                  <a:lnTo>
                    <a:pt x="195724" y="281501"/>
                  </a:lnTo>
                  <a:lnTo>
                    <a:pt x="148590" y="288797"/>
                  </a:lnTo>
                  <a:lnTo>
                    <a:pt x="101534" y="281501"/>
                  </a:lnTo>
                  <a:lnTo>
                    <a:pt x="60734" y="261146"/>
                  </a:lnTo>
                  <a:lnTo>
                    <a:pt x="28602" y="230038"/>
                  </a:lnTo>
                  <a:lnTo>
                    <a:pt x="7552" y="190481"/>
                  </a:lnTo>
                  <a:lnTo>
                    <a:pt x="0"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9385554" y="3481577"/>
              <a:ext cx="0" cy="234315"/>
            </a:xfrm>
            <a:custGeom>
              <a:avLst/>
              <a:gdLst/>
              <a:ahLst/>
              <a:cxnLst/>
              <a:rect l="l" t="t" r="r" b="b"/>
              <a:pathLst>
                <a:path h="234314">
                  <a:moveTo>
                    <a:pt x="0"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9332214" y="3704081"/>
              <a:ext cx="107950" cy="138430"/>
            </a:xfrm>
            <a:custGeom>
              <a:avLst/>
              <a:gdLst/>
              <a:ahLst/>
              <a:cxnLst/>
              <a:rect l="l" t="t" r="r" b="b"/>
              <a:pathLst>
                <a:path w="107950" h="138429">
                  <a:moveTo>
                    <a:pt x="107442" y="0"/>
                  </a:moveTo>
                  <a:lnTo>
                    <a:pt x="0" y="0"/>
                  </a:lnTo>
                  <a:lnTo>
                    <a:pt x="53340" y="137922"/>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9384792" y="3842003"/>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9266682" y="4015739"/>
              <a:ext cx="235585" cy="0"/>
            </a:xfrm>
            <a:custGeom>
              <a:avLst/>
              <a:gdLst/>
              <a:ahLst/>
              <a:cxnLst/>
              <a:rect l="l" t="t" r="r" b="b"/>
              <a:pathLst>
                <a:path w="235584">
                  <a:moveTo>
                    <a:pt x="235457"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9306305" y="4066031"/>
              <a:ext cx="156210" cy="0"/>
            </a:xfrm>
            <a:custGeom>
              <a:avLst/>
              <a:gdLst/>
              <a:ahLst/>
              <a:cxnLst/>
              <a:rect l="l" t="t" r="r" b="b"/>
              <a:pathLst>
                <a:path w="156209">
                  <a:moveTo>
                    <a:pt x="156209"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9345167" y="4117086"/>
              <a:ext cx="78740" cy="0"/>
            </a:xfrm>
            <a:custGeom>
              <a:avLst/>
              <a:gdLst/>
              <a:ahLst/>
              <a:cxnLst/>
              <a:rect l="l" t="t" r="r" b="b"/>
              <a:pathLst>
                <a:path w="78740">
                  <a:moveTo>
                    <a:pt x="78485"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9384030" y="3914393"/>
              <a:ext cx="0" cy="101600"/>
            </a:xfrm>
            <a:custGeom>
              <a:avLst/>
              <a:gdLst/>
              <a:ahLst/>
              <a:cxnLst/>
              <a:rect l="l" t="t" r="r" b="b"/>
              <a:pathLst>
                <a:path h="101600">
                  <a:moveTo>
                    <a:pt x="0" y="10134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bject 48"/>
            <p:cNvSpPr/>
            <p:nvPr/>
          </p:nvSpPr>
          <p:spPr>
            <a:xfrm>
              <a:off x="9385554" y="3366515"/>
              <a:ext cx="1270" cy="120650"/>
            </a:xfrm>
            <a:custGeom>
              <a:avLst/>
              <a:gdLst/>
              <a:ahLst/>
              <a:cxnLst/>
              <a:rect l="l" t="t" r="r" b="b"/>
              <a:pathLst>
                <a:path w="1270" h="120650">
                  <a:moveTo>
                    <a:pt x="380" y="-7435"/>
                  </a:moveTo>
                  <a:lnTo>
                    <a:pt x="380" y="127831"/>
                  </a:lnTo>
                </a:path>
              </a:pathLst>
            </a:custGeom>
            <a:ln w="156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bject 49"/>
            <p:cNvSpPr/>
            <p:nvPr/>
          </p:nvSpPr>
          <p:spPr>
            <a:xfrm>
              <a:off x="8933688" y="2968752"/>
              <a:ext cx="229870" cy="389890"/>
            </a:xfrm>
            <a:custGeom>
              <a:avLst/>
              <a:gdLst/>
              <a:ahLst/>
              <a:cxnLst/>
              <a:rect l="l" t="t" r="r" b="b"/>
              <a:pathLst>
                <a:path w="229870" h="389889">
                  <a:moveTo>
                    <a:pt x="229361" y="389382"/>
                  </a:moveTo>
                  <a:lnTo>
                    <a:pt x="229361" y="195072"/>
                  </a:ln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0" name="object 50"/>
            <p:cNvPicPr/>
            <p:nvPr/>
          </p:nvPicPr>
          <p:blipFill>
            <a:blip r:embed="rId6" cstate="print"/>
            <a:stretch>
              <a:fillRect/>
            </a:stretch>
          </p:blipFill>
          <p:spPr>
            <a:xfrm>
              <a:off x="9122594" y="2774441"/>
              <a:ext cx="80911" cy="234003"/>
            </a:xfrm>
            <a:prstGeom prst="rect">
              <a:avLst/>
            </a:prstGeom>
          </p:spPr>
        </p:pic>
        <p:pic>
          <p:nvPicPr>
            <p:cNvPr id="51" name="object 51"/>
            <p:cNvPicPr/>
            <p:nvPr/>
          </p:nvPicPr>
          <p:blipFill>
            <a:blip r:embed="rId7" cstate="print"/>
            <a:stretch>
              <a:fillRect/>
            </a:stretch>
          </p:blipFill>
          <p:spPr>
            <a:xfrm>
              <a:off x="9122594" y="3124130"/>
              <a:ext cx="80911" cy="78625"/>
            </a:xfrm>
            <a:prstGeom prst="rect">
              <a:avLst/>
            </a:prstGeom>
          </p:spPr>
        </p:pic>
        <p:sp>
          <p:nvSpPr>
            <p:cNvPr id="52" name="object 52"/>
            <p:cNvSpPr/>
            <p:nvPr/>
          </p:nvSpPr>
          <p:spPr>
            <a:xfrm>
              <a:off x="9611867" y="2774441"/>
              <a:ext cx="0" cy="584200"/>
            </a:xfrm>
            <a:custGeom>
              <a:avLst/>
              <a:gdLst/>
              <a:ahLst/>
              <a:cxnLst/>
              <a:rect l="l" t="t" r="r" b="b"/>
              <a:pathLst>
                <a:path h="584200">
                  <a:moveTo>
                    <a:pt x="0" y="0"/>
                  </a:moveTo>
                  <a:lnTo>
                    <a:pt x="0" y="583692"/>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object 53"/>
            <p:cNvPicPr/>
            <p:nvPr/>
          </p:nvPicPr>
          <p:blipFill>
            <a:blip r:embed="rId8" cstate="print"/>
            <a:stretch>
              <a:fillRect/>
            </a:stretch>
          </p:blipFill>
          <p:spPr>
            <a:xfrm>
              <a:off x="9566840" y="2929820"/>
              <a:ext cx="90817" cy="78625"/>
            </a:xfrm>
            <a:prstGeom prst="rect">
              <a:avLst/>
            </a:prstGeom>
          </p:spPr>
        </p:pic>
        <p:pic>
          <p:nvPicPr>
            <p:cNvPr id="54" name="object 54"/>
            <p:cNvPicPr/>
            <p:nvPr/>
          </p:nvPicPr>
          <p:blipFill>
            <a:blip r:embed="rId9" cstate="print"/>
            <a:stretch>
              <a:fillRect/>
            </a:stretch>
          </p:blipFill>
          <p:spPr>
            <a:xfrm>
              <a:off x="9566840" y="3124130"/>
              <a:ext cx="90817" cy="78625"/>
            </a:xfrm>
            <a:prstGeom prst="rect">
              <a:avLst/>
            </a:prstGeom>
          </p:spPr>
        </p:pic>
        <p:sp>
          <p:nvSpPr>
            <p:cNvPr id="55" name="object 55"/>
            <p:cNvSpPr/>
            <p:nvPr/>
          </p:nvSpPr>
          <p:spPr>
            <a:xfrm>
              <a:off x="9160002" y="2533650"/>
              <a:ext cx="3175" cy="350520"/>
            </a:xfrm>
            <a:custGeom>
              <a:avLst/>
              <a:gdLst/>
              <a:ahLst/>
              <a:cxnLst/>
              <a:rect l="l" t="t" r="r" b="b"/>
              <a:pathLst>
                <a:path w="3175" h="350519">
                  <a:moveTo>
                    <a:pt x="0" y="0"/>
                  </a:moveTo>
                  <a:lnTo>
                    <a:pt x="3048" y="35052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6" name="object 56"/>
            <p:cNvPicPr/>
            <p:nvPr/>
          </p:nvPicPr>
          <p:blipFill>
            <a:blip r:embed="rId10" cstate="print"/>
            <a:stretch>
              <a:fillRect/>
            </a:stretch>
          </p:blipFill>
          <p:spPr>
            <a:xfrm>
              <a:off x="9102782" y="2489384"/>
              <a:ext cx="113677" cy="87007"/>
            </a:xfrm>
            <a:prstGeom prst="rect">
              <a:avLst/>
            </a:prstGeom>
          </p:spPr>
        </p:pic>
        <p:pic>
          <p:nvPicPr>
            <p:cNvPr id="57" name="object 57"/>
            <p:cNvPicPr/>
            <p:nvPr/>
          </p:nvPicPr>
          <p:blipFill>
            <a:blip r:embed="rId11" cstate="print"/>
            <a:stretch>
              <a:fillRect/>
            </a:stretch>
          </p:blipFill>
          <p:spPr>
            <a:xfrm>
              <a:off x="9555410" y="2035232"/>
              <a:ext cx="113677" cy="87007"/>
            </a:xfrm>
            <a:prstGeom prst="rect">
              <a:avLst/>
            </a:prstGeom>
          </p:spPr>
        </p:pic>
        <p:sp>
          <p:nvSpPr>
            <p:cNvPr id="58" name="object 58"/>
            <p:cNvSpPr/>
            <p:nvPr/>
          </p:nvSpPr>
          <p:spPr>
            <a:xfrm>
              <a:off x="7181088" y="1261871"/>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7350252" y="1261871"/>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bject 60"/>
            <p:cNvSpPr/>
            <p:nvPr/>
          </p:nvSpPr>
          <p:spPr>
            <a:xfrm>
              <a:off x="7200138" y="1355597"/>
              <a:ext cx="300990" cy="478155"/>
            </a:xfrm>
            <a:custGeom>
              <a:avLst/>
              <a:gdLst/>
              <a:ahLst/>
              <a:cxnLst/>
              <a:rect l="l" t="t" r="r" b="b"/>
              <a:pathLst>
                <a:path w="300990" h="478155">
                  <a:moveTo>
                    <a:pt x="150114" y="0"/>
                  </a:moveTo>
                  <a:lnTo>
                    <a:pt x="0" y="40386"/>
                  </a:lnTo>
                  <a:lnTo>
                    <a:pt x="300990" y="119634"/>
                  </a:lnTo>
                  <a:lnTo>
                    <a:pt x="0" y="198882"/>
                  </a:lnTo>
                  <a:lnTo>
                    <a:pt x="300990" y="278892"/>
                  </a:lnTo>
                  <a:lnTo>
                    <a:pt x="0" y="358140"/>
                  </a:lnTo>
                  <a:lnTo>
                    <a:pt x="300990" y="437388"/>
                  </a:lnTo>
                  <a:lnTo>
                    <a:pt x="150114" y="477773"/>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bject 61"/>
            <p:cNvSpPr/>
            <p:nvPr/>
          </p:nvSpPr>
          <p:spPr>
            <a:xfrm>
              <a:off x="7632954" y="1261871"/>
              <a:ext cx="340360" cy="0"/>
            </a:xfrm>
            <a:custGeom>
              <a:avLst/>
              <a:gdLst/>
              <a:ahLst/>
              <a:cxnLst/>
              <a:rect l="l" t="t" r="r" b="b"/>
              <a:pathLst>
                <a:path w="340359">
                  <a:moveTo>
                    <a:pt x="0" y="0"/>
                  </a:moveTo>
                  <a:lnTo>
                    <a:pt x="33985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object 62"/>
            <p:cNvSpPr/>
            <p:nvPr/>
          </p:nvSpPr>
          <p:spPr>
            <a:xfrm>
              <a:off x="7802880" y="1261871"/>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object 63"/>
            <p:cNvSpPr/>
            <p:nvPr/>
          </p:nvSpPr>
          <p:spPr>
            <a:xfrm>
              <a:off x="7652004" y="1355597"/>
              <a:ext cx="302260" cy="478155"/>
            </a:xfrm>
            <a:custGeom>
              <a:avLst/>
              <a:gdLst/>
              <a:ahLst/>
              <a:cxnLst/>
              <a:rect l="l" t="t" r="r" b="b"/>
              <a:pathLst>
                <a:path w="302259" h="478155">
                  <a:moveTo>
                    <a:pt x="150875" y="0"/>
                  </a:moveTo>
                  <a:lnTo>
                    <a:pt x="0" y="40386"/>
                  </a:lnTo>
                  <a:lnTo>
                    <a:pt x="301752" y="119634"/>
                  </a:lnTo>
                  <a:lnTo>
                    <a:pt x="0" y="198882"/>
                  </a:lnTo>
                  <a:lnTo>
                    <a:pt x="301752" y="278892"/>
                  </a:lnTo>
                  <a:lnTo>
                    <a:pt x="0" y="358140"/>
                  </a:lnTo>
                  <a:lnTo>
                    <a:pt x="301752" y="437388"/>
                  </a:lnTo>
                  <a:lnTo>
                    <a:pt x="150875" y="477773"/>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object 64"/>
            <p:cNvSpPr/>
            <p:nvPr/>
          </p:nvSpPr>
          <p:spPr>
            <a:xfrm>
              <a:off x="9267444" y="1513331"/>
              <a:ext cx="238125" cy="400050"/>
            </a:xfrm>
            <a:custGeom>
              <a:avLst/>
              <a:gdLst/>
              <a:ahLst/>
              <a:cxnLst/>
              <a:rect l="l" t="t" r="r" b="b"/>
              <a:pathLst>
                <a:path w="238125" h="400050">
                  <a:moveTo>
                    <a:pt x="237744" y="400049"/>
                  </a:moveTo>
                  <a:lnTo>
                    <a:pt x="237744" y="0"/>
                  </a:lnTo>
                  <a:lnTo>
                    <a:pt x="0" y="0"/>
                  </a:lnTo>
                  <a:lnTo>
                    <a:pt x="0" y="400049"/>
                  </a:lnTo>
                  <a:lnTo>
                    <a:pt x="237744" y="400049"/>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5" name="object 65"/>
          <p:cNvSpPr txBox="1"/>
          <p:nvPr/>
        </p:nvSpPr>
        <p:spPr>
          <a:xfrm>
            <a:off x="8267192" y="3003637"/>
            <a:ext cx="90170" cy="158750"/>
          </a:xfrm>
          <a:prstGeom prst="rect">
            <a:avLst/>
          </a:prstGeom>
        </p:spPr>
        <p:txBody>
          <a:bodyPr vert="horz" wrap="square" lIns="0" tIns="15240" rIns="0" bIns="0" rtlCol="0">
            <a:spAutoFit/>
          </a:bodyPr>
          <a:lstStyle/>
          <a:p>
            <a:pPr marL="12700" marR="0" lvl="0" indent="0" algn="l" defTabSz="914400" rtl="0" eaLnBrk="1" fontAlgn="auto" latinLnBrk="0" hangingPunct="1">
              <a:lnSpc>
                <a:spcPct val="100000"/>
              </a:lnSpc>
              <a:spcBef>
                <a:spcPts val="120"/>
              </a:spcBef>
              <a:spcAft>
                <a:spcPts val="0"/>
              </a:spcAft>
              <a:buClrTx/>
              <a:buSzTx/>
              <a:buFontTx/>
              <a:buNone/>
              <a:tabLst/>
              <a:defRPr/>
            </a:pPr>
            <a:r>
              <a:rPr kumimoji="0" sz="850" b="1" i="0" u="none" strike="noStrike" kern="1200" cap="none" spc="80" normalizeH="0" baseline="0" noProof="0" dirty="0">
                <a:ln>
                  <a:noFill/>
                </a:ln>
                <a:solidFill>
                  <a:prstClr val="black"/>
                </a:solidFill>
                <a:effectLst/>
                <a:uLnTx/>
                <a:uFillTx/>
                <a:latin typeface="Times New Roman"/>
                <a:ea typeface="+mn-ea"/>
                <a:cs typeface="Times New Roman"/>
              </a:rPr>
              <a:t>0</a:t>
            </a:r>
            <a:endParaRPr kumimoji="0" sz="8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66" name="object 66"/>
          <p:cNvSpPr txBox="1"/>
          <p:nvPr/>
        </p:nvSpPr>
        <p:spPr>
          <a:xfrm>
            <a:off x="8120126" y="2873171"/>
            <a:ext cx="186690" cy="255904"/>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sz="1500" b="1" i="0" u="none" strike="noStrike" kern="1200" cap="none" spc="180" normalizeH="0" baseline="0" noProof="0" dirty="0">
                <a:ln>
                  <a:noFill/>
                </a:ln>
                <a:solidFill>
                  <a:prstClr val="black"/>
                </a:solidFill>
                <a:effectLst/>
                <a:uLnTx/>
                <a:uFillTx/>
                <a:latin typeface="Times New Roman"/>
                <a:ea typeface="+mn-ea"/>
                <a:cs typeface="Times New Roman"/>
              </a:rPr>
              <a:t>D</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67" name="object 67"/>
          <p:cNvSpPr txBox="1"/>
          <p:nvPr/>
        </p:nvSpPr>
        <p:spPr>
          <a:xfrm>
            <a:off x="6889495" y="3504492"/>
            <a:ext cx="41148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125" normalizeH="0" baseline="0" noProof="0" dirty="0">
                <a:ln>
                  <a:noFill/>
                </a:ln>
                <a:solidFill>
                  <a:prstClr val="black"/>
                </a:solidFill>
                <a:effectLst/>
                <a:uLnTx/>
                <a:uFillTx/>
                <a:latin typeface="Arial MT"/>
                <a:ea typeface="+mn-ea"/>
                <a:cs typeface="Arial MT"/>
              </a:rPr>
              <a:t>0.6I</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68" name="object 68"/>
          <p:cNvSpPr txBox="1"/>
          <p:nvPr/>
        </p:nvSpPr>
        <p:spPr>
          <a:xfrm>
            <a:off x="8717402" y="3504492"/>
            <a:ext cx="41148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125" normalizeH="0" baseline="0" noProof="0" dirty="0">
                <a:ln>
                  <a:noFill/>
                </a:ln>
                <a:solidFill>
                  <a:prstClr val="black"/>
                </a:solidFill>
                <a:effectLst/>
                <a:uLnTx/>
                <a:uFillTx/>
                <a:latin typeface="Arial MT"/>
                <a:ea typeface="+mn-ea"/>
                <a:cs typeface="Arial MT"/>
              </a:rPr>
              <a:t>0.4I</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69" name="object 69"/>
          <p:cNvSpPr/>
          <p:nvPr/>
        </p:nvSpPr>
        <p:spPr>
          <a:xfrm>
            <a:off x="8581021" y="2856735"/>
            <a:ext cx="256540" cy="0"/>
          </a:xfrm>
          <a:custGeom>
            <a:avLst/>
            <a:gdLst/>
            <a:ahLst/>
            <a:cxnLst/>
            <a:rect l="l" t="t" r="r" b="b"/>
            <a:pathLst>
              <a:path w="256540">
                <a:moveTo>
                  <a:pt x="0" y="0"/>
                </a:moveTo>
                <a:lnTo>
                  <a:pt x="256035" y="0"/>
                </a:lnTo>
              </a:path>
            </a:pathLst>
          </a:custGeom>
          <a:ln w="1062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txBox="1"/>
          <p:nvPr/>
        </p:nvSpPr>
        <p:spPr>
          <a:xfrm>
            <a:off x="8744204" y="2972643"/>
            <a:ext cx="98425" cy="175260"/>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defRPr/>
            </a:pPr>
            <a:r>
              <a:rPr kumimoji="0" sz="950" b="1" i="0" u="none" strike="noStrike" kern="1200" cap="none" spc="95" normalizeH="0" baseline="0" noProof="0" dirty="0">
                <a:ln>
                  <a:noFill/>
                </a:ln>
                <a:solidFill>
                  <a:prstClr val="black"/>
                </a:solidFill>
                <a:effectLst/>
                <a:uLnTx/>
                <a:uFillTx/>
                <a:latin typeface="Times New Roman"/>
                <a:ea typeface="+mn-ea"/>
                <a:cs typeface="Times New Roman"/>
              </a:rPr>
              <a:t>1</a:t>
            </a:r>
            <a:endParaRPr kumimoji="0" sz="9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71" name="object 71"/>
          <p:cNvSpPr txBox="1"/>
          <p:nvPr/>
        </p:nvSpPr>
        <p:spPr>
          <a:xfrm>
            <a:off x="8562085" y="2826255"/>
            <a:ext cx="206375" cy="28384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95" normalizeH="0" baseline="0" noProof="0" dirty="0">
                <a:ln>
                  <a:noFill/>
                </a:ln>
                <a:solidFill>
                  <a:prstClr val="black"/>
                </a:solidFill>
                <a:effectLst/>
                <a:uLnTx/>
                <a:uFillTx/>
                <a:latin typeface="Times New Roman"/>
                <a:ea typeface="+mn-ea"/>
                <a:cs typeface="Times New Roman"/>
              </a:rPr>
              <a:t>D</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72" name="object 72"/>
          <p:cNvSpPr txBox="1"/>
          <p:nvPr/>
        </p:nvSpPr>
        <p:spPr>
          <a:xfrm>
            <a:off x="9761981" y="2874464"/>
            <a:ext cx="330200" cy="28448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45"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17" normalizeH="0" baseline="-26315" noProof="0" dirty="0">
                <a:ln>
                  <a:noFill/>
                </a:ln>
                <a:solidFill>
                  <a:prstClr val="black"/>
                </a:solidFill>
                <a:effectLst/>
                <a:uLnTx/>
                <a:uFillTx/>
                <a:latin typeface="Times New Roman"/>
                <a:ea typeface="+mn-ea"/>
                <a:cs typeface="Times New Roman"/>
              </a:rPr>
              <a:t>1</a:t>
            </a:r>
            <a:endParaRPr kumimoji="0" sz="1425" b="0" i="0" u="none" strike="noStrike" kern="1200" cap="none" spc="0" normalizeH="0" baseline="-26315" noProof="0">
              <a:ln>
                <a:noFill/>
              </a:ln>
              <a:solidFill>
                <a:prstClr val="black"/>
              </a:solidFill>
              <a:effectLst/>
              <a:uLnTx/>
              <a:uFillTx/>
              <a:latin typeface="Times New Roman"/>
              <a:ea typeface="+mn-ea"/>
              <a:cs typeface="Times New Roman"/>
            </a:endParaRPr>
          </a:p>
        </p:txBody>
      </p:sp>
      <p:sp>
        <p:nvSpPr>
          <p:cNvPr id="73" name="object 73"/>
          <p:cNvSpPr txBox="1"/>
          <p:nvPr/>
        </p:nvSpPr>
        <p:spPr>
          <a:xfrm>
            <a:off x="7074661" y="2953271"/>
            <a:ext cx="98425" cy="175260"/>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defRPr/>
            </a:pPr>
            <a:r>
              <a:rPr kumimoji="0" sz="950" b="1" i="0" u="none" strike="noStrike" kern="1200" cap="none" spc="95" normalizeH="0" baseline="0" noProof="0" dirty="0">
                <a:ln>
                  <a:noFill/>
                </a:ln>
                <a:solidFill>
                  <a:prstClr val="black"/>
                </a:solidFill>
                <a:effectLst/>
                <a:uLnTx/>
                <a:uFillTx/>
                <a:latin typeface="Times New Roman"/>
                <a:ea typeface="+mn-ea"/>
                <a:cs typeface="Times New Roman"/>
              </a:rPr>
              <a:t>0</a:t>
            </a:r>
            <a:endParaRPr kumimoji="0" sz="9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74" name="object 74"/>
          <p:cNvSpPr txBox="1"/>
          <p:nvPr/>
        </p:nvSpPr>
        <p:spPr>
          <a:xfrm>
            <a:off x="6887209" y="2806646"/>
            <a:ext cx="207010" cy="28448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95" normalizeH="0" baseline="0" noProof="0" dirty="0">
                <a:ln>
                  <a:noFill/>
                </a:ln>
                <a:solidFill>
                  <a:prstClr val="black"/>
                </a:solidFill>
                <a:effectLst/>
                <a:uLnTx/>
                <a:uFillTx/>
                <a:latin typeface="Times New Roman"/>
                <a:ea typeface="+mn-ea"/>
                <a:cs typeface="Times New Roman"/>
              </a:rPr>
              <a:t>D</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75" name="object 75"/>
          <p:cNvSpPr txBox="1"/>
          <p:nvPr/>
        </p:nvSpPr>
        <p:spPr>
          <a:xfrm>
            <a:off x="6958076" y="1442520"/>
            <a:ext cx="18923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76" name="object 76"/>
          <p:cNvSpPr txBox="1"/>
          <p:nvPr/>
        </p:nvSpPr>
        <p:spPr>
          <a:xfrm>
            <a:off x="8014134" y="1442520"/>
            <a:ext cx="18923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77" name="object 77"/>
          <p:cNvSpPr txBox="1"/>
          <p:nvPr/>
        </p:nvSpPr>
        <p:spPr>
          <a:xfrm>
            <a:off x="8704326" y="1544066"/>
            <a:ext cx="1142365" cy="33020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550" b="1" i="0" u="none" strike="noStrike" kern="1200" cap="none" spc="367" normalizeH="0" baseline="1633" noProof="0" dirty="0">
                <a:ln>
                  <a:noFill/>
                </a:ln>
                <a:solidFill>
                  <a:prstClr val="black"/>
                </a:solidFill>
                <a:effectLst/>
                <a:uLnTx/>
                <a:uFillTx/>
                <a:latin typeface="Times New Roman"/>
                <a:ea typeface="+mn-ea"/>
                <a:cs typeface="Times New Roman"/>
              </a:rPr>
              <a:t>D</a:t>
            </a:r>
            <a:r>
              <a:rPr kumimoji="0" sz="1425" b="1" i="0" u="none" strike="noStrike" kern="1200" cap="none" spc="225" normalizeH="0" baseline="-23391" noProof="0" dirty="0">
                <a:ln>
                  <a:noFill/>
                </a:ln>
                <a:solidFill>
                  <a:prstClr val="black"/>
                </a:solidFill>
                <a:effectLst/>
                <a:uLnTx/>
                <a:uFillTx/>
                <a:latin typeface="Times New Roman"/>
                <a:ea typeface="+mn-ea"/>
                <a:cs typeface="Times New Roman"/>
              </a:rPr>
              <a:t>0</a:t>
            </a:r>
            <a:r>
              <a:rPr kumimoji="0" sz="2550" b="1" i="0" u="none" strike="noStrike" kern="1200" cap="none" spc="300" normalizeH="0" baseline="1633" noProof="0" dirty="0">
                <a:ln>
                  <a:noFill/>
                </a:ln>
                <a:solidFill>
                  <a:prstClr val="black"/>
                </a:solidFill>
                <a:effectLst/>
                <a:uLnTx/>
                <a:uFillTx/>
                <a:latin typeface="Times New Roman"/>
                <a:ea typeface="+mn-ea"/>
                <a:cs typeface="Times New Roman"/>
              </a:rPr>
              <a:t>D</a:t>
            </a:r>
            <a:r>
              <a:rPr kumimoji="0" sz="1425" b="1" i="0" u="none" strike="noStrike" kern="1200" cap="none" spc="142" normalizeH="0" baseline="-23391" noProof="0" dirty="0">
                <a:ln>
                  <a:noFill/>
                </a:ln>
                <a:solidFill>
                  <a:prstClr val="black"/>
                </a:solidFill>
                <a:effectLst/>
                <a:uLnTx/>
                <a:uFillTx/>
                <a:latin typeface="Times New Roman"/>
                <a:ea typeface="+mn-ea"/>
                <a:cs typeface="Times New Roman"/>
              </a:rPr>
              <a:t>1</a:t>
            </a:r>
            <a:r>
              <a:rPr kumimoji="0" sz="1425" b="1" i="0" u="none" strike="noStrike" kern="1200" cap="none" spc="-157" normalizeH="0" baseline="-23391" noProof="0" dirty="0">
                <a:ln>
                  <a:noFill/>
                </a:ln>
                <a:solidFill>
                  <a:prstClr val="black"/>
                </a:solidFill>
                <a:effectLst/>
                <a:uLnTx/>
                <a:uFillTx/>
                <a:latin typeface="Times New Roman"/>
                <a:ea typeface="+mn-ea"/>
                <a:cs typeface="Times New Roman"/>
              </a:rPr>
              <a:t> </a:t>
            </a:r>
            <a:r>
              <a:rPr kumimoji="0" sz="2000" b="0" i="0" u="none" strike="noStrike" kern="1200" cap="none" spc="-5" normalizeH="0" baseline="0" noProof="0" dirty="0">
                <a:ln>
                  <a:noFill/>
                </a:ln>
                <a:solidFill>
                  <a:prstClr val="black"/>
                </a:solidFill>
                <a:effectLst/>
                <a:uLnTx/>
                <a:uFillTx/>
                <a:latin typeface="Verdana"/>
                <a:ea typeface="+mn-ea"/>
                <a:cs typeface="Verdana"/>
              </a:rPr>
              <a:t>=</a:t>
            </a:r>
            <a:r>
              <a:rPr kumimoji="0" sz="2000" b="0" i="0" u="none" strike="noStrike" kern="1200" cap="none" spc="-165" normalizeH="0" baseline="0" noProof="0" dirty="0">
                <a:ln>
                  <a:noFill/>
                </a:ln>
                <a:solidFill>
                  <a:prstClr val="black"/>
                </a:solidFill>
                <a:effectLst/>
                <a:uLnTx/>
                <a:uFillTx/>
                <a:latin typeface="Verdana"/>
                <a:ea typeface="+mn-ea"/>
                <a:cs typeface="Verdana"/>
              </a:rPr>
              <a:t> </a:t>
            </a:r>
            <a:r>
              <a:rPr kumimoji="0" sz="2550" b="0" i="0" u="none" strike="noStrike" kern="1200" cap="none" spc="187" normalizeH="0" baseline="1633" noProof="0" dirty="0">
                <a:ln>
                  <a:noFill/>
                </a:ln>
                <a:solidFill>
                  <a:prstClr val="black"/>
                </a:solidFill>
                <a:effectLst/>
                <a:uLnTx/>
                <a:uFillTx/>
                <a:latin typeface="Times New Roman"/>
                <a:ea typeface="+mn-ea"/>
                <a:cs typeface="Times New Roman"/>
              </a:rPr>
              <a:t>11</a:t>
            </a:r>
            <a:endParaRPr kumimoji="0" sz="2550" b="0" i="0" u="none" strike="noStrike" kern="1200" cap="none" spc="0" normalizeH="0" baseline="1633" noProof="0">
              <a:ln>
                <a:noFill/>
              </a:ln>
              <a:solidFill>
                <a:prstClr val="black"/>
              </a:solidFill>
              <a:effectLst/>
              <a:uLnTx/>
              <a:uFillTx/>
              <a:latin typeface="Times New Roman"/>
              <a:ea typeface="+mn-ea"/>
              <a:cs typeface="Times New Roman"/>
            </a:endParaRPr>
          </a:p>
        </p:txBody>
      </p:sp>
      <p:sp>
        <p:nvSpPr>
          <p:cNvPr id="78" name="object 78"/>
          <p:cNvSpPr txBox="1"/>
          <p:nvPr/>
        </p:nvSpPr>
        <p:spPr>
          <a:xfrm>
            <a:off x="954277" y="4677877"/>
            <a:ext cx="10266680" cy="756920"/>
          </a:xfrm>
          <a:prstGeom prst="rect">
            <a:avLst/>
          </a:prstGeom>
        </p:spPr>
        <p:txBody>
          <a:bodyPr vert="horz" wrap="square" lIns="0" tIns="73660" rIns="0" bIns="0" rtlCol="0">
            <a:spAutoFit/>
          </a:bodyPr>
          <a:lstStyle/>
          <a:p>
            <a:pPr marL="372745" marR="0" lvl="0" indent="-360680" algn="l" defTabSz="914400" rtl="0" eaLnBrk="1" fontAlgn="auto" latinLnBrk="0" hangingPunct="1">
              <a:lnSpc>
                <a:spcPct val="100000"/>
              </a:lnSpc>
              <a:spcBef>
                <a:spcPts val="580"/>
              </a:spcBef>
              <a:spcAft>
                <a:spcPts val="0"/>
              </a:spcAft>
              <a:buClr>
                <a:srgbClr val="CC0000"/>
              </a:buClr>
              <a:buSzTx/>
              <a:buFont typeface="Wingdings"/>
              <a:buChar char=""/>
              <a:tabLst>
                <a:tab pos="372745" algn="l"/>
                <a:tab pos="3733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Also</a:t>
            </a:r>
            <a:r>
              <a:rPr kumimoji="0" sz="2000" b="0" i="0" u="none" strike="noStrike" kern="1200" cap="none" spc="-10" normalizeH="0" baseline="0" noProof="0" dirty="0">
                <a:ln>
                  <a:noFill/>
                </a:ln>
                <a:solidFill>
                  <a:prstClr val="black"/>
                </a:solidFill>
                <a:effectLst/>
                <a:uLnTx/>
                <a:uFillTx/>
                <a:latin typeface="Verdana"/>
                <a:ea typeface="+mn-ea"/>
                <a:cs typeface="Verdana"/>
              </a:rPr>
              <a:t> called</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current </a:t>
            </a:r>
            <a:r>
              <a:rPr kumimoji="0" sz="2000" b="0" i="0" u="none" strike="noStrike" kern="1200" cap="none" spc="-5" normalizeH="0" baseline="0" noProof="0" dirty="0">
                <a:ln>
                  <a:noFill/>
                </a:ln>
                <a:solidFill>
                  <a:prstClr val="black"/>
                </a:solidFill>
                <a:effectLst/>
                <a:uLnTx/>
                <a:uFillTx/>
                <a:latin typeface="Verdana"/>
                <a:ea typeface="+mn-ea"/>
                <a:cs typeface="Verdana"/>
              </a:rPr>
              <a:t>mode</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logic</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(CML)</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type</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FFE</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372745" marR="0" lvl="0" indent="-360680" algn="l" defTabSz="914400" rtl="0" eaLnBrk="1" fontAlgn="auto" latinLnBrk="0" hangingPunct="1">
              <a:lnSpc>
                <a:spcPct val="100000"/>
              </a:lnSpc>
              <a:spcBef>
                <a:spcPts val="480"/>
              </a:spcBef>
              <a:spcAft>
                <a:spcPts val="0"/>
              </a:spcAft>
              <a:buClr>
                <a:srgbClr val="CC0000"/>
              </a:buClr>
              <a:buSzTx/>
              <a:buFont typeface="Wingdings"/>
              <a:buChar char=""/>
              <a:tabLst>
                <a:tab pos="372745" algn="l"/>
                <a:tab pos="373380"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Consists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of</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shift</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register,</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differential</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current</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switches,</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pull-up</a:t>
            </a:r>
            <a:r>
              <a:rPr kumimoji="0" sz="2000" b="0" i="0" u="none" strike="noStrike" kern="1200" cap="none" spc="3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resistors</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9" name="object 79"/>
          <p:cNvSpPr txBox="1"/>
          <p:nvPr/>
        </p:nvSpPr>
        <p:spPr>
          <a:xfrm>
            <a:off x="3021318" y="1189414"/>
            <a:ext cx="1706880" cy="756920"/>
          </a:xfrm>
          <a:prstGeom prst="rect">
            <a:avLst/>
          </a:prstGeom>
        </p:spPr>
        <p:txBody>
          <a:bodyPr vert="horz" wrap="square" lIns="0" tIns="12700" rIns="0" bIns="0" rtlCol="0">
            <a:spAutoFit/>
          </a:bodyPr>
          <a:lstStyle/>
          <a:p>
            <a:pPr marL="38100" marR="30480" lvl="0" indent="-635" algn="l" defTabSz="914400" rtl="0" eaLnBrk="1" fontAlgn="auto" latinLnBrk="0" hangingPunct="1">
              <a:lnSpc>
                <a:spcPct val="120000"/>
              </a:lnSpc>
              <a:spcBef>
                <a:spcPts val="100"/>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if 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if</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=0</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80" name="object 80"/>
          <p:cNvSpPr txBox="1"/>
          <p:nvPr/>
        </p:nvSpPr>
        <p:spPr>
          <a:xfrm>
            <a:off x="6537197" y="1523443"/>
            <a:ext cx="30162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0" normalizeH="0" baseline="-25000" noProof="0" dirty="0">
                <a:ln>
                  <a:noFill/>
                </a:ln>
                <a:solidFill>
                  <a:prstClr val="black"/>
                </a:solidFill>
                <a:effectLst/>
                <a:uLnTx/>
                <a:uFillTx/>
                <a:latin typeface="Times New Roman"/>
                <a:ea typeface="+mn-ea"/>
                <a:cs typeface="Times New Roman"/>
              </a:rPr>
              <a:t>1</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sp>
        <p:nvSpPr>
          <p:cNvPr id="81" name="object 81"/>
          <p:cNvSpPr txBox="1"/>
          <p:nvPr/>
        </p:nvSpPr>
        <p:spPr>
          <a:xfrm>
            <a:off x="5482590" y="1552399"/>
            <a:ext cx="30670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2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30" normalizeH="0" baseline="-25000" noProof="0" dirty="0">
                <a:ln>
                  <a:noFill/>
                </a:ln>
                <a:solidFill>
                  <a:prstClr val="black"/>
                </a:solidFill>
                <a:effectLst/>
                <a:uLnTx/>
                <a:uFillTx/>
                <a:latin typeface="Times New Roman"/>
                <a:ea typeface="+mn-ea"/>
                <a:cs typeface="Times New Roman"/>
              </a:rPr>
              <a:t>0</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grpSp>
        <p:nvGrpSpPr>
          <p:cNvPr id="82" name="object 82"/>
          <p:cNvGrpSpPr/>
          <p:nvPr/>
        </p:nvGrpSpPr>
        <p:grpSpPr>
          <a:xfrm>
            <a:off x="5633465" y="1930907"/>
            <a:ext cx="272415" cy="123189"/>
            <a:chOff x="5633465" y="1930907"/>
            <a:chExt cx="272415" cy="123189"/>
          </a:xfrm>
        </p:grpSpPr>
        <p:sp>
          <p:nvSpPr>
            <p:cNvPr id="83" name="object 83"/>
            <p:cNvSpPr/>
            <p:nvPr/>
          </p:nvSpPr>
          <p:spPr>
            <a:xfrm>
              <a:off x="5633465" y="1992629"/>
              <a:ext cx="104139" cy="0"/>
            </a:xfrm>
            <a:custGeom>
              <a:avLst/>
              <a:gdLst/>
              <a:ahLst/>
              <a:cxnLst/>
              <a:rect l="l" t="t" r="r" b="b"/>
              <a:pathLst>
                <a:path w="104139">
                  <a:moveTo>
                    <a:pt x="0" y="0"/>
                  </a:moveTo>
                  <a:lnTo>
                    <a:pt x="103632"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object 84"/>
            <p:cNvSpPr/>
            <p:nvPr/>
          </p:nvSpPr>
          <p:spPr>
            <a:xfrm>
              <a:off x="5721857" y="1930907"/>
              <a:ext cx="184150" cy="123189"/>
            </a:xfrm>
            <a:custGeom>
              <a:avLst/>
              <a:gdLst/>
              <a:ahLst/>
              <a:cxnLst/>
              <a:rect l="l" t="t" r="r" b="b"/>
              <a:pathLst>
                <a:path w="184150" h="123189">
                  <a:moveTo>
                    <a:pt x="183642" y="61722"/>
                  </a:moveTo>
                  <a:lnTo>
                    <a:pt x="0" y="0"/>
                  </a:lnTo>
                  <a:lnTo>
                    <a:pt x="0" y="122682"/>
                  </a:lnTo>
                  <a:lnTo>
                    <a:pt x="183642"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5" name="object 85"/>
          <p:cNvSpPr txBox="1"/>
          <p:nvPr/>
        </p:nvSpPr>
        <p:spPr>
          <a:xfrm>
            <a:off x="5918453" y="1733550"/>
            <a:ext cx="535305" cy="537210"/>
          </a:xfrm>
          <a:prstGeom prst="rect">
            <a:avLst/>
          </a:prstGeom>
          <a:ln w="28765">
            <a:solidFill>
              <a:srgbClr val="000000"/>
            </a:solidFill>
          </a:ln>
        </p:spPr>
        <p:txBody>
          <a:bodyPr vert="horz" wrap="square" lIns="0" tIns="60960" rIns="0" bIns="0" rtlCol="0">
            <a:spAutoFit/>
          </a:bodyPr>
          <a:lstStyle/>
          <a:p>
            <a:pPr marL="161925" marR="0" lvl="0" indent="0" algn="l" defTabSz="914400" rtl="0" eaLnBrk="1" fontAlgn="auto" latinLnBrk="0" hangingPunct="1">
              <a:lnSpc>
                <a:spcPct val="100000"/>
              </a:lnSpc>
              <a:spcBef>
                <a:spcPts val="480"/>
              </a:spcBef>
              <a:spcAft>
                <a:spcPts val="0"/>
              </a:spcAft>
              <a:buClrTx/>
              <a:buSzTx/>
              <a:buFontTx/>
              <a:buNone/>
              <a:tabLst/>
              <a:defRPr/>
            </a:pPr>
            <a:r>
              <a:rPr kumimoji="0" sz="2400" b="0" i="0" u="none" strike="noStrike" kern="1200" cap="none" spc="10" normalizeH="0" baseline="0" noProof="0" dirty="0">
                <a:ln>
                  <a:noFill/>
                </a:ln>
                <a:solidFill>
                  <a:prstClr val="black"/>
                </a:solidFill>
                <a:effectLst/>
                <a:uLnTx/>
                <a:uFillTx/>
                <a:latin typeface="Malgun Gothic"/>
                <a:ea typeface="+mn-ea"/>
                <a:cs typeface="Malgun Gothic"/>
              </a:rPr>
              <a:t>D</a:t>
            </a:r>
            <a:endParaRPr kumimoji="0" sz="24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86" name="object 86"/>
          <p:cNvGrpSpPr/>
          <p:nvPr/>
        </p:nvGrpSpPr>
        <p:grpSpPr>
          <a:xfrm>
            <a:off x="6453378" y="1959101"/>
            <a:ext cx="272415" cy="123189"/>
            <a:chOff x="6453378" y="1959101"/>
            <a:chExt cx="272415" cy="123189"/>
          </a:xfrm>
        </p:grpSpPr>
        <p:sp>
          <p:nvSpPr>
            <p:cNvPr id="87" name="object 87"/>
            <p:cNvSpPr/>
            <p:nvPr/>
          </p:nvSpPr>
          <p:spPr>
            <a:xfrm>
              <a:off x="6453378" y="2020823"/>
              <a:ext cx="104775" cy="0"/>
            </a:xfrm>
            <a:custGeom>
              <a:avLst/>
              <a:gdLst/>
              <a:ahLst/>
              <a:cxnLst/>
              <a:rect l="l" t="t" r="r" b="b"/>
              <a:pathLst>
                <a:path w="104775">
                  <a:moveTo>
                    <a:pt x="0" y="0"/>
                  </a:moveTo>
                  <a:lnTo>
                    <a:pt x="104394"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bject 88"/>
            <p:cNvSpPr/>
            <p:nvPr/>
          </p:nvSpPr>
          <p:spPr>
            <a:xfrm>
              <a:off x="6542532" y="1959101"/>
              <a:ext cx="182880" cy="123189"/>
            </a:xfrm>
            <a:custGeom>
              <a:avLst/>
              <a:gdLst/>
              <a:ahLst/>
              <a:cxnLst/>
              <a:rect l="l" t="t" r="r" b="b"/>
              <a:pathLst>
                <a:path w="182879" h="123189">
                  <a:moveTo>
                    <a:pt x="182880" y="61722"/>
                  </a:moveTo>
                  <a:lnTo>
                    <a:pt x="0" y="0"/>
                  </a:lnTo>
                  <a:lnTo>
                    <a:pt x="0" y="122682"/>
                  </a:lnTo>
                  <a:lnTo>
                    <a:pt x="182880"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9" name="object 89"/>
          <p:cNvSpPr txBox="1"/>
          <p:nvPr/>
        </p:nvSpPr>
        <p:spPr>
          <a:xfrm>
            <a:off x="1947916" y="4091179"/>
            <a:ext cx="2220595" cy="451484"/>
          </a:xfrm>
          <a:prstGeom prst="rect">
            <a:avLst/>
          </a:prstGeom>
        </p:spPr>
        <p:txBody>
          <a:bodyPr vert="horz" wrap="square" lIns="0" tIns="11430" rIns="0" bIns="0" rtlCol="0">
            <a:spAutoFit/>
          </a:bodyPr>
          <a:lstStyle/>
          <a:p>
            <a:pPr marL="50800" marR="0" lvl="0" indent="0" algn="l" defTabSz="914400" rtl="0" eaLnBrk="1" fontAlgn="auto" latinLnBrk="0" hangingPunct="1">
              <a:lnSpc>
                <a:spcPct val="100000"/>
              </a:lnSpc>
              <a:spcBef>
                <a:spcPts val="90"/>
              </a:spcBef>
              <a:spcAft>
                <a:spcPts val="0"/>
              </a:spcAft>
              <a:buClrTx/>
              <a:buSzTx/>
              <a:buFontTx/>
              <a:buNone/>
              <a:tabLst/>
              <a:defRPr/>
            </a:pPr>
            <a:r>
              <a:rPr kumimoji="0" sz="2800" b="0" i="0" u="none" strike="noStrike" kern="1200" cap="none" spc="-5" normalizeH="0" baseline="0" noProof="0" dirty="0">
                <a:ln>
                  <a:noFill/>
                </a:ln>
                <a:solidFill>
                  <a:prstClr val="black"/>
                </a:solidFill>
                <a:effectLst/>
                <a:uLnTx/>
                <a:uFillTx/>
                <a:latin typeface="Symbol"/>
                <a:ea typeface="+mn-ea"/>
                <a:cs typeface="Symbol"/>
              </a:rPr>
              <a:t></a:t>
            </a:r>
            <a:r>
              <a:rPr kumimoji="0" sz="28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00FF"/>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00FF"/>
                </a:solidFill>
                <a:effectLst/>
                <a:uLnTx/>
                <a:uFillTx/>
                <a:latin typeface="Times New Roman"/>
                <a:ea typeface="+mn-ea"/>
                <a:cs typeface="Times New Roman"/>
              </a:rPr>
              <a:t>.</a:t>
            </a:r>
            <a:r>
              <a:rPr kumimoji="0" sz="2800" b="0" i="0" u="none" strike="noStrike" kern="1200" cap="none" spc="235" normalizeH="0" baseline="0" noProof="0" dirty="0">
                <a:ln>
                  <a:noFill/>
                </a:ln>
                <a:solidFill>
                  <a:srgbClr val="0000FF"/>
                </a:solidFill>
                <a:effectLst/>
                <a:uLnTx/>
                <a:uFillTx/>
                <a:latin typeface="Times New Roman"/>
                <a:ea typeface="+mn-ea"/>
                <a:cs typeface="Times New Roman"/>
              </a:rPr>
              <a:t>6</a:t>
            </a:r>
            <a:r>
              <a:rPr kumimoji="0" sz="2800" b="0" i="1" u="none" strike="noStrike" kern="1200" cap="none" spc="-5" normalizeH="0" baseline="0" noProof="0" dirty="0">
                <a:ln>
                  <a:noFill/>
                </a:ln>
                <a:solidFill>
                  <a:srgbClr val="0000FF"/>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00FF"/>
                </a:solidFill>
                <a:effectLst/>
                <a:uLnTx/>
                <a:uFillTx/>
                <a:latin typeface="Times New Roman"/>
                <a:ea typeface="+mn-ea"/>
                <a:cs typeface="Times New Roman"/>
              </a:rPr>
              <a:t>0</a:t>
            </a:r>
            <a:r>
              <a:rPr kumimoji="0" sz="2400" b="0" i="0" u="none" strike="noStrike" kern="1200" cap="none" spc="0" normalizeH="0" baseline="-24305" noProof="0" dirty="0">
                <a:ln>
                  <a:noFill/>
                </a:ln>
                <a:solidFill>
                  <a:srgbClr val="0000FF"/>
                </a:solidFill>
                <a:effectLst/>
                <a:uLnTx/>
                <a:uFillTx/>
                <a:latin typeface="Times New Roman"/>
                <a:ea typeface="+mn-ea"/>
                <a:cs typeface="Times New Roman"/>
              </a:rPr>
              <a:t> </a:t>
            </a:r>
            <a:r>
              <a:rPr kumimoji="0" sz="2400" b="0" i="0" u="none" strike="noStrike" kern="1200" cap="none" spc="22" normalizeH="0" baseline="-24305" noProof="0" dirty="0">
                <a:ln>
                  <a:noFill/>
                </a:ln>
                <a:solidFill>
                  <a:srgbClr val="0000FF"/>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007E00"/>
                </a:solidFill>
                <a:effectLst/>
                <a:uLnTx/>
                <a:uFillTx/>
                <a:latin typeface="Symbol"/>
                <a:ea typeface="+mn-ea"/>
                <a:cs typeface="Symbol"/>
              </a:rPr>
              <a:t></a:t>
            </a:r>
            <a:r>
              <a:rPr kumimoji="0" sz="2800" b="0" i="0" u="none" strike="noStrike" kern="1200" cap="none" spc="-190" normalizeH="0" baseline="0" noProof="0" dirty="0">
                <a:ln>
                  <a:noFill/>
                </a:ln>
                <a:solidFill>
                  <a:srgbClr val="007E00"/>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7E00"/>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7E00"/>
                </a:solidFill>
                <a:effectLst/>
                <a:uLnTx/>
                <a:uFillTx/>
                <a:latin typeface="Times New Roman"/>
                <a:ea typeface="+mn-ea"/>
                <a:cs typeface="Times New Roman"/>
              </a:rPr>
              <a:t>.</a:t>
            </a:r>
            <a:r>
              <a:rPr kumimoji="0" sz="2800" b="0" i="0" u="none" strike="noStrike" kern="1200" cap="none" spc="-5" normalizeH="0" baseline="0" noProof="0" dirty="0">
                <a:ln>
                  <a:noFill/>
                </a:ln>
                <a:solidFill>
                  <a:srgbClr val="007E00"/>
                </a:solidFill>
                <a:effectLst/>
                <a:uLnTx/>
                <a:uFillTx/>
                <a:latin typeface="Times New Roman"/>
                <a:ea typeface="+mn-ea"/>
                <a:cs typeface="Times New Roman"/>
              </a:rPr>
              <a:t>4</a:t>
            </a:r>
            <a:r>
              <a:rPr kumimoji="0" sz="2800" b="0" i="0" u="none" strike="noStrike" kern="1200" cap="none" spc="-459" normalizeH="0" baseline="0" noProof="0" dirty="0">
                <a:ln>
                  <a:noFill/>
                </a:ln>
                <a:solidFill>
                  <a:srgbClr val="007E00"/>
                </a:solidFill>
                <a:effectLst/>
                <a:uLnTx/>
                <a:uFillTx/>
                <a:latin typeface="Times New Roman"/>
                <a:ea typeface="+mn-ea"/>
                <a:cs typeface="Times New Roman"/>
              </a:rPr>
              <a:t> </a:t>
            </a:r>
            <a:r>
              <a:rPr kumimoji="0" sz="2800" b="0" i="1" u="none" strike="noStrike" kern="1200" cap="none" spc="-160" normalizeH="0" baseline="0" noProof="0" dirty="0">
                <a:ln>
                  <a:noFill/>
                </a:ln>
                <a:solidFill>
                  <a:srgbClr val="007E00"/>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7E00"/>
                </a:solidFill>
                <a:effectLst/>
                <a:uLnTx/>
                <a:uFillTx/>
                <a:latin typeface="Times New Roman"/>
                <a:ea typeface="+mn-ea"/>
                <a:cs typeface="Times New Roman"/>
              </a:rPr>
              <a:t>1</a:t>
            </a:r>
            <a:endParaRPr kumimoji="0" sz="2400" b="0" i="0" u="none" strike="noStrike" kern="1200" cap="none" spc="0" normalizeH="0" baseline="-24305" noProof="0">
              <a:ln>
                <a:noFill/>
              </a:ln>
              <a:solidFill>
                <a:prstClr val="black"/>
              </a:solidFill>
              <a:effectLst/>
              <a:uLnTx/>
              <a:uFillTx/>
              <a:latin typeface="Times New Roman"/>
              <a:ea typeface="+mn-ea"/>
              <a:cs typeface="Times New Roman"/>
            </a:endParaRPr>
          </a:p>
        </p:txBody>
      </p:sp>
      <p:sp>
        <p:nvSpPr>
          <p:cNvPr id="90" name="object 90"/>
          <p:cNvSpPr txBox="1"/>
          <p:nvPr/>
        </p:nvSpPr>
        <p:spPr>
          <a:xfrm>
            <a:off x="1215389" y="4182619"/>
            <a:ext cx="685800" cy="451484"/>
          </a:xfrm>
          <a:prstGeom prst="rect">
            <a:avLst/>
          </a:prstGeom>
        </p:spPr>
        <p:txBody>
          <a:bodyPr vert="horz" wrap="square" lIns="0" tIns="11430" rIns="0" bIns="0" rtlCol="0">
            <a:spAutoFit/>
          </a:bodyPr>
          <a:lstStyle/>
          <a:p>
            <a:pPr marL="38100" marR="0" lvl="0" indent="0" algn="l" defTabSz="914400" rtl="0" eaLnBrk="1" fontAlgn="auto" latinLnBrk="0" hangingPunct="1">
              <a:lnSpc>
                <a:spcPct val="100000"/>
              </a:lnSpc>
              <a:spcBef>
                <a:spcPts val="90"/>
              </a:spcBef>
              <a:spcAft>
                <a:spcPts val="0"/>
              </a:spcAft>
              <a:buClrTx/>
              <a:buSzTx/>
              <a:buFontTx/>
              <a:buNone/>
              <a:tabLst/>
              <a:defRPr/>
            </a:pPr>
            <a:r>
              <a:rPr kumimoji="0" sz="4200" b="0" i="1" u="none" strike="noStrike" kern="1200" cap="none" spc="52" normalizeH="0" baseline="13888" noProof="0" dirty="0">
                <a:ln>
                  <a:noFill/>
                </a:ln>
                <a:solidFill>
                  <a:prstClr val="black"/>
                </a:solidFill>
                <a:effectLst/>
                <a:uLnTx/>
                <a:uFillTx/>
                <a:latin typeface="Times New Roman"/>
                <a:ea typeface="+mn-ea"/>
                <a:cs typeface="Times New Roman"/>
              </a:rPr>
              <a:t>V</a:t>
            </a:r>
            <a:r>
              <a:rPr kumimoji="0" sz="1600" b="0" i="1" u="none" strike="noStrike" kern="1200" cap="none" spc="35" normalizeH="0" baseline="0" noProof="0" dirty="0">
                <a:ln>
                  <a:noFill/>
                </a:ln>
                <a:solidFill>
                  <a:prstClr val="black"/>
                </a:solidFill>
                <a:effectLst/>
                <a:uLnTx/>
                <a:uFillTx/>
                <a:latin typeface="Times New Roman"/>
                <a:ea typeface="+mn-ea"/>
                <a:cs typeface="Times New Roman"/>
              </a:rPr>
              <a:t>FFE</a:t>
            </a:r>
            <a:endParaRPr kumimoji="0" sz="16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1" name="object 91"/>
          <p:cNvGrpSpPr/>
          <p:nvPr/>
        </p:nvGrpSpPr>
        <p:grpSpPr>
          <a:xfrm>
            <a:off x="1459230" y="2392679"/>
            <a:ext cx="1978660" cy="1503045"/>
            <a:chOff x="1459230" y="2392679"/>
            <a:chExt cx="1978660" cy="1503045"/>
          </a:xfrm>
        </p:grpSpPr>
        <p:sp>
          <p:nvSpPr>
            <p:cNvPr id="92" name="object 92"/>
            <p:cNvSpPr/>
            <p:nvPr/>
          </p:nvSpPr>
          <p:spPr>
            <a:xfrm>
              <a:off x="1627632" y="2443733"/>
              <a:ext cx="1809750" cy="615950"/>
            </a:xfrm>
            <a:custGeom>
              <a:avLst/>
              <a:gdLst/>
              <a:ahLst/>
              <a:cxnLst/>
              <a:rect l="l" t="t" r="r" b="b"/>
              <a:pathLst>
                <a:path w="1809750" h="615950">
                  <a:moveTo>
                    <a:pt x="582168" y="6858"/>
                  </a:moveTo>
                  <a:lnTo>
                    <a:pt x="576072" y="0"/>
                  </a:lnTo>
                  <a:lnTo>
                    <a:pt x="13716" y="0"/>
                  </a:lnTo>
                  <a:lnTo>
                    <a:pt x="6096" y="0"/>
                  </a:lnTo>
                  <a:lnTo>
                    <a:pt x="0" y="6858"/>
                  </a:lnTo>
                  <a:lnTo>
                    <a:pt x="0" y="22098"/>
                  </a:lnTo>
                  <a:lnTo>
                    <a:pt x="6096" y="28956"/>
                  </a:lnTo>
                  <a:lnTo>
                    <a:pt x="576072" y="28956"/>
                  </a:lnTo>
                  <a:lnTo>
                    <a:pt x="582168" y="22098"/>
                  </a:lnTo>
                  <a:lnTo>
                    <a:pt x="582168" y="6858"/>
                  </a:lnTo>
                  <a:close/>
                </a:path>
                <a:path w="1809750" h="615950">
                  <a:moveTo>
                    <a:pt x="1809750" y="593598"/>
                  </a:moveTo>
                  <a:lnTo>
                    <a:pt x="1803654" y="586740"/>
                  </a:lnTo>
                  <a:lnTo>
                    <a:pt x="1631442" y="586740"/>
                  </a:lnTo>
                  <a:lnTo>
                    <a:pt x="1623822" y="586740"/>
                  </a:lnTo>
                  <a:lnTo>
                    <a:pt x="1617726" y="593598"/>
                  </a:lnTo>
                  <a:lnTo>
                    <a:pt x="1617726" y="609600"/>
                  </a:lnTo>
                  <a:lnTo>
                    <a:pt x="1623822" y="615696"/>
                  </a:lnTo>
                  <a:lnTo>
                    <a:pt x="1803654" y="615696"/>
                  </a:lnTo>
                  <a:lnTo>
                    <a:pt x="1809750" y="609600"/>
                  </a:lnTo>
                  <a:lnTo>
                    <a:pt x="1809750" y="59359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3" name="object 93"/>
            <p:cNvPicPr/>
            <p:nvPr/>
          </p:nvPicPr>
          <p:blipFill>
            <a:blip r:embed="rId12" cstate="print"/>
            <a:stretch>
              <a:fillRect/>
            </a:stretch>
          </p:blipFill>
          <p:spPr>
            <a:xfrm>
              <a:off x="2164080" y="2392679"/>
              <a:ext cx="130301" cy="131064"/>
            </a:xfrm>
            <a:prstGeom prst="rect">
              <a:avLst/>
            </a:prstGeom>
          </p:spPr>
        </p:pic>
        <p:sp>
          <p:nvSpPr>
            <p:cNvPr id="94" name="object 94"/>
            <p:cNvSpPr/>
            <p:nvPr/>
          </p:nvSpPr>
          <p:spPr>
            <a:xfrm>
              <a:off x="1459230" y="3522725"/>
              <a:ext cx="760730" cy="372745"/>
            </a:xfrm>
            <a:custGeom>
              <a:avLst/>
              <a:gdLst/>
              <a:ahLst/>
              <a:cxnLst/>
              <a:rect l="l" t="t" r="r" b="b"/>
              <a:pathLst>
                <a:path w="760730" h="372745">
                  <a:moveTo>
                    <a:pt x="362712" y="6858"/>
                  </a:moveTo>
                  <a:lnTo>
                    <a:pt x="356616" y="0"/>
                  </a:lnTo>
                  <a:lnTo>
                    <a:pt x="334518" y="0"/>
                  </a:lnTo>
                  <a:lnTo>
                    <a:pt x="334518" y="28956"/>
                  </a:lnTo>
                  <a:lnTo>
                    <a:pt x="334518" y="343662"/>
                  </a:lnTo>
                  <a:lnTo>
                    <a:pt x="28956" y="343662"/>
                  </a:lnTo>
                  <a:lnTo>
                    <a:pt x="28956" y="28956"/>
                  </a:lnTo>
                  <a:lnTo>
                    <a:pt x="334518" y="28956"/>
                  </a:lnTo>
                  <a:lnTo>
                    <a:pt x="334518" y="0"/>
                  </a:lnTo>
                  <a:lnTo>
                    <a:pt x="6858" y="0"/>
                  </a:lnTo>
                  <a:lnTo>
                    <a:pt x="0" y="6858"/>
                  </a:lnTo>
                  <a:lnTo>
                    <a:pt x="0" y="366522"/>
                  </a:lnTo>
                  <a:lnTo>
                    <a:pt x="6858" y="372618"/>
                  </a:lnTo>
                  <a:lnTo>
                    <a:pt x="14478" y="372618"/>
                  </a:lnTo>
                  <a:lnTo>
                    <a:pt x="28956" y="372618"/>
                  </a:lnTo>
                  <a:lnTo>
                    <a:pt x="334518" y="372618"/>
                  </a:lnTo>
                  <a:lnTo>
                    <a:pt x="348234" y="372618"/>
                  </a:lnTo>
                  <a:lnTo>
                    <a:pt x="356616" y="372618"/>
                  </a:lnTo>
                  <a:lnTo>
                    <a:pt x="362712" y="366522"/>
                  </a:lnTo>
                  <a:lnTo>
                    <a:pt x="362712" y="6858"/>
                  </a:lnTo>
                  <a:close/>
                </a:path>
                <a:path w="760730" h="372745">
                  <a:moveTo>
                    <a:pt x="760476" y="188226"/>
                  </a:moveTo>
                  <a:lnTo>
                    <a:pt x="754380" y="182130"/>
                  </a:lnTo>
                  <a:lnTo>
                    <a:pt x="384810" y="182130"/>
                  </a:lnTo>
                  <a:lnTo>
                    <a:pt x="377190" y="182130"/>
                  </a:lnTo>
                  <a:lnTo>
                    <a:pt x="371094" y="188226"/>
                  </a:lnTo>
                  <a:lnTo>
                    <a:pt x="371094" y="204228"/>
                  </a:lnTo>
                  <a:lnTo>
                    <a:pt x="377190" y="210324"/>
                  </a:lnTo>
                  <a:lnTo>
                    <a:pt x="754380" y="210324"/>
                  </a:lnTo>
                  <a:lnTo>
                    <a:pt x="760476" y="204228"/>
                  </a:lnTo>
                  <a:lnTo>
                    <a:pt x="760476" y="18822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5" name="object 95"/>
            <p:cNvPicPr/>
            <p:nvPr/>
          </p:nvPicPr>
          <p:blipFill>
            <a:blip r:embed="rId13" cstate="print"/>
            <a:stretch>
              <a:fillRect/>
            </a:stretch>
          </p:blipFill>
          <p:spPr>
            <a:xfrm>
              <a:off x="2173986" y="3653027"/>
              <a:ext cx="128016" cy="131825"/>
            </a:xfrm>
            <a:prstGeom prst="rect">
              <a:avLst/>
            </a:prstGeom>
          </p:spPr>
        </p:pic>
      </p:grpSp>
      <p:sp>
        <p:nvSpPr>
          <p:cNvPr id="96" name="object 96"/>
          <p:cNvSpPr txBox="1"/>
          <p:nvPr/>
        </p:nvSpPr>
        <p:spPr>
          <a:xfrm>
            <a:off x="1537969" y="3537458"/>
            <a:ext cx="200025"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0" normalizeH="0" baseline="0" noProof="0" dirty="0">
                <a:ln>
                  <a:noFill/>
                </a:ln>
                <a:solidFill>
                  <a:prstClr val="black"/>
                </a:solidFill>
                <a:effectLst/>
                <a:uLnTx/>
                <a:uFillTx/>
                <a:latin typeface="Times New Roman"/>
                <a:ea typeface="+mn-ea"/>
                <a:cs typeface="Times New Roman"/>
              </a:rPr>
              <a:t>D</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7" name="object 97"/>
          <p:cNvGrpSpPr/>
          <p:nvPr/>
        </p:nvGrpSpPr>
        <p:grpSpPr>
          <a:xfrm>
            <a:off x="1575816" y="1994154"/>
            <a:ext cx="1777364" cy="1741170"/>
            <a:chOff x="1575816" y="1994154"/>
            <a:chExt cx="1777364" cy="1741170"/>
          </a:xfrm>
        </p:grpSpPr>
        <p:sp>
          <p:nvSpPr>
            <p:cNvPr id="98" name="object 98"/>
            <p:cNvSpPr/>
            <p:nvPr/>
          </p:nvSpPr>
          <p:spPr>
            <a:xfrm>
              <a:off x="1625346" y="1994154"/>
              <a:ext cx="29209" cy="1421130"/>
            </a:xfrm>
            <a:custGeom>
              <a:avLst/>
              <a:gdLst/>
              <a:ahLst/>
              <a:cxnLst/>
              <a:rect l="l" t="t" r="r" b="b"/>
              <a:pathLst>
                <a:path w="29210" h="1421129">
                  <a:moveTo>
                    <a:pt x="28956" y="1414271"/>
                  </a:moveTo>
                  <a:lnTo>
                    <a:pt x="28956" y="14477"/>
                  </a:lnTo>
                  <a:lnTo>
                    <a:pt x="28956" y="6095"/>
                  </a:lnTo>
                  <a:lnTo>
                    <a:pt x="22098" y="0"/>
                  </a:lnTo>
                  <a:lnTo>
                    <a:pt x="6858" y="0"/>
                  </a:lnTo>
                  <a:lnTo>
                    <a:pt x="0" y="6095"/>
                  </a:lnTo>
                  <a:lnTo>
                    <a:pt x="0" y="1414271"/>
                  </a:lnTo>
                  <a:lnTo>
                    <a:pt x="6858" y="1421130"/>
                  </a:lnTo>
                  <a:lnTo>
                    <a:pt x="22098" y="1421130"/>
                  </a:lnTo>
                  <a:lnTo>
                    <a:pt x="28956" y="141427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9" name="object 99"/>
            <p:cNvPicPr/>
            <p:nvPr/>
          </p:nvPicPr>
          <p:blipFill>
            <a:blip r:embed="rId14" cstate="print"/>
            <a:stretch>
              <a:fillRect/>
            </a:stretch>
          </p:blipFill>
          <p:spPr>
            <a:xfrm>
              <a:off x="1575816" y="3368802"/>
              <a:ext cx="128015" cy="131063"/>
            </a:xfrm>
            <a:prstGeom prst="rect">
              <a:avLst/>
            </a:prstGeom>
          </p:spPr>
        </p:pic>
        <p:sp>
          <p:nvSpPr>
            <p:cNvPr id="100" name="object 100"/>
            <p:cNvSpPr/>
            <p:nvPr/>
          </p:nvSpPr>
          <p:spPr>
            <a:xfrm>
              <a:off x="2289810" y="2116848"/>
              <a:ext cx="1062990" cy="1618615"/>
            </a:xfrm>
            <a:custGeom>
              <a:avLst/>
              <a:gdLst/>
              <a:ahLst/>
              <a:cxnLst/>
              <a:rect l="l" t="t" r="r" b="b"/>
              <a:pathLst>
                <a:path w="1062989" h="1618614">
                  <a:moveTo>
                    <a:pt x="1062990" y="1596377"/>
                  </a:moveTo>
                  <a:lnTo>
                    <a:pt x="1056894" y="1589519"/>
                  </a:lnTo>
                  <a:lnTo>
                    <a:pt x="880872" y="1589519"/>
                  </a:lnTo>
                  <a:lnTo>
                    <a:pt x="873252" y="1589519"/>
                  </a:lnTo>
                  <a:lnTo>
                    <a:pt x="866394" y="1596377"/>
                  </a:lnTo>
                  <a:lnTo>
                    <a:pt x="866394" y="1612379"/>
                  </a:lnTo>
                  <a:lnTo>
                    <a:pt x="873252" y="1618475"/>
                  </a:lnTo>
                  <a:lnTo>
                    <a:pt x="1056894" y="1618475"/>
                  </a:lnTo>
                  <a:lnTo>
                    <a:pt x="1062990" y="1612379"/>
                  </a:lnTo>
                  <a:lnTo>
                    <a:pt x="1062990" y="1596377"/>
                  </a:lnTo>
                  <a:close/>
                </a:path>
                <a:path w="1062989" h="1618614">
                  <a:moveTo>
                    <a:pt x="1062990" y="321551"/>
                  </a:moveTo>
                  <a:lnTo>
                    <a:pt x="1056894" y="315455"/>
                  </a:lnTo>
                  <a:lnTo>
                    <a:pt x="873252" y="315455"/>
                  </a:lnTo>
                  <a:lnTo>
                    <a:pt x="871474" y="317030"/>
                  </a:lnTo>
                  <a:lnTo>
                    <a:pt x="868680" y="316230"/>
                  </a:lnTo>
                  <a:lnTo>
                    <a:pt x="822680" y="299199"/>
                  </a:lnTo>
                  <a:lnTo>
                    <a:pt x="822680" y="329565"/>
                  </a:lnTo>
                  <a:lnTo>
                    <a:pt x="9144" y="630174"/>
                  </a:lnTo>
                  <a:lnTo>
                    <a:pt x="28194" y="623125"/>
                  </a:lnTo>
                  <a:lnTo>
                    <a:pt x="28194" y="35991"/>
                  </a:lnTo>
                  <a:lnTo>
                    <a:pt x="822680" y="329565"/>
                  </a:lnTo>
                  <a:lnTo>
                    <a:pt x="822680" y="299199"/>
                  </a:lnTo>
                  <a:lnTo>
                    <a:pt x="19050" y="1524"/>
                  </a:lnTo>
                  <a:lnTo>
                    <a:pt x="14478" y="0"/>
                  </a:lnTo>
                  <a:lnTo>
                    <a:pt x="9906" y="762"/>
                  </a:lnTo>
                  <a:lnTo>
                    <a:pt x="6096" y="3810"/>
                  </a:lnTo>
                  <a:lnTo>
                    <a:pt x="2286" y="6096"/>
                  </a:lnTo>
                  <a:lnTo>
                    <a:pt x="0" y="10668"/>
                  </a:lnTo>
                  <a:lnTo>
                    <a:pt x="0" y="648462"/>
                  </a:lnTo>
                  <a:lnTo>
                    <a:pt x="2286" y="653034"/>
                  </a:lnTo>
                  <a:lnTo>
                    <a:pt x="6096" y="655320"/>
                  </a:lnTo>
                  <a:lnTo>
                    <a:pt x="9144" y="657758"/>
                  </a:lnTo>
                  <a:lnTo>
                    <a:pt x="9906" y="658368"/>
                  </a:lnTo>
                  <a:lnTo>
                    <a:pt x="14478" y="658368"/>
                  </a:lnTo>
                  <a:lnTo>
                    <a:pt x="19050" y="656844"/>
                  </a:lnTo>
                  <a:lnTo>
                    <a:pt x="28194" y="653453"/>
                  </a:lnTo>
                  <a:lnTo>
                    <a:pt x="858774" y="346557"/>
                  </a:lnTo>
                  <a:lnTo>
                    <a:pt x="868680" y="342900"/>
                  </a:lnTo>
                  <a:lnTo>
                    <a:pt x="871194" y="341833"/>
                  </a:lnTo>
                  <a:lnTo>
                    <a:pt x="873252" y="343649"/>
                  </a:lnTo>
                  <a:lnTo>
                    <a:pt x="1034796" y="343649"/>
                  </a:lnTo>
                  <a:lnTo>
                    <a:pt x="1034796" y="795515"/>
                  </a:lnTo>
                  <a:lnTo>
                    <a:pt x="1040892" y="802373"/>
                  </a:lnTo>
                  <a:lnTo>
                    <a:pt x="1048512" y="802373"/>
                  </a:lnTo>
                  <a:lnTo>
                    <a:pt x="1056894" y="802373"/>
                  </a:lnTo>
                  <a:lnTo>
                    <a:pt x="1062990" y="795515"/>
                  </a:lnTo>
                  <a:lnTo>
                    <a:pt x="1062990" y="32155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1" name="object 101"/>
          <p:cNvSpPr txBox="1"/>
          <p:nvPr/>
        </p:nvSpPr>
        <p:spPr>
          <a:xfrm>
            <a:off x="2391410" y="2251201"/>
            <a:ext cx="364490"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85" normalizeH="0" baseline="0" noProof="0" dirty="0">
                <a:ln>
                  <a:noFill/>
                </a:ln>
                <a:solidFill>
                  <a:srgbClr val="0000FF"/>
                </a:solidFill>
                <a:effectLst/>
                <a:uLnTx/>
                <a:uFillTx/>
                <a:latin typeface="Times New Roman"/>
                <a:ea typeface="+mn-ea"/>
                <a:cs typeface="Times New Roman"/>
              </a:rPr>
              <a:t>0</a:t>
            </a:r>
            <a:r>
              <a:rPr kumimoji="0" sz="1900" b="1" i="0" u="none" strike="noStrike" kern="1200" cap="none" spc="100" normalizeH="0" baseline="0" noProof="0" dirty="0">
                <a:ln>
                  <a:noFill/>
                </a:ln>
                <a:solidFill>
                  <a:srgbClr val="0000FF"/>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00FF"/>
                </a:solidFill>
                <a:effectLst/>
                <a:uLnTx/>
                <a:uFillTx/>
                <a:latin typeface="Times New Roman"/>
                <a:ea typeface="+mn-ea"/>
                <a:cs typeface="Times New Roman"/>
              </a:rPr>
              <a:t>6</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2" name="object 102"/>
          <p:cNvSpPr txBox="1"/>
          <p:nvPr/>
        </p:nvSpPr>
        <p:spPr>
          <a:xfrm>
            <a:off x="1831085" y="1985263"/>
            <a:ext cx="320040"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0</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103" name="object 103"/>
          <p:cNvSpPr/>
          <p:nvPr/>
        </p:nvSpPr>
        <p:spPr>
          <a:xfrm>
            <a:off x="2289810" y="3360420"/>
            <a:ext cx="878205" cy="713740"/>
          </a:xfrm>
          <a:custGeom>
            <a:avLst/>
            <a:gdLst/>
            <a:ahLst/>
            <a:cxnLst/>
            <a:rect l="l" t="t" r="r" b="b"/>
            <a:pathLst>
              <a:path w="878205" h="713739">
                <a:moveTo>
                  <a:pt x="877823" y="362712"/>
                </a:moveTo>
                <a:lnTo>
                  <a:pt x="877823" y="350520"/>
                </a:lnTo>
                <a:lnTo>
                  <a:pt x="874013" y="345186"/>
                </a:lnTo>
                <a:lnTo>
                  <a:pt x="868679" y="343662"/>
                </a:lnTo>
                <a:lnTo>
                  <a:pt x="15239" y="0"/>
                </a:lnTo>
                <a:lnTo>
                  <a:pt x="9905" y="0"/>
                </a:lnTo>
                <a:lnTo>
                  <a:pt x="6095" y="3048"/>
                </a:lnTo>
                <a:lnTo>
                  <a:pt x="2285" y="5334"/>
                </a:lnTo>
                <a:lnTo>
                  <a:pt x="0" y="9906"/>
                </a:lnTo>
                <a:lnTo>
                  <a:pt x="0" y="703326"/>
                </a:lnTo>
                <a:lnTo>
                  <a:pt x="2285" y="707898"/>
                </a:lnTo>
                <a:lnTo>
                  <a:pt x="6095" y="710184"/>
                </a:lnTo>
                <a:lnTo>
                  <a:pt x="8381" y="712012"/>
                </a:lnTo>
                <a:lnTo>
                  <a:pt x="8381" y="28194"/>
                </a:lnTo>
                <a:lnTo>
                  <a:pt x="28193" y="14478"/>
                </a:lnTo>
                <a:lnTo>
                  <a:pt x="28193" y="36154"/>
                </a:lnTo>
                <a:lnTo>
                  <a:pt x="825771" y="356616"/>
                </a:lnTo>
                <a:lnTo>
                  <a:pt x="858012" y="343662"/>
                </a:lnTo>
                <a:lnTo>
                  <a:pt x="858012" y="373865"/>
                </a:lnTo>
                <a:lnTo>
                  <a:pt x="868679" y="369570"/>
                </a:lnTo>
                <a:lnTo>
                  <a:pt x="874013" y="367284"/>
                </a:lnTo>
                <a:lnTo>
                  <a:pt x="877823" y="362712"/>
                </a:lnTo>
                <a:close/>
              </a:path>
              <a:path w="878205" h="713739">
                <a:moveTo>
                  <a:pt x="28193" y="36154"/>
                </a:moveTo>
                <a:lnTo>
                  <a:pt x="28193" y="14478"/>
                </a:lnTo>
                <a:lnTo>
                  <a:pt x="8381" y="28194"/>
                </a:lnTo>
                <a:lnTo>
                  <a:pt x="28193" y="36154"/>
                </a:lnTo>
                <a:close/>
              </a:path>
              <a:path w="878205" h="713739">
                <a:moveTo>
                  <a:pt x="28193" y="677077"/>
                </a:moveTo>
                <a:lnTo>
                  <a:pt x="28193" y="36154"/>
                </a:lnTo>
                <a:lnTo>
                  <a:pt x="8381" y="28194"/>
                </a:lnTo>
                <a:lnTo>
                  <a:pt x="8381" y="685038"/>
                </a:lnTo>
                <a:lnTo>
                  <a:pt x="28193" y="677077"/>
                </a:lnTo>
                <a:close/>
              </a:path>
              <a:path w="878205" h="713739">
                <a:moveTo>
                  <a:pt x="858012" y="373865"/>
                </a:moveTo>
                <a:lnTo>
                  <a:pt x="858012" y="369570"/>
                </a:lnTo>
                <a:lnTo>
                  <a:pt x="825771" y="356616"/>
                </a:lnTo>
                <a:lnTo>
                  <a:pt x="8381" y="685038"/>
                </a:lnTo>
                <a:lnTo>
                  <a:pt x="28193" y="698754"/>
                </a:lnTo>
                <a:lnTo>
                  <a:pt x="28194" y="708015"/>
                </a:lnTo>
                <a:lnTo>
                  <a:pt x="858012" y="373865"/>
                </a:lnTo>
                <a:close/>
              </a:path>
              <a:path w="878205" h="713739">
                <a:moveTo>
                  <a:pt x="28194" y="708015"/>
                </a:moveTo>
                <a:lnTo>
                  <a:pt x="28193" y="698754"/>
                </a:lnTo>
                <a:lnTo>
                  <a:pt x="8381" y="685038"/>
                </a:lnTo>
                <a:lnTo>
                  <a:pt x="8381" y="712012"/>
                </a:lnTo>
                <a:lnTo>
                  <a:pt x="9905" y="713232"/>
                </a:lnTo>
                <a:lnTo>
                  <a:pt x="15240" y="713232"/>
                </a:lnTo>
                <a:lnTo>
                  <a:pt x="28194" y="708015"/>
                </a:lnTo>
                <a:close/>
              </a:path>
              <a:path w="878205" h="713739">
                <a:moveTo>
                  <a:pt x="858012" y="369570"/>
                </a:moveTo>
                <a:lnTo>
                  <a:pt x="858012" y="343662"/>
                </a:lnTo>
                <a:lnTo>
                  <a:pt x="825771" y="356616"/>
                </a:lnTo>
                <a:lnTo>
                  <a:pt x="858012" y="36957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object 104"/>
          <p:cNvSpPr txBox="1"/>
          <p:nvPr/>
        </p:nvSpPr>
        <p:spPr>
          <a:xfrm>
            <a:off x="2335022" y="3521455"/>
            <a:ext cx="461009"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25"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0</a:t>
            </a:r>
            <a:r>
              <a:rPr kumimoji="0" sz="1900" b="1" i="0" u="none" strike="noStrike" kern="1200" cap="none" spc="-290" normalizeH="0" baseline="0" noProof="0" dirty="0">
                <a:ln>
                  <a:noFill/>
                </a:ln>
                <a:solidFill>
                  <a:srgbClr val="006500"/>
                </a:solidFill>
                <a:effectLst/>
                <a:uLnTx/>
                <a:uFillTx/>
                <a:latin typeface="Times New Roman"/>
                <a:ea typeface="+mn-ea"/>
                <a:cs typeface="Times New Roman"/>
              </a:rPr>
              <a:t> </a:t>
            </a:r>
            <a:r>
              <a:rPr kumimoji="0" sz="1900" b="1" i="0" u="none" strike="noStrike" kern="1200" cap="none" spc="100"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4</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5" name="object 105"/>
          <p:cNvSpPr/>
          <p:nvPr/>
        </p:nvSpPr>
        <p:spPr>
          <a:xfrm>
            <a:off x="3188970" y="2890265"/>
            <a:ext cx="716280" cy="847090"/>
          </a:xfrm>
          <a:custGeom>
            <a:avLst/>
            <a:gdLst/>
            <a:ahLst/>
            <a:cxnLst/>
            <a:rect l="l" t="t" r="r" b="b"/>
            <a:pathLst>
              <a:path w="716279" h="847089">
                <a:moveTo>
                  <a:pt x="167640" y="64008"/>
                </a:moveTo>
                <a:lnTo>
                  <a:pt x="161544" y="57912"/>
                </a:lnTo>
                <a:lnTo>
                  <a:pt x="145542" y="57912"/>
                </a:lnTo>
                <a:lnTo>
                  <a:pt x="139446" y="64008"/>
                </a:lnTo>
                <a:lnTo>
                  <a:pt x="139446" y="247650"/>
                </a:lnTo>
                <a:lnTo>
                  <a:pt x="145542" y="253746"/>
                </a:lnTo>
                <a:lnTo>
                  <a:pt x="161544" y="253746"/>
                </a:lnTo>
                <a:lnTo>
                  <a:pt x="167640" y="247650"/>
                </a:lnTo>
                <a:lnTo>
                  <a:pt x="167640" y="71628"/>
                </a:lnTo>
                <a:lnTo>
                  <a:pt x="167640" y="64008"/>
                </a:lnTo>
                <a:close/>
              </a:path>
              <a:path w="716279" h="847089">
                <a:moveTo>
                  <a:pt x="716280" y="143256"/>
                </a:moveTo>
                <a:lnTo>
                  <a:pt x="709422" y="136398"/>
                </a:lnTo>
                <a:lnTo>
                  <a:pt x="296418" y="136398"/>
                </a:lnTo>
                <a:lnTo>
                  <a:pt x="295656" y="128778"/>
                </a:lnTo>
                <a:lnTo>
                  <a:pt x="284988" y="92202"/>
                </a:lnTo>
                <a:lnTo>
                  <a:pt x="268224" y="62141"/>
                </a:lnTo>
                <a:lnTo>
                  <a:pt x="268224" y="139446"/>
                </a:lnTo>
                <a:lnTo>
                  <a:pt x="268224" y="143256"/>
                </a:lnTo>
                <a:lnTo>
                  <a:pt x="268224" y="158496"/>
                </a:lnTo>
                <a:lnTo>
                  <a:pt x="267462" y="164592"/>
                </a:lnTo>
                <a:lnTo>
                  <a:pt x="266700" y="171450"/>
                </a:lnTo>
                <a:lnTo>
                  <a:pt x="253746" y="211074"/>
                </a:lnTo>
                <a:lnTo>
                  <a:pt x="224028" y="247650"/>
                </a:lnTo>
                <a:lnTo>
                  <a:pt x="189738" y="267462"/>
                </a:lnTo>
                <a:lnTo>
                  <a:pt x="166116" y="273558"/>
                </a:lnTo>
                <a:lnTo>
                  <a:pt x="160782" y="274320"/>
                </a:lnTo>
                <a:lnTo>
                  <a:pt x="156210" y="274891"/>
                </a:lnTo>
                <a:lnTo>
                  <a:pt x="140970" y="274993"/>
                </a:lnTo>
                <a:lnTo>
                  <a:pt x="135636" y="274320"/>
                </a:lnTo>
                <a:lnTo>
                  <a:pt x="130302" y="273558"/>
                </a:lnTo>
                <a:lnTo>
                  <a:pt x="124206" y="272034"/>
                </a:lnTo>
                <a:lnTo>
                  <a:pt x="118110" y="271272"/>
                </a:lnTo>
                <a:lnTo>
                  <a:pt x="112776" y="268986"/>
                </a:lnTo>
                <a:lnTo>
                  <a:pt x="107442" y="267462"/>
                </a:lnTo>
                <a:lnTo>
                  <a:pt x="102108" y="265176"/>
                </a:lnTo>
                <a:lnTo>
                  <a:pt x="96012" y="262890"/>
                </a:lnTo>
                <a:lnTo>
                  <a:pt x="91440" y="259842"/>
                </a:lnTo>
                <a:lnTo>
                  <a:pt x="80772" y="253746"/>
                </a:lnTo>
                <a:lnTo>
                  <a:pt x="48768" y="220218"/>
                </a:lnTo>
                <a:lnTo>
                  <a:pt x="38100" y="198882"/>
                </a:lnTo>
                <a:lnTo>
                  <a:pt x="35814" y="194310"/>
                </a:lnTo>
                <a:lnTo>
                  <a:pt x="29718" y="169926"/>
                </a:lnTo>
                <a:lnTo>
                  <a:pt x="28956" y="163830"/>
                </a:lnTo>
                <a:lnTo>
                  <a:pt x="28956" y="145542"/>
                </a:lnTo>
                <a:lnTo>
                  <a:pt x="29718" y="138684"/>
                </a:lnTo>
                <a:lnTo>
                  <a:pt x="31242" y="126492"/>
                </a:lnTo>
                <a:lnTo>
                  <a:pt x="32766" y="120396"/>
                </a:lnTo>
                <a:lnTo>
                  <a:pt x="34290" y="115062"/>
                </a:lnTo>
                <a:lnTo>
                  <a:pt x="35814" y="108966"/>
                </a:lnTo>
                <a:lnTo>
                  <a:pt x="56388" y="73152"/>
                </a:lnTo>
                <a:lnTo>
                  <a:pt x="92202" y="43434"/>
                </a:lnTo>
                <a:lnTo>
                  <a:pt x="96774" y="41148"/>
                </a:lnTo>
                <a:lnTo>
                  <a:pt x="102108" y="38100"/>
                </a:lnTo>
                <a:lnTo>
                  <a:pt x="108204" y="35814"/>
                </a:lnTo>
                <a:lnTo>
                  <a:pt x="118872" y="32766"/>
                </a:lnTo>
                <a:lnTo>
                  <a:pt x="124968" y="31242"/>
                </a:lnTo>
                <a:lnTo>
                  <a:pt x="131064" y="30480"/>
                </a:lnTo>
                <a:lnTo>
                  <a:pt x="136398" y="29718"/>
                </a:lnTo>
                <a:lnTo>
                  <a:pt x="141732" y="29057"/>
                </a:lnTo>
                <a:lnTo>
                  <a:pt x="156210" y="29057"/>
                </a:lnTo>
                <a:lnTo>
                  <a:pt x="161544" y="29718"/>
                </a:lnTo>
                <a:lnTo>
                  <a:pt x="166878" y="30480"/>
                </a:lnTo>
                <a:lnTo>
                  <a:pt x="172974" y="31242"/>
                </a:lnTo>
                <a:lnTo>
                  <a:pt x="179070" y="32766"/>
                </a:lnTo>
                <a:lnTo>
                  <a:pt x="184404" y="34290"/>
                </a:lnTo>
                <a:lnTo>
                  <a:pt x="189738" y="36576"/>
                </a:lnTo>
                <a:lnTo>
                  <a:pt x="195834" y="38862"/>
                </a:lnTo>
                <a:lnTo>
                  <a:pt x="200406" y="41148"/>
                </a:lnTo>
                <a:lnTo>
                  <a:pt x="205740" y="43434"/>
                </a:lnTo>
                <a:lnTo>
                  <a:pt x="225552" y="57150"/>
                </a:lnTo>
                <a:lnTo>
                  <a:pt x="254508" y="93726"/>
                </a:lnTo>
                <a:lnTo>
                  <a:pt x="262890" y="115824"/>
                </a:lnTo>
                <a:lnTo>
                  <a:pt x="264414" y="121158"/>
                </a:lnTo>
                <a:lnTo>
                  <a:pt x="267462" y="133350"/>
                </a:lnTo>
                <a:lnTo>
                  <a:pt x="268224" y="139446"/>
                </a:lnTo>
                <a:lnTo>
                  <a:pt x="268224" y="62141"/>
                </a:lnTo>
                <a:lnTo>
                  <a:pt x="230886" y="25908"/>
                </a:lnTo>
                <a:lnTo>
                  <a:pt x="212598" y="15240"/>
                </a:lnTo>
                <a:lnTo>
                  <a:pt x="206502" y="12192"/>
                </a:lnTo>
                <a:lnTo>
                  <a:pt x="170688" y="2286"/>
                </a:lnTo>
                <a:lnTo>
                  <a:pt x="163068" y="762"/>
                </a:lnTo>
                <a:lnTo>
                  <a:pt x="155448" y="698"/>
                </a:lnTo>
                <a:lnTo>
                  <a:pt x="147828" y="0"/>
                </a:lnTo>
                <a:lnTo>
                  <a:pt x="140970" y="685"/>
                </a:lnTo>
                <a:lnTo>
                  <a:pt x="133350" y="762"/>
                </a:lnTo>
                <a:lnTo>
                  <a:pt x="125730" y="2286"/>
                </a:lnTo>
                <a:lnTo>
                  <a:pt x="118110" y="3048"/>
                </a:lnTo>
                <a:lnTo>
                  <a:pt x="111252" y="5334"/>
                </a:lnTo>
                <a:lnTo>
                  <a:pt x="103632" y="6858"/>
                </a:lnTo>
                <a:lnTo>
                  <a:pt x="96774" y="9906"/>
                </a:lnTo>
                <a:lnTo>
                  <a:pt x="53340" y="35052"/>
                </a:lnTo>
                <a:lnTo>
                  <a:pt x="25146" y="67818"/>
                </a:lnTo>
                <a:lnTo>
                  <a:pt x="9144" y="100584"/>
                </a:lnTo>
                <a:lnTo>
                  <a:pt x="4572" y="114300"/>
                </a:lnTo>
                <a:lnTo>
                  <a:pt x="1524" y="129540"/>
                </a:lnTo>
                <a:lnTo>
                  <a:pt x="762" y="136398"/>
                </a:lnTo>
                <a:lnTo>
                  <a:pt x="0" y="144780"/>
                </a:lnTo>
                <a:lnTo>
                  <a:pt x="0" y="160020"/>
                </a:lnTo>
                <a:lnTo>
                  <a:pt x="9144" y="204216"/>
                </a:lnTo>
                <a:lnTo>
                  <a:pt x="28956" y="241147"/>
                </a:lnTo>
                <a:lnTo>
                  <a:pt x="66294" y="278130"/>
                </a:lnTo>
                <a:lnTo>
                  <a:pt x="104394" y="296418"/>
                </a:lnTo>
                <a:lnTo>
                  <a:pt x="134112" y="302514"/>
                </a:lnTo>
                <a:lnTo>
                  <a:pt x="135636" y="302691"/>
                </a:lnTo>
                <a:lnTo>
                  <a:pt x="135636" y="840498"/>
                </a:lnTo>
                <a:lnTo>
                  <a:pt x="141732" y="846594"/>
                </a:lnTo>
                <a:lnTo>
                  <a:pt x="157734" y="846594"/>
                </a:lnTo>
                <a:lnTo>
                  <a:pt x="163830" y="840498"/>
                </a:lnTo>
                <a:lnTo>
                  <a:pt x="163830" y="832878"/>
                </a:lnTo>
                <a:lnTo>
                  <a:pt x="163830" y="302514"/>
                </a:lnTo>
                <a:lnTo>
                  <a:pt x="171450" y="301752"/>
                </a:lnTo>
                <a:lnTo>
                  <a:pt x="179070" y="300228"/>
                </a:lnTo>
                <a:lnTo>
                  <a:pt x="185928" y="298704"/>
                </a:lnTo>
                <a:lnTo>
                  <a:pt x="192786" y="296418"/>
                </a:lnTo>
                <a:lnTo>
                  <a:pt x="200406" y="294132"/>
                </a:lnTo>
                <a:lnTo>
                  <a:pt x="206502" y="291084"/>
                </a:lnTo>
                <a:lnTo>
                  <a:pt x="220218" y="284988"/>
                </a:lnTo>
                <a:lnTo>
                  <a:pt x="232410" y="277368"/>
                </a:lnTo>
                <a:lnTo>
                  <a:pt x="263652" y="247650"/>
                </a:lnTo>
                <a:lnTo>
                  <a:pt x="285750" y="210312"/>
                </a:lnTo>
                <a:lnTo>
                  <a:pt x="296570" y="165354"/>
                </a:lnTo>
                <a:lnTo>
                  <a:pt x="709422" y="165354"/>
                </a:lnTo>
                <a:lnTo>
                  <a:pt x="716280" y="158496"/>
                </a:lnTo>
                <a:lnTo>
                  <a:pt x="716280" y="14325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txBox="1"/>
          <p:nvPr/>
        </p:nvSpPr>
        <p:spPr>
          <a:xfrm>
            <a:off x="1908810" y="3186938"/>
            <a:ext cx="320040"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1</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107" name="object 107"/>
          <p:cNvSpPr txBox="1"/>
          <p:nvPr/>
        </p:nvSpPr>
        <p:spPr>
          <a:xfrm>
            <a:off x="3528059" y="2642869"/>
            <a:ext cx="611505"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3450" b="0" i="1" u="none" strike="noStrike" kern="1200" cap="none" spc="15" normalizeH="0" baseline="13285" noProof="0" dirty="0">
                <a:ln>
                  <a:noFill/>
                </a:ln>
                <a:solidFill>
                  <a:prstClr val="black"/>
                </a:solidFill>
                <a:effectLst/>
                <a:uLnTx/>
                <a:uFillTx/>
                <a:latin typeface="Times New Roman"/>
                <a:ea typeface="+mn-ea"/>
                <a:cs typeface="Times New Roman"/>
              </a:rPr>
              <a:t>V</a:t>
            </a:r>
            <a:r>
              <a:rPr kumimoji="0" sz="1500" b="0" i="1" u="none" strike="noStrike" kern="1200" cap="none" spc="10" normalizeH="0" baseline="0" noProof="0" dirty="0">
                <a:ln>
                  <a:noFill/>
                </a:ln>
                <a:solidFill>
                  <a:prstClr val="black"/>
                </a:solidFill>
                <a:effectLst/>
                <a:uLnTx/>
                <a:uFillTx/>
                <a:latin typeface="Times New Roman"/>
                <a:ea typeface="+mn-ea"/>
                <a:cs typeface="Times New Roman"/>
              </a:rPr>
              <a:t>FFE</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9" name="Slide Number Placeholder 108"/>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37</a:t>
            </a:fld>
            <a:endParaRPr lang="en-US" spc="-50" dirty="0"/>
          </a:p>
        </p:txBody>
      </p:sp>
      <p:sp>
        <p:nvSpPr>
          <p:cNvPr id="110" name="Date Placeholder 109"/>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1" name="Footer Placeholder 11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983826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218" y="298966"/>
            <a:ext cx="5267325" cy="604520"/>
          </a:xfrm>
          <a:prstGeom prst="rect">
            <a:avLst/>
          </a:prstGeom>
        </p:spPr>
        <p:txBody>
          <a:bodyPr vert="horz" wrap="square" lIns="0" tIns="12065" rIns="0" bIns="0" rtlCol="0">
            <a:spAutoFit/>
          </a:bodyPr>
          <a:lstStyle/>
          <a:p>
            <a:pPr marL="12700">
              <a:lnSpc>
                <a:spcPct val="100000"/>
              </a:lnSpc>
              <a:spcBef>
                <a:spcPts val="95"/>
              </a:spcBef>
            </a:pPr>
            <a:r>
              <a:rPr sz="3800" b="0" spc="-10" dirty="0">
                <a:latin typeface="Verdana"/>
                <a:cs typeface="Verdana"/>
              </a:rPr>
              <a:t>Current</a:t>
            </a:r>
            <a:r>
              <a:rPr sz="3800" b="0" spc="-5" dirty="0">
                <a:latin typeface="Verdana"/>
                <a:cs typeface="Verdana"/>
              </a:rPr>
              <a:t> Mode</a:t>
            </a:r>
            <a:r>
              <a:rPr sz="3800" b="0" dirty="0">
                <a:latin typeface="Verdana"/>
                <a:cs typeface="Verdana"/>
              </a:rPr>
              <a:t> </a:t>
            </a:r>
            <a:r>
              <a:rPr sz="3800" b="0" spc="-5" dirty="0">
                <a:latin typeface="Verdana"/>
                <a:cs typeface="Verdana"/>
              </a:rPr>
              <a:t>FFE</a:t>
            </a:r>
            <a:r>
              <a:rPr sz="3800" b="0" dirty="0">
                <a:latin typeface="Verdana"/>
                <a:cs typeface="Verdana"/>
              </a:rPr>
              <a:t> </a:t>
            </a:r>
            <a:r>
              <a:rPr sz="3800" b="0" spc="-5" dirty="0">
                <a:latin typeface="Verdana"/>
                <a:cs typeface="Verdana"/>
              </a:rPr>
              <a:t>(2)</a:t>
            </a:r>
            <a:endParaRPr sz="3800" dirty="0">
              <a:latin typeface="Verdana"/>
              <a:cs typeface="Verdana"/>
            </a:endParaRPr>
          </a:p>
        </p:txBody>
      </p:sp>
      <p:grpSp>
        <p:nvGrpSpPr>
          <p:cNvPr id="3" name="object 3"/>
          <p:cNvGrpSpPr/>
          <p:nvPr/>
        </p:nvGrpSpPr>
        <p:grpSpPr>
          <a:xfrm>
            <a:off x="7293794" y="1838705"/>
            <a:ext cx="528320" cy="2259330"/>
            <a:chOff x="7293794" y="1838705"/>
            <a:chExt cx="528320" cy="2259330"/>
          </a:xfrm>
        </p:grpSpPr>
        <p:sp>
          <p:nvSpPr>
            <p:cNvPr id="4" name="object 4"/>
            <p:cNvSpPr/>
            <p:nvPr/>
          </p:nvSpPr>
          <p:spPr>
            <a:xfrm>
              <a:off x="7351014" y="3338322"/>
              <a:ext cx="462280" cy="0"/>
            </a:xfrm>
            <a:custGeom>
              <a:avLst/>
              <a:gdLst/>
              <a:ahLst/>
              <a:cxnLst/>
              <a:rect l="l" t="t" r="r" b="b"/>
              <a:pathLst>
                <a:path w="462279">
                  <a:moveTo>
                    <a:pt x="461772"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7427976" y="3525011"/>
              <a:ext cx="298450" cy="289560"/>
            </a:xfrm>
            <a:custGeom>
              <a:avLst/>
              <a:gdLst/>
              <a:ahLst/>
              <a:cxnLst/>
              <a:rect l="l" t="t" r="r" b="b"/>
              <a:pathLst>
                <a:path w="298450" h="289560">
                  <a:moveTo>
                    <a:pt x="297942" y="144779"/>
                  </a:moveTo>
                  <a:lnTo>
                    <a:pt x="290389" y="98999"/>
                  </a:lnTo>
                  <a:lnTo>
                    <a:pt x="269339" y="59253"/>
                  </a:lnTo>
                  <a:lnTo>
                    <a:pt x="237207" y="27919"/>
                  </a:lnTo>
                  <a:lnTo>
                    <a:pt x="196407" y="7376"/>
                  </a:lnTo>
                  <a:lnTo>
                    <a:pt x="149352" y="0"/>
                  </a:lnTo>
                  <a:lnTo>
                    <a:pt x="102217" y="7376"/>
                  </a:lnTo>
                  <a:lnTo>
                    <a:pt x="61228" y="27919"/>
                  </a:lnTo>
                  <a:lnTo>
                    <a:pt x="28870" y="59253"/>
                  </a:lnTo>
                  <a:lnTo>
                    <a:pt x="7632" y="98999"/>
                  </a:lnTo>
                  <a:lnTo>
                    <a:pt x="0" y="144779"/>
                  </a:lnTo>
                  <a:lnTo>
                    <a:pt x="7632" y="190560"/>
                  </a:lnTo>
                  <a:lnTo>
                    <a:pt x="28870" y="230306"/>
                  </a:lnTo>
                  <a:lnTo>
                    <a:pt x="61228" y="261640"/>
                  </a:lnTo>
                  <a:lnTo>
                    <a:pt x="102217" y="282183"/>
                  </a:lnTo>
                  <a:lnTo>
                    <a:pt x="149352" y="289559"/>
                  </a:lnTo>
                  <a:lnTo>
                    <a:pt x="196407" y="282183"/>
                  </a:lnTo>
                  <a:lnTo>
                    <a:pt x="237207" y="261640"/>
                  </a:lnTo>
                  <a:lnTo>
                    <a:pt x="269339" y="230306"/>
                  </a:lnTo>
                  <a:lnTo>
                    <a:pt x="290389" y="190560"/>
                  </a:lnTo>
                  <a:lnTo>
                    <a:pt x="297942"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7577328" y="3453383"/>
              <a:ext cx="0" cy="234315"/>
            </a:xfrm>
            <a:custGeom>
              <a:avLst/>
              <a:gdLst/>
              <a:ahLst/>
              <a:cxnLst/>
              <a:rect l="l" t="t" r="r" b="b"/>
              <a:pathLst>
                <a:path h="234314">
                  <a:moveTo>
                    <a:pt x="0"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7523226" y="3675888"/>
              <a:ext cx="107950" cy="139065"/>
            </a:xfrm>
            <a:custGeom>
              <a:avLst/>
              <a:gdLst/>
              <a:ahLst/>
              <a:cxnLst/>
              <a:rect l="l" t="t" r="r" b="b"/>
              <a:pathLst>
                <a:path w="107950" h="139064">
                  <a:moveTo>
                    <a:pt x="107442" y="0"/>
                  </a:moveTo>
                  <a:lnTo>
                    <a:pt x="0" y="0"/>
                  </a:lnTo>
                  <a:lnTo>
                    <a:pt x="54102" y="138684"/>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p:nvPr/>
          </p:nvSpPr>
          <p:spPr>
            <a:xfrm>
              <a:off x="7578852" y="3814572"/>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7460742" y="3987545"/>
              <a:ext cx="235585" cy="0"/>
            </a:xfrm>
            <a:custGeom>
              <a:avLst/>
              <a:gdLst/>
              <a:ahLst/>
              <a:cxnLst/>
              <a:rect l="l" t="t" r="r" b="b"/>
              <a:pathLst>
                <a:path w="235584">
                  <a:moveTo>
                    <a:pt x="0" y="0"/>
                  </a:moveTo>
                  <a:lnTo>
                    <a:pt x="235458"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7500366" y="4038600"/>
              <a:ext cx="157480" cy="0"/>
            </a:xfrm>
            <a:custGeom>
              <a:avLst/>
              <a:gdLst/>
              <a:ahLst/>
              <a:cxnLst/>
              <a:rect l="l" t="t" r="r" b="b"/>
              <a:pathLst>
                <a:path w="157479">
                  <a:moveTo>
                    <a:pt x="0" y="0"/>
                  </a:moveTo>
                  <a:lnTo>
                    <a:pt x="1569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7539228" y="4088891"/>
              <a:ext cx="78740" cy="0"/>
            </a:xfrm>
            <a:custGeom>
              <a:avLst/>
              <a:gdLst/>
              <a:ahLst/>
              <a:cxnLst/>
              <a:rect l="l" t="t" r="r" b="b"/>
              <a:pathLst>
                <a:path w="78740">
                  <a:moveTo>
                    <a:pt x="0" y="0"/>
                  </a:moveTo>
                  <a:lnTo>
                    <a:pt x="7848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7578852" y="3886961"/>
              <a:ext cx="0" cy="100965"/>
            </a:xfrm>
            <a:custGeom>
              <a:avLst/>
              <a:gdLst/>
              <a:ahLst/>
              <a:cxnLst/>
              <a:rect l="l" t="t" r="r" b="b"/>
              <a:pathLst>
                <a:path h="100964">
                  <a:moveTo>
                    <a:pt x="0" y="100584"/>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7576566" y="3338322"/>
              <a:ext cx="1270" cy="120650"/>
            </a:xfrm>
            <a:custGeom>
              <a:avLst/>
              <a:gdLst/>
              <a:ahLst/>
              <a:cxnLst/>
              <a:rect l="l" t="t" r="r" b="b"/>
              <a:pathLst>
                <a:path w="1270" h="120650">
                  <a:moveTo>
                    <a:pt x="380" y="-7435"/>
                  </a:moveTo>
                  <a:lnTo>
                    <a:pt x="380" y="127831"/>
                  </a:lnTo>
                </a:path>
              </a:pathLst>
            </a:custGeom>
            <a:ln w="156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7812786" y="2314955"/>
              <a:ext cx="0" cy="491490"/>
            </a:xfrm>
            <a:custGeom>
              <a:avLst/>
              <a:gdLst/>
              <a:ahLst/>
              <a:cxnLst/>
              <a:rect l="l" t="t" r="r" b="b"/>
              <a:pathLst>
                <a:path h="491489">
                  <a:moveTo>
                    <a:pt x="0" y="4914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7802880" y="1846325"/>
              <a:ext cx="10160" cy="468630"/>
            </a:xfrm>
            <a:custGeom>
              <a:avLst/>
              <a:gdLst/>
              <a:ahLst/>
              <a:cxnLst/>
              <a:rect l="l" t="t" r="r" b="b"/>
              <a:pathLst>
                <a:path w="10159" h="468630">
                  <a:moveTo>
                    <a:pt x="9905" y="46862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7351014" y="2269236"/>
              <a:ext cx="0" cy="485775"/>
            </a:xfrm>
            <a:custGeom>
              <a:avLst/>
              <a:gdLst/>
              <a:ahLst/>
              <a:cxnLst/>
              <a:rect l="l" t="t" r="r" b="b"/>
              <a:pathLst>
                <a:path h="485775">
                  <a:moveTo>
                    <a:pt x="0" y="485394"/>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7"/>
            <p:cNvSpPr/>
            <p:nvPr/>
          </p:nvSpPr>
          <p:spPr>
            <a:xfrm>
              <a:off x="7351014" y="1846325"/>
              <a:ext cx="0" cy="454659"/>
            </a:xfrm>
            <a:custGeom>
              <a:avLst/>
              <a:gdLst/>
              <a:ahLst/>
              <a:cxnLst/>
              <a:rect l="l" t="t" r="r" b="b"/>
              <a:pathLst>
                <a:path h="454660">
                  <a:moveTo>
                    <a:pt x="0" y="454151"/>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object 18"/>
            <p:cNvPicPr/>
            <p:nvPr/>
          </p:nvPicPr>
          <p:blipFill>
            <a:blip r:embed="rId2" cstate="print"/>
            <a:stretch>
              <a:fillRect/>
            </a:stretch>
          </p:blipFill>
          <p:spPr>
            <a:xfrm>
              <a:off x="7293794" y="2477954"/>
              <a:ext cx="113677" cy="87007"/>
            </a:xfrm>
            <a:prstGeom prst="rect">
              <a:avLst/>
            </a:prstGeom>
          </p:spPr>
        </p:pic>
      </p:grpSp>
      <p:sp>
        <p:nvSpPr>
          <p:cNvPr id="19" name="object 19"/>
          <p:cNvSpPr txBox="1"/>
          <p:nvPr/>
        </p:nvSpPr>
        <p:spPr>
          <a:xfrm>
            <a:off x="10098785" y="2268063"/>
            <a:ext cx="86360"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9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0" name="object 20"/>
          <p:cNvSpPr txBox="1"/>
          <p:nvPr/>
        </p:nvSpPr>
        <p:spPr>
          <a:xfrm>
            <a:off x="10021835" y="1914498"/>
            <a:ext cx="147955"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16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1" name="object 21"/>
          <p:cNvSpPr/>
          <p:nvPr/>
        </p:nvSpPr>
        <p:spPr>
          <a:xfrm>
            <a:off x="8137087" y="2900938"/>
            <a:ext cx="210820" cy="0"/>
          </a:xfrm>
          <a:custGeom>
            <a:avLst/>
            <a:gdLst/>
            <a:ahLst/>
            <a:cxnLst/>
            <a:rect l="l" t="t" r="r" b="b"/>
            <a:pathLst>
              <a:path w="210820">
                <a:moveTo>
                  <a:pt x="0" y="0"/>
                </a:moveTo>
                <a:lnTo>
                  <a:pt x="210299" y="0"/>
                </a:lnTo>
              </a:path>
            </a:pathLst>
          </a:custGeom>
          <a:ln w="944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txBox="1"/>
          <p:nvPr/>
        </p:nvSpPr>
        <p:spPr>
          <a:xfrm>
            <a:off x="6889495" y="3504492"/>
            <a:ext cx="15367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165" normalizeH="0" baseline="0" noProof="0" dirty="0">
                <a:ln>
                  <a:noFill/>
                </a:ln>
                <a:solidFill>
                  <a:prstClr val="black"/>
                </a:solidFill>
                <a:effectLst/>
                <a:uLnTx/>
                <a:uFillTx/>
                <a:latin typeface="Arial MT"/>
                <a:ea typeface="+mn-ea"/>
                <a:cs typeface="Arial MT"/>
              </a:rPr>
              <a:t>0</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23" name="object 23"/>
          <p:cNvSpPr txBox="1"/>
          <p:nvPr/>
        </p:nvSpPr>
        <p:spPr>
          <a:xfrm>
            <a:off x="6899909" y="1610252"/>
            <a:ext cx="3154045" cy="2143760"/>
          </a:xfrm>
          <a:prstGeom prst="rect">
            <a:avLst/>
          </a:prstGeom>
        </p:spPr>
        <p:txBody>
          <a:bodyPr vert="horz" wrap="square" lIns="0" tIns="0" rIns="0" bIns="0" rtlCol="0">
            <a:spAutoFit/>
          </a:bodyPr>
          <a:lstStyle/>
          <a:p>
            <a:pPr marL="1842135" marR="0" lvl="0" indent="0" algn="l" defTabSz="914400" rtl="0" eaLnBrk="1" fontAlgn="auto" latinLnBrk="0" hangingPunct="1">
              <a:lnSpc>
                <a:spcPts val="1855"/>
              </a:lnSpc>
              <a:spcBef>
                <a:spcPts val="0"/>
              </a:spcBef>
              <a:spcAft>
                <a:spcPts val="0"/>
              </a:spcAft>
              <a:buClrTx/>
              <a:buSzTx/>
              <a:buFontTx/>
              <a:buNone/>
              <a:tabLst/>
              <a:defRPr/>
            </a:pPr>
            <a:r>
              <a:rPr kumimoji="0" sz="1700" b="1" i="0" u="none" strike="noStrike" kern="1200" cap="none" spc="170"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54" normalizeH="0" baseline="-26315" noProof="0" dirty="0">
                <a:ln>
                  <a:noFill/>
                </a:ln>
                <a:solidFill>
                  <a:prstClr val="black"/>
                </a:solidFill>
                <a:effectLst/>
                <a:uLnTx/>
                <a:uFillTx/>
                <a:latin typeface="Times New Roman"/>
                <a:ea typeface="+mn-ea"/>
                <a:cs typeface="Times New Roman"/>
              </a:rPr>
              <a:t>0</a:t>
            </a:r>
            <a:r>
              <a:rPr kumimoji="0" sz="1700" b="1" i="0" u="none" strike="noStrike" kern="1200" cap="none" spc="170"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54" normalizeH="0" baseline="-26315" noProof="0" dirty="0">
                <a:ln>
                  <a:noFill/>
                </a:ln>
                <a:solidFill>
                  <a:prstClr val="black"/>
                </a:solidFill>
                <a:effectLst/>
                <a:uLnTx/>
                <a:uFillTx/>
                <a:latin typeface="Times New Roman"/>
                <a:ea typeface="+mn-ea"/>
                <a:cs typeface="Times New Roman"/>
              </a:rPr>
              <a:t>1</a:t>
            </a:r>
            <a:r>
              <a:rPr kumimoji="0" sz="1425" b="1" i="0" u="none" strike="noStrike" kern="1200" cap="none" spc="405" normalizeH="0" baseline="-26315" noProof="0" dirty="0">
                <a:ln>
                  <a:noFill/>
                </a:ln>
                <a:solidFill>
                  <a:prstClr val="black"/>
                </a:solidFill>
                <a:effectLst/>
                <a:uLnTx/>
                <a:uFillTx/>
                <a:latin typeface="Times New Roman"/>
                <a:ea typeface="+mn-ea"/>
                <a:cs typeface="Times New Roman"/>
              </a:rPr>
              <a:t> </a:t>
            </a:r>
            <a:r>
              <a:rPr kumimoji="0" sz="1700" b="0" i="0" u="none" strike="noStrike" kern="1200" cap="none" spc="155" normalizeH="0" baseline="0" noProof="0" dirty="0">
                <a:ln>
                  <a:noFill/>
                </a:ln>
                <a:solidFill>
                  <a:prstClr val="black"/>
                </a:solidFill>
                <a:effectLst/>
                <a:uLnTx/>
                <a:uFillTx/>
                <a:latin typeface="Times New Roman"/>
                <a:ea typeface="+mn-ea"/>
                <a:cs typeface="Times New Roman"/>
              </a:rPr>
              <a:t>&lt;</a:t>
            </a:r>
            <a:r>
              <a:rPr kumimoji="0" sz="1700" b="0" i="0" u="none" strike="noStrike" kern="1200" cap="none" spc="210" normalizeH="0" baseline="0" noProof="0" dirty="0">
                <a:ln>
                  <a:noFill/>
                </a:ln>
                <a:solidFill>
                  <a:prstClr val="black"/>
                </a:solidFill>
                <a:effectLst/>
                <a:uLnTx/>
                <a:uFillTx/>
                <a:latin typeface="Times New Roman"/>
                <a:ea typeface="+mn-ea"/>
                <a:cs typeface="Times New Roman"/>
              </a:rPr>
              <a:t> </a:t>
            </a:r>
            <a:r>
              <a:rPr kumimoji="0" sz="1700" b="0" i="0" u="none" strike="noStrike" kern="1200" cap="none" spc="125" normalizeH="0" baseline="0" noProof="0" dirty="0">
                <a:ln>
                  <a:noFill/>
                </a:ln>
                <a:solidFill>
                  <a:prstClr val="black"/>
                </a:solidFill>
                <a:effectLst/>
                <a:uLnTx/>
                <a:uFillTx/>
                <a:latin typeface="Times New Roman"/>
                <a:ea typeface="+mn-ea"/>
                <a:cs typeface="Times New Roman"/>
              </a:rPr>
              <a:t>11</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0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0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25"/>
              </a:spcBef>
              <a:spcAft>
                <a:spcPts val="0"/>
              </a:spcAft>
              <a:buClrTx/>
              <a:buSzTx/>
              <a:buFontTx/>
              <a:buNone/>
              <a:tabLst/>
              <a:defRPr/>
            </a:pPr>
            <a:endParaRPr kumimoji="0" sz="295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tab pos="1232535" algn="l"/>
                <a:tab pos="1675130" algn="l"/>
                <a:tab pos="2900045" algn="l"/>
              </a:tabLst>
              <a:defRPr/>
            </a:pPr>
            <a:r>
              <a:rPr kumimoji="0" sz="2550" b="1" i="0" u="none" strike="noStrike" kern="1200" cap="none" spc="359" normalizeH="0" baseline="19607" noProof="0" dirty="0">
                <a:ln>
                  <a:noFill/>
                </a:ln>
                <a:solidFill>
                  <a:prstClr val="black"/>
                </a:solidFill>
                <a:effectLst/>
                <a:uLnTx/>
                <a:uFillTx/>
                <a:latin typeface="Times New Roman"/>
                <a:ea typeface="+mn-ea"/>
                <a:cs typeface="Times New Roman"/>
              </a:rPr>
              <a:t>D</a:t>
            </a:r>
            <a:r>
              <a:rPr kumimoji="0" sz="1425" b="1" i="0" u="none" strike="noStrike" kern="1200" cap="none" spc="142" normalizeH="0" baseline="8771" noProof="0" dirty="0">
                <a:ln>
                  <a:noFill/>
                </a:ln>
                <a:solidFill>
                  <a:prstClr val="black"/>
                </a:solidFill>
                <a:effectLst/>
                <a:uLnTx/>
                <a:uFillTx/>
                <a:latin typeface="Times New Roman"/>
                <a:ea typeface="+mn-ea"/>
                <a:cs typeface="Times New Roman"/>
              </a:rPr>
              <a:t>0</a:t>
            </a:r>
            <a:r>
              <a:rPr kumimoji="0" sz="1425" b="1" i="0" u="none" strike="noStrike" kern="1200" cap="none" spc="0" normalizeH="0" baseline="8771" noProof="0" dirty="0">
                <a:ln>
                  <a:noFill/>
                </a:ln>
                <a:solidFill>
                  <a:prstClr val="black"/>
                </a:solidFill>
                <a:effectLst/>
                <a:uLnTx/>
                <a:uFillTx/>
                <a:latin typeface="Times New Roman"/>
                <a:ea typeface="+mn-ea"/>
                <a:cs typeface="Times New Roman"/>
              </a:rPr>
              <a:t>	</a:t>
            </a:r>
            <a:r>
              <a:rPr kumimoji="0" sz="2250" b="1" i="0" u="none" strike="noStrike" kern="1200" cap="none" spc="97" normalizeH="0" baseline="9259" noProof="0" dirty="0">
                <a:ln>
                  <a:noFill/>
                </a:ln>
                <a:solidFill>
                  <a:prstClr val="black"/>
                </a:solidFill>
                <a:effectLst/>
                <a:uLnTx/>
                <a:uFillTx/>
                <a:latin typeface="Times New Roman"/>
                <a:ea typeface="+mn-ea"/>
                <a:cs typeface="Times New Roman"/>
              </a:rPr>
              <a:t>D</a:t>
            </a:r>
            <a:r>
              <a:rPr kumimoji="0" sz="1275" b="1" i="0" u="none" strike="noStrike" kern="1200" cap="none" spc="120" normalizeH="0" baseline="-9803" noProof="0" dirty="0">
                <a:ln>
                  <a:noFill/>
                </a:ln>
                <a:solidFill>
                  <a:prstClr val="black"/>
                </a:solidFill>
                <a:effectLst/>
                <a:uLnTx/>
                <a:uFillTx/>
                <a:latin typeface="Times New Roman"/>
                <a:ea typeface="+mn-ea"/>
                <a:cs typeface="Times New Roman"/>
              </a:rPr>
              <a:t>0</a:t>
            </a:r>
            <a:r>
              <a:rPr kumimoji="0" sz="1275" b="1" i="0" u="none" strike="noStrike" kern="1200" cap="none" spc="0" normalizeH="0" baseline="-9803" noProof="0" dirty="0">
                <a:ln>
                  <a:noFill/>
                </a:ln>
                <a:solidFill>
                  <a:prstClr val="black"/>
                </a:solidFill>
                <a:effectLst/>
                <a:uLnTx/>
                <a:uFillTx/>
                <a:latin typeface="Times New Roman"/>
                <a:ea typeface="+mn-ea"/>
                <a:cs typeface="Times New Roman"/>
              </a:rPr>
              <a:t>	</a:t>
            </a:r>
            <a:r>
              <a:rPr kumimoji="0" sz="2550" b="1" i="0" u="none" strike="noStrike" kern="1200" cap="none" spc="292" normalizeH="0" baseline="14705" noProof="0" dirty="0">
                <a:ln>
                  <a:noFill/>
                </a:ln>
                <a:solidFill>
                  <a:prstClr val="black"/>
                </a:solidFill>
                <a:effectLst/>
                <a:uLnTx/>
                <a:uFillTx/>
                <a:latin typeface="Times New Roman"/>
                <a:ea typeface="+mn-ea"/>
                <a:cs typeface="Times New Roman"/>
              </a:rPr>
              <a:t>D</a:t>
            </a:r>
            <a:r>
              <a:rPr kumimoji="0" sz="950" b="1" i="0" u="none" strike="noStrike" kern="1200" cap="none" spc="90" normalizeH="0" baseline="0" noProof="0" dirty="0">
                <a:ln>
                  <a:noFill/>
                </a:ln>
                <a:solidFill>
                  <a:prstClr val="black"/>
                </a:solidFill>
                <a:effectLst/>
                <a:uLnTx/>
                <a:uFillTx/>
                <a:latin typeface="Times New Roman"/>
                <a:ea typeface="+mn-ea"/>
                <a:cs typeface="Times New Roman"/>
              </a:rPr>
              <a:t>1</a:t>
            </a:r>
            <a:r>
              <a:rPr kumimoji="0" sz="950" b="1" i="0" u="none" strike="noStrike" kern="1200" cap="none" spc="0" normalizeH="0" baseline="0" noProof="0" dirty="0">
                <a:ln>
                  <a:noFill/>
                </a:ln>
                <a:solidFill>
                  <a:prstClr val="black"/>
                </a:solidFill>
                <a:effectLst/>
                <a:uLnTx/>
                <a:uFillTx/>
                <a:latin typeface="Times New Roman"/>
                <a:ea typeface="+mn-ea"/>
                <a:cs typeface="Times New Roman"/>
              </a:rPr>
              <a:t>	</a:t>
            </a:r>
            <a:r>
              <a:rPr kumimoji="0" sz="2550" b="1" i="0" u="none" strike="noStrike" kern="1200" cap="none" spc="292" normalizeH="0" baseline="1633" noProof="0" dirty="0">
                <a:ln>
                  <a:noFill/>
                </a:ln>
                <a:solidFill>
                  <a:prstClr val="black"/>
                </a:solidFill>
                <a:effectLst/>
                <a:uLnTx/>
                <a:uFillTx/>
                <a:latin typeface="Times New Roman"/>
                <a:ea typeface="+mn-ea"/>
                <a:cs typeface="Times New Roman"/>
              </a:rPr>
              <a:t>D</a:t>
            </a:r>
            <a:r>
              <a:rPr kumimoji="0" sz="1425" b="1" i="0" u="none" strike="noStrike" kern="1200" cap="none" spc="135" normalizeH="0" baseline="-23391" noProof="0" dirty="0">
                <a:ln>
                  <a:noFill/>
                </a:ln>
                <a:solidFill>
                  <a:prstClr val="black"/>
                </a:solidFill>
                <a:effectLst/>
                <a:uLnTx/>
                <a:uFillTx/>
                <a:latin typeface="Times New Roman"/>
                <a:ea typeface="+mn-ea"/>
                <a:cs typeface="Times New Roman"/>
              </a:rPr>
              <a:t>1</a:t>
            </a:r>
            <a:endParaRPr kumimoji="0" sz="1425" b="0" i="0" u="none" strike="noStrike" kern="1200" cap="none" spc="0" normalizeH="0" baseline="-23391"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30"/>
              </a:spcBef>
              <a:spcAft>
                <a:spcPts val="0"/>
              </a:spcAft>
              <a:buClrTx/>
              <a:buSzTx/>
              <a:buFontTx/>
              <a:buNone/>
              <a:tabLst/>
              <a:defRPr/>
            </a:pPr>
            <a:endParaRPr kumimoji="0" sz="2500" b="0" i="0" u="none" strike="noStrike" kern="1200" cap="none" spc="0" normalizeH="0" baseline="0" noProof="0">
              <a:ln>
                <a:noFill/>
              </a:ln>
              <a:solidFill>
                <a:prstClr val="black"/>
              </a:solidFill>
              <a:effectLst/>
              <a:uLnTx/>
              <a:uFillTx/>
              <a:latin typeface="Times New Roman"/>
              <a:ea typeface="+mn-ea"/>
              <a:cs typeface="Times New Roman"/>
            </a:endParaRPr>
          </a:p>
          <a:p>
            <a:pPr marL="130175" marR="0" lvl="0" indent="0" algn="l" defTabSz="914400" rtl="0" eaLnBrk="1" fontAlgn="auto" latinLnBrk="0" hangingPunct="1">
              <a:lnSpc>
                <a:spcPct val="100000"/>
              </a:lnSpc>
              <a:spcBef>
                <a:spcPts val="5"/>
              </a:spcBef>
              <a:spcAft>
                <a:spcPts val="0"/>
              </a:spcAft>
              <a:buClrTx/>
              <a:buSzTx/>
              <a:buFontTx/>
              <a:buNone/>
              <a:tabLst>
                <a:tab pos="1830070" algn="l"/>
              </a:tabLst>
              <a:defRPr/>
            </a:pPr>
            <a:r>
              <a:rPr kumimoji="0" sz="1500" b="0" i="0" u="none" strike="noStrike" kern="1200" cap="none" spc="110" normalizeH="0" baseline="0" noProof="0" dirty="0">
                <a:ln>
                  <a:noFill/>
                </a:ln>
                <a:solidFill>
                  <a:prstClr val="black"/>
                </a:solidFill>
                <a:effectLst/>
                <a:uLnTx/>
                <a:uFillTx/>
                <a:latin typeface="Arial MT"/>
                <a:ea typeface="+mn-ea"/>
                <a:cs typeface="Arial MT"/>
              </a:rPr>
              <a:t>.6I	</a:t>
            </a:r>
            <a:r>
              <a:rPr kumimoji="0" sz="1500" b="0" i="0" u="none" strike="noStrike" kern="1200" cap="none" spc="125" normalizeH="0" baseline="0" noProof="0" dirty="0">
                <a:ln>
                  <a:noFill/>
                </a:ln>
                <a:solidFill>
                  <a:prstClr val="black"/>
                </a:solidFill>
                <a:effectLst/>
                <a:uLnTx/>
                <a:uFillTx/>
                <a:latin typeface="Arial MT"/>
                <a:ea typeface="+mn-ea"/>
                <a:cs typeface="Arial MT"/>
              </a:rPr>
              <a:t>0.4I</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grpSp>
        <p:nvGrpSpPr>
          <p:cNvPr id="24" name="object 24"/>
          <p:cNvGrpSpPr/>
          <p:nvPr/>
        </p:nvGrpSpPr>
        <p:grpSpPr>
          <a:xfrm>
            <a:off x="7361935" y="2035232"/>
            <a:ext cx="2278380" cy="827405"/>
            <a:chOff x="7361935" y="2035232"/>
            <a:chExt cx="2278380" cy="827405"/>
          </a:xfrm>
        </p:grpSpPr>
        <p:sp>
          <p:nvSpPr>
            <p:cNvPr id="25" name="object 25"/>
            <p:cNvSpPr/>
            <p:nvPr/>
          </p:nvSpPr>
          <p:spPr>
            <a:xfrm>
              <a:off x="7370825" y="2533650"/>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6" name="object 26"/>
            <p:cNvPicPr/>
            <p:nvPr/>
          </p:nvPicPr>
          <p:blipFill>
            <a:blip r:embed="rId3" cstate="print"/>
            <a:stretch>
              <a:fillRect/>
            </a:stretch>
          </p:blipFill>
          <p:spPr>
            <a:xfrm>
              <a:off x="7770044" y="2035232"/>
              <a:ext cx="113677" cy="87007"/>
            </a:xfrm>
            <a:prstGeom prst="rect">
              <a:avLst/>
            </a:prstGeom>
          </p:spPr>
        </p:pic>
        <p:sp>
          <p:nvSpPr>
            <p:cNvPr id="27" name="object 27"/>
            <p:cNvSpPr/>
            <p:nvPr/>
          </p:nvSpPr>
          <p:spPr>
            <a:xfrm>
              <a:off x="7781543" y="2077212"/>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bject 28"/>
            <p:cNvSpPr/>
            <p:nvPr/>
          </p:nvSpPr>
          <p:spPr>
            <a:xfrm>
              <a:off x="8581746" y="2856728"/>
              <a:ext cx="256540" cy="0"/>
            </a:xfrm>
            <a:custGeom>
              <a:avLst/>
              <a:gdLst/>
              <a:ahLst/>
              <a:cxnLst/>
              <a:rect l="l" t="t" r="r" b="b"/>
              <a:pathLst>
                <a:path w="256540">
                  <a:moveTo>
                    <a:pt x="0" y="0"/>
                  </a:moveTo>
                  <a:lnTo>
                    <a:pt x="256035" y="0"/>
                  </a:lnTo>
                </a:path>
              </a:pathLst>
            </a:custGeom>
            <a:ln w="1063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object 29"/>
          <p:cNvGrpSpPr/>
          <p:nvPr/>
        </p:nvGrpSpPr>
        <p:grpSpPr>
          <a:xfrm>
            <a:off x="7172197" y="1252982"/>
            <a:ext cx="2708910" cy="858519"/>
            <a:chOff x="7172197" y="1252982"/>
            <a:chExt cx="2708910" cy="858519"/>
          </a:xfrm>
        </p:grpSpPr>
        <p:sp>
          <p:nvSpPr>
            <p:cNvPr id="30" name="object 30"/>
            <p:cNvSpPr/>
            <p:nvPr/>
          </p:nvSpPr>
          <p:spPr>
            <a:xfrm>
              <a:off x="9612629" y="2077212"/>
              <a:ext cx="159385" cy="0"/>
            </a:xfrm>
            <a:custGeom>
              <a:avLst/>
              <a:gdLst/>
              <a:ahLst/>
              <a:cxnLst/>
              <a:rect l="l" t="t" r="r" b="b"/>
              <a:pathLst>
                <a:path w="159384">
                  <a:moveTo>
                    <a:pt x="0" y="0"/>
                  </a:moveTo>
                  <a:lnTo>
                    <a:pt x="159258"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p:nvPr/>
          </p:nvSpPr>
          <p:spPr>
            <a:xfrm>
              <a:off x="9761981" y="2042922"/>
              <a:ext cx="119380" cy="68580"/>
            </a:xfrm>
            <a:custGeom>
              <a:avLst/>
              <a:gdLst/>
              <a:ahLst/>
              <a:cxnLst/>
              <a:rect l="l" t="t" r="r" b="b"/>
              <a:pathLst>
                <a:path w="119379" h="68580">
                  <a:moveTo>
                    <a:pt x="118872" y="34290"/>
                  </a:moveTo>
                  <a:lnTo>
                    <a:pt x="0" y="0"/>
                  </a:lnTo>
                  <a:lnTo>
                    <a:pt x="0" y="68580"/>
                  </a:lnTo>
                  <a:lnTo>
                    <a:pt x="118872" y="3429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7181087" y="1261872"/>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object 33"/>
            <p:cNvSpPr/>
            <p:nvPr/>
          </p:nvSpPr>
          <p:spPr>
            <a:xfrm>
              <a:off x="7351013" y="1261872"/>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7633715" y="1261872"/>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7802879" y="1261872"/>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6" name="object 36"/>
          <p:cNvSpPr txBox="1"/>
          <p:nvPr/>
        </p:nvSpPr>
        <p:spPr>
          <a:xfrm>
            <a:off x="6958076" y="1442520"/>
            <a:ext cx="18923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37" name="object 37"/>
          <p:cNvSpPr txBox="1"/>
          <p:nvPr/>
        </p:nvSpPr>
        <p:spPr>
          <a:xfrm>
            <a:off x="8014134" y="1442520"/>
            <a:ext cx="18923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grpSp>
        <p:nvGrpSpPr>
          <p:cNvPr id="38" name="object 38"/>
          <p:cNvGrpSpPr/>
          <p:nvPr/>
        </p:nvGrpSpPr>
        <p:grpSpPr>
          <a:xfrm>
            <a:off x="6965442" y="1348397"/>
            <a:ext cx="3077210" cy="2777490"/>
            <a:chOff x="6965442" y="1348397"/>
            <a:chExt cx="3077210" cy="2777490"/>
          </a:xfrm>
        </p:grpSpPr>
        <p:sp>
          <p:nvSpPr>
            <p:cNvPr id="39" name="object 39"/>
            <p:cNvSpPr/>
            <p:nvPr/>
          </p:nvSpPr>
          <p:spPr>
            <a:xfrm>
              <a:off x="7812786" y="2966465"/>
              <a:ext cx="216535" cy="372110"/>
            </a:xfrm>
            <a:custGeom>
              <a:avLst/>
              <a:gdLst/>
              <a:ahLst/>
              <a:cxnLst/>
              <a:rect l="l" t="t" r="r" b="b"/>
              <a:pathLst>
                <a:path w="216534" h="372110">
                  <a:moveTo>
                    <a:pt x="0" y="371856"/>
                  </a:moveTo>
                  <a:lnTo>
                    <a:pt x="0" y="185928"/>
                  </a:lnTo>
                  <a:lnTo>
                    <a:pt x="216407"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40"/>
            <p:cNvSpPr/>
            <p:nvPr/>
          </p:nvSpPr>
          <p:spPr>
            <a:xfrm>
              <a:off x="9612630" y="2076449"/>
              <a:ext cx="3810" cy="704215"/>
            </a:xfrm>
            <a:custGeom>
              <a:avLst/>
              <a:gdLst/>
              <a:ahLst/>
              <a:cxnLst/>
              <a:rect l="l" t="t" r="r" b="b"/>
              <a:pathLst>
                <a:path w="3809" h="704214">
                  <a:moveTo>
                    <a:pt x="3809" y="0"/>
                  </a:moveTo>
                  <a:lnTo>
                    <a:pt x="0" y="704088"/>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9537192" y="2077211"/>
              <a:ext cx="271780" cy="0"/>
            </a:xfrm>
            <a:custGeom>
              <a:avLst/>
              <a:gdLst/>
              <a:ahLst/>
              <a:cxnLst/>
              <a:rect l="l" t="t" r="r" b="b"/>
              <a:pathLst>
                <a:path w="271779">
                  <a:moveTo>
                    <a:pt x="0" y="0"/>
                  </a:moveTo>
                  <a:lnTo>
                    <a:pt x="2712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9160002" y="2533650"/>
              <a:ext cx="829310" cy="0"/>
            </a:xfrm>
            <a:custGeom>
              <a:avLst/>
              <a:gdLst/>
              <a:ahLst/>
              <a:cxnLst/>
              <a:rect l="l" t="t" r="r" b="b"/>
              <a:pathLst>
                <a:path w="829309">
                  <a:moveTo>
                    <a:pt x="0" y="0"/>
                  </a:moveTo>
                  <a:lnTo>
                    <a:pt x="82905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9754362" y="2533650"/>
              <a:ext cx="159385" cy="0"/>
            </a:xfrm>
            <a:custGeom>
              <a:avLst/>
              <a:gdLst/>
              <a:ahLst/>
              <a:cxnLst/>
              <a:rect l="l" t="t" r="r" b="b"/>
              <a:pathLst>
                <a:path w="159384">
                  <a:moveTo>
                    <a:pt x="159257" y="0"/>
                  </a:moveTo>
                  <a:lnTo>
                    <a:pt x="0"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9645396" y="2499359"/>
              <a:ext cx="119380" cy="68580"/>
            </a:xfrm>
            <a:custGeom>
              <a:avLst/>
              <a:gdLst/>
              <a:ahLst/>
              <a:cxnLst/>
              <a:rect l="l" t="t" r="r" b="b"/>
              <a:pathLst>
                <a:path w="119379" h="68580">
                  <a:moveTo>
                    <a:pt x="118872" y="68580"/>
                  </a:moveTo>
                  <a:lnTo>
                    <a:pt x="118872" y="0"/>
                  </a:lnTo>
                  <a:lnTo>
                    <a:pt x="0" y="34290"/>
                  </a:lnTo>
                  <a:lnTo>
                    <a:pt x="118872" y="6858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5" name="object 45"/>
            <p:cNvPicPr/>
            <p:nvPr/>
          </p:nvPicPr>
          <p:blipFill>
            <a:blip r:embed="rId4" cstate="print"/>
            <a:stretch>
              <a:fillRect/>
            </a:stretch>
          </p:blipFill>
          <p:spPr>
            <a:xfrm>
              <a:off x="7774616" y="2780537"/>
              <a:ext cx="77101" cy="224097"/>
            </a:xfrm>
            <a:prstGeom prst="rect">
              <a:avLst/>
            </a:prstGeom>
          </p:spPr>
        </p:pic>
        <p:pic>
          <p:nvPicPr>
            <p:cNvPr id="46" name="object 46"/>
            <p:cNvPicPr/>
            <p:nvPr/>
          </p:nvPicPr>
          <p:blipFill>
            <a:blip r:embed="rId5" cstate="print"/>
            <a:stretch>
              <a:fillRect/>
            </a:stretch>
          </p:blipFill>
          <p:spPr>
            <a:xfrm>
              <a:off x="7774616" y="3114224"/>
              <a:ext cx="77101" cy="76339"/>
            </a:xfrm>
            <a:prstGeom prst="rect">
              <a:avLst/>
            </a:prstGeom>
          </p:spPr>
        </p:pic>
        <p:sp>
          <p:nvSpPr>
            <p:cNvPr id="47" name="object 47"/>
            <p:cNvSpPr/>
            <p:nvPr/>
          </p:nvSpPr>
          <p:spPr>
            <a:xfrm>
              <a:off x="7351014" y="2741675"/>
              <a:ext cx="0" cy="596900"/>
            </a:xfrm>
            <a:custGeom>
              <a:avLst/>
              <a:gdLst/>
              <a:ahLst/>
              <a:cxnLst/>
              <a:rect l="l" t="t" r="r" b="b"/>
              <a:pathLst>
                <a:path h="596900">
                  <a:moveTo>
                    <a:pt x="0" y="0"/>
                  </a:moveTo>
                  <a:lnTo>
                    <a:pt x="0" y="596646"/>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object 48"/>
            <p:cNvPicPr/>
            <p:nvPr/>
          </p:nvPicPr>
          <p:blipFill>
            <a:blip r:embed="rId6" cstate="print"/>
            <a:stretch>
              <a:fillRect/>
            </a:stretch>
          </p:blipFill>
          <p:spPr>
            <a:xfrm>
              <a:off x="7305986" y="2900102"/>
              <a:ext cx="90055" cy="80911"/>
            </a:xfrm>
            <a:prstGeom prst="rect">
              <a:avLst/>
            </a:prstGeom>
          </p:spPr>
        </p:pic>
        <p:pic>
          <p:nvPicPr>
            <p:cNvPr id="49" name="object 49"/>
            <p:cNvPicPr/>
            <p:nvPr/>
          </p:nvPicPr>
          <p:blipFill>
            <a:blip r:embed="rId6" cstate="print"/>
            <a:stretch>
              <a:fillRect/>
            </a:stretch>
          </p:blipFill>
          <p:spPr>
            <a:xfrm>
              <a:off x="7305986" y="3098984"/>
              <a:ext cx="90055" cy="80911"/>
            </a:xfrm>
            <a:prstGeom prst="rect">
              <a:avLst/>
            </a:prstGeom>
          </p:spPr>
        </p:pic>
        <p:sp>
          <p:nvSpPr>
            <p:cNvPr id="50" name="object 50"/>
            <p:cNvSpPr/>
            <p:nvPr/>
          </p:nvSpPr>
          <p:spPr>
            <a:xfrm>
              <a:off x="9163050" y="3358133"/>
              <a:ext cx="449580" cy="0"/>
            </a:xfrm>
            <a:custGeom>
              <a:avLst/>
              <a:gdLst/>
              <a:ahLst/>
              <a:cxnLst/>
              <a:rect l="l" t="t" r="r" b="b"/>
              <a:pathLst>
                <a:path w="449579">
                  <a:moveTo>
                    <a:pt x="0" y="0"/>
                  </a:moveTo>
                  <a:lnTo>
                    <a:pt x="44958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bject 51"/>
            <p:cNvSpPr/>
            <p:nvPr/>
          </p:nvSpPr>
          <p:spPr>
            <a:xfrm>
              <a:off x="9236964" y="3553205"/>
              <a:ext cx="298450" cy="288925"/>
            </a:xfrm>
            <a:custGeom>
              <a:avLst/>
              <a:gdLst/>
              <a:ahLst/>
              <a:cxnLst/>
              <a:rect l="l" t="t" r="r" b="b"/>
              <a:pathLst>
                <a:path w="298450" h="288925">
                  <a:moveTo>
                    <a:pt x="0" y="144779"/>
                  </a:moveTo>
                  <a:lnTo>
                    <a:pt x="7632" y="98999"/>
                  </a:lnTo>
                  <a:lnTo>
                    <a:pt x="28870" y="59253"/>
                  </a:lnTo>
                  <a:lnTo>
                    <a:pt x="61228" y="27919"/>
                  </a:lnTo>
                  <a:lnTo>
                    <a:pt x="102217" y="7376"/>
                  </a:lnTo>
                  <a:lnTo>
                    <a:pt x="149352" y="0"/>
                  </a:lnTo>
                  <a:lnTo>
                    <a:pt x="196407" y="7376"/>
                  </a:lnTo>
                  <a:lnTo>
                    <a:pt x="237207" y="27919"/>
                  </a:lnTo>
                  <a:lnTo>
                    <a:pt x="269339" y="59253"/>
                  </a:lnTo>
                  <a:lnTo>
                    <a:pt x="290389" y="98999"/>
                  </a:lnTo>
                  <a:lnTo>
                    <a:pt x="297942" y="144779"/>
                  </a:lnTo>
                  <a:lnTo>
                    <a:pt x="290389" y="190481"/>
                  </a:lnTo>
                  <a:lnTo>
                    <a:pt x="269339" y="230038"/>
                  </a:lnTo>
                  <a:lnTo>
                    <a:pt x="237207" y="261146"/>
                  </a:lnTo>
                  <a:lnTo>
                    <a:pt x="196407" y="281501"/>
                  </a:lnTo>
                  <a:lnTo>
                    <a:pt x="149352" y="288797"/>
                  </a:lnTo>
                  <a:lnTo>
                    <a:pt x="102217" y="281501"/>
                  </a:lnTo>
                  <a:lnTo>
                    <a:pt x="61228" y="261146"/>
                  </a:lnTo>
                  <a:lnTo>
                    <a:pt x="28870" y="230038"/>
                  </a:lnTo>
                  <a:lnTo>
                    <a:pt x="7632" y="190481"/>
                  </a:lnTo>
                  <a:lnTo>
                    <a:pt x="0"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bject 52"/>
            <p:cNvSpPr/>
            <p:nvPr/>
          </p:nvSpPr>
          <p:spPr>
            <a:xfrm>
              <a:off x="9386316" y="3481577"/>
              <a:ext cx="0" cy="234315"/>
            </a:xfrm>
            <a:custGeom>
              <a:avLst/>
              <a:gdLst/>
              <a:ahLst/>
              <a:cxnLst/>
              <a:rect l="l" t="t" r="r" b="b"/>
              <a:pathLst>
                <a:path h="234314">
                  <a:moveTo>
                    <a:pt x="0"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bject 53"/>
            <p:cNvSpPr/>
            <p:nvPr/>
          </p:nvSpPr>
          <p:spPr>
            <a:xfrm>
              <a:off x="9332214" y="3704081"/>
              <a:ext cx="107950" cy="138430"/>
            </a:xfrm>
            <a:custGeom>
              <a:avLst/>
              <a:gdLst/>
              <a:ahLst/>
              <a:cxnLst/>
              <a:rect l="l" t="t" r="r" b="b"/>
              <a:pathLst>
                <a:path w="107950" h="138429">
                  <a:moveTo>
                    <a:pt x="107442" y="0"/>
                  </a:moveTo>
                  <a:lnTo>
                    <a:pt x="0" y="0"/>
                  </a:lnTo>
                  <a:lnTo>
                    <a:pt x="54102" y="137922"/>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bject 54"/>
            <p:cNvSpPr/>
            <p:nvPr/>
          </p:nvSpPr>
          <p:spPr>
            <a:xfrm>
              <a:off x="9384792" y="3842003"/>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bject 55"/>
            <p:cNvSpPr/>
            <p:nvPr/>
          </p:nvSpPr>
          <p:spPr>
            <a:xfrm>
              <a:off x="9266682" y="4015739"/>
              <a:ext cx="235585" cy="0"/>
            </a:xfrm>
            <a:custGeom>
              <a:avLst/>
              <a:gdLst/>
              <a:ahLst/>
              <a:cxnLst/>
              <a:rect l="l" t="t" r="r" b="b"/>
              <a:pathLst>
                <a:path w="235584">
                  <a:moveTo>
                    <a:pt x="235457"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object 56"/>
            <p:cNvSpPr/>
            <p:nvPr/>
          </p:nvSpPr>
          <p:spPr>
            <a:xfrm>
              <a:off x="9306306" y="4066031"/>
              <a:ext cx="157480" cy="0"/>
            </a:xfrm>
            <a:custGeom>
              <a:avLst/>
              <a:gdLst/>
              <a:ahLst/>
              <a:cxnLst/>
              <a:rect l="l" t="t" r="r" b="b"/>
              <a:pathLst>
                <a:path w="157479">
                  <a:moveTo>
                    <a:pt x="156972"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9345168" y="4117086"/>
              <a:ext cx="78740" cy="0"/>
            </a:xfrm>
            <a:custGeom>
              <a:avLst/>
              <a:gdLst/>
              <a:ahLst/>
              <a:cxnLst/>
              <a:rect l="l" t="t" r="r" b="b"/>
              <a:pathLst>
                <a:path w="78740">
                  <a:moveTo>
                    <a:pt x="78485"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9384792" y="3914393"/>
              <a:ext cx="0" cy="101600"/>
            </a:xfrm>
            <a:custGeom>
              <a:avLst/>
              <a:gdLst/>
              <a:ahLst/>
              <a:cxnLst/>
              <a:rect l="l" t="t" r="r" b="b"/>
              <a:pathLst>
                <a:path h="101600">
                  <a:moveTo>
                    <a:pt x="0" y="10134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9386316" y="3366515"/>
              <a:ext cx="0" cy="120650"/>
            </a:xfrm>
            <a:custGeom>
              <a:avLst/>
              <a:gdLst/>
              <a:ahLst/>
              <a:cxnLst/>
              <a:rect l="l" t="t" r="r" b="b"/>
              <a:pathLst>
                <a:path h="120650">
                  <a:moveTo>
                    <a:pt x="0" y="12039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bject 60"/>
            <p:cNvSpPr/>
            <p:nvPr/>
          </p:nvSpPr>
          <p:spPr>
            <a:xfrm>
              <a:off x="8933688" y="2968751"/>
              <a:ext cx="229870" cy="389890"/>
            </a:xfrm>
            <a:custGeom>
              <a:avLst/>
              <a:gdLst/>
              <a:ahLst/>
              <a:cxnLst/>
              <a:rect l="l" t="t" r="r" b="b"/>
              <a:pathLst>
                <a:path w="229870" h="389889">
                  <a:moveTo>
                    <a:pt x="229361" y="389382"/>
                  </a:moveTo>
                  <a:lnTo>
                    <a:pt x="229361" y="195072"/>
                  </a:ln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1" name="object 61"/>
            <p:cNvPicPr/>
            <p:nvPr/>
          </p:nvPicPr>
          <p:blipFill>
            <a:blip r:embed="rId7" cstate="print"/>
            <a:stretch>
              <a:fillRect/>
            </a:stretch>
          </p:blipFill>
          <p:spPr>
            <a:xfrm>
              <a:off x="9122594" y="2774441"/>
              <a:ext cx="80911" cy="234003"/>
            </a:xfrm>
            <a:prstGeom prst="rect">
              <a:avLst/>
            </a:prstGeom>
          </p:spPr>
        </p:pic>
        <p:pic>
          <p:nvPicPr>
            <p:cNvPr id="62" name="object 62"/>
            <p:cNvPicPr/>
            <p:nvPr/>
          </p:nvPicPr>
          <p:blipFill>
            <a:blip r:embed="rId8" cstate="print"/>
            <a:stretch>
              <a:fillRect/>
            </a:stretch>
          </p:blipFill>
          <p:spPr>
            <a:xfrm>
              <a:off x="9122594" y="3124130"/>
              <a:ext cx="80911" cy="78625"/>
            </a:xfrm>
            <a:prstGeom prst="rect">
              <a:avLst/>
            </a:prstGeom>
          </p:spPr>
        </p:pic>
        <p:sp>
          <p:nvSpPr>
            <p:cNvPr id="63" name="object 63"/>
            <p:cNvSpPr/>
            <p:nvPr/>
          </p:nvSpPr>
          <p:spPr>
            <a:xfrm>
              <a:off x="9612630" y="2774441"/>
              <a:ext cx="0" cy="584200"/>
            </a:xfrm>
            <a:custGeom>
              <a:avLst/>
              <a:gdLst/>
              <a:ahLst/>
              <a:cxnLst/>
              <a:rect l="l" t="t" r="r" b="b"/>
              <a:pathLst>
                <a:path h="584200">
                  <a:moveTo>
                    <a:pt x="0" y="0"/>
                  </a:moveTo>
                  <a:lnTo>
                    <a:pt x="0" y="583692"/>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4" name="object 64"/>
            <p:cNvPicPr/>
            <p:nvPr/>
          </p:nvPicPr>
          <p:blipFill>
            <a:blip r:embed="rId9" cstate="print"/>
            <a:stretch>
              <a:fillRect/>
            </a:stretch>
          </p:blipFill>
          <p:spPr>
            <a:xfrm>
              <a:off x="9567602" y="2929820"/>
              <a:ext cx="90055" cy="78625"/>
            </a:xfrm>
            <a:prstGeom prst="rect">
              <a:avLst/>
            </a:prstGeom>
          </p:spPr>
        </p:pic>
        <p:pic>
          <p:nvPicPr>
            <p:cNvPr id="65" name="object 65"/>
            <p:cNvPicPr/>
            <p:nvPr/>
          </p:nvPicPr>
          <p:blipFill>
            <a:blip r:embed="rId10" cstate="print"/>
            <a:stretch>
              <a:fillRect/>
            </a:stretch>
          </p:blipFill>
          <p:spPr>
            <a:xfrm>
              <a:off x="9567602" y="3124130"/>
              <a:ext cx="90055" cy="78625"/>
            </a:xfrm>
            <a:prstGeom prst="rect">
              <a:avLst/>
            </a:prstGeom>
          </p:spPr>
        </p:pic>
        <p:sp>
          <p:nvSpPr>
            <p:cNvPr id="66" name="object 66"/>
            <p:cNvSpPr/>
            <p:nvPr/>
          </p:nvSpPr>
          <p:spPr>
            <a:xfrm>
              <a:off x="9160002" y="2533650"/>
              <a:ext cx="3175" cy="350520"/>
            </a:xfrm>
            <a:custGeom>
              <a:avLst/>
              <a:gdLst/>
              <a:ahLst/>
              <a:cxnLst/>
              <a:rect l="l" t="t" r="r" b="b"/>
              <a:pathLst>
                <a:path w="3175" h="350519">
                  <a:moveTo>
                    <a:pt x="0" y="0"/>
                  </a:moveTo>
                  <a:lnTo>
                    <a:pt x="3048" y="35052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object 67"/>
            <p:cNvPicPr/>
            <p:nvPr/>
          </p:nvPicPr>
          <p:blipFill>
            <a:blip r:embed="rId11" cstate="print"/>
            <a:stretch>
              <a:fillRect/>
            </a:stretch>
          </p:blipFill>
          <p:spPr>
            <a:xfrm>
              <a:off x="9102782" y="2489384"/>
              <a:ext cx="114439" cy="87007"/>
            </a:xfrm>
            <a:prstGeom prst="rect">
              <a:avLst/>
            </a:prstGeom>
          </p:spPr>
        </p:pic>
        <p:pic>
          <p:nvPicPr>
            <p:cNvPr id="68" name="object 68"/>
            <p:cNvPicPr/>
            <p:nvPr/>
          </p:nvPicPr>
          <p:blipFill>
            <a:blip r:embed="rId12" cstate="print"/>
            <a:stretch>
              <a:fillRect/>
            </a:stretch>
          </p:blipFill>
          <p:spPr>
            <a:xfrm>
              <a:off x="9555410" y="2035232"/>
              <a:ext cx="113677" cy="87007"/>
            </a:xfrm>
            <a:prstGeom prst="rect">
              <a:avLst/>
            </a:prstGeom>
          </p:spPr>
        </p:pic>
        <p:sp>
          <p:nvSpPr>
            <p:cNvPr id="69" name="object 69"/>
            <p:cNvSpPr/>
            <p:nvPr/>
          </p:nvSpPr>
          <p:spPr>
            <a:xfrm>
              <a:off x="7200138" y="1355597"/>
              <a:ext cx="300990" cy="478155"/>
            </a:xfrm>
            <a:custGeom>
              <a:avLst/>
              <a:gdLst/>
              <a:ahLst/>
              <a:cxnLst/>
              <a:rect l="l" t="t" r="r" b="b"/>
              <a:pathLst>
                <a:path w="300990" h="478155">
                  <a:moveTo>
                    <a:pt x="150875" y="0"/>
                  </a:moveTo>
                  <a:lnTo>
                    <a:pt x="0" y="40386"/>
                  </a:lnTo>
                  <a:lnTo>
                    <a:pt x="300989" y="119634"/>
                  </a:lnTo>
                  <a:lnTo>
                    <a:pt x="0" y="198882"/>
                  </a:lnTo>
                  <a:lnTo>
                    <a:pt x="300989" y="278892"/>
                  </a:lnTo>
                  <a:lnTo>
                    <a:pt x="0" y="358140"/>
                  </a:lnTo>
                  <a:lnTo>
                    <a:pt x="300989" y="437388"/>
                  </a:lnTo>
                  <a:lnTo>
                    <a:pt x="150875" y="477773"/>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p:nvPr/>
          </p:nvSpPr>
          <p:spPr>
            <a:xfrm>
              <a:off x="7652004" y="1355597"/>
              <a:ext cx="302260" cy="478155"/>
            </a:xfrm>
            <a:custGeom>
              <a:avLst/>
              <a:gdLst/>
              <a:ahLst/>
              <a:cxnLst/>
              <a:rect l="l" t="t" r="r" b="b"/>
              <a:pathLst>
                <a:path w="302259" h="478155">
                  <a:moveTo>
                    <a:pt x="150875" y="0"/>
                  </a:moveTo>
                  <a:lnTo>
                    <a:pt x="0" y="40386"/>
                  </a:lnTo>
                  <a:lnTo>
                    <a:pt x="301752" y="119634"/>
                  </a:lnTo>
                  <a:lnTo>
                    <a:pt x="0" y="198882"/>
                  </a:lnTo>
                  <a:lnTo>
                    <a:pt x="301752" y="278892"/>
                  </a:lnTo>
                  <a:lnTo>
                    <a:pt x="0" y="358140"/>
                  </a:lnTo>
                  <a:lnTo>
                    <a:pt x="301752" y="437388"/>
                  </a:lnTo>
                  <a:lnTo>
                    <a:pt x="150875" y="477773"/>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1" name="object 71"/>
            <p:cNvPicPr/>
            <p:nvPr/>
          </p:nvPicPr>
          <p:blipFill>
            <a:blip r:embed="rId13" cstate="print"/>
            <a:stretch>
              <a:fillRect/>
            </a:stretch>
          </p:blipFill>
          <p:spPr>
            <a:xfrm>
              <a:off x="6965442" y="1645919"/>
              <a:ext cx="3076955" cy="2058161"/>
            </a:xfrm>
            <a:prstGeom prst="rect">
              <a:avLst/>
            </a:prstGeom>
          </p:spPr>
        </p:pic>
        <p:sp>
          <p:nvSpPr>
            <p:cNvPr id="72" name="object 72"/>
            <p:cNvSpPr/>
            <p:nvPr/>
          </p:nvSpPr>
          <p:spPr>
            <a:xfrm>
              <a:off x="9267444" y="1513331"/>
              <a:ext cx="238125" cy="400050"/>
            </a:xfrm>
            <a:custGeom>
              <a:avLst/>
              <a:gdLst/>
              <a:ahLst/>
              <a:cxnLst/>
              <a:rect l="l" t="t" r="r" b="b"/>
              <a:pathLst>
                <a:path w="238125" h="400050">
                  <a:moveTo>
                    <a:pt x="237744" y="400049"/>
                  </a:moveTo>
                  <a:lnTo>
                    <a:pt x="237744" y="0"/>
                  </a:lnTo>
                  <a:lnTo>
                    <a:pt x="0" y="0"/>
                  </a:lnTo>
                  <a:lnTo>
                    <a:pt x="0" y="400049"/>
                  </a:lnTo>
                  <a:lnTo>
                    <a:pt x="237744" y="400049"/>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3" name="object 73"/>
          <p:cNvSpPr txBox="1"/>
          <p:nvPr/>
        </p:nvSpPr>
        <p:spPr>
          <a:xfrm>
            <a:off x="929639" y="4678639"/>
            <a:ext cx="8710930" cy="1122680"/>
          </a:xfrm>
          <a:prstGeom prst="rect">
            <a:avLst/>
          </a:prstGeom>
        </p:spPr>
        <p:txBody>
          <a:bodyPr vert="horz" wrap="square" lIns="0" tIns="73660" rIns="0" bIns="0" rtlCol="0">
            <a:spAutoFit/>
          </a:bodyPr>
          <a:lstStyle/>
          <a:p>
            <a:pPr marL="398145" marR="0" lvl="0" indent="-360680" algn="l" defTabSz="914400" rtl="0" eaLnBrk="1" fontAlgn="auto" latinLnBrk="0" hangingPunct="1">
              <a:lnSpc>
                <a:spcPct val="100000"/>
              </a:lnSpc>
              <a:spcBef>
                <a:spcPts val="580"/>
              </a:spcBef>
              <a:spcAft>
                <a:spcPts val="0"/>
              </a:spcAft>
              <a:buClr>
                <a:srgbClr val="CC0000"/>
              </a:buClr>
              <a:buSzTx/>
              <a:buFont typeface="Wingdings"/>
              <a:buChar char=""/>
              <a:tabLst>
                <a:tab pos="398145" algn="l"/>
                <a:tab pos="3987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 shift</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register</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produces</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 </a:t>
            </a:r>
            <a:r>
              <a:rPr kumimoji="0" sz="2000" b="0" i="0" u="none" strike="noStrike" kern="1200" cap="none" spc="-10" normalizeH="0" baseline="0" noProof="0" dirty="0">
                <a:ln>
                  <a:noFill/>
                </a:ln>
                <a:solidFill>
                  <a:prstClr val="black"/>
                </a:solidFill>
                <a:effectLst/>
                <a:uLnTx/>
                <a:uFillTx/>
                <a:latin typeface="Verdana"/>
                <a:ea typeface="+mn-ea"/>
                <a:cs typeface="Verdana"/>
              </a:rPr>
              <a:t>delayed</a:t>
            </a:r>
            <a:r>
              <a:rPr kumimoji="0" sz="2000" b="0" i="0" u="none" strike="noStrike" kern="1200" cap="none" spc="3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bit</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sequence</a:t>
            </a:r>
            <a:r>
              <a:rPr kumimoji="0" sz="2000" b="0" i="0" u="none" strike="noStrike" kern="1200" cap="none" spc="-5" normalizeH="0" baseline="0" noProof="0" dirty="0">
                <a:ln>
                  <a:noFill/>
                </a:ln>
                <a:solidFill>
                  <a:prstClr val="black"/>
                </a:solidFill>
                <a:effectLst/>
                <a:uLnTx/>
                <a:uFillTx/>
                <a:latin typeface="Verdana"/>
                <a:ea typeface="+mn-ea"/>
                <a:cs typeface="Verdana"/>
              </a:rPr>
              <a:t> (D</a:t>
            </a:r>
            <a:r>
              <a:rPr kumimoji="0" sz="1950" b="0" i="0" u="none" strike="noStrike" kern="1200" cap="none" spc="-7" normalizeH="0" baseline="-21367" noProof="0" dirty="0">
                <a:ln>
                  <a:noFill/>
                </a:ln>
                <a:solidFill>
                  <a:prstClr val="black"/>
                </a:solidFill>
                <a:effectLst/>
                <a:uLnTx/>
                <a:uFillTx/>
                <a:latin typeface="Verdana"/>
                <a:ea typeface="+mn-ea"/>
                <a:cs typeface="Verdana"/>
              </a:rPr>
              <a:t>0</a:t>
            </a:r>
            <a:r>
              <a:rPr kumimoji="0" sz="1950" b="0" i="0" u="none" strike="noStrike" kern="1200" cap="none" spc="382" normalizeH="0" baseline="-21367"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
            </a:r>
            <a:r>
              <a:rPr kumimoji="0" sz="1950" b="0" i="0" u="none" strike="noStrike" kern="1200" cap="none" spc="-7" normalizeH="0" baseline="-21367" noProof="0" dirty="0">
                <a:ln>
                  <a:noFill/>
                </a:ln>
                <a:solidFill>
                  <a:prstClr val="black"/>
                </a:solidFill>
                <a:effectLst/>
                <a:uLnTx/>
                <a:uFillTx/>
                <a:latin typeface="Verdana"/>
                <a:ea typeface="+mn-ea"/>
                <a:cs typeface="Verdana"/>
              </a:rPr>
              <a:t>1</a:t>
            </a:r>
            <a:r>
              <a:rPr kumimoji="0" sz="2000" b="0" i="0" u="none" strike="noStrike" kern="1200" cap="none" spc="-5" normalizeH="0" baseline="0" noProof="0" dirty="0">
                <a:ln>
                  <a:noFill/>
                </a:ln>
                <a:solidFill>
                  <a:prstClr val="black"/>
                </a:solidFill>
                <a:effectLst/>
                <a:uLnTx/>
                <a:uFillTx/>
                <a:latin typeface="Verdana"/>
                <a:ea typeface="+mn-ea"/>
                <a:cs typeface="Verdana"/>
              </a:rPr>
              <a:t>).</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38100" marR="30480" lvl="0" indent="0" algn="l" defTabSz="914400" rtl="0" eaLnBrk="1" fontAlgn="auto" latinLnBrk="0" hangingPunct="1">
              <a:lnSpc>
                <a:spcPct val="120000"/>
              </a:lnSpc>
              <a:spcBef>
                <a:spcPts val="0"/>
              </a:spcBef>
              <a:spcAft>
                <a:spcPts val="0"/>
              </a:spcAft>
              <a:buClr>
                <a:srgbClr val="CC0000"/>
              </a:buClr>
              <a:buSzTx/>
              <a:buFont typeface="Wingdings"/>
              <a:buChar char=""/>
              <a:tabLst>
                <a:tab pos="398145" algn="l"/>
                <a:tab pos="3987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Differential</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current</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switches</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conduct</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the</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differential</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tap</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currents </a:t>
            </a:r>
            <a:r>
              <a:rPr kumimoji="0" sz="2000" b="0" i="0" u="none" strike="noStrike" kern="1200" cap="none" spc="-68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(-0.6Ix</a:t>
            </a:r>
            <a:r>
              <a:rPr kumimoji="0" sz="1950" b="0" i="0" u="none" strike="noStrike" kern="1200" cap="none" spc="-7" normalizeH="0" baseline="-21367" noProof="0" dirty="0">
                <a:ln>
                  <a:noFill/>
                </a:ln>
                <a:solidFill>
                  <a:prstClr val="black"/>
                </a:solidFill>
                <a:effectLst/>
                <a:uLnTx/>
                <a:uFillTx/>
                <a:latin typeface="Verdana"/>
                <a:ea typeface="+mn-ea"/>
                <a:cs typeface="Verdana"/>
              </a:rPr>
              <a:t>0</a:t>
            </a:r>
            <a:r>
              <a:rPr kumimoji="0" sz="1950" b="0" i="0" u="none" strike="noStrike" kern="1200" cap="none" spc="397" normalizeH="0" baseline="-21367"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0.4Ix</a:t>
            </a:r>
            <a:r>
              <a:rPr kumimoji="0" sz="1950" b="0" i="0" u="none" strike="noStrike" kern="1200" cap="none" spc="-7" normalizeH="0" baseline="-21367" noProof="0" dirty="0">
                <a:ln>
                  <a:noFill/>
                </a:ln>
                <a:solidFill>
                  <a:prstClr val="black"/>
                </a:solidFill>
                <a:effectLst/>
                <a:uLnTx/>
                <a:uFillTx/>
                <a:latin typeface="Verdana"/>
                <a:ea typeface="+mn-ea"/>
                <a:cs typeface="Verdana"/>
              </a:rPr>
              <a:t>1</a:t>
            </a:r>
            <a:r>
              <a:rPr kumimoji="0" sz="2000" b="0" i="0" u="none" strike="noStrike" kern="1200" cap="none" spc="-5" normalizeH="0" baseline="0" noProof="0" dirty="0">
                <a:ln>
                  <a:noFill/>
                </a:ln>
                <a:solidFill>
                  <a:prstClr val="black"/>
                </a:solidFill>
                <a:effectLst/>
                <a:uLnTx/>
                <a:uFillTx/>
                <a:latin typeface="Verdana"/>
                <a:ea typeface="+mn-ea"/>
                <a:cs typeface="Verdana"/>
              </a:rPr>
              <a:t>),</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depending</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on</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data</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0</a:t>
            </a:r>
            <a:r>
              <a:rPr kumimoji="0" sz="1950" b="0" i="0" u="none" strike="noStrike" kern="1200" cap="none" spc="375" normalizeH="0" baseline="-21367"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1</a:t>
            </a:r>
            <a:r>
              <a:rPr kumimoji="0" sz="2000" b="0" i="0" u="none" strike="noStrike" kern="1200" cap="none" spc="-5" normalizeH="0" baseline="0" noProof="0" dirty="0">
                <a:ln>
                  <a:noFill/>
                </a:ln>
                <a:solidFill>
                  <a:prstClr val="black"/>
                </a:solidFill>
                <a:effectLst/>
                <a:uLnTx/>
                <a:uFillTx/>
                <a:latin typeface="Verdana"/>
                <a:ea typeface="+mn-ea"/>
                <a:cs typeface="Verdana"/>
              </a:rPr>
              <a:t>).</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4" name="object 74"/>
          <p:cNvSpPr txBox="1"/>
          <p:nvPr/>
        </p:nvSpPr>
        <p:spPr>
          <a:xfrm>
            <a:off x="3022094" y="1190218"/>
            <a:ext cx="1706880" cy="756920"/>
          </a:xfrm>
          <a:prstGeom prst="rect">
            <a:avLst/>
          </a:prstGeom>
        </p:spPr>
        <p:txBody>
          <a:bodyPr vert="horz" wrap="square" lIns="0" tIns="12700" rIns="0" bIns="0" rtlCol="0">
            <a:spAutoFit/>
          </a:bodyPr>
          <a:lstStyle/>
          <a:p>
            <a:pPr marL="38100" marR="30480" lvl="0" indent="0" algn="l" defTabSz="914400" rtl="0" eaLnBrk="1" fontAlgn="auto" latinLnBrk="0" hangingPunct="1">
              <a:lnSpc>
                <a:spcPct val="120000"/>
              </a:lnSpc>
              <a:spcBef>
                <a:spcPts val="100"/>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if 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if</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=0</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5" name="object 75"/>
          <p:cNvSpPr txBox="1"/>
          <p:nvPr/>
        </p:nvSpPr>
        <p:spPr>
          <a:xfrm>
            <a:off x="6537197" y="1523443"/>
            <a:ext cx="30162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0" normalizeH="0" baseline="-25000" noProof="0" dirty="0">
                <a:ln>
                  <a:noFill/>
                </a:ln>
                <a:solidFill>
                  <a:prstClr val="black"/>
                </a:solidFill>
                <a:effectLst/>
                <a:uLnTx/>
                <a:uFillTx/>
                <a:latin typeface="Times New Roman"/>
                <a:ea typeface="+mn-ea"/>
                <a:cs typeface="Times New Roman"/>
              </a:rPr>
              <a:t>1</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sp>
        <p:nvSpPr>
          <p:cNvPr id="76" name="object 76"/>
          <p:cNvSpPr txBox="1"/>
          <p:nvPr/>
        </p:nvSpPr>
        <p:spPr>
          <a:xfrm>
            <a:off x="5482590" y="1552399"/>
            <a:ext cx="30670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2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30" normalizeH="0" baseline="-25000" noProof="0" dirty="0">
                <a:ln>
                  <a:noFill/>
                </a:ln>
                <a:solidFill>
                  <a:prstClr val="black"/>
                </a:solidFill>
                <a:effectLst/>
                <a:uLnTx/>
                <a:uFillTx/>
                <a:latin typeface="Times New Roman"/>
                <a:ea typeface="+mn-ea"/>
                <a:cs typeface="Times New Roman"/>
              </a:rPr>
              <a:t>0</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grpSp>
        <p:nvGrpSpPr>
          <p:cNvPr id="77" name="object 77"/>
          <p:cNvGrpSpPr/>
          <p:nvPr/>
        </p:nvGrpSpPr>
        <p:grpSpPr>
          <a:xfrm>
            <a:off x="5633465" y="1930907"/>
            <a:ext cx="272415" cy="123189"/>
            <a:chOff x="5633465" y="1930907"/>
            <a:chExt cx="272415" cy="123189"/>
          </a:xfrm>
        </p:grpSpPr>
        <p:sp>
          <p:nvSpPr>
            <p:cNvPr id="78" name="object 78"/>
            <p:cNvSpPr/>
            <p:nvPr/>
          </p:nvSpPr>
          <p:spPr>
            <a:xfrm>
              <a:off x="5633465" y="1992629"/>
              <a:ext cx="104139" cy="0"/>
            </a:xfrm>
            <a:custGeom>
              <a:avLst/>
              <a:gdLst/>
              <a:ahLst/>
              <a:cxnLst/>
              <a:rect l="l" t="t" r="r" b="b"/>
              <a:pathLst>
                <a:path w="104139">
                  <a:moveTo>
                    <a:pt x="0" y="0"/>
                  </a:moveTo>
                  <a:lnTo>
                    <a:pt x="103632"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object 79"/>
            <p:cNvSpPr/>
            <p:nvPr/>
          </p:nvSpPr>
          <p:spPr>
            <a:xfrm>
              <a:off x="5721857" y="1930907"/>
              <a:ext cx="184150" cy="123189"/>
            </a:xfrm>
            <a:custGeom>
              <a:avLst/>
              <a:gdLst/>
              <a:ahLst/>
              <a:cxnLst/>
              <a:rect l="l" t="t" r="r" b="b"/>
              <a:pathLst>
                <a:path w="184150" h="123189">
                  <a:moveTo>
                    <a:pt x="183642" y="61722"/>
                  </a:moveTo>
                  <a:lnTo>
                    <a:pt x="0" y="0"/>
                  </a:lnTo>
                  <a:lnTo>
                    <a:pt x="0" y="122682"/>
                  </a:lnTo>
                  <a:lnTo>
                    <a:pt x="183642"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0" name="object 80"/>
          <p:cNvSpPr txBox="1"/>
          <p:nvPr/>
        </p:nvSpPr>
        <p:spPr>
          <a:xfrm>
            <a:off x="5918453" y="1733550"/>
            <a:ext cx="535305" cy="537210"/>
          </a:xfrm>
          <a:prstGeom prst="rect">
            <a:avLst/>
          </a:prstGeom>
          <a:ln w="28765">
            <a:solidFill>
              <a:srgbClr val="000000"/>
            </a:solidFill>
          </a:ln>
        </p:spPr>
        <p:txBody>
          <a:bodyPr vert="horz" wrap="square" lIns="0" tIns="60960" rIns="0" bIns="0" rtlCol="0">
            <a:spAutoFit/>
          </a:bodyPr>
          <a:lstStyle/>
          <a:p>
            <a:pPr marL="161925" marR="0" lvl="0" indent="0" algn="l" defTabSz="914400" rtl="0" eaLnBrk="1" fontAlgn="auto" latinLnBrk="0" hangingPunct="1">
              <a:lnSpc>
                <a:spcPct val="100000"/>
              </a:lnSpc>
              <a:spcBef>
                <a:spcPts val="480"/>
              </a:spcBef>
              <a:spcAft>
                <a:spcPts val="0"/>
              </a:spcAft>
              <a:buClrTx/>
              <a:buSzTx/>
              <a:buFontTx/>
              <a:buNone/>
              <a:tabLst/>
              <a:defRPr/>
            </a:pPr>
            <a:r>
              <a:rPr kumimoji="0" sz="2400" b="0" i="0" u="none" strike="noStrike" kern="1200" cap="none" spc="10" normalizeH="0" baseline="0" noProof="0" dirty="0">
                <a:ln>
                  <a:noFill/>
                </a:ln>
                <a:solidFill>
                  <a:prstClr val="black"/>
                </a:solidFill>
                <a:effectLst/>
                <a:uLnTx/>
                <a:uFillTx/>
                <a:latin typeface="Malgun Gothic"/>
                <a:ea typeface="+mn-ea"/>
                <a:cs typeface="Malgun Gothic"/>
              </a:rPr>
              <a:t>D</a:t>
            </a:r>
            <a:endParaRPr kumimoji="0" sz="24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81" name="object 81"/>
          <p:cNvGrpSpPr/>
          <p:nvPr/>
        </p:nvGrpSpPr>
        <p:grpSpPr>
          <a:xfrm>
            <a:off x="6453378" y="1959101"/>
            <a:ext cx="272415" cy="123189"/>
            <a:chOff x="6453378" y="1959101"/>
            <a:chExt cx="272415" cy="123189"/>
          </a:xfrm>
        </p:grpSpPr>
        <p:sp>
          <p:nvSpPr>
            <p:cNvPr id="82" name="object 82"/>
            <p:cNvSpPr/>
            <p:nvPr/>
          </p:nvSpPr>
          <p:spPr>
            <a:xfrm>
              <a:off x="6453378" y="2020823"/>
              <a:ext cx="104775" cy="0"/>
            </a:xfrm>
            <a:custGeom>
              <a:avLst/>
              <a:gdLst/>
              <a:ahLst/>
              <a:cxnLst/>
              <a:rect l="l" t="t" r="r" b="b"/>
              <a:pathLst>
                <a:path w="104775">
                  <a:moveTo>
                    <a:pt x="0" y="0"/>
                  </a:moveTo>
                  <a:lnTo>
                    <a:pt x="104394"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6542532" y="1959101"/>
              <a:ext cx="182880" cy="123189"/>
            </a:xfrm>
            <a:custGeom>
              <a:avLst/>
              <a:gdLst/>
              <a:ahLst/>
              <a:cxnLst/>
              <a:rect l="l" t="t" r="r" b="b"/>
              <a:pathLst>
                <a:path w="182879" h="123189">
                  <a:moveTo>
                    <a:pt x="182880" y="61722"/>
                  </a:moveTo>
                  <a:lnTo>
                    <a:pt x="0" y="0"/>
                  </a:lnTo>
                  <a:lnTo>
                    <a:pt x="0" y="122682"/>
                  </a:lnTo>
                  <a:lnTo>
                    <a:pt x="182880"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4" name="object 84"/>
          <p:cNvSpPr txBox="1"/>
          <p:nvPr/>
        </p:nvSpPr>
        <p:spPr>
          <a:xfrm>
            <a:off x="1947916" y="4091179"/>
            <a:ext cx="2220595" cy="451484"/>
          </a:xfrm>
          <a:prstGeom prst="rect">
            <a:avLst/>
          </a:prstGeom>
        </p:spPr>
        <p:txBody>
          <a:bodyPr vert="horz" wrap="square" lIns="0" tIns="11430" rIns="0" bIns="0" rtlCol="0">
            <a:spAutoFit/>
          </a:bodyPr>
          <a:lstStyle/>
          <a:p>
            <a:pPr marL="50800" marR="0" lvl="0" indent="0" algn="l" defTabSz="914400" rtl="0" eaLnBrk="1" fontAlgn="auto" latinLnBrk="0" hangingPunct="1">
              <a:lnSpc>
                <a:spcPct val="100000"/>
              </a:lnSpc>
              <a:spcBef>
                <a:spcPts val="90"/>
              </a:spcBef>
              <a:spcAft>
                <a:spcPts val="0"/>
              </a:spcAft>
              <a:buClrTx/>
              <a:buSzTx/>
              <a:buFontTx/>
              <a:buNone/>
              <a:tabLst/>
              <a:defRPr/>
            </a:pPr>
            <a:r>
              <a:rPr kumimoji="0" sz="2800" b="0" i="0" u="none" strike="noStrike" kern="1200" cap="none" spc="-5" normalizeH="0" baseline="0" noProof="0" dirty="0">
                <a:ln>
                  <a:noFill/>
                </a:ln>
                <a:solidFill>
                  <a:prstClr val="black"/>
                </a:solidFill>
                <a:effectLst/>
                <a:uLnTx/>
                <a:uFillTx/>
                <a:latin typeface="Symbol"/>
                <a:ea typeface="+mn-ea"/>
                <a:cs typeface="Symbol"/>
              </a:rPr>
              <a:t></a:t>
            </a:r>
            <a:r>
              <a:rPr kumimoji="0" sz="28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00FF"/>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00FF"/>
                </a:solidFill>
                <a:effectLst/>
                <a:uLnTx/>
                <a:uFillTx/>
                <a:latin typeface="Times New Roman"/>
                <a:ea typeface="+mn-ea"/>
                <a:cs typeface="Times New Roman"/>
              </a:rPr>
              <a:t>.</a:t>
            </a:r>
            <a:r>
              <a:rPr kumimoji="0" sz="2800" b="0" i="0" u="none" strike="noStrike" kern="1200" cap="none" spc="235" normalizeH="0" baseline="0" noProof="0" dirty="0">
                <a:ln>
                  <a:noFill/>
                </a:ln>
                <a:solidFill>
                  <a:srgbClr val="0000FF"/>
                </a:solidFill>
                <a:effectLst/>
                <a:uLnTx/>
                <a:uFillTx/>
                <a:latin typeface="Times New Roman"/>
                <a:ea typeface="+mn-ea"/>
                <a:cs typeface="Times New Roman"/>
              </a:rPr>
              <a:t>6</a:t>
            </a:r>
            <a:r>
              <a:rPr kumimoji="0" sz="2800" b="0" i="1" u="none" strike="noStrike" kern="1200" cap="none" spc="-5" normalizeH="0" baseline="0" noProof="0" dirty="0">
                <a:ln>
                  <a:noFill/>
                </a:ln>
                <a:solidFill>
                  <a:srgbClr val="0000FF"/>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00FF"/>
                </a:solidFill>
                <a:effectLst/>
                <a:uLnTx/>
                <a:uFillTx/>
                <a:latin typeface="Times New Roman"/>
                <a:ea typeface="+mn-ea"/>
                <a:cs typeface="Times New Roman"/>
              </a:rPr>
              <a:t>0</a:t>
            </a:r>
            <a:r>
              <a:rPr kumimoji="0" sz="2400" b="0" i="0" u="none" strike="noStrike" kern="1200" cap="none" spc="0" normalizeH="0" baseline="-24305" noProof="0" dirty="0">
                <a:ln>
                  <a:noFill/>
                </a:ln>
                <a:solidFill>
                  <a:srgbClr val="0000FF"/>
                </a:solidFill>
                <a:effectLst/>
                <a:uLnTx/>
                <a:uFillTx/>
                <a:latin typeface="Times New Roman"/>
                <a:ea typeface="+mn-ea"/>
                <a:cs typeface="Times New Roman"/>
              </a:rPr>
              <a:t> </a:t>
            </a:r>
            <a:r>
              <a:rPr kumimoji="0" sz="2400" b="0" i="0" u="none" strike="noStrike" kern="1200" cap="none" spc="22" normalizeH="0" baseline="-24305" noProof="0" dirty="0">
                <a:ln>
                  <a:noFill/>
                </a:ln>
                <a:solidFill>
                  <a:srgbClr val="0000FF"/>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007E00"/>
                </a:solidFill>
                <a:effectLst/>
                <a:uLnTx/>
                <a:uFillTx/>
                <a:latin typeface="Symbol"/>
                <a:ea typeface="+mn-ea"/>
                <a:cs typeface="Symbol"/>
              </a:rPr>
              <a:t></a:t>
            </a:r>
            <a:r>
              <a:rPr kumimoji="0" sz="2800" b="0" i="0" u="none" strike="noStrike" kern="1200" cap="none" spc="-190" normalizeH="0" baseline="0" noProof="0" dirty="0">
                <a:ln>
                  <a:noFill/>
                </a:ln>
                <a:solidFill>
                  <a:srgbClr val="007E00"/>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7E00"/>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7E00"/>
                </a:solidFill>
                <a:effectLst/>
                <a:uLnTx/>
                <a:uFillTx/>
                <a:latin typeface="Times New Roman"/>
                <a:ea typeface="+mn-ea"/>
                <a:cs typeface="Times New Roman"/>
              </a:rPr>
              <a:t>.</a:t>
            </a:r>
            <a:r>
              <a:rPr kumimoji="0" sz="2800" b="0" i="0" u="none" strike="noStrike" kern="1200" cap="none" spc="-5" normalizeH="0" baseline="0" noProof="0" dirty="0">
                <a:ln>
                  <a:noFill/>
                </a:ln>
                <a:solidFill>
                  <a:srgbClr val="007E00"/>
                </a:solidFill>
                <a:effectLst/>
                <a:uLnTx/>
                <a:uFillTx/>
                <a:latin typeface="Times New Roman"/>
                <a:ea typeface="+mn-ea"/>
                <a:cs typeface="Times New Roman"/>
              </a:rPr>
              <a:t>4</a:t>
            </a:r>
            <a:r>
              <a:rPr kumimoji="0" sz="2800" b="0" i="0" u="none" strike="noStrike" kern="1200" cap="none" spc="-459" normalizeH="0" baseline="0" noProof="0" dirty="0">
                <a:ln>
                  <a:noFill/>
                </a:ln>
                <a:solidFill>
                  <a:srgbClr val="007E00"/>
                </a:solidFill>
                <a:effectLst/>
                <a:uLnTx/>
                <a:uFillTx/>
                <a:latin typeface="Times New Roman"/>
                <a:ea typeface="+mn-ea"/>
                <a:cs typeface="Times New Roman"/>
              </a:rPr>
              <a:t> </a:t>
            </a:r>
            <a:r>
              <a:rPr kumimoji="0" sz="2800" b="0" i="1" u="none" strike="noStrike" kern="1200" cap="none" spc="-160" normalizeH="0" baseline="0" noProof="0" dirty="0">
                <a:ln>
                  <a:noFill/>
                </a:ln>
                <a:solidFill>
                  <a:srgbClr val="007E00"/>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7E00"/>
                </a:solidFill>
                <a:effectLst/>
                <a:uLnTx/>
                <a:uFillTx/>
                <a:latin typeface="Times New Roman"/>
                <a:ea typeface="+mn-ea"/>
                <a:cs typeface="Times New Roman"/>
              </a:rPr>
              <a:t>1</a:t>
            </a:r>
            <a:endParaRPr kumimoji="0" sz="2400" b="0" i="0" u="none" strike="noStrike" kern="1200" cap="none" spc="0" normalizeH="0" baseline="-24305" noProof="0">
              <a:ln>
                <a:noFill/>
              </a:ln>
              <a:solidFill>
                <a:prstClr val="black"/>
              </a:solidFill>
              <a:effectLst/>
              <a:uLnTx/>
              <a:uFillTx/>
              <a:latin typeface="Times New Roman"/>
              <a:ea typeface="+mn-ea"/>
              <a:cs typeface="Times New Roman"/>
            </a:endParaRPr>
          </a:p>
        </p:txBody>
      </p:sp>
      <p:sp>
        <p:nvSpPr>
          <p:cNvPr id="85" name="object 85"/>
          <p:cNvSpPr txBox="1"/>
          <p:nvPr/>
        </p:nvSpPr>
        <p:spPr>
          <a:xfrm>
            <a:off x="1215389" y="4182619"/>
            <a:ext cx="685800" cy="451484"/>
          </a:xfrm>
          <a:prstGeom prst="rect">
            <a:avLst/>
          </a:prstGeom>
        </p:spPr>
        <p:txBody>
          <a:bodyPr vert="horz" wrap="square" lIns="0" tIns="11430" rIns="0" bIns="0" rtlCol="0">
            <a:spAutoFit/>
          </a:bodyPr>
          <a:lstStyle/>
          <a:p>
            <a:pPr marL="38100" marR="0" lvl="0" indent="0" algn="l" defTabSz="914400" rtl="0" eaLnBrk="1" fontAlgn="auto" latinLnBrk="0" hangingPunct="1">
              <a:lnSpc>
                <a:spcPct val="100000"/>
              </a:lnSpc>
              <a:spcBef>
                <a:spcPts val="90"/>
              </a:spcBef>
              <a:spcAft>
                <a:spcPts val="0"/>
              </a:spcAft>
              <a:buClrTx/>
              <a:buSzTx/>
              <a:buFontTx/>
              <a:buNone/>
              <a:tabLst/>
              <a:defRPr/>
            </a:pPr>
            <a:r>
              <a:rPr kumimoji="0" sz="4200" b="0" i="1" u="none" strike="noStrike" kern="1200" cap="none" spc="52" normalizeH="0" baseline="13888" noProof="0" dirty="0">
                <a:ln>
                  <a:noFill/>
                </a:ln>
                <a:solidFill>
                  <a:prstClr val="black"/>
                </a:solidFill>
                <a:effectLst/>
                <a:uLnTx/>
                <a:uFillTx/>
                <a:latin typeface="Times New Roman"/>
                <a:ea typeface="+mn-ea"/>
                <a:cs typeface="Times New Roman"/>
              </a:rPr>
              <a:t>V</a:t>
            </a:r>
            <a:r>
              <a:rPr kumimoji="0" sz="1600" b="0" i="1" u="none" strike="noStrike" kern="1200" cap="none" spc="35" normalizeH="0" baseline="0" noProof="0" dirty="0">
                <a:ln>
                  <a:noFill/>
                </a:ln>
                <a:solidFill>
                  <a:prstClr val="black"/>
                </a:solidFill>
                <a:effectLst/>
                <a:uLnTx/>
                <a:uFillTx/>
                <a:latin typeface="Times New Roman"/>
                <a:ea typeface="+mn-ea"/>
                <a:cs typeface="Times New Roman"/>
              </a:rPr>
              <a:t>FFE</a:t>
            </a:r>
            <a:endParaRPr kumimoji="0"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6" name="object 86"/>
          <p:cNvSpPr txBox="1"/>
          <p:nvPr/>
        </p:nvSpPr>
        <p:spPr>
          <a:xfrm>
            <a:off x="5191505" y="2789495"/>
            <a:ext cx="1732914" cy="416559"/>
          </a:xfrm>
          <a:prstGeom prst="rect">
            <a:avLst/>
          </a:prstGeom>
        </p:spPr>
        <p:txBody>
          <a:bodyPr vert="horz" wrap="square" lIns="0" tIns="14604" rIns="0" bIns="0" rtlCol="0">
            <a:spAutoFit/>
          </a:bodyPr>
          <a:lstStyle/>
          <a:p>
            <a:pPr marL="38100" marR="0" lvl="0" indent="0" algn="l" defTabSz="914400" rtl="0" eaLnBrk="1" fontAlgn="auto" latinLnBrk="0" hangingPunct="1">
              <a:lnSpc>
                <a:spcPct val="100000"/>
              </a:lnSpc>
              <a:spcBef>
                <a:spcPts val="114"/>
              </a:spcBef>
              <a:spcAft>
                <a:spcPts val="0"/>
              </a:spcAft>
              <a:buClrTx/>
              <a:buSzTx/>
              <a:buFontTx/>
              <a:buNone/>
              <a:tabLst/>
              <a:defRPr/>
            </a:pPr>
            <a:r>
              <a:rPr kumimoji="0" sz="2550" b="0" i="1" u="none" strike="noStrike" kern="1200" cap="none" spc="50" normalizeH="0" baseline="0" noProof="0" dirty="0">
                <a:ln>
                  <a:noFill/>
                </a:ln>
                <a:solidFill>
                  <a:srgbClr val="0000FF"/>
                </a:solidFill>
                <a:effectLst/>
                <a:uLnTx/>
                <a:uFillTx/>
                <a:latin typeface="Times New Roman"/>
                <a:ea typeface="+mn-ea"/>
                <a:cs typeface="Times New Roman"/>
              </a:rPr>
              <a:t>I</a:t>
            </a:r>
            <a:r>
              <a:rPr kumimoji="0" sz="2175" b="0" i="1" u="none" strike="noStrike" kern="1200" cap="none" spc="-97" normalizeH="0" baseline="-24904" noProof="0" dirty="0">
                <a:ln>
                  <a:noFill/>
                </a:ln>
                <a:solidFill>
                  <a:srgbClr val="0000FF"/>
                </a:solidFill>
                <a:effectLst/>
                <a:uLnTx/>
                <a:uFillTx/>
                <a:latin typeface="Times New Roman"/>
                <a:ea typeface="+mn-ea"/>
                <a:cs typeface="Times New Roman"/>
              </a:rPr>
              <a:t>d</a:t>
            </a:r>
            <a:r>
              <a:rPr kumimoji="0" sz="2175" b="0" i="1" u="none" strike="noStrike" kern="1200" cap="none" spc="-52" normalizeH="0" baseline="-24904" noProof="0" dirty="0">
                <a:ln>
                  <a:noFill/>
                </a:ln>
                <a:solidFill>
                  <a:srgbClr val="0000FF"/>
                </a:solidFill>
                <a:effectLst/>
                <a:uLnTx/>
                <a:uFillTx/>
                <a:latin typeface="Times New Roman"/>
                <a:ea typeface="+mn-ea"/>
                <a:cs typeface="Times New Roman"/>
              </a:rPr>
              <a:t>if</a:t>
            </a:r>
            <a:r>
              <a:rPr kumimoji="0" sz="2175" b="0" i="1" u="none" strike="noStrike" kern="1200" cap="none" spc="7" normalizeH="0" baseline="-24904" noProof="0" dirty="0">
                <a:ln>
                  <a:noFill/>
                </a:ln>
                <a:solidFill>
                  <a:srgbClr val="0000FF"/>
                </a:solidFill>
                <a:effectLst/>
                <a:uLnTx/>
                <a:uFillTx/>
                <a:latin typeface="Times New Roman"/>
                <a:ea typeface="+mn-ea"/>
                <a:cs typeface="Times New Roman"/>
              </a:rPr>
              <a:t>f</a:t>
            </a:r>
            <a:r>
              <a:rPr kumimoji="0" sz="2175" b="0" i="1" u="none" strike="noStrike" kern="1200" cap="none" spc="-15" normalizeH="0" baseline="-24904" noProof="0" dirty="0">
                <a:ln>
                  <a:noFill/>
                </a:ln>
                <a:solidFill>
                  <a:srgbClr val="0000FF"/>
                </a:solidFill>
                <a:effectLst/>
                <a:uLnTx/>
                <a:uFillTx/>
                <a:latin typeface="Times New Roman"/>
                <a:ea typeface="+mn-ea"/>
                <a:cs typeface="Times New Roman"/>
              </a:rPr>
              <a:t> </a:t>
            </a:r>
            <a:r>
              <a:rPr kumimoji="0" sz="2175" b="0" i="0" u="none" strike="noStrike" kern="1200" cap="none" spc="22" normalizeH="0" baseline="-24904" noProof="0" dirty="0">
                <a:ln>
                  <a:noFill/>
                </a:ln>
                <a:solidFill>
                  <a:srgbClr val="0000FF"/>
                </a:solidFill>
                <a:effectLst/>
                <a:uLnTx/>
                <a:uFillTx/>
                <a:latin typeface="Times New Roman"/>
                <a:ea typeface="+mn-ea"/>
                <a:cs typeface="Times New Roman"/>
              </a:rPr>
              <a:t>0</a:t>
            </a:r>
            <a:r>
              <a:rPr kumimoji="0" sz="2175" b="0" i="0" u="none" strike="noStrike" kern="1200" cap="none" spc="0" normalizeH="0" baseline="-24904" noProof="0" dirty="0">
                <a:ln>
                  <a:noFill/>
                </a:ln>
                <a:solidFill>
                  <a:srgbClr val="0000FF"/>
                </a:solidFill>
                <a:effectLst/>
                <a:uLnTx/>
                <a:uFillTx/>
                <a:latin typeface="Times New Roman"/>
                <a:ea typeface="+mn-ea"/>
                <a:cs typeface="Times New Roman"/>
              </a:rPr>
              <a:t> </a:t>
            </a:r>
            <a:r>
              <a:rPr kumimoji="0" sz="2175" b="0" i="0" u="none" strike="noStrike" kern="1200" cap="none" spc="-60" normalizeH="0" baseline="-24904" noProof="0" dirty="0">
                <a:ln>
                  <a:noFill/>
                </a:ln>
                <a:solidFill>
                  <a:srgbClr val="0000FF"/>
                </a:solidFill>
                <a:effectLst/>
                <a:uLnTx/>
                <a:uFillTx/>
                <a:latin typeface="Times New Roman"/>
                <a:ea typeface="+mn-ea"/>
                <a:cs typeface="Times New Roman"/>
              </a:rPr>
              <a:t> </a:t>
            </a:r>
            <a:r>
              <a:rPr kumimoji="0" sz="2550" b="0" i="0" u="none" strike="noStrike" kern="1200" cap="none" spc="5" normalizeH="0" baseline="0" noProof="0" dirty="0">
                <a:ln>
                  <a:noFill/>
                </a:ln>
                <a:solidFill>
                  <a:srgbClr val="0000FF"/>
                </a:solidFill>
                <a:effectLst/>
                <a:uLnTx/>
                <a:uFillTx/>
                <a:latin typeface="Symbol"/>
                <a:ea typeface="+mn-ea"/>
                <a:cs typeface="Symbol"/>
              </a:rPr>
              <a:t></a:t>
            </a:r>
            <a:r>
              <a:rPr kumimoji="0" sz="2550" b="0" i="0" u="none" strike="noStrike" kern="1200" cap="none" spc="-240" normalizeH="0" baseline="0" noProof="0" dirty="0">
                <a:ln>
                  <a:noFill/>
                </a:ln>
                <a:solidFill>
                  <a:srgbClr val="0000FF"/>
                </a:solidFill>
                <a:effectLst/>
                <a:uLnTx/>
                <a:uFillTx/>
                <a:latin typeface="Times New Roman"/>
                <a:ea typeface="+mn-ea"/>
                <a:cs typeface="Times New Roman"/>
              </a:rPr>
              <a:t> </a:t>
            </a:r>
            <a:r>
              <a:rPr kumimoji="0" sz="2550" b="0" i="0" u="none" strike="noStrike" kern="1200" cap="none" spc="-145" normalizeH="0" baseline="0" noProof="0" dirty="0">
                <a:ln>
                  <a:noFill/>
                </a:ln>
                <a:solidFill>
                  <a:srgbClr val="0000FF"/>
                </a:solidFill>
                <a:effectLst/>
                <a:uLnTx/>
                <a:uFillTx/>
                <a:latin typeface="Symbol"/>
                <a:ea typeface="+mn-ea"/>
                <a:cs typeface="Symbol"/>
              </a:rPr>
              <a:t></a:t>
            </a:r>
            <a:r>
              <a:rPr kumimoji="0" sz="2550" b="0" i="0" u="none" strike="noStrike" kern="1200" cap="none" spc="-130" normalizeH="0" baseline="0" noProof="0" dirty="0">
                <a:ln>
                  <a:noFill/>
                </a:ln>
                <a:solidFill>
                  <a:srgbClr val="0000FF"/>
                </a:solidFill>
                <a:effectLst/>
                <a:uLnTx/>
                <a:uFillTx/>
                <a:latin typeface="Times New Roman"/>
                <a:ea typeface="+mn-ea"/>
                <a:cs typeface="Times New Roman"/>
              </a:rPr>
              <a:t>0</a:t>
            </a:r>
            <a:r>
              <a:rPr kumimoji="0" sz="2550" b="0" i="0" u="none" strike="noStrike" kern="1200" cap="none" spc="-70" normalizeH="0" baseline="0" noProof="0" dirty="0">
                <a:ln>
                  <a:noFill/>
                </a:ln>
                <a:solidFill>
                  <a:srgbClr val="0000FF"/>
                </a:solidFill>
                <a:effectLst/>
                <a:uLnTx/>
                <a:uFillTx/>
                <a:latin typeface="Times New Roman"/>
                <a:ea typeface="+mn-ea"/>
                <a:cs typeface="Times New Roman"/>
              </a:rPr>
              <a:t>.</a:t>
            </a:r>
            <a:r>
              <a:rPr kumimoji="0" sz="2550" b="0" i="0" u="none" strike="noStrike" kern="1200" cap="none" spc="-20" normalizeH="0" baseline="0" noProof="0" dirty="0">
                <a:ln>
                  <a:noFill/>
                </a:ln>
                <a:solidFill>
                  <a:srgbClr val="0000FF"/>
                </a:solidFill>
                <a:effectLst/>
                <a:uLnTx/>
                <a:uFillTx/>
                <a:latin typeface="Times New Roman"/>
                <a:ea typeface="+mn-ea"/>
                <a:cs typeface="Times New Roman"/>
              </a:rPr>
              <a:t>6</a:t>
            </a:r>
            <a:r>
              <a:rPr kumimoji="0" sz="2550" b="0" i="1" u="none" strike="noStrike" kern="1200" cap="none" spc="-95" normalizeH="0" baseline="0" noProof="0" dirty="0">
                <a:ln>
                  <a:noFill/>
                </a:ln>
                <a:solidFill>
                  <a:srgbClr val="0000FF"/>
                </a:solidFill>
                <a:effectLst/>
                <a:uLnTx/>
                <a:uFillTx/>
                <a:latin typeface="Times New Roman"/>
                <a:ea typeface="+mn-ea"/>
                <a:cs typeface="Times New Roman"/>
              </a:rPr>
              <a:t>I</a:t>
            </a:r>
            <a:r>
              <a:rPr kumimoji="0" sz="2550" b="0" i="1" u="none" strike="noStrike" kern="1200" cap="none" spc="-150" normalizeH="0" baseline="0" noProof="0" dirty="0">
                <a:ln>
                  <a:noFill/>
                </a:ln>
                <a:solidFill>
                  <a:srgbClr val="0000FF"/>
                </a:solidFill>
                <a:effectLst/>
                <a:uLnTx/>
                <a:uFillTx/>
                <a:latin typeface="Times New Roman"/>
                <a:ea typeface="+mn-ea"/>
                <a:cs typeface="Times New Roman"/>
              </a:rPr>
              <a:t>x</a:t>
            </a:r>
            <a:r>
              <a:rPr kumimoji="0" sz="2175" b="0" i="0" u="none" strike="noStrike" kern="1200" cap="none" spc="22" normalizeH="0" baseline="-24904" noProof="0" dirty="0">
                <a:ln>
                  <a:noFill/>
                </a:ln>
                <a:solidFill>
                  <a:srgbClr val="0000FF"/>
                </a:solidFill>
                <a:effectLst/>
                <a:uLnTx/>
                <a:uFillTx/>
                <a:latin typeface="Times New Roman"/>
                <a:ea typeface="+mn-ea"/>
                <a:cs typeface="Times New Roman"/>
              </a:rPr>
              <a:t>0</a:t>
            </a:r>
            <a:endParaRPr kumimoji="0" sz="2175" b="0" i="0" u="none" strike="noStrike" kern="1200" cap="none" spc="0" normalizeH="0" baseline="-24904" noProof="0">
              <a:ln>
                <a:noFill/>
              </a:ln>
              <a:solidFill>
                <a:prstClr val="black"/>
              </a:solidFill>
              <a:effectLst/>
              <a:uLnTx/>
              <a:uFillTx/>
              <a:latin typeface="Times New Roman"/>
              <a:ea typeface="+mn-ea"/>
              <a:cs typeface="Times New Roman"/>
            </a:endParaRPr>
          </a:p>
        </p:txBody>
      </p:sp>
      <p:sp>
        <p:nvSpPr>
          <p:cNvPr id="87" name="object 87"/>
          <p:cNvSpPr txBox="1"/>
          <p:nvPr/>
        </p:nvSpPr>
        <p:spPr>
          <a:xfrm>
            <a:off x="11541501" y="2912883"/>
            <a:ext cx="120650" cy="253365"/>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1500" b="0" i="0" u="none" strike="noStrike" kern="1200" cap="none" spc="-5" normalizeH="0" baseline="0" noProof="0" dirty="0">
                <a:ln>
                  <a:noFill/>
                </a:ln>
                <a:solidFill>
                  <a:srgbClr val="007E00"/>
                </a:solidFill>
                <a:effectLst/>
                <a:uLnTx/>
                <a:uFillTx/>
                <a:latin typeface="Times New Roman"/>
                <a:ea typeface="+mn-ea"/>
                <a:cs typeface="Times New Roman"/>
              </a:rPr>
              <a:t>1</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8" name="object 88"/>
          <p:cNvSpPr txBox="1"/>
          <p:nvPr/>
        </p:nvSpPr>
        <p:spPr>
          <a:xfrm>
            <a:off x="10294873" y="2912883"/>
            <a:ext cx="382270" cy="253365"/>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1500" b="0" i="1" u="none" strike="noStrike" kern="1200" cap="none" spc="-85" normalizeH="0" baseline="0" noProof="0" dirty="0">
                <a:ln>
                  <a:noFill/>
                </a:ln>
                <a:solidFill>
                  <a:srgbClr val="007E00"/>
                </a:solidFill>
                <a:effectLst/>
                <a:uLnTx/>
                <a:uFillTx/>
                <a:latin typeface="Times New Roman"/>
                <a:ea typeface="+mn-ea"/>
                <a:cs typeface="Times New Roman"/>
              </a:rPr>
              <a:t>d</a:t>
            </a:r>
            <a:r>
              <a:rPr kumimoji="0" sz="1500" b="0" i="1" u="none" strike="noStrike" kern="1200" cap="none" spc="-45" normalizeH="0" baseline="0" noProof="0" dirty="0">
                <a:ln>
                  <a:noFill/>
                </a:ln>
                <a:solidFill>
                  <a:srgbClr val="007E00"/>
                </a:solidFill>
                <a:effectLst/>
                <a:uLnTx/>
                <a:uFillTx/>
                <a:latin typeface="Times New Roman"/>
                <a:ea typeface="+mn-ea"/>
                <a:cs typeface="Times New Roman"/>
              </a:rPr>
              <a:t>i</a:t>
            </a:r>
            <a:r>
              <a:rPr kumimoji="0" sz="1500" b="0" i="1" u="none" strike="noStrike" kern="1200" cap="none" spc="-50" normalizeH="0" baseline="0" noProof="0" dirty="0">
                <a:ln>
                  <a:noFill/>
                </a:ln>
                <a:solidFill>
                  <a:srgbClr val="007E00"/>
                </a:solidFill>
                <a:effectLst/>
                <a:uLnTx/>
                <a:uFillTx/>
                <a:latin typeface="Times New Roman"/>
                <a:ea typeface="+mn-ea"/>
                <a:cs typeface="Times New Roman"/>
              </a:rPr>
              <a:t>f</a:t>
            </a:r>
            <a:r>
              <a:rPr kumimoji="0" sz="1500" b="0" i="1" u="none" strike="noStrike" kern="1200" cap="none" spc="-5" normalizeH="0" baseline="0" noProof="0" dirty="0">
                <a:ln>
                  <a:noFill/>
                </a:ln>
                <a:solidFill>
                  <a:srgbClr val="007E00"/>
                </a:solidFill>
                <a:effectLst/>
                <a:uLnTx/>
                <a:uFillTx/>
                <a:latin typeface="Times New Roman"/>
                <a:ea typeface="+mn-ea"/>
                <a:cs typeface="Times New Roman"/>
              </a:rPr>
              <a:t>f</a:t>
            </a:r>
            <a:r>
              <a:rPr kumimoji="0" sz="1500" b="0" i="1" u="none" strike="noStrike" kern="1200" cap="none" spc="-145" normalizeH="0" baseline="0" noProof="0" dirty="0">
                <a:ln>
                  <a:noFill/>
                </a:ln>
                <a:solidFill>
                  <a:srgbClr val="007E00"/>
                </a:solidFill>
                <a:effectLst/>
                <a:uLnTx/>
                <a:uFillTx/>
                <a:latin typeface="Times New Roman"/>
                <a:ea typeface="+mn-ea"/>
                <a:cs typeface="Times New Roman"/>
              </a:rPr>
              <a:t> </a:t>
            </a:r>
            <a:r>
              <a:rPr kumimoji="0" sz="1500" b="0" i="0" u="none" strike="noStrike" kern="1200" cap="none" spc="-5" normalizeH="0" baseline="0" noProof="0" dirty="0">
                <a:ln>
                  <a:noFill/>
                </a:ln>
                <a:solidFill>
                  <a:srgbClr val="007E00"/>
                </a:solidFill>
                <a:effectLst/>
                <a:uLnTx/>
                <a:uFillTx/>
                <a:latin typeface="Times New Roman"/>
                <a:ea typeface="+mn-ea"/>
                <a:cs typeface="Times New Roman"/>
              </a:rPr>
              <a:t>1</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9" name="object 89"/>
          <p:cNvSpPr txBox="1"/>
          <p:nvPr/>
        </p:nvSpPr>
        <p:spPr>
          <a:xfrm>
            <a:off x="10179811" y="2690036"/>
            <a:ext cx="1410970" cy="419100"/>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tab pos="559435" algn="l"/>
              </a:tabLst>
              <a:defRPr/>
            </a:pPr>
            <a:r>
              <a:rPr kumimoji="0" sz="2550" b="0" i="1" u="none" strike="noStrike" kern="1200" cap="none" spc="10" normalizeH="0" baseline="0" noProof="0" dirty="0">
                <a:ln>
                  <a:noFill/>
                </a:ln>
                <a:solidFill>
                  <a:srgbClr val="007E00"/>
                </a:solidFill>
                <a:effectLst/>
                <a:uLnTx/>
                <a:uFillTx/>
                <a:latin typeface="Times New Roman"/>
                <a:ea typeface="+mn-ea"/>
                <a:cs typeface="Times New Roman"/>
              </a:rPr>
              <a:t>I	</a:t>
            </a:r>
            <a:r>
              <a:rPr kumimoji="0" sz="2550" b="0" i="0" u="none" strike="noStrike" kern="1200" cap="none" spc="15" normalizeH="0" baseline="0" noProof="0" dirty="0">
                <a:ln>
                  <a:noFill/>
                </a:ln>
                <a:solidFill>
                  <a:srgbClr val="007E00"/>
                </a:solidFill>
                <a:effectLst/>
                <a:uLnTx/>
                <a:uFillTx/>
                <a:latin typeface="Symbol"/>
                <a:ea typeface="+mn-ea"/>
                <a:cs typeface="Symbol"/>
              </a:rPr>
              <a:t></a:t>
            </a:r>
            <a:r>
              <a:rPr kumimoji="0" sz="2550" b="0" i="0" u="none" strike="noStrike" kern="1200" cap="none" spc="-280" normalizeH="0" baseline="0" noProof="0" dirty="0">
                <a:ln>
                  <a:noFill/>
                </a:ln>
                <a:solidFill>
                  <a:srgbClr val="007E00"/>
                </a:solidFill>
                <a:effectLst/>
                <a:uLnTx/>
                <a:uFillTx/>
                <a:latin typeface="Times New Roman"/>
                <a:ea typeface="+mn-ea"/>
                <a:cs typeface="Times New Roman"/>
              </a:rPr>
              <a:t> </a:t>
            </a:r>
            <a:r>
              <a:rPr kumimoji="0" sz="2550" b="0" i="0" u="none" strike="noStrike" kern="1200" cap="none" spc="-120" normalizeH="0" baseline="0" noProof="0" dirty="0">
                <a:ln>
                  <a:noFill/>
                </a:ln>
                <a:solidFill>
                  <a:srgbClr val="007E00"/>
                </a:solidFill>
                <a:effectLst/>
                <a:uLnTx/>
                <a:uFillTx/>
                <a:latin typeface="Times New Roman"/>
                <a:ea typeface="+mn-ea"/>
                <a:cs typeface="Times New Roman"/>
              </a:rPr>
              <a:t>0</a:t>
            </a:r>
            <a:r>
              <a:rPr kumimoji="0" sz="2550" b="0" i="0" u="none" strike="noStrike" kern="1200" cap="none" spc="-60" normalizeH="0" baseline="0" noProof="0" dirty="0">
                <a:ln>
                  <a:noFill/>
                </a:ln>
                <a:solidFill>
                  <a:srgbClr val="007E00"/>
                </a:solidFill>
                <a:effectLst/>
                <a:uLnTx/>
                <a:uFillTx/>
                <a:latin typeface="Times New Roman"/>
                <a:ea typeface="+mn-ea"/>
                <a:cs typeface="Times New Roman"/>
              </a:rPr>
              <a:t>.</a:t>
            </a:r>
            <a:r>
              <a:rPr kumimoji="0" sz="2550" b="0" i="0" u="none" strike="noStrike" kern="1200" cap="none" spc="-5" normalizeH="0" baseline="0" noProof="0" dirty="0">
                <a:ln>
                  <a:noFill/>
                </a:ln>
                <a:solidFill>
                  <a:srgbClr val="007E00"/>
                </a:solidFill>
                <a:effectLst/>
                <a:uLnTx/>
                <a:uFillTx/>
                <a:latin typeface="Times New Roman"/>
                <a:ea typeface="+mn-ea"/>
                <a:cs typeface="Times New Roman"/>
              </a:rPr>
              <a:t>4</a:t>
            </a:r>
            <a:r>
              <a:rPr kumimoji="0" sz="2550" b="0" i="1" u="none" strike="noStrike" kern="1200" cap="none" spc="-90" normalizeH="0" baseline="0" noProof="0" dirty="0">
                <a:ln>
                  <a:noFill/>
                </a:ln>
                <a:solidFill>
                  <a:srgbClr val="007E00"/>
                </a:solidFill>
                <a:effectLst/>
                <a:uLnTx/>
                <a:uFillTx/>
                <a:latin typeface="Times New Roman"/>
                <a:ea typeface="+mn-ea"/>
                <a:cs typeface="Times New Roman"/>
              </a:rPr>
              <a:t>Ix</a:t>
            </a:r>
            <a:endParaRPr kumimoji="0" sz="255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0" name="object 90"/>
          <p:cNvGrpSpPr/>
          <p:nvPr/>
        </p:nvGrpSpPr>
        <p:grpSpPr>
          <a:xfrm>
            <a:off x="1459230" y="2392679"/>
            <a:ext cx="1978660" cy="1503045"/>
            <a:chOff x="1459230" y="2392679"/>
            <a:chExt cx="1978660" cy="1503045"/>
          </a:xfrm>
        </p:grpSpPr>
        <p:sp>
          <p:nvSpPr>
            <p:cNvPr id="91" name="object 91"/>
            <p:cNvSpPr/>
            <p:nvPr/>
          </p:nvSpPr>
          <p:spPr>
            <a:xfrm>
              <a:off x="1627632" y="2443733"/>
              <a:ext cx="1809750" cy="615950"/>
            </a:xfrm>
            <a:custGeom>
              <a:avLst/>
              <a:gdLst/>
              <a:ahLst/>
              <a:cxnLst/>
              <a:rect l="l" t="t" r="r" b="b"/>
              <a:pathLst>
                <a:path w="1809750" h="615950">
                  <a:moveTo>
                    <a:pt x="582168" y="6858"/>
                  </a:moveTo>
                  <a:lnTo>
                    <a:pt x="576072" y="0"/>
                  </a:lnTo>
                  <a:lnTo>
                    <a:pt x="13716" y="0"/>
                  </a:lnTo>
                  <a:lnTo>
                    <a:pt x="6096" y="0"/>
                  </a:lnTo>
                  <a:lnTo>
                    <a:pt x="0" y="6858"/>
                  </a:lnTo>
                  <a:lnTo>
                    <a:pt x="0" y="22098"/>
                  </a:lnTo>
                  <a:lnTo>
                    <a:pt x="6096" y="28956"/>
                  </a:lnTo>
                  <a:lnTo>
                    <a:pt x="576072" y="28956"/>
                  </a:lnTo>
                  <a:lnTo>
                    <a:pt x="582168" y="22098"/>
                  </a:lnTo>
                  <a:lnTo>
                    <a:pt x="582168" y="6858"/>
                  </a:lnTo>
                  <a:close/>
                </a:path>
                <a:path w="1809750" h="615950">
                  <a:moveTo>
                    <a:pt x="1809750" y="593598"/>
                  </a:moveTo>
                  <a:lnTo>
                    <a:pt x="1803654" y="586740"/>
                  </a:lnTo>
                  <a:lnTo>
                    <a:pt x="1631442" y="586740"/>
                  </a:lnTo>
                  <a:lnTo>
                    <a:pt x="1623822" y="586740"/>
                  </a:lnTo>
                  <a:lnTo>
                    <a:pt x="1617726" y="593598"/>
                  </a:lnTo>
                  <a:lnTo>
                    <a:pt x="1617726" y="609600"/>
                  </a:lnTo>
                  <a:lnTo>
                    <a:pt x="1623822" y="615696"/>
                  </a:lnTo>
                  <a:lnTo>
                    <a:pt x="1803654" y="615696"/>
                  </a:lnTo>
                  <a:lnTo>
                    <a:pt x="1809750" y="609600"/>
                  </a:lnTo>
                  <a:lnTo>
                    <a:pt x="1809750" y="59359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2" name="object 92"/>
            <p:cNvPicPr/>
            <p:nvPr/>
          </p:nvPicPr>
          <p:blipFill>
            <a:blip r:embed="rId14" cstate="print"/>
            <a:stretch>
              <a:fillRect/>
            </a:stretch>
          </p:blipFill>
          <p:spPr>
            <a:xfrm>
              <a:off x="2164080" y="2392679"/>
              <a:ext cx="130301" cy="131064"/>
            </a:xfrm>
            <a:prstGeom prst="rect">
              <a:avLst/>
            </a:prstGeom>
          </p:spPr>
        </p:pic>
        <p:sp>
          <p:nvSpPr>
            <p:cNvPr id="93" name="object 93"/>
            <p:cNvSpPr/>
            <p:nvPr/>
          </p:nvSpPr>
          <p:spPr>
            <a:xfrm>
              <a:off x="1459230" y="3522725"/>
              <a:ext cx="760730" cy="372745"/>
            </a:xfrm>
            <a:custGeom>
              <a:avLst/>
              <a:gdLst/>
              <a:ahLst/>
              <a:cxnLst/>
              <a:rect l="l" t="t" r="r" b="b"/>
              <a:pathLst>
                <a:path w="760730" h="372745">
                  <a:moveTo>
                    <a:pt x="362712" y="6858"/>
                  </a:moveTo>
                  <a:lnTo>
                    <a:pt x="356616" y="0"/>
                  </a:lnTo>
                  <a:lnTo>
                    <a:pt x="334518" y="0"/>
                  </a:lnTo>
                  <a:lnTo>
                    <a:pt x="334518" y="28956"/>
                  </a:lnTo>
                  <a:lnTo>
                    <a:pt x="334518" y="343662"/>
                  </a:lnTo>
                  <a:lnTo>
                    <a:pt x="28956" y="343662"/>
                  </a:lnTo>
                  <a:lnTo>
                    <a:pt x="28956" y="28956"/>
                  </a:lnTo>
                  <a:lnTo>
                    <a:pt x="334518" y="28956"/>
                  </a:lnTo>
                  <a:lnTo>
                    <a:pt x="334518" y="0"/>
                  </a:lnTo>
                  <a:lnTo>
                    <a:pt x="6858" y="0"/>
                  </a:lnTo>
                  <a:lnTo>
                    <a:pt x="0" y="6858"/>
                  </a:lnTo>
                  <a:lnTo>
                    <a:pt x="0" y="366522"/>
                  </a:lnTo>
                  <a:lnTo>
                    <a:pt x="6858" y="372618"/>
                  </a:lnTo>
                  <a:lnTo>
                    <a:pt x="14478" y="372618"/>
                  </a:lnTo>
                  <a:lnTo>
                    <a:pt x="28956" y="372618"/>
                  </a:lnTo>
                  <a:lnTo>
                    <a:pt x="334518" y="372618"/>
                  </a:lnTo>
                  <a:lnTo>
                    <a:pt x="348234" y="372618"/>
                  </a:lnTo>
                  <a:lnTo>
                    <a:pt x="356616" y="372618"/>
                  </a:lnTo>
                  <a:lnTo>
                    <a:pt x="362712" y="366522"/>
                  </a:lnTo>
                  <a:lnTo>
                    <a:pt x="362712" y="6858"/>
                  </a:lnTo>
                  <a:close/>
                </a:path>
                <a:path w="760730" h="372745">
                  <a:moveTo>
                    <a:pt x="760476" y="188226"/>
                  </a:moveTo>
                  <a:lnTo>
                    <a:pt x="754380" y="182130"/>
                  </a:lnTo>
                  <a:lnTo>
                    <a:pt x="384810" y="182130"/>
                  </a:lnTo>
                  <a:lnTo>
                    <a:pt x="377190" y="182130"/>
                  </a:lnTo>
                  <a:lnTo>
                    <a:pt x="371094" y="188226"/>
                  </a:lnTo>
                  <a:lnTo>
                    <a:pt x="371094" y="204228"/>
                  </a:lnTo>
                  <a:lnTo>
                    <a:pt x="377190" y="210324"/>
                  </a:lnTo>
                  <a:lnTo>
                    <a:pt x="754380" y="210324"/>
                  </a:lnTo>
                  <a:lnTo>
                    <a:pt x="760476" y="204228"/>
                  </a:lnTo>
                  <a:lnTo>
                    <a:pt x="760476" y="18822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4" name="object 94"/>
            <p:cNvPicPr/>
            <p:nvPr/>
          </p:nvPicPr>
          <p:blipFill>
            <a:blip r:embed="rId15" cstate="print"/>
            <a:stretch>
              <a:fillRect/>
            </a:stretch>
          </p:blipFill>
          <p:spPr>
            <a:xfrm>
              <a:off x="2173986" y="3653027"/>
              <a:ext cx="128016" cy="131825"/>
            </a:xfrm>
            <a:prstGeom prst="rect">
              <a:avLst/>
            </a:prstGeom>
          </p:spPr>
        </p:pic>
      </p:grpSp>
      <p:sp>
        <p:nvSpPr>
          <p:cNvPr id="95" name="object 95"/>
          <p:cNvSpPr txBox="1"/>
          <p:nvPr/>
        </p:nvSpPr>
        <p:spPr>
          <a:xfrm>
            <a:off x="1538732" y="3538220"/>
            <a:ext cx="200025"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0" normalizeH="0" baseline="0" noProof="0" dirty="0">
                <a:ln>
                  <a:noFill/>
                </a:ln>
                <a:solidFill>
                  <a:prstClr val="black"/>
                </a:solidFill>
                <a:effectLst/>
                <a:uLnTx/>
                <a:uFillTx/>
                <a:latin typeface="Times New Roman"/>
                <a:ea typeface="+mn-ea"/>
                <a:cs typeface="Times New Roman"/>
              </a:rPr>
              <a:t>D</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6" name="object 96"/>
          <p:cNvGrpSpPr/>
          <p:nvPr/>
        </p:nvGrpSpPr>
        <p:grpSpPr>
          <a:xfrm>
            <a:off x="1575816" y="1994154"/>
            <a:ext cx="1777364" cy="1741170"/>
            <a:chOff x="1575816" y="1994154"/>
            <a:chExt cx="1777364" cy="1741170"/>
          </a:xfrm>
        </p:grpSpPr>
        <p:sp>
          <p:nvSpPr>
            <p:cNvPr id="97" name="object 97"/>
            <p:cNvSpPr/>
            <p:nvPr/>
          </p:nvSpPr>
          <p:spPr>
            <a:xfrm>
              <a:off x="1625346" y="1994154"/>
              <a:ext cx="29209" cy="1421130"/>
            </a:xfrm>
            <a:custGeom>
              <a:avLst/>
              <a:gdLst/>
              <a:ahLst/>
              <a:cxnLst/>
              <a:rect l="l" t="t" r="r" b="b"/>
              <a:pathLst>
                <a:path w="29210" h="1421129">
                  <a:moveTo>
                    <a:pt x="28956" y="1414271"/>
                  </a:moveTo>
                  <a:lnTo>
                    <a:pt x="28956" y="14477"/>
                  </a:lnTo>
                  <a:lnTo>
                    <a:pt x="28956" y="6095"/>
                  </a:lnTo>
                  <a:lnTo>
                    <a:pt x="22098" y="0"/>
                  </a:lnTo>
                  <a:lnTo>
                    <a:pt x="6858" y="0"/>
                  </a:lnTo>
                  <a:lnTo>
                    <a:pt x="0" y="6095"/>
                  </a:lnTo>
                  <a:lnTo>
                    <a:pt x="0" y="1414271"/>
                  </a:lnTo>
                  <a:lnTo>
                    <a:pt x="6858" y="1421130"/>
                  </a:lnTo>
                  <a:lnTo>
                    <a:pt x="22098" y="1421130"/>
                  </a:lnTo>
                  <a:lnTo>
                    <a:pt x="28956" y="141427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8" name="object 98"/>
            <p:cNvPicPr/>
            <p:nvPr/>
          </p:nvPicPr>
          <p:blipFill>
            <a:blip r:embed="rId16" cstate="print"/>
            <a:stretch>
              <a:fillRect/>
            </a:stretch>
          </p:blipFill>
          <p:spPr>
            <a:xfrm>
              <a:off x="1575816" y="3368802"/>
              <a:ext cx="128015" cy="131063"/>
            </a:xfrm>
            <a:prstGeom prst="rect">
              <a:avLst/>
            </a:prstGeom>
          </p:spPr>
        </p:pic>
        <p:sp>
          <p:nvSpPr>
            <p:cNvPr id="99" name="object 99"/>
            <p:cNvSpPr/>
            <p:nvPr/>
          </p:nvSpPr>
          <p:spPr>
            <a:xfrm>
              <a:off x="2289810" y="2116848"/>
              <a:ext cx="1062990" cy="1618615"/>
            </a:xfrm>
            <a:custGeom>
              <a:avLst/>
              <a:gdLst/>
              <a:ahLst/>
              <a:cxnLst/>
              <a:rect l="l" t="t" r="r" b="b"/>
              <a:pathLst>
                <a:path w="1062989" h="1618614">
                  <a:moveTo>
                    <a:pt x="1062990" y="1596377"/>
                  </a:moveTo>
                  <a:lnTo>
                    <a:pt x="1056894" y="1589519"/>
                  </a:lnTo>
                  <a:lnTo>
                    <a:pt x="880872" y="1589519"/>
                  </a:lnTo>
                  <a:lnTo>
                    <a:pt x="873252" y="1589519"/>
                  </a:lnTo>
                  <a:lnTo>
                    <a:pt x="866394" y="1596377"/>
                  </a:lnTo>
                  <a:lnTo>
                    <a:pt x="866394" y="1612379"/>
                  </a:lnTo>
                  <a:lnTo>
                    <a:pt x="873252" y="1618475"/>
                  </a:lnTo>
                  <a:lnTo>
                    <a:pt x="1056894" y="1618475"/>
                  </a:lnTo>
                  <a:lnTo>
                    <a:pt x="1062990" y="1612379"/>
                  </a:lnTo>
                  <a:lnTo>
                    <a:pt x="1062990" y="1596377"/>
                  </a:lnTo>
                  <a:close/>
                </a:path>
                <a:path w="1062989" h="1618614">
                  <a:moveTo>
                    <a:pt x="1062990" y="321551"/>
                  </a:moveTo>
                  <a:lnTo>
                    <a:pt x="1056894" y="315455"/>
                  </a:lnTo>
                  <a:lnTo>
                    <a:pt x="873252" y="315455"/>
                  </a:lnTo>
                  <a:lnTo>
                    <a:pt x="871474" y="317030"/>
                  </a:lnTo>
                  <a:lnTo>
                    <a:pt x="868680" y="316230"/>
                  </a:lnTo>
                  <a:lnTo>
                    <a:pt x="822680" y="299199"/>
                  </a:lnTo>
                  <a:lnTo>
                    <a:pt x="822680" y="329565"/>
                  </a:lnTo>
                  <a:lnTo>
                    <a:pt x="9144" y="630174"/>
                  </a:lnTo>
                  <a:lnTo>
                    <a:pt x="28194" y="623125"/>
                  </a:lnTo>
                  <a:lnTo>
                    <a:pt x="28194" y="35991"/>
                  </a:lnTo>
                  <a:lnTo>
                    <a:pt x="822680" y="329565"/>
                  </a:lnTo>
                  <a:lnTo>
                    <a:pt x="822680" y="299199"/>
                  </a:lnTo>
                  <a:lnTo>
                    <a:pt x="19050" y="1524"/>
                  </a:lnTo>
                  <a:lnTo>
                    <a:pt x="14478" y="0"/>
                  </a:lnTo>
                  <a:lnTo>
                    <a:pt x="9906" y="762"/>
                  </a:lnTo>
                  <a:lnTo>
                    <a:pt x="6096" y="3810"/>
                  </a:lnTo>
                  <a:lnTo>
                    <a:pt x="2286" y="6096"/>
                  </a:lnTo>
                  <a:lnTo>
                    <a:pt x="0" y="10668"/>
                  </a:lnTo>
                  <a:lnTo>
                    <a:pt x="0" y="648462"/>
                  </a:lnTo>
                  <a:lnTo>
                    <a:pt x="2286" y="653034"/>
                  </a:lnTo>
                  <a:lnTo>
                    <a:pt x="6096" y="655320"/>
                  </a:lnTo>
                  <a:lnTo>
                    <a:pt x="9144" y="657758"/>
                  </a:lnTo>
                  <a:lnTo>
                    <a:pt x="9906" y="658368"/>
                  </a:lnTo>
                  <a:lnTo>
                    <a:pt x="14478" y="658368"/>
                  </a:lnTo>
                  <a:lnTo>
                    <a:pt x="19050" y="656844"/>
                  </a:lnTo>
                  <a:lnTo>
                    <a:pt x="28194" y="653453"/>
                  </a:lnTo>
                  <a:lnTo>
                    <a:pt x="858774" y="346557"/>
                  </a:lnTo>
                  <a:lnTo>
                    <a:pt x="868680" y="342900"/>
                  </a:lnTo>
                  <a:lnTo>
                    <a:pt x="871194" y="341833"/>
                  </a:lnTo>
                  <a:lnTo>
                    <a:pt x="873252" y="343649"/>
                  </a:lnTo>
                  <a:lnTo>
                    <a:pt x="1034796" y="343649"/>
                  </a:lnTo>
                  <a:lnTo>
                    <a:pt x="1034796" y="795515"/>
                  </a:lnTo>
                  <a:lnTo>
                    <a:pt x="1040892" y="802373"/>
                  </a:lnTo>
                  <a:lnTo>
                    <a:pt x="1048512" y="802373"/>
                  </a:lnTo>
                  <a:lnTo>
                    <a:pt x="1056894" y="802373"/>
                  </a:lnTo>
                  <a:lnTo>
                    <a:pt x="1062990" y="795515"/>
                  </a:lnTo>
                  <a:lnTo>
                    <a:pt x="1062990" y="32155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0" name="object 100"/>
          <p:cNvSpPr txBox="1"/>
          <p:nvPr/>
        </p:nvSpPr>
        <p:spPr>
          <a:xfrm>
            <a:off x="2392172" y="2251963"/>
            <a:ext cx="364490"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85" normalizeH="0" baseline="0" noProof="0" dirty="0">
                <a:ln>
                  <a:noFill/>
                </a:ln>
                <a:solidFill>
                  <a:srgbClr val="0000FF"/>
                </a:solidFill>
                <a:effectLst/>
                <a:uLnTx/>
                <a:uFillTx/>
                <a:latin typeface="Times New Roman"/>
                <a:ea typeface="+mn-ea"/>
                <a:cs typeface="Times New Roman"/>
              </a:rPr>
              <a:t>0</a:t>
            </a:r>
            <a:r>
              <a:rPr kumimoji="0" sz="1900" b="1" i="0" u="none" strike="noStrike" kern="1200" cap="none" spc="100" normalizeH="0" baseline="0" noProof="0" dirty="0">
                <a:ln>
                  <a:noFill/>
                </a:ln>
                <a:solidFill>
                  <a:srgbClr val="0000FF"/>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00FF"/>
                </a:solidFill>
                <a:effectLst/>
                <a:uLnTx/>
                <a:uFillTx/>
                <a:latin typeface="Times New Roman"/>
                <a:ea typeface="+mn-ea"/>
                <a:cs typeface="Times New Roman"/>
              </a:rPr>
              <a:t>6</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1" name="object 101"/>
          <p:cNvSpPr txBox="1"/>
          <p:nvPr/>
        </p:nvSpPr>
        <p:spPr>
          <a:xfrm>
            <a:off x="1831085" y="1986025"/>
            <a:ext cx="320040"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0</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102" name="object 102"/>
          <p:cNvSpPr/>
          <p:nvPr/>
        </p:nvSpPr>
        <p:spPr>
          <a:xfrm>
            <a:off x="2289810" y="3360420"/>
            <a:ext cx="878205" cy="713740"/>
          </a:xfrm>
          <a:custGeom>
            <a:avLst/>
            <a:gdLst/>
            <a:ahLst/>
            <a:cxnLst/>
            <a:rect l="l" t="t" r="r" b="b"/>
            <a:pathLst>
              <a:path w="878205" h="713739">
                <a:moveTo>
                  <a:pt x="877823" y="362712"/>
                </a:moveTo>
                <a:lnTo>
                  <a:pt x="877823" y="350520"/>
                </a:lnTo>
                <a:lnTo>
                  <a:pt x="874013" y="345186"/>
                </a:lnTo>
                <a:lnTo>
                  <a:pt x="868679" y="343662"/>
                </a:lnTo>
                <a:lnTo>
                  <a:pt x="15239" y="0"/>
                </a:lnTo>
                <a:lnTo>
                  <a:pt x="9905" y="0"/>
                </a:lnTo>
                <a:lnTo>
                  <a:pt x="6095" y="3048"/>
                </a:lnTo>
                <a:lnTo>
                  <a:pt x="2285" y="5334"/>
                </a:lnTo>
                <a:lnTo>
                  <a:pt x="0" y="9906"/>
                </a:lnTo>
                <a:lnTo>
                  <a:pt x="0" y="703326"/>
                </a:lnTo>
                <a:lnTo>
                  <a:pt x="2285" y="707898"/>
                </a:lnTo>
                <a:lnTo>
                  <a:pt x="6095" y="710184"/>
                </a:lnTo>
                <a:lnTo>
                  <a:pt x="8381" y="712012"/>
                </a:lnTo>
                <a:lnTo>
                  <a:pt x="8381" y="28194"/>
                </a:lnTo>
                <a:lnTo>
                  <a:pt x="28193" y="14478"/>
                </a:lnTo>
                <a:lnTo>
                  <a:pt x="28193" y="36154"/>
                </a:lnTo>
                <a:lnTo>
                  <a:pt x="825771" y="356616"/>
                </a:lnTo>
                <a:lnTo>
                  <a:pt x="858012" y="343662"/>
                </a:lnTo>
                <a:lnTo>
                  <a:pt x="858012" y="373865"/>
                </a:lnTo>
                <a:lnTo>
                  <a:pt x="868679" y="369570"/>
                </a:lnTo>
                <a:lnTo>
                  <a:pt x="874013" y="367284"/>
                </a:lnTo>
                <a:lnTo>
                  <a:pt x="877823" y="362712"/>
                </a:lnTo>
                <a:close/>
              </a:path>
              <a:path w="878205" h="713739">
                <a:moveTo>
                  <a:pt x="28193" y="36154"/>
                </a:moveTo>
                <a:lnTo>
                  <a:pt x="28193" y="14478"/>
                </a:lnTo>
                <a:lnTo>
                  <a:pt x="8381" y="28194"/>
                </a:lnTo>
                <a:lnTo>
                  <a:pt x="28193" y="36154"/>
                </a:lnTo>
                <a:close/>
              </a:path>
              <a:path w="878205" h="713739">
                <a:moveTo>
                  <a:pt x="28193" y="677077"/>
                </a:moveTo>
                <a:lnTo>
                  <a:pt x="28193" y="36154"/>
                </a:lnTo>
                <a:lnTo>
                  <a:pt x="8381" y="28194"/>
                </a:lnTo>
                <a:lnTo>
                  <a:pt x="8381" y="685038"/>
                </a:lnTo>
                <a:lnTo>
                  <a:pt x="28193" y="677077"/>
                </a:lnTo>
                <a:close/>
              </a:path>
              <a:path w="878205" h="713739">
                <a:moveTo>
                  <a:pt x="858012" y="373865"/>
                </a:moveTo>
                <a:lnTo>
                  <a:pt x="858012" y="369570"/>
                </a:lnTo>
                <a:lnTo>
                  <a:pt x="825771" y="356616"/>
                </a:lnTo>
                <a:lnTo>
                  <a:pt x="8381" y="685038"/>
                </a:lnTo>
                <a:lnTo>
                  <a:pt x="28193" y="698754"/>
                </a:lnTo>
                <a:lnTo>
                  <a:pt x="28194" y="708015"/>
                </a:lnTo>
                <a:lnTo>
                  <a:pt x="858012" y="373865"/>
                </a:lnTo>
                <a:close/>
              </a:path>
              <a:path w="878205" h="713739">
                <a:moveTo>
                  <a:pt x="28194" y="708015"/>
                </a:moveTo>
                <a:lnTo>
                  <a:pt x="28193" y="698754"/>
                </a:lnTo>
                <a:lnTo>
                  <a:pt x="8381" y="685038"/>
                </a:lnTo>
                <a:lnTo>
                  <a:pt x="8381" y="712012"/>
                </a:lnTo>
                <a:lnTo>
                  <a:pt x="9905" y="713232"/>
                </a:lnTo>
                <a:lnTo>
                  <a:pt x="15240" y="713232"/>
                </a:lnTo>
                <a:lnTo>
                  <a:pt x="28194" y="708015"/>
                </a:lnTo>
                <a:close/>
              </a:path>
              <a:path w="878205" h="713739">
                <a:moveTo>
                  <a:pt x="858012" y="369570"/>
                </a:moveTo>
                <a:lnTo>
                  <a:pt x="858012" y="343662"/>
                </a:lnTo>
                <a:lnTo>
                  <a:pt x="825771" y="356616"/>
                </a:lnTo>
                <a:lnTo>
                  <a:pt x="858012" y="36957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object 103"/>
          <p:cNvSpPr txBox="1"/>
          <p:nvPr/>
        </p:nvSpPr>
        <p:spPr>
          <a:xfrm>
            <a:off x="2335783" y="3522217"/>
            <a:ext cx="461009"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25"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0</a:t>
            </a:r>
            <a:r>
              <a:rPr kumimoji="0" sz="1900" b="1" i="0" u="none" strike="noStrike" kern="1200" cap="none" spc="-290" normalizeH="0" baseline="0" noProof="0" dirty="0">
                <a:ln>
                  <a:noFill/>
                </a:ln>
                <a:solidFill>
                  <a:srgbClr val="006500"/>
                </a:solidFill>
                <a:effectLst/>
                <a:uLnTx/>
                <a:uFillTx/>
                <a:latin typeface="Times New Roman"/>
                <a:ea typeface="+mn-ea"/>
                <a:cs typeface="Times New Roman"/>
              </a:rPr>
              <a:t> </a:t>
            </a:r>
            <a:r>
              <a:rPr kumimoji="0" sz="1900" b="1" i="0" u="none" strike="noStrike" kern="1200" cap="none" spc="100"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4</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4" name="object 104"/>
          <p:cNvSpPr/>
          <p:nvPr/>
        </p:nvSpPr>
        <p:spPr>
          <a:xfrm>
            <a:off x="3188970" y="2890265"/>
            <a:ext cx="716280" cy="847090"/>
          </a:xfrm>
          <a:custGeom>
            <a:avLst/>
            <a:gdLst/>
            <a:ahLst/>
            <a:cxnLst/>
            <a:rect l="l" t="t" r="r" b="b"/>
            <a:pathLst>
              <a:path w="716279" h="847089">
                <a:moveTo>
                  <a:pt x="167640" y="64008"/>
                </a:moveTo>
                <a:lnTo>
                  <a:pt x="161544" y="57912"/>
                </a:lnTo>
                <a:lnTo>
                  <a:pt x="145542" y="57912"/>
                </a:lnTo>
                <a:lnTo>
                  <a:pt x="139446" y="64008"/>
                </a:lnTo>
                <a:lnTo>
                  <a:pt x="139446" y="247650"/>
                </a:lnTo>
                <a:lnTo>
                  <a:pt x="145542" y="253746"/>
                </a:lnTo>
                <a:lnTo>
                  <a:pt x="161544" y="253746"/>
                </a:lnTo>
                <a:lnTo>
                  <a:pt x="167640" y="247650"/>
                </a:lnTo>
                <a:lnTo>
                  <a:pt x="167640" y="71628"/>
                </a:lnTo>
                <a:lnTo>
                  <a:pt x="167640" y="64008"/>
                </a:lnTo>
                <a:close/>
              </a:path>
              <a:path w="716279" h="847089">
                <a:moveTo>
                  <a:pt x="716280" y="143256"/>
                </a:moveTo>
                <a:lnTo>
                  <a:pt x="709422" y="136398"/>
                </a:lnTo>
                <a:lnTo>
                  <a:pt x="296418" y="136398"/>
                </a:lnTo>
                <a:lnTo>
                  <a:pt x="295656" y="128778"/>
                </a:lnTo>
                <a:lnTo>
                  <a:pt x="284988" y="92202"/>
                </a:lnTo>
                <a:lnTo>
                  <a:pt x="268224" y="62141"/>
                </a:lnTo>
                <a:lnTo>
                  <a:pt x="268224" y="139446"/>
                </a:lnTo>
                <a:lnTo>
                  <a:pt x="268224" y="143256"/>
                </a:lnTo>
                <a:lnTo>
                  <a:pt x="268224" y="158496"/>
                </a:lnTo>
                <a:lnTo>
                  <a:pt x="267462" y="164592"/>
                </a:lnTo>
                <a:lnTo>
                  <a:pt x="266700" y="171450"/>
                </a:lnTo>
                <a:lnTo>
                  <a:pt x="253746" y="211074"/>
                </a:lnTo>
                <a:lnTo>
                  <a:pt x="224028" y="247650"/>
                </a:lnTo>
                <a:lnTo>
                  <a:pt x="189738" y="267462"/>
                </a:lnTo>
                <a:lnTo>
                  <a:pt x="166116" y="273558"/>
                </a:lnTo>
                <a:lnTo>
                  <a:pt x="160782" y="274320"/>
                </a:lnTo>
                <a:lnTo>
                  <a:pt x="156210" y="274891"/>
                </a:lnTo>
                <a:lnTo>
                  <a:pt x="140970" y="274993"/>
                </a:lnTo>
                <a:lnTo>
                  <a:pt x="135636" y="274320"/>
                </a:lnTo>
                <a:lnTo>
                  <a:pt x="130302" y="273558"/>
                </a:lnTo>
                <a:lnTo>
                  <a:pt x="124206" y="272034"/>
                </a:lnTo>
                <a:lnTo>
                  <a:pt x="118110" y="271272"/>
                </a:lnTo>
                <a:lnTo>
                  <a:pt x="112776" y="268986"/>
                </a:lnTo>
                <a:lnTo>
                  <a:pt x="107442" y="267462"/>
                </a:lnTo>
                <a:lnTo>
                  <a:pt x="102108" y="265176"/>
                </a:lnTo>
                <a:lnTo>
                  <a:pt x="96012" y="262890"/>
                </a:lnTo>
                <a:lnTo>
                  <a:pt x="91440" y="259842"/>
                </a:lnTo>
                <a:lnTo>
                  <a:pt x="80772" y="253746"/>
                </a:lnTo>
                <a:lnTo>
                  <a:pt x="48768" y="220218"/>
                </a:lnTo>
                <a:lnTo>
                  <a:pt x="38100" y="198882"/>
                </a:lnTo>
                <a:lnTo>
                  <a:pt x="35814" y="194310"/>
                </a:lnTo>
                <a:lnTo>
                  <a:pt x="29718" y="169926"/>
                </a:lnTo>
                <a:lnTo>
                  <a:pt x="28956" y="163830"/>
                </a:lnTo>
                <a:lnTo>
                  <a:pt x="28956" y="145542"/>
                </a:lnTo>
                <a:lnTo>
                  <a:pt x="29718" y="138684"/>
                </a:lnTo>
                <a:lnTo>
                  <a:pt x="31242" y="126492"/>
                </a:lnTo>
                <a:lnTo>
                  <a:pt x="32766" y="120396"/>
                </a:lnTo>
                <a:lnTo>
                  <a:pt x="34290" y="115062"/>
                </a:lnTo>
                <a:lnTo>
                  <a:pt x="35814" y="108966"/>
                </a:lnTo>
                <a:lnTo>
                  <a:pt x="56388" y="73152"/>
                </a:lnTo>
                <a:lnTo>
                  <a:pt x="92202" y="43434"/>
                </a:lnTo>
                <a:lnTo>
                  <a:pt x="96774" y="41148"/>
                </a:lnTo>
                <a:lnTo>
                  <a:pt x="102108" y="38100"/>
                </a:lnTo>
                <a:lnTo>
                  <a:pt x="108204" y="35814"/>
                </a:lnTo>
                <a:lnTo>
                  <a:pt x="118872" y="32766"/>
                </a:lnTo>
                <a:lnTo>
                  <a:pt x="124968" y="31242"/>
                </a:lnTo>
                <a:lnTo>
                  <a:pt x="131064" y="30480"/>
                </a:lnTo>
                <a:lnTo>
                  <a:pt x="136398" y="29718"/>
                </a:lnTo>
                <a:lnTo>
                  <a:pt x="141732" y="29057"/>
                </a:lnTo>
                <a:lnTo>
                  <a:pt x="156210" y="29057"/>
                </a:lnTo>
                <a:lnTo>
                  <a:pt x="161544" y="29718"/>
                </a:lnTo>
                <a:lnTo>
                  <a:pt x="166878" y="30480"/>
                </a:lnTo>
                <a:lnTo>
                  <a:pt x="172974" y="31242"/>
                </a:lnTo>
                <a:lnTo>
                  <a:pt x="179070" y="32766"/>
                </a:lnTo>
                <a:lnTo>
                  <a:pt x="184404" y="34290"/>
                </a:lnTo>
                <a:lnTo>
                  <a:pt x="189738" y="36576"/>
                </a:lnTo>
                <a:lnTo>
                  <a:pt x="195834" y="38862"/>
                </a:lnTo>
                <a:lnTo>
                  <a:pt x="200406" y="41148"/>
                </a:lnTo>
                <a:lnTo>
                  <a:pt x="205740" y="43434"/>
                </a:lnTo>
                <a:lnTo>
                  <a:pt x="225552" y="57150"/>
                </a:lnTo>
                <a:lnTo>
                  <a:pt x="254508" y="93726"/>
                </a:lnTo>
                <a:lnTo>
                  <a:pt x="262890" y="115824"/>
                </a:lnTo>
                <a:lnTo>
                  <a:pt x="264414" y="121158"/>
                </a:lnTo>
                <a:lnTo>
                  <a:pt x="267462" y="133350"/>
                </a:lnTo>
                <a:lnTo>
                  <a:pt x="268224" y="139446"/>
                </a:lnTo>
                <a:lnTo>
                  <a:pt x="268224" y="62141"/>
                </a:lnTo>
                <a:lnTo>
                  <a:pt x="230886" y="25908"/>
                </a:lnTo>
                <a:lnTo>
                  <a:pt x="212598" y="15240"/>
                </a:lnTo>
                <a:lnTo>
                  <a:pt x="206502" y="12192"/>
                </a:lnTo>
                <a:lnTo>
                  <a:pt x="170688" y="2286"/>
                </a:lnTo>
                <a:lnTo>
                  <a:pt x="163068" y="762"/>
                </a:lnTo>
                <a:lnTo>
                  <a:pt x="155448" y="698"/>
                </a:lnTo>
                <a:lnTo>
                  <a:pt x="147828" y="0"/>
                </a:lnTo>
                <a:lnTo>
                  <a:pt x="140970" y="685"/>
                </a:lnTo>
                <a:lnTo>
                  <a:pt x="133350" y="762"/>
                </a:lnTo>
                <a:lnTo>
                  <a:pt x="125730" y="2286"/>
                </a:lnTo>
                <a:lnTo>
                  <a:pt x="118110" y="3048"/>
                </a:lnTo>
                <a:lnTo>
                  <a:pt x="111252" y="5334"/>
                </a:lnTo>
                <a:lnTo>
                  <a:pt x="103632" y="6858"/>
                </a:lnTo>
                <a:lnTo>
                  <a:pt x="96774" y="9906"/>
                </a:lnTo>
                <a:lnTo>
                  <a:pt x="53340" y="35052"/>
                </a:lnTo>
                <a:lnTo>
                  <a:pt x="25146" y="67818"/>
                </a:lnTo>
                <a:lnTo>
                  <a:pt x="9144" y="100584"/>
                </a:lnTo>
                <a:lnTo>
                  <a:pt x="4572" y="114300"/>
                </a:lnTo>
                <a:lnTo>
                  <a:pt x="1524" y="129540"/>
                </a:lnTo>
                <a:lnTo>
                  <a:pt x="762" y="136398"/>
                </a:lnTo>
                <a:lnTo>
                  <a:pt x="0" y="144780"/>
                </a:lnTo>
                <a:lnTo>
                  <a:pt x="0" y="160020"/>
                </a:lnTo>
                <a:lnTo>
                  <a:pt x="9144" y="204216"/>
                </a:lnTo>
                <a:lnTo>
                  <a:pt x="28956" y="241147"/>
                </a:lnTo>
                <a:lnTo>
                  <a:pt x="66294" y="278130"/>
                </a:lnTo>
                <a:lnTo>
                  <a:pt x="104394" y="296418"/>
                </a:lnTo>
                <a:lnTo>
                  <a:pt x="134112" y="302514"/>
                </a:lnTo>
                <a:lnTo>
                  <a:pt x="135636" y="302691"/>
                </a:lnTo>
                <a:lnTo>
                  <a:pt x="135636" y="840498"/>
                </a:lnTo>
                <a:lnTo>
                  <a:pt x="141732" y="846594"/>
                </a:lnTo>
                <a:lnTo>
                  <a:pt x="157734" y="846594"/>
                </a:lnTo>
                <a:lnTo>
                  <a:pt x="163830" y="840498"/>
                </a:lnTo>
                <a:lnTo>
                  <a:pt x="163830" y="832878"/>
                </a:lnTo>
                <a:lnTo>
                  <a:pt x="163830" y="302514"/>
                </a:lnTo>
                <a:lnTo>
                  <a:pt x="171450" y="301752"/>
                </a:lnTo>
                <a:lnTo>
                  <a:pt x="179070" y="300228"/>
                </a:lnTo>
                <a:lnTo>
                  <a:pt x="185928" y="298704"/>
                </a:lnTo>
                <a:lnTo>
                  <a:pt x="192786" y="296418"/>
                </a:lnTo>
                <a:lnTo>
                  <a:pt x="200406" y="294132"/>
                </a:lnTo>
                <a:lnTo>
                  <a:pt x="206502" y="291084"/>
                </a:lnTo>
                <a:lnTo>
                  <a:pt x="220218" y="284988"/>
                </a:lnTo>
                <a:lnTo>
                  <a:pt x="232410" y="277368"/>
                </a:lnTo>
                <a:lnTo>
                  <a:pt x="263652" y="247650"/>
                </a:lnTo>
                <a:lnTo>
                  <a:pt x="285750" y="210312"/>
                </a:lnTo>
                <a:lnTo>
                  <a:pt x="296570" y="165354"/>
                </a:lnTo>
                <a:lnTo>
                  <a:pt x="709422" y="165354"/>
                </a:lnTo>
                <a:lnTo>
                  <a:pt x="716280" y="158496"/>
                </a:lnTo>
                <a:lnTo>
                  <a:pt x="716280" y="14325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bject 105"/>
          <p:cNvSpPr txBox="1"/>
          <p:nvPr/>
        </p:nvSpPr>
        <p:spPr>
          <a:xfrm>
            <a:off x="1909572" y="3187700"/>
            <a:ext cx="320040"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1</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106" name="object 106"/>
          <p:cNvSpPr txBox="1"/>
          <p:nvPr/>
        </p:nvSpPr>
        <p:spPr>
          <a:xfrm>
            <a:off x="3528821" y="2643632"/>
            <a:ext cx="611505"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3450" b="0" i="1" u="none" strike="noStrike" kern="1200" cap="none" spc="15" normalizeH="0" baseline="13285" noProof="0" dirty="0">
                <a:ln>
                  <a:noFill/>
                </a:ln>
                <a:solidFill>
                  <a:prstClr val="black"/>
                </a:solidFill>
                <a:effectLst/>
                <a:uLnTx/>
                <a:uFillTx/>
                <a:latin typeface="Times New Roman"/>
                <a:ea typeface="+mn-ea"/>
                <a:cs typeface="Times New Roman"/>
              </a:rPr>
              <a:t>V</a:t>
            </a:r>
            <a:r>
              <a:rPr kumimoji="0" sz="1500" b="0" i="1" u="none" strike="noStrike" kern="1200" cap="none" spc="10" normalizeH="0" baseline="0" noProof="0" dirty="0">
                <a:ln>
                  <a:noFill/>
                </a:ln>
                <a:solidFill>
                  <a:prstClr val="black"/>
                </a:solidFill>
                <a:effectLst/>
                <a:uLnTx/>
                <a:uFillTx/>
                <a:latin typeface="Times New Roman"/>
                <a:ea typeface="+mn-ea"/>
                <a:cs typeface="Times New Roman"/>
              </a:rPr>
              <a:t>FFE</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7" name="object 107"/>
          <p:cNvSpPr txBox="1"/>
          <p:nvPr/>
        </p:nvSpPr>
        <p:spPr>
          <a:xfrm>
            <a:off x="9269983" y="1544827"/>
            <a:ext cx="233679"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109" name="Slide Number Placeholder 108"/>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38</a:t>
            </a:fld>
            <a:endParaRPr lang="en-US" spc="-50" dirty="0"/>
          </a:p>
        </p:txBody>
      </p:sp>
      <p:sp>
        <p:nvSpPr>
          <p:cNvPr id="110" name="Date Placeholder 109"/>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1" name="Footer Placeholder 11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9791227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3843" y="298566"/>
            <a:ext cx="5267325" cy="604520"/>
          </a:xfrm>
          <a:prstGeom prst="rect">
            <a:avLst/>
          </a:prstGeom>
        </p:spPr>
        <p:txBody>
          <a:bodyPr vert="horz" wrap="square" lIns="0" tIns="12065" rIns="0" bIns="0" rtlCol="0">
            <a:spAutoFit/>
          </a:bodyPr>
          <a:lstStyle/>
          <a:p>
            <a:pPr marL="12700">
              <a:lnSpc>
                <a:spcPct val="100000"/>
              </a:lnSpc>
              <a:spcBef>
                <a:spcPts val="95"/>
              </a:spcBef>
            </a:pPr>
            <a:r>
              <a:rPr sz="3800" b="0" spc="-10" dirty="0">
                <a:latin typeface="Verdana"/>
                <a:cs typeface="Verdana"/>
              </a:rPr>
              <a:t>Current</a:t>
            </a:r>
            <a:r>
              <a:rPr sz="3800" b="0" spc="-5" dirty="0">
                <a:latin typeface="Verdana"/>
                <a:cs typeface="Verdana"/>
              </a:rPr>
              <a:t> Mode</a:t>
            </a:r>
            <a:r>
              <a:rPr sz="3800" b="0" dirty="0">
                <a:latin typeface="Verdana"/>
                <a:cs typeface="Verdana"/>
              </a:rPr>
              <a:t> </a:t>
            </a:r>
            <a:r>
              <a:rPr sz="3800" b="0" spc="-5" dirty="0">
                <a:latin typeface="Verdana"/>
                <a:cs typeface="Verdana"/>
              </a:rPr>
              <a:t>FFE</a:t>
            </a:r>
            <a:r>
              <a:rPr sz="3800" b="0" dirty="0">
                <a:latin typeface="Verdana"/>
                <a:cs typeface="Verdana"/>
              </a:rPr>
              <a:t> </a:t>
            </a:r>
            <a:r>
              <a:rPr sz="3800" b="0" spc="-5" dirty="0">
                <a:latin typeface="Verdana"/>
                <a:cs typeface="Verdana"/>
              </a:rPr>
              <a:t>(3)</a:t>
            </a:r>
            <a:endParaRPr sz="3800" dirty="0">
              <a:latin typeface="Verdana"/>
              <a:cs typeface="Verdana"/>
            </a:endParaRPr>
          </a:p>
        </p:txBody>
      </p:sp>
      <p:grpSp>
        <p:nvGrpSpPr>
          <p:cNvPr id="3" name="object 3"/>
          <p:cNvGrpSpPr/>
          <p:nvPr/>
        </p:nvGrpSpPr>
        <p:grpSpPr>
          <a:xfrm>
            <a:off x="7293794" y="1838705"/>
            <a:ext cx="528320" cy="2259330"/>
            <a:chOff x="7293794" y="1838705"/>
            <a:chExt cx="528320" cy="2259330"/>
          </a:xfrm>
        </p:grpSpPr>
        <p:sp>
          <p:nvSpPr>
            <p:cNvPr id="4" name="object 4"/>
            <p:cNvSpPr/>
            <p:nvPr/>
          </p:nvSpPr>
          <p:spPr>
            <a:xfrm>
              <a:off x="7351014" y="3338322"/>
              <a:ext cx="462280" cy="0"/>
            </a:xfrm>
            <a:custGeom>
              <a:avLst/>
              <a:gdLst/>
              <a:ahLst/>
              <a:cxnLst/>
              <a:rect l="l" t="t" r="r" b="b"/>
              <a:pathLst>
                <a:path w="462279">
                  <a:moveTo>
                    <a:pt x="461772"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7427976" y="3525011"/>
              <a:ext cx="298450" cy="289560"/>
            </a:xfrm>
            <a:custGeom>
              <a:avLst/>
              <a:gdLst/>
              <a:ahLst/>
              <a:cxnLst/>
              <a:rect l="l" t="t" r="r" b="b"/>
              <a:pathLst>
                <a:path w="298450" h="289560">
                  <a:moveTo>
                    <a:pt x="297942" y="144779"/>
                  </a:moveTo>
                  <a:lnTo>
                    <a:pt x="290389" y="98999"/>
                  </a:lnTo>
                  <a:lnTo>
                    <a:pt x="269339" y="59253"/>
                  </a:lnTo>
                  <a:lnTo>
                    <a:pt x="237207" y="27919"/>
                  </a:lnTo>
                  <a:lnTo>
                    <a:pt x="196407" y="7376"/>
                  </a:lnTo>
                  <a:lnTo>
                    <a:pt x="149352" y="0"/>
                  </a:lnTo>
                  <a:lnTo>
                    <a:pt x="102217" y="7376"/>
                  </a:lnTo>
                  <a:lnTo>
                    <a:pt x="61228" y="27919"/>
                  </a:lnTo>
                  <a:lnTo>
                    <a:pt x="28870" y="59253"/>
                  </a:lnTo>
                  <a:lnTo>
                    <a:pt x="7632" y="98999"/>
                  </a:lnTo>
                  <a:lnTo>
                    <a:pt x="0" y="144779"/>
                  </a:lnTo>
                  <a:lnTo>
                    <a:pt x="7632" y="190560"/>
                  </a:lnTo>
                  <a:lnTo>
                    <a:pt x="28870" y="230306"/>
                  </a:lnTo>
                  <a:lnTo>
                    <a:pt x="61228" y="261640"/>
                  </a:lnTo>
                  <a:lnTo>
                    <a:pt x="102217" y="282183"/>
                  </a:lnTo>
                  <a:lnTo>
                    <a:pt x="149352" y="289559"/>
                  </a:lnTo>
                  <a:lnTo>
                    <a:pt x="196407" y="282183"/>
                  </a:lnTo>
                  <a:lnTo>
                    <a:pt x="237207" y="261640"/>
                  </a:lnTo>
                  <a:lnTo>
                    <a:pt x="269339" y="230306"/>
                  </a:lnTo>
                  <a:lnTo>
                    <a:pt x="290389" y="190560"/>
                  </a:lnTo>
                  <a:lnTo>
                    <a:pt x="297942"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7577328" y="3453383"/>
              <a:ext cx="0" cy="234315"/>
            </a:xfrm>
            <a:custGeom>
              <a:avLst/>
              <a:gdLst/>
              <a:ahLst/>
              <a:cxnLst/>
              <a:rect l="l" t="t" r="r" b="b"/>
              <a:pathLst>
                <a:path h="234314">
                  <a:moveTo>
                    <a:pt x="0"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7523226" y="3675888"/>
              <a:ext cx="107950" cy="139065"/>
            </a:xfrm>
            <a:custGeom>
              <a:avLst/>
              <a:gdLst/>
              <a:ahLst/>
              <a:cxnLst/>
              <a:rect l="l" t="t" r="r" b="b"/>
              <a:pathLst>
                <a:path w="107950" h="139064">
                  <a:moveTo>
                    <a:pt x="107442" y="0"/>
                  </a:moveTo>
                  <a:lnTo>
                    <a:pt x="0" y="0"/>
                  </a:lnTo>
                  <a:lnTo>
                    <a:pt x="54102" y="138684"/>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p:nvPr/>
          </p:nvSpPr>
          <p:spPr>
            <a:xfrm>
              <a:off x="7578852" y="3814572"/>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7460742" y="3987545"/>
              <a:ext cx="235585" cy="0"/>
            </a:xfrm>
            <a:custGeom>
              <a:avLst/>
              <a:gdLst/>
              <a:ahLst/>
              <a:cxnLst/>
              <a:rect l="l" t="t" r="r" b="b"/>
              <a:pathLst>
                <a:path w="235584">
                  <a:moveTo>
                    <a:pt x="0" y="0"/>
                  </a:moveTo>
                  <a:lnTo>
                    <a:pt x="235458"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7500366" y="4038600"/>
              <a:ext cx="157480" cy="0"/>
            </a:xfrm>
            <a:custGeom>
              <a:avLst/>
              <a:gdLst/>
              <a:ahLst/>
              <a:cxnLst/>
              <a:rect l="l" t="t" r="r" b="b"/>
              <a:pathLst>
                <a:path w="157479">
                  <a:moveTo>
                    <a:pt x="0" y="0"/>
                  </a:moveTo>
                  <a:lnTo>
                    <a:pt x="1569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7539228" y="4088891"/>
              <a:ext cx="78740" cy="0"/>
            </a:xfrm>
            <a:custGeom>
              <a:avLst/>
              <a:gdLst/>
              <a:ahLst/>
              <a:cxnLst/>
              <a:rect l="l" t="t" r="r" b="b"/>
              <a:pathLst>
                <a:path w="78740">
                  <a:moveTo>
                    <a:pt x="0" y="0"/>
                  </a:moveTo>
                  <a:lnTo>
                    <a:pt x="7848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7578852" y="3886961"/>
              <a:ext cx="0" cy="100965"/>
            </a:xfrm>
            <a:custGeom>
              <a:avLst/>
              <a:gdLst/>
              <a:ahLst/>
              <a:cxnLst/>
              <a:rect l="l" t="t" r="r" b="b"/>
              <a:pathLst>
                <a:path h="100964">
                  <a:moveTo>
                    <a:pt x="0" y="100584"/>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7576566" y="3338322"/>
              <a:ext cx="1270" cy="120650"/>
            </a:xfrm>
            <a:custGeom>
              <a:avLst/>
              <a:gdLst/>
              <a:ahLst/>
              <a:cxnLst/>
              <a:rect l="l" t="t" r="r" b="b"/>
              <a:pathLst>
                <a:path w="1270" h="120650">
                  <a:moveTo>
                    <a:pt x="380" y="-7435"/>
                  </a:moveTo>
                  <a:lnTo>
                    <a:pt x="380" y="127831"/>
                  </a:lnTo>
                </a:path>
              </a:pathLst>
            </a:custGeom>
            <a:ln w="156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7812786" y="2314955"/>
              <a:ext cx="0" cy="491490"/>
            </a:xfrm>
            <a:custGeom>
              <a:avLst/>
              <a:gdLst/>
              <a:ahLst/>
              <a:cxnLst/>
              <a:rect l="l" t="t" r="r" b="b"/>
              <a:pathLst>
                <a:path h="491489">
                  <a:moveTo>
                    <a:pt x="0" y="4914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7802880" y="1846325"/>
              <a:ext cx="10160" cy="468630"/>
            </a:xfrm>
            <a:custGeom>
              <a:avLst/>
              <a:gdLst/>
              <a:ahLst/>
              <a:cxnLst/>
              <a:rect l="l" t="t" r="r" b="b"/>
              <a:pathLst>
                <a:path w="10159" h="468630">
                  <a:moveTo>
                    <a:pt x="9905" y="46862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7351014" y="2269236"/>
              <a:ext cx="0" cy="485775"/>
            </a:xfrm>
            <a:custGeom>
              <a:avLst/>
              <a:gdLst/>
              <a:ahLst/>
              <a:cxnLst/>
              <a:rect l="l" t="t" r="r" b="b"/>
              <a:pathLst>
                <a:path h="485775">
                  <a:moveTo>
                    <a:pt x="0" y="485394"/>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7"/>
            <p:cNvSpPr/>
            <p:nvPr/>
          </p:nvSpPr>
          <p:spPr>
            <a:xfrm>
              <a:off x="7351014" y="1846325"/>
              <a:ext cx="0" cy="454659"/>
            </a:xfrm>
            <a:custGeom>
              <a:avLst/>
              <a:gdLst/>
              <a:ahLst/>
              <a:cxnLst/>
              <a:rect l="l" t="t" r="r" b="b"/>
              <a:pathLst>
                <a:path h="454660">
                  <a:moveTo>
                    <a:pt x="0" y="454151"/>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object 18"/>
            <p:cNvPicPr/>
            <p:nvPr/>
          </p:nvPicPr>
          <p:blipFill>
            <a:blip r:embed="rId2" cstate="print"/>
            <a:stretch>
              <a:fillRect/>
            </a:stretch>
          </p:blipFill>
          <p:spPr>
            <a:xfrm>
              <a:off x="7293794" y="2477954"/>
              <a:ext cx="113677" cy="87007"/>
            </a:xfrm>
            <a:prstGeom prst="rect">
              <a:avLst/>
            </a:prstGeom>
          </p:spPr>
        </p:pic>
      </p:grpSp>
      <p:sp>
        <p:nvSpPr>
          <p:cNvPr id="19" name="object 19"/>
          <p:cNvSpPr txBox="1"/>
          <p:nvPr/>
        </p:nvSpPr>
        <p:spPr>
          <a:xfrm>
            <a:off x="10098785" y="2268063"/>
            <a:ext cx="86360"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9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0" name="object 20"/>
          <p:cNvSpPr txBox="1"/>
          <p:nvPr/>
        </p:nvSpPr>
        <p:spPr>
          <a:xfrm>
            <a:off x="10021835" y="1914498"/>
            <a:ext cx="147955"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16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1" name="object 21"/>
          <p:cNvSpPr txBox="1"/>
          <p:nvPr/>
        </p:nvSpPr>
        <p:spPr>
          <a:xfrm>
            <a:off x="6899909" y="1610252"/>
            <a:ext cx="3154045" cy="2143760"/>
          </a:xfrm>
          <a:prstGeom prst="rect">
            <a:avLst/>
          </a:prstGeom>
        </p:spPr>
        <p:txBody>
          <a:bodyPr vert="horz" wrap="square" lIns="0" tIns="0" rIns="0" bIns="0" rtlCol="0">
            <a:spAutoFit/>
          </a:bodyPr>
          <a:lstStyle/>
          <a:p>
            <a:pPr marL="1842135" marR="0" lvl="0" indent="0" algn="l" defTabSz="914400" rtl="0" eaLnBrk="1" fontAlgn="auto" latinLnBrk="0" hangingPunct="1">
              <a:lnSpc>
                <a:spcPts val="1855"/>
              </a:lnSpc>
              <a:spcBef>
                <a:spcPts val="0"/>
              </a:spcBef>
              <a:spcAft>
                <a:spcPts val="0"/>
              </a:spcAft>
              <a:buClrTx/>
              <a:buSzTx/>
              <a:buFontTx/>
              <a:buNone/>
              <a:tabLst/>
              <a:defRPr/>
            </a:pPr>
            <a:r>
              <a:rPr kumimoji="0" sz="1700" b="1" i="0" u="none" strike="noStrike" kern="1200" cap="none" spc="170"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54" normalizeH="0" baseline="-26315" noProof="0" dirty="0">
                <a:ln>
                  <a:noFill/>
                </a:ln>
                <a:solidFill>
                  <a:prstClr val="black"/>
                </a:solidFill>
                <a:effectLst/>
                <a:uLnTx/>
                <a:uFillTx/>
                <a:latin typeface="Times New Roman"/>
                <a:ea typeface="+mn-ea"/>
                <a:cs typeface="Times New Roman"/>
              </a:rPr>
              <a:t>0</a:t>
            </a:r>
            <a:r>
              <a:rPr kumimoji="0" sz="1700" b="1" i="0" u="none" strike="noStrike" kern="1200" cap="none" spc="170"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54" normalizeH="0" baseline="-26315" noProof="0" dirty="0">
                <a:ln>
                  <a:noFill/>
                </a:ln>
                <a:solidFill>
                  <a:prstClr val="black"/>
                </a:solidFill>
                <a:effectLst/>
                <a:uLnTx/>
                <a:uFillTx/>
                <a:latin typeface="Times New Roman"/>
                <a:ea typeface="+mn-ea"/>
                <a:cs typeface="Times New Roman"/>
              </a:rPr>
              <a:t>1</a:t>
            </a:r>
            <a:r>
              <a:rPr kumimoji="0" sz="1425" b="1" i="0" u="none" strike="noStrike" kern="1200" cap="none" spc="405" normalizeH="0" baseline="-26315" noProof="0" dirty="0">
                <a:ln>
                  <a:noFill/>
                </a:ln>
                <a:solidFill>
                  <a:prstClr val="black"/>
                </a:solidFill>
                <a:effectLst/>
                <a:uLnTx/>
                <a:uFillTx/>
                <a:latin typeface="Times New Roman"/>
                <a:ea typeface="+mn-ea"/>
                <a:cs typeface="Times New Roman"/>
              </a:rPr>
              <a:t> </a:t>
            </a:r>
            <a:r>
              <a:rPr kumimoji="0" sz="1700" b="0" i="0" u="none" strike="noStrike" kern="1200" cap="none" spc="155" normalizeH="0" baseline="0" noProof="0" dirty="0">
                <a:ln>
                  <a:noFill/>
                </a:ln>
                <a:solidFill>
                  <a:prstClr val="black"/>
                </a:solidFill>
                <a:effectLst/>
                <a:uLnTx/>
                <a:uFillTx/>
                <a:latin typeface="Times New Roman"/>
                <a:ea typeface="+mn-ea"/>
                <a:cs typeface="Times New Roman"/>
              </a:rPr>
              <a:t>&lt;</a:t>
            </a:r>
            <a:r>
              <a:rPr kumimoji="0" sz="1700" b="0" i="0" u="none" strike="noStrike" kern="1200" cap="none" spc="210" normalizeH="0" baseline="0" noProof="0" dirty="0">
                <a:ln>
                  <a:noFill/>
                </a:ln>
                <a:solidFill>
                  <a:prstClr val="black"/>
                </a:solidFill>
                <a:effectLst/>
                <a:uLnTx/>
                <a:uFillTx/>
                <a:latin typeface="Times New Roman"/>
                <a:ea typeface="+mn-ea"/>
                <a:cs typeface="Times New Roman"/>
              </a:rPr>
              <a:t> </a:t>
            </a:r>
            <a:r>
              <a:rPr kumimoji="0" sz="1700" b="0" i="0" u="none" strike="noStrike" kern="1200" cap="none" spc="125" normalizeH="0" baseline="0" noProof="0" dirty="0">
                <a:ln>
                  <a:noFill/>
                </a:ln>
                <a:solidFill>
                  <a:prstClr val="black"/>
                </a:solidFill>
                <a:effectLst/>
                <a:uLnTx/>
                <a:uFillTx/>
                <a:latin typeface="Times New Roman"/>
                <a:ea typeface="+mn-ea"/>
                <a:cs typeface="Times New Roman"/>
              </a:rPr>
              <a:t>11</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0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0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25"/>
              </a:spcBef>
              <a:spcAft>
                <a:spcPts val="0"/>
              </a:spcAft>
              <a:buClrTx/>
              <a:buSzTx/>
              <a:buFontTx/>
              <a:buNone/>
              <a:tabLst/>
              <a:defRPr/>
            </a:pPr>
            <a:endParaRPr kumimoji="0" sz="2950" b="0" i="0" u="none" strike="noStrike" kern="1200" cap="none" spc="0" normalizeH="0" baseline="0"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tab pos="1232535" algn="l"/>
                <a:tab pos="1675130" algn="l"/>
                <a:tab pos="2900045" algn="l"/>
              </a:tabLst>
              <a:defRPr/>
            </a:pPr>
            <a:r>
              <a:rPr kumimoji="0" sz="2550" b="1" i="0" u="none" strike="noStrike" kern="1200" cap="none" spc="359" normalizeH="0" baseline="19607" noProof="0" dirty="0">
                <a:ln>
                  <a:noFill/>
                </a:ln>
                <a:solidFill>
                  <a:prstClr val="black"/>
                </a:solidFill>
                <a:effectLst/>
                <a:uLnTx/>
                <a:uFillTx/>
                <a:latin typeface="Times New Roman"/>
                <a:ea typeface="+mn-ea"/>
                <a:cs typeface="Times New Roman"/>
              </a:rPr>
              <a:t>D</a:t>
            </a:r>
            <a:r>
              <a:rPr kumimoji="0" sz="1425" b="1" i="0" u="none" strike="noStrike" kern="1200" cap="none" spc="142" normalizeH="0" baseline="8771" noProof="0" dirty="0">
                <a:ln>
                  <a:noFill/>
                </a:ln>
                <a:solidFill>
                  <a:prstClr val="black"/>
                </a:solidFill>
                <a:effectLst/>
                <a:uLnTx/>
                <a:uFillTx/>
                <a:latin typeface="Times New Roman"/>
                <a:ea typeface="+mn-ea"/>
                <a:cs typeface="Times New Roman"/>
              </a:rPr>
              <a:t>0</a:t>
            </a:r>
            <a:r>
              <a:rPr kumimoji="0" sz="1425" b="1" i="0" u="none" strike="noStrike" kern="1200" cap="none" spc="0" normalizeH="0" baseline="8771" noProof="0" dirty="0">
                <a:ln>
                  <a:noFill/>
                </a:ln>
                <a:solidFill>
                  <a:prstClr val="black"/>
                </a:solidFill>
                <a:effectLst/>
                <a:uLnTx/>
                <a:uFillTx/>
                <a:latin typeface="Times New Roman"/>
                <a:ea typeface="+mn-ea"/>
                <a:cs typeface="Times New Roman"/>
              </a:rPr>
              <a:t>	</a:t>
            </a:r>
            <a:r>
              <a:rPr kumimoji="0" sz="2250" b="1" i="0" u="none" strike="noStrike" kern="1200" cap="none" spc="97" normalizeH="0" baseline="9259" noProof="0" dirty="0">
                <a:ln>
                  <a:noFill/>
                </a:ln>
                <a:solidFill>
                  <a:prstClr val="black"/>
                </a:solidFill>
                <a:effectLst/>
                <a:uLnTx/>
                <a:uFillTx/>
                <a:latin typeface="Times New Roman"/>
                <a:ea typeface="+mn-ea"/>
                <a:cs typeface="Times New Roman"/>
              </a:rPr>
              <a:t>D</a:t>
            </a:r>
            <a:r>
              <a:rPr kumimoji="0" sz="1275" b="1" i="0" u="none" strike="noStrike" kern="1200" cap="none" spc="120" normalizeH="0" baseline="-9803" noProof="0" dirty="0">
                <a:ln>
                  <a:noFill/>
                </a:ln>
                <a:solidFill>
                  <a:prstClr val="black"/>
                </a:solidFill>
                <a:effectLst/>
                <a:uLnTx/>
                <a:uFillTx/>
                <a:latin typeface="Times New Roman"/>
                <a:ea typeface="+mn-ea"/>
                <a:cs typeface="Times New Roman"/>
              </a:rPr>
              <a:t>0</a:t>
            </a:r>
            <a:r>
              <a:rPr kumimoji="0" sz="1275" b="1" i="0" u="none" strike="noStrike" kern="1200" cap="none" spc="0" normalizeH="0" baseline="-9803" noProof="0" dirty="0">
                <a:ln>
                  <a:noFill/>
                </a:ln>
                <a:solidFill>
                  <a:prstClr val="black"/>
                </a:solidFill>
                <a:effectLst/>
                <a:uLnTx/>
                <a:uFillTx/>
                <a:latin typeface="Times New Roman"/>
                <a:ea typeface="+mn-ea"/>
                <a:cs typeface="Times New Roman"/>
              </a:rPr>
              <a:t>	</a:t>
            </a:r>
            <a:r>
              <a:rPr kumimoji="0" sz="2550" b="1" i="0" u="none" strike="noStrike" kern="1200" cap="none" spc="292" normalizeH="0" baseline="14705" noProof="0" dirty="0">
                <a:ln>
                  <a:noFill/>
                </a:ln>
                <a:solidFill>
                  <a:prstClr val="black"/>
                </a:solidFill>
                <a:effectLst/>
                <a:uLnTx/>
                <a:uFillTx/>
                <a:latin typeface="Times New Roman"/>
                <a:ea typeface="+mn-ea"/>
                <a:cs typeface="Times New Roman"/>
              </a:rPr>
              <a:t>D</a:t>
            </a:r>
            <a:r>
              <a:rPr kumimoji="0" sz="950" b="1" i="0" u="none" strike="noStrike" kern="1200" cap="none" spc="90" normalizeH="0" baseline="0" noProof="0" dirty="0">
                <a:ln>
                  <a:noFill/>
                </a:ln>
                <a:solidFill>
                  <a:prstClr val="black"/>
                </a:solidFill>
                <a:effectLst/>
                <a:uLnTx/>
                <a:uFillTx/>
                <a:latin typeface="Times New Roman"/>
                <a:ea typeface="+mn-ea"/>
                <a:cs typeface="Times New Roman"/>
              </a:rPr>
              <a:t>1</a:t>
            </a:r>
            <a:r>
              <a:rPr kumimoji="0" sz="950" b="1" i="0" u="none" strike="noStrike" kern="1200" cap="none" spc="0" normalizeH="0" baseline="0" noProof="0" dirty="0">
                <a:ln>
                  <a:noFill/>
                </a:ln>
                <a:solidFill>
                  <a:prstClr val="black"/>
                </a:solidFill>
                <a:effectLst/>
                <a:uLnTx/>
                <a:uFillTx/>
                <a:latin typeface="Times New Roman"/>
                <a:ea typeface="+mn-ea"/>
                <a:cs typeface="Times New Roman"/>
              </a:rPr>
              <a:t>	</a:t>
            </a:r>
            <a:r>
              <a:rPr kumimoji="0" sz="2550" b="1" i="0" u="none" strike="noStrike" kern="1200" cap="none" spc="292" normalizeH="0" baseline="1633" noProof="0" dirty="0">
                <a:ln>
                  <a:noFill/>
                </a:ln>
                <a:solidFill>
                  <a:prstClr val="black"/>
                </a:solidFill>
                <a:effectLst/>
                <a:uLnTx/>
                <a:uFillTx/>
                <a:latin typeface="Times New Roman"/>
                <a:ea typeface="+mn-ea"/>
                <a:cs typeface="Times New Roman"/>
              </a:rPr>
              <a:t>D</a:t>
            </a:r>
            <a:r>
              <a:rPr kumimoji="0" sz="1425" b="1" i="0" u="none" strike="noStrike" kern="1200" cap="none" spc="135" normalizeH="0" baseline="-23391" noProof="0" dirty="0">
                <a:ln>
                  <a:noFill/>
                </a:ln>
                <a:solidFill>
                  <a:prstClr val="black"/>
                </a:solidFill>
                <a:effectLst/>
                <a:uLnTx/>
                <a:uFillTx/>
                <a:latin typeface="Times New Roman"/>
                <a:ea typeface="+mn-ea"/>
                <a:cs typeface="Times New Roman"/>
              </a:rPr>
              <a:t>1</a:t>
            </a:r>
            <a:endParaRPr kumimoji="0" sz="1425" b="0" i="0" u="none" strike="noStrike" kern="1200" cap="none" spc="0" normalizeH="0" baseline="-23391" noProof="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30"/>
              </a:spcBef>
              <a:spcAft>
                <a:spcPts val="0"/>
              </a:spcAft>
              <a:buClrTx/>
              <a:buSzTx/>
              <a:buFontTx/>
              <a:buNone/>
              <a:tabLst/>
              <a:defRPr/>
            </a:pPr>
            <a:endParaRPr kumimoji="0" sz="2500" b="0" i="0" u="none" strike="noStrike" kern="1200" cap="none" spc="0" normalizeH="0" baseline="0" noProof="0">
              <a:ln>
                <a:noFill/>
              </a:ln>
              <a:solidFill>
                <a:prstClr val="black"/>
              </a:solidFill>
              <a:effectLst/>
              <a:uLnTx/>
              <a:uFillTx/>
              <a:latin typeface="Times New Roman"/>
              <a:ea typeface="+mn-ea"/>
              <a:cs typeface="Times New Roman"/>
            </a:endParaRPr>
          </a:p>
          <a:p>
            <a:pPr marL="130175" marR="0" lvl="0" indent="0" algn="l" defTabSz="914400" rtl="0" eaLnBrk="1" fontAlgn="auto" latinLnBrk="0" hangingPunct="1">
              <a:lnSpc>
                <a:spcPct val="100000"/>
              </a:lnSpc>
              <a:spcBef>
                <a:spcPts val="5"/>
              </a:spcBef>
              <a:spcAft>
                <a:spcPts val="0"/>
              </a:spcAft>
              <a:buClrTx/>
              <a:buSzTx/>
              <a:buFontTx/>
              <a:buNone/>
              <a:tabLst>
                <a:tab pos="1830070" algn="l"/>
              </a:tabLst>
              <a:defRPr/>
            </a:pPr>
            <a:r>
              <a:rPr kumimoji="0" sz="1500" b="0" i="0" u="none" strike="noStrike" kern="1200" cap="none" spc="110" normalizeH="0" baseline="0" noProof="0" dirty="0">
                <a:ln>
                  <a:noFill/>
                </a:ln>
                <a:solidFill>
                  <a:prstClr val="black"/>
                </a:solidFill>
                <a:effectLst/>
                <a:uLnTx/>
                <a:uFillTx/>
                <a:latin typeface="Arial MT"/>
                <a:ea typeface="+mn-ea"/>
                <a:cs typeface="Arial MT"/>
              </a:rPr>
              <a:t>.6I	</a:t>
            </a:r>
            <a:r>
              <a:rPr kumimoji="0" sz="1500" b="0" i="0" u="none" strike="noStrike" kern="1200" cap="none" spc="125" normalizeH="0" baseline="0" noProof="0" dirty="0">
                <a:ln>
                  <a:noFill/>
                </a:ln>
                <a:solidFill>
                  <a:prstClr val="black"/>
                </a:solidFill>
                <a:effectLst/>
                <a:uLnTx/>
                <a:uFillTx/>
                <a:latin typeface="Arial MT"/>
                <a:ea typeface="+mn-ea"/>
                <a:cs typeface="Arial MT"/>
              </a:rPr>
              <a:t>0.4I</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grpSp>
        <p:nvGrpSpPr>
          <p:cNvPr id="22" name="object 22"/>
          <p:cNvGrpSpPr/>
          <p:nvPr/>
        </p:nvGrpSpPr>
        <p:grpSpPr>
          <a:xfrm>
            <a:off x="7361935" y="2035232"/>
            <a:ext cx="2278380" cy="870585"/>
            <a:chOff x="7361935" y="2035232"/>
            <a:chExt cx="2278380" cy="870585"/>
          </a:xfrm>
        </p:grpSpPr>
        <p:sp>
          <p:nvSpPr>
            <p:cNvPr id="23" name="object 23"/>
            <p:cNvSpPr/>
            <p:nvPr/>
          </p:nvSpPr>
          <p:spPr>
            <a:xfrm>
              <a:off x="7370825" y="2533650"/>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object 24"/>
            <p:cNvPicPr/>
            <p:nvPr/>
          </p:nvPicPr>
          <p:blipFill>
            <a:blip r:embed="rId3" cstate="print"/>
            <a:stretch>
              <a:fillRect/>
            </a:stretch>
          </p:blipFill>
          <p:spPr>
            <a:xfrm>
              <a:off x="7770044" y="2035232"/>
              <a:ext cx="113677" cy="87007"/>
            </a:xfrm>
            <a:prstGeom prst="rect">
              <a:avLst/>
            </a:prstGeom>
          </p:spPr>
        </p:pic>
        <p:sp>
          <p:nvSpPr>
            <p:cNvPr id="25" name="object 25"/>
            <p:cNvSpPr/>
            <p:nvPr/>
          </p:nvSpPr>
          <p:spPr>
            <a:xfrm>
              <a:off x="7781543" y="2077212"/>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object 26"/>
            <p:cNvSpPr/>
            <p:nvPr/>
          </p:nvSpPr>
          <p:spPr>
            <a:xfrm>
              <a:off x="8137087" y="2900938"/>
              <a:ext cx="210820" cy="0"/>
            </a:xfrm>
            <a:custGeom>
              <a:avLst/>
              <a:gdLst/>
              <a:ahLst/>
              <a:cxnLst/>
              <a:rect l="l" t="t" r="r" b="b"/>
              <a:pathLst>
                <a:path w="210820">
                  <a:moveTo>
                    <a:pt x="0" y="0"/>
                  </a:moveTo>
                  <a:lnTo>
                    <a:pt x="210299" y="0"/>
                  </a:lnTo>
                </a:path>
              </a:pathLst>
            </a:custGeom>
            <a:ln w="944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bject 27"/>
            <p:cNvSpPr/>
            <p:nvPr/>
          </p:nvSpPr>
          <p:spPr>
            <a:xfrm>
              <a:off x="8581746" y="2856728"/>
              <a:ext cx="256540" cy="0"/>
            </a:xfrm>
            <a:custGeom>
              <a:avLst/>
              <a:gdLst/>
              <a:ahLst/>
              <a:cxnLst/>
              <a:rect l="l" t="t" r="r" b="b"/>
              <a:pathLst>
                <a:path w="256540">
                  <a:moveTo>
                    <a:pt x="0" y="0"/>
                  </a:moveTo>
                  <a:lnTo>
                    <a:pt x="256035" y="0"/>
                  </a:lnTo>
                </a:path>
              </a:pathLst>
            </a:custGeom>
            <a:ln w="1063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 name="object 28"/>
          <p:cNvGrpSpPr/>
          <p:nvPr/>
        </p:nvGrpSpPr>
        <p:grpSpPr>
          <a:xfrm>
            <a:off x="7172197" y="1252982"/>
            <a:ext cx="2708910" cy="858519"/>
            <a:chOff x="7172197" y="1252982"/>
            <a:chExt cx="2708910" cy="858519"/>
          </a:xfrm>
        </p:grpSpPr>
        <p:sp>
          <p:nvSpPr>
            <p:cNvPr id="29" name="object 29"/>
            <p:cNvSpPr/>
            <p:nvPr/>
          </p:nvSpPr>
          <p:spPr>
            <a:xfrm>
              <a:off x="9612629" y="2077212"/>
              <a:ext cx="159385" cy="0"/>
            </a:xfrm>
            <a:custGeom>
              <a:avLst/>
              <a:gdLst/>
              <a:ahLst/>
              <a:cxnLst/>
              <a:rect l="l" t="t" r="r" b="b"/>
              <a:pathLst>
                <a:path w="159384">
                  <a:moveTo>
                    <a:pt x="0" y="0"/>
                  </a:moveTo>
                  <a:lnTo>
                    <a:pt x="159258"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object 30"/>
            <p:cNvSpPr/>
            <p:nvPr/>
          </p:nvSpPr>
          <p:spPr>
            <a:xfrm>
              <a:off x="9761981" y="2042922"/>
              <a:ext cx="119380" cy="68580"/>
            </a:xfrm>
            <a:custGeom>
              <a:avLst/>
              <a:gdLst/>
              <a:ahLst/>
              <a:cxnLst/>
              <a:rect l="l" t="t" r="r" b="b"/>
              <a:pathLst>
                <a:path w="119379" h="68580">
                  <a:moveTo>
                    <a:pt x="118872" y="34290"/>
                  </a:moveTo>
                  <a:lnTo>
                    <a:pt x="0" y="0"/>
                  </a:lnTo>
                  <a:lnTo>
                    <a:pt x="0" y="68580"/>
                  </a:lnTo>
                  <a:lnTo>
                    <a:pt x="118872" y="3429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p:nvPr/>
          </p:nvSpPr>
          <p:spPr>
            <a:xfrm>
              <a:off x="7181087" y="1261872"/>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7351013" y="1261872"/>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object 33"/>
            <p:cNvSpPr/>
            <p:nvPr/>
          </p:nvSpPr>
          <p:spPr>
            <a:xfrm>
              <a:off x="7633715" y="1261872"/>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7802879" y="1261872"/>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5" name="object 35"/>
          <p:cNvSpPr txBox="1"/>
          <p:nvPr/>
        </p:nvSpPr>
        <p:spPr>
          <a:xfrm>
            <a:off x="6958076" y="1442520"/>
            <a:ext cx="18923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36" name="object 36"/>
          <p:cNvSpPr txBox="1"/>
          <p:nvPr/>
        </p:nvSpPr>
        <p:spPr>
          <a:xfrm>
            <a:off x="8014134" y="1442520"/>
            <a:ext cx="189230" cy="2603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grpSp>
        <p:nvGrpSpPr>
          <p:cNvPr id="37" name="object 37"/>
          <p:cNvGrpSpPr/>
          <p:nvPr/>
        </p:nvGrpSpPr>
        <p:grpSpPr>
          <a:xfrm>
            <a:off x="6965442" y="1348295"/>
            <a:ext cx="3441700" cy="2778125"/>
            <a:chOff x="6965442" y="1348295"/>
            <a:chExt cx="3441700" cy="2778125"/>
          </a:xfrm>
        </p:grpSpPr>
        <p:sp>
          <p:nvSpPr>
            <p:cNvPr id="38" name="object 38"/>
            <p:cNvSpPr/>
            <p:nvPr/>
          </p:nvSpPr>
          <p:spPr>
            <a:xfrm>
              <a:off x="7812786" y="2966466"/>
              <a:ext cx="216535" cy="372110"/>
            </a:xfrm>
            <a:custGeom>
              <a:avLst/>
              <a:gdLst/>
              <a:ahLst/>
              <a:cxnLst/>
              <a:rect l="l" t="t" r="r" b="b"/>
              <a:pathLst>
                <a:path w="216534" h="372110">
                  <a:moveTo>
                    <a:pt x="0" y="371856"/>
                  </a:moveTo>
                  <a:lnTo>
                    <a:pt x="0" y="185928"/>
                  </a:lnTo>
                  <a:lnTo>
                    <a:pt x="216407"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bject 39"/>
            <p:cNvSpPr/>
            <p:nvPr/>
          </p:nvSpPr>
          <p:spPr>
            <a:xfrm>
              <a:off x="9612630" y="2076450"/>
              <a:ext cx="3810" cy="704215"/>
            </a:xfrm>
            <a:custGeom>
              <a:avLst/>
              <a:gdLst/>
              <a:ahLst/>
              <a:cxnLst/>
              <a:rect l="l" t="t" r="r" b="b"/>
              <a:pathLst>
                <a:path w="3809" h="704214">
                  <a:moveTo>
                    <a:pt x="3809" y="0"/>
                  </a:moveTo>
                  <a:lnTo>
                    <a:pt x="0" y="704088"/>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40"/>
            <p:cNvSpPr/>
            <p:nvPr/>
          </p:nvSpPr>
          <p:spPr>
            <a:xfrm>
              <a:off x="9537192" y="2077212"/>
              <a:ext cx="271780" cy="0"/>
            </a:xfrm>
            <a:custGeom>
              <a:avLst/>
              <a:gdLst/>
              <a:ahLst/>
              <a:cxnLst/>
              <a:rect l="l" t="t" r="r" b="b"/>
              <a:pathLst>
                <a:path w="271779">
                  <a:moveTo>
                    <a:pt x="0" y="0"/>
                  </a:moveTo>
                  <a:lnTo>
                    <a:pt x="2712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9160002" y="2533650"/>
              <a:ext cx="829310" cy="0"/>
            </a:xfrm>
            <a:custGeom>
              <a:avLst/>
              <a:gdLst/>
              <a:ahLst/>
              <a:cxnLst/>
              <a:rect l="l" t="t" r="r" b="b"/>
              <a:pathLst>
                <a:path w="829309">
                  <a:moveTo>
                    <a:pt x="0" y="0"/>
                  </a:moveTo>
                  <a:lnTo>
                    <a:pt x="82905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9754362" y="2533650"/>
              <a:ext cx="159385" cy="0"/>
            </a:xfrm>
            <a:custGeom>
              <a:avLst/>
              <a:gdLst/>
              <a:ahLst/>
              <a:cxnLst/>
              <a:rect l="l" t="t" r="r" b="b"/>
              <a:pathLst>
                <a:path w="159384">
                  <a:moveTo>
                    <a:pt x="159257" y="0"/>
                  </a:moveTo>
                  <a:lnTo>
                    <a:pt x="0"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9645396" y="2499360"/>
              <a:ext cx="119380" cy="68580"/>
            </a:xfrm>
            <a:custGeom>
              <a:avLst/>
              <a:gdLst/>
              <a:ahLst/>
              <a:cxnLst/>
              <a:rect l="l" t="t" r="r" b="b"/>
              <a:pathLst>
                <a:path w="119379" h="68580">
                  <a:moveTo>
                    <a:pt x="118872" y="68580"/>
                  </a:moveTo>
                  <a:lnTo>
                    <a:pt x="118872" y="0"/>
                  </a:lnTo>
                  <a:lnTo>
                    <a:pt x="0" y="34290"/>
                  </a:lnTo>
                  <a:lnTo>
                    <a:pt x="118872" y="6858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4" name="object 44"/>
            <p:cNvPicPr/>
            <p:nvPr/>
          </p:nvPicPr>
          <p:blipFill>
            <a:blip r:embed="rId4" cstate="print"/>
            <a:stretch>
              <a:fillRect/>
            </a:stretch>
          </p:blipFill>
          <p:spPr>
            <a:xfrm>
              <a:off x="7774616" y="2780538"/>
              <a:ext cx="77101" cy="224097"/>
            </a:xfrm>
            <a:prstGeom prst="rect">
              <a:avLst/>
            </a:prstGeom>
          </p:spPr>
        </p:pic>
        <p:pic>
          <p:nvPicPr>
            <p:cNvPr id="45" name="object 45"/>
            <p:cNvPicPr/>
            <p:nvPr/>
          </p:nvPicPr>
          <p:blipFill>
            <a:blip r:embed="rId5" cstate="print"/>
            <a:stretch>
              <a:fillRect/>
            </a:stretch>
          </p:blipFill>
          <p:spPr>
            <a:xfrm>
              <a:off x="7774616" y="3114224"/>
              <a:ext cx="77101" cy="76339"/>
            </a:xfrm>
            <a:prstGeom prst="rect">
              <a:avLst/>
            </a:prstGeom>
          </p:spPr>
        </p:pic>
        <p:sp>
          <p:nvSpPr>
            <p:cNvPr id="46" name="object 46"/>
            <p:cNvSpPr/>
            <p:nvPr/>
          </p:nvSpPr>
          <p:spPr>
            <a:xfrm>
              <a:off x="7351014" y="2741675"/>
              <a:ext cx="0" cy="596900"/>
            </a:xfrm>
            <a:custGeom>
              <a:avLst/>
              <a:gdLst/>
              <a:ahLst/>
              <a:cxnLst/>
              <a:rect l="l" t="t" r="r" b="b"/>
              <a:pathLst>
                <a:path h="596900">
                  <a:moveTo>
                    <a:pt x="0" y="0"/>
                  </a:moveTo>
                  <a:lnTo>
                    <a:pt x="0" y="596646"/>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7" name="object 47"/>
            <p:cNvPicPr/>
            <p:nvPr/>
          </p:nvPicPr>
          <p:blipFill>
            <a:blip r:embed="rId6" cstate="print"/>
            <a:stretch>
              <a:fillRect/>
            </a:stretch>
          </p:blipFill>
          <p:spPr>
            <a:xfrm>
              <a:off x="7305986" y="2900102"/>
              <a:ext cx="90055" cy="80911"/>
            </a:xfrm>
            <a:prstGeom prst="rect">
              <a:avLst/>
            </a:prstGeom>
          </p:spPr>
        </p:pic>
        <p:pic>
          <p:nvPicPr>
            <p:cNvPr id="48" name="object 48"/>
            <p:cNvPicPr/>
            <p:nvPr/>
          </p:nvPicPr>
          <p:blipFill>
            <a:blip r:embed="rId6" cstate="print"/>
            <a:stretch>
              <a:fillRect/>
            </a:stretch>
          </p:blipFill>
          <p:spPr>
            <a:xfrm>
              <a:off x="7305986" y="3098984"/>
              <a:ext cx="90055" cy="80911"/>
            </a:xfrm>
            <a:prstGeom prst="rect">
              <a:avLst/>
            </a:prstGeom>
          </p:spPr>
        </p:pic>
        <p:sp>
          <p:nvSpPr>
            <p:cNvPr id="49" name="object 49"/>
            <p:cNvSpPr/>
            <p:nvPr/>
          </p:nvSpPr>
          <p:spPr>
            <a:xfrm>
              <a:off x="9163050" y="3358134"/>
              <a:ext cx="449580" cy="0"/>
            </a:xfrm>
            <a:custGeom>
              <a:avLst/>
              <a:gdLst/>
              <a:ahLst/>
              <a:cxnLst/>
              <a:rect l="l" t="t" r="r" b="b"/>
              <a:pathLst>
                <a:path w="449579">
                  <a:moveTo>
                    <a:pt x="0" y="0"/>
                  </a:moveTo>
                  <a:lnTo>
                    <a:pt x="44958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bject 50"/>
            <p:cNvSpPr/>
            <p:nvPr/>
          </p:nvSpPr>
          <p:spPr>
            <a:xfrm>
              <a:off x="9236964" y="3553206"/>
              <a:ext cx="298450" cy="288925"/>
            </a:xfrm>
            <a:custGeom>
              <a:avLst/>
              <a:gdLst/>
              <a:ahLst/>
              <a:cxnLst/>
              <a:rect l="l" t="t" r="r" b="b"/>
              <a:pathLst>
                <a:path w="298450" h="288925">
                  <a:moveTo>
                    <a:pt x="0" y="144779"/>
                  </a:moveTo>
                  <a:lnTo>
                    <a:pt x="7632" y="98999"/>
                  </a:lnTo>
                  <a:lnTo>
                    <a:pt x="28870" y="59253"/>
                  </a:lnTo>
                  <a:lnTo>
                    <a:pt x="61228" y="27919"/>
                  </a:lnTo>
                  <a:lnTo>
                    <a:pt x="102217" y="7376"/>
                  </a:lnTo>
                  <a:lnTo>
                    <a:pt x="149352" y="0"/>
                  </a:lnTo>
                  <a:lnTo>
                    <a:pt x="196407" y="7376"/>
                  </a:lnTo>
                  <a:lnTo>
                    <a:pt x="237207" y="27919"/>
                  </a:lnTo>
                  <a:lnTo>
                    <a:pt x="269339" y="59253"/>
                  </a:lnTo>
                  <a:lnTo>
                    <a:pt x="290389" y="98999"/>
                  </a:lnTo>
                  <a:lnTo>
                    <a:pt x="297942" y="144779"/>
                  </a:lnTo>
                  <a:lnTo>
                    <a:pt x="290389" y="190481"/>
                  </a:lnTo>
                  <a:lnTo>
                    <a:pt x="269339" y="230038"/>
                  </a:lnTo>
                  <a:lnTo>
                    <a:pt x="237207" y="261146"/>
                  </a:lnTo>
                  <a:lnTo>
                    <a:pt x="196407" y="281501"/>
                  </a:lnTo>
                  <a:lnTo>
                    <a:pt x="149352" y="288797"/>
                  </a:lnTo>
                  <a:lnTo>
                    <a:pt x="102217" y="281501"/>
                  </a:lnTo>
                  <a:lnTo>
                    <a:pt x="61228" y="261146"/>
                  </a:lnTo>
                  <a:lnTo>
                    <a:pt x="28870" y="230038"/>
                  </a:lnTo>
                  <a:lnTo>
                    <a:pt x="7632" y="190481"/>
                  </a:lnTo>
                  <a:lnTo>
                    <a:pt x="0"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bject 51"/>
            <p:cNvSpPr/>
            <p:nvPr/>
          </p:nvSpPr>
          <p:spPr>
            <a:xfrm>
              <a:off x="9386316" y="3481578"/>
              <a:ext cx="0" cy="234315"/>
            </a:xfrm>
            <a:custGeom>
              <a:avLst/>
              <a:gdLst/>
              <a:ahLst/>
              <a:cxnLst/>
              <a:rect l="l" t="t" r="r" b="b"/>
              <a:pathLst>
                <a:path h="234314">
                  <a:moveTo>
                    <a:pt x="0"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bject 52"/>
            <p:cNvSpPr/>
            <p:nvPr/>
          </p:nvSpPr>
          <p:spPr>
            <a:xfrm>
              <a:off x="9332214" y="3704081"/>
              <a:ext cx="107950" cy="138430"/>
            </a:xfrm>
            <a:custGeom>
              <a:avLst/>
              <a:gdLst/>
              <a:ahLst/>
              <a:cxnLst/>
              <a:rect l="l" t="t" r="r" b="b"/>
              <a:pathLst>
                <a:path w="107950" h="138429">
                  <a:moveTo>
                    <a:pt x="107442" y="0"/>
                  </a:moveTo>
                  <a:lnTo>
                    <a:pt x="0" y="0"/>
                  </a:lnTo>
                  <a:lnTo>
                    <a:pt x="54102" y="137922"/>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bject 53"/>
            <p:cNvSpPr/>
            <p:nvPr/>
          </p:nvSpPr>
          <p:spPr>
            <a:xfrm>
              <a:off x="9384792" y="3842003"/>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bject 54"/>
            <p:cNvSpPr/>
            <p:nvPr/>
          </p:nvSpPr>
          <p:spPr>
            <a:xfrm>
              <a:off x="9266682" y="4015740"/>
              <a:ext cx="235585" cy="0"/>
            </a:xfrm>
            <a:custGeom>
              <a:avLst/>
              <a:gdLst/>
              <a:ahLst/>
              <a:cxnLst/>
              <a:rect l="l" t="t" r="r" b="b"/>
              <a:pathLst>
                <a:path w="235584">
                  <a:moveTo>
                    <a:pt x="235457"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bject 55"/>
            <p:cNvSpPr/>
            <p:nvPr/>
          </p:nvSpPr>
          <p:spPr>
            <a:xfrm>
              <a:off x="9306306" y="4066031"/>
              <a:ext cx="157480" cy="0"/>
            </a:xfrm>
            <a:custGeom>
              <a:avLst/>
              <a:gdLst/>
              <a:ahLst/>
              <a:cxnLst/>
              <a:rect l="l" t="t" r="r" b="b"/>
              <a:pathLst>
                <a:path w="157479">
                  <a:moveTo>
                    <a:pt x="156972"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object 56"/>
            <p:cNvSpPr/>
            <p:nvPr/>
          </p:nvSpPr>
          <p:spPr>
            <a:xfrm>
              <a:off x="9345168" y="4117086"/>
              <a:ext cx="78740" cy="0"/>
            </a:xfrm>
            <a:custGeom>
              <a:avLst/>
              <a:gdLst/>
              <a:ahLst/>
              <a:cxnLst/>
              <a:rect l="l" t="t" r="r" b="b"/>
              <a:pathLst>
                <a:path w="78740">
                  <a:moveTo>
                    <a:pt x="78485"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9384792" y="3914393"/>
              <a:ext cx="0" cy="101600"/>
            </a:xfrm>
            <a:custGeom>
              <a:avLst/>
              <a:gdLst/>
              <a:ahLst/>
              <a:cxnLst/>
              <a:rect l="l" t="t" r="r" b="b"/>
              <a:pathLst>
                <a:path h="101600">
                  <a:moveTo>
                    <a:pt x="0" y="10134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9386316" y="3366515"/>
              <a:ext cx="0" cy="120650"/>
            </a:xfrm>
            <a:custGeom>
              <a:avLst/>
              <a:gdLst/>
              <a:ahLst/>
              <a:cxnLst/>
              <a:rect l="l" t="t" r="r" b="b"/>
              <a:pathLst>
                <a:path h="120650">
                  <a:moveTo>
                    <a:pt x="0" y="12039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8933688" y="2968752"/>
              <a:ext cx="229870" cy="389890"/>
            </a:xfrm>
            <a:custGeom>
              <a:avLst/>
              <a:gdLst/>
              <a:ahLst/>
              <a:cxnLst/>
              <a:rect l="l" t="t" r="r" b="b"/>
              <a:pathLst>
                <a:path w="229870" h="389889">
                  <a:moveTo>
                    <a:pt x="229361" y="389382"/>
                  </a:moveTo>
                  <a:lnTo>
                    <a:pt x="229361" y="195072"/>
                  </a:ln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object 60"/>
            <p:cNvPicPr/>
            <p:nvPr/>
          </p:nvPicPr>
          <p:blipFill>
            <a:blip r:embed="rId7" cstate="print"/>
            <a:stretch>
              <a:fillRect/>
            </a:stretch>
          </p:blipFill>
          <p:spPr>
            <a:xfrm>
              <a:off x="9122594" y="2774441"/>
              <a:ext cx="80911" cy="234003"/>
            </a:xfrm>
            <a:prstGeom prst="rect">
              <a:avLst/>
            </a:prstGeom>
          </p:spPr>
        </p:pic>
        <p:pic>
          <p:nvPicPr>
            <p:cNvPr id="61" name="object 61"/>
            <p:cNvPicPr/>
            <p:nvPr/>
          </p:nvPicPr>
          <p:blipFill>
            <a:blip r:embed="rId8" cstate="print"/>
            <a:stretch>
              <a:fillRect/>
            </a:stretch>
          </p:blipFill>
          <p:spPr>
            <a:xfrm>
              <a:off x="9122594" y="3124130"/>
              <a:ext cx="80911" cy="78625"/>
            </a:xfrm>
            <a:prstGeom prst="rect">
              <a:avLst/>
            </a:prstGeom>
          </p:spPr>
        </p:pic>
        <p:sp>
          <p:nvSpPr>
            <p:cNvPr id="62" name="object 62"/>
            <p:cNvSpPr/>
            <p:nvPr/>
          </p:nvSpPr>
          <p:spPr>
            <a:xfrm>
              <a:off x="9612630" y="2774441"/>
              <a:ext cx="0" cy="584200"/>
            </a:xfrm>
            <a:custGeom>
              <a:avLst/>
              <a:gdLst/>
              <a:ahLst/>
              <a:cxnLst/>
              <a:rect l="l" t="t" r="r" b="b"/>
              <a:pathLst>
                <a:path h="584200">
                  <a:moveTo>
                    <a:pt x="0" y="0"/>
                  </a:moveTo>
                  <a:lnTo>
                    <a:pt x="0" y="583692"/>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3" name="object 63"/>
            <p:cNvPicPr/>
            <p:nvPr/>
          </p:nvPicPr>
          <p:blipFill>
            <a:blip r:embed="rId9" cstate="print"/>
            <a:stretch>
              <a:fillRect/>
            </a:stretch>
          </p:blipFill>
          <p:spPr>
            <a:xfrm>
              <a:off x="9567602" y="2929820"/>
              <a:ext cx="90055" cy="78625"/>
            </a:xfrm>
            <a:prstGeom prst="rect">
              <a:avLst/>
            </a:prstGeom>
          </p:spPr>
        </p:pic>
        <p:pic>
          <p:nvPicPr>
            <p:cNvPr id="64" name="object 64"/>
            <p:cNvPicPr/>
            <p:nvPr/>
          </p:nvPicPr>
          <p:blipFill>
            <a:blip r:embed="rId10" cstate="print"/>
            <a:stretch>
              <a:fillRect/>
            </a:stretch>
          </p:blipFill>
          <p:spPr>
            <a:xfrm>
              <a:off x="9567602" y="3124130"/>
              <a:ext cx="90055" cy="78625"/>
            </a:xfrm>
            <a:prstGeom prst="rect">
              <a:avLst/>
            </a:prstGeom>
          </p:spPr>
        </p:pic>
        <p:sp>
          <p:nvSpPr>
            <p:cNvPr id="65" name="object 65"/>
            <p:cNvSpPr/>
            <p:nvPr/>
          </p:nvSpPr>
          <p:spPr>
            <a:xfrm>
              <a:off x="9160002" y="2533650"/>
              <a:ext cx="3175" cy="350520"/>
            </a:xfrm>
            <a:custGeom>
              <a:avLst/>
              <a:gdLst/>
              <a:ahLst/>
              <a:cxnLst/>
              <a:rect l="l" t="t" r="r" b="b"/>
              <a:pathLst>
                <a:path w="3175" h="350519">
                  <a:moveTo>
                    <a:pt x="0" y="0"/>
                  </a:moveTo>
                  <a:lnTo>
                    <a:pt x="3048" y="35052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6" name="object 66"/>
            <p:cNvPicPr/>
            <p:nvPr/>
          </p:nvPicPr>
          <p:blipFill>
            <a:blip r:embed="rId11" cstate="print"/>
            <a:stretch>
              <a:fillRect/>
            </a:stretch>
          </p:blipFill>
          <p:spPr>
            <a:xfrm>
              <a:off x="9102782" y="2489384"/>
              <a:ext cx="114439" cy="87007"/>
            </a:xfrm>
            <a:prstGeom prst="rect">
              <a:avLst/>
            </a:prstGeom>
          </p:spPr>
        </p:pic>
        <p:pic>
          <p:nvPicPr>
            <p:cNvPr id="67" name="object 67"/>
            <p:cNvPicPr/>
            <p:nvPr/>
          </p:nvPicPr>
          <p:blipFill>
            <a:blip r:embed="rId12" cstate="print"/>
            <a:stretch>
              <a:fillRect/>
            </a:stretch>
          </p:blipFill>
          <p:spPr>
            <a:xfrm>
              <a:off x="9555410" y="2035232"/>
              <a:ext cx="113677" cy="87007"/>
            </a:xfrm>
            <a:prstGeom prst="rect">
              <a:avLst/>
            </a:prstGeom>
          </p:spPr>
        </p:pic>
        <p:sp>
          <p:nvSpPr>
            <p:cNvPr id="68" name="object 68"/>
            <p:cNvSpPr/>
            <p:nvPr/>
          </p:nvSpPr>
          <p:spPr>
            <a:xfrm>
              <a:off x="7200138" y="1355598"/>
              <a:ext cx="300990" cy="478155"/>
            </a:xfrm>
            <a:custGeom>
              <a:avLst/>
              <a:gdLst/>
              <a:ahLst/>
              <a:cxnLst/>
              <a:rect l="l" t="t" r="r" b="b"/>
              <a:pathLst>
                <a:path w="300990" h="478155">
                  <a:moveTo>
                    <a:pt x="150875" y="0"/>
                  </a:moveTo>
                  <a:lnTo>
                    <a:pt x="0" y="40386"/>
                  </a:lnTo>
                  <a:lnTo>
                    <a:pt x="300989" y="119634"/>
                  </a:lnTo>
                  <a:lnTo>
                    <a:pt x="0" y="198882"/>
                  </a:lnTo>
                  <a:lnTo>
                    <a:pt x="300989" y="278892"/>
                  </a:lnTo>
                  <a:lnTo>
                    <a:pt x="0" y="358140"/>
                  </a:lnTo>
                  <a:lnTo>
                    <a:pt x="300989" y="437388"/>
                  </a:lnTo>
                  <a:lnTo>
                    <a:pt x="150875" y="477773"/>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object 69"/>
            <p:cNvSpPr/>
            <p:nvPr/>
          </p:nvSpPr>
          <p:spPr>
            <a:xfrm>
              <a:off x="7652004" y="1355598"/>
              <a:ext cx="302260" cy="478155"/>
            </a:xfrm>
            <a:custGeom>
              <a:avLst/>
              <a:gdLst/>
              <a:ahLst/>
              <a:cxnLst/>
              <a:rect l="l" t="t" r="r" b="b"/>
              <a:pathLst>
                <a:path w="302259" h="478155">
                  <a:moveTo>
                    <a:pt x="150875" y="0"/>
                  </a:moveTo>
                  <a:lnTo>
                    <a:pt x="0" y="40386"/>
                  </a:lnTo>
                  <a:lnTo>
                    <a:pt x="301752" y="119634"/>
                  </a:lnTo>
                  <a:lnTo>
                    <a:pt x="0" y="198882"/>
                  </a:lnTo>
                  <a:lnTo>
                    <a:pt x="301752" y="278892"/>
                  </a:lnTo>
                  <a:lnTo>
                    <a:pt x="0" y="358140"/>
                  </a:lnTo>
                  <a:lnTo>
                    <a:pt x="301752" y="437388"/>
                  </a:lnTo>
                  <a:lnTo>
                    <a:pt x="150875" y="477773"/>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object 70"/>
            <p:cNvSpPr/>
            <p:nvPr/>
          </p:nvSpPr>
          <p:spPr>
            <a:xfrm>
              <a:off x="9870186" y="2164079"/>
              <a:ext cx="536575" cy="262255"/>
            </a:xfrm>
            <a:custGeom>
              <a:avLst/>
              <a:gdLst/>
              <a:ahLst/>
              <a:cxnLst/>
              <a:rect l="l" t="t" r="r" b="b"/>
              <a:pathLst>
                <a:path w="536575" h="262255">
                  <a:moveTo>
                    <a:pt x="536448" y="65532"/>
                  </a:moveTo>
                  <a:lnTo>
                    <a:pt x="534162" y="63246"/>
                  </a:lnTo>
                  <a:lnTo>
                    <a:pt x="136398" y="63246"/>
                  </a:lnTo>
                  <a:lnTo>
                    <a:pt x="136398" y="3048"/>
                  </a:lnTo>
                  <a:lnTo>
                    <a:pt x="134874" y="1524"/>
                  </a:lnTo>
                  <a:lnTo>
                    <a:pt x="133350" y="762"/>
                  </a:lnTo>
                  <a:lnTo>
                    <a:pt x="131064" y="0"/>
                  </a:lnTo>
                  <a:lnTo>
                    <a:pt x="129540" y="0"/>
                  </a:lnTo>
                  <a:lnTo>
                    <a:pt x="0" y="129540"/>
                  </a:lnTo>
                  <a:lnTo>
                    <a:pt x="0" y="132588"/>
                  </a:lnTo>
                  <a:lnTo>
                    <a:pt x="2286" y="134112"/>
                  </a:lnTo>
                  <a:lnTo>
                    <a:pt x="8382" y="140246"/>
                  </a:lnTo>
                  <a:lnTo>
                    <a:pt x="126492" y="259080"/>
                  </a:lnTo>
                  <a:lnTo>
                    <a:pt x="128016" y="260604"/>
                  </a:lnTo>
                  <a:lnTo>
                    <a:pt x="131064" y="262128"/>
                  </a:lnTo>
                  <a:lnTo>
                    <a:pt x="133350" y="261366"/>
                  </a:lnTo>
                  <a:lnTo>
                    <a:pt x="134874" y="260604"/>
                  </a:lnTo>
                  <a:lnTo>
                    <a:pt x="136398" y="259080"/>
                  </a:lnTo>
                  <a:lnTo>
                    <a:pt x="136398" y="198882"/>
                  </a:lnTo>
                  <a:lnTo>
                    <a:pt x="527304" y="198882"/>
                  </a:lnTo>
                  <a:lnTo>
                    <a:pt x="531876" y="198882"/>
                  </a:lnTo>
                  <a:lnTo>
                    <a:pt x="534162" y="198882"/>
                  </a:lnTo>
                  <a:lnTo>
                    <a:pt x="536448" y="196596"/>
                  </a:lnTo>
                  <a:lnTo>
                    <a:pt x="536448" y="65532"/>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1" name="object 71"/>
            <p:cNvPicPr/>
            <p:nvPr/>
          </p:nvPicPr>
          <p:blipFill>
            <a:blip r:embed="rId13" cstate="print"/>
            <a:stretch>
              <a:fillRect/>
            </a:stretch>
          </p:blipFill>
          <p:spPr>
            <a:xfrm>
              <a:off x="6965442" y="1645920"/>
              <a:ext cx="3076955" cy="2058161"/>
            </a:xfrm>
            <a:prstGeom prst="rect">
              <a:avLst/>
            </a:prstGeom>
          </p:spPr>
        </p:pic>
      </p:grpSp>
      <p:sp>
        <p:nvSpPr>
          <p:cNvPr id="72" name="object 72"/>
          <p:cNvSpPr txBox="1"/>
          <p:nvPr/>
        </p:nvSpPr>
        <p:spPr>
          <a:xfrm>
            <a:off x="955039" y="4678656"/>
            <a:ext cx="9150350" cy="1086485"/>
          </a:xfrm>
          <a:prstGeom prst="rect">
            <a:avLst/>
          </a:prstGeom>
        </p:spPr>
        <p:txBody>
          <a:bodyPr vert="horz" wrap="square" lIns="0" tIns="73660" rIns="0" bIns="0" rtlCol="0">
            <a:spAutoFit/>
          </a:bodyPr>
          <a:lstStyle/>
          <a:p>
            <a:pPr marL="372745" marR="0" lvl="0" indent="-360680" algn="l" defTabSz="914400" rtl="0" eaLnBrk="1" fontAlgn="auto" latinLnBrk="0" hangingPunct="1">
              <a:lnSpc>
                <a:spcPct val="100000"/>
              </a:lnSpc>
              <a:spcBef>
                <a:spcPts val="580"/>
              </a:spcBef>
              <a:spcAft>
                <a:spcPts val="0"/>
              </a:spcAft>
              <a:buClr>
                <a:srgbClr val="CC0000"/>
              </a:buClr>
              <a:buSzTx/>
              <a:buFont typeface="Wingdings"/>
              <a:buChar char=""/>
              <a:tabLst>
                <a:tab pos="372745" algn="l"/>
                <a:tab pos="3733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Differential</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voltage</a:t>
            </a:r>
            <a:r>
              <a:rPr kumimoji="0" sz="2000" b="0" i="0" u="none" strike="noStrike" kern="1200" cap="none" spc="3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is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proportional</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to</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sum</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of</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differential</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tap</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currents</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810895" marR="0" lvl="1" indent="-360680" algn="l" defTabSz="914400" rtl="0" eaLnBrk="1" fontAlgn="auto" latinLnBrk="0" hangingPunct="1">
              <a:lnSpc>
                <a:spcPct val="100000"/>
              </a:lnSpc>
              <a:spcBef>
                <a:spcPts val="434"/>
              </a:spcBef>
              <a:spcAft>
                <a:spcPts val="0"/>
              </a:spcAft>
              <a:buClr>
                <a:srgbClr val="CC0000"/>
              </a:buClr>
              <a:buSzTx/>
              <a:buFont typeface="Wingdings"/>
              <a:buChar char=""/>
              <a:tabLst>
                <a:tab pos="810895" algn="l"/>
                <a:tab pos="811530" algn="l"/>
              </a:tabLst>
              <a:defRPr/>
            </a:pPr>
            <a:r>
              <a:rPr kumimoji="0" sz="1800" b="0" i="0" u="none" strike="noStrike" kern="1200" cap="none" spc="0" normalizeH="0" baseline="0" noProof="0" dirty="0">
                <a:ln>
                  <a:noFill/>
                </a:ln>
                <a:solidFill>
                  <a:prstClr val="black"/>
                </a:solidFill>
                <a:effectLst/>
                <a:uLnTx/>
                <a:uFillTx/>
                <a:latin typeface="Verdana"/>
                <a:ea typeface="+mn-ea"/>
                <a:cs typeface="Verdana"/>
              </a:rPr>
              <a:t>Widely</a:t>
            </a:r>
            <a:r>
              <a:rPr kumimoji="0" sz="1800" b="0" i="0" u="none" strike="noStrike" kern="1200" cap="none" spc="-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used</a:t>
            </a:r>
            <a:r>
              <a:rPr kumimoji="0" sz="1800" b="0" i="0" u="none" strike="noStrike" kern="1200" cap="none" spc="-20"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for</a:t>
            </a:r>
            <a:r>
              <a:rPr kumimoji="0" sz="1800" b="0" i="0" u="none" strike="noStrike" kern="1200" cap="none" spc="-15"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differential</a:t>
            </a:r>
            <a:r>
              <a:rPr kumimoji="0" sz="1800" b="0" i="0" u="none" strike="noStrike" kern="1200" cap="none" spc="1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signaling</a:t>
            </a:r>
            <a:endParaRPr kumimoji="0" sz="1800" b="0" i="0" u="none" strike="noStrike" kern="1200" cap="none" spc="0" normalizeH="0" baseline="0" noProof="0">
              <a:ln>
                <a:noFill/>
              </a:ln>
              <a:solidFill>
                <a:prstClr val="black"/>
              </a:solidFill>
              <a:effectLst/>
              <a:uLnTx/>
              <a:uFillTx/>
              <a:latin typeface="Verdana"/>
              <a:ea typeface="+mn-ea"/>
              <a:cs typeface="Verdana"/>
            </a:endParaRPr>
          </a:p>
          <a:p>
            <a:pPr marL="372745" marR="0" lvl="0" indent="-360680" algn="l" defTabSz="914400" rtl="0" eaLnBrk="1" fontAlgn="auto" latinLnBrk="0" hangingPunct="1">
              <a:lnSpc>
                <a:spcPct val="100000"/>
              </a:lnSpc>
              <a:spcBef>
                <a:spcPts val="475"/>
              </a:spcBef>
              <a:spcAft>
                <a:spcPts val="0"/>
              </a:spcAft>
              <a:buClr>
                <a:srgbClr val="CC0000"/>
              </a:buClr>
              <a:buSzTx/>
              <a:buFont typeface="Wingdings"/>
              <a:buChar char=""/>
              <a:tabLst>
                <a:tab pos="372745" algn="l"/>
                <a:tab pos="373380"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Resistance</a:t>
            </a:r>
            <a:r>
              <a:rPr kumimoji="0" sz="2000" b="0" i="0" u="none" strike="noStrike" kern="1200" cap="none" spc="-5" normalizeH="0" baseline="0" noProof="0" dirty="0">
                <a:ln>
                  <a:noFill/>
                </a:ln>
                <a:solidFill>
                  <a:prstClr val="black"/>
                </a:solidFill>
                <a:effectLst/>
                <a:uLnTx/>
                <a:uFillTx/>
                <a:latin typeface="Verdana"/>
                <a:ea typeface="+mn-ea"/>
                <a:cs typeface="Verdana"/>
              </a:rPr>
              <a:t> = 50</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Ω</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for </a:t>
            </a:r>
            <a:r>
              <a:rPr kumimoji="0" sz="2000" b="0" i="0" u="none" strike="noStrike" kern="1200" cap="none" spc="-10" normalizeH="0" baseline="0" noProof="0" dirty="0">
                <a:ln>
                  <a:noFill/>
                </a:ln>
                <a:solidFill>
                  <a:prstClr val="black"/>
                </a:solidFill>
                <a:effectLst/>
                <a:uLnTx/>
                <a:uFillTx/>
                <a:latin typeface="Verdana"/>
                <a:ea typeface="+mn-ea"/>
                <a:cs typeface="Verdana"/>
              </a:rPr>
              <a:t>impedance</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matching</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3" name="object 73"/>
          <p:cNvSpPr txBox="1"/>
          <p:nvPr/>
        </p:nvSpPr>
        <p:spPr>
          <a:xfrm>
            <a:off x="3022094" y="1190197"/>
            <a:ext cx="1706880" cy="756920"/>
          </a:xfrm>
          <a:prstGeom prst="rect">
            <a:avLst/>
          </a:prstGeom>
        </p:spPr>
        <p:txBody>
          <a:bodyPr vert="horz" wrap="square" lIns="0" tIns="12700" rIns="0" bIns="0" rtlCol="0">
            <a:spAutoFit/>
          </a:bodyPr>
          <a:lstStyle/>
          <a:p>
            <a:pPr marL="38100" marR="30480" lvl="0" indent="0" algn="l" defTabSz="914400" rtl="0" eaLnBrk="1" fontAlgn="auto" latinLnBrk="0" hangingPunct="1">
              <a:lnSpc>
                <a:spcPct val="120000"/>
              </a:lnSpc>
              <a:spcBef>
                <a:spcPts val="100"/>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if 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 </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x</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=-1</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if</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
            </a:r>
            <a:r>
              <a:rPr kumimoji="0" sz="1950" b="0" i="0" u="none" strike="noStrike" kern="1200" cap="none" spc="-7" normalizeH="0" baseline="-21367" noProof="0" dirty="0">
                <a:ln>
                  <a:noFill/>
                </a:ln>
                <a:solidFill>
                  <a:prstClr val="black"/>
                </a:solidFill>
                <a:effectLst/>
                <a:uLnTx/>
                <a:uFillTx/>
                <a:latin typeface="Verdana"/>
                <a:ea typeface="+mn-ea"/>
                <a:cs typeface="Verdana"/>
              </a:rPr>
              <a:t>i</a:t>
            </a:r>
            <a:r>
              <a:rPr kumimoji="0" sz="2000" b="0" i="0" u="none" strike="noStrike" kern="1200" cap="none" spc="-5" normalizeH="0" baseline="0" noProof="0" dirty="0">
                <a:ln>
                  <a:noFill/>
                </a:ln>
                <a:solidFill>
                  <a:prstClr val="black"/>
                </a:solidFill>
                <a:effectLst/>
                <a:uLnTx/>
                <a:uFillTx/>
                <a:latin typeface="Verdana"/>
                <a:ea typeface="+mn-ea"/>
                <a:cs typeface="Verdana"/>
              </a:rPr>
              <a:t>=0</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4" name="object 74"/>
          <p:cNvSpPr txBox="1"/>
          <p:nvPr/>
        </p:nvSpPr>
        <p:spPr>
          <a:xfrm>
            <a:off x="10480802" y="2109469"/>
            <a:ext cx="103060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srgbClr val="0000FF"/>
                </a:solidFill>
                <a:effectLst/>
                <a:uLnTx/>
                <a:uFillTx/>
                <a:latin typeface="Verdana"/>
                <a:ea typeface="+mn-ea"/>
                <a:cs typeface="Verdana"/>
              </a:rPr>
              <a:t>R=50</a:t>
            </a:r>
            <a:r>
              <a:rPr kumimoji="0" sz="2000" b="0" i="0" u="none" strike="noStrike" kern="1200" cap="none" spc="-70" normalizeH="0" baseline="0" noProof="0" dirty="0">
                <a:ln>
                  <a:noFill/>
                </a:ln>
                <a:solidFill>
                  <a:srgbClr val="0000FF"/>
                </a:solidFill>
                <a:effectLst/>
                <a:uLnTx/>
                <a:uFillTx/>
                <a:latin typeface="Verdana"/>
                <a:ea typeface="+mn-ea"/>
                <a:cs typeface="Verdana"/>
              </a:rPr>
              <a:t> </a:t>
            </a:r>
            <a:r>
              <a:rPr kumimoji="0" sz="2000" b="0" i="0" u="none" strike="noStrike" kern="1200" cap="none" spc="-5" normalizeH="0" baseline="0" noProof="0" dirty="0">
                <a:ln>
                  <a:noFill/>
                </a:ln>
                <a:solidFill>
                  <a:srgbClr val="0000FF"/>
                </a:solidFill>
                <a:effectLst/>
                <a:uLnTx/>
                <a:uFillTx/>
                <a:latin typeface="Verdana"/>
                <a:ea typeface="+mn-ea"/>
                <a:cs typeface="Verdana"/>
              </a:rPr>
              <a:t>Ω</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5" name="object 75"/>
          <p:cNvSpPr txBox="1"/>
          <p:nvPr/>
        </p:nvSpPr>
        <p:spPr>
          <a:xfrm>
            <a:off x="6537197" y="1523443"/>
            <a:ext cx="30162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0" normalizeH="0" baseline="-25000" noProof="0" dirty="0">
                <a:ln>
                  <a:noFill/>
                </a:ln>
                <a:solidFill>
                  <a:prstClr val="black"/>
                </a:solidFill>
                <a:effectLst/>
                <a:uLnTx/>
                <a:uFillTx/>
                <a:latin typeface="Times New Roman"/>
                <a:ea typeface="+mn-ea"/>
                <a:cs typeface="Times New Roman"/>
              </a:rPr>
              <a:t>1</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sp>
        <p:nvSpPr>
          <p:cNvPr id="76" name="object 76"/>
          <p:cNvSpPr txBox="1"/>
          <p:nvPr/>
        </p:nvSpPr>
        <p:spPr>
          <a:xfrm>
            <a:off x="5482590" y="1552399"/>
            <a:ext cx="30670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2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30" normalizeH="0" baseline="-25000" noProof="0" dirty="0">
                <a:ln>
                  <a:noFill/>
                </a:ln>
                <a:solidFill>
                  <a:prstClr val="black"/>
                </a:solidFill>
                <a:effectLst/>
                <a:uLnTx/>
                <a:uFillTx/>
                <a:latin typeface="Times New Roman"/>
                <a:ea typeface="+mn-ea"/>
                <a:cs typeface="Times New Roman"/>
              </a:rPr>
              <a:t>0</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grpSp>
        <p:nvGrpSpPr>
          <p:cNvPr id="77" name="object 77"/>
          <p:cNvGrpSpPr/>
          <p:nvPr/>
        </p:nvGrpSpPr>
        <p:grpSpPr>
          <a:xfrm>
            <a:off x="5633465" y="1930907"/>
            <a:ext cx="272415" cy="123189"/>
            <a:chOff x="5633465" y="1930907"/>
            <a:chExt cx="272415" cy="123189"/>
          </a:xfrm>
        </p:grpSpPr>
        <p:sp>
          <p:nvSpPr>
            <p:cNvPr id="78" name="object 78"/>
            <p:cNvSpPr/>
            <p:nvPr/>
          </p:nvSpPr>
          <p:spPr>
            <a:xfrm>
              <a:off x="5633465" y="1992629"/>
              <a:ext cx="104139" cy="0"/>
            </a:xfrm>
            <a:custGeom>
              <a:avLst/>
              <a:gdLst/>
              <a:ahLst/>
              <a:cxnLst/>
              <a:rect l="l" t="t" r="r" b="b"/>
              <a:pathLst>
                <a:path w="104139">
                  <a:moveTo>
                    <a:pt x="0" y="0"/>
                  </a:moveTo>
                  <a:lnTo>
                    <a:pt x="103632"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object 79"/>
            <p:cNvSpPr/>
            <p:nvPr/>
          </p:nvSpPr>
          <p:spPr>
            <a:xfrm>
              <a:off x="5721857" y="1930907"/>
              <a:ext cx="184150" cy="123189"/>
            </a:xfrm>
            <a:custGeom>
              <a:avLst/>
              <a:gdLst/>
              <a:ahLst/>
              <a:cxnLst/>
              <a:rect l="l" t="t" r="r" b="b"/>
              <a:pathLst>
                <a:path w="184150" h="123189">
                  <a:moveTo>
                    <a:pt x="183642" y="61722"/>
                  </a:moveTo>
                  <a:lnTo>
                    <a:pt x="0" y="0"/>
                  </a:lnTo>
                  <a:lnTo>
                    <a:pt x="0" y="122682"/>
                  </a:lnTo>
                  <a:lnTo>
                    <a:pt x="183642"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0" name="object 80"/>
          <p:cNvSpPr txBox="1"/>
          <p:nvPr/>
        </p:nvSpPr>
        <p:spPr>
          <a:xfrm>
            <a:off x="5918453" y="1733550"/>
            <a:ext cx="535305" cy="537210"/>
          </a:xfrm>
          <a:prstGeom prst="rect">
            <a:avLst/>
          </a:prstGeom>
          <a:ln w="28765">
            <a:solidFill>
              <a:srgbClr val="000000"/>
            </a:solidFill>
          </a:ln>
        </p:spPr>
        <p:txBody>
          <a:bodyPr vert="horz" wrap="square" lIns="0" tIns="60960" rIns="0" bIns="0" rtlCol="0">
            <a:spAutoFit/>
          </a:bodyPr>
          <a:lstStyle/>
          <a:p>
            <a:pPr marL="161925" marR="0" lvl="0" indent="0" algn="l" defTabSz="914400" rtl="0" eaLnBrk="1" fontAlgn="auto" latinLnBrk="0" hangingPunct="1">
              <a:lnSpc>
                <a:spcPct val="100000"/>
              </a:lnSpc>
              <a:spcBef>
                <a:spcPts val="480"/>
              </a:spcBef>
              <a:spcAft>
                <a:spcPts val="0"/>
              </a:spcAft>
              <a:buClrTx/>
              <a:buSzTx/>
              <a:buFontTx/>
              <a:buNone/>
              <a:tabLst/>
              <a:defRPr/>
            </a:pPr>
            <a:r>
              <a:rPr kumimoji="0" sz="2400" b="0" i="0" u="none" strike="noStrike" kern="1200" cap="none" spc="10" normalizeH="0" baseline="0" noProof="0" dirty="0">
                <a:ln>
                  <a:noFill/>
                </a:ln>
                <a:solidFill>
                  <a:prstClr val="black"/>
                </a:solidFill>
                <a:effectLst/>
                <a:uLnTx/>
                <a:uFillTx/>
                <a:latin typeface="Malgun Gothic"/>
                <a:ea typeface="+mn-ea"/>
                <a:cs typeface="Malgun Gothic"/>
              </a:rPr>
              <a:t>D</a:t>
            </a:r>
            <a:endParaRPr kumimoji="0" sz="24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81" name="object 81"/>
          <p:cNvGrpSpPr/>
          <p:nvPr/>
        </p:nvGrpSpPr>
        <p:grpSpPr>
          <a:xfrm>
            <a:off x="6453378" y="1959101"/>
            <a:ext cx="272415" cy="123189"/>
            <a:chOff x="6453378" y="1959101"/>
            <a:chExt cx="272415" cy="123189"/>
          </a:xfrm>
        </p:grpSpPr>
        <p:sp>
          <p:nvSpPr>
            <p:cNvPr id="82" name="object 82"/>
            <p:cNvSpPr/>
            <p:nvPr/>
          </p:nvSpPr>
          <p:spPr>
            <a:xfrm>
              <a:off x="6453378" y="2020823"/>
              <a:ext cx="104775" cy="0"/>
            </a:xfrm>
            <a:custGeom>
              <a:avLst/>
              <a:gdLst/>
              <a:ahLst/>
              <a:cxnLst/>
              <a:rect l="l" t="t" r="r" b="b"/>
              <a:pathLst>
                <a:path w="104775">
                  <a:moveTo>
                    <a:pt x="0" y="0"/>
                  </a:moveTo>
                  <a:lnTo>
                    <a:pt x="104394"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6542532" y="1959101"/>
              <a:ext cx="182880" cy="123189"/>
            </a:xfrm>
            <a:custGeom>
              <a:avLst/>
              <a:gdLst/>
              <a:ahLst/>
              <a:cxnLst/>
              <a:rect l="l" t="t" r="r" b="b"/>
              <a:pathLst>
                <a:path w="182879" h="123189">
                  <a:moveTo>
                    <a:pt x="182880" y="61722"/>
                  </a:moveTo>
                  <a:lnTo>
                    <a:pt x="0" y="0"/>
                  </a:lnTo>
                  <a:lnTo>
                    <a:pt x="0" y="122682"/>
                  </a:lnTo>
                  <a:lnTo>
                    <a:pt x="182880"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4" name="object 84"/>
          <p:cNvSpPr txBox="1"/>
          <p:nvPr/>
        </p:nvSpPr>
        <p:spPr>
          <a:xfrm>
            <a:off x="1947916" y="4091179"/>
            <a:ext cx="2220595" cy="451484"/>
          </a:xfrm>
          <a:prstGeom prst="rect">
            <a:avLst/>
          </a:prstGeom>
        </p:spPr>
        <p:txBody>
          <a:bodyPr vert="horz" wrap="square" lIns="0" tIns="11430" rIns="0" bIns="0" rtlCol="0">
            <a:spAutoFit/>
          </a:bodyPr>
          <a:lstStyle/>
          <a:p>
            <a:pPr marL="50800" marR="0" lvl="0" indent="0" algn="l" defTabSz="914400" rtl="0" eaLnBrk="1" fontAlgn="auto" latinLnBrk="0" hangingPunct="1">
              <a:lnSpc>
                <a:spcPct val="100000"/>
              </a:lnSpc>
              <a:spcBef>
                <a:spcPts val="90"/>
              </a:spcBef>
              <a:spcAft>
                <a:spcPts val="0"/>
              </a:spcAft>
              <a:buClrTx/>
              <a:buSzTx/>
              <a:buFontTx/>
              <a:buNone/>
              <a:tabLst/>
              <a:defRPr/>
            </a:pPr>
            <a:r>
              <a:rPr kumimoji="0" sz="2800" b="0" i="0" u="none" strike="noStrike" kern="1200" cap="none" spc="-5" normalizeH="0" baseline="0" noProof="0" dirty="0">
                <a:ln>
                  <a:noFill/>
                </a:ln>
                <a:solidFill>
                  <a:prstClr val="black"/>
                </a:solidFill>
                <a:effectLst/>
                <a:uLnTx/>
                <a:uFillTx/>
                <a:latin typeface="Symbol"/>
                <a:ea typeface="+mn-ea"/>
                <a:cs typeface="Symbol"/>
              </a:rPr>
              <a:t></a:t>
            </a:r>
            <a:r>
              <a:rPr kumimoji="0" sz="2800" b="0" i="0" u="none" strike="noStrike" kern="1200" cap="none" spc="-5" normalizeH="0" baseline="0" noProof="0" dirty="0">
                <a:ln>
                  <a:noFill/>
                </a:ln>
                <a:solidFill>
                  <a:prstClr val="black"/>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00FF"/>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00FF"/>
                </a:solidFill>
                <a:effectLst/>
                <a:uLnTx/>
                <a:uFillTx/>
                <a:latin typeface="Times New Roman"/>
                <a:ea typeface="+mn-ea"/>
                <a:cs typeface="Times New Roman"/>
              </a:rPr>
              <a:t>.</a:t>
            </a:r>
            <a:r>
              <a:rPr kumimoji="0" sz="2800" b="0" i="0" u="none" strike="noStrike" kern="1200" cap="none" spc="235" normalizeH="0" baseline="0" noProof="0" dirty="0">
                <a:ln>
                  <a:noFill/>
                </a:ln>
                <a:solidFill>
                  <a:srgbClr val="0000FF"/>
                </a:solidFill>
                <a:effectLst/>
                <a:uLnTx/>
                <a:uFillTx/>
                <a:latin typeface="Times New Roman"/>
                <a:ea typeface="+mn-ea"/>
                <a:cs typeface="Times New Roman"/>
              </a:rPr>
              <a:t>6</a:t>
            </a:r>
            <a:r>
              <a:rPr kumimoji="0" sz="2800" b="0" i="1" u="none" strike="noStrike" kern="1200" cap="none" spc="-5" normalizeH="0" baseline="0" noProof="0" dirty="0">
                <a:ln>
                  <a:noFill/>
                </a:ln>
                <a:solidFill>
                  <a:srgbClr val="0000FF"/>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00FF"/>
                </a:solidFill>
                <a:effectLst/>
                <a:uLnTx/>
                <a:uFillTx/>
                <a:latin typeface="Times New Roman"/>
                <a:ea typeface="+mn-ea"/>
                <a:cs typeface="Times New Roman"/>
              </a:rPr>
              <a:t>0</a:t>
            </a:r>
            <a:r>
              <a:rPr kumimoji="0" sz="2400" b="0" i="0" u="none" strike="noStrike" kern="1200" cap="none" spc="0" normalizeH="0" baseline="-24305" noProof="0" dirty="0">
                <a:ln>
                  <a:noFill/>
                </a:ln>
                <a:solidFill>
                  <a:srgbClr val="0000FF"/>
                </a:solidFill>
                <a:effectLst/>
                <a:uLnTx/>
                <a:uFillTx/>
                <a:latin typeface="Times New Roman"/>
                <a:ea typeface="+mn-ea"/>
                <a:cs typeface="Times New Roman"/>
              </a:rPr>
              <a:t> </a:t>
            </a:r>
            <a:r>
              <a:rPr kumimoji="0" sz="2400" b="0" i="0" u="none" strike="noStrike" kern="1200" cap="none" spc="22" normalizeH="0" baseline="-24305" noProof="0" dirty="0">
                <a:ln>
                  <a:noFill/>
                </a:ln>
                <a:solidFill>
                  <a:srgbClr val="0000FF"/>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007E00"/>
                </a:solidFill>
                <a:effectLst/>
                <a:uLnTx/>
                <a:uFillTx/>
                <a:latin typeface="Symbol"/>
                <a:ea typeface="+mn-ea"/>
                <a:cs typeface="Symbol"/>
              </a:rPr>
              <a:t></a:t>
            </a:r>
            <a:r>
              <a:rPr kumimoji="0" sz="2800" b="0" i="0" u="none" strike="noStrike" kern="1200" cap="none" spc="-190" normalizeH="0" baseline="0" noProof="0" dirty="0">
                <a:ln>
                  <a:noFill/>
                </a:ln>
                <a:solidFill>
                  <a:srgbClr val="007E00"/>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007E00"/>
                </a:solidFill>
                <a:effectLst/>
                <a:uLnTx/>
                <a:uFillTx/>
                <a:latin typeface="Times New Roman"/>
                <a:ea typeface="+mn-ea"/>
                <a:cs typeface="Times New Roman"/>
              </a:rPr>
              <a:t>0</a:t>
            </a:r>
            <a:r>
              <a:rPr kumimoji="0" sz="2800" b="0" i="0" u="none" strike="noStrike" kern="1200" cap="none" spc="20" normalizeH="0" baseline="0" noProof="0" dirty="0">
                <a:ln>
                  <a:noFill/>
                </a:ln>
                <a:solidFill>
                  <a:srgbClr val="007E00"/>
                </a:solidFill>
                <a:effectLst/>
                <a:uLnTx/>
                <a:uFillTx/>
                <a:latin typeface="Times New Roman"/>
                <a:ea typeface="+mn-ea"/>
                <a:cs typeface="Times New Roman"/>
              </a:rPr>
              <a:t>.</a:t>
            </a:r>
            <a:r>
              <a:rPr kumimoji="0" sz="2800" b="0" i="0" u="none" strike="noStrike" kern="1200" cap="none" spc="-5" normalizeH="0" baseline="0" noProof="0" dirty="0">
                <a:ln>
                  <a:noFill/>
                </a:ln>
                <a:solidFill>
                  <a:srgbClr val="007E00"/>
                </a:solidFill>
                <a:effectLst/>
                <a:uLnTx/>
                <a:uFillTx/>
                <a:latin typeface="Times New Roman"/>
                <a:ea typeface="+mn-ea"/>
                <a:cs typeface="Times New Roman"/>
              </a:rPr>
              <a:t>4</a:t>
            </a:r>
            <a:r>
              <a:rPr kumimoji="0" sz="2800" b="0" i="0" u="none" strike="noStrike" kern="1200" cap="none" spc="-459" normalizeH="0" baseline="0" noProof="0" dirty="0">
                <a:ln>
                  <a:noFill/>
                </a:ln>
                <a:solidFill>
                  <a:srgbClr val="007E00"/>
                </a:solidFill>
                <a:effectLst/>
                <a:uLnTx/>
                <a:uFillTx/>
                <a:latin typeface="Times New Roman"/>
                <a:ea typeface="+mn-ea"/>
                <a:cs typeface="Times New Roman"/>
              </a:rPr>
              <a:t> </a:t>
            </a:r>
            <a:r>
              <a:rPr kumimoji="0" sz="2800" b="0" i="1" u="none" strike="noStrike" kern="1200" cap="none" spc="-160" normalizeH="0" baseline="0" noProof="0" dirty="0">
                <a:ln>
                  <a:noFill/>
                </a:ln>
                <a:solidFill>
                  <a:srgbClr val="007E00"/>
                </a:solidFill>
                <a:effectLst/>
                <a:uLnTx/>
                <a:uFillTx/>
                <a:latin typeface="Times New Roman"/>
                <a:ea typeface="+mn-ea"/>
                <a:cs typeface="Times New Roman"/>
              </a:rPr>
              <a:t>x</a:t>
            </a:r>
            <a:r>
              <a:rPr kumimoji="0" sz="2400" b="0" i="0" u="none" strike="noStrike" kern="1200" cap="none" spc="7" normalizeH="0" baseline="-24305" noProof="0" dirty="0">
                <a:ln>
                  <a:noFill/>
                </a:ln>
                <a:solidFill>
                  <a:srgbClr val="007E00"/>
                </a:solidFill>
                <a:effectLst/>
                <a:uLnTx/>
                <a:uFillTx/>
                <a:latin typeface="Times New Roman"/>
                <a:ea typeface="+mn-ea"/>
                <a:cs typeface="Times New Roman"/>
              </a:rPr>
              <a:t>1</a:t>
            </a:r>
            <a:endParaRPr kumimoji="0" sz="2400" b="0" i="0" u="none" strike="noStrike" kern="1200" cap="none" spc="0" normalizeH="0" baseline="-24305" noProof="0">
              <a:ln>
                <a:noFill/>
              </a:ln>
              <a:solidFill>
                <a:prstClr val="black"/>
              </a:solidFill>
              <a:effectLst/>
              <a:uLnTx/>
              <a:uFillTx/>
              <a:latin typeface="Times New Roman"/>
              <a:ea typeface="+mn-ea"/>
              <a:cs typeface="Times New Roman"/>
            </a:endParaRPr>
          </a:p>
        </p:txBody>
      </p:sp>
      <p:sp>
        <p:nvSpPr>
          <p:cNvPr id="85" name="object 85"/>
          <p:cNvSpPr txBox="1"/>
          <p:nvPr/>
        </p:nvSpPr>
        <p:spPr>
          <a:xfrm>
            <a:off x="1215389" y="4182619"/>
            <a:ext cx="685800" cy="451484"/>
          </a:xfrm>
          <a:prstGeom prst="rect">
            <a:avLst/>
          </a:prstGeom>
        </p:spPr>
        <p:txBody>
          <a:bodyPr vert="horz" wrap="square" lIns="0" tIns="11430" rIns="0" bIns="0" rtlCol="0">
            <a:spAutoFit/>
          </a:bodyPr>
          <a:lstStyle/>
          <a:p>
            <a:pPr marL="38100" marR="0" lvl="0" indent="0" algn="l" defTabSz="914400" rtl="0" eaLnBrk="1" fontAlgn="auto" latinLnBrk="0" hangingPunct="1">
              <a:lnSpc>
                <a:spcPct val="100000"/>
              </a:lnSpc>
              <a:spcBef>
                <a:spcPts val="90"/>
              </a:spcBef>
              <a:spcAft>
                <a:spcPts val="0"/>
              </a:spcAft>
              <a:buClrTx/>
              <a:buSzTx/>
              <a:buFontTx/>
              <a:buNone/>
              <a:tabLst/>
              <a:defRPr/>
            </a:pPr>
            <a:r>
              <a:rPr kumimoji="0" sz="4200" b="0" i="1" u="none" strike="noStrike" kern="1200" cap="none" spc="52" normalizeH="0" baseline="13888" noProof="0" dirty="0">
                <a:ln>
                  <a:noFill/>
                </a:ln>
                <a:solidFill>
                  <a:prstClr val="black"/>
                </a:solidFill>
                <a:effectLst/>
                <a:uLnTx/>
                <a:uFillTx/>
                <a:latin typeface="Times New Roman"/>
                <a:ea typeface="+mn-ea"/>
                <a:cs typeface="Times New Roman"/>
              </a:rPr>
              <a:t>V</a:t>
            </a:r>
            <a:r>
              <a:rPr kumimoji="0" sz="1600" b="0" i="1" u="none" strike="noStrike" kern="1200" cap="none" spc="35" normalizeH="0" baseline="0" noProof="0" dirty="0">
                <a:ln>
                  <a:noFill/>
                </a:ln>
                <a:solidFill>
                  <a:prstClr val="black"/>
                </a:solidFill>
                <a:effectLst/>
                <a:uLnTx/>
                <a:uFillTx/>
                <a:latin typeface="Times New Roman"/>
                <a:ea typeface="+mn-ea"/>
                <a:cs typeface="Times New Roman"/>
              </a:rPr>
              <a:t>FFE</a:t>
            </a:r>
            <a:endParaRPr kumimoji="0" sz="16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6" name="object 86"/>
          <p:cNvSpPr txBox="1"/>
          <p:nvPr/>
        </p:nvSpPr>
        <p:spPr>
          <a:xfrm>
            <a:off x="5191505" y="2789495"/>
            <a:ext cx="1732914" cy="416559"/>
          </a:xfrm>
          <a:prstGeom prst="rect">
            <a:avLst/>
          </a:prstGeom>
        </p:spPr>
        <p:txBody>
          <a:bodyPr vert="horz" wrap="square" lIns="0" tIns="14604" rIns="0" bIns="0" rtlCol="0">
            <a:spAutoFit/>
          </a:bodyPr>
          <a:lstStyle/>
          <a:p>
            <a:pPr marL="38100" marR="0" lvl="0" indent="0" algn="l" defTabSz="914400" rtl="0" eaLnBrk="1" fontAlgn="auto" latinLnBrk="0" hangingPunct="1">
              <a:lnSpc>
                <a:spcPct val="100000"/>
              </a:lnSpc>
              <a:spcBef>
                <a:spcPts val="114"/>
              </a:spcBef>
              <a:spcAft>
                <a:spcPts val="0"/>
              </a:spcAft>
              <a:buClrTx/>
              <a:buSzTx/>
              <a:buFontTx/>
              <a:buNone/>
              <a:tabLst/>
              <a:defRPr/>
            </a:pPr>
            <a:r>
              <a:rPr kumimoji="0" sz="2550" b="0" i="1" u="none" strike="noStrike" kern="1200" cap="none" spc="50" normalizeH="0" baseline="0" noProof="0" dirty="0">
                <a:ln>
                  <a:noFill/>
                </a:ln>
                <a:solidFill>
                  <a:srgbClr val="0000FF"/>
                </a:solidFill>
                <a:effectLst/>
                <a:uLnTx/>
                <a:uFillTx/>
                <a:latin typeface="Times New Roman"/>
                <a:ea typeface="+mn-ea"/>
                <a:cs typeface="Times New Roman"/>
              </a:rPr>
              <a:t>I</a:t>
            </a:r>
            <a:r>
              <a:rPr kumimoji="0" sz="2175" b="0" i="1" u="none" strike="noStrike" kern="1200" cap="none" spc="-97" normalizeH="0" baseline="-24904" noProof="0" dirty="0">
                <a:ln>
                  <a:noFill/>
                </a:ln>
                <a:solidFill>
                  <a:srgbClr val="0000FF"/>
                </a:solidFill>
                <a:effectLst/>
                <a:uLnTx/>
                <a:uFillTx/>
                <a:latin typeface="Times New Roman"/>
                <a:ea typeface="+mn-ea"/>
                <a:cs typeface="Times New Roman"/>
              </a:rPr>
              <a:t>d</a:t>
            </a:r>
            <a:r>
              <a:rPr kumimoji="0" sz="2175" b="0" i="1" u="none" strike="noStrike" kern="1200" cap="none" spc="-52" normalizeH="0" baseline="-24904" noProof="0" dirty="0">
                <a:ln>
                  <a:noFill/>
                </a:ln>
                <a:solidFill>
                  <a:srgbClr val="0000FF"/>
                </a:solidFill>
                <a:effectLst/>
                <a:uLnTx/>
                <a:uFillTx/>
                <a:latin typeface="Times New Roman"/>
                <a:ea typeface="+mn-ea"/>
                <a:cs typeface="Times New Roman"/>
              </a:rPr>
              <a:t>if</a:t>
            </a:r>
            <a:r>
              <a:rPr kumimoji="0" sz="2175" b="0" i="1" u="none" strike="noStrike" kern="1200" cap="none" spc="7" normalizeH="0" baseline="-24904" noProof="0" dirty="0">
                <a:ln>
                  <a:noFill/>
                </a:ln>
                <a:solidFill>
                  <a:srgbClr val="0000FF"/>
                </a:solidFill>
                <a:effectLst/>
                <a:uLnTx/>
                <a:uFillTx/>
                <a:latin typeface="Times New Roman"/>
                <a:ea typeface="+mn-ea"/>
                <a:cs typeface="Times New Roman"/>
              </a:rPr>
              <a:t>f</a:t>
            </a:r>
            <a:r>
              <a:rPr kumimoji="0" sz="2175" b="0" i="1" u="none" strike="noStrike" kern="1200" cap="none" spc="-15" normalizeH="0" baseline="-24904" noProof="0" dirty="0">
                <a:ln>
                  <a:noFill/>
                </a:ln>
                <a:solidFill>
                  <a:srgbClr val="0000FF"/>
                </a:solidFill>
                <a:effectLst/>
                <a:uLnTx/>
                <a:uFillTx/>
                <a:latin typeface="Times New Roman"/>
                <a:ea typeface="+mn-ea"/>
                <a:cs typeface="Times New Roman"/>
              </a:rPr>
              <a:t> </a:t>
            </a:r>
            <a:r>
              <a:rPr kumimoji="0" sz="2175" b="0" i="0" u="none" strike="noStrike" kern="1200" cap="none" spc="22" normalizeH="0" baseline="-24904" noProof="0" dirty="0">
                <a:ln>
                  <a:noFill/>
                </a:ln>
                <a:solidFill>
                  <a:srgbClr val="0000FF"/>
                </a:solidFill>
                <a:effectLst/>
                <a:uLnTx/>
                <a:uFillTx/>
                <a:latin typeface="Times New Roman"/>
                <a:ea typeface="+mn-ea"/>
                <a:cs typeface="Times New Roman"/>
              </a:rPr>
              <a:t>0</a:t>
            </a:r>
            <a:r>
              <a:rPr kumimoji="0" sz="2175" b="0" i="0" u="none" strike="noStrike" kern="1200" cap="none" spc="0" normalizeH="0" baseline="-24904" noProof="0" dirty="0">
                <a:ln>
                  <a:noFill/>
                </a:ln>
                <a:solidFill>
                  <a:srgbClr val="0000FF"/>
                </a:solidFill>
                <a:effectLst/>
                <a:uLnTx/>
                <a:uFillTx/>
                <a:latin typeface="Times New Roman"/>
                <a:ea typeface="+mn-ea"/>
                <a:cs typeface="Times New Roman"/>
              </a:rPr>
              <a:t> </a:t>
            </a:r>
            <a:r>
              <a:rPr kumimoji="0" sz="2175" b="0" i="0" u="none" strike="noStrike" kern="1200" cap="none" spc="-60" normalizeH="0" baseline="-24904" noProof="0" dirty="0">
                <a:ln>
                  <a:noFill/>
                </a:ln>
                <a:solidFill>
                  <a:srgbClr val="0000FF"/>
                </a:solidFill>
                <a:effectLst/>
                <a:uLnTx/>
                <a:uFillTx/>
                <a:latin typeface="Times New Roman"/>
                <a:ea typeface="+mn-ea"/>
                <a:cs typeface="Times New Roman"/>
              </a:rPr>
              <a:t> </a:t>
            </a:r>
            <a:r>
              <a:rPr kumimoji="0" sz="2550" b="0" i="0" u="none" strike="noStrike" kern="1200" cap="none" spc="5" normalizeH="0" baseline="0" noProof="0" dirty="0">
                <a:ln>
                  <a:noFill/>
                </a:ln>
                <a:solidFill>
                  <a:srgbClr val="0000FF"/>
                </a:solidFill>
                <a:effectLst/>
                <a:uLnTx/>
                <a:uFillTx/>
                <a:latin typeface="Symbol"/>
                <a:ea typeface="+mn-ea"/>
                <a:cs typeface="Symbol"/>
              </a:rPr>
              <a:t></a:t>
            </a:r>
            <a:r>
              <a:rPr kumimoji="0" sz="2550" b="0" i="0" u="none" strike="noStrike" kern="1200" cap="none" spc="-240" normalizeH="0" baseline="0" noProof="0" dirty="0">
                <a:ln>
                  <a:noFill/>
                </a:ln>
                <a:solidFill>
                  <a:srgbClr val="0000FF"/>
                </a:solidFill>
                <a:effectLst/>
                <a:uLnTx/>
                <a:uFillTx/>
                <a:latin typeface="Times New Roman"/>
                <a:ea typeface="+mn-ea"/>
                <a:cs typeface="Times New Roman"/>
              </a:rPr>
              <a:t> </a:t>
            </a:r>
            <a:r>
              <a:rPr kumimoji="0" sz="2550" b="0" i="0" u="none" strike="noStrike" kern="1200" cap="none" spc="-145" normalizeH="0" baseline="0" noProof="0" dirty="0">
                <a:ln>
                  <a:noFill/>
                </a:ln>
                <a:solidFill>
                  <a:srgbClr val="0000FF"/>
                </a:solidFill>
                <a:effectLst/>
                <a:uLnTx/>
                <a:uFillTx/>
                <a:latin typeface="Symbol"/>
                <a:ea typeface="+mn-ea"/>
                <a:cs typeface="Symbol"/>
              </a:rPr>
              <a:t></a:t>
            </a:r>
            <a:r>
              <a:rPr kumimoji="0" sz="2550" b="0" i="0" u="none" strike="noStrike" kern="1200" cap="none" spc="-130" normalizeH="0" baseline="0" noProof="0" dirty="0">
                <a:ln>
                  <a:noFill/>
                </a:ln>
                <a:solidFill>
                  <a:srgbClr val="0000FF"/>
                </a:solidFill>
                <a:effectLst/>
                <a:uLnTx/>
                <a:uFillTx/>
                <a:latin typeface="Times New Roman"/>
                <a:ea typeface="+mn-ea"/>
                <a:cs typeface="Times New Roman"/>
              </a:rPr>
              <a:t>0</a:t>
            </a:r>
            <a:r>
              <a:rPr kumimoji="0" sz="2550" b="0" i="0" u="none" strike="noStrike" kern="1200" cap="none" spc="-70" normalizeH="0" baseline="0" noProof="0" dirty="0">
                <a:ln>
                  <a:noFill/>
                </a:ln>
                <a:solidFill>
                  <a:srgbClr val="0000FF"/>
                </a:solidFill>
                <a:effectLst/>
                <a:uLnTx/>
                <a:uFillTx/>
                <a:latin typeface="Times New Roman"/>
                <a:ea typeface="+mn-ea"/>
                <a:cs typeface="Times New Roman"/>
              </a:rPr>
              <a:t>.</a:t>
            </a:r>
            <a:r>
              <a:rPr kumimoji="0" sz="2550" b="0" i="0" u="none" strike="noStrike" kern="1200" cap="none" spc="-20" normalizeH="0" baseline="0" noProof="0" dirty="0">
                <a:ln>
                  <a:noFill/>
                </a:ln>
                <a:solidFill>
                  <a:srgbClr val="0000FF"/>
                </a:solidFill>
                <a:effectLst/>
                <a:uLnTx/>
                <a:uFillTx/>
                <a:latin typeface="Times New Roman"/>
                <a:ea typeface="+mn-ea"/>
                <a:cs typeface="Times New Roman"/>
              </a:rPr>
              <a:t>6</a:t>
            </a:r>
            <a:r>
              <a:rPr kumimoji="0" sz="2550" b="0" i="1" u="none" strike="noStrike" kern="1200" cap="none" spc="-95" normalizeH="0" baseline="0" noProof="0" dirty="0">
                <a:ln>
                  <a:noFill/>
                </a:ln>
                <a:solidFill>
                  <a:srgbClr val="0000FF"/>
                </a:solidFill>
                <a:effectLst/>
                <a:uLnTx/>
                <a:uFillTx/>
                <a:latin typeface="Times New Roman"/>
                <a:ea typeface="+mn-ea"/>
                <a:cs typeface="Times New Roman"/>
              </a:rPr>
              <a:t>I</a:t>
            </a:r>
            <a:r>
              <a:rPr kumimoji="0" sz="2550" b="0" i="1" u="none" strike="noStrike" kern="1200" cap="none" spc="-150" normalizeH="0" baseline="0" noProof="0" dirty="0">
                <a:ln>
                  <a:noFill/>
                </a:ln>
                <a:solidFill>
                  <a:srgbClr val="0000FF"/>
                </a:solidFill>
                <a:effectLst/>
                <a:uLnTx/>
                <a:uFillTx/>
                <a:latin typeface="Times New Roman"/>
                <a:ea typeface="+mn-ea"/>
                <a:cs typeface="Times New Roman"/>
              </a:rPr>
              <a:t>x</a:t>
            </a:r>
            <a:r>
              <a:rPr kumimoji="0" sz="2175" b="0" i="0" u="none" strike="noStrike" kern="1200" cap="none" spc="22" normalizeH="0" baseline="-24904" noProof="0" dirty="0">
                <a:ln>
                  <a:noFill/>
                </a:ln>
                <a:solidFill>
                  <a:srgbClr val="0000FF"/>
                </a:solidFill>
                <a:effectLst/>
                <a:uLnTx/>
                <a:uFillTx/>
                <a:latin typeface="Times New Roman"/>
                <a:ea typeface="+mn-ea"/>
                <a:cs typeface="Times New Roman"/>
              </a:rPr>
              <a:t>0</a:t>
            </a:r>
            <a:endParaRPr kumimoji="0" sz="2175" b="0" i="0" u="none" strike="noStrike" kern="1200" cap="none" spc="0" normalizeH="0" baseline="-24904" noProof="0">
              <a:ln>
                <a:noFill/>
              </a:ln>
              <a:solidFill>
                <a:prstClr val="black"/>
              </a:solidFill>
              <a:effectLst/>
              <a:uLnTx/>
              <a:uFillTx/>
              <a:latin typeface="Times New Roman"/>
              <a:ea typeface="+mn-ea"/>
              <a:cs typeface="Times New Roman"/>
            </a:endParaRPr>
          </a:p>
        </p:txBody>
      </p:sp>
      <p:sp>
        <p:nvSpPr>
          <p:cNvPr id="87" name="object 87"/>
          <p:cNvSpPr txBox="1"/>
          <p:nvPr/>
        </p:nvSpPr>
        <p:spPr>
          <a:xfrm>
            <a:off x="11541501" y="2912883"/>
            <a:ext cx="120650" cy="253365"/>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1500" b="0" i="0" u="none" strike="noStrike" kern="1200" cap="none" spc="-5" normalizeH="0" baseline="0" noProof="0" dirty="0">
                <a:ln>
                  <a:noFill/>
                </a:ln>
                <a:solidFill>
                  <a:srgbClr val="007E00"/>
                </a:solidFill>
                <a:effectLst/>
                <a:uLnTx/>
                <a:uFillTx/>
                <a:latin typeface="Times New Roman"/>
                <a:ea typeface="+mn-ea"/>
                <a:cs typeface="Times New Roman"/>
              </a:rPr>
              <a:t>1</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8" name="object 88"/>
          <p:cNvSpPr txBox="1"/>
          <p:nvPr/>
        </p:nvSpPr>
        <p:spPr>
          <a:xfrm>
            <a:off x="10294873" y="2912883"/>
            <a:ext cx="382270" cy="253365"/>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1500" b="0" i="1" u="none" strike="noStrike" kern="1200" cap="none" spc="-85" normalizeH="0" baseline="0" noProof="0" dirty="0">
                <a:ln>
                  <a:noFill/>
                </a:ln>
                <a:solidFill>
                  <a:srgbClr val="007E00"/>
                </a:solidFill>
                <a:effectLst/>
                <a:uLnTx/>
                <a:uFillTx/>
                <a:latin typeface="Times New Roman"/>
                <a:ea typeface="+mn-ea"/>
                <a:cs typeface="Times New Roman"/>
              </a:rPr>
              <a:t>d</a:t>
            </a:r>
            <a:r>
              <a:rPr kumimoji="0" sz="1500" b="0" i="1" u="none" strike="noStrike" kern="1200" cap="none" spc="-45" normalizeH="0" baseline="0" noProof="0" dirty="0">
                <a:ln>
                  <a:noFill/>
                </a:ln>
                <a:solidFill>
                  <a:srgbClr val="007E00"/>
                </a:solidFill>
                <a:effectLst/>
                <a:uLnTx/>
                <a:uFillTx/>
                <a:latin typeface="Times New Roman"/>
                <a:ea typeface="+mn-ea"/>
                <a:cs typeface="Times New Roman"/>
              </a:rPr>
              <a:t>i</a:t>
            </a:r>
            <a:r>
              <a:rPr kumimoji="0" sz="1500" b="0" i="1" u="none" strike="noStrike" kern="1200" cap="none" spc="-50" normalizeH="0" baseline="0" noProof="0" dirty="0">
                <a:ln>
                  <a:noFill/>
                </a:ln>
                <a:solidFill>
                  <a:srgbClr val="007E00"/>
                </a:solidFill>
                <a:effectLst/>
                <a:uLnTx/>
                <a:uFillTx/>
                <a:latin typeface="Times New Roman"/>
                <a:ea typeface="+mn-ea"/>
                <a:cs typeface="Times New Roman"/>
              </a:rPr>
              <a:t>f</a:t>
            </a:r>
            <a:r>
              <a:rPr kumimoji="0" sz="1500" b="0" i="1" u="none" strike="noStrike" kern="1200" cap="none" spc="-5" normalizeH="0" baseline="0" noProof="0" dirty="0">
                <a:ln>
                  <a:noFill/>
                </a:ln>
                <a:solidFill>
                  <a:srgbClr val="007E00"/>
                </a:solidFill>
                <a:effectLst/>
                <a:uLnTx/>
                <a:uFillTx/>
                <a:latin typeface="Times New Roman"/>
                <a:ea typeface="+mn-ea"/>
                <a:cs typeface="Times New Roman"/>
              </a:rPr>
              <a:t>f</a:t>
            </a:r>
            <a:r>
              <a:rPr kumimoji="0" sz="1500" b="0" i="1" u="none" strike="noStrike" kern="1200" cap="none" spc="-145" normalizeH="0" baseline="0" noProof="0" dirty="0">
                <a:ln>
                  <a:noFill/>
                </a:ln>
                <a:solidFill>
                  <a:srgbClr val="007E00"/>
                </a:solidFill>
                <a:effectLst/>
                <a:uLnTx/>
                <a:uFillTx/>
                <a:latin typeface="Times New Roman"/>
                <a:ea typeface="+mn-ea"/>
                <a:cs typeface="Times New Roman"/>
              </a:rPr>
              <a:t> </a:t>
            </a:r>
            <a:r>
              <a:rPr kumimoji="0" sz="1500" b="0" i="0" u="none" strike="noStrike" kern="1200" cap="none" spc="-5" normalizeH="0" baseline="0" noProof="0" dirty="0">
                <a:ln>
                  <a:noFill/>
                </a:ln>
                <a:solidFill>
                  <a:srgbClr val="007E00"/>
                </a:solidFill>
                <a:effectLst/>
                <a:uLnTx/>
                <a:uFillTx/>
                <a:latin typeface="Times New Roman"/>
                <a:ea typeface="+mn-ea"/>
                <a:cs typeface="Times New Roman"/>
              </a:rPr>
              <a:t>1</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9" name="object 89"/>
          <p:cNvSpPr txBox="1"/>
          <p:nvPr/>
        </p:nvSpPr>
        <p:spPr>
          <a:xfrm>
            <a:off x="10179811" y="2690036"/>
            <a:ext cx="1410970" cy="419100"/>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tab pos="559435" algn="l"/>
              </a:tabLst>
              <a:defRPr/>
            </a:pPr>
            <a:r>
              <a:rPr kumimoji="0" sz="2550" b="0" i="1" u="none" strike="noStrike" kern="1200" cap="none" spc="10" normalizeH="0" baseline="0" noProof="0" dirty="0">
                <a:ln>
                  <a:noFill/>
                </a:ln>
                <a:solidFill>
                  <a:srgbClr val="007E00"/>
                </a:solidFill>
                <a:effectLst/>
                <a:uLnTx/>
                <a:uFillTx/>
                <a:latin typeface="Times New Roman"/>
                <a:ea typeface="+mn-ea"/>
                <a:cs typeface="Times New Roman"/>
              </a:rPr>
              <a:t>I	</a:t>
            </a:r>
            <a:r>
              <a:rPr kumimoji="0" sz="2550" b="0" i="0" u="none" strike="noStrike" kern="1200" cap="none" spc="15" normalizeH="0" baseline="0" noProof="0" dirty="0">
                <a:ln>
                  <a:noFill/>
                </a:ln>
                <a:solidFill>
                  <a:srgbClr val="007E00"/>
                </a:solidFill>
                <a:effectLst/>
                <a:uLnTx/>
                <a:uFillTx/>
                <a:latin typeface="Symbol"/>
                <a:ea typeface="+mn-ea"/>
                <a:cs typeface="Symbol"/>
              </a:rPr>
              <a:t></a:t>
            </a:r>
            <a:r>
              <a:rPr kumimoji="0" sz="2550" b="0" i="0" u="none" strike="noStrike" kern="1200" cap="none" spc="-280" normalizeH="0" baseline="0" noProof="0" dirty="0">
                <a:ln>
                  <a:noFill/>
                </a:ln>
                <a:solidFill>
                  <a:srgbClr val="007E00"/>
                </a:solidFill>
                <a:effectLst/>
                <a:uLnTx/>
                <a:uFillTx/>
                <a:latin typeface="Times New Roman"/>
                <a:ea typeface="+mn-ea"/>
                <a:cs typeface="Times New Roman"/>
              </a:rPr>
              <a:t> </a:t>
            </a:r>
            <a:r>
              <a:rPr kumimoji="0" sz="2550" b="0" i="0" u="none" strike="noStrike" kern="1200" cap="none" spc="-120" normalizeH="0" baseline="0" noProof="0" dirty="0">
                <a:ln>
                  <a:noFill/>
                </a:ln>
                <a:solidFill>
                  <a:srgbClr val="007E00"/>
                </a:solidFill>
                <a:effectLst/>
                <a:uLnTx/>
                <a:uFillTx/>
                <a:latin typeface="Times New Roman"/>
                <a:ea typeface="+mn-ea"/>
                <a:cs typeface="Times New Roman"/>
              </a:rPr>
              <a:t>0</a:t>
            </a:r>
            <a:r>
              <a:rPr kumimoji="0" sz="2550" b="0" i="0" u="none" strike="noStrike" kern="1200" cap="none" spc="-60" normalizeH="0" baseline="0" noProof="0" dirty="0">
                <a:ln>
                  <a:noFill/>
                </a:ln>
                <a:solidFill>
                  <a:srgbClr val="007E00"/>
                </a:solidFill>
                <a:effectLst/>
                <a:uLnTx/>
                <a:uFillTx/>
                <a:latin typeface="Times New Roman"/>
                <a:ea typeface="+mn-ea"/>
                <a:cs typeface="Times New Roman"/>
              </a:rPr>
              <a:t>.</a:t>
            </a:r>
            <a:r>
              <a:rPr kumimoji="0" sz="2550" b="0" i="0" u="none" strike="noStrike" kern="1200" cap="none" spc="-5" normalizeH="0" baseline="0" noProof="0" dirty="0">
                <a:ln>
                  <a:noFill/>
                </a:ln>
                <a:solidFill>
                  <a:srgbClr val="007E00"/>
                </a:solidFill>
                <a:effectLst/>
                <a:uLnTx/>
                <a:uFillTx/>
                <a:latin typeface="Times New Roman"/>
                <a:ea typeface="+mn-ea"/>
                <a:cs typeface="Times New Roman"/>
              </a:rPr>
              <a:t>4</a:t>
            </a:r>
            <a:r>
              <a:rPr kumimoji="0" sz="2550" b="0" i="1" u="none" strike="noStrike" kern="1200" cap="none" spc="-90" normalizeH="0" baseline="0" noProof="0" dirty="0">
                <a:ln>
                  <a:noFill/>
                </a:ln>
                <a:solidFill>
                  <a:srgbClr val="007E00"/>
                </a:solidFill>
                <a:effectLst/>
                <a:uLnTx/>
                <a:uFillTx/>
                <a:latin typeface="Times New Roman"/>
                <a:ea typeface="+mn-ea"/>
                <a:cs typeface="Times New Roman"/>
              </a:rPr>
              <a:t>Ix</a:t>
            </a:r>
            <a:endParaRPr kumimoji="0" sz="25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90" name="object 90"/>
          <p:cNvSpPr txBox="1"/>
          <p:nvPr/>
        </p:nvSpPr>
        <p:spPr>
          <a:xfrm>
            <a:off x="6765538" y="3504492"/>
            <a:ext cx="3978910" cy="1096010"/>
          </a:xfrm>
          <a:prstGeom prst="rect">
            <a:avLst/>
          </a:prstGeom>
        </p:spPr>
        <p:txBody>
          <a:bodyPr vert="horz" wrap="square" lIns="0" tIns="17145" rIns="0" bIns="0" rtlCol="0">
            <a:spAutoFit/>
          </a:bodyPr>
          <a:lstStyle/>
          <a:p>
            <a:pPr marL="136525"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165" normalizeH="0" baseline="0" noProof="0" dirty="0">
                <a:ln>
                  <a:noFill/>
                </a:ln>
                <a:solidFill>
                  <a:prstClr val="black"/>
                </a:solidFill>
                <a:effectLst/>
                <a:uLnTx/>
                <a:uFillTx/>
                <a:latin typeface="Arial MT"/>
                <a:ea typeface="+mn-ea"/>
                <a:cs typeface="Arial MT"/>
              </a:rPr>
              <a:t>0</a:t>
            </a:r>
            <a:endParaRPr kumimoji="0" sz="150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00" b="0" i="0" u="none" strike="noStrike" kern="1200" cap="none" spc="0" normalizeH="0" baseline="0" noProof="0">
              <a:ln>
                <a:noFill/>
              </a:ln>
              <a:solidFill>
                <a:prstClr val="black"/>
              </a:solidFill>
              <a:effectLst/>
              <a:uLnTx/>
              <a:uFillTx/>
              <a:latin typeface="Arial MT"/>
              <a:ea typeface="+mn-ea"/>
              <a:cs typeface="Arial MT"/>
            </a:endParaRPr>
          </a:p>
          <a:p>
            <a:pPr marL="63500" marR="0" lvl="0" indent="0" algn="l" defTabSz="914400" rtl="0" eaLnBrk="1" fontAlgn="auto" latinLnBrk="0" hangingPunct="1">
              <a:lnSpc>
                <a:spcPct val="100000"/>
              </a:lnSpc>
              <a:spcBef>
                <a:spcPts val="1035"/>
              </a:spcBef>
              <a:spcAft>
                <a:spcPts val="0"/>
              </a:spcAft>
              <a:buClrTx/>
              <a:buSzTx/>
              <a:buFontTx/>
              <a:buNone/>
              <a:tabLst>
                <a:tab pos="1306830" algn="l"/>
              </a:tabLst>
              <a:defRPr/>
            </a:pPr>
            <a:r>
              <a:rPr kumimoji="0" sz="3000" b="0" i="0" u="none" strike="noStrike" kern="1200" cap="none" spc="0" normalizeH="0" baseline="0" noProof="0" dirty="0">
                <a:ln>
                  <a:noFill/>
                </a:ln>
                <a:solidFill>
                  <a:prstClr val="black"/>
                </a:solidFill>
                <a:effectLst/>
                <a:uLnTx/>
                <a:uFillTx/>
                <a:latin typeface="Symbol"/>
                <a:ea typeface="+mn-ea"/>
                <a:cs typeface="Symbol"/>
              </a:rPr>
              <a:t></a:t>
            </a:r>
            <a:r>
              <a:rPr kumimoji="0" sz="3000" b="0" i="0" u="none" strike="noStrike" kern="1200" cap="none" spc="-295" normalizeH="0" baseline="0" noProof="0" dirty="0">
                <a:ln>
                  <a:noFill/>
                </a:ln>
                <a:solidFill>
                  <a:prstClr val="black"/>
                </a:solidFill>
                <a:effectLst/>
                <a:uLnTx/>
                <a:uFillTx/>
                <a:latin typeface="Times New Roman"/>
                <a:ea typeface="+mn-ea"/>
                <a:cs typeface="Times New Roman"/>
              </a:rPr>
              <a:t> </a:t>
            </a:r>
            <a:r>
              <a:rPr kumimoji="0" sz="3000" b="0" i="0" u="none" strike="noStrike" kern="1200" cap="none" spc="-5" normalizeH="0" baseline="0" noProof="0" dirty="0">
                <a:ln>
                  <a:noFill/>
                </a:ln>
                <a:solidFill>
                  <a:prstClr val="black"/>
                </a:solidFill>
                <a:effectLst/>
                <a:uLnTx/>
                <a:uFillTx/>
                <a:latin typeface="Symbol"/>
                <a:ea typeface="+mn-ea"/>
                <a:cs typeface="Symbol"/>
              </a:rPr>
              <a:t></a:t>
            </a:r>
            <a:r>
              <a:rPr kumimoji="0" sz="3000" b="0" i="1" u="none" strike="noStrike" kern="1200" cap="none" spc="-195" normalizeH="0" baseline="0" noProof="0" dirty="0">
                <a:ln>
                  <a:noFill/>
                </a:ln>
                <a:solidFill>
                  <a:prstClr val="black"/>
                </a:solidFill>
                <a:effectLst/>
                <a:uLnTx/>
                <a:uFillTx/>
                <a:latin typeface="Times New Roman"/>
                <a:ea typeface="+mn-ea"/>
                <a:cs typeface="Times New Roman"/>
              </a:rPr>
              <a:t>R</a:t>
            </a:r>
            <a:r>
              <a:rPr kumimoji="0" sz="3000" b="0" i="1" u="none" strike="noStrike" kern="1200" cap="none" spc="55" normalizeH="0" baseline="0" noProof="0" dirty="0">
                <a:ln>
                  <a:noFill/>
                </a:ln>
                <a:solidFill>
                  <a:prstClr val="black"/>
                </a:solidFill>
                <a:effectLst/>
                <a:uLnTx/>
                <a:uFillTx/>
                <a:latin typeface="Times New Roman"/>
                <a:ea typeface="+mn-ea"/>
                <a:cs typeface="Times New Roman"/>
              </a:rPr>
              <a:t>I</a:t>
            </a:r>
            <a:r>
              <a:rPr kumimoji="0" sz="2550" b="0" i="1" u="none" strike="noStrike" kern="1200" cap="none" spc="-112" normalizeH="0" baseline="-24509" noProof="0" dirty="0">
                <a:ln>
                  <a:noFill/>
                </a:ln>
                <a:solidFill>
                  <a:prstClr val="black"/>
                </a:solidFill>
                <a:effectLst/>
                <a:uLnTx/>
                <a:uFillTx/>
                <a:latin typeface="Times New Roman"/>
                <a:ea typeface="+mn-ea"/>
                <a:cs typeface="Times New Roman"/>
              </a:rPr>
              <a:t>d</a:t>
            </a:r>
            <a:r>
              <a:rPr kumimoji="0" sz="2550" b="0" i="1" u="none" strike="noStrike" kern="1200" cap="none" spc="-67" normalizeH="0" baseline="-24509" noProof="0" dirty="0">
                <a:ln>
                  <a:noFill/>
                </a:ln>
                <a:solidFill>
                  <a:prstClr val="black"/>
                </a:solidFill>
                <a:effectLst/>
                <a:uLnTx/>
                <a:uFillTx/>
                <a:latin typeface="Times New Roman"/>
                <a:ea typeface="+mn-ea"/>
                <a:cs typeface="Times New Roman"/>
              </a:rPr>
              <a:t>i</a:t>
            </a:r>
            <a:r>
              <a:rPr kumimoji="0" sz="2550" b="0" i="1" u="none" strike="noStrike" kern="1200" cap="none" spc="-60" normalizeH="0" baseline="-24509" noProof="0" dirty="0">
                <a:ln>
                  <a:noFill/>
                </a:ln>
                <a:solidFill>
                  <a:prstClr val="black"/>
                </a:solidFill>
                <a:effectLst/>
                <a:uLnTx/>
                <a:uFillTx/>
                <a:latin typeface="Times New Roman"/>
                <a:ea typeface="+mn-ea"/>
                <a:cs typeface="Times New Roman"/>
              </a:rPr>
              <a:t>f</a:t>
            </a:r>
            <a:r>
              <a:rPr kumimoji="0" sz="2550" b="0" i="1" u="none" strike="noStrike" kern="1200" cap="none" spc="7" normalizeH="0" baseline="-24509" noProof="0" dirty="0">
                <a:ln>
                  <a:noFill/>
                </a:ln>
                <a:solidFill>
                  <a:prstClr val="black"/>
                </a:solidFill>
                <a:effectLst/>
                <a:uLnTx/>
                <a:uFillTx/>
                <a:latin typeface="Times New Roman"/>
                <a:ea typeface="+mn-ea"/>
                <a:cs typeface="Times New Roman"/>
              </a:rPr>
              <a:t>f</a:t>
            </a:r>
            <a:r>
              <a:rPr kumimoji="0" sz="2550" b="0" i="1" u="none" strike="noStrike" kern="1200" cap="none" spc="0" normalizeH="0" baseline="-24509" noProof="0" dirty="0">
                <a:ln>
                  <a:noFill/>
                </a:ln>
                <a:solidFill>
                  <a:prstClr val="black"/>
                </a:solidFill>
                <a:effectLst/>
                <a:uLnTx/>
                <a:uFillTx/>
                <a:latin typeface="Times New Roman"/>
                <a:ea typeface="+mn-ea"/>
                <a:cs typeface="Times New Roman"/>
              </a:rPr>
              <a:t>	</a:t>
            </a:r>
            <a:r>
              <a:rPr kumimoji="0" sz="3000" b="0" i="0" u="none" strike="noStrike" kern="1200" cap="none" spc="0" normalizeH="0" baseline="0" noProof="0" dirty="0">
                <a:ln>
                  <a:noFill/>
                </a:ln>
                <a:solidFill>
                  <a:prstClr val="black"/>
                </a:solidFill>
                <a:effectLst/>
                <a:uLnTx/>
                <a:uFillTx/>
                <a:latin typeface="Symbol"/>
                <a:ea typeface="+mn-ea"/>
                <a:cs typeface="Symbol"/>
              </a:rPr>
              <a:t></a:t>
            </a:r>
            <a:r>
              <a:rPr kumimoji="0" sz="3000" b="0" i="0" u="none" strike="noStrike" kern="1200" cap="none" spc="-335" normalizeH="0" baseline="0" noProof="0" dirty="0">
                <a:ln>
                  <a:noFill/>
                </a:ln>
                <a:solidFill>
                  <a:prstClr val="black"/>
                </a:solidFill>
                <a:effectLst/>
                <a:uLnTx/>
                <a:uFillTx/>
                <a:latin typeface="Times New Roman"/>
                <a:ea typeface="+mn-ea"/>
                <a:cs typeface="Times New Roman"/>
              </a:rPr>
              <a:t> </a:t>
            </a:r>
            <a:r>
              <a:rPr kumimoji="0" sz="3000" b="0" i="0" u="none" strike="noStrike" kern="1200" cap="none" spc="-155" normalizeH="0" baseline="0" noProof="0" dirty="0">
                <a:ln>
                  <a:noFill/>
                </a:ln>
                <a:solidFill>
                  <a:srgbClr val="0000FF"/>
                </a:solidFill>
                <a:effectLst/>
                <a:uLnTx/>
                <a:uFillTx/>
                <a:latin typeface="Times New Roman"/>
                <a:ea typeface="+mn-ea"/>
                <a:cs typeface="Times New Roman"/>
              </a:rPr>
              <a:t>0</a:t>
            </a:r>
            <a:r>
              <a:rPr kumimoji="0" sz="3000" b="0" i="0" u="none" strike="noStrike" kern="1200" cap="none" spc="-80" normalizeH="0" baseline="0" noProof="0" dirty="0">
                <a:ln>
                  <a:noFill/>
                </a:ln>
                <a:solidFill>
                  <a:srgbClr val="0000FF"/>
                </a:solidFill>
                <a:effectLst/>
                <a:uLnTx/>
                <a:uFillTx/>
                <a:latin typeface="Times New Roman"/>
                <a:ea typeface="+mn-ea"/>
                <a:cs typeface="Times New Roman"/>
              </a:rPr>
              <a:t>.</a:t>
            </a:r>
            <a:r>
              <a:rPr kumimoji="0" sz="3000" b="0" i="0" u="none" strike="noStrike" kern="1200" cap="none" spc="-25" normalizeH="0" baseline="0" noProof="0" dirty="0">
                <a:ln>
                  <a:noFill/>
                </a:ln>
                <a:solidFill>
                  <a:srgbClr val="0000FF"/>
                </a:solidFill>
                <a:effectLst/>
                <a:uLnTx/>
                <a:uFillTx/>
                <a:latin typeface="Times New Roman"/>
                <a:ea typeface="+mn-ea"/>
                <a:cs typeface="Times New Roman"/>
              </a:rPr>
              <a:t>6</a:t>
            </a:r>
            <a:r>
              <a:rPr kumimoji="0" sz="3000" b="0" i="1" u="none" strike="noStrike" kern="1200" cap="none" spc="-190" normalizeH="0" baseline="0" noProof="0" dirty="0">
                <a:ln>
                  <a:noFill/>
                </a:ln>
                <a:solidFill>
                  <a:srgbClr val="0000FF"/>
                </a:solidFill>
                <a:effectLst/>
                <a:uLnTx/>
                <a:uFillTx/>
                <a:latin typeface="Times New Roman"/>
                <a:ea typeface="+mn-ea"/>
                <a:cs typeface="Times New Roman"/>
              </a:rPr>
              <a:t>R</a:t>
            </a:r>
            <a:r>
              <a:rPr kumimoji="0" sz="3000" b="0" i="1" u="none" strike="noStrike" kern="1200" cap="none" spc="-120" normalizeH="0" baseline="0" noProof="0" dirty="0">
                <a:ln>
                  <a:noFill/>
                </a:ln>
                <a:solidFill>
                  <a:srgbClr val="0000FF"/>
                </a:solidFill>
                <a:effectLst/>
                <a:uLnTx/>
                <a:uFillTx/>
                <a:latin typeface="Times New Roman"/>
                <a:ea typeface="+mn-ea"/>
                <a:cs typeface="Times New Roman"/>
              </a:rPr>
              <a:t>I</a:t>
            </a:r>
            <a:r>
              <a:rPr kumimoji="0" sz="3000" b="0" i="1" u="none" strike="noStrike" kern="1200" cap="none" spc="-185" normalizeH="0" baseline="0" noProof="0" dirty="0">
                <a:ln>
                  <a:noFill/>
                </a:ln>
                <a:solidFill>
                  <a:srgbClr val="0000FF"/>
                </a:solidFill>
                <a:effectLst/>
                <a:uLnTx/>
                <a:uFillTx/>
                <a:latin typeface="Times New Roman"/>
                <a:ea typeface="+mn-ea"/>
                <a:cs typeface="Times New Roman"/>
              </a:rPr>
              <a:t>x</a:t>
            </a:r>
            <a:r>
              <a:rPr kumimoji="0" sz="2550" b="0" i="0" u="none" strike="noStrike" kern="1200" cap="none" spc="22" normalizeH="0" baseline="-24509" noProof="0" dirty="0">
                <a:ln>
                  <a:noFill/>
                </a:ln>
                <a:solidFill>
                  <a:srgbClr val="0000FF"/>
                </a:solidFill>
                <a:effectLst/>
                <a:uLnTx/>
                <a:uFillTx/>
                <a:latin typeface="Times New Roman"/>
                <a:ea typeface="+mn-ea"/>
                <a:cs typeface="Times New Roman"/>
              </a:rPr>
              <a:t>0</a:t>
            </a:r>
            <a:r>
              <a:rPr kumimoji="0" sz="2550" b="0" i="0" u="none" strike="noStrike" kern="1200" cap="none" spc="0" normalizeH="0" baseline="-24509" noProof="0" dirty="0">
                <a:ln>
                  <a:noFill/>
                </a:ln>
                <a:solidFill>
                  <a:srgbClr val="0000FF"/>
                </a:solidFill>
                <a:effectLst/>
                <a:uLnTx/>
                <a:uFillTx/>
                <a:latin typeface="Times New Roman"/>
                <a:ea typeface="+mn-ea"/>
                <a:cs typeface="Times New Roman"/>
              </a:rPr>
              <a:t> </a:t>
            </a:r>
            <a:r>
              <a:rPr kumimoji="0" sz="2550" b="0" i="0" u="none" strike="noStrike" kern="1200" cap="none" spc="-322" normalizeH="0" baseline="-24509" noProof="0" dirty="0">
                <a:ln>
                  <a:noFill/>
                </a:ln>
                <a:solidFill>
                  <a:srgbClr val="0000FF"/>
                </a:solidFill>
                <a:effectLst/>
                <a:uLnTx/>
                <a:uFillTx/>
                <a:latin typeface="Times New Roman"/>
                <a:ea typeface="+mn-ea"/>
                <a:cs typeface="Times New Roman"/>
              </a:rPr>
              <a:t> </a:t>
            </a:r>
            <a:r>
              <a:rPr kumimoji="0" sz="3000" b="0" i="0" u="none" strike="noStrike" kern="1200" cap="none" spc="245" normalizeH="0" baseline="0" noProof="0" dirty="0">
                <a:ln>
                  <a:noFill/>
                </a:ln>
                <a:solidFill>
                  <a:srgbClr val="007E00"/>
                </a:solidFill>
                <a:effectLst/>
                <a:uLnTx/>
                <a:uFillTx/>
                <a:latin typeface="Symbol"/>
                <a:ea typeface="+mn-ea"/>
                <a:cs typeface="Symbol"/>
              </a:rPr>
              <a:t></a:t>
            </a:r>
            <a:r>
              <a:rPr kumimoji="0" sz="3000" b="0" i="0" u="none" strike="noStrike" kern="1200" cap="none" spc="-160" normalizeH="0" baseline="0" noProof="0" dirty="0">
                <a:ln>
                  <a:noFill/>
                </a:ln>
                <a:solidFill>
                  <a:srgbClr val="007E00"/>
                </a:solidFill>
                <a:effectLst/>
                <a:uLnTx/>
                <a:uFillTx/>
                <a:latin typeface="Times New Roman"/>
                <a:ea typeface="+mn-ea"/>
                <a:cs typeface="Times New Roman"/>
              </a:rPr>
              <a:t>0</a:t>
            </a:r>
            <a:r>
              <a:rPr kumimoji="0" sz="3000" b="0" i="0" u="none" strike="noStrike" kern="1200" cap="none" spc="-75" normalizeH="0" baseline="0" noProof="0" dirty="0">
                <a:ln>
                  <a:noFill/>
                </a:ln>
                <a:solidFill>
                  <a:srgbClr val="007E00"/>
                </a:solidFill>
                <a:effectLst/>
                <a:uLnTx/>
                <a:uFillTx/>
                <a:latin typeface="Times New Roman"/>
                <a:ea typeface="+mn-ea"/>
                <a:cs typeface="Times New Roman"/>
              </a:rPr>
              <a:t>.</a:t>
            </a:r>
            <a:r>
              <a:rPr kumimoji="0" sz="3000" b="0" i="0" u="none" strike="noStrike" kern="1200" cap="none" spc="-35" normalizeH="0" baseline="0" noProof="0" dirty="0">
                <a:ln>
                  <a:noFill/>
                </a:ln>
                <a:solidFill>
                  <a:srgbClr val="007E00"/>
                </a:solidFill>
                <a:effectLst/>
                <a:uLnTx/>
                <a:uFillTx/>
                <a:latin typeface="Times New Roman"/>
                <a:ea typeface="+mn-ea"/>
                <a:cs typeface="Times New Roman"/>
              </a:rPr>
              <a:t>4</a:t>
            </a:r>
            <a:r>
              <a:rPr kumimoji="0" sz="3000" b="0" i="1" u="none" strike="noStrike" kern="1200" cap="none" spc="-190" normalizeH="0" baseline="0" noProof="0" dirty="0">
                <a:ln>
                  <a:noFill/>
                </a:ln>
                <a:solidFill>
                  <a:srgbClr val="007E00"/>
                </a:solidFill>
                <a:effectLst/>
                <a:uLnTx/>
                <a:uFillTx/>
                <a:latin typeface="Times New Roman"/>
                <a:ea typeface="+mn-ea"/>
                <a:cs typeface="Times New Roman"/>
              </a:rPr>
              <a:t>R</a:t>
            </a:r>
            <a:r>
              <a:rPr kumimoji="0" sz="3000" b="0" i="1" u="none" strike="noStrike" kern="1200" cap="none" spc="-114" normalizeH="0" baseline="0" noProof="0" dirty="0">
                <a:ln>
                  <a:noFill/>
                </a:ln>
                <a:solidFill>
                  <a:srgbClr val="007E00"/>
                </a:solidFill>
                <a:effectLst/>
                <a:uLnTx/>
                <a:uFillTx/>
                <a:latin typeface="Times New Roman"/>
                <a:ea typeface="+mn-ea"/>
                <a:cs typeface="Times New Roman"/>
              </a:rPr>
              <a:t>I</a:t>
            </a:r>
            <a:r>
              <a:rPr kumimoji="0" sz="3000" b="0" i="1" u="none" strike="noStrike" kern="1200" cap="none" spc="-335" normalizeH="0" baseline="0" noProof="0" dirty="0">
                <a:ln>
                  <a:noFill/>
                </a:ln>
                <a:solidFill>
                  <a:srgbClr val="007E00"/>
                </a:solidFill>
                <a:effectLst/>
                <a:uLnTx/>
                <a:uFillTx/>
                <a:latin typeface="Times New Roman"/>
                <a:ea typeface="+mn-ea"/>
                <a:cs typeface="Times New Roman"/>
              </a:rPr>
              <a:t>x</a:t>
            </a:r>
            <a:r>
              <a:rPr kumimoji="0" sz="2550" b="0" i="0" u="none" strike="noStrike" kern="1200" cap="none" spc="22" normalizeH="0" baseline="-24509" noProof="0" dirty="0">
                <a:ln>
                  <a:noFill/>
                </a:ln>
                <a:solidFill>
                  <a:srgbClr val="007E00"/>
                </a:solidFill>
                <a:effectLst/>
                <a:uLnTx/>
                <a:uFillTx/>
                <a:latin typeface="Times New Roman"/>
                <a:ea typeface="+mn-ea"/>
                <a:cs typeface="Times New Roman"/>
              </a:rPr>
              <a:t>1</a:t>
            </a:r>
            <a:endParaRPr kumimoji="0" sz="2550" b="0" i="0" u="none" strike="noStrike" kern="1200" cap="none" spc="0" normalizeH="0" baseline="-24509" noProof="0">
              <a:ln>
                <a:noFill/>
              </a:ln>
              <a:solidFill>
                <a:prstClr val="black"/>
              </a:solidFill>
              <a:effectLst/>
              <a:uLnTx/>
              <a:uFillTx/>
              <a:latin typeface="Times New Roman"/>
              <a:ea typeface="+mn-ea"/>
              <a:cs typeface="Times New Roman"/>
            </a:endParaRPr>
          </a:p>
        </p:txBody>
      </p:sp>
      <p:sp>
        <p:nvSpPr>
          <p:cNvPr id="91" name="object 91"/>
          <p:cNvSpPr txBox="1"/>
          <p:nvPr/>
        </p:nvSpPr>
        <p:spPr>
          <a:xfrm>
            <a:off x="6167631" y="4215480"/>
            <a:ext cx="539750" cy="483234"/>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4500" b="0" i="1" u="none" strike="noStrike" kern="1200" cap="none" spc="-142" normalizeH="0" baseline="13888" noProof="0" dirty="0">
                <a:ln>
                  <a:noFill/>
                </a:ln>
                <a:solidFill>
                  <a:prstClr val="black"/>
                </a:solidFill>
                <a:effectLst/>
                <a:uLnTx/>
                <a:uFillTx/>
                <a:latin typeface="Times New Roman"/>
                <a:ea typeface="+mn-ea"/>
                <a:cs typeface="Times New Roman"/>
              </a:rPr>
              <a:t>V</a:t>
            </a:r>
            <a:r>
              <a:rPr kumimoji="0" sz="1700" b="0" i="1" u="none" strike="noStrike" kern="1200" cap="none" spc="-95" normalizeH="0" baseline="0" noProof="0" dirty="0">
                <a:ln>
                  <a:noFill/>
                </a:ln>
                <a:solidFill>
                  <a:prstClr val="black"/>
                </a:solidFill>
                <a:effectLst/>
                <a:uLnTx/>
                <a:uFillTx/>
                <a:latin typeface="Times New Roman"/>
                <a:ea typeface="+mn-ea"/>
                <a:cs typeface="Times New Roman"/>
              </a:rPr>
              <a:t>diff</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2" name="object 92"/>
          <p:cNvGrpSpPr/>
          <p:nvPr/>
        </p:nvGrpSpPr>
        <p:grpSpPr>
          <a:xfrm>
            <a:off x="1459230" y="2392679"/>
            <a:ext cx="1978660" cy="1503045"/>
            <a:chOff x="1459230" y="2392679"/>
            <a:chExt cx="1978660" cy="1503045"/>
          </a:xfrm>
        </p:grpSpPr>
        <p:sp>
          <p:nvSpPr>
            <p:cNvPr id="93" name="object 93"/>
            <p:cNvSpPr/>
            <p:nvPr/>
          </p:nvSpPr>
          <p:spPr>
            <a:xfrm>
              <a:off x="1627632" y="2443733"/>
              <a:ext cx="1809750" cy="615950"/>
            </a:xfrm>
            <a:custGeom>
              <a:avLst/>
              <a:gdLst/>
              <a:ahLst/>
              <a:cxnLst/>
              <a:rect l="l" t="t" r="r" b="b"/>
              <a:pathLst>
                <a:path w="1809750" h="615950">
                  <a:moveTo>
                    <a:pt x="582168" y="6858"/>
                  </a:moveTo>
                  <a:lnTo>
                    <a:pt x="576072" y="0"/>
                  </a:lnTo>
                  <a:lnTo>
                    <a:pt x="13716" y="0"/>
                  </a:lnTo>
                  <a:lnTo>
                    <a:pt x="6096" y="0"/>
                  </a:lnTo>
                  <a:lnTo>
                    <a:pt x="0" y="6858"/>
                  </a:lnTo>
                  <a:lnTo>
                    <a:pt x="0" y="22098"/>
                  </a:lnTo>
                  <a:lnTo>
                    <a:pt x="6096" y="28956"/>
                  </a:lnTo>
                  <a:lnTo>
                    <a:pt x="576072" y="28956"/>
                  </a:lnTo>
                  <a:lnTo>
                    <a:pt x="582168" y="22098"/>
                  </a:lnTo>
                  <a:lnTo>
                    <a:pt x="582168" y="6858"/>
                  </a:lnTo>
                  <a:close/>
                </a:path>
                <a:path w="1809750" h="615950">
                  <a:moveTo>
                    <a:pt x="1809750" y="593598"/>
                  </a:moveTo>
                  <a:lnTo>
                    <a:pt x="1803654" y="586740"/>
                  </a:lnTo>
                  <a:lnTo>
                    <a:pt x="1631442" y="586740"/>
                  </a:lnTo>
                  <a:lnTo>
                    <a:pt x="1623822" y="586740"/>
                  </a:lnTo>
                  <a:lnTo>
                    <a:pt x="1617726" y="593598"/>
                  </a:lnTo>
                  <a:lnTo>
                    <a:pt x="1617726" y="609600"/>
                  </a:lnTo>
                  <a:lnTo>
                    <a:pt x="1623822" y="615696"/>
                  </a:lnTo>
                  <a:lnTo>
                    <a:pt x="1803654" y="615696"/>
                  </a:lnTo>
                  <a:lnTo>
                    <a:pt x="1809750" y="609600"/>
                  </a:lnTo>
                  <a:lnTo>
                    <a:pt x="1809750" y="59359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4" name="object 94"/>
            <p:cNvPicPr/>
            <p:nvPr/>
          </p:nvPicPr>
          <p:blipFill>
            <a:blip r:embed="rId14" cstate="print"/>
            <a:stretch>
              <a:fillRect/>
            </a:stretch>
          </p:blipFill>
          <p:spPr>
            <a:xfrm>
              <a:off x="2164080" y="2392679"/>
              <a:ext cx="130301" cy="131064"/>
            </a:xfrm>
            <a:prstGeom prst="rect">
              <a:avLst/>
            </a:prstGeom>
          </p:spPr>
        </p:pic>
        <p:sp>
          <p:nvSpPr>
            <p:cNvPr id="95" name="object 95"/>
            <p:cNvSpPr/>
            <p:nvPr/>
          </p:nvSpPr>
          <p:spPr>
            <a:xfrm>
              <a:off x="1459230" y="3522725"/>
              <a:ext cx="760730" cy="372745"/>
            </a:xfrm>
            <a:custGeom>
              <a:avLst/>
              <a:gdLst/>
              <a:ahLst/>
              <a:cxnLst/>
              <a:rect l="l" t="t" r="r" b="b"/>
              <a:pathLst>
                <a:path w="760730" h="372745">
                  <a:moveTo>
                    <a:pt x="362712" y="6858"/>
                  </a:moveTo>
                  <a:lnTo>
                    <a:pt x="356616" y="0"/>
                  </a:lnTo>
                  <a:lnTo>
                    <a:pt x="334518" y="0"/>
                  </a:lnTo>
                  <a:lnTo>
                    <a:pt x="334518" y="28956"/>
                  </a:lnTo>
                  <a:lnTo>
                    <a:pt x="334518" y="343662"/>
                  </a:lnTo>
                  <a:lnTo>
                    <a:pt x="28956" y="343662"/>
                  </a:lnTo>
                  <a:lnTo>
                    <a:pt x="28956" y="28956"/>
                  </a:lnTo>
                  <a:lnTo>
                    <a:pt x="334518" y="28956"/>
                  </a:lnTo>
                  <a:lnTo>
                    <a:pt x="334518" y="0"/>
                  </a:lnTo>
                  <a:lnTo>
                    <a:pt x="6858" y="0"/>
                  </a:lnTo>
                  <a:lnTo>
                    <a:pt x="0" y="6858"/>
                  </a:lnTo>
                  <a:lnTo>
                    <a:pt x="0" y="366522"/>
                  </a:lnTo>
                  <a:lnTo>
                    <a:pt x="6858" y="372618"/>
                  </a:lnTo>
                  <a:lnTo>
                    <a:pt x="14478" y="372618"/>
                  </a:lnTo>
                  <a:lnTo>
                    <a:pt x="28956" y="372618"/>
                  </a:lnTo>
                  <a:lnTo>
                    <a:pt x="334518" y="372618"/>
                  </a:lnTo>
                  <a:lnTo>
                    <a:pt x="348234" y="372618"/>
                  </a:lnTo>
                  <a:lnTo>
                    <a:pt x="356616" y="372618"/>
                  </a:lnTo>
                  <a:lnTo>
                    <a:pt x="362712" y="366522"/>
                  </a:lnTo>
                  <a:lnTo>
                    <a:pt x="362712" y="6858"/>
                  </a:lnTo>
                  <a:close/>
                </a:path>
                <a:path w="760730" h="372745">
                  <a:moveTo>
                    <a:pt x="760476" y="188226"/>
                  </a:moveTo>
                  <a:lnTo>
                    <a:pt x="754380" y="182130"/>
                  </a:lnTo>
                  <a:lnTo>
                    <a:pt x="384810" y="182130"/>
                  </a:lnTo>
                  <a:lnTo>
                    <a:pt x="377190" y="182130"/>
                  </a:lnTo>
                  <a:lnTo>
                    <a:pt x="371094" y="188226"/>
                  </a:lnTo>
                  <a:lnTo>
                    <a:pt x="371094" y="204228"/>
                  </a:lnTo>
                  <a:lnTo>
                    <a:pt x="377190" y="210324"/>
                  </a:lnTo>
                  <a:lnTo>
                    <a:pt x="754380" y="210324"/>
                  </a:lnTo>
                  <a:lnTo>
                    <a:pt x="760476" y="204228"/>
                  </a:lnTo>
                  <a:lnTo>
                    <a:pt x="760476" y="18822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6" name="object 96"/>
            <p:cNvPicPr/>
            <p:nvPr/>
          </p:nvPicPr>
          <p:blipFill>
            <a:blip r:embed="rId15" cstate="print"/>
            <a:stretch>
              <a:fillRect/>
            </a:stretch>
          </p:blipFill>
          <p:spPr>
            <a:xfrm>
              <a:off x="2173986" y="3653027"/>
              <a:ext cx="128016" cy="131825"/>
            </a:xfrm>
            <a:prstGeom prst="rect">
              <a:avLst/>
            </a:prstGeom>
          </p:spPr>
        </p:pic>
      </p:grpSp>
      <p:sp>
        <p:nvSpPr>
          <p:cNvPr id="97" name="object 97"/>
          <p:cNvSpPr txBox="1"/>
          <p:nvPr/>
        </p:nvSpPr>
        <p:spPr>
          <a:xfrm>
            <a:off x="1538732" y="3538220"/>
            <a:ext cx="200025"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0" normalizeH="0" baseline="0" noProof="0" dirty="0">
                <a:ln>
                  <a:noFill/>
                </a:ln>
                <a:solidFill>
                  <a:prstClr val="black"/>
                </a:solidFill>
                <a:effectLst/>
                <a:uLnTx/>
                <a:uFillTx/>
                <a:latin typeface="Times New Roman"/>
                <a:ea typeface="+mn-ea"/>
                <a:cs typeface="Times New Roman"/>
              </a:rPr>
              <a:t>D</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8" name="object 98"/>
          <p:cNvGrpSpPr/>
          <p:nvPr/>
        </p:nvGrpSpPr>
        <p:grpSpPr>
          <a:xfrm>
            <a:off x="1575816" y="1994154"/>
            <a:ext cx="1777364" cy="1741170"/>
            <a:chOff x="1575816" y="1994154"/>
            <a:chExt cx="1777364" cy="1741170"/>
          </a:xfrm>
        </p:grpSpPr>
        <p:sp>
          <p:nvSpPr>
            <p:cNvPr id="99" name="object 99"/>
            <p:cNvSpPr/>
            <p:nvPr/>
          </p:nvSpPr>
          <p:spPr>
            <a:xfrm>
              <a:off x="1625346" y="1994154"/>
              <a:ext cx="29209" cy="1421130"/>
            </a:xfrm>
            <a:custGeom>
              <a:avLst/>
              <a:gdLst/>
              <a:ahLst/>
              <a:cxnLst/>
              <a:rect l="l" t="t" r="r" b="b"/>
              <a:pathLst>
                <a:path w="29210" h="1421129">
                  <a:moveTo>
                    <a:pt x="28956" y="1414271"/>
                  </a:moveTo>
                  <a:lnTo>
                    <a:pt x="28956" y="14477"/>
                  </a:lnTo>
                  <a:lnTo>
                    <a:pt x="28956" y="6095"/>
                  </a:lnTo>
                  <a:lnTo>
                    <a:pt x="22098" y="0"/>
                  </a:lnTo>
                  <a:lnTo>
                    <a:pt x="6858" y="0"/>
                  </a:lnTo>
                  <a:lnTo>
                    <a:pt x="0" y="6095"/>
                  </a:lnTo>
                  <a:lnTo>
                    <a:pt x="0" y="1414271"/>
                  </a:lnTo>
                  <a:lnTo>
                    <a:pt x="6858" y="1421130"/>
                  </a:lnTo>
                  <a:lnTo>
                    <a:pt x="22098" y="1421130"/>
                  </a:lnTo>
                  <a:lnTo>
                    <a:pt x="28956" y="141427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0" name="object 100"/>
            <p:cNvPicPr/>
            <p:nvPr/>
          </p:nvPicPr>
          <p:blipFill>
            <a:blip r:embed="rId16" cstate="print"/>
            <a:stretch>
              <a:fillRect/>
            </a:stretch>
          </p:blipFill>
          <p:spPr>
            <a:xfrm>
              <a:off x="1575816" y="3368802"/>
              <a:ext cx="128015" cy="131063"/>
            </a:xfrm>
            <a:prstGeom prst="rect">
              <a:avLst/>
            </a:prstGeom>
          </p:spPr>
        </p:pic>
        <p:sp>
          <p:nvSpPr>
            <p:cNvPr id="101" name="object 101"/>
            <p:cNvSpPr/>
            <p:nvPr/>
          </p:nvSpPr>
          <p:spPr>
            <a:xfrm>
              <a:off x="2289810" y="2116848"/>
              <a:ext cx="1062990" cy="1618615"/>
            </a:xfrm>
            <a:custGeom>
              <a:avLst/>
              <a:gdLst/>
              <a:ahLst/>
              <a:cxnLst/>
              <a:rect l="l" t="t" r="r" b="b"/>
              <a:pathLst>
                <a:path w="1062989" h="1618614">
                  <a:moveTo>
                    <a:pt x="1062990" y="1596377"/>
                  </a:moveTo>
                  <a:lnTo>
                    <a:pt x="1056894" y="1589519"/>
                  </a:lnTo>
                  <a:lnTo>
                    <a:pt x="880872" y="1589519"/>
                  </a:lnTo>
                  <a:lnTo>
                    <a:pt x="873252" y="1589519"/>
                  </a:lnTo>
                  <a:lnTo>
                    <a:pt x="866394" y="1596377"/>
                  </a:lnTo>
                  <a:lnTo>
                    <a:pt x="866394" y="1612379"/>
                  </a:lnTo>
                  <a:lnTo>
                    <a:pt x="873252" y="1618475"/>
                  </a:lnTo>
                  <a:lnTo>
                    <a:pt x="1056894" y="1618475"/>
                  </a:lnTo>
                  <a:lnTo>
                    <a:pt x="1062990" y="1612379"/>
                  </a:lnTo>
                  <a:lnTo>
                    <a:pt x="1062990" y="1596377"/>
                  </a:lnTo>
                  <a:close/>
                </a:path>
                <a:path w="1062989" h="1618614">
                  <a:moveTo>
                    <a:pt x="1062990" y="321551"/>
                  </a:moveTo>
                  <a:lnTo>
                    <a:pt x="1056894" y="315455"/>
                  </a:lnTo>
                  <a:lnTo>
                    <a:pt x="873252" y="315455"/>
                  </a:lnTo>
                  <a:lnTo>
                    <a:pt x="871474" y="317030"/>
                  </a:lnTo>
                  <a:lnTo>
                    <a:pt x="868680" y="316230"/>
                  </a:lnTo>
                  <a:lnTo>
                    <a:pt x="822680" y="299199"/>
                  </a:lnTo>
                  <a:lnTo>
                    <a:pt x="822680" y="329565"/>
                  </a:lnTo>
                  <a:lnTo>
                    <a:pt x="9144" y="630174"/>
                  </a:lnTo>
                  <a:lnTo>
                    <a:pt x="28194" y="623125"/>
                  </a:lnTo>
                  <a:lnTo>
                    <a:pt x="28194" y="35991"/>
                  </a:lnTo>
                  <a:lnTo>
                    <a:pt x="822680" y="329565"/>
                  </a:lnTo>
                  <a:lnTo>
                    <a:pt x="822680" y="299199"/>
                  </a:lnTo>
                  <a:lnTo>
                    <a:pt x="19050" y="1524"/>
                  </a:lnTo>
                  <a:lnTo>
                    <a:pt x="14478" y="0"/>
                  </a:lnTo>
                  <a:lnTo>
                    <a:pt x="9906" y="762"/>
                  </a:lnTo>
                  <a:lnTo>
                    <a:pt x="6096" y="3810"/>
                  </a:lnTo>
                  <a:lnTo>
                    <a:pt x="2286" y="6096"/>
                  </a:lnTo>
                  <a:lnTo>
                    <a:pt x="0" y="10668"/>
                  </a:lnTo>
                  <a:lnTo>
                    <a:pt x="0" y="648462"/>
                  </a:lnTo>
                  <a:lnTo>
                    <a:pt x="2286" y="653034"/>
                  </a:lnTo>
                  <a:lnTo>
                    <a:pt x="6096" y="655320"/>
                  </a:lnTo>
                  <a:lnTo>
                    <a:pt x="9144" y="657758"/>
                  </a:lnTo>
                  <a:lnTo>
                    <a:pt x="9906" y="658368"/>
                  </a:lnTo>
                  <a:lnTo>
                    <a:pt x="14478" y="658368"/>
                  </a:lnTo>
                  <a:lnTo>
                    <a:pt x="19050" y="656844"/>
                  </a:lnTo>
                  <a:lnTo>
                    <a:pt x="28194" y="653453"/>
                  </a:lnTo>
                  <a:lnTo>
                    <a:pt x="858774" y="346557"/>
                  </a:lnTo>
                  <a:lnTo>
                    <a:pt x="868680" y="342900"/>
                  </a:lnTo>
                  <a:lnTo>
                    <a:pt x="871194" y="341833"/>
                  </a:lnTo>
                  <a:lnTo>
                    <a:pt x="873252" y="343649"/>
                  </a:lnTo>
                  <a:lnTo>
                    <a:pt x="1034796" y="343649"/>
                  </a:lnTo>
                  <a:lnTo>
                    <a:pt x="1034796" y="795515"/>
                  </a:lnTo>
                  <a:lnTo>
                    <a:pt x="1040892" y="802373"/>
                  </a:lnTo>
                  <a:lnTo>
                    <a:pt x="1048512" y="802373"/>
                  </a:lnTo>
                  <a:lnTo>
                    <a:pt x="1056894" y="802373"/>
                  </a:lnTo>
                  <a:lnTo>
                    <a:pt x="1062990" y="795515"/>
                  </a:lnTo>
                  <a:lnTo>
                    <a:pt x="1062990" y="32155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2" name="object 102"/>
          <p:cNvSpPr txBox="1"/>
          <p:nvPr/>
        </p:nvSpPr>
        <p:spPr>
          <a:xfrm>
            <a:off x="2392172" y="2251963"/>
            <a:ext cx="364490"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85" normalizeH="0" baseline="0" noProof="0" dirty="0">
                <a:ln>
                  <a:noFill/>
                </a:ln>
                <a:solidFill>
                  <a:srgbClr val="0000FF"/>
                </a:solidFill>
                <a:effectLst/>
                <a:uLnTx/>
                <a:uFillTx/>
                <a:latin typeface="Times New Roman"/>
                <a:ea typeface="+mn-ea"/>
                <a:cs typeface="Times New Roman"/>
              </a:rPr>
              <a:t>0</a:t>
            </a:r>
            <a:r>
              <a:rPr kumimoji="0" sz="1900" b="1" i="0" u="none" strike="noStrike" kern="1200" cap="none" spc="100" normalizeH="0" baseline="0" noProof="0" dirty="0">
                <a:ln>
                  <a:noFill/>
                </a:ln>
                <a:solidFill>
                  <a:srgbClr val="0000FF"/>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00FF"/>
                </a:solidFill>
                <a:effectLst/>
                <a:uLnTx/>
                <a:uFillTx/>
                <a:latin typeface="Times New Roman"/>
                <a:ea typeface="+mn-ea"/>
                <a:cs typeface="Times New Roman"/>
              </a:rPr>
              <a:t>6</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3" name="object 103"/>
          <p:cNvSpPr txBox="1"/>
          <p:nvPr/>
        </p:nvSpPr>
        <p:spPr>
          <a:xfrm>
            <a:off x="1831085" y="1986025"/>
            <a:ext cx="320040"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0</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104" name="object 104"/>
          <p:cNvSpPr/>
          <p:nvPr/>
        </p:nvSpPr>
        <p:spPr>
          <a:xfrm>
            <a:off x="2289810" y="3360420"/>
            <a:ext cx="878205" cy="713740"/>
          </a:xfrm>
          <a:custGeom>
            <a:avLst/>
            <a:gdLst/>
            <a:ahLst/>
            <a:cxnLst/>
            <a:rect l="l" t="t" r="r" b="b"/>
            <a:pathLst>
              <a:path w="878205" h="713739">
                <a:moveTo>
                  <a:pt x="877823" y="362712"/>
                </a:moveTo>
                <a:lnTo>
                  <a:pt x="877823" y="350520"/>
                </a:lnTo>
                <a:lnTo>
                  <a:pt x="874013" y="345186"/>
                </a:lnTo>
                <a:lnTo>
                  <a:pt x="868679" y="343662"/>
                </a:lnTo>
                <a:lnTo>
                  <a:pt x="15239" y="0"/>
                </a:lnTo>
                <a:lnTo>
                  <a:pt x="9905" y="0"/>
                </a:lnTo>
                <a:lnTo>
                  <a:pt x="6095" y="3048"/>
                </a:lnTo>
                <a:lnTo>
                  <a:pt x="2285" y="5334"/>
                </a:lnTo>
                <a:lnTo>
                  <a:pt x="0" y="9906"/>
                </a:lnTo>
                <a:lnTo>
                  <a:pt x="0" y="703326"/>
                </a:lnTo>
                <a:lnTo>
                  <a:pt x="2285" y="707898"/>
                </a:lnTo>
                <a:lnTo>
                  <a:pt x="6095" y="710184"/>
                </a:lnTo>
                <a:lnTo>
                  <a:pt x="8381" y="712012"/>
                </a:lnTo>
                <a:lnTo>
                  <a:pt x="8381" y="28194"/>
                </a:lnTo>
                <a:lnTo>
                  <a:pt x="28193" y="14478"/>
                </a:lnTo>
                <a:lnTo>
                  <a:pt x="28193" y="36154"/>
                </a:lnTo>
                <a:lnTo>
                  <a:pt x="825771" y="356616"/>
                </a:lnTo>
                <a:lnTo>
                  <a:pt x="858012" y="343662"/>
                </a:lnTo>
                <a:lnTo>
                  <a:pt x="858012" y="373865"/>
                </a:lnTo>
                <a:lnTo>
                  <a:pt x="868679" y="369570"/>
                </a:lnTo>
                <a:lnTo>
                  <a:pt x="874013" y="367284"/>
                </a:lnTo>
                <a:lnTo>
                  <a:pt x="877823" y="362712"/>
                </a:lnTo>
                <a:close/>
              </a:path>
              <a:path w="878205" h="713739">
                <a:moveTo>
                  <a:pt x="28193" y="36154"/>
                </a:moveTo>
                <a:lnTo>
                  <a:pt x="28193" y="14478"/>
                </a:lnTo>
                <a:lnTo>
                  <a:pt x="8381" y="28194"/>
                </a:lnTo>
                <a:lnTo>
                  <a:pt x="28193" y="36154"/>
                </a:lnTo>
                <a:close/>
              </a:path>
              <a:path w="878205" h="713739">
                <a:moveTo>
                  <a:pt x="28193" y="677077"/>
                </a:moveTo>
                <a:lnTo>
                  <a:pt x="28193" y="36154"/>
                </a:lnTo>
                <a:lnTo>
                  <a:pt x="8381" y="28194"/>
                </a:lnTo>
                <a:lnTo>
                  <a:pt x="8381" y="685038"/>
                </a:lnTo>
                <a:lnTo>
                  <a:pt x="28193" y="677077"/>
                </a:lnTo>
                <a:close/>
              </a:path>
              <a:path w="878205" h="713739">
                <a:moveTo>
                  <a:pt x="858012" y="373865"/>
                </a:moveTo>
                <a:lnTo>
                  <a:pt x="858012" y="369570"/>
                </a:lnTo>
                <a:lnTo>
                  <a:pt x="825771" y="356616"/>
                </a:lnTo>
                <a:lnTo>
                  <a:pt x="8381" y="685038"/>
                </a:lnTo>
                <a:lnTo>
                  <a:pt x="28193" y="698754"/>
                </a:lnTo>
                <a:lnTo>
                  <a:pt x="28194" y="708015"/>
                </a:lnTo>
                <a:lnTo>
                  <a:pt x="858012" y="373865"/>
                </a:lnTo>
                <a:close/>
              </a:path>
              <a:path w="878205" h="713739">
                <a:moveTo>
                  <a:pt x="28194" y="708015"/>
                </a:moveTo>
                <a:lnTo>
                  <a:pt x="28193" y="698754"/>
                </a:lnTo>
                <a:lnTo>
                  <a:pt x="8381" y="685038"/>
                </a:lnTo>
                <a:lnTo>
                  <a:pt x="8381" y="712012"/>
                </a:lnTo>
                <a:lnTo>
                  <a:pt x="9905" y="713232"/>
                </a:lnTo>
                <a:lnTo>
                  <a:pt x="15240" y="713232"/>
                </a:lnTo>
                <a:lnTo>
                  <a:pt x="28194" y="708015"/>
                </a:lnTo>
                <a:close/>
              </a:path>
              <a:path w="878205" h="713739">
                <a:moveTo>
                  <a:pt x="858012" y="369570"/>
                </a:moveTo>
                <a:lnTo>
                  <a:pt x="858012" y="343662"/>
                </a:lnTo>
                <a:lnTo>
                  <a:pt x="825771" y="356616"/>
                </a:lnTo>
                <a:lnTo>
                  <a:pt x="858012" y="36957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object 105"/>
          <p:cNvSpPr txBox="1"/>
          <p:nvPr/>
        </p:nvSpPr>
        <p:spPr>
          <a:xfrm>
            <a:off x="2335783" y="3522217"/>
            <a:ext cx="461009" cy="3155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900" b="1" i="0" u="none" strike="noStrike" kern="1200" cap="none" spc="125"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0</a:t>
            </a:r>
            <a:r>
              <a:rPr kumimoji="0" sz="1900" b="1" i="0" u="none" strike="noStrike" kern="1200" cap="none" spc="-290" normalizeH="0" baseline="0" noProof="0" dirty="0">
                <a:ln>
                  <a:noFill/>
                </a:ln>
                <a:solidFill>
                  <a:srgbClr val="006500"/>
                </a:solidFill>
                <a:effectLst/>
                <a:uLnTx/>
                <a:uFillTx/>
                <a:latin typeface="Times New Roman"/>
                <a:ea typeface="+mn-ea"/>
                <a:cs typeface="Times New Roman"/>
              </a:rPr>
              <a:t> </a:t>
            </a:r>
            <a:r>
              <a:rPr kumimoji="0" sz="1900" b="1" i="0" u="none" strike="noStrike" kern="1200" cap="none" spc="100" normalizeH="0" baseline="0" noProof="0" dirty="0">
                <a:ln>
                  <a:noFill/>
                </a:ln>
                <a:solidFill>
                  <a:srgbClr val="006500"/>
                </a:solidFill>
                <a:effectLst/>
                <a:uLnTx/>
                <a:uFillTx/>
                <a:latin typeface="Times New Roman"/>
                <a:ea typeface="+mn-ea"/>
                <a:cs typeface="Times New Roman"/>
              </a:rPr>
              <a:t>.</a:t>
            </a:r>
            <a:r>
              <a:rPr kumimoji="0" sz="1900" b="1" i="0" u="none" strike="noStrike" kern="1200" cap="none" spc="0" normalizeH="0" baseline="0" noProof="0" dirty="0">
                <a:ln>
                  <a:noFill/>
                </a:ln>
                <a:solidFill>
                  <a:srgbClr val="006500"/>
                </a:solidFill>
                <a:effectLst/>
                <a:uLnTx/>
                <a:uFillTx/>
                <a:latin typeface="Times New Roman"/>
                <a:ea typeface="+mn-ea"/>
                <a:cs typeface="Times New Roman"/>
              </a:rPr>
              <a:t>4</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6" name="object 106"/>
          <p:cNvSpPr/>
          <p:nvPr/>
        </p:nvSpPr>
        <p:spPr>
          <a:xfrm>
            <a:off x="3188970" y="2890265"/>
            <a:ext cx="716280" cy="847090"/>
          </a:xfrm>
          <a:custGeom>
            <a:avLst/>
            <a:gdLst/>
            <a:ahLst/>
            <a:cxnLst/>
            <a:rect l="l" t="t" r="r" b="b"/>
            <a:pathLst>
              <a:path w="716279" h="847089">
                <a:moveTo>
                  <a:pt x="167640" y="64008"/>
                </a:moveTo>
                <a:lnTo>
                  <a:pt x="161544" y="57912"/>
                </a:lnTo>
                <a:lnTo>
                  <a:pt x="145542" y="57912"/>
                </a:lnTo>
                <a:lnTo>
                  <a:pt x="139446" y="64008"/>
                </a:lnTo>
                <a:lnTo>
                  <a:pt x="139446" y="247650"/>
                </a:lnTo>
                <a:lnTo>
                  <a:pt x="145542" y="253746"/>
                </a:lnTo>
                <a:lnTo>
                  <a:pt x="161544" y="253746"/>
                </a:lnTo>
                <a:lnTo>
                  <a:pt x="167640" y="247650"/>
                </a:lnTo>
                <a:lnTo>
                  <a:pt x="167640" y="71628"/>
                </a:lnTo>
                <a:lnTo>
                  <a:pt x="167640" y="64008"/>
                </a:lnTo>
                <a:close/>
              </a:path>
              <a:path w="716279" h="847089">
                <a:moveTo>
                  <a:pt x="716280" y="143256"/>
                </a:moveTo>
                <a:lnTo>
                  <a:pt x="709422" y="136398"/>
                </a:lnTo>
                <a:lnTo>
                  <a:pt x="296418" y="136398"/>
                </a:lnTo>
                <a:lnTo>
                  <a:pt x="295656" y="128778"/>
                </a:lnTo>
                <a:lnTo>
                  <a:pt x="284988" y="92202"/>
                </a:lnTo>
                <a:lnTo>
                  <a:pt x="268224" y="62141"/>
                </a:lnTo>
                <a:lnTo>
                  <a:pt x="268224" y="139446"/>
                </a:lnTo>
                <a:lnTo>
                  <a:pt x="268224" y="143256"/>
                </a:lnTo>
                <a:lnTo>
                  <a:pt x="268224" y="158496"/>
                </a:lnTo>
                <a:lnTo>
                  <a:pt x="267462" y="164592"/>
                </a:lnTo>
                <a:lnTo>
                  <a:pt x="266700" y="171450"/>
                </a:lnTo>
                <a:lnTo>
                  <a:pt x="253746" y="211074"/>
                </a:lnTo>
                <a:lnTo>
                  <a:pt x="224028" y="247650"/>
                </a:lnTo>
                <a:lnTo>
                  <a:pt x="189738" y="267462"/>
                </a:lnTo>
                <a:lnTo>
                  <a:pt x="166116" y="273558"/>
                </a:lnTo>
                <a:lnTo>
                  <a:pt x="160782" y="274320"/>
                </a:lnTo>
                <a:lnTo>
                  <a:pt x="156210" y="274891"/>
                </a:lnTo>
                <a:lnTo>
                  <a:pt x="140970" y="274993"/>
                </a:lnTo>
                <a:lnTo>
                  <a:pt x="135636" y="274320"/>
                </a:lnTo>
                <a:lnTo>
                  <a:pt x="130302" y="273558"/>
                </a:lnTo>
                <a:lnTo>
                  <a:pt x="124206" y="272034"/>
                </a:lnTo>
                <a:lnTo>
                  <a:pt x="118110" y="271272"/>
                </a:lnTo>
                <a:lnTo>
                  <a:pt x="112776" y="268986"/>
                </a:lnTo>
                <a:lnTo>
                  <a:pt x="107442" y="267462"/>
                </a:lnTo>
                <a:lnTo>
                  <a:pt x="102108" y="265176"/>
                </a:lnTo>
                <a:lnTo>
                  <a:pt x="96012" y="262890"/>
                </a:lnTo>
                <a:lnTo>
                  <a:pt x="91440" y="259842"/>
                </a:lnTo>
                <a:lnTo>
                  <a:pt x="80772" y="253746"/>
                </a:lnTo>
                <a:lnTo>
                  <a:pt x="48768" y="220218"/>
                </a:lnTo>
                <a:lnTo>
                  <a:pt x="38100" y="198882"/>
                </a:lnTo>
                <a:lnTo>
                  <a:pt x="35814" y="194310"/>
                </a:lnTo>
                <a:lnTo>
                  <a:pt x="29718" y="169926"/>
                </a:lnTo>
                <a:lnTo>
                  <a:pt x="28956" y="163830"/>
                </a:lnTo>
                <a:lnTo>
                  <a:pt x="28956" y="145542"/>
                </a:lnTo>
                <a:lnTo>
                  <a:pt x="29718" y="138684"/>
                </a:lnTo>
                <a:lnTo>
                  <a:pt x="31242" y="126492"/>
                </a:lnTo>
                <a:lnTo>
                  <a:pt x="32766" y="120396"/>
                </a:lnTo>
                <a:lnTo>
                  <a:pt x="34290" y="115062"/>
                </a:lnTo>
                <a:lnTo>
                  <a:pt x="35814" y="108966"/>
                </a:lnTo>
                <a:lnTo>
                  <a:pt x="56388" y="73152"/>
                </a:lnTo>
                <a:lnTo>
                  <a:pt x="92202" y="43434"/>
                </a:lnTo>
                <a:lnTo>
                  <a:pt x="96774" y="41148"/>
                </a:lnTo>
                <a:lnTo>
                  <a:pt x="102108" y="38100"/>
                </a:lnTo>
                <a:lnTo>
                  <a:pt x="108204" y="35814"/>
                </a:lnTo>
                <a:lnTo>
                  <a:pt x="118872" y="32766"/>
                </a:lnTo>
                <a:lnTo>
                  <a:pt x="124968" y="31242"/>
                </a:lnTo>
                <a:lnTo>
                  <a:pt x="131064" y="30480"/>
                </a:lnTo>
                <a:lnTo>
                  <a:pt x="136398" y="29718"/>
                </a:lnTo>
                <a:lnTo>
                  <a:pt x="141732" y="29057"/>
                </a:lnTo>
                <a:lnTo>
                  <a:pt x="156210" y="29057"/>
                </a:lnTo>
                <a:lnTo>
                  <a:pt x="161544" y="29718"/>
                </a:lnTo>
                <a:lnTo>
                  <a:pt x="166878" y="30480"/>
                </a:lnTo>
                <a:lnTo>
                  <a:pt x="172974" y="31242"/>
                </a:lnTo>
                <a:lnTo>
                  <a:pt x="179070" y="32766"/>
                </a:lnTo>
                <a:lnTo>
                  <a:pt x="184404" y="34290"/>
                </a:lnTo>
                <a:lnTo>
                  <a:pt x="189738" y="36576"/>
                </a:lnTo>
                <a:lnTo>
                  <a:pt x="195834" y="38862"/>
                </a:lnTo>
                <a:lnTo>
                  <a:pt x="200406" y="41148"/>
                </a:lnTo>
                <a:lnTo>
                  <a:pt x="205740" y="43434"/>
                </a:lnTo>
                <a:lnTo>
                  <a:pt x="225552" y="57150"/>
                </a:lnTo>
                <a:lnTo>
                  <a:pt x="254508" y="93726"/>
                </a:lnTo>
                <a:lnTo>
                  <a:pt x="262890" y="115824"/>
                </a:lnTo>
                <a:lnTo>
                  <a:pt x="264414" y="121158"/>
                </a:lnTo>
                <a:lnTo>
                  <a:pt x="267462" y="133350"/>
                </a:lnTo>
                <a:lnTo>
                  <a:pt x="268224" y="139446"/>
                </a:lnTo>
                <a:lnTo>
                  <a:pt x="268224" y="62141"/>
                </a:lnTo>
                <a:lnTo>
                  <a:pt x="230886" y="25908"/>
                </a:lnTo>
                <a:lnTo>
                  <a:pt x="212598" y="15240"/>
                </a:lnTo>
                <a:lnTo>
                  <a:pt x="206502" y="12192"/>
                </a:lnTo>
                <a:lnTo>
                  <a:pt x="170688" y="2286"/>
                </a:lnTo>
                <a:lnTo>
                  <a:pt x="163068" y="762"/>
                </a:lnTo>
                <a:lnTo>
                  <a:pt x="155448" y="698"/>
                </a:lnTo>
                <a:lnTo>
                  <a:pt x="147828" y="0"/>
                </a:lnTo>
                <a:lnTo>
                  <a:pt x="140970" y="685"/>
                </a:lnTo>
                <a:lnTo>
                  <a:pt x="133350" y="762"/>
                </a:lnTo>
                <a:lnTo>
                  <a:pt x="125730" y="2286"/>
                </a:lnTo>
                <a:lnTo>
                  <a:pt x="118110" y="3048"/>
                </a:lnTo>
                <a:lnTo>
                  <a:pt x="111252" y="5334"/>
                </a:lnTo>
                <a:lnTo>
                  <a:pt x="103632" y="6858"/>
                </a:lnTo>
                <a:lnTo>
                  <a:pt x="96774" y="9906"/>
                </a:lnTo>
                <a:lnTo>
                  <a:pt x="53340" y="35052"/>
                </a:lnTo>
                <a:lnTo>
                  <a:pt x="25146" y="67818"/>
                </a:lnTo>
                <a:lnTo>
                  <a:pt x="9144" y="100584"/>
                </a:lnTo>
                <a:lnTo>
                  <a:pt x="4572" y="114300"/>
                </a:lnTo>
                <a:lnTo>
                  <a:pt x="1524" y="129540"/>
                </a:lnTo>
                <a:lnTo>
                  <a:pt x="762" y="136398"/>
                </a:lnTo>
                <a:lnTo>
                  <a:pt x="0" y="144780"/>
                </a:lnTo>
                <a:lnTo>
                  <a:pt x="0" y="160020"/>
                </a:lnTo>
                <a:lnTo>
                  <a:pt x="9144" y="204216"/>
                </a:lnTo>
                <a:lnTo>
                  <a:pt x="28956" y="241147"/>
                </a:lnTo>
                <a:lnTo>
                  <a:pt x="66294" y="278130"/>
                </a:lnTo>
                <a:lnTo>
                  <a:pt x="104394" y="296418"/>
                </a:lnTo>
                <a:lnTo>
                  <a:pt x="134112" y="302514"/>
                </a:lnTo>
                <a:lnTo>
                  <a:pt x="135636" y="302691"/>
                </a:lnTo>
                <a:lnTo>
                  <a:pt x="135636" y="840498"/>
                </a:lnTo>
                <a:lnTo>
                  <a:pt x="141732" y="846594"/>
                </a:lnTo>
                <a:lnTo>
                  <a:pt x="157734" y="846594"/>
                </a:lnTo>
                <a:lnTo>
                  <a:pt x="163830" y="840498"/>
                </a:lnTo>
                <a:lnTo>
                  <a:pt x="163830" y="832878"/>
                </a:lnTo>
                <a:lnTo>
                  <a:pt x="163830" y="302514"/>
                </a:lnTo>
                <a:lnTo>
                  <a:pt x="171450" y="301752"/>
                </a:lnTo>
                <a:lnTo>
                  <a:pt x="179070" y="300228"/>
                </a:lnTo>
                <a:lnTo>
                  <a:pt x="185928" y="298704"/>
                </a:lnTo>
                <a:lnTo>
                  <a:pt x="192786" y="296418"/>
                </a:lnTo>
                <a:lnTo>
                  <a:pt x="200406" y="294132"/>
                </a:lnTo>
                <a:lnTo>
                  <a:pt x="206502" y="291084"/>
                </a:lnTo>
                <a:lnTo>
                  <a:pt x="220218" y="284988"/>
                </a:lnTo>
                <a:lnTo>
                  <a:pt x="232410" y="277368"/>
                </a:lnTo>
                <a:lnTo>
                  <a:pt x="263652" y="247650"/>
                </a:lnTo>
                <a:lnTo>
                  <a:pt x="285750" y="210312"/>
                </a:lnTo>
                <a:lnTo>
                  <a:pt x="296570" y="165354"/>
                </a:lnTo>
                <a:lnTo>
                  <a:pt x="709422" y="165354"/>
                </a:lnTo>
                <a:lnTo>
                  <a:pt x="716280" y="158496"/>
                </a:lnTo>
                <a:lnTo>
                  <a:pt x="716280" y="14325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txBox="1"/>
          <p:nvPr/>
        </p:nvSpPr>
        <p:spPr>
          <a:xfrm>
            <a:off x="1909572" y="3187700"/>
            <a:ext cx="320040"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2300" b="1" i="1" u="none" strike="noStrike" kern="1200" cap="none" spc="5" normalizeH="0" baseline="0" noProof="0" dirty="0">
                <a:ln>
                  <a:noFill/>
                </a:ln>
                <a:solidFill>
                  <a:prstClr val="black"/>
                </a:solidFill>
                <a:effectLst/>
                <a:uLnTx/>
                <a:uFillTx/>
                <a:latin typeface="Times New Roman"/>
                <a:ea typeface="+mn-ea"/>
                <a:cs typeface="Times New Roman"/>
              </a:rPr>
              <a:t>x</a:t>
            </a:r>
            <a:r>
              <a:rPr kumimoji="0" sz="2250" b="1" i="1" u="none" strike="noStrike" kern="1200" cap="none" spc="7" normalizeH="0" baseline="-20370" noProof="0" dirty="0">
                <a:ln>
                  <a:noFill/>
                </a:ln>
                <a:solidFill>
                  <a:prstClr val="black"/>
                </a:solidFill>
                <a:effectLst/>
                <a:uLnTx/>
                <a:uFillTx/>
                <a:latin typeface="Times New Roman"/>
                <a:ea typeface="+mn-ea"/>
                <a:cs typeface="Times New Roman"/>
              </a:rPr>
              <a:t>1</a:t>
            </a:r>
            <a:endParaRPr kumimoji="0" sz="2250" b="0" i="0" u="none" strike="noStrike" kern="1200" cap="none" spc="0" normalizeH="0" baseline="-20370" noProof="0">
              <a:ln>
                <a:noFill/>
              </a:ln>
              <a:solidFill>
                <a:prstClr val="black"/>
              </a:solidFill>
              <a:effectLst/>
              <a:uLnTx/>
              <a:uFillTx/>
              <a:latin typeface="Times New Roman"/>
              <a:ea typeface="+mn-ea"/>
              <a:cs typeface="Times New Roman"/>
            </a:endParaRPr>
          </a:p>
        </p:txBody>
      </p:sp>
      <p:sp>
        <p:nvSpPr>
          <p:cNvPr id="108" name="object 108"/>
          <p:cNvSpPr txBox="1"/>
          <p:nvPr/>
        </p:nvSpPr>
        <p:spPr>
          <a:xfrm>
            <a:off x="3528821" y="2643632"/>
            <a:ext cx="611505" cy="37592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3450" b="0" i="1" u="none" strike="noStrike" kern="1200" cap="none" spc="15" normalizeH="0" baseline="13285" noProof="0" dirty="0">
                <a:ln>
                  <a:noFill/>
                </a:ln>
                <a:solidFill>
                  <a:prstClr val="black"/>
                </a:solidFill>
                <a:effectLst/>
                <a:uLnTx/>
                <a:uFillTx/>
                <a:latin typeface="Times New Roman"/>
                <a:ea typeface="+mn-ea"/>
                <a:cs typeface="Times New Roman"/>
              </a:rPr>
              <a:t>V</a:t>
            </a:r>
            <a:r>
              <a:rPr kumimoji="0" sz="1500" b="0" i="1" u="none" strike="noStrike" kern="1200" cap="none" spc="10" normalizeH="0" baseline="0" noProof="0" dirty="0">
                <a:ln>
                  <a:noFill/>
                </a:ln>
                <a:solidFill>
                  <a:prstClr val="black"/>
                </a:solidFill>
                <a:effectLst/>
                <a:uLnTx/>
                <a:uFillTx/>
                <a:latin typeface="Times New Roman"/>
                <a:ea typeface="+mn-ea"/>
                <a:cs typeface="Times New Roman"/>
              </a:rPr>
              <a:t>FFE</a:t>
            </a:r>
            <a:endParaRPr kumimoji="0" sz="15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09" name="object 109"/>
          <p:cNvSpPr/>
          <p:nvPr/>
        </p:nvSpPr>
        <p:spPr>
          <a:xfrm>
            <a:off x="9267443" y="1513332"/>
            <a:ext cx="238125" cy="400050"/>
          </a:xfrm>
          <a:custGeom>
            <a:avLst/>
            <a:gdLst/>
            <a:ahLst/>
            <a:cxnLst/>
            <a:rect l="l" t="t" r="r" b="b"/>
            <a:pathLst>
              <a:path w="238125" h="400050">
                <a:moveTo>
                  <a:pt x="237744" y="400049"/>
                </a:moveTo>
                <a:lnTo>
                  <a:pt x="237744" y="0"/>
                </a:lnTo>
                <a:lnTo>
                  <a:pt x="0" y="0"/>
                </a:lnTo>
                <a:lnTo>
                  <a:pt x="0" y="400049"/>
                </a:lnTo>
                <a:lnTo>
                  <a:pt x="237744" y="400049"/>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object 110"/>
          <p:cNvSpPr txBox="1"/>
          <p:nvPr/>
        </p:nvSpPr>
        <p:spPr>
          <a:xfrm>
            <a:off x="9269983" y="1544827"/>
            <a:ext cx="233679"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112" name="Slide Number Placeholder 111"/>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39</a:t>
            </a:fld>
            <a:endParaRPr lang="en-US" spc="-50" dirty="0"/>
          </a:p>
        </p:txBody>
      </p:sp>
      <p:sp>
        <p:nvSpPr>
          <p:cNvPr id="113" name="Date Placeholder 112"/>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4" name="Footer Placeholder 113"/>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9839967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3824472" y="1501431"/>
            <a:ext cx="138430" cy="238760"/>
          </a:xfrm>
          <a:prstGeom prst="rect">
            <a:avLst/>
          </a:prstGeom>
        </p:spPr>
        <p:txBody>
          <a:bodyPr vert="horz" wrap="square" lIns="0" tIns="0" rIns="0" bIns="0" rtlCol="0">
            <a:spAutoFit/>
          </a:bodyPr>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sz="1700" b="0" i="0" u="none" strike="noStrike" kern="1200" cap="none" spc="125" normalizeH="0" baseline="0" noProof="0" dirty="0">
                <a:ln>
                  <a:noFill/>
                </a:ln>
                <a:solidFill>
                  <a:prstClr val="black"/>
                </a:solidFill>
                <a:effectLst/>
                <a:uLnTx/>
                <a:uFillTx/>
                <a:latin typeface="Times New Roman"/>
                <a:ea typeface="+mn-ea"/>
                <a:cs typeface="Times New Roman"/>
              </a:rPr>
              <a:t>&lt;</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3" name="object 3"/>
          <p:cNvSpPr txBox="1"/>
          <p:nvPr/>
        </p:nvSpPr>
        <p:spPr>
          <a:xfrm>
            <a:off x="3419347" y="1611702"/>
            <a:ext cx="351790" cy="175260"/>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tab pos="267335" algn="l"/>
              </a:tabLst>
              <a:defRPr/>
            </a:pPr>
            <a:r>
              <a:rPr kumimoji="0" sz="950" b="1" i="0" u="none" strike="noStrike" kern="1200" cap="none" spc="80" normalizeH="0" baseline="0" noProof="0" dirty="0">
                <a:ln>
                  <a:noFill/>
                </a:ln>
                <a:solidFill>
                  <a:prstClr val="black"/>
                </a:solidFill>
                <a:effectLst/>
                <a:uLnTx/>
                <a:uFillTx/>
                <a:latin typeface="Times New Roman"/>
                <a:ea typeface="+mn-ea"/>
                <a:cs typeface="Times New Roman"/>
              </a:rPr>
              <a:t>0	1</a:t>
            </a:r>
            <a:endParaRPr kumimoji="0" sz="95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4" name="object 4"/>
          <p:cNvGrpSpPr/>
          <p:nvPr/>
        </p:nvGrpSpPr>
        <p:grpSpPr>
          <a:xfrm>
            <a:off x="1825186" y="1722627"/>
            <a:ext cx="531495" cy="985519"/>
            <a:chOff x="1825186" y="1722627"/>
            <a:chExt cx="531495" cy="985519"/>
          </a:xfrm>
        </p:grpSpPr>
        <p:sp>
          <p:nvSpPr>
            <p:cNvPr id="5" name="object 5"/>
            <p:cNvSpPr/>
            <p:nvPr/>
          </p:nvSpPr>
          <p:spPr>
            <a:xfrm>
              <a:off x="2342387" y="2203704"/>
              <a:ext cx="0" cy="490220"/>
            </a:xfrm>
            <a:custGeom>
              <a:avLst/>
              <a:gdLst/>
              <a:ahLst/>
              <a:cxnLst/>
              <a:rect l="l" t="t" r="r" b="b"/>
              <a:pathLst>
                <a:path h="490219">
                  <a:moveTo>
                    <a:pt x="0" y="489965"/>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2332481" y="1736597"/>
              <a:ext cx="10160" cy="467359"/>
            </a:xfrm>
            <a:custGeom>
              <a:avLst/>
              <a:gdLst/>
              <a:ahLst/>
              <a:cxnLst/>
              <a:rect l="l" t="t" r="r" b="b"/>
              <a:pathLst>
                <a:path w="10160" h="467360">
                  <a:moveTo>
                    <a:pt x="9906" y="467105"/>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1891284" y="2157983"/>
              <a:ext cx="10160" cy="533400"/>
            </a:xfrm>
            <a:custGeom>
              <a:avLst/>
              <a:gdLst/>
              <a:ahLst/>
              <a:cxnLst/>
              <a:rect l="l" t="t" r="r" b="b"/>
              <a:pathLst>
                <a:path w="10160" h="533400">
                  <a:moveTo>
                    <a:pt x="9906" y="533400"/>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p:nvPr/>
          </p:nvSpPr>
          <p:spPr>
            <a:xfrm>
              <a:off x="1891284" y="1736597"/>
              <a:ext cx="0" cy="452755"/>
            </a:xfrm>
            <a:custGeom>
              <a:avLst/>
              <a:gdLst/>
              <a:ahLst/>
              <a:cxnLst/>
              <a:rect l="l" t="t" r="r" b="b"/>
              <a:pathLst>
                <a:path h="452755">
                  <a:moveTo>
                    <a:pt x="0" y="452627"/>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object 9"/>
            <p:cNvPicPr/>
            <p:nvPr/>
          </p:nvPicPr>
          <p:blipFill>
            <a:blip r:embed="rId2" cstate="print"/>
            <a:stretch>
              <a:fillRect/>
            </a:stretch>
          </p:blipFill>
          <p:spPr>
            <a:xfrm>
              <a:off x="1825186" y="2356300"/>
              <a:ext cx="132194" cy="107048"/>
            </a:xfrm>
            <a:prstGeom prst="rect">
              <a:avLst/>
            </a:prstGeom>
          </p:spPr>
        </p:pic>
      </p:grpSp>
      <p:sp>
        <p:nvSpPr>
          <p:cNvPr id="10" name="object 10"/>
          <p:cNvSpPr txBox="1"/>
          <p:nvPr/>
        </p:nvSpPr>
        <p:spPr>
          <a:xfrm>
            <a:off x="4572000" y="2156889"/>
            <a:ext cx="84455" cy="292735"/>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1750" b="1" i="0" u="none" strike="noStrike" kern="1200" cap="none" spc="80"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1" name="object 11"/>
          <p:cNvSpPr txBox="1"/>
          <p:nvPr/>
        </p:nvSpPr>
        <p:spPr>
          <a:xfrm>
            <a:off x="4497333" y="1804854"/>
            <a:ext cx="144145" cy="292735"/>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1750" b="1" i="0" u="none" strike="noStrike" kern="1200" cap="none" spc="13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2" name="object 12"/>
          <p:cNvSpPr txBox="1"/>
          <p:nvPr/>
        </p:nvSpPr>
        <p:spPr>
          <a:xfrm>
            <a:off x="2470404" y="2611920"/>
            <a:ext cx="206375" cy="243840"/>
          </a:xfrm>
          <a:prstGeom prst="rect">
            <a:avLst/>
          </a:prstGeom>
        </p:spPr>
        <p:txBody>
          <a:bodyPr vert="horz" wrap="square" lIns="0" tIns="0" rIns="0" bIns="0" rtlCol="0">
            <a:spAutoFit/>
          </a:bodyPr>
          <a:lstStyle/>
          <a:p>
            <a:pPr marL="0" marR="0" lvl="0" indent="0" algn="l" defTabSz="914400" rtl="0" eaLnBrk="1" fontAlgn="auto" latinLnBrk="0" hangingPunct="1">
              <a:lnSpc>
                <a:spcPts val="1639"/>
              </a:lnSpc>
              <a:spcBef>
                <a:spcPts val="0"/>
              </a:spcBef>
              <a:spcAft>
                <a:spcPts val="0"/>
              </a:spcAft>
              <a:buClrTx/>
              <a:buSzTx/>
              <a:buFontTx/>
              <a:buNone/>
              <a:tabLst/>
              <a:defRPr/>
            </a:pPr>
            <a:r>
              <a:rPr kumimoji="0" sz="1500" b="1" i="0" u="none" strike="noStrike" kern="1200" cap="none" spc="40" normalizeH="0" baseline="0" noProof="0" dirty="0">
                <a:ln>
                  <a:noFill/>
                </a:ln>
                <a:solidFill>
                  <a:prstClr val="black"/>
                </a:solidFill>
                <a:effectLst/>
                <a:uLnTx/>
                <a:uFillTx/>
                <a:latin typeface="Times New Roman"/>
                <a:ea typeface="+mn-ea"/>
                <a:cs typeface="Times New Roman"/>
              </a:rPr>
              <a:t>D</a:t>
            </a:r>
            <a:r>
              <a:rPr kumimoji="0" sz="1275" b="1" i="0" u="none" strike="noStrike" kern="1200" cap="none" spc="104" normalizeH="0" baseline="-26143" noProof="0" dirty="0">
                <a:ln>
                  <a:noFill/>
                </a:ln>
                <a:solidFill>
                  <a:prstClr val="black"/>
                </a:solidFill>
                <a:effectLst/>
                <a:uLnTx/>
                <a:uFillTx/>
                <a:latin typeface="Times New Roman"/>
                <a:ea typeface="+mn-ea"/>
                <a:cs typeface="Times New Roman"/>
              </a:rPr>
              <a:t>0</a:t>
            </a:r>
            <a:endParaRPr kumimoji="0" sz="1275" b="0" i="0" u="none" strike="noStrike" kern="1200" cap="none" spc="0" normalizeH="0" baseline="-26143" noProof="0">
              <a:ln>
                <a:noFill/>
              </a:ln>
              <a:solidFill>
                <a:prstClr val="black"/>
              </a:solidFill>
              <a:effectLst/>
              <a:uLnTx/>
              <a:uFillTx/>
              <a:latin typeface="Times New Roman"/>
              <a:ea typeface="+mn-ea"/>
              <a:cs typeface="Times New Roman"/>
            </a:endParaRPr>
          </a:p>
        </p:txBody>
      </p:sp>
      <p:sp>
        <p:nvSpPr>
          <p:cNvPr id="13" name="object 13"/>
          <p:cNvSpPr txBox="1"/>
          <p:nvPr/>
        </p:nvSpPr>
        <p:spPr>
          <a:xfrm>
            <a:off x="1453896" y="3419766"/>
            <a:ext cx="375920" cy="217804"/>
          </a:xfrm>
          <a:prstGeom prst="rect">
            <a:avLst/>
          </a:prstGeom>
        </p:spPr>
        <p:txBody>
          <a:bodyPr vert="horz" wrap="square" lIns="0" tIns="0" rIns="0" bIns="0" rtlCol="0">
            <a:spAutoFit/>
          </a:bodyPr>
          <a:lstStyle/>
          <a:p>
            <a:pPr marL="0" marR="0" lvl="0" indent="0" algn="l" defTabSz="914400" rtl="0" eaLnBrk="1" fontAlgn="auto" latinLnBrk="0" hangingPunct="1">
              <a:lnSpc>
                <a:spcPts val="1685"/>
              </a:lnSpc>
              <a:spcBef>
                <a:spcPts val="0"/>
              </a:spcBef>
              <a:spcAft>
                <a:spcPts val="0"/>
              </a:spcAft>
              <a:buClrTx/>
              <a:buSzTx/>
              <a:buFontTx/>
              <a:buNone/>
              <a:tabLst/>
              <a:defRPr/>
            </a:pPr>
            <a:r>
              <a:rPr kumimoji="0" sz="1500" b="1" i="0" u="none" strike="noStrike" kern="1200" cap="none" spc="110" normalizeH="0" baseline="0" noProof="0" dirty="0">
                <a:ln>
                  <a:noFill/>
                </a:ln>
                <a:solidFill>
                  <a:prstClr val="black"/>
                </a:solidFill>
                <a:effectLst/>
                <a:uLnTx/>
                <a:uFillTx/>
                <a:latin typeface="Arial"/>
                <a:ea typeface="+mn-ea"/>
                <a:cs typeface="Arial"/>
              </a:rPr>
              <a:t>0.6I</a:t>
            </a:r>
            <a:endParaRPr kumimoji="0" sz="1500" b="0" i="0" u="none" strike="noStrike" kern="1200" cap="none" spc="0" normalizeH="0" baseline="0" noProof="0">
              <a:ln>
                <a:noFill/>
              </a:ln>
              <a:solidFill>
                <a:prstClr val="black"/>
              </a:solidFill>
              <a:effectLst/>
              <a:uLnTx/>
              <a:uFillTx/>
              <a:latin typeface="Arial"/>
              <a:ea typeface="+mn-ea"/>
              <a:cs typeface="Arial"/>
            </a:endParaRPr>
          </a:p>
        </p:txBody>
      </p:sp>
      <p:sp>
        <p:nvSpPr>
          <p:cNvPr id="14" name="object 14"/>
          <p:cNvSpPr txBox="1"/>
          <p:nvPr/>
        </p:nvSpPr>
        <p:spPr>
          <a:xfrm>
            <a:off x="3237102" y="3419766"/>
            <a:ext cx="375920" cy="217804"/>
          </a:xfrm>
          <a:prstGeom prst="rect">
            <a:avLst/>
          </a:prstGeom>
        </p:spPr>
        <p:txBody>
          <a:bodyPr vert="horz" wrap="square" lIns="0" tIns="0" rIns="0" bIns="0" rtlCol="0">
            <a:spAutoFit/>
          </a:bodyPr>
          <a:lstStyle/>
          <a:p>
            <a:pPr marL="0" marR="0" lvl="0" indent="0" algn="l" defTabSz="914400" rtl="0" eaLnBrk="1" fontAlgn="auto" latinLnBrk="0" hangingPunct="1">
              <a:lnSpc>
                <a:spcPts val="1685"/>
              </a:lnSpc>
              <a:spcBef>
                <a:spcPts val="0"/>
              </a:spcBef>
              <a:spcAft>
                <a:spcPts val="0"/>
              </a:spcAft>
              <a:buClrTx/>
              <a:buSzTx/>
              <a:buFontTx/>
              <a:buNone/>
              <a:tabLst/>
              <a:defRPr/>
            </a:pPr>
            <a:r>
              <a:rPr kumimoji="0" sz="1500" b="1" i="0" u="none" strike="noStrike" kern="1200" cap="none" spc="110" normalizeH="0" baseline="0" noProof="0" dirty="0">
                <a:ln>
                  <a:noFill/>
                </a:ln>
                <a:solidFill>
                  <a:prstClr val="black"/>
                </a:solidFill>
                <a:effectLst/>
                <a:uLnTx/>
                <a:uFillTx/>
                <a:latin typeface="Arial"/>
                <a:ea typeface="+mn-ea"/>
                <a:cs typeface="Arial"/>
              </a:rPr>
              <a:t>0.4I</a:t>
            </a:r>
            <a:endParaRPr kumimoji="0" sz="1500" b="0" i="0" u="none" strike="noStrike" kern="1200" cap="none" spc="0" normalizeH="0" baseline="0" noProof="0">
              <a:ln>
                <a:noFill/>
              </a:ln>
              <a:solidFill>
                <a:prstClr val="black"/>
              </a:solidFill>
              <a:effectLst/>
              <a:uLnTx/>
              <a:uFillTx/>
              <a:latin typeface="Arial"/>
              <a:ea typeface="+mn-ea"/>
              <a:cs typeface="Arial"/>
            </a:endParaRPr>
          </a:p>
        </p:txBody>
      </p:sp>
      <p:grpSp>
        <p:nvGrpSpPr>
          <p:cNvPr id="15" name="object 15"/>
          <p:cNvGrpSpPr/>
          <p:nvPr/>
        </p:nvGrpSpPr>
        <p:grpSpPr>
          <a:xfrm>
            <a:off x="1895220" y="1915102"/>
            <a:ext cx="2236470" cy="522605"/>
            <a:chOff x="1895220" y="1915102"/>
            <a:chExt cx="2236470" cy="522605"/>
          </a:xfrm>
        </p:grpSpPr>
        <p:sp>
          <p:nvSpPr>
            <p:cNvPr id="16" name="object 16"/>
            <p:cNvSpPr/>
            <p:nvPr/>
          </p:nvSpPr>
          <p:spPr>
            <a:xfrm>
              <a:off x="1911095" y="2421636"/>
              <a:ext cx="1804035" cy="0"/>
            </a:xfrm>
            <a:custGeom>
              <a:avLst/>
              <a:gdLst/>
              <a:ahLst/>
              <a:cxnLst/>
              <a:rect l="l" t="t" r="r" b="b"/>
              <a:pathLst>
                <a:path w="1804035">
                  <a:moveTo>
                    <a:pt x="0" y="0"/>
                  </a:moveTo>
                  <a:lnTo>
                    <a:pt x="1803654"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object 17"/>
            <p:cNvPicPr/>
            <p:nvPr/>
          </p:nvPicPr>
          <p:blipFill>
            <a:blip r:embed="rId3" cstate="print"/>
            <a:stretch>
              <a:fillRect/>
            </a:stretch>
          </p:blipFill>
          <p:spPr>
            <a:xfrm>
              <a:off x="2290006" y="1915102"/>
              <a:ext cx="132194" cy="107048"/>
            </a:xfrm>
            <a:prstGeom prst="rect">
              <a:avLst/>
            </a:prstGeom>
          </p:spPr>
        </p:pic>
        <p:sp>
          <p:nvSpPr>
            <p:cNvPr id="18" name="object 18"/>
            <p:cNvSpPr/>
            <p:nvPr/>
          </p:nvSpPr>
          <p:spPr>
            <a:xfrm>
              <a:off x="2311907" y="1966722"/>
              <a:ext cx="1804035" cy="0"/>
            </a:xfrm>
            <a:custGeom>
              <a:avLst/>
              <a:gdLst/>
              <a:ahLst/>
              <a:cxnLst/>
              <a:rect l="l" t="t" r="r" b="b"/>
              <a:pathLst>
                <a:path w="1804035">
                  <a:moveTo>
                    <a:pt x="0" y="0"/>
                  </a:moveTo>
                  <a:lnTo>
                    <a:pt x="1803654"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 name="object 19"/>
          <p:cNvSpPr txBox="1"/>
          <p:nvPr/>
        </p:nvSpPr>
        <p:spPr>
          <a:xfrm>
            <a:off x="3245357" y="2611920"/>
            <a:ext cx="220979" cy="243840"/>
          </a:xfrm>
          <a:prstGeom prst="rect">
            <a:avLst/>
          </a:prstGeom>
        </p:spPr>
        <p:txBody>
          <a:bodyPr vert="horz" wrap="square" lIns="0" tIns="0" rIns="0" bIns="0" rtlCol="0">
            <a:spAutoFit/>
          </a:bodyPr>
          <a:lstStyle/>
          <a:p>
            <a:pPr marL="0" marR="0" lvl="0" indent="0" algn="l" defTabSz="914400" rtl="0" eaLnBrk="1" fontAlgn="auto" latinLnBrk="0" hangingPunct="1">
              <a:lnSpc>
                <a:spcPts val="1639"/>
              </a:lnSpc>
              <a:spcBef>
                <a:spcPts val="0"/>
              </a:spcBef>
              <a:spcAft>
                <a:spcPts val="0"/>
              </a:spcAft>
              <a:buClrTx/>
              <a:buSzTx/>
              <a:buFontTx/>
              <a:buNone/>
              <a:tabLst/>
              <a:defRPr/>
            </a:pPr>
            <a:r>
              <a:rPr kumimoji="0" sz="1500" b="1" i="0" u="none" strike="noStrike" kern="1200" cap="none" spc="155" normalizeH="0" baseline="0" noProof="0" dirty="0">
                <a:ln>
                  <a:noFill/>
                </a:ln>
                <a:solidFill>
                  <a:prstClr val="black"/>
                </a:solidFill>
                <a:effectLst/>
                <a:uLnTx/>
                <a:uFillTx/>
                <a:latin typeface="Times New Roman"/>
                <a:ea typeface="+mn-ea"/>
                <a:cs typeface="Times New Roman"/>
              </a:rPr>
              <a:t>D</a:t>
            </a:r>
            <a:r>
              <a:rPr kumimoji="0" sz="1275" b="1" i="0" u="none" strike="noStrike" kern="1200" cap="none" spc="97" normalizeH="0" baseline="-26143" noProof="0" dirty="0">
                <a:ln>
                  <a:noFill/>
                </a:ln>
                <a:solidFill>
                  <a:prstClr val="black"/>
                </a:solidFill>
                <a:effectLst/>
                <a:uLnTx/>
                <a:uFillTx/>
                <a:latin typeface="Times New Roman"/>
                <a:ea typeface="+mn-ea"/>
                <a:cs typeface="Times New Roman"/>
              </a:rPr>
              <a:t>1</a:t>
            </a:r>
            <a:endParaRPr kumimoji="0" sz="1275" b="0" i="0" u="none" strike="noStrike" kern="1200" cap="none" spc="0" normalizeH="0" baseline="-26143" noProof="0">
              <a:ln>
                <a:noFill/>
              </a:ln>
              <a:solidFill>
                <a:prstClr val="black"/>
              </a:solidFill>
              <a:effectLst/>
              <a:uLnTx/>
              <a:uFillTx/>
              <a:latin typeface="Times New Roman"/>
              <a:ea typeface="+mn-ea"/>
              <a:cs typeface="Times New Roman"/>
            </a:endParaRPr>
          </a:p>
        </p:txBody>
      </p:sp>
      <p:sp>
        <p:nvSpPr>
          <p:cNvPr id="20" name="object 20"/>
          <p:cNvSpPr txBox="1"/>
          <p:nvPr/>
        </p:nvSpPr>
        <p:spPr>
          <a:xfrm>
            <a:off x="4216908" y="2557537"/>
            <a:ext cx="247650" cy="274320"/>
          </a:xfrm>
          <a:prstGeom prst="rect">
            <a:avLst/>
          </a:prstGeom>
        </p:spPr>
        <p:txBody>
          <a:bodyPr vert="horz" wrap="square" lIns="0" tIns="0" rIns="0" bIns="0" rtlCol="0">
            <a:spAutoFit/>
          </a:bodyPr>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sz="1700" b="1" i="0" u="none" strike="noStrike" kern="1200" cap="none" spc="155"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120" normalizeH="0" baseline="-26315" noProof="0" dirty="0">
                <a:ln>
                  <a:noFill/>
                </a:ln>
                <a:solidFill>
                  <a:prstClr val="black"/>
                </a:solidFill>
                <a:effectLst/>
                <a:uLnTx/>
                <a:uFillTx/>
                <a:latin typeface="Times New Roman"/>
                <a:ea typeface="+mn-ea"/>
                <a:cs typeface="Times New Roman"/>
              </a:rPr>
              <a:t>1</a:t>
            </a:r>
            <a:endParaRPr kumimoji="0" sz="1425" b="0" i="0" u="none" strike="noStrike" kern="1200" cap="none" spc="0" normalizeH="0" baseline="-26315" noProof="0">
              <a:ln>
                <a:noFill/>
              </a:ln>
              <a:solidFill>
                <a:prstClr val="black"/>
              </a:solidFill>
              <a:effectLst/>
              <a:uLnTx/>
              <a:uFillTx/>
              <a:latin typeface="Times New Roman"/>
              <a:ea typeface="+mn-ea"/>
              <a:cs typeface="Times New Roman"/>
            </a:endParaRPr>
          </a:p>
        </p:txBody>
      </p:sp>
      <p:sp>
        <p:nvSpPr>
          <p:cNvPr id="21" name="object 21"/>
          <p:cNvSpPr txBox="1"/>
          <p:nvPr/>
        </p:nvSpPr>
        <p:spPr>
          <a:xfrm>
            <a:off x="1457705" y="2561797"/>
            <a:ext cx="252729" cy="273050"/>
          </a:xfrm>
          <a:prstGeom prst="rect">
            <a:avLst/>
          </a:prstGeom>
        </p:spPr>
        <p:txBody>
          <a:bodyPr vert="horz" wrap="square" lIns="0" tIns="0" rIns="0" bIns="0" rtlCol="0">
            <a:spAutoFit/>
          </a:bodyPr>
          <a:lstStyle/>
          <a:p>
            <a:pPr marL="0" marR="0" lvl="0" indent="0" algn="l" defTabSz="914400" rtl="0" eaLnBrk="1" fontAlgn="auto" latinLnBrk="0" hangingPunct="1">
              <a:lnSpc>
                <a:spcPts val="1845"/>
              </a:lnSpc>
              <a:spcBef>
                <a:spcPts val="0"/>
              </a:spcBef>
              <a:spcAft>
                <a:spcPts val="0"/>
              </a:spcAft>
              <a:buClrTx/>
              <a:buSzTx/>
              <a:buFontTx/>
              <a:buNone/>
              <a:tabLst/>
              <a:defRPr/>
            </a:pPr>
            <a:r>
              <a:rPr kumimoji="0" sz="1700" b="1" i="0" u="none" strike="noStrike" kern="1200" cap="none" spc="200"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120" normalizeH="0" baseline="-26315" noProof="0" dirty="0">
                <a:ln>
                  <a:noFill/>
                </a:ln>
                <a:solidFill>
                  <a:prstClr val="black"/>
                </a:solidFill>
                <a:effectLst/>
                <a:uLnTx/>
                <a:uFillTx/>
                <a:latin typeface="Times New Roman"/>
                <a:ea typeface="+mn-ea"/>
                <a:cs typeface="Times New Roman"/>
              </a:rPr>
              <a:t>0</a:t>
            </a:r>
            <a:endParaRPr kumimoji="0" sz="1425" b="0" i="0" u="none" strike="noStrike" kern="1200" cap="none" spc="0" normalizeH="0" baseline="-26315" noProof="0">
              <a:ln>
                <a:noFill/>
              </a:ln>
              <a:solidFill>
                <a:prstClr val="black"/>
              </a:solidFill>
              <a:effectLst/>
              <a:uLnTx/>
              <a:uFillTx/>
              <a:latin typeface="Times New Roman"/>
              <a:ea typeface="+mn-ea"/>
              <a:cs typeface="Times New Roman"/>
            </a:endParaRPr>
          </a:p>
        </p:txBody>
      </p:sp>
      <p:grpSp>
        <p:nvGrpSpPr>
          <p:cNvPr id="22" name="object 22"/>
          <p:cNvGrpSpPr/>
          <p:nvPr/>
        </p:nvGrpSpPr>
        <p:grpSpPr>
          <a:xfrm>
            <a:off x="1710054" y="1138555"/>
            <a:ext cx="2649855" cy="887094"/>
            <a:chOff x="1710054" y="1138555"/>
            <a:chExt cx="2649855" cy="887094"/>
          </a:xfrm>
        </p:grpSpPr>
        <p:sp>
          <p:nvSpPr>
            <p:cNvPr id="23" name="object 23"/>
            <p:cNvSpPr/>
            <p:nvPr/>
          </p:nvSpPr>
          <p:spPr>
            <a:xfrm>
              <a:off x="4097273" y="1966722"/>
              <a:ext cx="78105" cy="0"/>
            </a:xfrm>
            <a:custGeom>
              <a:avLst/>
              <a:gdLst/>
              <a:ahLst/>
              <a:cxnLst/>
              <a:rect l="l" t="t" r="r" b="b"/>
              <a:pathLst>
                <a:path w="78104">
                  <a:moveTo>
                    <a:pt x="0" y="0"/>
                  </a:moveTo>
                  <a:lnTo>
                    <a:pt x="77724"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object 24"/>
            <p:cNvSpPr/>
            <p:nvPr/>
          </p:nvSpPr>
          <p:spPr>
            <a:xfrm>
              <a:off x="4158233" y="1908048"/>
              <a:ext cx="201295" cy="117475"/>
            </a:xfrm>
            <a:custGeom>
              <a:avLst/>
              <a:gdLst/>
              <a:ahLst/>
              <a:cxnLst/>
              <a:rect l="l" t="t" r="r" b="b"/>
              <a:pathLst>
                <a:path w="201295" h="117475">
                  <a:moveTo>
                    <a:pt x="201168" y="58673"/>
                  </a:moveTo>
                  <a:lnTo>
                    <a:pt x="0" y="0"/>
                  </a:lnTo>
                  <a:lnTo>
                    <a:pt x="0" y="117348"/>
                  </a:lnTo>
                  <a:lnTo>
                    <a:pt x="201168" y="5867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object 25"/>
            <p:cNvSpPr/>
            <p:nvPr/>
          </p:nvSpPr>
          <p:spPr>
            <a:xfrm>
              <a:off x="1725929" y="1154430"/>
              <a:ext cx="330835" cy="0"/>
            </a:xfrm>
            <a:custGeom>
              <a:avLst/>
              <a:gdLst/>
              <a:ahLst/>
              <a:cxnLst/>
              <a:rect l="l" t="t" r="r" b="b"/>
              <a:pathLst>
                <a:path w="330835">
                  <a:moveTo>
                    <a:pt x="0" y="0"/>
                  </a:moveTo>
                  <a:lnTo>
                    <a:pt x="330708"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object 26"/>
            <p:cNvSpPr/>
            <p:nvPr/>
          </p:nvSpPr>
          <p:spPr>
            <a:xfrm>
              <a:off x="1891283" y="1154430"/>
              <a:ext cx="0" cy="83820"/>
            </a:xfrm>
            <a:custGeom>
              <a:avLst/>
              <a:gdLst/>
              <a:ahLst/>
              <a:cxnLst/>
              <a:rect l="l" t="t" r="r" b="b"/>
              <a:pathLst>
                <a:path h="83819">
                  <a:moveTo>
                    <a:pt x="0" y="0"/>
                  </a:moveTo>
                  <a:lnTo>
                    <a:pt x="0" y="8382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bject 27"/>
            <p:cNvSpPr/>
            <p:nvPr/>
          </p:nvSpPr>
          <p:spPr>
            <a:xfrm>
              <a:off x="2167127" y="1154430"/>
              <a:ext cx="330835" cy="0"/>
            </a:xfrm>
            <a:custGeom>
              <a:avLst/>
              <a:gdLst/>
              <a:ahLst/>
              <a:cxnLst/>
              <a:rect l="l" t="t" r="r" b="b"/>
              <a:pathLst>
                <a:path w="330835">
                  <a:moveTo>
                    <a:pt x="0" y="0"/>
                  </a:moveTo>
                  <a:lnTo>
                    <a:pt x="330708"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bject 28"/>
            <p:cNvSpPr/>
            <p:nvPr/>
          </p:nvSpPr>
          <p:spPr>
            <a:xfrm>
              <a:off x="2332481" y="1154430"/>
              <a:ext cx="0" cy="83820"/>
            </a:xfrm>
            <a:custGeom>
              <a:avLst/>
              <a:gdLst/>
              <a:ahLst/>
              <a:cxnLst/>
              <a:rect l="l" t="t" r="r" b="b"/>
              <a:pathLst>
                <a:path h="83819">
                  <a:moveTo>
                    <a:pt x="0" y="0"/>
                  </a:moveTo>
                  <a:lnTo>
                    <a:pt x="0" y="8382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 name="object 29"/>
          <p:cNvSpPr txBox="1"/>
          <p:nvPr/>
        </p:nvSpPr>
        <p:spPr>
          <a:xfrm>
            <a:off x="1509013" y="1335048"/>
            <a:ext cx="185420" cy="259079"/>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defRPr/>
            </a:pPr>
            <a:r>
              <a:rPr kumimoji="0" sz="1500" b="1" i="0" u="none" strike="noStrike" kern="1200" cap="none" spc="170" normalizeH="0" baseline="0" noProof="0" dirty="0">
                <a:ln>
                  <a:noFill/>
                </a:ln>
                <a:solidFill>
                  <a:prstClr val="black"/>
                </a:solidFill>
                <a:effectLst/>
                <a:uLnTx/>
                <a:uFillTx/>
                <a:latin typeface="Arial"/>
                <a:ea typeface="+mn-ea"/>
                <a:cs typeface="Arial"/>
              </a:rPr>
              <a:t>R</a:t>
            </a:r>
            <a:endParaRPr kumimoji="0" sz="1500" b="0" i="0" u="none" strike="noStrike" kern="1200" cap="none" spc="0" normalizeH="0" baseline="0" noProof="0">
              <a:ln>
                <a:noFill/>
              </a:ln>
              <a:solidFill>
                <a:prstClr val="black"/>
              </a:solidFill>
              <a:effectLst/>
              <a:uLnTx/>
              <a:uFillTx/>
              <a:latin typeface="Arial"/>
              <a:ea typeface="+mn-ea"/>
              <a:cs typeface="Arial"/>
            </a:endParaRPr>
          </a:p>
        </p:txBody>
      </p:sp>
      <p:sp>
        <p:nvSpPr>
          <p:cNvPr id="30" name="object 30"/>
          <p:cNvSpPr txBox="1"/>
          <p:nvPr/>
        </p:nvSpPr>
        <p:spPr>
          <a:xfrm>
            <a:off x="2538409" y="1335048"/>
            <a:ext cx="185420" cy="259079"/>
          </a:xfrm>
          <a:prstGeom prst="rect">
            <a:avLst/>
          </a:prstGeom>
        </p:spPr>
        <p:txBody>
          <a:bodyPr vert="horz" wrap="square" lIns="0" tIns="16510" rIns="0" bIns="0" rtlCol="0">
            <a:spAutoFit/>
          </a:bodyPr>
          <a:lstStyle/>
          <a:p>
            <a:pPr marL="12700" marR="0" lvl="0" indent="0" algn="l" defTabSz="914400" rtl="0" eaLnBrk="1" fontAlgn="auto" latinLnBrk="0" hangingPunct="1">
              <a:lnSpc>
                <a:spcPct val="100000"/>
              </a:lnSpc>
              <a:spcBef>
                <a:spcPts val="130"/>
              </a:spcBef>
              <a:spcAft>
                <a:spcPts val="0"/>
              </a:spcAft>
              <a:buClrTx/>
              <a:buSzTx/>
              <a:buFontTx/>
              <a:buNone/>
              <a:tabLst/>
              <a:defRPr/>
            </a:pPr>
            <a:r>
              <a:rPr kumimoji="0" sz="1500" b="1" i="0" u="none" strike="noStrike" kern="1200" cap="none" spc="170" normalizeH="0" baseline="0" noProof="0" dirty="0">
                <a:ln>
                  <a:noFill/>
                </a:ln>
                <a:solidFill>
                  <a:prstClr val="black"/>
                </a:solidFill>
                <a:effectLst/>
                <a:uLnTx/>
                <a:uFillTx/>
                <a:latin typeface="Arial"/>
                <a:ea typeface="+mn-ea"/>
                <a:cs typeface="Arial"/>
              </a:rPr>
              <a:t>R</a:t>
            </a:r>
            <a:endParaRPr kumimoji="0" sz="1500" b="0" i="0" u="none" strike="noStrike" kern="1200" cap="none" spc="0" normalizeH="0" baseline="0" noProof="0">
              <a:ln>
                <a:noFill/>
              </a:ln>
              <a:solidFill>
                <a:prstClr val="black"/>
              </a:solidFill>
              <a:effectLst/>
              <a:uLnTx/>
              <a:uFillTx/>
              <a:latin typeface="Arial"/>
              <a:ea typeface="+mn-ea"/>
              <a:cs typeface="Arial"/>
            </a:endParaRPr>
          </a:p>
        </p:txBody>
      </p:sp>
      <p:grpSp>
        <p:nvGrpSpPr>
          <p:cNvPr id="31" name="object 31"/>
          <p:cNvGrpSpPr/>
          <p:nvPr/>
        </p:nvGrpSpPr>
        <p:grpSpPr>
          <a:xfrm>
            <a:off x="1355597" y="1232280"/>
            <a:ext cx="3124835" cy="2806065"/>
            <a:chOff x="1355597" y="1232280"/>
            <a:chExt cx="3124835" cy="2806065"/>
          </a:xfrm>
        </p:grpSpPr>
        <p:sp>
          <p:nvSpPr>
            <p:cNvPr id="32" name="object 32"/>
            <p:cNvSpPr/>
            <p:nvPr/>
          </p:nvSpPr>
          <p:spPr>
            <a:xfrm>
              <a:off x="4097274" y="1965959"/>
              <a:ext cx="3810" cy="702310"/>
            </a:xfrm>
            <a:custGeom>
              <a:avLst/>
              <a:gdLst/>
              <a:ahLst/>
              <a:cxnLst/>
              <a:rect l="l" t="t" r="r" b="b"/>
              <a:pathLst>
                <a:path w="3810" h="702310">
                  <a:moveTo>
                    <a:pt x="3810" y="0"/>
                  </a:moveTo>
                  <a:lnTo>
                    <a:pt x="0" y="701802"/>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object 33"/>
            <p:cNvSpPr/>
            <p:nvPr/>
          </p:nvSpPr>
          <p:spPr>
            <a:xfrm>
              <a:off x="4023359" y="1966722"/>
              <a:ext cx="265430" cy="0"/>
            </a:xfrm>
            <a:custGeom>
              <a:avLst/>
              <a:gdLst/>
              <a:ahLst/>
              <a:cxnLst/>
              <a:rect l="l" t="t" r="r" b="b"/>
              <a:pathLst>
                <a:path w="265429">
                  <a:moveTo>
                    <a:pt x="0" y="0"/>
                  </a:moveTo>
                  <a:lnTo>
                    <a:pt x="265176"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bject 34"/>
            <p:cNvSpPr/>
            <p:nvPr/>
          </p:nvSpPr>
          <p:spPr>
            <a:xfrm>
              <a:off x="3656075" y="2421636"/>
              <a:ext cx="808990" cy="0"/>
            </a:xfrm>
            <a:custGeom>
              <a:avLst/>
              <a:gdLst/>
              <a:ahLst/>
              <a:cxnLst/>
              <a:rect l="l" t="t" r="r" b="b"/>
              <a:pathLst>
                <a:path w="808989">
                  <a:moveTo>
                    <a:pt x="0" y="0"/>
                  </a:moveTo>
                  <a:lnTo>
                    <a:pt x="808482"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4313681" y="2421636"/>
              <a:ext cx="78105" cy="0"/>
            </a:xfrm>
            <a:custGeom>
              <a:avLst/>
              <a:gdLst/>
              <a:ahLst/>
              <a:cxnLst/>
              <a:rect l="l" t="t" r="r" b="b"/>
              <a:pathLst>
                <a:path w="78104">
                  <a:moveTo>
                    <a:pt x="77724" y="0"/>
                  </a:moveTo>
                  <a:lnTo>
                    <a:pt x="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4129277" y="2362961"/>
              <a:ext cx="201295" cy="118110"/>
            </a:xfrm>
            <a:custGeom>
              <a:avLst/>
              <a:gdLst/>
              <a:ahLst/>
              <a:cxnLst/>
              <a:rect l="l" t="t" r="r" b="b"/>
              <a:pathLst>
                <a:path w="201295" h="118110">
                  <a:moveTo>
                    <a:pt x="201167" y="118110"/>
                  </a:moveTo>
                  <a:lnTo>
                    <a:pt x="201167" y="0"/>
                  </a:lnTo>
                  <a:lnTo>
                    <a:pt x="0" y="58674"/>
                  </a:lnTo>
                  <a:lnTo>
                    <a:pt x="201167" y="11811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3659124" y="3243072"/>
              <a:ext cx="438150" cy="0"/>
            </a:xfrm>
            <a:custGeom>
              <a:avLst/>
              <a:gdLst/>
              <a:ahLst/>
              <a:cxnLst/>
              <a:rect l="l" t="t" r="r" b="b"/>
              <a:pathLst>
                <a:path w="438150">
                  <a:moveTo>
                    <a:pt x="0" y="0"/>
                  </a:moveTo>
                  <a:lnTo>
                    <a:pt x="43815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object 38"/>
            <p:cNvSpPr/>
            <p:nvPr/>
          </p:nvSpPr>
          <p:spPr>
            <a:xfrm>
              <a:off x="3731513" y="3438144"/>
              <a:ext cx="290830" cy="288290"/>
            </a:xfrm>
            <a:custGeom>
              <a:avLst/>
              <a:gdLst/>
              <a:ahLst/>
              <a:cxnLst/>
              <a:rect l="l" t="t" r="r" b="b"/>
              <a:pathLst>
                <a:path w="290829" h="288289">
                  <a:moveTo>
                    <a:pt x="0" y="144017"/>
                  </a:moveTo>
                  <a:lnTo>
                    <a:pt x="7376" y="98316"/>
                  </a:lnTo>
                  <a:lnTo>
                    <a:pt x="27919" y="58759"/>
                  </a:lnTo>
                  <a:lnTo>
                    <a:pt x="59253" y="27651"/>
                  </a:lnTo>
                  <a:lnTo>
                    <a:pt x="98999" y="7296"/>
                  </a:lnTo>
                  <a:lnTo>
                    <a:pt x="144780" y="0"/>
                  </a:lnTo>
                  <a:lnTo>
                    <a:pt x="190640" y="7296"/>
                  </a:lnTo>
                  <a:lnTo>
                    <a:pt x="230575" y="27651"/>
                  </a:lnTo>
                  <a:lnTo>
                    <a:pt x="262134" y="58759"/>
                  </a:lnTo>
                  <a:lnTo>
                    <a:pt x="282866" y="98316"/>
                  </a:lnTo>
                  <a:lnTo>
                    <a:pt x="290322" y="144017"/>
                  </a:lnTo>
                  <a:lnTo>
                    <a:pt x="282866" y="189427"/>
                  </a:lnTo>
                  <a:lnTo>
                    <a:pt x="262134" y="228947"/>
                  </a:lnTo>
                  <a:lnTo>
                    <a:pt x="230575" y="260165"/>
                  </a:lnTo>
                  <a:lnTo>
                    <a:pt x="190640" y="280665"/>
                  </a:lnTo>
                  <a:lnTo>
                    <a:pt x="144780" y="288035"/>
                  </a:lnTo>
                  <a:lnTo>
                    <a:pt x="98999" y="280665"/>
                  </a:lnTo>
                  <a:lnTo>
                    <a:pt x="59253" y="260165"/>
                  </a:lnTo>
                  <a:lnTo>
                    <a:pt x="27919" y="228947"/>
                  </a:lnTo>
                  <a:lnTo>
                    <a:pt x="7376" y="189427"/>
                  </a:lnTo>
                  <a:lnTo>
                    <a:pt x="0" y="144017"/>
                  </a:lnTo>
                  <a:close/>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bject 39"/>
            <p:cNvSpPr/>
            <p:nvPr/>
          </p:nvSpPr>
          <p:spPr>
            <a:xfrm>
              <a:off x="3876293" y="3365754"/>
              <a:ext cx="0" cy="198120"/>
            </a:xfrm>
            <a:custGeom>
              <a:avLst/>
              <a:gdLst/>
              <a:ahLst/>
              <a:cxnLst/>
              <a:rect l="l" t="t" r="r" b="b"/>
              <a:pathLst>
                <a:path h="198120">
                  <a:moveTo>
                    <a:pt x="0" y="0"/>
                  </a:moveTo>
                  <a:lnTo>
                    <a:pt x="0" y="19812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40"/>
            <p:cNvSpPr/>
            <p:nvPr/>
          </p:nvSpPr>
          <p:spPr>
            <a:xfrm>
              <a:off x="3809237" y="3549395"/>
              <a:ext cx="134620" cy="177165"/>
            </a:xfrm>
            <a:custGeom>
              <a:avLst/>
              <a:gdLst/>
              <a:ahLst/>
              <a:cxnLst/>
              <a:rect l="l" t="t" r="r" b="b"/>
              <a:pathLst>
                <a:path w="134620" h="177164">
                  <a:moveTo>
                    <a:pt x="134112" y="0"/>
                  </a:moveTo>
                  <a:lnTo>
                    <a:pt x="0" y="0"/>
                  </a:lnTo>
                  <a:lnTo>
                    <a:pt x="67056" y="176784"/>
                  </a:lnTo>
                  <a:lnTo>
                    <a:pt x="13411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3874769" y="3726179"/>
              <a:ext cx="0" cy="71755"/>
            </a:xfrm>
            <a:custGeom>
              <a:avLst/>
              <a:gdLst/>
              <a:ahLst/>
              <a:cxnLst/>
              <a:rect l="l" t="t" r="r" b="b"/>
              <a:pathLst>
                <a:path h="71754">
                  <a:moveTo>
                    <a:pt x="0" y="71627"/>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3760469" y="3898391"/>
              <a:ext cx="229870" cy="0"/>
            </a:xfrm>
            <a:custGeom>
              <a:avLst/>
              <a:gdLst/>
              <a:ahLst/>
              <a:cxnLst/>
              <a:rect l="l" t="t" r="r" b="b"/>
              <a:pathLst>
                <a:path w="229870">
                  <a:moveTo>
                    <a:pt x="229362" y="0"/>
                  </a:moveTo>
                  <a:lnTo>
                    <a:pt x="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3798569" y="3948683"/>
              <a:ext cx="153670" cy="0"/>
            </a:xfrm>
            <a:custGeom>
              <a:avLst/>
              <a:gdLst/>
              <a:ahLst/>
              <a:cxnLst/>
              <a:rect l="l" t="t" r="r" b="b"/>
              <a:pathLst>
                <a:path w="153670">
                  <a:moveTo>
                    <a:pt x="153162" y="0"/>
                  </a:moveTo>
                  <a:lnTo>
                    <a:pt x="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3836669" y="3999738"/>
              <a:ext cx="76200" cy="0"/>
            </a:xfrm>
            <a:custGeom>
              <a:avLst/>
              <a:gdLst/>
              <a:ahLst/>
              <a:cxnLst/>
              <a:rect l="l" t="t" r="r" b="b"/>
              <a:pathLst>
                <a:path w="76200">
                  <a:moveTo>
                    <a:pt x="76200" y="0"/>
                  </a:moveTo>
                  <a:lnTo>
                    <a:pt x="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3874769" y="3797807"/>
              <a:ext cx="0" cy="100965"/>
            </a:xfrm>
            <a:custGeom>
              <a:avLst/>
              <a:gdLst/>
              <a:ahLst/>
              <a:cxnLst/>
              <a:rect l="l" t="t" r="r" b="b"/>
              <a:pathLst>
                <a:path h="100964">
                  <a:moveTo>
                    <a:pt x="0" y="100584"/>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3876293" y="3251454"/>
              <a:ext cx="0" cy="120650"/>
            </a:xfrm>
            <a:custGeom>
              <a:avLst/>
              <a:gdLst/>
              <a:ahLst/>
              <a:cxnLst/>
              <a:rect l="l" t="t" r="r" b="b"/>
              <a:pathLst>
                <a:path h="120650">
                  <a:moveTo>
                    <a:pt x="0" y="120396"/>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3435096" y="2855213"/>
              <a:ext cx="224154" cy="387985"/>
            </a:xfrm>
            <a:custGeom>
              <a:avLst/>
              <a:gdLst/>
              <a:ahLst/>
              <a:cxnLst/>
              <a:rect l="l" t="t" r="r" b="b"/>
              <a:pathLst>
                <a:path w="224154" h="387985">
                  <a:moveTo>
                    <a:pt x="224027" y="387858"/>
                  </a:moveTo>
                  <a:lnTo>
                    <a:pt x="224027" y="194310"/>
                  </a:lnTo>
                  <a:lnTo>
                    <a:pt x="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object 48"/>
            <p:cNvPicPr/>
            <p:nvPr/>
          </p:nvPicPr>
          <p:blipFill>
            <a:blip r:embed="rId4" cstate="print"/>
            <a:stretch>
              <a:fillRect/>
            </a:stretch>
          </p:blipFill>
          <p:spPr>
            <a:xfrm>
              <a:off x="3609028" y="2661666"/>
              <a:ext cx="100190" cy="243643"/>
            </a:xfrm>
            <a:prstGeom prst="rect">
              <a:avLst/>
            </a:prstGeom>
          </p:spPr>
        </p:pic>
        <p:pic>
          <p:nvPicPr>
            <p:cNvPr id="49" name="object 49"/>
            <p:cNvPicPr/>
            <p:nvPr/>
          </p:nvPicPr>
          <p:blipFill>
            <a:blip r:embed="rId5" cstate="print"/>
            <a:stretch>
              <a:fillRect/>
            </a:stretch>
          </p:blipFill>
          <p:spPr>
            <a:xfrm>
              <a:off x="3609028" y="2999428"/>
              <a:ext cx="100190" cy="99428"/>
            </a:xfrm>
            <a:prstGeom prst="rect">
              <a:avLst/>
            </a:prstGeom>
          </p:spPr>
        </p:pic>
        <p:sp>
          <p:nvSpPr>
            <p:cNvPr id="50" name="object 50"/>
            <p:cNvSpPr/>
            <p:nvPr/>
          </p:nvSpPr>
          <p:spPr>
            <a:xfrm>
              <a:off x="4097274" y="2661666"/>
              <a:ext cx="0" cy="581660"/>
            </a:xfrm>
            <a:custGeom>
              <a:avLst/>
              <a:gdLst/>
              <a:ahLst/>
              <a:cxnLst/>
              <a:rect l="l" t="t" r="r" b="b"/>
              <a:pathLst>
                <a:path h="581660">
                  <a:moveTo>
                    <a:pt x="0" y="0"/>
                  </a:moveTo>
                  <a:lnTo>
                    <a:pt x="0" y="581406"/>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1" name="object 51"/>
            <p:cNvPicPr/>
            <p:nvPr/>
          </p:nvPicPr>
          <p:blipFill>
            <a:blip r:embed="rId6" cstate="print"/>
            <a:stretch>
              <a:fillRect/>
            </a:stretch>
          </p:blipFill>
          <p:spPr>
            <a:xfrm>
              <a:off x="4042606" y="2805880"/>
              <a:ext cx="109334" cy="99428"/>
            </a:xfrm>
            <a:prstGeom prst="rect">
              <a:avLst/>
            </a:prstGeom>
          </p:spPr>
        </p:pic>
        <p:pic>
          <p:nvPicPr>
            <p:cNvPr id="52" name="object 52"/>
            <p:cNvPicPr/>
            <p:nvPr/>
          </p:nvPicPr>
          <p:blipFill>
            <a:blip r:embed="rId7" cstate="print"/>
            <a:stretch>
              <a:fillRect/>
            </a:stretch>
          </p:blipFill>
          <p:spPr>
            <a:xfrm>
              <a:off x="4042606" y="2999428"/>
              <a:ext cx="109334" cy="99428"/>
            </a:xfrm>
            <a:prstGeom prst="rect">
              <a:avLst/>
            </a:prstGeom>
          </p:spPr>
        </p:pic>
        <p:sp>
          <p:nvSpPr>
            <p:cNvPr id="53" name="object 53"/>
            <p:cNvSpPr/>
            <p:nvPr/>
          </p:nvSpPr>
          <p:spPr>
            <a:xfrm>
              <a:off x="3656075" y="2421636"/>
              <a:ext cx="3175" cy="349885"/>
            </a:xfrm>
            <a:custGeom>
              <a:avLst/>
              <a:gdLst/>
              <a:ahLst/>
              <a:cxnLst/>
              <a:rect l="l" t="t" r="r" b="b"/>
              <a:pathLst>
                <a:path w="3175" h="349885">
                  <a:moveTo>
                    <a:pt x="0" y="0"/>
                  </a:moveTo>
                  <a:lnTo>
                    <a:pt x="3048" y="349758"/>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4" name="object 54"/>
            <p:cNvPicPr/>
            <p:nvPr/>
          </p:nvPicPr>
          <p:blipFill>
            <a:blip r:embed="rId8" cstate="print"/>
            <a:stretch>
              <a:fillRect/>
            </a:stretch>
          </p:blipFill>
          <p:spPr>
            <a:xfrm>
              <a:off x="3589978" y="2367730"/>
              <a:ext cx="132194" cy="107048"/>
            </a:xfrm>
            <a:prstGeom prst="rect">
              <a:avLst/>
            </a:prstGeom>
          </p:spPr>
        </p:pic>
        <p:pic>
          <p:nvPicPr>
            <p:cNvPr id="55" name="object 55"/>
            <p:cNvPicPr/>
            <p:nvPr/>
          </p:nvPicPr>
          <p:blipFill>
            <a:blip r:embed="rId9" cstate="print"/>
            <a:stretch>
              <a:fillRect/>
            </a:stretch>
          </p:blipFill>
          <p:spPr>
            <a:xfrm>
              <a:off x="4031176" y="1915102"/>
              <a:ext cx="132194" cy="107048"/>
            </a:xfrm>
            <a:prstGeom prst="rect">
              <a:avLst/>
            </a:prstGeom>
          </p:spPr>
        </p:pic>
        <p:sp>
          <p:nvSpPr>
            <p:cNvPr id="56" name="object 56"/>
            <p:cNvSpPr/>
            <p:nvPr/>
          </p:nvSpPr>
          <p:spPr>
            <a:xfrm>
              <a:off x="1744217" y="1248155"/>
              <a:ext cx="294640" cy="475615"/>
            </a:xfrm>
            <a:custGeom>
              <a:avLst/>
              <a:gdLst/>
              <a:ahLst/>
              <a:cxnLst/>
              <a:rect l="l" t="t" r="r" b="b"/>
              <a:pathLst>
                <a:path w="294639" h="475614">
                  <a:moveTo>
                    <a:pt x="147066" y="0"/>
                  </a:moveTo>
                  <a:lnTo>
                    <a:pt x="0" y="39624"/>
                  </a:lnTo>
                  <a:lnTo>
                    <a:pt x="294132" y="118872"/>
                  </a:lnTo>
                  <a:lnTo>
                    <a:pt x="0" y="198120"/>
                  </a:lnTo>
                  <a:lnTo>
                    <a:pt x="294132" y="277368"/>
                  </a:lnTo>
                  <a:lnTo>
                    <a:pt x="0" y="356616"/>
                  </a:lnTo>
                  <a:lnTo>
                    <a:pt x="294132" y="435864"/>
                  </a:lnTo>
                  <a:lnTo>
                    <a:pt x="147066" y="475488"/>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2185415" y="1248155"/>
              <a:ext cx="294640" cy="475615"/>
            </a:xfrm>
            <a:custGeom>
              <a:avLst/>
              <a:gdLst/>
              <a:ahLst/>
              <a:cxnLst/>
              <a:rect l="l" t="t" r="r" b="b"/>
              <a:pathLst>
                <a:path w="294639" h="475614">
                  <a:moveTo>
                    <a:pt x="147066" y="0"/>
                  </a:moveTo>
                  <a:lnTo>
                    <a:pt x="0" y="39624"/>
                  </a:lnTo>
                  <a:lnTo>
                    <a:pt x="294132" y="118872"/>
                  </a:lnTo>
                  <a:lnTo>
                    <a:pt x="0" y="198120"/>
                  </a:lnTo>
                  <a:lnTo>
                    <a:pt x="294132" y="277368"/>
                  </a:lnTo>
                  <a:lnTo>
                    <a:pt x="0" y="356616"/>
                  </a:lnTo>
                  <a:lnTo>
                    <a:pt x="294132" y="435864"/>
                  </a:lnTo>
                  <a:lnTo>
                    <a:pt x="147066" y="475488"/>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1899665" y="3243072"/>
              <a:ext cx="438150" cy="0"/>
            </a:xfrm>
            <a:custGeom>
              <a:avLst/>
              <a:gdLst/>
              <a:ahLst/>
              <a:cxnLst/>
              <a:rect l="l" t="t" r="r" b="b"/>
              <a:pathLst>
                <a:path w="438150">
                  <a:moveTo>
                    <a:pt x="438150" y="0"/>
                  </a:moveTo>
                  <a:lnTo>
                    <a:pt x="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1975103" y="3438144"/>
              <a:ext cx="290830" cy="288290"/>
            </a:xfrm>
            <a:custGeom>
              <a:avLst/>
              <a:gdLst/>
              <a:ahLst/>
              <a:cxnLst/>
              <a:rect l="l" t="t" r="r" b="b"/>
              <a:pathLst>
                <a:path w="290830" h="288289">
                  <a:moveTo>
                    <a:pt x="290321" y="144017"/>
                  </a:moveTo>
                  <a:lnTo>
                    <a:pt x="282945" y="98316"/>
                  </a:lnTo>
                  <a:lnTo>
                    <a:pt x="262402" y="58759"/>
                  </a:lnTo>
                  <a:lnTo>
                    <a:pt x="231068" y="27651"/>
                  </a:lnTo>
                  <a:lnTo>
                    <a:pt x="191322" y="7296"/>
                  </a:lnTo>
                  <a:lnTo>
                    <a:pt x="145541" y="0"/>
                  </a:lnTo>
                  <a:lnTo>
                    <a:pt x="99681" y="7296"/>
                  </a:lnTo>
                  <a:lnTo>
                    <a:pt x="59746" y="27651"/>
                  </a:lnTo>
                  <a:lnTo>
                    <a:pt x="28187" y="58759"/>
                  </a:lnTo>
                  <a:lnTo>
                    <a:pt x="7455" y="98316"/>
                  </a:lnTo>
                  <a:lnTo>
                    <a:pt x="0" y="144017"/>
                  </a:lnTo>
                  <a:lnTo>
                    <a:pt x="7455" y="189427"/>
                  </a:lnTo>
                  <a:lnTo>
                    <a:pt x="28187" y="228947"/>
                  </a:lnTo>
                  <a:lnTo>
                    <a:pt x="59746" y="260165"/>
                  </a:lnTo>
                  <a:lnTo>
                    <a:pt x="99681" y="280665"/>
                  </a:lnTo>
                  <a:lnTo>
                    <a:pt x="145541" y="288035"/>
                  </a:lnTo>
                  <a:lnTo>
                    <a:pt x="191322" y="280665"/>
                  </a:lnTo>
                  <a:lnTo>
                    <a:pt x="231068" y="260165"/>
                  </a:lnTo>
                  <a:lnTo>
                    <a:pt x="262402" y="228947"/>
                  </a:lnTo>
                  <a:lnTo>
                    <a:pt x="282945" y="189427"/>
                  </a:lnTo>
                  <a:lnTo>
                    <a:pt x="290321" y="144017"/>
                  </a:lnTo>
                  <a:close/>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bject 60"/>
            <p:cNvSpPr/>
            <p:nvPr/>
          </p:nvSpPr>
          <p:spPr>
            <a:xfrm>
              <a:off x="2120645" y="3365754"/>
              <a:ext cx="0" cy="198120"/>
            </a:xfrm>
            <a:custGeom>
              <a:avLst/>
              <a:gdLst/>
              <a:ahLst/>
              <a:cxnLst/>
              <a:rect l="l" t="t" r="r" b="b"/>
              <a:pathLst>
                <a:path h="198120">
                  <a:moveTo>
                    <a:pt x="0" y="0"/>
                  </a:moveTo>
                  <a:lnTo>
                    <a:pt x="0" y="19812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bject 61"/>
            <p:cNvSpPr/>
            <p:nvPr/>
          </p:nvSpPr>
          <p:spPr>
            <a:xfrm>
              <a:off x="2053589" y="3549395"/>
              <a:ext cx="134620" cy="177165"/>
            </a:xfrm>
            <a:custGeom>
              <a:avLst/>
              <a:gdLst/>
              <a:ahLst/>
              <a:cxnLst/>
              <a:rect l="l" t="t" r="r" b="b"/>
              <a:pathLst>
                <a:path w="134619" h="177164">
                  <a:moveTo>
                    <a:pt x="134112" y="0"/>
                  </a:moveTo>
                  <a:lnTo>
                    <a:pt x="0" y="0"/>
                  </a:lnTo>
                  <a:lnTo>
                    <a:pt x="67056" y="176784"/>
                  </a:lnTo>
                  <a:lnTo>
                    <a:pt x="13411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object 62"/>
            <p:cNvSpPr/>
            <p:nvPr/>
          </p:nvSpPr>
          <p:spPr>
            <a:xfrm>
              <a:off x="2122169" y="3726179"/>
              <a:ext cx="0" cy="71755"/>
            </a:xfrm>
            <a:custGeom>
              <a:avLst/>
              <a:gdLst/>
              <a:ahLst/>
              <a:cxnLst/>
              <a:rect l="l" t="t" r="r" b="b"/>
              <a:pathLst>
                <a:path h="71754">
                  <a:moveTo>
                    <a:pt x="0" y="71627"/>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object 63"/>
            <p:cNvSpPr/>
            <p:nvPr/>
          </p:nvSpPr>
          <p:spPr>
            <a:xfrm>
              <a:off x="2007107" y="3898391"/>
              <a:ext cx="229870" cy="0"/>
            </a:xfrm>
            <a:custGeom>
              <a:avLst/>
              <a:gdLst/>
              <a:ahLst/>
              <a:cxnLst/>
              <a:rect l="l" t="t" r="r" b="b"/>
              <a:pathLst>
                <a:path w="229869">
                  <a:moveTo>
                    <a:pt x="0" y="0"/>
                  </a:moveTo>
                  <a:lnTo>
                    <a:pt x="229361"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object 64"/>
            <p:cNvSpPr/>
            <p:nvPr/>
          </p:nvSpPr>
          <p:spPr>
            <a:xfrm>
              <a:off x="2045207" y="3948683"/>
              <a:ext cx="153670" cy="0"/>
            </a:xfrm>
            <a:custGeom>
              <a:avLst/>
              <a:gdLst/>
              <a:ahLst/>
              <a:cxnLst/>
              <a:rect l="l" t="t" r="r" b="b"/>
              <a:pathLst>
                <a:path w="153669">
                  <a:moveTo>
                    <a:pt x="0" y="0"/>
                  </a:moveTo>
                  <a:lnTo>
                    <a:pt x="153162"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object 65"/>
            <p:cNvSpPr/>
            <p:nvPr/>
          </p:nvSpPr>
          <p:spPr>
            <a:xfrm>
              <a:off x="2084069" y="3999738"/>
              <a:ext cx="76200" cy="0"/>
            </a:xfrm>
            <a:custGeom>
              <a:avLst/>
              <a:gdLst/>
              <a:ahLst/>
              <a:cxnLst/>
              <a:rect l="l" t="t" r="r" b="b"/>
              <a:pathLst>
                <a:path w="76200">
                  <a:moveTo>
                    <a:pt x="0" y="0"/>
                  </a:moveTo>
                  <a:lnTo>
                    <a:pt x="76200"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object 66"/>
            <p:cNvSpPr/>
            <p:nvPr/>
          </p:nvSpPr>
          <p:spPr>
            <a:xfrm>
              <a:off x="2122169" y="3797807"/>
              <a:ext cx="0" cy="100965"/>
            </a:xfrm>
            <a:custGeom>
              <a:avLst/>
              <a:gdLst/>
              <a:ahLst/>
              <a:cxnLst/>
              <a:rect l="l" t="t" r="r" b="b"/>
              <a:pathLst>
                <a:path h="100964">
                  <a:moveTo>
                    <a:pt x="0" y="100584"/>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object 67"/>
            <p:cNvSpPr/>
            <p:nvPr/>
          </p:nvSpPr>
          <p:spPr>
            <a:xfrm>
              <a:off x="2120645" y="3251454"/>
              <a:ext cx="0" cy="120650"/>
            </a:xfrm>
            <a:custGeom>
              <a:avLst/>
              <a:gdLst/>
              <a:ahLst/>
              <a:cxnLst/>
              <a:rect l="l" t="t" r="r" b="b"/>
              <a:pathLst>
                <a:path h="120650">
                  <a:moveTo>
                    <a:pt x="0" y="120396"/>
                  </a:moveTo>
                  <a:lnTo>
                    <a:pt x="0" y="0"/>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object 68"/>
            <p:cNvSpPr/>
            <p:nvPr/>
          </p:nvSpPr>
          <p:spPr>
            <a:xfrm>
              <a:off x="2337815" y="2855213"/>
              <a:ext cx="224154" cy="387985"/>
            </a:xfrm>
            <a:custGeom>
              <a:avLst/>
              <a:gdLst/>
              <a:ahLst/>
              <a:cxnLst/>
              <a:rect l="l" t="t" r="r" b="b"/>
              <a:pathLst>
                <a:path w="224155" h="387985">
                  <a:moveTo>
                    <a:pt x="0" y="387858"/>
                  </a:moveTo>
                  <a:lnTo>
                    <a:pt x="0" y="194310"/>
                  </a:lnTo>
                  <a:lnTo>
                    <a:pt x="224027" y="0"/>
                  </a:lnTo>
                </a:path>
              </a:pathLst>
            </a:custGeom>
            <a:ln w="3161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9" name="object 69"/>
            <p:cNvPicPr/>
            <p:nvPr/>
          </p:nvPicPr>
          <p:blipFill>
            <a:blip r:embed="rId4" cstate="print"/>
            <a:stretch>
              <a:fillRect/>
            </a:stretch>
          </p:blipFill>
          <p:spPr>
            <a:xfrm>
              <a:off x="2287720" y="2661666"/>
              <a:ext cx="100190" cy="243643"/>
            </a:xfrm>
            <a:prstGeom prst="rect">
              <a:avLst/>
            </a:prstGeom>
          </p:spPr>
        </p:pic>
        <p:pic>
          <p:nvPicPr>
            <p:cNvPr id="70" name="object 70"/>
            <p:cNvPicPr/>
            <p:nvPr/>
          </p:nvPicPr>
          <p:blipFill>
            <a:blip r:embed="rId5" cstate="print"/>
            <a:stretch>
              <a:fillRect/>
            </a:stretch>
          </p:blipFill>
          <p:spPr>
            <a:xfrm>
              <a:off x="2287720" y="2999428"/>
              <a:ext cx="100190" cy="99428"/>
            </a:xfrm>
            <a:prstGeom prst="rect">
              <a:avLst/>
            </a:prstGeom>
          </p:spPr>
        </p:pic>
        <p:sp>
          <p:nvSpPr>
            <p:cNvPr id="71" name="object 71"/>
            <p:cNvSpPr/>
            <p:nvPr/>
          </p:nvSpPr>
          <p:spPr>
            <a:xfrm>
              <a:off x="1899665" y="2661666"/>
              <a:ext cx="0" cy="581660"/>
            </a:xfrm>
            <a:custGeom>
              <a:avLst/>
              <a:gdLst/>
              <a:ahLst/>
              <a:cxnLst/>
              <a:rect l="l" t="t" r="r" b="b"/>
              <a:pathLst>
                <a:path h="581660">
                  <a:moveTo>
                    <a:pt x="0" y="0"/>
                  </a:moveTo>
                  <a:lnTo>
                    <a:pt x="0" y="581406"/>
                  </a:lnTo>
                </a:path>
              </a:pathLst>
            </a:custGeom>
            <a:ln w="2778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2" name="object 72"/>
            <p:cNvPicPr/>
            <p:nvPr/>
          </p:nvPicPr>
          <p:blipFill>
            <a:blip r:embed="rId6" cstate="print"/>
            <a:stretch>
              <a:fillRect/>
            </a:stretch>
          </p:blipFill>
          <p:spPr>
            <a:xfrm>
              <a:off x="1844998" y="2805880"/>
              <a:ext cx="109334" cy="99428"/>
            </a:xfrm>
            <a:prstGeom prst="rect">
              <a:avLst/>
            </a:prstGeom>
          </p:spPr>
        </p:pic>
        <p:pic>
          <p:nvPicPr>
            <p:cNvPr id="73" name="object 73"/>
            <p:cNvPicPr/>
            <p:nvPr/>
          </p:nvPicPr>
          <p:blipFill>
            <a:blip r:embed="rId7" cstate="print"/>
            <a:stretch>
              <a:fillRect/>
            </a:stretch>
          </p:blipFill>
          <p:spPr>
            <a:xfrm>
              <a:off x="1844998" y="2999428"/>
              <a:ext cx="109334" cy="99428"/>
            </a:xfrm>
            <a:prstGeom prst="rect">
              <a:avLst/>
            </a:prstGeom>
          </p:spPr>
        </p:pic>
        <p:sp>
          <p:nvSpPr>
            <p:cNvPr id="74" name="object 74"/>
            <p:cNvSpPr/>
            <p:nvPr/>
          </p:nvSpPr>
          <p:spPr>
            <a:xfrm>
              <a:off x="1355598" y="2516885"/>
              <a:ext cx="2282190" cy="1521460"/>
            </a:xfrm>
            <a:custGeom>
              <a:avLst/>
              <a:gdLst/>
              <a:ahLst/>
              <a:cxnLst/>
              <a:rect l="l" t="t" r="r" b="b"/>
              <a:pathLst>
                <a:path w="2282190" h="1521460">
                  <a:moveTo>
                    <a:pt x="375666" y="0"/>
                  </a:moveTo>
                  <a:lnTo>
                    <a:pt x="0" y="0"/>
                  </a:lnTo>
                  <a:lnTo>
                    <a:pt x="0" y="385572"/>
                  </a:lnTo>
                  <a:lnTo>
                    <a:pt x="375666" y="385572"/>
                  </a:lnTo>
                  <a:lnTo>
                    <a:pt x="375666" y="0"/>
                  </a:lnTo>
                  <a:close/>
                </a:path>
                <a:path w="2282190" h="1521460">
                  <a:moveTo>
                    <a:pt x="476250" y="738378"/>
                  </a:moveTo>
                  <a:lnTo>
                    <a:pt x="41910" y="738378"/>
                  </a:lnTo>
                  <a:lnTo>
                    <a:pt x="41910" y="1505712"/>
                  </a:lnTo>
                  <a:lnTo>
                    <a:pt x="476250" y="1505712"/>
                  </a:lnTo>
                  <a:lnTo>
                    <a:pt x="476250" y="738378"/>
                  </a:lnTo>
                  <a:close/>
                </a:path>
                <a:path w="2282190" h="1521460">
                  <a:moveTo>
                    <a:pt x="2282190" y="753618"/>
                  </a:moveTo>
                  <a:lnTo>
                    <a:pt x="1847850" y="753618"/>
                  </a:lnTo>
                  <a:lnTo>
                    <a:pt x="1847850" y="1520952"/>
                  </a:lnTo>
                  <a:lnTo>
                    <a:pt x="2282190" y="1520952"/>
                  </a:lnTo>
                  <a:lnTo>
                    <a:pt x="2282190" y="753618"/>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5" name="object 75"/>
          <p:cNvSpPr txBox="1">
            <a:spLocks noGrp="1"/>
          </p:cNvSpPr>
          <p:nvPr>
            <p:ph type="title"/>
          </p:nvPr>
        </p:nvSpPr>
        <p:spPr>
          <a:xfrm>
            <a:off x="3519042" y="397425"/>
            <a:ext cx="4502150" cy="604520"/>
          </a:xfrm>
          <a:prstGeom prst="rect">
            <a:avLst/>
          </a:prstGeom>
        </p:spPr>
        <p:txBody>
          <a:bodyPr vert="horz" wrap="square" lIns="0" tIns="12065" rIns="0" bIns="0" rtlCol="0">
            <a:spAutoFit/>
          </a:bodyPr>
          <a:lstStyle/>
          <a:p>
            <a:pPr marL="12700">
              <a:lnSpc>
                <a:spcPct val="100000"/>
              </a:lnSpc>
              <a:spcBef>
                <a:spcPts val="95"/>
              </a:spcBef>
            </a:pPr>
            <a:r>
              <a:rPr sz="3800" b="0" spc="-10" dirty="0">
                <a:latin typeface="Verdana"/>
                <a:cs typeface="Verdana"/>
              </a:rPr>
              <a:t>Coefficient</a:t>
            </a:r>
            <a:r>
              <a:rPr sz="3800" b="0" spc="-15" dirty="0">
                <a:latin typeface="Verdana"/>
                <a:cs typeface="Verdana"/>
              </a:rPr>
              <a:t> </a:t>
            </a:r>
            <a:r>
              <a:rPr sz="3800" b="0" spc="-10" dirty="0">
                <a:latin typeface="Verdana"/>
                <a:cs typeface="Verdana"/>
              </a:rPr>
              <a:t>Control</a:t>
            </a:r>
            <a:endParaRPr sz="3800" dirty="0">
              <a:latin typeface="Verdana"/>
              <a:cs typeface="Verdana"/>
            </a:endParaRPr>
          </a:p>
        </p:txBody>
      </p:sp>
      <p:sp>
        <p:nvSpPr>
          <p:cNvPr id="76" name="object 76"/>
          <p:cNvSpPr txBox="1"/>
          <p:nvPr/>
        </p:nvSpPr>
        <p:spPr>
          <a:xfrm>
            <a:off x="932180" y="4100493"/>
            <a:ext cx="3968115" cy="1522095"/>
          </a:xfrm>
          <a:prstGeom prst="rect">
            <a:avLst/>
          </a:prstGeom>
        </p:spPr>
        <p:txBody>
          <a:bodyPr vert="horz" wrap="square" lIns="0" tIns="13970" rIns="0" bIns="0" rtlCol="0">
            <a:spAutoFit/>
          </a:bodyPr>
          <a:lstStyle/>
          <a:p>
            <a:pPr marL="1016635" marR="0" lvl="0" indent="0" algn="l" defTabSz="914400" rtl="0" eaLnBrk="1" fontAlgn="auto" latinLnBrk="0" hangingPunct="1">
              <a:lnSpc>
                <a:spcPct val="100000"/>
              </a:lnSpc>
              <a:spcBef>
                <a:spcPts val="110"/>
              </a:spcBef>
              <a:spcAft>
                <a:spcPts val="0"/>
              </a:spcAft>
              <a:buClrTx/>
              <a:buSzTx/>
              <a:buFontTx/>
              <a:buNone/>
              <a:tabLst>
                <a:tab pos="2802255" algn="l"/>
              </a:tabLst>
              <a:defRPr/>
            </a:pPr>
            <a:r>
              <a:rPr kumimoji="0" sz="2325" b="1" i="0" u="none" strike="noStrike" kern="1200" cap="none" spc="37" normalizeH="0" baseline="1792" noProof="0" dirty="0">
                <a:ln>
                  <a:noFill/>
                </a:ln>
                <a:solidFill>
                  <a:prstClr val="black"/>
                </a:solidFill>
                <a:effectLst/>
                <a:uLnTx/>
                <a:uFillTx/>
                <a:latin typeface="Arial"/>
                <a:ea typeface="+mn-ea"/>
                <a:cs typeface="Arial"/>
              </a:rPr>
              <a:t>0.6I	</a:t>
            </a:r>
            <a:r>
              <a:rPr kumimoji="0" sz="1550" b="1" i="0" u="none" strike="noStrike" kern="1200" cap="none" spc="30" normalizeH="0" baseline="0" noProof="0" dirty="0">
                <a:ln>
                  <a:noFill/>
                </a:ln>
                <a:solidFill>
                  <a:prstClr val="black"/>
                </a:solidFill>
                <a:effectLst/>
                <a:uLnTx/>
                <a:uFillTx/>
                <a:latin typeface="Arial"/>
                <a:ea typeface="+mn-ea"/>
                <a:cs typeface="Arial"/>
              </a:rPr>
              <a:t>0.4I</a:t>
            </a:r>
            <a:endParaRPr kumimoji="0" sz="15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25"/>
              </a:spcBef>
              <a:spcAft>
                <a:spcPts val="0"/>
              </a:spcAft>
              <a:buClrTx/>
              <a:buSzTx/>
              <a:buFontTx/>
              <a:buNone/>
              <a:tabLst/>
              <a:defRPr/>
            </a:pPr>
            <a:endParaRPr kumimoji="0" sz="2000" b="0" i="0" u="none" strike="noStrike" kern="1200" cap="none" spc="0" normalizeH="0" baseline="0" noProof="0">
              <a:ln>
                <a:noFill/>
              </a:ln>
              <a:solidFill>
                <a:prstClr val="black"/>
              </a:solidFill>
              <a:effectLst/>
              <a:uLnTx/>
              <a:uFillTx/>
              <a:latin typeface="Arial"/>
              <a:ea typeface="+mn-ea"/>
              <a:cs typeface="Arial"/>
            </a:endParaRPr>
          </a:p>
          <a:p>
            <a:pPr marL="372745" marR="0" lvl="0" indent="-360680" algn="l" defTabSz="914400" rtl="0" eaLnBrk="1" fontAlgn="auto" latinLnBrk="0" hangingPunct="1">
              <a:lnSpc>
                <a:spcPct val="100000"/>
              </a:lnSpc>
              <a:spcBef>
                <a:spcPts val="0"/>
              </a:spcBef>
              <a:spcAft>
                <a:spcPts val="0"/>
              </a:spcAft>
              <a:buClr>
                <a:srgbClr val="CC0000"/>
              </a:buClr>
              <a:buSzTx/>
              <a:buFont typeface="Wingdings"/>
              <a:buChar char=""/>
              <a:tabLst>
                <a:tab pos="372745" algn="l"/>
                <a:tab pos="37338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FFE </a:t>
            </a:r>
            <a:r>
              <a:rPr kumimoji="0" sz="2000" b="0" i="0" u="none" strike="noStrike" kern="1200" cap="none" spc="-10" normalizeH="0" baseline="0" noProof="0" dirty="0">
                <a:ln>
                  <a:noFill/>
                </a:ln>
                <a:solidFill>
                  <a:prstClr val="black"/>
                </a:solidFill>
                <a:effectLst/>
                <a:uLnTx/>
                <a:uFillTx/>
                <a:latin typeface="Verdana"/>
                <a:ea typeface="+mn-ea"/>
                <a:cs typeface="Verdana"/>
              </a:rPr>
              <a:t>coefficient control</a:t>
            </a:r>
            <a:endParaRPr kumimoji="0" sz="2000" b="0" i="0" u="none" strike="noStrike" kern="1200" cap="none" spc="0" normalizeH="0" baseline="0" noProof="0">
              <a:ln>
                <a:noFill/>
              </a:ln>
              <a:solidFill>
                <a:prstClr val="black"/>
              </a:solidFill>
              <a:effectLst/>
              <a:uLnTx/>
              <a:uFillTx/>
              <a:latin typeface="Verdana"/>
              <a:ea typeface="+mn-ea"/>
              <a:cs typeface="Verdana"/>
            </a:endParaRPr>
          </a:p>
          <a:p>
            <a:pPr marL="810895" marR="0" lvl="1" indent="-360680" algn="l" defTabSz="914400" rtl="0" eaLnBrk="1" fontAlgn="auto" latinLnBrk="0" hangingPunct="1">
              <a:lnSpc>
                <a:spcPct val="100000"/>
              </a:lnSpc>
              <a:spcBef>
                <a:spcPts val="434"/>
              </a:spcBef>
              <a:spcAft>
                <a:spcPts val="0"/>
              </a:spcAft>
              <a:buClr>
                <a:srgbClr val="CC0000"/>
              </a:buClr>
              <a:buSzTx/>
              <a:buFont typeface="Wingdings"/>
              <a:buChar char=""/>
              <a:tabLst>
                <a:tab pos="810895" algn="l"/>
                <a:tab pos="811530" algn="l"/>
              </a:tabLst>
              <a:defRPr/>
            </a:pPr>
            <a:r>
              <a:rPr kumimoji="0" sz="1800" b="0" i="0" u="none" strike="noStrike" kern="1200" cap="none" spc="0" normalizeH="0" baseline="0" noProof="0" dirty="0">
                <a:ln>
                  <a:noFill/>
                </a:ln>
                <a:solidFill>
                  <a:prstClr val="black"/>
                </a:solidFill>
                <a:effectLst/>
                <a:uLnTx/>
                <a:uFillTx/>
                <a:latin typeface="Verdana"/>
                <a:ea typeface="+mn-ea"/>
                <a:cs typeface="Verdana"/>
              </a:rPr>
              <a:t>Magnitude:</a:t>
            </a:r>
            <a:r>
              <a:rPr kumimoji="0" sz="1800" b="0" i="0" u="none" strike="noStrike" kern="1200" cap="none" spc="-35"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current</a:t>
            </a:r>
            <a:r>
              <a:rPr kumimoji="0" sz="1800" b="0" i="0" u="none" strike="noStrike" kern="1200" cap="none" spc="-30"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DACs</a:t>
            </a:r>
            <a:endParaRPr kumimoji="0" sz="1800" b="0" i="0" u="none" strike="noStrike" kern="1200" cap="none" spc="0" normalizeH="0" baseline="0" noProof="0">
              <a:ln>
                <a:noFill/>
              </a:ln>
              <a:solidFill>
                <a:prstClr val="black"/>
              </a:solidFill>
              <a:effectLst/>
              <a:uLnTx/>
              <a:uFillTx/>
              <a:latin typeface="Verdana"/>
              <a:ea typeface="+mn-ea"/>
              <a:cs typeface="Verdana"/>
            </a:endParaRPr>
          </a:p>
          <a:p>
            <a:pPr marL="810895" marR="0" lvl="1" indent="-361315" algn="l" defTabSz="914400" rtl="0" eaLnBrk="1" fontAlgn="auto" latinLnBrk="0" hangingPunct="1">
              <a:lnSpc>
                <a:spcPct val="100000"/>
              </a:lnSpc>
              <a:spcBef>
                <a:spcPts val="434"/>
              </a:spcBef>
              <a:spcAft>
                <a:spcPts val="0"/>
              </a:spcAft>
              <a:buClr>
                <a:srgbClr val="CC0000"/>
              </a:buClr>
              <a:buSzTx/>
              <a:buFont typeface="Wingdings"/>
              <a:buChar char=""/>
              <a:tabLst>
                <a:tab pos="810895" algn="l"/>
                <a:tab pos="811530" algn="l"/>
              </a:tabLst>
              <a:defRPr/>
            </a:pPr>
            <a:r>
              <a:rPr kumimoji="0" sz="1800" b="0" i="0" u="none" strike="noStrike" kern="1200" cap="none" spc="-5" normalizeH="0" baseline="0" noProof="0" dirty="0">
                <a:ln>
                  <a:noFill/>
                </a:ln>
                <a:solidFill>
                  <a:prstClr val="black"/>
                </a:solidFill>
                <a:effectLst/>
                <a:uLnTx/>
                <a:uFillTx/>
                <a:latin typeface="Verdana"/>
                <a:ea typeface="+mn-ea"/>
                <a:cs typeface="Verdana"/>
              </a:rPr>
              <a:t>Polarity:</a:t>
            </a:r>
            <a:r>
              <a:rPr kumimoji="0" sz="1800" b="0" i="0" u="none" strike="noStrike" kern="1200" cap="none" spc="-45" normalizeH="0" baseline="0" noProof="0" dirty="0">
                <a:ln>
                  <a:noFill/>
                </a:ln>
                <a:solidFill>
                  <a:prstClr val="black"/>
                </a:solidFill>
                <a:effectLst/>
                <a:uLnTx/>
                <a:uFillTx/>
                <a:latin typeface="Verdana"/>
                <a:ea typeface="+mn-ea"/>
                <a:cs typeface="Verdana"/>
              </a:rPr>
              <a:t> </a:t>
            </a:r>
            <a:r>
              <a:rPr kumimoji="0" sz="1800" b="0" i="0" u="none" strike="noStrike" kern="1200" cap="none" spc="0" normalizeH="0" baseline="0" noProof="0" dirty="0">
                <a:ln>
                  <a:noFill/>
                </a:ln>
                <a:solidFill>
                  <a:prstClr val="black"/>
                </a:solidFill>
                <a:effectLst/>
                <a:uLnTx/>
                <a:uFillTx/>
                <a:latin typeface="Verdana"/>
                <a:ea typeface="+mn-ea"/>
                <a:cs typeface="Verdana"/>
              </a:rPr>
              <a:t>exclusive-or</a:t>
            </a:r>
            <a:r>
              <a:rPr kumimoji="0" sz="1800" b="0" i="0" u="none" strike="noStrike" kern="1200" cap="none" spc="-40" normalizeH="0" baseline="0" noProof="0" dirty="0">
                <a:ln>
                  <a:noFill/>
                </a:ln>
                <a:solidFill>
                  <a:prstClr val="black"/>
                </a:solidFill>
                <a:effectLst/>
                <a:uLnTx/>
                <a:uFillTx/>
                <a:latin typeface="Verdana"/>
                <a:ea typeface="+mn-ea"/>
                <a:cs typeface="Verdana"/>
              </a:rPr>
              <a:t> </a:t>
            </a:r>
            <a:r>
              <a:rPr kumimoji="0" sz="1800" b="0" i="0" u="none" strike="noStrike" kern="1200" cap="none" spc="-5" normalizeH="0" baseline="0" noProof="0" dirty="0">
                <a:ln>
                  <a:noFill/>
                </a:ln>
                <a:solidFill>
                  <a:prstClr val="black"/>
                </a:solidFill>
                <a:effectLst/>
                <a:uLnTx/>
                <a:uFillTx/>
                <a:latin typeface="Verdana"/>
                <a:ea typeface="+mn-ea"/>
                <a:cs typeface="Verdana"/>
              </a:rPr>
              <a:t>gates</a:t>
            </a:r>
            <a:endParaRPr kumimoji="0" sz="1800" b="0" i="0" u="none" strike="noStrike" kern="1200" cap="none" spc="0" normalizeH="0" baseline="0" noProof="0">
              <a:ln>
                <a:noFill/>
              </a:ln>
              <a:solidFill>
                <a:prstClr val="black"/>
              </a:solidFill>
              <a:effectLst/>
              <a:uLnTx/>
              <a:uFillTx/>
              <a:latin typeface="Verdana"/>
              <a:ea typeface="+mn-ea"/>
              <a:cs typeface="Verdana"/>
            </a:endParaRPr>
          </a:p>
        </p:txBody>
      </p:sp>
      <p:sp>
        <p:nvSpPr>
          <p:cNvPr id="77" name="object 77"/>
          <p:cNvSpPr txBox="1"/>
          <p:nvPr/>
        </p:nvSpPr>
        <p:spPr>
          <a:xfrm>
            <a:off x="1585975" y="2678668"/>
            <a:ext cx="100330" cy="203835"/>
          </a:xfrm>
          <a:prstGeom prst="rect">
            <a:avLst/>
          </a:prstGeom>
        </p:spPr>
        <p:txBody>
          <a:bodyPr vert="horz" wrap="square" lIns="0" tIns="15240" rIns="0" bIns="0" rtlCol="0">
            <a:spAutoFit/>
          </a:bodyPr>
          <a:lstStyle/>
          <a:p>
            <a:pPr marL="12700" marR="0" lvl="0" indent="0" algn="l" defTabSz="914400" rtl="0" eaLnBrk="1" fontAlgn="auto" latinLnBrk="0" hangingPunct="1">
              <a:lnSpc>
                <a:spcPct val="100000"/>
              </a:lnSpc>
              <a:spcBef>
                <a:spcPts val="120"/>
              </a:spcBef>
              <a:spcAft>
                <a:spcPts val="0"/>
              </a:spcAft>
              <a:buClrTx/>
              <a:buSzTx/>
              <a:buFontTx/>
              <a:buNone/>
              <a:tabLst/>
              <a:defRPr/>
            </a:pPr>
            <a:r>
              <a:rPr kumimoji="0" sz="1150" b="1" i="0" u="none" strike="noStrike" kern="1200" cap="none" spc="10" normalizeH="0" baseline="0" noProof="0" dirty="0">
                <a:ln>
                  <a:noFill/>
                </a:ln>
                <a:solidFill>
                  <a:prstClr val="black"/>
                </a:solidFill>
                <a:effectLst/>
                <a:uLnTx/>
                <a:uFillTx/>
                <a:latin typeface="Times New Roman"/>
                <a:ea typeface="+mn-ea"/>
                <a:cs typeface="Times New Roman"/>
              </a:rPr>
              <a:t>0</a:t>
            </a:r>
            <a:endParaRPr kumimoji="0" sz="11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78" name="object 78"/>
          <p:cNvSpPr txBox="1"/>
          <p:nvPr/>
        </p:nvSpPr>
        <p:spPr>
          <a:xfrm>
            <a:off x="1387094" y="2503933"/>
            <a:ext cx="211454" cy="334010"/>
          </a:xfrm>
          <a:prstGeom prst="rect">
            <a:avLst/>
          </a:prstGeom>
        </p:spPr>
        <p:txBody>
          <a:bodyPr vert="horz" wrap="square" lIns="0" tIns="15240" rIns="0" bIns="0" rtlCol="0">
            <a:spAutoFit/>
          </a:bodyPr>
          <a:lstStyle/>
          <a:p>
            <a:pPr marL="12700" marR="0" lvl="0" indent="0" algn="l" defTabSz="914400" rtl="0" eaLnBrk="1" fontAlgn="auto" latinLnBrk="0" hangingPunct="1">
              <a:lnSpc>
                <a:spcPct val="100000"/>
              </a:lnSpc>
              <a:spcBef>
                <a:spcPts val="120"/>
              </a:spcBef>
              <a:spcAft>
                <a:spcPts val="0"/>
              </a:spcAft>
              <a:buClrTx/>
              <a:buSzTx/>
              <a:buFontTx/>
              <a:buNone/>
              <a:tabLst/>
              <a:defRPr/>
            </a:pPr>
            <a:r>
              <a:rPr kumimoji="0" sz="2000" b="1" i="0" u="none" strike="noStrike" kern="1200" cap="none" spc="15" normalizeH="0" baseline="0" noProof="0" dirty="0">
                <a:ln>
                  <a:noFill/>
                </a:ln>
                <a:solidFill>
                  <a:prstClr val="black"/>
                </a:solidFill>
                <a:effectLst/>
                <a:uLnTx/>
                <a:uFillTx/>
                <a:latin typeface="Times New Roman"/>
                <a:ea typeface="+mn-ea"/>
                <a:cs typeface="Times New Roman"/>
              </a:rPr>
              <a:t>X</a:t>
            </a:r>
            <a:endParaRPr kumimoji="0" sz="20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79" name="object 79"/>
          <p:cNvGrpSpPr/>
          <p:nvPr/>
        </p:nvGrpSpPr>
        <p:grpSpPr>
          <a:xfrm>
            <a:off x="2461260" y="2450592"/>
            <a:ext cx="410209" cy="406400"/>
            <a:chOff x="2461260" y="2450592"/>
            <a:chExt cx="410209" cy="406400"/>
          </a:xfrm>
        </p:grpSpPr>
        <p:sp>
          <p:nvSpPr>
            <p:cNvPr id="80" name="object 80"/>
            <p:cNvSpPr/>
            <p:nvPr/>
          </p:nvSpPr>
          <p:spPr>
            <a:xfrm>
              <a:off x="2461260" y="2450592"/>
              <a:ext cx="410209" cy="406400"/>
            </a:xfrm>
            <a:custGeom>
              <a:avLst/>
              <a:gdLst/>
              <a:ahLst/>
              <a:cxnLst/>
              <a:rect l="l" t="t" r="r" b="b"/>
              <a:pathLst>
                <a:path w="410210" h="406400">
                  <a:moveTo>
                    <a:pt x="409956" y="406145"/>
                  </a:moveTo>
                  <a:lnTo>
                    <a:pt x="409956" y="0"/>
                  </a:lnTo>
                  <a:lnTo>
                    <a:pt x="0" y="0"/>
                  </a:lnTo>
                  <a:lnTo>
                    <a:pt x="0" y="406145"/>
                  </a:lnTo>
                  <a:lnTo>
                    <a:pt x="409956" y="406145"/>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object 81"/>
            <p:cNvSpPr/>
            <p:nvPr/>
          </p:nvSpPr>
          <p:spPr>
            <a:xfrm>
              <a:off x="2506922" y="2508513"/>
              <a:ext cx="302260" cy="0"/>
            </a:xfrm>
            <a:custGeom>
              <a:avLst/>
              <a:gdLst/>
              <a:ahLst/>
              <a:cxnLst/>
              <a:rect l="l" t="t" r="r" b="b"/>
              <a:pathLst>
                <a:path w="302260">
                  <a:moveTo>
                    <a:pt x="0" y="0"/>
                  </a:moveTo>
                  <a:lnTo>
                    <a:pt x="301742" y="0"/>
                  </a:lnTo>
                </a:path>
              </a:pathLst>
            </a:custGeom>
            <a:ln w="1204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2" name="object 82"/>
          <p:cNvSpPr txBox="1"/>
          <p:nvPr/>
        </p:nvSpPr>
        <p:spPr>
          <a:xfrm>
            <a:off x="2699257" y="2644482"/>
            <a:ext cx="95885" cy="194945"/>
          </a:xfrm>
          <a:prstGeom prst="rect">
            <a:avLst/>
          </a:prstGeom>
        </p:spPr>
        <p:txBody>
          <a:bodyPr vert="horz" wrap="square" lIns="0" tIns="13970" rIns="0" bIns="0" rtlCol="0">
            <a:spAutoFit/>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kumimoji="0" sz="1100" b="1" i="0" u="none" strike="noStrike" kern="1200" cap="none" spc="0" normalizeH="0" baseline="0" noProof="0" dirty="0">
                <a:ln>
                  <a:noFill/>
                </a:ln>
                <a:solidFill>
                  <a:prstClr val="black"/>
                </a:solidFill>
                <a:effectLst/>
                <a:uLnTx/>
                <a:uFillTx/>
                <a:latin typeface="Times New Roman"/>
                <a:ea typeface="+mn-ea"/>
                <a:cs typeface="Times New Roman"/>
              </a:rPr>
              <a:t>0</a:t>
            </a:r>
            <a:endParaRPr kumimoji="0" sz="11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3" name="object 83"/>
          <p:cNvSpPr txBox="1"/>
          <p:nvPr/>
        </p:nvSpPr>
        <p:spPr>
          <a:xfrm>
            <a:off x="2494279" y="2478432"/>
            <a:ext cx="201930" cy="318135"/>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900" b="1" i="0" u="none" strike="noStrike" kern="1200" cap="none" spc="10" normalizeH="0" baseline="0" noProof="0" dirty="0">
                <a:ln>
                  <a:noFill/>
                </a:ln>
                <a:solidFill>
                  <a:prstClr val="black"/>
                </a:solidFill>
                <a:effectLst/>
                <a:uLnTx/>
                <a:uFillTx/>
                <a:latin typeface="Times New Roman"/>
                <a:ea typeface="+mn-ea"/>
                <a:cs typeface="Times New Roman"/>
              </a:rPr>
              <a:t>X</a:t>
            </a:r>
            <a:endParaRPr kumimoji="0" sz="19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84" name="object 84"/>
          <p:cNvGrpSpPr/>
          <p:nvPr/>
        </p:nvGrpSpPr>
        <p:grpSpPr>
          <a:xfrm>
            <a:off x="3080766" y="2453639"/>
            <a:ext cx="434340" cy="435609"/>
            <a:chOff x="3080766" y="2453639"/>
            <a:chExt cx="434340" cy="435609"/>
          </a:xfrm>
        </p:grpSpPr>
        <p:sp>
          <p:nvSpPr>
            <p:cNvPr id="85" name="object 85"/>
            <p:cNvSpPr/>
            <p:nvPr/>
          </p:nvSpPr>
          <p:spPr>
            <a:xfrm>
              <a:off x="3080766" y="2453639"/>
              <a:ext cx="434340" cy="435609"/>
            </a:xfrm>
            <a:custGeom>
              <a:avLst/>
              <a:gdLst/>
              <a:ahLst/>
              <a:cxnLst/>
              <a:rect l="l" t="t" r="r" b="b"/>
              <a:pathLst>
                <a:path w="434339" h="435610">
                  <a:moveTo>
                    <a:pt x="434340" y="0"/>
                  </a:moveTo>
                  <a:lnTo>
                    <a:pt x="0" y="0"/>
                  </a:lnTo>
                  <a:lnTo>
                    <a:pt x="0" y="390144"/>
                  </a:lnTo>
                  <a:lnTo>
                    <a:pt x="21336" y="390144"/>
                  </a:lnTo>
                  <a:lnTo>
                    <a:pt x="21336" y="435102"/>
                  </a:lnTo>
                  <a:lnTo>
                    <a:pt x="405384" y="435102"/>
                  </a:lnTo>
                  <a:lnTo>
                    <a:pt x="405384" y="390144"/>
                  </a:lnTo>
                  <a:lnTo>
                    <a:pt x="434340" y="390144"/>
                  </a:lnTo>
                  <a:lnTo>
                    <a:pt x="434340"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object 86"/>
            <p:cNvSpPr/>
            <p:nvPr/>
          </p:nvSpPr>
          <p:spPr>
            <a:xfrm>
              <a:off x="3147167" y="2525269"/>
              <a:ext cx="273050" cy="0"/>
            </a:xfrm>
            <a:custGeom>
              <a:avLst/>
              <a:gdLst/>
              <a:ahLst/>
              <a:cxnLst/>
              <a:rect l="l" t="t" r="r" b="b"/>
              <a:pathLst>
                <a:path w="273050">
                  <a:moveTo>
                    <a:pt x="0" y="0"/>
                  </a:moveTo>
                  <a:lnTo>
                    <a:pt x="272799" y="0"/>
                  </a:lnTo>
                </a:path>
              </a:pathLst>
            </a:custGeom>
            <a:ln w="1254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7" name="object 87"/>
          <p:cNvSpPr txBox="1"/>
          <p:nvPr/>
        </p:nvSpPr>
        <p:spPr>
          <a:xfrm>
            <a:off x="3323335" y="2667361"/>
            <a:ext cx="99060" cy="20193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50" b="0" i="0" u="none" strike="noStrike" kern="1200" cap="none" spc="0" normalizeH="0" baseline="0" noProof="0" dirty="0">
                <a:ln>
                  <a:noFill/>
                </a:ln>
                <a:solidFill>
                  <a:prstClr val="black"/>
                </a:solidFill>
                <a:effectLst/>
                <a:uLnTx/>
                <a:uFillTx/>
                <a:latin typeface="Times New Roman"/>
                <a:ea typeface="+mn-ea"/>
                <a:cs typeface="Times New Roman"/>
              </a:rPr>
              <a:t>1</a:t>
            </a:r>
            <a:endParaRPr kumimoji="0" sz="11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8" name="object 88"/>
          <p:cNvSpPr txBox="1"/>
          <p:nvPr/>
        </p:nvSpPr>
        <p:spPr>
          <a:xfrm>
            <a:off x="3134360" y="2494586"/>
            <a:ext cx="209550" cy="33083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Times New Roman"/>
                <a:ea typeface="+mn-ea"/>
                <a:cs typeface="Times New Roman"/>
              </a:rPr>
              <a:t>X</a:t>
            </a:r>
            <a:endParaRPr kumimoji="0" sz="20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9" name="object 89"/>
          <p:cNvSpPr/>
          <p:nvPr/>
        </p:nvSpPr>
        <p:spPr>
          <a:xfrm>
            <a:off x="4178808" y="2504693"/>
            <a:ext cx="434340" cy="395605"/>
          </a:xfrm>
          <a:custGeom>
            <a:avLst/>
            <a:gdLst/>
            <a:ahLst/>
            <a:cxnLst/>
            <a:rect l="l" t="t" r="r" b="b"/>
            <a:pathLst>
              <a:path w="434339" h="395605">
                <a:moveTo>
                  <a:pt x="434340" y="0"/>
                </a:moveTo>
                <a:lnTo>
                  <a:pt x="0" y="0"/>
                </a:lnTo>
                <a:lnTo>
                  <a:pt x="0" y="390906"/>
                </a:lnTo>
                <a:lnTo>
                  <a:pt x="62484" y="390906"/>
                </a:lnTo>
                <a:lnTo>
                  <a:pt x="62484" y="395478"/>
                </a:lnTo>
                <a:lnTo>
                  <a:pt x="415290" y="395478"/>
                </a:lnTo>
                <a:lnTo>
                  <a:pt x="415290" y="390906"/>
                </a:lnTo>
                <a:lnTo>
                  <a:pt x="434340" y="390906"/>
                </a:lnTo>
                <a:lnTo>
                  <a:pt x="434340"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object 90"/>
          <p:cNvSpPr txBox="1"/>
          <p:nvPr/>
        </p:nvSpPr>
        <p:spPr>
          <a:xfrm>
            <a:off x="4463288" y="2676677"/>
            <a:ext cx="99695" cy="203835"/>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150" b="1" i="0" u="none" strike="noStrike" kern="1200" cap="none" spc="5" normalizeH="0" baseline="0" noProof="0" dirty="0">
                <a:ln>
                  <a:noFill/>
                </a:ln>
                <a:solidFill>
                  <a:prstClr val="black"/>
                </a:solidFill>
                <a:effectLst/>
                <a:uLnTx/>
                <a:uFillTx/>
                <a:latin typeface="Times New Roman"/>
                <a:ea typeface="+mn-ea"/>
                <a:cs typeface="Times New Roman"/>
              </a:rPr>
              <a:t>1</a:t>
            </a:r>
            <a:endParaRPr kumimoji="0" sz="11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91" name="object 91"/>
          <p:cNvSpPr txBox="1"/>
          <p:nvPr/>
        </p:nvSpPr>
        <p:spPr>
          <a:xfrm>
            <a:off x="4272788" y="2502918"/>
            <a:ext cx="210820" cy="333375"/>
          </a:xfrm>
          <a:prstGeom prst="rect">
            <a:avLst/>
          </a:prstGeom>
        </p:spPr>
        <p:txBody>
          <a:bodyPr vert="horz" wrap="square" lIns="0" tIns="15240" rIns="0" bIns="0" rtlCol="0">
            <a:spAutoFit/>
          </a:bodyPr>
          <a:lstStyle/>
          <a:p>
            <a:pPr marL="12700" marR="0" lvl="0" indent="0" algn="l" defTabSz="914400" rtl="0" eaLnBrk="1" fontAlgn="auto" latinLnBrk="0" hangingPunct="1">
              <a:lnSpc>
                <a:spcPct val="100000"/>
              </a:lnSpc>
              <a:spcBef>
                <a:spcPts val="120"/>
              </a:spcBef>
              <a:spcAft>
                <a:spcPts val="0"/>
              </a:spcAft>
              <a:buClrTx/>
              <a:buSzTx/>
              <a:buFontTx/>
              <a:buNone/>
              <a:tabLst/>
              <a:defRPr/>
            </a:pPr>
            <a:r>
              <a:rPr kumimoji="0" sz="2000" b="1" i="0" u="none" strike="noStrike" kern="1200" cap="none" spc="10" normalizeH="0" baseline="0" noProof="0" dirty="0">
                <a:ln>
                  <a:noFill/>
                </a:ln>
                <a:solidFill>
                  <a:prstClr val="black"/>
                </a:solidFill>
                <a:effectLst/>
                <a:uLnTx/>
                <a:uFillTx/>
                <a:latin typeface="Times New Roman"/>
                <a:ea typeface="+mn-ea"/>
                <a:cs typeface="Times New Roman"/>
              </a:rPr>
              <a:t>X</a:t>
            </a:r>
            <a:endParaRPr kumimoji="0" sz="200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92" name="object 92"/>
          <p:cNvGrpSpPr/>
          <p:nvPr/>
        </p:nvGrpSpPr>
        <p:grpSpPr>
          <a:xfrm>
            <a:off x="1134617" y="2871977"/>
            <a:ext cx="665480" cy="1015365"/>
            <a:chOff x="1134617" y="2871977"/>
            <a:chExt cx="665480" cy="1015365"/>
          </a:xfrm>
        </p:grpSpPr>
        <p:pic>
          <p:nvPicPr>
            <p:cNvPr id="93" name="object 93"/>
            <p:cNvPicPr/>
            <p:nvPr/>
          </p:nvPicPr>
          <p:blipFill>
            <a:blip r:embed="rId10" cstate="print"/>
            <a:stretch>
              <a:fillRect/>
            </a:stretch>
          </p:blipFill>
          <p:spPr>
            <a:xfrm>
              <a:off x="1134617" y="2871977"/>
              <a:ext cx="665226" cy="1014983"/>
            </a:xfrm>
            <a:prstGeom prst="rect">
              <a:avLst/>
            </a:prstGeom>
          </p:spPr>
        </p:pic>
        <p:sp>
          <p:nvSpPr>
            <p:cNvPr id="94" name="object 94"/>
            <p:cNvSpPr/>
            <p:nvPr/>
          </p:nvSpPr>
          <p:spPr>
            <a:xfrm>
              <a:off x="1463039" y="2891789"/>
              <a:ext cx="0" cy="130810"/>
            </a:xfrm>
            <a:custGeom>
              <a:avLst/>
              <a:gdLst/>
              <a:ahLst/>
              <a:cxnLst/>
              <a:rect l="l" t="t" r="r" b="b"/>
              <a:pathLst>
                <a:path h="130810">
                  <a:moveTo>
                    <a:pt x="0" y="0"/>
                  </a:moveTo>
                  <a:lnTo>
                    <a:pt x="0" y="130302"/>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5" name="object 95"/>
          <p:cNvSpPr txBox="1"/>
          <p:nvPr/>
        </p:nvSpPr>
        <p:spPr>
          <a:xfrm>
            <a:off x="1191585" y="3359169"/>
            <a:ext cx="588010" cy="422909"/>
          </a:xfrm>
          <a:prstGeom prst="rect">
            <a:avLst/>
          </a:prstGeom>
        </p:spPr>
        <p:txBody>
          <a:bodyPr vert="vert270" wrap="square" lIns="0" tIns="2540" rIns="0" bIns="0" rtlCol="0">
            <a:spAutoFit/>
          </a:bodyPr>
          <a:lstStyle/>
          <a:p>
            <a:pPr marL="12700" marR="0" lvl="0" indent="0" algn="l" defTabSz="914400" rtl="0" eaLnBrk="1" fontAlgn="auto" latinLnBrk="0" hangingPunct="1">
              <a:lnSpc>
                <a:spcPct val="100000"/>
              </a:lnSpc>
              <a:spcBef>
                <a:spcPts val="20"/>
              </a:spcBef>
              <a:spcAft>
                <a:spcPts val="0"/>
              </a:spcAft>
              <a:buClrTx/>
              <a:buSzTx/>
              <a:buFontTx/>
              <a:buNone/>
              <a:tabLst/>
              <a:defRPr/>
            </a:pPr>
            <a:r>
              <a:rPr kumimoji="0" sz="1550" b="1" i="0" u="none" strike="noStrike" kern="1200" cap="none" spc="-165" normalizeH="0" baseline="0" noProof="0" dirty="0">
                <a:ln>
                  <a:noFill/>
                </a:ln>
                <a:solidFill>
                  <a:prstClr val="black"/>
                </a:solidFill>
                <a:effectLst/>
                <a:uLnTx/>
                <a:uFillTx/>
                <a:latin typeface="Arial"/>
                <a:ea typeface="+mn-ea"/>
                <a:cs typeface="Arial"/>
              </a:rPr>
              <a:t>Sgn</a:t>
            </a:r>
            <a:r>
              <a:rPr kumimoji="0" sz="1575" b="1" i="0" u="none" strike="noStrike" kern="1200" cap="none" spc="-247" normalizeH="0" baseline="-5291" noProof="0" dirty="0">
                <a:ln>
                  <a:noFill/>
                </a:ln>
                <a:solidFill>
                  <a:prstClr val="black"/>
                </a:solidFill>
                <a:effectLst/>
                <a:uLnTx/>
                <a:uFillTx/>
                <a:latin typeface="Arial"/>
                <a:ea typeface="+mn-ea"/>
                <a:cs typeface="Arial"/>
              </a:rPr>
              <a:t>0</a:t>
            </a:r>
            <a:endParaRPr kumimoji="0" sz="1575" b="0" i="0" u="none" strike="noStrike" kern="1200" cap="none" spc="0" normalizeH="0" baseline="-5291" noProof="0">
              <a:ln>
                <a:noFill/>
              </a:ln>
              <a:solidFill>
                <a:prstClr val="black"/>
              </a:solidFill>
              <a:effectLst/>
              <a:uLnTx/>
              <a:uFillTx/>
              <a:latin typeface="Arial"/>
              <a:ea typeface="+mn-ea"/>
              <a:cs typeface="Arial"/>
            </a:endParaRPr>
          </a:p>
          <a:p>
            <a:pPr marL="185420" marR="0" lvl="0" indent="0" algn="l" defTabSz="914400" rtl="0" eaLnBrk="1" fontAlgn="auto" latinLnBrk="0" hangingPunct="1">
              <a:lnSpc>
                <a:spcPct val="100000"/>
              </a:lnSpc>
              <a:spcBef>
                <a:spcPts val="229"/>
              </a:spcBef>
              <a:spcAft>
                <a:spcPts val="0"/>
              </a:spcAft>
              <a:buClrTx/>
              <a:buSzTx/>
              <a:buFontTx/>
              <a:buNone/>
              <a:tabLst/>
              <a:defRPr/>
            </a:pPr>
            <a:r>
              <a:rPr kumimoji="0" sz="1750" b="1" i="0" u="none" strike="noStrike" kern="1200" cap="none" spc="4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0" normalizeH="0" baseline="-25000" noProof="0" dirty="0">
                <a:ln>
                  <a:noFill/>
                </a:ln>
                <a:solidFill>
                  <a:prstClr val="black"/>
                </a:solidFill>
                <a:effectLst/>
                <a:uLnTx/>
                <a:uFillTx/>
                <a:latin typeface="Times New Roman"/>
                <a:ea typeface="+mn-ea"/>
                <a:cs typeface="Times New Roman"/>
              </a:rPr>
              <a:t>0</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sp>
        <p:nvSpPr>
          <p:cNvPr id="96" name="object 96"/>
          <p:cNvSpPr/>
          <p:nvPr/>
        </p:nvSpPr>
        <p:spPr>
          <a:xfrm>
            <a:off x="2705058" y="3470149"/>
            <a:ext cx="0" cy="181610"/>
          </a:xfrm>
          <a:custGeom>
            <a:avLst/>
            <a:gdLst/>
            <a:ahLst/>
            <a:cxnLst/>
            <a:rect l="l" t="t" r="r" b="b"/>
            <a:pathLst>
              <a:path h="181610">
                <a:moveTo>
                  <a:pt x="0" y="181361"/>
                </a:moveTo>
                <a:lnTo>
                  <a:pt x="0" y="0"/>
                </a:lnTo>
              </a:path>
            </a:pathLst>
          </a:custGeom>
          <a:ln w="842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97" name="object 97"/>
          <p:cNvGrpSpPr/>
          <p:nvPr/>
        </p:nvGrpSpPr>
        <p:grpSpPr>
          <a:xfrm>
            <a:off x="1325752" y="2904744"/>
            <a:ext cx="2345055" cy="1019810"/>
            <a:chOff x="1325752" y="2904744"/>
            <a:chExt cx="2345055" cy="1019810"/>
          </a:xfrm>
        </p:grpSpPr>
        <p:sp>
          <p:nvSpPr>
            <p:cNvPr id="98" name="object 98"/>
            <p:cNvSpPr/>
            <p:nvPr/>
          </p:nvSpPr>
          <p:spPr>
            <a:xfrm>
              <a:off x="1340357" y="3037331"/>
              <a:ext cx="117475" cy="188595"/>
            </a:xfrm>
            <a:custGeom>
              <a:avLst/>
              <a:gdLst/>
              <a:ahLst/>
              <a:cxnLst/>
              <a:rect l="l" t="t" r="r" b="b"/>
              <a:pathLst>
                <a:path w="117475" h="188594">
                  <a:moveTo>
                    <a:pt x="117347" y="0"/>
                  </a:moveTo>
                  <a:lnTo>
                    <a:pt x="94536" y="10283"/>
                  </a:lnTo>
                  <a:lnTo>
                    <a:pt x="69457" y="37283"/>
                  </a:lnTo>
                  <a:lnTo>
                    <a:pt x="44049" y="77961"/>
                  </a:lnTo>
                  <a:lnTo>
                    <a:pt x="20250" y="129283"/>
                  </a:lnTo>
                  <a:lnTo>
                    <a:pt x="0" y="188214"/>
                  </a:lnTo>
                </a:path>
              </a:pathLst>
            </a:custGeom>
            <a:ln w="2821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object 99"/>
            <p:cNvSpPr/>
            <p:nvPr/>
          </p:nvSpPr>
          <p:spPr>
            <a:xfrm>
              <a:off x="1470659" y="3037331"/>
              <a:ext cx="127635" cy="188595"/>
            </a:xfrm>
            <a:custGeom>
              <a:avLst/>
              <a:gdLst/>
              <a:ahLst/>
              <a:cxnLst/>
              <a:rect l="l" t="t" r="r" b="b"/>
              <a:pathLst>
                <a:path w="127634" h="188594">
                  <a:moveTo>
                    <a:pt x="0" y="0"/>
                  </a:moveTo>
                  <a:lnTo>
                    <a:pt x="25085" y="10357"/>
                  </a:lnTo>
                  <a:lnTo>
                    <a:pt x="52364" y="37502"/>
                  </a:lnTo>
                  <a:lnTo>
                    <a:pt x="79827" y="78290"/>
                  </a:lnTo>
                  <a:lnTo>
                    <a:pt x="105460" y="129576"/>
                  </a:lnTo>
                  <a:lnTo>
                    <a:pt x="127254" y="188214"/>
                  </a:lnTo>
                </a:path>
              </a:pathLst>
            </a:custGeom>
            <a:ln w="2824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object 100"/>
            <p:cNvSpPr/>
            <p:nvPr/>
          </p:nvSpPr>
          <p:spPr>
            <a:xfrm>
              <a:off x="1340357" y="3198498"/>
              <a:ext cx="250190" cy="27305"/>
            </a:xfrm>
            <a:custGeom>
              <a:avLst/>
              <a:gdLst/>
              <a:ahLst/>
              <a:cxnLst/>
              <a:rect l="l" t="t" r="r" b="b"/>
              <a:pathLst>
                <a:path w="250190" h="27305">
                  <a:moveTo>
                    <a:pt x="0" y="27047"/>
                  </a:moveTo>
                  <a:lnTo>
                    <a:pt x="39965" y="10887"/>
                  </a:lnTo>
                  <a:lnTo>
                    <a:pt x="86916" y="1822"/>
                  </a:lnTo>
                  <a:lnTo>
                    <a:pt x="137050" y="0"/>
                  </a:lnTo>
                  <a:lnTo>
                    <a:pt x="186561" y="5565"/>
                  </a:lnTo>
                  <a:lnTo>
                    <a:pt x="231647" y="18665"/>
                  </a:lnTo>
                  <a:lnTo>
                    <a:pt x="238506" y="21713"/>
                  </a:lnTo>
                  <a:lnTo>
                    <a:pt x="244602" y="23999"/>
                  </a:lnTo>
                  <a:lnTo>
                    <a:pt x="249936" y="27047"/>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object 101"/>
            <p:cNvSpPr/>
            <p:nvPr/>
          </p:nvSpPr>
          <p:spPr>
            <a:xfrm>
              <a:off x="1340357" y="3238170"/>
              <a:ext cx="250190" cy="27940"/>
            </a:xfrm>
            <a:custGeom>
              <a:avLst/>
              <a:gdLst/>
              <a:ahLst/>
              <a:cxnLst/>
              <a:rect l="l" t="t" r="r" b="b"/>
              <a:pathLst>
                <a:path w="250190" h="27939">
                  <a:moveTo>
                    <a:pt x="0" y="27761"/>
                  </a:moveTo>
                  <a:lnTo>
                    <a:pt x="39965" y="11228"/>
                  </a:lnTo>
                  <a:lnTo>
                    <a:pt x="86916" y="1938"/>
                  </a:lnTo>
                  <a:lnTo>
                    <a:pt x="137050" y="0"/>
                  </a:lnTo>
                  <a:lnTo>
                    <a:pt x="186561" y="5522"/>
                  </a:lnTo>
                  <a:lnTo>
                    <a:pt x="231647" y="18617"/>
                  </a:lnTo>
                  <a:lnTo>
                    <a:pt x="238506" y="21665"/>
                  </a:lnTo>
                  <a:lnTo>
                    <a:pt x="244602" y="23951"/>
                  </a:lnTo>
                  <a:lnTo>
                    <a:pt x="249936" y="27761"/>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object 102"/>
            <p:cNvSpPr/>
            <p:nvPr/>
          </p:nvSpPr>
          <p:spPr>
            <a:xfrm>
              <a:off x="1399031" y="3203447"/>
              <a:ext cx="0" cy="121920"/>
            </a:xfrm>
            <a:custGeom>
              <a:avLst/>
              <a:gdLst/>
              <a:ahLst/>
              <a:cxnLst/>
              <a:rect l="l" t="t" r="r" b="b"/>
              <a:pathLst>
                <a:path h="121920">
                  <a:moveTo>
                    <a:pt x="0" y="0"/>
                  </a:moveTo>
                  <a:lnTo>
                    <a:pt x="0" y="121920"/>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object 103"/>
            <p:cNvSpPr/>
            <p:nvPr/>
          </p:nvSpPr>
          <p:spPr>
            <a:xfrm>
              <a:off x="1523999" y="3203447"/>
              <a:ext cx="0" cy="121920"/>
            </a:xfrm>
            <a:custGeom>
              <a:avLst/>
              <a:gdLst/>
              <a:ahLst/>
              <a:cxnLst/>
              <a:rect l="l" t="t" r="r" b="b"/>
              <a:pathLst>
                <a:path h="121920">
                  <a:moveTo>
                    <a:pt x="0" y="0"/>
                  </a:moveTo>
                  <a:lnTo>
                    <a:pt x="0" y="121920"/>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4" name="object 104"/>
            <p:cNvPicPr/>
            <p:nvPr/>
          </p:nvPicPr>
          <p:blipFill>
            <a:blip r:embed="rId11" cstate="print"/>
            <a:stretch>
              <a:fillRect/>
            </a:stretch>
          </p:blipFill>
          <p:spPr>
            <a:xfrm>
              <a:off x="2327147" y="2904744"/>
              <a:ext cx="665987" cy="1019555"/>
            </a:xfrm>
            <a:prstGeom prst="rect">
              <a:avLst/>
            </a:prstGeom>
          </p:spPr>
        </p:pic>
        <p:sp>
          <p:nvSpPr>
            <p:cNvPr id="105" name="object 105"/>
            <p:cNvSpPr/>
            <p:nvPr/>
          </p:nvSpPr>
          <p:spPr>
            <a:xfrm>
              <a:off x="2657094" y="2929127"/>
              <a:ext cx="0" cy="130810"/>
            </a:xfrm>
            <a:custGeom>
              <a:avLst/>
              <a:gdLst/>
              <a:ahLst/>
              <a:cxnLst/>
              <a:rect l="l" t="t" r="r" b="b"/>
              <a:pathLst>
                <a:path h="130810">
                  <a:moveTo>
                    <a:pt x="0" y="0"/>
                  </a:moveTo>
                  <a:lnTo>
                    <a:pt x="0" y="130302"/>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p:nvPr/>
          </p:nvSpPr>
          <p:spPr>
            <a:xfrm>
              <a:off x="2534411" y="3074670"/>
              <a:ext cx="117475" cy="188595"/>
            </a:xfrm>
            <a:custGeom>
              <a:avLst/>
              <a:gdLst/>
              <a:ahLst/>
              <a:cxnLst/>
              <a:rect l="l" t="t" r="r" b="b"/>
              <a:pathLst>
                <a:path w="117475" h="188595">
                  <a:moveTo>
                    <a:pt x="117348" y="0"/>
                  </a:moveTo>
                  <a:lnTo>
                    <a:pt x="94536" y="9991"/>
                  </a:lnTo>
                  <a:lnTo>
                    <a:pt x="69457" y="36953"/>
                  </a:lnTo>
                  <a:lnTo>
                    <a:pt x="44049" y="77742"/>
                  </a:lnTo>
                  <a:lnTo>
                    <a:pt x="20250" y="129210"/>
                  </a:lnTo>
                  <a:lnTo>
                    <a:pt x="0" y="188214"/>
                  </a:lnTo>
                </a:path>
              </a:pathLst>
            </a:custGeom>
            <a:ln w="2821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p:nvPr/>
          </p:nvSpPr>
          <p:spPr>
            <a:xfrm>
              <a:off x="2664713" y="3074670"/>
              <a:ext cx="127635" cy="188595"/>
            </a:xfrm>
            <a:custGeom>
              <a:avLst/>
              <a:gdLst/>
              <a:ahLst/>
              <a:cxnLst/>
              <a:rect l="l" t="t" r="r" b="b"/>
              <a:pathLst>
                <a:path w="127635" h="188595">
                  <a:moveTo>
                    <a:pt x="0" y="0"/>
                  </a:moveTo>
                  <a:lnTo>
                    <a:pt x="25085" y="9991"/>
                  </a:lnTo>
                  <a:lnTo>
                    <a:pt x="52364" y="36953"/>
                  </a:lnTo>
                  <a:lnTo>
                    <a:pt x="79827" y="77742"/>
                  </a:lnTo>
                  <a:lnTo>
                    <a:pt x="105460" y="129210"/>
                  </a:lnTo>
                  <a:lnTo>
                    <a:pt x="127254" y="188214"/>
                  </a:lnTo>
                </a:path>
              </a:pathLst>
            </a:custGeom>
            <a:ln w="2824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bject 108"/>
            <p:cNvSpPr/>
            <p:nvPr/>
          </p:nvSpPr>
          <p:spPr>
            <a:xfrm>
              <a:off x="2534411" y="3235671"/>
              <a:ext cx="250190" cy="27305"/>
            </a:xfrm>
            <a:custGeom>
              <a:avLst/>
              <a:gdLst/>
              <a:ahLst/>
              <a:cxnLst/>
              <a:rect l="l" t="t" r="r" b="b"/>
              <a:pathLst>
                <a:path w="250189" h="27304">
                  <a:moveTo>
                    <a:pt x="0" y="27212"/>
                  </a:moveTo>
                  <a:lnTo>
                    <a:pt x="39965" y="11045"/>
                  </a:lnTo>
                  <a:lnTo>
                    <a:pt x="86916" y="1938"/>
                  </a:lnTo>
                  <a:lnTo>
                    <a:pt x="137050" y="0"/>
                  </a:lnTo>
                  <a:lnTo>
                    <a:pt x="186561" y="5340"/>
                  </a:lnTo>
                  <a:lnTo>
                    <a:pt x="231647" y="18068"/>
                  </a:lnTo>
                  <a:lnTo>
                    <a:pt x="238506" y="21116"/>
                  </a:lnTo>
                  <a:lnTo>
                    <a:pt x="244602" y="24164"/>
                  </a:lnTo>
                  <a:lnTo>
                    <a:pt x="249936" y="27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bject 109"/>
            <p:cNvSpPr/>
            <p:nvPr/>
          </p:nvSpPr>
          <p:spPr>
            <a:xfrm>
              <a:off x="2534411" y="3275295"/>
              <a:ext cx="250190" cy="27305"/>
            </a:xfrm>
            <a:custGeom>
              <a:avLst/>
              <a:gdLst/>
              <a:ahLst/>
              <a:cxnLst/>
              <a:rect l="l" t="t" r="r" b="b"/>
              <a:pathLst>
                <a:path w="250189" h="27304">
                  <a:moveTo>
                    <a:pt x="0" y="27212"/>
                  </a:moveTo>
                  <a:lnTo>
                    <a:pt x="39965" y="11045"/>
                  </a:lnTo>
                  <a:lnTo>
                    <a:pt x="86916" y="1938"/>
                  </a:lnTo>
                  <a:lnTo>
                    <a:pt x="137050" y="0"/>
                  </a:lnTo>
                  <a:lnTo>
                    <a:pt x="186561" y="5340"/>
                  </a:lnTo>
                  <a:lnTo>
                    <a:pt x="231647" y="18068"/>
                  </a:lnTo>
                  <a:lnTo>
                    <a:pt x="238506" y="21116"/>
                  </a:lnTo>
                  <a:lnTo>
                    <a:pt x="244602" y="24164"/>
                  </a:lnTo>
                  <a:lnTo>
                    <a:pt x="249936" y="27212"/>
                  </a:lnTo>
                </a:path>
              </a:pathLst>
            </a:custGeom>
            <a:ln w="2895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object 110"/>
            <p:cNvSpPr/>
            <p:nvPr/>
          </p:nvSpPr>
          <p:spPr>
            <a:xfrm>
              <a:off x="2593086" y="3240786"/>
              <a:ext cx="0" cy="121285"/>
            </a:xfrm>
            <a:custGeom>
              <a:avLst/>
              <a:gdLst/>
              <a:ahLst/>
              <a:cxnLst/>
              <a:rect l="l" t="t" r="r" b="b"/>
              <a:pathLst>
                <a:path h="121285">
                  <a:moveTo>
                    <a:pt x="0" y="0"/>
                  </a:moveTo>
                  <a:lnTo>
                    <a:pt x="0" y="121157"/>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object 111"/>
            <p:cNvSpPr/>
            <p:nvPr/>
          </p:nvSpPr>
          <p:spPr>
            <a:xfrm>
              <a:off x="2718053" y="3240786"/>
              <a:ext cx="0" cy="121285"/>
            </a:xfrm>
            <a:custGeom>
              <a:avLst/>
              <a:gdLst/>
              <a:ahLst/>
              <a:cxnLst/>
              <a:rect l="l" t="t" r="r" b="b"/>
              <a:pathLst>
                <a:path h="121285">
                  <a:moveTo>
                    <a:pt x="0" y="0"/>
                  </a:moveTo>
                  <a:lnTo>
                    <a:pt x="0" y="121157"/>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2" name="object 112"/>
            <p:cNvPicPr/>
            <p:nvPr/>
          </p:nvPicPr>
          <p:blipFill>
            <a:blip r:embed="rId12" cstate="print"/>
            <a:stretch>
              <a:fillRect/>
            </a:stretch>
          </p:blipFill>
          <p:spPr>
            <a:xfrm>
              <a:off x="2983992" y="2904744"/>
              <a:ext cx="686562" cy="1019555"/>
            </a:xfrm>
            <a:prstGeom prst="rect">
              <a:avLst/>
            </a:prstGeom>
          </p:spPr>
        </p:pic>
        <p:sp>
          <p:nvSpPr>
            <p:cNvPr id="113" name="object 113"/>
            <p:cNvSpPr/>
            <p:nvPr/>
          </p:nvSpPr>
          <p:spPr>
            <a:xfrm>
              <a:off x="3314700" y="2929127"/>
              <a:ext cx="0" cy="130810"/>
            </a:xfrm>
            <a:custGeom>
              <a:avLst/>
              <a:gdLst/>
              <a:ahLst/>
              <a:cxnLst/>
              <a:rect l="l" t="t" r="r" b="b"/>
              <a:pathLst>
                <a:path h="130810">
                  <a:moveTo>
                    <a:pt x="0" y="0"/>
                  </a:moveTo>
                  <a:lnTo>
                    <a:pt x="0" y="130302"/>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object 114"/>
            <p:cNvSpPr/>
            <p:nvPr/>
          </p:nvSpPr>
          <p:spPr>
            <a:xfrm>
              <a:off x="3192017" y="3074670"/>
              <a:ext cx="117475" cy="188595"/>
            </a:xfrm>
            <a:custGeom>
              <a:avLst/>
              <a:gdLst/>
              <a:ahLst/>
              <a:cxnLst/>
              <a:rect l="l" t="t" r="r" b="b"/>
              <a:pathLst>
                <a:path w="117475" h="188595">
                  <a:moveTo>
                    <a:pt x="117348" y="0"/>
                  </a:moveTo>
                  <a:lnTo>
                    <a:pt x="94536" y="9991"/>
                  </a:lnTo>
                  <a:lnTo>
                    <a:pt x="69457" y="36953"/>
                  </a:lnTo>
                  <a:lnTo>
                    <a:pt x="44049" y="77742"/>
                  </a:lnTo>
                  <a:lnTo>
                    <a:pt x="20250" y="129210"/>
                  </a:lnTo>
                  <a:lnTo>
                    <a:pt x="0" y="188214"/>
                  </a:lnTo>
                </a:path>
              </a:pathLst>
            </a:custGeom>
            <a:ln w="28206">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object 115"/>
            <p:cNvSpPr/>
            <p:nvPr/>
          </p:nvSpPr>
          <p:spPr>
            <a:xfrm>
              <a:off x="3322320" y="3074670"/>
              <a:ext cx="127635" cy="188595"/>
            </a:xfrm>
            <a:custGeom>
              <a:avLst/>
              <a:gdLst/>
              <a:ahLst/>
              <a:cxnLst/>
              <a:rect l="l" t="t" r="r" b="b"/>
              <a:pathLst>
                <a:path w="127635" h="188595">
                  <a:moveTo>
                    <a:pt x="0" y="0"/>
                  </a:moveTo>
                  <a:lnTo>
                    <a:pt x="25085" y="9991"/>
                  </a:lnTo>
                  <a:lnTo>
                    <a:pt x="52364" y="36953"/>
                  </a:lnTo>
                  <a:lnTo>
                    <a:pt x="79827" y="77742"/>
                  </a:lnTo>
                  <a:lnTo>
                    <a:pt x="105460" y="129210"/>
                  </a:lnTo>
                  <a:lnTo>
                    <a:pt x="127254" y="188214"/>
                  </a:lnTo>
                </a:path>
              </a:pathLst>
            </a:custGeom>
            <a:ln w="2824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object 116"/>
            <p:cNvSpPr/>
            <p:nvPr/>
          </p:nvSpPr>
          <p:spPr>
            <a:xfrm>
              <a:off x="3192017" y="3235671"/>
              <a:ext cx="250190" cy="27305"/>
            </a:xfrm>
            <a:custGeom>
              <a:avLst/>
              <a:gdLst/>
              <a:ahLst/>
              <a:cxnLst/>
              <a:rect l="l" t="t" r="r" b="b"/>
              <a:pathLst>
                <a:path w="250189" h="27304">
                  <a:moveTo>
                    <a:pt x="0" y="27212"/>
                  </a:moveTo>
                  <a:lnTo>
                    <a:pt x="39965" y="11045"/>
                  </a:lnTo>
                  <a:lnTo>
                    <a:pt x="86916" y="1938"/>
                  </a:lnTo>
                  <a:lnTo>
                    <a:pt x="137050" y="0"/>
                  </a:lnTo>
                  <a:lnTo>
                    <a:pt x="186561" y="5340"/>
                  </a:lnTo>
                  <a:lnTo>
                    <a:pt x="231647" y="18068"/>
                  </a:lnTo>
                  <a:lnTo>
                    <a:pt x="238506" y="21116"/>
                  </a:lnTo>
                  <a:lnTo>
                    <a:pt x="244602" y="24164"/>
                  </a:lnTo>
                  <a:lnTo>
                    <a:pt x="249936" y="27212"/>
                  </a:lnTo>
                </a:path>
              </a:pathLst>
            </a:custGeom>
            <a:ln w="2894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object 117"/>
            <p:cNvSpPr/>
            <p:nvPr/>
          </p:nvSpPr>
          <p:spPr>
            <a:xfrm>
              <a:off x="3192017" y="3275295"/>
              <a:ext cx="250190" cy="27305"/>
            </a:xfrm>
            <a:custGeom>
              <a:avLst/>
              <a:gdLst/>
              <a:ahLst/>
              <a:cxnLst/>
              <a:rect l="l" t="t" r="r" b="b"/>
              <a:pathLst>
                <a:path w="250189" h="27304">
                  <a:moveTo>
                    <a:pt x="0" y="27212"/>
                  </a:moveTo>
                  <a:lnTo>
                    <a:pt x="39965" y="11045"/>
                  </a:lnTo>
                  <a:lnTo>
                    <a:pt x="86916" y="1938"/>
                  </a:lnTo>
                  <a:lnTo>
                    <a:pt x="137050" y="0"/>
                  </a:lnTo>
                  <a:lnTo>
                    <a:pt x="186561" y="5340"/>
                  </a:lnTo>
                  <a:lnTo>
                    <a:pt x="231647" y="18068"/>
                  </a:lnTo>
                  <a:lnTo>
                    <a:pt x="238506" y="21116"/>
                  </a:lnTo>
                  <a:lnTo>
                    <a:pt x="244602" y="24164"/>
                  </a:lnTo>
                  <a:lnTo>
                    <a:pt x="249936" y="27212"/>
                  </a:lnTo>
                </a:path>
              </a:pathLst>
            </a:custGeom>
            <a:ln w="2894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object 118"/>
            <p:cNvSpPr/>
            <p:nvPr/>
          </p:nvSpPr>
          <p:spPr>
            <a:xfrm>
              <a:off x="3250692" y="3240786"/>
              <a:ext cx="0" cy="121285"/>
            </a:xfrm>
            <a:custGeom>
              <a:avLst/>
              <a:gdLst/>
              <a:ahLst/>
              <a:cxnLst/>
              <a:rect l="l" t="t" r="r" b="b"/>
              <a:pathLst>
                <a:path h="121285">
                  <a:moveTo>
                    <a:pt x="0" y="0"/>
                  </a:moveTo>
                  <a:lnTo>
                    <a:pt x="0" y="121157"/>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object 119"/>
            <p:cNvSpPr/>
            <p:nvPr/>
          </p:nvSpPr>
          <p:spPr>
            <a:xfrm>
              <a:off x="3375660" y="3240786"/>
              <a:ext cx="0" cy="121285"/>
            </a:xfrm>
            <a:custGeom>
              <a:avLst/>
              <a:gdLst/>
              <a:ahLst/>
              <a:cxnLst/>
              <a:rect l="l" t="t" r="r" b="b"/>
              <a:pathLst>
                <a:path h="121285">
                  <a:moveTo>
                    <a:pt x="0" y="0"/>
                  </a:moveTo>
                  <a:lnTo>
                    <a:pt x="0" y="121157"/>
                  </a:lnTo>
                </a:path>
              </a:pathLst>
            </a:custGeom>
            <a:ln w="2794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0" name="object 120"/>
          <p:cNvSpPr txBox="1"/>
          <p:nvPr/>
        </p:nvSpPr>
        <p:spPr>
          <a:xfrm>
            <a:off x="2385639" y="3428972"/>
            <a:ext cx="1265555" cy="389255"/>
          </a:xfrm>
          <a:prstGeom prst="rect">
            <a:avLst/>
          </a:prstGeom>
        </p:spPr>
        <p:txBody>
          <a:bodyPr vert="vert270" wrap="square" lIns="0" tIns="2540" rIns="0" bIns="0" rtlCol="0">
            <a:spAutoFit/>
          </a:bodyPr>
          <a:lstStyle/>
          <a:p>
            <a:pPr marL="12700" marR="0" lvl="0" indent="0" algn="l" defTabSz="914400" rtl="0" eaLnBrk="1" fontAlgn="auto" latinLnBrk="0" hangingPunct="1">
              <a:lnSpc>
                <a:spcPct val="100000"/>
              </a:lnSpc>
              <a:spcBef>
                <a:spcPts val="20"/>
              </a:spcBef>
              <a:spcAft>
                <a:spcPts val="0"/>
              </a:spcAft>
              <a:buClrTx/>
              <a:buSzTx/>
              <a:buFontTx/>
              <a:buNone/>
              <a:tabLst/>
              <a:defRPr/>
            </a:pPr>
            <a:r>
              <a:rPr kumimoji="0" sz="1550" b="1" i="0" u="none" strike="noStrike" kern="1200" cap="none" spc="35" normalizeH="0" baseline="0" noProof="0" dirty="0">
                <a:ln>
                  <a:noFill/>
                </a:ln>
                <a:solidFill>
                  <a:prstClr val="black"/>
                </a:solidFill>
                <a:effectLst/>
                <a:uLnTx/>
                <a:uFillTx/>
                <a:latin typeface="Arial"/>
                <a:ea typeface="+mn-ea"/>
                <a:cs typeface="Arial"/>
              </a:rPr>
              <a:t>S</a:t>
            </a:r>
            <a:r>
              <a:rPr kumimoji="0" sz="1550" b="1" i="0" u="none" strike="noStrike" kern="1200" cap="none" spc="-40" normalizeH="0" baseline="0" noProof="0" dirty="0">
                <a:ln>
                  <a:noFill/>
                </a:ln>
                <a:solidFill>
                  <a:prstClr val="black"/>
                </a:solidFill>
                <a:effectLst/>
                <a:uLnTx/>
                <a:uFillTx/>
                <a:latin typeface="Arial"/>
                <a:ea typeface="+mn-ea"/>
                <a:cs typeface="Arial"/>
              </a:rPr>
              <a:t>g</a:t>
            </a:r>
            <a:r>
              <a:rPr kumimoji="0" sz="1550" b="1" i="0" u="none" strike="noStrike" kern="1200" cap="none" spc="35" normalizeH="0" baseline="0" noProof="0" dirty="0">
                <a:ln>
                  <a:noFill/>
                </a:ln>
                <a:solidFill>
                  <a:prstClr val="black"/>
                </a:solidFill>
                <a:effectLst/>
                <a:uLnTx/>
                <a:uFillTx/>
                <a:latin typeface="Arial"/>
                <a:ea typeface="+mn-ea"/>
                <a:cs typeface="Arial"/>
              </a:rPr>
              <a:t>n</a:t>
            </a:r>
            <a:r>
              <a:rPr kumimoji="0" sz="1575" b="1" i="0" u="none" strike="noStrike" kern="1200" cap="none" spc="0" normalizeH="0" baseline="-5291" noProof="0" dirty="0">
                <a:ln>
                  <a:noFill/>
                </a:ln>
                <a:solidFill>
                  <a:prstClr val="black"/>
                </a:solidFill>
                <a:effectLst/>
                <a:uLnTx/>
                <a:uFillTx/>
                <a:latin typeface="Arial"/>
                <a:ea typeface="+mn-ea"/>
                <a:cs typeface="Arial"/>
              </a:rPr>
              <a:t>0</a:t>
            </a:r>
            <a:endParaRPr kumimoji="0" sz="1575" b="0" i="0" u="none" strike="noStrike" kern="1200" cap="none" spc="0" normalizeH="0" baseline="-5291" noProof="0">
              <a:ln>
                <a:noFill/>
              </a:ln>
              <a:solidFill>
                <a:prstClr val="black"/>
              </a:solidFill>
              <a:effectLst/>
              <a:uLnTx/>
              <a:uFillTx/>
              <a:latin typeface="Arial"/>
              <a:ea typeface="+mn-ea"/>
              <a:cs typeface="Arial"/>
            </a:endParaRPr>
          </a:p>
          <a:p>
            <a:pPr marL="161925" marR="0" lvl="0" indent="0" algn="l" defTabSz="914400" rtl="0" eaLnBrk="1" fontAlgn="auto" latinLnBrk="0" hangingPunct="1">
              <a:lnSpc>
                <a:spcPct val="100000"/>
              </a:lnSpc>
              <a:spcBef>
                <a:spcPts val="525"/>
              </a:spcBef>
              <a:spcAft>
                <a:spcPts val="0"/>
              </a:spcAft>
              <a:buClrTx/>
              <a:buSzTx/>
              <a:buFontTx/>
              <a:buNone/>
              <a:tabLst/>
              <a:defRPr/>
            </a:pPr>
            <a:r>
              <a:rPr kumimoji="0" sz="1550" b="1" i="0" u="none" strike="noStrike" kern="1200" cap="none" spc="-75" normalizeH="0" baseline="0" noProof="0" dirty="0">
                <a:ln>
                  <a:noFill/>
                </a:ln>
                <a:solidFill>
                  <a:prstClr val="black"/>
                </a:solidFill>
                <a:effectLst/>
                <a:uLnTx/>
                <a:uFillTx/>
                <a:latin typeface="Times New Roman"/>
                <a:ea typeface="+mn-ea"/>
                <a:cs typeface="Times New Roman"/>
              </a:rPr>
              <a:t>D</a:t>
            </a:r>
            <a:r>
              <a:rPr kumimoji="0" sz="1350" b="1" i="0" u="none" strike="noStrike" kern="1200" cap="none" spc="-112" normalizeH="0" baseline="-24691" noProof="0" dirty="0">
                <a:ln>
                  <a:noFill/>
                </a:ln>
                <a:solidFill>
                  <a:prstClr val="black"/>
                </a:solidFill>
                <a:effectLst/>
                <a:uLnTx/>
                <a:uFillTx/>
                <a:latin typeface="Times New Roman"/>
                <a:ea typeface="+mn-ea"/>
                <a:cs typeface="Times New Roman"/>
              </a:rPr>
              <a:t>0</a:t>
            </a:r>
            <a:endParaRPr kumimoji="0" sz="1350" b="0" i="0" u="none" strike="noStrike" kern="1200" cap="none" spc="0" normalizeH="0" baseline="-24691" noProof="0">
              <a:ln>
                <a:noFill/>
              </a:ln>
              <a:solidFill>
                <a:prstClr val="black"/>
              </a:solidFill>
              <a:effectLst/>
              <a:uLnTx/>
              <a:uFillTx/>
              <a:latin typeface="Times New Roman"/>
              <a:ea typeface="+mn-ea"/>
              <a:cs typeface="Times New Roman"/>
            </a:endParaRPr>
          </a:p>
          <a:p>
            <a:pPr marL="12700" marR="0" lvl="0" indent="0" algn="l" defTabSz="914400" rtl="0" eaLnBrk="1" fontAlgn="auto" latinLnBrk="0" hangingPunct="1">
              <a:lnSpc>
                <a:spcPct val="100000"/>
              </a:lnSpc>
              <a:spcBef>
                <a:spcPts val="935"/>
              </a:spcBef>
              <a:spcAft>
                <a:spcPts val="0"/>
              </a:spcAft>
              <a:buClrTx/>
              <a:buSzTx/>
              <a:buFontTx/>
              <a:buNone/>
              <a:tabLst/>
              <a:defRPr/>
            </a:pPr>
            <a:r>
              <a:rPr kumimoji="0" sz="1550" b="1" i="0" u="none" strike="noStrike" kern="1200" cap="none" spc="35" normalizeH="0" baseline="0" noProof="0" dirty="0">
                <a:ln>
                  <a:noFill/>
                </a:ln>
                <a:solidFill>
                  <a:prstClr val="black"/>
                </a:solidFill>
                <a:effectLst/>
                <a:uLnTx/>
                <a:uFillTx/>
                <a:latin typeface="Arial"/>
                <a:ea typeface="+mn-ea"/>
                <a:cs typeface="Arial"/>
              </a:rPr>
              <a:t>S</a:t>
            </a:r>
            <a:r>
              <a:rPr kumimoji="0" sz="1550" b="1" i="0" u="none" strike="noStrike" kern="1200" cap="none" spc="-40" normalizeH="0" baseline="0" noProof="0" dirty="0">
                <a:ln>
                  <a:noFill/>
                </a:ln>
                <a:solidFill>
                  <a:prstClr val="black"/>
                </a:solidFill>
                <a:effectLst/>
                <a:uLnTx/>
                <a:uFillTx/>
                <a:latin typeface="Arial"/>
                <a:ea typeface="+mn-ea"/>
                <a:cs typeface="Arial"/>
              </a:rPr>
              <a:t>g</a:t>
            </a:r>
            <a:r>
              <a:rPr kumimoji="0" sz="1550" b="1" i="0" u="none" strike="noStrike" kern="1200" cap="none" spc="35" normalizeH="0" baseline="0" noProof="0" dirty="0">
                <a:ln>
                  <a:noFill/>
                </a:ln>
                <a:solidFill>
                  <a:prstClr val="black"/>
                </a:solidFill>
                <a:effectLst/>
                <a:uLnTx/>
                <a:uFillTx/>
                <a:latin typeface="Arial"/>
                <a:ea typeface="+mn-ea"/>
                <a:cs typeface="Arial"/>
              </a:rPr>
              <a:t>n</a:t>
            </a:r>
            <a:r>
              <a:rPr kumimoji="0" sz="1575" b="1" i="0" u="none" strike="noStrike" kern="1200" cap="none" spc="0" normalizeH="0" baseline="-5291" noProof="0" dirty="0">
                <a:ln>
                  <a:noFill/>
                </a:ln>
                <a:solidFill>
                  <a:prstClr val="black"/>
                </a:solidFill>
                <a:effectLst/>
                <a:uLnTx/>
                <a:uFillTx/>
                <a:latin typeface="Arial"/>
                <a:ea typeface="+mn-ea"/>
                <a:cs typeface="Arial"/>
              </a:rPr>
              <a:t>1</a:t>
            </a:r>
            <a:endParaRPr kumimoji="0" sz="1575" b="0" i="0" u="none" strike="noStrike" kern="1200" cap="none" spc="0" normalizeH="0" baseline="-5291" noProof="0">
              <a:ln>
                <a:noFill/>
              </a:ln>
              <a:solidFill>
                <a:prstClr val="black"/>
              </a:solidFill>
              <a:effectLst/>
              <a:uLnTx/>
              <a:uFillTx/>
              <a:latin typeface="Arial"/>
              <a:ea typeface="+mn-ea"/>
              <a:cs typeface="Arial"/>
            </a:endParaRPr>
          </a:p>
          <a:p>
            <a:pPr marL="107950" marR="0" lvl="0" indent="0" algn="l" defTabSz="914400" rtl="0" eaLnBrk="1" fontAlgn="auto" latinLnBrk="0" hangingPunct="1">
              <a:lnSpc>
                <a:spcPct val="100000"/>
              </a:lnSpc>
              <a:spcBef>
                <a:spcPts val="375"/>
              </a:spcBef>
              <a:spcAft>
                <a:spcPts val="0"/>
              </a:spcAft>
              <a:buClrTx/>
              <a:buSzTx/>
              <a:buFontTx/>
              <a:buNone/>
              <a:tabLst/>
              <a:defRPr/>
            </a:pPr>
            <a:r>
              <a:rPr kumimoji="0" sz="1750" b="1" i="0" u="none" strike="noStrike" kern="1200" cap="none" spc="-25"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37" normalizeH="0" baseline="-25000" noProof="0" dirty="0">
                <a:ln>
                  <a:noFill/>
                </a:ln>
                <a:solidFill>
                  <a:prstClr val="black"/>
                </a:solidFill>
                <a:effectLst/>
                <a:uLnTx/>
                <a:uFillTx/>
                <a:latin typeface="Times New Roman"/>
                <a:ea typeface="+mn-ea"/>
                <a:cs typeface="Times New Roman"/>
              </a:rPr>
              <a:t>1</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grpSp>
        <p:nvGrpSpPr>
          <p:cNvPr id="121" name="object 121"/>
          <p:cNvGrpSpPr/>
          <p:nvPr/>
        </p:nvGrpSpPr>
        <p:grpSpPr>
          <a:xfrm>
            <a:off x="4043934" y="2904744"/>
            <a:ext cx="695325" cy="1007110"/>
            <a:chOff x="4043934" y="2904744"/>
            <a:chExt cx="695325" cy="1007110"/>
          </a:xfrm>
        </p:grpSpPr>
        <p:pic>
          <p:nvPicPr>
            <p:cNvPr id="122" name="object 122"/>
            <p:cNvPicPr/>
            <p:nvPr/>
          </p:nvPicPr>
          <p:blipFill>
            <a:blip r:embed="rId13" cstate="print"/>
            <a:stretch>
              <a:fillRect/>
            </a:stretch>
          </p:blipFill>
          <p:spPr>
            <a:xfrm>
              <a:off x="4043934" y="2904744"/>
              <a:ext cx="694944" cy="1006602"/>
            </a:xfrm>
            <a:prstGeom prst="rect">
              <a:avLst/>
            </a:prstGeom>
          </p:spPr>
        </p:pic>
        <p:pic>
          <p:nvPicPr>
            <p:cNvPr id="123" name="object 123"/>
            <p:cNvPicPr/>
            <p:nvPr/>
          </p:nvPicPr>
          <p:blipFill>
            <a:blip r:embed="rId14" cstate="print"/>
            <a:stretch>
              <a:fillRect/>
            </a:stretch>
          </p:blipFill>
          <p:spPr>
            <a:xfrm>
              <a:off x="4253852" y="2928366"/>
              <a:ext cx="285788" cy="347878"/>
            </a:xfrm>
            <a:prstGeom prst="rect">
              <a:avLst/>
            </a:prstGeom>
          </p:spPr>
        </p:pic>
        <p:sp>
          <p:nvSpPr>
            <p:cNvPr id="124" name="object 124"/>
            <p:cNvSpPr/>
            <p:nvPr/>
          </p:nvSpPr>
          <p:spPr>
            <a:xfrm>
              <a:off x="4267962" y="3235074"/>
              <a:ext cx="250190" cy="27305"/>
            </a:xfrm>
            <a:custGeom>
              <a:avLst/>
              <a:gdLst/>
              <a:ahLst/>
              <a:cxnLst/>
              <a:rect l="l" t="t" r="r" b="b"/>
              <a:pathLst>
                <a:path w="250189" h="27304">
                  <a:moveTo>
                    <a:pt x="0" y="27047"/>
                  </a:moveTo>
                  <a:lnTo>
                    <a:pt x="40331" y="10887"/>
                  </a:lnTo>
                  <a:lnTo>
                    <a:pt x="87465" y="1822"/>
                  </a:lnTo>
                  <a:lnTo>
                    <a:pt x="137598" y="0"/>
                  </a:lnTo>
                  <a:lnTo>
                    <a:pt x="186927" y="5565"/>
                  </a:lnTo>
                  <a:lnTo>
                    <a:pt x="231647" y="18665"/>
                  </a:lnTo>
                  <a:lnTo>
                    <a:pt x="238506" y="20951"/>
                  </a:lnTo>
                  <a:lnTo>
                    <a:pt x="244602" y="23999"/>
                  </a:lnTo>
                  <a:lnTo>
                    <a:pt x="249936" y="27047"/>
                  </a:lnTo>
                </a:path>
              </a:pathLst>
            </a:custGeom>
            <a:ln w="2894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object 125"/>
            <p:cNvSpPr/>
            <p:nvPr/>
          </p:nvSpPr>
          <p:spPr>
            <a:xfrm>
              <a:off x="4267962" y="3274698"/>
              <a:ext cx="250190" cy="27305"/>
            </a:xfrm>
            <a:custGeom>
              <a:avLst/>
              <a:gdLst/>
              <a:ahLst/>
              <a:cxnLst/>
              <a:rect l="l" t="t" r="r" b="b"/>
              <a:pathLst>
                <a:path w="250189" h="27304">
                  <a:moveTo>
                    <a:pt x="0" y="27047"/>
                  </a:moveTo>
                  <a:lnTo>
                    <a:pt x="40331" y="10887"/>
                  </a:lnTo>
                  <a:lnTo>
                    <a:pt x="87465" y="1822"/>
                  </a:lnTo>
                  <a:lnTo>
                    <a:pt x="137598" y="0"/>
                  </a:lnTo>
                  <a:lnTo>
                    <a:pt x="186927" y="5565"/>
                  </a:lnTo>
                  <a:lnTo>
                    <a:pt x="231647" y="18665"/>
                  </a:lnTo>
                  <a:lnTo>
                    <a:pt x="238506" y="20951"/>
                  </a:lnTo>
                  <a:lnTo>
                    <a:pt x="244602" y="23999"/>
                  </a:lnTo>
                  <a:lnTo>
                    <a:pt x="249936" y="27047"/>
                  </a:lnTo>
                </a:path>
              </a:pathLst>
            </a:custGeom>
            <a:ln w="2894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object 126"/>
            <p:cNvSpPr/>
            <p:nvPr/>
          </p:nvSpPr>
          <p:spPr>
            <a:xfrm>
              <a:off x="4327398" y="3240024"/>
              <a:ext cx="0" cy="121285"/>
            </a:xfrm>
            <a:custGeom>
              <a:avLst/>
              <a:gdLst/>
              <a:ahLst/>
              <a:cxnLst/>
              <a:rect l="l" t="t" r="r" b="b"/>
              <a:pathLst>
                <a:path h="121285">
                  <a:moveTo>
                    <a:pt x="0" y="0"/>
                  </a:moveTo>
                  <a:lnTo>
                    <a:pt x="0" y="121157"/>
                  </a:lnTo>
                </a:path>
              </a:pathLst>
            </a:custGeom>
            <a:ln w="2795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object 127"/>
            <p:cNvSpPr/>
            <p:nvPr/>
          </p:nvSpPr>
          <p:spPr>
            <a:xfrm>
              <a:off x="4452366" y="3240024"/>
              <a:ext cx="0" cy="121285"/>
            </a:xfrm>
            <a:custGeom>
              <a:avLst/>
              <a:gdLst/>
              <a:ahLst/>
              <a:cxnLst/>
              <a:rect l="l" t="t" r="r" b="b"/>
              <a:pathLst>
                <a:path h="121285">
                  <a:moveTo>
                    <a:pt x="0" y="0"/>
                  </a:moveTo>
                  <a:lnTo>
                    <a:pt x="0" y="121157"/>
                  </a:lnTo>
                </a:path>
              </a:pathLst>
            </a:custGeom>
            <a:ln w="2795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8" name="object 128"/>
          <p:cNvSpPr/>
          <p:nvPr/>
        </p:nvSpPr>
        <p:spPr>
          <a:xfrm>
            <a:off x="4447668" y="3521182"/>
            <a:ext cx="0" cy="196850"/>
          </a:xfrm>
          <a:custGeom>
            <a:avLst/>
            <a:gdLst/>
            <a:ahLst/>
            <a:cxnLst/>
            <a:rect l="l" t="t" r="r" b="b"/>
            <a:pathLst>
              <a:path h="196850">
                <a:moveTo>
                  <a:pt x="0" y="196599"/>
                </a:moveTo>
                <a:lnTo>
                  <a:pt x="0" y="0"/>
                </a:lnTo>
              </a:path>
            </a:pathLst>
          </a:custGeom>
          <a:ln w="949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object 129"/>
          <p:cNvSpPr txBox="1"/>
          <p:nvPr/>
        </p:nvSpPr>
        <p:spPr>
          <a:xfrm>
            <a:off x="4101634" y="3415992"/>
            <a:ext cx="618490" cy="390525"/>
          </a:xfrm>
          <a:prstGeom prst="rect">
            <a:avLst/>
          </a:prstGeom>
        </p:spPr>
        <p:txBody>
          <a:bodyPr vert="vert270" wrap="square" lIns="0" tIns="2540" rIns="0" bIns="0" rtlCol="0">
            <a:spAutoFit/>
          </a:bodyPr>
          <a:lstStyle/>
          <a:p>
            <a:pPr marL="12700" marR="0" lvl="0" indent="0" algn="l" defTabSz="914400" rtl="0" eaLnBrk="1" fontAlgn="auto" latinLnBrk="0" hangingPunct="1">
              <a:lnSpc>
                <a:spcPct val="100000"/>
              </a:lnSpc>
              <a:spcBef>
                <a:spcPts val="20"/>
              </a:spcBef>
              <a:spcAft>
                <a:spcPts val="0"/>
              </a:spcAft>
              <a:buClrTx/>
              <a:buSzTx/>
              <a:buFontTx/>
              <a:buNone/>
              <a:tabLst/>
              <a:defRPr/>
            </a:pPr>
            <a:r>
              <a:rPr kumimoji="0" sz="1550" b="1" i="0" u="none" strike="noStrike" kern="1200" cap="none" spc="40" normalizeH="0" baseline="0" noProof="0" dirty="0">
                <a:ln>
                  <a:noFill/>
                </a:ln>
                <a:solidFill>
                  <a:prstClr val="black"/>
                </a:solidFill>
                <a:effectLst/>
                <a:uLnTx/>
                <a:uFillTx/>
                <a:latin typeface="Arial"/>
                <a:ea typeface="+mn-ea"/>
                <a:cs typeface="Arial"/>
              </a:rPr>
              <a:t>S</a:t>
            </a:r>
            <a:r>
              <a:rPr kumimoji="0" sz="1550" b="1" i="0" u="none" strike="noStrike" kern="1200" cap="none" spc="-40" normalizeH="0" baseline="0" noProof="0" dirty="0">
                <a:ln>
                  <a:noFill/>
                </a:ln>
                <a:solidFill>
                  <a:prstClr val="black"/>
                </a:solidFill>
                <a:effectLst/>
                <a:uLnTx/>
                <a:uFillTx/>
                <a:latin typeface="Arial"/>
                <a:ea typeface="+mn-ea"/>
                <a:cs typeface="Arial"/>
              </a:rPr>
              <a:t>g</a:t>
            </a:r>
            <a:r>
              <a:rPr kumimoji="0" sz="1550" b="1" i="0" u="none" strike="noStrike" kern="1200" cap="none" spc="35" normalizeH="0" baseline="0" noProof="0" dirty="0">
                <a:ln>
                  <a:noFill/>
                </a:ln>
                <a:solidFill>
                  <a:prstClr val="black"/>
                </a:solidFill>
                <a:effectLst/>
                <a:uLnTx/>
                <a:uFillTx/>
                <a:latin typeface="Arial"/>
                <a:ea typeface="+mn-ea"/>
                <a:cs typeface="Arial"/>
              </a:rPr>
              <a:t>n</a:t>
            </a:r>
            <a:r>
              <a:rPr kumimoji="0" sz="1575" b="1" i="0" u="none" strike="noStrike" kern="1200" cap="none" spc="0" normalizeH="0" baseline="-5291" noProof="0" dirty="0">
                <a:ln>
                  <a:noFill/>
                </a:ln>
                <a:solidFill>
                  <a:prstClr val="black"/>
                </a:solidFill>
                <a:effectLst/>
                <a:uLnTx/>
                <a:uFillTx/>
                <a:latin typeface="Arial"/>
                <a:ea typeface="+mn-ea"/>
                <a:cs typeface="Arial"/>
              </a:rPr>
              <a:t>1</a:t>
            </a:r>
            <a:endParaRPr kumimoji="0" sz="1575" b="0" i="0" u="none" strike="noStrike" kern="1200" cap="none" spc="0" normalizeH="0" baseline="-5291" noProof="0">
              <a:ln>
                <a:noFill/>
              </a:ln>
              <a:solidFill>
                <a:prstClr val="black"/>
              </a:solidFill>
              <a:effectLst/>
              <a:uLnTx/>
              <a:uFillTx/>
              <a:latin typeface="Arial"/>
              <a:ea typeface="+mn-ea"/>
              <a:cs typeface="Arial"/>
            </a:endParaRPr>
          </a:p>
          <a:p>
            <a:pPr marL="82550" marR="0" lvl="0" indent="0" algn="l" defTabSz="914400" rtl="0" eaLnBrk="1" fontAlgn="auto" latinLnBrk="0" hangingPunct="1">
              <a:lnSpc>
                <a:spcPct val="100000"/>
              </a:lnSpc>
              <a:spcBef>
                <a:spcPts val="735"/>
              </a:spcBef>
              <a:spcAft>
                <a:spcPts val="0"/>
              </a:spcAft>
              <a:buClrTx/>
              <a:buSzTx/>
              <a:buFontTx/>
              <a:buNone/>
              <a:tabLst/>
              <a:defRPr/>
            </a:pPr>
            <a:r>
              <a:rPr kumimoji="0" sz="1550" b="1" i="0" u="none" strike="noStrike" kern="1200" cap="none" spc="-20" normalizeH="0" baseline="0" noProof="0" dirty="0">
                <a:ln>
                  <a:noFill/>
                </a:ln>
                <a:solidFill>
                  <a:prstClr val="black"/>
                </a:solidFill>
                <a:effectLst/>
                <a:uLnTx/>
                <a:uFillTx/>
                <a:latin typeface="Times New Roman"/>
                <a:ea typeface="+mn-ea"/>
                <a:cs typeface="Times New Roman"/>
              </a:rPr>
              <a:t>D</a:t>
            </a:r>
            <a:r>
              <a:rPr kumimoji="0" sz="1350" b="1" i="0" u="none" strike="noStrike" kern="1200" cap="none" spc="-30" normalizeH="0" baseline="-24691" noProof="0" dirty="0">
                <a:ln>
                  <a:noFill/>
                </a:ln>
                <a:solidFill>
                  <a:prstClr val="black"/>
                </a:solidFill>
                <a:effectLst/>
                <a:uLnTx/>
                <a:uFillTx/>
                <a:latin typeface="Times New Roman"/>
                <a:ea typeface="+mn-ea"/>
                <a:cs typeface="Times New Roman"/>
              </a:rPr>
              <a:t>1</a:t>
            </a:r>
            <a:endParaRPr kumimoji="0" sz="1350" b="0" i="0" u="none" strike="noStrike" kern="1200" cap="none" spc="0" normalizeH="0" baseline="-24691" noProof="0">
              <a:ln>
                <a:noFill/>
              </a:ln>
              <a:solidFill>
                <a:prstClr val="black"/>
              </a:solidFill>
              <a:effectLst/>
              <a:uLnTx/>
              <a:uFillTx/>
              <a:latin typeface="Times New Roman"/>
              <a:ea typeface="+mn-ea"/>
              <a:cs typeface="Times New Roman"/>
            </a:endParaRPr>
          </a:p>
        </p:txBody>
      </p:sp>
      <p:grpSp>
        <p:nvGrpSpPr>
          <p:cNvPr id="130" name="object 130"/>
          <p:cNvGrpSpPr/>
          <p:nvPr/>
        </p:nvGrpSpPr>
        <p:grpSpPr>
          <a:xfrm>
            <a:off x="1767839" y="1408175"/>
            <a:ext cx="2433955" cy="2364105"/>
            <a:chOff x="1767839" y="1408175"/>
            <a:chExt cx="2433955" cy="2364105"/>
          </a:xfrm>
        </p:grpSpPr>
        <p:sp>
          <p:nvSpPr>
            <p:cNvPr id="131" name="object 131"/>
            <p:cNvSpPr/>
            <p:nvPr/>
          </p:nvSpPr>
          <p:spPr>
            <a:xfrm>
              <a:off x="1767840" y="3392423"/>
              <a:ext cx="2433955" cy="379730"/>
            </a:xfrm>
            <a:custGeom>
              <a:avLst/>
              <a:gdLst/>
              <a:ahLst/>
              <a:cxnLst/>
              <a:rect l="l" t="t" r="r" b="b"/>
              <a:pathLst>
                <a:path w="2433954" h="379729">
                  <a:moveTo>
                    <a:pt x="728472" y="0"/>
                  </a:moveTo>
                  <a:lnTo>
                    <a:pt x="600456" y="0"/>
                  </a:lnTo>
                  <a:lnTo>
                    <a:pt x="617664" y="34442"/>
                  </a:lnTo>
                  <a:lnTo>
                    <a:pt x="0" y="342900"/>
                  </a:lnTo>
                  <a:lnTo>
                    <a:pt x="16764" y="377190"/>
                  </a:lnTo>
                  <a:lnTo>
                    <a:pt x="634441" y="67983"/>
                  </a:lnTo>
                  <a:lnTo>
                    <a:pt x="651510" y="102108"/>
                  </a:lnTo>
                  <a:lnTo>
                    <a:pt x="728472" y="0"/>
                  </a:lnTo>
                  <a:close/>
                </a:path>
                <a:path w="2433954" h="379729">
                  <a:moveTo>
                    <a:pt x="2433828" y="2286"/>
                  </a:moveTo>
                  <a:lnTo>
                    <a:pt x="2305812" y="2286"/>
                  </a:lnTo>
                  <a:lnTo>
                    <a:pt x="2323020" y="36728"/>
                  </a:lnTo>
                  <a:lnTo>
                    <a:pt x="1705356" y="345186"/>
                  </a:lnTo>
                  <a:lnTo>
                    <a:pt x="1722120" y="379476"/>
                  </a:lnTo>
                  <a:lnTo>
                    <a:pt x="2340089" y="70866"/>
                  </a:lnTo>
                  <a:lnTo>
                    <a:pt x="2356866" y="104394"/>
                  </a:lnTo>
                  <a:lnTo>
                    <a:pt x="2433828" y="2286"/>
                  </a:lnTo>
                  <a:close/>
                </a:path>
              </a:pathLst>
            </a:custGeom>
            <a:solidFill>
              <a:srgbClr val="0000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object 132"/>
            <p:cNvSpPr/>
            <p:nvPr/>
          </p:nvSpPr>
          <p:spPr>
            <a:xfrm>
              <a:off x="3790950" y="1408175"/>
              <a:ext cx="238125" cy="400050"/>
            </a:xfrm>
            <a:custGeom>
              <a:avLst/>
              <a:gdLst/>
              <a:ahLst/>
              <a:cxnLst/>
              <a:rect l="l" t="t" r="r" b="b"/>
              <a:pathLst>
                <a:path w="238125" h="400050">
                  <a:moveTo>
                    <a:pt x="237744" y="400049"/>
                  </a:moveTo>
                  <a:lnTo>
                    <a:pt x="237744" y="0"/>
                  </a:lnTo>
                  <a:lnTo>
                    <a:pt x="0" y="0"/>
                  </a:lnTo>
                  <a:lnTo>
                    <a:pt x="0" y="400049"/>
                  </a:lnTo>
                  <a:lnTo>
                    <a:pt x="237744" y="400049"/>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3" name="object 133"/>
          <p:cNvSpPr txBox="1"/>
          <p:nvPr/>
        </p:nvSpPr>
        <p:spPr>
          <a:xfrm>
            <a:off x="3236467" y="1426718"/>
            <a:ext cx="106489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65" normalizeH="0" baseline="0" noProof="0" dirty="0">
                <a:ln>
                  <a:noFill/>
                </a:ln>
                <a:solidFill>
                  <a:prstClr val="black"/>
                </a:solidFill>
                <a:effectLst/>
                <a:uLnTx/>
                <a:uFillTx/>
                <a:latin typeface="Times New Roman"/>
                <a:ea typeface="+mn-ea"/>
                <a:cs typeface="Times New Roman"/>
              </a:rPr>
              <a:t>D </a:t>
            </a:r>
            <a:r>
              <a:rPr kumimoji="0" sz="1700" b="1" i="0" u="none" strike="noStrike" kern="1200" cap="none" spc="-195" normalizeH="0" baseline="0" noProof="0" dirty="0">
                <a:ln>
                  <a:noFill/>
                </a:ln>
                <a:solidFill>
                  <a:prstClr val="black"/>
                </a:solidFill>
                <a:effectLst/>
                <a:uLnTx/>
                <a:uFillTx/>
                <a:latin typeface="Times New Roman"/>
                <a:ea typeface="+mn-ea"/>
                <a:cs typeface="Times New Roman"/>
              </a:rPr>
              <a:t> </a:t>
            </a:r>
            <a:r>
              <a:rPr kumimoji="0" sz="1700" b="1" i="0" u="none" strike="noStrike" kern="1200" cap="none" spc="165" normalizeH="0" baseline="0" noProof="0" dirty="0">
                <a:ln>
                  <a:noFill/>
                </a:ln>
                <a:solidFill>
                  <a:prstClr val="black"/>
                </a:solidFill>
                <a:effectLst/>
                <a:uLnTx/>
                <a:uFillTx/>
                <a:latin typeface="Times New Roman"/>
                <a:ea typeface="+mn-ea"/>
                <a:cs typeface="Times New Roman"/>
              </a:rPr>
              <a:t>D</a:t>
            </a:r>
            <a:r>
              <a:rPr kumimoji="0" sz="1700" b="1" i="0" u="none" strike="noStrike" kern="1200" cap="none" spc="0" normalizeH="0" baseline="0" noProof="0" dirty="0">
                <a:ln>
                  <a:noFill/>
                </a:ln>
                <a:solidFill>
                  <a:prstClr val="black"/>
                </a:solidFill>
                <a:effectLst/>
                <a:uLnTx/>
                <a:uFillTx/>
                <a:latin typeface="Times New Roman"/>
                <a:ea typeface="+mn-ea"/>
                <a:cs typeface="Times New Roman"/>
              </a:rPr>
              <a:t> </a:t>
            </a:r>
            <a:r>
              <a:rPr kumimoji="0" sz="1700" b="1" i="0" u="none" strike="noStrike" kern="1200" cap="none" spc="90" normalizeH="0" baseline="0" noProof="0" dirty="0">
                <a:ln>
                  <a:noFill/>
                </a:ln>
                <a:solidFill>
                  <a:prstClr val="black"/>
                </a:solidFill>
                <a:effectLst/>
                <a:uLnTx/>
                <a:uFillTx/>
                <a:latin typeface="Times New Roman"/>
                <a:ea typeface="+mn-ea"/>
                <a:cs typeface="Times New Roman"/>
              </a:rPr>
              <a:t> </a:t>
            </a:r>
            <a:r>
              <a:rPr kumimoji="0" sz="3000" b="0" i="0" u="none" strike="noStrike" kern="1200" cap="none" spc="-7" normalizeH="0" baseline="-2777" noProof="0" dirty="0">
                <a:ln>
                  <a:noFill/>
                </a:ln>
                <a:solidFill>
                  <a:prstClr val="black"/>
                </a:solidFill>
                <a:effectLst/>
                <a:uLnTx/>
                <a:uFillTx/>
                <a:latin typeface="Verdana"/>
                <a:ea typeface="+mn-ea"/>
                <a:cs typeface="Verdana"/>
              </a:rPr>
              <a:t>=</a:t>
            </a:r>
            <a:r>
              <a:rPr kumimoji="0" sz="3000" b="0" i="0" u="none" strike="noStrike" kern="1200" cap="none" spc="-697" normalizeH="0" baseline="-2777" noProof="0" dirty="0">
                <a:ln>
                  <a:noFill/>
                </a:ln>
                <a:solidFill>
                  <a:prstClr val="black"/>
                </a:solidFill>
                <a:effectLst/>
                <a:uLnTx/>
                <a:uFillTx/>
                <a:latin typeface="Verdana"/>
                <a:ea typeface="+mn-ea"/>
                <a:cs typeface="Verdana"/>
              </a:rPr>
              <a:t> </a:t>
            </a:r>
            <a:r>
              <a:rPr kumimoji="0" sz="1700" b="0" i="0" u="none" strike="noStrike" kern="1200" cap="none" spc="105" normalizeH="0" baseline="0" noProof="0" dirty="0">
                <a:ln>
                  <a:noFill/>
                </a:ln>
                <a:solidFill>
                  <a:prstClr val="black"/>
                </a:solidFill>
                <a:effectLst/>
                <a:uLnTx/>
                <a:uFillTx/>
                <a:latin typeface="Times New Roman"/>
                <a:ea typeface="+mn-ea"/>
                <a:cs typeface="Times New Roman"/>
              </a:rPr>
              <a:t>11</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34" name="object 134"/>
          <p:cNvSpPr txBox="1"/>
          <p:nvPr/>
        </p:nvSpPr>
        <p:spPr>
          <a:xfrm>
            <a:off x="9526523" y="1696358"/>
            <a:ext cx="142240" cy="239395"/>
          </a:xfrm>
          <a:prstGeom prst="rect">
            <a:avLst/>
          </a:prstGeom>
        </p:spPr>
        <p:txBody>
          <a:bodyPr vert="horz" wrap="square" lIns="0" tIns="0" rIns="0" bIns="0" rtlCol="0">
            <a:spAutoFit/>
          </a:bodyPr>
          <a:lstStyle/>
          <a:p>
            <a:pPr marL="0" marR="0" lvl="0" indent="0" algn="l" defTabSz="914400" rtl="0" eaLnBrk="1" fontAlgn="auto" latinLnBrk="0" hangingPunct="1">
              <a:lnSpc>
                <a:spcPts val="1855"/>
              </a:lnSpc>
              <a:spcBef>
                <a:spcPts val="0"/>
              </a:spcBef>
              <a:spcAft>
                <a:spcPts val="0"/>
              </a:spcAft>
              <a:buClrTx/>
              <a:buSzTx/>
              <a:buFontTx/>
              <a:buNone/>
              <a:tabLst/>
              <a:defRPr/>
            </a:pPr>
            <a:r>
              <a:rPr kumimoji="0" sz="1700" b="0" i="0" u="none" strike="noStrike" kern="1200" cap="none" spc="155" normalizeH="0" baseline="0" noProof="0" dirty="0">
                <a:ln>
                  <a:noFill/>
                </a:ln>
                <a:solidFill>
                  <a:prstClr val="black"/>
                </a:solidFill>
                <a:effectLst/>
                <a:uLnTx/>
                <a:uFillTx/>
                <a:latin typeface="Times New Roman"/>
                <a:ea typeface="+mn-ea"/>
                <a:cs typeface="Times New Roman"/>
              </a:rPr>
              <a:t>&lt;</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35" name="object 135"/>
          <p:cNvSpPr txBox="1"/>
          <p:nvPr/>
        </p:nvSpPr>
        <p:spPr>
          <a:xfrm>
            <a:off x="9111488" y="1806947"/>
            <a:ext cx="360680" cy="175895"/>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tab pos="274320" algn="l"/>
              </a:tabLst>
              <a:defRPr/>
            </a:pPr>
            <a:r>
              <a:rPr kumimoji="0" sz="950" b="1" i="0" u="none" strike="noStrike" kern="1200" cap="none" spc="95" normalizeH="0" baseline="0" noProof="0" dirty="0">
                <a:ln>
                  <a:noFill/>
                </a:ln>
                <a:solidFill>
                  <a:prstClr val="black"/>
                </a:solidFill>
                <a:effectLst/>
                <a:uLnTx/>
                <a:uFillTx/>
                <a:latin typeface="Times New Roman"/>
                <a:ea typeface="+mn-ea"/>
                <a:cs typeface="Times New Roman"/>
              </a:rPr>
              <a:t>0	1</a:t>
            </a:r>
            <a:endParaRPr kumimoji="0" sz="9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36" name="object 136"/>
          <p:cNvSpPr txBox="1"/>
          <p:nvPr/>
        </p:nvSpPr>
        <p:spPr>
          <a:xfrm>
            <a:off x="10293095" y="2353467"/>
            <a:ext cx="86360"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9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37" name="object 137"/>
          <p:cNvSpPr txBox="1"/>
          <p:nvPr/>
        </p:nvSpPr>
        <p:spPr>
          <a:xfrm>
            <a:off x="10216145" y="2000665"/>
            <a:ext cx="147955" cy="29337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165" normalizeH="0" baseline="0" noProof="0" dirty="0">
                <a:ln>
                  <a:noFill/>
                </a:ln>
                <a:solidFill>
                  <a:prstClr val="black"/>
                </a:solidFill>
                <a:effectLst/>
                <a:uLnTx/>
                <a:uFillTx/>
                <a:latin typeface="Times New Roman"/>
                <a:ea typeface="+mn-ea"/>
                <a:cs typeface="Times New Roman"/>
              </a:rPr>
              <a:t>+</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138" name="object 138"/>
          <p:cNvSpPr/>
          <p:nvPr/>
        </p:nvSpPr>
        <p:spPr>
          <a:xfrm>
            <a:off x="8331391" y="2987049"/>
            <a:ext cx="210820" cy="0"/>
          </a:xfrm>
          <a:custGeom>
            <a:avLst/>
            <a:gdLst/>
            <a:ahLst/>
            <a:cxnLst/>
            <a:rect l="l" t="t" r="r" b="b"/>
            <a:pathLst>
              <a:path w="210820">
                <a:moveTo>
                  <a:pt x="0" y="0"/>
                </a:moveTo>
                <a:lnTo>
                  <a:pt x="210299" y="0"/>
                </a:lnTo>
              </a:path>
            </a:pathLst>
          </a:custGeom>
          <a:ln w="944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9" name="object 139"/>
          <p:cNvGrpSpPr/>
          <p:nvPr/>
        </p:nvGrpSpPr>
        <p:grpSpPr>
          <a:xfrm>
            <a:off x="7375397" y="1339335"/>
            <a:ext cx="2807970" cy="2872740"/>
            <a:chOff x="7375397" y="1339335"/>
            <a:chExt cx="2807970" cy="2872740"/>
          </a:xfrm>
        </p:grpSpPr>
        <p:sp>
          <p:nvSpPr>
            <p:cNvPr id="140" name="object 140"/>
            <p:cNvSpPr/>
            <p:nvPr/>
          </p:nvSpPr>
          <p:spPr>
            <a:xfrm>
              <a:off x="7545323" y="3424427"/>
              <a:ext cx="462280" cy="0"/>
            </a:xfrm>
            <a:custGeom>
              <a:avLst/>
              <a:gdLst/>
              <a:ahLst/>
              <a:cxnLst/>
              <a:rect l="l" t="t" r="r" b="b"/>
              <a:pathLst>
                <a:path w="462279">
                  <a:moveTo>
                    <a:pt x="461772"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object 141"/>
            <p:cNvSpPr/>
            <p:nvPr/>
          </p:nvSpPr>
          <p:spPr>
            <a:xfrm>
              <a:off x="7622285" y="3611117"/>
              <a:ext cx="298450" cy="289560"/>
            </a:xfrm>
            <a:custGeom>
              <a:avLst/>
              <a:gdLst/>
              <a:ahLst/>
              <a:cxnLst/>
              <a:rect l="l" t="t" r="r" b="b"/>
              <a:pathLst>
                <a:path w="298450" h="289560">
                  <a:moveTo>
                    <a:pt x="297942" y="144780"/>
                  </a:moveTo>
                  <a:lnTo>
                    <a:pt x="290389" y="98999"/>
                  </a:lnTo>
                  <a:lnTo>
                    <a:pt x="269339" y="59253"/>
                  </a:lnTo>
                  <a:lnTo>
                    <a:pt x="237207" y="27919"/>
                  </a:lnTo>
                  <a:lnTo>
                    <a:pt x="196407" y="7376"/>
                  </a:lnTo>
                  <a:lnTo>
                    <a:pt x="149352" y="0"/>
                  </a:lnTo>
                  <a:lnTo>
                    <a:pt x="102217" y="7376"/>
                  </a:lnTo>
                  <a:lnTo>
                    <a:pt x="61228" y="27919"/>
                  </a:lnTo>
                  <a:lnTo>
                    <a:pt x="28870" y="59253"/>
                  </a:lnTo>
                  <a:lnTo>
                    <a:pt x="7632" y="98999"/>
                  </a:lnTo>
                  <a:lnTo>
                    <a:pt x="0" y="144780"/>
                  </a:lnTo>
                  <a:lnTo>
                    <a:pt x="7632" y="190560"/>
                  </a:lnTo>
                  <a:lnTo>
                    <a:pt x="28870" y="230306"/>
                  </a:lnTo>
                  <a:lnTo>
                    <a:pt x="61228" y="261640"/>
                  </a:lnTo>
                  <a:lnTo>
                    <a:pt x="102217" y="282183"/>
                  </a:lnTo>
                  <a:lnTo>
                    <a:pt x="149352" y="289560"/>
                  </a:lnTo>
                  <a:lnTo>
                    <a:pt x="196407" y="282183"/>
                  </a:lnTo>
                  <a:lnTo>
                    <a:pt x="237207" y="261640"/>
                  </a:lnTo>
                  <a:lnTo>
                    <a:pt x="269339" y="230306"/>
                  </a:lnTo>
                  <a:lnTo>
                    <a:pt x="290389" y="190560"/>
                  </a:lnTo>
                  <a:lnTo>
                    <a:pt x="297942" y="144780"/>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object 142"/>
            <p:cNvSpPr/>
            <p:nvPr/>
          </p:nvSpPr>
          <p:spPr>
            <a:xfrm>
              <a:off x="7771637" y="3539489"/>
              <a:ext cx="0" cy="234315"/>
            </a:xfrm>
            <a:custGeom>
              <a:avLst/>
              <a:gdLst/>
              <a:ahLst/>
              <a:cxnLst/>
              <a:rect l="l" t="t" r="r" b="b"/>
              <a:pathLst>
                <a:path h="234314">
                  <a:moveTo>
                    <a:pt x="0" y="0"/>
                  </a:moveTo>
                  <a:lnTo>
                    <a:pt x="0" y="233934"/>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object 143"/>
            <p:cNvSpPr/>
            <p:nvPr/>
          </p:nvSpPr>
          <p:spPr>
            <a:xfrm>
              <a:off x="7717535" y="3761994"/>
              <a:ext cx="107950" cy="139065"/>
            </a:xfrm>
            <a:custGeom>
              <a:avLst/>
              <a:gdLst/>
              <a:ahLst/>
              <a:cxnLst/>
              <a:rect l="l" t="t" r="r" b="b"/>
              <a:pathLst>
                <a:path w="107950" h="139064">
                  <a:moveTo>
                    <a:pt x="107442" y="0"/>
                  </a:moveTo>
                  <a:lnTo>
                    <a:pt x="0" y="0"/>
                  </a:lnTo>
                  <a:lnTo>
                    <a:pt x="54102" y="138684"/>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object 144"/>
            <p:cNvSpPr/>
            <p:nvPr/>
          </p:nvSpPr>
          <p:spPr>
            <a:xfrm>
              <a:off x="7772399" y="3900677"/>
              <a:ext cx="0" cy="71755"/>
            </a:xfrm>
            <a:custGeom>
              <a:avLst/>
              <a:gdLst/>
              <a:ahLst/>
              <a:cxnLst/>
              <a:rect l="l" t="t" r="r" b="b"/>
              <a:pathLst>
                <a:path h="71754">
                  <a:moveTo>
                    <a:pt x="0" y="71627"/>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object 145"/>
            <p:cNvSpPr/>
            <p:nvPr/>
          </p:nvSpPr>
          <p:spPr>
            <a:xfrm>
              <a:off x="7655051" y="4073652"/>
              <a:ext cx="235585" cy="0"/>
            </a:xfrm>
            <a:custGeom>
              <a:avLst/>
              <a:gdLst/>
              <a:ahLst/>
              <a:cxnLst/>
              <a:rect l="l" t="t" r="r" b="b"/>
              <a:pathLst>
                <a:path w="235584">
                  <a:moveTo>
                    <a:pt x="0" y="0"/>
                  </a:moveTo>
                  <a:lnTo>
                    <a:pt x="235458"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object 146"/>
            <p:cNvSpPr/>
            <p:nvPr/>
          </p:nvSpPr>
          <p:spPr>
            <a:xfrm>
              <a:off x="7694675" y="4124705"/>
              <a:ext cx="157480" cy="0"/>
            </a:xfrm>
            <a:custGeom>
              <a:avLst/>
              <a:gdLst/>
              <a:ahLst/>
              <a:cxnLst/>
              <a:rect l="l" t="t" r="r" b="b"/>
              <a:pathLst>
                <a:path w="157479">
                  <a:moveTo>
                    <a:pt x="0" y="0"/>
                  </a:moveTo>
                  <a:lnTo>
                    <a:pt x="1569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object 147"/>
            <p:cNvSpPr/>
            <p:nvPr/>
          </p:nvSpPr>
          <p:spPr>
            <a:xfrm>
              <a:off x="7733537" y="4174998"/>
              <a:ext cx="78740" cy="0"/>
            </a:xfrm>
            <a:custGeom>
              <a:avLst/>
              <a:gdLst/>
              <a:ahLst/>
              <a:cxnLst/>
              <a:rect l="l" t="t" r="r" b="b"/>
              <a:pathLst>
                <a:path w="78740">
                  <a:moveTo>
                    <a:pt x="0" y="0"/>
                  </a:moveTo>
                  <a:lnTo>
                    <a:pt x="7848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object 148"/>
            <p:cNvSpPr/>
            <p:nvPr/>
          </p:nvSpPr>
          <p:spPr>
            <a:xfrm>
              <a:off x="7773161" y="3972305"/>
              <a:ext cx="0" cy="101600"/>
            </a:xfrm>
            <a:custGeom>
              <a:avLst/>
              <a:gdLst/>
              <a:ahLst/>
              <a:cxnLst/>
              <a:rect l="l" t="t" r="r" b="b"/>
              <a:pathLst>
                <a:path h="101600">
                  <a:moveTo>
                    <a:pt x="0" y="101345"/>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object 149"/>
            <p:cNvSpPr/>
            <p:nvPr/>
          </p:nvSpPr>
          <p:spPr>
            <a:xfrm>
              <a:off x="7770875" y="3424427"/>
              <a:ext cx="1270" cy="120650"/>
            </a:xfrm>
            <a:custGeom>
              <a:avLst/>
              <a:gdLst/>
              <a:ahLst/>
              <a:cxnLst/>
              <a:rect l="l" t="t" r="r" b="b"/>
              <a:pathLst>
                <a:path w="1270" h="120650">
                  <a:moveTo>
                    <a:pt x="380" y="-7435"/>
                  </a:moveTo>
                  <a:lnTo>
                    <a:pt x="380" y="127831"/>
                  </a:lnTo>
                </a:path>
              </a:pathLst>
            </a:custGeom>
            <a:ln w="15633">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object 150"/>
            <p:cNvSpPr/>
            <p:nvPr/>
          </p:nvSpPr>
          <p:spPr>
            <a:xfrm>
              <a:off x="8007095" y="3052572"/>
              <a:ext cx="216535" cy="372110"/>
            </a:xfrm>
            <a:custGeom>
              <a:avLst/>
              <a:gdLst/>
              <a:ahLst/>
              <a:cxnLst/>
              <a:rect l="l" t="t" r="r" b="b"/>
              <a:pathLst>
                <a:path w="216534" h="372110">
                  <a:moveTo>
                    <a:pt x="0" y="371856"/>
                  </a:moveTo>
                  <a:lnTo>
                    <a:pt x="0" y="185928"/>
                  </a:lnTo>
                  <a:lnTo>
                    <a:pt x="216407"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object 151"/>
            <p:cNvSpPr/>
            <p:nvPr/>
          </p:nvSpPr>
          <p:spPr>
            <a:xfrm>
              <a:off x="8007095" y="2401062"/>
              <a:ext cx="0" cy="491490"/>
            </a:xfrm>
            <a:custGeom>
              <a:avLst/>
              <a:gdLst/>
              <a:ahLst/>
              <a:cxnLst/>
              <a:rect l="l" t="t" r="r" b="b"/>
              <a:pathLst>
                <a:path h="491489">
                  <a:moveTo>
                    <a:pt x="0" y="4914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object 152"/>
            <p:cNvSpPr/>
            <p:nvPr/>
          </p:nvSpPr>
          <p:spPr>
            <a:xfrm>
              <a:off x="7997189" y="1932432"/>
              <a:ext cx="10160" cy="468630"/>
            </a:xfrm>
            <a:custGeom>
              <a:avLst/>
              <a:gdLst/>
              <a:ahLst/>
              <a:cxnLst/>
              <a:rect l="l" t="t" r="r" b="b"/>
              <a:pathLst>
                <a:path w="10159" h="468630">
                  <a:moveTo>
                    <a:pt x="9905" y="46862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object 153"/>
            <p:cNvSpPr/>
            <p:nvPr/>
          </p:nvSpPr>
          <p:spPr>
            <a:xfrm>
              <a:off x="7545323" y="2354580"/>
              <a:ext cx="0" cy="486409"/>
            </a:xfrm>
            <a:custGeom>
              <a:avLst/>
              <a:gdLst/>
              <a:ahLst/>
              <a:cxnLst/>
              <a:rect l="l" t="t" r="r" b="b"/>
              <a:pathLst>
                <a:path h="486410">
                  <a:moveTo>
                    <a:pt x="0" y="48615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object 154"/>
            <p:cNvSpPr/>
            <p:nvPr/>
          </p:nvSpPr>
          <p:spPr>
            <a:xfrm>
              <a:off x="7545323" y="1932432"/>
              <a:ext cx="0" cy="454659"/>
            </a:xfrm>
            <a:custGeom>
              <a:avLst/>
              <a:gdLst/>
              <a:ahLst/>
              <a:cxnLst/>
              <a:rect l="l" t="t" r="r" b="b"/>
              <a:pathLst>
                <a:path h="454660">
                  <a:moveTo>
                    <a:pt x="0" y="454151"/>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5" name="object 155"/>
            <p:cNvPicPr/>
            <p:nvPr/>
          </p:nvPicPr>
          <p:blipFill>
            <a:blip r:embed="rId15" cstate="print"/>
            <a:stretch>
              <a:fillRect/>
            </a:stretch>
          </p:blipFill>
          <p:spPr>
            <a:xfrm>
              <a:off x="7488104" y="2564060"/>
              <a:ext cx="113677" cy="87007"/>
            </a:xfrm>
            <a:prstGeom prst="rect">
              <a:avLst/>
            </a:prstGeom>
          </p:spPr>
        </p:pic>
        <p:sp>
          <p:nvSpPr>
            <p:cNvPr id="156" name="object 156"/>
            <p:cNvSpPr/>
            <p:nvPr/>
          </p:nvSpPr>
          <p:spPr>
            <a:xfrm>
              <a:off x="7565135" y="2619756"/>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7" name="object 157"/>
            <p:cNvPicPr/>
            <p:nvPr/>
          </p:nvPicPr>
          <p:blipFill>
            <a:blip r:embed="rId16" cstate="print"/>
            <a:stretch>
              <a:fillRect/>
            </a:stretch>
          </p:blipFill>
          <p:spPr>
            <a:xfrm>
              <a:off x="7964354" y="2121338"/>
              <a:ext cx="113677" cy="87007"/>
            </a:xfrm>
            <a:prstGeom prst="rect">
              <a:avLst/>
            </a:prstGeom>
          </p:spPr>
        </p:pic>
        <p:sp>
          <p:nvSpPr>
            <p:cNvPr id="158" name="object 158"/>
            <p:cNvSpPr/>
            <p:nvPr/>
          </p:nvSpPr>
          <p:spPr>
            <a:xfrm>
              <a:off x="7975853" y="2163318"/>
              <a:ext cx="1849755" cy="0"/>
            </a:xfrm>
            <a:custGeom>
              <a:avLst/>
              <a:gdLst/>
              <a:ahLst/>
              <a:cxnLst/>
              <a:rect l="l" t="t" r="r" b="b"/>
              <a:pathLst>
                <a:path w="1849754">
                  <a:moveTo>
                    <a:pt x="0" y="0"/>
                  </a:moveTo>
                  <a:lnTo>
                    <a:pt x="1849374"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object 159"/>
            <p:cNvSpPr/>
            <p:nvPr/>
          </p:nvSpPr>
          <p:spPr>
            <a:xfrm>
              <a:off x="9806939" y="2163318"/>
              <a:ext cx="159385" cy="0"/>
            </a:xfrm>
            <a:custGeom>
              <a:avLst/>
              <a:gdLst/>
              <a:ahLst/>
              <a:cxnLst/>
              <a:rect l="l" t="t" r="r" b="b"/>
              <a:pathLst>
                <a:path w="159384">
                  <a:moveTo>
                    <a:pt x="0" y="0"/>
                  </a:moveTo>
                  <a:lnTo>
                    <a:pt x="159258"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object 160"/>
            <p:cNvSpPr/>
            <p:nvPr/>
          </p:nvSpPr>
          <p:spPr>
            <a:xfrm>
              <a:off x="9956291" y="2129028"/>
              <a:ext cx="119380" cy="67945"/>
            </a:xfrm>
            <a:custGeom>
              <a:avLst/>
              <a:gdLst/>
              <a:ahLst/>
              <a:cxnLst/>
              <a:rect l="l" t="t" r="r" b="b"/>
              <a:pathLst>
                <a:path w="119379" h="67944">
                  <a:moveTo>
                    <a:pt x="118872" y="34290"/>
                  </a:moveTo>
                  <a:lnTo>
                    <a:pt x="0" y="0"/>
                  </a:lnTo>
                  <a:lnTo>
                    <a:pt x="0" y="67818"/>
                  </a:lnTo>
                  <a:lnTo>
                    <a:pt x="118872" y="3429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object 161"/>
            <p:cNvSpPr/>
            <p:nvPr/>
          </p:nvSpPr>
          <p:spPr>
            <a:xfrm>
              <a:off x="9806939" y="2161794"/>
              <a:ext cx="3810" cy="704850"/>
            </a:xfrm>
            <a:custGeom>
              <a:avLst/>
              <a:gdLst/>
              <a:ahLst/>
              <a:cxnLst/>
              <a:rect l="l" t="t" r="r" b="b"/>
              <a:pathLst>
                <a:path w="3809" h="704850">
                  <a:moveTo>
                    <a:pt x="3809" y="0"/>
                  </a:moveTo>
                  <a:lnTo>
                    <a:pt x="0" y="70485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object 162"/>
            <p:cNvSpPr/>
            <p:nvPr/>
          </p:nvSpPr>
          <p:spPr>
            <a:xfrm>
              <a:off x="9731501" y="2163318"/>
              <a:ext cx="271780" cy="0"/>
            </a:xfrm>
            <a:custGeom>
              <a:avLst/>
              <a:gdLst/>
              <a:ahLst/>
              <a:cxnLst/>
              <a:rect l="l" t="t" r="r" b="b"/>
              <a:pathLst>
                <a:path w="271779">
                  <a:moveTo>
                    <a:pt x="0" y="0"/>
                  </a:moveTo>
                  <a:lnTo>
                    <a:pt x="271272"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object 163"/>
            <p:cNvSpPr/>
            <p:nvPr/>
          </p:nvSpPr>
          <p:spPr>
            <a:xfrm>
              <a:off x="9354311" y="2619756"/>
              <a:ext cx="829310" cy="0"/>
            </a:xfrm>
            <a:custGeom>
              <a:avLst/>
              <a:gdLst/>
              <a:ahLst/>
              <a:cxnLst/>
              <a:rect l="l" t="t" r="r" b="b"/>
              <a:pathLst>
                <a:path w="829309">
                  <a:moveTo>
                    <a:pt x="0" y="0"/>
                  </a:moveTo>
                  <a:lnTo>
                    <a:pt x="829056"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object 164"/>
            <p:cNvSpPr/>
            <p:nvPr/>
          </p:nvSpPr>
          <p:spPr>
            <a:xfrm>
              <a:off x="9948671" y="2619756"/>
              <a:ext cx="159385" cy="0"/>
            </a:xfrm>
            <a:custGeom>
              <a:avLst/>
              <a:gdLst/>
              <a:ahLst/>
              <a:cxnLst/>
              <a:rect l="l" t="t" r="r" b="b"/>
              <a:pathLst>
                <a:path w="159384">
                  <a:moveTo>
                    <a:pt x="159257" y="0"/>
                  </a:moveTo>
                  <a:lnTo>
                    <a:pt x="0" y="0"/>
                  </a:lnTo>
                </a:path>
              </a:pathLst>
            </a:custGeom>
            <a:ln w="10807">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object 165"/>
            <p:cNvSpPr/>
            <p:nvPr/>
          </p:nvSpPr>
          <p:spPr>
            <a:xfrm>
              <a:off x="9839705" y="2585466"/>
              <a:ext cx="119380" cy="68580"/>
            </a:xfrm>
            <a:custGeom>
              <a:avLst/>
              <a:gdLst/>
              <a:ahLst/>
              <a:cxnLst/>
              <a:rect l="l" t="t" r="r" b="b"/>
              <a:pathLst>
                <a:path w="119379" h="68580">
                  <a:moveTo>
                    <a:pt x="118872" y="68580"/>
                  </a:moveTo>
                  <a:lnTo>
                    <a:pt x="118872" y="0"/>
                  </a:lnTo>
                  <a:lnTo>
                    <a:pt x="0" y="34290"/>
                  </a:lnTo>
                  <a:lnTo>
                    <a:pt x="118872" y="6858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6" name="object 166"/>
            <p:cNvPicPr/>
            <p:nvPr/>
          </p:nvPicPr>
          <p:blipFill>
            <a:blip r:embed="rId17" cstate="print"/>
            <a:stretch>
              <a:fillRect/>
            </a:stretch>
          </p:blipFill>
          <p:spPr>
            <a:xfrm>
              <a:off x="7968926" y="2866644"/>
              <a:ext cx="77101" cy="223335"/>
            </a:xfrm>
            <a:prstGeom prst="rect">
              <a:avLst/>
            </a:prstGeom>
          </p:spPr>
        </p:pic>
        <p:pic>
          <p:nvPicPr>
            <p:cNvPr id="167" name="object 167"/>
            <p:cNvPicPr/>
            <p:nvPr/>
          </p:nvPicPr>
          <p:blipFill>
            <a:blip r:embed="rId18" cstate="print"/>
            <a:stretch>
              <a:fillRect/>
            </a:stretch>
          </p:blipFill>
          <p:spPr>
            <a:xfrm>
              <a:off x="7968926" y="3200330"/>
              <a:ext cx="77101" cy="76339"/>
            </a:xfrm>
            <a:prstGeom prst="rect">
              <a:avLst/>
            </a:prstGeom>
          </p:spPr>
        </p:pic>
        <p:sp>
          <p:nvSpPr>
            <p:cNvPr id="168" name="object 168"/>
            <p:cNvSpPr/>
            <p:nvPr/>
          </p:nvSpPr>
          <p:spPr>
            <a:xfrm>
              <a:off x="7545323" y="2827782"/>
              <a:ext cx="0" cy="596900"/>
            </a:xfrm>
            <a:custGeom>
              <a:avLst/>
              <a:gdLst/>
              <a:ahLst/>
              <a:cxnLst/>
              <a:rect l="l" t="t" r="r" b="b"/>
              <a:pathLst>
                <a:path h="596900">
                  <a:moveTo>
                    <a:pt x="0" y="0"/>
                  </a:moveTo>
                  <a:lnTo>
                    <a:pt x="0" y="596646"/>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9" name="object 169"/>
            <p:cNvPicPr/>
            <p:nvPr/>
          </p:nvPicPr>
          <p:blipFill>
            <a:blip r:embed="rId19" cstate="print"/>
            <a:stretch>
              <a:fillRect/>
            </a:stretch>
          </p:blipFill>
          <p:spPr>
            <a:xfrm>
              <a:off x="7499534" y="2986208"/>
              <a:ext cx="90817" cy="80149"/>
            </a:xfrm>
            <a:prstGeom prst="rect">
              <a:avLst/>
            </a:prstGeom>
          </p:spPr>
        </p:pic>
        <p:pic>
          <p:nvPicPr>
            <p:cNvPr id="170" name="object 170"/>
            <p:cNvPicPr/>
            <p:nvPr/>
          </p:nvPicPr>
          <p:blipFill>
            <a:blip r:embed="rId20" cstate="print"/>
            <a:stretch>
              <a:fillRect/>
            </a:stretch>
          </p:blipFill>
          <p:spPr>
            <a:xfrm>
              <a:off x="7499534" y="3185090"/>
              <a:ext cx="90817" cy="80911"/>
            </a:xfrm>
            <a:prstGeom prst="rect">
              <a:avLst/>
            </a:prstGeom>
          </p:spPr>
        </p:pic>
        <p:sp>
          <p:nvSpPr>
            <p:cNvPr id="171" name="object 171"/>
            <p:cNvSpPr/>
            <p:nvPr/>
          </p:nvSpPr>
          <p:spPr>
            <a:xfrm>
              <a:off x="9357359" y="3444239"/>
              <a:ext cx="449580" cy="0"/>
            </a:xfrm>
            <a:custGeom>
              <a:avLst/>
              <a:gdLst/>
              <a:ahLst/>
              <a:cxnLst/>
              <a:rect l="l" t="t" r="r" b="b"/>
              <a:pathLst>
                <a:path w="449579">
                  <a:moveTo>
                    <a:pt x="0" y="0"/>
                  </a:moveTo>
                  <a:lnTo>
                    <a:pt x="44958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object 172"/>
            <p:cNvSpPr/>
            <p:nvPr/>
          </p:nvSpPr>
          <p:spPr>
            <a:xfrm>
              <a:off x="9431273" y="3639311"/>
              <a:ext cx="298450" cy="288925"/>
            </a:xfrm>
            <a:custGeom>
              <a:avLst/>
              <a:gdLst/>
              <a:ahLst/>
              <a:cxnLst/>
              <a:rect l="l" t="t" r="r" b="b"/>
              <a:pathLst>
                <a:path w="298450" h="288925">
                  <a:moveTo>
                    <a:pt x="0" y="144779"/>
                  </a:moveTo>
                  <a:lnTo>
                    <a:pt x="7632" y="98999"/>
                  </a:lnTo>
                  <a:lnTo>
                    <a:pt x="28870" y="59253"/>
                  </a:lnTo>
                  <a:lnTo>
                    <a:pt x="61228" y="27919"/>
                  </a:lnTo>
                  <a:lnTo>
                    <a:pt x="102217" y="7376"/>
                  </a:lnTo>
                  <a:lnTo>
                    <a:pt x="149352" y="0"/>
                  </a:lnTo>
                  <a:lnTo>
                    <a:pt x="196114" y="7376"/>
                  </a:lnTo>
                  <a:lnTo>
                    <a:pt x="236878" y="27919"/>
                  </a:lnTo>
                  <a:lnTo>
                    <a:pt x="269120" y="59253"/>
                  </a:lnTo>
                  <a:lnTo>
                    <a:pt x="290315" y="98999"/>
                  </a:lnTo>
                  <a:lnTo>
                    <a:pt x="297942" y="144779"/>
                  </a:lnTo>
                  <a:lnTo>
                    <a:pt x="290315" y="190189"/>
                  </a:lnTo>
                  <a:lnTo>
                    <a:pt x="269120" y="229709"/>
                  </a:lnTo>
                  <a:lnTo>
                    <a:pt x="236878" y="260927"/>
                  </a:lnTo>
                  <a:lnTo>
                    <a:pt x="196114" y="281427"/>
                  </a:lnTo>
                  <a:lnTo>
                    <a:pt x="149352" y="288797"/>
                  </a:lnTo>
                  <a:lnTo>
                    <a:pt x="102217" y="281427"/>
                  </a:lnTo>
                  <a:lnTo>
                    <a:pt x="61228" y="260927"/>
                  </a:lnTo>
                  <a:lnTo>
                    <a:pt x="28870" y="229709"/>
                  </a:lnTo>
                  <a:lnTo>
                    <a:pt x="7632" y="190189"/>
                  </a:lnTo>
                  <a:lnTo>
                    <a:pt x="0" y="144779"/>
                  </a:lnTo>
                  <a:close/>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object 173"/>
            <p:cNvSpPr/>
            <p:nvPr/>
          </p:nvSpPr>
          <p:spPr>
            <a:xfrm>
              <a:off x="9580625" y="3566922"/>
              <a:ext cx="0" cy="234950"/>
            </a:xfrm>
            <a:custGeom>
              <a:avLst/>
              <a:gdLst/>
              <a:ahLst/>
              <a:cxnLst/>
              <a:rect l="l" t="t" r="r" b="b"/>
              <a:pathLst>
                <a:path h="234950">
                  <a:moveTo>
                    <a:pt x="0" y="0"/>
                  </a:moveTo>
                  <a:lnTo>
                    <a:pt x="0" y="234696"/>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object 174"/>
            <p:cNvSpPr/>
            <p:nvPr/>
          </p:nvSpPr>
          <p:spPr>
            <a:xfrm>
              <a:off x="9526523" y="3790188"/>
              <a:ext cx="107950" cy="138430"/>
            </a:xfrm>
            <a:custGeom>
              <a:avLst/>
              <a:gdLst/>
              <a:ahLst/>
              <a:cxnLst/>
              <a:rect l="l" t="t" r="r" b="b"/>
              <a:pathLst>
                <a:path w="107950" h="138429">
                  <a:moveTo>
                    <a:pt x="107442" y="0"/>
                  </a:moveTo>
                  <a:lnTo>
                    <a:pt x="0" y="0"/>
                  </a:lnTo>
                  <a:lnTo>
                    <a:pt x="54102" y="137922"/>
                  </a:lnTo>
                  <a:lnTo>
                    <a:pt x="10744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object 175"/>
            <p:cNvSpPr/>
            <p:nvPr/>
          </p:nvSpPr>
          <p:spPr>
            <a:xfrm>
              <a:off x="9579101" y="3928110"/>
              <a:ext cx="0" cy="72390"/>
            </a:xfrm>
            <a:custGeom>
              <a:avLst/>
              <a:gdLst/>
              <a:ahLst/>
              <a:cxnLst/>
              <a:rect l="l" t="t" r="r" b="b"/>
              <a:pathLst>
                <a:path h="72389">
                  <a:moveTo>
                    <a:pt x="0" y="72389"/>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object 176"/>
            <p:cNvSpPr/>
            <p:nvPr/>
          </p:nvSpPr>
          <p:spPr>
            <a:xfrm>
              <a:off x="9460991" y="4101845"/>
              <a:ext cx="235585" cy="0"/>
            </a:xfrm>
            <a:custGeom>
              <a:avLst/>
              <a:gdLst/>
              <a:ahLst/>
              <a:cxnLst/>
              <a:rect l="l" t="t" r="r" b="b"/>
              <a:pathLst>
                <a:path w="235584">
                  <a:moveTo>
                    <a:pt x="235457"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object 177"/>
            <p:cNvSpPr/>
            <p:nvPr/>
          </p:nvSpPr>
          <p:spPr>
            <a:xfrm>
              <a:off x="9500615" y="4152138"/>
              <a:ext cx="157480" cy="0"/>
            </a:xfrm>
            <a:custGeom>
              <a:avLst/>
              <a:gdLst/>
              <a:ahLst/>
              <a:cxnLst/>
              <a:rect l="l" t="t" r="r" b="b"/>
              <a:pathLst>
                <a:path w="157479">
                  <a:moveTo>
                    <a:pt x="156972"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object 178"/>
            <p:cNvSpPr/>
            <p:nvPr/>
          </p:nvSpPr>
          <p:spPr>
            <a:xfrm>
              <a:off x="9539477" y="4203192"/>
              <a:ext cx="78740" cy="0"/>
            </a:xfrm>
            <a:custGeom>
              <a:avLst/>
              <a:gdLst/>
              <a:ahLst/>
              <a:cxnLst/>
              <a:rect l="l" t="t" r="r" b="b"/>
              <a:pathLst>
                <a:path w="78740">
                  <a:moveTo>
                    <a:pt x="78485" y="0"/>
                  </a:move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object 179"/>
            <p:cNvSpPr/>
            <p:nvPr/>
          </p:nvSpPr>
          <p:spPr>
            <a:xfrm>
              <a:off x="9579101" y="4000500"/>
              <a:ext cx="0" cy="101600"/>
            </a:xfrm>
            <a:custGeom>
              <a:avLst/>
              <a:gdLst/>
              <a:ahLst/>
              <a:cxnLst/>
              <a:rect l="l" t="t" r="r" b="b"/>
              <a:pathLst>
                <a:path h="101600">
                  <a:moveTo>
                    <a:pt x="0" y="101345"/>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object 180"/>
            <p:cNvSpPr/>
            <p:nvPr/>
          </p:nvSpPr>
          <p:spPr>
            <a:xfrm>
              <a:off x="9580625" y="3452622"/>
              <a:ext cx="0" cy="120650"/>
            </a:xfrm>
            <a:custGeom>
              <a:avLst/>
              <a:gdLst/>
              <a:ahLst/>
              <a:cxnLst/>
              <a:rect l="l" t="t" r="r" b="b"/>
              <a:pathLst>
                <a:path h="120650">
                  <a:moveTo>
                    <a:pt x="0" y="120396"/>
                  </a:moveTo>
                  <a:lnTo>
                    <a:pt x="0" y="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object 181"/>
            <p:cNvSpPr/>
            <p:nvPr/>
          </p:nvSpPr>
          <p:spPr>
            <a:xfrm>
              <a:off x="9127997" y="3054858"/>
              <a:ext cx="229870" cy="389890"/>
            </a:xfrm>
            <a:custGeom>
              <a:avLst/>
              <a:gdLst/>
              <a:ahLst/>
              <a:cxnLst/>
              <a:rect l="l" t="t" r="r" b="b"/>
              <a:pathLst>
                <a:path w="229870" h="389889">
                  <a:moveTo>
                    <a:pt x="229361" y="389382"/>
                  </a:moveTo>
                  <a:lnTo>
                    <a:pt x="229361" y="195072"/>
                  </a:lnTo>
                  <a:lnTo>
                    <a:pt x="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2" name="object 182"/>
            <p:cNvPicPr/>
            <p:nvPr/>
          </p:nvPicPr>
          <p:blipFill>
            <a:blip r:embed="rId21" cstate="print"/>
            <a:stretch>
              <a:fillRect/>
            </a:stretch>
          </p:blipFill>
          <p:spPr>
            <a:xfrm>
              <a:off x="9316903" y="2860548"/>
              <a:ext cx="80911" cy="234003"/>
            </a:xfrm>
            <a:prstGeom prst="rect">
              <a:avLst/>
            </a:prstGeom>
          </p:spPr>
        </p:pic>
        <p:pic>
          <p:nvPicPr>
            <p:cNvPr id="183" name="object 183"/>
            <p:cNvPicPr/>
            <p:nvPr/>
          </p:nvPicPr>
          <p:blipFill>
            <a:blip r:embed="rId22" cstate="print"/>
            <a:stretch>
              <a:fillRect/>
            </a:stretch>
          </p:blipFill>
          <p:spPr>
            <a:xfrm>
              <a:off x="9316903" y="3210236"/>
              <a:ext cx="80911" cy="78625"/>
            </a:xfrm>
            <a:prstGeom prst="rect">
              <a:avLst/>
            </a:prstGeom>
          </p:spPr>
        </p:pic>
        <p:sp>
          <p:nvSpPr>
            <p:cNvPr id="184" name="object 184"/>
            <p:cNvSpPr/>
            <p:nvPr/>
          </p:nvSpPr>
          <p:spPr>
            <a:xfrm>
              <a:off x="9806939" y="2860548"/>
              <a:ext cx="0" cy="584200"/>
            </a:xfrm>
            <a:custGeom>
              <a:avLst/>
              <a:gdLst/>
              <a:ahLst/>
              <a:cxnLst/>
              <a:rect l="l" t="t" r="r" b="b"/>
              <a:pathLst>
                <a:path h="584200">
                  <a:moveTo>
                    <a:pt x="0" y="0"/>
                  </a:moveTo>
                  <a:lnTo>
                    <a:pt x="0" y="583692"/>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5" name="object 185"/>
            <p:cNvPicPr/>
            <p:nvPr/>
          </p:nvPicPr>
          <p:blipFill>
            <a:blip r:embed="rId23" cstate="print"/>
            <a:stretch>
              <a:fillRect/>
            </a:stretch>
          </p:blipFill>
          <p:spPr>
            <a:xfrm>
              <a:off x="9761150" y="3015164"/>
              <a:ext cx="90817" cy="79387"/>
            </a:xfrm>
            <a:prstGeom prst="rect">
              <a:avLst/>
            </a:prstGeom>
          </p:spPr>
        </p:pic>
        <p:pic>
          <p:nvPicPr>
            <p:cNvPr id="186" name="object 186"/>
            <p:cNvPicPr/>
            <p:nvPr/>
          </p:nvPicPr>
          <p:blipFill>
            <a:blip r:embed="rId24" cstate="print"/>
            <a:stretch>
              <a:fillRect/>
            </a:stretch>
          </p:blipFill>
          <p:spPr>
            <a:xfrm>
              <a:off x="9761150" y="3210236"/>
              <a:ext cx="90817" cy="78625"/>
            </a:xfrm>
            <a:prstGeom prst="rect">
              <a:avLst/>
            </a:prstGeom>
          </p:spPr>
        </p:pic>
        <p:sp>
          <p:nvSpPr>
            <p:cNvPr id="187" name="object 187"/>
            <p:cNvSpPr/>
            <p:nvPr/>
          </p:nvSpPr>
          <p:spPr>
            <a:xfrm>
              <a:off x="9354311" y="2619756"/>
              <a:ext cx="3175" cy="350520"/>
            </a:xfrm>
            <a:custGeom>
              <a:avLst/>
              <a:gdLst/>
              <a:ahLst/>
              <a:cxnLst/>
              <a:rect l="l" t="t" r="r" b="b"/>
              <a:pathLst>
                <a:path w="3175" h="350519">
                  <a:moveTo>
                    <a:pt x="0" y="0"/>
                  </a:moveTo>
                  <a:lnTo>
                    <a:pt x="3048" y="350520"/>
                  </a:lnTo>
                </a:path>
              </a:pathLst>
            </a:custGeom>
            <a:ln w="1487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8" name="object 188"/>
            <p:cNvPicPr/>
            <p:nvPr/>
          </p:nvPicPr>
          <p:blipFill>
            <a:blip r:embed="rId25" cstate="print"/>
            <a:stretch>
              <a:fillRect/>
            </a:stretch>
          </p:blipFill>
          <p:spPr>
            <a:xfrm>
              <a:off x="9297092" y="2575490"/>
              <a:ext cx="113677" cy="87007"/>
            </a:xfrm>
            <a:prstGeom prst="rect">
              <a:avLst/>
            </a:prstGeom>
          </p:spPr>
        </p:pic>
        <p:pic>
          <p:nvPicPr>
            <p:cNvPr id="189" name="object 189"/>
            <p:cNvPicPr/>
            <p:nvPr/>
          </p:nvPicPr>
          <p:blipFill>
            <a:blip r:embed="rId26" cstate="print"/>
            <a:stretch>
              <a:fillRect/>
            </a:stretch>
          </p:blipFill>
          <p:spPr>
            <a:xfrm>
              <a:off x="9749720" y="2121338"/>
              <a:ext cx="113677" cy="87007"/>
            </a:xfrm>
            <a:prstGeom prst="rect">
              <a:avLst/>
            </a:prstGeom>
          </p:spPr>
        </p:pic>
        <p:sp>
          <p:nvSpPr>
            <p:cNvPr id="190" name="object 190"/>
            <p:cNvSpPr/>
            <p:nvPr/>
          </p:nvSpPr>
          <p:spPr>
            <a:xfrm>
              <a:off x="7375397" y="1347978"/>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object 191"/>
            <p:cNvSpPr/>
            <p:nvPr/>
          </p:nvSpPr>
          <p:spPr>
            <a:xfrm>
              <a:off x="7545323" y="1347978"/>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object 192"/>
            <p:cNvSpPr/>
            <p:nvPr/>
          </p:nvSpPr>
          <p:spPr>
            <a:xfrm>
              <a:off x="7394447" y="1441704"/>
              <a:ext cx="300990" cy="477520"/>
            </a:xfrm>
            <a:custGeom>
              <a:avLst/>
              <a:gdLst/>
              <a:ahLst/>
              <a:cxnLst/>
              <a:rect l="l" t="t" r="r" b="b"/>
              <a:pathLst>
                <a:path w="300990" h="477519">
                  <a:moveTo>
                    <a:pt x="150875" y="0"/>
                  </a:moveTo>
                  <a:lnTo>
                    <a:pt x="0" y="40386"/>
                  </a:lnTo>
                  <a:lnTo>
                    <a:pt x="300989" y="119634"/>
                  </a:lnTo>
                  <a:lnTo>
                    <a:pt x="0" y="198882"/>
                  </a:lnTo>
                  <a:lnTo>
                    <a:pt x="300989" y="278892"/>
                  </a:lnTo>
                  <a:lnTo>
                    <a:pt x="0" y="358140"/>
                  </a:lnTo>
                  <a:lnTo>
                    <a:pt x="300989" y="437388"/>
                  </a:lnTo>
                  <a:lnTo>
                    <a:pt x="150875" y="477012"/>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object 193"/>
            <p:cNvSpPr/>
            <p:nvPr/>
          </p:nvSpPr>
          <p:spPr>
            <a:xfrm>
              <a:off x="7828025" y="1347978"/>
              <a:ext cx="339090" cy="0"/>
            </a:xfrm>
            <a:custGeom>
              <a:avLst/>
              <a:gdLst/>
              <a:ahLst/>
              <a:cxnLst/>
              <a:rect l="l" t="t" r="r" b="b"/>
              <a:pathLst>
                <a:path w="339090">
                  <a:moveTo>
                    <a:pt x="0" y="0"/>
                  </a:moveTo>
                  <a:lnTo>
                    <a:pt x="339090" y="0"/>
                  </a:lnTo>
                </a:path>
              </a:pathLst>
            </a:custGeom>
            <a:ln w="17284">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object 194"/>
            <p:cNvSpPr/>
            <p:nvPr/>
          </p:nvSpPr>
          <p:spPr>
            <a:xfrm>
              <a:off x="7997189" y="1347978"/>
              <a:ext cx="0" cy="83820"/>
            </a:xfrm>
            <a:custGeom>
              <a:avLst/>
              <a:gdLst/>
              <a:ahLst/>
              <a:cxnLst/>
              <a:rect l="l" t="t" r="r" b="b"/>
              <a:pathLst>
                <a:path h="83819">
                  <a:moveTo>
                    <a:pt x="0" y="0"/>
                  </a:moveTo>
                  <a:lnTo>
                    <a:pt x="0" y="83820"/>
                  </a:lnTo>
                </a:path>
              </a:pathLst>
            </a:custGeom>
            <a:ln w="9309">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object 195"/>
            <p:cNvSpPr/>
            <p:nvPr/>
          </p:nvSpPr>
          <p:spPr>
            <a:xfrm>
              <a:off x="7846313" y="1441704"/>
              <a:ext cx="302260" cy="477520"/>
            </a:xfrm>
            <a:custGeom>
              <a:avLst/>
              <a:gdLst/>
              <a:ahLst/>
              <a:cxnLst/>
              <a:rect l="l" t="t" r="r" b="b"/>
              <a:pathLst>
                <a:path w="302259" h="477519">
                  <a:moveTo>
                    <a:pt x="150875" y="0"/>
                  </a:moveTo>
                  <a:lnTo>
                    <a:pt x="0" y="40386"/>
                  </a:lnTo>
                  <a:lnTo>
                    <a:pt x="301752" y="119634"/>
                  </a:lnTo>
                  <a:lnTo>
                    <a:pt x="0" y="198882"/>
                  </a:lnTo>
                  <a:lnTo>
                    <a:pt x="301752" y="278892"/>
                  </a:lnTo>
                  <a:lnTo>
                    <a:pt x="0" y="358140"/>
                  </a:lnTo>
                  <a:lnTo>
                    <a:pt x="301752" y="437388"/>
                  </a:lnTo>
                  <a:lnTo>
                    <a:pt x="150875" y="477012"/>
                  </a:lnTo>
                </a:path>
              </a:pathLst>
            </a:custGeom>
            <a:ln w="14401">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object 196"/>
            <p:cNvSpPr/>
            <p:nvPr/>
          </p:nvSpPr>
          <p:spPr>
            <a:xfrm>
              <a:off x="9505187" y="1612392"/>
              <a:ext cx="238760" cy="400050"/>
            </a:xfrm>
            <a:custGeom>
              <a:avLst/>
              <a:gdLst/>
              <a:ahLst/>
              <a:cxnLst/>
              <a:rect l="l" t="t" r="r" b="b"/>
              <a:pathLst>
                <a:path w="238759" h="400050">
                  <a:moveTo>
                    <a:pt x="238505" y="400050"/>
                  </a:moveTo>
                  <a:lnTo>
                    <a:pt x="238505" y="0"/>
                  </a:lnTo>
                  <a:lnTo>
                    <a:pt x="0" y="0"/>
                  </a:lnTo>
                  <a:lnTo>
                    <a:pt x="0" y="400050"/>
                  </a:lnTo>
                  <a:lnTo>
                    <a:pt x="238505" y="40005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7" name="object 197"/>
          <p:cNvSpPr txBox="1"/>
          <p:nvPr/>
        </p:nvSpPr>
        <p:spPr>
          <a:xfrm>
            <a:off x="8289035" y="2959277"/>
            <a:ext cx="288290" cy="255904"/>
          </a:xfrm>
          <a:prstGeom prst="rect">
            <a:avLst/>
          </a:prstGeom>
        </p:spPr>
        <p:txBody>
          <a:bodyPr vert="horz" wrap="square" lIns="0" tIns="13970" rIns="0" bIns="0" rtlCol="0">
            <a:spAutoFit/>
          </a:bodyPr>
          <a:lstStyle/>
          <a:p>
            <a:pPr marL="38100" marR="0" lvl="0" indent="0" algn="l" defTabSz="914400" rtl="0" eaLnBrk="1" fontAlgn="auto" latinLnBrk="0" hangingPunct="1">
              <a:lnSpc>
                <a:spcPct val="100000"/>
              </a:lnSpc>
              <a:spcBef>
                <a:spcPts val="110"/>
              </a:spcBef>
              <a:spcAft>
                <a:spcPts val="0"/>
              </a:spcAft>
              <a:buClrTx/>
              <a:buSzTx/>
              <a:buFontTx/>
              <a:buNone/>
              <a:tabLst/>
              <a:defRPr/>
            </a:pPr>
            <a:r>
              <a:rPr kumimoji="0" sz="1500" b="1" i="0" u="none" strike="noStrike" kern="1200" cap="none" spc="75" normalizeH="0" baseline="0" noProof="0" dirty="0">
                <a:ln>
                  <a:noFill/>
                </a:ln>
                <a:solidFill>
                  <a:prstClr val="black"/>
                </a:solidFill>
                <a:effectLst/>
                <a:uLnTx/>
                <a:uFillTx/>
                <a:latin typeface="Times New Roman"/>
                <a:ea typeface="+mn-ea"/>
                <a:cs typeface="Times New Roman"/>
              </a:rPr>
              <a:t>D</a:t>
            </a:r>
            <a:r>
              <a:rPr kumimoji="0" sz="1275" b="1" i="0" u="none" strike="noStrike" kern="1200" cap="none" spc="112" normalizeH="0" baseline="-26143" noProof="0" dirty="0">
                <a:ln>
                  <a:noFill/>
                </a:ln>
                <a:solidFill>
                  <a:prstClr val="black"/>
                </a:solidFill>
                <a:effectLst/>
                <a:uLnTx/>
                <a:uFillTx/>
                <a:latin typeface="Times New Roman"/>
                <a:ea typeface="+mn-ea"/>
                <a:cs typeface="Times New Roman"/>
              </a:rPr>
              <a:t>0</a:t>
            </a:r>
            <a:endParaRPr kumimoji="0" sz="1275" b="0" i="0" u="none" strike="noStrike" kern="1200" cap="none" spc="0" normalizeH="0" baseline="-26143" noProof="0">
              <a:ln>
                <a:noFill/>
              </a:ln>
              <a:solidFill>
                <a:prstClr val="black"/>
              </a:solidFill>
              <a:effectLst/>
              <a:uLnTx/>
              <a:uFillTx/>
              <a:latin typeface="Times New Roman"/>
              <a:ea typeface="+mn-ea"/>
              <a:cs typeface="Times New Roman"/>
            </a:endParaRPr>
          </a:p>
        </p:txBody>
      </p:sp>
      <p:sp>
        <p:nvSpPr>
          <p:cNvPr id="198" name="object 198"/>
          <p:cNvSpPr txBox="1"/>
          <p:nvPr/>
        </p:nvSpPr>
        <p:spPr>
          <a:xfrm>
            <a:off x="7083806" y="3589887"/>
            <a:ext cx="411480" cy="259715"/>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125" normalizeH="0" baseline="0" noProof="0" dirty="0">
                <a:ln>
                  <a:noFill/>
                </a:ln>
                <a:solidFill>
                  <a:prstClr val="black"/>
                </a:solidFill>
                <a:effectLst/>
                <a:uLnTx/>
                <a:uFillTx/>
                <a:latin typeface="Arial MT"/>
                <a:ea typeface="+mn-ea"/>
                <a:cs typeface="Arial MT"/>
              </a:rPr>
              <a:t>0.6I</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199" name="object 199"/>
          <p:cNvSpPr txBox="1"/>
          <p:nvPr/>
        </p:nvSpPr>
        <p:spPr>
          <a:xfrm>
            <a:off x="8911711" y="3589887"/>
            <a:ext cx="411480" cy="259715"/>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125" normalizeH="0" baseline="0" noProof="0" dirty="0">
                <a:ln>
                  <a:noFill/>
                </a:ln>
                <a:solidFill>
                  <a:prstClr val="black"/>
                </a:solidFill>
                <a:effectLst/>
                <a:uLnTx/>
                <a:uFillTx/>
                <a:latin typeface="Arial MT"/>
                <a:ea typeface="+mn-ea"/>
                <a:cs typeface="Arial MT"/>
              </a:rPr>
              <a:t>0.4I</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200" name="object 200"/>
          <p:cNvSpPr/>
          <p:nvPr/>
        </p:nvSpPr>
        <p:spPr>
          <a:xfrm>
            <a:off x="8776058" y="2942837"/>
            <a:ext cx="256540" cy="0"/>
          </a:xfrm>
          <a:custGeom>
            <a:avLst/>
            <a:gdLst/>
            <a:ahLst/>
            <a:cxnLst/>
            <a:rect l="l" t="t" r="r" b="b"/>
            <a:pathLst>
              <a:path w="256540">
                <a:moveTo>
                  <a:pt x="0" y="0"/>
                </a:moveTo>
                <a:lnTo>
                  <a:pt x="256035" y="0"/>
                </a:lnTo>
              </a:path>
            </a:pathLst>
          </a:custGeom>
          <a:ln w="10632">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object 201"/>
          <p:cNvSpPr txBox="1"/>
          <p:nvPr/>
        </p:nvSpPr>
        <p:spPr>
          <a:xfrm>
            <a:off x="8731757" y="2912361"/>
            <a:ext cx="330200" cy="283845"/>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45"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17" normalizeH="0" baseline="-26315" noProof="0" dirty="0">
                <a:ln>
                  <a:noFill/>
                </a:ln>
                <a:solidFill>
                  <a:prstClr val="black"/>
                </a:solidFill>
                <a:effectLst/>
                <a:uLnTx/>
                <a:uFillTx/>
                <a:latin typeface="Times New Roman"/>
                <a:ea typeface="+mn-ea"/>
                <a:cs typeface="Times New Roman"/>
              </a:rPr>
              <a:t>1</a:t>
            </a:r>
            <a:endParaRPr kumimoji="0" sz="1425" b="0" i="0" u="none" strike="noStrike" kern="1200" cap="none" spc="0" normalizeH="0" baseline="-26315" noProof="0">
              <a:ln>
                <a:noFill/>
              </a:ln>
              <a:solidFill>
                <a:prstClr val="black"/>
              </a:solidFill>
              <a:effectLst/>
              <a:uLnTx/>
              <a:uFillTx/>
              <a:latin typeface="Times New Roman"/>
              <a:ea typeface="+mn-ea"/>
              <a:cs typeface="Times New Roman"/>
            </a:endParaRPr>
          </a:p>
        </p:txBody>
      </p:sp>
      <p:sp>
        <p:nvSpPr>
          <p:cNvPr id="202" name="object 202"/>
          <p:cNvSpPr txBox="1"/>
          <p:nvPr/>
        </p:nvSpPr>
        <p:spPr>
          <a:xfrm>
            <a:off x="9956292" y="2960570"/>
            <a:ext cx="330200" cy="28448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40"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09" normalizeH="0" baseline="-26315" noProof="0" dirty="0">
                <a:ln>
                  <a:noFill/>
                </a:ln>
                <a:solidFill>
                  <a:prstClr val="black"/>
                </a:solidFill>
                <a:effectLst/>
                <a:uLnTx/>
                <a:uFillTx/>
                <a:latin typeface="Times New Roman"/>
                <a:ea typeface="+mn-ea"/>
                <a:cs typeface="Times New Roman"/>
              </a:rPr>
              <a:t>1</a:t>
            </a:r>
            <a:endParaRPr kumimoji="0" sz="1425" b="0" i="0" u="none" strike="noStrike" kern="1200" cap="none" spc="0" normalizeH="0" baseline="-26315" noProof="0">
              <a:ln>
                <a:noFill/>
              </a:ln>
              <a:solidFill>
                <a:prstClr val="black"/>
              </a:solidFill>
              <a:effectLst/>
              <a:uLnTx/>
              <a:uFillTx/>
              <a:latin typeface="Times New Roman"/>
              <a:ea typeface="+mn-ea"/>
              <a:cs typeface="Times New Roman"/>
            </a:endParaRPr>
          </a:p>
        </p:txBody>
      </p:sp>
      <p:sp>
        <p:nvSpPr>
          <p:cNvPr id="203" name="object 203"/>
          <p:cNvSpPr txBox="1"/>
          <p:nvPr/>
        </p:nvSpPr>
        <p:spPr>
          <a:xfrm>
            <a:off x="7056119" y="2892500"/>
            <a:ext cx="336550" cy="283845"/>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1700" b="1" i="0" u="none" strike="noStrike" kern="1200" cap="none" spc="165" normalizeH="0" baseline="0" noProof="0" dirty="0">
                <a:ln>
                  <a:noFill/>
                </a:ln>
                <a:solidFill>
                  <a:prstClr val="black"/>
                </a:solidFill>
                <a:effectLst/>
                <a:uLnTx/>
                <a:uFillTx/>
                <a:latin typeface="Times New Roman"/>
                <a:ea typeface="+mn-ea"/>
                <a:cs typeface="Times New Roman"/>
              </a:rPr>
              <a:t>D</a:t>
            </a:r>
            <a:r>
              <a:rPr kumimoji="0" sz="1425" b="1" i="0" u="none" strike="noStrike" kern="1200" cap="none" spc="247" normalizeH="0" baseline="-26315" noProof="0" dirty="0">
                <a:ln>
                  <a:noFill/>
                </a:ln>
                <a:solidFill>
                  <a:prstClr val="black"/>
                </a:solidFill>
                <a:effectLst/>
                <a:uLnTx/>
                <a:uFillTx/>
                <a:latin typeface="Times New Roman"/>
                <a:ea typeface="+mn-ea"/>
                <a:cs typeface="Times New Roman"/>
              </a:rPr>
              <a:t>0</a:t>
            </a:r>
            <a:endParaRPr kumimoji="0" sz="1425" b="0" i="0" u="none" strike="noStrike" kern="1200" cap="none" spc="0" normalizeH="0" baseline="-26315" noProof="0">
              <a:ln>
                <a:noFill/>
              </a:ln>
              <a:solidFill>
                <a:prstClr val="black"/>
              </a:solidFill>
              <a:effectLst/>
              <a:uLnTx/>
              <a:uFillTx/>
              <a:latin typeface="Times New Roman"/>
              <a:ea typeface="+mn-ea"/>
              <a:cs typeface="Times New Roman"/>
            </a:endParaRPr>
          </a:p>
        </p:txBody>
      </p:sp>
      <p:sp>
        <p:nvSpPr>
          <p:cNvPr id="204" name="object 204"/>
          <p:cNvSpPr txBox="1"/>
          <p:nvPr/>
        </p:nvSpPr>
        <p:spPr>
          <a:xfrm>
            <a:off x="7152385" y="1528677"/>
            <a:ext cx="189230" cy="259715"/>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205" name="object 205"/>
          <p:cNvSpPr txBox="1"/>
          <p:nvPr/>
        </p:nvSpPr>
        <p:spPr>
          <a:xfrm>
            <a:off x="8208443" y="1528677"/>
            <a:ext cx="189230" cy="259715"/>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500" b="0" i="0" u="none" strike="noStrike" kern="1200" cap="none" spc="204" normalizeH="0" baseline="0" noProof="0" dirty="0">
                <a:ln>
                  <a:noFill/>
                </a:ln>
                <a:solidFill>
                  <a:prstClr val="black"/>
                </a:solidFill>
                <a:effectLst/>
                <a:uLnTx/>
                <a:uFillTx/>
                <a:latin typeface="Arial MT"/>
                <a:ea typeface="+mn-ea"/>
                <a:cs typeface="Arial MT"/>
              </a:rPr>
              <a:t>R</a:t>
            </a:r>
            <a:endParaRPr kumimoji="0" sz="1500" b="0" i="0" u="none" strike="noStrike" kern="1200" cap="none" spc="0" normalizeH="0" baseline="0" noProof="0">
              <a:ln>
                <a:noFill/>
              </a:ln>
              <a:solidFill>
                <a:prstClr val="black"/>
              </a:solidFill>
              <a:effectLst/>
              <a:uLnTx/>
              <a:uFillTx/>
              <a:latin typeface="Arial MT"/>
              <a:ea typeface="+mn-ea"/>
              <a:cs typeface="Arial MT"/>
            </a:endParaRPr>
          </a:p>
        </p:txBody>
      </p:sp>
      <p:sp>
        <p:nvSpPr>
          <p:cNvPr id="206" name="object 206"/>
          <p:cNvSpPr txBox="1"/>
          <p:nvPr/>
        </p:nvSpPr>
        <p:spPr>
          <a:xfrm>
            <a:off x="8924035" y="1622551"/>
            <a:ext cx="109156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596900" algn="l"/>
              </a:tabLst>
              <a:defRPr/>
            </a:pPr>
            <a:r>
              <a:rPr kumimoji="0" sz="1700" b="1" i="0" u="none" strike="noStrike" kern="1200" cap="none" spc="195" normalizeH="0" baseline="0" noProof="0" dirty="0">
                <a:ln>
                  <a:noFill/>
                </a:ln>
                <a:solidFill>
                  <a:prstClr val="black"/>
                </a:solidFill>
                <a:effectLst/>
                <a:uLnTx/>
                <a:uFillTx/>
                <a:latin typeface="Times New Roman"/>
                <a:ea typeface="+mn-ea"/>
                <a:cs typeface="Times New Roman"/>
              </a:rPr>
              <a:t>D </a:t>
            </a:r>
            <a:r>
              <a:rPr kumimoji="0" sz="1700" b="1" i="0" u="none" strike="noStrike" kern="1200" cap="none" spc="-175" normalizeH="0" baseline="0" noProof="0" dirty="0">
                <a:ln>
                  <a:noFill/>
                </a:ln>
                <a:solidFill>
                  <a:prstClr val="black"/>
                </a:solidFill>
                <a:effectLst/>
                <a:uLnTx/>
                <a:uFillTx/>
                <a:latin typeface="Times New Roman"/>
                <a:ea typeface="+mn-ea"/>
                <a:cs typeface="Times New Roman"/>
              </a:rPr>
              <a:t> </a:t>
            </a:r>
            <a:r>
              <a:rPr kumimoji="0" sz="1700" b="1" i="0" u="none" strike="noStrike" kern="1200" cap="none" spc="195" normalizeH="0" baseline="0" noProof="0" dirty="0">
                <a:ln>
                  <a:noFill/>
                </a:ln>
                <a:solidFill>
                  <a:prstClr val="black"/>
                </a:solidFill>
                <a:effectLst/>
                <a:uLnTx/>
                <a:uFillTx/>
                <a:latin typeface="Times New Roman"/>
                <a:ea typeface="+mn-ea"/>
                <a:cs typeface="Times New Roman"/>
              </a:rPr>
              <a:t>D</a:t>
            </a:r>
            <a:r>
              <a:rPr kumimoji="0" sz="1700" b="1" i="0" u="none" strike="noStrike" kern="1200" cap="none" spc="0" normalizeH="0" baseline="0" noProof="0" dirty="0">
                <a:ln>
                  <a:noFill/>
                </a:ln>
                <a:solidFill>
                  <a:prstClr val="black"/>
                </a:solidFill>
                <a:effectLst/>
                <a:uLnTx/>
                <a:uFillTx/>
                <a:latin typeface="Times New Roman"/>
                <a:ea typeface="+mn-ea"/>
                <a:cs typeface="Times New Roman"/>
              </a:rPr>
              <a:t>	</a:t>
            </a:r>
            <a:r>
              <a:rPr kumimoji="0" sz="3000" b="0" i="0" u="none" strike="noStrike" kern="1200" cap="none" spc="-7" normalizeH="0" baseline="-4166" noProof="0" dirty="0">
                <a:ln>
                  <a:noFill/>
                </a:ln>
                <a:solidFill>
                  <a:prstClr val="black"/>
                </a:solidFill>
                <a:effectLst/>
                <a:uLnTx/>
                <a:uFillTx/>
                <a:latin typeface="Verdana"/>
                <a:ea typeface="+mn-ea"/>
                <a:cs typeface="Verdana"/>
              </a:rPr>
              <a:t>=</a:t>
            </a:r>
            <a:r>
              <a:rPr kumimoji="0" sz="3000" b="0" i="0" u="none" strike="noStrike" kern="1200" cap="none" spc="-772" normalizeH="0" baseline="-4166" noProof="0" dirty="0">
                <a:ln>
                  <a:noFill/>
                </a:ln>
                <a:solidFill>
                  <a:prstClr val="black"/>
                </a:solidFill>
                <a:effectLst/>
                <a:uLnTx/>
                <a:uFillTx/>
                <a:latin typeface="Verdana"/>
                <a:ea typeface="+mn-ea"/>
                <a:cs typeface="Verdana"/>
              </a:rPr>
              <a:t> </a:t>
            </a:r>
            <a:r>
              <a:rPr kumimoji="0" sz="1700" b="0" i="0" u="none" strike="noStrike" kern="1200" cap="none" spc="125" normalizeH="0" baseline="0" noProof="0" dirty="0">
                <a:ln>
                  <a:noFill/>
                </a:ln>
                <a:solidFill>
                  <a:prstClr val="black"/>
                </a:solidFill>
                <a:effectLst/>
                <a:uLnTx/>
                <a:uFillTx/>
                <a:latin typeface="Times New Roman"/>
                <a:ea typeface="+mn-ea"/>
                <a:cs typeface="Times New Roman"/>
              </a:rPr>
              <a:t>11</a:t>
            </a:r>
            <a:endParaRPr kumimoji="0" sz="17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07" name="object 207"/>
          <p:cNvSpPr txBox="1"/>
          <p:nvPr/>
        </p:nvSpPr>
        <p:spPr>
          <a:xfrm>
            <a:off x="6731507" y="1609549"/>
            <a:ext cx="301625" cy="294005"/>
          </a:xfrm>
          <a:prstGeom prst="rect">
            <a:avLst/>
          </a:prstGeom>
        </p:spPr>
        <p:txBody>
          <a:bodyPr vert="horz" wrap="square" lIns="0" tIns="13335" rIns="0" bIns="0" rtlCol="0">
            <a:spAutoFit/>
          </a:bodyPr>
          <a:lstStyle/>
          <a:p>
            <a:pPr marL="381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0" normalizeH="0" baseline="0" noProof="0" dirty="0">
                <a:ln>
                  <a:noFill/>
                </a:ln>
                <a:solidFill>
                  <a:prstClr val="black"/>
                </a:solidFill>
                <a:effectLst/>
                <a:uLnTx/>
                <a:uFillTx/>
                <a:latin typeface="Times New Roman"/>
                <a:ea typeface="+mn-ea"/>
                <a:cs typeface="Times New Roman"/>
              </a:rPr>
              <a:t>D</a:t>
            </a:r>
            <a:r>
              <a:rPr kumimoji="0" sz="1500" b="1" i="0" u="none" strike="noStrike" kern="1200" cap="none" spc="0" normalizeH="0" baseline="-25000" noProof="0" dirty="0">
                <a:ln>
                  <a:noFill/>
                </a:ln>
                <a:solidFill>
                  <a:prstClr val="black"/>
                </a:solidFill>
                <a:effectLst/>
                <a:uLnTx/>
                <a:uFillTx/>
                <a:latin typeface="Times New Roman"/>
                <a:ea typeface="+mn-ea"/>
                <a:cs typeface="Times New Roman"/>
              </a:rPr>
              <a:t>1</a:t>
            </a:r>
            <a:endParaRPr kumimoji="0" sz="1500" b="0" i="0" u="none" strike="noStrike" kern="1200" cap="none" spc="0" normalizeH="0" baseline="-25000" noProof="0">
              <a:ln>
                <a:noFill/>
              </a:ln>
              <a:solidFill>
                <a:prstClr val="black"/>
              </a:solidFill>
              <a:effectLst/>
              <a:uLnTx/>
              <a:uFillTx/>
              <a:latin typeface="Times New Roman"/>
              <a:ea typeface="+mn-ea"/>
              <a:cs typeface="Times New Roman"/>
            </a:endParaRPr>
          </a:p>
        </p:txBody>
      </p:sp>
      <p:sp>
        <p:nvSpPr>
          <p:cNvPr id="208" name="object 208"/>
          <p:cNvSpPr txBox="1"/>
          <p:nvPr/>
        </p:nvSpPr>
        <p:spPr>
          <a:xfrm>
            <a:off x="5868415" y="1790628"/>
            <a:ext cx="90170" cy="18034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sz="1000" b="1" i="0" u="none" strike="noStrike" kern="1200" cap="none" spc="5" normalizeH="0" baseline="0" noProof="0" dirty="0">
                <a:ln>
                  <a:noFill/>
                </a:ln>
                <a:solidFill>
                  <a:prstClr val="black"/>
                </a:solidFill>
                <a:effectLst/>
                <a:uLnTx/>
                <a:uFillTx/>
                <a:latin typeface="Times New Roman"/>
                <a:ea typeface="+mn-ea"/>
                <a:cs typeface="Times New Roman"/>
              </a:rPr>
              <a:t>0</a:t>
            </a:r>
            <a:endParaRPr kumimoji="0" sz="10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209" name="object 209"/>
          <p:cNvSpPr txBox="1"/>
          <p:nvPr/>
        </p:nvSpPr>
        <p:spPr>
          <a:xfrm>
            <a:off x="5702300" y="1638505"/>
            <a:ext cx="186055" cy="29400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750" b="1" i="0" u="none" strike="noStrike" kern="1200" cap="none" spc="0" normalizeH="0" baseline="0" noProof="0" dirty="0">
                <a:ln>
                  <a:noFill/>
                </a:ln>
                <a:solidFill>
                  <a:prstClr val="black"/>
                </a:solidFill>
                <a:effectLst/>
                <a:uLnTx/>
                <a:uFillTx/>
                <a:latin typeface="Times New Roman"/>
                <a:ea typeface="+mn-ea"/>
                <a:cs typeface="Times New Roman"/>
              </a:rPr>
              <a:t>D</a:t>
            </a:r>
            <a:endParaRPr kumimoji="0" sz="1750" b="0" i="0" u="none" strike="noStrike" kern="1200" cap="none" spc="0" normalizeH="0" baseline="0" noProof="0">
              <a:ln>
                <a:noFill/>
              </a:ln>
              <a:solidFill>
                <a:prstClr val="black"/>
              </a:solidFill>
              <a:effectLst/>
              <a:uLnTx/>
              <a:uFillTx/>
              <a:latin typeface="Times New Roman"/>
              <a:ea typeface="+mn-ea"/>
              <a:cs typeface="Times New Roman"/>
            </a:endParaRPr>
          </a:p>
        </p:txBody>
      </p:sp>
      <p:grpSp>
        <p:nvGrpSpPr>
          <p:cNvPr id="210" name="object 210"/>
          <p:cNvGrpSpPr/>
          <p:nvPr/>
        </p:nvGrpSpPr>
        <p:grpSpPr>
          <a:xfrm>
            <a:off x="5827776" y="2017014"/>
            <a:ext cx="271780" cy="123189"/>
            <a:chOff x="5827776" y="2017014"/>
            <a:chExt cx="271780" cy="123189"/>
          </a:xfrm>
        </p:grpSpPr>
        <p:sp>
          <p:nvSpPr>
            <p:cNvPr id="211" name="object 211"/>
            <p:cNvSpPr/>
            <p:nvPr/>
          </p:nvSpPr>
          <p:spPr>
            <a:xfrm>
              <a:off x="5827776" y="2078736"/>
              <a:ext cx="104139" cy="0"/>
            </a:xfrm>
            <a:custGeom>
              <a:avLst/>
              <a:gdLst/>
              <a:ahLst/>
              <a:cxnLst/>
              <a:rect l="l" t="t" r="r" b="b"/>
              <a:pathLst>
                <a:path w="104139">
                  <a:moveTo>
                    <a:pt x="0" y="0"/>
                  </a:moveTo>
                  <a:lnTo>
                    <a:pt x="103632"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object 212"/>
            <p:cNvSpPr/>
            <p:nvPr/>
          </p:nvSpPr>
          <p:spPr>
            <a:xfrm>
              <a:off x="5916168" y="2017014"/>
              <a:ext cx="182880" cy="123189"/>
            </a:xfrm>
            <a:custGeom>
              <a:avLst/>
              <a:gdLst/>
              <a:ahLst/>
              <a:cxnLst/>
              <a:rect l="l" t="t" r="r" b="b"/>
              <a:pathLst>
                <a:path w="182879" h="123189">
                  <a:moveTo>
                    <a:pt x="182880" y="61722"/>
                  </a:moveTo>
                  <a:lnTo>
                    <a:pt x="0" y="0"/>
                  </a:lnTo>
                  <a:lnTo>
                    <a:pt x="0" y="122682"/>
                  </a:lnTo>
                  <a:lnTo>
                    <a:pt x="182880" y="6172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object 213"/>
          <p:cNvSpPr txBox="1"/>
          <p:nvPr/>
        </p:nvSpPr>
        <p:spPr>
          <a:xfrm>
            <a:off x="6112764" y="1819655"/>
            <a:ext cx="535305" cy="537210"/>
          </a:xfrm>
          <a:prstGeom prst="rect">
            <a:avLst/>
          </a:prstGeom>
          <a:ln w="28765">
            <a:solidFill>
              <a:srgbClr val="000000"/>
            </a:solidFill>
          </a:ln>
        </p:spPr>
        <p:txBody>
          <a:bodyPr vert="horz" wrap="square" lIns="0" tIns="60960" rIns="0" bIns="0" rtlCol="0">
            <a:spAutoFit/>
          </a:bodyPr>
          <a:lstStyle/>
          <a:p>
            <a:pPr marL="161925" marR="0" lvl="0" indent="0" algn="l" defTabSz="914400" rtl="0" eaLnBrk="1" fontAlgn="auto" latinLnBrk="0" hangingPunct="1">
              <a:lnSpc>
                <a:spcPct val="100000"/>
              </a:lnSpc>
              <a:spcBef>
                <a:spcPts val="480"/>
              </a:spcBef>
              <a:spcAft>
                <a:spcPts val="0"/>
              </a:spcAft>
              <a:buClrTx/>
              <a:buSzTx/>
              <a:buFontTx/>
              <a:buNone/>
              <a:tabLst/>
              <a:defRPr/>
            </a:pPr>
            <a:r>
              <a:rPr kumimoji="0" sz="2400" b="0" i="0" u="none" strike="noStrike" kern="1200" cap="none" spc="10" normalizeH="0" baseline="0" noProof="0" dirty="0">
                <a:ln>
                  <a:noFill/>
                </a:ln>
                <a:solidFill>
                  <a:prstClr val="black"/>
                </a:solidFill>
                <a:effectLst/>
                <a:uLnTx/>
                <a:uFillTx/>
                <a:latin typeface="Malgun Gothic"/>
                <a:ea typeface="+mn-ea"/>
                <a:cs typeface="Malgun Gothic"/>
              </a:rPr>
              <a:t>D</a:t>
            </a:r>
            <a:endParaRPr kumimoji="0" sz="2400" b="0" i="0" u="none" strike="noStrike" kern="1200" cap="none" spc="0" normalizeH="0" baseline="0" noProof="0">
              <a:ln>
                <a:noFill/>
              </a:ln>
              <a:solidFill>
                <a:prstClr val="black"/>
              </a:solidFill>
              <a:effectLst/>
              <a:uLnTx/>
              <a:uFillTx/>
              <a:latin typeface="Malgun Gothic"/>
              <a:ea typeface="+mn-ea"/>
              <a:cs typeface="Malgun Gothic"/>
            </a:endParaRPr>
          </a:p>
        </p:txBody>
      </p:sp>
      <p:grpSp>
        <p:nvGrpSpPr>
          <p:cNvPr id="214" name="object 214"/>
          <p:cNvGrpSpPr/>
          <p:nvPr/>
        </p:nvGrpSpPr>
        <p:grpSpPr>
          <a:xfrm>
            <a:off x="6647688" y="2045207"/>
            <a:ext cx="272415" cy="123189"/>
            <a:chOff x="6647688" y="2045207"/>
            <a:chExt cx="272415" cy="123189"/>
          </a:xfrm>
        </p:grpSpPr>
        <p:sp>
          <p:nvSpPr>
            <p:cNvPr id="215" name="object 215"/>
            <p:cNvSpPr/>
            <p:nvPr/>
          </p:nvSpPr>
          <p:spPr>
            <a:xfrm>
              <a:off x="6647688" y="2106167"/>
              <a:ext cx="104775" cy="0"/>
            </a:xfrm>
            <a:custGeom>
              <a:avLst/>
              <a:gdLst/>
              <a:ahLst/>
              <a:cxnLst/>
              <a:rect l="l" t="t" r="r" b="b"/>
              <a:pathLst>
                <a:path w="104775">
                  <a:moveTo>
                    <a:pt x="0" y="0"/>
                  </a:moveTo>
                  <a:lnTo>
                    <a:pt x="104394" y="0"/>
                  </a:lnTo>
                </a:path>
              </a:pathLst>
            </a:custGeom>
            <a:ln w="2876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object 216"/>
            <p:cNvSpPr/>
            <p:nvPr/>
          </p:nvSpPr>
          <p:spPr>
            <a:xfrm>
              <a:off x="6736842" y="2045207"/>
              <a:ext cx="182880" cy="123189"/>
            </a:xfrm>
            <a:custGeom>
              <a:avLst/>
              <a:gdLst/>
              <a:ahLst/>
              <a:cxnLst/>
              <a:rect l="l" t="t" r="r" b="b"/>
              <a:pathLst>
                <a:path w="182879" h="123189">
                  <a:moveTo>
                    <a:pt x="182880" y="60960"/>
                  </a:moveTo>
                  <a:lnTo>
                    <a:pt x="0" y="0"/>
                  </a:lnTo>
                  <a:lnTo>
                    <a:pt x="0" y="122682"/>
                  </a:lnTo>
                  <a:lnTo>
                    <a:pt x="182880" y="6096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8" name="Slide Number Placeholder 217"/>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40</a:t>
            </a:fld>
            <a:endParaRPr lang="en-US" spc="-50" dirty="0"/>
          </a:p>
        </p:txBody>
      </p:sp>
      <p:sp>
        <p:nvSpPr>
          <p:cNvPr id="219" name="Date Placeholder 218"/>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220" name="Footer Placeholder 219"/>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398077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p:txBody>
          <a:bodyPr/>
          <a:lstStyle/>
          <a:p>
            <a:pPr lvl="0" latinLnBrk="0">
              <a:spcBef>
                <a:spcPts val="1000"/>
              </a:spcBef>
              <a:buClr>
                <a:prstClr val="black"/>
              </a:buClr>
            </a:pPr>
            <a:r>
              <a:rPr lang="en-US" sz="2667" dirty="0">
                <a:solidFill>
                  <a:prstClr val="black"/>
                </a:solidFill>
                <a:latin typeface="Arial"/>
                <a:cs typeface="+mn-cs"/>
              </a:rPr>
              <a:t>Optical Transceiver Basics</a:t>
            </a:r>
            <a:endParaRPr lang="en-US" sz="2667" b="0" dirty="0">
              <a:solidFill>
                <a:prstClr val="black"/>
              </a:solidFill>
              <a:latin typeface="Arial"/>
              <a:cs typeface="+mn-cs"/>
            </a:endParaRPr>
          </a:p>
        </p:txBody>
      </p:sp>
      <p:sp>
        <p:nvSpPr>
          <p:cNvPr id="4" name="Date Placeholder 3">
            <a:extLst>
              <a:ext uri="{FF2B5EF4-FFF2-40B4-BE49-F238E27FC236}">
                <a16:creationId xmlns:a16="http://schemas.microsoft.com/office/drawing/2014/main" id="{C9BAE22F-9A95-6E47-BBA6-65EDD894AA26}"/>
              </a:ext>
            </a:extLst>
          </p:cNvPr>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November 9, 2022</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Slide Number Placeholder 5">
            <a:extLst>
              <a:ext uri="{FF2B5EF4-FFF2-40B4-BE49-F238E27FC236}">
                <a16:creationId xmlns:a16="http://schemas.microsoft.com/office/drawing/2014/main" id="{3F6BF20A-4150-A04F-B584-430820875AE7}"/>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41</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a:extLst>
              <a:ext uri="{FF2B5EF4-FFF2-40B4-BE49-F238E27FC236}">
                <a16:creationId xmlns:a16="http://schemas.microsoft.com/office/drawing/2014/main" id="{E416D04B-E0A7-5849-88CB-2A3326CBCE37}"/>
              </a:ext>
            </a:extLst>
          </p:cNvPr>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IEEE Asian Solid-State Circuits Conference (A-SSCC 2022)</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5714271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4550" y="302006"/>
            <a:ext cx="3070860" cy="604520"/>
          </a:xfrm>
          <a:prstGeom prst="rect">
            <a:avLst/>
          </a:prstGeom>
        </p:spPr>
        <p:txBody>
          <a:bodyPr vert="horz" wrap="square" lIns="0" tIns="12065" rIns="0" bIns="0" rtlCol="0">
            <a:spAutoFit/>
          </a:bodyPr>
          <a:lstStyle/>
          <a:p>
            <a:pPr marL="12700">
              <a:lnSpc>
                <a:spcPct val="100000"/>
              </a:lnSpc>
              <a:spcBef>
                <a:spcPts val="95"/>
              </a:spcBef>
            </a:pPr>
            <a:r>
              <a:rPr spc="-10" dirty="0"/>
              <a:t>Optical</a:t>
            </a:r>
            <a:r>
              <a:rPr spc="-30" dirty="0"/>
              <a:t> </a:t>
            </a:r>
            <a:r>
              <a:rPr spc="-10" dirty="0"/>
              <a:t>Fiber</a:t>
            </a:r>
          </a:p>
        </p:txBody>
      </p:sp>
      <p:sp>
        <p:nvSpPr>
          <p:cNvPr id="3" name="object 3"/>
          <p:cNvSpPr txBox="1"/>
          <p:nvPr/>
        </p:nvSpPr>
        <p:spPr>
          <a:xfrm>
            <a:off x="834644" y="3955033"/>
            <a:ext cx="10450830" cy="2037080"/>
          </a:xfrm>
          <a:prstGeom prst="rect">
            <a:avLst/>
          </a:prstGeom>
        </p:spPr>
        <p:txBody>
          <a:bodyPr vert="horz" wrap="square" lIns="0" tIns="12065" rIns="0" bIns="0" rtlCol="0">
            <a:spAutoFit/>
          </a:bodyPr>
          <a:lstStyle/>
          <a:p>
            <a:pPr marL="482600" marR="2410460" lvl="0" indent="-470534" algn="l" defTabSz="914400" rtl="0" eaLnBrk="1" fontAlgn="auto" latinLnBrk="0" hangingPunct="1">
              <a:lnSpc>
                <a:spcPct val="100000"/>
              </a:lnSpc>
              <a:spcBef>
                <a:spcPts val="95"/>
              </a:spcBef>
              <a:spcAft>
                <a:spcPts val="0"/>
              </a:spcAft>
              <a:buClr>
                <a:srgbClr val="CC0000"/>
              </a:buClr>
              <a:buSzTx/>
              <a:buFont typeface="Wingdings"/>
              <a:buChar char=""/>
              <a:tabLst>
                <a:tab pos="482600" algn="l"/>
                <a:tab pos="483234"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Optical</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fiber,</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unlike</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Cu,</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has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lower</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loss</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~0.2-0.4dB/km</a:t>
            </a:r>
            <a:r>
              <a:rPr kumimoji="0" sz="2000" b="0" i="0" u="none" strike="noStrike" kern="1200" cap="none" spc="3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 </a:t>
            </a:r>
            <a:r>
              <a:rPr kumimoji="0" sz="2000" b="0" i="0" u="none" strike="noStrike" kern="1200" cap="none" spc="-68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lower</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frequency-dependence</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482600" marR="0" lvl="0" indent="-470534" algn="l" defTabSz="914400" rtl="0" eaLnBrk="1" fontAlgn="auto" latinLnBrk="0" hangingPunct="1">
              <a:lnSpc>
                <a:spcPct val="100000"/>
              </a:lnSpc>
              <a:spcBef>
                <a:spcPts val="480"/>
              </a:spcBef>
              <a:spcAft>
                <a:spcPts val="0"/>
              </a:spcAft>
              <a:buClr>
                <a:srgbClr val="CC0000"/>
              </a:buClr>
              <a:buSzTx/>
              <a:buFont typeface="Wingdings"/>
              <a:buChar char=""/>
              <a:tabLst>
                <a:tab pos="482600" algn="l"/>
                <a:tab pos="483234" algn="l"/>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Optical</a:t>
            </a:r>
            <a:r>
              <a:rPr kumimoji="0" sz="2000" b="0" i="0" u="none" strike="noStrike" kern="1200" cap="none" spc="3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signal</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within</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fiber</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and</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waveguides</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less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susceptible</a:t>
            </a:r>
            <a:r>
              <a:rPr kumimoji="0" sz="2000" b="0" i="0" u="none" strike="noStrike" kern="1200" cap="none" spc="3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to</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crosstalk</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482600" marR="5080" lvl="0" indent="-470534" algn="l" defTabSz="914400" rtl="0" eaLnBrk="1" fontAlgn="auto" latinLnBrk="0" hangingPunct="1">
              <a:lnSpc>
                <a:spcPct val="100000"/>
              </a:lnSpc>
              <a:spcBef>
                <a:spcPts val="480"/>
              </a:spcBef>
              <a:spcAft>
                <a:spcPts val="0"/>
              </a:spcAft>
              <a:buClr>
                <a:srgbClr val="CC0000"/>
              </a:buClr>
              <a:buSzTx/>
              <a:buFont typeface="Wingdings"/>
              <a:buChar char=""/>
              <a:tabLst>
                <a:tab pos="482600" algn="l"/>
                <a:tab pos="483234"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Supports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multiple</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data</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streams,</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each</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on</a:t>
            </a:r>
            <a:r>
              <a:rPr kumimoji="0" sz="2000" b="0" i="0" u="none" strike="noStrike" kern="1200" cap="none" spc="-1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a</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separate</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wavelength,</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on</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the</a:t>
            </a:r>
            <a:r>
              <a:rPr kumimoji="0" sz="2000" b="0" i="0" u="none" strike="noStrike" kern="1200" cap="none" spc="5"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same </a:t>
            </a:r>
            <a:r>
              <a:rPr kumimoji="0" sz="2000" b="0" i="0" u="none" strike="noStrike" kern="1200" cap="none" spc="-69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waveguide</a:t>
            </a:r>
            <a:r>
              <a:rPr kumimoji="0" sz="2000" b="0" i="0" u="none" strike="noStrike" kern="1200" cap="none" spc="1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or fiber</a:t>
            </a:r>
            <a:r>
              <a:rPr kumimoji="0" sz="2000" b="0" i="0" u="none" strike="noStrike" kern="1200" cap="none" spc="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(WDM)</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482600" marR="0" lvl="0" indent="-470534" algn="l" defTabSz="914400" rtl="0" eaLnBrk="1" fontAlgn="auto" latinLnBrk="0" hangingPunct="1">
              <a:lnSpc>
                <a:spcPct val="100000"/>
              </a:lnSpc>
              <a:spcBef>
                <a:spcPts val="480"/>
              </a:spcBef>
              <a:spcAft>
                <a:spcPts val="0"/>
              </a:spcAft>
              <a:buClr>
                <a:srgbClr val="CC0000"/>
              </a:buClr>
              <a:buSzTx/>
              <a:buFont typeface="Wingdings"/>
              <a:buChar char=""/>
              <a:tabLst>
                <a:tab pos="482600" algn="l"/>
                <a:tab pos="483234"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Easy</a:t>
            </a:r>
            <a:r>
              <a:rPr kumimoji="0" sz="2000" b="0" i="0" u="none" strike="noStrike" kern="1200" cap="none" spc="-25"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cable</a:t>
            </a:r>
            <a:r>
              <a:rPr kumimoji="0" sz="2000" b="0" i="0" u="none" strike="noStrike" kern="1200" cap="none" spc="-2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management</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grpSp>
        <p:nvGrpSpPr>
          <p:cNvPr id="4" name="object 4"/>
          <p:cNvGrpSpPr/>
          <p:nvPr/>
        </p:nvGrpSpPr>
        <p:grpSpPr>
          <a:xfrm>
            <a:off x="1862327" y="1665827"/>
            <a:ext cx="2129155" cy="1124585"/>
            <a:chOff x="1862327" y="1665827"/>
            <a:chExt cx="2129155" cy="1124585"/>
          </a:xfrm>
        </p:grpSpPr>
        <p:sp>
          <p:nvSpPr>
            <p:cNvPr id="5" name="object 5"/>
            <p:cNvSpPr/>
            <p:nvPr/>
          </p:nvSpPr>
          <p:spPr>
            <a:xfrm>
              <a:off x="1862327" y="1668779"/>
              <a:ext cx="2129155" cy="60960"/>
            </a:xfrm>
            <a:custGeom>
              <a:avLst/>
              <a:gdLst/>
              <a:ahLst/>
              <a:cxnLst/>
              <a:rect l="l" t="t" r="r" b="b"/>
              <a:pathLst>
                <a:path w="2129154" h="60960">
                  <a:moveTo>
                    <a:pt x="2129028" y="60960"/>
                  </a:moveTo>
                  <a:lnTo>
                    <a:pt x="2129028" y="0"/>
                  </a:lnTo>
                  <a:lnTo>
                    <a:pt x="0" y="0"/>
                  </a:lnTo>
                  <a:lnTo>
                    <a:pt x="0" y="60960"/>
                  </a:lnTo>
                  <a:lnTo>
                    <a:pt x="2129028" y="60960"/>
                  </a:lnTo>
                  <a:close/>
                </a:path>
              </a:pathLst>
            </a:custGeom>
            <a:solidFill>
              <a:srgbClr val="AA841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2431541" y="1705355"/>
              <a:ext cx="1022350" cy="1034415"/>
            </a:xfrm>
            <a:custGeom>
              <a:avLst/>
              <a:gdLst/>
              <a:ahLst/>
              <a:cxnLst/>
              <a:rect l="l" t="t" r="r" b="b"/>
              <a:pathLst>
                <a:path w="1022350" h="1034414">
                  <a:moveTo>
                    <a:pt x="0" y="517398"/>
                  </a:moveTo>
                  <a:lnTo>
                    <a:pt x="2093" y="470304"/>
                  </a:lnTo>
                  <a:lnTo>
                    <a:pt x="8252" y="424395"/>
                  </a:lnTo>
                  <a:lnTo>
                    <a:pt x="18295" y="379853"/>
                  </a:lnTo>
                  <a:lnTo>
                    <a:pt x="32039" y="336861"/>
                  </a:lnTo>
                  <a:lnTo>
                    <a:pt x="49303" y="295602"/>
                  </a:lnTo>
                  <a:lnTo>
                    <a:pt x="69906" y="256257"/>
                  </a:lnTo>
                  <a:lnTo>
                    <a:pt x="93665" y="219011"/>
                  </a:lnTo>
                  <a:lnTo>
                    <a:pt x="120398" y="184045"/>
                  </a:lnTo>
                  <a:lnTo>
                    <a:pt x="149923" y="151542"/>
                  </a:lnTo>
                  <a:lnTo>
                    <a:pt x="182059" y="121685"/>
                  </a:lnTo>
                  <a:lnTo>
                    <a:pt x="216624" y="94657"/>
                  </a:lnTo>
                  <a:lnTo>
                    <a:pt x="253435" y="70640"/>
                  </a:lnTo>
                  <a:lnTo>
                    <a:pt x="292311" y="49816"/>
                  </a:lnTo>
                  <a:lnTo>
                    <a:pt x="333071" y="32369"/>
                  </a:lnTo>
                  <a:lnTo>
                    <a:pt x="375531" y="18482"/>
                  </a:lnTo>
                  <a:lnTo>
                    <a:pt x="419511" y="8336"/>
                  </a:lnTo>
                  <a:lnTo>
                    <a:pt x="464829" y="2114"/>
                  </a:lnTo>
                  <a:lnTo>
                    <a:pt x="511302" y="0"/>
                  </a:lnTo>
                  <a:lnTo>
                    <a:pt x="557768" y="2114"/>
                  </a:lnTo>
                  <a:lnTo>
                    <a:pt x="603066" y="8336"/>
                  </a:lnTo>
                  <a:lnTo>
                    <a:pt x="647015" y="18482"/>
                  </a:lnTo>
                  <a:lnTo>
                    <a:pt x="689436" y="32369"/>
                  </a:lnTo>
                  <a:lnTo>
                    <a:pt x="730148" y="49816"/>
                  </a:lnTo>
                  <a:lnTo>
                    <a:pt x="768970" y="70640"/>
                  </a:lnTo>
                  <a:lnTo>
                    <a:pt x="805723" y="94657"/>
                  </a:lnTo>
                  <a:lnTo>
                    <a:pt x="840226" y="121685"/>
                  </a:lnTo>
                  <a:lnTo>
                    <a:pt x="872299" y="151542"/>
                  </a:lnTo>
                  <a:lnTo>
                    <a:pt x="901761" y="184045"/>
                  </a:lnTo>
                  <a:lnTo>
                    <a:pt x="928432" y="219011"/>
                  </a:lnTo>
                  <a:lnTo>
                    <a:pt x="952133" y="256257"/>
                  </a:lnTo>
                  <a:lnTo>
                    <a:pt x="972681" y="295602"/>
                  </a:lnTo>
                  <a:lnTo>
                    <a:pt x="989898" y="336861"/>
                  </a:lnTo>
                  <a:lnTo>
                    <a:pt x="1003603" y="379853"/>
                  </a:lnTo>
                  <a:lnTo>
                    <a:pt x="1013615" y="424395"/>
                  </a:lnTo>
                  <a:lnTo>
                    <a:pt x="1019755" y="470304"/>
                  </a:lnTo>
                  <a:lnTo>
                    <a:pt x="1021841" y="517398"/>
                  </a:lnTo>
                  <a:lnTo>
                    <a:pt x="1019755" y="564371"/>
                  </a:lnTo>
                  <a:lnTo>
                    <a:pt x="1013615" y="610173"/>
                  </a:lnTo>
                  <a:lnTo>
                    <a:pt x="1003603" y="654621"/>
                  </a:lnTo>
                  <a:lnTo>
                    <a:pt x="989898" y="697531"/>
                  </a:lnTo>
                  <a:lnTo>
                    <a:pt x="972681" y="738719"/>
                  </a:lnTo>
                  <a:lnTo>
                    <a:pt x="952133" y="778002"/>
                  </a:lnTo>
                  <a:lnTo>
                    <a:pt x="928432" y="815196"/>
                  </a:lnTo>
                  <a:lnTo>
                    <a:pt x="901761" y="850119"/>
                  </a:lnTo>
                  <a:lnTo>
                    <a:pt x="872299" y="882586"/>
                  </a:lnTo>
                  <a:lnTo>
                    <a:pt x="840226" y="912415"/>
                  </a:lnTo>
                  <a:lnTo>
                    <a:pt x="805723" y="939421"/>
                  </a:lnTo>
                  <a:lnTo>
                    <a:pt x="768970" y="963422"/>
                  </a:lnTo>
                  <a:lnTo>
                    <a:pt x="730148" y="984233"/>
                  </a:lnTo>
                  <a:lnTo>
                    <a:pt x="689436" y="1001672"/>
                  </a:lnTo>
                  <a:lnTo>
                    <a:pt x="647015" y="1015555"/>
                  </a:lnTo>
                  <a:lnTo>
                    <a:pt x="603066" y="1025699"/>
                  </a:lnTo>
                  <a:lnTo>
                    <a:pt x="557768" y="1031919"/>
                  </a:lnTo>
                  <a:lnTo>
                    <a:pt x="511302" y="1034034"/>
                  </a:lnTo>
                  <a:lnTo>
                    <a:pt x="464829" y="1031919"/>
                  </a:lnTo>
                  <a:lnTo>
                    <a:pt x="419511" y="1025699"/>
                  </a:lnTo>
                  <a:lnTo>
                    <a:pt x="375531" y="1015555"/>
                  </a:lnTo>
                  <a:lnTo>
                    <a:pt x="333071" y="1001672"/>
                  </a:lnTo>
                  <a:lnTo>
                    <a:pt x="292311" y="984233"/>
                  </a:lnTo>
                  <a:lnTo>
                    <a:pt x="253435" y="963422"/>
                  </a:lnTo>
                  <a:lnTo>
                    <a:pt x="216624" y="939421"/>
                  </a:lnTo>
                  <a:lnTo>
                    <a:pt x="182059" y="912415"/>
                  </a:lnTo>
                  <a:lnTo>
                    <a:pt x="149923" y="882586"/>
                  </a:lnTo>
                  <a:lnTo>
                    <a:pt x="120398" y="850119"/>
                  </a:lnTo>
                  <a:lnTo>
                    <a:pt x="93665" y="815196"/>
                  </a:lnTo>
                  <a:lnTo>
                    <a:pt x="69906" y="778002"/>
                  </a:lnTo>
                  <a:lnTo>
                    <a:pt x="49303" y="738719"/>
                  </a:lnTo>
                  <a:lnTo>
                    <a:pt x="32039" y="697531"/>
                  </a:lnTo>
                  <a:lnTo>
                    <a:pt x="18295" y="654621"/>
                  </a:lnTo>
                  <a:lnTo>
                    <a:pt x="8252" y="610173"/>
                  </a:lnTo>
                  <a:lnTo>
                    <a:pt x="2093" y="564371"/>
                  </a:lnTo>
                  <a:lnTo>
                    <a:pt x="0" y="517398"/>
                  </a:lnTo>
                  <a:close/>
                </a:path>
              </a:pathLst>
            </a:custGeom>
            <a:ln w="79057">
              <a:solidFill>
                <a:srgbClr val="AA8419"/>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2431541" y="1703069"/>
              <a:ext cx="1022350" cy="1034415"/>
            </a:xfrm>
            <a:custGeom>
              <a:avLst/>
              <a:gdLst/>
              <a:ahLst/>
              <a:cxnLst/>
              <a:rect l="l" t="t" r="r" b="b"/>
              <a:pathLst>
                <a:path w="1022350" h="1034414">
                  <a:moveTo>
                    <a:pt x="0" y="516636"/>
                  </a:moveTo>
                  <a:lnTo>
                    <a:pt x="2093" y="469662"/>
                  </a:lnTo>
                  <a:lnTo>
                    <a:pt x="8252" y="423860"/>
                  </a:lnTo>
                  <a:lnTo>
                    <a:pt x="18295" y="379412"/>
                  </a:lnTo>
                  <a:lnTo>
                    <a:pt x="32039" y="336502"/>
                  </a:lnTo>
                  <a:lnTo>
                    <a:pt x="49303" y="295314"/>
                  </a:lnTo>
                  <a:lnTo>
                    <a:pt x="69906" y="256032"/>
                  </a:lnTo>
                  <a:lnTo>
                    <a:pt x="93665" y="218837"/>
                  </a:lnTo>
                  <a:lnTo>
                    <a:pt x="120398" y="183914"/>
                  </a:lnTo>
                  <a:lnTo>
                    <a:pt x="149923" y="151447"/>
                  </a:lnTo>
                  <a:lnTo>
                    <a:pt x="182059" y="121618"/>
                  </a:lnTo>
                  <a:lnTo>
                    <a:pt x="216624" y="94612"/>
                  </a:lnTo>
                  <a:lnTo>
                    <a:pt x="253435" y="70612"/>
                  </a:lnTo>
                  <a:lnTo>
                    <a:pt x="292311" y="49800"/>
                  </a:lnTo>
                  <a:lnTo>
                    <a:pt x="333071" y="32361"/>
                  </a:lnTo>
                  <a:lnTo>
                    <a:pt x="375531" y="18478"/>
                  </a:lnTo>
                  <a:lnTo>
                    <a:pt x="419511" y="8334"/>
                  </a:lnTo>
                  <a:lnTo>
                    <a:pt x="464829" y="2114"/>
                  </a:lnTo>
                  <a:lnTo>
                    <a:pt x="511302" y="0"/>
                  </a:lnTo>
                  <a:lnTo>
                    <a:pt x="557768" y="2114"/>
                  </a:lnTo>
                  <a:lnTo>
                    <a:pt x="603066" y="8334"/>
                  </a:lnTo>
                  <a:lnTo>
                    <a:pt x="647015" y="18478"/>
                  </a:lnTo>
                  <a:lnTo>
                    <a:pt x="689436" y="32361"/>
                  </a:lnTo>
                  <a:lnTo>
                    <a:pt x="730148" y="49800"/>
                  </a:lnTo>
                  <a:lnTo>
                    <a:pt x="768970" y="70611"/>
                  </a:lnTo>
                  <a:lnTo>
                    <a:pt x="805723" y="94612"/>
                  </a:lnTo>
                  <a:lnTo>
                    <a:pt x="840226" y="121618"/>
                  </a:lnTo>
                  <a:lnTo>
                    <a:pt x="872299" y="151447"/>
                  </a:lnTo>
                  <a:lnTo>
                    <a:pt x="901761" y="183914"/>
                  </a:lnTo>
                  <a:lnTo>
                    <a:pt x="928432" y="218837"/>
                  </a:lnTo>
                  <a:lnTo>
                    <a:pt x="952133" y="256031"/>
                  </a:lnTo>
                  <a:lnTo>
                    <a:pt x="972681" y="295314"/>
                  </a:lnTo>
                  <a:lnTo>
                    <a:pt x="989898" y="336502"/>
                  </a:lnTo>
                  <a:lnTo>
                    <a:pt x="1003603" y="379412"/>
                  </a:lnTo>
                  <a:lnTo>
                    <a:pt x="1013615" y="423860"/>
                  </a:lnTo>
                  <a:lnTo>
                    <a:pt x="1019755" y="469662"/>
                  </a:lnTo>
                  <a:lnTo>
                    <a:pt x="1021841" y="516636"/>
                  </a:lnTo>
                  <a:lnTo>
                    <a:pt x="1019755" y="563729"/>
                  </a:lnTo>
                  <a:lnTo>
                    <a:pt x="1013615" y="609638"/>
                  </a:lnTo>
                  <a:lnTo>
                    <a:pt x="1003603" y="654180"/>
                  </a:lnTo>
                  <a:lnTo>
                    <a:pt x="989898" y="697172"/>
                  </a:lnTo>
                  <a:lnTo>
                    <a:pt x="972681" y="738431"/>
                  </a:lnTo>
                  <a:lnTo>
                    <a:pt x="952133" y="777776"/>
                  </a:lnTo>
                  <a:lnTo>
                    <a:pt x="928432" y="815022"/>
                  </a:lnTo>
                  <a:lnTo>
                    <a:pt x="901761" y="849988"/>
                  </a:lnTo>
                  <a:lnTo>
                    <a:pt x="872299" y="882491"/>
                  </a:lnTo>
                  <a:lnTo>
                    <a:pt x="840226" y="912348"/>
                  </a:lnTo>
                  <a:lnTo>
                    <a:pt x="805723" y="939376"/>
                  </a:lnTo>
                  <a:lnTo>
                    <a:pt x="768970" y="963393"/>
                  </a:lnTo>
                  <a:lnTo>
                    <a:pt x="730148" y="984217"/>
                  </a:lnTo>
                  <a:lnTo>
                    <a:pt x="689436" y="1001664"/>
                  </a:lnTo>
                  <a:lnTo>
                    <a:pt x="647015" y="1015551"/>
                  </a:lnTo>
                  <a:lnTo>
                    <a:pt x="603066" y="1025697"/>
                  </a:lnTo>
                  <a:lnTo>
                    <a:pt x="557768" y="1031919"/>
                  </a:lnTo>
                  <a:lnTo>
                    <a:pt x="511302" y="1034034"/>
                  </a:lnTo>
                  <a:lnTo>
                    <a:pt x="464829" y="1031919"/>
                  </a:lnTo>
                  <a:lnTo>
                    <a:pt x="419511" y="1025697"/>
                  </a:lnTo>
                  <a:lnTo>
                    <a:pt x="375531" y="1015551"/>
                  </a:lnTo>
                  <a:lnTo>
                    <a:pt x="333071" y="1001664"/>
                  </a:lnTo>
                  <a:lnTo>
                    <a:pt x="292311" y="984217"/>
                  </a:lnTo>
                  <a:lnTo>
                    <a:pt x="253435" y="963393"/>
                  </a:lnTo>
                  <a:lnTo>
                    <a:pt x="216624" y="939376"/>
                  </a:lnTo>
                  <a:lnTo>
                    <a:pt x="182059" y="912348"/>
                  </a:lnTo>
                  <a:lnTo>
                    <a:pt x="149923" y="882491"/>
                  </a:lnTo>
                  <a:lnTo>
                    <a:pt x="120398" y="849988"/>
                  </a:lnTo>
                  <a:lnTo>
                    <a:pt x="93665" y="815022"/>
                  </a:lnTo>
                  <a:lnTo>
                    <a:pt x="69906" y="777776"/>
                  </a:lnTo>
                  <a:lnTo>
                    <a:pt x="49303" y="738431"/>
                  </a:lnTo>
                  <a:lnTo>
                    <a:pt x="32039" y="697172"/>
                  </a:lnTo>
                  <a:lnTo>
                    <a:pt x="18295" y="654180"/>
                  </a:lnTo>
                  <a:lnTo>
                    <a:pt x="8252" y="609638"/>
                  </a:lnTo>
                  <a:lnTo>
                    <a:pt x="2093" y="563729"/>
                  </a:lnTo>
                  <a:lnTo>
                    <a:pt x="0" y="516636"/>
                  </a:lnTo>
                  <a:close/>
                </a:path>
              </a:pathLst>
            </a:custGeom>
            <a:ln w="30594">
              <a:solidFill>
                <a:srgbClr val="D2AB2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p:nvPr/>
          </p:nvSpPr>
          <p:spPr>
            <a:xfrm>
              <a:off x="2260853" y="1707641"/>
              <a:ext cx="1022350" cy="1034415"/>
            </a:xfrm>
            <a:custGeom>
              <a:avLst/>
              <a:gdLst/>
              <a:ahLst/>
              <a:cxnLst/>
              <a:rect l="l" t="t" r="r" b="b"/>
              <a:pathLst>
                <a:path w="1022350" h="1034414">
                  <a:moveTo>
                    <a:pt x="0" y="517398"/>
                  </a:moveTo>
                  <a:lnTo>
                    <a:pt x="2086" y="470304"/>
                  </a:lnTo>
                  <a:lnTo>
                    <a:pt x="8226" y="424395"/>
                  </a:lnTo>
                  <a:lnTo>
                    <a:pt x="18238" y="379853"/>
                  </a:lnTo>
                  <a:lnTo>
                    <a:pt x="31943" y="336861"/>
                  </a:lnTo>
                  <a:lnTo>
                    <a:pt x="49160" y="295602"/>
                  </a:lnTo>
                  <a:lnTo>
                    <a:pt x="69708" y="256257"/>
                  </a:lnTo>
                  <a:lnTo>
                    <a:pt x="93409" y="219011"/>
                  </a:lnTo>
                  <a:lnTo>
                    <a:pt x="120080" y="184045"/>
                  </a:lnTo>
                  <a:lnTo>
                    <a:pt x="149542" y="151542"/>
                  </a:lnTo>
                  <a:lnTo>
                    <a:pt x="181615" y="121685"/>
                  </a:lnTo>
                  <a:lnTo>
                    <a:pt x="216118" y="94657"/>
                  </a:lnTo>
                  <a:lnTo>
                    <a:pt x="252871" y="70640"/>
                  </a:lnTo>
                  <a:lnTo>
                    <a:pt x="291693" y="49816"/>
                  </a:lnTo>
                  <a:lnTo>
                    <a:pt x="332405" y="32369"/>
                  </a:lnTo>
                  <a:lnTo>
                    <a:pt x="374826" y="18482"/>
                  </a:lnTo>
                  <a:lnTo>
                    <a:pt x="418775" y="8336"/>
                  </a:lnTo>
                  <a:lnTo>
                    <a:pt x="464073" y="2114"/>
                  </a:lnTo>
                  <a:lnTo>
                    <a:pt x="510540" y="0"/>
                  </a:lnTo>
                  <a:lnTo>
                    <a:pt x="557126" y="2114"/>
                  </a:lnTo>
                  <a:lnTo>
                    <a:pt x="602530" y="8336"/>
                  </a:lnTo>
                  <a:lnTo>
                    <a:pt x="646574" y="18482"/>
                  </a:lnTo>
                  <a:lnTo>
                    <a:pt x="689077" y="32369"/>
                  </a:lnTo>
                  <a:lnTo>
                    <a:pt x="729861" y="49816"/>
                  </a:lnTo>
                  <a:lnTo>
                    <a:pt x="768745" y="70640"/>
                  </a:lnTo>
                  <a:lnTo>
                    <a:pt x="805549" y="94657"/>
                  </a:lnTo>
                  <a:lnTo>
                    <a:pt x="840096" y="121685"/>
                  </a:lnTo>
                  <a:lnTo>
                    <a:pt x="872204" y="151542"/>
                  </a:lnTo>
                  <a:lnTo>
                    <a:pt x="901694" y="184045"/>
                  </a:lnTo>
                  <a:lnTo>
                    <a:pt x="928388" y="219011"/>
                  </a:lnTo>
                  <a:lnTo>
                    <a:pt x="952104" y="256257"/>
                  </a:lnTo>
                  <a:lnTo>
                    <a:pt x="972665" y="295602"/>
                  </a:lnTo>
                  <a:lnTo>
                    <a:pt x="989890" y="336861"/>
                  </a:lnTo>
                  <a:lnTo>
                    <a:pt x="1003599" y="379853"/>
                  </a:lnTo>
                  <a:lnTo>
                    <a:pt x="1013614" y="424395"/>
                  </a:lnTo>
                  <a:lnTo>
                    <a:pt x="1019755" y="470304"/>
                  </a:lnTo>
                  <a:lnTo>
                    <a:pt x="1021841" y="517398"/>
                  </a:lnTo>
                  <a:lnTo>
                    <a:pt x="1019755" y="564371"/>
                  </a:lnTo>
                  <a:lnTo>
                    <a:pt x="1013614" y="610173"/>
                  </a:lnTo>
                  <a:lnTo>
                    <a:pt x="1003599" y="654621"/>
                  </a:lnTo>
                  <a:lnTo>
                    <a:pt x="989890" y="697531"/>
                  </a:lnTo>
                  <a:lnTo>
                    <a:pt x="972665" y="738719"/>
                  </a:lnTo>
                  <a:lnTo>
                    <a:pt x="952104" y="778002"/>
                  </a:lnTo>
                  <a:lnTo>
                    <a:pt x="928388" y="815196"/>
                  </a:lnTo>
                  <a:lnTo>
                    <a:pt x="901694" y="850119"/>
                  </a:lnTo>
                  <a:lnTo>
                    <a:pt x="872204" y="882586"/>
                  </a:lnTo>
                  <a:lnTo>
                    <a:pt x="840096" y="912415"/>
                  </a:lnTo>
                  <a:lnTo>
                    <a:pt x="805549" y="939421"/>
                  </a:lnTo>
                  <a:lnTo>
                    <a:pt x="768745" y="963422"/>
                  </a:lnTo>
                  <a:lnTo>
                    <a:pt x="729861" y="984233"/>
                  </a:lnTo>
                  <a:lnTo>
                    <a:pt x="689077" y="1001672"/>
                  </a:lnTo>
                  <a:lnTo>
                    <a:pt x="646574" y="1015555"/>
                  </a:lnTo>
                  <a:lnTo>
                    <a:pt x="602530" y="1025699"/>
                  </a:lnTo>
                  <a:lnTo>
                    <a:pt x="557126" y="1031919"/>
                  </a:lnTo>
                  <a:lnTo>
                    <a:pt x="510540" y="1034034"/>
                  </a:lnTo>
                  <a:lnTo>
                    <a:pt x="464073" y="1031919"/>
                  </a:lnTo>
                  <a:lnTo>
                    <a:pt x="418775" y="1025699"/>
                  </a:lnTo>
                  <a:lnTo>
                    <a:pt x="374826" y="1015555"/>
                  </a:lnTo>
                  <a:lnTo>
                    <a:pt x="332405" y="1001672"/>
                  </a:lnTo>
                  <a:lnTo>
                    <a:pt x="291693" y="984233"/>
                  </a:lnTo>
                  <a:lnTo>
                    <a:pt x="252871" y="963422"/>
                  </a:lnTo>
                  <a:lnTo>
                    <a:pt x="216118" y="939421"/>
                  </a:lnTo>
                  <a:lnTo>
                    <a:pt x="181615" y="912415"/>
                  </a:lnTo>
                  <a:lnTo>
                    <a:pt x="149542" y="882586"/>
                  </a:lnTo>
                  <a:lnTo>
                    <a:pt x="120080" y="850119"/>
                  </a:lnTo>
                  <a:lnTo>
                    <a:pt x="93409" y="815196"/>
                  </a:lnTo>
                  <a:lnTo>
                    <a:pt x="69708" y="778002"/>
                  </a:lnTo>
                  <a:lnTo>
                    <a:pt x="49160" y="738719"/>
                  </a:lnTo>
                  <a:lnTo>
                    <a:pt x="31943" y="697531"/>
                  </a:lnTo>
                  <a:lnTo>
                    <a:pt x="18238" y="654621"/>
                  </a:lnTo>
                  <a:lnTo>
                    <a:pt x="8226" y="610173"/>
                  </a:lnTo>
                  <a:lnTo>
                    <a:pt x="2086" y="564371"/>
                  </a:lnTo>
                  <a:lnTo>
                    <a:pt x="0" y="517398"/>
                  </a:lnTo>
                  <a:close/>
                </a:path>
              </a:pathLst>
            </a:custGeom>
            <a:ln w="79057">
              <a:solidFill>
                <a:srgbClr val="AA8419"/>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p:nvPr/>
          </p:nvSpPr>
          <p:spPr>
            <a:xfrm>
              <a:off x="2260853" y="1705355"/>
              <a:ext cx="1022350" cy="1034415"/>
            </a:xfrm>
            <a:custGeom>
              <a:avLst/>
              <a:gdLst/>
              <a:ahLst/>
              <a:cxnLst/>
              <a:rect l="l" t="t" r="r" b="b"/>
              <a:pathLst>
                <a:path w="1022350" h="1034414">
                  <a:moveTo>
                    <a:pt x="0" y="517398"/>
                  </a:moveTo>
                  <a:lnTo>
                    <a:pt x="2086" y="470304"/>
                  </a:lnTo>
                  <a:lnTo>
                    <a:pt x="8226" y="424395"/>
                  </a:lnTo>
                  <a:lnTo>
                    <a:pt x="18238" y="379853"/>
                  </a:lnTo>
                  <a:lnTo>
                    <a:pt x="31943" y="336861"/>
                  </a:lnTo>
                  <a:lnTo>
                    <a:pt x="49160" y="295602"/>
                  </a:lnTo>
                  <a:lnTo>
                    <a:pt x="69708" y="256257"/>
                  </a:lnTo>
                  <a:lnTo>
                    <a:pt x="93409" y="219011"/>
                  </a:lnTo>
                  <a:lnTo>
                    <a:pt x="120080" y="184045"/>
                  </a:lnTo>
                  <a:lnTo>
                    <a:pt x="149542" y="151542"/>
                  </a:lnTo>
                  <a:lnTo>
                    <a:pt x="181615" y="121685"/>
                  </a:lnTo>
                  <a:lnTo>
                    <a:pt x="216118" y="94657"/>
                  </a:lnTo>
                  <a:lnTo>
                    <a:pt x="252871" y="70640"/>
                  </a:lnTo>
                  <a:lnTo>
                    <a:pt x="291693" y="49816"/>
                  </a:lnTo>
                  <a:lnTo>
                    <a:pt x="332405" y="32369"/>
                  </a:lnTo>
                  <a:lnTo>
                    <a:pt x="374826" y="18482"/>
                  </a:lnTo>
                  <a:lnTo>
                    <a:pt x="418775" y="8336"/>
                  </a:lnTo>
                  <a:lnTo>
                    <a:pt x="464073" y="2114"/>
                  </a:lnTo>
                  <a:lnTo>
                    <a:pt x="510540" y="0"/>
                  </a:lnTo>
                  <a:lnTo>
                    <a:pt x="557126" y="2114"/>
                  </a:lnTo>
                  <a:lnTo>
                    <a:pt x="602530" y="8336"/>
                  </a:lnTo>
                  <a:lnTo>
                    <a:pt x="646574" y="18482"/>
                  </a:lnTo>
                  <a:lnTo>
                    <a:pt x="689077" y="32369"/>
                  </a:lnTo>
                  <a:lnTo>
                    <a:pt x="729861" y="49816"/>
                  </a:lnTo>
                  <a:lnTo>
                    <a:pt x="768745" y="70640"/>
                  </a:lnTo>
                  <a:lnTo>
                    <a:pt x="805549" y="94657"/>
                  </a:lnTo>
                  <a:lnTo>
                    <a:pt x="840096" y="121685"/>
                  </a:lnTo>
                  <a:lnTo>
                    <a:pt x="872204" y="151542"/>
                  </a:lnTo>
                  <a:lnTo>
                    <a:pt x="901694" y="184045"/>
                  </a:lnTo>
                  <a:lnTo>
                    <a:pt x="928388" y="219011"/>
                  </a:lnTo>
                  <a:lnTo>
                    <a:pt x="952104" y="256257"/>
                  </a:lnTo>
                  <a:lnTo>
                    <a:pt x="972665" y="295602"/>
                  </a:lnTo>
                  <a:lnTo>
                    <a:pt x="989890" y="336861"/>
                  </a:lnTo>
                  <a:lnTo>
                    <a:pt x="1003599" y="379853"/>
                  </a:lnTo>
                  <a:lnTo>
                    <a:pt x="1013614" y="424395"/>
                  </a:lnTo>
                  <a:lnTo>
                    <a:pt x="1019755" y="470304"/>
                  </a:lnTo>
                  <a:lnTo>
                    <a:pt x="1021841" y="517398"/>
                  </a:lnTo>
                  <a:lnTo>
                    <a:pt x="1019755" y="564371"/>
                  </a:lnTo>
                  <a:lnTo>
                    <a:pt x="1013614" y="610173"/>
                  </a:lnTo>
                  <a:lnTo>
                    <a:pt x="1003599" y="654621"/>
                  </a:lnTo>
                  <a:lnTo>
                    <a:pt x="989890" y="697531"/>
                  </a:lnTo>
                  <a:lnTo>
                    <a:pt x="972665" y="738719"/>
                  </a:lnTo>
                  <a:lnTo>
                    <a:pt x="952104" y="778002"/>
                  </a:lnTo>
                  <a:lnTo>
                    <a:pt x="928388" y="815196"/>
                  </a:lnTo>
                  <a:lnTo>
                    <a:pt x="901694" y="850119"/>
                  </a:lnTo>
                  <a:lnTo>
                    <a:pt x="872204" y="882586"/>
                  </a:lnTo>
                  <a:lnTo>
                    <a:pt x="840096" y="912415"/>
                  </a:lnTo>
                  <a:lnTo>
                    <a:pt x="805549" y="939421"/>
                  </a:lnTo>
                  <a:lnTo>
                    <a:pt x="768745" y="963422"/>
                  </a:lnTo>
                  <a:lnTo>
                    <a:pt x="729861" y="984233"/>
                  </a:lnTo>
                  <a:lnTo>
                    <a:pt x="689077" y="1001672"/>
                  </a:lnTo>
                  <a:lnTo>
                    <a:pt x="646574" y="1015555"/>
                  </a:lnTo>
                  <a:lnTo>
                    <a:pt x="602530" y="1025699"/>
                  </a:lnTo>
                  <a:lnTo>
                    <a:pt x="557126" y="1031919"/>
                  </a:lnTo>
                  <a:lnTo>
                    <a:pt x="510540" y="1034034"/>
                  </a:lnTo>
                  <a:lnTo>
                    <a:pt x="464073" y="1031919"/>
                  </a:lnTo>
                  <a:lnTo>
                    <a:pt x="418775" y="1025699"/>
                  </a:lnTo>
                  <a:lnTo>
                    <a:pt x="374826" y="1015555"/>
                  </a:lnTo>
                  <a:lnTo>
                    <a:pt x="332405" y="1001672"/>
                  </a:lnTo>
                  <a:lnTo>
                    <a:pt x="291693" y="984233"/>
                  </a:lnTo>
                  <a:lnTo>
                    <a:pt x="252871" y="963422"/>
                  </a:lnTo>
                  <a:lnTo>
                    <a:pt x="216118" y="939421"/>
                  </a:lnTo>
                  <a:lnTo>
                    <a:pt x="181615" y="912415"/>
                  </a:lnTo>
                  <a:lnTo>
                    <a:pt x="149542" y="882586"/>
                  </a:lnTo>
                  <a:lnTo>
                    <a:pt x="120080" y="850119"/>
                  </a:lnTo>
                  <a:lnTo>
                    <a:pt x="93409" y="815196"/>
                  </a:lnTo>
                  <a:lnTo>
                    <a:pt x="69708" y="778002"/>
                  </a:lnTo>
                  <a:lnTo>
                    <a:pt x="49160" y="738719"/>
                  </a:lnTo>
                  <a:lnTo>
                    <a:pt x="31943" y="697531"/>
                  </a:lnTo>
                  <a:lnTo>
                    <a:pt x="18238" y="654621"/>
                  </a:lnTo>
                  <a:lnTo>
                    <a:pt x="8226" y="610173"/>
                  </a:lnTo>
                  <a:lnTo>
                    <a:pt x="2086" y="564371"/>
                  </a:lnTo>
                  <a:lnTo>
                    <a:pt x="0" y="517398"/>
                  </a:lnTo>
                  <a:close/>
                </a:path>
              </a:pathLst>
            </a:custGeom>
            <a:ln w="30594">
              <a:solidFill>
                <a:srgbClr val="D2AB2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2634995" y="1716785"/>
              <a:ext cx="1022985" cy="1034415"/>
            </a:xfrm>
            <a:custGeom>
              <a:avLst/>
              <a:gdLst/>
              <a:ahLst/>
              <a:cxnLst/>
              <a:rect l="l" t="t" r="r" b="b"/>
              <a:pathLst>
                <a:path w="1022985" h="1034414">
                  <a:moveTo>
                    <a:pt x="0" y="517398"/>
                  </a:moveTo>
                  <a:lnTo>
                    <a:pt x="2093" y="470304"/>
                  </a:lnTo>
                  <a:lnTo>
                    <a:pt x="8252" y="424395"/>
                  </a:lnTo>
                  <a:lnTo>
                    <a:pt x="18295" y="379853"/>
                  </a:lnTo>
                  <a:lnTo>
                    <a:pt x="32039" y="336861"/>
                  </a:lnTo>
                  <a:lnTo>
                    <a:pt x="49303" y="295602"/>
                  </a:lnTo>
                  <a:lnTo>
                    <a:pt x="69906" y="256257"/>
                  </a:lnTo>
                  <a:lnTo>
                    <a:pt x="93665" y="219011"/>
                  </a:lnTo>
                  <a:lnTo>
                    <a:pt x="120398" y="184045"/>
                  </a:lnTo>
                  <a:lnTo>
                    <a:pt x="149923" y="151542"/>
                  </a:lnTo>
                  <a:lnTo>
                    <a:pt x="182059" y="121685"/>
                  </a:lnTo>
                  <a:lnTo>
                    <a:pt x="216624" y="94657"/>
                  </a:lnTo>
                  <a:lnTo>
                    <a:pt x="253435" y="70640"/>
                  </a:lnTo>
                  <a:lnTo>
                    <a:pt x="292311" y="49816"/>
                  </a:lnTo>
                  <a:lnTo>
                    <a:pt x="333071" y="32369"/>
                  </a:lnTo>
                  <a:lnTo>
                    <a:pt x="375531" y="18482"/>
                  </a:lnTo>
                  <a:lnTo>
                    <a:pt x="419511" y="8336"/>
                  </a:lnTo>
                  <a:lnTo>
                    <a:pt x="464829" y="2114"/>
                  </a:lnTo>
                  <a:lnTo>
                    <a:pt x="511302" y="0"/>
                  </a:lnTo>
                  <a:lnTo>
                    <a:pt x="557774" y="2114"/>
                  </a:lnTo>
                  <a:lnTo>
                    <a:pt x="603092" y="8336"/>
                  </a:lnTo>
                  <a:lnTo>
                    <a:pt x="647072" y="18482"/>
                  </a:lnTo>
                  <a:lnTo>
                    <a:pt x="689532" y="32369"/>
                  </a:lnTo>
                  <a:lnTo>
                    <a:pt x="730292" y="49816"/>
                  </a:lnTo>
                  <a:lnTo>
                    <a:pt x="769168" y="70640"/>
                  </a:lnTo>
                  <a:lnTo>
                    <a:pt x="805979" y="94657"/>
                  </a:lnTo>
                  <a:lnTo>
                    <a:pt x="840544" y="121685"/>
                  </a:lnTo>
                  <a:lnTo>
                    <a:pt x="872680" y="151542"/>
                  </a:lnTo>
                  <a:lnTo>
                    <a:pt x="902205" y="184045"/>
                  </a:lnTo>
                  <a:lnTo>
                    <a:pt x="928938" y="219011"/>
                  </a:lnTo>
                  <a:lnTo>
                    <a:pt x="952697" y="256257"/>
                  </a:lnTo>
                  <a:lnTo>
                    <a:pt x="973300" y="295602"/>
                  </a:lnTo>
                  <a:lnTo>
                    <a:pt x="990564" y="336861"/>
                  </a:lnTo>
                  <a:lnTo>
                    <a:pt x="1004308" y="379853"/>
                  </a:lnTo>
                  <a:lnTo>
                    <a:pt x="1014351" y="424395"/>
                  </a:lnTo>
                  <a:lnTo>
                    <a:pt x="1020510" y="470304"/>
                  </a:lnTo>
                  <a:lnTo>
                    <a:pt x="1022604" y="517398"/>
                  </a:lnTo>
                  <a:lnTo>
                    <a:pt x="1020510" y="564484"/>
                  </a:lnTo>
                  <a:lnTo>
                    <a:pt x="1014351" y="610374"/>
                  </a:lnTo>
                  <a:lnTo>
                    <a:pt x="1004308" y="654886"/>
                  </a:lnTo>
                  <a:lnTo>
                    <a:pt x="990564" y="697838"/>
                  </a:lnTo>
                  <a:lnTo>
                    <a:pt x="973300" y="739050"/>
                  </a:lnTo>
                  <a:lnTo>
                    <a:pt x="952697" y="778340"/>
                  </a:lnTo>
                  <a:lnTo>
                    <a:pt x="928938" y="815528"/>
                  </a:lnTo>
                  <a:lnTo>
                    <a:pt x="902205" y="850432"/>
                  </a:lnTo>
                  <a:lnTo>
                    <a:pt x="872680" y="882872"/>
                  </a:lnTo>
                  <a:lnTo>
                    <a:pt x="840544" y="912665"/>
                  </a:lnTo>
                  <a:lnTo>
                    <a:pt x="805979" y="939632"/>
                  </a:lnTo>
                  <a:lnTo>
                    <a:pt x="769168" y="963591"/>
                  </a:lnTo>
                  <a:lnTo>
                    <a:pt x="730292" y="984360"/>
                  </a:lnTo>
                  <a:lnTo>
                    <a:pt x="689532" y="1001760"/>
                  </a:lnTo>
                  <a:lnTo>
                    <a:pt x="647072" y="1015608"/>
                  </a:lnTo>
                  <a:lnTo>
                    <a:pt x="603092" y="1025724"/>
                  </a:lnTo>
                  <a:lnTo>
                    <a:pt x="557774" y="1031926"/>
                  </a:lnTo>
                  <a:lnTo>
                    <a:pt x="511302" y="1034034"/>
                  </a:lnTo>
                  <a:lnTo>
                    <a:pt x="464829" y="1031926"/>
                  </a:lnTo>
                  <a:lnTo>
                    <a:pt x="419511" y="1025724"/>
                  </a:lnTo>
                  <a:lnTo>
                    <a:pt x="375531" y="1015608"/>
                  </a:lnTo>
                  <a:lnTo>
                    <a:pt x="333071" y="1001760"/>
                  </a:lnTo>
                  <a:lnTo>
                    <a:pt x="292311" y="984360"/>
                  </a:lnTo>
                  <a:lnTo>
                    <a:pt x="253435" y="963591"/>
                  </a:lnTo>
                  <a:lnTo>
                    <a:pt x="216624" y="939632"/>
                  </a:lnTo>
                  <a:lnTo>
                    <a:pt x="182059" y="912665"/>
                  </a:lnTo>
                  <a:lnTo>
                    <a:pt x="149923" y="882872"/>
                  </a:lnTo>
                  <a:lnTo>
                    <a:pt x="120398" y="850432"/>
                  </a:lnTo>
                  <a:lnTo>
                    <a:pt x="93665" y="815528"/>
                  </a:lnTo>
                  <a:lnTo>
                    <a:pt x="69906" y="778340"/>
                  </a:lnTo>
                  <a:lnTo>
                    <a:pt x="49303" y="739050"/>
                  </a:lnTo>
                  <a:lnTo>
                    <a:pt x="32039" y="697838"/>
                  </a:lnTo>
                  <a:lnTo>
                    <a:pt x="18295" y="654886"/>
                  </a:lnTo>
                  <a:lnTo>
                    <a:pt x="8252" y="610374"/>
                  </a:lnTo>
                  <a:lnTo>
                    <a:pt x="2093" y="564484"/>
                  </a:lnTo>
                  <a:lnTo>
                    <a:pt x="0" y="517398"/>
                  </a:lnTo>
                  <a:close/>
                </a:path>
              </a:pathLst>
            </a:custGeom>
            <a:ln w="79057">
              <a:solidFill>
                <a:srgbClr val="AA8419"/>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2634995" y="1714499"/>
              <a:ext cx="1022985" cy="1034415"/>
            </a:xfrm>
            <a:custGeom>
              <a:avLst/>
              <a:gdLst/>
              <a:ahLst/>
              <a:cxnLst/>
              <a:rect l="l" t="t" r="r" b="b"/>
              <a:pathLst>
                <a:path w="1022985" h="1034414">
                  <a:moveTo>
                    <a:pt x="0" y="517398"/>
                  </a:moveTo>
                  <a:lnTo>
                    <a:pt x="2093" y="470304"/>
                  </a:lnTo>
                  <a:lnTo>
                    <a:pt x="8252" y="424395"/>
                  </a:lnTo>
                  <a:lnTo>
                    <a:pt x="18295" y="379853"/>
                  </a:lnTo>
                  <a:lnTo>
                    <a:pt x="32039" y="336861"/>
                  </a:lnTo>
                  <a:lnTo>
                    <a:pt x="49303" y="295602"/>
                  </a:lnTo>
                  <a:lnTo>
                    <a:pt x="69906" y="256257"/>
                  </a:lnTo>
                  <a:lnTo>
                    <a:pt x="93665" y="219011"/>
                  </a:lnTo>
                  <a:lnTo>
                    <a:pt x="120398" y="184045"/>
                  </a:lnTo>
                  <a:lnTo>
                    <a:pt x="149923" y="151542"/>
                  </a:lnTo>
                  <a:lnTo>
                    <a:pt x="182059" y="121685"/>
                  </a:lnTo>
                  <a:lnTo>
                    <a:pt x="216624" y="94657"/>
                  </a:lnTo>
                  <a:lnTo>
                    <a:pt x="253435" y="70640"/>
                  </a:lnTo>
                  <a:lnTo>
                    <a:pt x="292311" y="49816"/>
                  </a:lnTo>
                  <a:lnTo>
                    <a:pt x="333071" y="32369"/>
                  </a:lnTo>
                  <a:lnTo>
                    <a:pt x="375531" y="18482"/>
                  </a:lnTo>
                  <a:lnTo>
                    <a:pt x="419511" y="8336"/>
                  </a:lnTo>
                  <a:lnTo>
                    <a:pt x="464829" y="2114"/>
                  </a:lnTo>
                  <a:lnTo>
                    <a:pt x="511302" y="0"/>
                  </a:lnTo>
                  <a:lnTo>
                    <a:pt x="557774" y="2114"/>
                  </a:lnTo>
                  <a:lnTo>
                    <a:pt x="603092" y="8336"/>
                  </a:lnTo>
                  <a:lnTo>
                    <a:pt x="647072" y="18482"/>
                  </a:lnTo>
                  <a:lnTo>
                    <a:pt x="689532" y="32369"/>
                  </a:lnTo>
                  <a:lnTo>
                    <a:pt x="730292" y="49816"/>
                  </a:lnTo>
                  <a:lnTo>
                    <a:pt x="769168" y="70640"/>
                  </a:lnTo>
                  <a:lnTo>
                    <a:pt x="805979" y="94657"/>
                  </a:lnTo>
                  <a:lnTo>
                    <a:pt x="840544" y="121685"/>
                  </a:lnTo>
                  <a:lnTo>
                    <a:pt x="872680" y="151542"/>
                  </a:lnTo>
                  <a:lnTo>
                    <a:pt x="902205" y="184045"/>
                  </a:lnTo>
                  <a:lnTo>
                    <a:pt x="928938" y="219011"/>
                  </a:lnTo>
                  <a:lnTo>
                    <a:pt x="952697" y="256257"/>
                  </a:lnTo>
                  <a:lnTo>
                    <a:pt x="973300" y="295602"/>
                  </a:lnTo>
                  <a:lnTo>
                    <a:pt x="990564" y="336861"/>
                  </a:lnTo>
                  <a:lnTo>
                    <a:pt x="1004308" y="379853"/>
                  </a:lnTo>
                  <a:lnTo>
                    <a:pt x="1014351" y="424395"/>
                  </a:lnTo>
                  <a:lnTo>
                    <a:pt x="1020510" y="470304"/>
                  </a:lnTo>
                  <a:lnTo>
                    <a:pt x="1022604" y="517398"/>
                  </a:lnTo>
                  <a:lnTo>
                    <a:pt x="1020510" y="564484"/>
                  </a:lnTo>
                  <a:lnTo>
                    <a:pt x="1014351" y="610374"/>
                  </a:lnTo>
                  <a:lnTo>
                    <a:pt x="1004308" y="654886"/>
                  </a:lnTo>
                  <a:lnTo>
                    <a:pt x="990564" y="697838"/>
                  </a:lnTo>
                  <a:lnTo>
                    <a:pt x="973300" y="739050"/>
                  </a:lnTo>
                  <a:lnTo>
                    <a:pt x="952697" y="778340"/>
                  </a:lnTo>
                  <a:lnTo>
                    <a:pt x="928938" y="815528"/>
                  </a:lnTo>
                  <a:lnTo>
                    <a:pt x="902205" y="850432"/>
                  </a:lnTo>
                  <a:lnTo>
                    <a:pt x="872680" y="882872"/>
                  </a:lnTo>
                  <a:lnTo>
                    <a:pt x="840544" y="912665"/>
                  </a:lnTo>
                  <a:lnTo>
                    <a:pt x="805979" y="939632"/>
                  </a:lnTo>
                  <a:lnTo>
                    <a:pt x="769168" y="963591"/>
                  </a:lnTo>
                  <a:lnTo>
                    <a:pt x="730292" y="984360"/>
                  </a:lnTo>
                  <a:lnTo>
                    <a:pt x="689532" y="1001760"/>
                  </a:lnTo>
                  <a:lnTo>
                    <a:pt x="647072" y="1015608"/>
                  </a:lnTo>
                  <a:lnTo>
                    <a:pt x="603092" y="1025724"/>
                  </a:lnTo>
                  <a:lnTo>
                    <a:pt x="557774" y="1031926"/>
                  </a:lnTo>
                  <a:lnTo>
                    <a:pt x="511302" y="1034034"/>
                  </a:lnTo>
                  <a:lnTo>
                    <a:pt x="464829" y="1031926"/>
                  </a:lnTo>
                  <a:lnTo>
                    <a:pt x="419511" y="1025724"/>
                  </a:lnTo>
                  <a:lnTo>
                    <a:pt x="375531" y="1015608"/>
                  </a:lnTo>
                  <a:lnTo>
                    <a:pt x="333071" y="1001760"/>
                  </a:lnTo>
                  <a:lnTo>
                    <a:pt x="292311" y="984360"/>
                  </a:lnTo>
                  <a:lnTo>
                    <a:pt x="253435" y="963591"/>
                  </a:lnTo>
                  <a:lnTo>
                    <a:pt x="216624" y="939632"/>
                  </a:lnTo>
                  <a:lnTo>
                    <a:pt x="182059" y="912665"/>
                  </a:lnTo>
                  <a:lnTo>
                    <a:pt x="149923" y="882872"/>
                  </a:lnTo>
                  <a:lnTo>
                    <a:pt x="120398" y="850432"/>
                  </a:lnTo>
                  <a:lnTo>
                    <a:pt x="93665" y="815528"/>
                  </a:lnTo>
                  <a:lnTo>
                    <a:pt x="69906" y="778340"/>
                  </a:lnTo>
                  <a:lnTo>
                    <a:pt x="49303" y="739050"/>
                  </a:lnTo>
                  <a:lnTo>
                    <a:pt x="32039" y="697838"/>
                  </a:lnTo>
                  <a:lnTo>
                    <a:pt x="18295" y="654886"/>
                  </a:lnTo>
                  <a:lnTo>
                    <a:pt x="8252" y="610374"/>
                  </a:lnTo>
                  <a:lnTo>
                    <a:pt x="2093" y="564484"/>
                  </a:lnTo>
                  <a:lnTo>
                    <a:pt x="0" y="517398"/>
                  </a:lnTo>
                  <a:close/>
                </a:path>
              </a:pathLst>
            </a:custGeom>
            <a:ln w="30594">
              <a:solidFill>
                <a:srgbClr val="D2AB2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2" name="object 12"/>
          <p:cNvPicPr/>
          <p:nvPr/>
        </p:nvPicPr>
        <p:blipFill>
          <a:blip r:embed="rId3" cstate="print"/>
          <a:stretch>
            <a:fillRect/>
          </a:stretch>
        </p:blipFill>
        <p:spPr>
          <a:xfrm>
            <a:off x="6545580" y="1228344"/>
            <a:ext cx="5403341" cy="2695194"/>
          </a:xfrm>
          <a:prstGeom prst="rect">
            <a:avLst/>
          </a:prstGeom>
        </p:spPr>
      </p:pic>
      <p:sp>
        <p:nvSpPr>
          <p:cNvPr id="13" name="object 13"/>
          <p:cNvSpPr txBox="1"/>
          <p:nvPr/>
        </p:nvSpPr>
        <p:spPr>
          <a:xfrm>
            <a:off x="9643362" y="3747008"/>
            <a:ext cx="1109345" cy="1854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050" b="0" i="0" u="none" strike="noStrike" kern="1200" cap="none" spc="-5" normalizeH="0" baseline="0" noProof="0" dirty="0">
                <a:ln>
                  <a:noFill/>
                </a:ln>
                <a:solidFill>
                  <a:prstClr val="black"/>
                </a:solidFill>
                <a:effectLst/>
                <a:uLnTx/>
                <a:uFillTx/>
                <a:latin typeface="Verdana"/>
                <a:ea typeface="+mn-ea"/>
                <a:cs typeface="Verdana"/>
              </a:rPr>
              <a:t>©Alcatel-Lucent</a:t>
            </a:r>
            <a:endParaRPr kumimoji="0" sz="1050" b="0" i="0" u="none" strike="noStrike" kern="1200" cap="none" spc="0" normalizeH="0" baseline="0" noProof="0">
              <a:ln>
                <a:noFill/>
              </a:ln>
              <a:solidFill>
                <a:prstClr val="black"/>
              </a:solidFill>
              <a:effectLst/>
              <a:uLnTx/>
              <a:uFillTx/>
              <a:latin typeface="Verdana"/>
              <a:ea typeface="+mn-ea"/>
              <a:cs typeface="Verdana"/>
            </a:endParaRPr>
          </a:p>
        </p:txBody>
      </p:sp>
      <p:sp>
        <p:nvSpPr>
          <p:cNvPr id="14" name="Slide Number Placeholder 13"/>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42</a:t>
            </a:fld>
            <a:endParaRPr lang="en-US" spc="-50" dirty="0"/>
          </a:p>
        </p:txBody>
      </p:sp>
      <p:sp>
        <p:nvSpPr>
          <p:cNvPr id="15" name="Date Placeholder 14"/>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6" name="Footer Placeholder 15"/>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77080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
        <p:nvSpPr>
          <p:cNvPr id="5" name="Date Placeholder 4"/>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6" name="Slide Number Placeholder 5"/>
          <p:cNvSpPr>
            <a:spLocks noGrp="1"/>
          </p:cNvSpPr>
          <p:nvPr>
            <p:ph type="sldNum" sz="quarter" idx="7"/>
          </p:nvPr>
        </p:nvSpPr>
        <p:spPr/>
        <p:txBody>
          <a:bodyPr/>
          <a:lstStyle/>
          <a:p>
            <a:pPr marL="135255">
              <a:lnSpc>
                <a:spcPct val="100000"/>
              </a:lnSpc>
              <a:spcBef>
                <a:spcPts val="110"/>
              </a:spcBef>
            </a:pPr>
            <a:r>
              <a:rPr lang="en-US" dirty="0">
                <a:solidFill>
                  <a:prstClr val="black">
                    <a:lumMod val="75000"/>
                    <a:lumOff val="25000"/>
                  </a:prstClr>
                </a:solidFill>
              </a:rPr>
              <a:t>Slide </a:t>
            </a:r>
            <a:fld id="{81D60167-4931-47E6-BA6A-407CBD079E47}" type="slidenum">
              <a:rPr lang="en-US" spc="-50" smtClean="0"/>
              <a:t>43</a:t>
            </a:fld>
            <a:endParaRPr lang="en-US" spc="-50" dirty="0"/>
          </a:p>
        </p:txBody>
      </p:sp>
      <p:grpSp>
        <p:nvGrpSpPr>
          <p:cNvPr id="7" name="object 2"/>
          <p:cNvGrpSpPr/>
          <p:nvPr/>
        </p:nvGrpSpPr>
        <p:grpSpPr>
          <a:xfrm>
            <a:off x="985266" y="2496311"/>
            <a:ext cx="5133975" cy="1697989"/>
            <a:chOff x="985266" y="2496311"/>
            <a:chExt cx="5133975" cy="1697989"/>
          </a:xfrm>
        </p:grpSpPr>
        <p:pic>
          <p:nvPicPr>
            <p:cNvPr id="8" name="object 3"/>
            <p:cNvPicPr/>
            <p:nvPr/>
          </p:nvPicPr>
          <p:blipFill>
            <a:blip r:embed="rId2" cstate="print"/>
            <a:stretch>
              <a:fillRect/>
            </a:stretch>
          </p:blipFill>
          <p:spPr>
            <a:xfrm>
              <a:off x="4987289" y="3694938"/>
              <a:ext cx="1131569" cy="499232"/>
            </a:xfrm>
            <a:prstGeom prst="rect">
              <a:avLst/>
            </a:prstGeom>
          </p:spPr>
        </p:pic>
        <p:sp>
          <p:nvSpPr>
            <p:cNvPr id="9" name="object 4"/>
            <p:cNvSpPr/>
            <p:nvPr/>
          </p:nvSpPr>
          <p:spPr>
            <a:xfrm>
              <a:off x="2412491" y="29070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10" name="object 5"/>
            <p:cNvSpPr/>
            <p:nvPr/>
          </p:nvSpPr>
          <p:spPr>
            <a:xfrm>
              <a:off x="1684782" y="2849879"/>
              <a:ext cx="684530" cy="227965"/>
            </a:xfrm>
            <a:custGeom>
              <a:avLst/>
              <a:gdLst/>
              <a:ahLst/>
              <a:cxnLst/>
              <a:rect l="l" t="t" r="r" b="b"/>
              <a:pathLst>
                <a:path w="684530" h="227964">
                  <a:moveTo>
                    <a:pt x="331787" y="199453"/>
                  </a:moveTo>
                  <a:lnTo>
                    <a:pt x="331152" y="199453"/>
                  </a:lnTo>
                  <a:lnTo>
                    <a:pt x="331787" y="199453"/>
                  </a:lnTo>
                  <a:close/>
                </a:path>
                <a:path w="684530" h="227964">
                  <a:moveTo>
                    <a:pt x="331978" y="28498"/>
                  </a:moveTo>
                  <a:lnTo>
                    <a:pt x="331698" y="28409"/>
                  </a:lnTo>
                  <a:lnTo>
                    <a:pt x="331101" y="28524"/>
                  </a:lnTo>
                  <a:lnTo>
                    <a:pt x="331978" y="28498"/>
                  </a:lnTo>
                  <a:close/>
                </a:path>
                <a:path w="684530" h="227964">
                  <a:moveTo>
                    <a:pt x="684530" y="102870"/>
                  </a:moveTo>
                  <a:lnTo>
                    <a:pt x="683260" y="92202"/>
                  </a:lnTo>
                  <a:lnTo>
                    <a:pt x="683260" y="82296"/>
                  </a:lnTo>
                  <a:lnTo>
                    <a:pt x="681990" y="72390"/>
                  </a:lnTo>
                  <a:lnTo>
                    <a:pt x="664210" y="23622"/>
                  </a:lnTo>
                  <a:lnTo>
                    <a:pt x="656590" y="12954"/>
                  </a:lnTo>
                  <a:lnTo>
                    <a:pt x="656590" y="114300"/>
                  </a:lnTo>
                  <a:lnTo>
                    <a:pt x="655320" y="124206"/>
                  </a:lnTo>
                  <a:lnTo>
                    <a:pt x="655320" y="133350"/>
                  </a:lnTo>
                  <a:lnTo>
                    <a:pt x="654050" y="142494"/>
                  </a:lnTo>
                  <a:lnTo>
                    <a:pt x="652780" y="150876"/>
                  </a:lnTo>
                  <a:lnTo>
                    <a:pt x="651510" y="158496"/>
                  </a:lnTo>
                  <a:lnTo>
                    <a:pt x="648970" y="166116"/>
                  </a:lnTo>
                  <a:lnTo>
                    <a:pt x="645160" y="179832"/>
                  </a:lnTo>
                  <a:lnTo>
                    <a:pt x="628650" y="199644"/>
                  </a:lnTo>
                  <a:lnTo>
                    <a:pt x="367868" y="199644"/>
                  </a:lnTo>
                  <a:lnTo>
                    <a:pt x="369570" y="196596"/>
                  </a:lnTo>
                  <a:lnTo>
                    <a:pt x="375920" y="181356"/>
                  </a:lnTo>
                  <a:lnTo>
                    <a:pt x="381000" y="164592"/>
                  </a:lnTo>
                  <a:lnTo>
                    <a:pt x="384810" y="134874"/>
                  </a:lnTo>
                  <a:lnTo>
                    <a:pt x="386080" y="113538"/>
                  </a:lnTo>
                  <a:lnTo>
                    <a:pt x="384810" y="92202"/>
                  </a:lnTo>
                  <a:lnTo>
                    <a:pt x="378460" y="54102"/>
                  </a:lnTo>
                  <a:lnTo>
                    <a:pt x="368719" y="28956"/>
                  </a:lnTo>
                  <a:lnTo>
                    <a:pt x="629920" y="28956"/>
                  </a:lnTo>
                  <a:lnTo>
                    <a:pt x="631825" y="28956"/>
                  </a:lnTo>
                  <a:lnTo>
                    <a:pt x="632879" y="29387"/>
                  </a:lnTo>
                  <a:lnTo>
                    <a:pt x="648970" y="62484"/>
                  </a:lnTo>
                  <a:lnTo>
                    <a:pt x="651510" y="70104"/>
                  </a:lnTo>
                  <a:lnTo>
                    <a:pt x="652780" y="77724"/>
                  </a:lnTo>
                  <a:lnTo>
                    <a:pt x="654050" y="86106"/>
                  </a:lnTo>
                  <a:lnTo>
                    <a:pt x="655320" y="95250"/>
                  </a:lnTo>
                  <a:lnTo>
                    <a:pt x="655320" y="104394"/>
                  </a:lnTo>
                  <a:lnTo>
                    <a:pt x="656590" y="114300"/>
                  </a:lnTo>
                  <a:lnTo>
                    <a:pt x="656590" y="12954"/>
                  </a:lnTo>
                  <a:lnTo>
                    <a:pt x="655320" y="11430"/>
                  </a:lnTo>
                  <a:lnTo>
                    <a:pt x="651510" y="8382"/>
                  </a:lnTo>
                  <a:lnTo>
                    <a:pt x="651510" y="7620"/>
                  </a:lnTo>
                  <a:lnTo>
                    <a:pt x="646430" y="4572"/>
                  </a:lnTo>
                  <a:lnTo>
                    <a:pt x="645160" y="3048"/>
                  </a:lnTo>
                  <a:lnTo>
                    <a:pt x="643890" y="3048"/>
                  </a:lnTo>
                  <a:lnTo>
                    <a:pt x="640080" y="1524"/>
                  </a:lnTo>
                  <a:lnTo>
                    <a:pt x="638810" y="762"/>
                  </a:lnTo>
                  <a:lnTo>
                    <a:pt x="636270" y="762"/>
                  </a:lnTo>
                  <a:lnTo>
                    <a:pt x="629920" y="0"/>
                  </a:lnTo>
                  <a:lnTo>
                    <a:pt x="356870" y="0"/>
                  </a:lnTo>
                  <a:lnTo>
                    <a:pt x="356870" y="104394"/>
                  </a:lnTo>
                  <a:lnTo>
                    <a:pt x="356870" y="124206"/>
                  </a:lnTo>
                  <a:lnTo>
                    <a:pt x="350520" y="166116"/>
                  </a:lnTo>
                  <a:lnTo>
                    <a:pt x="340360" y="189738"/>
                  </a:lnTo>
                  <a:lnTo>
                    <a:pt x="339090" y="193548"/>
                  </a:lnTo>
                  <a:lnTo>
                    <a:pt x="336550" y="196596"/>
                  </a:lnTo>
                  <a:lnTo>
                    <a:pt x="336550" y="195072"/>
                  </a:lnTo>
                  <a:lnTo>
                    <a:pt x="334848" y="197612"/>
                  </a:lnTo>
                  <a:lnTo>
                    <a:pt x="332740" y="198882"/>
                  </a:lnTo>
                  <a:lnTo>
                    <a:pt x="331647" y="199212"/>
                  </a:lnTo>
                  <a:lnTo>
                    <a:pt x="332308" y="199136"/>
                  </a:lnTo>
                  <a:lnTo>
                    <a:pt x="332105" y="199263"/>
                  </a:lnTo>
                  <a:lnTo>
                    <a:pt x="332308" y="199224"/>
                  </a:lnTo>
                  <a:lnTo>
                    <a:pt x="331978" y="199339"/>
                  </a:lnTo>
                  <a:lnTo>
                    <a:pt x="332282" y="199326"/>
                  </a:lnTo>
                  <a:lnTo>
                    <a:pt x="332105" y="199390"/>
                  </a:lnTo>
                  <a:lnTo>
                    <a:pt x="332308" y="199478"/>
                  </a:lnTo>
                  <a:lnTo>
                    <a:pt x="331889" y="199478"/>
                  </a:lnTo>
                  <a:lnTo>
                    <a:pt x="332740" y="199644"/>
                  </a:lnTo>
                  <a:lnTo>
                    <a:pt x="331787" y="199529"/>
                  </a:lnTo>
                  <a:lnTo>
                    <a:pt x="331647" y="199542"/>
                  </a:lnTo>
                  <a:lnTo>
                    <a:pt x="331470" y="199644"/>
                  </a:lnTo>
                  <a:lnTo>
                    <a:pt x="330835" y="199517"/>
                  </a:lnTo>
                  <a:lnTo>
                    <a:pt x="331152" y="199453"/>
                  </a:lnTo>
                  <a:lnTo>
                    <a:pt x="330835" y="199453"/>
                  </a:lnTo>
                  <a:lnTo>
                    <a:pt x="331038" y="199390"/>
                  </a:lnTo>
                  <a:lnTo>
                    <a:pt x="330200" y="199453"/>
                  </a:lnTo>
                  <a:lnTo>
                    <a:pt x="330962" y="199339"/>
                  </a:lnTo>
                  <a:lnTo>
                    <a:pt x="330835" y="199263"/>
                  </a:lnTo>
                  <a:lnTo>
                    <a:pt x="331647" y="199212"/>
                  </a:lnTo>
                  <a:lnTo>
                    <a:pt x="328930" y="198120"/>
                  </a:lnTo>
                  <a:lnTo>
                    <a:pt x="327660" y="197358"/>
                  </a:lnTo>
                  <a:lnTo>
                    <a:pt x="328930" y="198882"/>
                  </a:lnTo>
                  <a:lnTo>
                    <a:pt x="325120" y="195072"/>
                  </a:lnTo>
                  <a:lnTo>
                    <a:pt x="323850" y="192786"/>
                  </a:lnTo>
                  <a:lnTo>
                    <a:pt x="321310" y="188976"/>
                  </a:lnTo>
                  <a:lnTo>
                    <a:pt x="318770" y="184404"/>
                  </a:lnTo>
                  <a:lnTo>
                    <a:pt x="316230" y="179070"/>
                  </a:lnTo>
                  <a:lnTo>
                    <a:pt x="313690" y="172212"/>
                  </a:lnTo>
                  <a:lnTo>
                    <a:pt x="312420" y="165354"/>
                  </a:lnTo>
                  <a:lnTo>
                    <a:pt x="309880" y="158496"/>
                  </a:lnTo>
                  <a:lnTo>
                    <a:pt x="308610" y="150114"/>
                  </a:lnTo>
                  <a:lnTo>
                    <a:pt x="308610" y="141732"/>
                  </a:lnTo>
                  <a:lnTo>
                    <a:pt x="306070" y="123444"/>
                  </a:lnTo>
                  <a:lnTo>
                    <a:pt x="306070" y="104394"/>
                  </a:lnTo>
                  <a:lnTo>
                    <a:pt x="307340" y="94488"/>
                  </a:lnTo>
                  <a:lnTo>
                    <a:pt x="308610" y="86106"/>
                  </a:lnTo>
                  <a:lnTo>
                    <a:pt x="308610" y="76962"/>
                  </a:lnTo>
                  <a:lnTo>
                    <a:pt x="309880" y="69342"/>
                  </a:lnTo>
                  <a:lnTo>
                    <a:pt x="312420" y="61722"/>
                  </a:lnTo>
                  <a:lnTo>
                    <a:pt x="317500" y="48006"/>
                  </a:lnTo>
                  <a:lnTo>
                    <a:pt x="320040" y="42672"/>
                  </a:lnTo>
                  <a:lnTo>
                    <a:pt x="321310" y="38100"/>
                  </a:lnTo>
                  <a:lnTo>
                    <a:pt x="325120" y="34290"/>
                  </a:lnTo>
                  <a:lnTo>
                    <a:pt x="327660" y="31242"/>
                  </a:lnTo>
                  <a:lnTo>
                    <a:pt x="328295" y="30099"/>
                  </a:lnTo>
                  <a:lnTo>
                    <a:pt x="328930" y="29718"/>
                  </a:lnTo>
                  <a:lnTo>
                    <a:pt x="331470" y="28714"/>
                  </a:lnTo>
                  <a:lnTo>
                    <a:pt x="331470" y="28956"/>
                  </a:lnTo>
                  <a:lnTo>
                    <a:pt x="332740" y="28956"/>
                  </a:lnTo>
                  <a:lnTo>
                    <a:pt x="334010" y="29718"/>
                  </a:lnTo>
                  <a:lnTo>
                    <a:pt x="335280" y="31242"/>
                  </a:lnTo>
                  <a:lnTo>
                    <a:pt x="336550" y="32766"/>
                  </a:lnTo>
                  <a:lnTo>
                    <a:pt x="336550" y="31242"/>
                  </a:lnTo>
                  <a:lnTo>
                    <a:pt x="341630" y="38862"/>
                  </a:lnTo>
                  <a:lnTo>
                    <a:pt x="344170" y="43434"/>
                  </a:lnTo>
                  <a:lnTo>
                    <a:pt x="347980" y="55626"/>
                  </a:lnTo>
                  <a:lnTo>
                    <a:pt x="350520" y="62484"/>
                  </a:lnTo>
                  <a:lnTo>
                    <a:pt x="354330" y="77724"/>
                  </a:lnTo>
                  <a:lnTo>
                    <a:pt x="355600" y="86106"/>
                  </a:lnTo>
                  <a:lnTo>
                    <a:pt x="356870" y="104394"/>
                  </a:lnTo>
                  <a:lnTo>
                    <a:pt x="356870" y="0"/>
                  </a:lnTo>
                  <a:lnTo>
                    <a:pt x="332740" y="0"/>
                  </a:lnTo>
                  <a:lnTo>
                    <a:pt x="334327" y="241"/>
                  </a:lnTo>
                  <a:lnTo>
                    <a:pt x="332740" y="215"/>
                  </a:lnTo>
                  <a:lnTo>
                    <a:pt x="332740" y="28194"/>
                  </a:lnTo>
                  <a:lnTo>
                    <a:pt x="331978" y="28346"/>
                  </a:lnTo>
                  <a:lnTo>
                    <a:pt x="332308" y="28371"/>
                  </a:lnTo>
                  <a:lnTo>
                    <a:pt x="332740" y="28575"/>
                  </a:lnTo>
                  <a:lnTo>
                    <a:pt x="332105" y="28448"/>
                  </a:lnTo>
                  <a:lnTo>
                    <a:pt x="332308" y="28536"/>
                  </a:lnTo>
                  <a:lnTo>
                    <a:pt x="331978" y="28498"/>
                  </a:lnTo>
                  <a:lnTo>
                    <a:pt x="332308" y="28702"/>
                  </a:lnTo>
                  <a:lnTo>
                    <a:pt x="331470" y="28702"/>
                  </a:lnTo>
                  <a:lnTo>
                    <a:pt x="331698" y="28613"/>
                  </a:lnTo>
                  <a:lnTo>
                    <a:pt x="330835" y="28575"/>
                  </a:lnTo>
                  <a:lnTo>
                    <a:pt x="330962" y="28498"/>
                  </a:lnTo>
                  <a:lnTo>
                    <a:pt x="330200" y="28384"/>
                  </a:lnTo>
                  <a:lnTo>
                    <a:pt x="331216" y="28346"/>
                  </a:lnTo>
                  <a:lnTo>
                    <a:pt x="330962" y="28498"/>
                  </a:lnTo>
                  <a:lnTo>
                    <a:pt x="331787" y="28384"/>
                  </a:lnTo>
                  <a:lnTo>
                    <a:pt x="331660" y="28321"/>
                  </a:lnTo>
                  <a:lnTo>
                    <a:pt x="331889" y="28371"/>
                  </a:lnTo>
                  <a:lnTo>
                    <a:pt x="331711" y="28308"/>
                  </a:lnTo>
                  <a:lnTo>
                    <a:pt x="331978" y="28346"/>
                  </a:lnTo>
                  <a:lnTo>
                    <a:pt x="332740" y="28194"/>
                  </a:lnTo>
                  <a:lnTo>
                    <a:pt x="332740" y="215"/>
                  </a:lnTo>
                  <a:lnTo>
                    <a:pt x="328295" y="127"/>
                  </a:lnTo>
                  <a:lnTo>
                    <a:pt x="325120" y="762"/>
                  </a:lnTo>
                  <a:lnTo>
                    <a:pt x="323850" y="762"/>
                  </a:lnTo>
                  <a:lnTo>
                    <a:pt x="322580" y="1524"/>
                  </a:lnTo>
                  <a:lnTo>
                    <a:pt x="318770" y="3048"/>
                  </a:lnTo>
                  <a:lnTo>
                    <a:pt x="317500" y="3048"/>
                  </a:lnTo>
                  <a:lnTo>
                    <a:pt x="316230" y="3810"/>
                  </a:lnTo>
                  <a:lnTo>
                    <a:pt x="316230" y="4572"/>
                  </a:lnTo>
                  <a:lnTo>
                    <a:pt x="311150" y="7620"/>
                  </a:lnTo>
                  <a:lnTo>
                    <a:pt x="309880" y="7620"/>
                  </a:lnTo>
                  <a:lnTo>
                    <a:pt x="309880" y="8382"/>
                  </a:lnTo>
                  <a:lnTo>
                    <a:pt x="287020" y="46482"/>
                  </a:lnTo>
                  <a:lnTo>
                    <a:pt x="283210" y="64008"/>
                  </a:lnTo>
                  <a:lnTo>
                    <a:pt x="280670" y="73152"/>
                  </a:lnTo>
                  <a:lnTo>
                    <a:pt x="279984" y="78486"/>
                  </a:lnTo>
                  <a:lnTo>
                    <a:pt x="0" y="78486"/>
                  </a:lnTo>
                  <a:lnTo>
                    <a:pt x="0" y="116586"/>
                  </a:lnTo>
                  <a:lnTo>
                    <a:pt x="278130" y="116586"/>
                  </a:lnTo>
                  <a:lnTo>
                    <a:pt x="278130" y="135636"/>
                  </a:lnTo>
                  <a:lnTo>
                    <a:pt x="280670" y="155448"/>
                  </a:lnTo>
                  <a:lnTo>
                    <a:pt x="285750" y="173736"/>
                  </a:lnTo>
                  <a:lnTo>
                    <a:pt x="287020" y="182118"/>
                  </a:lnTo>
                  <a:lnTo>
                    <a:pt x="290830" y="190500"/>
                  </a:lnTo>
                  <a:lnTo>
                    <a:pt x="293370" y="197358"/>
                  </a:lnTo>
                  <a:lnTo>
                    <a:pt x="297180" y="204216"/>
                  </a:lnTo>
                  <a:lnTo>
                    <a:pt x="306070" y="216408"/>
                  </a:lnTo>
                  <a:lnTo>
                    <a:pt x="309880" y="219456"/>
                  </a:lnTo>
                  <a:lnTo>
                    <a:pt x="309880" y="220218"/>
                  </a:lnTo>
                  <a:lnTo>
                    <a:pt x="311150" y="220980"/>
                  </a:lnTo>
                  <a:lnTo>
                    <a:pt x="312420" y="220980"/>
                  </a:lnTo>
                  <a:lnTo>
                    <a:pt x="316230" y="223266"/>
                  </a:lnTo>
                  <a:lnTo>
                    <a:pt x="317500" y="224790"/>
                  </a:lnTo>
                  <a:lnTo>
                    <a:pt x="318770" y="224790"/>
                  </a:lnTo>
                  <a:lnTo>
                    <a:pt x="322580" y="226314"/>
                  </a:lnTo>
                  <a:lnTo>
                    <a:pt x="323850" y="227076"/>
                  </a:lnTo>
                  <a:lnTo>
                    <a:pt x="325120" y="227076"/>
                  </a:lnTo>
                  <a:lnTo>
                    <a:pt x="328930" y="227838"/>
                  </a:lnTo>
                  <a:lnTo>
                    <a:pt x="333324" y="227761"/>
                  </a:lnTo>
                  <a:lnTo>
                    <a:pt x="332740" y="227838"/>
                  </a:lnTo>
                  <a:lnTo>
                    <a:pt x="629920" y="227838"/>
                  </a:lnTo>
                  <a:lnTo>
                    <a:pt x="631190" y="227838"/>
                  </a:lnTo>
                  <a:lnTo>
                    <a:pt x="632968" y="227736"/>
                  </a:lnTo>
                  <a:lnTo>
                    <a:pt x="635000" y="227330"/>
                  </a:lnTo>
                  <a:lnTo>
                    <a:pt x="636270" y="227076"/>
                  </a:lnTo>
                  <a:lnTo>
                    <a:pt x="638810" y="227076"/>
                  </a:lnTo>
                  <a:lnTo>
                    <a:pt x="640080" y="226314"/>
                  </a:lnTo>
                  <a:lnTo>
                    <a:pt x="643890" y="224790"/>
                  </a:lnTo>
                  <a:lnTo>
                    <a:pt x="645160" y="224790"/>
                  </a:lnTo>
                  <a:lnTo>
                    <a:pt x="646430" y="223266"/>
                  </a:lnTo>
                  <a:lnTo>
                    <a:pt x="650240" y="220980"/>
                  </a:lnTo>
                  <a:lnTo>
                    <a:pt x="651510" y="220980"/>
                  </a:lnTo>
                  <a:lnTo>
                    <a:pt x="651510" y="219456"/>
                  </a:lnTo>
                  <a:lnTo>
                    <a:pt x="656590" y="214884"/>
                  </a:lnTo>
                  <a:lnTo>
                    <a:pt x="661670" y="209550"/>
                  </a:lnTo>
                  <a:lnTo>
                    <a:pt x="665480" y="203454"/>
                  </a:lnTo>
                  <a:lnTo>
                    <a:pt x="668020" y="196596"/>
                  </a:lnTo>
                  <a:lnTo>
                    <a:pt x="671830" y="188976"/>
                  </a:lnTo>
                  <a:lnTo>
                    <a:pt x="674370" y="181356"/>
                  </a:lnTo>
                  <a:lnTo>
                    <a:pt x="678180" y="172974"/>
                  </a:lnTo>
                  <a:lnTo>
                    <a:pt x="679450" y="163830"/>
                  </a:lnTo>
                  <a:lnTo>
                    <a:pt x="681990" y="154686"/>
                  </a:lnTo>
                  <a:lnTo>
                    <a:pt x="683260" y="144780"/>
                  </a:lnTo>
                  <a:lnTo>
                    <a:pt x="683260" y="134874"/>
                  </a:lnTo>
                  <a:lnTo>
                    <a:pt x="684530" y="124206"/>
                  </a:lnTo>
                  <a:lnTo>
                    <a:pt x="684530" y="102870"/>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11" name="object 6"/>
            <p:cNvSpPr/>
            <p:nvPr/>
          </p:nvSpPr>
          <p:spPr>
            <a:xfrm>
              <a:off x="1004316" y="2530601"/>
              <a:ext cx="681355" cy="831850"/>
            </a:xfrm>
            <a:custGeom>
              <a:avLst/>
              <a:gdLst/>
              <a:ahLst/>
              <a:cxnLst/>
              <a:rect l="l" t="t" r="r" b="b"/>
              <a:pathLst>
                <a:path w="681355" h="831850">
                  <a:moveTo>
                    <a:pt x="681228" y="416052"/>
                  </a:moveTo>
                  <a:lnTo>
                    <a:pt x="0" y="0"/>
                  </a:lnTo>
                  <a:lnTo>
                    <a:pt x="0" y="831341"/>
                  </a:lnTo>
                  <a:lnTo>
                    <a:pt x="681228" y="416052"/>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12" name="object 7"/>
            <p:cNvSpPr/>
            <p:nvPr/>
          </p:nvSpPr>
          <p:spPr>
            <a:xfrm>
              <a:off x="985266" y="2496311"/>
              <a:ext cx="737235" cy="900430"/>
            </a:xfrm>
            <a:custGeom>
              <a:avLst/>
              <a:gdLst/>
              <a:ahLst/>
              <a:cxnLst/>
              <a:rect l="l" t="t" r="r" b="b"/>
              <a:pathLst>
                <a:path w="737235" h="900429">
                  <a:moveTo>
                    <a:pt x="736854" y="450342"/>
                  </a:moveTo>
                  <a:lnTo>
                    <a:pt x="0" y="0"/>
                  </a:lnTo>
                  <a:lnTo>
                    <a:pt x="0" y="899922"/>
                  </a:lnTo>
                  <a:lnTo>
                    <a:pt x="9143" y="894342"/>
                  </a:lnTo>
                  <a:lnTo>
                    <a:pt x="9144" y="50292"/>
                  </a:lnTo>
                  <a:lnTo>
                    <a:pt x="38100" y="34290"/>
                  </a:lnTo>
                  <a:lnTo>
                    <a:pt x="38100" y="67976"/>
                  </a:lnTo>
                  <a:lnTo>
                    <a:pt x="663547" y="449961"/>
                  </a:lnTo>
                  <a:lnTo>
                    <a:pt x="690372" y="433578"/>
                  </a:lnTo>
                  <a:lnTo>
                    <a:pt x="690372" y="478702"/>
                  </a:lnTo>
                  <a:lnTo>
                    <a:pt x="736854" y="450342"/>
                  </a:lnTo>
                  <a:close/>
                </a:path>
                <a:path w="737235" h="900429">
                  <a:moveTo>
                    <a:pt x="38100" y="67976"/>
                  </a:moveTo>
                  <a:lnTo>
                    <a:pt x="38100" y="34290"/>
                  </a:lnTo>
                  <a:lnTo>
                    <a:pt x="9144" y="50292"/>
                  </a:lnTo>
                  <a:lnTo>
                    <a:pt x="38100" y="67976"/>
                  </a:lnTo>
                  <a:close/>
                </a:path>
                <a:path w="737235" h="900429">
                  <a:moveTo>
                    <a:pt x="38100" y="831945"/>
                  </a:moveTo>
                  <a:lnTo>
                    <a:pt x="38100" y="67976"/>
                  </a:lnTo>
                  <a:lnTo>
                    <a:pt x="9144" y="50292"/>
                  </a:lnTo>
                  <a:lnTo>
                    <a:pt x="9144" y="849630"/>
                  </a:lnTo>
                  <a:lnTo>
                    <a:pt x="38100" y="831945"/>
                  </a:lnTo>
                  <a:close/>
                </a:path>
                <a:path w="737235" h="900429">
                  <a:moveTo>
                    <a:pt x="690372" y="478702"/>
                  </a:moveTo>
                  <a:lnTo>
                    <a:pt x="690372" y="466344"/>
                  </a:lnTo>
                  <a:lnTo>
                    <a:pt x="663547" y="449960"/>
                  </a:lnTo>
                  <a:lnTo>
                    <a:pt x="9144" y="849630"/>
                  </a:lnTo>
                  <a:lnTo>
                    <a:pt x="38100" y="865632"/>
                  </a:lnTo>
                  <a:lnTo>
                    <a:pt x="38100" y="876675"/>
                  </a:lnTo>
                  <a:lnTo>
                    <a:pt x="690372" y="478702"/>
                  </a:lnTo>
                  <a:close/>
                </a:path>
                <a:path w="737235" h="900429">
                  <a:moveTo>
                    <a:pt x="38100" y="876675"/>
                  </a:moveTo>
                  <a:lnTo>
                    <a:pt x="38100" y="865632"/>
                  </a:lnTo>
                  <a:lnTo>
                    <a:pt x="9144" y="849630"/>
                  </a:lnTo>
                  <a:lnTo>
                    <a:pt x="9143" y="894342"/>
                  </a:lnTo>
                  <a:lnTo>
                    <a:pt x="38100" y="876675"/>
                  </a:lnTo>
                  <a:close/>
                </a:path>
                <a:path w="737235" h="900429">
                  <a:moveTo>
                    <a:pt x="690372" y="466344"/>
                  </a:moveTo>
                  <a:lnTo>
                    <a:pt x="690372" y="433578"/>
                  </a:lnTo>
                  <a:lnTo>
                    <a:pt x="663547" y="449960"/>
                  </a:lnTo>
                  <a:lnTo>
                    <a:pt x="690372" y="466344"/>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13" name="object 8"/>
            <p:cNvSpPr/>
            <p:nvPr/>
          </p:nvSpPr>
          <p:spPr>
            <a:xfrm>
              <a:off x="2219706" y="3173729"/>
              <a:ext cx="231140" cy="760095"/>
            </a:xfrm>
            <a:custGeom>
              <a:avLst/>
              <a:gdLst/>
              <a:ahLst/>
              <a:cxnLst/>
              <a:rect l="l" t="t" r="r" b="b"/>
              <a:pathLst>
                <a:path w="231139" h="760095">
                  <a:moveTo>
                    <a:pt x="152400" y="721614"/>
                  </a:moveTo>
                  <a:lnTo>
                    <a:pt x="0" y="721614"/>
                  </a:lnTo>
                  <a:lnTo>
                    <a:pt x="0" y="759714"/>
                  </a:lnTo>
                  <a:lnTo>
                    <a:pt x="152400" y="759714"/>
                  </a:lnTo>
                  <a:lnTo>
                    <a:pt x="152400" y="721614"/>
                  </a:lnTo>
                  <a:close/>
                </a:path>
                <a:path w="231139" h="760095">
                  <a:moveTo>
                    <a:pt x="230886" y="533400"/>
                  </a:moveTo>
                  <a:lnTo>
                    <a:pt x="192786" y="533400"/>
                  </a:lnTo>
                  <a:lnTo>
                    <a:pt x="192786" y="685800"/>
                  </a:lnTo>
                  <a:lnTo>
                    <a:pt x="230886" y="685800"/>
                  </a:lnTo>
                  <a:lnTo>
                    <a:pt x="230886" y="533400"/>
                  </a:lnTo>
                  <a:close/>
                </a:path>
                <a:path w="231139" h="760095">
                  <a:moveTo>
                    <a:pt x="230886" y="266700"/>
                  </a:moveTo>
                  <a:lnTo>
                    <a:pt x="192786" y="266700"/>
                  </a:lnTo>
                  <a:lnTo>
                    <a:pt x="192786" y="419100"/>
                  </a:lnTo>
                  <a:lnTo>
                    <a:pt x="230886" y="419100"/>
                  </a:lnTo>
                  <a:lnTo>
                    <a:pt x="230886" y="266700"/>
                  </a:lnTo>
                  <a:close/>
                </a:path>
                <a:path w="231139" h="760095">
                  <a:moveTo>
                    <a:pt x="230886" y="0"/>
                  </a:moveTo>
                  <a:lnTo>
                    <a:pt x="192786" y="0"/>
                  </a:lnTo>
                  <a:lnTo>
                    <a:pt x="192786" y="152400"/>
                  </a:lnTo>
                  <a:lnTo>
                    <a:pt x="230886" y="152400"/>
                  </a:lnTo>
                  <a:lnTo>
                    <a:pt x="230886" y="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grpSp>
      <p:sp>
        <p:nvSpPr>
          <p:cNvPr id="14" name="object 10"/>
          <p:cNvSpPr/>
          <p:nvPr/>
        </p:nvSpPr>
        <p:spPr>
          <a:xfrm>
            <a:off x="786383" y="3761994"/>
            <a:ext cx="38100" cy="152400"/>
          </a:xfrm>
          <a:custGeom>
            <a:avLst/>
            <a:gdLst/>
            <a:ahLst/>
            <a:cxnLst/>
            <a:rect l="l" t="t" r="r" b="b"/>
            <a:pathLst>
              <a:path w="38100" h="152400">
                <a:moveTo>
                  <a:pt x="38099" y="152400"/>
                </a:moveTo>
                <a:lnTo>
                  <a:pt x="38099" y="0"/>
                </a:lnTo>
                <a:lnTo>
                  <a:pt x="0" y="0"/>
                </a:lnTo>
                <a:lnTo>
                  <a:pt x="0" y="152400"/>
                </a:lnTo>
                <a:lnTo>
                  <a:pt x="38099"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15" name="object 11"/>
          <p:cNvSpPr/>
          <p:nvPr/>
        </p:nvSpPr>
        <p:spPr>
          <a:xfrm>
            <a:off x="786383" y="34952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16" name="object 12"/>
          <p:cNvSpPr/>
          <p:nvPr/>
        </p:nvSpPr>
        <p:spPr>
          <a:xfrm>
            <a:off x="786383" y="32285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17" name="object 13"/>
          <p:cNvSpPr/>
          <p:nvPr/>
        </p:nvSpPr>
        <p:spPr>
          <a:xfrm>
            <a:off x="786383" y="29618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18" name="object 14"/>
          <p:cNvSpPr/>
          <p:nvPr/>
        </p:nvSpPr>
        <p:spPr>
          <a:xfrm>
            <a:off x="786383" y="26951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19" name="object 15"/>
          <p:cNvSpPr/>
          <p:nvPr/>
        </p:nvSpPr>
        <p:spPr>
          <a:xfrm>
            <a:off x="786383" y="24284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0" name="object 16"/>
          <p:cNvSpPr/>
          <p:nvPr/>
        </p:nvSpPr>
        <p:spPr>
          <a:xfrm>
            <a:off x="786383" y="21617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1" name="object 17"/>
          <p:cNvSpPr/>
          <p:nvPr/>
        </p:nvSpPr>
        <p:spPr>
          <a:xfrm>
            <a:off x="786383" y="18950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2" name="object 18"/>
          <p:cNvSpPr/>
          <p:nvPr/>
        </p:nvSpPr>
        <p:spPr>
          <a:xfrm>
            <a:off x="8481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3" name="object 19"/>
          <p:cNvSpPr/>
          <p:nvPr/>
        </p:nvSpPr>
        <p:spPr>
          <a:xfrm>
            <a:off x="11148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4" name="object 20"/>
          <p:cNvSpPr/>
          <p:nvPr/>
        </p:nvSpPr>
        <p:spPr>
          <a:xfrm>
            <a:off x="13815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5" name="object 21"/>
          <p:cNvSpPr/>
          <p:nvPr/>
        </p:nvSpPr>
        <p:spPr>
          <a:xfrm>
            <a:off x="16482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6" name="object 22"/>
          <p:cNvSpPr/>
          <p:nvPr/>
        </p:nvSpPr>
        <p:spPr>
          <a:xfrm>
            <a:off x="19149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7" name="object 23"/>
          <p:cNvSpPr/>
          <p:nvPr/>
        </p:nvSpPr>
        <p:spPr>
          <a:xfrm>
            <a:off x="21816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8" name="object 24"/>
          <p:cNvSpPr/>
          <p:nvPr/>
        </p:nvSpPr>
        <p:spPr>
          <a:xfrm>
            <a:off x="2412492" y="18402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29" name="object 25"/>
          <p:cNvSpPr/>
          <p:nvPr/>
        </p:nvSpPr>
        <p:spPr>
          <a:xfrm>
            <a:off x="2412492" y="21069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0" name="object 26"/>
          <p:cNvSpPr/>
          <p:nvPr/>
        </p:nvSpPr>
        <p:spPr>
          <a:xfrm>
            <a:off x="2412492" y="23736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1" name="object 27"/>
          <p:cNvSpPr/>
          <p:nvPr/>
        </p:nvSpPr>
        <p:spPr>
          <a:xfrm>
            <a:off x="2412492" y="26403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2" name="object 28"/>
          <p:cNvSpPr/>
          <p:nvPr/>
        </p:nvSpPr>
        <p:spPr>
          <a:xfrm>
            <a:off x="19530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3" name="object 29"/>
          <p:cNvSpPr/>
          <p:nvPr/>
        </p:nvSpPr>
        <p:spPr>
          <a:xfrm>
            <a:off x="16863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4" name="object 30"/>
          <p:cNvSpPr/>
          <p:nvPr/>
        </p:nvSpPr>
        <p:spPr>
          <a:xfrm>
            <a:off x="14196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5" name="object 31"/>
          <p:cNvSpPr/>
          <p:nvPr/>
        </p:nvSpPr>
        <p:spPr>
          <a:xfrm>
            <a:off x="11529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6" name="object 32"/>
          <p:cNvSpPr/>
          <p:nvPr/>
        </p:nvSpPr>
        <p:spPr>
          <a:xfrm>
            <a:off x="8862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7" name="object 33"/>
          <p:cNvSpPr txBox="1"/>
          <p:nvPr/>
        </p:nvSpPr>
        <p:spPr>
          <a:xfrm>
            <a:off x="1088389" y="1858010"/>
            <a:ext cx="1169035" cy="635000"/>
          </a:xfrm>
          <a:prstGeom prst="rect">
            <a:avLst/>
          </a:prstGeom>
        </p:spPr>
        <p:txBody>
          <a:bodyPr vert="horz" wrap="square" lIns="0" tIns="12065" rIns="0" bIns="0" rtlCol="0">
            <a:spAutoFit/>
          </a:bodyPr>
          <a:lstStyle/>
          <a:p>
            <a:pPr marL="373380" marR="5080" indent="-361315">
              <a:spcBef>
                <a:spcPts val="95"/>
              </a:spcBef>
            </a:pPr>
            <a:r>
              <a:rPr sz="2000" spc="-10" dirty="0">
                <a:solidFill>
                  <a:prstClr val="black"/>
                </a:solidFill>
                <a:latin typeface="Verdana"/>
                <a:cs typeface="Verdana"/>
              </a:rPr>
              <a:t>Electrical  I/O</a:t>
            </a:r>
            <a:endParaRPr sz="2000">
              <a:solidFill>
                <a:prstClr val="black"/>
              </a:solidFill>
              <a:latin typeface="Verdana"/>
              <a:cs typeface="Verdana"/>
            </a:endParaRPr>
          </a:p>
        </p:txBody>
      </p:sp>
      <p:sp>
        <p:nvSpPr>
          <p:cNvPr id="38" name="object 34"/>
          <p:cNvSpPr/>
          <p:nvPr/>
        </p:nvSpPr>
        <p:spPr>
          <a:xfrm>
            <a:off x="9904730" y="3761994"/>
            <a:ext cx="143510" cy="171450"/>
          </a:xfrm>
          <a:custGeom>
            <a:avLst/>
            <a:gdLst/>
            <a:ahLst/>
            <a:cxnLst/>
            <a:rect l="l" t="t" r="r" b="b"/>
            <a:pathLst>
              <a:path w="143509" h="171450">
                <a:moveTo>
                  <a:pt x="143510" y="133350"/>
                </a:moveTo>
                <a:lnTo>
                  <a:pt x="38100" y="133350"/>
                </a:lnTo>
                <a:lnTo>
                  <a:pt x="38100" y="0"/>
                </a:lnTo>
                <a:lnTo>
                  <a:pt x="19050" y="0"/>
                </a:lnTo>
                <a:lnTo>
                  <a:pt x="0" y="0"/>
                </a:lnTo>
                <a:lnTo>
                  <a:pt x="0" y="152400"/>
                </a:lnTo>
                <a:lnTo>
                  <a:pt x="19050" y="152400"/>
                </a:lnTo>
                <a:lnTo>
                  <a:pt x="19558" y="152400"/>
                </a:lnTo>
                <a:lnTo>
                  <a:pt x="19558" y="171450"/>
                </a:lnTo>
                <a:lnTo>
                  <a:pt x="38100" y="171450"/>
                </a:lnTo>
                <a:lnTo>
                  <a:pt x="38608" y="171450"/>
                </a:lnTo>
                <a:lnTo>
                  <a:pt x="143510" y="171450"/>
                </a:lnTo>
                <a:lnTo>
                  <a:pt x="143510" y="13335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39" name="object 35"/>
          <p:cNvSpPr/>
          <p:nvPr/>
        </p:nvSpPr>
        <p:spPr>
          <a:xfrm>
            <a:off x="9905238" y="34952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0" name="object 36"/>
          <p:cNvSpPr/>
          <p:nvPr/>
        </p:nvSpPr>
        <p:spPr>
          <a:xfrm>
            <a:off x="9905238" y="32285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1" name="object 37"/>
          <p:cNvSpPr/>
          <p:nvPr/>
        </p:nvSpPr>
        <p:spPr>
          <a:xfrm>
            <a:off x="9905238" y="29618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2" name="object 38"/>
          <p:cNvSpPr/>
          <p:nvPr/>
        </p:nvSpPr>
        <p:spPr>
          <a:xfrm>
            <a:off x="9905238" y="24284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3" name="object 39"/>
          <p:cNvSpPr/>
          <p:nvPr/>
        </p:nvSpPr>
        <p:spPr>
          <a:xfrm>
            <a:off x="9905238" y="21617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4" name="object 40"/>
          <p:cNvSpPr/>
          <p:nvPr/>
        </p:nvSpPr>
        <p:spPr>
          <a:xfrm>
            <a:off x="9905238" y="18950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5" name="object 41"/>
          <p:cNvSpPr/>
          <p:nvPr/>
        </p:nvSpPr>
        <p:spPr>
          <a:xfrm>
            <a:off x="99661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6" name="object 42"/>
          <p:cNvSpPr/>
          <p:nvPr/>
        </p:nvSpPr>
        <p:spPr>
          <a:xfrm>
            <a:off x="102328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7" name="object 43"/>
          <p:cNvSpPr/>
          <p:nvPr/>
        </p:nvSpPr>
        <p:spPr>
          <a:xfrm>
            <a:off x="104995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8" name="object 44"/>
          <p:cNvSpPr/>
          <p:nvPr/>
        </p:nvSpPr>
        <p:spPr>
          <a:xfrm>
            <a:off x="107662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49" name="object 45"/>
          <p:cNvSpPr/>
          <p:nvPr/>
        </p:nvSpPr>
        <p:spPr>
          <a:xfrm>
            <a:off x="110329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0" name="object 46"/>
          <p:cNvSpPr/>
          <p:nvPr/>
        </p:nvSpPr>
        <p:spPr>
          <a:xfrm>
            <a:off x="112996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1" name="object 47"/>
          <p:cNvSpPr/>
          <p:nvPr/>
        </p:nvSpPr>
        <p:spPr>
          <a:xfrm>
            <a:off x="11476481" y="18943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2" name="object 48"/>
          <p:cNvSpPr/>
          <p:nvPr/>
        </p:nvSpPr>
        <p:spPr>
          <a:xfrm>
            <a:off x="11476481" y="21610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3" name="object 49"/>
          <p:cNvSpPr/>
          <p:nvPr/>
        </p:nvSpPr>
        <p:spPr>
          <a:xfrm>
            <a:off x="11476481" y="24277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4" name="object 50"/>
          <p:cNvSpPr/>
          <p:nvPr/>
        </p:nvSpPr>
        <p:spPr>
          <a:xfrm>
            <a:off x="11476481" y="26944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5" name="object 51"/>
          <p:cNvSpPr/>
          <p:nvPr/>
        </p:nvSpPr>
        <p:spPr>
          <a:xfrm>
            <a:off x="11476481" y="29611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6" name="object 52"/>
          <p:cNvSpPr/>
          <p:nvPr/>
        </p:nvSpPr>
        <p:spPr>
          <a:xfrm>
            <a:off x="11476481" y="32278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7" name="object 53"/>
          <p:cNvSpPr/>
          <p:nvPr/>
        </p:nvSpPr>
        <p:spPr>
          <a:xfrm>
            <a:off x="11476481" y="3494532"/>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8" name="object 54"/>
          <p:cNvSpPr/>
          <p:nvPr/>
        </p:nvSpPr>
        <p:spPr>
          <a:xfrm>
            <a:off x="11476481" y="3761232"/>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59" name="object 55"/>
          <p:cNvSpPr/>
          <p:nvPr/>
        </p:nvSpPr>
        <p:spPr>
          <a:xfrm>
            <a:off x="112295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60" name="object 56"/>
          <p:cNvSpPr/>
          <p:nvPr/>
        </p:nvSpPr>
        <p:spPr>
          <a:xfrm>
            <a:off x="109628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61" name="object 57"/>
          <p:cNvSpPr/>
          <p:nvPr/>
        </p:nvSpPr>
        <p:spPr>
          <a:xfrm>
            <a:off x="106961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62" name="object 58"/>
          <p:cNvSpPr/>
          <p:nvPr/>
        </p:nvSpPr>
        <p:spPr>
          <a:xfrm>
            <a:off x="104294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63" name="object 59"/>
          <p:cNvSpPr/>
          <p:nvPr/>
        </p:nvSpPr>
        <p:spPr>
          <a:xfrm>
            <a:off x="101627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grpSp>
        <p:nvGrpSpPr>
          <p:cNvPr id="64" name="object 60"/>
          <p:cNvGrpSpPr/>
          <p:nvPr/>
        </p:nvGrpSpPr>
        <p:grpSpPr>
          <a:xfrm>
            <a:off x="9905238" y="2442210"/>
            <a:ext cx="1480820" cy="899160"/>
            <a:chOff x="9905238" y="2442210"/>
            <a:chExt cx="1480820" cy="899160"/>
          </a:xfrm>
        </p:grpSpPr>
        <p:sp>
          <p:nvSpPr>
            <p:cNvPr id="65" name="object 61"/>
            <p:cNvSpPr/>
            <p:nvPr/>
          </p:nvSpPr>
          <p:spPr>
            <a:xfrm>
              <a:off x="9905238" y="26951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endParaRPr>
                <a:solidFill>
                  <a:prstClr val="black"/>
                </a:solidFill>
                <a:latin typeface="Calibri" panose="020F0502020204030204"/>
              </a:endParaRPr>
            </a:p>
          </p:txBody>
        </p:sp>
        <p:sp>
          <p:nvSpPr>
            <p:cNvPr id="66" name="object 62"/>
            <p:cNvSpPr/>
            <p:nvPr/>
          </p:nvSpPr>
          <p:spPr>
            <a:xfrm>
              <a:off x="10100310" y="2888742"/>
              <a:ext cx="567690" cy="38100"/>
            </a:xfrm>
            <a:custGeom>
              <a:avLst/>
              <a:gdLst/>
              <a:ahLst/>
              <a:cxnLst/>
              <a:rect l="l" t="t" r="r" b="b"/>
              <a:pathLst>
                <a:path w="567690" h="38100">
                  <a:moveTo>
                    <a:pt x="567690" y="38100"/>
                  </a:moveTo>
                  <a:lnTo>
                    <a:pt x="567690" y="0"/>
                  </a:lnTo>
                  <a:lnTo>
                    <a:pt x="0" y="0"/>
                  </a:lnTo>
                  <a:lnTo>
                    <a:pt x="0" y="38100"/>
                  </a:lnTo>
                  <a:lnTo>
                    <a:pt x="567690" y="38100"/>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67" name="object 63"/>
            <p:cNvSpPr/>
            <p:nvPr/>
          </p:nvSpPr>
          <p:spPr>
            <a:xfrm>
              <a:off x="10077450" y="2794254"/>
              <a:ext cx="338455" cy="199390"/>
            </a:xfrm>
            <a:custGeom>
              <a:avLst/>
              <a:gdLst/>
              <a:ahLst/>
              <a:cxnLst/>
              <a:rect l="l" t="t" r="r" b="b"/>
              <a:pathLst>
                <a:path w="338454" h="199389">
                  <a:moveTo>
                    <a:pt x="338328" y="99822"/>
                  </a:moveTo>
                  <a:lnTo>
                    <a:pt x="335244" y="60757"/>
                  </a:lnTo>
                  <a:lnTo>
                    <a:pt x="326802" y="29051"/>
                  </a:lnTo>
                  <a:lnTo>
                    <a:pt x="314217" y="7774"/>
                  </a:lnTo>
                  <a:lnTo>
                    <a:pt x="298704" y="0"/>
                  </a:lnTo>
                  <a:lnTo>
                    <a:pt x="0" y="0"/>
                  </a:lnTo>
                  <a:lnTo>
                    <a:pt x="15192" y="7774"/>
                  </a:lnTo>
                  <a:lnTo>
                    <a:pt x="27812" y="29051"/>
                  </a:lnTo>
                  <a:lnTo>
                    <a:pt x="36433" y="60757"/>
                  </a:lnTo>
                  <a:lnTo>
                    <a:pt x="39623" y="99822"/>
                  </a:lnTo>
                  <a:lnTo>
                    <a:pt x="36433" y="138445"/>
                  </a:lnTo>
                  <a:lnTo>
                    <a:pt x="27813" y="169926"/>
                  </a:lnTo>
                  <a:lnTo>
                    <a:pt x="15192" y="191119"/>
                  </a:lnTo>
                  <a:lnTo>
                    <a:pt x="0" y="198882"/>
                  </a:lnTo>
                  <a:lnTo>
                    <a:pt x="298704" y="198882"/>
                  </a:lnTo>
                  <a:lnTo>
                    <a:pt x="314217" y="191119"/>
                  </a:lnTo>
                  <a:lnTo>
                    <a:pt x="326802" y="169926"/>
                  </a:lnTo>
                  <a:lnTo>
                    <a:pt x="335244" y="138445"/>
                  </a:lnTo>
                  <a:lnTo>
                    <a:pt x="338328" y="99822"/>
                  </a:lnTo>
                  <a:close/>
                </a:path>
              </a:pathLst>
            </a:custGeom>
            <a:solidFill>
              <a:srgbClr val="FFFFFF"/>
            </a:solidFill>
          </p:spPr>
          <p:txBody>
            <a:bodyPr wrap="square" lIns="0" tIns="0" rIns="0" bIns="0" rtlCol="0"/>
            <a:lstStyle/>
            <a:p>
              <a:endParaRPr>
                <a:solidFill>
                  <a:prstClr val="black"/>
                </a:solidFill>
                <a:latin typeface="Calibri" panose="020F0502020204030204"/>
              </a:endParaRPr>
            </a:p>
          </p:txBody>
        </p:sp>
        <p:pic>
          <p:nvPicPr>
            <p:cNvPr id="68" name="object 64"/>
            <p:cNvPicPr/>
            <p:nvPr/>
          </p:nvPicPr>
          <p:blipFill>
            <a:blip r:embed="rId3" cstate="print"/>
            <a:stretch>
              <a:fillRect/>
            </a:stretch>
          </p:blipFill>
          <p:spPr>
            <a:xfrm>
              <a:off x="10037826" y="2794254"/>
              <a:ext cx="79248" cy="198882"/>
            </a:xfrm>
            <a:prstGeom prst="rect">
              <a:avLst/>
            </a:prstGeom>
          </p:spPr>
        </p:pic>
        <p:sp>
          <p:nvSpPr>
            <p:cNvPr id="69" name="object 65"/>
            <p:cNvSpPr/>
            <p:nvPr/>
          </p:nvSpPr>
          <p:spPr>
            <a:xfrm>
              <a:off x="10023348" y="2779776"/>
              <a:ext cx="407034" cy="227965"/>
            </a:xfrm>
            <a:custGeom>
              <a:avLst/>
              <a:gdLst/>
              <a:ahLst/>
              <a:cxnLst/>
              <a:rect l="l" t="t" r="r" b="b"/>
              <a:pathLst>
                <a:path w="407034" h="227964">
                  <a:moveTo>
                    <a:pt x="90593" y="28956"/>
                  </a:moveTo>
                  <a:lnTo>
                    <a:pt x="87630" y="23621"/>
                  </a:lnTo>
                  <a:lnTo>
                    <a:pt x="83820" y="17525"/>
                  </a:lnTo>
                  <a:lnTo>
                    <a:pt x="80010" y="12953"/>
                  </a:lnTo>
                  <a:lnTo>
                    <a:pt x="80010" y="12191"/>
                  </a:lnTo>
                  <a:lnTo>
                    <a:pt x="79248" y="12191"/>
                  </a:lnTo>
                  <a:lnTo>
                    <a:pt x="74676" y="7619"/>
                  </a:lnTo>
                  <a:lnTo>
                    <a:pt x="73914" y="7619"/>
                  </a:lnTo>
                  <a:lnTo>
                    <a:pt x="73152" y="6857"/>
                  </a:lnTo>
                  <a:lnTo>
                    <a:pt x="69342" y="4571"/>
                  </a:lnTo>
                  <a:lnTo>
                    <a:pt x="67818" y="3047"/>
                  </a:lnTo>
                  <a:lnTo>
                    <a:pt x="67056" y="3047"/>
                  </a:lnTo>
                  <a:lnTo>
                    <a:pt x="63246" y="1523"/>
                  </a:lnTo>
                  <a:lnTo>
                    <a:pt x="61722" y="761"/>
                  </a:lnTo>
                  <a:lnTo>
                    <a:pt x="59436" y="761"/>
                  </a:lnTo>
                  <a:lnTo>
                    <a:pt x="56388" y="152"/>
                  </a:lnTo>
                  <a:lnTo>
                    <a:pt x="51435" y="76"/>
                  </a:lnTo>
                  <a:lnTo>
                    <a:pt x="48006" y="762"/>
                  </a:lnTo>
                  <a:lnTo>
                    <a:pt x="45720" y="762"/>
                  </a:lnTo>
                  <a:lnTo>
                    <a:pt x="44958" y="1524"/>
                  </a:lnTo>
                  <a:lnTo>
                    <a:pt x="41148" y="3048"/>
                  </a:lnTo>
                  <a:lnTo>
                    <a:pt x="39624" y="3048"/>
                  </a:lnTo>
                  <a:lnTo>
                    <a:pt x="38100" y="4572"/>
                  </a:lnTo>
                  <a:lnTo>
                    <a:pt x="34290" y="6858"/>
                  </a:lnTo>
                  <a:lnTo>
                    <a:pt x="33528" y="7620"/>
                  </a:lnTo>
                  <a:lnTo>
                    <a:pt x="32766" y="7620"/>
                  </a:lnTo>
                  <a:lnTo>
                    <a:pt x="9144" y="46482"/>
                  </a:lnTo>
                  <a:lnTo>
                    <a:pt x="0" y="103632"/>
                  </a:lnTo>
                  <a:lnTo>
                    <a:pt x="0" y="124968"/>
                  </a:lnTo>
                  <a:lnTo>
                    <a:pt x="1524" y="145542"/>
                  </a:lnTo>
                  <a:lnTo>
                    <a:pt x="3048" y="155448"/>
                  </a:lnTo>
                  <a:lnTo>
                    <a:pt x="5334" y="164592"/>
                  </a:lnTo>
                  <a:lnTo>
                    <a:pt x="6858" y="173736"/>
                  </a:lnTo>
                  <a:lnTo>
                    <a:pt x="23622" y="210311"/>
                  </a:lnTo>
                  <a:lnTo>
                    <a:pt x="28194" y="215537"/>
                  </a:lnTo>
                  <a:lnTo>
                    <a:pt x="28194" y="113538"/>
                  </a:lnTo>
                  <a:lnTo>
                    <a:pt x="28956" y="104394"/>
                  </a:lnTo>
                  <a:lnTo>
                    <a:pt x="28956" y="94488"/>
                  </a:lnTo>
                  <a:lnTo>
                    <a:pt x="30480" y="86106"/>
                  </a:lnTo>
                  <a:lnTo>
                    <a:pt x="31242" y="76962"/>
                  </a:lnTo>
                  <a:lnTo>
                    <a:pt x="32766" y="69342"/>
                  </a:lnTo>
                  <a:lnTo>
                    <a:pt x="35052" y="61722"/>
                  </a:lnTo>
                  <a:lnTo>
                    <a:pt x="36576" y="54864"/>
                  </a:lnTo>
                  <a:lnTo>
                    <a:pt x="38862" y="48006"/>
                  </a:lnTo>
                  <a:lnTo>
                    <a:pt x="41910" y="42672"/>
                  </a:lnTo>
                  <a:lnTo>
                    <a:pt x="44196" y="38100"/>
                  </a:lnTo>
                  <a:lnTo>
                    <a:pt x="46482" y="34290"/>
                  </a:lnTo>
                  <a:lnTo>
                    <a:pt x="49530" y="31242"/>
                  </a:lnTo>
                  <a:lnTo>
                    <a:pt x="49530" y="30480"/>
                  </a:lnTo>
                  <a:lnTo>
                    <a:pt x="51816" y="28956"/>
                  </a:lnTo>
                  <a:lnTo>
                    <a:pt x="51816" y="28194"/>
                  </a:lnTo>
                  <a:lnTo>
                    <a:pt x="55626" y="28194"/>
                  </a:lnTo>
                  <a:lnTo>
                    <a:pt x="55626" y="28803"/>
                  </a:lnTo>
                  <a:lnTo>
                    <a:pt x="56007" y="28879"/>
                  </a:lnTo>
                  <a:lnTo>
                    <a:pt x="90593" y="28956"/>
                  </a:lnTo>
                  <a:close/>
                </a:path>
                <a:path w="407034" h="227964">
                  <a:moveTo>
                    <a:pt x="51435" y="198501"/>
                  </a:moveTo>
                  <a:lnTo>
                    <a:pt x="32766" y="158496"/>
                  </a:lnTo>
                  <a:lnTo>
                    <a:pt x="28956" y="132588"/>
                  </a:lnTo>
                  <a:lnTo>
                    <a:pt x="28956" y="123444"/>
                  </a:lnTo>
                  <a:lnTo>
                    <a:pt x="28194" y="113538"/>
                  </a:lnTo>
                  <a:lnTo>
                    <a:pt x="28194" y="215537"/>
                  </a:lnTo>
                  <a:lnTo>
                    <a:pt x="28956" y="216408"/>
                  </a:lnTo>
                  <a:lnTo>
                    <a:pt x="33528" y="220979"/>
                  </a:lnTo>
                  <a:lnTo>
                    <a:pt x="34290" y="220979"/>
                  </a:lnTo>
                  <a:lnTo>
                    <a:pt x="38100" y="223265"/>
                  </a:lnTo>
                  <a:lnTo>
                    <a:pt x="39624" y="224790"/>
                  </a:lnTo>
                  <a:lnTo>
                    <a:pt x="40386" y="224790"/>
                  </a:lnTo>
                  <a:lnTo>
                    <a:pt x="44958" y="226314"/>
                  </a:lnTo>
                  <a:lnTo>
                    <a:pt x="45720" y="227076"/>
                  </a:lnTo>
                  <a:lnTo>
                    <a:pt x="48006" y="227076"/>
                  </a:lnTo>
                  <a:lnTo>
                    <a:pt x="49530" y="227380"/>
                  </a:lnTo>
                  <a:lnTo>
                    <a:pt x="49530" y="197358"/>
                  </a:lnTo>
                  <a:lnTo>
                    <a:pt x="51435" y="198501"/>
                  </a:lnTo>
                  <a:close/>
                </a:path>
                <a:path w="407034" h="227964">
                  <a:moveTo>
                    <a:pt x="51816" y="28956"/>
                  </a:moveTo>
                  <a:lnTo>
                    <a:pt x="49530" y="30480"/>
                  </a:lnTo>
                  <a:lnTo>
                    <a:pt x="51435" y="29337"/>
                  </a:lnTo>
                  <a:lnTo>
                    <a:pt x="51816" y="28956"/>
                  </a:lnTo>
                  <a:close/>
                </a:path>
                <a:path w="407034" h="227964">
                  <a:moveTo>
                    <a:pt x="51435" y="29337"/>
                  </a:moveTo>
                  <a:lnTo>
                    <a:pt x="49530" y="30480"/>
                  </a:lnTo>
                  <a:lnTo>
                    <a:pt x="49530" y="31242"/>
                  </a:lnTo>
                  <a:lnTo>
                    <a:pt x="51435" y="29337"/>
                  </a:lnTo>
                  <a:close/>
                </a:path>
                <a:path w="407034" h="227964">
                  <a:moveTo>
                    <a:pt x="51816" y="198882"/>
                  </a:moveTo>
                  <a:lnTo>
                    <a:pt x="51435" y="198501"/>
                  </a:lnTo>
                  <a:lnTo>
                    <a:pt x="49530" y="197358"/>
                  </a:lnTo>
                  <a:lnTo>
                    <a:pt x="51816" y="198882"/>
                  </a:lnTo>
                  <a:close/>
                </a:path>
                <a:path w="407034" h="227964">
                  <a:moveTo>
                    <a:pt x="53008" y="199445"/>
                  </a:moveTo>
                  <a:lnTo>
                    <a:pt x="52251" y="198990"/>
                  </a:lnTo>
                  <a:lnTo>
                    <a:pt x="51816" y="198882"/>
                  </a:lnTo>
                  <a:lnTo>
                    <a:pt x="49530" y="197358"/>
                  </a:lnTo>
                  <a:lnTo>
                    <a:pt x="49530" y="227380"/>
                  </a:lnTo>
                  <a:lnTo>
                    <a:pt x="51816" y="227838"/>
                  </a:lnTo>
                  <a:lnTo>
                    <a:pt x="51816" y="199644"/>
                  </a:lnTo>
                  <a:lnTo>
                    <a:pt x="53008" y="199445"/>
                  </a:lnTo>
                  <a:close/>
                </a:path>
                <a:path w="407034" h="227964">
                  <a:moveTo>
                    <a:pt x="53824" y="28609"/>
                  </a:moveTo>
                  <a:lnTo>
                    <a:pt x="53644" y="28590"/>
                  </a:lnTo>
                  <a:lnTo>
                    <a:pt x="52425" y="28834"/>
                  </a:lnTo>
                  <a:lnTo>
                    <a:pt x="52197" y="28956"/>
                  </a:lnTo>
                  <a:lnTo>
                    <a:pt x="51054" y="29718"/>
                  </a:lnTo>
                  <a:lnTo>
                    <a:pt x="53824" y="28609"/>
                  </a:lnTo>
                  <a:close/>
                </a:path>
                <a:path w="407034" h="227964">
                  <a:moveTo>
                    <a:pt x="53721" y="199186"/>
                  </a:moveTo>
                  <a:lnTo>
                    <a:pt x="51054" y="198120"/>
                  </a:lnTo>
                  <a:lnTo>
                    <a:pt x="52197" y="198882"/>
                  </a:lnTo>
                  <a:lnTo>
                    <a:pt x="52425" y="199003"/>
                  </a:lnTo>
                  <a:lnTo>
                    <a:pt x="53054" y="199129"/>
                  </a:lnTo>
                  <a:lnTo>
                    <a:pt x="53721" y="199186"/>
                  </a:lnTo>
                  <a:close/>
                </a:path>
                <a:path w="407034" h="227964">
                  <a:moveTo>
                    <a:pt x="52197" y="28879"/>
                  </a:moveTo>
                  <a:lnTo>
                    <a:pt x="51816" y="28956"/>
                  </a:lnTo>
                  <a:lnTo>
                    <a:pt x="51435" y="29337"/>
                  </a:lnTo>
                  <a:lnTo>
                    <a:pt x="52197" y="28879"/>
                  </a:lnTo>
                  <a:close/>
                </a:path>
                <a:path w="407034" h="227964">
                  <a:moveTo>
                    <a:pt x="52197" y="198958"/>
                  </a:moveTo>
                  <a:lnTo>
                    <a:pt x="51435" y="198501"/>
                  </a:lnTo>
                  <a:lnTo>
                    <a:pt x="51816" y="198882"/>
                  </a:lnTo>
                  <a:lnTo>
                    <a:pt x="52197" y="198958"/>
                  </a:lnTo>
                  <a:close/>
                </a:path>
                <a:path w="407034" h="227964">
                  <a:moveTo>
                    <a:pt x="53067" y="28357"/>
                  </a:moveTo>
                  <a:lnTo>
                    <a:pt x="52578" y="28194"/>
                  </a:lnTo>
                  <a:lnTo>
                    <a:pt x="51816" y="28194"/>
                  </a:lnTo>
                  <a:lnTo>
                    <a:pt x="52578" y="28321"/>
                  </a:lnTo>
                  <a:lnTo>
                    <a:pt x="53067" y="28357"/>
                  </a:lnTo>
                  <a:close/>
                </a:path>
                <a:path w="407034" h="227964">
                  <a:moveTo>
                    <a:pt x="53008" y="28392"/>
                  </a:moveTo>
                  <a:lnTo>
                    <a:pt x="51816" y="28194"/>
                  </a:lnTo>
                  <a:lnTo>
                    <a:pt x="51816" y="28956"/>
                  </a:lnTo>
                  <a:lnTo>
                    <a:pt x="52251" y="28847"/>
                  </a:lnTo>
                  <a:lnTo>
                    <a:pt x="53008" y="28392"/>
                  </a:lnTo>
                  <a:close/>
                </a:path>
                <a:path w="407034" h="227964">
                  <a:moveTo>
                    <a:pt x="53035" y="199461"/>
                  </a:moveTo>
                  <a:lnTo>
                    <a:pt x="51816" y="199644"/>
                  </a:lnTo>
                  <a:lnTo>
                    <a:pt x="52578" y="199644"/>
                  </a:lnTo>
                  <a:lnTo>
                    <a:pt x="53035" y="199461"/>
                  </a:lnTo>
                  <a:close/>
                </a:path>
                <a:path w="407034" h="227964">
                  <a:moveTo>
                    <a:pt x="90508" y="199644"/>
                  </a:moveTo>
                  <a:lnTo>
                    <a:pt x="51816" y="199644"/>
                  </a:lnTo>
                  <a:lnTo>
                    <a:pt x="51816" y="227838"/>
                  </a:lnTo>
                  <a:lnTo>
                    <a:pt x="56007" y="227761"/>
                  </a:lnTo>
                  <a:lnTo>
                    <a:pt x="59436" y="227076"/>
                  </a:lnTo>
                  <a:lnTo>
                    <a:pt x="61722" y="227076"/>
                  </a:lnTo>
                  <a:lnTo>
                    <a:pt x="63246" y="226314"/>
                  </a:lnTo>
                  <a:lnTo>
                    <a:pt x="67056" y="224790"/>
                  </a:lnTo>
                  <a:lnTo>
                    <a:pt x="67818" y="224790"/>
                  </a:lnTo>
                  <a:lnTo>
                    <a:pt x="69342" y="223265"/>
                  </a:lnTo>
                  <a:lnTo>
                    <a:pt x="73152" y="220979"/>
                  </a:lnTo>
                  <a:lnTo>
                    <a:pt x="73914" y="220979"/>
                  </a:lnTo>
                  <a:lnTo>
                    <a:pt x="79248" y="215646"/>
                  </a:lnTo>
                  <a:lnTo>
                    <a:pt x="80010" y="215646"/>
                  </a:lnTo>
                  <a:lnTo>
                    <a:pt x="80010" y="214884"/>
                  </a:lnTo>
                  <a:lnTo>
                    <a:pt x="84582" y="209550"/>
                  </a:lnTo>
                  <a:lnTo>
                    <a:pt x="88392" y="203454"/>
                  </a:lnTo>
                  <a:lnTo>
                    <a:pt x="90508" y="199644"/>
                  </a:lnTo>
                  <a:close/>
                </a:path>
                <a:path w="407034" h="227964">
                  <a:moveTo>
                    <a:pt x="53721" y="28575"/>
                  </a:moveTo>
                  <a:lnTo>
                    <a:pt x="53086" y="28638"/>
                  </a:lnTo>
                  <a:lnTo>
                    <a:pt x="52578" y="28765"/>
                  </a:lnTo>
                  <a:lnTo>
                    <a:pt x="52360" y="28847"/>
                  </a:lnTo>
                  <a:lnTo>
                    <a:pt x="53721" y="28575"/>
                  </a:lnTo>
                  <a:close/>
                </a:path>
                <a:path w="407034" h="227964">
                  <a:moveTo>
                    <a:pt x="53594" y="199237"/>
                  </a:moveTo>
                  <a:lnTo>
                    <a:pt x="52360" y="198990"/>
                  </a:lnTo>
                  <a:lnTo>
                    <a:pt x="52578" y="199072"/>
                  </a:lnTo>
                  <a:lnTo>
                    <a:pt x="53086" y="199199"/>
                  </a:lnTo>
                  <a:lnTo>
                    <a:pt x="53594" y="199237"/>
                  </a:lnTo>
                  <a:close/>
                </a:path>
                <a:path w="407034" h="227964">
                  <a:moveTo>
                    <a:pt x="53557" y="28520"/>
                  </a:moveTo>
                  <a:lnTo>
                    <a:pt x="53008" y="28414"/>
                  </a:lnTo>
                  <a:lnTo>
                    <a:pt x="52425" y="28803"/>
                  </a:lnTo>
                  <a:lnTo>
                    <a:pt x="53557" y="28520"/>
                  </a:lnTo>
                  <a:close/>
                </a:path>
                <a:path w="407034" h="227964">
                  <a:moveTo>
                    <a:pt x="53457" y="199292"/>
                  </a:moveTo>
                  <a:lnTo>
                    <a:pt x="52425" y="199034"/>
                  </a:lnTo>
                  <a:lnTo>
                    <a:pt x="53008" y="199423"/>
                  </a:lnTo>
                  <a:lnTo>
                    <a:pt x="53457" y="199292"/>
                  </a:lnTo>
                  <a:close/>
                </a:path>
                <a:path w="407034" h="227964">
                  <a:moveTo>
                    <a:pt x="53149" y="28308"/>
                  </a:moveTo>
                  <a:lnTo>
                    <a:pt x="52578" y="28194"/>
                  </a:lnTo>
                  <a:lnTo>
                    <a:pt x="53008" y="28337"/>
                  </a:lnTo>
                  <a:lnTo>
                    <a:pt x="53149" y="28308"/>
                  </a:lnTo>
                  <a:close/>
                </a:path>
                <a:path w="407034" h="227964">
                  <a:moveTo>
                    <a:pt x="53149" y="199529"/>
                  </a:moveTo>
                  <a:lnTo>
                    <a:pt x="53008" y="199471"/>
                  </a:lnTo>
                  <a:lnTo>
                    <a:pt x="52578" y="199644"/>
                  </a:lnTo>
                  <a:lnTo>
                    <a:pt x="53149" y="199529"/>
                  </a:lnTo>
                  <a:close/>
                </a:path>
                <a:path w="407034" h="227964">
                  <a:moveTo>
                    <a:pt x="53848" y="28448"/>
                  </a:moveTo>
                  <a:lnTo>
                    <a:pt x="53086" y="28363"/>
                  </a:lnTo>
                  <a:lnTo>
                    <a:pt x="53557" y="28484"/>
                  </a:lnTo>
                  <a:lnTo>
                    <a:pt x="53848" y="28448"/>
                  </a:lnTo>
                  <a:close/>
                </a:path>
                <a:path w="407034" h="227964">
                  <a:moveTo>
                    <a:pt x="53644" y="199339"/>
                  </a:moveTo>
                  <a:lnTo>
                    <a:pt x="53340" y="199339"/>
                  </a:lnTo>
                  <a:lnTo>
                    <a:pt x="53122" y="199426"/>
                  </a:lnTo>
                  <a:lnTo>
                    <a:pt x="53644" y="199339"/>
                  </a:lnTo>
                  <a:close/>
                </a:path>
                <a:path w="407034" h="227964">
                  <a:moveTo>
                    <a:pt x="54326" y="28328"/>
                  </a:moveTo>
                  <a:lnTo>
                    <a:pt x="53164" y="28311"/>
                  </a:lnTo>
                  <a:lnTo>
                    <a:pt x="53721" y="28422"/>
                  </a:lnTo>
                  <a:lnTo>
                    <a:pt x="54326" y="28328"/>
                  </a:lnTo>
                  <a:close/>
                </a:path>
                <a:path w="407034" h="227964">
                  <a:moveTo>
                    <a:pt x="54309" y="199505"/>
                  </a:moveTo>
                  <a:lnTo>
                    <a:pt x="53721" y="199415"/>
                  </a:lnTo>
                  <a:lnTo>
                    <a:pt x="53164" y="199526"/>
                  </a:lnTo>
                  <a:lnTo>
                    <a:pt x="54102" y="199644"/>
                  </a:lnTo>
                  <a:lnTo>
                    <a:pt x="54309" y="199505"/>
                  </a:lnTo>
                  <a:close/>
                </a:path>
                <a:path w="407034" h="227964">
                  <a:moveTo>
                    <a:pt x="56388" y="198120"/>
                  </a:moveTo>
                  <a:lnTo>
                    <a:pt x="53721" y="199186"/>
                  </a:lnTo>
                  <a:lnTo>
                    <a:pt x="54864" y="199136"/>
                  </a:lnTo>
                  <a:lnTo>
                    <a:pt x="56388" y="198120"/>
                  </a:lnTo>
                  <a:close/>
                </a:path>
                <a:path w="407034" h="227964">
                  <a:moveTo>
                    <a:pt x="55372" y="28956"/>
                  </a:moveTo>
                  <a:lnTo>
                    <a:pt x="54981" y="28721"/>
                  </a:lnTo>
                  <a:lnTo>
                    <a:pt x="53824" y="28609"/>
                  </a:lnTo>
                  <a:lnTo>
                    <a:pt x="54864" y="28955"/>
                  </a:lnTo>
                  <a:lnTo>
                    <a:pt x="55372" y="28956"/>
                  </a:lnTo>
                  <a:close/>
                </a:path>
                <a:path w="407034" h="227964">
                  <a:moveTo>
                    <a:pt x="54981" y="28721"/>
                  </a:moveTo>
                  <a:lnTo>
                    <a:pt x="53967" y="28552"/>
                  </a:lnTo>
                  <a:lnTo>
                    <a:pt x="54981" y="28721"/>
                  </a:lnTo>
                  <a:close/>
                </a:path>
                <a:path w="407034" h="227964">
                  <a:moveTo>
                    <a:pt x="54864" y="199136"/>
                  </a:moveTo>
                  <a:lnTo>
                    <a:pt x="53967" y="199285"/>
                  </a:lnTo>
                  <a:lnTo>
                    <a:pt x="54755" y="199208"/>
                  </a:lnTo>
                  <a:close/>
                </a:path>
                <a:path w="407034" h="227964">
                  <a:moveTo>
                    <a:pt x="54356" y="28321"/>
                  </a:moveTo>
                  <a:lnTo>
                    <a:pt x="54102" y="28194"/>
                  </a:lnTo>
                  <a:lnTo>
                    <a:pt x="54309" y="28318"/>
                  </a:lnTo>
                  <a:close/>
                </a:path>
                <a:path w="407034" h="227964">
                  <a:moveTo>
                    <a:pt x="54864" y="28651"/>
                  </a:moveTo>
                  <a:lnTo>
                    <a:pt x="54102" y="28498"/>
                  </a:lnTo>
                  <a:lnTo>
                    <a:pt x="54864" y="28651"/>
                  </a:lnTo>
                  <a:close/>
                </a:path>
                <a:path w="407034" h="227964">
                  <a:moveTo>
                    <a:pt x="54864" y="28956"/>
                  </a:moveTo>
                  <a:lnTo>
                    <a:pt x="54102" y="28702"/>
                  </a:lnTo>
                  <a:lnTo>
                    <a:pt x="54102" y="28956"/>
                  </a:lnTo>
                  <a:lnTo>
                    <a:pt x="54864" y="28956"/>
                  </a:lnTo>
                  <a:close/>
                </a:path>
                <a:path w="407034" h="227964">
                  <a:moveTo>
                    <a:pt x="54755" y="199208"/>
                  </a:moveTo>
                  <a:lnTo>
                    <a:pt x="54102" y="199339"/>
                  </a:lnTo>
                  <a:lnTo>
                    <a:pt x="54537" y="199353"/>
                  </a:lnTo>
                  <a:lnTo>
                    <a:pt x="54755" y="199208"/>
                  </a:lnTo>
                  <a:close/>
                </a:path>
                <a:path w="407034" h="227964">
                  <a:moveTo>
                    <a:pt x="54864" y="199644"/>
                  </a:moveTo>
                  <a:lnTo>
                    <a:pt x="54309" y="199519"/>
                  </a:lnTo>
                  <a:lnTo>
                    <a:pt x="54102" y="199644"/>
                  </a:lnTo>
                  <a:lnTo>
                    <a:pt x="54864" y="199644"/>
                  </a:lnTo>
                  <a:close/>
                </a:path>
                <a:path w="407034" h="227964">
                  <a:moveTo>
                    <a:pt x="54864" y="199644"/>
                  </a:moveTo>
                  <a:lnTo>
                    <a:pt x="54326" y="199509"/>
                  </a:lnTo>
                  <a:lnTo>
                    <a:pt x="54864" y="199644"/>
                  </a:lnTo>
                  <a:close/>
                </a:path>
                <a:path w="407034" h="227964">
                  <a:moveTo>
                    <a:pt x="55626" y="199644"/>
                  </a:moveTo>
                  <a:lnTo>
                    <a:pt x="55245" y="199567"/>
                  </a:lnTo>
                  <a:lnTo>
                    <a:pt x="54406" y="199461"/>
                  </a:lnTo>
                  <a:lnTo>
                    <a:pt x="54755" y="199600"/>
                  </a:lnTo>
                  <a:lnTo>
                    <a:pt x="55626" y="199644"/>
                  </a:lnTo>
                  <a:close/>
                </a:path>
                <a:path w="407034" h="227964">
                  <a:moveTo>
                    <a:pt x="55626" y="28194"/>
                  </a:moveTo>
                  <a:lnTo>
                    <a:pt x="54755" y="28237"/>
                  </a:lnTo>
                  <a:lnTo>
                    <a:pt x="54440" y="28363"/>
                  </a:lnTo>
                  <a:lnTo>
                    <a:pt x="55372" y="28244"/>
                  </a:lnTo>
                  <a:lnTo>
                    <a:pt x="55626" y="28194"/>
                  </a:lnTo>
                  <a:close/>
                </a:path>
                <a:path w="407034" h="227964">
                  <a:moveTo>
                    <a:pt x="55118" y="28702"/>
                  </a:moveTo>
                  <a:lnTo>
                    <a:pt x="54755" y="28520"/>
                  </a:lnTo>
                  <a:lnTo>
                    <a:pt x="54483" y="28422"/>
                  </a:lnTo>
                  <a:lnTo>
                    <a:pt x="54755" y="28585"/>
                  </a:lnTo>
                  <a:lnTo>
                    <a:pt x="55118" y="28702"/>
                  </a:lnTo>
                  <a:close/>
                </a:path>
                <a:path w="407034" h="227964">
                  <a:moveTo>
                    <a:pt x="56388" y="199644"/>
                  </a:moveTo>
                  <a:lnTo>
                    <a:pt x="56388" y="198882"/>
                  </a:lnTo>
                  <a:lnTo>
                    <a:pt x="55118" y="199136"/>
                  </a:lnTo>
                  <a:lnTo>
                    <a:pt x="54755" y="199252"/>
                  </a:lnTo>
                  <a:lnTo>
                    <a:pt x="54483" y="199415"/>
                  </a:lnTo>
                  <a:lnTo>
                    <a:pt x="55118" y="199542"/>
                  </a:lnTo>
                  <a:lnTo>
                    <a:pt x="56388" y="199644"/>
                  </a:lnTo>
                  <a:close/>
                </a:path>
                <a:path w="407034" h="227964">
                  <a:moveTo>
                    <a:pt x="55626" y="28803"/>
                  </a:moveTo>
                  <a:lnTo>
                    <a:pt x="55626" y="28194"/>
                  </a:lnTo>
                  <a:lnTo>
                    <a:pt x="54537" y="28411"/>
                  </a:lnTo>
                  <a:lnTo>
                    <a:pt x="54981" y="28633"/>
                  </a:lnTo>
                  <a:lnTo>
                    <a:pt x="55372" y="28752"/>
                  </a:lnTo>
                  <a:lnTo>
                    <a:pt x="55626" y="28803"/>
                  </a:lnTo>
                  <a:close/>
                </a:path>
                <a:path w="407034" h="227964">
                  <a:moveTo>
                    <a:pt x="56007" y="29336"/>
                  </a:moveTo>
                  <a:lnTo>
                    <a:pt x="55372" y="28956"/>
                  </a:lnTo>
                  <a:lnTo>
                    <a:pt x="54864" y="28956"/>
                  </a:lnTo>
                  <a:lnTo>
                    <a:pt x="56007" y="29336"/>
                  </a:lnTo>
                  <a:close/>
                </a:path>
                <a:path w="407034" h="227964">
                  <a:moveTo>
                    <a:pt x="56388" y="198882"/>
                  </a:moveTo>
                  <a:lnTo>
                    <a:pt x="55245" y="199072"/>
                  </a:lnTo>
                  <a:lnTo>
                    <a:pt x="54864" y="199186"/>
                  </a:lnTo>
                  <a:lnTo>
                    <a:pt x="56388" y="198882"/>
                  </a:lnTo>
                  <a:close/>
                </a:path>
                <a:path w="407034" h="227964">
                  <a:moveTo>
                    <a:pt x="55626" y="28956"/>
                  </a:moveTo>
                  <a:lnTo>
                    <a:pt x="55372" y="28828"/>
                  </a:lnTo>
                  <a:lnTo>
                    <a:pt x="54981" y="28721"/>
                  </a:lnTo>
                  <a:lnTo>
                    <a:pt x="55245" y="28879"/>
                  </a:lnTo>
                  <a:lnTo>
                    <a:pt x="55626" y="28956"/>
                  </a:lnTo>
                  <a:close/>
                </a:path>
                <a:path w="407034" h="227964">
                  <a:moveTo>
                    <a:pt x="56007" y="198501"/>
                  </a:moveTo>
                  <a:lnTo>
                    <a:pt x="54981" y="199116"/>
                  </a:lnTo>
                  <a:lnTo>
                    <a:pt x="55626" y="199009"/>
                  </a:lnTo>
                  <a:lnTo>
                    <a:pt x="56007" y="198501"/>
                  </a:lnTo>
                  <a:close/>
                </a:path>
                <a:path w="407034" h="227964">
                  <a:moveTo>
                    <a:pt x="56388" y="28956"/>
                  </a:moveTo>
                  <a:lnTo>
                    <a:pt x="55118" y="28702"/>
                  </a:lnTo>
                  <a:lnTo>
                    <a:pt x="55626" y="28829"/>
                  </a:lnTo>
                  <a:lnTo>
                    <a:pt x="56388" y="28956"/>
                  </a:lnTo>
                  <a:close/>
                </a:path>
                <a:path w="407034" h="227964">
                  <a:moveTo>
                    <a:pt x="56388" y="28956"/>
                  </a:moveTo>
                  <a:lnTo>
                    <a:pt x="55245" y="28765"/>
                  </a:lnTo>
                  <a:lnTo>
                    <a:pt x="55626" y="28955"/>
                  </a:lnTo>
                  <a:lnTo>
                    <a:pt x="56388" y="28956"/>
                  </a:lnTo>
                  <a:close/>
                </a:path>
                <a:path w="407034" h="227964">
                  <a:moveTo>
                    <a:pt x="57150" y="29718"/>
                  </a:moveTo>
                  <a:lnTo>
                    <a:pt x="55626" y="28956"/>
                  </a:lnTo>
                  <a:lnTo>
                    <a:pt x="55372" y="28956"/>
                  </a:lnTo>
                  <a:lnTo>
                    <a:pt x="56007" y="29336"/>
                  </a:lnTo>
                  <a:lnTo>
                    <a:pt x="57150" y="29718"/>
                  </a:lnTo>
                  <a:close/>
                </a:path>
                <a:path w="407034" h="227964">
                  <a:moveTo>
                    <a:pt x="406908" y="124205"/>
                  </a:moveTo>
                  <a:lnTo>
                    <a:pt x="406908" y="102869"/>
                  </a:lnTo>
                  <a:lnTo>
                    <a:pt x="406146" y="92201"/>
                  </a:lnTo>
                  <a:lnTo>
                    <a:pt x="399288" y="54101"/>
                  </a:lnTo>
                  <a:lnTo>
                    <a:pt x="377952" y="11429"/>
                  </a:lnTo>
                  <a:lnTo>
                    <a:pt x="374142" y="8381"/>
                  </a:lnTo>
                  <a:lnTo>
                    <a:pt x="374142" y="7619"/>
                  </a:lnTo>
                  <a:lnTo>
                    <a:pt x="373380" y="7619"/>
                  </a:lnTo>
                  <a:lnTo>
                    <a:pt x="372618" y="6857"/>
                  </a:lnTo>
                  <a:lnTo>
                    <a:pt x="368808" y="4571"/>
                  </a:lnTo>
                  <a:lnTo>
                    <a:pt x="368046" y="3809"/>
                  </a:lnTo>
                  <a:lnTo>
                    <a:pt x="366522" y="3047"/>
                  </a:lnTo>
                  <a:lnTo>
                    <a:pt x="365760" y="3047"/>
                  </a:lnTo>
                  <a:lnTo>
                    <a:pt x="361950" y="1523"/>
                  </a:lnTo>
                  <a:lnTo>
                    <a:pt x="361188" y="761"/>
                  </a:lnTo>
                  <a:lnTo>
                    <a:pt x="358902" y="761"/>
                  </a:lnTo>
                  <a:lnTo>
                    <a:pt x="353568" y="95"/>
                  </a:lnTo>
                  <a:lnTo>
                    <a:pt x="55626" y="0"/>
                  </a:lnTo>
                  <a:lnTo>
                    <a:pt x="59436" y="761"/>
                  </a:lnTo>
                  <a:lnTo>
                    <a:pt x="61722" y="761"/>
                  </a:lnTo>
                  <a:lnTo>
                    <a:pt x="63246" y="1523"/>
                  </a:lnTo>
                  <a:lnTo>
                    <a:pt x="67056" y="3047"/>
                  </a:lnTo>
                  <a:lnTo>
                    <a:pt x="67818" y="3047"/>
                  </a:lnTo>
                  <a:lnTo>
                    <a:pt x="69342" y="4571"/>
                  </a:lnTo>
                  <a:lnTo>
                    <a:pt x="73152" y="6857"/>
                  </a:lnTo>
                  <a:lnTo>
                    <a:pt x="73914" y="7619"/>
                  </a:lnTo>
                  <a:lnTo>
                    <a:pt x="74676" y="7619"/>
                  </a:lnTo>
                  <a:lnTo>
                    <a:pt x="79248" y="12191"/>
                  </a:lnTo>
                  <a:lnTo>
                    <a:pt x="80010" y="12191"/>
                  </a:lnTo>
                  <a:lnTo>
                    <a:pt x="80010" y="12953"/>
                  </a:lnTo>
                  <a:lnTo>
                    <a:pt x="83820" y="17525"/>
                  </a:lnTo>
                  <a:lnTo>
                    <a:pt x="87630" y="23621"/>
                  </a:lnTo>
                  <a:lnTo>
                    <a:pt x="90593" y="28955"/>
                  </a:lnTo>
                  <a:lnTo>
                    <a:pt x="352044" y="28955"/>
                  </a:lnTo>
                  <a:lnTo>
                    <a:pt x="352044" y="28193"/>
                  </a:lnTo>
                  <a:lnTo>
                    <a:pt x="352806" y="28384"/>
                  </a:lnTo>
                  <a:lnTo>
                    <a:pt x="352806" y="28193"/>
                  </a:lnTo>
                  <a:lnTo>
                    <a:pt x="353568" y="28574"/>
                  </a:lnTo>
                  <a:lnTo>
                    <a:pt x="355092" y="28955"/>
                  </a:lnTo>
                  <a:lnTo>
                    <a:pt x="358902" y="32765"/>
                  </a:lnTo>
                  <a:lnTo>
                    <a:pt x="360426" y="35813"/>
                  </a:lnTo>
                  <a:lnTo>
                    <a:pt x="362712" y="38861"/>
                  </a:lnTo>
                  <a:lnTo>
                    <a:pt x="365760" y="43433"/>
                  </a:lnTo>
                  <a:lnTo>
                    <a:pt x="370332" y="55625"/>
                  </a:lnTo>
                  <a:lnTo>
                    <a:pt x="371856" y="62483"/>
                  </a:lnTo>
                  <a:lnTo>
                    <a:pt x="374142" y="70103"/>
                  </a:lnTo>
                  <a:lnTo>
                    <a:pt x="375666" y="77723"/>
                  </a:lnTo>
                  <a:lnTo>
                    <a:pt x="377952" y="104393"/>
                  </a:lnTo>
                  <a:lnTo>
                    <a:pt x="377952" y="216190"/>
                  </a:lnTo>
                  <a:lnTo>
                    <a:pt x="379476" y="214884"/>
                  </a:lnTo>
                  <a:lnTo>
                    <a:pt x="384048" y="209550"/>
                  </a:lnTo>
                  <a:lnTo>
                    <a:pt x="387858" y="203454"/>
                  </a:lnTo>
                  <a:lnTo>
                    <a:pt x="390906" y="196595"/>
                  </a:lnTo>
                  <a:lnTo>
                    <a:pt x="394716" y="188976"/>
                  </a:lnTo>
                  <a:lnTo>
                    <a:pt x="397002" y="181355"/>
                  </a:lnTo>
                  <a:lnTo>
                    <a:pt x="399288" y="172973"/>
                  </a:lnTo>
                  <a:lnTo>
                    <a:pt x="403860" y="154685"/>
                  </a:lnTo>
                  <a:lnTo>
                    <a:pt x="404622" y="144779"/>
                  </a:lnTo>
                  <a:lnTo>
                    <a:pt x="406146" y="134873"/>
                  </a:lnTo>
                  <a:lnTo>
                    <a:pt x="406908" y="124205"/>
                  </a:lnTo>
                  <a:close/>
                </a:path>
                <a:path w="407034" h="227964">
                  <a:moveTo>
                    <a:pt x="107442" y="124205"/>
                  </a:moveTo>
                  <a:lnTo>
                    <a:pt x="107442" y="102870"/>
                  </a:lnTo>
                  <a:lnTo>
                    <a:pt x="105918" y="82296"/>
                  </a:lnTo>
                  <a:lnTo>
                    <a:pt x="104394" y="72390"/>
                  </a:lnTo>
                  <a:lnTo>
                    <a:pt x="102870" y="63246"/>
                  </a:lnTo>
                  <a:lnTo>
                    <a:pt x="100584" y="54102"/>
                  </a:lnTo>
                  <a:lnTo>
                    <a:pt x="97536" y="45720"/>
                  </a:lnTo>
                  <a:lnTo>
                    <a:pt x="95250" y="37338"/>
                  </a:lnTo>
                  <a:lnTo>
                    <a:pt x="90593" y="28956"/>
                  </a:lnTo>
                  <a:lnTo>
                    <a:pt x="55626" y="28956"/>
                  </a:lnTo>
                  <a:lnTo>
                    <a:pt x="57150" y="29718"/>
                  </a:lnTo>
                  <a:lnTo>
                    <a:pt x="57150" y="30022"/>
                  </a:lnTo>
                  <a:lnTo>
                    <a:pt x="57912" y="30480"/>
                  </a:lnTo>
                  <a:lnTo>
                    <a:pt x="57912" y="31242"/>
                  </a:lnTo>
                  <a:lnTo>
                    <a:pt x="61722" y="35052"/>
                  </a:lnTo>
                  <a:lnTo>
                    <a:pt x="76200" y="77724"/>
                  </a:lnTo>
                  <a:lnTo>
                    <a:pt x="79248" y="199644"/>
                  </a:lnTo>
                  <a:lnTo>
                    <a:pt x="90508" y="199644"/>
                  </a:lnTo>
                  <a:lnTo>
                    <a:pt x="104394" y="154686"/>
                  </a:lnTo>
                  <a:lnTo>
                    <a:pt x="105918" y="144780"/>
                  </a:lnTo>
                  <a:lnTo>
                    <a:pt x="107442" y="124205"/>
                  </a:lnTo>
                  <a:close/>
                </a:path>
                <a:path w="407034" h="227964">
                  <a:moveTo>
                    <a:pt x="59436" y="32766"/>
                  </a:moveTo>
                  <a:lnTo>
                    <a:pt x="57912" y="31242"/>
                  </a:lnTo>
                  <a:lnTo>
                    <a:pt x="57912" y="30480"/>
                  </a:lnTo>
                  <a:lnTo>
                    <a:pt x="55626" y="29718"/>
                  </a:lnTo>
                  <a:lnTo>
                    <a:pt x="59436" y="32766"/>
                  </a:lnTo>
                  <a:close/>
                </a:path>
                <a:path w="407034" h="227964">
                  <a:moveTo>
                    <a:pt x="57912" y="197358"/>
                  </a:moveTo>
                  <a:lnTo>
                    <a:pt x="56007" y="198501"/>
                  </a:lnTo>
                  <a:lnTo>
                    <a:pt x="55626" y="198882"/>
                  </a:lnTo>
                  <a:lnTo>
                    <a:pt x="57912" y="197358"/>
                  </a:lnTo>
                  <a:close/>
                </a:path>
                <a:path w="407034" h="227964">
                  <a:moveTo>
                    <a:pt x="57912" y="199644"/>
                  </a:moveTo>
                  <a:lnTo>
                    <a:pt x="57912" y="197358"/>
                  </a:lnTo>
                  <a:lnTo>
                    <a:pt x="55626" y="198882"/>
                  </a:lnTo>
                  <a:lnTo>
                    <a:pt x="56388" y="198882"/>
                  </a:lnTo>
                  <a:lnTo>
                    <a:pt x="56388" y="199644"/>
                  </a:lnTo>
                  <a:lnTo>
                    <a:pt x="57912" y="199644"/>
                  </a:lnTo>
                  <a:close/>
                </a:path>
                <a:path w="407034" h="227964">
                  <a:moveTo>
                    <a:pt x="352806" y="199339"/>
                  </a:moveTo>
                  <a:lnTo>
                    <a:pt x="351282" y="199644"/>
                  </a:lnTo>
                  <a:lnTo>
                    <a:pt x="90508" y="199644"/>
                  </a:lnTo>
                  <a:lnTo>
                    <a:pt x="88392" y="203454"/>
                  </a:lnTo>
                  <a:lnTo>
                    <a:pt x="84582" y="209550"/>
                  </a:lnTo>
                  <a:lnTo>
                    <a:pt x="80010" y="214884"/>
                  </a:lnTo>
                  <a:lnTo>
                    <a:pt x="80010" y="215646"/>
                  </a:lnTo>
                  <a:lnTo>
                    <a:pt x="79248" y="215646"/>
                  </a:lnTo>
                  <a:lnTo>
                    <a:pt x="73914" y="220979"/>
                  </a:lnTo>
                  <a:lnTo>
                    <a:pt x="73152" y="220979"/>
                  </a:lnTo>
                  <a:lnTo>
                    <a:pt x="69342" y="223265"/>
                  </a:lnTo>
                  <a:lnTo>
                    <a:pt x="67818" y="224790"/>
                  </a:lnTo>
                  <a:lnTo>
                    <a:pt x="67056" y="224790"/>
                  </a:lnTo>
                  <a:lnTo>
                    <a:pt x="63246" y="226314"/>
                  </a:lnTo>
                  <a:lnTo>
                    <a:pt x="61722" y="227076"/>
                  </a:lnTo>
                  <a:lnTo>
                    <a:pt x="59436" y="227076"/>
                  </a:lnTo>
                  <a:lnTo>
                    <a:pt x="55626" y="227838"/>
                  </a:lnTo>
                  <a:lnTo>
                    <a:pt x="352044" y="227838"/>
                  </a:lnTo>
                  <a:lnTo>
                    <a:pt x="352044" y="199644"/>
                  </a:lnTo>
                  <a:lnTo>
                    <a:pt x="352806" y="199339"/>
                  </a:lnTo>
                  <a:close/>
                </a:path>
                <a:path w="407034" h="227964">
                  <a:moveTo>
                    <a:pt x="57150" y="30022"/>
                  </a:moveTo>
                  <a:lnTo>
                    <a:pt x="57150" y="29718"/>
                  </a:lnTo>
                  <a:lnTo>
                    <a:pt x="56007" y="29336"/>
                  </a:lnTo>
                  <a:lnTo>
                    <a:pt x="57150" y="30022"/>
                  </a:lnTo>
                  <a:close/>
                </a:path>
                <a:path w="407034" h="227964">
                  <a:moveTo>
                    <a:pt x="79248" y="199644"/>
                  </a:moveTo>
                  <a:lnTo>
                    <a:pt x="79248" y="124205"/>
                  </a:lnTo>
                  <a:lnTo>
                    <a:pt x="77724" y="142494"/>
                  </a:lnTo>
                  <a:lnTo>
                    <a:pt x="76200" y="150876"/>
                  </a:lnTo>
                  <a:lnTo>
                    <a:pt x="73152" y="166116"/>
                  </a:lnTo>
                  <a:lnTo>
                    <a:pt x="68580" y="179832"/>
                  </a:lnTo>
                  <a:lnTo>
                    <a:pt x="66294" y="185166"/>
                  </a:lnTo>
                  <a:lnTo>
                    <a:pt x="63246" y="189738"/>
                  </a:lnTo>
                  <a:lnTo>
                    <a:pt x="60960" y="193548"/>
                  </a:lnTo>
                  <a:lnTo>
                    <a:pt x="56007" y="198501"/>
                  </a:lnTo>
                  <a:lnTo>
                    <a:pt x="57912" y="197358"/>
                  </a:lnTo>
                  <a:lnTo>
                    <a:pt x="57912" y="199644"/>
                  </a:lnTo>
                  <a:lnTo>
                    <a:pt x="79248" y="199644"/>
                  </a:lnTo>
                  <a:close/>
                </a:path>
                <a:path w="407034" h="227964">
                  <a:moveTo>
                    <a:pt x="354076" y="28955"/>
                  </a:moveTo>
                  <a:lnTo>
                    <a:pt x="353350" y="28520"/>
                  </a:lnTo>
                  <a:lnTo>
                    <a:pt x="352044" y="28193"/>
                  </a:lnTo>
                  <a:lnTo>
                    <a:pt x="353822" y="28905"/>
                  </a:lnTo>
                  <a:lnTo>
                    <a:pt x="354076" y="28955"/>
                  </a:lnTo>
                  <a:close/>
                </a:path>
                <a:path w="407034" h="227964">
                  <a:moveTo>
                    <a:pt x="353949" y="28955"/>
                  </a:moveTo>
                  <a:lnTo>
                    <a:pt x="352044" y="28193"/>
                  </a:lnTo>
                  <a:lnTo>
                    <a:pt x="352044" y="28955"/>
                  </a:lnTo>
                  <a:lnTo>
                    <a:pt x="353949" y="28955"/>
                  </a:lnTo>
                  <a:close/>
                </a:path>
                <a:path w="407034" h="227964">
                  <a:moveTo>
                    <a:pt x="353568" y="199186"/>
                  </a:moveTo>
                  <a:lnTo>
                    <a:pt x="352806" y="199339"/>
                  </a:lnTo>
                  <a:lnTo>
                    <a:pt x="352044" y="199644"/>
                  </a:lnTo>
                  <a:lnTo>
                    <a:pt x="353350" y="199317"/>
                  </a:lnTo>
                  <a:lnTo>
                    <a:pt x="353568" y="199186"/>
                  </a:lnTo>
                  <a:close/>
                </a:path>
                <a:path w="407034" h="227964">
                  <a:moveTo>
                    <a:pt x="353350" y="199317"/>
                  </a:moveTo>
                  <a:lnTo>
                    <a:pt x="352044" y="199644"/>
                  </a:lnTo>
                  <a:lnTo>
                    <a:pt x="352044" y="227838"/>
                  </a:lnTo>
                  <a:lnTo>
                    <a:pt x="352806" y="227838"/>
                  </a:lnTo>
                  <a:lnTo>
                    <a:pt x="352806" y="199644"/>
                  </a:lnTo>
                  <a:lnTo>
                    <a:pt x="353350" y="199317"/>
                  </a:lnTo>
                  <a:close/>
                </a:path>
                <a:path w="407034" h="227964">
                  <a:moveTo>
                    <a:pt x="353568" y="28574"/>
                  </a:moveTo>
                  <a:lnTo>
                    <a:pt x="352806" y="28193"/>
                  </a:lnTo>
                  <a:lnTo>
                    <a:pt x="353350" y="28520"/>
                  </a:lnTo>
                  <a:lnTo>
                    <a:pt x="353568" y="28574"/>
                  </a:lnTo>
                  <a:close/>
                </a:path>
                <a:path w="407034" h="227964">
                  <a:moveTo>
                    <a:pt x="353350" y="28520"/>
                  </a:moveTo>
                  <a:lnTo>
                    <a:pt x="352806" y="28193"/>
                  </a:lnTo>
                  <a:lnTo>
                    <a:pt x="352806" y="28384"/>
                  </a:lnTo>
                  <a:lnTo>
                    <a:pt x="353350" y="28520"/>
                  </a:lnTo>
                  <a:close/>
                </a:path>
                <a:path w="407034" h="227964">
                  <a:moveTo>
                    <a:pt x="354330" y="198729"/>
                  </a:moveTo>
                  <a:lnTo>
                    <a:pt x="352806" y="199339"/>
                  </a:lnTo>
                  <a:lnTo>
                    <a:pt x="353568" y="199186"/>
                  </a:lnTo>
                  <a:lnTo>
                    <a:pt x="354330" y="198729"/>
                  </a:lnTo>
                  <a:close/>
                </a:path>
                <a:path w="407034" h="227964">
                  <a:moveTo>
                    <a:pt x="353568" y="199263"/>
                  </a:moveTo>
                  <a:lnTo>
                    <a:pt x="353350" y="199317"/>
                  </a:lnTo>
                  <a:lnTo>
                    <a:pt x="352806" y="199644"/>
                  </a:lnTo>
                  <a:lnTo>
                    <a:pt x="353568" y="199263"/>
                  </a:lnTo>
                  <a:close/>
                </a:path>
                <a:path w="407034" h="227964">
                  <a:moveTo>
                    <a:pt x="377952" y="216190"/>
                  </a:moveTo>
                  <a:lnTo>
                    <a:pt x="377952" y="124205"/>
                  </a:lnTo>
                  <a:lnTo>
                    <a:pt x="376428" y="142494"/>
                  </a:lnTo>
                  <a:lnTo>
                    <a:pt x="374904" y="150876"/>
                  </a:lnTo>
                  <a:lnTo>
                    <a:pt x="362712" y="189737"/>
                  </a:lnTo>
                  <a:lnTo>
                    <a:pt x="359664" y="193547"/>
                  </a:lnTo>
                  <a:lnTo>
                    <a:pt x="357378" y="196595"/>
                  </a:lnTo>
                  <a:lnTo>
                    <a:pt x="355092" y="198881"/>
                  </a:lnTo>
                  <a:lnTo>
                    <a:pt x="353568" y="199263"/>
                  </a:lnTo>
                  <a:lnTo>
                    <a:pt x="352806" y="199644"/>
                  </a:lnTo>
                  <a:lnTo>
                    <a:pt x="352806" y="227838"/>
                  </a:lnTo>
                  <a:lnTo>
                    <a:pt x="354330" y="227838"/>
                  </a:lnTo>
                  <a:lnTo>
                    <a:pt x="358902" y="227076"/>
                  </a:lnTo>
                  <a:lnTo>
                    <a:pt x="361188" y="227076"/>
                  </a:lnTo>
                  <a:lnTo>
                    <a:pt x="361950" y="226314"/>
                  </a:lnTo>
                  <a:lnTo>
                    <a:pt x="365760" y="224790"/>
                  </a:lnTo>
                  <a:lnTo>
                    <a:pt x="366522" y="224790"/>
                  </a:lnTo>
                  <a:lnTo>
                    <a:pt x="368046" y="224028"/>
                  </a:lnTo>
                  <a:lnTo>
                    <a:pt x="368808" y="223265"/>
                  </a:lnTo>
                  <a:lnTo>
                    <a:pt x="372618" y="220979"/>
                  </a:lnTo>
                  <a:lnTo>
                    <a:pt x="373380" y="220979"/>
                  </a:lnTo>
                  <a:lnTo>
                    <a:pt x="373380" y="220218"/>
                  </a:lnTo>
                  <a:lnTo>
                    <a:pt x="374142" y="219456"/>
                  </a:lnTo>
                  <a:lnTo>
                    <a:pt x="377952" y="216190"/>
                  </a:lnTo>
                  <a:close/>
                </a:path>
                <a:path w="407034" h="227964">
                  <a:moveTo>
                    <a:pt x="354330" y="28955"/>
                  </a:moveTo>
                  <a:lnTo>
                    <a:pt x="353568" y="28574"/>
                  </a:lnTo>
                  <a:lnTo>
                    <a:pt x="353350" y="28520"/>
                  </a:lnTo>
                  <a:lnTo>
                    <a:pt x="353949" y="28879"/>
                  </a:lnTo>
                  <a:lnTo>
                    <a:pt x="354330" y="28955"/>
                  </a:lnTo>
                  <a:close/>
                </a:path>
                <a:path w="407034" h="227964">
                  <a:moveTo>
                    <a:pt x="353822" y="199135"/>
                  </a:moveTo>
                  <a:lnTo>
                    <a:pt x="353568" y="199186"/>
                  </a:lnTo>
                  <a:lnTo>
                    <a:pt x="353350" y="199317"/>
                  </a:lnTo>
                  <a:lnTo>
                    <a:pt x="353568" y="199263"/>
                  </a:lnTo>
                  <a:lnTo>
                    <a:pt x="353822" y="199135"/>
                  </a:lnTo>
                  <a:close/>
                </a:path>
                <a:path w="407034" h="227964">
                  <a:moveTo>
                    <a:pt x="355092" y="28955"/>
                  </a:moveTo>
                  <a:lnTo>
                    <a:pt x="353568" y="28574"/>
                  </a:lnTo>
                  <a:lnTo>
                    <a:pt x="354076" y="28828"/>
                  </a:lnTo>
                  <a:lnTo>
                    <a:pt x="355092" y="28955"/>
                  </a:lnTo>
                  <a:close/>
                </a:path>
                <a:path w="407034" h="227964">
                  <a:moveTo>
                    <a:pt x="355854" y="198120"/>
                  </a:moveTo>
                  <a:lnTo>
                    <a:pt x="354330" y="198729"/>
                  </a:lnTo>
                  <a:lnTo>
                    <a:pt x="353568" y="199186"/>
                  </a:lnTo>
                  <a:lnTo>
                    <a:pt x="353949" y="199072"/>
                  </a:lnTo>
                  <a:lnTo>
                    <a:pt x="355854" y="198120"/>
                  </a:lnTo>
                  <a:close/>
                </a:path>
                <a:path w="407034" h="227964">
                  <a:moveTo>
                    <a:pt x="355092" y="198881"/>
                  </a:moveTo>
                  <a:lnTo>
                    <a:pt x="353822" y="199135"/>
                  </a:lnTo>
                  <a:lnTo>
                    <a:pt x="353568" y="199263"/>
                  </a:lnTo>
                  <a:lnTo>
                    <a:pt x="355092" y="198881"/>
                  </a:lnTo>
                  <a:close/>
                </a:path>
                <a:path w="407034" h="227964">
                  <a:moveTo>
                    <a:pt x="355854" y="198120"/>
                  </a:moveTo>
                  <a:lnTo>
                    <a:pt x="353822" y="199135"/>
                  </a:lnTo>
                  <a:lnTo>
                    <a:pt x="355092" y="198881"/>
                  </a:lnTo>
                  <a:lnTo>
                    <a:pt x="355854" y="198120"/>
                  </a:lnTo>
                  <a:close/>
                </a:path>
                <a:path w="407034" h="227964">
                  <a:moveTo>
                    <a:pt x="354330" y="29108"/>
                  </a:moveTo>
                  <a:lnTo>
                    <a:pt x="354076" y="28955"/>
                  </a:lnTo>
                  <a:lnTo>
                    <a:pt x="354330" y="29108"/>
                  </a:lnTo>
                  <a:close/>
                </a:path>
                <a:path w="407034" h="227964">
                  <a:moveTo>
                    <a:pt x="355854" y="29717"/>
                  </a:moveTo>
                  <a:lnTo>
                    <a:pt x="354330" y="28955"/>
                  </a:lnTo>
                  <a:lnTo>
                    <a:pt x="354076" y="28955"/>
                  </a:lnTo>
                  <a:lnTo>
                    <a:pt x="354330" y="29108"/>
                  </a:lnTo>
                  <a:lnTo>
                    <a:pt x="355854" y="29717"/>
                  </a:lnTo>
                  <a:close/>
                </a:path>
                <a:path w="407034" h="227964">
                  <a:moveTo>
                    <a:pt x="355854" y="29717"/>
                  </a:moveTo>
                  <a:lnTo>
                    <a:pt x="355092" y="28955"/>
                  </a:lnTo>
                  <a:lnTo>
                    <a:pt x="354330" y="28955"/>
                  </a:lnTo>
                  <a:lnTo>
                    <a:pt x="355854" y="29717"/>
                  </a:lnTo>
                  <a:close/>
                </a:path>
                <a:path w="407034" h="227964">
                  <a:moveTo>
                    <a:pt x="356616" y="30479"/>
                  </a:moveTo>
                  <a:lnTo>
                    <a:pt x="355854" y="29717"/>
                  </a:lnTo>
                  <a:lnTo>
                    <a:pt x="354330" y="29108"/>
                  </a:lnTo>
                  <a:lnTo>
                    <a:pt x="356616" y="30479"/>
                  </a:lnTo>
                  <a:close/>
                </a:path>
                <a:path w="407034" h="227964">
                  <a:moveTo>
                    <a:pt x="356616" y="197358"/>
                  </a:moveTo>
                  <a:lnTo>
                    <a:pt x="354330" y="198729"/>
                  </a:lnTo>
                  <a:lnTo>
                    <a:pt x="355854" y="198120"/>
                  </a:lnTo>
                  <a:lnTo>
                    <a:pt x="356616" y="197358"/>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70" name="object 66"/>
            <p:cNvSpPr/>
            <p:nvPr/>
          </p:nvSpPr>
          <p:spPr>
            <a:xfrm>
              <a:off x="10668000" y="2475738"/>
              <a:ext cx="681355" cy="832485"/>
            </a:xfrm>
            <a:custGeom>
              <a:avLst/>
              <a:gdLst/>
              <a:ahLst/>
              <a:cxnLst/>
              <a:rect l="l" t="t" r="r" b="b"/>
              <a:pathLst>
                <a:path w="681354" h="832485">
                  <a:moveTo>
                    <a:pt x="681228" y="416052"/>
                  </a:moveTo>
                  <a:lnTo>
                    <a:pt x="0" y="0"/>
                  </a:lnTo>
                  <a:lnTo>
                    <a:pt x="0" y="832104"/>
                  </a:lnTo>
                  <a:lnTo>
                    <a:pt x="681228" y="416052"/>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71" name="object 67"/>
            <p:cNvSpPr/>
            <p:nvPr/>
          </p:nvSpPr>
          <p:spPr>
            <a:xfrm>
              <a:off x="10648950" y="2442210"/>
              <a:ext cx="737235" cy="899160"/>
            </a:xfrm>
            <a:custGeom>
              <a:avLst/>
              <a:gdLst/>
              <a:ahLst/>
              <a:cxnLst/>
              <a:rect l="l" t="t" r="r" b="b"/>
              <a:pathLst>
                <a:path w="737234" h="899160">
                  <a:moveTo>
                    <a:pt x="736854" y="449580"/>
                  </a:moveTo>
                  <a:lnTo>
                    <a:pt x="0" y="0"/>
                  </a:lnTo>
                  <a:lnTo>
                    <a:pt x="0" y="899160"/>
                  </a:lnTo>
                  <a:lnTo>
                    <a:pt x="9144" y="893580"/>
                  </a:lnTo>
                  <a:lnTo>
                    <a:pt x="9144" y="49530"/>
                  </a:lnTo>
                  <a:lnTo>
                    <a:pt x="38100" y="33528"/>
                  </a:lnTo>
                  <a:lnTo>
                    <a:pt x="38100" y="67214"/>
                  </a:lnTo>
                  <a:lnTo>
                    <a:pt x="664146" y="449565"/>
                  </a:lnTo>
                  <a:lnTo>
                    <a:pt x="690372" y="433578"/>
                  </a:lnTo>
                  <a:lnTo>
                    <a:pt x="690372" y="477940"/>
                  </a:lnTo>
                  <a:lnTo>
                    <a:pt x="736854" y="449580"/>
                  </a:lnTo>
                  <a:close/>
                </a:path>
                <a:path w="737234" h="899160">
                  <a:moveTo>
                    <a:pt x="38100" y="67214"/>
                  </a:moveTo>
                  <a:lnTo>
                    <a:pt x="38100" y="33528"/>
                  </a:lnTo>
                  <a:lnTo>
                    <a:pt x="9144" y="49530"/>
                  </a:lnTo>
                  <a:lnTo>
                    <a:pt x="38100" y="67214"/>
                  </a:lnTo>
                  <a:close/>
                </a:path>
                <a:path w="737234" h="899160">
                  <a:moveTo>
                    <a:pt x="38100" y="831215"/>
                  </a:moveTo>
                  <a:lnTo>
                    <a:pt x="38100" y="67214"/>
                  </a:lnTo>
                  <a:lnTo>
                    <a:pt x="9144" y="49530"/>
                  </a:lnTo>
                  <a:lnTo>
                    <a:pt x="9144" y="848868"/>
                  </a:lnTo>
                  <a:lnTo>
                    <a:pt x="38100" y="831215"/>
                  </a:lnTo>
                  <a:close/>
                </a:path>
                <a:path w="737234" h="899160">
                  <a:moveTo>
                    <a:pt x="690372" y="477940"/>
                  </a:moveTo>
                  <a:lnTo>
                    <a:pt x="690372" y="465581"/>
                  </a:lnTo>
                  <a:lnTo>
                    <a:pt x="664146" y="449565"/>
                  </a:lnTo>
                  <a:lnTo>
                    <a:pt x="9144" y="848868"/>
                  </a:lnTo>
                  <a:lnTo>
                    <a:pt x="38100" y="865632"/>
                  </a:lnTo>
                  <a:lnTo>
                    <a:pt x="38100" y="875913"/>
                  </a:lnTo>
                  <a:lnTo>
                    <a:pt x="690372" y="477940"/>
                  </a:lnTo>
                  <a:close/>
                </a:path>
                <a:path w="737234" h="899160">
                  <a:moveTo>
                    <a:pt x="38100" y="875913"/>
                  </a:moveTo>
                  <a:lnTo>
                    <a:pt x="38100" y="865632"/>
                  </a:lnTo>
                  <a:lnTo>
                    <a:pt x="9144" y="848868"/>
                  </a:lnTo>
                  <a:lnTo>
                    <a:pt x="9144" y="893580"/>
                  </a:lnTo>
                  <a:lnTo>
                    <a:pt x="38100" y="875913"/>
                  </a:lnTo>
                  <a:close/>
                </a:path>
                <a:path w="737234" h="899160">
                  <a:moveTo>
                    <a:pt x="690372" y="465581"/>
                  </a:moveTo>
                  <a:lnTo>
                    <a:pt x="690372" y="433578"/>
                  </a:lnTo>
                  <a:lnTo>
                    <a:pt x="664146" y="449565"/>
                  </a:lnTo>
                  <a:lnTo>
                    <a:pt x="690372" y="465581"/>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grpSp>
      <p:sp>
        <p:nvSpPr>
          <p:cNvPr id="72" name="object 68"/>
          <p:cNvSpPr txBox="1"/>
          <p:nvPr/>
        </p:nvSpPr>
        <p:spPr>
          <a:xfrm>
            <a:off x="10115804" y="1813051"/>
            <a:ext cx="1168400" cy="635000"/>
          </a:xfrm>
          <a:prstGeom prst="rect">
            <a:avLst/>
          </a:prstGeom>
        </p:spPr>
        <p:txBody>
          <a:bodyPr vert="horz" wrap="square" lIns="0" tIns="12065" rIns="0" bIns="0" rtlCol="0">
            <a:spAutoFit/>
          </a:bodyPr>
          <a:lstStyle/>
          <a:p>
            <a:pPr marL="418465" marR="5080" indent="-406400">
              <a:spcBef>
                <a:spcPts val="95"/>
              </a:spcBef>
            </a:pPr>
            <a:r>
              <a:rPr sz="2000" spc="-10" dirty="0">
                <a:solidFill>
                  <a:prstClr val="black"/>
                </a:solidFill>
                <a:latin typeface="Verdana"/>
                <a:cs typeface="Verdana"/>
              </a:rPr>
              <a:t>Electrical  I/O</a:t>
            </a:r>
            <a:endParaRPr sz="2000">
              <a:solidFill>
                <a:prstClr val="black"/>
              </a:solidFill>
              <a:latin typeface="Verdana"/>
              <a:cs typeface="Verdana"/>
            </a:endParaRPr>
          </a:p>
        </p:txBody>
      </p:sp>
      <p:grpSp>
        <p:nvGrpSpPr>
          <p:cNvPr id="73" name="object 69"/>
          <p:cNvGrpSpPr/>
          <p:nvPr/>
        </p:nvGrpSpPr>
        <p:grpSpPr>
          <a:xfrm>
            <a:off x="7437881" y="1771650"/>
            <a:ext cx="2713990" cy="2194560"/>
            <a:chOff x="7437881" y="1771650"/>
            <a:chExt cx="2713990" cy="2194560"/>
          </a:xfrm>
        </p:grpSpPr>
        <p:sp>
          <p:nvSpPr>
            <p:cNvPr id="74" name="object 70"/>
            <p:cNvSpPr/>
            <p:nvPr/>
          </p:nvSpPr>
          <p:spPr>
            <a:xfrm>
              <a:off x="7437882" y="2845307"/>
              <a:ext cx="1440180" cy="64135"/>
            </a:xfrm>
            <a:custGeom>
              <a:avLst/>
              <a:gdLst/>
              <a:ahLst/>
              <a:cxnLst/>
              <a:rect l="l" t="t" r="r" b="b"/>
              <a:pathLst>
                <a:path w="1440179" h="64135">
                  <a:moveTo>
                    <a:pt x="907542" y="0"/>
                  </a:moveTo>
                  <a:lnTo>
                    <a:pt x="0" y="0"/>
                  </a:lnTo>
                  <a:lnTo>
                    <a:pt x="0" y="38100"/>
                  </a:lnTo>
                  <a:lnTo>
                    <a:pt x="907542" y="38100"/>
                  </a:lnTo>
                  <a:lnTo>
                    <a:pt x="907542" y="0"/>
                  </a:lnTo>
                  <a:close/>
                </a:path>
                <a:path w="1440179" h="64135">
                  <a:moveTo>
                    <a:pt x="1440180" y="25908"/>
                  </a:moveTo>
                  <a:lnTo>
                    <a:pt x="1034034" y="25908"/>
                  </a:lnTo>
                  <a:lnTo>
                    <a:pt x="1034034" y="64008"/>
                  </a:lnTo>
                  <a:lnTo>
                    <a:pt x="1440180" y="64008"/>
                  </a:lnTo>
                  <a:lnTo>
                    <a:pt x="1440180" y="25908"/>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75" name="object 71"/>
            <p:cNvSpPr/>
            <p:nvPr/>
          </p:nvSpPr>
          <p:spPr>
            <a:xfrm>
              <a:off x="7852409" y="1771650"/>
              <a:ext cx="1977389" cy="2194560"/>
            </a:xfrm>
            <a:custGeom>
              <a:avLst/>
              <a:gdLst/>
              <a:ahLst/>
              <a:cxnLst/>
              <a:rect l="l" t="t" r="r" b="b"/>
              <a:pathLst>
                <a:path w="1977390" h="2194560">
                  <a:moveTo>
                    <a:pt x="38100" y="2175510"/>
                  </a:moveTo>
                  <a:lnTo>
                    <a:pt x="38100" y="2023110"/>
                  </a:lnTo>
                  <a:lnTo>
                    <a:pt x="0" y="2023110"/>
                  </a:lnTo>
                  <a:lnTo>
                    <a:pt x="0" y="2175510"/>
                  </a:lnTo>
                  <a:lnTo>
                    <a:pt x="38100" y="2175510"/>
                  </a:lnTo>
                  <a:close/>
                </a:path>
                <a:path w="1977390" h="2194560">
                  <a:moveTo>
                    <a:pt x="38100" y="1908810"/>
                  </a:moveTo>
                  <a:lnTo>
                    <a:pt x="38100" y="1756410"/>
                  </a:lnTo>
                  <a:lnTo>
                    <a:pt x="0" y="1756410"/>
                  </a:lnTo>
                  <a:lnTo>
                    <a:pt x="0" y="1908810"/>
                  </a:lnTo>
                  <a:lnTo>
                    <a:pt x="38100" y="1908810"/>
                  </a:lnTo>
                  <a:close/>
                </a:path>
                <a:path w="1977390" h="2194560">
                  <a:moveTo>
                    <a:pt x="38100" y="1642110"/>
                  </a:moveTo>
                  <a:lnTo>
                    <a:pt x="38100" y="1489710"/>
                  </a:lnTo>
                  <a:lnTo>
                    <a:pt x="0" y="1489710"/>
                  </a:lnTo>
                  <a:lnTo>
                    <a:pt x="0" y="1642110"/>
                  </a:lnTo>
                  <a:lnTo>
                    <a:pt x="38100" y="1642110"/>
                  </a:lnTo>
                  <a:close/>
                </a:path>
                <a:path w="1977390" h="2194560">
                  <a:moveTo>
                    <a:pt x="38100" y="1375410"/>
                  </a:moveTo>
                  <a:lnTo>
                    <a:pt x="38100" y="1223010"/>
                  </a:lnTo>
                  <a:lnTo>
                    <a:pt x="0" y="1223010"/>
                  </a:lnTo>
                  <a:lnTo>
                    <a:pt x="0" y="1375410"/>
                  </a:lnTo>
                  <a:lnTo>
                    <a:pt x="38100" y="1375410"/>
                  </a:lnTo>
                  <a:close/>
                </a:path>
                <a:path w="1977390" h="2194560">
                  <a:moveTo>
                    <a:pt x="38100" y="1108710"/>
                  </a:moveTo>
                  <a:lnTo>
                    <a:pt x="38100" y="956310"/>
                  </a:lnTo>
                  <a:lnTo>
                    <a:pt x="0" y="956310"/>
                  </a:lnTo>
                  <a:lnTo>
                    <a:pt x="0" y="1108710"/>
                  </a:lnTo>
                  <a:lnTo>
                    <a:pt x="38100" y="1108710"/>
                  </a:lnTo>
                  <a:close/>
                </a:path>
                <a:path w="1977390" h="2194560">
                  <a:moveTo>
                    <a:pt x="38100" y="842010"/>
                  </a:moveTo>
                  <a:lnTo>
                    <a:pt x="38100" y="689610"/>
                  </a:lnTo>
                  <a:lnTo>
                    <a:pt x="0" y="689610"/>
                  </a:lnTo>
                  <a:lnTo>
                    <a:pt x="0" y="842010"/>
                  </a:lnTo>
                  <a:lnTo>
                    <a:pt x="38100" y="842010"/>
                  </a:lnTo>
                  <a:close/>
                </a:path>
                <a:path w="1977390" h="2194560">
                  <a:moveTo>
                    <a:pt x="38100" y="575310"/>
                  </a:moveTo>
                  <a:lnTo>
                    <a:pt x="38100" y="422910"/>
                  </a:lnTo>
                  <a:lnTo>
                    <a:pt x="0" y="422910"/>
                  </a:lnTo>
                  <a:lnTo>
                    <a:pt x="0" y="575310"/>
                  </a:lnTo>
                  <a:lnTo>
                    <a:pt x="38100" y="575310"/>
                  </a:lnTo>
                  <a:close/>
                </a:path>
                <a:path w="1977390" h="2194560">
                  <a:moveTo>
                    <a:pt x="38100" y="308610"/>
                  </a:moveTo>
                  <a:lnTo>
                    <a:pt x="38100" y="156210"/>
                  </a:lnTo>
                  <a:lnTo>
                    <a:pt x="0" y="156210"/>
                  </a:lnTo>
                  <a:lnTo>
                    <a:pt x="0" y="308610"/>
                  </a:lnTo>
                  <a:lnTo>
                    <a:pt x="38100" y="308610"/>
                  </a:lnTo>
                  <a:close/>
                </a:path>
                <a:path w="1977390" h="2194560">
                  <a:moveTo>
                    <a:pt x="148590" y="38100"/>
                  </a:moveTo>
                  <a:lnTo>
                    <a:pt x="148590" y="0"/>
                  </a:lnTo>
                  <a:lnTo>
                    <a:pt x="0" y="0"/>
                  </a:lnTo>
                  <a:lnTo>
                    <a:pt x="0" y="41910"/>
                  </a:lnTo>
                  <a:lnTo>
                    <a:pt x="19050" y="41910"/>
                  </a:lnTo>
                  <a:lnTo>
                    <a:pt x="19050" y="38100"/>
                  </a:lnTo>
                  <a:lnTo>
                    <a:pt x="38100" y="19050"/>
                  </a:lnTo>
                  <a:lnTo>
                    <a:pt x="38100" y="38100"/>
                  </a:lnTo>
                  <a:lnTo>
                    <a:pt x="148590" y="38100"/>
                  </a:lnTo>
                  <a:close/>
                </a:path>
                <a:path w="1977390" h="2194560">
                  <a:moveTo>
                    <a:pt x="38100" y="38100"/>
                  </a:moveTo>
                  <a:lnTo>
                    <a:pt x="38100" y="19050"/>
                  </a:lnTo>
                  <a:lnTo>
                    <a:pt x="19050" y="38100"/>
                  </a:lnTo>
                  <a:lnTo>
                    <a:pt x="38100" y="38100"/>
                  </a:lnTo>
                  <a:close/>
                </a:path>
                <a:path w="1977390" h="2194560">
                  <a:moveTo>
                    <a:pt x="38100" y="41910"/>
                  </a:moveTo>
                  <a:lnTo>
                    <a:pt x="38100" y="38100"/>
                  </a:lnTo>
                  <a:lnTo>
                    <a:pt x="19050" y="38100"/>
                  </a:lnTo>
                  <a:lnTo>
                    <a:pt x="19050" y="41910"/>
                  </a:lnTo>
                  <a:lnTo>
                    <a:pt x="38100" y="41910"/>
                  </a:lnTo>
                  <a:close/>
                </a:path>
                <a:path w="1977390" h="2194560">
                  <a:moveTo>
                    <a:pt x="415290" y="38100"/>
                  </a:moveTo>
                  <a:lnTo>
                    <a:pt x="415290" y="0"/>
                  </a:lnTo>
                  <a:lnTo>
                    <a:pt x="262890" y="0"/>
                  </a:lnTo>
                  <a:lnTo>
                    <a:pt x="262890" y="38100"/>
                  </a:lnTo>
                  <a:lnTo>
                    <a:pt x="415290" y="38100"/>
                  </a:lnTo>
                  <a:close/>
                </a:path>
                <a:path w="1977390" h="2194560">
                  <a:moveTo>
                    <a:pt x="681990" y="38100"/>
                  </a:moveTo>
                  <a:lnTo>
                    <a:pt x="681990" y="0"/>
                  </a:lnTo>
                  <a:lnTo>
                    <a:pt x="529590" y="0"/>
                  </a:lnTo>
                  <a:lnTo>
                    <a:pt x="529590" y="38100"/>
                  </a:lnTo>
                  <a:lnTo>
                    <a:pt x="681990" y="38100"/>
                  </a:lnTo>
                  <a:close/>
                </a:path>
                <a:path w="1977390" h="2194560">
                  <a:moveTo>
                    <a:pt x="948690" y="38100"/>
                  </a:moveTo>
                  <a:lnTo>
                    <a:pt x="948690" y="0"/>
                  </a:lnTo>
                  <a:lnTo>
                    <a:pt x="796290" y="0"/>
                  </a:lnTo>
                  <a:lnTo>
                    <a:pt x="796290" y="38100"/>
                  </a:lnTo>
                  <a:lnTo>
                    <a:pt x="948690" y="38100"/>
                  </a:lnTo>
                  <a:close/>
                </a:path>
                <a:path w="1977390" h="2194560">
                  <a:moveTo>
                    <a:pt x="1215390" y="38100"/>
                  </a:moveTo>
                  <a:lnTo>
                    <a:pt x="1215390" y="0"/>
                  </a:lnTo>
                  <a:lnTo>
                    <a:pt x="1062990" y="0"/>
                  </a:lnTo>
                  <a:lnTo>
                    <a:pt x="1062990" y="38100"/>
                  </a:lnTo>
                  <a:lnTo>
                    <a:pt x="1215390" y="38100"/>
                  </a:lnTo>
                  <a:close/>
                </a:path>
                <a:path w="1977390" h="2194560">
                  <a:moveTo>
                    <a:pt x="1482090" y="38100"/>
                  </a:moveTo>
                  <a:lnTo>
                    <a:pt x="1482090" y="0"/>
                  </a:lnTo>
                  <a:lnTo>
                    <a:pt x="1329690" y="0"/>
                  </a:lnTo>
                  <a:lnTo>
                    <a:pt x="1329690" y="38100"/>
                  </a:lnTo>
                  <a:lnTo>
                    <a:pt x="1482090" y="38100"/>
                  </a:lnTo>
                  <a:close/>
                </a:path>
                <a:path w="1977390" h="2194560">
                  <a:moveTo>
                    <a:pt x="1748790" y="38100"/>
                  </a:moveTo>
                  <a:lnTo>
                    <a:pt x="1748790" y="0"/>
                  </a:lnTo>
                  <a:lnTo>
                    <a:pt x="1596390" y="0"/>
                  </a:lnTo>
                  <a:lnTo>
                    <a:pt x="1596390" y="38100"/>
                  </a:lnTo>
                  <a:lnTo>
                    <a:pt x="1748790" y="38100"/>
                  </a:lnTo>
                  <a:close/>
                </a:path>
                <a:path w="1977390" h="2194560">
                  <a:moveTo>
                    <a:pt x="1977390" y="76200"/>
                  </a:moveTo>
                  <a:lnTo>
                    <a:pt x="1977390" y="0"/>
                  </a:lnTo>
                  <a:lnTo>
                    <a:pt x="1863090" y="0"/>
                  </a:lnTo>
                  <a:lnTo>
                    <a:pt x="1863090" y="38100"/>
                  </a:lnTo>
                  <a:lnTo>
                    <a:pt x="1939290" y="38100"/>
                  </a:lnTo>
                  <a:lnTo>
                    <a:pt x="1939290" y="19050"/>
                  </a:lnTo>
                  <a:lnTo>
                    <a:pt x="1958340" y="38100"/>
                  </a:lnTo>
                  <a:lnTo>
                    <a:pt x="1958340" y="76200"/>
                  </a:lnTo>
                  <a:lnTo>
                    <a:pt x="1977390" y="76200"/>
                  </a:lnTo>
                  <a:close/>
                </a:path>
                <a:path w="1977390" h="2194560">
                  <a:moveTo>
                    <a:pt x="1958340" y="38100"/>
                  </a:moveTo>
                  <a:lnTo>
                    <a:pt x="1939290" y="19050"/>
                  </a:lnTo>
                  <a:lnTo>
                    <a:pt x="1939290" y="38100"/>
                  </a:lnTo>
                  <a:lnTo>
                    <a:pt x="1958340" y="38100"/>
                  </a:lnTo>
                  <a:close/>
                </a:path>
                <a:path w="1977390" h="2194560">
                  <a:moveTo>
                    <a:pt x="1958340" y="76200"/>
                  </a:moveTo>
                  <a:lnTo>
                    <a:pt x="1958340" y="38100"/>
                  </a:lnTo>
                  <a:lnTo>
                    <a:pt x="1939290" y="38100"/>
                  </a:lnTo>
                  <a:lnTo>
                    <a:pt x="1939290" y="76200"/>
                  </a:lnTo>
                  <a:lnTo>
                    <a:pt x="1958340" y="76200"/>
                  </a:lnTo>
                  <a:close/>
                </a:path>
                <a:path w="1977390" h="2194560">
                  <a:moveTo>
                    <a:pt x="1977390" y="342900"/>
                  </a:moveTo>
                  <a:lnTo>
                    <a:pt x="1977390" y="190500"/>
                  </a:lnTo>
                  <a:lnTo>
                    <a:pt x="1939290" y="190500"/>
                  </a:lnTo>
                  <a:lnTo>
                    <a:pt x="1939290" y="342900"/>
                  </a:lnTo>
                  <a:lnTo>
                    <a:pt x="1977390" y="342900"/>
                  </a:lnTo>
                  <a:close/>
                </a:path>
                <a:path w="1977390" h="2194560">
                  <a:moveTo>
                    <a:pt x="1977390" y="609600"/>
                  </a:moveTo>
                  <a:lnTo>
                    <a:pt x="1977390" y="457200"/>
                  </a:lnTo>
                  <a:lnTo>
                    <a:pt x="1939290" y="457200"/>
                  </a:lnTo>
                  <a:lnTo>
                    <a:pt x="1939290" y="609600"/>
                  </a:lnTo>
                  <a:lnTo>
                    <a:pt x="1977390" y="609600"/>
                  </a:lnTo>
                  <a:close/>
                </a:path>
                <a:path w="1977390" h="2194560">
                  <a:moveTo>
                    <a:pt x="1977390" y="876300"/>
                  </a:moveTo>
                  <a:lnTo>
                    <a:pt x="1977390" y="723900"/>
                  </a:lnTo>
                  <a:lnTo>
                    <a:pt x="1939290" y="723900"/>
                  </a:lnTo>
                  <a:lnTo>
                    <a:pt x="1939290" y="876300"/>
                  </a:lnTo>
                  <a:lnTo>
                    <a:pt x="1977390" y="876300"/>
                  </a:lnTo>
                  <a:close/>
                </a:path>
                <a:path w="1977390" h="2194560">
                  <a:moveTo>
                    <a:pt x="1977390" y="1143000"/>
                  </a:moveTo>
                  <a:lnTo>
                    <a:pt x="1977390" y="990600"/>
                  </a:lnTo>
                  <a:lnTo>
                    <a:pt x="1939290" y="990600"/>
                  </a:lnTo>
                  <a:lnTo>
                    <a:pt x="1939290" y="1143000"/>
                  </a:lnTo>
                  <a:lnTo>
                    <a:pt x="1977390" y="1143000"/>
                  </a:lnTo>
                  <a:close/>
                </a:path>
                <a:path w="1977390" h="2194560">
                  <a:moveTo>
                    <a:pt x="1977390" y="1409700"/>
                  </a:moveTo>
                  <a:lnTo>
                    <a:pt x="1977390" y="1257300"/>
                  </a:lnTo>
                  <a:lnTo>
                    <a:pt x="1939290" y="1257300"/>
                  </a:lnTo>
                  <a:lnTo>
                    <a:pt x="1939290" y="1409700"/>
                  </a:lnTo>
                  <a:lnTo>
                    <a:pt x="1977390" y="1409700"/>
                  </a:lnTo>
                  <a:close/>
                </a:path>
                <a:path w="1977390" h="2194560">
                  <a:moveTo>
                    <a:pt x="1977390" y="1676400"/>
                  </a:moveTo>
                  <a:lnTo>
                    <a:pt x="1977390" y="1524000"/>
                  </a:lnTo>
                  <a:lnTo>
                    <a:pt x="1939290" y="1524000"/>
                  </a:lnTo>
                  <a:lnTo>
                    <a:pt x="1939290" y="1676400"/>
                  </a:lnTo>
                  <a:lnTo>
                    <a:pt x="1977390" y="1676400"/>
                  </a:lnTo>
                  <a:close/>
                </a:path>
                <a:path w="1977390" h="2194560">
                  <a:moveTo>
                    <a:pt x="1977390" y="1943100"/>
                  </a:moveTo>
                  <a:lnTo>
                    <a:pt x="1977390" y="1790700"/>
                  </a:lnTo>
                  <a:lnTo>
                    <a:pt x="1939290" y="1790700"/>
                  </a:lnTo>
                  <a:lnTo>
                    <a:pt x="1939290" y="1943100"/>
                  </a:lnTo>
                  <a:lnTo>
                    <a:pt x="1977390" y="1943100"/>
                  </a:lnTo>
                  <a:close/>
                </a:path>
                <a:path w="1977390" h="2194560">
                  <a:moveTo>
                    <a:pt x="1958340" y="2156460"/>
                  </a:moveTo>
                  <a:lnTo>
                    <a:pt x="1924050" y="2156460"/>
                  </a:lnTo>
                  <a:lnTo>
                    <a:pt x="1924050" y="2194560"/>
                  </a:lnTo>
                  <a:lnTo>
                    <a:pt x="1939290" y="2194560"/>
                  </a:lnTo>
                  <a:lnTo>
                    <a:pt x="1939290" y="2175510"/>
                  </a:lnTo>
                  <a:lnTo>
                    <a:pt x="1958340" y="2156460"/>
                  </a:lnTo>
                  <a:close/>
                </a:path>
                <a:path w="1977390" h="2194560">
                  <a:moveTo>
                    <a:pt x="1977390" y="2194560"/>
                  </a:moveTo>
                  <a:lnTo>
                    <a:pt x="1977390" y="2057400"/>
                  </a:lnTo>
                  <a:lnTo>
                    <a:pt x="1939290" y="2057400"/>
                  </a:lnTo>
                  <a:lnTo>
                    <a:pt x="1939290" y="2156460"/>
                  </a:lnTo>
                  <a:lnTo>
                    <a:pt x="1958340" y="2156460"/>
                  </a:lnTo>
                  <a:lnTo>
                    <a:pt x="1958340" y="2194560"/>
                  </a:lnTo>
                  <a:lnTo>
                    <a:pt x="1977390" y="2194560"/>
                  </a:lnTo>
                  <a:close/>
                </a:path>
                <a:path w="1977390" h="2194560">
                  <a:moveTo>
                    <a:pt x="1958340" y="2194560"/>
                  </a:moveTo>
                  <a:lnTo>
                    <a:pt x="1958340" y="2156460"/>
                  </a:lnTo>
                  <a:lnTo>
                    <a:pt x="1939290" y="2175510"/>
                  </a:lnTo>
                  <a:lnTo>
                    <a:pt x="1939290" y="2194560"/>
                  </a:lnTo>
                  <a:lnTo>
                    <a:pt x="1958340" y="2194560"/>
                  </a:lnTo>
                  <a:close/>
                </a:path>
                <a:path w="1977390" h="2194560">
                  <a:moveTo>
                    <a:pt x="1809750" y="2194560"/>
                  </a:moveTo>
                  <a:lnTo>
                    <a:pt x="1809750" y="2156460"/>
                  </a:lnTo>
                  <a:lnTo>
                    <a:pt x="1657350" y="2156460"/>
                  </a:lnTo>
                  <a:lnTo>
                    <a:pt x="1657350" y="2194560"/>
                  </a:lnTo>
                  <a:lnTo>
                    <a:pt x="1809750" y="2194560"/>
                  </a:lnTo>
                  <a:close/>
                </a:path>
                <a:path w="1977390" h="2194560">
                  <a:moveTo>
                    <a:pt x="1543050" y="2194560"/>
                  </a:moveTo>
                  <a:lnTo>
                    <a:pt x="1543050" y="2156460"/>
                  </a:lnTo>
                  <a:lnTo>
                    <a:pt x="1390650" y="2156460"/>
                  </a:lnTo>
                  <a:lnTo>
                    <a:pt x="1390650" y="2194560"/>
                  </a:lnTo>
                  <a:lnTo>
                    <a:pt x="1543050" y="2194560"/>
                  </a:lnTo>
                  <a:close/>
                </a:path>
                <a:path w="1977390" h="2194560">
                  <a:moveTo>
                    <a:pt x="1276350" y="2194560"/>
                  </a:moveTo>
                  <a:lnTo>
                    <a:pt x="1276350" y="2156460"/>
                  </a:lnTo>
                  <a:lnTo>
                    <a:pt x="1123950" y="2156460"/>
                  </a:lnTo>
                  <a:lnTo>
                    <a:pt x="1123950" y="2194560"/>
                  </a:lnTo>
                  <a:lnTo>
                    <a:pt x="1276350" y="2194560"/>
                  </a:lnTo>
                  <a:close/>
                </a:path>
                <a:path w="1977390" h="2194560">
                  <a:moveTo>
                    <a:pt x="1009650" y="2194560"/>
                  </a:moveTo>
                  <a:lnTo>
                    <a:pt x="1009650" y="2156460"/>
                  </a:lnTo>
                  <a:lnTo>
                    <a:pt x="857250" y="2156460"/>
                  </a:lnTo>
                  <a:lnTo>
                    <a:pt x="857250" y="2194560"/>
                  </a:lnTo>
                  <a:lnTo>
                    <a:pt x="1009650" y="2194560"/>
                  </a:lnTo>
                  <a:close/>
                </a:path>
                <a:path w="1977390" h="2194560">
                  <a:moveTo>
                    <a:pt x="742950" y="2194560"/>
                  </a:moveTo>
                  <a:lnTo>
                    <a:pt x="742950" y="2156460"/>
                  </a:lnTo>
                  <a:lnTo>
                    <a:pt x="590550" y="2156460"/>
                  </a:lnTo>
                  <a:lnTo>
                    <a:pt x="590550" y="2194560"/>
                  </a:lnTo>
                  <a:lnTo>
                    <a:pt x="742950" y="2194560"/>
                  </a:lnTo>
                  <a:close/>
                </a:path>
                <a:path w="1977390" h="2194560">
                  <a:moveTo>
                    <a:pt x="476250" y="2194560"/>
                  </a:moveTo>
                  <a:lnTo>
                    <a:pt x="476250" y="2156460"/>
                  </a:lnTo>
                  <a:lnTo>
                    <a:pt x="323850" y="2156460"/>
                  </a:lnTo>
                  <a:lnTo>
                    <a:pt x="323850" y="2194560"/>
                  </a:lnTo>
                  <a:lnTo>
                    <a:pt x="476250" y="2194560"/>
                  </a:lnTo>
                  <a:close/>
                </a:path>
                <a:path w="1977390" h="2194560">
                  <a:moveTo>
                    <a:pt x="209550" y="2194560"/>
                  </a:moveTo>
                  <a:lnTo>
                    <a:pt x="209550" y="2156460"/>
                  </a:lnTo>
                  <a:lnTo>
                    <a:pt x="57150" y="2156460"/>
                  </a:lnTo>
                  <a:lnTo>
                    <a:pt x="57150" y="2194560"/>
                  </a:lnTo>
                  <a:lnTo>
                    <a:pt x="209550" y="2194560"/>
                  </a:lnTo>
                  <a:close/>
                </a:path>
              </a:pathLst>
            </a:custGeom>
            <a:solidFill>
              <a:srgbClr val="DCDCDC"/>
            </a:solidFill>
          </p:spPr>
          <p:txBody>
            <a:bodyPr wrap="square" lIns="0" tIns="0" rIns="0" bIns="0" rtlCol="0"/>
            <a:lstStyle/>
            <a:p>
              <a:endParaRPr>
                <a:solidFill>
                  <a:prstClr val="black"/>
                </a:solidFill>
                <a:latin typeface="Calibri" panose="020F0502020204030204"/>
              </a:endParaRPr>
            </a:p>
          </p:txBody>
        </p:sp>
        <p:sp>
          <p:nvSpPr>
            <p:cNvPr id="76" name="object 72"/>
            <p:cNvSpPr/>
            <p:nvPr/>
          </p:nvSpPr>
          <p:spPr>
            <a:xfrm>
              <a:off x="9356597" y="2866644"/>
              <a:ext cx="795020" cy="38100"/>
            </a:xfrm>
            <a:custGeom>
              <a:avLst/>
              <a:gdLst/>
              <a:ahLst/>
              <a:cxnLst/>
              <a:rect l="l" t="t" r="r" b="b"/>
              <a:pathLst>
                <a:path w="795020" h="38100">
                  <a:moveTo>
                    <a:pt x="794766" y="38100"/>
                  </a:moveTo>
                  <a:lnTo>
                    <a:pt x="794766" y="0"/>
                  </a:lnTo>
                  <a:lnTo>
                    <a:pt x="0" y="0"/>
                  </a:lnTo>
                  <a:lnTo>
                    <a:pt x="0" y="38100"/>
                  </a:lnTo>
                  <a:lnTo>
                    <a:pt x="794766" y="38100"/>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77" name="object 73"/>
            <p:cNvSpPr/>
            <p:nvPr/>
          </p:nvSpPr>
          <p:spPr>
            <a:xfrm>
              <a:off x="8887205" y="2462022"/>
              <a:ext cx="681355" cy="836294"/>
            </a:xfrm>
            <a:custGeom>
              <a:avLst/>
              <a:gdLst/>
              <a:ahLst/>
              <a:cxnLst/>
              <a:rect l="l" t="t" r="r" b="b"/>
              <a:pathLst>
                <a:path w="681354" h="836295">
                  <a:moveTo>
                    <a:pt x="681228" y="417576"/>
                  </a:moveTo>
                  <a:lnTo>
                    <a:pt x="0" y="0"/>
                  </a:lnTo>
                  <a:lnTo>
                    <a:pt x="0" y="835913"/>
                  </a:lnTo>
                  <a:lnTo>
                    <a:pt x="681228" y="417576"/>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78" name="object 74"/>
            <p:cNvSpPr/>
            <p:nvPr/>
          </p:nvSpPr>
          <p:spPr>
            <a:xfrm>
              <a:off x="8868155" y="2427731"/>
              <a:ext cx="736600" cy="904240"/>
            </a:xfrm>
            <a:custGeom>
              <a:avLst/>
              <a:gdLst/>
              <a:ahLst/>
              <a:cxnLst/>
              <a:rect l="l" t="t" r="r" b="b"/>
              <a:pathLst>
                <a:path w="736600" h="904239">
                  <a:moveTo>
                    <a:pt x="736092" y="451866"/>
                  </a:moveTo>
                  <a:lnTo>
                    <a:pt x="0" y="0"/>
                  </a:lnTo>
                  <a:lnTo>
                    <a:pt x="0" y="903732"/>
                  </a:lnTo>
                  <a:lnTo>
                    <a:pt x="9144" y="898118"/>
                  </a:lnTo>
                  <a:lnTo>
                    <a:pt x="9144" y="50292"/>
                  </a:lnTo>
                  <a:lnTo>
                    <a:pt x="38100" y="34290"/>
                  </a:lnTo>
                  <a:lnTo>
                    <a:pt x="38100" y="68061"/>
                  </a:lnTo>
                  <a:lnTo>
                    <a:pt x="663533" y="451866"/>
                  </a:lnTo>
                  <a:lnTo>
                    <a:pt x="689610" y="435864"/>
                  </a:lnTo>
                  <a:lnTo>
                    <a:pt x="689610" y="480399"/>
                  </a:lnTo>
                  <a:lnTo>
                    <a:pt x="736092" y="451866"/>
                  </a:lnTo>
                  <a:close/>
                </a:path>
                <a:path w="736600" h="904239">
                  <a:moveTo>
                    <a:pt x="38100" y="68061"/>
                  </a:moveTo>
                  <a:lnTo>
                    <a:pt x="38100" y="34290"/>
                  </a:lnTo>
                  <a:lnTo>
                    <a:pt x="9144" y="50292"/>
                  </a:lnTo>
                  <a:lnTo>
                    <a:pt x="38100" y="68061"/>
                  </a:lnTo>
                  <a:close/>
                </a:path>
                <a:path w="736600" h="904239">
                  <a:moveTo>
                    <a:pt x="38100" y="835670"/>
                  </a:moveTo>
                  <a:lnTo>
                    <a:pt x="38100" y="68061"/>
                  </a:lnTo>
                  <a:lnTo>
                    <a:pt x="9144" y="50292"/>
                  </a:lnTo>
                  <a:lnTo>
                    <a:pt x="9144" y="853440"/>
                  </a:lnTo>
                  <a:lnTo>
                    <a:pt x="38100" y="835670"/>
                  </a:lnTo>
                  <a:close/>
                </a:path>
                <a:path w="736600" h="904239">
                  <a:moveTo>
                    <a:pt x="689610" y="480399"/>
                  </a:moveTo>
                  <a:lnTo>
                    <a:pt x="689610" y="467868"/>
                  </a:lnTo>
                  <a:lnTo>
                    <a:pt x="663533" y="451866"/>
                  </a:lnTo>
                  <a:lnTo>
                    <a:pt x="9144" y="853440"/>
                  </a:lnTo>
                  <a:lnTo>
                    <a:pt x="38100" y="870204"/>
                  </a:lnTo>
                  <a:lnTo>
                    <a:pt x="38100" y="880343"/>
                  </a:lnTo>
                  <a:lnTo>
                    <a:pt x="689610" y="480399"/>
                  </a:lnTo>
                  <a:close/>
                </a:path>
                <a:path w="736600" h="904239">
                  <a:moveTo>
                    <a:pt x="38100" y="880343"/>
                  </a:moveTo>
                  <a:lnTo>
                    <a:pt x="38100" y="870204"/>
                  </a:lnTo>
                  <a:lnTo>
                    <a:pt x="9144" y="853440"/>
                  </a:lnTo>
                  <a:lnTo>
                    <a:pt x="9144" y="898118"/>
                  </a:lnTo>
                  <a:lnTo>
                    <a:pt x="38100" y="880343"/>
                  </a:lnTo>
                  <a:close/>
                </a:path>
                <a:path w="736600" h="904239">
                  <a:moveTo>
                    <a:pt x="689610" y="467868"/>
                  </a:moveTo>
                  <a:lnTo>
                    <a:pt x="689610" y="435864"/>
                  </a:lnTo>
                  <a:lnTo>
                    <a:pt x="663533" y="451866"/>
                  </a:lnTo>
                  <a:lnTo>
                    <a:pt x="689610" y="467868"/>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grpSp>
      <p:sp>
        <p:nvSpPr>
          <p:cNvPr id="79" name="object 75"/>
          <p:cNvSpPr txBox="1"/>
          <p:nvPr/>
        </p:nvSpPr>
        <p:spPr>
          <a:xfrm>
            <a:off x="8024112" y="3308857"/>
            <a:ext cx="1608455" cy="635000"/>
          </a:xfrm>
          <a:prstGeom prst="rect">
            <a:avLst/>
          </a:prstGeom>
        </p:spPr>
        <p:txBody>
          <a:bodyPr vert="horz" wrap="square" lIns="0" tIns="12065" rIns="0" bIns="0" rtlCol="0">
            <a:spAutoFit/>
          </a:bodyPr>
          <a:lstStyle/>
          <a:p>
            <a:pPr marL="822325" marR="5080" indent="-810260">
              <a:spcBef>
                <a:spcPts val="95"/>
              </a:spcBef>
              <a:tabLst>
                <a:tab pos="861060" algn="l"/>
              </a:tabLst>
            </a:pPr>
            <a:r>
              <a:rPr sz="2000" spc="-5" dirty="0">
                <a:solidFill>
                  <a:prstClr val="black"/>
                </a:solidFill>
                <a:latin typeface="Verdana"/>
                <a:cs typeface="Verdana"/>
              </a:rPr>
              <a:t>TIA		Amp/ </a:t>
            </a:r>
            <a:r>
              <a:rPr sz="2000" spc="-690" dirty="0">
                <a:solidFill>
                  <a:prstClr val="black"/>
                </a:solidFill>
                <a:latin typeface="Verdana"/>
                <a:cs typeface="Verdana"/>
              </a:rPr>
              <a:t> </a:t>
            </a:r>
            <a:r>
              <a:rPr sz="2000" spc="-5" dirty="0">
                <a:solidFill>
                  <a:prstClr val="black"/>
                </a:solidFill>
                <a:latin typeface="Verdana"/>
                <a:cs typeface="Verdana"/>
              </a:rPr>
              <a:t>Buffer</a:t>
            </a:r>
            <a:endParaRPr sz="2000">
              <a:solidFill>
                <a:prstClr val="black"/>
              </a:solidFill>
              <a:latin typeface="Verdana"/>
              <a:cs typeface="Verdana"/>
            </a:endParaRPr>
          </a:p>
        </p:txBody>
      </p:sp>
      <p:sp>
        <p:nvSpPr>
          <p:cNvPr id="80" name="object 76"/>
          <p:cNvSpPr txBox="1"/>
          <p:nvPr/>
        </p:nvSpPr>
        <p:spPr>
          <a:xfrm>
            <a:off x="6995921" y="1328166"/>
            <a:ext cx="2814955" cy="390525"/>
          </a:xfrm>
          <a:prstGeom prst="rect">
            <a:avLst/>
          </a:prstGeom>
          <a:solidFill>
            <a:srgbClr val="D8DEE4"/>
          </a:solidFill>
        </p:spPr>
        <p:txBody>
          <a:bodyPr vert="horz" wrap="square" lIns="0" tIns="39369" rIns="0" bIns="0" rtlCol="0">
            <a:spAutoFit/>
          </a:bodyPr>
          <a:lstStyle/>
          <a:p>
            <a:pPr algn="ctr">
              <a:spcBef>
                <a:spcPts val="309"/>
              </a:spcBef>
            </a:pPr>
            <a:r>
              <a:rPr sz="2000" spc="-5" dirty="0">
                <a:solidFill>
                  <a:prstClr val="black"/>
                </a:solidFill>
                <a:latin typeface="Verdana"/>
                <a:cs typeface="Verdana"/>
              </a:rPr>
              <a:t>O/E</a:t>
            </a:r>
            <a:r>
              <a:rPr sz="2000" spc="-40" dirty="0">
                <a:solidFill>
                  <a:prstClr val="black"/>
                </a:solidFill>
                <a:latin typeface="Verdana"/>
                <a:cs typeface="Verdana"/>
              </a:rPr>
              <a:t> </a:t>
            </a:r>
            <a:r>
              <a:rPr sz="2000" spc="-5" dirty="0">
                <a:solidFill>
                  <a:prstClr val="black"/>
                </a:solidFill>
                <a:latin typeface="Verdana"/>
                <a:cs typeface="Verdana"/>
              </a:rPr>
              <a:t>RX</a:t>
            </a:r>
            <a:endParaRPr sz="2000">
              <a:solidFill>
                <a:prstClr val="black"/>
              </a:solidFill>
              <a:latin typeface="Verdana"/>
              <a:cs typeface="Verdana"/>
            </a:endParaRPr>
          </a:p>
        </p:txBody>
      </p:sp>
      <p:grpSp>
        <p:nvGrpSpPr>
          <p:cNvPr id="81" name="object 77"/>
          <p:cNvGrpSpPr/>
          <p:nvPr/>
        </p:nvGrpSpPr>
        <p:grpSpPr>
          <a:xfrm>
            <a:off x="5190744" y="2142744"/>
            <a:ext cx="3326129" cy="1028065"/>
            <a:chOff x="5190744" y="2142744"/>
            <a:chExt cx="3326129" cy="1028065"/>
          </a:xfrm>
        </p:grpSpPr>
        <p:sp>
          <p:nvSpPr>
            <p:cNvPr id="82" name="object 78"/>
            <p:cNvSpPr/>
            <p:nvPr/>
          </p:nvSpPr>
          <p:spPr>
            <a:xfrm>
              <a:off x="8073389" y="2637281"/>
              <a:ext cx="407034" cy="499109"/>
            </a:xfrm>
            <a:custGeom>
              <a:avLst/>
              <a:gdLst/>
              <a:ahLst/>
              <a:cxnLst/>
              <a:rect l="l" t="t" r="r" b="b"/>
              <a:pathLst>
                <a:path w="407034" h="499110">
                  <a:moveTo>
                    <a:pt x="406908" y="249935"/>
                  </a:moveTo>
                  <a:lnTo>
                    <a:pt x="0" y="0"/>
                  </a:lnTo>
                  <a:lnTo>
                    <a:pt x="0" y="499109"/>
                  </a:lnTo>
                  <a:lnTo>
                    <a:pt x="406908" y="249935"/>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83" name="object 79"/>
            <p:cNvSpPr/>
            <p:nvPr/>
          </p:nvSpPr>
          <p:spPr>
            <a:xfrm>
              <a:off x="5190744" y="2142743"/>
              <a:ext cx="3326129" cy="1028065"/>
            </a:xfrm>
            <a:custGeom>
              <a:avLst/>
              <a:gdLst/>
              <a:ahLst/>
              <a:cxnLst/>
              <a:rect l="l" t="t" r="r" b="b"/>
              <a:pathLst>
                <a:path w="3326129" h="1028064">
                  <a:moveTo>
                    <a:pt x="548640" y="1524"/>
                  </a:moveTo>
                  <a:lnTo>
                    <a:pt x="546354" y="0"/>
                  </a:lnTo>
                  <a:lnTo>
                    <a:pt x="539496" y="0"/>
                  </a:lnTo>
                  <a:lnTo>
                    <a:pt x="539496" y="9144"/>
                  </a:lnTo>
                  <a:lnTo>
                    <a:pt x="539496" y="361950"/>
                  </a:lnTo>
                  <a:lnTo>
                    <a:pt x="9906" y="361950"/>
                  </a:lnTo>
                  <a:lnTo>
                    <a:pt x="9906" y="9144"/>
                  </a:lnTo>
                  <a:lnTo>
                    <a:pt x="539496" y="9144"/>
                  </a:lnTo>
                  <a:lnTo>
                    <a:pt x="539496" y="0"/>
                  </a:lnTo>
                  <a:lnTo>
                    <a:pt x="2286" y="0"/>
                  </a:lnTo>
                  <a:lnTo>
                    <a:pt x="0" y="1524"/>
                  </a:lnTo>
                  <a:lnTo>
                    <a:pt x="0" y="368808"/>
                  </a:lnTo>
                  <a:lnTo>
                    <a:pt x="2286" y="371094"/>
                  </a:lnTo>
                  <a:lnTo>
                    <a:pt x="4572" y="371094"/>
                  </a:lnTo>
                  <a:lnTo>
                    <a:pt x="9906" y="371094"/>
                  </a:lnTo>
                  <a:lnTo>
                    <a:pt x="539496" y="371094"/>
                  </a:lnTo>
                  <a:lnTo>
                    <a:pt x="544068" y="371094"/>
                  </a:lnTo>
                  <a:lnTo>
                    <a:pt x="546354" y="371094"/>
                  </a:lnTo>
                  <a:lnTo>
                    <a:pt x="548640" y="368808"/>
                  </a:lnTo>
                  <a:lnTo>
                    <a:pt x="548640" y="1524"/>
                  </a:lnTo>
                  <a:close/>
                </a:path>
                <a:path w="3326129" h="1028064">
                  <a:moveTo>
                    <a:pt x="3326130" y="744474"/>
                  </a:moveTo>
                  <a:lnTo>
                    <a:pt x="3252965" y="699516"/>
                  </a:lnTo>
                  <a:lnTo>
                    <a:pt x="3252965" y="744093"/>
                  </a:lnTo>
                  <a:lnTo>
                    <a:pt x="2901696" y="959866"/>
                  </a:lnTo>
                  <a:lnTo>
                    <a:pt x="2901696" y="528332"/>
                  </a:lnTo>
                  <a:lnTo>
                    <a:pt x="3252965" y="744093"/>
                  </a:lnTo>
                  <a:lnTo>
                    <a:pt x="3252965" y="699516"/>
                  </a:lnTo>
                  <a:lnTo>
                    <a:pt x="2863596" y="460248"/>
                  </a:lnTo>
                  <a:lnTo>
                    <a:pt x="2863596" y="1027938"/>
                  </a:lnTo>
                  <a:lnTo>
                    <a:pt x="2872740" y="1022337"/>
                  </a:lnTo>
                  <a:lnTo>
                    <a:pt x="2901696" y="1004595"/>
                  </a:lnTo>
                  <a:lnTo>
                    <a:pt x="3279648" y="772972"/>
                  </a:lnTo>
                  <a:lnTo>
                    <a:pt x="3326130" y="744474"/>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grpSp>
      <p:sp>
        <p:nvSpPr>
          <p:cNvPr id="84" name="object 80"/>
          <p:cNvSpPr txBox="1"/>
          <p:nvPr/>
        </p:nvSpPr>
        <p:spPr>
          <a:xfrm>
            <a:off x="5789167" y="1805432"/>
            <a:ext cx="710565" cy="330200"/>
          </a:xfrm>
          <a:prstGeom prst="rect">
            <a:avLst/>
          </a:prstGeom>
        </p:spPr>
        <p:txBody>
          <a:bodyPr vert="horz" wrap="square" lIns="0" tIns="12065" rIns="0" bIns="0" rtlCol="0">
            <a:spAutoFit/>
          </a:bodyPr>
          <a:lstStyle/>
          <a:p>
            <a:pPr marL="12700">
              <a:spcBef>
                <a:spcPts val="95"/>
              </a:spcBef>
            </a:pPr>
            <a:r>
              <a:rPr sz="2000" spc="-10" dirty="0">
                <a:solidFill>
                  <a:prstClr val="black"/>
                </a:solidFill>
                <a:latin typeface="Verdana"/>
                <a:cs typeface="Verdana"/>
              </a:rPr>
              <a:t>Laser</a:t>
            </a:r>
            <a:endParaRPr sz="2000">
              <a:solidFill>
                <a:prstClr val="black"/>
              </a:solidFill>
              <a:latin typeface="Verdana"/>
              <a:cs typeface="Verdana"/>
            </a:endParaRPr>
          </a:p>
        </p:txBody>
      </p:sp>
      <p:grpSp>
        <p:nvGrpSpPr>
          <p:cNvPr id="85" name="object 81"/>
          <p:cNvGrpSpPr/>
          <p:nvPr/>
        </p:nvGrpSpPr>
        <p:grpSpPr>
          <a:xfrm>
            <a:off x="2360676" y="1771650"/>
            <a:ext cx="5092065" cy="2194560"/>
            <a:chOff x="2360676" y="1771650"/>
            <a:chExt cx="5092065" cy="2194560"/>
          </a:xfrm>
        </p:grpSpPr>
        <p:sp>
          <p:nvSpPr>
            <p:cNvPr id="86" name="object 82"/>
            <p:cNvSpPr/>
            <p:nvPr/>
          </p:nvSpPr>
          <p:spPr>
            <a:xfrm>
              <a:off x="2360676" y="2958845"/>
              <a:ext cx="1600200" cy="38100"/>
            </a:xfrm>
            <a:custGeom>
              <a:avLst/>
              <a:gdLst/>
              <a:ahLst/>
              <a:cxnLst/>
              <a:rect l="l" t="t" r="r" b="b"/>
              <a:pathLst>
                <a:path w="1600200" h="38100">
                  <a:moveTo>
                    <a:pt x="567677" y="0"/>
                  </a:moveTo>
                  <a:lnTo>
                    <a:pt x="0" y="0"/>
                  </a:lnTo>
                  <a:lnTo>
                    <a:pt x="0" y="38100"/>
                  </a:lnTo>
                  <a:lnTo>
                    <a:pt x="567677" y="38100"/>
                  </a:lnTo>
                  <a:lnTo>
                    <a:pt x="567677" y="0"/>
                  </a:lnTo>
                  <a:close/>
                </a:path>
                <a:path w="1600200" h="38100">
                  <a:moveTo>
                    <a:pt x="1600200" y="0"/>
                  </a:moveTo>
                  <a:lnTo>
                    <a:pt x="1277112" y="0"/>
                  </a:lnTo>
                  <a:lnTo>
                    <a:pt x="1277112" y="38100"/>
                  </a:lnTo>
                  <a:lnTo>
                    <a:pt x="1600200" y="38100"/>
                  </a:lnTo>
                  <a:lnTo>
                    <a:pt x="1600200" y="0"/>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87" name="object 83"/>
            <p:cNvSpPr/>
            <p:nvPr/>
          </p:nvSpPr>
          <p:spPr>
            <a:xfrm>
              <a:off x="2638806" y="1771650"/>
              <a:ext cx="2044064" cy="2194560"/>
            </a:xfrm>
            <a:custGeom>
              <a:avLst/>
              <a:gdLst/>
              <a:ahLst/>
              <a:cxnLst/>
              <a:rect l="l" t="t" r="r" b="b"/>
              <a:pathLst>
                <a:path w="2044064" h="2194560">
                  <a:moveTo>
                    <a:pt x="38100" y="2156460"/>
                  </a:moveTo>
                  <a:lnTo>
                    <a:pt x="38100" y="2023110"/>
                  </a:lnTo>
                  <a:lnTo>
                    <a:pt x="0" y="2023110"/>
                  </a:lnTo>
                  <a:lnTo>
                    <a:pt x="0" y="2175510"/>
                  </a:lnTo>
                  <a:lnTo>
                    <a:pt x="19050" y="2175510"/>
                  </a:lnTo>
                  <a:lnTo>
                    <a:pt x="19050" y="2156460"/>
                  </a:lnTo>
                  <a:lnTo>
                    <a:pt x="38100" y="2156460"/>
                  </a:lnTo>
                  <a:close/>
                </a:path>
                <a:path w="2044064" h="2194560">
                  <a:moveTo>
                    <a:pt x="76200" y="2194560"/>
                  </a:moveTo>
                  <a:lnTo>
                    <a:pt x="76200" y="2156460"/>
                  </a:lnTo>
                  <a:lnTo>
                    <a:pt x="19050" y="2156460"/>
                  </a:lnTo>
                  <a:lnTo>
                    <a:pt x="19050" y="2175510"/>
                  </a:lnTo>
                  <a:lnTo>
                    <a:pt x="38100" y="2175510"/>
                  </a:lnTo>
                  <a:lnTo>
                    <a:pt x="38100" y="2194560"/>
                  </a:lnTo>
                  <a:lnTo>
                    <a:pt x="76200" y="2194560"/>
                  </a:lnTo>
                  <a:close/>
                </a:path>
                <a:path w="2044064" h="2194560">
                  <a:moveTo>
                    <a:pt x="38100" y="2194560"/>
                  </a:moveTo>
                  <a:lnTo>
                    <a:pt x="38100" y="2175510"/>
                  </a:lnTo>
                  <a:lnTo>
                    <a:pt x="19050" y="2175510"/>
                  </a:lnTo>
                  <a:lnTo>
                    <a:pt x="19050" y="2194560"/>
                  </a:lnTo>
                  <a:lnTo>
                    <a:pt x="38100" y="2194560"/>
                  </a:lnTo>
                  <a:close/>
                </a:path>
                <a:path w="2044064" h="2194560">
                  <a:moveTo>
                    <a:pt x="38100" y="1908810"/>
                  </a:moveTo>
                  <a:lnTo>
                    <a:pt x="38100" y="1756410"/>
                  </a:lnTo>
                  <a:lnTo>
                    <a:pt x="0" y="1756410"/>
                  </a:lnTo>
                  <a:lnTo>
                    <a:pt x="0" y="1908810"/>
                  </a:lnTo>
                  <a:lnTo>
                    <a:pt x="38100" y="1908810"/>
                  </a:lnTo>
                  <a:close/>
                </a:path>
                <a:path w="2044064" h="2194560">
                  <a:moveTo>
                    <a:pt x="38100" y="1642110"/>
                  </a:moveTo>
                  <a:lnTo>
                    <a:pt x="38100" y="1489710"/>
                  </a:lnTo>
                  <a:lnTo>
                    <a:pt x="0" y="1489710"/>
                  </a:lnTo>
                  <a:lnTo>
                    <a:pt x="0" y="1642110"/>
                  </a:lnTo>
                  <a:lnTo>
                    <a:pt x="38100" y="1642110"/>
                  </a:lnTo>
                  <a:close/>
                </a:path>
                <a:path w="2044064" h="2194560">
                  <a:moveTo>
                    <a:pt x="38100" y="1375410"/>
                  </a:moveTo>
                  <a:lnTo>
                    <a:pt x="38100" y="1223010"/>
                  </a:lnTo>
                  <a:lnTo>
                    <a:pt x="0" y="1223010"/>
                  </a:lnTo>
                  <a:lnTo>
                    <a:pt x="0" y="1375410"/>
                  </a:lnTo>
                  <a:lnTo>
                    <a:pt x="38100" y="1375410"/>
                  </a:lnTo>
                  <a:close/>
                </a:path>
                <a:path w="2044064" h="2194560">
                  <a:moveTo>
                    <a:pt x="38100" y="1108710"/>
                  </a:moveTo>
                  <a:lnTo>
                    <a:pt x="38100" y="956310"/>
                  </a:lnTo>
                  <a:lnTo>
                    <a:pt x="0" y="956310"/>
                  </a:lnTo>
                  <a:lnTo>
                    <a:pt x="0" y="1108710"/>
                  </a:lnTo>
                  <a:lnTo>
                    <a:pt x="38100" y="1108710"/>
                  </a:lnTo>
                  <a:close/>
                </a:path>
                <a:path w="2044064" h="2194560">
                  <a:moveTo>
                    <a:pt x="38100" y="842010"/>
                  </a:moveTo>
                  <a:lnTo>
                    <a:pt x="38100" y="689610"/>
                  </a:lnTo>
                  <a:lnTo>
                    <a:pt x="0" y="689610"/>
                  </a:lnTo>
                  <a:lnTo>
                    <a:pt x="0" y="842010"/>
                  </a:lnTo>
                  <a:lnTo>
                    <a:pt x="38100" y="842010"/>
                  </a:lnTo>
                  <a:close/>
                </a:path>
                <a:path w="2044064" h="2194560">
                  <a:moveTo>
                    <a:pt x="38100" y="575310"/>
                  </a:moveTo>
                  <a:lnTo>
                    <a:pt x="38100" y="422910"/>
                  </a:lnTo>
                  <a:lnTo>
                    <a:pt x="0" y="422910"/>
                  </a:lnTo>
                  <a:lnTo>
                    <a:pt x="0" y="575310"/>
                  </a:lnTo>
                  <a:lnTo>
                    <a:pt x="38100" y="575310"/>
                  </a:lnTo>
                  <a:close/>
                </a:path>
                <a:path w="2044064" h="2194560">
                  <a:moveTo>
                    <a:pt x="38100" y="308610"/>
                  </a:moveTo>
                  <a:lnTo>
                    <a:pt x="38100" y="156210"/>
                  </a:lnTo>
                  <a:lnTo>
                    <a:pt x="0" y="156210"/>
                  </a:lnTo>
                  <a:lnTo>
                    <a:pt x="0" y="308610"/>
                  </a:lnTo>
                  <a:lnTo>
                    <a:pt x="38100" y="308610"/>
                  </a:lnTo>
                  <a:close/>
                </a:path>
                <a:path w="2044064" h="2194560">
                  <a:moveTo>
                    <a:pt x="148589" y="38100"/>
                  </a:moveTo>
                  <a:lnTo>
                    <a:pt x="148589" y="0"/>
                  </a:lnTo>
                  <a:lnTo>
                    <a:pt x="0" y="0"/>
                  </a:lnTo>
                  <a:lnTo>
                    <a:pt x="0" y="41910"/>
                  </a:lnTo>
                  <a:lnTo>
                    <a:pt x="19050" y="41910"/>
                  </a:lnTo>
                  <a:lnTo>
                    <a:pt x="19050" y="38100"/>
                  </a:lnTo>
                  <a:lnTo>
                    <a:pt x="38100" y="19050"/>
                  </a:lnTo>
                  <a:lnTo>
                    <a:pt x="38100" y="38100"/>
                  </a:lnTo>
                  <a:lnTo>
                    <a:pt x="148589" y="38100"/>
                  </a:lnTo>
                  <a:close/>
                </a:path>
                <a:path w="2044064" h="2194560">
                  <a:moveTo>
                    <a:pt x="38100" y="38100"/>
                  </a:moveTo>
                  <a:lnTo>
                    <a:pt x="38100" y="19050"/>
                  </a:lnTo>
                  <a:lnTo>
                    <a:pt x="19050" y="38100"/>
                  </a:lnTo>
                  <a:lnTo>
                    <a:pt x="38100" y="38100"/>
                  </a:lnTo>
                  <a:close/>
                </a:path>
                <a:path w="2044064" h="2194560">
                  <a:moveTo>
                    <a:pt x="38100" y="41910"/>
                  </a:moveTo>
                  <a:lnTo>
                    <a:pt x="38100" y="38100"/>
                  </a:lnTo>
                  <a:lnTo>
                    <a:pt x="19050" y="38100"/>
                  </a:lnTo>
                  <a:lnTo>
                    <a:pt x="19050" y="41910"/>
                  </a:lnTo>
                  <a:lnTo>
                    <a:pt x="38100" y="41910"/>
                  </a:lnTo>
                  <a:close/>
                </a:path>
                <a:path w="2044064" h="2194560">
                  <a:moveTo>
                    <a:pt x="415289" y="38099"/>
                  </a:moveTo>
                  <a:lnTo>
                    <a:pt x="415289" y="0"/>
                  </a:lnTo>
                  <a:lnTo>
                    <a:pt x="262889" y="0"/>
                  </a:lnTo>
                  <a:lnTo>
                    <a:pt x="262889" y="38100"/>
                  </a:lnTo>
                  <a:lnTo>
                    <a:pt x="415289" y="38099"/>
                  </a:lnTo>
                  <a:close/>
                </a:path>
                <a:path w="2044064" h="2194560">
                  <a:moveTo>
                    <a:pt x="681990" y="38099"/>
                  </a:moveTo>
                  <a:lnTo>
                    <a:pt x="681990" y="0"/>
                  </a:lnTo>
                  <a:lnTo>
                    <a:pt x="529589" y="0"/>
                  </a:lnTo>
                  <a:lnTo>
                    <a:pt x="529589" y="38099"/>
                  </a:lnTo>
                  <a:lnTo>
                    <a:pt x="681990" y="38099"/>
                  </a:lnTo>
                  <a:close/>
                </a:path>
                <a:path w="2044064" h="2194560">
                  <a:moveTo>
                    <a:pt x="948690" y="38099"/>
                  </a:moveTo>
                  <a:lnTo>
                    <a:pt x="948690" y="0"/>
                  </a:lnTo>
                  <a:lnTo>
                    <a:pt x="796290" y="0"/>
                  </a:lnTo>
                  <a:lnTo>
                    <a:pt x="796290" y="38099"/>
                  </a:lnTo>
                  <a:lnTo>
                    <a:pt x="948690" y="38099"/>
                  </a:lnTo>
                  <a:close/>
                </a:path>
                <a:path w="2044064" h="2194560">
                  <a:moveTo>
                    <a:pt x="1215390" y="38099"/>
                  </a:moveTo>
                  <a:lnTo>
                    <a:pt x="1215390" y="0"/>
                  </a:lnTo>
                  <a:lnTo>
                    <a:pt x="1062990" y="0"/>
                  </a:lnTo>
                  <a:lnTo>
                    <a:pt x="1062990" y="38099"/>
                  </a:lnTo>
                  <a:lnTo>
                    <a:pt x="1215390" y="38099"/>
                  </a:lnTo>
                  <a:close/>
                </a:path>
                <a:path w="2044064" h="2194560">
                  <a:moveTo>
                    <a:pt x="1482090" y="38099"/>
                  </a:moveTo>
                  <a:lnTo>
                    <a:pt x="1482090" y="0"/>
                  </a:lnTo>
                  <a:lnTo>
                    <a:pt x="1329690" y="0"/>
                  </a:lnTo>
                  <a:lnTo>
                    <a:pt x="1329690" y="38099"/>
                  </a:lnTo>
                  <a:lnTo>
                    <a:pt x="1482090" y="38099"/>
                  </a:lnTo>
                  <a:close/>
                </a:path>
                <a:path w="2044064" h="2194560">
                  <a:moveTo>
                    <a:pt x="1748790" y="38099"/>
                  </a:moveTo>
                  <a:lnTo>
                    <a:pt x="1748790" y="0"/>
                  </a:lnTo>
                  <a:lnTo>
                    <a:pt x="1596390" y="0"/>
                  </a:lnTo>
                  <a:lnTo>
                    <a:pt x="1596390" y="38099"/>
                  </a:lnTo>
                  <a:lnTo>
                    <a:pt x="1748790" y="38099"/>
                  </a:lnTo>
                  <a:close/>
                </a:path>
                <a:path w="2044064" h="2194560">
                  <a:moveTo>
                    <a:pt x="2015490" y="38099"/>
                  </a:moveTo>
                  <a:lnTo>
                    <a:pt x="2015490" y="0"/>
                  </a:lnTo>
                  <a:lnTo>
                    <a:pt x="1863090" y="0"/>
                  </a:lnTo>
                  <a:lnTo>
                    <a:pt x="1863090" y="38099"/>
                  </a:lnTo>
                  <a:lnTo>
                    <a:pt x="2015490" y="38099"/>
                  </a:lnTo>
                  <a:close/>
                </a:path>
                <a:path w="2044064" h="2194560">
                  <a:moveTo>
                    <a:pt x="2043683" y="276605"/>
                  </a:moveTo>
                  <a:lnTo>
                    <a:pt x="2043683" y="124205"/>
                  </a:lnTo>
                  <a:lnTo>
                    <a:pt x="2005583" y="124205"/>
                  </a:lnTo>
                  <a:lnTo>
                    <a:pt x="2005583" y="276605"/>
                  </a:lnTo>
                  <a:lnTo>
                    <a:pt x="2043683" y="276605"/>
                  </a:lnTo>
                  <a:close/>
                </a:path>
                <a:path w="2044064" h="2194560">
                  <a:moveTo>
                    <a:pt x="2043683" y="543305"/>
                  </a:moveTo>
                  <a:lnTo>
                    <a:pt x="2043683" y="390905"/>
                  </a:lnTo>
                  <a:lnTo>
                    <a:pt x="2005583" y="390905"/>
                  </a:lnTo>
                  <a:lnTo>
                    <a:pt x="2005583" y="543305"/>
                  </a:lnTo>
                  <a:lnTo>
                    <a:pt x="2043683" y="543305"/>
                  </a:lnTo>
                  <a:close/>
                </a:path>
                <a:path w="2044064" h="2194560">
                  <a:moveTo>
                    <a:pt x="2043683" y="810005"/>
                  </a:moveTo>
                  <a:lnTo>
                    <a:pt x="2043683" y="657605"/>
                  </a:lnTo>
                  <a:lnTo>
                    <a:pt x="2005583" y="657605"/>
                  </a:lnTo>
                  <a:lnTo>
                    <a:pt x="2005583" y="810005"/>
                  </a:lnTo>
                  <a:lnTo>
                    <a:pt x="2043683" y="810005"/>
                  </a:lnTo>
                  <a:close/>
                </a:path>
                <a:path w="2044064" h="2194560">
                  <a:moveTo>
                    <a:pt x="2043683" y="1076705"/>
                  </a:moveTo>
                  <a:lnTo>
                    <a:pt x="2043683" y="924305"/>
                  </a:lnTo>
                  <a:lnTo>
                    <a:pt x="2005583" y="924305"/>
                  </a:lnTo>
                  <a:lnTo>
                    <a:pt x="2005583" y="1076705"/>
                  </a:lnTo>
                  <a:lnTo>
                    <a:pt x="2043683" y="1076705"/>
                  </a:lnTo>
                  <a:close/>
                </a:path>
                <a:path w="2044064" h="2194560">
                  <a:moveTo>
                    <a:pt x="2043683" y="1343405"/>
                  </a:moveTo>
                  <a:lnTo>
                    <a:pt x="2043683" y="1191005"/>
                  </a:lnTo>
                  <a:lnTo>
                    <a:pt x="2005583" y="1191005"/>
                  </a:lnTo>
                  <a:lnTo>
                    <a:pt x="2005583" y="1343405"/>
                  </a:lnTo>
                  <a:lnTo>
                    <a:pt x="2043683" y="1343405"/>
                  </a:lnTo>
                  <a:close/>
                </a:path>
                <a:path w="2044064" h="2194560">
                  <a:moveTo>
                    <a:pt x="2043683" y="1610105"/>
                  </a:moveTo>
                  <a:lnTo>
                    <a:pt x="2043683" y="1457705"/>
                  </a:lnTo>
                  <a:lnTo>
                    <a:pt x="2005583" y="1457705"/>
                  </a:lnTo>
                  <a:lnTo>
                    <a:pt x="2005583" y="1610105"/>
                  </a:lnTo>
                  <a:lnTo>
                    <a:pt x="2043683" y="1610105"/>
                  </a:lnTo>
                  <a:close/>
                </a:path>
                <a:path w="2044064" h="2194560">
                  <a:moveTo>
                    <a:pt x="2043683" y="1876805"/>
                  </a:moveTo>
                  <a:lnTo>
                    <a:pt x="2043683" y="1724405"/>
                  </a:lnTo>
                  <a:lnTo>
                    <a:pt x="2005583" y="1724405"/>
                  </a:lnTo>
                  <a:lnTo>
                    <a:pt x="2005583" y="1876805"/>
                  </a:lnTo>
                  <a:lnTo>
                    <a:pt x="2043683" y="1876805"/>
                  </a:lnTo>
                  <a:close/>
                </a:path>
                <a:path w="2044064" h="2194560">
                  <a:moveTo>
                    <a:pt x="2043683" y="2143505"/>
                  </a:moveTo>
                  <a:lnTo>
                    <a:pt x="2043683" y="1991105"/>
                  </a:lnTo>
                  <a:lnTo>
                    <a:pt x="2005583" y="1991105"/>
                  </a:lnTo>
                  <a:lnTo>
                    <a:pt x="2005583" y="2143505"/>
                  </a:lnTo>
                  <a:lnTo>
                    <a:pt x="2043683" y="2143505"/>
                  </a:lnTo>
                  <a:close/>
                </a:path>
                <a:path w="2044064" h="2194560">
                  <a:moveTo>
                    <a:pt x="1942338" y="2194560"/>
                  </a:moveTo>
                  <a:lnTo>
                    <a:pt x="1942338" y="2156460"/>
                  </a:lnTo>
                  <a:lnTo>
                    <a:pt x="1789938" y="2156460"/>
                  </a:lnTo>
                  <a:lnTo>
                    <a:pt x="1789938" y="2194560"/>
                  </a:lnTo>
                  <a:lnTo>
                    <a:pt x="1942338" y="2194560"/>
                  </a:lnTo>
                  <a:close/>
                </a:path>
                <a:path w="2044064" h="2194560">
                  <a:moveTo>
                    <a:pt x="1675638" y="2194560"/>
                  </a:moveTo>
                  <a:lnTo>
                    <a:pt x="1675638" y="2156460"/>
                  </a:lnTo>
                  <a:lnTo>
                    <a:pt x="1523238" y="2156460"/>
                  </a:lnTo>
                  <a:lnTo>
                    <a:pt x="1523238" y="2194560"/>
                  </a:lnTo>
                  <a:lnTo>
                    <a:pt x="1675638" y="2194560"/>
                  </a:lnTo>
                  <a:close/>
                </a:path>
                <a:path w="2044064" h="2194560">
                  <a:moveTo>
                    <a:pt x="1408938" y="2194560"/>
                  </a:moveTo>
                  <a:lnTo>
                    <a:pt x="1408938" y="2156460"/>
                  </a:lnTo>
                  <a:lnTo>
                    <a:pt x="1256538" y="2156460"/>
                  </a:lnTo>
                  <a:lnTo>
                    <a:pt x="1256538" y="2194560"/>
                  </a:lnTo>
                  <a:lnTo>
                    <a:pt x="1408938" y="2194560"/>
                  </a:lnTo>
                  <a:close/>
                </a:path>
                <a:path w="2044064" h="2194560">
                  <a:moveTo>
                    <a:pt x="1142238" y="2194560"/>
                  </a:moveTo>
                  <a:lnTo>
                    <a:pt x="1142238" y="2156460"/>
                  </a:lnTo>
                  <a:lnTo>
                    <a:pt x="989838" y="2156460"/>
                  </a:lnTo>
                  <a:lnTo>
                    <a:pt x="989838" y="2194560"/>
                  </a:lnTo>
                  <a:lnTo>
                    <a:pt x="1142238" y="2194560"/>
                  </a:lnTo>
                  <a:close/>
                </a:path>
                <a:path w="2044064" h="2194560">
                  <a:moveTo>
                    <a:pt x="875538" y="2194560"/>
                  </a:moveTo>
                  <a:lnTo>
                    <a:pt x="875538" y="2156460"/>
                  </a:lnTo>
                  <a:lnTo>
                    <a:pt x="723138" y="2156460"/>
                  </a:lnTo>
                  <a:lnTo>
                    <a:pt x="723138" y="2194560"/>
                  </a:lnTo>
                  <a:lnTo>
                    <a:pt x="875538" y="2194560"/>
                  </a:lnTo>
                  <a:close/>
                </a:path>
                <a:path w="2044064" h="2194560">
                  <a:moveTo>
                    <a:pt x="608838" y="2194560"/>
                  </a:moveTo>
                  <a:lnTo>
                    <a:pt x="608838" y="2156460"/>
                  </a:lnTo>
                  <a:lnTo>
                    <a:pt x="457200" y="2156460"/>
                  </a:lnTo>
                  <a:lnTo>
                    <a:pt x="457200" y="2194560"/>
                  </a:lnTo>
                  <a:lnTo>
                    <a:pt x="608838" y="2194560"/>
                  </a:lnTo>
                  <a:close/>
                </a:path>
                <a:path w="2044064" h="2194560">
                  <a:moveTo>
                    <a:pt x="342900" y="2194560"/>
                  </a:moveTo>
                  <a:lnTo>
                    <a:pt x="342900" y="2156460"/>
                  </a:lnTo>
                  <a:lnTo>
                    <a:pt x="190500" y="2156460"/>
                  </a:lnTo>
                  <a:lnTo>
                    <a:pt x="190500" y="2194560"/>
                  </a:lnTo>
                  <a:lnTo>
                    <a:pt x="342900" y="2194560"/>
                  </a:lnTo>
                  <a:close/>
                </a:path>
              </a:pathLst>
            </a:custGeom>
            <a:solidFill>
              <a:srgbClr val="DCDCDC"/>
            </a:solidFill>
          </p:spPr>
          <p:txBody>
            <a:bodyPr wrap="square" lIns="0" tIns="0" rIns="0" bIns="0" rtlCol="0"/>
            <a:lstStyle/>
            <a:p>
              <a:endParaRPr>
                <a:solidFill>
                  <a:prstClr val="black"/>
                </a:solidFill>
                <a:latin typeface="Calibri" panose="020F0502020204030204"/>
              </a:endParaRPr>
            </a:p>
          </p:txBody>
        </p:sp>
        <p:sp>
          <p:nvSpPr>
            <p:cNvPr id="88" name="object 84"/>
            <p:cNvSpPr/>
            <p:nvPr/>
          </p:nvSpPr>
          <p:spPr>
            <a:xfrm>
              <a:off x="4250436" y="2958846"/>
              <a:ext cx="1022350" cy="38100"/>
            </a:xfrm>
            <a:custGeom>
              <a:avLst/>
              <a:gdLst/>
              <a:ahLst/>
              <a:cxnLst/>
              <a:rect l="l" t="t" r="r" b="b"/>
              <a:pathLst>
                <a:path w="1022350" h="38100">
                  <a:moveTo>
                    <a:pt x="1021841" y="38100"/>
                  </a:moveTo>
                  <a:lnTo>
                    <a:pt x="1021841" y="0"/>
                  </a:lnTo>
                  <a:lnTo>
                    <a:pt x="0" y="0"/>
                  </a:lnTo>
                  <a:lnTo>
                    <a:pt x="0" y="38100"/>
                  </a:lnTo>
                  <a:lnTo>
                    <a:pt x="1021841" y="38100"/>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89" name="object 85"/>
            <p:cNvSpPr/>
            <p:nvPr/>
          </p:nvSpPr>
          <p:spPr>
            <a:xfrm>
              <a:off x="2884932" y="2726436"/>
              <a:ext cx="765810" cy="516890"/>
            </a:xfrm>
            <a:custGeom>
              <a:avLst/>
              <a:gdLst/>
              <a:ahLst/>
              <a:cxnLst/>
              <a:rect l="l" t="t" r="r" b="b"/>
              <a:pathLst>
                <a:path w="765810" h="516889">
                  <a:moveTo>
                    <a:pt x="765809" y="516636"/>
                  </a:moveTo>
                  <a:lnTo>
                    <a:pt x="765809" y="0"/>
                  </a:lnTo>
                  <a:lnTo>
                    <a:pt x="0" y="0"/>
                  </a:lnTo>
                  <a:lnTo>
                    <a:pt x="0" y="516636"/>
                  </a:lnTo>
                  <a:lnTo>
                    <a:pt x="765809" y="516636"/>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90" name="object 86"/>
            <p:cNvSpPr/>
            <p:nvPr/>
          </p:nvSpPr>
          <p:spPr>
            <a:xfrm>
              <a:off x="2865882" y="2707386"/>
              <a:ext cx="803910" cy="554990"/>
            </a:xfrm>
            <a:custGeom>
              <a:avLst/>
              <a:gdLst/>
              <a:ahLst/>
              <a:cxnLst/>
              <a:rect l="l" t="t" r="r" b="b"/>
              <a:pathLst>
                <a:path w="803910" h="554989">
                  <a:moveTo>
                    <a:pt x="803909" y="554736"/>
                  </a:moveTo>
                  <a:lnTo>
                    <a:pt x="803909" y="0"/>
                  </a:lnTo>
                  <a:lnTo>
                    <a:pt x="0" y="0"/>
                  </a:lnTo>
                  <a:lnTo>
                    <a:pt x="0" y="554736"/>
                  </a:lnTo>
                  <a:lnTo>
                    <a:pt x="19050" y="554736"/>
                  </a:lnTo>
                  <a:lnTo>
                    <a:pt x="19050" y="38100"/>
                  </a:lnTo>
                  <a:lnTo>
                    <a:pt x="38100" y="19050"/>
                  </a:lnTo>
                  <a:lnTo>
                    <a:pt x="38100" y="38100"/>
                  </a:lnTo>
                  <a:lnTo>
                    <a:pt x="765809" y="38100"/>
                  </a:lnTo>
                  <a:lnTo>
                    <a:pt x="765809" y="19050"/>
                  </a:lnTo>
                  <a:lnTo>
                    <a:pt x="784859" y="38100"/>
                  </a:lnTo>
                  <a:lnTo>
                    <a:pt x="784859" y="554736"/>
                  </a:lnTo>
                  <a:lnTo>
                    <a:pt x="803909" y="554736"/>
                  </a:lnTo>
                  <a:close/>
                </a:path>
                <a:path w="803910" h="554989">
                  <a:moveTo>
                    <a:pt x="38100" y="38100"/>
                  </a:moveTo>
                  <a:lnTo>
                    <a:pt x="38100" y="19050"/>
                  </a:lnTo>
                  <a:lnTo>
                    <a:pt x="19050" y="38100"/>
                  </a:lnTo>
                  <a:lnTo>
                    <a:pt x="38100" y="38100"/>
                  </a:lnTo>
                  <a:close/>
                </a:path>
                <a:path w="803910" h="554989">
                  <a:moveTo>
                    <a:pt x="38100" y="516636"/>
                  </a:moveTo>
                  <a:lnTo>
                    <a:pt x="38100" y="38100"/>
                  </a:lnTo>
                  <a:lnTo>
                    <a:pt x="19050" y="38100"/>
                  </a:lnTo>
                  <a:lnTo>
                    <a:pt x="19050" y="516636"/>
                  </a:lnTo>
                  <a:lnTo>
                    <a:pt x="38100" y="516636"/>
                  </a:lnTo>
                  <a:close/>
                </a:path>
                <a:path w="803910" h="554989">
                  <a:moveTo>
                    <a:pt x="784859" y="516636"/>
                  </a:moveTo>
                  <a:lnTo>
                    <a:pt x="19050" y="516636"/>
                  </a:lnTo>
                  <a:lnTo>
                    <a:pt x="38100" y="535686"/>
                  </a:lnTo>
                  <a:lnTo>
                    <a:pt x="38100" y="554736"/>
                  </a:lnTo>
                  <a:lnTo>
                    <a:pt x="765809" y="554736"/>
                  </a:lnTo>
                  <a:lnTo>
                    <a:pt x="765809" y="535686"/>
                  </a:lnTo>
                  <a:lnTo>
                    <a:pt x="784859" y="516636"/>
                  </a:lnTo>
                  <a:close/>
                </a:path>
                <a:path w="803910" h="554989">
                  <a:moveTo>
                    <a:pt x="38100" y="554736"/>
                  </a:moveTo>
                  <a:lnTo>
                    <a:pt x="38100" y="535686"/>
                  </a:lnTo>
                  <a:lnTo>
                    <a:pt x="19050" y="516636"/>
                  </a:lnTo>
                  <a:lnTo>
                    <a:pt x="19050" y="554736"/>
                  </a:lnTo>
                  <a:lnTo>
                    <a:pt x="38100" y="554736"/>
                  </a:lnTo>
                  <a:close/>
                </a:path>
                <a:path w="803910" h="554989">
                  <a:moveTo>
                    <a:pt x="784859" y="38100"/>
                  </a:moveTo>
                  <a:lnTo>
                    <a:pt x="765809" y="19050"/>
                  </a:lnTo>
                  <a:lnTo>
                    <a:pt x="765809" y="38100"/>
                  </a:lnTo>
                  <a:lnTo>
                    <a:pt x="784859" y="38100"/>
                  </a:lnTo>
                  <a:close/>
                </a:path>
                <a:path w="803910" h="554989">
                  <a:moveTo>
                    <a:pt x="784859" y="516636"/>
                  </a:moveTo>
                  <a:lnTo>
                    <a:pt x="784859" y="38100"/>
                  </a:lnTo>
                  <a:lnTo>
                    <a:pt x="765809" y="38100"/>
                  </a:lnTo>
                  <a:lnTo>
                    <a:pt x="765809" y="516636"/>
                  </a:lnTo>
                  <a:lnTo>
                    <a:pt x="784859" y="516636"/>
                  </a:lnTo>
                  <a:close/>
                </a:path>
                <a:path w="803910" h="554989">
                  <a:moveTo>
                    <a:pt x="784859" y="554736"/>
                  </a:moveTo>
                  <a:lnTo>
                    <a:pt x="784859" y="516636"/>
                  </a:lnTo>
                  <a:lnTo>
                    <a:pt x="765809" y="535686"/>
                  </a:lnTo>
                  <a:lnTo>
                    <a:pt x="765809" y="554736"/>
                  </a:lnTo>
                  <a:lnTo>
                    <a:pt x="784859" y="554736"/>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91" name="object 87"/>
            <p:cNvSpPr/>
            <p:nvPr/>
          </p:nvSpPr>
          <p:spPr>
            <a:xfrm>
              <a:off x="6179820" y="3451860"/>
              <a:ext cx="546100" cy="481330"/>
            </a:xfrm>
            <a:custGeom>
              <a:avLst/>
              <a:gdLst/>
              <a:ahLst/>
              <a:cxnLst/>
              <a:rect l="l" t="t" r="r" b="b"/>
              <a:pathLst>
                <a:path w="546100" h="481329">
                  <a:moveTo>
                    <a:pt x="545592" y="240791"/>
                  </a:moveTo>
                  <a:lnTo>
                    <a:pt x="541203" y="197614"/>
                  </a:lnTo>
                  <a:lnTo>
                    <a:pt x="528549" y="156932"/>
                  </a:lnTo>
                  <a:lnTo>
                    <a:pt x="508395" y="119436"/>
                  </a:lnTo>
                  <a:lnTo>
                    <a:pt x="481504" y="85816"/>
                  </a:lnTo>
                  <a:lnTo>
                    <a:pt x="448643" y="56762"/>
                  </a:lnTo>
                  <a:lnTo>
                    <a:pt x="410576" y="32963"/>
                  </a:lnTo>
                  <a:lnTo>
                    <a:pt x="368070" y="15110"/>
                  </a:lnTo>
                  <a:lnTo>
                    <a:pt x="321888" y="3892"/>
                  </a:lnTo>
                  <a:lnTo>
                    <a:pt x="272796" y="0"/>
                  </a:lnTo>
                  <a:lnTo>
                    <a:pt x="223703" y="3892"/>
                  </a:lnTo>
                  <a:lnTo>
                    <a:pt x="177521" y="15110"/>
                  </a:lnTo>
                  <a:lnTo>
                    <a:pt x="135015" y="32963"/>
                  </a:lnTo>
                  <a:lnTo>
                    <a:pt x="96948" y="56762"/>
                  </a:lnTo>
                  <a:lnTo>
                    <a:pt x="64087" y="85816"/>
                  </a:lnTo>
                  <a:lnTo>
                    <a:pt x="37196" y="119436"/>
                  </a:lnTo>
                  <a:lnTo>
                    <a:pt x="17042" y="156932"/>
                  </a:lnTo>
                  <a:lnTo>
                    <a:pt x="4388" y="197614"/>
                  </a:lnTo>
                  <a:lnTo>
                    <a:pt x="0" y="240791"/>
                  </a:lnTo>
                  <a:lnTo>
                    <a:pt x="4388" y="283943"/>
                  </a:lnTo>
                  <a:lnTo>
                    <a:pt x="17042" y="324555"/>
                  </a:lnTo>
                  <a:lnTo>
                    <a:pt x="37196" y="361949"/>
                  </a:lnTo>
                  <a:lnTo>
                    <a:pt x="64087" y="395449"/>
                  </a:lnTo>
                  <a:lnTo>
                    <a:pt x="68580" y="399404"/>
                  </a:lnTo>
                  <a:lnTo>
                    <a:pt x="68580" y="240791"/>
                  </a:lnTo>
                  <a:lnTo>
                    <a:pt x="75875" y="195283"/>
                  </a:lnTo>
                  <a:lnTo>
                    <a:pt x="96463" y="154347"/>
                  </a:lnTo>
                  <a:lnTo>
                    <a:pt x="128397" y="119633"/>
                  </a:lnTo>
                  <a:lnTo>
                    <a:pt x="169728" y="92794"/>
                  </a:lnTo>
                  <a:lnTo>
                    <a:pt x="218510" y="75480"/>
                  </a:lnTo>
                  <a:lnTo>
                    <a:pt x="272796" y="69341"/>
                  </a:lnTo>
                  <a:lnTo>
                    <a:pt x="327081" y="75480"/>
                  </a:lnTo>
                  <a:lnTo>
                    <a:pt x="375863" y="92794"/>
                  </a:lnTo>
                  <a:lnTo>
                    <a:pt x="417195" y="119633"/>
                  </a:lnTo>
                  <a:lnTo>
                    <a:pt x="449128" y="154347"/>
                  </a:lnTo>
                  <a:lnTo>
                    <a:pt x="469716" y="195283"/>
                  </a:lnTo>
                  <a:lnTo>
                    <a:pt x="477012" y="240791"/>
                  </a:lnTo>
                  <a:lnTo>
                    <a:pt x="477012" y="399404"/>
                  </a:lnTo>
                  <a:lnTo>
                    <a:pt x="481504" y="395449"/>
                  </a:lnTo>
                  <a:lnTo>
                    <a:pt x="508395" y="361949"/>
                  </a:lnTo>
                  <a:lnTo>
                    <a:pt x="528549" y="324555"/>
                  </a:lnTo>
                  <a:lnTo>
                    <a:pt x="541203" y="283943"/>
                  </a:lnTo>
                  <a:lnTo>
                    <a:pt x="545592" y="240791"/>
                  </a:lnTo>
                  <a:close/>
                </a:path>
                <a:path w="546100" h="481329">
                  <a:moveTo>
                    <a:pt x="477012" y="399404"/>
                  </a:moveTo>
                  <a:lnTo>
                    <a:pt x="477012" y="240791"/>
                  </a:lnTo>
                  <a:lnTo>
                    <a:pt x="469716" y="286300"/>
                  </a:lnTo>
                  <a:lnTo>
                    <a:pt x="449128" y="327236"/>
                  </a:lnTo>
                  <a:lnTo>
                    <a:pt x="417195" y="361949"/>
                  </a:lnTo>
                  <a:lnTo>
                    <a:pt x="375863" y="388789"/>
                  </a:lnTo>
                  <a:lnTo>
                    <a:pt x="327081" y="406103"/>
                  </a:lnTo>
                  <a:lnTo>
                    <a:pt x="272796" y="412241"/>
                  </a:lnTo>
                  <a:lnTo>
                    <a:pt x="218510" y="406103"/>
                  </a:lnTo>
                  <a:lnTo>
                    <a:pt x="169728" y="388789"/>
                  </a:lnTo>
                  <a:lnTo>
                    <a:pt x="128397" y="361949"/>
                  </a:lnTo>
                  <a:lnTo>
                    <a:pt x="96463" y="327236"/>
                  </a:lnTo>
                  <a:lnTo>
                    <a:pt x="75875" y="286300"/>
                  </a:lnTo>
                  <a:lnTo>
                    <a:pt x="68580" y="240791"/>
                  </a:lnTo>
                  <a:lnTo>
                    <a:pt x="68580" y="399404"/>
                  </a:lnTo>
                  <a:lnTo>
                    <a:pt x="135015" y="448055"/>
                  </a:lnTo>
                  <a:lnTo>
                    <a:pt x="177521" y="465807"/>
                  </a:lnTo>
                  <a:lnTo>
                    <a:pt x="223703" y="476955"/>
                  </a:lnTo>
                  <a:lnTo>
                    <a:pt x="272796" y="480821"/>
                  </a:lnTo>
                  <a:lnTo>
                    <a:pt x="321888" y="476955"/>
                  </a:lnTo>
                  <a:lnTo>
                    <a:pt x="368070" y="465807"/>
                  </a:lnTo>
                  <a:lnTo>
                    <a:pt x="410576" y="448055"/>
                  </a:lnTo>
                  <a:lnTo>
                    <a:pt x="448643" y="424377"/>
                  </a:lnTo>
                  <a:lnTo>
                    <a:pt x="477012" y="399404"/>
                  </a:lnTo>
                  <a:close/>
                </a:path>
              </a:pathLst>
            </a:custGeom>
            <a:solidFill>
              <a:srgbClr val="FFFF00"/>
            </a:solidFill>
          </p:spPr>
          <p:txBody>
            <a:bodyPr wrap="square" lIns="0" tIns="0" rIns="0" bIns="0" rtlCol="0"/>
            <a:lstStyle/>
            <a:p>
              <a:endParaRPr>
                <a:solidFill>
                  <a:prstClr val="black"/>
                </a:solidFill>
                <a:latin typeface="Calibri" panose="020F0502020204030204"/>
              </a:endParaRPr>
            </a:p>
          </p:txBody>
        </p:sp>
        <p:sp>
          <p:nvSpPr>
            <p:cNvPr id="92" name="object 88"/>
            <p:cNvSpPr/>
            <p:nvPr/>
          </p:nvSpPr>
          <p:spPr>
            <a:xfrm>
              <a:off x="6174485" y="3447288"/>
              <a:ext cx="554990" cy="490220"/>
            </a:xfrm>
            <a:custGeom>
              <a:avLst/>
              <a:gdLst/>
              <a:ahLst/>
              <a:cxnLst/>
              <a:rect l="l" t="t" r="r" b="b"/>
              <a:pathLst>
                <a:path w="554990" h="490220">
                  <a:moveTo>
                    <a:pt x="554990" y="257555"/>
                  </a:moveTo>
                  <a:lnTo>
                    <a:pt x="554990" y="232409"/>
                  </a:lnTo>
                  <a:lnTo>
                    <a:pt x="553720" y="220217"/>
                  </a:lnTo>
                  <a:lnTo>
                    <a:pt x="542290" y="172211"/>
                  </a:lnTo>
                  <a:lnTo>
                    <a:pt x="521970" y="128015"/>
                  </a:lnTo>
                  <a:lnTo>
                    <a:pt x="482600" y="80009"/>
                  </a:lnTo>
                  <a:lnTo>
                    <a:pt x="453390" y="55625"/>
                  </a:lnTo>
                  <a:lnTo>
                    <a:pt x="443230" y="48767"/>
                  </a:lnTo>
                  <a:lnTo>
                    <a:pt x="408940" y="29717"/>
                  </a:lnTo>
                  <a:lnTo>
                    <a:pt x="373380" y="15239"/>
                  </a:lnTo>
                  <a:lnTo>
                    <a:pt x="320040" y="3047"/>
                  </a:lnTo>
                  <a:lnTo>
                    <a:pt x="278130" y="0"/>
                  </a:lnTo>
                  <a:lnTo>
                    <a:pt x="262890" y="761"/>
                  </a:lnTo>
                  <a:lnTo>
                    <a:pt x="220979" y="5333"/>
                  </a:lnTo>
                  <a:lnTo>
                    <a:pt x="168910" y="19049"/>
                  </a:lnTo>
                  <a:lnTo>
                    <a:pt x="121919" y="41909"/>
                  </a:lnTo>
                  <a:lnTo>
                    <a:pt x="111759" y="48767"/>
                  </a:lnTo>
                  <a:lnTo>
                    <a:pt x="100330" y="56387"/>
                  </a:lnTo>
                  <a:lnTo>
                    <a:pt x="54609" y="98297"/>
                  </a:lnTo>
                  <a:lnTo>
                    <a:pt x="26669" y="138683"/>
                  </a:lnTo>
                  <a:lnTo>
                    <a:pt x="21589" y="150113"/>
                  </a:lnTo>
                  <a:lnTo>
                    <a:pt x="16509" y="160781"/>
                  </a:lnTo>
                  <a:lnTo>
                    <a:pt x="8889" y="183641"/>
                  </a:lnTo>
                  <a:lnTo>
                    <a:pt x="5079" y="195833"/>
                  </a:lnTo>
                  <a:lnTo>
                    <a:pt x="1269" y="220217"/>
                  </a:lnTo>
                  <a:lnTo>
                    <a:pt x="0" y="232409"/>
                  </a:lnTo>
                  <a:lnTo>
                    <a:pt x="0" y="258317"/>
                  </a:lnTo>
                  <a:lnTo>
                    <a:pt x="1270" y="270509"/>
                  </a:lnTo>
                  <a:lnTo>
                    <a:pt x="5080" y="294893"/>
                  </a:lnTo>
                  <a:lnTo>
                    <a:pt x="8890" y="307085"/>
                  </a:lnTo>
                  <a:lnTo>
                    <a:pt x="8889" y="233171"/>
                  </a:lnTo>
                  <a:lnTo>
                    <a:pt x="11429" y="220979"/>
                  </a:lnTo>
                  <a:lnTo>
                    <a:pt x="21589" y="175259"/>
                  </a:lnTo>
                  <a:lnTo>
                    <a:pt x="54609" y="113537"/>
                  </a:lnTo>
                  <a:lnTo>
                    <a:pt x="87630" y="78485"/>
                  </a:lnTo>
                  <a:lnTo>
                    <a:pt x="138429" y="44195"/>
                  </a:lnTo>
                  <a:lnTo>
                    <a:pt x="210820" y="16763"/>
                  </a:lnTo>
                  <a:lnTo>
                    <a:pt x="250190" y="10667"/>
                  </a:lnTo>
                  <a:lnTo>
                    <a:pt x="262890" y="9975"/>
                  </a:lnTo>
                  <a:lnTo>
                    <a:pt x="292100" y="9975"/>
                  </a:lnTo>
                  <a:lnTo>
                    <a:pt x="331470" y="14477"/>
                  </a:lnTo>
                  <a:lnTo>
                    <a:pt x="382270" y="28193"/>
                  </a:lnTo>
                  <a:lnTo>
                    <a:pt x="438150" y="56387"/>
                  </a:lnTo>
                  <a:lnTo>
                    <a:pt x="448309" y="64007"/>
                  </a:lnTo>
                  <a:lnTo>
                    <a:pt x="458470" y="70865"/>
                  </a:lnTo>
                  <a:lnTo>
                    <a:pt x="467359" y="79247"/>
                  </a:lnTo>
                  <a:lnTo>
                    <a:pt x="476250" y="86867"/>
                  </a:lnTo>
                  <a:lnTo>
                    <a:pt x="485140" y="96011"/>
                  </a:lnTo>
                  <a:lnTo>
                    <a:pt x="492759" y="104393"/>
                  </a:lnTo>
                  <a:lnTo>
                    <a:pt x="500380" y="113537"/>
                  </a:lnTo>
                  <a:lnTo>
                    <a:pt x="514350" y="133349"/>
                  </a:lnTo>
                  <a:lnTo>
                    <a:pt x="519430" y="143255"/>
                  </a:lnTo>
                  <a:lnTo>
                    <a:pt x="525780" y="153923"/>
                  </a:lnTo>
                  <a:lnTo>
                    <a:pt x="533400" y="175259"/>
                  </a:lnTo>
                  <a:lnTo>
                    <a:pt x="541020" y="198119"/>
                  </a:lnTo>
                  <a:lnTo>
                    <a:pt x="542290" y="209549"/>
                  </a:lnTo>
                  <a:lnTo>
                    <a:pt x="544830" y="221741"/>
                  </a:lnTo>
                  <a:lnTo>
                    <a:pt x="546100" y="233171"/>
                  </a:lnTo>
                  <a:lnTo>
                    <a:pt x="546100" y="306323"/>
                  </a:lnTo>
                  <a:lnTo>
                    <a:pt x="549910" y="294893"/>
                  </a:lnTo>
                  <a:lnTo>
                    <a:pt x="553720" y="270509"/>
                  </a:lnTo>
                  <a:lnTo>
                    <a:pt x="554990" y="257555"/>
                  </a:lnTo>
                  <a:close/>
                </a:path>
                <a:path w="554990" h="490220">
                  <a:moveTo>
                    <a:pt x="546100" y="306323"/>
                  </a:moveTo>
                  <a:lnTo>
                    <a:pt x="546100" y="257555"/>
                  </a:lnTo>
                  <a:lnTo>
                    <a:pt x="544830" y="269747"/>
                  </a:lnTo>
                  <a:lnTo>
                    <a:pt x="542290" y="281177"/>
                  </a:lnTo>
                  <a:lnTo>
                    <a:pt x="529590" y="326135"/>
                  </a:lnTo>
                  <a:lnTo>
                    <a:pt x="506730" y="367283"/>
                  </a:lnTo>
                  <a:lnTo>
                    <a:pt x="500380" y="376427"/>
                  </a:lnTo>
                  <a:lnTo>
                    <a:pt x="492759" y="386333"/>
                  </a:lnTo>
                  <a:lnTo>
                    <a:pt x="485140" y="394715"/>
                  </a:lnTo>
                  <a:lnTo>
                    <a:pt x="476250" y="403859"/>
                  </a:lnTo>
                  <a:lnTo>
                    <a:pt x="467359" y="411479"/>
                  </a:lnTo>
                  <a:lnTo>
                    <a:pt x="458470" y="419861"/>
                  </a:lnTo>
                  <a:lnTo>
                    <a:pt x="427990" y="440435"/>
                  </a:lnTo>
                  <a:lnTo>
                    <a:pt x="405130" y="452627"/>
                  </a:lnTo>
                  <a:lnTo>
                    <a:pt x="393700" y="457199"/>
                  </a:lnTo>
                  <a:lnTo>
                    <a:pt x="382270" y="462533"/>
                  </a:lnTo>
                  <a:lnTo>
                    <a:pt x="358140" y="470153"/>
                  </a:lnTo>
                  <a:lnTo>
                    <a:pt x="331470" y="476249"/>
                  </a:lnTo>
                  <a:lnTo>
                    <a:pt x="318770" y="477773"/>
                  </a:lnTo>
                  <a:lnTo>
                    <a:pt x="290830" y="480821"/>
                  </a:lnTo>
                  <a:lnTo>
                    <a:pt x="264160" y="480821"/>
                  </a:lnTo>
                  <a:lnTo>
                    <a:pt x="223520" y="476249"/>
                  </a:lnTo>
                  <a:lnTo>
                    <a:pt x="172720" y="462533"/>
                  </a:lnTo>
                  <a:lnTo>
                    <a:pt x="127000" y="440435"/>
                  </a:lnTo>
                  <a:lnTo>
                    <a:pt x="87630" y="411479"/>
                  </a:lnTo>
                  <a:lnTo>
                    <a:pt x="48260" y="367283"/>
                  </a:lnTo>
                  <a:lnTo>
                    <a:pt x="25400" y="326135"/>
                  </a:lnTo>
                  <a:lnTo>
                    <a:pt x="21590" y="314705"/>
                  </a:lnTo>
                  <a:lnTo>
                    <a:pt x="17780" y="304037"/>
                  </a:lnTo>
                  <a:lnTo>
                    <a:pt x="12700" y="281177"/>
                  </a:lnTo>
                  <a:lnTo>
                    <a:pt x="11430" y="268985"/>
                  </a:lnTo>
                  <a:lnTo>
                    <a:pt x="8890" y="257555"/>
                  </a:lnTo>
                  <a:lnTo>
                    <a:pt x="8890" y="307085"/>
                  </a:lnTo>
                  <a:lnTo>
                    <a:pt x="27940" y="352043"/>
                  </a:lnTo>
                  <a:lnTo>
                    <a:pt x="34290" y="362711"/>
                  </a:lnTo>
                  <a:lnTo>
                    <a:pt x="39370" y="372617"/>
                  </a:lnTo>
                  <a:lnTo>
                    <a:pt x="54610" y="392429"/>
                  </a:lnTo>
                  <a:lnTo>
                    <a:pt x="72390" y="410717"/>
                  </a:lnTo>
                  <a:lnTo>
                    <a:pt x="81280" y="419099"/>
                  </a:lnTo>
                  <a:lnTo>
                    <a:pt x="91440" y="426719"/>
                  </a:lnTo>
                  <a:lnTo>
                    <a:pt x="100330" y="434339"/>
                  </a:lnTo>
                  <a:lnTo>
                    <a:pt x="133350" y="454913"/>
                  </a:lnTo>
                  <a:lnTo>
                    <a:pt x="168910" y="470916"/>
                  </a:lnTo>
                  <a:lnTo>
                    <a:pt x="208279" y="482345"/>
                  </a:lnTo>
                  <a:lnTo>
                    <a:pt x="248920" y="489203"/>
                  </a:lnTo>
                  <a:lnTo>
                    <a:pt x="262890" y="489966"/>
                  </a:lnTo>
                  <a:lnTo>
                    <a:pt x="292100" y="489966"/>
                  </a:lnTo>
                  <a:lnTo>
                    <a:pt x="332740" y="485393"/>
                  </a:lnTo>
                  <a:lnTo>
                    <a:pt x="373380" y="475487"/>
                  </a:lnTo>
                  <a:lnTo>
                    <a:pt x="410209" y="461009"/>
                  </a:lnTo>
                  <a:lnTo>
                    <a:pt x="443230" y="441959"/>
                  </a:lnTo>
                  <a:lnTo>
                    <a:pt x="454659" y="434339"/>
                  </a:lnTo>
                  <a:lnTo>
                    <a:pt x="464820" y="426719"/>
                  </a:lnTo>
                  <a:lnTo>
                    <a:pt x="473709" y="418337"/>
                  </a:lnTo>
                  <a:lnTo>
                    <a:pt x="483870" y="409955"/>
                  </a:lnTo>
                  <a:lnTo>
                    <a:pt x="515620" y="372617"/>
                  </a:lnTo>
                  <a:lnTo>
                    <a:pt x="538480" y="329945"/>
                  </a:lnTo>
                  <a:lnTo>
                    <a:pt x="542290" y="318515"/>
                  </a:lnTo>
                  <a:lnTo>
                    <a:pt x="546100" y="306323"/>
                  </a:lnTo>
                  <a:close/>
                </a:path>
                <a:path w="554990" h="490220">
                  <a:moveTo>
                    <a:pt x="486409" y="254507"/>
                  </a:moveTo>
                  <a:lnTo>
                    <a:pt x="486409" y="236219"/>
                  </a:lnTo>
                  <a:lnTo>
                    <a:pt x="485140" y="227075"/>
                  </a:lnTo>
                  <a:lnTo>
                    <a:pt x="483870" y="218693"/>
                  </a:lnTo>
                  <a:lnTo>
                    <a:pt x="481330" y="209549"/>
                  </a:lnTo>
                  <a:lnTo>
                    <a:pt x="477520" y="192785"/>
                  </a:lnTo>
                  <a:lnTo>
                    <a:pt x="473709" y="184403"/>
                  </a:lnTo>
                  <a:lnTo>
                    <a:pt x="469900" y="176783"/>
                  </a:lnTo>
                  <a:lnTo>
                    <a:pt x="466090" y="168401"/>
                  </a:lnTo>
                  <a:lnTo>
                    <a:pt x="461009" y="160781"/>
                  </a:lnTo>
                  <a:lnTo>
                    <a:pt x="455930" y="153923"/>
                  </a:lnTo>
                  <a:lnTo>
                    <a:pt x="450850" y="146303"/>
                  </a:lnTo>
                  <a:lnTo>
                    <a:pt x="444500" y="139445"/>
                  </a:lnTo>
                  <a:lnTo>
                    <a:pt x="431800" y="126491"/>
                  </a:lnTo>
                  <a:lnTo>
                    <a:pt x="424180" y="120395"/>
                  </a:lnTo>
                  <a:lnTo>
                    <a:pt x="417830" y="115061"/>
                  </a:lnTo>
                  <a:lnTo>
                    <a:pt x="410209" y="108965"/>
                  </a:lnTo>
                  <a:lnTo>
                    <a:pt x="402590" y="103631"/>
                  </a:lnTo>
                  <a:lnTo>
                    <a:pt x="386080" y="94487"/>
                  </a:lnTo>
                  <a:lnTo>
                    <a:pt x="377190" y="90677"/>
                  </a:lnTo>
                  <a:lnTo>
                    <a:pt x="367030" y="86105"/>
                  </a:lnTo>
                  <a:lnTo>
                    <a:pt x="320040" y="72389"/>
                  </a:lnTo>
                  <a:lnTo>
                    <a:pt x="288290" y="69341"/>
                  </a:lnTo>
                  <a:lnTo>
                    <a:pt x="266700" y="69341"/>
                  </a:lnTo>
                  <a:lnTo>
                    <a:pt x="215900" y="76961"/>
                  </a:lnTo>
                  <a:lnTo>
                    <a:pt x="179070" y="89915"/>
                  </a:lnTo>
                  <a:lnTo>
                    <a:pt x="137160" y="114299"/>
                  </a:lnTo>
                  <a:lnTo>
                    <a:pt x="104139" y="146303"/>
                  </a:lnTo>
                  <a:lnTo>
                    <a:pt x="77470" y="192785"/>
                  </a:lnTo>
                  <a:lnTo>
                    <a:pt x="68580" y="236219"/>
                  </a:lnTo>
                  <a:lnTo>
                    <a:pt x="68580" y="254507"/>
                  </a:lnTo>
                  <a:lnTo>
                    <a:pt x="69850" y="262889"/>
                  </a:lnTo>
                  <a:lnTo>
                    <a:pt x="71120" y="272033"/>
                  </a:lnTo>
                  <a:lnTo>
                    <a:pt x="72390" y="280415"/>
                  </a:lnTo>
                  <a:lnTo>
                    <a:pt x="76200" y="289559"/>
                  </a:lnTo>
                  <a:lnTo>
                    <a:pt x="77470" y="297941"/>
                  </a:lnTo>
                  <a:lnTo>
                    <a:pt x="77470" y="245363"/>
                  </a:lnTo>
                  <a:lnTo>
                    <a:pt x="80010" y="220217"/>
                  </a:lnTo>
                  <a:lnTo>
                    <a:pt x="82550" y="211835"/>
                  </a:lnTo>
                  <a:lnTo>
                    <a:pt x="83820" y="204215"/>
                  </a:lnTo>
                  <a:lnTo>
                    <a:pt x="87630" y="195833"/>
                  </a:lnTo>
                  <a:lnTo>
                    <a:pt x="90170" y="188213"/>
                  </a:lnTo>
                  <a:lnTo>
                    <a:pt x="93980" y="180593"/>
                  </a:lnTo>
                  <a:lnTo>
                    <a:pt x="97790" y="173735"/>
                  </a:lnTo>
                  <a:lnTo>
                    <a:pt x="102870" y="166115"/>
                  </a:lnTo>
                  <a:lnTo>
                    <a:pt x="106680" y="159257"/>
                  </a:lnTo>
                  <a:lnTo>
                    <a:pt x="111760" y="152399"/>
                  </a:lnTo>
                  <a:lnTo>
                    <a:pt x="118110" y="146303"/>
                  </a:lnTo>
                  <a:lnTo>
                    <a:pt x="123189" y="139445"/>
                  </a:lnTo>
                  <a:lnTo>
                    <a:pt x="157480" y="112013"/>
                  </a:lnTo>
                  <a:lnTo>
                    <a:pt x="218440" y="86105"/>
                  </a:lnTo>
                  <a:lnTo>
                    <a:pt x="256540" y="79247"/>
                  </a:lnTo>
                  <a:lnTo>
                    <a:pt x="267970" y="79163"/>
                  </a:lnTo>
                  <a:lnTo>
                    <a:pt x="278130" y="78485"/>
                  </a:lnTo>
                  <a:lnTo>
                    <a:pt x="288290" y="78570"/>
                  </a:lnTo>
                  <a:lnTo>
                    <a:pt x="298450" y="79247"/>
                  </a:lnTo>
                  <a:lnTo>
                    <a:pt x="317500" y="82295"/>
                  </a:lnTo>
                  <a:lnTo>
                    <a:pt x="327660" y="83819"/>
                  </a:lnTo>
                  <a:lnTo>
                    <a:pt x="336550" y="86105"/>
                  </a:lnTo>
                  <a:lnTo>
                    <a:pt x="364490" y="95249"/>
                  </a:lnTo>
                  <a:lnTo>
                    <a:pt x="381000" y="102869"/>
                  </a:lnTo>
                  <a:lnTo>
                    <a:pt x="388620" y="107441"/>
                  </a:lnTo>
                  <a:lnTo>
                    <a:pt x="397510" y="112013"/>
                  </a:lnTo>
                  <a:lnTo>
                    <a:pt x="405130" y="116585"/>
                  </a:lnTo>
                  <a:lnTo>
                    <a:pt x="411480" y="121919"/>
                  </a:lnTo>
                  <a:lnTo>
                    <a:pt x="419100" y="128015"/>
                  </a:lnTo>
                  <a:lnTo>
                    <a:pt x="448309" y="159257"/>
                  </a:lnTo>
                  <a:lnTo>
                    <a:pt x="468630" y="195833"/>
                  </a:lnTo>
                  <a:lnTo>
                    <a:pt x="469900" y="203453"/>
                  </a:lnTo>
                  <a:lnTo>
                    <a:pt x="472440" y="211835"/>
                  </a:lnTo>
                  <a:lnTo>
                    <a:pt x="473709" y="220217"/>
                  </a:lnTo>
                  <a:lnTo>
                    <a:pt x="476250" y="227837"/>
                  </a:lnTo>
                  <a:lnTo>
                    <a:pt x="476250" y="299618"/>
                  </a:lnTo>
                  <a:lnTo>
                    <a:pt x="480059" y="289559"/>
                  </a:lnTo>
                  <a:lnTo>
                    <a:pt x="481330" y="281177"/>
                  </a:lnTo>
                  <a:lnTo>
                    <a:pt x="483870" y="272033"/>
                  </a:lnTo>
                  <a:lnTo>
                    <a:pt x="485140" y="263651"/>
                  </a:lnTo>
                  <a:lnTo>
                    <a:pt x="486409" y="254507"/>
                  </a:lnTo>
                  <a:close/>
                </a:path>
                <a:path w="554990" h="490220">
                  <a:moveTo>
                    <a:pt x="476250" y="299618"/>
                  </a:moveTo>
                  <a:lnTo>
                    <a:pt x="476250" y="253745"/>
                  </a:lnTo>
                  <a:lnTo>
                    <a:pt x="474980" y="270509"/>
                  </a:lnTo>
                  <a:lnTo>
                    <a:pt x="472440" y="278891"/>
                  </a:lnTo>
                  <a:lnTo>
                    <a:pt x="468630" y="294131"/>
                  </a:lnTo>
                  <a:lnTo>
                    <a:pt x="464820" y="302513"/>
                  </a:lnTo>
                  <a:lnTo>
                    <a:pt x="461009" y="309371"/>
                  </a:lnTo>
                  <a:lnTo>
                    <a:pt x="453390" y="324611"/>
                  </a:lnTo>
                  <a:lnTo>
                    <a:pt x="419100" y="362711"/>
                  </a:lnTo>
                  <a:lnTo>
                    <a:pt x="381000" y="387857"/>
                  </a:lnTo>
                  <a:lnTo>
                    <a:pt x="336550" y="404621"/>
                  </a:lnTo>
                  <a:lnTo>
                    <a:pt x="290830" y="411289"/>
                  </a:lnTo>
                  <a:lnTo>
                    <a:pt x="266700" y="411395"/>
                  </a:lnTo>
                  <a:lnTo>
                    <a:pt x="256540" y="410717"/>
                  </a:lnTo>
                  <a:lnTo>
                    <a:pt x="218440" y="404621"/>
                  </a:lnTo>
                  <a:lnTo>
                    <a:pt x="173990" y="387857"/>
                  </a:lnTo>
                  <a:lnTo>
                    <a:pt x="129539" y="357377"/>
                  </a:lnTo>
                  <a:lnTo>
                    <a:pt x="118110" y="344423"/>
                  </a:lnTo>
                  <a:lnTo>
                    <a:pt x="111760" y="338327"/>
                  </a:lnTo>
                  <a:lnTo>
                    <a:pt x="106680" y="331469"/>
                  </a:lnTo>
                  <a:lnTo>
                    <a:pt x="102870" y="324611"/>
                  </a:lnTo>
                  <a:lnTo>
                    <a:pt x="97790" y="316991"/>
                  </a:lnTo>
                  <a:lnTo>
                    <a:pt x="93980" y="310133"/>
                  </a:lnTo>
                  <a:lnTo>
                    <a:pt x="90170" y="302513"/>
                  </a:lnTo>
                  <a:lnTo>
                    <a:pt x="87630" y="294893"/>
                  </a:lnTo>
                  <a:lnTo>
                    <a:pt x="85090" y="286511"/>
                  </a:lnTo>
                  <a:lnTo>
                    <a:pt x="82550" y="278891"/>
                  </a:lnTo>
                  <a:lnTo>
                    <a:pt x="80010" y="270509"/>
                  </a:lnTo>
                  <a:lnTo>
                    <a:pt x="77470" y="245363"/>
                  </a:lnTo>
                  <a:lnTo>
                    <a:pt x="77470" y="297941"/>
                  </a:lnTo>
                  <a:lnTo>
                    <a:pt x="99060" y="336803"/>
                  </a:lnTo>
                  <a:lnTo>
                    <a:pt x="129539" y="370331"/>
                  </a:lnTo>
                  <a:lnTo>
                    <a:pt x="168910" y="396239"/>
                  </a:lnTo>
                  <a:lnTo>
                    <a:pt x="179070" y="400049"/>
                  </a:lnTo>
                  <a:lnTo>
                    <a:pt x="186690" y="403859"/>
                  </a:lnTo>
                  <a:lnTo>
                    <a:pt x="226060" y="416051"/>
                  </a:lnTo>
                  <a:lnTo>
                    <a:pt x="266700" y="421385"/>
                  </a:lnTo>
                  <a:lnTo>
                    <a:pt x="288290" y="421385"/>
                  </a:lnTo>
                  <a:lnTo>
                    <a:pt x="298450" y="420623"/>
                  </a:lnTo>
                  <a:lnTo>
                    <a:pt x="308610" y="419099"/>
                  </a:lnTo>
                  <a:lnTo>
                    <a:pt x="320040" y="417575"/>
                  </a:lnTo>
                  <a:lnTo>
                    <a:pt x="358140" y="407669"/>
                  </a:lnTo>
                  <a:lnTo>
                    <a:pt x="393700" y="391667"/>
                  </a:lnTo>
                  <a:lnTo>
                    <a:pt x="401320" y="386333"/>
                  </a:lnTo>
                  <a:lnTo>
                    <a:pt x="410209" y="381761"/>
                  </a:lnTo>
                  <a:lnTo>
                    <a:pt x="417830" y="375665"/>
                  </a:lnTo>
                  <a:lnTo>
                    <a:pt x="424180" y="370331"/>
                  </a:lnTo>
                  <a:lnTo>
                    <a:pt x="431800" y="364235"/>
                  </a:lnTo>
                  <a:lnTo>
                    <a:pt x="444500" y="351281"/>
                  </a:lnTo>
                  <a:lnTo>
                    <a:pt x="450850" y="344423"/>
                  </a:lnTo>
                  <a:lnTo>
                    <a:pt x="455930" y="336803"/>
                  </a:lnTo>
                  <a:lnTo>
                    <a:pt x="461009" y="329945"/>
                  </a:lnTo>
                  <a:lnTo>
                    <a:pt x="466090" y="322325"/>
                  </a:lnTo>
                  <a:lnTo>
                    <a:pt x="469900" y="313943"/>
                  </a:lnTo>
                  <a:lnTo>
                    <a:pt x="473709" y="306323"/>
                  </a:lnTo>
                  <a:lnTo>
                    <a:pt x="476250" y="299618"/>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93" name="object 89"/>
            <p:cNvSpPr/>
            <p:nvPr/>
          </p:nvSpPr>
          <p:spPr>
            <a:xfrm>
              <a:off x="5422392" y="3451860"/>
              <a:ext cx="2025650" cy="83185"/>
            </a:xfrm>
            <a:custGeom>
              <a:avLst/>
              <a:gdLst/>
              <a:ahLst/>
              <a:cxnLst/>
              <a:rect l="l" t="t" r="r" b="b"/>
              <a:pathLst>
                <a:path w="2025650" h="83185">
                  <a:moveTo>
                    <a:pt x="2025395" y="83058"/>
                  </a:moveTo>
                  <a:lnTo>
                    <a:pt x="2025395" y="0"/>
                  </a:lnTo>
                  <a:lnTo>
                    <a:pt x="0" y="0"/>
                  </a:lnTo>
                  <a:lnTo>
                    <a:pt x="0" y="83058"/>
                  </a:lnTo>
                  <a:lnTo>
                    <a:pt x="2025395" y="83058"/>
                  </a:lnTo>
                  <a:close/>
                </a:path>
              </a:pathLst>
            </a:custGeom>
            <a:solidFill>
              <a:srgbClr val="FFFF00"/>
            </a:solidFill>
          </p:spPr>
          <p:txBody>
            <a:bodyPr wrap="square" lIns="0" tIns="0" rIns="0" bIns="0" rtlCol="0"/>
            <a:lstStyle/>
            <a:p>
              <a:endParaRPr>
                <a:solidFill>
                  <a:prstClr val="black"/>
                </a:solidFill>
                <a:latin typeface="Calibri" panose="020F0502020204030204"/>
              </a:endParaRPr>
            </a:p>
          </p:txBody>
        </p:sp>
        <p:sp>
          <p:nvSpPr>
            <p:cNvPr id="94" name="object 90"/>
            <p:cNvSpPr/>
            <p:nvPr/>
          </p:nvSpPr>
          <p:spPr>
            <a:xfrm>
              <a:off x="5402580" y="2154173"/>
              <a:ext cx="2049780" cy="1385570"/>
            </a:xfrm>
            <a:custGeom>
              <a:avLst/>
              <a:gdLst/>
              <a:ahLst/>
              <a:cxnLst/>
              <a:rect l="l" t="t" r="r" b="b"/>
              <a:pathLst>
                <a:path w="2049779" h="1385570">
                  <a:moveTo>
                    <a:pt x="114300" y="197358"/>
                  </a:moveTo>
                  <a:lnTo>
                    <a:pt x="76200" y="197358"/>
                  </a:lnTo>
                  <a:lnTo>
                    <a:pt x="76200" y="70307"/>
                  </a:lnTo>
                  <a:lnTo>
                    <a:pt x="83908" y="65151"/>
                  </a:lnTo>
                  <a:lnTo>
                    <a:pt x="92189" y="53060"/>
                  </a:lnTo>
                  <a:lnTo>
                    <a:pt x="95250" y="38100"/>
                  </a:lnTo>
                  <a:lnTo>
                    <a:pt x="92189" y="23152"/>
                  </a:lnTo>
                  <a:lnTo>
                    <a:pt x="83908" y="11049"/>
                  </a:lnTo>
                  <a:lnTo>
                    <a:pt x="71780" y="2959"/>
                  </a:lnTo>
                  <a:lnTo>
                    <a:pt x="57150" y="0"/>
                  </a:lnTo>
                  <a:lnTo>
                    <a:pt x="42189" y="2959"/>
                  </a:lnTo>
                  <a:lnTo>
                    <a:pt x="30099" y="11049"/>
                  </a:lnTo>
                  <a:lnTo>
                    <a:pt x="21996" y="23152"/>
                  </a:lnTo>
                  <a:lnTo>
                    <a:pt x="19050" y="38100"/>
                  </a:lnTo>
                  <a:lnTo>
                    <a:pt x="21996" y="53060"/>
                  </a:lnTo>
                  <a:lnTo>
                    <a:pt x="30099" y="65151"/>
                  </a:lnTo>
                  <a:lnTo>
                    <a:pt x="38100" y="70510"/>
                  </a:lnTo>
                  <a:lnTo>
                    <a:pt x="38100" y="197358"/>
                  </a:lnTo>
                  <a:lnTo>
                    <a:pt x="0" y="197358"/>
                  </a:lnTo>
                  <a:lnTo>
                    <a:pt x="38100" y="273558"/>
                  </a:lnTo>
                  <a:lnTo>
                    <a:pt x="57150" y="311658"/>
                  </a:lnTo>
                  <a:lnTo>
                    <a:pt x="76200" y="273558"/>
                  </a:lnTo>
                  <a:lnTo>
                    <a:pt x="114300" y="197358"/>
                  </a:lnTo>
                  <a:close/>
                </a:path>
                <a:path w="2049779" h="1385570">
                  <a:moveTo>
                    <a:pt x="2049780" y="1295400"/>
                  </a:moveTo>
                  <a:lnTo>
                    <a:pt x="2047494" y="1293114"/>
                  </a:lnTo>
                  <a:lnTo>
                    <a:pt x="2040636" y="1293114"/>
                  </a:lnTo>
                  <a:lnTo>
                    <a:pt x="2040636" y="1303020"/>
                  </a:lnTo>
                  <a:lnTo>
                    <a:pt x="2040636" y="1376172"/>
                  </a:lnTo>
                  <a:lnTo>
                    <a:pt x="25146" y="1376172"/>
                  </a:lnTo>
                  <a:lnTo>
                    <a:pt x="25146" y="1303020"/>
                  </a:lnTo>
                  <a:lnTo>
                    <a:pt x="2040636" y="1303020"/>
                  </a:lnTo>
                  <a:lnTo>
                    <a:pt x="2040636" y="1293114"/>
                  </a:lnTo>
                  <a:lnTo>
                    <a:pt x="17526" y="1293114"/>
                  </a:lnTo>
                  <a:lnTo>
                    <a:pt x="15240" y="1295400"/>
                  </a:lnTo>
                  <a:lnTo>
                    <a:pt x="15240" y="1383030"/>
                  </a:lnTo>
                  <a:lnTo>
                    <a:pt x="17526" y="1385316"/>
                  </a:lnTo>
                  <a:lnTo>
                    <a:pt x="19812" y="1385316"/>
                  </a:lnTo>
                  <a:lnTo>
                    <a:pt x="25146" y="1385316"/>
                  </a:lnTo>
                  <a:lnTo>
                    <a:pt x="2040636" y="1385316"/>
                  </a:lnTo>
                  <a:lnTo>
                    <a:pt x="2045208" y="1385316"/>
                  </a:lnTo>
                  <a:lnTo>
                    <a:pt x="2047494" y="1385316"/>
                  </a:lnTo>
                  <a:lnTo>
                    <a:pt x="2049780" y="1383030"/>
                  </a:lnTo>
                  <a:lnTo>
                    <a:pt x="2049780" y="1295400"/>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grpSp>
      <p:sp>
        <p:nvSpPr>
          <p:cNvPr id="95" name="object 91"/>
          <p:cNvSpPr txBox="1"/>
          <p:nvPr/>
        </p:nvSpPr>
        <p:spPr>
          <a:xfrm>
            <a:off x="8064500" y="4144010"/>
            <a:ext cx="4006850" cy="1976755"/>
          </a:xfrm>
          <a:prstGeom prst="rect">
            <a:avLst/>
          </a:prstGeom>
        </p:spPr>
        <p:txBody>
          <a:bodyPr vert="horz" wrap="square" lIns="0" tIns="12700" rIns="0" bIns="0" rtlCol="0">
            <a:spAutoFit/>
          </a:bodyPr>
          <a:lstStyle/>
          <a:p>
            <a:pPr marL="12700" marR="2120265">
              <a:spcBef>
                <a:spcPts val="100"/>
              </a:spcBef>
            </a:pPr>
            <a:r>
              <a:rPr sz="1600" spc="-5" dirty="0">
                <a:solidFill>
                  <a:prstClr val="black"/>
                </a:solidFill>
                <a:latin typeface="Verdana"/>
                <a:cs typeface="Verdana"/>
              </a:rPr>
              <a:t>I/O: Input/Output </a:t>
            </a:r>
            <a:r>
              <a:rPr sz="1600" spc="-550" dirty="0">
                <a:solidFill>
                  <a:prstClr val="black"/>
                </a:solidFill>
                <a:latin typeface="Verdana"/>
                <a:cs typeface="Verdana"/>
              </a:rPr>
              <a:t> </a:t>
            </a:r>
            <a:r>
              <a:rPr sz="1600" spc="-5" dirty="0">
                <a:solidFill>
                  <a:prstClr val="black"/>
                </a:solidFill>
                <a:latin typeface="Verdana"/>
                <a:cs typeface="Verdana"/>
              </a:rPr>
              <a:t>Mod.: Modulator </a:t>
            </a:r>
            <a:r>
              <a:rPr sz="1600" dirty="0">
                <a:solidFill>
                  <a:prstClr val="black"/>
                </a:solidFill>
                <a:latin typeface="Verdana"/>
                <a:cs typeface="Verdana"/>
              </a:rPr>
              <a:t> </a:t>
            </a:r>
            <a:r>
              <a:rPr sz="1600" spc="-5" dirty="0">
                <a:solidFill>
                  <a:prstClr val="black"/>
                </a:solidFill>
                <a:latin typeface="Verdana"/>
                <a:cs typeface="Verdana"/>
              </a:rPr>
              <a:t>PD:</a:t>
            </a:r>
            <a:r>
              <a:rPr sz="1600" spc="-75" dirty="0">
                <a:solidFill>
                  <a:prstClr val="black"/>
                </a:solidFill>
                <a:latin typeface="Verdana"/>
                <a:cs typeface="Verdana"/>
              </a:rPr>
              <a:t> </a:t>
            </a:r>
            <a:r>
              <a:rPr sz="1600" spc="-5" dirty="0">
                <a:solidFill>
                  <a:prstClr val="black"/>
                </a:solidFill>
                <a:latin typeface="Verdana"/>
                <a:cs typeface="Verdana"/>
              </a:rPr>
              <a:t>Photodetector</a:t>
            </a:r>
            <a:endParaRPr sz="1600">
              <a:solidFill>
                <a:prstClr val="black"/>
              </a:solidFill>
              <a:latin typeface="Verdana"/>
              <a:cs typeface="Verdana"/>
            </a:endParaRPr>
          </a:p>
          <a:p>
            <a:pPr marL="12700" marR="1431925"/>
            <a:r>
              <a:rPr sz="1600" spc="-5" dirty="0">
                <a:solidFill>
                  <a:prstClr val="black"/>
                </a:solidFill>
                <a:latin typeface="Verdana"/>
                <a:cs typeface="Verdana"/>
              </a:rPr>
              <a:t>E/O: Electrical-to-Optical </a:t>
            </a:r>
            <a:r>
              <a:rPr sz="1600" spc="-550" dirty="0">
                <a:solidFill>
                  <a:prstClr val="black"/>
                </a:solidFill>
                <a:latin typeface="Verdana"/>
                <a:cs typeface="Verdana"/>
              </a:rPr>
              <a:t> </a:t>
            </a:r>
            <a:r>
              <a:rPr sz="1600" spc="-5" dirty="0">
                <a:solidFill>
                  <a:prstClr val="black"/>
                </a:solidFill>
                <a:latin typeface="Verdana"/>
                <a:cs typeface="Verdana"/>
              </a:rPr>
              <a:t>CTRL:</a:t>
            </a:r>
            <a:r>
              <a:rPr sz="1600" spc="-30" dirty="0">
                <a:solidFill>
                  <a:prstClr val="black"/>
                </a:solidFill>
                <a:latin typeface="Verdana"/>
                <a:cs typeface="Verdana"/>
              </a:rPr>
              <a:t> </a:t>
            </a:r>
            <a:r>
              <a:rPr sz="1600" spc="-5" dirty="0">
                <a:solidFill>
                  <a:prstClr val="black"/>
                </a:solidFill>
                <a:latin typeface="Verdana"/>
                <a:cs typeface="Verdana"/>
              </a:rPr>
              <a:t>Controller</a:t>
            </a:r>
            <a:endParaRPr sz="1600">
              <a:solidFill>
                <a:prstClr val="black"/>
              </a:solidFill>
              <a:latin typeface="Verdana"/>
              <a:cs typeface="Verdana"/>
            </a:endParaRPr>
          </a:p>
          <a:p>
            <a:pPr marL="12700"/>
            <a:r>
              <a:rPr sz="1600" spc="-5" dirty="0">
                <a:solidFill>
                  <a:prstClr val="black"/>
                </a:solidFill>
                <a:latin typeface="Verdana"/>
                <a:cs typeface="Verdana"/>
              </a:rPr>
              <a:t>O/E:</a:t>
            </a:r>
            <a:r>
              <a:rPr sz="1600" spc="-40" dirty="0">
                <a:solidFill>
                  <a:prstClr val="black"/>
                </a:solidFill>
                <a:latin typeface="Verdana"/>
                <a:cs typeface="Verdana"/>
              </a:rPr>
              <a:t> </a:t>
            </a:r>
            <a:r>
              <a:rPr sz="1600" spc="-5" dirty="0">
                <a:solidFill>
                  <a:prstClr val="black"/>
                </a:solidFill>
                <a:latin typeface="Verdana"/>
                <a:cs typeface="Verdana"/>
              </a:rPr>
              <a:t>Optical-to-Electrical</a:t>
            </a:r>
            <a:endParaRPr sz="1600">
              <a:solidFill>
                <a:prstClr val="black"/>
              </a:solidFill>
              <a:latin typeface="Verdana"/>
              <a:cs typeface="Verdana"/>
            </a:endParaRPr>
          </a:p>
          <a:p>
            <a:pPr marL="12700"/>
            <a:r>
              <a:rPr sz="1600" spc="-5" dirty="0">
                <a:solidFill>
                  <a:prstClr val="black"/>
                </a:solidFill>
                <a:latin typeface="Verdana"/>
                <a:cs typeface="Verdana"/>
              </a:rPr>
              <a:t>TIA:</a:t>
            </a:r>
            <a:r>
              <a:rPr sz="1600" spc="-15" dirty="0">
                <a:solidFill>
                  <a:prstClr val="black"/>
                </a:solidFill>
                <a:latin typeface="Verdana"/>
                <a:cs typeface="Verdana"/>
              </a:rPr>
              <a:t> Transimpedance</a:t>
            </a:r>
            <a:r>
              <a:rPr sz="1600" dirty="0">
                <a:solidFill>
                  <a:prstClr val="black"/>
                </a:solidFill>
                <a:latin typeface="Verdana"/>
                <a:cs typeface="Verdana"/>
              </a:rPr>
              <a:t> Amplifier</a:t>
            </a:r>
            <a:endParaRPr sz="1600">
              <a:solidFill>
                <a:prstClr val="black"/>
              </a:solidFill>
              <a:latin typeface="Verdana"/>
              <a:cs typeface="Verdana"/>
            </a:endParaRPr>
          </a:p>
          <a:p>
            <a:pPr marL="12700"/>
            <a:r>
              <a:rPr sz="1600" dirty="0">
                <a:solidFill>
                  <a:prstClr val="black"/>
                </a:solidFill>
                <a:latin typeface="Verdana"/>
                <a:cs typeface="Verdana"/>
              </a:rPr>
              <a:t>Amp:</a:t>
            </a:r>
            <a:r>
              <a:rPr sz="1600" spc="-15" dirty="0">
                <a:solidFill>
                  <a:prstClr val="black"/>
                </a:solidFill>
                <a:latin typeface="Verdana"/>
                <a:cs typeface="Verdana"/>
              </a:rPr>
              <a:t> </a:t>
            </a:r>
            <a:r>
              <a:rPr sz="1600" dirty="0">
                <a:solidFill>
                  <a:prstClr val="black"/>
                </a:solidFill>
                <a:latin typeface="Verdana"/>
                <a:cs typeface="Verdana"/>
              </a:rPr>
              <a:t>Limiting</a:t>
            </a:r>
            <a:r>
              <a:rPr sz="1600" spc="-30" dirty="0">
                <a:solidFill>
                  <a:prstClr val="black"/>
                </a:solidFill>
                <a:latin typeface="Verdana"/>
                <a:cs typeface="Verdana"/>
              </a:rPr>
              <a:t> </a:t>
            </a:r>
            <a:r>
              <a:rPr sz="1600" dirty="0">
                <a:solidFill>
                  <a:prstClr val="black"/>
                </a:solidFill>
                <a:latin typeface="Verdana"/>
                <a:cs typeface="Verdana"/>
              </a:rPr>
              <a:t>Amplifier/Main</a:t>
            </a:r>
            <a:r>
              <a:rPr sz="1600" spc="-15" dirty="0">
                <a:solidFill>
                  <a:prstClr val="black"/>
                </a:solidFill>
                <a:latin typeface="Verdana"/>
                <a:cs typeface="Verdana"/>
              </a:rPr>
              <a:t> </a:t>
            </a:r>
            <a:r>
              <a:rPr sz="1600" dirty="0">
                <a:solidFill>
                  <a:prstClr val="black"/>
                </a:solidFill>
                <a:latin typeface="Verdana"/>
                <a:cs typeface="Verdana"/>
              </a:rPr>
              <a:t>Amplifier</a:t>
            </a:r>
            <a:endParaRPr sz="1600">
              <a:solidFill>
                <a:prstClr val="black"/>
              </a:solidFill>
              <a:latin typeface="Verdana"/>
              <a:cs typeface="Verdana"/>
            </a:endParaRPr>
          </a:p>
        </p:txBody>
      </p:sp>
      <p:sp>
        <p:nvSpPr>
          <p:cNvPr id="96" name="object 92"/>
          <p:cNvSpPr txBox="1"/>
          <p:nvPr/>
        </p:nvSpPr>
        <p:spPr>
          <a:xfrm>
            <a:off x="2657855" y="1325880"/>
            <a:ext cx="3260725" cy="391160"/>
          </a:xfrm>
          <a:prstGeom prst="rect">
            <a:avLst/>
          </a:prstGeom>
          <a:solidFill>
            <a:srgbClr val="D8DEE4"/>
          </a:solidFill>
        </p:spPr>
        <p:txBody>
          <a:bodyPr vert="horz" wrap="square" lIns="0" tIns="39370" rIns="0" bIns="0" rtlCol="0">
            <a:spAutoFit/>
          </a:bodyPr>
          <a:lstStyle/>
          <a:p>
            <a:pPr marL="635" algn="ctr">
              <a:spcBef>
                <a:spcPts val="310"/>
              </a:spcBef>
            </a:pPr>
            <a:r>
              <a:rPr sz="2000" spc="-5" dirty="0">
                <a:solidFill>
                  <a:prstClr val="black"/>
                </a:solidFill>
                <a:latin typeface="Verdana"/>
                <a:cs typeface="Verdana"/>
              </a:rPr>
              <a:t>E/O</a:t>
            </a:r>
            <a:r>
              <a:rPr sz="2000" spc="-50" dirty="0">
                <a:solidFill>
                  <a:prstClr val="black"/>
                </a:solidFill>
                <a:latin typeface="Verdana"/>
                <a:cs typeface="Verdana"/>
              </a:rPr>
              <a:t> </a:t>
            </a:r>
            <a:r>
              <a:rPr sz="2000" spc="-10" dirty="0">
                <a:solidFill>
                  <a:prstClr val="black"/>
                </a:solidFill>
                <a:latin typeface="Verdana"/>
                <a:cs typeface="Verdana"/>
              </a:rPr>
              <a:t>TX</a:t>
            </a:r>
            <a:endParaRPr sz="2000">
              <a:solidFill>
                <a:prstClr val="black"/>
              </a:solidFill>
              <a:latin typeface="Verdana"/>
              <a:cs typeface="Verdana"/>
            </a:endParaRPr>
          </a:p>
        </p:txBody>
      </p:sp>
      <p:sp>
        <p:nvSpPr>
          <p:cNvPr id="97" name="object 93"/>
          <p:cNvSpPr txBox="1"/>
          <p:nvPr/>
        </p:nvSpPr>
        <p:spPr>
          <a:xfrm>
            <a:off x="3020060" y="3226562"/>
            <a:ext cx="553085" cy="330200"/>
          </a:xfrm>
          <a:prstGeom prst="rect">
            <a:avLst/>
          </a:prstGeom>
        </p:spPr>
        <p:txBody>
          <a:bodyPr vert="horz" wrap="square" lIns="0" tIns="12065" rIns="0" bIns="0" rtlCol="0">
            <a:spAutoFit/>
          </a:bodyPr>
          <a:lstStyle/>
          <a:p>
            <a:pPr marL="12700">
              <a:spcBef>
                <a:spcPts val="95"/>
              </a:spcBef>
            </a:pPr>
            <a:r>
              <a:rPr sz="2000" spc="-10" dirty="0">
                <a:solidFill>
                  <a:prstClr val="black"/>
                </a:solidFill>
                <a:latin typeface="Verdana"/>
                <a:cs typeface="Verdana"/>
              </a:rPr>
              <a:t>Pre-</a:t>
            </a:r>
            <a:endParaRPr sz="2000">
              <a:solidFill>
                <a:prstClr val="black"/>
              </a:solidFill>
              <a:latin typeface="Verdana"/>
              <a:cs typeface="Verdana"/>
            </a:endParaRPr>
          </a:p>
        </p:txBody>
      </p:sp>
      <p:sp>
        <p:nvSpPr>
          <p:cNvPr id="98" name="object 94"/>
          <p:cNvSpPr txBox="1"/>
          <p:nvPr/>
        </p:nvSpPr>
        <p:spPr>
          <a:xfrm>
            <a:off x="2893567" y="3531361"/>
            <a:ext cx="806450" cy="330200"/>
          </a:xfrm>
          <a:prstGeom prst="rect">
            <a:avLst/>
          </a:prstGeom>
        </p:spPr>
        <p:txBody>
          <a:bodyPr vert="horz" wrap="square" lIns="0" tIns="12065" rIns="0" bIns="0" rtlCol="0">
            <a:spAutoFit/>
          </a:bodyPr>
          <a:lstStyle/>
          <a:p>
            <a:pPr marL="12700">
              <a:spcBef>
                <a:spcPts val="95"/>
              </a:spcBef>
            </a:pPr>
            <a:r>
              <a:rPr sz="2000" spc="-10" dirty="0">
                <a:solidFill>
                  <a:prstClr val="black"/>
                </a:solidFill>
                <a:latin typeface="Verdana"/>
                <a:cs typeface="Verdana"/>
              </a:rPr>
              <a:t>Dri</a:t>
            </a:r>
            <a:r>
              <a:rPr sz="2000" spc="-25" dirty="0">
                <a:solidFill>
                  <a:prstClr val="black"/>
                </a:solidFill>
                <a:latin typeface="Verdana"/>
                <a:cs typeface="Verdana"/>
              </a:rPr>
              <a:t>v</a:t>
            </a:r>
            <a:r>
              <a:rPr sz="2000" spc="-10" dirty="0">
                <a:solidFill>
                  <a:prstClr val="black"/>
                </a:solidFill>
                <a:latin typeface="Verdana"/>
                <a:cs typeface="Verdana"/>
              </a:rPr>
              <a:t>er</a:t>
            </a:r>
            <a:endParaRPr sz="2000">
              <a:solidFill>
                <a:prstClr val="black"/>
              </a:solidFill>
              <a:latin typeface="Verdana"/>
              <a:cs typeface="Verdana"/>
            </a:endParaRPr>
          </a:p>
        </p:txBody>
      </p:sp>
      <p:sp>
        <p:nvSpPr>
          <p:cNvPr id="99" name="object 95"/>
          <p:cNvSpPr txBox="1"/>
          <p:nvPr/>
        </p:nvSpPr>
        <p:spPr>
          <a:xfrm>
            <a:off x="3852169" y="3304284"/>
            <a:ext cx="806450" cy="330200"/>
          </a:xfrm>
          <a:prstGeom prst="rect">
            <a:avLst/>
          </a:prstGeom>
        </p:spPr>
        <p:txBody>
          <a:bodyPr vert="horz" wrap="square" lIns="0" tIns="12065" rIns="0" bIns="0" rtlCol="0">
            <a:spAutoFit/>
          </a:bodyPr>
          <a:lstStyle/>
          <a:p>
            <a:pPr marL="12700">
              <a:spcBef>
                <a:spcPts val="95"/>
              </a:spcBef>
            </a:pPr>
            <a:r>
              <a:rPr sz="2000" spc="-10" dirty="0">
                <a:solidFill>
                  <a:prstClr val="black"/>
                </a:solidFill>
                <a:latin typeface="Verdana"/>
                <a:cs typeface="Verdana"/>
              </a:rPr>
              <a:t>Dri</a:t>
            </a:r>
            <a:r>
              <a:rPr sz="2000" spc="-25" dirty="0">
                <a:solidFill>
                  <a:prstClr val="black"/>
                </a:solidFill>
                <a:latin typeface="Verdana"/>
                <a:cs typeface="Verdana"/>
              </a:rPr>
              <a:t>v</a:t>
            </a:r>
            <a:r>
              <a:rPr sz="2000" spc="-10" dirty="0">
                <a:solidFill>
                  <a:prstClr val="black"/>
                </a:solidFill>
                <a:latin typeface="Verdana"/>
                <a:cs typeface="Verdana"/>
              </a:rPr>
              <a:t>er</a:t>
            </a:r>
            <a:endParaRPr sz="2000">
              <a:solidFill>
                <a:prstClr val="black"/>
              </a:solidFill>
              <a:latin typeface="Verdana"/>
              <a:cs typeface="Verdana"/>
            </a:endParaRPr>
          </a:p>
        </p:txBody>
      </p:sp>
      <p:grpSp>
        <p:nvGrpSpPr>
          <p:cNvPr id="100" name="object 96"/>
          <p:cNvGrpSpPr/>
          <p:nvPr/>
        </p:nvGrpSpPr>
        <p:grpSpPr>
          <a:xfrm>
            <a:off x="3474720" y="2048255"/>
            <a:ext cx="1082040" cy="1297305"/>
            <a:chOff x="3474720" y="2048255"/>
            <a:chExt cx="1082040" cy="1297305"/>
          </a:xfrm>
        </p:grpSpPr>
        <p:sp>
          <p:nvSpPr>
            <p:cNvPr id="101" name="object 97"/>
            <p:cNvSpPr/>
            <p:nvPr/>
          </p:nvSpPr>
          <p:spPr>
            <a:xfrm>
              <a:off x="3978402" y="2637281"/>
              <a:ext cx="542925" cy="673735"/>
            </a:xfrm>
            <a:custGeom>
              <a:avLst/>
              <a:gdLst/>
              <a:ahLst/>
              <a:cxnLst/>
              <a:rect l="l" t="t" r="r" b="b"/>
              <a:pathLst>
                <a:path w="542925" h="673735">
                  <a:moveTo>
                    <a:pt x="542544" y="336803"/>
                  </a:moveTo>
                  <a:lnTo>
                    <a:pt x="0" y="0"/>
                  </a:lnTo>
                  <a:lnTo>
                    <a:pt x="0" y="673608"/>
                  </a:lnTo>
                  <a:lnTo>
                    <a:pt x="542544" y="336803"/>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102" name="object 98"/>
            <p:cNvSpPr/>
            <p:nvPr/>
          </p:nvSpPr>
          <p:spPr>
            <a:xfrm>
              <a:off x="3959352" y="2602991"/>
              <a:ext cx="597535" cy="742315"/>
            </a:xfrm>
            <a:custGeom>
              <a:avLst/>
              <a:gdLst/>
              <a:ahLst/>
              <a:cxnLst/>
              <a:rect l="l" t="t" r="r" b="b"/>
              <a:pathLst>
                <a:path w="597535" h="742314">
                  <a:moveTo>
                    <a:pt x="597408" y="371093"/>
                  </a:moveTo>
                  <a:lnTo>
                    <a:pt x="0" y="0"/>
                  </a:lnTo>
                  <a:lnTo>
                    <a:pt x="0" y="742188"/>
                  </a:lnTo>
                  <a:lnTo>
                    <a:pt x="9144" y="736507"/>
                  </a:lnTo>
                  <a:lnTo>
                    <a:pt x="9144" y="50292"/>
                  </a:lnTo>
                  <a:lnTo>
                    <a:pt x="38100" y="34290"/>
                  </a:lnTo>
                  <a:lnTo>
                    <a:pt x="38100" y="68292"/>
                  </a:lnTo>
                  <a:lnTo>
                    <a:pt x="525156" y="371075"/>
                  </a:lnTo>
                  <a:lnTo>
                    <a:pt x="550926" y="355091"/>
                  </a:lnTo>
                  <a:lnTo>
                    <a:pt x="550926" y="399967"/>
                  </a:lnTo>
                  <a:lnTo>
                    <a:pt x="597408" y="371093"/>
                  </a:lnTo>
                  <a:close/>
                </a:path>
                <a:path w="597535" h="742314">
                  <a:moveTo>
                    <a:pt x="38100" y="68292"/>
                  </a:moveTo>
                  <a:lnTo>
                    <a:pt x="38100" y="34290"/>
                  </a:lnTo>
                  <a:lnTo>
                    <a:pt x="9144" y="50292"/>
                  </a:lnTo>
                  <a:lnTo>
                    <a:pt x="38100" y="68292"/>
                  </a:lnTo>
                  <a:close/>
                </a:path>
                <a:path w="597535" h="742314">
                  <a:moveTo>
                    <a:pt x="38100" y="673173"/>
                  </a:moveTo>
                  <a:lnTo>
                    <a:pt x="38100" y="68292"/>
                  </a:lnTo>
                  <a:lnTo>
                    <a:pt x="9144" y="50292"/>
                  </a:lnTo>
                  <a:lnTo>
                    <a:pt x="9144" y="691134"/>
                  </a:lnTo>
                  <a:lnTo>
                    <a:pt x="38100" y="673173"/>
                  </a:lnTo>
                  <a:close/>
                </a:path>
                <a:path w="597535" h="742314">
                  <a:moveTo>
                    <a:pt x="550926" y="399967"/>
                  </a:moveTo>
                  <a:lnTo>
                    <a:pt x="550926" y="387095"/>
                  </a:lnTo>
                  <a:lnTo>
                    <a:pt x="525156" y="371075"/>
                  </a:lnTo>
                  <a:lnTo>
                    <a:pt x="9144" y="691134"/>
                  </a:lnTo>
                  <a:lnTo>
                    <a:pt x="38100" y="707898"/>
                  </a:lnTo>
                  <a:lnTo>
                    <a:pt x="38100" y="718521"/>
                  </a:lnTo>
                  <a:lnTo>
                    <a:pt x="550926" y="399967"/>
                  </a:lnTo>
                  <a:close/>
                </a:path>
                <a:path w="597535" h="742314">
                  <a:moveTo>
                    <a:pt x="38100" y="718521"/>
                  </a:moveTo>
                  <a:lnTo>
                    <a:pt x="38100" y="707898"/>
                  </a:lnTo>
                  <a:lnTo>
                    <a:pt x="9144" y="691134"/>
                  </a:lnTo>
                  <a:lnTo>
                    <a:pt x="9144" y="736507"/>
                  </a:lnTo>
                  <a:lnTo>
                    <a:pt x="38100" y="718521"/>
                  </a:lnTo>
                  <a:close/>
                </a:path>
                <a:path w="597535" h="742314">
                  <a:moveTo>
                    <a:pt x="550926" y="387095"/>
                  </a:moveTo>
                  <a:lnTo>
                    <a:pt x="550926" y="355091"/>
                  </a:lnTo>
                  <a:lnTo>
                    <a:pt x="525156" y="371075"/>
                  </a:lnTo>
                  <a:lnTo>
                    <a:pt x="550926" y="387095"/>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sp>
          <p:nvSpPr>
            <p:cNvPr id="103" name="object 99"/>
            <p:cNvSpPr/>
            <p:nvPr/>
          </p:nvSpPr>
          <p:spPr>
            <a:xfrm>
              <a:off x="3493770" y="2067305"/>
              <a:ext cx="765810" cy="307975"/>
            </a:xfrm>
            <a:custGeom>
              <a:avLst/>
              <a:gdLst/>
              <a:ahLst/>
              <a:cxnLst/>
              <a:rect l="l" t="t" r="r" b="b"/>
              <a:pathLst>
                <a:path w="765810" h="307975">
                  <a:moveTo>
                    <a:pt x="765810" y="307848"/>
                  </a:moveTo>
                  <a:lnTo>
                    <a:pt x="765810" y="0"/>
                  </a:lnTo>
                  <a:lnTo>
                    <a:pt x="0" y="0"/>
                  </a:lnTo>
                  <a:lnTo>
                    <a:pt x="0" y="307848"/>
                  </a:lnTo>
                  <a:lnTo>
                    <a:pt x="765810" y="307848"/>
                  </a:lnTo>
                  <a:close/>
                </a:path>
              </a:pathLst>
            </a:custGeom>
            <a:solidFill>
              <a:srgbClr val="FFBF00"/>
            </a:solidFill>
          </p:spPr>
          <p:txBody>
            <a:bodyPr wrap="square" lIns="0" tIns="0" rIns="0" bIns="0" rtlCol="0"/>
            <a:lstStyle/>
            <a:p>
              <a:endParaRPr>
                <a:solidFill>
                  <a:prstClr val="black"/>
                </a:solidFill>
                <a:latin typeface="Calibri" panose="020F0502020204030204"/>
              </a:endParaRPr>
            </a:p>
          </p:txBody>
        </p:sp>
        <p:sp>
          <p:nvSpPr>
            <p:cNvPr id="104" name="object 100"/>
            <p:cNvSpPr/>
            <p:nvPr/>
          </p:nvSpPr>
          <p:spPr>
            <a:xfrm>
              <a:off x="3474720" y="2048255"/>
              <a:ext cx="803910" cy="346075"/>
            </a:xfrm>
            <a:custGeom>
              <a:avLst/>
              <a:gdLst/>
              <a:ahLst/>
              <a:cxnLst/>
              <a:rect l="l" t="t" r="r" b="b"/>
              <a:pathLst>
                <a:path w="803910" h="346075">
                  <a:moveTo>
                    <a:pt x="803910" y="345948"/>
                  </a:moveTo>
                  <a:lnTo>
                    <a:pt x="803910" y="0"/>
                  </a:lnTo>
                  <a:lnTo>
                    <a:pt x="0" y="0"/>
                  </a:lnTo>
                  <a:lnTo>
                    <a:pt x="0" y="345948"/>
                  </a:lnTo>
                  <a:lnTo>
                    <a:pt x="19050" y="345948"/>
                  </a:lnTo>
                  <a:lnTo>
                    <a:pt x="19050" y="38100"/>
                  </a:lnTo>
                  <a:lnTo>
                    <a:pt x="38100" y="19050"/>
                  </a:lnTo>
                  <a:lnTo>
                    <a:pt x="38100" y="38100"/>
                  </a:lnTo>
                  <a:lnTo>
                    <a:pt x="765809" y="38100"/>
                  </a:lnTo>
                  <a:lnTo>
                    <a:pt x="765809" y="19050"/>
                  </a:lnTo>
                  <a:lnTo>
                    <a:pt x="784859" y="38100"/>
                  </a:lnTo>
                  <a:lnTo>
                    <a:pt x="784859" y="345948"/>
                  </a:lnTo>
                  <a:lnTo>
                    <a:pt x="803910" y="345948"/>
                  </a:lnTo>
                  <a:close/>
                </a:path>
                <a:path w="803910" h="346075">
                  <a:moveTo>
                    <a:pt x="38100" y="38100"/>
                  </a:moveTo>
                  <a:lnTo>
                    <a:pt x="38100" y="19050"/>
                  </a:lnTo>
                  <a:lnTo>
                    <a:pt x="19050" y="38100"/>
                  </a:lnTo>
                  <a:lnTo>
                    <a:pt x="38100" y="38100"/>
                  </a:lnTo>
                  <a:close/>
                </a:path>
                <a:path w="803910" h="346075">
                  <a:moveTo>
                    <a:pt x="38100" y="307848"/>
                  </a:moveTo>
                  <a:lnTo>
                    <a:pt x="38100" y="38100"/>
                  </a:lnTo>
                  <a:lnTo>
                    <a:pt x="19050" y="38100"/>
                  </a:lnTo>
                  <a:lnTo>
                    <a:pt x="19050" y="307848"/>
                  </a:lnTo>
                  <a:lnTo>
                    <a:pt x="38100" y="307848"/>
                  </a:lnTo>
                  <a:close/>
                </a:path>
                <a:path w="803910" h="346075">
                  <a:moveTo>
                    <a:pt x="784859" y="307848"/>
                  </a:moveTo>
                  <a:lnTo>
                    <a:pt x="19050" y="307848"/>
                  </a:lnTo>
                  <a:lnTo>
                    <a:pt x="38100" y="326898"/>
                  </a:lnTo>
                  <a:lnTo>
                    <a:pt x="38100" y="345948"/>
                  </a:lnTo>
                  <a:lnTo>
                    <a:pt x="765809" y="345948"/>
                  </a:lnTo>
                  <a:lnTo>
                    <a:pt x="765809" y="326898"/>
                  </a:lnTo>
                  <a:lnTo>
                    <a:pt x="784859" y="307848"/>
                  </a:lnTo>
                  <a:close/>
                </a:path>
                <a:path w="803910" h="346075">
                  <a:moveTo>
                    <a:pt x="38100" y="345948"/>
                  </a:moveTo>
                  <a:lnTo>
                    <a:pt x="38100" y="326898"/>
                  </a:lnTo>
                  <a:lnTo>
                    <a:pt x="19050" y="307848"/>
                  </a:lnTo>
                  <a:lnTo>
                    <a:pt x="19050" y="345948"/>
                  </a:lnTo>
                  <a:lnTo>
                    <a:pt x="38100" y="345948"/>
                  </a:lnTo>
                  <a:close/>
                </a:path>
                <a:path w="803910" h="346075">
                  <a:moveTo>
                    <a:pt x="784859" y="38100"/>
                  </a:moveTo>
                  <a:lnTo>
                    <a:pt x="765809" y="19050"/>
                  </a:lnTo>
                  <a:lnTo>
                    <a:pt x="765809" y="38100"/>
                  </a:lnTo>
                  <a:lnTo>
                    <a:pt x="784859" y="38100"/>
                  </a:lnTo>
                  <a:close/>
                </a:path>
                <a:path w="803910" h="346075">
                  <a:moveTo>
                    <a:pt x="784859" y="307848"/>
                  </a:moveTo>
                  <a:lnTo>
                    <a:pt x="784859" y="38100"/>
                  </a:lnTo>
                  <a:lnTo>
                    <a:pt x="765809" y="38100"/>
                  </a:lnTo>
                  <a:lnTo>
                    <a:pt x="765809" y="307848"/>
                  </a:lnTo>
                  <a:lnTo>
                    <a:pt x="784859" y="307848"/>
                  </a:lnTo>
                  <a:close/>
                </a:path>
                <a:path w="803910" h="346075">
                  <a:moveTo>
                    <a:pt x="784859" y="345948"/>
                  </a:moveTo>
                  <a:lnTo>
                    <a:pt x="784859" y="307848"/>
                  </a:lnTo>
                  <a:lnTo>
                    <a:pt x="765809" y="326898"/>
                  </a:lnTo>
                  <a:lnTo>
                    <a:pt x="765809" y="345948"/>
                  </a:lnTo>
                  <a:lnTo>
                    <a:pt x="784859" y="345948"/>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grpSp>
      <p:sp>
        <p:nvSpPr>
          <p:cNvPr id="105" name="object 101"/>
          <p:cNvSpPr txBox="1"/>
          <p:nvPr/>
        </p:nvSpPr>
        <p:spPr>
          <a:xfrm>
            <a:off x="2773933" y="2053082"/>
            <a:ext cx="677545" cy="330200"/>
          </a:xfrm>
          <a:prstGeom prst="rect">
            <a:avLst/>
          </a:prstGeom>
        </p:spPr>
        <p:txBody>
          <a:bodyPr vert="horz" wrap="square" lIns="0" tIns="12065" rIns="0" bIns="0" rtlCol="0">
            <a:spAutoFit/>
          </a:bodyPr>
          <a:lstStyle/>
          <a:p>
            <a:pPr marL="12700">
              <a:spcBef>
                <a:spcPts val="95"/>
              </a:spcBef>
            </a:pPr>
            <a:r>
              <a:rPr sz="2000" spc="-5" dirty="0">
                <a:solidFill>
                  <a:prstClr val="black"/>
                </a:solidFill>
                <a:latin typeface="Verdana"/>
                <a:cs typeface="Verdana"/>
              </a:rPr>
              <a:t>CTRL</a:t>
            </a:r>
            <a:endParaRPr sz="2000">
              <a:solidFill>
                <a:prstClr val="black"/>
              </a:solidFill>
              <a:latin typeface="Verdana"/>
              <a:cs typeface="Verdana"/>
            </a:endParaRPr>
          </a:p>
        </p:txBody>
      </p:sp>
      <p:grpSp>
        <p:nvGrpSpPr>
          <p:cNvPr id="106" name="object 102"/>
          <p:cNvGrpSpPr/>
          <p:nvPr/>
        </p:nvGrpSpPr>
        <p:grpSpPr>
          <a:xfrm>
            <a:off x="4249673" y="1771650"/>
            <a:ext cx="3446145" cy="2194560"/>
            <a:chOff x="4249673" y="1771650"/>
            <a:chExt cx="3446145" cy="2194560"/>
          </a:xfrm>
        </p:grpSpPr>
        <p:sp>
          <p:nvSpPr>
            <p:cNvPr id="107" name="object 103"/>
            <p:cNvSpPr/>
            <p:nvPr/>
          </p:nvSpPr>
          <p:spPr>
            <a:xfrm>
              <a:off x="4249673" y="2164841"/>
              <a:ext cx="690880" cy="114300"/>
            </a:xfrm>
            <a:custGeom>
              <a:avLst/>
              <a:gdLst/>
              <a:ahLst/>
              <a:cxnLst/>
              <a:rect l="l" t="t" r="r" b="b"/>
              <a:pathLst>
                <a:path w="690879" h="114300">
                  <a:moveTo>
                    <a:pt x="114300" y="38100"/>
                  </a:moveTo>
                  <a:lnTo>
                    <a:pt x="114300" y="0"/>
                  </a:lnTo>
                  <a:lnTo>
                    <a:pt x="0" y="57150"/>
                  </a:lnTo>
                  <a:lnTo>
                    <a:pt x="95250" y="104775"/>
                  </a:lnTo>
                  <a:lnTo>
                    <a:pt x="95250" y="38100"/>
                  </a:lnTo>
                  <a:lnTo>
                    <a:pt x="114300" y="38100"/>
                  </a:lnTo>
                  <a:close/>
                </a:path>
                <a:path w="690879" h="114300">
                  <a:moveTo>
                    <a:pt x="595122" y="76200"/>
                  </a:moveTo>
                  <a:lnTo>
                    <a:pt x="595122" y="38100"/>
                  </a:lnTo>
                  <a:lnTo>
                    <a:pt x="95250" y="38100"/>
                  </a:lnTo>
                  <a:lnTo>
                    <a:pt x="95250" y="76200"/>
                  </a:lnTo>
                  <a:lnTo>
                    <a:pt x="595122" y="76200"/>
                  </a:lnTo>
                  <a:close/>
                </a:path>
                <a:path w="690879" h="114300">
                  <a:moveTo>
                    <a:pt x="114300" y="114300"/>
                  </a:moveTo>
                  <a:lnTo>
                    <a:pt x="114300" y="76200"/>
                  </a:lnTo>
                  <a:lnTo>
                    <a:pt x="95250" y="76200"/>
                  </a:lnTo>
                  <a:lnTo>
                    <a:pt x="95250" y="104775"/>
                  </a:lnTo>
                  <a:lnTo>
                    <a:pt x="114300" y="114300"/>
                  </a:lnTo>
                  <a:close/>
                </a:path>
                <a:path w="690879" h="114300">
                  <a:moveTo>
                    <a:pt x="690372" y="57150"/>
                  </a:moveTo>
                  <a:lnTo>
                    <a:pt x="576072" y="0"/>
                  </a:lnTo>
                  <a:lnTo>
                    <a:pt x="576072" y="38100"/>
                  </a:lnTo>
                  <a:lnTo>
                    <a:pt x="595122" y="38100"/>
                  </a:lnTo>
                  <a:lnTo>
                    <a:pt x="595122" y="104775"/>
                  </a:lnTo>
                  <a:lnTo>
                    <a:pt x="690372" y="57150"/>
                  </a:lnTo>
                  <a:close/>
                </a:path>
                <a:path w="690879" h="114300">
                  <a:moveTo>
                    <a:pt x="595122" y="104775"/>
                  </a:moveTo>
                  <a:lnTo>
                    <a:pt x="595122" y="76200"/>
                  </a:lnTo>
                  <a:lnTo>
                    <a:pt x="576072" y="76200"/>
                  </a:lnTo>
                  <a:lnTo>
                    <a:pt x="576072" y="114300"/>
                  </a:lnTo>
                  <a:lnTo>
                    <a:pt x="595122" y="104775"/>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pic>
          <p:nvPicPr>
            <p:cNvPr id="108" name="object 104"/>
            <p:cNvPicPr/>
            <p:nvPr/>
          </p:nvPicPr>
          <p:blipFill>
            <a:blip r:embed="rId4" cstate="print"/>
            <a:stretch>
              <a:fillRect/>
            </a:stretch>
          </p:blipFill>
          <p:spPr>
            <a:xfrm>
              <a:off x="5099303" y="2514600"/>
              <a:ext cx="2445257" cy="935736"/>
            </a:xfrm>
            <a:prstGeom prst="rect">
              <a:avLst/>
            </a:prstGeom>
          </p:spPr>
        </p:pic>
        <p:sp>
          <p:nvSpPr>
            <p:cNvPr id="109" name="object 105"/>
            <p:cNvSpPr/>
            <p:nvPr/>
          </p:nvSpPr>
          <p:spPr>
            <a:xfrm>
              <a:off x="7355586" y="3047237"/>
              <a:ext cx="55244" cy="337820"/>
            </a:xfrm>
            <a:custGeom>
              <a:avLst/>
              <a:gdLst/>
              <a:ahLst/>
              <a:cxnLst/>
              <a:rect l="l" t="t" r="r" b="b"/>
              <a:pathLst>
                <a:path w="55245" h="337820">
                  <a:moveTo>
                    <a:pt x="54864" y="0"/>
                  </a:moveTo>
                  <a:lnTo>
                    <a:pt x="54089" y="0"/>
                  </a:lnTo>
                  <a:lnTo>
                    <a:pt x="762" y="0"/>
                  </a:lnTo>
                  <a:lnTo>
                    <a:pt x="0" y="0"/>
                  </a:lnTo>
                  <a:lnTo>
                    <a:pt x="0" y="135636"/>
                  </a:lnTo>
                  <a:lnTo>
                    <a:pt x="0" y="337566"/>
                  </a:lnTo>
                  <a:lnTo>
                    <a:pt x="762" y="337566"/>
                  </a:lnTo>
                  <a:lnTo>
                    <a:pt x="54089" y="337566"/>
                  </a:lnTo>
                  <a:lnTo>
                    <a:pt x="54864" y="337566"/>
                  </a:lnTo>
                  <a:lnTo>
                    <a:pt x="54864" y="0"/>
                  </a:lnTo>
                  <a:close/>
                </a:path>
              </a:pathLst>
            </a:custGeom>
            <a:solidFill>
              <a:srgbClr val="00AF4F"/>
            </a:solidFill>
          </p:spPr>
          <p:txBody>
            <a:bodyPr wrap="square" lIns="0" tIns="0" rIns="0" bIns="0" rtlCol="0"/>
            <a:lstStyle/>
            <a:p>
              <a:endParaRPr>
                <a:solidFill>
                  <a:prstClr val="black"/>
                </a:solidFill>
                <a:latin typeface="Calibri" panose="020F0502020204030204"/>
              </a:endParaRPr>
            </a:p>
          </p:txBody>
        </p:sp>
        <p:sp>
          <p:nvSpPr>
            <p:cNvPr id="110" name="object 106"/>
            <p:cNvSpPr/>
            <p:nvPr/>
          </p:nvSpPr>
          <p:spPr>
            <a:xfrm>
              <a:off x="4895849" y="1771650"/>
              <a:ext cx="2799715" cy="2194560"/>
            </a:xfrm>
            <a:custGeom>
              <a:avLst/>
              <a:gdLst/>
              <a:ahLst/>
              <a:cxnLst/>
              <a:rect l="l" t="t" r="r" b="b"/>
              <a:pathLst>
                <a:path w="2799715" h="2194560">
                  <a:moveTo>
                    <a:pt x="38100" y="2175510"/>
                  </a:moveTo>
                  <a:lnTo>
                    <a:pt x="38100" y="2023110"/>
                  </a:lnTo>
                  <a:lnTo>
                    <a:pt x="0" y="2023110"/>
                  </a:lnTo>
                  <a:lnTo>
                    <a:pt x="0" y="2175510"/>
                  </a:lnTo>
                  <a:lnTo>
                    <a:pt x="38100" y="2175510"/>
                  </a:lnTo>
                  <a:close/>
                </a:path>
                <a:path w="2799715" h="2194560">
                  <a:moveTo>
                    <a:pt x="38100" y="1908810"/>
                  </a:moveTo>
                  <a:lnTo>
                    <a:pt x="38100" y="1756410"/>
                  </a:lnTo>
                  <a:lnTo>
                    <a:pt x="0" y="1756410"/>
                  </a:lnTo>
                  <a:lnTo>
                    <a:pt x="0" y="1908810"/>
                  </a:lnTo>
                  <a:lnTo>
                    <a:pt x="38100" y="1908810"/>
                  </a:lnTo>
                  <a:close/>
                </a:path>
                <a:path w="2799715" h="2194560">
                  <a:moveTo>
                    <a:pt x="38100" y="1642110"/>
                  </a:moveTo>
                  <a:lnTo>
                    <a:pt x="38100" y="1489710"/>
                  </a:lnTo>
                  <a:lnTo>
                    <a:pt x="0" y="1489710"/>
                  </a:lnTo>
                  <a:lnTo>
                    <a:pt x="0" y="1642110"/>
                  </a:lnTo>
                  <a:lnTo>
                    <a:pt x="38100" y="1642110"/>
                  </a:lnTo>
                  <a:close/>
                </a:path>
                <a:path w="2799715" h="2194560">
                  <a:moveTo>
                    <a:pt x="38100" y="1375409"/>
                  </a:moveTo>
                  <a:lnTo>
                    <a:pt x="38100" y="1223009"/>
                  </a:lnTo>
                  <a:lnTo>
                    <a:pt x="0" y="1223009"/>
                  </a:lnTo>
                  <a:lnTo>
                    <a:pt x="0" y="1375409"/>
                  </a:lnTo>
                  <a:lnTo>
                    <a:pt x="38100" y="1375409"/>
                  </a:lnTo>
                  <a:close/>
                </a:path>
                <a:path w="2799715" h="2194560">
                  <a:moveTo>
                    <a:pt x="38100" y="1108709"/>
                  </a:moveTo>
                  <a:lnTo>
                    <a:pt x="38100" y="956309"/>
                  </a:lnTo>
                  <a:lnTo>
                    <a:pt x="0" y="956309"/>
                  </a:lnTo>
                  <a:lnTo>
                    <a:pt x="0" y="1108709"/>
                  </a:lnTo>
                  <a:lnTo>
                    <a:pt x="38100" y="1108709"/>
                  </a:lnTo>
                  <a:close/>
                </a:path>
                <a:path w="2799715" h="2194560">
                  <a:moveTo>
                    <a:pt x="38100" y="842009"/>
                  </a:moveTo>
                  <a:lnTo>
                    <a:pt x="38100" y="689609"/>
                  </a:lnTo>
                  <a:lnTo>
                    <a:pt x="0" y="689609"/>
                  </a:lnTo>
                  <a:lnTo>
                    <a:pt x="0" y="842009"/>
                  </a:lnTo>
                  <a:lnTo>
                    <a:pt x="38100" y="842009"/>
                  </a:lnTo>
                  <a:close/>
                </a:path>
                <a:path w="2799715" h="2194560">
                  <a:moveTo>
                    <a:pt x="38100" y="575309"/>
                  </a:moveTo>
                  <a:lnTo>
                    <a:pt x="38100" y="422909"/>
                  </a:lnTo>
                  <a:lnTo>
                    <a:pt x="0" y="422909"/>
                  </a:lnTo>
                  <a:lnTo>
                    <a:pt x="0" y="575309"/>
                  </a:lnTo>
                  <a:lnTo>
                    <a:pt x="38100" y="575309"/>
                  </a:lnTo>
                  <a:close/>
                </a:path>
                <a:path w="2799715" h="2194560">
                  <a:moveTo>
                    <a:pt x="38100" y="308609"/>
                  </a:moveTo>
                  <a:lnTo>
                    <a:pt x="38100" y="156209"/>
                  </a:lnTo>
                  <a:lnTo>
                    <a:pt x="0" y="156209"/>
                  </a:lnTo>
                  <a:lnTo>
                    <a:pt x="0" y="308609"/>
                  </a:lnTo>
                  <a:lnTo>
                    <a:pt x="38100" y="308609"/>
                  </a:lnTo>
                  <a:close/>
                </a:path>
                <a:path w="2799715" h="2194560">
                  <a:moveTo>
                    <a:pt x="147827" y="38099"/>
                  </a:moveTo>
                  <a:lnTo>
                    <a:pt x="147827" y="0"/>
                  </a:lnTo>
                  <a:lnTo>
                    <a:pt x="0" y="0"/>
                  </a:lnTo>
                  <a:lnTo>
                    <a:pt x="0" y="41909"/>
                  </a:lnTo>
                  <a:lnTo>
                    <a:pt x="19050" y="41909"/>
                  </a:lnTo>
                  <a:lnTo>
                    <a:pt x="19050" y="38099"/>
                  </a:lnTo>
                  <a:lnTo>
                    <a:pt x="38100" y="19049"/>
                  </a:lnTo>
                  <a:lnTo>
                    <a:pt x="38100" y="38099"/>
                  </a:lnTo>
                  <a:lnTo>
                    <a:pt x="147827" y="38099"/>
                  </a:lnTo>
                  <a:close/>
                </a:path>
                <a:path w="2799715" h="2194560">
                  <a:moveTo>
                    <a:pt x="38100" y="38099"/>
                  </a:moveTo>
                  <a:lnTo>
                    <a:pt x="38100" y="19049"/>
                  </a:lnTo>
                  <a:lnTo>
                    <a:pt x="19050" y="38099"/>
                  </a:lnTo>
                  <a:lnTo>
                    <a:pt x="38100" y="38099"/>
                  </a:lnTo>
                  <a:close/>
                </a:path>
                <a:path w="2799715" h="2194560">
                  <a:moveTo>
                    <a:pt x="38100" y="41909"/>
                  </a:moveTo>
                  <a:lnTo>
                    <a:pt x="38100" y="38099"/>
                  </a:lnTo>
                  <a:lnTo>
                    <a:pt x="19050" y="38099"/>
                  </a:lnTo>
                  <a:lnTo>
                    <a:pt x="19050" y="41909"/>
                  </a:lnTo>
                  <a:lnTo>
                    <a:pt x="38100" y="41909"/>
                  </a:lnTo>
                  <a:close/>
                </a:path>
                <a:path w="2799715" h="2194560">
                  <a:moveTo>
                    <a:pt x="414527" y="38099"/>
                  </a:moveTo>
                  <a:lnTo>
                    <a:pt x="414527" y="0"/>
                  </a:lnTo>
                  <a:lnTo>
                    <a:pt x="262127" y="0"/>
                  </a:lnTo>
                  <a:lnTo>
                    <a:pt x="262127" y="38099"/>
                  </a:lnTo>
                  <a:lnTo>
                    <a:pt x="414527" y="38099"/>
                  </a:lnTo>
                  <a:close/>
                </a:path>
                <a:path w="2799715" h="2194560">
                  <a:moveTo>
                    <a:pt x="681227" y="38099"/>
                  </a:moveTo>
                  <a:lnTo>
                    <a:pt x="681227" y="0"/>
                  </a:lnTo>
                  <a:lnTo>
                    <a:pt x="528827" y="0"/>
                  </a:lnTo>
                  <a:lnTo>
                    <a:pt x="528827" y="38099"/>
                  </a:lnTo>
                  <a:lnTo>
                    <a:pt x="681227" y="38099"/>
                  </a:lnTo>
                  <a:close/>
                </a:path>
                <a:path w="2799715" h="2194560">
                  <a:moveTo>
                    <a:pt x="947927" y="38099"/>
                  </a:moveTo>
                  <a:lnTo>
                    <a:pt x="947927" y="0"/>
                  </a:lnTo>
                  <a:lnTo>
                    <a:pt x="795527" y="0"/>
                  </a:lnTo>
                  <a:lnTo>
                    <a:pt x="795527" y="38099"/>
                  </a:lnTo>
                  <a:lnTo>
                    <a:pt x="947927" y="38099"/>
                  </a:lnTo>
                  <a:close/>
                </a:path>
                <a:path w="2799715" h="2194560">
                  <a:moveTo>
                    <a:pt x="1214627" y="38099"/>
                  </a:moveTo>
                  <a:lnTo>
                    <a:pt x="1214627" y="0"/>
                  </a:lnTo>
                  <a:lnTo>
                    <a:pt x="1062227" y="0"/>
                  </a:lnTo>
                  <a:lnTo>
                    <a:pt x="1062227" y="38099"/>
                  </a:lnTo>
                  <a:lnTo>
                    <a:pt x="1214627" y="38099"/>
                  </a:lnTo>
                  <a:close/>
                </a:path>
                <a:path w="2799715" h="2194560">
                  <a:moveTo>
                    <a:pt x="1481327" y="38099"/>
                  </a:moveTo>
                  <a:lnTo>
                    <a:pt x="1481327" y="0"/>
                  </a:lnTo>
                  <a:lnTo>
                    <a:pt x="1328927" y="0"/>
                  </a:lnTo>
                  <a:lnTo>
                    <a:pt x="1328927" y="38099"/>
                  </a:lnTo>
                  <a:lnTo>
                    <a:pt x="1481327" y="38099"/>
                  </a:lnTo>
                  <a:close/>
                </a:path>
                <a:path w="2799715" h="2194560">
                  <a:moveTo>
                    <a:pt x="1748027" y="38099"/>
                  </a:moveTo>
                  <a:lnTo>
                    <a:pt x="1748027" y="0"/>
                  </a:lnTo>
                  <a:lnTo>
                    <a:pt x="1595627" y="0"/>
                  </a:lnTo>
                  <a:lnTo>
                    <a:pt x="1595627" y="38099"/>
                  </a:lnTo>
                  <a:lnTo>
                    <a:pt x="1748027" y="38099"/>
                  </a:lnTo>
                  <a:close/>
                </a:path>
                <a:path w="2799715" h="2194560">
                  <a:moveTo>
                    <a:pt x="2014727" y="38099"/>
                  </a:moveTo>
                  <a:lnTo>
                    <a:pt x="2014727" y="0"/>
                  </a:lnTo>
                  <a:lnTo>
                    <a:pt x="1862327" y="0"/>
                  </a:lnTo>
                  <a:lnTo>
                    <a:pt x="1862327" y="38099"/>
                  </a:lnTo>
                  <a:lnTo>
                    <a:pt x="2014727" y="38099"/>
                  </a:lnTo>
                  <a:close/>
                </a:path>
                <a:path w="2799715" h="2194560">
                  <a:moveTo>
                    <a:pt x="2281428" y="38099"/>
                  </a:moveTo>
                  <a:lnTo>
                    <a:pt x="2281428" y="0"/>
                  </a:lnTo>
                  <a:lnTo>
                    <a:pt x="2129028" y="0"/>
                  </a:lnTo>
                  <a:lnTo>
                    <a:pt x="2129028" y="38099"/>
                  </a:lnTo>
                  <a:lnTo>
                    <a:pt x="2281428" y="38099"/>
                  </a:lnTo>
                  <a:close/>
                </a:path>
                <a:path w="2799715" h="2194560">
                  <a:moveTo>
                    <a:pt x="2548128" y="38099"/>
                  </a:moveTo>
                  <a:lnTo>
                    <a:pt x="2548128" y="0"/>
                  </a:lnTo>
                  <a:lnTo>
                    <a:pt x="2395728" y="0"/>
                  </a:lnTo>
                  <a:lnTo>
                    <a:pt x="2395728" y="38099"/>
                  </a:lnTo>
                  <a:lnTo>
                    <a:pt x="2548128" y="38099"/>
                  </a:lnTo>
                  <a:close/>
                </a:path>
                <a:path w="2799715" h="2194560">
                  <a:moveTo>
                    <a:pt x="2799588" y="53339"/>
                  </a:moveTo>
                  <a:lnTo>
                    <a:pt x="2799588" y="0"/>
                  </a:lnTo>
                  <a:lnTo>
                    <a:pt x="2662428" y="0"/>
                  </a:lnTo>
                  <a:lnTo>
                    <a:pt x="2662428" y="38099"/>
                  </a:lnTo>
                  <a:lnTo>
                    <a:pt x="2761488" y="38099"/>
                  </a:lnTo>
                  <a:lnTo>
                    <a:pt x="2761488" y="19049"/>
                  </a:lnTo>
                  <a:lnTo>
                    <a:pt x="2780538" y="38099"/>
                  </a:lnTo>
                  <a:lnTo>
                    <a:pt x="2780538" y="53339"/>
                  </a:lnTo>
                  <a:lnTo>
                    <a:pt x="2799588" y="53339"/>
                  </a:lnTo>
                  <a:close/>
                </a:path>
                <a:path w="2799715" h="2194560">
                  <a:moveTo>
                    <a:pt x="2780538" y="38099"/>
                  </a:moveTo>
                  <a:lnTo>
                    <a:pt x="2761488" y="19049"/>
                  </a:lnTo>
                  <a:lnTo>
                    <a:pt x="2761488" y="38099"/>
                  </a:lnTo>
                  <a:lnTo>
                    <a:pt x="2780538" y="38099"/>
                  </a:lnTo>
                  <a:close/>
                </a:path>
                <a:path w="2799715" h="2194560">
                  <a:moveTo>
                    <a:pt x="2780538" y="53339"/>
                  </a:moveTo>
                  <a:lnTo>
                    <a:pt x="2780538" y="38099"/>
                  </a:lnTo>
                  <a:lnTo>
                    <a:pt x="2761488" y="38099"/>
                  </a:lnTo>
                  <a:lnTo>
                    <a:pt x="2761488" y="53339"/>
                  </a:lnTo>
                  <a:lnTo>
                    <a:pt x="2780538" y="53339"/>
                  </a:lnTo>
                  <a:close/>
                </a:path>
                <a:path w="2799715" h="2194560">
                  <a:moveTo>
                    <a:pt x="2799588" y="320039"/>
                  </a:moveTo>
                  <a:lnTo>
                    <a:pt x="2799588" y="167639"/>
                  </a:lnTo>
                  <a:lnTo>
                    <a:pt x="2761488" y="167639"/>
                  </a:lnTo>
                  <a:lnTo>
                    <a:pt x="2761488" y="320039"/>
                  </a:lnTo>
                  <a:lnTo>
                    <a:pt x="2799588" y="320039"/>
                  </a:lnTo>
                  <a:close/>
                </a:path>
                <a:path w="2799715" h="2194560">
                  <a:moveTo>
                    <a:pt x="2799588" y="586739"/>
                  </a:moveTo>
                  <a:lnTo>
                    <a:pt x="2799588" y="434339"/>
                  </a:lnTo>
                  <a:lnTo>
                    <a:pt x="2761488" y="434339"/>
                  </a:lnTo>
                  <a:lnTo>
                    <a:pt x="2761488" y="586739"/>
                  </a:lnTo>
                  <a:lnTo>
                    <a:pt x="2799588" y="586739"/>
                  </a:lnTo>
                  <a:close/>
                </a:path>
                <a:path w="2799715" h="2194560">
                  <a:moveTo>
                    <a:pt x="2799588" y="853439"/>
                  </a:moveTo>
                  <a:lnTo>
                    <a:pt x="2799588" y="701039"/>
                  </a:lnTo>
                  <a:lnTo>
                    <a:pt x="2761488" y="701039"/>
                  </a:lnTo>
                  <a:lnTo>
                    <a:pt x="2761488" y="853439"/>
                  </a:lnTo>
                  <a:lnTo>
                    <a:pt x="2799588" y="853439"/>
                  </a:lnTo>
                  <a:close/>
                </a:path>
                <a:path w="2799715" h="2194560">
                  <a:moveTo>
                    <a:pt x="2799588" y="1120139"/>
                  </a:moveTo>
                  <a:lnTo>
                    <a:pt x="2799588" y="967739"/>
                  </a:lnTo>
                  <a:lnTo>
                    <a:pt x="2761488" y="967739"/>
                  </a:lnTo>
                  <a:lnTo>
                    <a:pt x="2761488" y="1120139"/>
                  </a:lnTo>
                  <a:lnTo>
                    <a:pt x="2799588" y="1120139"/>
                  </a:lnTo>
                  <a:close/>
                </a:path>
                <a:path w="2799715" h="2194560">
                  <a:moveTo>
                    <a:pt x="2799588" y="1386839"/>
                  </a:moveTo>
                  <a:lnTo>
                    <a:pt x="2799588" y="1234439"/>
                  </a:lnTo>
                  <a:lnTo>
                    <a:pt x="2761488" y="1234439"/>
                  </a:lnTo>
                  <a:lnTo>
                    <a:pt x="2761488" y="1386839"/>
                  </a:lnTo>
                  <a:lnTo>
                    <a:pt x="2799588" y="1386839"/>
                  </a:lnTo>
                  <a:close/>
                </a:path>
                <a:path w="2799715" h="2194560">
                  <a:moveTo>
                    <a:pt x="2799588" y="1653539"/>
                  </a:moveTo>
                  <a:lnTo>
                    <a:pt x="2799588" y="1501139"/>
                  </a:lnTo>
                  <a:lnTo>
                    <a:pt x="2761488" y="1501139"/>
                  </a:lnTo>
                  <a:lnTo>
                    <a:pt x="2761488" y="1653539"/>
                  </a:lnTo>
                  <a:lnTo>
                    <a:pt x="2799588" y="1653539"/>
                  </a:lnTo>
                  <a:close/>
                </a:path>
                <a:path w="2799715" h="2194560">
                  <a:moveTo>
                    <a:pt x="2799588" y="1920239"/>
                  </a:moveTo>
                  <a:lnTo>
                    <a:pt x="2799588" y="1767839"/>
                  </a:lnTo>
                  <a:lnTo>
                    <a:pt x="2761488" y="1767839"/>
                  </a:lnTo>
                  <a:lnTo>
                    <a:pt x="2761488" y="1920239"/>
                  </a:lnTo>
                  <a:lnTo>
                    <a:pt x="2799588" y="1920239"/>
                  </a:lnTo>
                  <a:close/>
                </a:path>
                <a:path w="2799715" h="2194560">
                  <a:moveTo>
                    <a:pt x="2799588" y="2194559"/>
                  </a:moveTo>
                  <a:lnTo>
                    <a:pt x="2799588" y="2034539"/>
                  </a:lnTo>
                  <a:lnTo>
                    <a:pt x="2761488" y="2034539"/>
                  </a:lnTo>
                  <a:lnTo>
                    <a:pt x="2761488" y="2175509"/>
                  </a:lnTo>
                  <a:lnTo>
                    <a:pt x="2769870" y="2167128"/>
                  </a:lnTo>
                  <a:lnTo>
                    <a:pt x="2769870" y="2156459"/>
                  </a:lnTo>
                  <a:lnTo>
                    <a:pt x="2780538" y="2156459"/>
                  </a:lnTo>
                  <a:lnTo>
                    <a:pt x="2780538" y="2194559"/>
                  </a:lnTo>
                  <a:lnTo>
                    <a:pt x="2799588" y="2194559"/>
                  </a:lnTo>
                  <a:close/>
                </a:path>
                <a:path w="2799715" h="2194560">
                  <a:moveTo>
                    <a:pt x="2780538" y="2156459"/>
                  </a:moveTo>
                  <a:lnTo>
                    <a:pt x="2769870" y="2156459"/>
                  </a:lnTo>
                  <a:lnTo>
                    <a:pt x="2769870" y="2167128"/>
                  </a:lnTo>
                  <a:lnTo>
                    <a:pt x="2780538" y="2156459"/>
                  </a:lnTo>
                  <a:close/>
                </a:path>
                <a:path w="2799715" h="2194560">
                  <a:moveTo>
                    <a:pt x="2780538" y="2194559"/>
                  </a:moveTo>
                  <a:lnTo>
                    <a:pt x="2780538" y="2156459"/>
                  </a:lnTo>
                  <a:lnTo>
                    <a:pt x="2769870" y="2167128"/>
                  </a:lnTo>
                  <a:lnTo>
                    <a:pt x="2769870" y="2194559"/>
                  </a:lnTo>
                  <a:lnTo>
                    <a:pt x="2780538" y="2194559"/>
                  </a:lnTo>
                  <a:close/>
                </a:path>
                <a:path w="2799715" h="2194560">
                  <a:moveTo>
                    <a:pt x="2655570" y="2194559"/>
                  </a:moveTo>
                  <a:lnTo>
                    <a:pt x="2655570" y="2156459"/>
                  </a:lnTo>
                  <a:lnTo>
                    <a:pt x="2503170" y="2156459"/>
                  </a:lnTo>
                  <a:lnTo>
                    <a:pt x="2503170" y="2194559"/>
                  </a:lnTo>
                  <a:lnTo>
                    <a:pt x="2655570" y="2194559"/>
                  </a:lnTo>
                  <a:close/>
                </a:path>
                <a:path w="2799715" h="2194560">
                  <a:moveTo>
                    <a:pt x="2388870" y="2194559"/>
                  </a:moveTo>
                  <a:lnTo>
                    <a:pt x="2388870" y="2156459"/>
                  </a:lnTo>
                  <a:lnTo>
                    <a:pt x="2236470" y="2156459"/>
                  </a:lnTo>
                  <a:lnTo>
                    <a:pt x="2236470" y="2194559"/>
                  </a:lnTo>
                  <a:lnTo>
                    <a:pt x="2388870" y="2194559"/>
                  </a:lnTo>
                  <a:close/>
                </a:path>
                <a:path w="2799715" h="2194560">
                  <a:moveTo>
                    <a:pt x="2122170" y="2194559"/>
                  </a:moveTo>
                  <a:lnTo>
                    <a:pt x="2122170" y="2156459"/>
                  </a:lnTo>
                  <a:lnTo>
                    <a:pt x="1969770" y="2156459"/>
                  </a:lnTo>
                  <a:lnTo>
                    <a:pt x="1969770" y="2194559"/>
                  </a:lnTo>
                  <a:lnTo>
                    <a:pt x="2122170" y="2194559"/>
                  </a:lnTo>
                  <a:close/>
                </a:path>
                <a:path w="2799715" h="2194560">
                  <a:moveTo>
                    <a:pt x="1855470" y="2194559"/>
                  </a:moveTo>
                  <a:lnTo>
                    <a:pt x="1855470" y="2156459"/>
                  </a:lnTo>
                  <a:lnTo>
                    <a:pt x="1703070" y="2156459"/>
                  </a:lnTo>
                  <a:lnTo>
                    <a:pt x="1703070" y="2194559"/>
                  </a:lnTo>
                  <a:lnTo>
                    <a:pt x="1855470" y="2194559"/>
                  </a:lnTo>
                  <a:close/>
                </a:path>
                <a:path w="2799715" h="2194560">
                  <a:moveTo>
                    <a:pt x="1588770" y="2194559"/>
                  </a:moveTo>
                  <a:lnTo>
                    <a:pt x="1588770" y="2156459"/>
                  </a:lnTo>
                  <a:lnTo>
                    <a:pt x="1436370" y="2156459"/>
                  </a:lnTo>
                  <a:lnTo>
                    <a:pt x="1436370" y="2194559"/>
                  </a:lnTo>
                  <a:lnTo>
                    <a:pt x="1588770" y="2194559"/>
                  </a:lnTo>
                  <a:close/>
                </a:path>
                <a:path w="2799715" h="2194560">
                  <a:moveTo>
                    <a:pt x="1322070" y="2194559"/>
                  </a:moveTo>
                  <a:lnTo>
                    <a:pt x="1322070" y="2156459"/>
                  </a:lnTo>
                  <a:lnTo>
                    <a:pt x="1169670" y="2156459"/>
                  </a:lnTo>
                  <a:lnTo>
                    <a:pt x="1169670" y="2194559"/>
                  </a:lnTo>
                  <a:lnTo>
                    <a:pt x="1322070" y="2194559"/>
                  </a:lnTo>
                  <a:close/>
                </a:path>
                <a:path w="2799715" h="2194560">
                  <a:moveTo>
                    <a:pt x="1055370" y="2194559"/>
                  </a:moveTo>
                  <a:lnTo>
                    <a:pt x="1055370" y="2156459"/>
                  </a:lnTo>
                  <a:lnTo>
                    <a:pt x="902970" y="2156460"/>
                  </a:lnTo>
                  <a:lnTo>
                    <a:pt x="902970" y="2194560"/>
                  </a:lnTo>
                  <a:lnTo>
                    <a:pt x="1055370" y="2194559"/>
                  </a:lnTo>
                  <a:close/>
                </a:path>
                <a:path w="2799715" h="2194560">
                  <a:moveTo>
                    <a:pt x="788670" y="2194560"/>
                  </a:moveTo>
                  <a:lnTo>
                    <a:pt x="788670" y="2156460"/>
                  </a:lnTo>
                  <a:lnTo>
                    <a:pt x="636270" y="2156460"/>
                  </a:lnTo>
                  <a:lnTo>
                    <a:pt x="636270" y="2194560"/>
                  </a:lnTo>
                  <a:lnTo>
                    <a:pt x="788670" y="2194560"/>
                  </a:lnTo>
                  <a:close/>
                </a:path>
                <a:path w="2799715" h="2194560">
                  <a:moveTo>
                    <a:pt x="521970" y="2194560"/>
                  </a:moveTo>
                  <a:lnTo>
                    <a:pt x="521970" y="2156460"/>
                  </a:lnTo>
                  <a:lnTo>
                    <a:pt x="369570" y="2156460"/>
                  </a:lnTo>
                  <a:lnTo>
                    <a:pt x="369570" y="2194560"/>
                  </a:lnTo>
                  <a:lnTo>
                    <a:pt x="521970" y="2194560"/>
                  </a:lnTo>
                  <a:close/>
                </a:path>
                <a:path w="2799715" h="2194560">
                  <a:moveTo>
                    <a:pt x="255270" y="2194560"/>
                  </a:moveTo>
                  <a:lnTo>
                    <a:pt x="255270" y="2156460"/>
                  </a:lnTo>
                  <a:lnTo>
                    <a:pt x="102870" y="2156460"/>
                  </a:lnTo>
                  <a:lnTo>
                    <a:pt x="102870" y="2194560"/>
                  </a:lnTo>
                  <a:lnTo>
                    <a:pt x="255270" y="2194560"/>
                  </a:lnTo>
                  <a:close/>
                </a:path>
              </a:pathLst>
            </a:custGeom>
            <a:solidFill>
              <a:srgbClr val="DCDCDC"/>
            </a:solidFill>
          </p:spPr>
          <p:txBody>
            <a:bodyPr wrap="square" lIns="0" tIns="0" rIns="0" bIns="0" rtlCol="0"/>
            <a:lstStyle/>
            <a:p>
              <a:endParaRPr>
                <a:solidFill>
                  <a:prstClr val="black"/>
                </a:solidFill>
                <a:latin typeface="Calibri" panose="020F0502020204030204"/>
              </a:endParaRPr>
            </a:p>
          </p:txBody>
        </p:sp>
        <p:sp>
          <p:nvSpPr>
            <p:cNvPr id="111" name="object 107"/>
            <p:cNvSpPr/>
            <p:nvPr/>
          </p:nvSpPr>
          <p:spPr>
            <a:xfrm>
              <a:off x="5311902" y="2631185"/>
              <a:ext cx="311785" cy="730885"/>
            </a:xfrm>
            <a:custGeom>
              <a:avLst/>
              <a:gdLst/>
              <a:ahLst/>
              <a:cxnLst/>
              <a:rect l="l" t="t" r="r" b="b"/>
              <a:pathLst>
                <a:path w="311785" h="730885">
                  <a:moveTo>
                    <a:pt x="311658" y="227838"/>
                  </a:moveTo>
                  <a:lnTo>
                    <a:pt x="309372" y="222504"/>
                  </a:lnTo>
                  <a:lnTo>
                    <a:pt x="304800" y="218694"/>
                  </a:lnTo>
                  <a:lnTo>
                    <a:pt x="273558" y="192963"/>
                  </a:lnTo>
                  <a:lnTo>
                    <a:pt x="273558" y="242176"/>
                  </a:lnTo>
                  <a:lnTo>
                    <a:pt x="273558" y="411619"/>
                  </a:lnTo>
                  <a:lnTo>
                    <a:pt x="158267" y="505828"/>
                  </a:lnTo>
                  <a:lnTo>
                    <a:pt x="38100" y="414959"/>
                  </a:lnTo>
                  <a:lnTo>
                    <a:pt x="38100" y="247459"/>
                  </a:lnTo>
                  <a:lnTo>
                    <a:pt x="136398" y="173736"/>
                  </a:lnTo>
                  <a:lnTo>
                    <a:pt x="144780" y="167449"/>
                  </a:lnTo>
                  <a:lnTo>
                    <a:pt x="164350" y="152768"/>
                  </a:lnTo>
                  <a:lnTo>
                    <a:pt x="183642" y="168554"/>
                  </a:lnTo>
                  <a:lnTo>
                    <a:pt x="190500" y="174180"/>
                  </a:lnTo>
                  <a:lnTo>
                    <a:pt x="273558" y="242176"/>
                  </a:lnTo>
                  <a:lnTo>
                    <a:pt x="273558" y="192963"/>
                  </a:lnTo>
                  <a:lnTo>
                    <a:pt x="190500" y="124523"/>
                  </a:lnTo>
                  <a:lnTo>
                    <a:pt x="190500" y="0"/>
                  </a:lnTo>
                  <a:lnTo>
                    <a:pt x="174498" y="0"/>
                  </a:lnTo>
                  <a:lnTo>
                    <a:pt x="152400" y="0"/>
                  </a:lnTo>
                  <a:lnTo>
                    <a:pt x="136398" y="0"/>
                  </a:lnTo>
                  <a:lnTo>
                    <a:pt x="136398" y="126644"/>
                  </a:lnTo>
                  <a:lnTo>
                    <a:pt x="7620" y="222504"/>
                  </a:lnTo>
                  <a:lnTo>
                    <a:pt x="2286" y="226314"/>
                  </a:lnTo>
                  <a:lnTo>
                    <a:pt x="0" y="232410"/>
                  </a:lnTo>
                  <a:lnTo>
                    <a:pt x="0" y="430530"/>
                  </a:lnTo>
                  <a:lnTo>
                    <a:pt x="2286" y="435864"/>
                  </a:lnTo>
                  <a:lnTo>
                    <a:pt x="6858" y="439674"/>
                  </a:lnTo>
                  <a:lnTo>
                    <a:pt x="29718" y="456882"/>
                  </a:lnTo>
                  <a:lnTo>
                    <a:pt x="30480" y="457454"/>
                  </a:lnTo>
                  <a:lnTo>
                    <a:pt x="38100" y="463181"/>
                  </a:lnTo>
                  <a:lnTo>
                    <a:pt x="132588" y="534289"/>
                  </a:lnTo>
                  <a:lnTo>
                    <a:pt x="132588" y="721614"/>
                  </a:lnTo>
                  <a:lnTo>
                    <a:pt x="156210" y="721614"/>
                  </a:lnTo>
                  <a:lnTo>
                    <a:pt x="156210" y="730758"/>
                  </a:lnTo>
                  <a:lnTo>
                    <a:pt x="163830" y="730758"/>
                  </a:lnTo>
                  <a:lnTo>
                    <a:pt x="194310" y="730758"/>
                  </a:lnTo>
                  <a:lnTo>
                    <a:pt x="194310" y="536448"/>
                  </a:lnTo>
                  <a:lnTo>
                    <a:pt x="192024" y="531114"/>
                  </a:lnTo>
                  <a:lnTo>
                    <a:pt x="189344" y="529209"/>
                  </a:lnTo>
                  <a:lnTo>
                    <a:pt x="273558" y="460019"/>
                  </a:lnTo>
                  <a:lnTo>
                    <a:pt x="281178" y="453758"/>
                  </a:lnTo>
                  <a:lnTo>
                    <a:pt x="304800" y="434340"/>
                  </a:lnTo>
                  <a:lnTo>
                    <a:pt x="309372" y="431292"/>
                  </a:lnTo>
                  <a:lnTo>
                    <a:pt x="311658" y="425196"/>
                  </a:lnTo>
                  <a:lnTo>
                    <a:pt x="311658" y="227838"/>
                  </a:lnTo>
                  <a:close/>
                </a:path>
              </a:pathLst>
            </a:custGeom>
            <a:solidFill>
              <a:srgbClr val="00AF4F"/>
            </a:solidFill>
          </p:spPr>
          <p:txBody>
            <a:bodyPr wrap="square" lIns="0" tIns="0" rIns="0" bIns="0" rtlCol="0"/>
            <a:lstStyle/>
            <a:p>
              <a:endParaRPr>
                <a:solidFill>
                  <a:prstClr val="black"/>
                </a:solidFill>
                <a:latin typeface="Calibri" panose="020F0502020204030204"/>
              </a:endParaRPr>
            </a:p>
          </p:txBody>
        </p:sp>
      </p:grpSp>
      <p:sp>
        <p:nvSpPr>
          <p:cNvPr id="112" name="object 108"/>
          <p:cNvSpPr txBox="1"/>
          <p:nvPr/>
        </p:nvSpPr>
        <p:spPr>
          <a:xfrm>
            <a:off x="5679427" y="2178819"/>
            <a:ext cx="1692275" cy="2258695"/>
          </a:xfrm>
          <a:prstGeom prst="rect">
            <a:avLst/>
          </a:prstGeom>
        </p:spPr>
        <p:txBody>
          <a:bodyPr vert="horz" wrap="square" lIns="0" tIns="12065" rIns="0" bIns="0" rtlCol="0">
            <a:spAutoFit/>
          </a:bodyPr>
          <a:lstStyle/>
          <a:p>
            <a:pPr marL="127635">
              <a:spcBef>
                <a:spcPts val="95"/>
              </a:spcBef>
            </a:pPr>
            <a:r>
              <a:rPr sz="2000" spc="-10" dirty="0">
                <a:solidFill>
                  <a:prstClr val="black"/>
                </a:solidFill>
                <a:latin typeface="Verdana"/>
                <a:cs typeface="Verdana"/>
              </a:rPr>
              <a:t>Isolator</a:t>
            </a:r>
            <a:endParaRPr sz="2000" dirty="0">
              <a:solidFill>
                <a:prstClr val="black"/>
              </a:solidFill>
              <a:latin typeface="Verdana"/>
              <a:cs typeface="Verdana"/>
            </a:endParaRPr>
          </a:p>
          <a:p>
            <a:endParaRPr sz="1850" dirty="0">
              <a:solidFill>
                <a:prstClr val="black"/>
              </a:solidFill>
              <a:latin typeface="Verdana"/>
              <a:cs typeface="Verdana"/>
            </a:endParaRPr>
          </a:p>
          <a:p>
            <a:pPr marL="12700">
              <a:spcBef>
                <a:spcPts val="5"/>
              </a:spcBef>
              <a:tabLst>
                <a:tab pos="1228090" algn="l"/>
              </a:tabLst>
            </a:pPr>
            <a:r>
              <a:rPr sz="2000" spc="-5" dirty="0">
                <a:solidFill>
                  <a:prstClr val="black"/>
                </a:solidFill>
                <a:latin typeface="Verdana"/>
                <a:cs typeface="Verdana"/>
              </a:rPr>
              <a:t>Mod.	</a:t>
            </a:r>
            <a:r>
              <a:rPr sz="2000" spc="-10" dirty="0">
                <a:solidFill>
                  <a:prstClr val="black"/>
                </a:solidFill>
                <a:latin typeface="Verdana"/>
                <a:cs typeface="Verdana"/>
              </a:rPr>
              <a:t>PD</a:t>
            </a:r>
            <a:endParaRPr sz="2000" dirty="0">
              <a:solidFill>
                <a:prstClr val="black"/>
              </a:solidFill>
              <a:latin typeface="Verdana"/>
              <a:cs typeface="Verdana"/>
            </a:endParaRPr>
          </a:p>
          <a:p>
            <a:pPr>
              <a:spcBef>
                <a:spcPts val="45"/>
              </a:spcBef>
            </a:pPr>
            <a:endParaRPr sz="2950" dirty="0">
              <a:solidFill>
                <a:prstClr val="black"/>
              </a:solidFill>
              <a:latin typeface="Verdana"/>
              <a:cs typeface="Verdana"/>
            </a:endParaRPr>
          </a:p>
          <a:p>
            <a:pPr marL="330200" marR="5080" indent="716915">
              <a:lnSpc>
                <a:spcPct val="143800"/>
              </a:lnSpc>
              <a:spcBef>
                <a:spcPts val="5"/>
              </a:spcBef>
            </a:pPr>
            <a:r>
              <a:rPr sz="2000" spc="-10" dirty="0">
                <a:solidFill>
                  <a:prstClr val="black"/>
                </a:solidFill>
                <a:latin typeface="Verdana"/>
                <a:cs typeface="Verdana"/>
              </a:rPr>
              <a:t>Fiber  Optics</a:t>
            </a:r>
            <a:endParaRPr sz="2000" dirty="0">
              <a:solidFill>
                <a:prstClr val="black"/>
              </a:solidFill>
              <a:latin typeface="Verdana"/>
              <a:cs typeface="Verdana"/>
            </a:endParaRPr>
          </a:p>
        </p:txBody>
      </p:sp>
      <p:grpSp>
        <p:nvGrpSpPr>
          <p:cNvPr id="113" name="object 109"/>
          <p:cNvGrpSpPr/>
          <p:nvPr/>
        </p:nvGrpSpPr>
        <p:grpSpPr>
          <a:xfrm>
            <a:off x="4741164" y="2512314"/>
            <a:ext cx="2708275" cy="2114550"/>
            <a:chOff x="4741164" y="2512314"/>
            <a:chExt cx="2708275" cy="2114550"/>
          </a:xfrm>
        </p:grpSpPr>
        <p:pic>
          <p:nvPicPr>
            <p:cNvPr id="114" name="object 110"/>
            <p:cNvPicPr/>
            <p:nvPr/>
          </p:nvPicPr>
          <p:blipFill>
            <a:blip r:embed="rId5" cstate="print"/>
            <a:stretch>
              <a:fillRect/>
            </a:stretch>
          </p:blipFill>
          <p:spPr>
            <a:xfrm>
              <a:off x="7331964" y="2750820"/>
              <a:ext cx="108966" cy="294893"/>
            </a:xfrm>
            <a:prstGeom prst="rect">
              <a:avLst/>
            </a:prstGeom>
          </p:spPr>
        </p:pic>
        <p:sp>
          <p:nvSpPr>
            <p:cNvPr id="115" name="object 111"/>
            <p:cNvSpPr/>
            <p:nvPr/>
          </p:nvSpPr>
          <p:spPr>
            <a:xfrm>
              <a:off x="7328154" y="2744724"/>
              <a:ext cx="121285" cy="307340"/>
            </a:xfrm>
            <a:custGeom>
              <a:avLst/>
              <a:gdLst/>
              <a:ahLst/>
              <a:cxnLst/>
              <a:rect l="l" t="t" r="r" b="b"/>
              <a:pathLst>
                <a:path w="121284" h="307339">
                  <a:moveTo>
                    <a:pt x="121157" y="307085"/>
                  </a:moveTo>
                  <a:lnTo>
                    <a:pt x="121157" y="0"/>
                  </a:lnTo>
                  <a:lnTo>
                    <a:pt x="0" y="0"/>
                  </a:lnTo>
                  <a:lnTo>
                    <a:pt x="0" y="307085"/>
                  </a:lnTo>
                  <a:lnTo>
                    <a:pt x="6096" y="307085"/>
                  </a:lnTo>
                  <a:lnTo>
                    <a:pt x="6096" y="12191"/>
                  </a:lnTo>
                  <a:lnTo>
                    <a:pt x="12192" y="6095"/>
                  </a:lnTo>
                  <a:lnTo>
                    <a:pt x="12192" y="12191"/>
                  </a:lnTo>
                  <a:lnTo>
                    <a:pt x="108203" y="12191"/>
                  </a:lnTo>
                  <a:lnTo>
                    <a:pt x="108203" y="6095"/>
                  </a:lnTo>
                  <a:lnTo>
                    <a:pt x="115062" y="12191"/>
                  </a:lnTo>
                  <a:lnTo>
                    <a:pt x="115062" y="307085"/>
                  </a:lnTo>
                  <a:lnTo>
                    <a:pt x="121157" y="307085"/>
                  </a:lnTo>
                  <a:close/>
                </a:path>
                <a:path w="121284" h="307339">
                  <a:moveTo>
                    <a:pt x="12192" y="12191"/>
                  </a:moveTo>
                  <a:lnTo>
                    <a:pt x="12192" y="6095"/>
                  </a:lnTo>
                  <a:lnTo>
                    <a:pt x="6096" y="12191"/>
                  </a:lnTo>
                  <a:lnTo>
                    <a:pt x="12192" y="12191"/>
                  </a:lnTo>
                  <a:close/>
                </a:path>
                <a:path w="121284" h="307339">
                  <a:moveTo>
                    <a:pt x="12192" y="294893"/>
                  </a:moveTo>
                  <a:lnTo>
                    <a:pt x="12192" y="12191"/>
                  </a:lnTo>
                  <a:lnTo>
                    <a:pt x="6096" y="12191"/>
                  </a:lnTo>
                  <a:lnTo>
                    <a:pt x="6096" y="294893"/>
                  </a:lnTo>
                  <a:lnTo>
                    <a:pt x="12192" y="294893"/>
                  </a:lnTo>
                  <a:close/>
                </a:path>
                <a:path w="121284" h="307339">
                  <a:moveTo>
                    <a:pt x="115062" y="294893"/>
                  </a:moveTo>
                  <a:lnTo>
                    <a:pt x="6096" y="294893"/>
                  </a:lnTo>
                  <a:lnTo>
                    <a:pt x="12192" y="300989"/>
                  </a:lnTo>
                  <a:lnTo>
                    <a:pt x="12192" y="307085"/>
                  </a:lnTo>
                  <a:lnTo>
                    <a:pt x="108203" y="307085"/>
                  </a:lnTo>
                  <a:lnTo>
                    <a:pt x="108203" y="300989"/>
                  </a:lnTo>
                  <a:lnTo>
                    <a:pt x="115062" y="294893"/>
                  </a:lnTo>
                  <a:close/>
                </a:path>
                <a:path w="121284" h="307339">
                  <a:moveTo>
                    <a:pt x="12192" y="307085"/>
                  </a:moveTo>
                  <a:lnTo>
                    <a:pt x="12192" y="300989"/>
                  </a:lnTo>
                  <a:lnTo>
                    <a:pt x="6096" y="294893"/>
                  </a:lnTo>
                  <a:lnTo>
                    <a:pt x="6096" y="307085"/>
                  </a:lnTo>
                  <a:lnTo>
                    <a:pt x="12192" y="307085"/>
                  </a:lnTo>
                  <a:close/>
                </a:path>
                <a:path w="121284" h="307339">
                  <a:moveTo>
                    <a:pt x="115062" y="12191"/>
                  </a:moveTo>
                  <a:lnTo>
                    <a:pt x="108203" y="6095"/>
                  </a:lnTo>
                  <a:lnTo>
                    <a:pt x="108203" y="12191"/>
                  </a:lnTo>
                  <a:lnTo>
                    <a:pt x="115062" y="12191"/>
                  </a:lnTo>
                  <a:close/>
                </a:path>
                <a:path w="121284" h="307339">
                  <a:moveTo>
                    <a:pt x="115062" y="294893"/>
                  </a:moveTo>
                  <a:lnTo>
                    <a:pt x="115062" y="12191"/>
                  </a:lnTo>
                  <a:lnTo>
                    <a:pt x="108203" y="12191"/>
                  </a:lnTo>
                  <a:lnTo>
                    <a:pt x="108203" y="294893"/>
                  </a:lnTo>
                  <a:lnTo>
                    <a:pt x="115062" y="294893"/>
                  </a:lnTo>
                  <a:close/>
                </a:path>
                <a:path w="121284" h="307339">
                  <a:moveTo>
                    <a:pt x="115062" y="307085"/>
                  </a:moveTo>
                  <a:lnTo>
                    <a:pt x="115062" y="294893"/>
                  </a:lnTo>
                  <a:lnTo>
                    <a:pt x="108203" y="300989"/>
                  </a:lnTo>
                  <a:lnTo>
                    <a:pt x="108203" y="307085"/>
                  </a:lnTo>
                  <a:lnTo>
                    <a:pt x="115062" y="307085"/>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pic>
          <p:nvPicPr>
            <p:cNvPr id="116" name="object 112"/>
            <p:cNvPicPr/>
            <p:nvPr/>
          </p:nvPicPr>
          <p:blipFill>
            <a:blip r:embed="rId6" cstate="print"/>
            <a:stretch>
              <a:fillRect/>
            </a:stretch>
          </p:blipFill>
          <p:spPr>
            <a:xfrm>
              <a:off x="7328154" y="3321558"/>
              <a:ext cx="115824" cy="131063"/>
            </a:xfrm>
            <a:prstGeom prst="rect">
              <a:avLst/>
            </a:prstGeom>
          </p:spPr>
        </p:pic>
        <p:pic>
          <p:nvPicPr>
            <p:cNvPr id="117" name="object 113"/>
            <p:cNvPicPr/>
            <p:nvPr/>
          </p:nvPicPr>
          <p:blipFill>
            <a:blip r:embed="rId7" cstate="print"/>
            <a:stretch>
              <a:fillRect/>
            </a:stretch>
          </p:blipFill>
          <p:spPr>
            <a:xfrm>
              <a:off x="5416296" y="3321558"/>
              <a:ext cx="115824" cy="131063"/>
            </a:xfrm>
            <a:prstGeom prst="rect">
              <a:avLst/>
            </a:prstGeom>
          </p:spPr>
        </p:pic>
        <p:pic>
          <p:nvPicPr>
            <p:cNvPr id="118" name="object 114"/>
            <p:cNvPicPr/>
            <p:nvPr/>
          </p:nvPicPr>
          <p:blipFill>
            <a:blip r:embed="rId8" cstate="print"/>
            <a:stretch>
              <a:fillRect/>
            </a:stretch>
          </p:blipFill>
          <p:spPr>
            <a:xfrm>
              <a:off x="5416296" y="2512314"/>
              <a:ext cx="115824" cy="131064"/>
            </a:xfrm>
            <a:prstGeom prst="rect">
              <a:avLst/>
            </a:prstGeom>
          </p:spPr>
        </p:pic>
        <p:sp>
          <p:nvSpPr>
            <p:cNvPr id="119" name="object 115"/>
            <p:cNvSpPr/>
            <p:nvPr/>
          </p:nvSpPr>
          <p:spPr>
            <a:xfrm>
              <a:off x="4741164" y="2649473"/>
              <a:ext cx="2569845" cy="1977389"/>
            </a:xfrm>
            <a:custGeom>
              <a:avLst/>
              <a:gdLst/>
              <a:ahLst/>
              <a:cxnLst/>
              <a:rect l="l" t="t" r="r" b="b"/>
              <a:pathLst>
                <a:path w="2569845" h="1977389">
                  <a:moveTo>
                    <a:pt x="2569464" y="762000"/>
                  </a:moveTo>
                  <a:lnTo>
                    <a:pt x="2484120" y="759714"/>
                  </a:lnTo>
                  <a:lnTo>
                    <a:pt x="2498547" y="790282"/>
                  </a:lnTo>
                  <a:lnTo>
                    <a:pt x="15265" y="1962124"/>
                  </a:lnTo>
                  <a:lnTo>
                    <a:pt x="603021" y="854494"/>
                  </a:lnTo>
                  <a:lnTo>
                    <a:pt x="608838" y="857592"/>
                  </a:lnTo>
                  <a:lnTo>
                    <a:pt x="632460" y="870204"/>
                  </a:lnTo>
                  <a:lnTo>
                    <a:pt x="634746" y="784860"/>
                  </a:lnTo>
                  <a:lnTo>
                    <a:pt x="565404" y="834390"/>
                  </a:lnTo>
                  <a:lnTo>
                    <a:pt x="594601" y="849998"/>
                  </a:lnTo>
                  <a:lnTo>
                    <a:pt x="25984" y="1921560"/>
                  </a:lnTo>
                  <a:lnTo>
                    <a:pt x="615670" y="73710"/>
                  </a:lnTo>
                  <a:lnTo>
                    <a:pt x="619506" y="74917"/>
                  </a:lnTo>
                  <a:lnTo>
                    <a:pt x="647700" y="83820"/>
                  </a:lnTo>
                  <a:lnTo>
                    <a:pt x="634746" y="0"/>
                  </a:lnTo>
                  <a:lnTo>
                    <a:pt x="575310" y="60960"/>
                  </a:lnTo>
                  <a:lnTo>
                    <a:pt x="606488" y="70815"/>
                  </a:lnTo>
                  <a:lnTo>
                    <a:pt x="609" y="1969389"/>
                  </a:lnTo>
                  <a:lnTo>
                    <a:pt x="0" y="1970532"/>
                  </a:lnTo>
                  <a:lnTo>
                    <a:pt x="203" y="1970646"/>
                  </a:lnTo>
                  <a:lnTo>
                    <a:pt x="0" y="1971294"/>
                  </a:lnTo>
                  <a:lnTo>
                    <a:pt x="3581" y="1972500"/>
                  </a:lnTo>
                  <a:lnTo>
                    <a:pt x="4191" y="1972843"/>
                  </a:lnTo>
                  <a:lnTo>
                    <a:pt x="6096" y="1977390"/>
                  </a:lnTo>
                  <a:lnTo>
                    <a:pt x="2502484" y="798601"/>
                  </a:lnTo>
                  <a:lnTo>
                    <a:pt x="2513838" y="822617"/>
                  </a:lnTo>
                  <a:lnTo>
                    <a:pt x="2516886" y="829056"/>
                  </a:lnTo>
                  <a:lnTo>
                    <a:pt x="2569464" y="762000"/>
                  </a:lnTo>
                  <a:close/>
                </a:path>
              </a:pathLst>
            </a:custGeom>
            <a:solidFill>
              <a:srgbClr val="585858"/>
            </a:solidFill>
          </p:spPr>
          <p:txBody>
            <a:bodyPr wrap="square" lIns="0" tIns="0" rIns="0" bIns="0" rtlCol="0"/>
            <a:lstStyle/>
            <a:p>
              <a:endParaRPr>
                <a:solidFill>
                  <a:prstClr val="black"/>
                </a:solidFill>
                <a:latin typeface="Calibri" panose="020F0502020204030204"/>
              </a:endParaRPr>
            </a:p>
          </p:txBody>
        </p:sp>
      </p:grpSp>
      <p:sp>
        <p:nvSpPr>
          <p:cNvPr id="120" name="object 116"/>
          <p:cNvSpPr txBox="1"/>
          <p:nvPr/>
        </p:nvSpPr>
        <p:spPr>
          <a:xfrm>
            <a:off x="3564890" y="4601209"/>
            <a:ext cx="2416175" cy="330200"/>
          </a:xfrm>
          <a:prstGeom prst="rect">
            <a:avLst/>
          </a:prstGeom>
        </p:spPr>
        <p:txBody>
          <a:bodyPr vert="horz" wrap="square" lIns="0" tIns="12065" rIns="0" bIns="0" rtlCol="0">
            <a:spAutoFit/>
          </a:bodyPr>
          <a:lstStyle/>
          <a:p>
            <a:pPr marL="12700">
              <a:spcBef>
                <a:spcPts val="95"/>
              </a:spcBef>
            </a:pPr>
            <a:r>
              <a:rPr sz="2000" spc="-10" dirty="0">
                <a:solidFill>
                  <a:prstClr val="black"/>
                </a:solidFill>
                <a:latin typeface="Verdana"/>
                <a:cs typeface="Verdana"/>
              </a:rPr>
              <a:t>Coupler/Connector</a:t>
            </a:r>
            <a:endParaRPr sz="2000">
              <a:solidFill>
                <a:prstClr val="black"/>
              </a:solidFill>
              <a:latin typeface="Verdana"/>
              <a:cs typeface="Verdana"/>
            </a:endParaRPr>
          </a:p>
        </p:txBody>
      </p:sp>
      <p:grpSp>
        <p:nvGrpSpPr>
          <p:cNvPr id="121" name="object 117"/>
          <p:cNvGrpSpPr/>
          <p:nvPr/>
        </p:nvGrpSpPr>
        <p:grpSpPr>
          <a:xfrm>
            <a:off x="279654" y="1766316"/>
            <a:ext cx="5377815" cy="4284345"/>
            <a:chOff x="279654" y="1766316"/>
            <a:chExt cx="5377815" cy="4284345"/>
          </a:xfrm>
        </p:grpSpPr>
        <p:sp>
          <p:nvSpPr>
            <p:cNvPr id="122" name="object 118"/>
            <p:cNvSpPr/>
            <p:nvPr/>
          </p:nvSpPr>
          <p:spPr>
            <a:xfrm>
              <a:off x="5266182" y="2853690"/>
              <a:ext cx="38100" cy="215265"/>
            </a:xfrm>
            <a:custGeom>
              <a:avLst/>
              <a:gdLst/>
              <a:ahLst/>
              <a:cxnLst/>
              <a:rect l="l" t="t" r="r" b="b"/>
              <a:pathLst>
                <a:path w="38100" h="215264">
                  <a:moveTo>
                    <a:pt x="38100" y="214884"/>
                  </a:moveTo>
                  <a:lnTo>
                    <a:pt x="38100" y="0"/>
                  </a:lnTo>
                  <a:lnTo>
                    <a:pt x="0" y="0"/>
                  </a:lnTo>
                  <a:lnTo>
                    <a:pt x="0" y="214884"/>
                  </a:lnTo>
                  <a:lnTo>
                    <a:pt x="38100" y="214884"/>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pic>
          <p:nvPicPr>
            <p:cNvPr id="123" name="object 119"/>
            <p:cNvPicPr/>
            <p:nvPr/>
          </p:nvPicPr>
          <p:blipFill>
            <a:blip r:embed="rId9" cstate="print"/>
            <a:stretch>
              <a:fillRect/>
            </a:stretch>
          </p:blipFill>
          <p:spPr>
            <a:xfrm>
              <a:off x="5261609" y="1766316"/>
              <a:ext cx="395477" cy="390906"/>
            </a:xfrm>
            <a:prstGeom prst="rect">
              <a:avLst/>
            </a:prstGeom>
          </p:spPr>
        </p:pic>
        <p:pic>
          <p:nvPicPr>
            <p:cNvPr id="124" name="object 120"/>
            <p:cNvPicPr/>
            <p:nvPr/>
          </p:nvPicPr>
          <p:blipFill>
            <a:blip r:embed="rId10" cstate="print"/>
            <a:stretch>
              <a:fillRect/>
            </a:stretch>
          </p:blipFill>
          <p:spPr>
            <a:xfrm>
              <a:off x="279654" y="4526280"/>
              <a:ext cx="2913921" cy="1524000"/>
            </a:xfrm>
            <a:prstGeom prst="rect">
              <a:avLst/>
            </a:prstGeom>
          </p:spPr>
        </p:pic>
      </p:grpSp>
      <p:sp>
        <p:nvSpPr>
          <p:cNvPr id="125" name="object 121"/>
          <p:cNvSpPr txBox="1"/>
          <p:nvPr/>
        </p:nvSpPr>
        <p:spPr>
          <a:xfrm>
            <a:off x="483869" y="4187190"/>
            <a:ext cx="977265" cy="1076960"/>
          </a:xfrm>
          <a:prstGeom prst="rect">
            <a:avLst/>
          </a:prstGeom>
          <a:solidFill>
            <a:srgbClr val="D8D8D8"/>
          </a:solidFill>
        </p:spPr>
        <p:txBody>
          <a:bodyPr vert="horz" wrap="square" lIns="0" tIns="44450" rIns="0" bIns="0" rtlCol="0">
            <a:spAutoFit/>
          </a:bodyPr>
          <a:lstStyle/>
          <a:p>
            <a:pPr marL="92075" marR="142875">
              <a:spcBef>
                <a:spcPts val="350"/>
              </a:spcBef>
            </a:pPr>
            <a:r>
              <a:rPr sz="1600" spc="-5" dirty="0">
                <a:solidFill>
                  <a:prstClr val="black"/>
                </a:solidFill>
                <a:latin typeface="Verdana"/>
                <a:cs typeface="Verdana"/>
              </a:rPr>
              <a:t>E/O </a:t>
            </a:r>
            <a:r>
              <a:rPr sz="1600" dirty="0">
                <a:solidFill>
                  <a:prstClr val="black"/>
                </a:solidFill>
                <a:latin typeface="Verdana"/>
                <a:cs typeface="Verdana"/>
              </a:rPr>
              <a:t>TX </a:t>
            </a:r>
            <a:r>
              <a:rPr sz="1600" spc="-550" dirty="0">
                <a:solidFill>
                  <a:prstClr val="black"/>
                </a:solidFill>
                <a:latin typeface="Verdana"/>
                <a:cs typeface="Verdana"/>
              </a:rPr>
              <a:t> </a:t>
            </a:r>
            <a:r>
              <a:rPr sz="1600" dirty="0">
                <a:solidFill>
                  <a:prstClr val="black"/>
                </a:solidFill>
                <a:latin typeface="Verdana"/>
                <a:cs typeface="Verdana"/>
              </a:rPr>
              <a:t>O/E</a:t>
            </a:r>
            <a:r>
              <a:rPr sz="1600" spc="-95" dirty="0">
                <a:solidFill>
                  <a:prstClr val="black"/>
                </a:solidFill>
                <a:latin typeface="Verdana"/>
                <a:cs typeface="Verdana"/>
              </a:rPr>
              <a:t> </a:t>
            </a:r>
            <a:r>
              <a:rPr sz="1600" dirty="0">
                <a:solidFill>
                  <a:prstClr val="black"/>
                </a:solidFill>
                <a:latin typeface="Verdana"/>
                <a:cs typeface="Verdana"/>
              </a:rPr>
              <a:t>RX</a:t>
            </a:r>
            <a:endParaRPr sz="1600">
              <a:solidFill>
                <a:prstClr val="black"/>
              </a:solidFill>
              <a:latin typeface="Verdana"/>
              <a:cs typeface="Verdana"/>
            </a:endParaRPr>
          </a:p>
          <a:p>
            <a:pPr marL="92075" marR="93980"/>
            <a:r>
              <a:rPr sz="1600" dirty="0">
                <a:solidFill>
                  <a:prstClr val="black"/>
                </a:solidFill>
                <a:latin typeface="Verdana"/>
                <a:cs typeface="Verdana"/>
              </a:rPr>
              <a:t>Laser </a:t>
            </a:r>
            <a:r>
              <a:rPr sz="1600" spc="5" dirty="0">
                <a:solidFill>
                  <a:prstClr val="black"/>
                </a:solidFill>
                <a:latin typeface="Verdana"/>
                <a:cs typeface="Verdana"/>
              </a:rPr>
              <a:t> </a:t>
            </a:r>
            <a:r>
              <a:rPr sz="1600" spc="-5" dirty="0">
                <a:solidFill>
                  <a:prstClr val="black"/>
                </a:solidFill>
                <a:latin typeface="Verdana"/>
                <a:cs typeface="Verdana"/>
              </a:rPr>
              <a:t>Isolator</a:t>
            </a:r>
            <a:endParaRPr sz="1600">
              <a:solidFill>
                <a:prstClr val="black"/>
              </a:solidFill>
              <a:latin typeface="Verdana"/>
              <a:cs typeface="Verdana"/>
            </a:endParaRPr>
          </a:p>
        </p:txBody>
      </p:sp>
      <p:grpSp>
        <p:nvGrpSpPr>
          <p:cNvPr id="126" name="object 122"/>
          <p:cNvGrpSpPr/>
          <p:nvPr/>
        </p:nvGrpSpPr>
        <p:grpSpPr>
          <a:xfrm>
            <a:off x="1235963" y="1803654"/>
            <a:ext cx="8238490" cy="2908935"/>
            <a:chOff x="1235963" y="1803654"/>
            <a:chExt cx="8238490" cy="2908935"/>
          </a:xfrm>
        </p:grpSpPr>
        <p:sp>
          <p:nvSpPr>
            <p:cNvPr id="127" name="object 123"/>
            <p:cNvSpPr/>
            <p:nvPr/>
          </p:nvSpPr>
          <p:spPr>
            <a:xfrm>
              <a:off x="1482852" y="4416552"/>
              <a:ext cx="892810" cy="295910"/>
            </a:xfrm>
            <a:custGeom>
              <a:avLst/>
              <a:gdLst/>
              <a:ahLst/>
              <a:cxnLst/>
              <a:rect l="l" t="t" r="r" b="b"/>
              <a:pathLst>
                <a:path w="892810" h="295910">
                  <a:moveTo>
                    <a:pt x="131064" y="16001"/>
                  </a:moveTo>
                  <a:lnTo>
                    <a:pt x="123444" y="2285"/>
                  </a:lnTo>
                  <a:lnTo>
                    <a:pt x="114300" y="0"/>
                  </a:lnTo>
                  <a:lnTo>
                    <a:pt x="107442" y="3809"/>
                  </a:lnTo>
                  <a:lnTo>
                    <a:pt x="0" y="65531"/>
                  </a:lnTo>
                  <a:lnTo>
                    <a:pt x="28194" y="82247"/>
                  </a:lnTo>
                  <a:lnTo>
                    <a:pt x="28194" y="80009"/>
                  </a:lnTo>
                  <a:lnTo>
                    <a:pt x="28956" y="51053"/>
                  </a:lnTo>
                  <a:lnTo>
                    <a:pt x="81738" y="51713"/>
                  </a:lnTo>
                  <a:lnTo>
                    <a:pt x="121920" y="28955"/>
                  </a:lnTo>
                  <a:lnTo>
                    <a:pt x="128778" y="25145"/>
                  </a:lnTo>
                  <a:lnTo>
                    <a:pt x="131064" y="16001"/>
                  </a:lnTo>
                  <a:close/>
                </a:path>
                <a:path w="892810" h="295910">
                  <a:moveTo>
                    <a:pt x="81738" y="51713"/>
                  </a:moveTo>
                  <a:lnTo>
                    <a:pt x="28956" y="51053"/>
                  </a:lnTo>
                  <a:lnTo>
                    <a:pt x="28194" y="80009"/>
                  </a:lnTo>
                  <a:lnTo>
                    <a:pt x="35814" y="80104"/>
                  </a:lnTo>
                  <a:lnTo>
                    <a:pt x="35814" y="53339"/>
                  </a:lnTo>
                  <a:lnTo>
                    <a:pt x="56751" y="65865"/>
                  </a:lnTo>
                  <a:lnTo>
                    <a:pt x="81738" y="51713"/>
                  </a:lnTo>
                  <a:close/>
                </a:path>
                <a:path w="892810" h="295910">
                  <a:moveTo>
                    <a:pt x="130302" y="116585"/>
                  </a:moveTo>
                  <a:lnTo>
                    <a:pt x="128016" y="108203"/>
                  </a:lnTo>
                  <a:lnTo>
                    <a:pt x="121158" y="104393"/>
                  </a:lnTo>
                  <a:lnTo>
                    <a:pt x="81496" y="80668"/>
                  </a:lnTo>
                  <a:lnTo>
                    <a:pt x="28194" y="80009"/>
                  </a:lnTo>
                  <a:lnTo>
                    <a:pt x="28194" y="82247"/>
                  </a:lnTo>
                  <a:lnTo>
                    <a:pt x="106680" y="128777"/>
                  </a:lnTo>
                  <a:lnTo>
                    <a:pt x="113538" y="132587"/>
                  </a:lnTo>
                  <a:lnTo>
                    <a:pt x="121920" y="130301"/>
                  </a:lnTo>
                  <a:lnTo>
                    <a:pt x="125730" y="123443"/>
                  </a:lnTo>
                  <a:lnTo>
                    <a:pt x="130302" y="116585"/>
                  </a:lnTo>
                  <a:close/>
                </a:path>
                <a:path w="892810" h="295910">
                  <a:moveTo>
                    <a:pt x="56751" y="65865"/>
                  </a:moveTo>
                  <a:lnTo>
                    <a:pt x="35814" y="53339"/>
                  </a:lnTo>
                  <a:lnTo>
                    <a:pt x="35814" y="77723"/>
                  </a:lnTo>
                  <a:lnTo>
                    <a:pt x="56751" y="65865"/>
                  </a:lnTo>
                  <a:close/>
                </a:path>
                <a:path w="892810" h="295910">
                  <a:moveTo>
                    <a:pt x="81496" y="80668"/>
                  </a:moveTo>
                  <a:lnTo>
                    <a:pt x="56751" y="65865"/>
                  </a:lnTo>
                  <a:lnTo>
                    <a:pt x="35814" y="77723"/>
                  </a:lnTo>
                  <a:lnTo>
                    <a:pt x="35814" y="80104"/>
                  </a:lnTo>
                  <a:lnTo>
                    <a:pt x="81496" y="80668"/>
                  </a:lnTo>
                  <a:close/>
                </a:path>
                <a:path w="892810" h="295910">
                  <a:moveTo>
                    <a:pt x="892302" y="240029"/>
                  </a:moveTo>
                  <a:lnTo>
                    <a:pt x="892302" y="237743"/>
                  </a:lnTo>
                  <a:lnTo>
                    <a:pt x="890778" y="228599"/>
                  </a:lnTo>
                  <a:lnTo>
                    <a:pt x="890778" y="226313"/>
                  </a:lnTo>
                  <a:lnTo>
                    <a:pt x="890016" y="224789"/>
                  </a:lnTo>
                  <a:lnTo>
                    <a:pt x="886968" y="216407"/>
                  </a:lnTo>
                  <a:lnTo>
                    <a:pt x="886206" y="215645"/>
                  </a:lnTo>
                  <a:lnTo>
                    <a:pt x="886206" y="214883"/>
                  </a:lnTo>
                  <a:lnTo>
                    <a:pt x="885444" y="213359"/>
                  </a:lnTo>
                  <a:lnTo>
                    <a:pt x="880110" y="204977"/>
                  </a:lnTo>
                  <a:lnTo>
                    <a:pt x="878586" y="203453"/>
                  </a:lnTo>
                  <a:lnTo>
                    <a:pt x="869442" y="193547"/>
                  </a:lnTo>
                  <a:lnTo>
                    <a:pt x="831342" y="166877"/>
                  </a:lnTo>
                  <a:lnTo>
                    <a:pt x="796290" y="150113"/>
                  </a:lnTo>
                  <a:lnTo>
                    <a:pt x="731520" y="128015"/>
                  </a:lnTo>
                  <a:lnTo>
                    <a:pt x="680466" y="114299"/>
                  </a:lnTo>
                  <a:lnTo>
                    <a:pt x="623316" y="102107"/>
                  </a:lnTo>
                  <a:lnTo>
                    <a:pt x="560832" y="90677"/>
                  </a:lnTo>
                  <a:lnTo>
                    <a:pt x="493014" y="80771"/>
                  </a:lnTo>
                  <a:lnTo>
                    <a:pt x="419862" y="72389"/>
                  </a:lnTo>
                  <a:lnTo>
                    <a:pt x="381762" y="67817"/>
                  </a:lnTo>
                  <a:lnTo>
                    <a:pt x="342900" y="64769"/>
                  </a:lnTo>
                  <a:lnTo>
                    <a:pt x="303276" y="61721"/>
                  </a:lnTo>
                  <a:lnTo>
                    <a:pt x="262128" y="58673"/>
                  </a:lnTo>
                  <a:lnTo>
                    <a:pt x="220218" y="56387"/>
                  </a:lnTo>
                  <a:lnTo>
                    <a:pt x="176784" y="54837"/>
                  </a:lnTo>
                  <a:lnTo>
                    <a:pt x="89916" y="51815"/>
                  </a:lnTo>
                  <a:lnTo>
                    <a:pt x="81738" y="51713"/>
                  </a:lnTo>
                  <a:lnTo>
                    <a:pt x="56751" y="65865"/>
                  </a:lnTo>
                  <a:lnTo>
                    <a:pt x="81496" y="80668"/>
                  </a:lnTo>
                  <a:lnTo>
                    <a:pt x="89916" y="80771"/>
                  </a:lnTo>
                  <a:lnTo>
                    <a:pt x="176784" y="83057"/>
                  </a:lnTo>
                  <a:lnTo>
                    <a:pt x="262128" y="87716"/>
                  </a:lnTo>
                  <a:lnTo>
                    <a:pt x="300990" y="89915"/>
                  </a:lnTo>
                  <a:lnTo>
                    <a:pt x="340614" y="92963"/>
                  </a:lnTo>
                  <a:lnTo>
                    <a:pt x="379476" y="96773"/>
                  </a:lnTo>
                  <a:lnTo>
                    <a:pt x="453390" y="104393"/>
                  </a:lnTo>
                  <a:lnTo>
                    <a:pt x="523494" y="114299"/>
                  </a:lnTo>
                  <a:lnTo>
                    <a:pt x="556260" y="118871"/>
                  </a:lnTo>
                  <a:lnTo>
                    <a:pt x="617982" y="130301"/>
                  </a:lnTo>
                  <a:lnTo>
                    <a:pt x="674370" y="142493"/>
                  </a:lnTo>
                  <a:lnTo>
                    <a:pt x="700278" y="149351"/>
                  </a:lnTo>
                  <a:lnTo>
                    <a:pt x="723900" y="155447"/>
                  </a:lnTo>
                  <a:lnTo>
                    <a:pt x="746760" y="162305"/>
                  </a:lnTo>
                  <a:lnTo>
                    <a:pt x="767334" y="169925"/>
                  </a:lnTo>
                  <a:lnTo>
                    <a:pt x="786384" y="176783"/>
                  </a:lnTo>
                  <a:lnTo>
                    <a:pt x="831342" y="199643"/>
                  </a:lnTo>
                  <a:lnTo>
                    <a:pt x="855726" y="220810"/>
                  </a:lnTo>
                  <a:lnTo>
                    <a:pt x="855726" y="220217"/>
                  </a:lnTo>
                  <a:lnTo>
                    <a:pt x="857250" y="222503"/>
                  </a:lnTo>
                  <a:lnTo>
                    <a:pt x="857250" y="222830"/>
                  </a:lnTo>
                  <a:lnTo>
                    <a:pt x="860297" y="228055"/>
                  </a:lnTo>
                  <a:lnTo>
                    <a:pt x="860297" y="226313"/>
                  </a:lnTo>
                  <a:lnTo>
                    <a:pt x="862584" y="233171"/>
                  </a:lnTo>
                  <a:lnTo>
                    <a:pt x="862584" y="232409"/>
                  </a:lnTo>
                  <a:lnTo>
                    <a:pt x="863346" y="235457"/>
                  </a:lnTo>
                  <a:lnTo>
                    <a:pt x="863346" y="290114"/>
                  </a:lnTo>
                  <a:lnTo>
                    <a:pt x="864108" y="289559"/>
                  </a:lnTo>
                  <a:lnTo>
                    <a:pt x="889254" y="256031"/>
                  </a:lnTo>
                  <a:lnTo>
                    <a:pt x="889254" y="255269"/>
                  </a:lnTo>
                  <a:lnTo>
                    <a:pt x="890016" y="254507"/>
                  </a:lnTo>
                  <a:lnTo>
                    <a:pt x="891540" y="248411"/>
                  </a:lnTo>
                  <a:lnTo>
                    <a:pt x="891540" y="246125"/>
                  </a:lnTo>
                  <a:lnTo>
                    <a:pt x="892302" y="240029"/>
                  </a:lnTo>
                  <a:close/>
                </a:path>
                <a:path w="892810" h="295910">
                  <a:moveTo>
                    <a:pt x="862126" y="246430"/>
                  </a:moveTo>
                  <a:lnTo>
                    <a:pt x="860297" y="250697"/>
                  </a:lnTo>
                  <a:lnTo>
                    <a:pt x="858012" y="255269"/>
                  </a:lnTo>
                  <a:lnTo>
                    <a:pt x="854202" y="259079"/>
                  </a:lnTo>
                  <a:lnTo>
                    <a:pt x="850392" y="263651"/>
                  </a:lnTo>
                  <a:lnTo>
                    <a:pt x="845058" y="268985"/>
                  </a:lnTo>
                  <a:lnTo>
                    <a:pt x="838200" y="273557"/>
                  </a:lnTo>
                  <a:lnTo>
                    <a:pt x="855726" y="295655"/>
                  </a:lnTo>
                  <a:lnTo>
                    <a:pt x="861822" y="291222"/>
                  </a:lnTo>
                  <a:lnTo>
                    <a:pt x="861822" y="247649"/>
                  </a:lnTo>
                  <a:lnTo>
                    <a:pt x="862126" y="246430"/>
                  </a:lnTo>
                  <a:close/>
                </a:path>
                <a:path w="892810" h="295910">
                  <a:moveTo>
                    <a:pt x="857250" y="222503"/>
                  </a:moveTo>
                  <a:lnTo>
                    <a:pt x="855726" y="220217"/>
                  </a:lnTo>
                  <a:lnTo>
                    <a:pt x="856708" y="221902"/>
                  </a:lnTo>
                  <a:lnTo>
                    <a:pt x="857250" y="222503"/>
                  </a:lnTo>
                  <a:close/>
                </a:path>
                <a:path w="892810" h="295910">
                  <a:moveTo>
                    <a:pt x="856708" y="221902"/>
                  </a:moveTo>
                  <a:lnTo>
                    <a:pt x="855726" y="220217"/>
                  </a:lnTo>
                  <a:lnTo>
                    <a:pt x="855726" y="220810"/>
                  </a:lnTo>
                  <a:lnTo>
                    <a:pt x="856708" y="221902"/>
                  </a:lnTo>
                  <a:close/>
                </a:path>
                <a:path w="892810" h="295910">
                  <a:moveTo>
                    <a:pt x="857250" y="222830"/>
                  </a:moveTo>
                  <a:lnTo>
                    <a:pt x="857250" y="222503"/>
                  </a:lnTo>
                  <a:lnTo>
                    <a:pt x="856708" y="221902"/>
                  </a:lnTo>
                  <a:lnTo>
                    <a:pt x="857250" y="222830"/>
                  </a:lnTo>
                  <a:close/>
                </a:path>
                <a:path w="892810" h="295910">
                  <a:moveTo>
                    <a:pt x="861060" y="229361"/>
                  </a:moveTo>
                  <a:lnTo>
                    <a:pt x="860297" y="226313"/>
                  </a:lnTo>
                  <a:lnTo>
                    <a:pt x="860297" y="228055"/>
                  </a:lnTo>
                  <a:lnTo>
                    <a:pt x="861060" y="229361"/>
                  </a:lnTo>
                  <a:close/>
                </a:path>
                <a:path w="892810" h="295910">
                  <a:moveTo>
                    <a:pt x="862584" y="245363"/>
                  </a:moveTo>
                  <a:lnTo>
                    <a:pt x="862126" y="246430"/>
                  </a:lnTo>
                  <a:lnTo>
                    <a:pt x="861822" y="247649"/>
                  </a:lnTo>
                  <a:lnTo>
                    <a:pt x="862584" y="245363"/>
                  </a:lnTo>
                  <a:close/>
                </a:path>
                <a:path w="892810" h="295910">
                  <a:moveTo>
                    <a:pt x="862584" y="290668"/>
                  </a:moveTo>
                  <a:lnTo>
                    <a:pt x="862584" y="245363"/>
                  </a:lnTo>
                  <a:lnTo>
                    <a:pt x="861822" y="247649"/>
                  </a:lnTo>
                  <a:lnTo>
                    <a:pt x="861822" y="291222"/>
                  </a:lnTo>
                  <a:lnTo>
                    <a:pt x="862584" y="290668"/>
                  </a:lnTo>
                  <a:close/>
                </a:path>
                <a:path w="892810" h="295910">
                  <a:moveTo>
                    <a:pt x="863346" y="290114"/>
                  </a:moveTo>
                  <a:lnTo>
                    <a:pt x="863346" y="241553"/>
                  </a:lnTo>
                  <a:lnTo>
                    <a:pt x="862126" y="246430"/>
                  </a:lnTo>
                  <a:lnTo>
                    <a:pt x="862584" y="245363"/>
                  </a:lnTo>
                  <a:lnTo>
                    <a:pt x="862584" y="290668"/>
                  </a:lnTo>
                  <a:lnTo>
                    <a:pt x="863346" y="290114"/>
                  </a:lnTo>
                  <a:close/>
                </a:path>
                <a:path w="892810" h="295910">
                  <a:moveTo>
                    <a:pt x="863346" y="235457"/>
                  </a:moveTo>
                  <a:lnTo>
                    <a:pt x="862584" y="232409"/>
                  </a:lnTo>
                  <a:lnTo>
                    <a:pt x="862679" y="233457"/>
                  </a:lnTo>
                  <a:lnTo>
                    <a:pt x="863346" y="235457"/>
                  </a:lnTo>
                  <a:close/>
                </a:path>
                <a:path w="892810" h="295910">
                  <a:moveTo>
                    <a:pt x="862679" y="233457"/>
                  </a:moveTo>
                  <a:lnTo>
                    <a:pt x="862584" y="232409"/>
                  </a:lnTo>
                  <a:lnTo>
                    <a:pt x="862584" y="233171"/>
                  </a:lnTo>
                  <a:lnTo>
                    <a:pt x="862679" y="233457"/>
                  </a:lnTo>
                  <a:close/>
                </a:path>
                <a:path w="892810" h="295910">
                  <a:moveTo>
                    <a:pt x="863346" y="240791"/>
                  </a:moveTo>
                  <a:lnTo>
                    <a:pt x="863346" y="235457"/>
                  </a:lnTo>
                  <a:lnTo>
                    <a:pt x="862679" y="233457"/>
                  </a:lnTo>
                  <a:lnTo>
                    <a:pt x="863346" y="240791"/>
                  </a:lnTo>
                  <a:close/>
                </a:path>
              </a:pathLst>
            </a:custGeom>
            <a:solidFill>
              <a:srgbClr val="000000"/>
            </a:solidFill>
          </p:spPr>
          <p:txBody>
            <a:bodyPr wrap="square" lIns="0" tIns="0" rIns="0" bIns="0" rtlCol="0"/>
            <a:lstStyle/>
            <a:p>
              <a:endParaRPr>
                <a:solidFill>
                  <a:prstClr val="black"/>
                </a:solidFill>
                <a:latin typeface="Calibri" panose="020F0502020204030204"/>
              </a:endParaRPr>
            </a:p>
          </p:txBody>
        </p:sp>
        <p:pic>
          <p:nvPicPr>
            <p:cNvPr id="128" name="object 124"/>
            <p:cNvPicPr/>
            <p:nvPr/>
          </p:nvPicPr>
          <p:blipFill>
            <a:blip r:embed="rId11" cstate="print"/>
            <a:stretch>
              <a:fillRect/>
            </a:stretch>
          </p:blipFill>
          <p:spPr>
            <a:xfrm>
              <a:off x="1235963" y="3259074"/>
              <a:ext cx="1172717" cy="413004"/>
            </a:xfrm>
            <a:prstGeom prst="rect">
              <a:avLst/>
            </a:prstGeom>
          </p:spPr>
        </p:pic>
        <p:pic>
          <p:nvPicPr>
            <p:cNvPr id="129" name="object 125"/>
            <p:cNvPicPr/>
            <p:nvPr/>
          </p:nvPicPr>
          <p:blipFill>
            <a:blip r:embed="rId12" cstate="print"/>
            <a:stretch>
              <a:fillRect/>
            </a:stretch>
          </p:blipFill>
          <p:spPr>
            <a:xfrm>
              <a:off x="6541769" y="1803654"/>
              <a:ext cx="790194" cy="316229"/>
            </a:xfrm>
            <a:prstGeom prst="rect">
              <a:avLst/>
            </a:prstGeom>
          </p:spPr>
        </p:pic>
        <p:pic>
          <p:nvPicPr>
            <p:cNvPr id="130" name="object 126"/>
            <p:cNvPicPr/>
            <p:nvPr/>
          </p:nvPicPr>
          <p:blipFill>
            <a:blip r:embed="rId11" cstate="print"/>
            <a:stretch>
              <a:fillRect/>
            </a:stretch>
          </p:blipFill>
          <p:spPr>
            <a:xfrm>
              <a:off x="8300466" y="1969008"/>
              <a:ext cx="1173480" cy="413004"/>
            </a:xfrm>
            <a:prstGeom prst="rect">
              <a:avLst/>
            </a:prstGeom>
          </p:spPr>
        </p:pic>
        <p:pic>
          <p:nvPicPr>
            <p:cNvPr id="131" name="object 127"/>
            <p:cNvPicPr/>
            <p:nvPr/>
          </p:nvPicPr>
          <p:blipFill>
            <a:blip r:embed="rId13" cstate="print"/>
            <a:stretch>
              <a:fillRect/>
            </a:stretch>
          </p:blipFill>
          <p:spPr>
            <a:xfrm>
              <a:off x="4962143" y="3694938"/>
              <a:ext cx="1181100" cy="216408"/>
            </a:xfrm>
            <a:prstGeom prst="rect">
              <a:avLst/>
            </a:prstGeom>
          </p:spPr>
        </p:pic>
        <p:sp>
          <p:nvSpPr>
            <p:cNvPr id="132" name="object 128"/>
            <p:cNvSpPr/>
            <p:nvPr/>
          </p:nvSpPr>
          <p:spPr>
            <a:xfrm>
              <a:off x="6568440" y="1855470"/>
              <a:ext cx="725170" cy="38100"/>
            </a:xfrm>
            <a:custGeom>
              <a:avLst/>
              <a:gdLst/>
              <a:ahLst/>
              <a:cxnLst/>
              <a:rect l="l" t="t" r="r" b="b"/>
              <a:pathLst>
                <a:path w="725170" h="38100">
                  <a:moveTo>
                    <a:pt x="724661" y="38100"/>
                  </a:moveTo>
                  <a:lnTo>
                    <a:pt x="724661" y="0"/>
                  </a:lnTo>
                  <a:lnTo>
                    <a:pt x="0" y="0"/>
                  </a:lnTo>
                  <a:lnTo>
                    <a:pt x="0" y="38100"/>
                  </a:lnTo>
                  <a:lnTo>
                    <a:pt x="724661" y="38100"/>
                  </a:lnTo>
                  <a:close/>
                </a:path>
              </a:pathLst>
            </a:custGeom>
            <a:solidFill>
              <a:srgbClr val="BF0000"/>
            </a:solidFill>
          </p:spPr>
          <p:txBody>
            <a:bodyPr wrap="square" lIns="0" tIns="0" rIns="0" bIns="0" rtlCol="0"/>
            <a:lstStyle/>
            <a:p>
              <a:endParaRPr>
                <a:solidFill>
                  <a:prstClr val="black"/>
                </a:solidFill>
                <a:latin typeface="Calibri" panose="020F0502020204030204"/>
              </a:endParaRPr>
            </a:p>
          </p:txBody>
        </p:sp>
      </p:grpSp>
      <p:sp>
        <p:nvSpPr>
          <p:cNvPr id="133" name="object 9"/>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5" dirty="0"/>
              <a:t>An</a:t>
            </a:r>
            <a:r>
              <a:rPr spc="-15" dirty="0"/>
              <a:t> </a:t>
            </a:r>
            <a:r>
              <a:rPr spc="-10" dirty="0"/>
              <a:t>Electro-Optical</a:t>
            </a:r>
            <a:r>
              <a:rPr spc="20" dirty="0"/>
              <a:t> </a:t>
            </a:r>
            <a:r>
              <a:rPr spc="-10" dirty="0"/>
              <a:t>Link</a:t>
            </a:r>
          </a:p>
        </p:txBody>
      </p:sp>
    </p:spTree>
    <p:extLst>
      <p:ext uri="{BB962C8B-B14F-4D97-AF65-F5344CB8AC3E}">
        <p14:creationId xmlns:p14="http://schemas.microsoft.com/office/powerpoint/2010/main" val="18467424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28247-DE28-634F-8234-806E25A39334}"/>
              </a:ext>
            </a:extLst>
          </p:cNvPr>
          <p:cNvSpPr>
            <a:spLocks noGrp="1"/>
          </p:cNvSpPr>
          <p:nvPr>
            <p:ph type="title"/>
          </p:nvPr>
        </p:nvSpPr>
        <p:spPr/>
        <p:txBody>
          <a:bodyPr>
            <a:normAutofit/>
          </a:bodyPr>
          <a:lstStyle/>
          <a:p>
            <a:r>
              <a:rPr lang="en-US" dirty="0"/>
              <a:t>Targeted Co-packaged Optical RX Front-end Architecture</a:t>
            </a:r>
          </a:p>
        </p:txBody>
      </p:sp>
      <p:sp>
        <p:nvSpPr>
          <p:cNvPr id="3" name="Text Placeholder 2">
            <a:extLst>
              <a:ext uri="{FF2B5EF4-FFF2-40B4-BE49-F238E27FC236}">
                <a16:creationId xmlns:a16="http://schemas.microsoft.com/office/drawing/2014/main" id="{D81F9584-C93C-3E41-8A5F-2C8A17EA935F}"/>
              </a:ext>
            </a:extLst>
          </p:cNvPr>
          <p:cNvSpPr>
            <a:spLocks noGrp="1"/>
          </p:cNvSpPr>
          <p:nvPr>
            <p:ph type="body" sz="quarter" idx="13"/>
          </p:nvPr>
        </p:nvSpPr>
        <p:spPr>
          <a:xfrm>
            <a:off x="503237" y="1209445"/>
            <a:ext cx="10515600" cy="991809"/>
          </a:xfrm>
        </p:spPr>
        <p:txBody>
          <a:bodyPr>
            <a:normAutofit/>
          </a:bodyPr>
          <a:lstStyle/>
          <a:p>
            <a:r>
              <a:rPr lang="en-US" sz="2800" dirty="0"/>
              <a:t>Supports high integration </a:t>
            </a:r>
          </a:p>
          <a:p>
            <a:r>
              <a:rPr lang="en-US" sz="2800" dirty="0"/>
              <a:t>Low </a:t>
            </a:r>
            <a:r>
              <a:rPr lang="en-US" sz="2800" dirty="0" err="1"/>
              <a:t>parasitics</a:t>
            </a:r>
            <a:endParaRPr lang="en-US" sz="2800" dirty="0"/>
          </a:p>
        </p:txBody>
      </p:sp>
      <p:sp>
        <p:nvSpPr>
          <p:cNvPr id="7" name="Slide Number Placeholder 6">
            <a:extLst>
              <a:ext uri="{FF2B5EF4-FFF2-40B4-BE49-F238E27FC236}">
                <a16:creationId xmlns:a16="http://schemas.microsoft.com/office/drawing/2014/main" id="{EB2BE039-8823-2A45-96DA-D5BB3EF70701}"/>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44</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1" name="AutoShape 3"/>
          <p:cNvSpPr>
            <a:spLocks noChangeAspect="1" noChangeArrowheads="1" noTextEdit="1"/>
          </p:cNvSpPr>
          <p:nvPr/>
        </p:nvSpPr>
        <p:spPr bwMode="auto">
          <a:xfrm>
            <a:off x="2312988" y="2495550"/>
            <a:ext cx="7756525" cy="3744913"/>
          </a:xfrm>
          <a:prstGeom prst="rect">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Rectangle 5"/>
          <p:cNvSpPr>
            <a:spLocks noChangeArrowheads="1"/>
          </p:cNvSpPr>
          <p:nvPr/>
        </p:nvSpPr>
        <p:spPr bwMode="auto">
          <a:xfrm>
            <a:off x="9097963" y="2859088"/>
            <a:ext cx="5286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Bold" panose="020B0704020202020204" pitchFamily="34" charset="0"/>
              </a:rPr>
              <a:t>on-pa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3" name="Rectangle 6"/>
          <p:cNvSpPr>
            <a:spLocks noChangeArrowheads="1"/>
          </p:cNvSpPr>
          <p:nvPr/>
        </p:nvSpPr>
        <p:spPr bwMode="auto">
          <a:xfrm>
            <a:off x="9537700" y="2859088"/>
            <a:ext cx="5461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Bold" panose="020B0704020202020204" pitchFamily="34" charset="0"/>
              </a:rPr>
              <a:t>ckage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4" name="Rectangle 7"/>
          <p:cNvSpPr>
            <a:spLocks noChangeArrowheads="1"/>
          </p:cNvSpPr>
          <p:nvPr/>
        </p:nvSpPr>
        <p:spPr bwMode="auto">
          <a:xfrm>
            <a:off x="9247188" y="3065463"/>
            <a:ext cx="6953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000000"/>
                </a:solidFill>
                <a:effectLst/>
                <a:latin typeface="Arial Bold" panose="020B0704020202020204" pitchFamily="34" charset="0"/>
              </a:rPr>
              <a:t>probing</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Freeform 8"/>
          <p:cNvSpPr>
            <a:spLocks noEditPoints="1"/>
          </p:cNvSpPr>
          <p:nvPr/>
        </p:nvSpPr>
        <p:spPr bwMode="auto">
          <a:xfrm>
            <a:off x="2341563" y="3879850"/>
            <a:ext cx="7461250" cy="1263650"/>
          </a:xfrm>
          <a:custGeom>
            <a:avLst/>
            <a:gdLst>
              <a:gd name="T0" fmla="*/ 10 w 2594"/>
              <a:gd name="T1" fmla="*/ 0 h 437"/>
              <a:gd name="T2" fmla="*/ 10 w 2594"/>
              <a:gd name="T3" fmla="*/ 0 h 437"/>
              <a:gd name="T4" fmla="*/ 2583 w 2594"/>
              <a:gd name="T5" fmla="*/ 0 h 437"/>
              <a:gd name="T6" fmla="*/ 2594 w 2594"/>
              <a:gd name="T7" fmla="*/ 10 h 437"/>
              <a:gd name="T8" fmla="*/ 2594 w 2594"/>
              <a:gd name="T9" fmla="*/ 426 h 437"/>
              <a:gd name="T10" fmla="*/ 2583 w 2594"/>
              <a:gd name="T11" fmla="*/ 437 h 437"/>
              <a:gd name="T12" fmla="*/ 10 w 2594"/>
              <a:gd name="T13" fmla="*/ 437 h 437"/>
              <a:gd name="T14" fmla="*/ 0 w 2594"/>
              <a:gd name="T15" fmla="*/ 426 h 437"/>
              <a:gd name="T16" fmla="*/ 0 w 2594"/>
              <a:gd name="T17" fmla="*/ 10 h 437"/>
              <a:gd name="T18" fmla="*/ 10 w 2594"/>
              <a:gd name="T19" fmla="*/ 0 h 437"/>
              <a:gd name="T20" fmla="*/ 10 w 2594"/>
              <a:gd name="T21" fmla="*/ 0 h 437"/>
              <a:gd name="T22" fmla="*/ 10 w 2594"/>
              <a:gd name="T23" fmla="*/ 0 h 437"/>
              <a:gd name="T24" fmla="*/ 10 w 2594"/>
              <a:gd name="T25"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94" h="437">
                <a:moveTo>
                  <a:pt x="10" y="0"/>
                </a:moveTo>
                <a:lnTo>
                  <a:pt x="10" y="0"/>
                </a:lnTo>
                <a:lnTo>
                  <a:pt x="2583" y="0"/>
                </a:lnTo>
                <a:cubicBezTo>
                  <a:pt x="2589" y="0"/>
                  <a:pt x="2594" y="4"/>
                  <a:pt x="2594" y="10"/>
                </a:cubicBezTo>
                <a:lnTo>
                  <a:pt x="2594" y="426"/>
                </a:lnTo>
                <a:cubicBezTo>
                  <a:pt x="2594" y="432"/>
                  <a:pt x="2589" y="437"/>
                  <a:pt x="2583" y="437"/>
                </a:cubicBezTo>
                <a:lnTo>
                  <a:pt x="10" y="437"/>
                </a:lnTo>
                <a:cubicBezTo>
                  <a:pt x="5" y="437"/>
                  <a:pt x="0" y="432"/>
                  <a:pt x="0" y="426"/>
                </a:cubicBezTo>
                <a:lnTo>
                  <a:pt x="0" y="10"/>
                </a:lnTo>
                <a:cubicBezTo>
                  <a:pt x="0" y="4"/>
                  <a:pt x="5" y="0"/>
                  <a:pt x="10" y="0"/>
                </a:cubicBezTo>
                <a:lnTo>
                  <a:pt x="10" y="0"/>
                </a:lnTo>
                <a:close/>
                <a:moveTo>
                  <a:pt x="10" y="0"/>
                </a:moveTo>
                <a:lnTo>
                  <a:pt x="10" y="0"/>
                </a:lnTo>
                <a:close/>
              </a:path>
            </a:pathLst>
          </a:custGeom>
          <a:solidFill>
            <a:srgbClr val="FEF4F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noEditPoints="1"/>
          </p:cNvSpPr>
          <p:nvPr/>
        </p:nvSpPr>
        <p:spPr bwMode="auto">
          <a:xfrm>
            <a:off x="2341563" y="3879850"/>
            <a:ext cx="7461250" cy="1263650"/>
          </a:xfrm>
          <a:custGeom>
            <a:avLst/>
            <a:gdLst>
              <a:gd name="T0" fmla="*/ 10 w 2594"/>
              <a:gd name="T1" fmla="*/ 0 h 437"/>
              <a:gd name="T2" fmla="*/ 10 w 2594"/>
              <a:gd name="T3" fmla="*/ 0 h 437"/>
              <a:gd name="T4" fmla="*/ 2583 w 2594"/>
              <a:gd name="T5" fmla="*/ 0 h 437"/>
              <a:gd name="T6" fmla="*/ 2594 w 2594"/>
              <a:gd name="T7" fmla="*/ 10 h 437"/>
              <a:gd name="T8" fmla="*/ 2594 w 2594"/>
              <a:gd name="T9" fmla="*/ 426 h 437"/>
              <a:gd name="T10" fmla="*/ 2583 w 2594"/>
              <a:gd name="T11" fmla="*/ 437 h 437"/>
              <a:gd name="T12" fmla="*/ 10 w 2594"/>
              <a:gd name="T13" fmla="*/ 437 h 437"/>
              <a:gd name="T14" fmla="*/ 0 w 2594"/>
              <a:gd name="T15" fmla="*/ 426 h 437"/>
              <a:gd name="T16" fmla="*/ 0 w 2594"/>
              <a:gd name="T17" fmla="*/ 10 h 437"/>
              <a:gd name="T18" fmla="*/ 10 w 2594"/>
              <a:gd name="T19" fmla="*/ 0 h 437"/>
              <a:gd name="T20" fmla="*/ 10 w 2594"/>
              <a:gd name="T21" fmla="*/ 0 h 437"/>
              <a:gd name="T22" fmla="*/ 10 w 2594"/>
              <a:gd name="T23" fmla="*/ 0 h 437"/>
              <a:gd name="T24" fmla="*/ 10 w 2594"/>
              <a:gd name="T25"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94" h="437">
                <a:moveTo>
                  <a:pt x="10" y="0"/>
                </a:moveTo>
                <a:lnTo>
                  <a:pt x="10" y="0"/>
                </a:lnTo>
                <a:lnTo>
                  <a:pt x="2583" y="0"/>
                </a:lnTo>
                <a:cubicBezTo>
                  <a:pt x="2589" y="0"/>
                  <a:pt x="2594" y="4"/>
                  <a:pt x="2594" y="10"/>
                </a:cubicBezTo>
                <a:lnTo>
                  <a:pt x="2594" y="426"/>
                </a:lnTo>
                <a:cubicBezTo>
                  <a:pt x="2594" y="432"/>
                  <a:pt x="2589" y="437"/>
                  <a:pt x="2583" y="437"/>
                </a:cubicBezTo>
                <a:lnTo>
                  <a:pt x="10" y="437"/>
                </a:lnTo>
                <a:cubicBezTo>
                  <a:pt x="5" y="437"/>
                  <a:pt x="0" y="432"/>
                  <a:pt x="0" y="426"/>
                </a:cubicBezTo>
                <a:lnTo>
                  <a:pt x="0" y="10"/>
                </a:lnTo>
                <a:cubicBezTo>
                  <a:pt x="0" y="4"/>
                  <a:pt x="5" y="0"/>
                  <a:pt x="10" y="0"/>
                </a:cubicBezTo>
                <a:lnTo>
                  <a:pt x="10" y="0"/>
                </a:lnTo>
                <a:close/>
                <a:moveTo>
                  <a:pt x="10" y="0"/>
                </a:moveTo>
                <a:lnTo>
                  <a:pt x="10" y="0"/>
                </a:lnTo>
                <a:close/>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0"/>
          <p:cNvSpPr>
            <a:spLocks noChangeArrowheads="1"/>
          </p:cNvSpPr>
          <p:nvPr/>
        </p:nvSpPr>
        <p:spPr bwMode="auto">
          <a:xfrm>
            <a:off x="4735513" y="4695825"/>
            <a:ext cx="1066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000000"/>
                </a:solidFill>
                <a:effectLst/>
                <a:latin typeface="Arial Bold" panose="020B0704020202020204" pitchFamily="34" charset="0"/>
              </a:rPr>
              <a:t>Packa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8" name="Rectangle 11"/>
          <p:cNvSpPr>
            <a:spLocks noChangeArrowheads="1"/>
          </p:cNvSpPr>
          <p:nvPr/>
        </p:nvSpPr>
        <p:spPr bwMode="auto">
          <a:xfrm>
            <a:off x="5622925" y="4695825"/>
            <a:ext cx="138588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000000"/>
                </a:solidFill>
                <a:effectLst/>
                <a:latin typeface="Arial Bold" panose="020B0704020202020204" pitchFamily="34" charset="0"/>
              </a:rPr>
              <a:t>ge Subs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9" name="Rectangle 12"/>
          <p:cNvSpPr>
            <a:spLocks noChangeArrowheads="1"/>
          </p:cNvSpPr>
          <p:nvPr/>
        </p:nvSpPr>
        <p:spPr bwMode="auto">
          <a:xfrm>
            <a:off x="6813550" y="4695825"/>
            <a:ext cx="8429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000000"/>
                </a:solidFill>
                <a:effectLst/>
                <a:latin typeface="Arial Bold" panose="020B0704020202020204" pitchFamily="34" charset="0"/>
              </a:rPr>
              <a:t>trate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3" name="Freeform 16"/>
          <p:cNvSpPr>
            <a:spLocks noEditPoints="1"/>
          </p:cNvSpPr>
          <p:nvPr/>
        </p:nvSpPr>
        <p:spPr bwMode="auto">
          <a:xfrm>
            <a:off x="3667125" y="3646488"/>
            <a:ext cx="1671637" cy="439738"/>
          </a:xfrm>
          <a:custGeom>
            <a:avLst/>
            <a:gdLst>
              <a:gd name="T0" fmla="*/ 0 w 581"/>
              <a:gd name="T1" fmla="*/ 152 h 152"/>
              <a:gd name="T2" fmla="*/ 0 w 581"/>
              <a:gd name="T3" fmla="*/ 152 h 152"/>
              <a:gd name="T4" fmla="*/ 1 w 581"/>
              <a:gd name="T5" fmla="*/ 52 h 152"/>
              <a:gd name="T6" fmla="*/ 0 w 581"/>
              <a:gd name="T7" fmla="*/ 152 h 152"/>
              <a:gd name="T8" fmla="*/ 0 w 581"/>
              <a:gd name="T9" fmla="*/ 152 h 152"/>
              <a:gd name="T10" fmla="*/ 581 w 581"/>
              <a:gd name="T11" fmla="*/ 152 h 152"/>
              <a:gd name="T12" fmla="*/ 581 w 581"/>
              <a:gd name="T13" fmla="*/ 0 h 152"/>
              <a:gd name="T14" fmla="*/ 581 w 581"/>
              <a:gd name="T15" fmla="*/ 0 h 152"/>
              <a:gd name="T16" fmla="*/ 581 w 581"/>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1" h="152">
                <a:moveTo>
                  <a:pt x="0" y="152"/>
                </a:moveTo>
                <a:lnTo>
                  <a:pt x="0" y="152"/>
                </a:lnTo>
                <a:lnTo>
                  <a:pt x="1" y="52"/>
                </a:lnTo>
                <a:moveTo>
                  <a:pt x="0" y="152"/>
                </a:moveTo>
                <a:lnTo>
                  <a:pt x="0" y="152"/>
                </a:lnTo>
                <a:lnTo>
                  <a:pt x="581" y="152"/>
                </a:lnTo>
                <a:moveTo>
                  <a:pt x="581" y="0"/>
                </a:moveTo>
                <a:lnTo>
                  <a:pt x="581" y="0"/>
                </a:lnTo>
                <a:lnTo>
                  <a:pt x="581" y="152"/>
                </a:lnTo>
              </a:path>
            </a:pathLst>
          </a:custGeom>
          <a:noFill/>
          <a:ln w="57150"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noEditPoints="1"/>
          </p:cNvSpPr>
          <p:nvPr/>
        </p:nvSpPr>
        <p:spPr bwMode="auto">
          <a:xfrm>
            <a:off x="4921250" y="2633663"/>
            <a:ext cx="4046537" cy="946150"/>
          </a:xfrm>
          <a:custGeom>
            <a:avLst/>
            <a:gdLst>
              <a:gd name="T0" fmla="*/ 14 w 1407"/>
              <a:gd name="T1" fmla="*/ 0 h 327"/>
              <a:gd name="T2" fmla="*/ 14 w 1407"/>
              <a:gd name="T3" fmla="*/ 0 h 327"/>
              <a:gd name="T4" fmla="*/ 1394 w 1407"/>
              <a:gd name="T5" fmla="*/ 0 h 327"/>
              <a:gd name="T6" fmla="*/ 1407 w 1407"/>
              <a:gd name="T7" fmla="*/ 14 h 327"/>
              <a:gd name="T8" fmla="*/ 1407 w 1407"/>
              <a:gd name="T9" fmla="*/ 314 h 327"/>
              <a:gd name="T10" fmla="*/ 1394 w 1407"/>
              <a:gd name="T11" fmla="*/ 327 h 327"/>
              <a:gd name="T12" fmla="*/ 14 w 1407"/>
              <a:gd name="T13" fmla="*/ 327 h 327"/>
              <a:gd name="T14" fmla="*/ 0 w 1407"/>
              <a:gd name="T15" fmla="*/ 314 h 327"/>
              <a:gd name="T16" fmla="*/ 0 w 1407"/>
              <a:gd name="T17" fmla="*/ 14 h 327"/>
              <a:gd name="T18" fmla="*/ 14 w 1407"/>
              <a:gd name="T19" fmla="*/ 0 h 327"/>
              <a:gd name="T20" fmla="*/ 14 w 1407"/>
              <a:gd name="T21" fmla="*/ 0 h 327"/>
              <a:gd name="T22" fmla="*/ 14 w 1407"/>
              <a:gd name="T23" fmla="*/ 0 h 327"/>
              <a:gd name="T24" fmla="*/ 14 w 1407"/>
              <a:gd name="T2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7" h="327">
                <a:moveTo>
                  <a:pt x="14" y="0"/>
                </a:moveTo>
                <a:lnTo>
                  <a:pt x="14" y="0"/>
                </a:lnTo>
                <a:lnTo>
                  <a:pt x="1394" y="0"/>
                </a:lnTo>
                <a:cubicBezTo>
                  <a:pt x="1401" y="0"/>
                  <a:pt x="1407" y="6"/>
                  <a:pt x="1407" y="14"/>
                </a:cubicBezTo>
                <a:lnTo>
                  <a:pt x="1407" y="314"/>
                </a:lnTo>
                <a:cubicBezTo>
                  <a:pt x="1407" y="321"/>
                  <a:pt x="1401" y="327"/>
                  <a:pt x="1394" y="327"/>
                </a:cubicBezTo>
                <a:lnTo>
                  <a:pt x="14" y="327"/>
                </a:lnTo>
                <a:cubicBezTo>
                  <a:pt x="6" y="327"/>
                  <a:pt x="0" y="321"/>
                  <a:pt x="0" y="314"/>
                </a:cubicBezTo>
                <a:lnTo>
                  <a:pt x="0" y="14"/>
                </a:lnTo>
                <a:cubicBezTo>
                  <a:pt x="0" y="6"/>
                  <a:pt x="6" y="0"/>
                  <a:pt x="14" y="0"/>
                </a:cubicBezTo>
                <a:lnTo>
                  <a:pt x="14" y="0"/>
                </a:lnTo>
                <a:close/>
                <a:moveTo>
                  <a:pt x="14" y="0"/>
                </a:moveTo>
                <a:lnTo>
                  <a:pt x="14" y="0"/>
                </a:lnTo>
                <a:close/>
              </a:path>
            </a:pathLst>
          </a:custGeom>
          <a:solidFill>
            <a:srgbClr val="FFFFE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noEditPoints="1"/>
          </p:cNvSpPr>
          <p:nvPr/>
        </p:nvSpPr>
        <p:spPr bwMode="auto">
          <a:xfrm>
            <a:off x="4921250" y="2633663"/>
            <a:ext cx="4046537" cy="946150"/>
          </a:xfrm>
          <a:custGeom>
            <a:avLst/>
            <a:gdLst>
              <a:gd name="T0" fmla="*/ 14 w 1407"/>
              <a:gd name="T1" fmla="*/ 0 h 327"/>
              <a:gd name="T2" fmla="*/ 14 w 1407"/>
              <a:gd name="T3" fmla="*/ 0 h 327"/>
              <a:gd name="T4" fmla="*/ 1394 w 1407"/>
              <a:gd name="T5" fmla="*/ 0 h 327"/>
              <a:gd name="T6" fmla="*/ 1407 w 1407"/>
              <a:gd name="T7" fmla="*/ 14 h 327"/>
              <a:gd name="T8" fmla="*/ 1407 w 1407"/>
              <a:gd name="T9" fmla="*/ 314 h 327"/>
              <a:gd name="T10" fmla="*/ 1394 w 1407"/>
              <a:gd name="T11" fmla="*/ 327 h 327"/>
              <a:gd name="T12" fmla="*/ 14 w 1407"/>
              <a:gd name="T13" fmla="*/ 327 h 327"/>
              <a:gd name="T14" fmla="*/ 0 w 1407"/>
              <a:gd name="T15" fmla="*/ 314 h 327"/>
              <a:gd name="T16" fmla="*/ 0 w 1407"/>
              <a:gd name="T17" fmla="*/ 14 h 327"/>
              <a:gd name="T18" fmla="*/ 14 w 1407"/>
              <a:gd name="T19" fmla="*/ 0 h 327"/>
              <a:gd name="T20" fmla="*/ 14 w 1407"/>
              <a:gd name="T21" fmla="*/ 0 h 327"/>
              <a:gd name="T22" fmla="*/ 14 w 1407"/>
              <a:gd name="T23" fmla="*/ 0 h 327"/>
              <a:gd name="T24" fmla="*/ 14 w 1407"/>
              <a:gd name="T2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07" h="327">
                <a:moveTo>
                  <a:pt x="14" y="0"/>
                </a:moveTo>
                <a:lnTo>
                  <a:pt x="14" y="0"/>
                </a:lnTo>
                <a:lnTo>
                  <a:pt x="1394" y="0"/>
                </a:lnTo>
                <a:cubicBezTo>
                  <a:pt x="1401" y="0"/>
                  <a:pt x="1407" y="6"/>
                  <a:pt x="1407" y="14"/>
                </a:cubicBezTo>
                <a:lnTo>
                  <a:pt x="1407" y="314"/>
                </a:lnTo>
                <a:cubicBezTo>
                  <a:pt x="1407" y="321"/>
                  <a:pt x="1401" y="327"/>
                  <a:pt x="1394" y="327"/>
                </a:cubicBezTo>
                <a:lnTo>
                  <a:pt x="14" y="327"/>
                </a:lnTo>
                <a:cubicBezTo>
                  <a:pt x="6" y="327"/>
                  <a:pt x="0" y="321"/>
                  <a:pt x="0" y="314"/>
                </a:cubicBezTo>
                <a:lnTo>
                  <a:pt x="0" y="14"/>
                </a:lnTo>
                <a:cubicBezTo>
                  <a:pt x="0" y="6"/>
                  <a:pt x="6" y="0"/>
                  <a:pt x="14" y="0"/>
                </a:cubicBezTo>
                <a:lnTo>
                  <a:pt x="14" y="0"/>
                </a:lnTo>
                <a:close/>
                <a:moveTo>
                  <a:pt x="14" y="0"/>
                </a:moveTo>
                <a:lnTo>
                  <a:pt x="14" y="0"/>
                </a:lnTo>
                <a:close/>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p:cNvSpPr>
            <a:spLocks/>
          </p:cNvSpPr>
          <p:nvPr/>
        </p:nvSpPr>
        <p:spPr bwMode="auto">
          <a:xfrm>
            <a:off x="7897813" y="3082925"/>
            <a:ext cx="657225" cy="485775"/>
          </a:xfrm>
          <a:custGeom>
            <a:avLst/>
            <a:gdLst>
              <a:gd name="T0" fmla="*/ 0 w 228"/>
              <a:gd name="T1" fmla="*/ 0 h 168"/>
              <a:gd name="T2" fmla="*/ 0 w 228"/>
              <a:gd name="T3" fmla="*/ 0 h 168"/>
              <a:gd name="T4" fmla="*/ 228 w 228"/>
              <a:gd name="T5" fmla="*/ 1 h 168"/>
              <a:gd name="T6" fmla="*/ 228 w 228"/>
              <a:gd name="T7" fmla="*/ 168 h 168"/>
            </a:gdLst>
            <a:ahLst/>
            <a:cxnLst>
              <a:cxn ang="0">
                <a:pos x="T0" y="T1"/>
              </a:cxn>
              <a:cxn ang="0">
                <a:pos x="T2" y="T3"/>
              </a:cxn>
              <a:cxn ang="0">
                <a:pos x="T4" y="T5"/>
              </a:cxn>
              <a:cxn ang="0">
                <a:pos x="T6" y="T7"/>
              </a:cxn>
            </a:cxnLst>
            <a:rect l="0" t="0" r="r" b="b"/>
            <a:pathLst>
              <a:path w="228" h="168">
                <a:moveTo>
                  <a:pt x="0" y="0"/>
                </a:moveTo>
                <a:lnTo>
                  <a:pt x="0" y="0"/>
                </a:lnTo>
                <a:lnTo>
                  <a:pt x="228" y="1"/>
                </a:lnTo>
                <a:lnTo>
                  <a:pt x="228" y="168"/>
                </a:lnTo>
              </a:path>
            </a:pathLst>
          </a:custGeom>
          <a:noFill/>
          <a:ln w="746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p:cNvSpPr>
            <a:spLocks/>
          </p:cNvSpPr>
          <p:nvPr/>
        </p:nvSpPr>
        <p:spPr bwMode="auto">
          <a:xfrm>
            <a:off x="5338763" y="3140075"/>
            <a:ext cx="801687" cy="439738"/>
          </a:xfrm>
          <a:custGeom>
            <a:avLst/>
            <a:gdLst>
              <a:gd name="T0" fmla="*/ 279 w 279"/>
              <a:gd name="T1" fmla="*/ 0 h 152"/>
              <a:gd name="T2" fmla="*/ 279 w 279"/>
              <a:gd name="T3" fmla="*/ 0 h 152"/>
              <a:gd name="T4" fmla="*/ 0 w 279"/>
              <a:gd name="T5" fmla="*/ 0 h 152"/>
              <a:gd name="T6" fmla="*/ 0 w 279"/>
              <a:gd name="T7" fmla="*/ 152 h 152"/>
            </a:gdLst>
            <a:ahLst/>
            <a:cxnLst>
              <a:cxn ang="0">
                <a:pos x="T0" y="T1"/>
              </a:cxn>
              <a:cxn ang="0">
                <a:pos x="T2" y="T3"/>
              </a:cxn>
              <a:cxn ang="0">
                <a:pos x="T4" y="T5"/>
              </a:cxn>
              <a:cxn ang="0">
                <a:pos x="T6" y="T7"/>
              </a:cxn>
            </a:cxnLst>
            <a:rect l="0" t="0" r="r" b="b"/>
            <a:pathLst>
              <a:path w="279" h="152">
                <a:moveTo>
                  <a:pt x="279" y="0"/>
                </a:moveTo>
                <a:lnTo>
                  <a:pt x="279" y="0"/>
                </a:lnTo>
                <a:lnTo>
                  <a:pt x="0" y="0"/>
                </a:lnTo>
                <a:lnTo>
                  <a:pt x="0" y="152"/>
                </a:lnTo>
              </a:path>
            </a:pathLst>
          </a:custGeom>
          <a:noFill/>
          <a:ln w="746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p:cNvSpPr>
            <a:spLocks/>
          </p:cNvSpPr>
          <p:nvPr/>
        </p:nvSpPr>
        <p:spPr bwMode="auto">
          <a:xfrm>
            <a:off x="5178425"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22"/>
          <p:cNvSpPr>
            <a:spLocks/>
          </p:cNvSpPr>
          <p:nvPr/>
        </p:nvSpPr>
        <p:spPr bwMode="auto">
          <a:xfrm>
            <a:off x="5178425"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p:cNvSpPr>
            <a:spLocks/>
          </p:cNvSpPr>
          <p:nvPr/>
        </p:nvSpPr>
        <p:spPr bwMode="auto">
          <a:xfrm>
            <a:off x="5983288"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24"/>
          <p:cNvSpPr>
            <a:spLocks/>
          </p:cNvSpPr>
          <p:nvPr/>
        </p:nvSpPr>
        <p:spPr bwMode="auto">
          <a:xfrm>
            <a:off x="5983288"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p:cNvSpPr>
            <a:spLocks/>
          </p:cNvSpPr>
          <p:nvPr/>
        </p:nvSpPr>
        <p:spPr bwMode="auto">
          <a:xfrm>
            <a:off x="6386513"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26"/>
          <p:cNvSpPr>
            <a:spLocks/>
          </p:cNvSpPr>
          <p:nvPr/>
        </p:nvSpPr>
        <p:spPr bwMode="auto">
          <a:xfrm>
            <a:off x="6386513"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7"/>
          <p:cNvSpPr>
            <a:spLocks/>
          </p:cNvSpPr>
          <p:nvPr/>
        </p:nvSpPr>
        <p:spPr bwMode="auto">
          <a:xfrm>
            <a:off x="6788150"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28"/>
          <p:cNvSpPr>
            <a:spLocks/>
          </p:cNvSpPr>
          <p:nvPr/>
        </p:nvSpPr>
        <p:spPr bwMode="auto">
          <a:xfrm>
            <a:off x="6788150"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9"/>
          <p:cNvSpPr>
            <a:spLocks/>
          </p:cNvSpPr>
          <p:nvPr/>
        </p:nvSpPr>
        <p:spPr bwMode="auto">
          <a:xfrm>
            <a:off x="7191375"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30"/>
          <p:cNvSpPr>
            <a:spLocks/>
          </p:cNvSpPr>
          <p:nvPr/>
        </p:nvSpPr>
        <p:spPr bwMode="auto">
          <a:xfrm>
            <a:off x="7191375"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Freeform 31"/>
          <p:cNvSpPr>
            <a:spLocks/>
          </p:cNvSpPr>
          <p:nvPr/>
        </p:nvSpPr>
        <p:spPr bwMode="auto">
          <a:xfrm>
            <a:off x="7593013"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Freeform 32"/>
          <p:cNvSpPr>
            <a:spLocks/>
          </p:cNvSpPr>
          <p:nvPr/>
        </p:nvSpPr>
        <p:spPr bwMode="auto">
          <a:xfrm>
            <a:off x="7593013"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33"/>
          <p:cNvSpPr>
            <a:spLocks/>
          </p:cNvSpPr>
          <p:nvPr/>
        </p:nvSpPr>
        <p:spPr bwMode="auto">
          <a:xfrm>
            <a:off x="7996238"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Freeform 34"/>
          <p:cNvSpPr>
            <a:spLocks/>
          </p:cNvSpPr>
          <p:nvPr/>
        </p:nvSpPr>
        <p:spPr bwMode="auto">
          <a:xfrm>
            <a:off x="7996238"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35"/>
          <p:cNvSpPr>
            <a:spLocks noEditPoints="1"/>
          </p:cNvSpPr>
          <p:nvPr/>
        </p:nvSpPr>
        <p:spPr bwMode="auto">
          <a:xfrm>
            <a:off x="8537575" y="3889375"/>
            <a:ext cx="925512" cy="200025"/>
          </a:xfrm>
          <a:custGeom>
            <a:avLst/>
            <a:gdLst>
              <a:gd name="T0" fmla="*/ 0 w 322"/>
              <a:gd name="T1" fmla="*/ 69 h 69"/>
              <a:gd name="T2" fmla="*/ 0 w 322"/>
              <a:gd name="T3" fmla="*/ 69 h 69"/>
              <a:gd name="T4" fmla="*/ 0 w 322"/>
              <a:gd name="T5" fmla="*/ 0 h 69"/>
              <a:gd name="T6" fmla="*/ 0 w 322"/>
              <a:gd name="T7" fmla="*/ 69 h 69"/>
              <a:gd name="T8" fmla="*/ 0 w 322"/>
              <a:gd name="T9" fmla="*/ 69 h 69"/>
              <a:gd name="T10" fmla="*/ 322 w 322"/>
              <a:gd name="T11" fmla="*/ 69 h 69"/>
              <a:gd name="T12" fmla="*/ 322 w 322"/>
              <a:gd name="T13" fmla="*/ 10 h 69"/>
              <a:gd name="T14" fmla="*/ 322 w 322"/>
              <a:gd name="T15" fmla="*/ 10 h 69"/>
              <a:gd name="T16" fmla="*/ 322 w 322"/>
              <a:gd name="T1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 h="69">
                <a:moveTo>
                  <a:pt x="0" y="69"/>
                </a:moveTo>
                <a:lnTo>
                  <a:pt x="0" y="69"/>
                </a:lnTo>
                <a:lnTo>
                  <a:pt x="0" y="0"/>
                </a:lnTo>
                <a:moveTo>
                  <a:pt x="0" y="69"/>
                </a:moveTo>
                <a:lnTo>
                  <a:pt x="0" y="69"/>
                </a:lnTo>
                <a:lnTo>
                  <a:pt x="322" y="69"/>
                </a:lnTo>
                <a:moveTo>
                  <a:pt x="322" y="10"/>
                </a:moveTo>
                <a:lnTo>
                  <a:pt x="322" y="10"/>
                </a:lnTo>
                <a:lnTo>
                  <a:pt x="322" y="69"/>
                </a:lnTo>
              </a:path>
            </a:pathLst>
          </a:custGeom>
          <a:noFill/>
          <a:ln w="57150"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36"/>
          <p:cNvSpPr>
            <a:spLocks/>
          </p:cNvSpPr>
          <p:nvPr/>
        </p:nvSpPr>
        <p:spPr bwMode="auto">
          <a:xfrm>
            <a:off x="8399463"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37"/>
          <p:cNvSpPr>
            <a:spLocks/>
          </p:cNvSpPr>
          <p:nvPr/>
        </p:nvSpPr>
        <p:spPr bwMode="auto">
          <a:xfrm>
            <a:off x="8399463"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38"/>
          <p:cNvSpPr>
            <a:spLocks/>
          </p:cNvSpPr>
          <p:nvPr/>
        </p:nvSpPr>
        <p:spPr bwMode="auto">
          <a:xfrm>
            <a:off x="5580063"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39"/>
          <p:cNvSpPr>
            <a:spLocks/>
          </p:cNvSpPr>
          <p:nvPr/>
        </p:nvSpPr>
        <p:spPr bwMode="auto">
          <a:xfrm>
            <a:off x="5580063"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40"/>
          <p:cNvSpPr>
            <a:spLocks/>
          </p:cNvSpPr>
          <p:nvPr/>
        </p:nvSpPr>
        <p:spPr bwMode="auto">
          <a:xfrm>
            <a:off x="2844800"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41"/>
          <p:cNvSpPr>
            <a:spLocks/>
          </p:cNvSpPr>
          <p:nvPr/>
        </p:nvSpPr>
        <p:spPr bwMode="auto">
          <a:xfrm>
            <a:off x="2844800"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42"/>
          <p:cNvSpPr>
            <a:spLocks/>
          </p:cNvSpPr>
          <p:nvPr/>
        </p:nvSpPr>
        <p:spPr bwMode="auto">
          <a:xfrm>
            <a:off x="3708400" y="5138738"/>
            <a:ext cx="528637"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43"/>
          <p:cNvSpPr>
            <a:spLocks/>
          </p:cNvSpPr>
          <p:nvPr/>
        </p:nvSpPr>
        <p:spPr bwMode="auto">
          <a:xfrm>
            <a:off x="3708400" y="5138738"/>
            <a:ext cx="528637"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44"/>
          <p:cNvSpPr>
            <a:spLocks/>
          </p:cNvSpPr>
          <p:nvPr/>
        </p:nvSpPr>
        <p:spPr bwMode="auto">
          <a:xfrm>
            <a:off x="4570413"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45"/>
          <p:cNvSpPr>
            <a:spLocks/>
          </p:cNvSpPr>
          <p:nvPr/>
        </p:nvSpPr>
        <p:spPr bwMode="auto">
          <a:xfrm>
            <a:off x="4570413"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46"/>
          <p:cNvSpPr>
            <a:spLocks/>
          </p:cNvSpPr>
          <p:nvPr/>
        </p:nvSpPr>
        <p:spPr bwMode="auto">
          <a:xfrm>
            <a:off x="5434013" y="5138738"/>
            <a:ext cx="528637"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47"/>
          <p:cNvSpPr>
            <a:spLocks/>
          </p:cNvSpPr>
          <p:nvPr/>
        </p:nvSpPr>
        <p:spPr bwMode="auto">
          <a:xfrm>
            <a:off x="5434013" y="5138738"/>
            <a:ext cx="528637"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48"/>
          <p:cNvSpPr>
            <a:spLocks/>
          </p:cNvSpPr>
          <p:nvPr/>
        </p:nvSpPr>
        <p:spPr bwMode="auto">
          <a:xfrm>
            <a:off x="6296025"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49"/>
          <p:cNvSpPr>
            <a:spLocks/>
          </p:cNvSpPr>
          <p:nvPr/>
        </p:nvSpPr>
        <p:spPr bwMode="auto">
          <a:xfrm>
            <a:off x="6296025"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50"/>
          <p:cNvSpPr>
            <a:spLocks/>
          </p:cNvSpPr>
          <p:nvPr/>
        </p:nvSpPr>
        <p:spPr bwMode="auto">
          <a:xfrm>
            <a:off x="7159625" y="5138738"/>
            <a:ext cx="528637"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51"/>
          <p:cNvSpPr>
            <a:spLocks/>
          </p:cNvSpPr>
          <p:nvPr/>
        </p:nvSpPr>
        <p:spPr bwMode="auto">
          <a:xfrm>
            <a:off x="7159625" y="5138738"/>
            <a:ext cx="528637"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52"/>
          <p:cNvSpPr>
            <a:spLocks/>
          </p:cNvSpPr>
          <p:nvPr/>
        </p:nvSpPr>
        <p:spPr bwMode="auto">
          <a:xfrm>
            <a:off x="7964488"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53"/>
          <p:cNvSpPr>
            <a:spLocks/>
          </p:cNvSpPr>
          <p:nvPr/>
        </p:nvSpPr>
        <p:spPr bwMode="auto">
          <a:xfrm>
            <a:off x="7964488"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54"/>
          <p:cNvSpPr>
            <a:spLocks/>
          </p:cNvSpPr>
          <p:nvPr/>
        </p:nvSpPr>
        <p:spPr bwMode="auto">
          <a:xfrm>
            <a:off x="8769350"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solidFill>
            <a:srgbClr val="80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55"/>
          <p:cNvSpPr>
            <a:spLocks/>
          </p:cNvSpPr>
          <p:nvPr/>
        </p:nvSpPr>
        <p:spPr bwMode="auto">
          <a:xfrm>
            <a:off x="8769350" y="5138738"/>
            <a:ext cx="530225" cy="534988"/>
          </a:xfrm>
          <a:custGeom>
            <a:avLst/>
            <a:gdLst>
              <a:gd name="T0" fmla="*/ 184 w 184"/>
              <a:gd name="T1" fmla="*/ 93 h 185"/>
              <a:gd name="T2" fmla="*/ 184 w 184"/>
              <a:gd name="T3" fmla="*/ 93 h 185"/>
              <a:gd name="T4" fmla="*/ 92 w 184"/>
              <a:gd name="T5" fmla="*/ 185 h 185"/>
              <a:gd name="T6" fmla="*/ 0 w 184"/>
              <a:gd name="T7" fmla="*/ 93 h 185"/>
              <a:gd name="T8" fmla="*/ 92 w 184"/>
              <a:gd name="T9" fmla="*/ 1 h 185"/>
              <a:gd name="T10" fmla="*/ 184 w 184"/>
              <a:gd name="T11" fmla="*/ 93 h 185"/>
            </a:gdLst>
            <a:ahLst/>
            <a:cxnLst>
              <a:cxn ang="0">
                <a:pos x="T0" y="T1"/>
              </a:cxn>
              <a:cxn ang="0">
                <a:pos x="T2" y="T3"/>
              </a:cxn>
              <a:cxn ang="0">
                <a:pos x="T4" y="T5"/>
              </a:cxn>
              <a:cxn ang="0">
                <a:pos x="T6" y="T7"/>
              </a:cxn>
              <a:cxn ang="0">
                <a:pos x="T8" y="T9"/>
              </a:cxn>
              <a:cxn ang="0">
                <a:pos x="T10" y="T11"/>
              </a:cxn>
            </a:cxnLst>
            <a:rect l="0" t="0" r="r" b="b"/>
            <a:pathLst>
              <a:path w="184" h="185">
                <a:moveTo>
                  <a:pt x="184" y="93"/>
                </a:moveTo>
                <a:lnTo>
                  <a:pt x="184" y="93"/>
                </a:lnTo>
                <a:cubicBezTo>
                  <a:pt x="184" y="144"/>
                  <a:pt x="143" y="185"/>
                  <a:pt x="92" y="185"/>
                </a:cubicBezTo>
                <a:cubicBezTo>
                  <a:pt x="41" y="185"/>
                  <a:pt x="0" y="144"/>
                  <a:pt x="0" y="93"/>
                </a:cubicBezTo>
                <a:cubicBezTo>
                  <a:pt x="0" y="42"/>
                  <a:pt x="41" y="1"/>
                  <a:pt x="92" y="1"/>
                </a:cubicBezTo>
                <a:cubicBezTo>
                  <a:pt x="143" y="0"/>
                  <a:pt x="184" y="42"/>
                  <a:pt x="184" y="93"/>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71"/>
          <p:cNvSpPr>
            <a:spLocks/>
          </p:cNvSpPr>
          <p:nvPr/>
        </p:nvSpPr>
        <p:spPr bwMode="auto">
          <a:xfrm>
            <a:off x="2312988" y="5681663"/>
            <a:ext cx="7556500" cy="584200"/>
          </a:xfrm>
          <a:custGeom>
            <a:avLst/>
            <a:gdLst>
              <a:gd name="T0" fmla="*/ 0 w 2627"/>
              <a:gd name="T1" fmla="*/ 202 h 202"/>
              <a:gd name="T2" fmla="*/ 0 w 2627"/>
              <a:gd name="T3" fmla="*/ 202 h 202"/>
              <a:gd name="T4" fmla="*/ 0 w 2627"/>
              <a:gd name="T5" fmla="*/ 0 h 202"/>
              <a:gd name="T6" fmla="*/ 2627 w 2627"/>
              <a:gd name="T7" fmla="*/ 0 h 202"/>
              <a:gd name="T8" fmla="*/ 2627 w 2627"/>
              <a:gd name="T9" fmla="*/ 202 h 202"/>
            </a:gdLst>
            <a:ahLst/>
            <a:cxnLst>
              <a:cxn ang="0">
                <a:pos x="T0" y="T1"/>
              </a:cxn>
              <a:cxn ang="0">
                <a:pos x="T2" y="T3"/>
              </a:cxn>
              <a:cxn ang="0">
                <a:pos x="T4" y="T5"/>
              </a:cxn>
              <a:cxn ang="0">
                <a:pos x="T6" y="T7"/>
              </a:cxn>
              <a:cxn ang="0">
                <a:pos x="T8" y="T9"/>
              </a:cxn>
            </a:cxnLst>
            <a:rect l="0" t="0" r="r" b="b"/>
            <a:pathLst>
              <a:path w="2627" h="202">
                <a:moveTo>
                  <a:pt x="0" y="202"/>
                </a:moveTo>
                <a:lnTo>
                  <a:pt x="0" y="202"/>
                </a:lnTo>
                <a:lnTo>
                  <a:pt x="0" y="0"/>
                </a:lnTo>
                <a:lnTo>
                  <a:pt x="2627" y="0"/>
                </a:lnTo>
                <a:lnTo>
                  <a:pt x="2627" y="202"/>
                </a:lnTo>
              </a:path>
            </a:pathLst>
          </a:custGeom>
          <a:solidFill>
            <a:srgbClr val="DFF1E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Rectangle 72"/>
          <p:cNvSpPr>
            <a:spLocks noChangeArrowheads="1"/>
          </p:cNvSpPr>
          <p:nvPr/>
        </p:nvSpPr>
        <p:spPr bwMode="auto">
          <a:xfrm>
            <a:off x="5692775" y="5834063"/>
            <a:ext cx="8191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000000"/>
                </a:solidFill>
                <a:effectLst/>
                <a:latin typeface="Arial Bold" panose="020B0704020202020204" pitchFamily="34" charset="0"/>
              </a:rPr>
              <a:t>PCB</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0" name="Rectangle 73"/>
          <p:cNvSpPr>
            <a:spLocks noChangeArrowheads="1"/>
          </p:cNvSpPr>
          <p:nvPr/>
        </p:nvSpPr>
        <p:spPr bwMode="auto">
          <a:xfrm>
            <a:off x="7797800" y="2651125"/>
            <a:ext cx="1208087"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smtClean="0">
                <a:ln>
                  <a:noFill/>
                </a:ln>
                <a:solidFill>
                  <a:srgbClr val="000000"/>
                </a:solidFill>
                <a:effectLst/>
                <a:latin typeface="Arial Bold" panose="020B0704020202020204" pitchFamily="34" charset="0"/>
              </a:rPr>
              <a:t>CMOS IC</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5" name="Freeform 78"/>
          <p:cNvSpPr>
            <a:spLocks noEditPoints="1"/>
          </p:cNvSpPr>
          <p:nvPr/>
        </p:nvSpPr>
        <p:spPr bwMode="auto">
          <a:xfrm>
            <a:off x="9236075" y="3811588"/>
            <a:ext cx="434975" cy="155575"/>
          </a:xfrm>
          <a:custGeom>
            <a:avLst/>
            <a:gdLst>
              <a:gd name="T0" fmla="*/ 33 w 151"/>
              <a:gd name="T1" fmla="*/ 0 h 54"/>
              <a:gd name="T2" fmla="*/ 33 w 151"/>
              <a:gd name="T3" fmla="*/ 0 h 54"/>
              <a:gd name="T4" fmla="*/ 151 w 151"/>
              <a:gd name="T5" fmla="*/ 0 h 54"/>
              <a:gd name="T6" fmla="*/ 118 w 151"/>
              <a:gd name="T7" fmla="*/ 53 h 54"/>
              <a:gd name="T8" fmla="*/ 0 w 151"/>
              <a:gd name="T9" fmla="*/ 54 h 54"/>
              <a:gd name="T10" fmla="*/ 33 w 151"/>
              <a:gd name="T11" fmla="*/ 0 h 54"/>
              <a:gd name="T12" fmla="*/ 33 w 151"/>
              <a:gd name="T13" fmla="*/ 0 h 54"/>
              <a:gd name="T14" fmla="*/ 33 w 151"/>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54">
                <a:moveTo>
                  <a:pt x="33" y="0"/>
                </a:moveTo>
                <a:lnTo>
                  <a:pt x="33" y="0"/>
                </a:lnTo>
                <a:lnTo>
                  <a:pt x="151" y="0"/>
                </a:lnTo>
                <a:lnTo>
                  <a:pt x="118" y="53"/>
                </a:lnTo>
                <a:lnTo>
                  <a:pt x="0" y="54"/>
                </a:lnTo>
                <a:lnTo>
                  <a:pt x="33" y="0"/>
                </a:lnTo>
                <a:close/>
                <a:moveTo>
                  <a:pt x="33" y="0"/>
                </a:moveTo>
                <a:lnTo>
                  <a:pt x="33" y="0"/>
                </a:lnTo>
                <a:close/>
              </a:path>
            </a:pathLst>
          </a:custGeom>
          <a:solidFill>
            <a:srgbClr val="A8745A"/>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Freeform 79"/>
          <p:cNvSpPr>
            <a:spLocks noEditPoints="1"/>
          </p:cNvSpPr>
          <p:nvPr/>
        </p:nvSpPr>
        <p:spPr bwMode="auto">
          <a:xfrm>
            <a:off x="9236075" y="3811588"/>
            <a:ext cx="434975" cy="155575"/>
          </a:xfrm>
          <a:custGeom>
            <a:avLst/>
            <a:gdLst>
              <a:gd name="T0" fmla="*/ 33 w 151"/>
              <a:gd name="T1" fmla="*/ 0 h 54"/>
              <a:gd name="T2" fmla="*/ 33 w 151"/>
              <a:gd name="T3" fmla="*/ 0 h 54"/>
              <a:gd name="T4" fmla="*/ 151 w 151"/>
              <a:gd name="T5" fmla="*/ 0 h 54"/>
              <a:gd name="T6" fmla="*/ 118 w 151"/>
              <a:gd name="T7" fmla="*/ 53 h 54"/>
              <a:gd name="T8" fmla="*/ 0 w 151"/>
              <a:gd name="T9" fmla="*/ 54 h 54"/>
              <a:gd name="T10" fmla="*/ 33 w 151"/>
              <a:gd name="T11" fmla="*/ 0 h 54"/>
              <a:gd name="T12" fmla="*/ 33 w 151"/>
              <a:gd name="T13" fmla="*/ 0 h 54"/>
              <a:gd name="T14" fmla="*/ 33 w 151"/>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54">
                <a:moveTo>
                  <a:pt x="33" y="0"/>
                </a:moveTo>
                <a:lnTo>
                  <a:pt x="33" y="0"/>
                </a:lnTo>
                <a:lnTo>
                  <a:pt x="151" y="0"/>
                </a:lnTo>
                <a:lnTo>
                  <a:pt x="118" y="53"/>
                </a:lnTo>
                <a:lnTo>
                  <a:pt x="0" y="54"/>
                </a:lnTo>
                <a:lnTo>
                  <a:pt x="33" y="0"/>
                </a:lnTo>
                <a:close/>
                <a:moveTo>
                  <a:pt x="33" y="0"/>
                </a:moveTo>
                <a:lnTo>
                  <a:pt x="33" y="0"/>
                </a:lnTo>
                <a:close/>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Rectangle 80"/>
          <p:cNvSpPr>
            <a:spLocks noChangeArrowheads="1"/>
          </p:cNvSpPr>
          <p:nvPr/>
        </p:nvSpPr>
        <p:spPr bwMode="auto">
          <a:xfrm>
            <a:off x="2897188" y="4149725"/>
            <a:ext cx="3190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1" i="0" u="none" strike="noStrike" cap="none" normalizeH="0" baseline="0" smtClean="0">
                <a:ln>
                  <a:noFill/>
                </a:ln>
                <a:solidFill>
                  <a:srgbClr val="26994D"/>
                </a:solidFill>
                <a:effectLst/>
                <a:latin typeface="Arial Bold" panose="020B0704020202020204" pitchFamily="34" charset="0"/>
              </a:rPr>
              <a:t>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8" name="Rectangle 81"/>
          <p:cNvSpPr>
            <a:spLocks noChangeArrowheads="1"/>
          </p:cNvSpPr>
          <p:nvPr/>
        </p:nvSpPr>
        <p:spPr bwMode="auto">
          <a:xfrm>
            <a:off x="3057525" y="4149725"/>
            <a:ext cx="3111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1" i="0" u="none" strike="noStrike" cap="none" normalizeH="0" baseline="0" dirty="0" smtClean="0">
                <a:ln>
                  <a:noFill/>
                </a:ln>
                <a:solidFill>
                  <a:srgbClr val="26994D"/>
                </a:solidFill>
                <a:effectLst/>
                <a:latin typeface="Arial Bold" panose="020B0704020202020204" pitchFamily="34" charset="0"/>
              </a:rPr>
              <a:t>race with optimized Z</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9" name="Rectangle 82"/>
          <p:cNvSpPr>
            <a:spLocks noChangeArrowheads="1"/>
          </p:cNvSpPr>
          <p:nvPr/>
        </p:nvSpPr>
        <p:spPr bwMode="auto">
          <a:xfrm>
            <a:off x="6015038" y="4305300"/>
            <a:ext cx="198437"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rgbClr val="26994D"/>
                </a:solidFill>
                <a:effectLst/>
                <a:latin typeface="Arial Bold" panose="020B0704020202020204" pitchFamily="34" charset="0"/>
              </a:rPr>
              <a:t>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90" name="Freeform 83"/>
          <p:cNvSpPr>
            <a:spLocks/>
          </p:cNvSpPr>
          <p:nvPr/>
        </p:nvSpPr>
        <p:spPr bwMode="auto">
          <a:xfrm>
            <a:off x="2312988" y="5691188"/>
            <a:ext cx="7567612" cy="0"/>
          </a:xfrm>
          <a:custGeom>
            <a:avLst/>
            <a:gdLst>
              <a:gd name="T0" fmla="*/ 0 w 2631"/>
              <a:gd name="T1" fmla="*/ 0 w 2631"/>
              <a:gd name="T2" fmla="*/ 2631 w 2631"/>
            </a:gdLst>
            <a:ahLst/>
            <a:cxnLst>
              <a:cxn ang="0">
                <a:pos x="T0" y="0"/>
              </a:cxn>
              <a:cxn ang="0">
                <a:pos x="T1" y="0"/>
              </a:cxn>
              <a:cxn ang="0">
                <a:pos x="T2" y="0"/>
              </a:cxn>
            </a:cxnLst>
            <a:rect l="0" t="0" r="r" b="b"/>
            <a:pathLst>
              <a:path w="2631">
                <a:moveTo>
                  <a:pt x="0" y="0"/>
                </a:moveTo>
                <a:lnTo>
                  <a:pt x="0" y="0"/>
                </a:lnTo>
                <a:lnTo>
                  <a:pt x="2631" y="0"/>
                </a:ln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84"/>
          <p:cNvSpPr>
            <a:spLocks/>
          </p:cNvSpPr>
          <p:nvPr/>
        </p:nvSpPr>
        <p:spPr bwMode="auto">
          <a:xfrm>
            <a:off x="6877050" y="3082925"/>
            <a:ext cx="184150" cy="0"/>
          </a:xfrm>
          <a:custGeom>
            <a:avLst/>
            <a:gdLst>
              <a:gd name="T0" fmla="*/ 0 w 64"/>
              <a:gd name="T1" fmla="*/ 0 w 64"/>
              <a:gd name="T2" fmla="*/ 64 w 64"/>
            </a:gdLst>
            <a:ahLst/>
            <a:cxnLst>
              <a:cxn ang="0">
                <a:pos x="T0" y="0"/>
              </a:cxn>
              <a:cxn ang="0">
                <a:pos x="T1" y="0"/>
              </a:cxn>
              <a:cxn ang="0">
                <a:pos x="T2" y="0"/>
              </a:cxn>
            </a:cxnLst>
            <a:rect l="0" t="0" r="r" b="b"/>
            <a:pathLst>
              <a:path w="64">
                <a:moveTo>
                  <a:pt x="0" y="0"/>
                </a:moveTo>
                <a:lnTo>
                  <a:pt x="0" y="0"/>
                </a:lnTo>
                <a:lnTo>
                  <a:pt x="64" y="0"/>
                </a:lnTo>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85"/>
          <p:cNvSpPr>
            <a:spLocks noEditPoints="1"/>
          </p:cNvSpPr>
          <p:nvPr/>
        </p:nvSpPr>
        <p:spPr bwMode="auto">
          <a:xfrm>
            <a:off x="5795963" y="2713038"/>
            <a:ext cx="1081087" cy="739775"/>
          </a:xfrm>
          <a:custGeom>
            <a:avLst/>
            <a:gdLst>
              <a:gd name="T0" fmla="*/ 0 w 376"/>
              <a:gd name="T1" fmla="*/ 0 h 256"/>
              <a:gd name="T2" fmla="*/ 0 w 376"/>
              <a:gd name="T3" fmla="*/ 0 h 256"/>
              <a:gd name="T4" fmla="*/ 376 w 376"/>
              <a:gd name="T5" fmla="*/ 128 h 256"/>
              <a:gd name="T6" fmla="*/ 0 w 376"/>
              <a:gd name="T7" fmla="*/ 256 h 256"/>
              <a:gd name="T8" fmla="*/ 0 w 376"/>
              <a:gd name="T9" fmla="*/ 0 h 256"/>
              <a:gd name="T10" fmla="*/ 0 w 376"/>
              <a:gd name="T11" fmla="*/ 0 h 256"/>
              <a:gd name="T12" fmla="*/ 0 w 376"/>
              <a:gd name="T13" fmla="*/ 0 h 256"/>
            </a:gdLst>
            <a:ahLst/>
            <a:cxnLst>
              <a:cxn ang="0">
                <a:pos x="T0" y="T1"/>
              </a:cxn>
              <a:cxn ang="0">
                <a:pos x="T2" y="T3"/>
              </a:cxn>
              <a:cxn ang="0">
                <a:pos x="T4" y="T5"/>
              </a:cxn>
              <a:cxn ang="0">
                <a:pos x="T6" y="T7"/>
              </a:cxn>
              <a:cxn ang="0">
                <a:pos x="T8" y="T9"/>
              </a:cxn>
              <a:cxn ang="0">
                <a:pos x="T10" y="T11"/>
              </a:cxn>
              <a:cxn ang="0">
                <a:pos x="T12" y="T13"/>
              </a:cxn>
            </a:cxnLst>
            <a:rect l="0" t="0" r="r" b="b"/>
            <a:pathLst>
              <a:path w="376" h="256">
                <a:moveTo>
                  <a:pt x="0" y="0"/>
                </a:moveTo>
                <a:lnTo>
                  <a:pt x="0" y="0"/>
                </a:lnTo>
                <a:lnTo>
                  <a:pt x="376" y="128"/>
                </a:lnTo>
                <a:lnTo>
                  <a:pt x="0" y="256"/>
                </a:lnTo>
                <a:lnTo>
                  <a:pt x="0" y="0"/>
                </a:lnTo>
                <a:close/>
                <a:moveTo>
                  <a:pt x="0" y="0"/>
                </a:moveTo>
                <a:lnTo>
                  <a:pt x="0" y="0"/>
                </a:lnTo>
                <a:close/>
              </a:path>
            </a:pathLst>
          </a:custGeom>
          <a:solidFill>
            <a:srgbClr val="F59FD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3" name="Freeform 86"/>
          <p:cNvSpPr>
            <a:spLocks noEditPoints="1"/>
          </p:cNvSpPr>
          <p:nvPr/>
        </p:nvSpPr>
        <p:spPr bwMode="auto">
          <a:xfrm>
            <a:off x="5795963" y="2713038"/>
            <a:ext cx="1081087" cy="739775"/>
          </a:xfrm>
          <a:custGeom>
            <a:avLst/>
            <a:gdLst>
              <a:gd name="T0" fmla="*/ 0 w 376"/>
              <a:gd name="T1" fmla="*/ 0 h 256"/>
              <a:gd name="T2" fmla="*/ 0 w 376"/>
              <a:gd name="T3" fmla="*/ 0 h 256"/>
              <a:gd name="T4" fmla="*/ 376 w 376"/>
              <a:gd name="T5" fmla="*/ 128 h 256"/>
              <a:gd name="T6" fmla="*/ 0 w 376"/>
              <a:gd name="T7" fmla="*/ 256 h 256"/>
              <a:gd name="T8" fmla="*/ 0 w 376"/>
              <a:gd name="T9" fmla="*/ 0 h 256"/>
              <a:gd name="T10" fmla="*/ 0 w 376"/>
              <a:gd name="T11" fmla="*/ 0 h 256"/>
              <a:gd name="T12" fmla="*/ 0 w 376"/>
              <a:gd name="T13" fmla="*/ 0 h 256"/>
            </a:gdLst>
            <a:ahLst/>
            <a:cxnLst>
              <a:cxn ang="0">
                <a:pos x="T0" y="T1"/>
              </a:cxn>
              <a:cxn ang="0">
                <a:pos x="T2" y="T3"/>
              </a:cxn>
              <a:cxn ang="0">
                <a:pos x="T4" y="T5"/>
              </a:cxn>
              <a:cxn ang="0">
                <a:pos x="T6" y="T7"/>
              </a:cxn>
              <a:cxn ang="0">
                <a:pos x="T8" y="T9"/>
              </a:cxn>
              <a:cxn ang="0">
                <a:pos x="T10" y="T11"/>
              </a:cxn>
              <a:cxn ang="0">
                <a:pos x="T12" y="T13"/>
              </a:cxn>
            </a:cxnLst>
            <a:rect l="0" t="0" r="r" b="b"/>
            <a:pathLst>
              <a:path w="376" h="256">
                <a:moveTo>
                  <a:pt x="0" y="0"/>
                </a:moveTo>
                <a:lnTo>
                  <a:pt x="0" y="0"/>
                </a:lnTo>
                <a:lnTo>
                  <a:pt x="376" y="128"/>
                </a:lnTo>
                <a:lnTo>
                  <a:pt x="0" y="256"/>
                </a:lnTo>
                <a:lnTo>
                  <a:pt x="0" y="0"/>
                </a:lnTo>
                <a:close/>
                <a:moveTo>
                  <a:pt x="0" y="0"/>
                </a:moveTo>
                <a:lnTo>
                  <a:pt x="0" y="0"/>
                </a:lnTo>
                <a:close/>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Freeform 87"/>
          <p:cNvSpPr>
            <a:spLocks noEditPoints="1"/>
          </p:cNvSpPr>
          <p:nvPr/>
        </p:nvSpPr>
        <p:spPr bwMode="auto">
          <a:xfrm>
            <a:off x="6992938" y="2854325"/>
            <a:ext cx="457200" cy="458788"/>
          </a:xfrm>
          <a:custGeom>
            <a:avLst/>
            <a:gdLst>
              <a:gd name="T0" fmla="*/ 0 w 159"/>
              <a:gd name="T1" fmla="*/ 0 h 159"/>
              <a:gd name="T2" fmla="*/ 0 w 159"/>
              <a:gd name="T3" fmla="*/ 0 h 159"/>
              <a:gd name="T4" fmla="*/ 159 w 159"/>
              <a:gd name="T5" fmla="*/ 79 h 159"/>
              <a:gd name="T6" fmla="*/ 0 w 159"/>
              <a:gd name="T7" fmla="*/ 159 h 159"/>
              <a:gd name="T8" fmla="*/ 0 w 159"/>
              <a:gd name="T9" fmla="*/ 0 h 159"/>
              <a:gd name="T10" fmla="*/ 0 w 159"/>
              <a:gd name="T11" fmla="*/ 0 h 159"/>
              <a:gd name="T12" fmla="*/ 0 w 159"/>
              <a:gd name="T13" fmla="*/ 0 h 159"/>
            </a:gdLst>
            <a:ahLst/>
            <a:cxnLst>
              <a:cxn ang="0">
                <a:pos x="T0" y="T1"/>
              </a:cxn>
              <a:cxn ang="0">
                <a:pos x="T2" y="T3"/>
              </a:cxn>
              <a:cxn ang="0">
                <a:pos x="T4" y="T5"/>
              </a:cxn>
              <a:cxn ang="0">
                <a:pos x="T6" y="T7"/>
              </a:cxn>
              <a:cxn ang="0">
                <a:pos x="T8" y="T9"/>
              </a:cxn>
              <a:cxn ang="0">
                <a:pos x="T10" y="T11"/>
              </a:cxn>
              <a:cxn ang="0">
                <a:pos x="T12" y="T13"/>
              </a:cxn>
            </a:cxnLst>
            <a:rect l="0" t="0" r="r" b="b"/>
            <a:pathLst>
              <a:path w="159" h="159">
                <a:moveTo>
                  <a:pt x="0" y="0"/>
                </a:moveTo>
                <a:lnTo>
                  <a:pt x="0" y="0"/>
                </a:lnTo>
                <a:lnTo>
                  <a:pt x="159" y="79"/>
                </a:lnTo>
                <a:lnTo>
                  <a:pt x="0" y="159"/>
                </a:lnTo>
                <a:lnTo>
                  <a:pt x="0" y="0"/>
                </a:lnTo>
                <a:close/>
                <a:moveTo>
                  <a:pt x="0" y="0"/>
                </a:moveTo>
                <a:lnTo>
                  <a:pt x="0" y="0"/>
                </a:lnTo>
                <a:close/>
              </a:path>
            </a:pathLst>
          </a:custGeom>
          <a:solidFill>
            <a:srgbClr val="DDF0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Freeform 88"/>
          <p:cNvSpPr>
            <a:spLocks noEditPoints="1"/>
          </p:cNvSpPr>
          <p:nvPr/>
        </p:nvSpPr>
        <p:spPr bwMode="auto">
          <a:xfrm>
            <a:off x="6992938" y="2854325"/>
            <a:ext cx="457200" cy="458788"/>
          </a:xfrm>
          <a:custGeom>
            <a:avLst/>
            <a:gdLst>
              <a:gd name="T0" fmla="*/ 0 w 159"/>
              <a:gd name="T1" fmla="*/ 0 h 159"/>
              <a:gd name="T2" fmla="*/ 0 w 159"/>
              <a:gd name="T3" fmla="*/ 0 h 159"/>
              <a:gd name="T4" fmla="*/ 159 w 159"/>
              <a:gd name="T5" fmla="*/ 79 h 159"/>
              <a:gd name="T6" fmla="*/ 0 w 159"/>
              <a:gd name="T7" fmla="*/ 159 h 159"/>
              <a:gd name="T8" fmla="*/ 0 w 159"/>
              <a:gd name="T9" fmla="*/ 0 h 159"/>
              <a:gd name="T10" fmla="*/ 0 w 159"/>
              <a:gd name="T11" fmla="*/ 0 h 159"/>
              <a:gd name="T12" fmla="*/ 0 w 159"/>
              <a:gd name="T13" fmla="*/ 0 h 159"/>
            </a:gdLst>
            <a:ahLst/>
            <a:cxnLst>
              <a:cxn ang="0">
                <a:pos x="T0" y="T1"/>
              </a:cxn>
              <a:cxn ang="0">
                <a:pos x="T2" y="T3"/>
              </a:cxn>
              <a:cxn ang="0">
                <a:pos x="T4" y="T5"/>
              </a:cxn>
              <a:cxn ang="0">
                <a:pos x="T6" y="T7"/>
              </a:cxn>
              <a:cxn ang="0">
                <a:pos x="T8" y="T9"/>
              </a:cxn>
              <a:cxn ang="0">
                <a:pos x="T10" y="T11"/>
              </a:cxn>
              <a:cxn ang="0">
                <a:pos x="T12" y="T13"/>
              </a:cxn>
            </a:cxnLst>
            <a:rect l="0" t="0" r="r" b="b"/>
            <a:pathLst>
              <a:path w="159" h="159">
                <a:moveTo>
                  <a:pt x="0" y="0"/>
                </a:moveTo>
                <a:lnTo>
                  <a:pt x="0" y="0"/>
                </a:lnTo>
                <a:lnTo>
                  <a:pt x="159" y="79"/>
                </a:lnTo>
                <a:lnTo>
                  <a:pt x="0" y="159"/>
                </a:lnTo>
                <a:lnTo>
                  <a:pt x="0" y="0"/>
                </a:lnTo>
                <a:close/>
                <a:moveTo>
                  <a:pt x="0" y="0"/>
                </a:moveTo>
                <a:lnTo>
                  <a:pt x="0" y="0"/>
                </a:lnTo>
                <a:close/>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Freeform 89"/>
          <p:cNvSpPr>
            <a:spLocks noEditPoints="1"/>
          </p:cNvSpPr>
          <p:nvPr/>
        </p:nvSpPr>
        <p:spPr bwMode="auto">
          <a:xfrm>
            <a:off x="7075488" y="2795588"/>
            <a:ext cx="573087" cy="576263"/>
          </a:xfrm>
          <a:custGeom>
            <a:avLst/>
            <a:gdLst>
              <a:gd name="T0" fmla="*/ 0 w 199"/>
              <a:gd name="T1" fmla="*/ 0 h 199"/>
              <a:gd name="T2" fmla="*/ 0 w 199"/>
              <a:gd name="T3" fmla="*/ 0 h 199"/>
              <a:gd name="T4" fmla="*/ 199 w 199"/>
              <a:gd name="T5" fmla="*/ 99 h 199"/>
              <a:gd name="T6" fmla="*/ 0 w 199"/>
              <a:gd name="T7" fmla="*/ 199 h 199"/>
              <a:gd name="T8" fmla="*/ 0 w 199"/>
              <a:gd name="T9" fmla="*/ 0 h 199"/>
              <a:gd name="T10" fmla="*/ 0 w 199"/>
              <a:gd name="T11" fmla="*/ 0 h 199"/>
              <a:gd name="T12" fmla="*/ 0 w 199"/>
              <a:gd name="T13" fmla="*/ 0 h 199"/>
            </a:gdLst>
            <a:ahLst/>
            <a:cxnLst>
              <a:cxn ang="0">
                <a:pos x="T0" y="T1"/>
              </a:cxn>
              <a:cxn ang="0">
                <a:pos x="T2" y="T3"/>
              </a:cxn>
              <a:cxn ang="0">
                <a:pos x="T4" y="T5"/>
              </a:cxn>
              <a:cxn ang="0">
                <a:pos x="T6" y="T7"/>
              </a:cxn>
              <a:cxn ang="0">
                <a:pos x="T8" y="T9"/>
              </a:cxn>
              <a:cxn ang="0">
                <a:pos x="T10" y="T11"/>
              </a:cxn>
              <a:cxn ang="0">
                <a:pos x="T12" y="T13"/>
              </a:cxn>
            </a:cxnLst>
            <a:rect l="0" t="0" r="r" b="b"/>
            <a:pathLst>
              <a:path w="199" h="199">
                <a:moveTo>
                  <a:pt x="0" y="0"/>
                </a:moveTo>
                <a:lnTo>
                  <a:pt x="0" y="0"/>
                </a:lnTo>
                <a:lnTo>
                  <a:pt x="199" y="99"/>
                </a:lnTo>
                <a:lnTo>
                  <a:pt x="0" y="199"/>
                </a:lnTo>
                <a:lnTo>
                  <a:pt x="0" y="0"/>
                </a:lnTo>
                <a:close/>
                <a:moveTo>
                  <a:pt x="0" y="0"/>
                </a:moveTo>
                <a:lnTo>
                  <a:pt x="0" y="0"/>
                </a:lnTo>
                <a:close/>
              </a:path>
            </a:pathLst>
          </a:custGeom>
          <a:solidFill>
            <a:srgbClr val="DDF0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 name="Freeform 90"/>
          <p:cNvSpPr>
            <a:spLocks noEditPoints="1"/>
          </p:cNvSpPr>
          <p:nvPr/>
        </p:nvSpPr>
        <p:spPr bwMode="auto">
          <a:xfrm>
            <a:off x="7075488" y="2795588"/>
            <a:ext cx="573087" cy="576263"/>
          </a:xfrm>
          <a:custGeom>
            <a:avLst/>
            <a:gdLst>
              <a:gd name="T0" fmla="*/ 0 w 199"/>
              <a:gd name="T1" fmla="*/ 0 h 199"/>
              <a:gd name="T2" fmla="*/ 0 w 199"/>
              <a:gd name="T3" fmla="*/ 0 h 199"/>
              <a:gd name="T4" fmla="*/ 199 w 199"/>
              <a:gd name="T5" fmla="*/ 99 h 199"/>
              <a:gd name="T6" fmla="*/ 0 w 199"/>
              <a:gd name="T7" fmla="*/ 199 h 199"/>
              <a:gd name="T8" fmla="*/ 0 w 199"/>
              <a:gd name="T9" fmla="*/ 0 h 199"/>
              <a:gd name="T10" fmla="*/ 0 w 199"/>
              <a:gd name="T11" fmla="*/ 0 h 199"/>
              <a:gd name="T12" fmla="*/ 0 w 199"/>
              <a:gd name="T13" fmla="*/ 0 h 199"/>
            </a:gdLst>
            <a:ahLst/>
            <a:cxnLst>
              <a:cxn ang="0">
                <a:pos x="T0" y="T1"/>
              </a:cxn>
              <a:cxn ang="0">
                <a:pos x="T2" y="T3"/>
              </a:cxn>
              <a:cxn ang="0">
                <a:pos x="T4" y="T5"/>
              </a:cxn>
              <a:cxn ang="0">
                <a:pos x="T6" y="T7"/>
              </a:cxn>
              <a:cxn ang="0">
                <a:pos x="T8" y="T9"/>
              </a:cxn>
              <a:cxn ang="0">
                <a:pos x="T10" y="T11"/>
              </a:cxn>
              <a:cxn ang="0">
                <a:pos x="T12" y="T13"/>
              </a:cxn>
            </a:cxnLst>
            <a:rect l="0" t="0" r="r" b="b"/>
            <a:pathLst>
              <a:path w="199" h="199">
                <a:moveTo>
                  <a:pt x="0" y="0"/>
                </a:moveTo>
                <a:lnTo>
                  <a:pt x="0" y="0"/>
                </a:lnTo>
                <a:lnTo>
                  <a:pt x="199" y="99"/>
                </a:lnTo>
                <a:lnTo>
                  <a:pt x="0" y="199"/>
                </a:lnTo>
                <a:lnTo>
                  <a:pt x="0" y="0"/>
                </a:lnTo>
                <a:close/>
                <a:moveTo>
                  <a:pt x="0" y="0"/>
                </a:moveTo>
                <a:lnTo>
                  <a:pt x="0" y="0"/>
                </a:lnTo>
                <a:close/>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Freeform 91"/>
          <p:cNvSpPr>
            <a:spLocks noEditPoints="1"/>
          </p:cNvSpPr>
          <p:nvPr/>
        </p:nvSpPr>
        <p:spPr bwMode="auto">
          <a:xfrm>
            <a:off x="7162800" y="2713038"/>
            <a:ext cx="735012" cy="739775"/>
          </a:xfrm>
          <a:custGeom>
            <a:avLst/>
            <a:gdLst>
              <a:gd name="T0" fmla="*/ 0 w 256"/>
              <a:gd name="T1" fmla="*/ 0 h 256"/>
              <a:gd name="T2" fmla="*/ 0 w 256"/>
              <a:gd name="T3" fmla="*/ 0 h 256"/>
              <a:gd name="T4" fmla="*/ 256 w 256"/>
              <a:gd name="T5" fmla="*/ 128 h 256"/>
              <a:gd name="T6" fmla="*/ 0 w 256"/>
              <a:gd name="T7" fmla="*/ 256 h 256"/>
              <a:gd name="T8" fmla="*/ 0 w 256"/>
              <a:gd name="T9" fmla="*/ 0 h 256"/>
              <a:gd name="T10" fmla="*/ 0 w 256"/>
              <a:gd name="T11" fmla="*/ 0 h 256"/>
              <a:gd name="T12" fmla="*/ 0 w 256"/>
              <a:gd name="T13" fmla="*/ 0 h 256"/>
            </a:gdLst>
            <a:ahLst/>
            <a:cxnLst>
              <a:cxn ang="0">
                <a:pos x="T0" y="T1"/>
              </a:cxn>
              <a:cxn ang="0">
                <a:pos x="T2" y="T3"/>
              </a:cxn>
              <a:cxn ang="0">
                <a:pos x="T4" y="T5"/>
              </a:cxn>
              <a:cxn ang="0">
                <a:pos x="T6" y="T7"/>
              </a:cxn>
              <a:cxn ang="0">
                <a:pos x="T8" y="T9"/>
              </a:cxn>
              <a:cxn ang="0">
                <a:pos x="T10" y="T11"/>
              </a:cxn>
              <a:cxn ang="0">
                <a:pos x="T12" y="T13"/>
              </a:cxn>
            </a:cxnLst>
            <a:rect l="0" t="0" r="r" b="b"/>
            <a:pathLst>
              <a:path w="256" h="256">
                <a:moveTo>
                  <a:pt x="0" y="0"/>
                </a:moveTo>
                <a:lnTo>
                  <a:pt x="0" y="0"/>
                </a:lnTo>
                <a:lnTo>
                  <a:pt x="256" y="128"/>
                </a:lnTo>
                <a:lnTo>
                  <a:pt x="0" y="256"/>
                </a:lnTo>
                <a:lnTo>
                  <a:pt x="0" y="0"/>
                </a:lnTo>
                <a:close/>
                <a:moveTo>
                  <a:pt x="0" y="0"/>
                </a:moveTo>
                <a:lnTo>
                  <a:pt x="0" y="0"/>
                </a:lnTo>
                <a:close/>
              </a:path>
            </a:pathLst>
          </a:custGeom>
          <a:solidFill>
            <a:srgbClr val="DDF0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9" name="Freeform 92"/>
          <p:cNvSpPr>
            <a:spLocks noEditPoints="1"/>
          </p:cNvSpPr>
          <p:nvPr/>
        </p:nvSpPr>
        <p:spPr bwMode="auto">
          <a:xfrm>
            <a:off x="7162800" y="2713038"/>
            <a:ext cx="735012" cy="739775"/>
          </a:xfrm>
          <a:custGeom>
            <a:avLst/>
            <a:gdLst>
              <a:gd name="T0" fmla="*/ 0 w 256"/>
              <a:gd name="T1" fmla="*/ 0 h 256"/>
              <a:gd name="T2" fmla="*/ 0 w 256"/>
              <a:gd name="T3" fmla="*/ 0 h 256"/>
              <a:gd name="T4" fmla="*/ 256 w 256"/>
              <a:gd name="T5" fmla="*/ 128 h 256"/>
              <a:gd name="T6" fmla="*/ 0 w 256"/>
              <a:gd name="T7" fmla="*/ 256 h 256"/>
              <a:gd name="T8" fmla="*/ 0 w 256"/>
              <a:gd name="T9" fmla="*/ 0 h 256"/>
              <a:gd name="T10" fmla="*/ 0 w 256"/>
              <a:gd name="T11" fmla="*/ 0 h 256"/>
              <a:gd name="T12" fmla="*/ 0 w 256"/>
              <a:gd name="T13" fmla="*/ 0 h 256"/>
            </a:gdLst>
            <a:ahLst/>
            <a:cxnLst>
              <a:cxn ang="0">
                <a:pos x="T0" y="T1"/>
              </a:cxn>
              <a:cxn ang="0">
                <a:pos x="T2" y="T3"/>
              </a:cxn>
              <a:cxn ang="0">
                <a:pos x="T4" y="T5"/>
              </a:cxn>
              <a:cxn ang="0">
                <a:pos x="T6" y="T7"/>
              </a:cxn>
              <a:cxn ang="0">
                <a:pos x="T8" y="T9"/>
              </a:cxn>
              <a:cxn ang="0">
                <a:pos x="T10" y="T11"/>
              </a:cxn>
              <a:cxn ang="0">
                <a:pos x="T12" y="T13"/>
              </a:cxn>
            </a:cxnLst>
            <a:rect l="0" t="0" r="r" b="b"/>
            <a:pathLst>
              <a:path w="256" h="256">
                <a:moveTo>
                  <a:pt x="0" y="0"/>
                </a:moveTo>
                <a:lnTo>
                  <a:pt x="0" y="0"/>
                </a:lnTo>
                <a:lnTo>
                  <a:pt x="256" y="128"/>
                </a:lnTo>
                <a:lnTo>
                  <a:pt x="0" y="256"/>
                </a:lnTo>
                <a:lnTo>
                  <a:pt x="0" y="0"/>
                </a:lnTo>
                <a:close/>
                <a:moveTo>
                  <a:pt x="0" y="0"/>
                </a:moveTo>
                <a:lnTo>
                  <a:pt x="0" y="0"/>
                </a:lnTo>
                <a:close/>
              </a:path>
            </a:pathLst>
          </a:custGeom>
          <a:noFill/>
          <a:ln w="254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Rectangle 93"/>
          <p:cNvSpPr>
            <a:spLocks noChangeArrowheads="1"/>
          </p:cNvSpPr>
          <p:nvPr/>
        </p:nvSpPr>
        <p:spPr bwMode="auto">
          <a:xfrm>
            <a:off x="5859463" y="2911475"/>
            <a:ext cx="6842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smtClean="0">
                <a:ln>
                  <a:noFill/>
                </a:ln>
                <a:solidFill>
                  <a:srgbClr val="000000"/>
                </a:solidFill>
                <a:effectLst/>
                <a:latin typeface="Arial Bold" panose="020B0704020202020204" pitchFamily="34" charset="0"/>
              </a:rPr>
              <a:t>TIA</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1" name="Rectangle 94"/>
          <p:cNvSpPr>
            <a:spLocks noChangeArrowheads="1"/>
          </p:cNvSpPr>
          <p:nvPr/>
        </p:nvSpPr>
        <p:spPr bwMode="auto">
          <a:xfrm>
            <a:off x="7227888" y="2967038"/>
            <a:ext cx="54610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Arial Bold" panose="020B0704020202020204" pitchFamily="34" charset="0"/>
              </a:rPr>
              <a:t>BUF</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2" name="Freeform 95"/>
          <p:cNvSpPr>
            <a:spLocks noEditPoints="1"/>
          </p:cNvSpPr>
          <p:nvPr/>
        </p:nvSpPr>
        <p:spPr bwMode="auto">
          <a:xfrm>
            <a:off x="3900488" y="3970338"/>
            <a:ext cx="1208087" cy="109538"/>
          </a:xfrm>
          <a:custGeom>
            <a:avLst/>
            <a:gdLst>
              <a:gd name="T0" fmla="*/ 0 w 420"/>
              <a:gd name="T1" fmla="*/ 0 h 38"/>
              <a:gd name="T2" fmla="*/ 0 w 420"/>
              <a:gd name="T3" fmla="*/ 0 h 38"/>
              <a:gd name="T4" fmla="*/ 42 w 420"/>
              <a:gd name="T5" fmla="*/ 38 h 38"/>
              <a:gd name="T6" fmla="*/ 420 w 420"/>
              <a:gd name="T7" fmla="*/ 38 h 38"/>
              <a:gd name="T8" fmla="*/ 377 w 420"/>
              <a:gd name="T9" fmla="*/ 0 h 38"/>
              <a:gd name="T10" fmla="*/ 0 w 420"/>
              <a:gd name="T11" fmla="*/ 0 h 38"/>
              <a:gd name="T12" fmla="*/ 0 w 420"/>
              <a:gd name="T13" fmla="*/ 0 h 38"/>
              <a:gd name="T14" fmla="*/ 0 w 420"/>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0" h="38">
                <a:moveTo>
                  <a:pt x="0" y="0"/>
                </a:moveTo>
                <a:lnTo>
                  <a:pt x="0" y="0"/>
                </a:lnTo>
                <a:lnTo>
                  <a:pt x="42" y="38"/>
                </a:lnTo>
                <a:lnTo>
                  <a:pt x="420" y="38"/>
                </a:lnTo>
                <a:lnTo>
                  <a:pt x="377" y="0"/>
                </a:lnTo>
                <a:lnTo>
                  <a:pt x="0" y="0"/>
                </a:lnTo>
                <a:close/>
                <a:moveTo>
                  <a:pt x="0" y="0"/>
                </a:moveTo>
                <a:lnTo>
                  <a:pt x="0" y="0"/>
                </a:lnTo>
                <a:close/>
              </a:path>
            </a:pathLst>
          </a:custGeom>
          <a:solidFill>
            <a:srgbClr val="EDF8E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 name="Freeform 96"/>
          <p:cNvSpPr>
            <a:spLocks noEditPoints="1"/>
          </p:cNvSpPr>
          <p:nvPr/>
        </p:nvSpPr>
        <p:spPr bwMode="auto">
          <a:xfrm>
            <a:off x="3900488" y="3970338"/>
            <a:ext cx="1208087" cy="109538"/>
          </a:xfrm>
          <a:custGeom>
            <a:avLst/>
            <a:gdLst>
              <a:gd name="T0" fmla="*/ 0 w 420"/>
              <a:gd name="T1" fmla="*/ 0 h 38"/>
              <a:gd name="T2" fmla="*/ 0 w 420"/>
              <a:gd name="T3" fmla="*/ 0 h 38"/>
              <a:gd name="T4" fmla="*/ 42 w 420"/>
              <a:gd name="T5" fmla="*/ 38 h 38"/>
              <a:gd name="T6" fmla="*/ 420 w 420"/>
              <a:gd name="T7" fmla="*/ 38 h 38"/>
              <a:gd name="T8" fmla="*/ 377 w 420"/>
              <a:gd name="T9" fmla="*/ 0 h 38"/>
              <a:gd name="T10" fmla="*/ 0 w 420"/>
              <a:gd name="T11" fmla="*/ 0 h 38"/>
              <a:gd name="T12" fmla="*/ 0 w 420"/>
              <a:gd name="T13" fmla="*/ 0 h 38"/>
              <a:gd name="T14" fmla="*/ 0 w 420"/>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0" h="38">
                <a:moveTo>
                  <a:pt x="0" y="0"/>
                </a:moveTo>
                <a:lnTo>
                  <a:pt x="0" y="0"/>
                </a:lnTo>
                <a:lnTo>
                  <a:pt x="42" y="38"/>
                </a:lnTo>
                <a:lnTo>
                  <a:pt x="420" y="38"/>
                </a:lnTo>
                <a:lnTo>
                  <a:pt x="377" y="0"/>
                </a:lnTo>
                <a:lnTo>
                  <a:pt x="0" y="0"/>
                </a:lnTo>
                <a:close/>
                <a:moveTo>
                  <a:pt x="0" y="0"/>
                </a:moveTo>
                <a:lnTo>
                  <a:pt x="0" y="0"/>
                </a:lnTo>
                <a:close/>
              </a:path>
            </a:pathLst>
          </a:custGeom>
          <a:noFill/>
          <a:ln w="28575"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Freeform 97"/>
          <p:cNvSpPr>
            <a:spLocks/>
          </p:cNvSpPr>
          <p:nvPr/>
        </p:nvSpPr>
        <p:spPr bwMode="auto">
          <a:xfrm>
            <a:off x="3900488" y="3970338"/>
            <a:ext cx="0" cy="60325"/>
          </a:xfrm>
          <a:custGeom>
            <a:avLst/>
            <a:gdLst>
              <a:gd name="T0" fmla="*/ 21 h 21"/>
              <a:gd name="T1" fmla="*/ 21 h 21"/>
              <a:gd name="T2" fmla="*/ 0 h 21"/>
            </a:gdLst>
            <a:ahLst/>
            <a:cxnLst>
              <a:cxn ang="0">
                <a:pos x="0" y="T0"/>
              </a:cxn>
              <a:cxn ang="0">
                <a:pos x="0" y="T1"/>
              </a:cxn>
              <a:cxn ang="0">
                <a:pos x="0" y="T2"/>
              </a:cxn>
            </a:cxnLst>
            <a:rect l="0" t="0" r="r" b="b"/>
            <a:pathLst>
              <a:path h="21">
                <a:moveTo>
                  <a:pt x="0" y="21"/>
                </a:moveTo>
                <a:lnTo>
                  <a:pt x="0" y="21"/>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98"/>
          <p:cNvSpPr>
            <a:spLocks/>
          </p:cNvSpPr>
          <p:nvPr/>
        </p:nvSpPr>
        <p:spPr bwMode="auto">
          <a:xfrm>
            <a:off x="3900488" y="3970338"/>
            <a:ext cx="120650" cy="109538"/>
          </a:xfrm>
          <a:custGeom>
            <a:avLst/>
            <a:gdLst>
              <a:gd name="T0" fmla="*/ 0 w 42"/>
              <a:gd name="T1" fmla="*/ 0 h 38"/>
              <a:gd name="T2" fmla="*/ 0 w 42"/>
              <a:gd name="T3" fmla="*/ 0 h 38"/>
              <a:gd name="T4" fmla="*/ 42 w 42"/>
              <a:gd name="T5" fmla="*/ 38 h 38"/>
            </a:gdLst>
            <a:ahLst/>
            <a:cxnLst>
              <a:cxn ang="0">
                <a:pos x="T0" y="T1"/>
              </a:cxn>
              <a:cxn ang="0">
                <a:pos x="T2" y="T3"/>
              </a:cxn>
              <a:cxn ang="0">
                <a:pos x="T4" y="T5"/>
              </a:cxn>
            </a:cxnLst>
            <a:rect l="0" t="0" r="r" b="b"/>
            <a:pathLst>
              <a:path w="42" h="38">
                <a:moveTo>
                  <a:pt x="0" y="0"/>
                </a:moveTo>
                <a:lnTo>
                  <a:pt x="0" y="0"/>
                </a:lnTo>
                <a:lnTo>
                  <a:pt x="42" y="38"/>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Freeform 99"/>
          <p:cNvSpPr>
            <a:spLocks/>
          </p:cNvSpPr>
          <p:nvPr/>
        </p:nvSpPr>
        <p:spPr bwMode="auto">
          <a:xfrm>
            <a:off x="4021138" y="4079875"/>
            <a:ext cx="0" cy="60325"/>
          </a:xfrm>
          <a:custGeom>
            <a:avLst/>
            <a:gdLst>
              <a:gd name="T0" fmla="*/ 21 h 21"/>
              <a:gd name="T1" fmla="*/ 21 h 21"/>
              <a:gd name="T2" fmla="*/ 0 h 21"/>
            </a:gdLst>
            <a:ahLst/>
            <a:cxnLst>
              <a:cxn ang="0">
                <a:pos x="0" y="T0"/>
              </a:cxn>
              <a:cxn ang="0">
                <a:pos x="0" y="T1"/>
              </a:cxn>
              <a:cxn ang="0">
                <a:pos x="0" y="T2"/>
              </a:cxn>
            </a:cxnLst>
            <a:rect l="0" t="0" r="r" b="b"/>
            <a:pathLst>
              <a:path h="21">
                <a:moveTo>
                  <a:pt x="0" y="21"/>
                </a:moveTo>
                <a:lnTo>
                  <a:pt x="0" y="21"/>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Freeform 100"/>
          <p:cNvSpPr>
            <a:spLocks noEditPoints="1"/>
          </p:cNvSpPr>
          <p:nvPr/>
        </p:nvSpPr>
        <p:spPr bwMode="auto">
          <a:xfrm>
            <a:off x="3900488" y="3970338"/>
            <a:ext cx="120650" cy="169863"/>
          </a:xfrm>
          <a:custGeom>
            <a:avLst/>
            <a:gdLst>
              <a:gd name="T0" fmla="*/ 0 w 42"/>
              <a:gd name="T1" fmla="*/ 21 h 59"/>
              <a:gd name="T2" fmla="*/ 0 w 42"/>
              <a:gd name="T3" fmla="*/ 21 h 59"/>
              <a:gd name="T4" fmla="*/ 0 w 42"/>
              <a:gd name="T5" fmla="*/ 0 h 59"/>
              <a:gd name="T6" fmla="*/ 42 w 42"/>
              <a:gd name="T7" fmla="*/ 39 h 59"/>
              <a:gd name="T8" fmla="*/ 42 w 42"/>
              <a:gd name="T9" fmla="*/ 59 h 59"/>
              <a:gd name="T10" fmla="*/ 0 w 42"/>
              <a:gd name="T11" fmla="*/ 21 h 59"/>
              <a:gd name="T12" fmla="*/ 0 w 42"/>
              <a:gd name="T13" fmla="*/ 21 h 59"/>
              <a:gd name="T14" fmla="*/ 0 w 42"/>
              <a:gd name="T15" fmla="*/ 21 h 59"/>
              <a:gd name="T16" fmla="*/ 0 w 42"/>
              <a:gd name="T17" fmla="*/ 2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59">
                <a:moveTo>
                  <a:pt x="0" y="21"/>
                </a:moveTo>
                <a:lnTo>
                  <a:pt x="0" y="21"/>
                </a:lnTo>
                <a:lnTo>
                  <a:pt x="0" y="0"/>
                </a:lnTo>
                <a:lnTo>
                  <a:pt x="42" y="39"/>
                </a:lnTo>
                <a:lnTo>
                  <a:pt x="42" y="59"/>
                </a:lnTo>
                <a:lnTo>
                  <a:pt x="0" y="21"/>
                </a:lnTo>
                <a:lnTo>
                  <a:pt x="0" y="21"/>
                </a:lnTo>
                <a:close/>
                <a:moveTo>
                  <a:pt x="0" y="21"/>
                </a:moveTo>
                <a:lnTo>
                  <a:pt x="0" y="21"/>
                </a:lnTo>
                <a:close/>
              </a:path>
            </a:pathLst>
          </a:custGeom>
          <a:solidFill>
            <a:srgbClr val="EDF8E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101"/>
          <p:cNvSpPr>
            <a:spLocks noEditPoints="1"/>
          </p:cNvSpPr>
          <p:nvPr/>
        </p:nvSpPr>
        <p:spPr bwMode="auto">
          <a:xfrm>
            <a:off x="3900488" y="3970338"/>
            <a:ext cx="120650" cy="169863"/>
          </a:xfrm>
          <a:custGeom>
            <a:avLst/>
            <a:gdLst>
              <a:gd name="T0" fmla="*/ 0 w 42"/>
              <a:gd name="T1" fmla="*/ 21 h 59"/>
              <a:gd name="T2" fmla="*/ 0 w 42"/>
              <a:gd name="T3" fmla="*/ 21 h 59"/>
              <a:gd name="T4" fmla="*/ 0 w 42"/>
              <a:gd name="T5" fmla="*/ 0 h 59"/>
              <a:gd name="T6" fmla="*/ 42 w 42"/>
              <a:gd name="T7" fmla="*/ 39 h 59"/>
              <a:gd name="T8" fmla="*/ 42 w 42"/>
              <a:gd name="T9" fmla="*/ 59 h 59"/>
              <a:gd name="T10" fmla="*/ 0 w 42"/>
              <a:gd name="T11" fmla="*/ 21 h 59"/>
              <a:gd name="T12" fmla="*/ 0 w 42"/>
              <a:gd name="T13" fmla="*/ 21 h 59"/>
              <a:gd name="T14" fmla="*/ 0 w 42"/>
              <a:gd name="T15" fmla="*/ 21 h 59"/>
              <a:gd name="T16" fmla="*/ 0 w 42"/>
              <a:gd name="T17" fmla="*/ 2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59">
                <a:moveTo>
                  <a:pt x="0" y="21"/>
                </a:moveTo>
                <a:lnTo>
                  <a:pt x="0" y="21"/>
                </a:lnTo>
                <a:lnTo>
                  <a:pt x="0" y="0"/>
                </a:lnTo>
                <a:lnTo>
                  <a:pt x="42" y="39"/>
                </a:lnTo>
                <a:lnTo>
                  <a:pt x="42" y="59"/>
                </a:lnTo>
                <a:lnTo>
                  <a:pt x="0" y="21"/>
                </a:lnTo>
                <a:lnTo>
                  <a:pt x="0" y="21"/>
                </a:lnTo>
                <a:close/>
                <a:moveTo>
                  <a:pt x="0" y="21"/>
                </a:moveTo>
                <a:lnTo>
                  <a:pt x="0" y="21"/>
                </a:lnTo>
                <a:close/>
              </a:path>
            </a:pathLst>
          </a:custGeom>
          <a:noFill/>
          <a:ln w="28575"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102"/>
          <p:cNvSpPr>
            <a:spLocks/>
          </p:cNvSpPr>
          <p:nvPr/>
        </p:nvSpPr>
        <p:spPr bwMode="auto">
          <a:xfrm>
            <a:off x="4021138" y="4083050"/>
            <a:ext cx="1087437" cy="57150"/>
          </a:xfrm>
          <a:custGeom>
            <a:avLst/>
            <a:gdLst>
              <a:gd name="T0" fmla="*/ 0 w 378"/>
              <a:gd name="T1" fmla="*/ 0 h 20"/>
              <a:gd name="T2" fmla="*/ 0 w 378"/>
              <a:gd name="T3" fmla="*/ 0 h 20"/>
              <a:gd name="T4" fmla="*/ 378 w 378"/>
              <a:gd name="T5" fmla="*/ 0 h 20"/>
              <a:gd name="T6" fmla="*/ 378 w 378"/>
              <a:gd name="T7" fmla="*/ 20 h 20"/>
              <a:gd name="T8" fmla="*/ 0 w 378"/>
              <a:gd name="T9" fmla="*/ 20 h 20"/>
              <a:gd name="T10" fmla="*/ 0 w 378"/>
              <a:gd name="T11" fmla="*/ 0 h 20"/>
            </a:gdLst>
            <a:ahLst/>
            <a:cxnLst>
              <a:cxn ang="0">
                <a:pos x="T0" y="T1"/>
              </a:cxn>
              <a:cxn ang="0">
                <a:pos x="T2" y="T3"/>
              </a:cxn>
              <a:cxn ang="0">
                <a:pos x="T4" y="T5"/>
              </a:cxn>
              <a:cxn ang="0">
                <a:pos x="T6" y="T7"/>
              </a:cxn>
              <a:cxn ang="0">
                <a:pos x="T8" y="T9"/>
              </a:cxn>
              <a:cxn ang="0">
                <a:pos x="T10" y="T11"/>
              </a:cxn>
            </a:cxnLst>
            <a:rect l="0" t="0" r="r" b="b"/>
            <a:pathLst>
              <a:path w="378" h="20">
                <a:moveTo>
                  <a:pt x="0" y="0"/>
                </a:moveTo>
                <a:lnTo>
                  <a:pt x="0" y="0"/>
                </a:lnTo>
                <a:lnTo>
                  <a:pt x="378" y="0"/>
                </a:lnTo>
                <a:lnTo>
                  <a:pt x="378" y="20"/>
                </a:lnTo>
                <a:lnTo>
                  <a:pt x="0" y="20"/>
                </a:lnTo>
                <a:lnTo>
                  <a:pt x="0" y="0"/>
                </a:lnTo>
                <a:close/>
              </a:path>
            </a:pathLst>
          </a:custGeom>
          <a:solidFill>
            <a:srgbClr val="EDF8E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 name="Freeform 103"/>
          <p:cNvSpPr>
            <a:spLocks/>
          </p:cNvSpPr>
          <p:nvPr/>
        </p:nvSpPr>
        <p:spPr bwMode="auto">
          <a:xfrm>
            <a:off x="4021138" y="4083050"/>
            <a:ext cx="1087437" cy="57150"/>
          </a:xfrm>
          <a:custGeom>
            <a:avLst/>
            <a:gdLst>
              <a:gd name="T0" fmla="*/ 0 w 378"/>
              <a:gd name="T1" fmla="*/ 0 h 20"/>
              <a:gd name="T2" fmla="*/ 0 w 378"/>
              <a:gd name="T3" fmla="*/ 0 h 20"/>
              <a:gd name="T4" fmla="*/ 378 w 378"/>
              <a:gd name="T5" fmla="*/ 0 h 20"/>
              <a:gd name="T6" fmla="*/ 378 w 378"/>
              <a:gd name="T7" fmla="*/ 20 h 20"/>
              <a:gd name="T8" fmla="*/ 0 w 378"/>
              <a:gd name="T9" fmla="*/ 20 h 20"/>
              <a:gd name="T10" fmla="*/ 0 w 378"/>
              <a:gd name="T11" fmla="*/ 0 h 20"/>
            </a:gdLst>
            <a:ahLst/>
            <a:cxnLst>
              <a:cxn ang="0">
                <a:pos x="T0" y="T1"/>
              </a:cxn>
              <a:cxn ang="0">
                <a:pos x="T2" y="T3"/>
              </a:cxn>
              <a:cxn ang="0">
                <a:pos x="T4" y="T5"/>
              </a:cxn>
              <a:cxn ang="0">
                <a:pos x="T6" y="T7"/>
              </a:cxn>
              <a:cxn ang="0">
                <a:pos x="T8" y="T9"/>
              </a:cxn>
              <a:cxn ang="0">
                <a:pos x="T10" y="T11"/>
              </a:cxn>
            </a:cxnLst>
            <a:rect l="0" t="0" r="r" b="b"/>
            <a:pathLst>
              <a:path w="378" h="20">
                <a:moveTo>
                  <a:pt x="0" y="0"/>
                </a:moveTo>
                <a:lnTo>
                  <a:pt x="0" y="0"/>
                </a:lnTo>
                <a:lnTo>
                  <a:pt x="378" y="0"/>
                </a:lnTo>
                <a:lnTo>
                  <a:pt x="378" y="20"/>
                </a:lnTo>
                <a:lnTo>
                  <a:pt x="0" y="20"/>
                </a:lnTo>
                <a:lnTo>
                  <a:pt x="0" y="0"/>
                </a:lnTo>
                <a:close/>
              </a:path>
            </a:pathLst>
          </a:custGeom>
          <a:noFill/>
          <a:ln w="28575"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4"/>
          <p:cNvSpPr>
            <a:spLocks noEditPoints="1"/>
          </p:cNvSpPr>
          <p:nvPr/>
        </p:nvSpPr>
        <p:spPr bwMode="auto">
          <a:xfrm>
            <a:off x="8666163" y="4010025"/>
            <a:ext cx="690562" cy="111125"/>
          </a:xfrm>
          <a:custGeom>
            <a:avLst/>
            <a:gdLst>
              <a:gd name="T0" fmla="*/ 0 w 240"/>
              <a:gd name="T1" fmla="*/ 0 h 38"/>
              <a:gd name="T2" fmla="*/ 0 w 240"/>
              <a:gd name="T3" fmla="*/ 0 h 38"/>
              <a:gd name="T4" fmla="*/ 42 w 240"/>
              <a:gd name="T5" fmla="*/ 38 h 38"/>
              <a:gd name="T6" fmla="*/ 240 w 240"/>
              <a:gd name="T7" fmla="*/ 38 h 38"/>
              <a:gd name="T8" fmla="*/ 198 w 240"/>
              <a:gd name="T9" fmla="*/ 0 h 38"/>
              <a:gd name="T10" fmla="*/ 0 w 240"/>
              <a:gd name="T11" fmla="*/ 0 h 38"/>
              <a:gd name="T12" fmla="*/ 0 w 240"/>
              <a:gd name="T13" fmla="*/ 0 h 38"/>
              <a:gd name="T14" fmla="*/ 0 w 240"/>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38">
                <a:moveTo>
                  <a:pt x="0" y="0"/>
                </a:moveTo>
                <a:lnTo>
                  <a:pt x="0" y="0"/>
                </a:lnTo>
                <a:lnTo>
                  <a:pt x="42" y="38"/>
                </a:lnTo>
                <a:lnTo>
                  <a:pt x="240" y="38"/>
                </a:lnTo>
                <a:lnTo>
                  <a:pt x="198" y="0"/>
                </a:lnTo>
                <a:lnTo>
                  <a:pt x="0" y="0"/>
                </a:lnTo>
                <a:close/>
                <a:moveTo>
                  <a:pt x="0" y="0"/>
                </a:moveTo>
                <a:lnTo>
                  <a:pt x="0" y="0"/>
                </a:lnTo>
                <a:close/>
              </a:path>
            </a:pathLst>
          </a:custGeom>
          <a:solidFill>
            <a:srgbClr val="EDF8E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Freeform 105"/>
          <p:cNvSpPr>
            <a:spLocks noEditPoints="1"/>
          </p:cNvSpPr>
          <p:nvPr/>
        </p:nvSpPr>
        <p:spPr bwMode="auto">
          <a:xfrm>
            <a:off x="8666163" y="4010025"/>
            <a:ext cx="690562" cy="111125"/>
          </a:xfrm>
          <a:custGeom>
            <a:avLst/>
            <a:gdLst>
              <a:gd name="T0" fmla="*/ 0 w 240"/>
              <a:gd name="T1" fmla="*/ 0 h 38"/>
              <a:gd name="T2" fmla="*/ 0 w 240"/>
              <a:gd name="T3" fmla="*/ 0 h 38"/>
              <a:gd name="T4" fmla="*/ 42 w 240"/>
              <a:gd name="T5" fmla="*/ 38 h 38"/>
              <a:gd name="T6" fmla="*/ 240 w 240"/>
              <a:gd name="T7" fmla="*/ 38 h 38"/>
              <a:gd name="T8" fmla="*/ 198 w 240"/>
              <a:gd name="T9" fmla="*/ 0 h 38"/>
              <a:gd name="T10" fmla="*/ 0 w 240"/>
              <a:gd name="T11" fmla="*/ 0 h 38"/>
              <a:gd name="T12" fmla="*/ 0 w 240"/>
              <a:gd name="T13" fmla="*/ 0 h 38"/>
              <a:gd name="T14" fmla="*/ 0 w 240"/>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38">
                <a:moveTo>
                  <a:pt x="0" y="0"/>
                </a:moveTo>
                <a:lnTo>
                  <a:pt x="0" y="0"/>
                </a:lnTo>
                <a:lnTo>
                  <a:pt x="42" y="38"/>
                </a:lnTo>
                <a:lnTo>
                  <a:pt x="240" y="38"/>
                </a:lnTo>
                <a:lnTo>
                  <a:pt x="198" y="0"/>
                </a:lnTo>
                <a:lnTo>
                  <a:pt x="0" y="0"/>
                </a:lnTo>
                <a:close/>
                <a:moveTo>
                  <a:pt x="0" y="0"/>
                </a:moveTo>
                <a:lnTo>
                  <a:pt x="0" y="0"/>
                </a:lnTo>
                <a:close/>
              </a:path>
            </a:pathLst>
          </a:custGeom>
          <a:noFill/>
          <a:ln w="28575"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 name="Freeform 106"/>
          <p:cNvSpPr>
            <a:spLocks/>
          </p:cNvSpPr>
          <p:nvPr/>
        </p:nvSpPr>
        <p:spPr bwMode="auto">
          <a:xfrm>
            <a:off x="8666163" y="4010025"/>
            <a:ext cx="0" cy="61913"/>
          </a:xfrm>
          <a:custGeom>
            <a:avLst/>
            <a:gdLst>
              <a:gd name="T0" fmla="*/ 21 h 21"/>
              <a:gd name="T1" fmla="*/ 21 h 21"/>
              <a:gd name="T2" fmla="*/ 0 h 21"/>
            </a:gdLst>
            <a:ahLst/>
            <a:cxnLst>
              <a:cxn ang="0">
                <a:pos x="0" y="T0"/>
              </a:cxn>
              <a:cxn ang="0">
                <a:pos x="0" y="T1"/>
              </a:cxn>
              <a:cxn ang="0">
                <a:pos x="0" y="T2"/>
              </a:cxn>
            </a:cxnLst>
            <a:rect l="0" t="0" r="r" b="b"/>
            <a:pathLst>
              <a:path h="21">
                <a:moveTo>
                  <a:pt x="0" y="21"/>
                </a:moveTo>
                <a:lnTo>
                  <a:pt x="0" y="21"/>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 name="Freeform 107"/>
          <p:cNvSpPr>
            <a:spLocks/>
          </p:cNvSpPr>
          <p:nvPr/>
        </p:nvSpPr>
        <p:spPr bwMode="auto">
          <a:xfrm>
            <a:off x="8666163" y="4010025"/>
            <a:ext cx="120650" cy="111125"/>
          </a:xfrm>
          <a:custGeom>
            <a:avLst/>
            <a:gdLst>
              <a:gd name="T0" fmla="*/ 0 w 42"/>
              <a:gd name="T1" fmla="*/ 0 h 38"/>
              <a:gd name="T2" fmla="*/ 0 w 42"/>
              <a:gd name="T3" fmla="*/ 0 h 38"/>
              <a:gd name="T4" fmla="*/ 42 w 42"/>
              <a:gd name="T5" fmla="*/ 38 h 38"/>
            </a:gdLst>
            <a:ahLst/>
            <a:cxnLst>
              <a:cxn ang="0">
                <a:pos x="T0" y="T1"/>
              </a:cxn>
              <a:cxn ang="0">
                <a:pos x="T2" y="T3"/>
              </a:cxn>
              <a:cxn ang="0">
                <a:pos x="T4" y="T5"/>
              </a:cxn>
            </a:cxnLst>
            <a:rect l="0" t="0" r="r" b="b"/>
            <a:pathLst>
              <a:path w="42" h="38">
                <a:moveTo>
                  <a:pt x="0" y="0"/>
                </a:moveTo>
                <a:lnTo>
                  <a:pt x="0" y="0"/>
                </a:lnTo>
                <a:lnTo>
                  <a:pt x="42" y="38"/>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8"/>
          <p:cNvSpPr>
            <a:spLocks/>
          </p:cNvSpPr>
          <p:nvPr/>
        </p:nvSpPr>
        <p:spPr bwMode="auto">
          <a:xfrm>
            <a:off x="8786813" y="4121150"/>
            <a:ext cx="0" cy="63500"/>
          </a:xfrm>
          <a:custGeom>
            <a:avLst/>
            <a:gdLst>
              <a:gd name="T0" fmla="*/ 22 h 22"/>
              <a:gd name="T1" fmla="*/ 22 h 22"/>
              <a:gd name="T2" fmla="*/ 0 h 22"/>
            </a:gdLst>
            <a:ahLst/>
            <a:cxnLst>
              <a:cxn ang="0">
                <a:pos x="0" y="T0"/>
              </a:cxn>
              <a:cxn ang="0">
                <a:pos x="0" y="T1"/>
              </a:cxn>
              <a:cxn ang="0">
                <a:pos x="0" y="T2"/>
              </a:cxn>
            </a:cxnLst>
            <a:rect l="0" t="0" r="r" b="b"/>
            <a:pathLst>
              <a:path h="22">
                <a:moveTo>
                  <a:pt x="0" y="22"/>
                </a:moveTo>
                <a:lnTo>
                  <a:pt x="0" y="22"/>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Freeform 109"/>
          <p:cNvSpPr>
            <a:spLocks noEditPoints="1"/>
          </p:cNvSpPr>
          <p:nvPr/>
        </p:nvSpPr>
        <p:spPr bwMode="auto">
          <a:xfrm>
            <a:off x="8666163" y="4010025"/>
            <a:ext cx="120650" cy="174625"/>
          </a:xfrm>
          <a:custGeom>
            <a:avLst/>
            <a:gdLst>
              <a:gd name="T0" fmla="*/ 0 w 42"/>
              <a:gd name="T1" fmla="*/ 21 h 60"/>
              <a:gd name="T2" fmla="*/ 0 w 42"/>
              <a:gd name="T3" fmla="*/ 21 h 60"/>
              <a:gd name="T4" fmla="*/ 0 w 42"/>
              <a:gd name="T5" fmla="*/ 0 h 60"/>
              <a:gd name="T6" fmla="*/ 42 w 42"/>
              <a:gd name="T7" fmla="*/ 39 h 60"/>
              <a:gd name="T8" fmla="*/ 42 w 42"/>
              <a:gd name="T9" fmla="*/ 60 h 60"/>
              <a:gd name="T10" fmla="*/ 1 w 42"/>
              <a:gd name="T11" fmla="*/ 21 h 60"/>
              <a:gd name="T12" fmla="*/ 0 w 42"/>
              <a:gd name="T13" fmla="*/ 21 h 60"/>
              <a:gd name="T14" fmla="*/ 0 w 42"/>
              <a:gd name="T15" fmla="*/ 21 h 60"/>
              <a:gd name="T16" fmla="*/ 0 w 42"/>
              <a:gd name="T17" fmla="*/ 2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60">
                <a:moveTo>
                  <a:pt x="0" y="21"/>
                </a:moveTo>
                <a:lnTo>
                  <a:pt x="0" y="21"/>
                </a:lnTo>
                <a:lnTo>
                  <a:pt x="0" y="0"/>
                </a:lnTo>
                <a:lnTo>
                  <a:pt x="42" y="39"/>
                </a:lnTo>
                <a:lnTo>
                  <a:pt x="42" y="60"/>
                </a:lnTo>
                <a:lnTo>
                  <a:pt x="1" y="21"/>
                </a:lnTo>
                <a:lnTo>
                  <a:pt x="0" y="21"/>
                </a:lnTo>
                <a:close/>
                <a:moveTo>
                  <a:pt x="0" y="21"/>
                </a:moveTo>
                <a:lnTo>
                  <a:pt x="0" y="21"/>
                </a:lnTo>
                <a:close/>
              </a:path>
            </a:pathLst>
          </a:custGeom>
          <a:solidFill>
            <a:srgbClr val="EDF8E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110"/>
          <p:cNvSpPr>
            <a:spLocks noEditPoints="1"/>
          </p:cNvSpPr>
          <p:nvPr/>
        </p:nvSpPr>
        <p:spPr bwMode="auto">
          <a:xfrm>
            <a:off x="8666163" y="4010025"/>
            <a:ext cx="120650" cy="174625"/>
          </a:xfrm>
          <a:custGeom>
            <a:avLst/>
            <a:gdLst>
              <a:gd name="T0" fmla="*/ 0 w 42"/>
              <a:gd name="T1" fmla="*/ 21 h 60"/>
              <a:gd name="T2" fmla="*/ 0 w 42"/>
              <a:gd name="T3" fmla="*/ 21 h 60"/>
              <a:gd name="T4" fmla="*/ 0 w 42"/>
              <a:gd name="T5" fmla="*/ 0 h 60"/>
              <a:gd name="T6" fmla="*/ 42 w 42"/>
              <a:gd name="T7" fmla="*/ 39 h 60"/>
              <a:gd name="T8" fmla="*/ 42 w 42"/>
              <a:gd name="T9" fmla="*/ 60 h 60"/>
              <a:gd name="T10" fmla="*/ 1 w 42"/>
              <a:gd name="T11" fmla="*/ 21 h 60"/>
              <a:gd name="T12" fmla="*/ 0 w 42"/>
              <a:gd name="T13" fmla="*/ 21 h 60"/>
              <a:gd name="T14" fmla="*/ 0 w 42"/>
              <a:gd name="T15" fmla="*/ 21 h 60"/>
              <a:gd name="T16" fmla="*/ 0 w 42"/>
              <a:gd name="T17" fmla="*/ 2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60">
                <a:moveTo>
                  <a:pt x="0" y="21"/>
                </a:moveTo>
                <a:lnTo>
                  <a:pt x="0" y="21"/>
                </a:lnTo>
                <a:lnTo>
                  <a:pt x="0" y="0"/>
                </a:lnTo>
                <a:lnTo>
                  <a:pt x="42" y="39"/>
                </a:lnTo>
                <a:lnTo>
                  <a:pt x="42" y="60"/>
                </a:lnTo>
                <a:lnTo>
                  <a:pt x="1" y="21"/>
                </a:lnTo>
                <a:lnTo>
                  <a:pt x="0" y="21"/>
                </a:lnTo>
                <a:close/>
                <a:moveTo>
                  <a:pt x="0" y="21"/>
                </a:moveTo>
                <a:lnTo>
                  <a:pt x="0" y="21"/>
                </a:lnTo>
                <a:close/>
              </a:path>
            </a:pathLst>
          </a:custGeom>
          <a:noFill/>
          <a:ln w="28575"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111"/>
          <p:cNvSpPr>
            <a:spLocks/>
          </p:cNvSpPr>
          <p:nvPr/>
        </p:nvSpPr>
        <p:spPr bwMode="auto">
          <a:xfrm>
            <a:off x="8786813" y="4122738"/>
            <a:ext cx="569912" cy="61913"/>
          </a:xfrm>
          <a:custGeom>
            <a:avLst/>
            <a:gdLst>
              <a:gd name="T0" fmla="*/ 0 w 198"/>
              <a:gd name="T1" fmla="*/ 0 h 21"/>
              <a:gd name="T2" fmla="*/ 0 w 198"/>
              <a:gd name="T3" fmla="*/ 0 h 21"/>
              <a:gd name="T4" fmla="*/ 198 w 198"/>
              <a:gd name="T5" fmla="*/ 0 h 21"/>
              <a:gd name="T6" fmla="*/ 198 w 198"/>
              <a:gd name="T7" fmla="*/ 21 h 21"/>
              <a:gd name="T8" fmla="*/ 0 w 198"/>
              <a:gd name="T9" fmla="*/ 21 h 21"/>
              <a:gd name="T10" fmla="*/ 0 w 198"/>
              <a:gd name="T11" fmla="*/ 0 h 21"/>
            </a:gdLst>
            <a:ahLst/>
            <a:cxnLst>
              <a:cxn ang="0">
                <a:pos x="T0" y="T1"/>
              </a:cxn>
              <a:cxn ang="0">
                <a:pos x="T2" y="T3"/>
              </a:cxn>
              <a:cxn ang="0">
                <a:pos x="T4" y="T5"/>
              </a:cxn>
              <a:cxn ang="0">
                <a:pos x="T6" y="T7"/>
              </a:cxn>
              <a:cxn ang="0">
                <a:pos x="T8" y="T9"/>
              </a:cxn>
              <a:cxn ang="0">
                <a:pos x="T10" y="T11"/>
              </a:cxn>
            </a:cxnLst>
            <a:rect l="0" t="0" r="r" b="b"/>
            <a:pathLst>
              <a:path w="198" h="21">
                <a:moveTo>
                  <a:pt x="0" y="0"/>
                </a:moveTo>
                <a:lnTo>
                  <a:pt x="0" y="0"/>
                </a:lnTo>
                <a:lnTo>
                  <a:pt x="198" y="0"/>
                </a:lnTo>
                <a:lnTo>
                  <a:pt x="198" y="21"/>
                </a:lnTo>
                <a:lnTo>
                  <a:pt x="0" y="21"/>
                </a:lnTo>
                <a:lnTo>
                  <a:pt x="0" y="0"/>
                </a:lnTo>
                <a:close/>
              </a:path>
            </a:pathLst>
          </a:custGeom>
          <a:solidFill>
            <a:srgbClr val="EDF8E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112"/>
          <p:cNvSpPr>
            <a:spLocks/>
          </p:cNvSpPr>
          <p:nvPr/>
        </p:nvSpPr>
        <p:spPr bwMode="auto">
          <a:xfrm>
            <a:off x="8786813" y="4122738"/>
            <a:ext cx="569912" cy="61913"/>
          </a:xfrm>
          <a:custGeom>
            <a:avLst/>
            <a:gdLst>
              <a:gd name="T0" fmla="*/ 0 w 198"/>
              <a:gd name="T1" fmla="*/ 0 h 21"/>
              <a:gd name="T2" fmla="*/ 0 w 198"/>
              <a:gd name="T3" fmla="*/ 0 h 21"/>
              <a:gd name="T4" fmla="*/ 198 w 198"/>
              <a:gd name="T5" fmla="*/ 0 h 21"/>
              <a:gd name="T6" fmla="*/ 198 w 198"/>
              <a:gd name="T7" fmla="*/ 21 h 21"/>
              <a:gd name="T8" fmla="*/ 0 w 198"/>
              <a:gd name="T9" fmla="*/ 21 h 21"/>
              <a:gd name="T10" fmla="*/ 0 w 198"/>
              <a:gd name="T11" fmla="*/ 0 h 21"/>
            </a:gdLst>
            <a:ahLst/>
            <a:cxnLst>
              <a:cxn ang="0">
                <a:pos x="T0" y="T1"/>
              </a:cxn>
              <a:cxn ang="0">
                <a:pos x="T2" y="T3"/>
              </a:cxn>
              <a:cxn ang="0">
                <a:pos x="T4" y="T5"/>
              </a:cxn>
              <a:cxn ang="0">
                <a:pos x="T6" y="T7"/>
              </a:cxn>
              <a:cxn ang="0">
                <a:pos x="T8" y="T9"/>
              </a:cxn>
              <a:cxn ang="0">
                <a:pos x="T10" y="T11"/>
              </a:cxn>
            </a:cxnLst>
            <a:rect l="0" t="0" r="r" b="b"/>
            <a:pathLst>
              <a:path w="198" h="21">
                <a:moveTo>
                  <a:pt x="0" y="0"/>
                </a:moveTo>
                <a:lnTo>
                  <a:pt x="0" y="0"/>
                </a:lnTo>
                <a:lnTo>
                  <a:pt x="198" y="0"/>
                </a:lnTo>
                <a:lnTo>
                  <a:pt x="198" y="21"/>
                </a:lnTo>
                <a:lnTo>
                  <a:pt x="0" y="21"/>
                </a:lnTo>
                <a:lnTo>
                  <a:pt x="0" y="0"/>
                </a:lnTo>
                <a:close/>
              </a:path>
            </a:pathLst>
          </a:custGeom>
          <a:noFill/>
          <a:ln w="28575" cap="rnd">
            <a:solidFill>
              <a:srgbClr val="26994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26" name="Group 125"/>
          <p:cNvGrpSpPr/>
          <p:nvPr/>
        </p:nvGrpSpPr>
        <p:grpSpPr>
          <a:xfrm>
            <a:off x="2809875" y="2413794"/>
            <a:ext cx="1093787" cy="1469232"/>
            <a:chOff x="2809875" y="2413794"/>
            <a:chExt cx="1093787" cy="1469232"/>
          </a:xfrm>
        </p:grpSpPr>
        <p:sp>
          <p:nvSpPr>
            <p:cNvPr id="20" name="Freeform 13"/>
            <p:cNvSpPr>
              <a:spLocks noEditPoints="1"/>
            </p:cNvSpPr>
            <p:nvPr/>
          </p:nvSpPr>
          <p:spPr bwMode="auto">
            <a:xfrm>
              <a:off x="2809875" y="3195638"/>
              <a:ext cx="1093787" cy="376238"/>
            </a:xfrm>
            <a:custGeom>
              <a:avLst/>
              <a:gdLst>
                <a:gd name="T0" fmla="*/ 3 w 380"/>
                <a:gd name="T1" fmla="*/ 0 h 130"/>
                <a:gd name="T2" fmla="*/ 3 w 380"/>
                <a:gd name="T3" fmla="*/ 0 h 130"/>
                <a:gd name="T4" fmla="*/ 376 w 380"/>
                <a:gd name="T5" fmla="*/ 0 h 130"/>
                <a:gd name="T6" fmla="*/ 380 w 380"/>
                <a:gd name="T7" fmla="*/ 4 h 130"/>
                <a:gd name="T8" fmla="*/ 380 w 380"/>
                <a:gd name="T9" fmla="*/ 126 h 130"/>
                <a:gd name="T10" fmla="*/ 376 w 380"/>
                <a:gd name="T11" fmla="*/ 130 h 130"/>
                <a:gd name="T12" fmla="*/ 3 w 380"/>
                <a:gd name="T13" fmla="*/ 130 h 130"/>
                <a:gd name="T14" fmla="*/ 0 w 380"/>
                <a:gd name="T15" fmla="*/ 126 h 130"/>
                <a:gd name="T16" fmla="*/ 0 w 380"/>
                <a:gd name="T17" fmla="*/ 4 h 130"/>
                <a:gd name="T18" fmla="*/ 3 w 380"/>
                <a:gd name="T19" fmla="*/ 0 h 130"/>
                <a:gd name="T20" fmla="*/ 3 w 380"/>
                <a:gd name="T21" fmla="*/ 0 h 130"/>
                <a:gd name="T22" fmla="*/ 3 w 380"/>
                <a:gd name="T23" fmla="*/ 0 h 130"/>
                <a:gd name="T24" fmla="*/ 3 w 380"/>
                <a:gd name="T2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0" h="130">
                  <a:moveTo>
                    <a:pt x="3" y="0"/>
                  </a:moveTo>
                  <a:lnTo>
                    <a:pt x="3" y="0"/>
                  </a:lnTo>
                  <a:lnTo>
                    <a:pt x="376" y="0"/>
                  </a:lnTo>
                  <a:cubicBezTo>
                    <a:pt x="378" y="0"/>
                    <a:pt x="380" y="2"/>
                    <a:pt x="380" y="4"/>
                  </a:cubicBezTo>
                  <a:lnTo>
                    <a:pt x="380" y="126"/>
                  </a:lnTo>
                  <a:cubicBezTo>
                    <a:pt x="380" y="128"/>
                    <a:pt x="378" y="130"/>
                    <a:pt x="376" y="130"/>
                  </a:cubicBezTo>
                  <a:lnTo>
                    <a:pt x="3" y="130"/>
                  </a:lnTo>
                  <a:cubicBezTo>
                    <a:pt x="1" y="130"/>
                    <a:pt x="0" y="128"/>
                    <a:pt x="0" y="126"/>
                  </a:cubicBezTo>
                  <a:lnTo>
                    <a:pt x="0" y="4"/>
                  </a:lnTo>
                  <a:cubicBezTo>
                    <a:pt x="0" y="2"/>
                    <a:pt x="1" y="0"/>
                    <a:pt x="3" y="0"/>
                  </a:cubicBezTo>
                  <a:lnTo>
                    <a:pt x="3" y="0"/>
                  </a:lnTo>
                  <a:close/>
                  <a:moveTo>
                    <a:pt x="3" y="0"/>
                  </a:moveTo>
                  <a:lnTo>
                    <a:pt x="3" y="0"/>
                  </a:lnTo>
                  <a:close/>
                </a:path>
              </a:pathLst>
            </a:custGeom>
            <a:solidFill>
              <a:srgbClr val="FFC4A8"/>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noEditPoints="1"/>
            </p:cNvSpPr>
            <p:nvPr/>
          </p:nvSpPr>
          <p:spPr bwMode="auto">
            <a:xfrm>
              <a:off x="2809875" y="3195638"/>
              <a:ext cx="1093787" cy="376238"/>
            </a:xfrm>
            <a:custGeom>
              <a:avLst/>
              <a:gdLst>
                <a:gd name="T0" fmla="*/ 3 w 380"/>
                <a:gd name="T1" fmla="*/ 0 h 130"/>
                <a:gd name="T2" fmla="*/ 3 w 380"/>
                <a:gd name="T3" fmla="*/ 0 h 130"/>
                <a:gd name="T4" fmla="*/ 376 w 380"/>
                <a:gd name="T5" fmla="*/ 0 h 130"/>
                <a:gd name="T6" fmla="*/ 380 w 380"/>
                <a:gd name="T7" fmla="*/ 4 h 130"/>
                <a:gd name="T8" fmla="*/ 380 w 380"/>
                <a:gd name="T9" fmla="*/ 126 h 130"/>
                <a:gd name="T10" fmla="*/ 376 w 380"/>
                <a:gd name="T11" fmla="*/ 130 h 130"/>
                <a:gd name="T12" fmla="*/ 3 w 380"/>
                <a:gd name="T13" fmla="*/ 130 h 130"/>
                <a:gd name="T14" fmla="*/ 0 w 380"/>
                <a:gd name="T15" fmla="*/ 126 h 130"/>
                <a:gd name="T16" fmla="*/ 0 w 380"/>
                <a:gd name="T17" fmla="*/ 4 h 130"/>
                <a:gd name="T18" fmla="*/ 3 w 380"/>
                <a:gd name="T19" fmla="*/ 0 h 130"/>
                <a:gd name="T20" fmla="*/ 3 w 380"/>
                <a:gd name="T21" fmla="*/ 0 h 130"/>
                <a:gd name="T22" fmla="*/ 3 w 380"/>
                <a:gd name="T23" fmla="*/ 0 h 130"/>
                <a:gd name="T24" fmla="*/ 3 w 380"/>
                <a:gd name="T25"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0" h="130">
                  <a:moveTo>
                    <a:pt x="3" y="0"/>
                  </a:moveTo>
                  <a:lnTo>
                    <a:pt x="3" y="0"/>
                  </a:lnTo>
                  <a:lnTo>
                    <a:pt x="376" y="0"/>
                  </a:lnTo>
                  <a:cubicBezTo>
                    <a:pt x="378" y="0"/>
                    <a:pt x="380" y="2"/>
                    <a:pt x="380" y="4"/>
                  </a:cubicBezTo>
                  <a:lnTo>
                    <a:pt x="380" y="126"/>
                  </a:lnTo>
                  <a:cubicBezTo>
                    <a:pt x="380" y="128"/>
                    <a:pt x="378" y="130"/>
                    <a:pt x="376" y="130"/>
                  </a:cubicBezTo>
                  <a:lnTo>
                    <a:pt x="3" y="130"/>
                  </a:lnTo>
                  <a:cubicBezTo>
                    <a:pt x="1" y="130"/>
                    <a:pt x="0" y="128"/>
                    <a:pt x="0" y="126"/>
                  </a:cubicBezTo>
                  <a:lnTo>
                    <a:pt x="0" y="4"/>
                  </a:lnTo>
                  <a:cubicBezTo>
                    <a:pt x="0" y="2"/>
                    <a:pt x="1" y="0"/>
                    <a:pt x="3" y="0"/>
                  </a:cubicBezTo>
                  <a:lnTo>
                    <a:pt x="3" y="0"/>
                  </a:lnTo>
                  <a:close/>
                  <a:moveTo>
                    <a:pt x="3" y="0"/>
                  </a:moveTo>
                  <a:lnTo>
                    <a:pt x="3" y="0"/>
                  </a:lnTo>
                  <a:close/>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Rectangle 15"/>
            <p:cNvSpPr>
              <a:spLocks noChangeArrowheads="1"/>
            </p:cNvSpPr>
            <p:nvPr/>
          </p:nvSpPr>
          <p:spPr bwMode="auto">
            <a:xfrm>
              <a:off x="3144838" y="3227388"/>
              <a:ext cx="612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smtClean="0">
                  <a:ln>
                    <a:noFill/>
                  </a:ln>
                  <a:solidFill>
                    <a:srgbClr val="000000"/>
                  </a:solidFill>
                  <a:effectLst/>
                  <a:latin typeface="Arial Bold" panose="020B0704020202020204" pitchFamily="34" charset="0"/>
                </a:rPr>
                <a:t>PD</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3" name="Freeform 56"/>
            <p:cNvSpPr>
              <a:spLocks/>
            </p:cNvSpPr>
            <p:nvPr/>
          </p:nvSpPr>
          <p:spPr bwMode="auto">
            <a:xfrm>
              <a:off x="3451225" y="3022600"/>
              <a:ext cx="0" cy="127000"/>
            </a:xfrm>
            <a:custGeom>
              <a:avLst/>
              <a:gdLst>
                <a:gd name="T0" fmla="*/ 0 h 44"/>
                <a:gd name="T1" fmla="*/ 0 h 44"/>
                <a:gd name="T2" fmla="*/ 44 h 44"/>
              </a:gdLst>
              <a:ahLst/>
              <a:cxnLst>
                <a:cxn ang="0">
                  <a:pos x="0" y="T0"/>
                </a:cxn>
                <a:cxn ang="0">
                  <a:pos x="0" y="T1"/>
                </a:cxn>
                <a:cxn ang="0">
                  <a:pos x="0" y="T2"/>
                </a:cxn>
              </a:cxnLst>
              <a:rect l="0" t="0" r="r" b="b"/>
              <a:pathLst>
                <a:path h="44">
                  <a:moveTo>
                    <a:pt x="0" y="0"/>
                  </a:moveTo>
                  <a:lnTo>
                    <a:pt x="0" y="0"/>
                  </a:lnTo>
                  <a:lnTo>
                    <a:pt x="0" y="44"/>
                  </a:lnTo>
                </a:path>
              </a:pathLst>
            </a:custGeom>
            <a:noFill/>
            <a:ln w="14288" cap="flat">
              <a:solidFill>
                <a:srgbClr val="F0283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57"/>
            <p:cNvSpPr>
              <a:spLocks noEditPoints="1"/>
            </p:cNvSpPr>
            <p:nvPr/>
          </p:nvSpPr>
          <p:spPr bwMode="auto">
            <a:xfrm>
              <a:off x="3417888" y="3070225"/>
              <a:ext cx="65087" cy="96838"/>
            </a:xfrm>
            <a:custGeom>
              <a:avLst/>
              <a:gdLst>
                <a:gd name="T0" fmla="*/ 23 w 23"/>
                <a:gd name="T1" fmla="*/ 0 h 33"/>
                <a:gd name="T2" fmla="*/ 23 w 23"/>
                <a:gd name="T3" fmla="*/ 0 h 33"/>
                <a:gd name="T4" fmla="*/ 12 w 23"/>
                <a:gd name="T5" fmla="*/ 33 h 33"/>
                <a:gd name="T6" fmla="*/ 0 w 23"/>
                <a:gd name="T7" fmla="*/ 0 h 33"/>
                <a:gd name="T8" fmla="*/ 23 w 23"/>
                <a:gd name="T9" fmla="*/ 0 h 33"/>
                <a:gd name="T10" fmla="*/ 23 w 23"/>
                <a:gd name="T11" fmla="*/ 0 h 33"/>
                <a:gd name="T12" fmla="*/ 23 w 23"/>
                <a:gd name="T13" fmla="*/ 0 h 33"/>
                <a:gd name="T14" fmla="*/ 23 w 23"/>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3">
                  <a:moveTo>
                    <a:pt x="23" y="0"/>
                  </a:moveTo>
                  <a:lnTo>
                    <a:pt x="23" y="0"/>
                  </a:lnTo>
                  <a:lnTo>
                    <a:pt x="12" y="33"/>
                  </a:lnTo>
                  <a:lnTo>
                    <a:pt x="0" y="0"/>
                  </a:lnTo>
                  <a:cubicBezTo>
                    <a:pt x="7" y="6"/>
                    <a:pt x="16" y="6"/>
                    <a:pt x="23" y="0"/>
                  </a:cubicBezTo>
                  <a:lnTo>
                    <a:pt x="23" y="0"/>
                  </a:lnTo>
                  <a:close/>
                  <a:moveTo>
                    <a:pt x="23" y="0"/>
                  </a:moveTo>
                  <a:lnTo>
                    <a:pt x="23" y="0"/>
                  </a:lnTo>
                  <a:close/>
                </a:path>
              </a:pathLst>
            </a:custGeom>
            <a:solidFill>
              <a:srgbClr val="F0283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58"/>
            <p:cNvSpPr>
              <a:spLocks noEditPoints="1"/>
            </p:cNvSpPr>
            <p:nvPr/>
          </p:nvSpPr>
          <p:spPr bwMode="auto">
            <a:xfrm>
              <a:off x="3417888" y="3070225"/>
              <a:ext cx="65087" cy="96838"/>
            </a:xfrm>
            <a:custGeom>
              <a:avLst/>
              <a:gdLst>
                <a:gd name="T0" fmla="*/ 23 w 23"/>
                <a:gd name="T1" fmla="*/ 0 h 33"/>
                <a:gd name="T2" fmla="*/ 23 w 23"/>
                <a:gd name="T3" fmla="*/ 0 h 33"/>
                <a:gd name="T4" fmla="*/ 12 w 23"/>
                <a:gd name="T5" fmla="*/ 33 h 33"/>
                <a:gd name="T6" fmla="*/ 0 w 23"/>
                <a:gd name="T7" fmla="*/ 0 h 33"/>
                <a:gd name="T8" fmla="*/ 23 w 23"/>
                <a:gd name="T9" fmla="*/ 0 h 33"/>
                <a:gd name="T10" fmla="*/ 23 w 23"/>
                <a:gd name="T11" fmla="*/ 0 h 33"/>
                <a:gd name="T12" fmla="*/ 23 w 23"/>
                <a:gd name="T13" fmla="*/ 0 h 33"/>
                <a:gd name="T14" fmla="*/ 23 w 23"/>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3">
                  <a:moveTo>
                    <a:pt x="23" y="0"/>
                  </a:moveTo>
                  <a:lnTo>
                    <a:pt x="23" y="0"/>
                  </a:lnTo>
                  <a:lnTo>
                    <a:pt x="12" y="33"/>
                  </a:lnTo>
                  <a:lnTo>
                    <a:pt x="0" y="0"/>
                  </a:lnTo>
                  <a:cubicBezTo>
                    <a:pt x="7" y="6"/>
                    <a:pt x="16" y="6"/>
                    <a:pt x="23" y="0"/>
                  </a:cubicBezTo>
                  <a:lnTo>
                    <a:pt x="23" y="0"/>
                  </a:lnTo>
                  <a:close/>
                  <a:moveTo>
                    <a:pt x="23" y="0"/>
                  </a:moveTo>
                  <a:lnTo>
                    <a:pt x="23" y="0"/>
                  </a:lnTo>
                  <a:close/>
                </a:path>
              </a:pathLst>
            </a:custGeom>
            <a:noFill/>
            <a:ln w="3175" cap="flat">
              <a:solidFill>
                <a:srgbClr val="F0283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Freeform 59"/>
            <p:cNvSpPr>
              <a:spLocks/>
            </p:cNvSpPr>
            <p:nvPr/>
          </p:nvSpPr>
          <p:spPr bwMode="auto">
            <a:xfrm>
              <a:off x="3333750" y="3022600"/>
              <a:ext cx="0" cy="127000"/>
            </a:xfrm>
            <a:custGeom>
              <a:avLst/>
              <a:gdLst>
                <a:gd name="T0" fmla="*/ 0 h 44"/>
                <a:gd name="T1" fmla="*/ 0 h 44"/>
                <a:gd name="T2" fmla="*/ 44 h 44"/>
              </a:gdLst>
              <a:ahLst/>
              <a:cxnLst>
                <a:cxn ang="0">
                  <a:pos x="0" y="T0"/>
                </a:cxn>
                <a:cxn ang="0">
                  <a:pos x="0" y="T1"/>
                </a:cxn>
                <a:cxn ang="0">
                  <a:pos x="0" y="T2"/>
                </a:cxn>
              </a:cxnLst>
              <a:rect l="0" t="0" r="r" b="b"/>
              <a:pathLst>
                <a:path h="44">
                  <a:moveTo>
                    <a:pt x="0" y="0"/>
                  </a:moveTo>
                  <a:lnTo>
                    <a:pt x="0" y="0"/>
                  </a:lnTo>
                  <a:lnTo>
                    <a:pt x="0" y="44"/>
                  </a:lnTo>
                </a:path>
              </a:pathLst>
            </a:custGeom>
            <a:noFill/>
            <a:ln w="14288" cap="flat">
              <a:solidFill>
                <a:srgbClr val="F0283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Freeform 60"/>
            <p:cNvSpPr>
              <a:spLocks noEditPoints="1"/>
            </p:cNvSpPr>
            <p:nvPr/>
          </p:nvSpPr>
          <p:spPr bwMode="auto">
            <a:xfrm>
              <a:off x="3298825" y="3070225"/>
              <a:ext cx="69850" cy="96838"/>
            </a:xfrm>
            <a:custGeom>
              <a:avLst/>
              <a:gdLst>
                <a:gd name="T0" fmla="*/ 24 w 24"/>
                <a:gd name="T1" fmla="*/ 0 h 33"/>
                <a:gd name="T2" fmla="*/ 24 w 24"/>
                <a:gd name="T3" fmla="*/ 0 h 33"/>
                <a:gd name="T4" fmla="*/ 12 w 24"/>
                <a:gd name="T5" fmla="*/ 33 h 33"/>
                <a:gd name="T6" fmla="*/ 0 w 24"/>
                <a:gd name="T7" fmla="*/ 0 h 33"/>
                <a:gd name="T8" fmla="*/ 24 w 24"/>
                <a:gd name="T9" fmla="*/ 0 h 33"/>
                <a:gd name="T10" fmla="*/ 24 w 24"/>
                <a:gd name="T11" fmla="*/ 0 h 33"/>
                <a:gd name="T12" fmla="*/ 24 w 24"/>
                <a:gd name="T13" fmla="*/ 0 h 33"/>
                <a:gd name="T14" fmla="*/ 24 w 24"/>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33">
                  <a:moveTo>
                    <a:pt x="24" y="0"/>
                  </a:moveTo>
                  <a:lnTo>
                    <a:pt x="24" y="0"/>
                  </a:lnTo>
                  <a:lnTo>
                    <a:pt x="12" y="33"/>
                  </a:lnTo>
                  <a:lnTo>
                    <a:pt x="0" y="0"/>
                  </a:lnTo>
                  <a:cubicBezTo>
                    <a:pt x="7" y="6"/>
                    <a:pt x="16" y="6"/>
                    <a:pt x="24" y="0"/>
                  </a:cubicBezTo>
                  <a:lnTo>
                    <a:pt x="24" y="0"/>
                  </a:lnTo>
                  <a:close/>
                  <a:moveTo>
                    <a:pt x="24" y="0"/>
                  </a:moveTo>
                  <a:lnTo>
                    <a:pt x="24" y="0"/>
                  </a:lnTo>
                  <a:close/>
                </a:path>
              </a:pathLst>
            </a:custGeom>
            <a:solidFill>
              <a:srgbClr val="F0283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61"/>
            <p:cNvSpPr>
              <a:spLocks noEditPoints="1"/>
            </p:cNvSpPr>
            <p:nvPr/>
          </p:nvSpPr>
          <p:spPr bwMode="auto">
            <a:xfrm>
              <a:off x="3298825" y="3070225"/>
              <a:ext cx="69850" cy="96838"/>
            </a:xfrm>
            <a:custGeom>
              <a:avLst/>
              <a:gdLst>
                <a:gd name="T0" fmla="*/ 24 w 24"/>
                <a:gd name="T1" fmla="*/ 0 h 33"/>
                <a:gd name="T2" fmla="*/ 24 w 24"/>
                <a:gd name="T3" fmla="*/ 0 h 33"/>
                <a:gd name="T4" fmla="*/ 12 w 24"/>
                <a:gd name="T5" fmla="*/ 33 h 33"/>
                <a:gd name="T6" fmla="*/ 0 w 24"/>
                <a:gd name="T7" fmla="*/ 0 h 33"/>
                <a:gd name="T8" fmla="*/ 24 w 24"/>
                <a:gd name="T9" fmla="*/ 0 h 33"/>
                <a:gd name="T10" fmla="*/ 24 w 24"/>
                <a:gd name="T11" fmla="*/ 0 h 33"/>
                <a:gd name="T12" fmla="*/ 24 w 24"/>
                <a:gd name="T13" fmla="*/ 0 h 33"/>
                <a:gd name="T14" fmla="*/ 24 w 24"/>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33">
                  <a:moveTo>
                    <a:pt x="24" y="0"/>
                  </a:moveTo>
                  <a:lnTo>
                    <a:pt x="24" y="0"/>
                  </a:lnTo>
                  <a:lnTo>
                    <a:pt x="12" y="33"/>
                  </a:lnTo>
                  <a:lnTo>
                    <a:pt x="0" y="0"/>
                  </a:lnTo>
                  <a:cubicBezTo>
                    <a:pt x="7" y="6"/>
                    <a:pt x="16" y="6"/>
                    <a:pt x="24" y="0"/>
                  </a:cubicBezTo>
                  <a:lnTo>
                    <a:pt x="24" y="0"/>
                  </a:lnTo>
                  <a:close/>
                  <a:moveTo>
                    <a:pt x="24" y="0"/>
                  </a:moveTo>
                  <a:lnTo>
                    <a:pt x="24" y="0"/>
                  </a:lnTo>
                  <a:close/>
                </a:path>
              </a:pathLst>
            </a:custGeom>
            <a:noFill/>
            <a:ln w="3175" cap="flat">
              <a:solidFill>
                <a:srgbClr val="F0283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62"/>
            <p:cNvSpPr>
              <a:spLocks noEditPoints="1"/>
            </p:cNvSpPr>
            <p:nvPr/>
          </p:nvSpPr>
          <p:spPr bwMode="auto">
            <a:xfrm>
              <a:off x="3268663" y="2928938"/>
              <a:ext cx="234950" cy="101600"/>
            </a:xfrm>
            <a:custGeom>
              <a:avLst/>
              <a:gdLst>
                <a:gd name="T0" fmla="*/ 82 w 82"/>
                <a:gd name="T1" fmla="*/ 18 h 35"/>
                <a:gd name="T2" fmla="*/ 82 w 82"/>
                <a:gd name="T3" fmla="*/ 18 h 35"/>
                <a:gd name="T4" fmla="*/ 41 w 82"/>
                <a:gd name="T5" fmla="*/ 35 h 35"/>
                <a:gd name="T6" fmla="*/ 0 w 82"/>
                <a:gd name="T7" fmla="*/ 18 h 35"/>
                <a:gd name="T8" fmla="*/ 41 w 82"/>
                <a:gd name="T9" fmla="*/ 0 h 35"/>
                <a:gd name="T10" fmla="*/ 82 w 82"/>
                <a:gd name="T11" fmla="*/ 18 h 35"/>
                <a:gd name="T12" fmla="*/ 82 w 82"/>
                <a:gd name="T13" fmla="*/ 18 h 35"/>
                <a:gd name="T14" fmla="*/ 82 w 82"/>
                <a:gd name="T15" fmla="*/ 18 h 35"/>
                <a:gd name="T16" fmla="*/ 82 w 82"/>
                <a:gd name="T1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35">
                  <a:moveTo>
                    <a:pt x="82" y="18"/>
                  </a:moveTo>
                  <a:lnTo>
                    <a:pt x="82" y="18"/>
                  </a:lnTo>
                  <a:cubicBezTo>
                    <a:pt x="82" y="27"/>
                    <a:pt x="64" y="35"/>
                    <a:pt x="41" y="35"/>
                  </a:cubicBezTo>
                  <a:cubicBezTo>
                    <a:pt x="18" y="35"/>
                    <a:pt x="0" y="27"/>
                    <a:pt x="0" y="18"/>
                  </a:cubicBezTo>
                  <a:cubicBezTo>
                    <a:pt x="0" y="8"/>
                    <a:pt x="18" y="0"/>
                    <a:pt x="41" y="0"/>
                  </a:cubicBezTo>
                  <a:cubicBezTo>
                    <a:pt x="64" y="0"/>
                    <a:pt x="82" y="8"/>
                    <a:pt x="82" y="18"/>
                  </a:cubicBezTo>
                  <a:lnTo>
                    <a:pt x="82" y="18"/>
                  </a:lnTo>
                  <a:close/>
                  <a:moveTo>
                    <a:pt x="82" y="18"/>
                  </a:moveTo>
                  <a:lnTo>
                    <a:pt x="82" y="18"/>
                  </a:lnTo>
                  <a:close/>
                </a:path>
              </a:pathLst>
            </a:cu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63"/>
            <p:cNvSpPr>
              <a:spLocks noEditPoints="1"/>
            </p:cNvSpPr>
            <p:nvPr/>
          </p:nvSpPr>
          <p:spPr bwMode="auto">
            <a:xfrm>
              <a:off x="3268663" y="2928938"/>
              <a:ext cx="234950" cy="101600"/>
            </a:xfrm>
            <a:custGeom>
              <a:avLst/>
              <a:gdLst>
                <a:gd name="T0" fmla="*/ 82 w 82"/>
                <a:gd name="T1" fmla="*/ 18 h 35"/>
                <a:gd name="T2" fmla="*/ 82 w 82"/>
                <a:gd name="T3" fmla="*/ 18 h 35"/>
                <a:gd name="T4" fmla="*/ 41 w 82"/>
                <a:gd name="T5" fmla="*/ 35 h 35"/>
                <a:gd name="T6" fmla="*/ 0 w 82"/>
                <a:gd name="T7" fmla="*/ 18 h 35"/>
                <a:gd name="T8" fmla="*/ 41 w 82"/>
                <a:gd name="T9" fmla="*/ 0 h 35"/>
                <a:gd name="T10" fmla="*/ 82 w 82"/>
                <a:gd name="T11" fmla="*/ 18 h 35"/>
                <a:gd name="T12" fmla="*/ 82 w 82"/>
                <a:gd name="T13" fmla="*/ 18 h 35"/>
                <a:gd name="T14" fmla="*/ 82 w 82"/>
                <a:gd name="T15" fmla="*/ 18 h 35"/>
                <a:gd name="T16" fmla="*/ 82 w 82"/>
                <a:gd name="T1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35">
                  <a:moveTo>
                    <a:pt x="82" y="18"/>
                  </a:moveTo>
                  <a:lnTo>
                    <a:pt x="82" y="18"/>
                  </a:lnTo>
                  <a:cubicBezTo>
                    <a:pt x="82" y="27"/>
                    <a:pt x="64" y="35"/>
                    <a:pt x="41" y="35"/>
                  </a:cubicBezTo>
                  <a:cubicBezTo>
                    <a:pt x="18" y="35"/>
                    <a:pt x="0" y="27"/>
                    <a:pt x="0" y="18"/>
                  </a:cubicBezTo>
                  <a:cubicBezTo>
                    <a:pt x="0" y="8"/>
                    <a:pt x="18" y="0"/>
                    <a:pt x="41" y="0"/>
                  </a:cubicBezTo>
                  <a:cubicBezTo>
                    <a:pt x="64" y="0"/>
                    <a:pt x="82" y="8"/>
                    <a:pt x="82" y="18"/>
                  </a:cubicBezTo>
                  <a:lnTo>
                    <a:pt x="82" y="18"/>
                  </a:lnTo>
                  <a:close/>
                  <a:moveTo>
                    <a:pt x="82" y="18"/>
                  </a:moveTo>
                  <a:lnTo>
                    <a:pt x="82" y="18"/>
                  </a:lnTo>
                  <a:close/>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64"/>
            <p:cNvSpPr>
              <a:spLocks/>
            </p:cNvSpPr>
            <p:nvPr/>
          </p:nvSpPr>
          <p:spPr bwMode="auto">
            <a:xfrm>
              <a:off x="3268663" y="2484438"/>
              <a:ext cx="0" cy="496888"/>
            </a:xfrm>
            <a:custGeom>
              <a:avLst/>
              <a:gdLst>
                <a:gd name="T0" fmla="*/ 172 h 172"/>
                <a:gd name="T1" fmla="*/ 172 h 172"/>
                <a:gd name="T2" fmla="*/ 0 h 172"/>
              </a:gdLst>
              <a:ahLst/>
              <a:cxnLst>
                <a:cxn ang="0">
                  <a:pos x="0" y="T0"/>
                </a:cxn>
                <a:cxn ang="0">
                  <a:pos x="0" y="T1"/>
                </a:cxn>
                <a:cxn ang="0">
                  <a:pos x="0" y="T2"/>
                </a:cxn>
              </a:cxnLst>
              <a:rect l="0" t="0" r="r" b="b"/>
              <a:pathLst>
                <a:path h="172">
                  <a:moveTo>
                    <a:pt x="0" y="172"/>
                  </a:moveTo>
                  <a:lnTo>
                    <a:pt x="0" y="172"/>
                  </a:lnTo>
                  <a:lnTo>
                    <a:pt x="0" y="0"/>
                  </a:ln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65"/>
            <p:cNvSpPr>
              <a:spLocks/>
            </p:cNvSpPr>
            <p:nvPr/>
          </p:nvSpPr>
          <p:spPr bwMode="auto">
            <a:xfrm>
              <a:off x="3506788" y="2484438"/>
              <a:ext cx="0" cy="496888"/>
            </a:xfrm>
            <a:custGeom>
              <a:avLst/>
              <a:gdLst>
                <a:gd name="T0" fmla="*/ 172 h 172"/>
                <a:gd name="T1" fmla="*/ 172 h 172"/>
                <a:gd name="T2" fmla="*/ 0 h 172"/>
              </a:gdLst>
              <a:ahLst/>
              <a:cxnLst>
                <a:cxn ang="0">
                  <a:pos x="0" y="T0"/>
                </a:cxn>
                <a:cxn ang="0">
                  <a:pos x="0" y="T1"/>
                </a:cxn>
                <a:cxn ang="0">
                  <a:pos x="0" y="T2"/>
                </a:cxn>
              </a:cxnLst>
              <a:rect l="0" t="0" r="r" b="b"/>
              <a:pathLst>
                <a:path h="172">
                  <a:moveTo>
                    <a:pt x="0" y="172"/>
                  </a:moveTo>
                  <a:lnTo>
                    <a:pt x="0" y="172"/>
                  </a:lnTo>
                  <a:lnTo>
                    <a:pt x="0" y="0"/>
                  </a:ln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Rectangle 66"/>
            <p:cNvSpPr>
              <a:spLocks noChangeArrowheads="1"/>
            </p:cNvSpPr>
            <p:nvPr/>
          </p:nvSpPr>
          <p:spPr bwMode="auto">
            <a:xfrm rot="16200000">
              <a:off x="3321050" y="2690813"/>
              <a:ext cx="177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000000"/>
                  </a:solidFill>
                  <a:effectLst/>
                  <a:latin typeface="Arial Bold" panose="020B0704020202020204" pitchFamily="34" charset="0"/>
                </a:rPr>
                <a:t>F</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4" name="Rectangle 67"/>
            <p:cNvSpPr>
              <a:spLocks noChangeArrowheads="1"/>
            </p:cNvSpPr>
            <p:nvPr/>
          </p:nvSpPr>
          <p:spPr bwMode="auto">
            <a:xfrm rot="16200000">
              <a:off x="3349625" y="2620963"/>
              <a:ext cx="1206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Bold" panose="020B0704020202020204" pitchFamily="34" charset="0"/>
                </a:rPr>
                <a:t>i</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5" name="Rectangle 68"/>
            <p:cNvSpPr>
              <a:spLocks noChangeArrowheads="1"/>
            </p:cNvSpPr>
            <p:nvPr/>
          </p:nvSpPr>
          <p:spPr bwMode="auto">
            <a:xfrm rot="16200000">
              <a:off x="3321050" y="2546350"/>
              <a:ext cx="177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Bold" panose="020B0704020202020204" pitchFamily="34" charset="0"/>
                </a:rPr>
                <a:t>b</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6" name="Rectangle 69"/>
            <p:cNvSpPr>
              <a:spLocks noChangeArrowheads="1"/>
            </p:cNvSpPr>
            <p:nvPr/>
          </p:nvSpPr>
          <p:spPr bwMode="auto">
            <a:xfrm rot="16200000">
              <a:off x="3325813" y="2451100"/>
              <a:ext cx="1666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Bold" panose="020B0704020202020204" pitchFamily="34" charset="0"/>
                </a:rPr>
                <a:t>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7" name="Rectangle 70"/>
            <p:cNvSpPr>
              <a:spLocks noChangeArrowheads="1"/>
            </p:cNvSpPr>
            <p:nvPr/>
          </p:nvSpPr>
          <p:spPr bwMode="auto">
            <a:xfrm rot="16200000">
              <a:off x="3338513" y="2370138"/>
              <a:ext cx="1412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smtClean="0">
                  <a:ln>
                    <a:noFill/>
                  </a:ln>
                  <a:solidFill>
                    <a:srgbClr val="000000"/>
                  </a:solidFill>
                  <a:effectLst/>
                  <a:latin typeface="Arial Bold" panose="020B0704020202020204" pitchFamily="34" charset="0"/>
                </a:rPr>
                <a:t>r</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1" name="Freeform 74"/>
            <p:cNvSpPr>
              <a:spLocks/>
            </p:cNvSpPr>
            <p:nvPr/>
          </p:nvSpPr>
          <p:spPr bwMode="auto">
            <a:xfrm>
              <a:off x="3514725"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75"/>
            <p:cNvSpPr>
              <a:spLocks/>
            </p:cNvSpPr>
            <p:nvPr/>
          </p:nvSpPr>
          <p:spPr bwMode="auto">
            <a:xfrm>
              <a:off x="3514725" y="3579813"/>
              <a:ext cx="300037"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76"/>
            <p:cNvSpPr>
              <a:spLocks/>
            </p:cNvSpPr>
            <p:nvPr/>
          </p:nvSpPr>
          <p:spPr bwMode="auto">
            <a:xfrm>
              <a:off x="2940050"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solidFill>
              <a:srgbClr val="B3B3B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77"/>
            <p:cNvSpPr>
              <a:spLocks/>
            </p:cNvSpPr>
            <p:nvPr/>
          </p:nvSpPr>
          <p:spPr bwMode="auto">
            <a:xfrm>
              <a:off x="2940050" y="3579813"/>
              <a:ext cx="298450" cy="303213"/>
            </a:xfrm>
            <a:custGeom>
              <a:avLst/>
              <a:gdLst>
                <a:gd name="T0" fmla="*/ 104 w 104"/>
                <a:gd name="T1" fmla="*/ 52 h 105"/>
                <a:gd name="T2" fmla="*/ 104 w 104"/>
                <a:gd name="T3" fmla="*/ 52 h 105"/>
                <a:gd name="T4" fmla="*/ 52 w 104"/>
                <a:gd name="T5" fmla="*/ 105 h 105"/>
                <a:gd name="T6" fmla="*/ 0 w 104"/>
                <a:gd name="T7" fmla="*/ 53 h 105"/>
                <a:gd name="T8" fmla="*/ 52 w 104"/>
                <a:gd name="T9" fmla="*/ 0 h 105"/>
                <a:gd name="T10" fmla="*/ 104 w 104"/>
                <a:gd name="T11" fmla="*/ 52 h 105"/>
              </a:gdLst>
              <a:ahLst/>
              <a:cxnLst>
                <a:cxn ang="0">
                  <a:pos x="T0" y="T1"/>
                </a:cxn>
                <a:cxn ang="0">
                  <a:pos x="T2" y="T3"/>
                </a:cxn>
                <a:cxn ang="0">
                  <a:pos x="T4" y="T5"/>
                </a:cxn>
                <a:cxn ang="0">
                  <a:pos x="T6" y="T7"/>
                </a:cxn>
                <a:cxn ang="0">
                  <a:pos x="T8" y="T9"/>
                </a:cxn>
                <a:cxn ang="0">
                  <a:pos x="T10" y="T11"/>
                </a:cxn>
              </a:cxnLst>
              <a:rect l="0" t="0" r="r" b="b"/>
              <a:pathLst>
                <a:path w="104" h="105">
                  <a:moveTo>
                    <a:pt x="104" y="52"/>
                  </a:moveTo>
                  <a:lnTo>
                    <a:pt x="104" y="52"/>
                  </a:lnTo>
                  <a:cubicBezTo>
                    <a:pt x="104" y="81"/>
                    <a:pt x="81" y="105"/>
                    <a:pt x="52" y="105"/>
                  </a:cubicBezTo>
                  <a:cubicBezTo>
                    <a:pt x="23" y="105"/>
                    <a:pt x="0" y="81"/>
                    <a:pt x="0" y="53"/>
                  </a:cubicBezTo>
                  <a:cubicBezTo>
                    <a:pt x="0" y="24"/>
                    <a:pt x="23" y="0"/>
                    <a:pt x="52" y="0"/>
                  </a:cubicBezTo>
                  <a:cubicBezTo>
                    <a:pt x="81" y="0"/>
                    <a:pt x="104" y="23"/>
                    <a:pt x="104" y="52"/>
                  </a:cubicBezTo>
                  <a:close/>
                </a:path>
              </a:pathLst>
            </a:custGeom>
            <a:noFill/>
            <a:ln w="2063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113"/>
            <p:cNvSpPr>
              <a:spLocks/>
            </p:cNvSpPr>
            <p:nvPr/>
          </p:nvSpPr>
          <p:spPr bwMode="auto">
            <a:xfrm>
              <a:off x="3135313" y="3175000"/>
              <a:ext cx="517525" cy="73025"/>
            </a:xfrm>
            <a:custGeom>
              <a:avLst/>
              <a:gdLst>
                <a:gd name="T0" fmla="*/ 145 w 180"/>
                <a:gd name="T1" fmla="*/ 21 h 25"/>
                <a:gd name="T2" fmla="*/ 145 w 180"/>
                <a:gd name="T3" fmla="*/ 21 h 25"/>
                <a:gd name="T4" fmla="*/ 31 w 180"/>
                <a:gd name="T5" fmla="*/ 20 h 25"/>
                <a:gd name="T6" fmla="*/ 36 w 180"/>
                <a:gd name="T7" fmla="*/ 4 h 25"/>
                <a:gd name="T8" fmla="*/ 150 w 180"/>
                <a:gd name="T9" fmla="*/ 5 h 25"/>
                <a:gd name="T10" fmla="*/ 145 w 180"/>
                <a:gd name="T11" fmla="*/ 21 h 25"/>
              </a:gdLst>
              <a:ahLst/>
              <a:cxnLst>
                <a:cxn ang="0">
                  <a:pos x="T0" y="T1"/>
                </a:cxn>
                <a:cxn ang="0">
                  <a:pos x="T2" y="T3"/>
                </a:cxn>
                <a:cxn ang="0">
                  <a:pos x="T4" y="T5"/>
                </a:cxn>
                <a:cxn ang="0">
                  <a:pos x="T6" y="T7"/>
                </a:cxn>
                <a:cxn ang="0">
                  <a:pos x="T8" y="T9"/>
                </a:cxn>
                <a:cxn ang="0">
                  <a:pos x="T10" y="T11"/>
                </a:cxn>
              </a:cxnLst>
              <a:rect l="0" t="0" r="r" b="b"/>
              <a:pathLst>
                <a:path w="180" h="25">
                  <a:moveTo>
                    <a:pt x="145" y="21"/>
                  </a:moveTo>
                  <a:lnTo>
                    <a:pt x="145" y="21"/>
                  </a:lnTo>
                  <a:cubicBezTo>
                    <a:pt x="112" y="25"/>
                    <a:pt x="61" y="24"/>
                    <a:pt x="31" y="20"/>
                  </a:cubicBezTo>
                  <a:cubicBezTo>
                    <a:pt x="0" y="15"/>
                    <a:pt x="3" y="8"/>
                    <a:pt x="36" y="4"/>
                  </a:cubicBezTo>
                  <a:cubicBezTo>
                    <a:pt x="69" y="0"/>
                    <a:pt x="120" y="0"/>
                    <a:pt x="150" y="5"/>
                  </a:cubicBezTo>
                  <a:cubicBezTo>
                    <a:pt x="180" y="9"/>
                    <a:pt x="178" y="16"/>
                    <a:pt x="145" y="21"/>
                  </a:cubicBezTo>
                  <a:close/>
                </a:path>
              </a:pathLst>
            </a:custGeom>
            <a:solidFill>
              <a:srgbClr val="F0283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114"/>
            <p:cNvSpPr>
              <a:spLocks/>
            </p:cNvSpPr>
            <p:nvPr/>
          </p:nvSpPr>
          <p:spPr bwMode="auto">
            <a:xfrm>
              <a:off x="3135313" y="3175000"/>
              <a:ext cx="517525" cy="73025"/>
            </a:xfrm>
            <a:custGeom>
              <a:avLst/>
              <a:gdLst>
                <a:gd name="T0" fmla="*/ 145 w 180"/>
                <a:gd name="T1" fmla="*/ 21 h 25"/>
                <a:gd name="T2" fmla="*/ 145 w 180"/>
                <a:gd name="T3" fmla="*/ 21 h 25"/>
                <a:gd name="T4" fmla="*/ 31 w 180"/>
                <a:gd name="T5" fmla="*/ 20 h 25"/>
                <a:gd name="T6" fmla="*/ 36 w 180"/>
                <a:gd name="T7" fmla="*/ 4 h 25"/>
                <a:gd name="T8" fmla="*/ 150 w 180"/>
                <a:gd name="T9" fmla="*/ 5 h 25"/>
                <a:gd name="T10" fmla="*/ 145 w 180"/>
                <a:gd name="T11" fmla="*/ 21 h 25"/>
              </a:gdLst>
              <a:ahLst/>
              <a:cxnLst>
                <a:cxn ang="0">
                  <a:pos x="T0" y="T1"/>
                </a:cxn>
                <a:cxn ang="0">
                  <a:pos x="T2" y="T3"/>
                </a:cxn>
                <a:cxn ang="0">
                  <a:pos x="T4" y="T5"/>
                </a:cxn>
                <a:cxn ang="0">
                  <a:pos x="T6" y="T7"/>
                </a:cxn>
                <a:cxn ang="0">
                  <a:pos x="T8" y="T9"/>
                </a:cxn>
                <a:cxn ang="0">
                  <a:pos x="T10" y="T11"/>
                </a:cxn>
              </a:cxnLst>
              <a:rect l="0" t="0" r="r" b="b"/>
              <a:pathLst>
                <a:path w="180" h="25">
                  <a:moveTo>
                    <a:pt x="145" y="21"/>
                  </a:moveTo>
                  <a:lnTo>
                    <a:pt x="145" y="21"/>
                  </a:lnTo>
                  <a:cubicBezTo>
                    <a:pt x="112" y="25"/>
                    <a:pt x="61" y="24"/>
                    <a:pt x="31" y="20"/>
                  </a:cubicBezTo>
                  <a:cubicBezTo>
                    <a:pt x="0" y="15"/>
                    <a:pt x="3" y="8"/>
                    <a:pt x="36" y="4"/>
                  </a:cubicBezTo>
                  <a:cubicBezTo>
                    <a:pt x="69" y="0"/>
                    <a:pt x="120" y="0"/>
                    <a:pt x="150" y="5"/>
                  </a:cubicBezTo>
                  <a:cubicBezTo>
                    <a:pt x="180" y="9"/>
                    <a:pt x="178" y="16"/>
                    <a:pt x="145" y="21"/>
                  </a:cubicBezTo>
                  <a:close/>
                </a:path>
              </a:pathLst>
            </a:custGeom>
            <a:noFill/>
            <a:ln w="142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22" name="Freeform 115"/>
          <p:cNvSpPr>
            <a:spLocks/>
          </p:cNvSpPr>
          <p:nvPr/>
        </p:nvSpPr>
        <p:spPr bwMode="auto">
          <a:xfrm>
            <a:off x="9431338" y="3354388"/>
            <a:ext cx="301625" cy="538163"/>
          </a:xfrm>
          <a:custGeom>
            <a:avLst/>
            <a:gdLst>
              <a:gd name="T0" fmla="*/ 2 w 105"/>
              <a:gd name="T1" fmla="*/ 186 h 186"/>
              <a:gd name="T2" fmla="*/ 2 w 105"/>
              <a:gd name="T3" fmla="*/ 186 h 186"/>
              <a:gd name="T4" fmla="*/ 105 w 105"/>
              <a:gd name="T5" fmla="*/ 0 h 186"/>
            </a:gdLst>
            <a:ahLst/>
            <a:cxnLst>
              <a:cxn ang="0">
                <a:pos x="T0" y="T1"/>
              </a:cxn>
              <a:cxn ang="0">
                <a:pos x="T2" y="T3"/>
              </a:cxn>
              <a:cxn ang="0">
                <a:pos x="T4" y="T5"/>
              </a:cxn>
            </a:cxnLst>
            <a:rect l="0" t="0" r="r" b="b"/>
            <a:pathLst>
              <a:path w="105" h="186">
                <a:moveTo>
                  <a:pt x="2" y="186"/>
                </a:moveTo>
                <a:lnTo>
                  <a:pt x="2" y="186"/>
                </a:lnTo>
                <a:cubicBezTo>
                  <a:pt x="0" y="13"/>
                  <a:pt x="105" y="0"/>
                  <a:pt x="105" y="0"/>
                </a:cubicBez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116"/>
          <p:cNvSpPr>
            <a:spLocks noEditPoints="1"/>
          </p:cNvSpPr>
          <p:nvPr/>
        </p:nvSpPr>
        <p:spPr bwMode="auto">
          <a:xfrm>
            <a:off x="9693275" y="3302000"/>
            <a:ext cx="103187" cy="112713"/>
          </a:xfrm>
          <a:custGeom>
            <a:avLst/>
            <a:gdLst>
              <a:gd name="T0" fmla="*/ 36 w 36"/>
              <a:gd name="T1" fmla="*/ 15 h 39"/>
              <a:gd name="T2" fmla="*/ 36 w 36"/>
              <a:gd name="T3" fmla="*/ 15 h 39"/>
              <a:gd name="T4" fmla="*/ 4 w 36"/>
              <a:gd name="T5" fmla="*/ 39 h 39"/>
              <a:gd name="T6" fmla="*/ 0 w 36"/>
              <a:gd name="T7" fmla="*/ 0 h 39"/>
              <a:gd name="T8" fmla="*/ 36 w 36"/>
              <a:gd name="T9" fmla="*/ 15 h 39"/>
              <a:gd name="T10" fmla="*/ 36 w 36"/>
              <a:gd name="T11" fmla="*/ 15 h 39"/>
              <a:gd name="T12" fmla="*/ 36 w 36"/>
              <a:gd name="T13" fmla="*/ 15 h 39"/>
            </a:gdLst>
            <a:ahLst/>
            <a:cxnLst>
              <a:cxn ang="0">
                <a:pos x="T0" y="T1"/>
              </a:cxn>
              <a:cxn ang="0">
                <a:pos x="T2" y="T3"/>
              </a:cxn>
              <a:cxn ang="0">
                <a:pos x="T4" y="T5"/>
              </a:cxn>
              <a:cxn ang="0">
                <a:pos x="T6" y="T7"/>
              </a:cxn>
              <a:cxn ang="0">
                <a:pos x="T8" y="T9"/>
              </a:cxn>
              <a:cxn ang="0">
                <a:pos x="T10" y="T11"/>
              </a:cxn>
              <a:cxn ang="0">
                <a:pos x="T12" y="T13"/>
              </a:cxn>
            </a:cxnLst>
            <a:rect l="0" t="0" r="r" b="b"/>
            <a:pathLst>
              <a:path w="36" h="39">
                <a:moveTo>
                  <a:pt x="36" y="15"/>
                </a:moveTo>
                <a:lnTo>
                  <a:pt x="36" y="15"/>
                </a:lnTo>
                <a:lnTo>
                  <a:pt x="4" y="39"/>
                </a:lnTo>
                <a:lnTo>
                  <a:pt x="0" y="0"/>
                </a:lnTo>
                <a:lnTo>
                  <a:pt x="36" y="15"/>
                </a:lnTo>
                <a:close/>
                <a:moveTo>
                  <a:pt x="36" y="15"/>
                </a:moveTo>
                <a:lnTo>
                  <a:pt x="36" y="15"/>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117"/>
          <p:cNvSpPr>
            <a:spLocks noEditPoints="1"/>
          </p:cNvSpPr>
          <p:nvPr/>
        </p:nvSpPr>
        <p:spPr bwMode="auto">
          <a:xfrm>
            <a:off x="9693275" y="3302000"/>
            <a:ext cx="103187" cy="112713"/>
          </a:xfrm>
          <a:custGeom>
            <a:avLst/>
            <a:gdLst>
              <a:gd name="T0" fmla="*/ 36 w 36"/>
              <a:gd name="T1" fmla="*/ 15 h 39"/>
              <a:gd name="T2" fmla="*/ 36 w 36"/>
              <a:gd name="T3" fmla="*/ 15 h 39"/>
              <a:gd name="T4" fmla="*/ 4 w 36"/>
              <a:gd name="T5" fmla="*/ 39 h 39"/>
              <a:gd name="T6" fmla="*/ 0 w 36"/>
              <a:gd name="T7" fmla="*/ 0 h 39"/>
              <a:gd name="T8" fmla="*/ 36 w 36"/>
              <a:gd name="T9" fmla="*/ 15 h 39"/>
              <a:gd name="T10" fmla="*/ 36 w 36"/>
              <a:gd name="T11" fmla="*/ 15 h 39"/>
              <a:gd name="T12" fmla="*/ 36 w 36"/>
              <a:gd name="T13" fmla="*/ 15 h 39"/>
            </a:gdLst>
            <a:ahLst/>
            <a:cxnLst>
              <a:cxn ang="0">
                <a:pos x="T0" y="T1"/>
              </a:cxn>
              <a:cxn ang="0">
                <a:pos x="T2" y="T3"/>
              </a:cxn>
              <a:cxn ang="0">
                <a:pos x="T4" y="T5"/>
              </a:cxn>
              <a:cxn ang="0">
                <a:pos x="T6" y="T7"/>
              </a:cxn>
              <a:cxn ang="0">
                <a:pos x="T8" y="T9"/>
              </a:cxn>
              <a:cxn ang="0">
                <a:pos x="T10" y="T11"/>
              </a:cxn>
              <a:cxn ang="0">
                <a:pos x="T12" y="T13"/>
              </a:cxn>
            </a:cxnLst>
            <a:rect l="0" t="0" r="r" b="b"/>
            <a:pathLst>
              <a:path w="36" h="39">
                <a:moveTo>
                  <a:pt x="36" y="15"/>
                </a:moveTo>
                <a:lnTo>
                  <a:pt x="36" y="15"/>
                </a:lnTo>
                <a:lnTo>
                  <a:pt x="4" y="39"/>
                </a:lnTo>
                <a:lnTo>
                  <a:pt x="0" y="0"/>
                </a:lnTo>
                <a:lnTo>
                  <a:pt x="36" y="15"/>
                </a:lnTo>
                <a:close/>
                <a:moveTo>
                  <a:pt x="36" y="15"/>
                </a:moveTo>
                <a:lnTo>
                  <a:pt x="36" y="15"/>
                </a:lnTo>
                <a:close/>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Rectangle 118"/>
          <p:cNvSpPr>
            <a:spLocks noChangeArrowheads="1"/>
          </p:cNvSpPr>
          <p:nvPr/>
        </p:nvSpPr>
        <p:spPr bwMode="auto">
          <a:xfrm>
            <a:off x="5286375" y="2767013"/>
            <a:ext cx="47466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smtClean="0">
                <a:ln>
                  <a:noFill/>
                </a:ln>
                <a:solidFill>
                  <a:srgbClr val="000000"/>
                </a:solidFill>
                <a:effectLst/>
                <a:latin typeface="Arial Bold" panose="020B0704020202020204" pitchFamily="34" charset="0"/>
              </a:rPr>
              <a:t>RX</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1976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a:xfrm>
            <a:off x="838200" y="3029899"/>
            <a:ext cx="10515600" cy="2020566"/>
          </a:xfrm>
        </p:spPr>
        <p:txBody>
          <a:bodyPr>
            <a:normAutofit/>
          </a:bodyPr>
          <a:lstStyle/>
          <a:p>
            <a:r>
              <a:rPr lang="en-US" dirty="0"/>
              <a:t>PD to RX  Interconnect </a:t>
            </a:r>
            <a:r>
              <a:rPr lang="en-US" dirty="0" smtClean="0"/>
              <a:t>Optimization</a:t>
            </a:r>
            <a:br>
              <a:rPr lang="en-US" dirty="0" smtClean="0"/>
            </a:br>
            <a:r>
              <a:rPr lang="en-US" dirty="0"/>
              <a:t>Criticality of Optical Receiver Design</a:t>
            </a:r>
            <a:br>
              <a:rPr lang="en-US" dirty="0"/>
            </a:br>
            <a:endParaRPr lang="en-US" dirty="0"/>
          </a:p>
        </p:txBody>
      </p:sp>
      <p:sp>
        <p:nvSpPr>
          <p:cNvPr id="6" name="Slide Number Placeholder 5">
            <a:extLst>
              <a:ext uri="{FF2B5EF4-FFF2-40B4-BE49-F238E27FC236}">
                <a16:creationId xmlns:a16="http://schemas.microsoft.com/office/drawing/2014/main" id="{3A64E4C8-D377-B24B-B361-A82BD483EAD0}"/>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45</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 name="Date Placeholder 1"/>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5227012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1FD880-4FAB-5E41-8F0B-B69320B1AA49}"/>
              </a:ext>
            </a:extLst>
          </p:cNvPr>
          <p:cNvPicPr>
            <a:picLocks noChangeAspect="1"/>
          </p:cNvPicPr>
          <p:nvPr/>
        </p:nvPicPr>
        <p:blipFill>
          <a:blip r:embed="rId3"/>
          <a:srcRect/>
          <a:stretch/>
        </p:blipFill>
        <p:spPr>
          <a:xfrm>
            <a:off x="2929337" y="2267757"/>
            <a:ext cx="7796363" cy="3840000"/>
          </a:xfrm>
          <a:prstGeom prst="rect">
            <a:avLst/>
          </a:prstGeom>
        </p:spPr>
      </p:pic>
      <p:sp>
        <p:nvSpPr>
          <p:cNvPr id="2" name="Title 1">
            <a:extLst>
              <a:ext uri="{FF2B5EF4-FFF2-40B4-BE49-F238E27FC236}">
                <a16:creationId xmlns:a16="http://schemas.microsoft.com/office/drawing/2014/main" id="{3B32F244-F86D-BD45-922E-F792415D9F39}"/>
              </a:ext>
            </a:extLst>
          </p:cNvPr>
          <p:cNvSpPr>
            <a:spLocks noGrp="1"/>
          </p:cNvSpPr>
          <p:nvPr>
            <p:ph type="title"/>
          </p:nvPr>
        </p:nvSpPr>
        <p:spPr/>
        <p:txBody>
          <a:bodyPr>
            <a:normAutofit/>
          </a:bodyPr>
          <a:lstStyle/>
          <a:p>
            <a:r>
              <a:rPr lang="en-US" dirty="0"/>
              <a:t>PD to RX Interconnect Optimization Opportunity</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D44297D-E3E1-ED46-9420-8D43DCC14D7E}"/>
                  </a:ext>
                </a:extLst>
              </p:cNvPr>
              <p:cNvSpPr txBox="1"/>
              <p:nvPr/>
            </p:nvSpPr>
            <p:spPr>
              <a:xfrm>
                <a:off x="1007328" y="3822961"/>
                <a:ext cx="2123467" cy="1425903"/>
              </a:xfrm>
              <a:prstGeom prst="rect">
                <a:avLst/>
              </a:prstGeom>
              <a:noFill/>
              <a:ln>
                <a:noFill/>
              </a:ln>
            </p:spPr>
            <p:txBody>
              <a:bodyPr wrap="squar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ctrlPr>
                        </m:sSubPr>
                        <m:e>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𝒁</m:t>
                          </m:r>
                        </m:e>
                        <m:sub>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𝟎</m:t>
                          </m:r>
                        </m:sub>
                      </m:sSub>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m:t>
                      </m:r>
                      <m:rad>
                        <m:radPr>
                          <m:degHide m:val="on"/>
                          <m:ctrlP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ctrlPr>
                        </m:radPr>
                        <m:deg/>
                        <m:e>
                          <m:f>
                            <m:fPr>
                              <m:ctrlP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ctrlPr>
                            </m:fPr>
                            <m:num>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𝑳</m:t>
                              </m:r>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m:t>
                              </m:r>
                            </m:num>
                            <m:den>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𝑪</m:t>
                              </m:r>
                              <m:r>
                                <a:rPr kumimoji="0" lang="en-CA" sz="2933" b="1" i="1" u="none" strike="noStrike" kern="1200" cap="none" spc="0" normalizeH="0" baseline="0" noProof="0">
                                  <a:ln>
                                    <a:noFill/>
                                  </a:ln>
                                  <a:solidFill>
                                    <a:srgbClr val="035C11"/>
                                  </a:solidFill>
                                  <a:effectLst/>
                                  <a:uLnTx/>
                                  <a:uFillTx/>
                                  <a:latin typeface="Cambria Math" panose="02040503050406030204" pitchFamily="18" charset="0"/>
                                  <a:cs typeface="+mn-cs"/>
                                </a:rPr>
                                <m:t>′</m:t>
                              </m:r>
                            </m:den>
                          </m:f>
                        </m:e>
                      </m:rad>
                    </m:oMath>
                  </m:oMathPara>
                </a14:m>
                <a:endParaRPr kumimoji="0" lang="en-CA" sz="2933" b="1" i="0" u="none" strike="noStrike" kern="1200" cap="none" spc="0" normalizeH="0" baseline="0" noProof="0" dirty="0">
                  <a:ln>
                    <a:noFill/>
                  </a:ln>
                  <a:solidFill>
                    <a:srgbClr val="035C11"/>
                  </a:solidFill>
                  <a:effectLst/>
                  <a:uLnTx/>
                  <a:uFillTx/>
                  <a:latin typeface="Arial"/>
                  <a:ea typeface="맑은 고딕"/>
                  <a:cs typeface="+mn-cs"/>
                </a:endParaRPr>
              </a:p>
            </p:txBody>
          </p:sp>
        </mc:Choice>
        <mc:Fallback xmlns="">
          <p:sp>
            <p:nvSpPr>
              <p:cNvPr id="11" name="TextBox 10">
                <a:extLst>
                  <a:ext uri="{FF2B5EF4-FFF2-40B4-BE49-F238E27FC236}">
                    <a16:creationId xmlns:a16="http://schemas.microsoft.com/office/drawing/2014/main" id="{4D44297D-E3E1-ED46-9420-8D43DCC14D7E}"/>
                  </a:ext>
                </a:extLst>
              </p:cNvPr>
              <p:cNvSpPr txBox="1">
                <a:spLocks noRot="1" noChangeAspect="1" noMove="1" noResize="1" noEditPoints="1" noAdjustHandles="1" noChangeArrowheads="1" noChangeShapeType="1" noTextEdit="1"/>
              </p:cNvSpPr>
              <p:nvPr/>
            </p:nvSpPr>
            <p:spPr>
              <a:xfrm>
                <a:off x="1007328" y="3822961"/>
                <a:ext cx="2123467" cy="1425903"/>
              </a:xfrm>
              <a:prstGeom prst="rect">
                <a:avLst/>
              </a:prstGeom>
              <a:blipFill>
                <a:blip r:embed="rId4"/>
                <a:stretch>
                  <a:fillRect/>
                </a:stretch>
              </a:blipFill>
              <a:ln>
                <a:noFill/>
              </a:ln>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5EBC6F0D-37C4-B547-8FBF-25BF97668111}"/>
              </a:ext>
            </a:extLst>
          </p:cNvPr>
          <p:cNvCxnSpPr>
            <a:cxnSpLocks/>
          </p:cNvCxnSpPr>
          <p:nvPr/>
        </p:nvCxnSpPr>
        <p:spPr>
          <a:xfrm>
            <a:off x="3239077" y="4658359"/>
            <a:ext cx="922713" cy="0"/>
          </a:xfrm>
          <a:prstGeom prst="straightConnector1">
            <a:avLst/>
          </a:prstGeom>
          <a:ln w="12700">
            <a:solidFill>
              <a:srgbClr val="035C11"/>
            </a:solidFill>
            <a:tailEnd type="triangle"/>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E17098AD-702B-4D4F-8FFB-2E7B4F39935E}"/>
              </a:ext>
            </a:extLst>
          </p:cNvPr>
          <p:cNvSpPr>
            <a:spLocks noGrp="1"/>
          </p:cNvSpPr>
          <p:nvPr>
            <p:ph type="body" sz="quarter" idx="13"/>
          </p:nvPr>
        </p:nvSpPr>
        <p:spPr>
          <a:xfrm>
            <a:off x="1028732" y="5282835"/>
            <a:ext cx="2367763" cy="851316"/>
          </a:xfrm>
          <a:prstGeom prst="roundRect">
            <a:avLst>
              <a:gd name="adj" fmla="val 12898"/>
            </a:avLst>
          </a:prstGeom>
          <a:solidFill>
            <a:srgbClr val="FFEB73"/>
          </a:solidFill>
        </p:spPr>
        <p:txBody>
          <a:bodyPr>
            <a:noAutofit/>
          </a:bodyPr>
          <a:lstStyle/>
          <a:p>
            <a:pPr marL="0" indent="0" algn="ctr">
              <a:buNone/>
            </a:pPr>
            <a:r>
              <a:rPr lang="en-US" dirty="0">
                <a:latin typeface="Calibri" panose="020F0502020204030204" pitchFamily="34" charset="0"/>
                <a:cs typeface="Calibri" panose="020F0502020204030204" pitchFamily="34" charset="0"/>
              </a:rPr>
              <a:t>Series peaking opportunity</a:t>
            </a:r>
          </a:p>
        </p:txBody>
      </p:sp>
      <p:sp>
        <p:nvSpPr>
          <p:cNvPr id="24" name="Striped Right Arrow 23">
            <a:extLst>
              <a:ext uri="{FF2B5EF4-FFF2-40B4-BE49-F238E27FC236}">
                <a16:creationId xmlns:a16="http://schemas.microsoft.com/office/drawing/2014/main" id="{A456583A-85EA-0240-BE4F-FEB056B7D97D}"/>
              </a:ext>
            </a:extLst>
          </p:cNvPr>
          <p:cNvSpPr/>
          <p:nvPr/>
        </p:nvSpPr>
        <p:spPr>
          <a:xfrm rot="5400000">
            <a:off x="2807521" y="4806167"/>
            <a:ext cx="357779" cy="245687"/>
          </a:xfrm>
          <a:prstGeom prst="stripedRightArrow">
            <a:avLst/>
          </a:prstGeom>
          <a:solidFill>
            <a:srgbClr val="0070C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sp>
        <p:nvSpPr>
          <p:cNvPr id="25" name="Striped Right Arrow 24">
            <a:extLst>
              <a:ext uri="{FF2B5EF4-FFF2-40B4-BE49-F238E27FC236}">
                <a16:creationId xmlns:a16="http://schemas.microsoft.com/office/drawing/2014/main" id="{F2A15DB6-B0E2-B947-A20B-343B136FF5AC}"/>
              </a:ext>
            </a:extLst>
          </p:cNvPr>
          <p:cNvSpPr/>
          <p:nvPr/>
        </p:nvSpPr>
        <p:spPr>
          <a:xfrm rot="16200000">
            <a:off x="783847" y="4408373"/>
            <a:ext cx="556805" cy="334039"/>
          </a:xfrm>
          <a:prstGeom prst="stripedRightArrow">
            <a:avLst/>
          </a:prstGeom>
          <a:solidFill>
            <a:srgbClr val="0070C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sp>
        <p:nvSpPr>
          <p:cNvPr id="28" name="Text Placeholder 2">
            <a:extLst>
              <a:ext uri="{FF2B5EF4-FFF2-40B4-BE49-F238E27FC236}">
                <a16:creationId xmlns:a16="http://schemas.microsoft.com/office/drawing/2014/main" id="{16E00499-125F-B342-9D35-648A9F915851}"/>
              </a:ext>
            </a:extLst>
          </p:cNvPr>
          <p:cNvSpPr>
            <a:spLocks noGrp="1"/>
          </p:cNvSpPr>
          <p:nvPr/>
        </p:nvSpPr>
        <p:spPr>
          <a:xfrm>
            <a:off x="448180" y="1241503"/>
            <a:ext cx="11580779" cy="1090524"/>
          </a:xfrm>
          <a:prstGeom prst="rect">
            <a:avLst/>
          </a:prstGeom>
        </p:spPr>
        <p:txBody>
          <a:bodyPr vert="horz" lIns="122400" tIns="60960" rIns="121920" bIns="60960" rtlCol="0">
            <a:noAutofit/>
          </a:bodyPr>
          <a:lstStyle>
            <a:lvl1pPr marL="171446" indent="-171446" algn="l" defTabSz="685783" rtl="0" eaLnBrk="1" latinLnBrk="0" hangingPunct="1">
              <a:lnSpc>
                <a:spcPct val="90000"/>
              </a:lnSpc>
              <a:spcBef>
                <a:spcPts val="751"/>
              </a:spcBef>
              <a:buClr>
                <a:srgbClr val="186210"/>
              </a:buClr>
              <a:buFont typeface="Arial" panose="020B0604020202020204" pitchFamily="34" charset="0"/>
              <a:buChar char="•"/>
              <a:defRPr sz="20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Clr>
                <a:srgbClr val="186210"/>
              </a:buClr>
              <a:buFont typeface="LucidaGrande" charset="0"/>
              <a:buChar char="-"/>
              <a:defRPr sz="16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Clr>
                <a:srgbClr val="186210"/>
              </a:buClr>
              <a:buFont typeface="Arial" panose="020B0604020202020204" pitchFamily="34" charset="0"/>
              <a:buChar char="•"/>
              <a:defRPr sz="16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Clr>
                <a:srgbClr val="186210"/>
              </a:buClr>
              <a:buFont typeface="Wingdings" charset="2"/>
              <a:buChar char="§"/>
              <a:defRPr sz="160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Clr>
                <a:srgbClr val="186210"/>
              </a:buClr>
              <a:buFont typeface="Courier New" charset="0"/>
              <a:buChar char="o"/>
              <a:defRPr sz="16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171446" marR="0" lvl="0" indent="-171446" algn="l" defTabSz="685783" rtl="0" eaLnBrk="1" fontAlgn="auto" latinLnBrk="0" hangingPunct="1">
              <a:lnSpc>
                <a:spcPct val="90000"/>
              </a:lnSpc>
              <a:spcBef>
                <a:spcPts val="751"/>
              </a:spcBef>
              <a:spcAft>
                <a:spcPts val="0"/>
              </a:spcAft>
              <a:buClr>
                <a:prstClr val="black"/>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a:ea typeface="맑은 고딕"/>
                <a:cs typeface="+mn-cs"/>
              </a:rPr>
              <a:t>Utilizing inductive property of the interconnect for series peaking</a:t>
            </a:r>
          </a:p>
          <a:p>
            <a:pPr marL="171446" marR="0" lvl="0" indent="-171446" algn="l" defTabSz="685783" rtl="0" eaLnBrk="1" fontAlgn="auto" latinLnBrk="0" hangingPunct="1">
              <a:lnSpc>
                <a:spcPct val="90000"/>
              </a:lnSpc>
              <a:spcBef>
                <a:spcPts val="751"/>
              </a:spcBef>
              <a:spcAft>
                <a:spcPts val="0"/>
              </a:spcAft>
              <a:buClr>
                <a:prstClr val="black"/>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a:ea typeface="맑은 고딕"/>
                <a:cs typeface="+mn-cs"/>
              </a:rPr>
              <a:t>Achieved by appropriate selection of characteristics impedance, Z</a:t>
            </a:r>
            <a:r>
              <a:rPr kumimoji="0" lang="en-US" sz="2800" b="0" i="0" u="none" strike="noStrike" kern="1200" cap="none" spc="0" normalizeH="0" baseline="-25000" noProof="0" dirty="0">
                <a:ln>
                  <a:noFill/>
                </a:ln>
                <a:solidFill>
                  <a:prstClr val="black"/>
                </a:solidFill>
                <a:effectLst/>
                <a:uLnTx/>
                <a:uFillTx/>
                <a:latin typeface="Arial"/>
                <a:ea typeface="맑은 고딕"/>
                <a:cs typeface="+mn-cs"/>
              </a:rPr>
              <a:t>0</a:t>
            </a:r>
          </a:p>
        </p:txBody>
      </p:sp>
      <p:sp>
        <p:nvSpPr>
          <p:cNvPr id="29" name="Striped Right Arrow 28">
            <a:extLst>
              <a:ext uri="{FF2B5EF4-FFF2-40B4-BE49-F238E27FC236}">
                <a16:creationId xmlns:a16="http://schemas.microsoft.com/office/drawing/2014/main" id="{67921EE9-4AC8-0446-A8C0-A37815ED2FB7}"/>
              </a:ext>
            </a:extLst>
          </p:cNvPr>
          <p:cNvSpPr/>
          <p:nvPr/>
        </p:nvSpPr>
        <p:spPr>
          <a:xfrm rot="16200000">
            <a:off x="2792961" y="4209129"/>
            <a:ext cx="357779" cy="245687"/>
          </a:xfrm>
          <a:prstGeom prst="stripedRightArrow">
            <a:avLst/>
          </a:prstGeom>
          <a:solidFill>
            <a:srgbClr val="0070C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sp>
        <p:nvSpPr>
          <p:cNvPr id="31" name="Striped Right Arrow 30">
            <a:extLst>
              <a:ext uri="{FF2B5EF4-FFF2-40B4-BE49-F238E27FC236}">
                <a16:creationId xmlns:a16="http://schemas.microsoft.com/office/drawing/2014/main" id="{D6DFF0C1-747D-CA4F-BAAE-C29D5B0AEF62}"/>
              </a:ext>
            </a:extLst>
          </p:cNvPr>
          <p:cNvSpPr/>
          <p:nvPr/>
        </p:nvSpPr>
        <p:spPr>
          <a:xfrm rot="5400000">
            <a:off x="4133024" y="4558189"/>
            <a:ext cx="239257" cy="144600"/>
          </a:xfrm>
          <a:prstGeom prst="stripedRightArrow">
            <a:avLst/>
          </a:prstGeom>
          <a:solidFill>
            <a:srgbClr val="0070C0"/>
          </a:solidFill>
          <a:ln>
            <a:noFill/>
          </a:ln>
        </p:spPr>
        <p:style>
          <a:lnRef idx="1">
            <a:schemeClr val="accent1"/>
          </a:lnRef>
          <a:fillRef idx="1">
            <a:schemeClr val="accent1"/>
          </a:fillRef>
          <a:effectRef idx="1">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rial"/>
              <a:ea typeface="맑은 고딕"/>
              <a:cs typeface="+mn-cs"/>
            </a:endParaRPr>
          </a:p>
        </p:txBody>
      </p:sp>
      <p:sp>
        <p:nvSpPr>
          <p:cNvPr id="5" name="Slide Number Placeholder 4">
            <a:extLst>
              <a:ext uri="{FF2B5EF4-FFF2-40B4-BE49-F238E27FC236}">
                <a16:creationId xmlns:a16="http://schemas.microsoft.com/office/drawing/2014/main" id="{DD05EB13-C3D8-4246-AAFA-30896E498750}"/>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46</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Footer Placeholder 5"/>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1229549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ounded Rectangle 24">
            <a:extLst>
              <a:ext uri="{FF2B5EF4-FFF2-40B4-BE49-F238E27FC236}">
                <a16:creationId xmlns:a16="http://schemas.microsoft.com/office/drawing/2014/main" id="{A1B8CBA5-9642-FA41-B5D7-63AD4143C915}"/>
              </a:ext>
            </a:extLst>
          </p:cNvPr>
          <p:cNvSpPr/>
          <p:nvPr/>
        </p:nvSpPr>
        <p:spPr>
          <a:xfrm>
            <a:off x="2000276" y="2180039"/>
            <a:ext cx="3258589" cy="1881788"/>
          </a:xfrm>
          <a:prstGeom prst="roundRect">
            <a:avLst>
              <a:gd name="adj" fmla="val 13858"/>
            </a:avLst>
          </a:prstGeom>
          <a:solidFill>
            <a:schemeClr val="bg1"/>
          </a:solidFill>
          <a:ln>
            <a:solidFill>
              <a:srgbClr val="00B05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pic>
        <p:nvPicPr>
          <p:cNvPr id="12" name="Picture 11">
            <a:extLst>
              <a:ext uri="{FF2B5EF4-FFF2-40B4-BE49-F238E27FC236}">
                <a16:creationId xmlns:a16="http://schemas.microsoft.com/office/drawing/2014/main" id="{AB610359-AE81-184E-B757-2B49E9F3059D}"/>
              </a:ext>
            </a:extLst>
          </p:cNvPr>
          <p:cNvPicPr>
            <a:picLocks noChangeAspect="1"/>
          </p:cNvPicPr>
          <p:nvPr/>
        </p:nvPicPr>
        <p:blipFill>
          <a:blip r:embed="rId3"/>
          <a:srcRect/>
          <a:stretch/>
        </p:blipFill>
        <p:spPr>
          <a:xfrm>
            <a:off x="1163785" y="1401917"/>
            <a:ext cx="10312159" cy="3484799"/>
          </a:xfrm>
          <a:prstGeom prst="rect">
            <a:avLst/>
          </a:prstGeom>
        </p:spPr>
      </p:pic>
      <p:sp>
        <p:nvSpPr>
          <p:cNvPr id="2" name="Title 1">
            <a:extLst>
              <a:ext uri="{FF2B5EF4-FFF2-40B4-BE49-F238E27FC236}">
                <a16:creationId xmlns:a16="http://schemas.microsoft.com/office/drawing/2014/main" id="{3B32F244-F86D-BD45-922E-F792415D9F39}"/>
              </a:ext>
            </a:extLst>
          </p:cNvPr>
          <p:cNvSpPr>
            <a:spLocks noGrp="1"/>
          </p:cNvSpPr>
          <p:nvPr>
            <p:ph type="title"/>
          </p:nvPr>
        </p:nvSpPr>
        <p:spPr/>
        <p:txBody>
          <a:bodyPr>
            <a:normAutofit/>
          </a:bodyPr>
          <a:lstStyle/>
          <a:p>
            <a:r>
              <a:rPr lang="en-US" dirty="0"/>
              <a:t>PD to RX Interconnect Optimization Passive Modelling</a:t>
            </a:r>
          </a:p>
        </p:txBody>
      </p:sp>
      <p:pic>
        <p:nvPicPr>
          <p:cNvPr id="8" name="Picture 7">
            <a:extLst>
              <a:ext uri="{FF2B5EF4-FFF2-40B4-BE49-F238E27FC236}">
                <a16:creationId xmlns:a16="http://schemas.microsoft.com/office/drawing/2014/main" id="{6D700EC3-0C06-FB42-ADF0-9940A451218E}"/>
              </a:ext>
            </a:extLst>
          </p:cNvPr>
          <p:cNvPicPr>
            <a:picLocks noChangeAspect="1"/>
          </p:cNvPicPr>
          <p:nvPr/>
        </p:nvPicPr>
        <p:blipFill>
          <a:blip r:embed="rId4"/>
          <a:stretch>
            <a:fillRect/>
          </a:stretch>
        </p:blipFill>
        <p:spPr>
          <a:xfrm>
            <a:off x="840826" y="4640285"/>
            <a:ext cx="2516220" cy="1643931"/>
          </a:xfrm>
          <a:prstGeom prst="rect">
            <a:avLst/>
          </a:prstGeom>
        </p:spPr>
      </p:pic>
      <p:cxnSp>
        <p:nvCxnSpPr>
          <p:cNvPr id="5" name="Elbow Connector 4">
            <a:extLst>
              <a:ext uri="{FF2B5EF4-FFF2-40B4-BE49-F238E27FC236}">
                <a16:creationId xmlns:a16="http://schemas.microsoft.com/office/drawing/2014/main" id="{FF6CAAB0-DDE1-484D-9EED-2EC7B56233E4}"/>
              </a:ext>
            </a:extLst>
          </p:cNvPr>
          <p:cNvCxnSpPr>
            <a:cxnSpLocks/>
          </p:cNvCxnSpPr>
          <p:nvPr/>
        </p:nvCxnSpPr>
        <p:spPr>
          <a:xfrm rot="5400000" flipH="1" flipV="1">
            <a:off x="619224" y="2959135"/>
            <a:ext cx="1915469" cy="1446837"/>
          </a:xfrm>
          <a:prstGeom prst="bentConnector3">
            <a:avLst>
              <a:gd name="adj1" fmla="val 100040"/>
            </a:avLst>
          </a:prstGeom>
          <a:ln w="19050">
            <a:solidFill>
              <a:srgbClr val="999999"/>
            </a:solidFill>
            <a:prstDash val="sysDash"/>
            <a:tailEnd type="triangle" w="lg" len="lg"/>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7F37063E-A54F-A34A-8B9E-DE5FDF69B2B3}"/>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47</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3" name="Date Placeholder 2"/>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Footer Placeholder 3"/>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94789281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F244-F86D-BD45-922E-F792415D9F39}"/>
              </a:ext>
            </a:extLst>
          </p:cNvPr>
          <p:cNvSpPr>
            <a:spLocks noGrp="1"/>
          </p:cNvSpPr>
          <p:nvPr>
            <p:ph type="title"/>
          </p:nvPr>
        </p:nvSpPr>
        <p:spPr/>
        <p:txBody>
          <a:bodyPr>
            <a:normAutofit/>
          </a:bodyPr>
          <a:lstStyle/>
          <a:p>
            <a:r>
              <a:rPr lang="en-US" dirty="0"/>
              <a:t>PD to RX Interconnect Optimization Simulations</a:t>
            </a:r>
          </a:p>
        </p:txBody>
      </p:sp>
      <p:sp>
        <p:nvSpPr>
          <p:cNvPr id="29" name="Text Placeholder 2">
            <a:extLst>
              <a:ext uri="{FF2B5EF4-FFF2-40B4-BE49-F238E27FC236}">
                <a16:creationId xmlns:a16="http://schemas.microsoft.com/office/drawing/2014/main" id="{16E00499-125F-B342-9D35-648A9F915851}"/>
              </a:ext>
            </a:extLst>
          </p:cNvPr>
          <p:cNvSpPr>
            <a:spLocks noGrp="1"/>
          </p:cNvSpPr>
          <p:nvPr>
            <p:ph type="body" sz="quarter" idx="13"/>
          </p:nvPr>
        </p:nvSpPr>
        <p:spPr>
          <a:xfrm>
            <a:off x="582608" y="5844498"/>
            <a:ext cx="11137799" cy="471656"/>
          </a:xfrm>
        </p:spPr>
        <p:txBody>
          <a:bodyPr>
            <a:normAutofit fontScale="85000" lnSpcReduction="10000"/>
          </a:bodyPr>
          <a:lstStyle/>
          <a:p>
            <a:r>
              <a:rPr lang="en-US" dirty="0"/>
              <a:t>Approx. </a:t>
            </a:r>
            <a:r>
              <a:rPr lang="en-US" b="1" dirty="0"/>
              <a:t>60 GHz </a:t>
            </a:r>
            <a:r>
              <a:rPr lang="en-US" dirty="0"/>
              <a:t>of passive front-end BW is achieved with optimized interconnect</a:t>
            </a:r>
          </a:p>
        </p:txBody>
      </p:sp>
      <p:grpSp>
        <p:nvGrpSpPr>
          <p:cNvPr id="12" name="Group 11">
            <a:extLst>
              <a:ext uri="{FF2B5EF4-FFF2-40B4-BE49-F238E27FC236}">
                <a16:creationId xmlns:a16="http://schemas.microsoft.com/office/drawing/2014/main" id="{11BB27F4-BCD6-FB47-8D40-DC8EC8F29E73}"/>
              </a:ext>
            </a:extLst>
          </p:cNvPr>
          <p:cNvGrpSpPr/>
          <p:nvPr/>
        </p:nvGrpSpPr>
        <p:grpSpPr>
          <a:xfrm>
            <a:off x="6260716" y="1256291"/>
            <a:ext cx="5861785" cy="3800430"/>
            <a:chOff x="29839" y="832138"/>
            <a:chExt cx="4567500" cy="2961292"/>
          </a:xfrm>
        </p:grpSpPr>
        <p:pic>
          <p:nvPicPr>
            <p:cNvPr id="7" name="Picture 6">
              <a:extLst>
                <a:ext uri="{FF2B5EF4-FFF2-40B4-BE49-F238E27FC236}">
                  <a16:creationId xmlns:a16="http://schemas.microsoft.com/office/drawing/2014/main" id="{BC7D829D-ED8C-B44C-8707-11AC09DDD247}"/>
                </a:ext>
              </a:extLst>
            </p:cNvPr>
            <p:cNvPicPr>
              <a:picLocks noChangeAspect="1"/>
            </p:cNvPicPr>
            <p:nvPr/>
          </p:nvPicPr>
          <p:blipFill>
            <a:blip r:embed="rId3"/>
            <a:srcRect/>
            <a:stretch/>
          </p:blipFill>
          <p:spPr>
            <a:xfrm>
              <a:off x="29839" y="832138"/>
              <a:ext cx="4567500" cy="2610000"/>
            </a:xfrm>
            <a:prstGeom prst="rect">
              <a:avLst/>
            </a:prstGeom>
          </p:spPr>
        </p:pic>
        <p:sp>
          <p:nvSpPr>
            <p:cNvPr id="9" name="TextBox 8">
              <a:extLst>
                <a:ext uri="{FF2B5EF4-FFF2-40B4-BE49-F238E27FC236}">
                  <a16:creationId xmlns:a16="http://schemas.microsoft.com/office/drawing/2014/main" id="{C13D73A3-AFE3-474B-AD14-607C52CE5A3C}"/>
                </a:ext>
              </a:extLst>
            </p:cNvPr>
            <p:cNvSpPr txBox="1"/>
            <p:nvPr/>
          </p:nvSpPr>
          <p:spPr>
            <a:xfrm>
              <a:off x="491651" y="3416356"/>
              <a:ext cx="3978493" cy="377074"/>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00"/>
                  </a:solidFill>
                  <a:effectLst/>
                  <a:uLnTx/>
                  <a:uFillTx/>
                  <a:latin typeface="Calibri" panose="020F0502020204030204" pitchFamily="34" charset="0"/>
                  <a:ea typeface="맑은 고딕"/>
                  <a:cs typeface="Calibri" panose="020F0502020204030204" pitchFamily="34" charset="0"/>
                </a:rPr>
                <a:t>For L = 500 µm,  Z</a:t>
              </a:r>
              <a:r>
                <a:rPr kumimoji="0" lang="en-US" sz="2667" b="1" i="0" u="none" strike="noStrike" kern="1200" cap="none" spc="0" normalizeH="0" baseline="-25000" noProof="0" dirty="0">
                  <a:ln>
                    <a:noFill/>
                  </a:ln>
                  <a:solidFill>
                    <a:srgbClr val="FF0000"/>
                  </a:solidFill>
                  <a:effectLst/>
                  <a:uLnTx/>
                  <a:uFillTx/>
                  <a:latin typeface="Calibri" panose="020F0502020204030204" pitchFamily="34" charset="0"/>
                  <a:ea typeface="맑은 고딕"/>
                  <a:cs typeface="Calibri" panose="020F0502020204030204" pitchFamily="34" charset="0"/>
                </a:rPr>
                <a:t>0</a:t>
              </a:r>
              <a:r>
                <a:rPr kumimoji="0" lang="en-US" sz="2667" b="1" i="0" u="none" strike="noStrike" kern="1200" cap="none" spc="0" normalizeH="0" baseline="0" noProof="0" dirty="0">
                  <a:ln>
                    <a:noFill/>
                  </a:ln>
                  <a:solidFill>
                    <a:srgbClr val="FF0000"/>
                  </a:solidFill>
                  <a:effectLst/>
                  <a:uLnTx/>
                  <a:uFillTx/>
                  <a:latin typeface="Calibri" panose="020F0502020204030204" pitchFamily="34" charset="0"/>
                  <a:ea typeface="맑은 고딕"/>
                  <a:cs typeface="Calibri" panose="020F0502020204030204" pitchFamily="34" charset="0"/>
                </a:rPr>
                <a:t> = 50 </a:t>
              </a:r>
              <a:r>
                <a:rPr kumimoji="0" lang="en-US" sz="2667" b="1" i="0" u="none" strike="noStrike" kern="1200" cap="none" spc="0" normalizeH="0" baseline="0" noProof="0" dirty="0" err="1">
                  <a:ln>
                    <a:noFill/>
                  </a:ln>
                  <a:solidFill>
                    <a:srgbClr val="FF0000"/>
                  </a:solidFill>
                  <a:effectLst/>
                  <a:uLnTx/>
                  <a:uFillTx/>
                  <a:latin typeface="Calibri" panose="020F0502020204030204" pitchFamily="34" charset="0"/>
                  <a:ea typeface="맑은 고딕"/>
                  <a:cs typeface="Calibri" panose="020F0502020204030204" pitchFamily="34" charset="0"/>
                </a:rPr>
                <a:t>Ω</a:t>
              </a:r>
              <a:r>
                <a:rPr kumimoji="0" lang="en-US" sz="2667" b="1" i="0" u="none" strike="noStrike" kern="1200" cap="none" spc="0" normalizeH="0" baseline="0" noProof="0" dirty="0">
                  <a:ln>
                    <a:noFill/>
                  </a:ln>
                  <a:solidFill>
                    <a:srgbClr val="FF0000"/>
                  </a:solidFill>
                  <a:effectLst/>
                  <a:uLnTx/>
                  <a:uFillTx/>
                  <a:latin typeface="Calibri" panose="020F0502020204030204" pitchFamily="34" charset="0"/>
                  <a:ea typeface="맑은 고딕"/>
                  <a:cs typeface="Calibri" panose="020F0502020204030204" pitchFamily="34" charset="0"/>
                </a:rPr>
                <a:t> is selected</a:t>
              </a:r>
            </a:p>
          </p:txBody>
        </p:sp>
        <p:sp>
          <p:nvSpPr>
            <p:cNvPr id="10" name="Rounded Rectangle 9">
              <a:extLst>
                <a:ext uri="{FF2B5EF4-FFF2-40B4-BE49-F238E27FC236}">
                  <a16:creationId xmlns:a16="http://schemas.microsoft.com/office/drawing/2014/main" id="{2377225D-15A4-914C-B871-7926CF72A9EB}"/>
                </a:ext>
              </a:extLst>
            </p:cNvPr>
            <p:cNvSpPr/>
            <p:nvPr/>
          </p:nvSpPr>
          <p:spPr>
            <a:xfrm>
              <a:off x="522548" y="2087809"/>
              <a:ext cx="1653986" cy="228600"/>
            </a:xfrm>
            <a:prstGeom prst="roundRect">
              <a:avLst/>
            </a:prstGeom>
            <a:noFill/>
            <a:ln w="28575">
              <a:solidFill>
                <a:srgbClr val="F028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cxnSp>
          <p:nvCxnSpPr>
            <p:cNvPr id="20" name="Straight Arrow Connector 19">
              <a:extLst>
                <a:ext uri="{FF2B5EF4-FFF2-40B4-BE49-F238E27FC236}">
                  <a16:creationId xmlns:a16="http://schemas.microsoft.com/office/drawing/2014/main" id="{4F5B00F0-B7F6-6040-8EAE-FA563EFA4BF4}"/>
                </a:ext>
              </a:extLst>
            </p:cNvPr>
            <p:cNvCxnSpPr>
              <a:cxnSpLocks/>
            </p:cNvCxnSpPr>
            <p:nvPr/>
          </p:nvCxnSpPr>
          <p:spPr>
            <a:xfrm flipV="1">
              <a:off x="2176070" y="1506828"/>
              <a:ext cx="1550217" cy="809582"/>
            </a:xfrm>
            <a:prstGeom prst="straightConnector1">
              <a:avLst/>
            </a:prstGeom>
            <a:ln w="12700">
              <a:solidFill>
                <a:srgbClr val="F12732"/>
              </a:solidFill>
              <a:headEnd w="lg" len="lg"/>
              <a:tailEnd type="triangle" w="lg" len="lg"/>
            </a:ln>
            <a:effectLst>
              <a:glow rad="635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7218E5-1C76-5948-B03C-80AFB8BEC494}"/>
                </a:ext>
              </a:extLst>
            </p:cNvPr>
            <p:cNvCxnSpPr>
              <a:cxnSpLocks/>
            </p:cNvCxnSpPr>
            <p:nvPr/>
          </p:nvCxnSpPr>
          <p:spPr>
            <a:xfrm>
              <a:off x="3987209" y="930303"/>
              <a:ext cx="0" cy="2202711"/>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1C78A530-04B7-954E-A6F1-E421F2B14B3C}"/>
                </a:ext>
              </a:extLst>
            </p:cNvPr>
            <p:cNvSpPr txBox="1"/>
            <p:nvPr/>
          </p:nvSpPr>
          <p:spPr>
            <a:xfrm>
              <a:off x="3470417" y="3142953"/>
              <a:ext cx="828905" cy="330159"/>
            </a:xfrm>
            <a:prstGeom prst="roundRect">
              <a:avLst>
                <a:gd name="adj" fmla="val 18410"/>
              </a:avLst>
            </a:prstGeom>
            <a:solidFill>
              <a:srgbClr val="FFEB73"/>
            </a:solidFill>
          </p:spPr>
          <p:txBody>
            <a:bodyPr wrap="square" rtlCol="0">
              <a:spAutoFit/>
            </a:bodyPr>
            <a:lstStyle>
              <a:defPPr>
                <a:defRPr lang="en-US"/>
              </a:defPPr>
              <a:lvl1pPr>
                <a:defRPr sz="1400"/>
              </a:lvl1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prstClr val="black"/>
                  </a:solidFill>
                  <a:effectLst/>
                  <a:uLnTx/>
                  <a:uFillTx/>
                  <a:latin typeface="Arial"/>
                  <a:ea typeface="맑은 고딕"/>
                  <a:cs typeface="+mn-cs"/>
                </a:rPr>
                <a:t>60 GHz </a:t>
              </a:r>
            </a:p>
          </p:txBody>
        </p:sp>
      </p:grpSp>
      <p:grpSp>
        <p:nvGrpSpPr>
          <p:cNvPr id="14" name="Group 13">
            <a:extLst>
              <a:ext uri="{FF2B5EF4-FFF2-40B4-BE49-F238E27FC236}">
                <a16:creationId xmlns:a16="http://schemas.microsoft.com/office/drawing/2014/main" id="{3147C1D2-6ACE-004F-B1F8-B0A3A2BF8DFC}"/>
              </a:ext>
            </a:extLst>
          </p:cNvPr>
          <p:cNvGrpSpPr/>
          <p:nvPr/>
        </p:nvGrpSpPr>
        <p:grpSpPr>
          <a:xfrm>
            <a:off x="451961" y="1282700"/>
            <a:ext cx="6440684" cy="4448240"/>
            <a:chOff x="4546163" y="832138"/>
            <a:chExt cx="5018578" cy="3466067"/>
          </a:xfrm>
        </p:grpSpPr>
        <p:pic>
          <p:nvPicPr>
            <p:cNvPr id="5" name="Picture 4">
              <a:extLst>
                <a:ext uri="{FF2B5EF4-FFF2-40B4-BE49-F238E27FC236}">
                  <a16:creationId xmlns:a16="http://schemas.microsoft.com/office/drawing/2014/main" id="{CBCDB108-A785-2E49-99BF-F5D8F159EF55}"/>
                </a:ext>
              </a:extLst>
            </p:cNvPr>
            <p:cNvPicPr>
              <a:picLocks noChangeAspect="1"/>
            </p:cNvPicPr>
            <p:nvPr/>
          </p:nvPicPr>
          <p:blipFill>
            <a:blip r:embed="rId4"/>
            <a:srcRect/>
            <a:stretch/>
          </p:blipFill>
          <p:spPr>
            <a:xfrm>
              <a:off x="4546163" y="832138"/>
              <a:ext cx="4567500" cy="2610000"/>
            </a:xfrm>
            <a:prstGeom prst="rect">
              <a:avLst/>
            </a:prstGeom>
            <a:solidFill>
              <a:srgbClr val="FFEB73"/>
            </a:solidFill>
          </p:spPr>
        </p:pic>
        <p:sp>
          <p:nvSpPr>
            <p:cNvPr id="6" name="TextBox 5">
              <a:extLst>
                <a:ext uri="{FF2B5EF4-FFF2-40B4-BE49-F238E27FC236}">
                  <a16:creationId xmlns:a16="http://schemas.microsoft.com/office/drawing/2014/main" id="{550EFBE7-BA5D-134A-906C-CE3C2E941AB4}"/>
                </a:ext>
              </a:extLst>
            </p:cNvPr>
            <p:cNvSpPr txBox="1"/>
            <p:nvPr/>
          </p:nvSpPr>
          <p:spPr>
            <a:xfrm>
              <a:off x="4888641" y="3415935"/>
              <a:ext cx="4133077" cy="377075"/>
            </a:xfrm>
            <a:prstGeom prst="rect">
              <a:avLst/>
            </a:prstGeom>
            <a:noFill/>
          </p:spPr>
          <p:txBody>
            <a:bodyPr wrap="squar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004DDB"/>
                  </a:solidFill>
                  <a:effectLst/>
                  <a:uLnTx/>
                  <a:uFillTx/>
                  <a:latin typeface="Calibri" panose="020F0502020204030204" pitchFamily="34" charset="0"/>
                  <a:ea typeface="맑은 고딕"/>
                  <a:cs typeface="Calibri" panose="020F0502020204030204" pitchFamily="34" charset="0"/>
                </a:rPr>
                <a:t>For L = 250 µm, Z</a:t>
              </a:r>
              <a:r>
                <a:rPr kumimoji="0" lang="en-US" sz="2667" b="1" i="0" u="none" strike="noStrike" kern="1200" cap="none" spc="0" normalizeH="0" baseline="-25000" noProof="0" dirty="0">
                  <a:ln>
                    <a:noFill/>
                  </a:ln>
                  <a:solidFill>
                    <a:srgbClr val="004DDB"/>
                  </a:solidFill>
                  <a:effectLst/>
                  <a:uLnTx/>
                  <a:uFillTx/>
                  <a:latin typeface="Calibri" panose="020F0502020204030204" pitchFamily="34" charset="0"/>
                  <a:ea typeface="맑은 고딕"/>
                  <a:cs typeface="Calibri" panose="020F0502020204030204" pitchFamily="34" charset="0"/>
                </a:rPr>
                <a:t>0</a:t>
              </a:r>
              <a:r>
                <a:rPr kumimoji="0" lang="en-US" sz="2667" b="1" i="0" u="none" strike="noStrike" kern="1200" cap="none" spc="0" normalizeH="0" baseline="0" noProof="0" dirty="0">
                  <a:ln>
                    <a:noFill/>
                  </a:ln>
                  <a:solidFill>
                    <a:srgbClr val="004DDB"/>
                  </a:solidFill>
                  <a:effectLst/>
                  <a:uLnTx/>
                  <a:uFillTx/>
                  <a:latin typeface="Calibri" panose="020F0502020204030204" pitchFamily="34" charset="0"/>
                  <a:ea typeface="맑은 고딕"/>
                  <a:cs typeface="Calibri" panose="020F0502020204030204" pitchFamily="34" charset="0"/>
                </a:rPr>
                <a:t> = 80 </a:t>
              </a:r>
              <a:r>
                <a:rPr kumimoji="0" lang="en-US" sz="2667" b="1" i="0" u="none" strike="noStrike" kern="1200" cap="none" spc="0" normalizeH="0" baseline="0" noProof="0" dirty="0" err="1">
                  <a:ln>
                    <a:noFill/>
                  </a:ln>
                  <a:solidFill>
                    <a:srgbClr val="004DDB"/>
                  </a:solidFill>
                  <a:effectLst/>
                  <a:uLnTx/>
                  <a:uFillTx/>
                  <a:latin typeface="Calibri" panose="020F0502020204030204" pitchFamily="34" charset="0"/>
                  <a:ea typeface="맑은 고딕"/>
                  <a:cs typeface="Calibri" panose="020F0502020204030204" pitchFamily="34" charset="0"/>
                </a:rPr>
                <a:t>Ω</a:t>
              </a:r>
              <a:r>
                <a:rPr kumimoji="0" lang="en-US" sz="2667" b="1" i="0" u="none" strike="noStrike" kern="1200" cap="none" spc="0" normalizeH="0" baseline="30000" noProof="0" dirty="0">
                  <a:ln>
                    <a:noFill/>
                  </a:ln>
                  <a:solidFill>
                    <a:srgbClr val="004DDB"/>
                  </a:solidFill>
                  <a:effectLst/>
                  <a:uLnTx/>
                  <a:uFillTx/>
                  <a:latin typeface="Calibri" panose="020F0502020204030204" pitchFamily="34" charset="0"/>
                  <a:ea typeface="맑은 고딕"/>
                  <a:cs typeface="Calibri" panose="020F0502020204030204" pitchFamily="34" charset="0"/>
                </a:rPr>
                <a:t>*</a:t>
              </a:r>
              <a:r>
                <a:rPr kumimoji="0" lang="en-US" sz="2667" b="1" i="0" u="none" strike="noStrike" kern="1200" cap="none" spc="0" normalizeH="0" baseline="0" noProof="0" dirty="0">
                  <a:ln>
                    <a:noFill/>
                  </a:ln>
                  <a:solidFill>
                    <a:srgbClr val="004DDB"/>
                  </a:solidFill>
                  <a:effectLst/>
                  <a:uLnTx/>
                  <a:uFillTx/>
                  <a:latin typeface="Calibri" panose="020F0502020204030204" pitchFamily="34" charset="0"/>
                  <a:ea typeface="맑은 고딕"/>
                  <a:cs typeface="Calibri" panose="020F0502020204030204" pitchFamily="34" charset="0"/>
                </a:rPr>
                <a:t> is selected</a:t>
              </a:r>
            </a:p>
          </p:txBody>
        </p:sp>
        <p:sp>
          <p:nvSpPr>
            <p:cNvPr id="11" name="Rounded Rectangle 10">
              <a:extLst>
                <a:ext uri="{FF2B5EF4-FFF2-40B4-BE49-F238E27FC236}">
                  <a16:creationId xmlns:a16="http://schemas.microsoft.com/office/drawing/2014/main" id="{4A32BAA6-013F-2848-85B1-2CBC0E72ABCB}"/>
                </a:ext>
              </a:extLst>
            </p:cNvPr>
            <p:cNvSpPr/>
            <p:nvPr/>
          </p:nvSpPr>
          <p:spPr>
            <a:xfrm>
              <a:off x="5045370" y="2702159"/>
              <a:ext cx="1653986" cy="194509"/>
            </a:xfrm>
            <a:prstGeom prst="roundRect">
              <a:avLst/>
            </a:prstGeom>
            <a:noFill/>
            <a:ln w="28575">
              <a:solidFill>
                <a:srgbClr val="004D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sp>
          <p:nvSpPr>
            <p:cNvPr id="13" name="TextBox 12">
              <a:extLst>
                <a:ext uri="{FF2B5EF4-FFF2-40B4-BE49-F238E27FC236}">
                  <a16:creationId xmlns:a16="http://schemas.microsoft.com/office/drawing/2014/main" id="{D54B3361-99CF-464C-A942-4E61732B8EF7}"/>
                </a:ext>
              </a:extLst>
            </p:cNvPr>
            <p:cNvSpPr txBox="1"/>
            <p:nvPr/>
          </p:nvSpPr>
          <p:spPr>
            <a:xfrm>
              <a:off x="4546163" y="3736609"/>
              <a:ext cx="5018578" cy="561596"/>
            </a:xfrm>
            <a:prstGeom prst="rect">
              <a:avLst/>
            </a:prstGeom>
            <a:noFill/>
          </p:spPr>
          <p:txBody>
            <a:bodyPr wrap="square">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30000" noProof="0" dirty="0">
                  <a:ln>
                    <a:noFill/>
                  </a:ln>
                  <a:solidFill>
                    <a:prstClr val="black"/>
                  </a:solidFill>
                  <a:effectLst/>
                  <a:uLnTx/>
                  <a:uFillTx/>
                  <a:latin typeface="Calibri" panose="020F0502020204030204" pitchFamily="34" charset="0"/>
                  <a:ea typeface="맑은 고딕"/>
                  <a:cs typeface="Calibri" panose="020F0502020204030204" pitchFamily="34" charset="0"/>
                </a:rPr>
                <a:t>*</a:t>
              </a:r>
              <a:r>
                <a:rPr kumimoji="0" lang="en-US" sz="2133" b="0" i="0" u="none" strike="noStrike" kern="1200" cap="none" spc="0" normalizeH="0" baseline="0" noProof="0" dirty="0">
                  <a:ln>
                    <a:noFill/>
                  </a:ln>
                  <a:solidFill>
                    <a:prstClr val="black"/>
                  </a:solidFill>
                  <a:effectLst/>
                  <a:uLnTx/>
                  <a:uFillTx/>
                  <a:latin typeface="Calibri" panose="020F0502020204030204" pitchFamily="34" charset="0"/>
                  <a:ea typeface="맑은 고딕"/>
                  <a:cs typeface="Calibri" panose="020F0502020204030204" pitchFamily="34" charset="0"/>
                </a:rPr>
                <a:t>Due to manufacturing limitations, </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004DDB"/>
                  </a:solidFill>
                  <a:effectLst/>
                  <a:uLnTx/>
                  <a:uFillTx/>
                  <a:latin typeface="Calibri" panose="020F0502020204030204" pitchFamily="34" charset="0"/>
                  <a:ea typeface="맑은 고딕"/>
                  <a:cs typeface="Calibri" panose="020F0502020204030204" pitchFamily="34" charset="0"/>
                </a:rPr>
                <a:t>Z</a:t>
              </a:r>
              <a:r>
                <a:rPr kumimoji="0" lang="en-US" sz="2133" b="1" i="0" u="none" strike="noStrike" kern="1200" cap="none" spc="0" normalizeH="0" baseline="-25000" noProof="0" dirty="0">
                  <a:ln>
                    <a:noFill/>
                  </a:ln>
                  <a:solidFill>
                    <a:srgbClr val="004DDB"/>
                  </a:solidFill>
                  <a:effectLst/>
                  <a:uLnTx/>
                  <a:uFillTx/>
                  <a:latin typeface="Calibri" panose="020F0502020204030204" pitchFamily="34" charset="0"/>
                  <a:ea typeface="맑은 고딕"/>
                  <a:cs typeface="Calibri" panose="020F0502020204030204" pitchFamily="34" charset="0"/>
                </a:rPr>
                <a:t>0</a:t>
              </a:r>
              <a:r>
                <a:rPr kumimoji="0" lang="en-US" sz="2133" b="1" i="0" u="none" strike="noStrike" kern="1200" cap="none" spc="0" normalizeH="0" baseline="0" noProof="0" dirty="0">
                  <a:ln>
                    <a:noFill/>
                  </a:ln>
                  <a:solidFill>
                    <a:srgbClr val="004DDB"/>
                  </a:solidFill>
                  <a:effectLst/>
                  <a:uLnTx/>
                  <a:uFillTx/>
                  <a:latin typeface="Calibri" panose="020F0502020204030204" pitchFamily="34" charset="0"/>
                  <a:ea typeface="맑은 고딕"/>
                  <a:cs typeface="Calibri" panose="020F0502020204030204" pitchFamily="34" charset="0"/>
                </a:rPr>
                <a:t> = 75 </a:t>
              </a:r>
              <a:r>
                <a:rPr kumimoji="0" lang="en-US" sz="2133" b="1" i="0" u="none" strike="noStrike" kern="1200" cap="none" spc="0" normalizeH="0" baseline="0" noProof="0" dirty="0" err="1">
                  <a:ln>
                    <a:noFill/>
                  </a:ln>
                  <a:solidFill>
                    <a:srgbClr val="004DDB"/>
                  </a:solidFill>
                  <a:effectLst/>
                  <a:uLnTx/>
                  <a:uFillTx/>
                  <a:latin typeface="Calibri" panose="020F0502020204030204" pitchFamily="34" charset="0"/>
                  <a:ea typeface="맑은 고딕"/>
                  <a:cs typeface="Calibri" panose="020F0502020204030204" pitchFamily="34" charset="0"/>
                </a:rPr>
                <a:t>Ω</a:t>
              </a:r>
              <a:r>
                <a:rPr kumimoji="0" lang="en-US" sz="2133" b="1" i="0" u="none" strike="noStrike" kern="1200" cap="none" spc="0" normalizeH="0" baseline="0" noProof="0" dirty="0">
                  <a:ln>
                    <a:noFill/>
                  </a:ln>
                  <a:solidFill>
                    <a:srgbClr val="004DDB"/>
                  </a:solidFill>
                  <a:effectLst/>
                  <a:uLnTx/>
                  <a:uFillTx/>
                  <a:latin typeface="Calibri" panose="020F0502020204030204" pitchFamily="34" charset="0"/>
                  <a:ea typeface="맑은 고딕"/>
                  <a:cs typeface="Calibri" panose="020F0502020204030204" pitchFamily="34" charset="0"/>
                </a:rPr>
                <a:t> </a:t>
              </a:r>
              <a:r>
                <a:rPr kumimoji="0" lang="en-US" sz="2133" b="0" i="0" u="none" strike="noStrike" kern="1200" cap="none" spc="0" normalizeH="0" baseline="0" noProof="0" dirty="0">
                  <a:ln>
                    <a:noFill/>
                  </a:ln>
                  <a:solidFill>
                    <a:prstClr val="black"/>
                  </a:solidFill>
                  <a:effectLst/>
                  <a:uLnTx/>
                  <a:uFillTx/>
                  <a:latin typeface="Calibri" panose="020F0502020204030204" pitchFamily="34" charset="0"/>
                  <a:ea typeface="맑은 고딕"/>
                  <a:cs typeface="Calibri" panose="020F0502020204030204" pitchFamily="34" charset="0"/>
                </a:rPr>
                <a:t>was fabricated.</a:t>
              </a:r>
            </a:p>
          </p:txBody>
        </p:sp>
        <p:cxnSp>
          <p:nvCxnSpPr>
            <p:cNvPr id="15" name="Straight Arrow Connector 14">
              <a:extLst>
                <a:ext uri="{FF2B5EF4-FFF2-40B4-BE49-F238E27FC236}">
                  <a16:creationId xmlns:a16="http://schemas.microsoft.com/office/drawing/2014/main" id="{4FF4404F-E420-1745-B60F-ABAC98CACE5D}"/>
                </a:ext>
              </a:extLst>
            </p:cNvPr>
            <p:cNvCxnSpPr>
              <a:cxnSpLocks/>
            </p:cNvCxnSpPr>
            <p:nvPr/>
          </p:nvCxnSpPr>
          <p:spPr>
            <a:xfrm flipV="1">
              <a:off x="6724295" y="1561928"/>
              <a:ext cx="1689236" cy="1140232"/>
            </a:xfrm>
            <a:prstGeom prst="straightConnector1">
              <a:avLst/>
            </a:prstGeom>
            <a:ln w="12700">
              <a:solidFill>
                <a:srgbClr val="064DDB"/>
              </a:solidFill>
              <a:headEnd w="lg" len="lg"/>
              <a:tailEnd type="triangle" w="lg" len="lg"/>
            </a:ln>
            <a:effectLst>
              <a:glow rad="635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842828F-4C15-1045-B7B6-154619A14FD2}"/>
                </a:ext>
              </a:extLst>
            </p:cNvPr>
            <p:cNvCxnSpPr>
              <a:cxnSpLocks/>
            </p:cNvCxnSpPr>
            <p:nvPr/>
          </p:nvCxnSpPr>
          <p:spPr>
            <a:xfrm>
              <a:off x="8498949" y="930303"/>
              <a:ext cx="0" cy="2207687"/>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252534B7-D452-C746-814C-45C08477A098}"/>
                </a:ext>
              </a:extLst>
            </p:cNvPr>
            <p:cNvSpPr txBox="1"/>
            <p:nvPr/>
          </p:nvSpPr>
          <p:spPr>
            <a:xfrm>
              <a:off x="7999922" y="3137990"/>
              <a:ext cx="815728" cy="327299"/>
            </a:xfrm>
            <a:prstGeom prst="roundRect">
              <a:avLst/>
            </a:prstGeom>
            <a:solidFill>
              <a:srgbClr val="FFEB73"/>
            </a:solidFill>
          </p:spPr>
          <p:txBody>
            <a:bodyPr wrap="squar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prstClr val="black"/>
                  </a:solidFill>
                  <a:effectLst/>
                  <a:uLnTx/>
                  <a:uFillTx/>
                  <a:latin typeface="Arial"/>
                  <a:ea typeface="맑은 고딕"/>
                  <a:cs typeface="+mn-cs"/>
                </a:rPr>
                <a:t>60 GHz </a:t>
              </a:r>
            </a:p>
          </p:txBody>
        </p:sp>
      </p:grpSp>
      <p:sp>
        <p:nvSpPr>
          <p:cNvPr id="16" name="Slide Number Placeholder 15">
            <a:extLst>
              <a:ext uri="{FF2B5EF4-FFF2-40B4-BE49-F238E27FC236}">
                <a16:creationId xmlns:a16="http://schemas.microsoft.com/office/drawing/2014/main" id="{CB9AD703-64C8-984E-980E-63799D262F86}"/>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48</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3" name="Date Placeholder 2"/>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Footer Placeholder 3"/>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492705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02274-2615-0948-A657-D847BC11AD8F}"/>
              </a:ext>
            </a:extLst>
          </p:cNvPr>
          <p:cNvSpPr>
            <a:spLocks noGrp="1"/>
          </p:cNvSpPr>
          <p:nvPr>
            <p:ph type="title"/>
          </p:nvPr>
        </p:nvSpPr>
        <p:spPr/>
        <p:txBody>
          <a:bodyPr>
            <a:normAutofit/>
          </a:bodyPr>
          <a:lstStyle/>
          <a:p>
            <a:pPr lvl="0" latinLnBrk="0">
              <a:spcBef>
                <a:spcPts val="1000"/>
              </a:spcBef>
              <a:buClr>
                <a:prstClr val="black"/>
              </a:buClr>
            </a:pPr>
            <a:r>
              <a:rPr lang="en-US" sz="3200" dirty="0">
                <a:solidFill>
                  <a:prstClr val="black"/>
                </a:solidFill>
                <a:latin typeface="Arial"/>
                <a:cs typeface="+mn-cs"/>
              </a:rPr>
              <a:t>Inverter-Based Design for Bandwidth &amp; Gain</a:t>
            </a:r>
            <a:endParaRPr lang="en-US" sz="3200" b="0" dirty="0">
              <a:solidFill>
                <a:prstClr val="black"/>
              </a:solidFill>
              <a:latin typeface="Arial"/>
              <a:cs typeface="+mn-cs"/>
            </a:endParaRPr>
          </a:p>
        </p:txBody>
      </p:sp>
      <p:sp>
        <p:nvSpPr>
          <p:cNvPr id="6" name="Slide Number Placeholder 5">
            <a:extLst>
              <a:ext uri="{FF2B5EF4-FFF2-40B4-BE49-F238E27FC236}">
                <a16:creationId xmlns:a16="http://schemas.microsoft.com/office/drawing/2014/main" id="{E6A86EFD-53F6-C243-9BD6-BB8150370908}"/>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49</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 name="Date Placeholder 1"/>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1415239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48E7-CBAB-B140-9BED-2595B891F9EA}"/>
              </a:ext>
            </a:extLst>
          </p:cNvPr>
          <p:cNvSpPr>
            <a:spLocks noGrp="1"/>
          </p:cNvSpPr>
          <p:nvPr>
            <p:ph type="title"/>
          </p:nvPr>
        </p:nvSpPr>
        <p:spPr/>
        <p:txBody>
          <a:bodyPr/>
          <a:lstStyle/>
          <a:p>
            <a:r>
              <a:rPr lang="en-US" dirty="0"/>
              <a:t>Design Choice: Inverter-Based Stages</a:t>
            </a:r>
          </a:p>
        </p:txBody>
      </p:sp>
      <p:sp>
        <p:nvSpPr>
          <p:cNvPr id="20" name="Text Placeholder 2">
            <a:extLst>
              <a:ext uri="{FF2B5EF4-FFF2-40B4-BE49-F238E27FC236}">
                <a16:creationId xmlns:a16="http://schemas.microsoft.com/office/drawing/2014/main" id="{F434E0FD-64F4-EF41-B842-BC061E57E957}"/>
              </a:ext>
            </a:extLst>
          </p:cNvPr>
          <p:cNvSpPr>
            <a:spLocks noGrp="1"/>
          </p:cNvSpPr>
          <p:nvPr>
            <p:ph type="body" sz="quarter" idx="13"/>
          </p:nvPr>
        </p:nvSpPr>
        <p:spPr>
          <a:xfrm>
            <a:off x="838203" y="1500329"/>
            <a:ext cx="11208215" cy="4701180"/>
          </a:xfrm>
        </p:spPr>
        <p:txBody>
          <a:bodyPr>
            <a:normAutofit/>
          </a:bodyPr>
          <a:lstStyle/>
          <a:p>
            <a:pPr marL="0" indent="0">
              <a:buNone/>
            </a:pPr>
            <a:r>
              <a:rPr lang="en-US" sz="2600" dirty="0"/>
              <a:t>Low-voltage operation</a:t>
            </a:r>
          </a:p>
          <a:p>
            <a:pPr lvl="1"/>
            <a:r>
              <a:rPr lang="en-US" sz="2400" dirty="0"/>
              <a:t>Higher linear swing for a given supply</a:t>
            </a:r>
          </a:p>
          <a:p>
            <a:pPr marL="0" indent="0">
              <a:buNone/>
            </a:pPr>
            <a:r>
              <a:rPr lang="en-US" sz="2600" dirty="0"/>
              <a:t>Power efficient analog amplifier</a:t>
            </a:r>
          </a:p>
          <a:p>
            <a:pPr lvl="1"/>
            <a:r>
              <a:rPr lang="en-US" sz="2400" dirty="0"/>
              <a:t>2x g</a:t>
            </a:r>
            <a:r>
              <a:rPr lang="en-US" sz="2400" baseline="-25000" dirty="0"/>
              <a:t>m</a:t>
            </a:r>
            <a:r>
              <a:rPr lang="en-US" sz="2400" dirty="0"/>
              <a:t> for the same drain current</a:t>
            </a:r>
          </a:p>
          <a:p>
            <a:pPr marL="0" indent="0">
              <a:buNone/>
            </a:pPr>
            <a:r>
              <a:rPr lang="en-US" sz="2600" dirty="0"/>
              <a:t>Compatible with Cherry-Hooper style high-BW broadband amplification</a:t>
            </a:r>
          </a:p>
          <a:p>
            <a:pPr marL="0" indent="0">
              <a:buNone/>
            </a:pPr>
            <a:r>
              <a:rPr lang="en-US" sz="2600" dirty="0"/>
              <a:t>Self-biases to mid-rail with shunt-feedback</a:t>
            </a:r>
          </a:p>
          <a:p>
            <a:pPr marL="0" indent="0">
              <a:buNone/>
            </a:pPr>
            <a:r>
              <a:rPr lang="en-US" sz="2600" dirty="0"/>
              <a:t>No internal parasitic poles</a:t>
            </a:r>
          </a:p>
          <a:p>
            <a:pPr marL="0" indent="0">
              <a:buNone/>
            </a:pPr>
            <a:r>
              <a:rPr lang="en-CA" sz="2600" dirty="0"/>
              <a:t>Ease of design and layout iterations</a:t>
            </a:r>
          </a:p>
          <a:p>
            <a:pPr marL="0" indent="0">
              <a:buNone/>
            </a:pPr>
            <a:r>
              <a:rPr lang="en-US" sz="2600" dirty="0"/>
              <a:t>Scales well with technology</a:t>
            </a:r>
          </a:p>
          <a:p>
            <a:pPr marL="0" indent="0">
              <a:buNone/>
            </a:pPr>
            <a:r>
              <a:rPr lang="en-US" sz="2600" dirty="0"/>
              <a:t>Sensitive to PVT: can be minimized by the LDOs [</a:t>
            </a:r>
            <a:r>
              <a:rPr lang="en-US" sz="2600" dirty="0" err="1"/>
              <a:t>Lakshmikumar</a:t>
            </a:r>
            <a:r>
              <a:rPr lang="en-US" sz="2600" dirty="0"/>
              <a:t>, JSSC’19]</a:t>
            </a:r>
          </a:p>
        </p:txBody>
      </p:sp>
      <p:pic>
        <p:nvPicPr>
          <p:cNvPr id="21" name="Graphic 20" descr="Sad face outline outline">
            <a:extLst>
              <a:ext uri="{FF2B5EF4-FFF2-40B4-BE49-F238E27FC236}">
                <a16:creationId xmlns:a16="http://schemas.microsoft.com/office/drawing/2014/main" id="{5E6652F2-7CD2-BF49-93B6-FEC1E5CBA3A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450231" y="5703987"/>
            <a:ext cx="360000" cy="360000"/>
          </a:xfrm>
          <a:prstGeom prst="rect">
            <a:avLst/>
          </a:prstGeom>
        </p:spPr>
      </p:pic>
      <p:pic>
        <p:nvPicPr>
          <p:cNvPr id="22" name="Graphic 21" descr="Smiling face outline outline">
            <a:extLst>
              <a:ext uri="{FF2B5EF4-FFF2-40B4-BE49-F238E27FC236}">
                <a16:creationId xmlns:a16="http://schemas.microsoft.com/office/drawing/2014/main" id="{D6EB0F10-A46D-CF49-8665-5F4426D7F25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1697" y="1540084"/>
            <a:ext cx="360000" cy="360000"/>
          </a:xfrm>
          <a:prstGeom prst="rect">
            <a:avLst/>
          </a:prstGeom>
        </p:spPr>
      </p:pic>
      <p:pic>
        <p:nvPicPr>
          <p:cNvPr id="23" name="Graphic 22" descr="Smiling face outline outline">
            <a:extLst>
              <a:ext uri="{FF2B5EF4-FFF2-40B4-BE49-F238E27FC236}">
                <a16:creationId xmlns:a16="http://schemas.microsoft.com/office/drawing/2014/main" id="{9F20EE49-88CB-9142-9807-CDA73E30832E}"/>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0231" y="2427117"/>
            <a:ext cx="360000" cy="360000"/>
          </a:xfrm>
          <a:prstGeom prst="rect">
            <a:avLst/>
          </a:prstGeom>
        </p:spPr>
      </p:pic>
      <p:pic>
        <p:nvPicPr>
          <p:cNvPr id="24" name="Graphic 23" descr="Smiling face outline outline">
            <a:extLst>
              <a:ext uri="{FF2B5EF4-FFF2-40B4-BE49-F238E27FC236}">
                <a16:creationId xmlns:a16="http://schemas.microsoft.com/office/drawing/2014/main" id="{4309E956-3BDC-C042-8327-8833058A13CA}"/>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0231" y="3278181"/>
            <a:ext cx="360000" cy="360000"/>
          </a:xfrm>
          <a:prstGeom prst="rect">
            <a:avLst/>
          </a:prstGeom>
        </p:spPr>
      </p:pic>
      <p:pic>
        <p:nvPicPr>
          <p:cNvPr id="25" name="Graphic 24" descr="Smiling face outline outline">
            <a:extLst>
              <a:ext uri="{FF2B5EF4-FFF2-40B4-BE49-F238E27FC236}">
                <a16:creationId xmlns:a16="http://schemas.microsoft.com/office/drawing/2014/main" id="{04AF26B5-C5AF-504D-B9C4-B1C71DDA78CD}"/>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0231" y="4248503"/>
            <a:ext cx="360000" cy="360000"/>
          </a:xfrm>
          <a:prstGeom prst="rect">
            <a:avLst/>
          </a:prstGeom>
        </p:spPr>
      </p:pic>
      <p:pic>
        <p:nvPicPr>
          <p:cNvPr id="26" name="Graphic 25" descr="Smiling face outline outline">
            <a:extLst>
              <a:ext uri="{FF2B5EF4-FFF2-40B4-BE49-F238E27FC236}">
                <a16:creationId xmlns:a16="http://schemas.microsoft.com/office/drawing/2014/main" id="{A6409F17-3D3F-3F4E-8D7C-872B2AC73320}"/>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0231" y="4733664"/>
            <a:ext cx="360000" cy="360000"/>
          </a:xfrm>
          <a:prstGeom prst="rect">
            <a:avLst/>
          </a:prstGeom>
        </p:spPr>
      </p:pic>
      <p:pic>
        <p:nvPicPr>
          <p:cNvPr id="27" name="Graphic 26" descr="Smiling face outline outline">
            <a:extLst>
              <a:ext uri="{FF2B5EF4-FFF2-40B4-BE49-F238E27FC236}">
                <a16:creationId xmlns:a16="http://schemas.microsoft.com/office/drawing/2014/main" id="{88BE4253-EF6B-8B46-93D9-2F925A9B05F8}"/>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0231" y="3763342"/>
            <a:ext cx="360000" cy="360000"/>
          </a:xfrm>
          <a:prstGeom prst="rect">
            <a:avLst/>
          </a:prstGeom>
        </p:spPr>
      </p:pic>
      <p:pic>
        <p:nvPicPr>
          <p:cNvPr id="28" name="Graphic 27" descr="Smiling face outline outline">
            <a:extLst>
              <a:ext uri="{FF2B5EF4-FFF2-40B4-BE49-F238E27FC236}">
                <a16:creationId xmlns:a16="http://schemas.microsoft.com/office/drawing/2014/main" id="{4180F677-5510-304A-AE4E-FF8296AAEC40}"/>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0231" y="5218825"/>
            <a:ext cx="360000" cy="360000"/>
          </a:xfrm>
          <a:prstGeom prst="rect">
            <a:avLst/>
          </a:prstGeom>
        </p:spPr>
      </p:pic>
      <p:pic>
        <p:nvPicPr>
          <p:cNvPr id="29" name="Picture 28">
            <a:extLst>
              <a:ext uri="{FF2B5EF4-FFF2-40B4-BE49-F238E27FC236}">
                <a16:creationId xmlns:a16="http://schemas.microsoft.com/office/drawing/2014/main" id="{1CCA5D21-556A-4D4B-BA54-B2262CE26528}"/>
              </a:ext>
            </a:extLst>
          </p:cNvPr>
          <p:cNvPicPr>
            <a:picLocks noChangeAspect="1"/>
          </p:cNvPicPr>
          <p:nvPr/>
        </p:nvPicPr>
        <p:blipFill>
          <a:blip r:embed="rId7"/>
          <a:srcRect/>
          <a:stretch/>
        </p:blipFill>
        <p:spPr>
          <a:xfrm>
            <a:off x="8356495" y="3655375"/>
            <a:ext cx="3385272" cy="1923450"/>
          </a:xfrm>
          <a:prstGeom prst="rect">
            <a:avLst/>
          </a:prstGeom>
        </p:spPr>
      </p:pic>
      <p:pic>
        <p:nvPicPr>
          <p:cNvPr id="30" name="Picture 29">
            <a:extLst>
              <a:ext uri="{FF2B5EF4-FFF2-40B4-BE49-F238E27FC236}">
                <a16:creationId xmlns:a16="http://schemas.microsoft.com/office/drawing/2014/main" id="{3404F306-1D80-3B4A-81B5-1BFBF34E2ACD}"/>
              </a:ext>
            </a:extLst>
          </p:cNvPr>
          <p:cNvPicPr>
            <a:picLocks noChangeAspect="1"/>
          </p:cNvPicPr>
          <p:nvPr/>
        </p:nvPicPr>
        <p:blipFill>
          <a:blip r:embed="rId8"/>
          <a:srcRect/>
          <a:stretch/>
        </p:blipFill>
        <p:spPr>
          <a:xfrm>
            <a:off x="8359017" y="1433089"/>
            <a:ext cx="1165391" cy="1734534"/>
          </a:xfrm>
          <a:prstGeom prst="rect">
            <a:avLst/>
          </a:prstGeom>
        </p:spPr>
      </p:pic>
      <p:pic>
        <p:nvPicPr>
          <p:cNvPr id="31" name="Picture 30">
            <a:extLst>
              <a:ext uri="{FF2B5EF4-FFF2-40B4-BE49-F238E27FC236}">
                <a16:creationId xmlns:a16="http://schemas.microsoft.com/office/drawing/2014/main" id="{FF85E5F1-7BE8-E144-A8DC-96E4D6B86C4D}"/>
              </a:ext>
            </a:extLst>
          </p:cNvPr>
          <p:cNvPicPr>
            <a:picLocks noChangeAspect="1"/>
          </p:cNvPicPr>
          <p:nvPr/>
        </p:nvPicPr>
        <p:blipFill>
          <a:blip r:embed="rId9"/>
          <a:srcRect/>
          <a:stretch/>
        </p:blipFill>
        <p:spPr>
          <a:xfrm>
            <a:off x="10055199" y="1539639"/>
            <a:ext cx="1375109" cy="1375109"/>
          </a:xfrm>
          <a:prstGeom prst="rect">
            <a:avLst/>
          </a:prstGeom>
        </p:spPr>
      </p:pic>
      <p:cxnSp>
        <p:nvCxnSpPr>
          <p:cNvPr id="32" name="Straight Arrow Connector 31">
            <a:extLst>
              <a:ext uri="{FF2B5EF4-FFF2-40B4-BE49-F238E27FC236}">
                <a16:creationId xmlns:a16="http://schemas.microsoft.com/office/drawing/2014/main" id="{5E0F0A12-154A-B54A-9D23-78F7E38BDC5F}"/>
              </a:ext>
            </a:extLst>
          </p:cNvPr>
          <p:cNvCxnSpPr>
            <a:cxnSpLocks/>
          </p:cNvCxnSpPr>
          <p:nvPr/>
        </p:nvCxnSpPr>
        <p:spPr>
          <a:xfrm>
            <a:off x="9634334" y="2227194"/>
            <a:ext cx="394359" cy="0"/>
          </a:xfrm>
          <a:prstGeom prst="straightConnector1">
            <a:avLst/>
          </a:prstGeom>
          <a:ln w="38100">
            <a:headEnd w="lg" len="med"/>
            <a:tailEnd type="triangle"/>
          </a:ln>
        </p:spPr>
        <p:style>
          <a:lnRef idx="1">
            <a:schemeClr val="dk1"/>
          </a:lnRef>
          <a:fillRef idx="0">
            <a:schemeClr val="dk1"/>
          </a:fillRef>
          <a:effectRef idx="0">
            <a:schemeClr val="dk1"/>
          </a:effectRef>
          <a:fontRef idx="minor">
            <a:schemeClr val="tx1"/>
          </a:fontRef>
        </p:style>
      </p:cxnSp>
      <p:sp>
        <p:nvSpPr>
          <p:cNvPr id="41" name="Slide Number Placeholder 40">
            <a:extLst>
              <a:ext uri="{FF2B5EF4-FFF2-40B4-BE49-F238E27FC236}">
                <a16:creationId xmlns:a16="http://schemas.microsoft.com/office/drawing/2014/main" id="{811DDC78-24E3-C740-958B-EBB7E99DD1B3}"/>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50</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3" name="Date Placeholder 2"/>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Footer Placeholder 3"/>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18227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
                                            <p:txEl>
                                              <p:pRg st="9" end="9"/>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C58AB-54A9-3E49-9544-71DF3167CF10}"/>
              </a:ext>
            </a:extLst>
          </p:cNvPr>
          <p:cNvSpPr>
            <a:spLocks noGrp="1"/>
          </p:cNvSpPr>
          <p:nvPr>
            <p:ph type="title"/>
          </p:nvPr>
        </p:nvSpPr>
        <p:spPr/>
        <p:txBody>
          <a:bodyPr>
            <a:normAutofit/>
          </a:bodyPr>
          <a:lstStyle/>
          <a:p>
            <a:r>
              <a:rPr lang="en-US" dirty="0"/>
              <a:t>Design Choice: Inverter-Based CTLE Architecture</a:t>
            </a:r>
          </a:p>
        </p:txBody>
      </p:sp>
      <p:sp>
        <p:nvSpPr>
          <p:cNvPr id="3" name="Text Placeholder 2">
            <a:extLst>
              <a:ext uri="{FF2B5EF4-FFF2-40B4-BE49-F238E27FC236}">
                <a16:creationId xmlns:a16="http://schemas.microsoft.com/office/drawing/2014/main" id="{8F00203C-DF59-4247-A276-1B1FDBB5B358}"/>
              </a:ext>
            </a:extLst>
          </p:cNvPr>
          <p:cNvSpPr>
            <a:spLocks noGrp="1"/>
          </p:cNvSpPr>
          <p:nvPr>
            <p:ph type="body" sz="quarter" idx="13"/>
          </p:nvPr>
        </p:nvSpPr>
        <p:spPr>
          <a:xfrm>
            <a:off x="6378750" y="1285943"/>
            <a:ext cx="5762452" cy="4807415"/>
          </a:xfrm>
        </p:spPr>
        <p:txBody>
          <a:bodyPr/>
          <a:lstStyle/>
          <a:p>
            <a:r>
              <a:rPr lang="en-US" dirty="0"/>
              <a:t>Inverter-based CTLE (This work):</a:t>
            </a:r>
          </a:p>
          <a:p>
            <a:pPr lvl="1"/>
            <a:r>
              <a:rPr lang="en-US" sz="2200" dirty="0"/>
              <a:t>Low-voltage operation</a:t>
            </a:r>
          </a:p>
          <a:p>
            <a:pPr lvl="1"/>
            <a:r>
              <a:rPr lang="en-US" sz="2200" dirty="0"/>
              <a:t>Cherry-Hooper style</a:t>
            </a:r>
          </a:p>
          <a:p>
            <a:pPr lvl="1"/>
            <a:r>
              <a:rPr lang="en-US" sz="2200" dirty="0"/>
              <a:t>Passive CR high-pass filter for peaking</a:t>
            </a:r>
          </a:p>
          <a:p>
            <a:pPr lvl="1"/>
            <a:endParaRPr lang="en-US" sz="2133" dirty="0"/>
          </a:p>
          <a:p>
            <a:pPr marL="457167" lvl="1" indent="0">
              <a:buNone/>
            </a:pPr>
            <a:endParaRPr lang="en-US" dirty="0"/>
          </a:p>
          <a:p>
            <a:pPr lvl="1"/>
            <a:endParaRPr lang="en-US" dirty="0"/>
          </a:p>
        </p:txBody>
      </p:sp>
      <p:pic>
        <p:nvPicPr>
          <p:cNvPr id="10" name="Picture 9">
            <a:extLst>
              <a:ext uri="{FF2B5EF4-FFF2-40B4-BE49-F238E27FC236}">
                <a16:creationId xmlns:a16="http://schemas.microsoft.com/office/drawing/2014/main" id="{F2DF8801-6EA8-1343-AB02-033DD2A871B4}"/>
              </a:ext>
            </a:extLst>
          </p:cNvPr>
          <p:cNvPicPr>
            <a:picLocks noChangeAspect="1"/>
          </p:cNvPicPr>
          <p:nvPr/>
        </p:nvPicPr>
        <p:blipFill>
          <a:blip r:embed="rId3"/>
          <a:stretch>
            <a:fillRect/>
          </a:stretch>
        </p:blipFill>
        <p:spPr>
          <a:xfrm>
            <a:off x="842871" y="3565057"/>
            <a:ext cx="2417815" cy="2619297"/>
          </a:xfrm>
          <a:prstGeom prst="rect">
            <a:avLst/>
          </a:prstGeom>
        </p:spPr>
      </p:pic>
      <p:sp>
        <p:nvSpPr>
          <p:cNvPr id="15" name="Text Placeholder 2">
            <a:extLst>
              <a:ext uri="{FF2B5EF4-FFF2-40B4-BE49-F238E27FC236}">
                <a16:creationId xmlns:a16="http://schemas.microsoft.com/office/drawing/2014/main" id="{11792CDB-F31A-4C46-B536-E22ABBC2576E}"/>
              </a:ext>
            </a:extLst>
          </p:cNvPr>
          <p:cNvSpPr txBox="1">
            <a:spLocks/>
          </p:cNvSpPr>
          <p:nvPr/>
        </p:nvSpPr>
        <p:spPr>
          <a:xfrm>
            <a:off x="341679" y="1285943"/>
            <a:ext cx="6116429" cy="4807415"/>
          </a:xfrm>
          <a:prstGeom prst="rect">
            <a:avLst/>
          </a:prstGeom>
        </p:spPr>
        <p:txBody>
          <a:bodyPr vert="horz" lIns="121920" tIns="60960" rIns="121920" bIns="60960" rtlCol="0">
            <a:normAutofit/>
          </a:bodyPr>
          <a:lstStyle>
            <a:lvl1pPr marL="171446" indent="-171446" algn="l" defTabSz="685783" rtl="0" eaLnBrk="1" latinLnBrk="0" hangingPunct="1">
              <a:lnSpc>
                <a:spcPct val="90000"/>
              </a:lnSpc>
              <a:spcBef>
                <a:spcPts val="751"/>
              </a:spcBef>
              <a:buClr>
                <a:srgbClr val="186210"/>
              </a:buClr>
              <a:buFont typeface="Arial" panose="020B0604020202020204" pitchFamily="34" charset="0"/>
              <a:buChar char="•"/>
              <a:defRPr sz="18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Clr>
                <a:srgbClr val="186210"/>
              </a:buClr>
              <a:buFont typeface="LucidaGrande" charset="0"/>
              <a:buChar char="-"/>
              <a:defRPr sz="14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Clr>
                <a:srgbClr val="186210"/>
              </a:buClr>
              <a:buFont typeface="Arial" panose="020B0604020202020204" pitchFamily="34" charset="0"/>
              <a:buChar char="•"/>
              <a:defRPr sz="14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Clr>
                <a:srgbClr val="186210"/>
              </a:buClr>
              <a:buFont typeface="Wingdings" charset="2"/>
              <a:buChar char="§"/>
              <a:defRPr sz="140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Clr>
                <a:srgbClr val="186210"/>
              </a:buClr>
              <a:buFont typeface="Courier New" charset="0"/>
              <a:buChar char="o"/>
              <a:defRPr sz="14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228584" marR="0" lvl="0" indent="-228584"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a:ea typeface="맑은 고딕"/>
                <a:cs typeface="+mn-cs"/>
              </a:rPr>
              <a:t>Conventional CML-based CTLE</a:t>
            </a:r>
          </a:p>
          <a:p>
            <a:pPr marL="514338" marR="0" lvl="1" indent="-171446" algn="l" defTabSz="685783" rtl="0" eaLnBrk="1" fontAlgn="auto" latinLnBrk="0" hangingPunct="1">
              <a:lnSpc>
                <a:spcPct val="90000"/>
              </a:lnSpc>
              <a:spcBef>
                <a:spcPts val="375"/>
              </a:spcBef>
              <a:spcAft>
                <a:spcPts val="0"/>
              </a:spcAft>
              <a:buClr>
                <a:prstClr val="black"/>
              </a:buClr>
              <a:buSzTx/>
              <a:buFont typeface="LucidaGrande" charset="0"/>
              <a:buChar char="-"/>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Needs higher supply to operate</a:t>
            </a:r>
          </a:p>
          <a:p>
            <a:pPr marL="514338" marR="0" lvl="1" indent="-171446" algn="l" defTabSz="685783" rtl="0" eaLnBrk="1" fontAlgn="auto" latinLnBrk="0" hangingPunct="1">
              <a:lnSpc>
                <a:spcPct val="90000"/>
              </a:lnSpc>
              <a:spcBef>
                <a:spcPts val="375"/>
              </a:spcBef>
              <a:spcAft>
                <a:spcPts val="0"/>
              </a:spcAft>
              <a:buClr>
                <a:prstClr val="black"/>
              </a:buClr>
              <a:buSzTx/>
              <a:buFont typeface="LucidaGrande" charset="0"/>
              <a:buChar char="-"/>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Performance does not scale well with technology</a:t>
            </a:r>
          </a:p>
          <a:p>
            <a:pPr marL="514338" marR="0" lvl="1" indent="-171446" algn="l" defTabSz="685783" rtl="0" eaLnBrk="1" fontAlgn="auto" latinLnBrk="0" hangingPunct="1">
              <a:lnSpc>
                <a:spcPct val="90000"/>
              </a:lnSpc>
              <a:spcBef>
                <a:spcPts val="375"/>
              </a:spcBef>
              <a:spcAft>
                <a:spcPts val="0"/>
              </a:spcAft>
              <a:buClr>
                <a:prstClr val="black"/>
              </a:buClr>
              <a:buSzTx/>
              <a:buFont typeface="LucidaGrande" charset="0"/>
              <a:buChar char="-"/>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Non-ideal tail-current sources limits </a:t>
            </a:r>
            <a:br>
              <a:rPr kumimoji="0" lang="en-US" sz="2200" b="0" i="0" u="none" strike="noStrike" kern="1200" cap="none" spc="0" normalizeH="0" baseline="0" noProof="0" dirty="0">
                <a:ln>
                  <a:noFill/>
                </a:ln>
                <a:solidFill>
                  <a:prstClr val="black"/>
                </a:solidFill>
                <a:effectLst/>
                <a:uLnTx/>
                <a:uFillTx/>
                <a:latin typeface="Arial"/>
                <a:ea typeface="맑은 고딕"/>
                <a:cs typeface="+mn-cs"/>
              </a:rPr>
            </a:br>
            <a:r>
              <a:rPr kumimoji="0" lang="en-US" sz="2200" b="0" i="0" u="none" strike="noStrike" kern="1200" cap="none" spc="0" normalizeH="0" baseline="0" noProof="0" dirty="0">
                <a:ln>
                  <a:noFill/>
                </a:ln>
                <a:solidFill>
                  <a:prstClr val="black"/>
                </a:solidFill>
                <a:effectLst/>
                <a:uLnTx/>
                <a:uFillTx/>
                <a:latin typeface="Arial"/>
                <a:ea typeface="맑은 고딕"/>
                <a:cs typeface="+mn-cs"/>
              </a:rPr>
              <a:t>high-frequency operation</a:t>
            </a:r>
          </a:p>
        </p:txBody>
      </p:sp>
      <p:sp>
        <p:nvSpPr>
          <p:cNvPr id="16" name="TextBox 15">
            <a:extLst>
              <a:ext uri="{FF2B5EF4-FFF2-40B4-BE49-F238E27FC236}">
                <a16:creationId xmlns:a16="http://schemas.microsoft.com/office/drawing/2014/main" id="{F8DECC07-E642-494B-9AF0-110BFD327157}"/>
              </a:ext>
            </a:extLst>
          </p:cNvPr>
          <p:cNvSpPr txBox="1"/>
          <p:nvPr/>
        </p:nvSpPr>
        <p:spPr>
          <a:xfrm>
            <a:off x="2442496" y="5049904"/>
            <a:ext cx="4037822" cy="369332"/>
          </a:xfrm>
          <a:prstGeom prst="rect">
            <a:avLst/>
          </a:prstGeom>
          <a:noFill/>
        </p:spPr>
        <p:txBody>
          <a:bodyPr wrap="squar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rial"/>
                <a:ea typeface="맑은 고딕"/>
                <a:cs typeface="+mn-cs"/>
              </a:rPr>
              <a:t>[</a:t>
            </a:r>
            <a:r>
              <a:rPr kumimoji="0" lang="en-CA" sz="1800" b="0" i="0" u="none" strike="noStrike" kern="1200" cap="none" spc="0" normalizeH="0" baseline="0" noProof="0" dirty="0" err="1">
                <a:ln>
                  <a:noFill/>
                </a:ln>
                <a:solidFill>
                  <a:prstClr val="black"/>
                </a:solidFill>
                <a:effectLst/>
                <a:uLnTx/>
                <a:uFillTx/>
                <a:latin typeface="Arial"/>
                <a:ea typeface="맑은 고딕"/>
                <a:cs typeface="+mn-cs"/>
              </a:rPr>
              <a:t>Razavi</a:t>
            </a:r>
            <a:r>
              <a:rPr kumimoji="0" lang="en-CA" sz="1800" b="0" i="0" u="none" strike="noStrike" kern="1200" cap="none" spc="0" normalizeH="0" baseline="0" noProof="0" dirty="0">
                <a:ln>
                  <a:noFill/>
                </a:ln>
                <a:solidFill>
                  <a:prstClr val="black"/>
                </a:solidFill>
                <a:effectLst/>
                <a:uLnTx/>
                <a:uFillTx/>
                <a:latin typeface="Arial"/>
                <a:ea typeface="맑은 고딕"/>
                <a:cs typeface="+mn-cs"/>
              </a:rPr>
              <a:t>, John Wiley &amp; Sons’12]</a:t>
            </a:r>
            <a:endParaRPr kumimoji="0" lang="en-US" sz="1800" b="0" i="0" u="none" strike="noStrike" kern="1200" cap="none" spc="0" normalizeH="0" baseline="0" noProof="0" dirty="0">
              <a:ln>
                <a:noFill/>
              </a:ln>
              <a:solidFill>
                <a:prstClr val="black"/>
              </a:solidFill>
              <a:effectLst/>
              <a:uLnTx/>
              <a:uFillTx/>
              <a:latin typeface="Arial"/>
              <a:ea typeface="맑은 고딕"/>
              <a:cs typeface="+mn-cs"/>
            </a:endParaRPr>
          </a:p>
        </p:txBody>
      </p:sp>
      <p:cxnSp>
        <p:nvCxnSpPr>
          <p:cNvPr id="17" name="Straight Connector 16">
            <a:extLst>
              <a:ext uri="{FF2B5EF4-FFF2-40B4-BE49-F238E27FC236}">
                <a16:creationId xmlns:a16="http://schemas.microsoft.com/office/drawing/2014/main" id="{86B68D25-504E-5842-ADF3-B22F8907CE2F}"/>
              </a:ext>
            </a:extLst>
          </p:cNvPr>
          <p:cNvCxnSpPr>
            <a:cxnSpLocks/>
          </p:cNvCxnSpPr>
          <p:nvPr/>
        </p:nvCxnSpPr>
        <p:spPr>
          <a:xfrm flipV="1">
            <a:off x="6157961" y="1328728"/>
            <a:ext cx="0" cy="49972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53B49397-BB9A-C649-8866-F025921A5DDD}"/>
              </a:ext>
            </a:extLst>
          </p:cNvPr>
          <p:cNvPicPr>
            <a:picLocks noChangeAspect="1"/>
          </p:cNvPicPr>
          <p:nvPr/>
        </p:nvPicPr>
        <p:blipFill>
          <a:blip r:embed="rId4"/>
          <a:srcRect/>
          <a:stretch/>
        </p:blipFill>
        <p:spPr>
          <a:xfrm>
            <a:off x="6425891" y="2917806"/>
            <a:ext cx="5620533" cy="2889155"/>
          </a:xfrm>
          <a:prstGeom prst="rect">
            <a:avLst/>
          </a:prstGeom>
        </p:spPr>
      </p:pic>
      <p:sp>
        <p:nvSpPr>
          <p:cNvPr id="21" name="TextBox 20">
            <a:extLst>
              <a:ext uri="{FF2B5EF4-FFF2-40B4-BE49-F238E27FC236}">
                <a16:creationId xmlns:a16="http://schemas.microsoft.com/office/drawing/2014/main" id="{CD40BBB2-F15B-D34A-97DC-95F36B0760F4}"/>
              </a:ext>
            </a:extLst>
          </p:cNvPr>
          <p:cNvSpPr txBox="1"/>
          <p:nvPr/>
        </p:nvSpPr>
        <p:spPr>
          <a:xfrm>
            <a:off x="6865962" y="3163330"/>
            <a:ext cx="1690697" cy="379656"/>
          </a:xfrm>
          <a:prstGeom prst="rect">
            <a:avLst/>
          </a:prstGeom>
          <a:noFill/>
        </p:spPr>
        <p:txBody>
          <a:bodyPr wrap="square" rtlCol="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004DDB"/>
                </a:solidFill>
                <a:effectLst/>
                <a:uLnTx/>
                <a:uFillTx/>
                <a:latin typeface="Arial"/>
                <a:ea typeface="맑은 고딕"/>
                <a:cs typeface="+mn-cs"/>
              </a:rPr>
              <a:t>Low-</a:t>
            </a:r>
            <a:r>
              <a:rPr kumimoji="0" lang="en-US" sz="1867" b="0" i="0" u="none" strike="noStrike" kern="1200" cap="none" spc="0" normalizeH="0" baseline="0" noProof="0" dirty="0" err="1">
                <a:ln>
                  <a:noFill/>
                </a:ln>
                <a:solidFill>
                  <a:srgbClr val="004DDB"/>
                </a:solidFill>
                <a:effectLst/>
                <a:uLnTx/>
                <a:uFillTx/>
                <a:latin typeface="Arial"/>
                <a:ea typeface="맑은 고딕"/>
                <a:cs typeface="+mn-cs"/>
              </a:rPr>
              <a:t>freq</a:t>
            </a:r>
            <a:r>
              <a:rPr kumimoji="0" lang="en-US" sz="1867" b="0" i="0" u="none" strike="noStrike" kern="1200" cap="none" spc="0" normalizeH="0" baseline="0" noProof="0" dirty="0">
                <a:ln>
                  <a:noFill/>
                </a:ln>
                <a:solidFill>
                  <a:srgbClr val="004DDB"/>
                </a:solidFill>
                <a:effectLst/>
                <a:uLnTx/>
                <a:uFillTx/>
                <a:latin typeface="Arial"/>
                <a:ea typeface="맑은 고딕"/>
                <a:cs typeface="+mn-cs"/>
              </a:rPr>
              <a:t> Path</a:t>
            </a:r>
          </a:p>
        </p:txBody>
      </p:sp>
      <p:sp>
        <p:nvSpPr>
          <p:cNvPr id="22" name="TextBox 21">
            <a:extLst>
              <a:ext uri="{FF2B5EF4-FFF2-40B4-BE49-F238E27FC236}">
                <a16:creationId xmlns:a16="http://schemas.microsoft.com/office/drawing/2014/main" id="{0A279046-1EFB-B740-BE19-FD3D91752384}"/>
              </a:ext>
            </a:extLst>
          </p:cNvPr>
          <p:cNvSpPr txBox="1"/>
          <p:nvPr/>
        </p:nvSpPr>
        <p:spPr>
          <a:xfrm>
            <a:off x="6899401" y="4220448"/>
            <a:ext cx="1585882" cy="379656"/>
          </a:xfrm>
          <a:prstGeom prst="rect">
            <a:avLst/>
          </a:prstGeom>
          <a:noFill/>
        </p:spPr>
        <p:txBody>
          <a:bodyPr wrap="none" rtlCol="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F12831"/>
                </a:solidFill>
                <a:effectLst/>
                <a:uLnTx/>
                <a:uFillTx/>
                <a:latin typeface="Arial"/>
                <a:ea typeface="맑은 고딕"/>
                <a:cs typeface="+mn-cs"/>
              </a:rPr>
              <a:t>High-</a:t>
            </a:r>
            <a:r>
              <a:rPr kumimoji="0" lang="en-US" sz="1867" b="0" i="0" u="none" strike="noStrike" kern="1200" cap="none" spc="0" normalizeH="0" baseline="0" noProof="0" dirty="0" err="1">
                <a:ln>
                  <a:noFill/>
                </a:ln>
                <a:solidFill>
                  <a:srgbClr val="F12831"/>
                </a:solidFill>
                <a:effectLst/>
                <a:uLnTx/>
                <a:uFillTx/>
                <a:latin typeface="Arial"/>
                <a:ea typeface="맑은 고딕"/>
                <a:cs typeface="+mn-cs"/>
              </a:rPr>
              <a:t>freq</a:t>
            </a:r>
            <a:r>
              <a:rPr kumimoji="0" lang="en-US" sz="1867" b="0" i="0" u="none" strike="noStrike" kern="1200" cap="none" spc="0" normalizeH="0" baseline="0" noProof="0" dirty="0">
                <a:ln>
                  <a:noFill/>
                </a:ln>
                <a:solidFill>
                  <a:prstClr val="black"/>
                </a:solidFill>
                <a:effectLst/>
                <a:uLnTx/>
                <a:uFillTx/>
                <a:latin typeface="Arial"/>
                <a:ea typeface="맑은 고딕"/>
                <a:cs typeface="+mn-cs"/>
              </a:rPr>
              <a:t> </a:t>
            </a:r>
            <a:r>
              <a:rPr kumimoji="0" lang="en-US" sz="1867" b="0" i="0" u="none" strike="noStrike" kern="1200" cap="none" spc="0" normalizeH="0" baseline="0" noProof="0" dirty="0">
                <a:ln>
                  <a:noFill/>
                </a:ln>
                <a:solidFill>
                  <a:srgbClr val="F12831"/>
                </a:solidFill>
                <a:effectLst/>
                <a:uLnTx/>
                <a:uFillTx/>
                <a:latin typeface="Arial"/>
                <a:ea typeface="맑은 고딕"/>
                <a:cs typeface="+mn-cs"/>
              </a:rPr>
              <a:t>Path</a:t>
            </a:r>
          </a:p>
        </p:txBody>
      </p:sp>
      <p:grpSp>
        <p:nvGrpSpPr>
          <p:cNvPr id="40" name="Group 39">
            <a:extLst>
              <a:ext uri="{FF2B5EF4-FFF2-40B4-BE49-F238E27FC236}">
                <a16:creationId xmlns:a16="http://schemas.microsoft.com/office/drawing/2014/main" id="{A859FEB3-0B81-4048-B45E-AE3A7B014DFB}"/>
              </a:ext>
            </a:extLst>
          </p:cNvPr>
          <p:cNvGrpSpPr/>
          <p:nvPr/>
        </p:nvGrpSpPr>
        <p:grpSpPr>
          <a:xfrm>
            <a:off x="8855532" y="5419236"/>
            <a:ext cx="1303453" cy="813611"/>
            <a:chOff x="9055686" y="1351596"/>
            <a:chExt cx="977590" cy="906966"/>
          </a:xfrm>
        </p:grpSpPr>
        <p:cxnSp>
          <p:nvCxnSpPr>
            <p:cNvPr id="34" name="Straight Connector 33">
              <a:extLst>
                <a:ext uri="{FF2B5EF4-FFF2-40B4-BE49-F238E27FC236}">
                  <a16:creationId xmlns:a16="http://schemas.microsoft.com/office/drawing/2014/main" id="{3221028B-9319-E949-A360-4672BFA8967F}"/>
                </a:ext>
              </a:extLst>
            </p:cNvPr>
            <p:cNvCxnSpPr>
              <a:cxnSpLocks/>
            </p:cNvCxnSpPr>
            <p:nvPr/>
          </p:nvCxnSpPr>
          <p:spPr>
            <a:xfrm flipH="1" flipV="1">
              <a:off x="9728847" y="1479470"/>
              <a:ext cx="142730" cy="77537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66E1058-1B0A-5144-AE71-F5004440DE5E}"/>
                </a:ext>
              </a:extLst>
            </p:cNvPr>
            <p:cNvCxnSpPr/>
            <p:nvPr/>
          </p:nvCxnSpPr>
          <p:spPr>
            <a:xfrm>
              <a:off x="9055686" y="1351596"/>
              <a:ext cx="0" cy="906966"/>
            </a:xfrm>
            <a:prstGeom prst="line">
              <a:avLst/>
            </a:prstGeom>
            <a:ln w="28575" cap="rnd">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7B8F3C1-D59A-6B4B-89D4-630CC6DC04F9}"/>
                </a:ext>
              </a:extLst>
            </p:cNvPr>
            <p:cNvCxnSpPr>
              <a:cxnSpLocks/>
            </p:cNvCxnSpPr>
            <p:nvPr/>
          </p:nvCxnSpPr>
          <p:spPr>
            <a:xfrm>
              <a:off x="9068220" y="1885246"/>
              <a:ext cx="360620" cy="0"/>
            </a:xfrm>
            <a:prstGeom prst="line">
              <a:avLst/>
            </a:prstGeom>
            <a:ln w="28575" cap="rnd">
              <a:solidFill>
                <a:srgbClr val="004DD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5A3B7DD-9C35-AF4A-A822-D73FE426032E}"/>
                </a:ext>
              </a:extLst>
            </p:cNvPr>
            <p:cNvCxnSpPr>
              <a:cxnSpLocks/>
            </p:cNvCxnSpPr>
            <p:nvPr/>
          </p:nvCxnSpPr>
          <p:spPr>
            <a:xfrm flipV="1">
              <a:off x="9428840" y="1466826"/>
              <a:ext cx="147384" cy="418420"/>
            </a:xfrm>
            <a:prstGeom prst="line">
              <a:avLst/>
            </a:prstGeom>
            <a:ln w="28575">
              <a:solidFill>
                <a:srgbClr val="F1283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D459294-BAC2-7847-9FA9-5C7A3D3D64BA}"/>
                </a:ext>
              </a:extLst>
            </p:cNvPr>
            <p:cNvCxnSpPr>
              <a:cxnSpLocks/>
            </p:cNvCxnSpPr>
            <p:nvPr/>
          </p:nvCxnSpPr>
          <p:spPr>
            <a:xfrm flipV="1">
              <a:off x="9571571" y="1473147"/>
              <a:ext cx="157275" cy="1"/>
            </a:xfrm>
            <a:prstGeom prst="line">
              <a:avLst/>
            </a:prstGeom>
            <a:ln w="28575" cap="rnd">
              <a:solidFill>
                <a:srgbClr val="F1283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0D9CC45-4DFE-4A40-9E87-6FF80D4F14AD}"/>
                </a:ext>
              </a:extLst>
            </p:cNvPr>
            <p:cNvCxnSpPr>
              <a:cxnSpLocks/>
            </p:cNvCxnSpPr>
            <p:nvPr/>
          </p:nvCxnSpPr>
          <p:spPr>
            <a:xfrm flipH="1">
              <a:off x="9055686" y="2254845"/>
              <a:ext cx="977590" cy="0"/>
            </a:xfrm>
            <a:prstGeom prst="line">
              <a:avLst/>
            </a:prstGeom>
            <a:ln w="28575" cap="rnd">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6E16AB84-CF65-F84F-A2AB-E47947332D27}"/>
              </a:ext>
            </a:extLst>
          </p:cNvPr>
          <p:cNvSpPr txBox="1"/>
          <p:nvPr/>
        </p:nvSpPr>
        <p:spPr>
          <a:xfrm>
            <a:off x="10096653" y="5938132"/>
            <a:ext cx="258404" cy="379656"/>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prstClr val="black"/>
                </a:solidFill>
                <a:effectLst/>
                <a:uLnTx/>
                <a:uFillTx/>
                <a:latin typeface="Arial"/>
                <a:ea typeface="맑은 고딕"/>
                <a:cs typeface="+mn-cs"/>
              </a:rPr>
              <a:t>f</a:t>
            </a:r>
          </a:p>
        </p:txBody>
      </p:sp>
      <p:sp>
        <p:nvSpPr>
          <p:cNvPr id="42" name="TextBox 41">
            <a:extLst>
              <a:ext uri="{FF2B5EF4-FFF2-40B4-BE49-F238E27FC236}">
                <a16:creationId xmlns:a16="http://schemas.microsoft.com/office/drawing/2014/main" id="{A270EEBB-FDB2-A449-979B-8D40D6D2FBE7}"/>
              </a:ext>
            </a:extLst>
          </p:cNvPr>
          <p:cNvSpPr txBox="1"/>
          <p:nvPr/>
        </p:nvSpPr>
        <p:spPr>
          <a:xfrm rot="16200000">
            <a:off x="8080809" y="5614794"/>
            <a:ext cx="1153073" cy="369332"/>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맑은 고딕"/>
                <a:cs typeface="+mn-cs"/>
              </a:rPr>
              <a:t>|V</a:t>
            </a:r>
            <a:r>
              <a:rPr kumimoji="0" lang="en-US" sz="1800" b="0" i="0" u="none" strike="noStrike" kern="1200" cap="none" spc="0" normalizeH="0" baseline="-25000" noProof="0" dirty="0">
                <a:ln>
                  <a:noFill/>
                </a:ln>
                <a:solidFill>
                  <a:prstClr val="black"/>
                </a:solidFill>
                <a:effectLst/>
                <a:uLnTx/>
                <a:uFillTx/>
                <a:latin typeface="Arial"/>
                <a:ea typeface="맑은 고딕"/>
                <a:cs typeface="+mn-cs"/>
              </a:rPr>
              <a:t>OUT</a:t>
            </a:r>
            <a:r>
              <a:rPr kumimoji="0" lang="en-US" sz="1800" b="0" i="0" u="none" strike="noStrike" kern="1200" cap="none" spc="0" normalizeH="0" baseline="0" noProof="0" dirty="0">
                <a:ln>
                  <a:noFill/>
                </a:ln>
                <a:solidFill>
                  <a:prstClr val="black"/>
                </a:solidFill>
                <a:effectLst/>
                <a:uLnTx/>
                <a:uFillTx/>
                <a:latin typeface="Arial"/>
                <a:ea typeface="맑은 고딕"/>
                <a:cs typeface="+mn-cs"/>
              </a:rPr>
              <a:t>/V</a:t>
            </a:r>
            <a:r>
              <a:rPr kumimoji="0" lang="en-US" sz="1800" b="0" i="0" u="none" strike="noStrike" kern="1200" cap="none" spc="0" normalizeH="0" baseline="-25000" noProof="0" dirty="0">
                <a:ln>
                  <a:noFill/>
                </a:ln>
                <a:solidFill>
                  <a:prstClr val="black"/>
                </a:solidFill>
                <a:effectLst/>
                <a:uLnTx/>
                <a:uFillTx/>
                <a:latin typeface="Arial"/>
                <a:ea typeface="맑은 고딕"/>
                <a:cs typeface="+mn-cs"/>
              </a:rPr>
              <a:t>IN</a:t>
            </a:r>
            <a:r>
              <a:rPr kumimoji="0" lang="en-US" sz="1800" b="0" i="0" u="none" strike="noStrike" kern="1200" cap="none" spc="0" normalizeH="0" baseline="0" noProof="0" dirty="0">
                <a:ln>
                  <a:noFill/>
                </a:ln>
                <a:solidFill>
                  <a:prstClr val="black"/>
                </a:solidFill>
                <a:effectLst/>
                <a:uLnTx/>
                <a:uFillTx/>
                <a:latin typeface="Arial"/>
                <a:ea typeface="맑은 고딕"/>
                <a:cs typeface="+mn-cs"/>
              </a:rPr>
              <a:t>|</a:t>
            </a:r>
          </a:p>
        </p:txBody>
      </p:sp>
      <p:sp>
        <p:nvSpPr>
          <p:cNvPr id="5" name="Slide Number Placeholder 4">
            <a:extLst>
              <a:ext uri="{FF2B5EF4-FFF2-40B4-BE49-F238E27FC236}">
                <a16:creationId xmlns:a16="http://schemas.microsoft.com/office/drawing/2014/main" id="{84A5C5EA-E77B-5946-8687-56AA9679EC99}"/>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51</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Date Placeholder 5"/>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7" name="Footer Placeholder 6"/>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62117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6" grpId="0"/>
      <p:bldP spid="21" grpId="0"/>
      <p:bldP spid="22" grpId="0"/>
      <p:bldP spid="41" grpId="0"/>
      <p:bldP spid="4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C9B5-BF21-9E46-82D9-BEBC7C3DC6A3}"/>
              </a:ext>
            </a:extLst>
          </p:cNvPr>
          <p:cNvSpPr>
            <a:spLocks noGrp="1"/>
          </p:cNvSpPr>
          <p:nvPr>
            <p:ph type="title"/>
          </p:nvPr>
        </p:nvSpPr>
        <p:spPr/>
        <p:txBody>
          <a:bodyPr>
            <a:normAutofit/>
          </a:bodyPr>
          <a:lstStyle/>
          <a:p>
            <a:r>
              <a:rPr lang="en-US" dirty="0"/>
              <a:t>Design Choice: Low-BW First Stage Followed by CTLEs </a:t>
            </a:r>
          </a:p>
        </p:txBody>
      </p:sp>
      <p:sp>
        <p:nvSpPr>
          <p:cNvPr id="3" name="Text Placeholder 2">
            <a:extLst>
              <a:ext uri="{FF2B5EF4-FFF2-40B4-BE49-F238E27FC236}">
                <a16:creationId xmlns:a16="http://schemas.microsoft.com/office/drawing/2014/main" id="{2C497683-41D5-5145-91BE-18A84FF772D6}"/>
              </a:ext>
            </a:extLst>
          </p:cNvPr>
          <p:cNvSpPr>
            <a:spLocks noGrp="1"/>
          </p:cNvSpPr>
          <p:nvPr>
            <p:ph type="body" sz="quarter" idx="13"/>
          </p:nvPr>
        </p:nvSpPr>
        <p:spPr>
          <a:xfrm>
            <a:off x="508001" y="1418660"/>
            <a:ext cx="11519369" cy="5090929"/>
          </a:xfrm>
        </p:spPr>
        <p:txBody>
          <a:bodyPr/>
          <a:lstStyle/>
          <a:p>
            <a:r>
              <a:rPr lang="en-US" dirty="0"/>
              <a:t>High-BW &amp; Low-noise TIA achieved by:</a:t>
            </a:r>
          </a:p>
          <a:p>
            <a:pPr lvl="1"/>
            <a:r>
              <a:rPr lang="en-US" sz="2400" dirty="0"/>
              <a:t>Low-BW high-gain first stage</a:t>
            </a:r>
          </a:p>
          <a:p>
            <a:pPr lvl="1"/>
            <a:r>
              <a:rPr lang="en-US" sz="2400" dirty="0"/>
              <a:t>Lowers R</a:t>
            </a:r>
            <a:r>
              <a:rPr lang="en-US" sz="2400" baseline="-25000" dirty="0"/>
              <a:t>f </a:t>
            </a:r>
            <a:r>
              <a:rPr lang="en-US" sz="2400" dirty="0"/>
              <a:t> input-ref. thermal noise</a:t>
            </a:r>
          </a:p>
          <a:p>
            <a:pPr lvl="1"/>
            <a:r>
              <a:rPr lang="en-US" sz="2400" dirty="0"/>
              <a:t>Targeted BW is recovered by CTLE</a:t>
            </a:r>
          </a:p>
          <a:p>
            <a:pPr lvl="1"/>
            <a:r>
              <a:rPr lang="en-US" sz="2400" dirty="0"/>
              <a:t>CTLE input-ref. noise suppressed</a:t>
            </a:r>
            <a:br>
              <a:rPr lang="en-US" sz="2400" dirty="0"/>
            </a:br>
            <a:r>
              <a:rPr lang="en-US" sz="2400" dirty="0"/>
              <a:t>by the 1</a:t>
            </a:r>
            <a:r>
              <a:rPr lang="en-US" sz="2400" baseline="30000" dirty="0"/>
              <a:t>st</a:t>
            </a:r>
            <a:r>
              <a:rPr lang="en-US" sz="2400" dirty="0"/>
              <a:t> stage </a:t>
            </a:r>
            <a:r>
              <a:rPr lang="en-US" sz="2400" dirty="0" smtClean="0"/>
              <a:t>gain</a:t>
            </a:r>
            <a:endParaRPr lang="en-US" sz="2400" dirty="0"/>
          </a:p>
        </p:txBody>
      </p:sp>
      <p:sp>
        <p:nvSpPr>
          <p:cNvPr id="7" name="TextBox 6">
            <a:extLst>
              <a:ext uri="{FF2B5EF4-FFF2-40B4-BE49-F238E27FC236}">
                <a16:creationId xmlns:a16="http://schemas.microsoft.com/office/drawing/2014/main" id="{70A79BE9-E25D-494D-BE5D-9EA6C253F296}"/>
              </a:ext>
            </a:extLst>
          </p:cNvPr>
          <p:cNvSpPr txBox="1"/>
          <p:nvPr/>
        </p:nvSpPr>
        <p:spPr>
          <a:xfrm>
            <a:off x="1906907" y="4081354"/>
            <a:ext cx="2643237" cy="646331"/>
          </a:xfrm>
          <a:prstGeom prst="rect">
            <a:avLst/>
          </a:prstGeom>
          <a:noFill/>
        </p:spPr>
        <p:txBody>
          <a:bodyPr wrap="square">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rial"/>
                <a:ea typeface="맑은 고딕"/>
                <a:cs typeface="+mn-cs"/>
              </a:rPr>
              <a:t>[Li, JSSC 2014]</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rial"/>
                <a:ea typeface="맑은 고딕"/>
                <a:cs typeface="+mn-cs"/>
              </a:rPr>
              <a:t>[</a:t>
            </a:r>
            <a:r>
              <a:rPr kumimoji="0" lang="en-CA" sz="1800" b="0" i="0" u="none" strike="noStrike" kern="1200" cap="none" spc="0" normalizeH="0" baseline="0" noProof="0" dirty="0" err="1">
                <a:ln>
                  <a:noFill/>
                </a:ln>
                <a:solidFill>
                  <a:prstClr val="black"/>
                </a:solidFill>
                <a:effectLst/>
                <a:uLnTx/>
                <a:uFillTx/>
                <a:latin typeface="Arial"/>
                <a:ea typeface="맑은 고딕"/>
                <a:cs typeface="+mn-cs"/>
              </a:rPr>
              <a:t>López</a:t>
            </a:r>
            <a:r>
              <a:rPr kumimoji="0" lang="en-CA" sz="1800" b="0" i="0" u="none" strike="noStrike" kern="1200" cap="none" spc="0" normalizeH="0" baseline="0" noProof="0" dirty="0">
                <a:ln>
                  <a:noFill/>
                </a:ln>
                <a:solidFill>
                  <a:prstClr val="black"/>
                </a:solidFill>
                <a:effectLst/>
                <a:uLnTx/>
                <a:uFillTx/>
                <a:latin typeface="Arial"/>
                <a:ea typeface="맑은 고딕"/>
                <a:cs typeface="+mn-cs"/>
              </a:rPr>
              <a:t>, JSSC 2018]</a:t>
            </a:r>
            <a:endParaRPr kumimoji="0" lang="en-US" sz="1800" b="0" i="0" u="none" strike="noStrike" kern="1200" cap="none" spc="0" normalizeH="0" baseline="0" noProof="0" dirty="0">
              <a:ln>
                <a:noFill/>
              </a:ln>
              <a:solidFill>
                <a:prstClr val="black"/>
              </a:solidFill>
              <a:effectLst/>
              <a:uLnTx/>
              <a:uFillTx/>
              <a:latin typeface="Arial"/>
              <a:ea typeface="맑은 고딕"/>
              <a:cs typeface="+mn-cs"/>
            </a:endParaRPr>
          </a:p>
        </p:txBody>
      </p:sp>
      <p:pic>
        <p:nvPicPr>
          <p:cNvPr id="10" name="Picture 9">
            <a:extLst>
              <a:ext uri="{FF2B5EF4-FFF2-40B4-BE49-F238E27FC236}">
                <a16:creationId xmlns:a16="http://schemas.microsoft.com/office/drawing/2014/main" id="{25B84202-3E77-9E43-94E3-31537828E402}"/>
              </a:ext>
            </a:extLst>
          </p:cNvPr>
          <p:cNvPicPr>
            <a:picLocks noChangeAspect="1"/>
          </p:cNvPicPr>
          <p:nvPr/>
        </p:nvPicPr>
        <p:blipFill>
          <a:blip r:embed="rId3"/>
          <a:srcRect/>
          <a:stretch/>
        </p:blipFill>
        <p:spPr>
          <a:xfrm>
            <a:off x="5949050" y="2009069"/>
            <a:ext cx="6078320" cy="4222343"/>
          </a:xfrm>
          <a:prstGeom prst="rect">
            <a:avLst/>
          </a:prstGeom>
        </p:spPr>
      </p:pic>
      <p:sp>
        <p:nvSpPr>
          <p:cNvPr id="9" name="Slide Number Placeholder 8">
            <a:extLst>
              <a:ext uri="{FF2B5EF4-FFF2-40B4-BE49-F238E27FC236}">
                <a16:creationId xmlns:a16="http://schemas.microsoft.com/office/drawing/2014/main" id="{B0E458FB-2F63-5E49-894C-674D9E527AD3}"/>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52</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4683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4876C-3CCE-E24C-A084-BE94722E6075}"/>
              </a:ext>
            </a:extLst>
          </p:cNvPr>
          <p:cNvSpPr>
            <a:spLocks noGrp="1"/>
          </p:cNvSpPr>
          <p:nvPr>
            <p:ph type="title"/>
          </p:nvPr>
        </p:nvSpPr>
        <p:spPr/>
        <p:txBody>
          <a:bodyPr/>
          <a:lstStyle/>
          <a:p>
            <a:r>
              <a:rPr lang="en-US" dirty="0"/>
              <a:t>Proposed TIA Overview</a:t>
            </a:r>
          </a:p>
        </p:txBody>
      </p:sp>
      <p:pic>
        <p:nvPicPr>
          <p:cNvPr id="5" name="Picture 4">
            <a:extLst>
              <a:ext uri="{FF2B5EF4-FFF2-40B4-BE49-F238E27FC236}">
                <a16:creationId xmlns:a16="http://schemas.microsoft.com/office/drawing/2014/main" id="{FFB8FBBB-0120-384B-AA7E-DF182ABD66AD}"/>
              </a:ext>
            </a:extLst>
          </p:cNvPr>
          <p:cNvPicPr>
            <a:picLocks noChangeAspect="1"/>
          </p:cNvPicPr>
          <p:nvPr/>
        </p:nvPicPr>
        <p:blipFill>
          <a:blip r:embed="rId3"/>
          <a:srcRect/>
          <a:stretch/>
        </p:blipFill>
        <p:spPr>
          <a:xfrm>
            <a:off x="407988" y="1505011"/>
            <a:ext cx="11556549" cy="3890740"/>
          </a:xfrm>
          <a:prstGeom prst="rect">
            <a:avLst/>
          </a:prstGeom>
        </p:spPr>
      </p:pic>
      <p:sp>
        <p:nvSpPr>
          <p:cNvPr id="8" name="Slide Number Placeholder 7">
            <a:extLst>
              <a:ext uri="{FF2B5EF4-FFF2-40B4-BE49-F238E27FC236}">
                <a16:creationId xmlns:a16="http://schemas.microsoft.com/office/drawing/2014/main" id="{24D3DBE6-385B-554B-AECF-833C582A208F}"/>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53</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9" name="Footer Placeholder 8"/>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603861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11BA-F8CE-D64B-99CD-E2A081BF7374}"/>
              </a:ext>
            </a:extLst>
          </p:cNvPr>
          <p:cNvSpPr>
            <a:spLocks noGrp="1"/>
          </p:cNvSpPr>
          <p:nvPr>
            <p:ph type="title"/>
          </p:nvPr>
        </p:nvSpPr>
        <p:spPr/>
        <p:txBody>
          <a:bodyPr/>
          <a:lstStyle/>
          <a:p>
            <a:r>
              <a:rPr lang="en-US" dirty="0"/>
              <a:t>Proposed TIA Schematic – Stage 1</a:t>
            </a:r>
          </a:p>
        </p:txBody>
      </p:sp>
      <p:pic>
        <p:nvPicPr>
          <p:cNvPr id="5" name="Content Placeholder 7">
            <a:extLst>
              <a:ext uri="{FF2B5EF4-FFF2-40B4-BE49-F238E27FC236}">
                <a16:creationId xmlns:a16="http://schemas.microsoft.com/office/drawing/2014/main" id="{E98623D3-9C55-AA40-A033-4E02AF7D2598}"/>
              </a:ext>
            </a:extLst>
          </p:cNvPr>
          <p:cNvPicPr>
            <a:picLocks noChangeAspect="1"/>
          </p:cNvPicPr>
          <p:nvPr/>
        </p:nvPicPr>
        <p:blipFill>
          <a:blip r:embed="rId3"/>
          <a:srcRect/>
          <a:stretch/>
        </p:blipFill>
        <p:spPr>
          <a:xfrm>
            <a:off x="1545679" y="1259078"/>
            <a:ext cx="9100644" cy="4770337"/>
          </a:xfrm>
          <a:prstGeom prst="rect">
            <a:avLst/>
          </a:prstGeom>
          <a:ln>
            <a:solidFill>
              <a:schemeClr val="tx1"/>
            </a:solidFill>
          </a:ln>
        </p:spPr>
      </p:pic>
      <p:sp>
        <p:nvSpPr>
          <p:cNvPr id="6" name="Rectangle 5">
            <a:extLst>
              <a:ext uri="{FF2B5EF4-FFF2-40B4-BE49-F238E27FC236}">
                <a16:creationId xmlns:a16="http://schemas.microsoft.com/office/drawing/2014/main" id="{C6485BFA-B3EE-6747-A5EB-F7EB04BAB356}"/>
              </a:ext>
            </a:extLst>
          </p:cNvPr>
          <p:cNvSpPr/>
          <p:nvPr/>
        </p:nvSpPr>
        <p:spPr>
          <a:xfrm>
            <a:off x="2991557" y="1259078"/>
            <a:ext cx="7653867" cy="4770337"/>
          </a:xfrm>
          <a:prstGeom prst="rect">
            <a:avLst/>
          </a:prstGeom>
          <a:solidFill>
            <a:schemeClr val="bg1">
              <a:lumMod val="95000"/>
              <a:alpha val="9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a:ea typeface="맑은 고딕"/>
              <a:cs typeface="+mn-cs"/>
            </a:endParaRPr>
          </a:p>
        </p:txBody>
      </p:sp>
      <p:sp>
        <p:nvSpPr>
          <p:cNvPr id="7" name="TextBox 6">
            <a:extLst>
              <a:ext uri="{FF2B5EF4-FFF2-40B4-BE49-F238E27FC236}">
                <a16:creationId xmlns:a16="http://schemas.microsoft.com/office/drawing/2014/main" id="{D3991CD8-8227-A04B-818C-DBE1D87B78A9}"/>
              </a:ext>
            </a:extLst>
          </p:cNvPr>
          <p:cNvSpPr txBox="1"/>
          <p:nvPr/>
        </p:nvSpPr>
        <p:spPr>
          <a:xfrm>
            <a:off x="1549505" y="3793616"/>
            <a:ext cx="1417168" cy="1957745"/>
          </a:xfrm>
          <a:prstGeom prst="roundRect">
            <a:avLst>
              <a:gd name="adj" fmla="val 21256"/>
            </a:avLst>
          </a:prstGeom>
          <a:solidFill>
            <a:srgbClr val="FFEB73"/>
          </a:solidFill>
        </p:spPr>
        <p:txBody>
          <a:bodyPr wrap="square" rtlCol="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1</a:t>
            </a:r>
            <a:r>
              <a:rPr kumimoji="0" lang="en-US" sz="2200" b="0" i="0" u="none" strike="noStrike" kern="1200" cap="none" spc="0" normalizeH="0" baseline="30000" noProof="0" dirty="0">
                <a:ln>
                  <a:noFill/>
                </a:ln>
                <a:solidFill>
                  <a:prstClr val="black"/>
                </a:solidFill>
                <a:effectLst/>
                <a:uLnTx/>
                <a:uFillTx/>
                <a:latin typeface="Arial"/>
                <a:ea typeface="맑은 고딕"/>
                <a:cs typeface="+mn-cs"/>
              </a:rPr>
              <a:t>st</a:t>
            </a:r>
            <a:r>
              <a:rPr kumimoji="0" lang="en-US" sz="2200" b="0" i="0" u="none" strike="noStrike" kern="1200" cap="none" spc="0" normalizeH="0" baseline="0" noProof="0" dirty="0">
                <a:ln>
                  <a:noFill/>
                </a:ln>
                <a:solidFill>
                  <a:prstClr val="black"/>
                </a:solidFill>
                <a:effectLst/>
                <a:uLnTx/>
                <a:uFillTx/>
                <a:latin typeface="Arial"/>
                <a:ea typeface="맑은 고딕"/>
                <a:cs typeface="+mn-cs"/>
              </a:rPr>
              <a:t> stage with </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10 GHz </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BW</a:t>
            </a:r>
          </a:p>
        </p:txBody>
      </p:sp>
      <p:sp>
        <p:nvSpPr>
          <p:cNvPr id="8" name="Slide Number Placeholder 7">
            <a:extLst>
              <a:ext uri="{FF2B5EF4-FFF2-40B4-BE49-F238E27FC236}">
                <a16:creationId xmlns:a16="http://schemas.microsoft.com/office/drawing/2014/main" id="{8F5992C2-78CF-A94D-8C40-6EA89E4A4628}"/>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54</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3" name="Date Placeholder 2"/>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Footer Placeholder 3"/>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52969553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11BA-F8CE-D64B-99CD-E2A081BF7374}"/>
              </a:ext>
            </a:extLst>
          </p:cNvPr>
          <p:cNvSpPr>
            <a:spLocks noGrp="1"/>
          </p:cNvSpPr>
          <p:nvPr>
            <p:ph type="title"/>
          </p:nvPr>
        </p:nvSpPr>
        <p:spPr/>
        <p:txBody>
          <a:bodyPr/>
          <a:lstStyle/>
          <a:p>
            <a:r>
              <a:rPr lang="en-US" dirty="0"/>
              <a:t>Proposed TIA Schematic – Stage 2</a:t>
            </a:r>
          </a:p>
        </p:txBody>
      </p:sp>
      <p:pic>
        <p:nvPicPr>
          <p:cNvPr id="5" name="Content Placeholder 7">
            <a:extLst>
              <a:ext uri="{FF2B5EF4-FFF2-40B4-BE49-F238E27FC236}">
                <a16:creationId xmlns:a16="http://schemas.microsoft.com/office/drawing/2014/main" id="{DD94B938-D317-8C49-8B31-A0E142CCF844}"/>
              </a:ext>
            </a:extLst>
          </p:cNvPr>
          <p:cNvPicPr>
            <a:picLocks noChangeAspect="1"/>
          </p:cNvPicPr>
          <p:nvPr/>
        </p:nvPicPr>
        <p:blipFill>
          <a:blip r:embed="rId4"/>
          <a:srcRect/>
          <a:stretch/>
        </p:blipFill>
        <p:spPr>
          <a:xfrm>
            <a:off x="1545679" y="1259078"/>
            <a:ext cx="9100644" cy="4770337"/>
          </a:xfrm>
          <a:prstGeom prst="rect">
            <a:avLst/>
          </a:prstGeom>
          <a:ln>
            <a:solidFill>
              <a:schemeClr val="tx1"/>
            </a:solidFill>
          </a:ln>
        </p:spPr>
      </p:pic>
      <p:sp>
        <p:nvSpPr>
          <p:cNvPr id="6" name="Rectangle 5">
            <a:extLst>
              <a:ext uri="{FF2B5EF4-FFF2-40B4-BE49-F238E27FC236}">
                <a16:creationId xmlns:a16="http://schemas.microsoft.com/office/drawing/2014/main" id="{25624744-AC0C-5549-B279-3D53E3C08C9F}"/>
              </a:ext>
            </a:extLst>
          </p:cNvPr>
          <p:cNvSpPr/>
          <p:nvPr/>
        </p:nvSpPr>
        <p:spPr>
          <a:xfrm>
            <a:off x="6220179" y="1259078"/>
            <a:ext cx="4425245" cy="4770337"/>
          </a:xfrm>
          <a:prstGeom prst="rect">
            <a:avLst/>
          </a:prstGeom>
          <a:solidFill>
            <a:schemeClr val="bg1">
              <a:lumMod val="95000"/>
              <a:alpha val="9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a:ea typeface="맑은 고딕"/>
              <a:cs typeface="+mn-cs"/>
            </a:endParaRPr>
          </a:p>
        </p:txBody>
      </p:sp>
      <p:sp>
        <p:nvSpPr>
          <p:cNvPr id="7" name="TextBox 6">
            <a:extLst>
              <a:ext uri="{FF2B5EF4-FFF2-40B4-BE49-F238E27FC236}">
                <a16:creationId xmlns:a16="http://schemas.microsoft.com/office/drawing/2014/main" id="{FEDE4E20-7F56-6645-BE46-D05FEE795621}"/>
              </a:ext>
            </a:extLst>
          </p:cNvPr>
          <p:cNvSpPr txBox="1"/>
          <p:nvPr/>
        </p:nvSpPr>
        <p:spPr>
          <a:xfrm>
            <a:off x="3104706" y="5378373"/>
            <a:ext cx="3035062" cy="476726"/>
          </a:xfrm>
          <a:prstGeom prst="roundRect">
            <a:avLst/>
          </a:prstGeom>
          <a:solidFill>
            <a:srgbClr val="FFEB73"/>
          </a:solidFill>
        </p:spPr>
        <p:txBody>
          <a:bodyPr wrap="squar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Arial"/>
                <a:ea typeface="맑은 고딕"/>
                <a:cs typeface="+mn-cs"/>
              </a:rPr>
              <a:t>4 dB boost at 25 GHz</a:t>
            </a:r>
          </a:p>
        </p:txBody>
      </p:sp>
      <p:sp>
        <p:nvSpPr>
          <p:cNvPr id="8" name="Slide Number Placeholder 7">
            <a:extLst>
              <a:ext uri="{FF2B5EF4-FFF2-40B4-BE49-F238E27FC236}">
                <a16:creationId xmlns:a16="http://schemas.microsoft.com/office/drawing/2014/main" id="{F05D0785-4C99-574D-86AF-8E036BAC5BC9}"/>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lumMod val="75000"/>
                    <a:lumOff val="25000"/>
                  </a:srgb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srgbClr val="000000">
                    <a:lumMod val="75000"/>
                    <a:lumOff val="25000"/>
                  </a:srgb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55</a:t>
            </a:fld>
            <a:endParaRPr kumimoji="0" lang="en-US" sz="1400" b="1" i="0" u="none" strike="noStrike" kern="1200" cap="none" spc="0" normalizeH="0" baseline="0" noProof="0" dirty="0">
              <a:ln>
                <a:noFill/>
              </a:ln>
              <a:solidFill>
                <a:srgbClr val="000000">
                  <a:lumMod val="75000"/>
                  <a:lumOff val="25000"/>
                </a:srgbClr>
              </a:solidFill>
              <a:effectLst/>
              <a:uLnTx/>
              <a:uFillTx/>
              <a:latin typeface="Arial" panose="020B0604020202020204" pitchFamily="34" charset="0"/>
              <a:ea typeface="맑은 고딕"/>
              <a:cs typeface="Arial" panose="020B0604020202020204" pitchFamily="34" charset="0"/>
            </a:endParaRPr>
          </a:p>
        </p:txBody>
      </p:sp>
      <p:sp>
        <p:nvSpPr>
          <p:cNvPr id="3" name="Date Placeholder 2"/>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Footer Placeholder 3"/>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06885500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11BA-F8CE-D64B-99CD-E2A081BF7374}"/>
              </a:ext>
            </a:extLst>
          </p:cNvPr>
          <p:cNvSpPr>
            <a:spLocks noGrp="1"/>
          </p:cNvSpPr>
          <p:nvPr>
            <p:ph type="title"/>
          </p:nvPr>
        </p:nvSpPr>
        <p:spPr/>
        <p:txBody>
          <a:bodyPr/>
          <a:lstStyle/>
          <a:p>
            <a:r>
              <a:rPr lang="en-US" dirty="0"/>
              <a:t>Proposed TIA Schematic – Stage 3</a:t>
            </a:r>
          </a:p>
        </p:txBody>
      </p:sp>
      <p:pic>
        <p:nvPicPr>
          <p:cNvPr id="5" name="Content Placeholder 7">
            <a:extLst>
              <a:ext uri="{FF2B5EF4-FFF2-40B4-BE49-F238E27FC236}">
                <a16:creationId xmlns:a16="http://schemas.microsoft.com/office/drawing/2014/main" id="{C7C80061-8B6E-D945-A90B-DC412766BBCD}"/>
              </a:ext>
            </a:extLst>
          </p:cNvPr>
          <p:cNvPicPr>
            <a:picLocks noChangeAspect="1"/>
          </p:cNvPicPr>
          <p:nvPr/>
        </p:nvPicPr>
        <p:blipFill>
          <a:blip r:embed="rId3"/>
          <a:srcRect/>
          <a:stretch/>
        </p:blipFill>
        <p:spPr>
          <a:xfrm>
            <a:off x="1545679" y="1259078"/>
            <a:ext cx="9100644" cy="4770337"/>
          </a:xfrm>
          <a:prstGeom prst="rect">
            <a:avLst/>
          </a:prstGeom>
          <a:ln>
            <a:solidFill>
              <a:schemeClr val="tx1"/>
            </a:solidFill>
          </a:ln>
        </p:spPr>
      </p:pic>
      <p:sp>
        <p:nvSpPr>
          <p:cNvPr id="17" name="TextBox 16">
            <a:extLst>
              <a:ext uri="{FF2B5EF4-FFF2-40B4-BE49-F238E27FC236}">
                <a16:creationId xmlns:a16="http://schemas.microsoft.com/office/drawing/2014/main" id="{9E800A85-19C8-F946-B7A2-06812174630E}"/>
              </a:ext>
            </a:extLst>
          </p:cNvPr>
          <p:cNvSpPr txBox="1"/>
          <p:nvPr/>
        </p:nvSpPr>
        <p:spPr>
          <a:xfrm>
            <a:off x="8817848" y="4775069"/>
            <a:ext cx="1698453" cy="851297"/>
          </a:xfrm>
          <a:prstGeom prst="roundRect">
            <a:avLst/>
          </a:prstGeom>
          <a:solidFill>
            <a:srgbClr val="FFEB73"/>
          </a:solidFill>
        </p:spPr>
        <p:txBody>
          <a:bodyPr wrap="squar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7 dB boost </a:t>
            </a:r>
          </a:p>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Arial"/>
                <a:ea typeface="맑은 고딕"/>
                <a:cs typeface="+mn-cs"/>
              </a:rPr>
              <a:t>at 30 GHz</a:t>
            </a:r>
          </a:p>
        </p:txBody>
      </p:sp>
      <p:sp>
        <p:nvSpPr>
          <p:cNvPr id="6" name="Slide Number Placeholder 5">
            <a:extLst>
              <a:ext uri="{FF2B5EF4-FFF2-40B4-BE49-F238E27FC236}">
                <a16:creationId xmlns:a16="http://schemas.microsoft.com/office/drawing/2014/main" id="{38C9D507-75C1-7E4F-9979-C35FAE1FB806}"/>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56</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7" name="Footer Placeholder 6"/>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8878905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11BA-F8CE-D64B-99CD-E2A081BF7374}"/>
              </a:ext>
            </a:extLst>
          </p:cNvPr>
          <p:cNvSpPr>
            <a:spLocks noGrp="1"/>
          </p:cNvSpPr>
          <p:nvPr>
            <p:ph type="title"/>
          </p:nvPr>
        </p:nvSpPr>
        <p:spPr/>
        <p:txBody>
          <a:bodyPr/>
          <a:lstStyle/>
          <a:p>
            <a:r>
              <a:rPr lang="en-US" dirty="0"/>
              <a:t>Proposed TIA Schematic – Stage 3 S2D</a:t>
            </a:r>
          </a:p>
        </p:txBody>
      </p:sp>
      <p:pic>
        <p:nvPicPr>
          <p:cNvPr id="5" name="Content Placeholder 7">
            <a:extLst>
              <a:ext uri="{FF2B5EF4-FFF2-40B4-BE49-F238E27FC236}">
                <a16:creationId xmlns:a16="http://schemas.microsoft.com/office/drawing/2014/main" id="{C7C80061-8B6E-D945-A90B-DC412766BBCD}"/>
              </a:ext>
            </a:extLst>
          </p:cNvPr>
          <p:cNvPicPr>
            <a:picLocks noChangeAspect="1"/>
          </p:cNvPicPr>
          <p:nvPr/>
        </p:nvPicPr>
        <p:blipFill>
          <a:blip r:embed="rId3"/>
          <a:srcRect/>
          <a:stretch/>
        </p:blipFill>
        <p:spPr>
          <a:xfrm>
            <a:off x="947803" y="1330700"/>
            <a:ext cx="9100644" cy="4770337"/>
          </a:xfrm>
          <a:prstGeom prst="rect">
            <a:avLst/>
          </a:prstGeom>
          <a:ln>
            <a:solidFill>
              <a:schemeClr val="tx1"/>
            </a:solidFill>
          </a:ln>
        </p:spPr>
      </p:pic>
      <p:pic>
        <p:nvPicPr>
          <p:cNvPr id="7" name="Picture 6">
            <a:extLst>
              <a:ext uri="{FF2B5EF4-FFF2-40B4-BE49-F238E27FC236}">
                <a16:creationId xmlns:a16="http://schemas.microsoft.com/office/drawing/2014/main" id="{FDCF3581-10FB-604F-A38C-D4964013013E}"/>
              </a:ext>
            </a:extLst>
          </p:cNvPr>
          <p:cNvPicPr>
            <a:picLocks noChangeAspect="1"/>
          </p:cNvPicPr>
          <p:nvPr/>
        </p:nvPicPr>
        <p:blipFill>
          <a:blip r:embed="rId4"/>
          <a:stretch>
            <a:fillRect/>
          </a:stretch>
        </p:blipFill>
        <p:spPr>
          <a:xfrm>
            <a:off x="8186649" y="3981335"/>
            <a:ext cx="3342155" cy="1858011"/>
          </a:xfrm>
          <a:prstGeom prst="roundRect">
            <a:avLst>
              <a:gd name="adj" fmla="val 7770"/>
            </a:avLst>
          </a:prstGeom>
          <a:ln w="19050">
            <a:solidFill>
              <a:srgbClr val="00B050"/>
            </a:solidFill>
          </a:ln>
          <a:effectLst>
            <a:glow rad="101600">
              <a:schemeClr val="accent6">
                <a:satMod val="175000"/>
                <a:alpha val="40000"/>
              </a:schemeClr>
            </a:glow>
          </a:effectLst>
        </p:spPr>
      </p:pic>
      <p:cxnSp>
        <p:nvCxnSpPr>
          <p:cNvPr id="9" name="Straight Connector 8">
            <a:extLst>
              <a:ext uri="{FF2B5EF4-FFF2-40B4-BE49-F238E27FC236}">
                <a16:creationId xmlns:a16="http://schemas.microsoft.com/office/drawing/2014/main" id="{66A5F098-96BD-CE40-81C7-B2243B17ABED}"/>
              </a:ext>
            </a:extLst>
          </p:cNvPr>
          <p:cNvCxnSpPr>
            <a:cxnSpLocks/>
          </p:cNvCxnSpPr>
          <p:nvPr/>
        </p:nvCxnSpPr>
        <p:spPr>
          <a:xfrm flipV="1">
            <a:off x="8244830" y="3565162"/>
            <a:ext cx="1376769" cy="416173"/>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82FCC47-14D1-C74F-BA69-C1053690AE40}"/>
              </a:ext>
            </a:extLst>
          </p:cNvPr>
          <p:cNvCxnSpPr>
            <a:cxnSpLocks/>
          </p:cNvCxnSpPr>
          <p:nvPr/>
        </p:nvCxnSpPr>
        <p:spPr>
          <a:xfrm flipH="1" flipV="1">
            <a:off x="9720721" y="3565162"/>
            <a:ext cx="1710360" cy="416173"/>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8E2C179-B290-984B-A028-DF4D99C7ECE3}"/>
              </a:ext>
            </a:extLst>
          </p:cNvPr>
          <p:cNvSpPr txBox="1"/>
          <p:nvPr/>
        </p:nvSpPr>
        <p:spPr>
          <a:xfrm>
            <a:off x="10235327" y="2457959"/>
            <a:ext cx="1268077" cy="1247299"/>
          </a:xfrm>
          <a:prstGeom prst="roundRect">
            <a:avLst>
              <a:gd name="adj" fmla="val 19863"/>
            </a:avLst>
          </a:prstGeom>
          <a:solidFill>
            <a:srgbClr val="FFEB73"/>
          </a:solidFill>
        </p:spPr>
        <p:txBody>
          <a:bodyPr wrap="square" rtlCol="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Helvetica" pitchFamily="2" charset="0"/>
                <a:ea typeface="맑은 고딕"/>
                <a:cs typeface="+mn-cs"/>
              </a:rPr>
              <a:t>15% swing boost</a:t>
            </a:r>
          </a:p>
        </p:txBody>
      </p:sp>
      <p:sp>
        <p:nvSpPr>
          <p:cNvPr id="14" name="TextBox 13">
            <a:extLst>
              <a:ext uri="{FF2B5EF4-FFF2-40B4-BE49-F238E27FC236}">
                <a16:creationId xmlns:a16="http://schemas.microsoft.com/office/drawing/2014/main" id="{9D760CA1-4A9C-6D43-B369-A82305517312}"/>
              </a:ext>
            </a:extLst>
          </p:cNvPr>
          <p:cNvSpPr txBox="1"/>
          <p:nvPr/>
        </p:nvSpPr>
        <p:spPr>
          <a:xfrm>
            <a:off x="9718740" y="4026812"/>
            <a:ext cx="659413" cy="338554"/>
          </a:xfrm>
          <a:prstGeom prst="rect">
            <a:avLst/>
          </a:prstGeom>
          <a:noFill/>
          <a:ln>
            <a:solidFill>
              <a:srgbClr val="00B050"/>
            </a:solidFill>
          </a:ln>
        </p:spPr>
        <p:txBody>
          <a:bodyPr wrap="square" rtlCol="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Helvetica" pitchFamily="2" charset="0"/>
                <a:ea typeface="맑은 고딕"/>
                <a:cs typeface="+mn-cs"/>
              </a:rPr>
              <a:t>S2D</a:t>
            </a:r>
          </a:p>
        </p:txBody>
      </p:sp>
      <p:sp>
        <p:nvSpPr>
          <p:cNvPr id="6" name="Slide Number Placeholder 5">
            <a:extLst>
              <a:ext uri="{FF2B5EF4-FFF2-40B4-BE49-F238E27FC236}">
                <a16:creationId xmlns:a16="http://schemas.microsoft.com/office/drawing/2014/main" id="{865EAC75-2CF1-534F-B171-11D63F962240}"/>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57</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8" name="Footer Placeholder 7"/>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05569399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4DC7F-475F-C340-9097-2B4BBE7616F2}"/>
              </a:ext>
            </a:extLst>
          </p:cNvPr>
          <p:cNvSpPr>
            <a:spLocks noGrp="1"/>
          </p:cNvSpPr>
          <p:nvPr>
            <p:ph type="title"/>
          </p:nvPr>
        </p:nvSpPr>
        <p:spPr/>
        <p:txBody>
          <a:bodyPr>
            <a:normAutofit/>
          </a:bodyPr>
          <a:lstStyle/>
          <a:p>
            <a:r>
              <a:rPr lang="en-US" dirty="0"/>
              <a:t>TIA Transfer Characteristics Post-Layout Simulations</a:t>
            </a:r>
          </a:p>
        </p:txBody>
      </p:sp>
      <p:sp>
        <p:nvSpPr>
          <p:cNvPr id="3" name="Text Placeholder 2">
            <a:extLst>
              <a:ext uri="{FF2B5EF4-FFF2-40B4-BE49-F238E27FC236}">
                <a16:creationId xmlns:a16="http://schemas.microsoft.com/office/drawing/2014/main" id="{DBEC6426-3E02-F741-82B4-DBBD3F017841}"/>
              </a:ext>
            </a:extLst>
          </p:cNvPr>
          <p:cNvSpPr>
            <a:spLocks noGrp="1"/>
          </p:cNvSpPr>
          <p:nvPr>
            <p:ph type="body" sz="quarter" idx="13"/>
          </p:nvPr>
        </p:nvSpPr>
        <p:spPr/>
        <p:txBody>
          <a:bodyPr/>
          <a:lstStyle/>
          <a:p>
            <a:endParaRPr lang="en-US"/>
          </a:p>
        </p:txBody>
      </p:sp>
      <p:pic>
        <p:nvPicPr>
          <p:cNvPr id="6" name="Picture 5">
            <a:extLst>
              <a:ext uri="{FF2B5EF4-FFF2-40B4-BE49-F238E27FC236}">
                <a16:creationId xmlns:a16="http://schemas.microsoft.com/office/drawing/2014/main" id="{2BFDC942-DECA-CF45-9C19-B68205954132}"/>
              </a:ext>
            </a:extLst>
          </p:cNvPr>
          <p:cNvPicPr>
            <a:picLocks noChangeAspect="1"/>
          </p:cNvPicPr>
          <p:nvPr/>
        </p:nvPicPr>
        <p:blipFill rotWithShape="1">
          <a:blip r:embed="rId3"/>
          <a:srcRect t="1446" b="1827"/>
          <a:stretch/>
        </p:blipFill>
        <p:spPr>
          <a:xfrm>
            <a:off x="838200" y="1154121"/>
            <a:ext cx="10753829" cy="4620723"/>
          </a:xfrm>
          <a:prstGeom prst="rect">
            <a:avLst/>
          </a:prstGeom>
        </p:spPr>
      </p:pic>
      <p:sp>
        <p:nvSpPr>
          <p:cNvPr id="8" name="Text Placeholder 2">
            <a:extLst>
              <a:ext uri="{FF2B5EF4-FFF2-40B4-BE49-F238E27FC236}">
                <a16:creationId xmlns:a16="http://schemas.microsoft.com/office/drawing/2014/main" id="{BFC53AE6-D7E2-F14B-B45E-5EF046581C59}"/>
              </a:ext>
            </a:extLst>
          </p:cNvPr>
          <p:cNvSpPr txBox="1">
            <a:spLocks/>
          </p:cNvSpPr>
          <p:nvPr/>
        </p:nvSpPr>
        <p:spPr>
          <a:xfrm>
            <a:off x="385665" y="5805644"/>
            <a:ext cx="11806335" cy="471656"/>
          </a:xfrm>
          <a:prstGeom prst="rect">
            <a:avLst/>
          </a:prstGeom>
        </p:spPr>
        <p:txBody>
          <a:bodyPr vert="horz" lIns="121920" tIns="60960" rIns="121920" bIns="60960" rtlCol="0">
            <a:noAutofit/>
          </a:bodyPr>
          <a:lstStyle>
            <a:lvl1pPr marL="171446" indent="-171446" algn="l" defTabSz="685783" rtl="0" eaLnBrk="1" latinLnBrk="0" hangingPunct="1">
              <a:lnSpc>
                <a:spcPct val="90000"/>
              </a:lnSpc>
              <a:spcBef>
                <a:spcPts val="751"/>
              </a:spcBef>
              <a:buClr>
                <a:srgbClr val="186210"/>
              </a:buClr>
              <a:buFont typeface="Arial" panose="020B0604020202020204" pitchFamily="34" charset="0"/>
              <a:buChar char="•"/>
              <a:defRPr sz="20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Clr>
                <a:srgbClr val="186210"/>
              </a:buClr>
              <a:buFont typeface="LucidaGrande" charset="0"/>
              <a:buChar char="-"/>
              <a:defRPr sz="16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Clr>
                <a:srgbClr val="186210"/>
              </a:buClr>
              <a:buFont typeface="Arial" panose="020B0604020202020204" pitchFamily="34" charset="0"/>
              <a:buChar char="•"/>
              <a:defRPr sz="16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Clr>
                <a:srgbClr val="186210"/>
              </a:buClr>
              <a:buFont typeface="Wingdings" charset="2"/>
              <a:buChar char="§"/>
              <a:defRPr sz="160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Clr>
                <a:srgbClr val="186210"/>
              </a:buClr>
              <a:buFont typeface="Courier New" charset="0"/>
              <a:buChar char="o"/>
              <a:defRPr sz="16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171446" marR="0" lvl="0" indent="-171446" algn="l" defTabSz="685783" rtl="0" eaLnBrk="1" fontAlgn="auto" latinLnBrk="0" hangingPunct="1">
              <a:lnSpc>
                <a:spcPct val="90000"/>
              </a:lnSpc>
              <a:spcBef>
                <a:spcPts val="751"/>
              </a:spcBef>
              <a:spcAft>
                <a:spcPts val="0"/>
              </a:spcAft>
              <a:buClr>
                <a:prstClr val="black"/>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맑은 고딕"/>
                <a:cs typeface="+mn-cs"/>
              </a:rPr>
              <a:t>Includes PD model, optimized PD-to-RX interconnect, CML buffers and 50 </a:t>
            </a:r>
            <a:r>
              <a:rPr kumimoji="0" lang="en-US" sz="2400" b="0" i="0" u="none" strike="noStrike" kern="1200" cap="none" spc="0" normalizeH="0" baseline="0" noProof="0" dirty="0" err="1">
                <a:ln>
                  <a:noFill/>
                </a:ln>
                <a:solidFill>
                  <a:prstClr val="black"/>
                </a:solidFill>
                <a:effectLst/>
                <a:uLnTx/>
                <a:uFillTx/>
                <a:latin typeface="Arial"/>
                <a:ea typeface="맑은 고딕"/>
                <a:cs typeface="+mn-cs"/>
              </a:rPr>
              <a:t>Ω</a:t>
            </a:r>
            <a:r>
              <a:rPr kumimoji="0" lang="en-US" sz="2400" b="0" i="0" u="none" strike="noStrike" kern="1200" cap="none" spc="0" normalizeH="0" baseline="0" noProof="0" dirty="0">
                <a:ln>
                  <a:noFill/>
                </a:ln>
                <a:solidFill>
                  <a:prstClr val="black"/>
                </a:solidFill>
                <a:effectLst/>
                <a:uLnTx/>
                <a:uFillTx/>
                <a:latin typeface="Arial"/>
                <a:ea typeface="맑은 고딕"/>
                <a:cs typeface="+mn-cs"/>
              </a:rPr>
              <a:t> loads</a:t>
            </a:r>
          </a:p>
        </p:txBody>
      </p:sp>
      <p:sp>
        <p:nvSpPr>
          <p:cNvPr id="7" name="Slide Number Placeholder 6">
            <a:extLst>
              <a:ext uri="{FF2B5EF4-FFF2-40B4-BE49-F238E27FC236}">
                <a16:creationId xmlns:a16="http://schemas.microsoft.com/office/drawing/2014/main" id="{E02C26E3-66B3-9E4A-B634-D55276520082}"/>
              </a:ext>
            </a:extLst>
          </p:cNvPr>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58</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4" name="Date Placeholder 3"/>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9" name="Footer Placeholder 8"/>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87670411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67" y="233003"/>
            <a:ext cx="585045" cy="221365"/>
          </a:xfrm>
          <a:prstGeom prst="rect">
            <a:avLst/>
          </a:prstGeom>
        </p:spPr>
        <p:txBody>
          <a:bodyPr vert="horz" wrap="square" lIns="0" tIns="16087" rIns="0" bIns="0" rtlCol="0">
            <a:spAutoFit/>
          </a:bodyPr>
          <a:lstStyle/>
          <a:p>
            <a:pPr marL="16933">
              <a:spcBef>
                <a:spcPts val="127"/>
              </a:spcBef>
            </a:pPr>
            <a:r>
              <a:rPr sz="1333" spc="-13" dirty="0">
                <a:solidFill>
                  <a:srgbClr val="008000"/>
                </a:solidFill>
                <a:latin typeface="Arial MT"/>
                <a:cs typeface="Arial MT"/>
              </a:rPr>
              <a:t>[Public]</a:t>
            </a:r>
            <a:endParaRPr sz="1333">
              <a:latin typeface="Arial MT"/>
              <a:cs typeface="Arial MT"/>
            </a:endParaRPr>
          </a:p>
        </p:txBody>
      </p:sp>
      <p:sp>
        <p:nvSpPr>
          <p:cNvPr id="3" name="object 3"/>
          <p:cNvSpPr txBox="1">
            <a:spLocks noGrp="1"/>
          </p:cNvSpPr>
          <p:nvPr>
            <p:ph type="title"/>
          </p:nvPr>
        </p:nvSpPr>
        <p:spPr>
          <a:xfrm>
            <a:off x="617150" y="260047"/>
            <a:ext cx="10916275" cy="686855"/>
          </a:xfrm>
          <a:prstGeom prst="rect">
            <a:avLst/>
          </a:prstGeom>
        </p:spPr>
        <p:txBody>
          <a:bodyPr vert="horz" wrap="square" lIns="0" tIns="101092" rIns="0" bIns="0" rtlCol="0" anchor="ctr">
            <a:spAutoFit/>
          </a:bodyPr>
          <a:lstStyle/>
          <a:p>
            <a:pPr marL="16933">
              <a:lnSpc>
                <a:spcPct val="100000"/>
              </a:lnSpc>
              <a:spcBef>
                <a:spcPts val="140"/>
              </a:spcBef>
            </a:pPr>
            <a:r>
              <a:rPr spc="-13" dirty="0"/>
              <a:t>Invertor</a:t>
            </a:r>
            <a:r>
              <a:rPr spc="-47" dirty="0"/>
              <a:t> </a:t>
            </a:r>
            <a:r>
              <a:rPr dirty="0"/>
              <a:t>Based</a:t>
            </a:r>
            <a:r>
              <a:rPr spc="-20" dirty="0"/>
              <a:t> </a:t>
            </a:r>
            <a:r>
              <a:rPr dirty="0"/>
              <a:t>TIA:</a:t>
            </a:r>
            <a:r>
              <a:rPr spc="-67" dirty="0"/>
              <a:t> </a:t>
            </a:r>
            <a:r>
              <a:rPr dirty="0"/>
              <a:t>Prior</a:t>
            </a:r>
            <a:r>
              <a:rPr spc="-27" dirty="0"/>
              <a:t> </a:t>
            </a:r>
            <a:r>
              <a:rPr spc="-33" dirty="0"/>
              <a:t>Art</a:t>
            </a:r>
          </a:p>
        </p:txBody>
      </p:sp>
      <p:grpSp>
        <p:nvGrpSpPr>
          <p:cNvPr id="4" name="object 4"/>
          <p:cNvGrpSpPr/>
          <p:nvPr/>
        </p:nvGrpSpPr>
        <p:grpSpPr>
          <a:xfrm>
            <a:off x="3014530" y="1152499"/>
            <a:ext cx="8778240" cy="1984587"/>
            <a:chOff x="2084685" y="902825"/>
            <a:chExt cx="6583680" cy="1488440"/>
          </a:xfrm>
        </p:grpSpPr>
        <p:sp>
          <p:nvSpPr>
            <p:cNvPr id="5" name="object 5"/>
            <p:cNvSpPr/>
            <p:nvPr/>
          </p:nvSpPr>
          <p:spPr>
            <a:xfrm>
              <a:off x="2826904" y="1273005"/>
              <a:ext cx="100330" cy="0"/>
            </a:xfrm>
            <a:custGeom>
              <a:avLst/>
              <a:gdLst/>
              <a:ahLst/>
              <a:cxnLst/>
              <a:rect l="l" t="t" r="r" b="b"/>
              <a:pathLst>
                <a:path w="100330">
                  <a:moveTo>
                    <a:pt x="0" y="0"/>
                  </a:moveTo>
                  <a:lnTo>
                    <a:pt x="99723" y="0"/>
                  </a:lnTo>
                </a:path>
              </a:pathLst>
            </a:custGeom>
            <a:ln w="35939">
              <a:solidFill>
                <a:srgbClr val="000000"/>
              </a:solidFill>
            </a:ln>
          </p:spPr>
          <p:txBody>
            <a:bodyPr wrap="square" lIns="0" tIns="0" rIns="0" bIns="0" rtlCol="0"/>
            <a:lstStyle/>
            <a:p>
              <a:endParaRPr sz="2400"/>
            </a:p>
          </p:txBody>
        </p:sp>
        <p:sp>
          <p:nvSpPr>
            <p:cNvPr id="6" name="object 6"/>
            <p:cNvSpPr/>
            <p:nvPr/>
          </p:nvSpPr>
          <p:spPr>
            <a:xfrm>
              <a:off x="2648889" y="1211198"/>
              <a:ext cx="193675" cy="269875"/>
            </a:xfrm>
            <a:custGeom>
              <a:avLst/>
              <a:gdLst/>
              <a:ahLst/>
              <a:cxnLst/>
              <a:rect l="l" t="t" r="r" b="b"/>
              <a:pathLst>
                <a:path w="193675" h="269875">
                  <a:moveTo>
                    <a:pt x="35915" y="61798"/>
                  </a:moveTo>
                  <a:lnTo>
                    <a:pt x="0" y="61798"/>
                  </a:lnTo>
                  <a:lnTo>
                    <a:pt x="0" y="269735"/>
                  </a:lnTo>
                  <a:lnTo>
                    <a:pt x="35915" y="269735"/>
                  </a:lnTo>
                  <a:lnTo>
                    <a:pt x="35915" y="61798"/>
                  </a:lnTo>
                  <a:close/>
                </a:path>
                <a:path w="193675" h="269875">
                  <a:moveTo>
                    <a:pt x="193497" y="0"/>
                  </a:moveTo>
                  <a:lnTo>
                    <a:pt x="69977" y="61810"/>
                  </a:lnTo>
                  <a:lnTo>
                    <a:pt x="193497" y="123634"/>
                  </a:lnTo>
                  <a:lnTo>
                    <a:pt x="193497" y="0"/>
                  </a:lnTo>
                  <a:close/>
                </a:path>
              </a:pathLst>
            </a:custGeom>
            <a:solidFill>
              <a:srgbClr val="000000"/>
            </a:solidFill>
          </p:spPr>
          <p:txBody>
            <a:bodyPr wrap="square" lIns="0" tIns="0" rIns="0" bIns="0" rtlCol="0"/>
            <a:lstStyle/>
            <a:p>
              <a:endParaRPr sz="2400"/>
            </a:p>
          </p:txBody>
        </p:sp>
        <p:sp>
          <p:nvSpPr>
            <p:cNvPr id="7" name="object 7"/>
            <p:cNvSpPr/>
            <p:nvPr/>
          </p:nvSpPr>
          <p:spPr>
            <a:xfrm>
              <a:off x="2718871" y="1480933"/>
              <a:ext cx="201295" cy="0"/>
            </a:xfrm>
            <a:custGeom>
              <a:avLst/>
              <a:gdLst/>
              <a:ahLst/>
              <a:cxnLst/>
              <a:rect l="l" t="t" r="r" b="b"/>
              <a:pathLst>
                <a:path w="201294">
                  <a:moveTo>
                    <a:pt x="200780" y="0"/>
                  </a:moveTo>
                  <a:lnTo>
                    <a:pt x="0" y="0"/>
                  </a:lnTo>
                </a:path>
              </a:pathLst>
            </a:custGeom>
            <a:ln w="35939">
              <a:solidFill>
                <a:srgbClr val="000000"/>
              </a:solidFill>
            </a:ln>
          </p:spPr>
          <p:txBody>
            <a:bodyPr wrap="square" lIns="0" tIns="0" rIns="0" bIns="0" rtlCol="0"/>
            <a:lstStyle/>
            <a:p>
              <a:endParaRPr sz="2400"/>
            </a:p>
          </p:txBody>
        </p:sp>
        <p:sp>
          <p:nvSpPr>
            <p:cNvPr id="8" name="object 8"/>
            <p:cNvSpPr/>
            <p:nvPr/>
          </p:nvSpPr>
          <p:spPr>
            <a:xfrm>
              <a:off x="2700916" y="1221016"/>
              <a:ext cx="36195" cy="312420"/>
            </a:xfrm>
            <a:custGeom>
              <a:avLst/>
              <a:gdLst/>
              <a:ahLst/>
              <a:cxnLst/>
              <a:rect l="l" t="t" r="r" b="b"/>
              <a:pathLst>
                <a:path w="36194" h="312419">
                  <a:moveTo>
                    <a:pt x="35908" y="0"/>
                  </a:moveTo>
                  <a:lnTo>
                    <a:pt x="0" y="0"/>
                  </a:lnTo>
                  <a:lnTo>
                    <a:pt x="0" y="311906"/>
                  </a:lnTo>
                  <a:lnTo>
                    <a:pt x="35908" y="311906"/>
                  </a:lnTo>
                  <a:lnTo>
                    <a:pt x="35908" y="0"/>
                  </a:lnTo>
                  <a:close/>
                </a:path>
              </a:pathLst>
            </a:custGeom>
            <a:solidFill>
              <a:srgbClr val="000000"/>
            </a:solidFill>
          </p:spPr>
          <p:txBody>
            <a:bodyPr wrap="square" lIns="0" tIns="0" rIns="0" bIns="0" rtlCol="0"/>
            <a:lstStyle/>
            <a:p>
              <a:endParaRPr sz="2400"/>
            </a:p>
          </p:txBody>
        </p:sp>
        <p:sp>
          <p:nvSpPr>
            <p:cNvPr id="9" name="object 9"/>
            <p:cNvSpPr/>
            <p:nvPr/>
          </p:nvSpPr>
          <p:spPr>
            <a:xfrm>
              <a:off x="2241287"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10" name="object 10"/>
            <p:cNvSpPr/>
            <p:nvPr/>
          </p:nvSpPr>
          <p:spPr>
            <a:xfrm>
              <a:off x="2649003" y="1953747"/>
              <a:ext cx="36195" cy="208279"/>
            </a:xfrm>
            <a:custGeom>
              <a:avLst/>
              <a:gdLst/>
              <a:ahLst/>
              <a:cxnLst/>
              <a:rect l="l" t="t" r="r" b="b"/>
              <a:pathLst>
                <a:path w="36194" h="208280">
                  <a:moveTo>
                    <a:pt x="35908" y="0"/>
                  </a:moveTo>
                  <a:lnTo>
                    <a:pt x="0" y="0"/>
                  </a:lnTo>
                  <a:lnTo>
                    <a:pt x="0" y="207937"/>
                  </a:lnTo>
                  <a:lnTo>
                    <a:pt x="35908" y="207937"/>
                  </a:lnTo>
                  <a:lnTo>
                    <a:pt x="35908" y="0"/>
                  </a:lnTo>
                  <a:close/>
                </a:path>
              </a:pathLst>
            </a:custGeom>
            <a:solidFill>
              <a:srgbClr val="000000"/>
            </a:solidFill>
          </p:spPr>
          <p:txBody>
            <a:bodyPr wrap="square" lIns="0" tIns="0" rIns="0" bIns="0" rtlCol="0"/>
            <a:lstStyle/>
            <a:p>
              <a:endParaRPr sz="2400"/>
            </a:p>
          </p:txBody>
        </p:sp>
        <p:sp>
          <p:nvSpPr>
            <p:cNvPr id="11" name="object 11"/>
            <p:cNvSpPr/>
            <p:nvPr/>
          </p:nvSpPr>
          <p:spPr>
            <a:xfrm>
              <a:off x="2718973" y="2161684"/>
              <a:ext cx="81280" cy="0"/>
            </a:xfrm>
            <a:custGeom>
              <a:avLst/>
              <a:gdLst/>
              <a:ahLst/>
              <a:cxnLst/>
              <a:rect l="l" t="t" r="r" b="b"/>
              <a:pathLst>
                <a:path w="81280">
                  <a:moveTo>
                    <a:pt x="81153" y="0"/>
                  </a:moveTo>
                  <a:lnTo>
                    <a:pt x="0" y="0"/>
                  </a:lnTo>
                </a:path>
              </a:pathLst>
            </a:custGeom>
            <a:ln w="35939">
              <a:solidFill>
                <a:srgbClr val="000000"/>
              </a:solidFill>
            </a:ln>
          </p:spPr>
          <p:txBody>
            <a:bodyPr wrap="square" lIns="0" tIns="0" rIns="0" bIns="0" rtlCol="0"/>
            <a:lstStyle/>
            <a:p>
              <a:endParaRPr sz="2400"/>
            </a:p>
          </p:txBody>
        </p:sp>
        <p:sp>
          <p:nvSpPr>
            <p:cNvPr id="12" name="object 12"/>
            <p:cNvSpPr/>
            <p:nvPr/>
          </p:nvSpPr>
          <p:spPr>
            <a:xfrm>
              <a:off x="2701010" y="1901774"/>
              <a:ext cx="238760" cy="312420"/>
            </a:xfrm>
            <a:custGeom>
              <a:avLst/>
              <a:gdLst/>
              <a:ahLst/>
              <a:cxnLst/>
              <a:rect l="l" t="t" r="r" b="b"/>
              <a:pathLst>
                <a:path w="238760" h="312419">
                  <a:moveTo>
                    <a:pt x="35915" y="0"/>
                  </a:moveTo>
                  <a:lnTo>
                    <a:pt x="0" y="0"/>
                  </a:lnTo>
                  <a:lnTo>
                    <a:pt x="0" y="311912"/>
                  </a:lnTo>
                  <a:lnTo>
                    <a:pt x="35915" y="311912"/>
                  </a:lnTo>
                  <a:lnTo>
                    <a:pt x="35915" y="0"/>
                  </a:lnTo>
                  <a:close/>
                </a:path>
                <a:path w="238760" h="312419">
                  <a:moveTo>
                    <a:pt x="238544" y="259918"/>
                  </a:moveTo>
                  <a:lnTo>
                    <a:pt x="86487" y="209194"/>
                  </a:lnTo>
                  <a:lnTo>
                    <a:pt x="86487" y="310642"/>
                  </a:lnTo>
                  <a:lnTo>
                    <a:pt x="238544" y="259918"/>
                  </a:lnTo>
                  <a:close/>
                </a:path>
              </a:pathLst>
            </a:custGeom>
            <a:solidFill>
              <a:srgbClr val="000000"/>
            </a:solidFill>
          </p:spPr>
          <p:txBody>
            <a:bodyPr wrap="square" lIns="0" tIns="0" rIns="0" bIns="0" rtlCol="0"/>
            <a:lstStyle/>
            <a:p>
              <a:endParaRPr sz="2400"/>
            </a:p>
          </p:txBody>
        </p:sp>
        <p:sp>
          <p:nvSpPr>
            <p:cNvPr id="13" name="object 13"/>
            <p:cNvSpPr/>
            <p:nvPr/>
          </p:nvSpPr>
          <p:spPr>
            <a:xfrm>
              <a:off x="2511217" y="1953747"/>
              <a:ext cx="415925" cy="327660"/>
            </a:xfrm>
            <a:custGeom>
              <a:avLst/>
              <a:gdLst/>
              <a:ahLst/>
              <a:cxnLst/>
              <a:rect l="l" t="t" r="r" b="b"/>
              <a:pathLst>
                <a:path w="415925" h="327660">
                  <a:moveTo>
                    <a:pt x="155740"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14" name="object 14"/>
            <p:cNvPicPr/>
            <p:nvPr/>
          </p:nvPicPr>
          <p:blipFill>
            <a:blip r:embed="rId3" cstate="print"/>
            <a:stretch>
              <a:fillRect/>
            </a:stretch>
          </p:blipFill>
          <p:spPr>
            <a:xfrm>
              <a:off x="2567843" y="1328565"/>
              <a:ext cx="90195" cy="89918"/>
            </a:xfrm>
            <a:prstGeom prst="rect">
              <a:avLst/>
            </a:prstGeom>
          </p:spPr>
        </p:pic>
        <p:sp>
          <p:nvSpPr>
            <p:cNvPr id="15" name="object 15"/>
            <p:cNvSpPr/>
            <p:nvPr/>
          </p:nvSpPr>
          <p:spPr>
            <a:xfrm>
              <a:off x="2865583" y="2171952"/>
              <a:ext cx="122555" cy="203835"/>
            </a:xfrm>
            <a:custGeom>
              <a:avLst/>
              <a:gdLst/>
              <a:ahLst/>
              <a:cxnLst/>
              <a:rect l="l" t="t" r="r" b="b"/>
              <a:pathLst>
                <a:path w="122555" h="203835">
                  <a:moveTo>
                    <a:pt x="61044" y="72115"/>
                  </a:moveTo>
                  <a:lnTo>
                    <a:pt x="61044" y="0"/>
                  </a:lnTo>
                </a:path>
                <a:path w="122555" h="203835">
                  <a:moveTo>
                    <a:pt x="0" y="123612"/>
                  </a:moveTo>
                  <a:lnTo>
                    <a:pt x="121986" y="123612"/>
                  </a:lnTo>
                </a:path>
                <a:path w="122555" h="203835">
                  <a:moveTo>
                    <a:pt x="20416" y="163636"/>
                  </a:moveTo>
                  <a:lnTo>
                    <a:pt x="101672" y="163636"/>
                  </a:lnTo>
                </a:path>
                <a:path w="122555" h="203835">
                  <a:moveTo>
                    <a:pt x="40730" y="203656"/>
                  </a:moveTo>
                  <a:lnTo>
                    <a:pt x="81358" y="203656"/>
                  </a:lnTo>
                </a:path>
                <a:path w="122555" h="203835">
                  <a:moveTo>
                    <a:pt x="61044" y="16891"/>
                  </a:moveTo>
                  <a:lnTo>
                    <a:pt x="61044" y="123612"/>
                  </a:lnTo>
                </a:path>
              </a:pathLst>
            </a:custGeom>
            <a:ln w="30792">
              <a:solidFill>
                <a:srgbClr val="000000"/>
              </a:solidFill>
            </a:ln>
          </p:spPr>
          <p:txBody>
            <a:bodyPr wrap="square" lIns="0" tIns="0" rIns="0" bIns="0" rtlCol="0"/>
            <a:lstStyle/>
            <a:p>
              <a:endParaRPr sz="2400"/>
            </a:p>
          </p:txBody>
        </p:sp>
        <p:sp>
          <p:nvSpPr>
            <p:cNvPr id="16" name="object 16"/>
            <p:cNvSpPr/>
            <p:nvPr/>
          </p:nvSpPr>
          <p:spPr>
            <a:xfrm>
              <a:off x="2234310" y="1092690"/>
              <a:ext cx="692785" cy="965200"/>
            </a:xfrm>
            <a:custGeom>
              <a:avLst/>
              <a:gdLst/>
              <a:ahLst/>
              <a:cxnLst/>
              <a:rect l="l" t="t" r="r" b="b"/>
              <a:pathLst>
                <a:path w="692785" h="965200">
                  <a:moveTo>
                    <a:pt x="692316" y="180315"/>
                  </a:moveTo>
                  <a:lnTo>
                    <a:pt x="692316" y="0"/>
                  </a:lnTo>
                </a:path>
                <a:path w="692785" h="965200">
                  <a:moveTo>
                    <a:pt x="408331" y="965025"/>
                  </a:moveTo>
                  <a:lnTo>
                    <a:pt x="0" y="965025"/>
                  </a:lnTo>
                </a:path>
                <a:path w="692785" h="965200">
                  <a:moveTo>
                    <a:pt x="212578" y="622323"/>
                  </a:moveTo>
                  <a:lnTo>
                    <a:pt x="237509" y="562437"/>
                  </a:lnTo>
                  <a:lnTo>
                    <a:pt x="287371" y="682209"/>
                  </a:lnTo>
                  <a:lnTo>
                    <a:pt x="337335" y="562437"/>
                  </a:lnTo>
                  <a:lnTo>
                    <a:pt x="387094" y="682209"/>
                  </a:lnTo>
                  <a:lnTo>
                    <a:pt x="436955" y="562437"/>
                  </a:lnTo>
                  <a:lnTo>
                    <a:pt x="486817" y="682209"/>
                  </a:lnTo>
                  <a:lnTo>
                    <a:pt x="511748" y="622323"/>
                  </a:lnTo>
                </a:path>
              </a:pathLst>
            </a:custGeom>
            <a:ln w="35924">
              <a:solidFill>
                <a:srgbClr val="000000"/>
              </a:solidFill>
            </a:ln>
          </p:spPr>
          <p:txBody>
            <a:bodyPr wrap="square" lIns="0" tIns="0" rIns="0" bIns="0" rtlCol="0"/>
            <a:lstStyle/>
            <a:p>
              <a:endParaRPr sz="2400"/>
            </a:p>
          </p:txBody>
        </p:sp>
        <p:pic>
          <p:nvPicPr>
            <p:cNvPr id="17" name="object 17"/>
            <p:cNvPicPr/>
            <p:nvPr/>
          </p:nvPicPr>
          <p:blipFill>
            <a:blip r:embed="rId4" cstate="print"/>
            <a:stretch>
              <a:fillRect/>
            </a:stretch>
          </p:blipFill>
          <p:spPr>
            <a:xfrm>
              <a:off x="2746059" y="1667478"/>
              <a:ext cx="227668" cy="95070"/>
            </a:xfrm>
            <a:prstGeom prst="rect">
              <a:avLst/>
            </a:prstGeom>
          </p:spPr>
        </p:pic>
        <p:sp>
          <p:nvSpPr>
            <p:cNvPr id="18" name="object 18"/>
            <p:cNvSpPr/>
            <p:nvPr/>
          </p:nvSpPr>
          <p:spPr>
            <a:xfrm>
              <a:off x="2102783" y="1376964"/>
              <a:ext cx="344170" cy="681355"/>
            </a:xfrm>
            <a:custGeom>
              <a:avLst/>
              <a:gdLst/>
              <a:ahLst/>
              <a:cxnLst/>
              <a:rect l="l" t="t" r="r" b="b"/>
              <a:pathLst>
                <a:path w="344169" h="681355">
                  <a:moveTo>
                    <a:pt x="344106" y="338049"/>
                  </a:moveTo>
                  <a:lnTo>
                    <a:pt x="262850" y="338049"/>
                  </a:lnTo>
                </a:path>
                <a:path w="344169" h="681355">
                  <a:moveTo>
                    <a:pt x="277008" y="338049"/>
                  </a:moveTo>
                  <a:lnTo>
                    <a:pt x="0" y="338049"/>
                  </a:lnTo>
                </a:path>
                <a:path w="344169" h="681355">
                  <a:moveTo>
                    <a:pt x="131527" y="680751"/>
                  </a:moveTo>
                  <a:lnTo>
                    <a:pt x="138504" y="0"/>
                  </a:lnTo>
                </a:path>
              </a:pathLst>
            </a:custGeom>
            <a:ln w="35924">
              <a:solidFill>
                <a:srgbClr val="000000"/>
              </a:solidFill>
            </a:ln>
          </p:spPr>
          <p:txBody>
            <a:bodyPr wrap="square" lIns="0" tIns="0" rIns="0" bIns="0" rtlCol="0"/>
            <a:lstStyle/>
            <a:p>
              <a:endParaRPr sz="2400"/>
            </a:p>
          </p:txBody>
        </p:sp>
        <p:pic>
          <p:nvPicPr>
            <p:cNvPr id="19" name="object 19"/>
            <p:cNvPicPr/>
            <p:nvPr/>
          </p:nvPicPr>
          <p:blipFill>
            <a:blip r:embed="rId5" cstate="print"/>
            <a:stretch>
              <a:fillRect/>
            </a:stretch>
          </p:blipFill>
          <p:spPr>
            <a:xfrm>
              <a:off x="2190392" y="1664521"/>
              <a:ext cx="95327" cy="95070"/>
            </a:xfrm>
            <a:prstGeom prst="rect">
              <a:avLst/>
            </a:prstGeom>
          </p:spPr>
        </p:pic>
        <p:sp>
          <p:nvSpPr>
            <p:cNvPr id="20" name="object 20"/>
            <p:cNvSpPr/>
            <p:nvPr/>
          </p:nvSpPr>
          <p:spPr>
            <a:xfrm>
              <a:off x="2926627" y="1273005"/>
              <a:ext cx="877569" cy="442595"/>
            </a:xfrm>
            <a:custGeom>
              <a:avLst/>
              <a:gdLst/>
              <a:ahLst/>
              <a:cxnLst/>
              <a:rect l="l" t="t" r="r" b="b"/>
              <a:pathLst>
                <a:path w="877570" h="442594">
                  <a:moveTo>
                    <a:pt x="180466" y="442008"/>
                  </a:moveTo>
                  <a:lnTo>
                    <a:pt x="0" y="442008"/>
                  </a:lnTo>
                </a:path>
                <a:path w="877570" h="442594">
                  <a:moveTo>
                    <a:pt x="777471" y="0"/>
                  </a:moveTo>
                  <a:lnTo>
                    <a:pt x="877194" y="0"/>
                  </a:lnTo>
                </a:path>
              </a:pathLst>
            </a:custGeom>
            <a:ln w="35924">
              <a:solidFill>
                <a:srgbClr val="000000"/>
              </a:solidFill>
            </a:ln>
          </p:spPr>
          <p:txBody>
            <a:bodyPr wrap="square" lIns="0" tIns="0" rIns="0" bIns="0" rtlCol="0"/>
            <a:lstStyle/>
            <a:p>
              <a:endParaRPr sz="2400"/>
            </a:p>
          </p:txBody>
        </p:sp>
        <p:sp>
          <p:nvSpPr>
            <p:cNvPr id="21" name="object 21"/>
            <p:cNvSpPr/>
            <p:nvPr/>
          </p:nvSpPr>
          <p:spPr>
            <a:xfrm>
              <a:off x="3526091" y="1211198"/>
              <a:ext cx="193675" cy="269875"/>
            </a:xfrm>
            <a:custGeom>
              <a:avLst/>
              <a:gdLst/>
              <a:ahLst/>
              <a:cxnLst/>
              <a:rect l="l" t="t" r="r" b="b"/>
              <a:pathLst>
                <a:path w="193675" h="269875">
                  <a:moveTo>
                    <a:pt x="35902" y="61798"/>
                  </a:moveTo>
                  <a:lnTo>
                    <a:pt x="0" y="61798"/>
                  </a:lnTo>
                  <a:lnTo>
                    <a:pt x="0" y="269735"/>
                  </a:lnTo>
                  <a:lnTo>
                    <a:pt x="35902" y="269735"/>
                  </a:lnTo>
                  <a:lnTo>
                    <a:pt x="35902" y="61798"/>
                  </a:lnTo>
                  <a:close/>
                </a:path>
                <a:path w="193675" h="269875">
                  <a:moveTo>
                    <a:pt x="193497" y="0"/>
                  </a:moveTo>
                  <a:lnTo>
                    <a:pt x="69964" y="61810"/>
                  </a:lnTo>
                  <a:lnTo>
                    <a:pt x="193497" y="123634"/>
                  </a:lnTo>
                  <a:lnTo>
                    <a:pt x="193497" y="0"/>
                  </a:lnTo>
                  <a:close/>
                </a:path>
              </a:pathLst>
            </a:custGeom>
            <a:solidFill>
              <a:srgbClr val="000000"/>
            </a:solidFill>
          </p:spPr>
          <p:txBody>
            <a:bodyPr wrap="square" lIns="0" tIns="0" rIns="0" bIns="0" rtlCol="0"/>
            <a:lstStyle/>
            <a:p>
              <a:endParaRPr sz="2400"/>
            </a:p>
          </p:txBody>
        </p:sp>
        <p:sp>
          <p:nvSpPr>
            <p:cNvPr id="22" name="object 22"/>
            <p:cNvSpPr/>
            <p:nvPr/>
          </p:nvSpPr>
          <p:spPr>
            <a:xfrm>
              <a:off x="3596065" y="1480933"/>
              <a:ext cx="201295" cy="0"/>
            </a:xfrm>
            <a:custGeom>
              <a:avLst/>
              <a:gdLst/>
              <a:ahLst/>
              <a:cxnLst/>
              <a:rect l="l" t="t" r="r" b="b"/>
              <a:pathLst>
                <a:path w="201295">
                  <a:moveTo>
                    <a:pt x="200780" y="0"/>
                  </a:moveTo>
                  <a:lnTo>
                    <a:pt x="0" y="0"/>
                  </a:lnTo>
                </a:path>
              </a:pathLst>
            </a:custGeom>
            <a:ln w="35939">
              <a:solidFill>
                <a:srgbClr val="000000"/>
              </a:solidFill>
            </a:ln>
          </p:spPr>
          <p:txBody>
            <a:bodyPr wrap="square" lIns="0" tIns="0" rIns="0" bIns="0" rtlCol="0"/>
            <a:lstStyle/>
            <a:p>
              <a:endParaRPr sz="2400"/>
            </a:p>
          </p:txBody>
        </p:sp>
        <p:sp>
          <p:nvSpPr>
            <p:cNvPr id="23" name="object 23"/>
            <p:cNvSpPr/>
            <p:nvPr/>
          </p:nvSpPr>
          <p:spPr>
            <a:xfrm>
              <a:off x="3578111" y="1221016"/>
              <a:ext cx="36195" cy="312420"/>
            </a:xfrm>
            <a:custGeom>
              <a:avLst/>
              <a:gdLst/>
              <a:ahLst/>
              <a:cxnLst/>
              <a:rect l="l" t="t" r="r" b="b"/>
              <a:pathLst>
                <a:path w="36195" h="312419">
                  <a:moveTo>
                    <a:pt x="35908" y="0"/>
                  </a:moveTo>
                  <a:lnTo>
                    <a:pt x="0" y="0"/>
                  </a:lnTo>
                  <a:lnTo>
                    <a:pt x="0" y="311906"/>
                  </a:lnTo>
                  <a:lnTo>
                    <a:pt x="35908" y="311906"/>
                  </a:lnTo>
                  <a:lnTo>
                    <a:pt x="35908" y="0"/>
                  </a:lnTo>
                  <a:close/>
                </a:path>
              </a:pathLst>
            </a:custGeom>
            <a:solidFill>
              <a:srgbClr val="000000"/>
            </a:solidFill>
          </p:spPr>
          <p:txBody>
            <a:bodyPr wrap="square" lIns="0" tIns="0" rIns="0" bIns="0" rtlCol="0"/>
            <a:lstStyle/>
            <a:p>
              <a:endParaRPr sz="2400"/>
            </a:p>
          </p:txBody>
        </p:sp>
        <p:sp>
          <p:nvSpPr>
            <p:cNvPr id="24" name="object 24"/>
            <p:cNvSpPr/>
            <p:nvPr/>
          </p:nvSpPr>
          <p:spPr>
            <a:xfrm>
              <a:off x="3118482"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25" name="object 25"/>
            <p:cNvSpPr/>
            <p:nvPr/>
          </p:nvSpPr>
          <p:spPr>
            <a:xfrm>
              <a:off x="3526198" y="1953747"/>
              <a:ext cx="36195" cy="208279"/>
            </a:xfrm>
            <a:custGeom>
              <a:avLst/>
              <a:gdLst/>
              <a:ahLst/>
              <a:cxnLst/>
              <a:rect l="l" t="t" r="r" b="b"/>
              <a:pathLst>
                <a:path w="36195" h="208280">
                  <a:moveTo>
                    <a:pt x="35908" y="0"/>
                  </a:moveTo>
                  <a:lnTo>
                    <a:pt x="0" y="0"/>
                  </a:lnTo>
                  <a:lnTo>
                    <a:pt x="0" y="207937"/>
                  </a:lnTo>
                  <a:lnTo>
                    <a:pt x="35908" y="207937"/>
                  </a:lnTo>
                  <a:lnTo>
                    <a:pt x="35908" y="0"/>
                  </a:lnTo>
                  <a:close/>
                </a:path>
              </a:pathLst>
            </a:custGeom>
            <a:solidFill>
              <a:srgbClr val="000000"/>
            </a:solidFill>
          </p:spPr>
          <p:txBody>
            <a:bodyPr wrap="square" lIns="0" tIns="0" rIns="0" bIns="0" rtlCol="0"/>
            <a:lstStyle/>
            <a:p>
              <a:endParaRPr sz="2400"/>
            </a:p>
          </p:txBody>
        </p:sp>
        <p:sp>
          <p:nvSpPr>
            <p:cNvPr id="26" name="object 26"/>
            <p:cNvSpPr/>
            <p:nvPr/>
          </p:nvSpPr>
          <p:spPr>
            <a:xfrm>
              <a:off x="3596168" y="2161684"/>
              <a:ext cx="81280" cy="0"/>
            </a:xfrm>
            <a:custGeom>
              <a:avLst/>
              <a:gdLst/>
              <a:ahLst/>
              <a:cxnLst/>
              <a:rect l="l" t="t" r="r" b="b"/>
              <a:pathLst>
                <a:path w="81279">
                  <a:moveTo>
                    <a:pt x="81153" y="0"/>
                  </a:moveTo>
                  <a:lnTo>
                    <a:pt x="0" y="0"/>
                  </a:lnTo>
                </a:path>
              </a:pathLst>
            </a:custGeom>
            <a:ln w="35939">
              <a:solidFill>
                <a:srgbClr val="000000"/>
              </a:solidFill>
            </a:ln>
          </p:spPr>
          <p:txBody>
            <a:bodyPr wrap="square" lIns="0" tIns="0" rIns="0" bIns="0" rtlCol="0"/>
            <a:lstStyle/>
            <a:p>
              <a:endParaRPr sz="2400"/>
            </a:p>
          </p:txBody>
        </p:sp>
        <p:sp>
          <p:nvSpPr>
            <p:cNvPr id="27" name="object 27"/>
            <p:cNvSpPr/>
            <p:nvPr/>
          </p:nvSpPr>
          <p:spPr>
            <a:xfrm>
              <a:off x="3578212" y="1901774"/>
              <a:ext cx="238760" cy="312420"/>
            </a:xfrm>
            <a:custGeom>
              <a:avLst/>
              <a:gdLst/>
              <a:ahLst/>
              <a:cxnLst/>
              <a:rect l="l" t="t" r="r" b="b"/>
              <a:pathLst>
                <a:path w="238760" h="312419">
                  <a:moveTo>
                    <a:pt x="35902" y="0"/>
                  </a:moveTo>
                  <a:lnTo>
                    <a:pt x="0" y="0"/>
                  </a:lnTo>
                  <a:lnTo>
                    <a:pt x="0" y="311912"/>
                  </a:lnTo>
                  <a:lnTo>
                    <a:pt x="35902" y="311912"/>
                  </a:lnTo>
                  <a:lnTo>
                    <a:pt x="35902" y="0"/>
                  </a:lnTo>
                  <a:close/>
                </a:path>
                <a:path w="238760" h="312419">
                  <a:moveTo>
                    <a:pt x="238531" y="259918"/>
                  </a:moveTo>
                  <a:lnTo>
                    <a:pt x="86487" y="209194"/>
                  </a:lnTo>
                  <a:lnTo>
                    <a:pt x="86487" y="310642"/>
                  </a:lnTo>
                  <a:lnTo>
                    <a:pt x="238531" y="259918"/>
                  </a:lnTo>
                  <a:close/>
                </a:path>
              </a:pathLst>
            </a:custGeom>
            <a:solidFill>
              <a:srgbClr val="000000"/>
            </a:solidFill>
          </p:spPr>
          <p:txBody>
            <a:bodyPr wrap="square" lIns="0" tIns="0" rIns="0" bIns="0" rtlCol="0"/>
            <a:lstStyle/>
            <a:p>
              <a:endParaRPr sz="2400"/>
            </a:p>
          </p:txBody>
        </p:sp>
        <p:sp>
          <p:nvSpPr>
            <p:cNvPr id="28" name="object 28"/>
            <p:cNvSpPr/>
            <p:nvPr/>
          </p:nvSpPr>
          <p:spPr>
            <a:xfrm>
              <a:off x="3388411" y="1953747"/>
              <a:ext cx="415925" cy="327660"/>
            </a:xfrm>
            <a:custGeom>
              <a:avLst/>
              <a:gdLst/>
              <a:ahLst/>
              <a:cxnLst/>
              <a:rect l="l" t="t" r="r" b="b"/>
              <a:pathLst>
                <a:path w="415925" h="327660">
                  <a:moveTo>
                    <a:pt x="155740"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29" name="object 29"/>
            <p:cNvPicPr/>
            <p:nvPr/>
          </p:nvPicPr>
          <p:blipFill>
            <a:blip r:embed="rId3" cstate="print"/>
            <a:stretch>
              <a:fillRect/>
            </a:stretch>
          </p:blipFill>
          <p:spPr>
            <a:xfrm>
              <a:off x="3445038" y="1328565"/>
              <a:ext cx="90195" cy="89918"/>
            </a:xfrm>
            <a:prstGeom prst="rect">
              <a:avLst/>
            </a:prstGeom>
          </p:spPr>
        </p:pic>
        <p:sp>
          <p:nvSpPr>
            <p:cNvPr id="30" name="object 30"/>
            <p:cNvSpPr/>
            <p:nvPr/>
          </p:nvSpPr>
          <p:spPr>
            <a:xfrm>
              <a:off x="3742777" y="2171952"/>
              <a:ext cx="122555" cy="203835"/>
            </a:xfrm>
            <a:custGeom>
              <a:avLst/>
              <a:gdLst/>
              <a:ahLst/>
              <a:cxnLst/>
              <a:rect l="l" t="t" r="r" b="b"/>
              <a:pathLst>
                <a:path w="122554" h="203835">
                  <a:moveTo>
                    <a:pt x="61044" y="72115"/>
                  </a:moveTo>
                  <a:lnTo>
                    <a:pt x="61044" y="0"/>
                  </a:lnTo>
                </a:path>
                <a:path w="122554" h="203835">
                  <a:moveTo>
                    <a:pt x="0" y="123612"/>
                  </a:moveTo>
                  <a:lnTo>
                    <a:pt x="121986" y="123612"/>
                  </a:lnTo>
                </a:path>
                <a:path w="122554" h="203835">
                  <a:moveTo>
                    <a:pt x="20416" y="163636"/>
                  </a:moveTo>
                  <a:lnTo>
                    <a:pt x="101672" y="163636"/>
                  </a:lnTo>
                </a:path>
                <a:path w="122554" h="203835">
                  <a:moveTo>
                    <a:pt x="40730" y="203656"/>
                  </a:moveTo>
                  <a:lnTo>
                    <a:pt x="81358" y="203656"/>
                  </a:lnTo>
                </a:path>
                <a:path w="122554" h="203835">
                  <a:moveTo>
                    <a:pt x="61044" y="16891"/>
                  </a:moveTo>
                  <a:lnTo>
                    <a:pt x="61044" y="123612"/>
                  </a:lnTo>
                </a:path>
              </a:pathLst>
            </a:custGeom>
            <a:ln w="30792">
              <a:solidFill>
                <a:srgbClr val="000000"/>
              </a:solidFill>
            </a:ln>
          </p:spPr>
          <p:txBody>
            <a:bodyPr wrap="square" lIns="0" tIns="0" rIns="0" bIns="0" rtlCol="0"/>
            <a:lstStyle/>
            <a:p>
              <a:endParaRPr sz="2400"/>
            </a:p>
          </p:txBody>
        </p:sp>
        <p:sp>
          <p:nvSpPr>
            <p:cNvPr id="31" name="object 31"/>
            <p:cNvSpPr/>
            <p:nvPr/>
          </p:nvSpPr>
          <p:spPr>
            <a:xfrm>
              <a:off x="3111505" y="1092690"/>
              <a:ext cx="692785" cy="965200"/>
            </a:xfrm>
            <a:custGeom>
              <a:avLst/>
              <a:gdLst/>
              <a:ahLst/>
              <a:cxnLst/>
              <a:rect l="l" t="t" r="r" b="b"/>
              <a:pathLst>
                <a:path w="692785" h="965200">
                  <a:moveTo>
                    <a:pt x="692316" y="180315"/>
                  </a:moveTo>
                  <a:lnTo>
                    <a:pt x="692316" y="0"/>
                  </a:lnTo>
                </a:path>
                <a:path w="692785" h="965200">
                  <a:moveTo>
                    <a:pt x="408331" y="965025"/>
                  </a:moveTo>
                  <a:lnTo>
                    <a:pt x="0" y="965025"/>
                  </a:lnTo>
                </a:path>
              </a:pathLst>
            </a:custGeom>
            <a:ln w="35924">
              <a:solidFill>
                <a:srgbClr val="000000"/>
              </a:solidFill>
            </a:ln>
          </p:spPr>
          <p:txBody>
            <a:bodyPr wrap="square" lIns="0" tIns="0" rIns="0" bIns="0" rtlCol="0"/>
            <a:lstStyle/>
            <a:p>
              <a:endParaRPr sz="2400"/>
            </a:p>
          </p:txBody>
        </p:sp>
        <p:pic>
          <p:nvPicPr>
            <p:cNvPr id="32" name="object 32"/>
            <p:cNvPicPr/>
            <p:nvPr/>
          </p:nvPicPr>
          <p:blipFill>
            <a:blip r:embed="rId6" cstate="print"/>
            <a:stretch>
              <a:fillRect/>
            </a:stretch>
          </p:blipFill>
          <p:spPr>
            <a:xfrm>
              <a:off x="3755594" y="1667478"/>
              <a:ext cx="95327" cy="95070"/>
            </a:xfrm>
            <a:prstGeom prst="rect">
              <a:avLst/>
            </a:prstGeom>
          </p:spPr>
        </p:pic>
        <p:sp>
          <p:nvSpPr>
            <p:cNvPr id="33" name="object 33"/>
            <p:cNvSpPr/>
            <p:nvPr/>
          </p:nvSpPr>
          <p:spPr>
            <a:xfrm>
              <a:off x="3111505" y="1376964"/>
              <a:ext cx="6985" cy="681355"/>
            </a:xfrm>
            <a:custGeom>
              <a:avLst/>
              <a:gdLst/>
              <a:ahLst/>
              <a:cxnLst/>
              <a:rect l="l" t="t" r="r" b="b"/>
              <a:pathLst>
                <a:path w="6985" h="681355">
                  <a:moveTo>
                    <a:pt x="0" y="680751"/>
                  </a:moveTo>
                  <a:lnTo>
                    <a:pt x="6976" y="0"/>
                  </a:lnTo>
                </a:path>
              </a:pathLst>
            </a:custGeom>
            <a:ln w="35908">
              <a:solidFill>
                <a:srgbClr val="000000"/>
              </a:solidFill>
            </a:ln>
          </p:spPr>
          <p:txBody>
            <a:bodyPr wrap="square" lIns="0" tIns="0" rIns="0" bIns="0" rtlCol="0"/>
            <a:lstStyle/>
            <a:p>
              <a:endParaRPr sz="2400"/>
            </a:p>
          </p:txBody>
        </p:sp>
        <p:pic>
          <p:nvPicPr>
            <p:cNvPr id="34" name="object 34"/>
            <p:cNvPicPr/>
            <p:nvPr/>
          </p:nvPicPr>
          <p:blipFill>
            <a:blip r:embed="rId5" cstate="print"/>
            <a:stretch>
              <a:fillRect/>
            </a:stretch>
          </p:blipFill>
          <p:spPr>
            <a:xfrm>
              <a:off x="3067586" y="1664521"/>
              <a:ext cx="95327" cy="95070"/>
            </a:xfrm>
            <a:prstGeom prst="rect">
              <a:avLst/>
            </a:prstGeom>
          </p:spPr>
        </p:pic>
        <p:sp>
          <p:nvSpPr>
            <p:cNvPr id="35" name="object 35"/>
            <p:cNvSpPr/>
            <p:nvPr/>
          </p:nvSpPr>
          <p:spPr>
            <a:xfrm>
              <a:off x="3803822" y="1273005"/>
              <a:ext cx="859790" cy="442595"/>
            </a:xfrm>
            <a:custGeom>
              <a:avLst/>
              <a:gdLst/>
              <a:ahLst/>
              <a:cxnLst/>
              <a:rect l="l" t="t" r="r" b="b"/>
              <a:pathLst>
                <a:path w="859789" h="442594">
                  <a:moveTo>
                    <a:pt x="180466" y="442008"/>
                  </a:moveTo>
                  <a:lnTo>
                    <a:pt x="0" y="442008"/>
                  </a:lnTo>
                </a:path>
                <a:path w="859789" h="442594">
                  <a:moveTo>
                    <a:pt x="760132" y="0"/>
                  </a:moveTo>
                  <a:lnTo>
                    <a:pt x="859753" y="0"/>
                  </a:lnTo>
                </a:path>
              </a:pathLst>
            </a:custGeom>
            <a:ln w="35924">
              <a:solidFill>
                <a:srgbClr val="000000"/>
              </a:solidFill>
            </a:ln>
          </p:spPr>
          <p:txBody>
            <a:bodyPr wrap="square" lIns="0" tIns="0" rIns="0" bIns="0" rtlCol="0"/>
            <a:lstStyle/>
            <a:p>
              <a:endParaRPr sz="2400"/>
            </a:p>
          </p:txBody>
        </p:sp>
        <p:sp>
          <p:nvSpPr>
            <p:cNvPr id="36" name="object 36"/>
            <p:cNvSpPr/>
            <p:nvPr/>
          </p:nvSpPr>
          <p:spPr>
            <a:xfrm>
              <a:off x="4385945" y="1211198"/>
              <a:ext cx="193675" cy="269875"/>
            </a:xfrm>
            <a:custGeom>
              <a:avLst/>
              <a:gdLst/>
              <a:ahLst/>
              <a:cxnLst/>
              <a:rect l="l" t="t" r="r" b="b"/>
              <a:pathLst>
                <a:path w="193675" h="269875">
                  <a:moveTo>
                    <a:pt x="35902" y="61798"/>
                  </a:moveTo>
                  <a:lnTo>
                    <a:pt x="0" y="61798"/>
                  </a:lnTo>
                  <a:lnTo>
                    <a:pt x="0" y="269735"/>
                  </a:lnTo>
                  <a:lnTo>
                    <a:pt x="35902" y="269735"/>
                  </a:lnTo>
                  <a:lnTo>
                    <a:pt x="35902" y="61798"/>
                  </a:lnTo>
                  <a:close/>
                </a:path>
                <a:path w="193675" h="269875">
                  <a:moveTo>
                    <a:pt x="193395" y="0"/>
                  </a:moveTo>
                  <a:lnTo>
                    <a:pt x="69862" y="61810"/>
                  </a:lnTo>
                  <a:lnTo>
                    <a:pt x="193395" y="123634"/>
                  </a:lnTo>
                  <a:lnTo>
                    <a:pt x="193395" y="0"/>
                  </a:lnTo>
                  <a:close/>
                </a:path>
              </a:pathLst>
            </a:custGeom>
            <a:solidFill>
              <a:srgbClr val="000000"/>
            </a:solidFill>
          </p:spPr>
          <p:txBody>
            <a:bodyPr wrap="square" lIns="0" tIns="0" rIns="0" bIns="0" rtlCol="0"/>
            <a:lstStyle/>
            <a:p>
              <a:endParaRPr sz="2400"/>
            </a:p>
          </p:txBody>
        </p:sp>
        <p:sp>
          <p:nvSpPr>
            <p:cNvPr id="37" name="object 37"/>
            <p:cNvSpPr/>
            <p:nvPr/>
          </p:nvSpPr>
          <p:spPr>
            <a:xfrm>
              <a:off x="4455819" y="1480933"/>
              <a:ext cx="201295" cy="0"/>
            </a:xfrm>
            <a:custGeom>
              <a:avLst/>
              <a:gdLst/>
              <a:ahLst/>
              <a:cxnLst/>
              <a:rect l="l" t="t" r="r" b="b"/>
              <a:pathLst>
                <a:path w="201295">
                  <a:moveTo>
                    <a:pt x="200882" y="0"/>
                  </a:moveTo>
                  <a:lnTo>
                    <a:pt x="0" y="0"/>
                  </a:lnTo>
                </a:path>
              </a:pathLst>
            </a:custGeom>
            <a:ln w="35939">
              <a:solidFill>
                <a:srgbClr val="000000"/>
              </a:solidFill>
            </a:ln>
          </p:spPr>
          <p:txBody>
            <a:bodyPr wrap="square" lIns="0" tIns="0" rIns="0" bIns="0" rtlCol="0"/>
            <a:lstStyle/>
            <a:p>
              <a:endParaRPr sz="2400"/>
            </a:p>
          </p:txBody>
        </p:sp>
        <p:sp>
          <p:nvSpPr>
            <p:cNvPr id="38" name="object 38"/>
            <p:cNvSpPr/>
            <p:nvPr/>
          </p:nvSpPr>
          <p:spPr>
            <a:xfrm>
              <a:off x="4437864" y="1221016"/>
              <a:ext cx="36195" cy="312420"/>
            </a:xfrm>
            <a:custGeom>
              <a:avLst/>
              <a:gdLst/>
              <a:ahLst/>
              <a:cxnLst/>
              <a:rect l="l" t="t" r="r" b="b"/>
              <a:pathLst>
                <a:path w="36195" h="312419">
                  <a:moveTo>
                    <a:pt x="35908" y="0"/>
                  </a:moveTo>
                  <a:lnTo>
                    <a:pt x="0" y="0"/>
                  </a:lnTo>
                  <a:lnTo>
                    <a:pt x="0" y="311906"/>
                  </a:lnTo>
                  <a:lnTo>
                    <a:pt x="35908" y="311906"/>
                  </a:lnTo>
                  <a:lnTo>
                    <a:pt x="35908" y="0"/>
                  </a:lnTo>
                  <a:close/>
                </a:path>
              </a:pathLst>
            </a:custGeom>
            <a:solidFill>
              <a:srgbClr val="000000"/>
            </a:solidFill>
          </p:spPr>
          <p:txBody>
            <a:bodyPr wrap="square" lIns="0" tIns="0" rIns="0" bIns="0" rtlCol="0"/>
            <a:lstStyle/>
            <a:p>
              <a:endParaRPr sz="2400"/>
            </a:p>
          </p:txBody>
        </p:sp>
        <p:sp>
          <p:nvSpPr>
            <p:cNvPr id="39" name="object 39"/>
            <p:cNvSpPr/>
            <p:nvPr/>
          </p:nvSpPr>
          <p:spPr>
            <a:xfrm>
              <a:off x="3978235"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40" name="object 40"/>
            <p:cNvSpPr/>
            <p:nvPr/>
          </p:nvSpPr>
          <p:spPr>
            <a:xfrm>
              <a:off x="4386054" y="1953747"/>
              <a:ext cx="36195" cy="208279"/>
            </a:xfrm>
            <a:custGeom>
              <a:avLst/>
              <a:gdLst/>
              <a:ahLst/>
              <a:cxnLst/>
              <a:rect l="l" t="t" r="r" b="b"/>
              <a:pathLst>
                <a:path w="36195" h="208280">
                  <a:moveTo>
                    <a:pt x="35908" y="0"/>
                  </a:moveTo>
                  <a:lnTo>
                    <a:pt x="0" y="0"/>
                  </a:lnTo>
                  <a:lnTo>
                    <a:pt x="0" y="207937"/>
                  </a:lnTo>
                  <a:lnTo>
                    <a:pt x="35908" y="207937"/>
                  </a:lnTo>
                  <a:lnTo>
                    <a:pt x="35908" y="0"/>
                  </a:lnTo>
                  <a:close/>
                </a:path>
              </a:pathLst>
            </a:custGeom>
            <a:solidFill>
              <a:srgbClr val="000000"/>
            </a:solidFill>
          </p:spPr>
          <p:txBody>
            <a:bodyPr wrap="square" lIns="0" tIns="0" rIns="0" bIns="0" rtlCol="0"/>
            <a:lstStyle/>
            <a:p>
              <a:endParaRPr sz="2400"/>
            </a:p>
          </p:txBody>
        </p:sp>
        <p:sp>
          <p:nvSpPr>
            <p:cNvPr id="41" name="object 41"/>
            <p:cNvSpPr/>
            <p:nvPr/>
          </p:nvSpPr>
          <p:spPr>
            <a:xfrm>
              <a:off x="4455921" y="2161684"/>
              <a:ext cx="81280" cy="0"/>
            </a:xfrm>
            <a:custGeom>
              <a:avLst/>
              <a:gdLst/>
              <a:ahLst/>
              <a:cxnLst/>
              <a:rect l="l" t="t" r="r" b="b"/>
              <a:pathLst>
                <a:path w="81279">
                  <a:moveTo>
                    <a:pt x="81255" y="0"/>
                  </a:moveTo>
                  <a:lnTo>
                    <a:pt x="0" y="0"/>
                  </a:lnTo>
                </a:path>
              </a:pathLst>
            </a:custGeom>
            <a:ln w="35939">
              <a:solidFill>
                <a:srgbClr val="000000"/>
              </a:solidFill>
            </a:ln>
          </p:spPr>
          <p:txBody>
            <a:bodyPr wrap="square" lIns="0" tIns="0" rIns="0" bIns="0" rtlCol="0"/>
            <a:lstStyle/>
            <a:p>
              <a:endParaRPr sz="2400"/>
            </a:p>
          </p:txBody>
        </p:sp>
        <p:sp>
          <p:nvSpPr>
            <p:cNvPr id="42" name="object 42"/>
            <p:cNvSpPr/>
            <p:nvPr/>
          </p:nvSpPr>
          <p:spPr>
            <a:xfrm>
              <a:off x="4437964" y="1901774"/>
              <a:ext cx="238760" cy="312420"/>
            </a:xfrm>
            <a:custGeom>
              <a:avLst/>
              <a:gdLst/>
              <a:ahLst/>
              <a:cxnLst/>
              <a:rect l="l" t="t" r="r" b="b"/>
              <a:pathLst>
                <a:path w="238760" h="312419">
                  <a:moveTo>
                    <a:pt x="35902" y="0"/>
                  </a:moveTo>
                  <a:lnTo>
                    <a:pt x="0" y="0"/>
                  </a:lnTo>
                  <a:lnTo>
                    <a:pt x="0" y="311912"/>
                  </a:lnTo>
                  <a:lnTo>
                    <a:pt x="35902" y="311912"/>
                  </a:lnTo>
                  <a:lnTo>
                    <a:pt x="35902" y="0"/>
                  </a:lnTo>
                  <a:close/>
                </a:path>
                <a:path w="238760" h="312419">
                  <a:moveTo>
                    <a:pt x="238531" y="259918"/>
                  </a:moveTo>
                  <a:lnTo>
                    <a:pt x="86487" y="209194"/>
                  </a:lnTo>
                  <a:lnTo>
                    <a:pt x="86487" y="310642"/>
                  </a:lnTo>
                  <a:lnTo>
                    <a:pt x="238531" y="259918"/>
                  </a:lnTo>
                  <a:close/>
                </a:path>
              </a:pathLst>
            </a:custGeom>
            <a:solidFill>
              <a:srgbClr val="000000"/>
            </a:solidFill>
          </p:spPr>
          <p:txBody>
            <a:bodyPr wrap="square" lIns="0" tIns="0" rIns="0" bIns="0" rtlCol="0"/>
            <a:lstStyle/>
            <a:p>
              <a:endParaRPr sz="2400"/>
            </a:p>
          </p:txBody>
        </p:sp>
        <p:sp>
          <p:nvSpPr>
            <p:cNvPr id="43" name="object 43"/>
            <p:cNvSpPr/>
            <p:nvPr/>
          </p:nvSpPr>
          <p:spPr>
            <a:xfrm>
              <a:off x="4248165" y="1953747"/>
              <a:ext cx="415925" cy="327660"/>
            </a:xfrm>
            <a:custGeom>
              <a:avLst/>
              <a:gdLst/>
              <a:ahLst/>
              <a:cxnLst/>
              <a:rect l="l" t="t" r="r" b="b"/>
              <a:pathLst>
                <a:path w="415925" h="327660">
                  <a:moveTo>
                    <a:pt x="155843"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44" name="object 44"/>
            <p:cNvPicPr/>
            <p:nvPr/>
          </p:nvPicPr>
          <p:blipFill>
            <a:blip r:embed="rId7" cstate="print"/>
            <a:stretch>
              <a:fillRect/>
            </a:stretch>
          </p:blipFill>
          <p:spPr>
            <a:xfrm>
              <a:off x="4304791" y="1328565"/>
              <a:ext cx="90297" cy="89918"/>
            </a:xfrm>
            <a:prstGeom prst="rect">
              <a:avLst/>
            </a:prstGeom>
          </p:spPr>
        </p:pic>
        <p:sp>
          <p:nvSpPr>
            <p:cNvPr id="45" name="object 45"/>
            <p:cNvSpPr/>
            <p:nvPr/>
          </p:nvSpPr>
          <p:spPr>
            <a:xfrm>
              <a:off x="4602633" y="2171953"/>
              <a:ext cx="122555" cy="203835"/>
            </a:xfrm>
            <a:custGeom>
              <a:avLst/>
              <a:gdLst/>
              <a:ahLst/>
              <a:cxnLst/>
              <a:rect l="l" t="t" r="r" b="b"/>
              <a:pathLst>
                <a:path w="122554" h="203835">
                  <a:moveTo>
                    <a:pt x="60941" y="72115"/>
                  </a:moveTo>
                  <a:lnTo>
                    <a:pt x="60941" y="0"/>
                  </a:lnTo>
                </a:path>
                <a:path w="122554" h="203835">
                  <a:moveTo>
                    <a:pt x="0" y="123612"/>
                  </a:moveTo>
                  <a:lnTo>
                    <a:pt x="121986" y="123612"/>
                  </a:lnTo>
                </a:path>
                <a:path w="122554" h="203835">
                  <a:moveTo>
                    <a:pt x="20313" y="163636"/>
                  </a:moveTo>
                  <a:lnTo>
                    <a:pt x="101672" y="163636"/>
                  </a:lnTo>
                </a:path>
                <a:path w="122554" h="203835">
                  <a:moveTo>
                    <a:pt x="40627" y="203656"/>
                  </a:moveTo>
                  <a:lnTo>
                    <a:pt x="81255" y="203656"/>
                  </a:lnTo>
                </a:path>
                <a:path w="122554" h="203835">
                  <a:moveTo>
                    <a:pt x="60941" y="16891"/>
                  </a:moveTo>
                  <a:lnTo>
                    <a:pt x="60941" y="123612"/>
                  </a:lnTo>
                </a:path>
              </a:pathLst>
            </a:custGeom>
            <a:ln w="30792">
              <a:solidFill>
                <a:srgbClr val="000000"/>
              </a:solidFill>
            </a:ln>
          </p:spPr>
          <p:txBody>
            <a:bodyPr wrap="square" lIns="0" tIns="0" rIns="0" bIns="0" rtlCol="0"/>
            <a:lstStyle/>
            <a:p>
              <a:endParaRPr sz="2400"/>
            </a:p>
          </p:txBody>
        </p:sp>
        <p:sp>
          <p:nvSpPr>
            <p:cNvPr id="46" name="object 46"/>
            <p:cNvSpPr/>
            <p:nvPr/>
          </p:nvSpPr>
          <p:spPr>
            <a:xfrm>
              <a:off x="3971258" y="1092690"/>
              <a:ext cx="692785" cy="965200"/>
            </a:xfrm>
            <a:custGeom>
              <a:avLst/>
              <a:gdLst/>
              <a:ahLst/>
              <a:cxnLst/>
              <a:rect l="l" t="t" r="r" b="b"/>
              <a:pathLst>
                <a:path w="692785" h="965200">
                  <a:moveTo>
                    <a:pt x="692316" y="180315"/>
                  </a:moveTo>
                  <a:lnTo>
                    <a:pt x="692316" y="0"/>
                  </a:lnTo>
                </a:path>
                <a:path w="692785" h="965200">
                  <a:moveTo>
                    <a:pt x="408434" y="965025"/>
                  </a:moveTo>
                  <a:lnTo>
                    <a:pt x="0" y="965025"/>
                  </a:lnTo>
                </a:path>
                <a:path w="692785" h="965200">
                  <a:moveTo>
                    <a:pt x="212681" y="622323"/>
                  </a:moveTo>
                  <a:lnTo>
                    <a:pt x="237612" y="562437"/>
                  </a:lnTo>
                  <a:lnTo>
                    <a:pt x="287473" y="682209"/>
                  </a:lnTo>
                  <a:lnTo>
                    <a:pt x="337335" y="562437"/>
                  </a:lnTo>
                  <a:lnTo>
                    <a:pt x="387196" y="682209"/>
                  </a:lnTo>
                  <a:lnTo>
                    <a:pt x="437058" y="562437"/>
                  </a:lnTo>
                  <a:lnTo>
                    <a:pt x="486919" y="682209"/>
                  </a:lnTo>
                  <a:lnTo>
                    <a:pt x="511850" y="622323"/>
                  </a:lnTo>
                </a:path>
              </a:pathLst>
            </a:custGeom>
            <a:ln w="35924">
              <a:solidFill>
                <a:srgbClr val="000000"/>
              </a:solidFill>
            </a:ln>
          </p:spPr>
          <p:txBody>
            <a:bodyPr wrap="square" lIns="0" tIns="0" rIns="0" bIns="0" rtlCol="0"/>
            <a:lstStyle/>
            <a:p>
              <a:endParaRPr sz="2400"/>
            </a:p>
          </p:txBody>
        </p:sp>
        <p:pic>
          <p:nvPicPr>
            <p:cNvPr id="47" name="object 47"/>
            <p:cNvPicPr/>
            <p:nvPr/>
          </p:nvPicPr>
          <p:blipFill>
            <a:blip r:embed="rId8" cstate="print"/>
            <a:stretch>
              <a:fillRect/>
            </a:stretch>
          </p:blipFill>
          <p:spPr>
            <a:xfrm>
              <a:off x="4483109" y="1667478"/>
              <a:ext cx="227668" cy="95070"/>
            </a:xfrm>
            <a:prstGeom prst="rect">
              <a:avLst/>
            </a:prstGeom>
          </p:spPr>
        </p:pic>
        <p:sp>
          <p:nvSpPr>
            <p:cNvPr id="48" name="object 48"/>
            <p:cNvSpPr/>
            <p:nvPr/>
          </p:nvSpPr>
          <p:spPr>
            <a:xfrm>
              <a:off x="3839731" y="1376964"/>
              <a:ext cx="344805" cy="681355"/>
            </a:xfrm>
            <a:custGeom>
              <a:avLst/>
              <a:gdLst/>
              <a:ahLst/>
              <a:cxnLst/>
              <a:rect l="l" t="t" r="r" b="b"/>
              <a:pathLst>
                <a:path w="344804" h="681355">
                  <a:moveTo>
                    <a:pt x="344209" y="338049"/>
                  </a:moveTo>
                  <a:lnTo>
                    <a:pt x="262953" y="338049"/>
                  </a:lnTo>
                </a:path>
                <a:path w="344804" h="681355">
                  <a:moveTo>
                    <a:pt x="277008" y="338049"/>
                  </a:moveTo>
                  <a:lnTo>
                    <a:pt x="0" y="338049"/>
                  </a:lnTo>
                </a:path>
                <a:path w="344804" h="681355">
                  <a:moveTo>
                    <a:pt x="131527" y="680751"/>
                  </a:moveTo>
                  <a:lnTo>
                    <a:pt x="138504" y="0"/>
                  </a:lnTo>
                </a:path>
              </a:pathLst>
            </a:custGeom>
            <a:ln w="35924">
              <a:solidFill>
                <a:srgbClr val="000000"/>
              </a:solidFill>
            </a:ln>
          </p:spPr>
          <p:txBody>
            <a:bodyPr wrap="square" lIns="0" tIns="0" rIns="0" bIns="0" rtlCol="0"/>
            <a:lstStyle/>
            <a:p>
              <a:endParaRPr sz="2400"/>
            </a:p>
          </p:txBody>
        </p:sp>
        <p:pic>
          <p:nvPicPr>
            <p:cNvPr id="49" name="object 49"/>
            <p:cNvPicPr/>
            <p:nvPr/>
          </p:nvPicPr>
          <p:blipFill>
            <a:blip r:embed="rId9" cstate="print"/>
            <a:stretch>
              <a:fillRect/>
            </a:stretch>
          </p:blipFill>
          <p:spPr>
            <a:xfrm>
              <a:off x="3927340" y="1664521"/>
              <a:ext cx="95429" cy="95070"/>
            </a:xfrm>
            <a:prstGeom prst="rect">
              <a:avLst/>
            </a:prstGeom>
          </p:spPr>
        </p:pic>
        <p:sp>
          <p:nvSpPr>
            <p:cNvPr id="50" name="object 50"/>
            <p:cNvSpPr/>
            <p:nvPr/>
          </p:nvSpPr>
          <p:spPr>
            <a:xfrm>
              <a:off x="4663575" y="1273005"/>
              <a:ext cx="877569" cy="442595"/>
            </a:xfrm>
            <a:custGeom>
              <a:avLst/>
              <a:gdLst/>
              <a:ahLst/>
              <a:cxnLst/>
              <a:rect l="l" t="t" r="r" b="b"/>
              <a:pathLst>
                <a:path w="877570" h="442594">
                  <a:moveTo>
                    <a:pt x="180466" y="442008"/>
                  </a:moveTo>
                  <a:lnTo>
                    <a:pt x="0" y="442008"/>
                  </a:lnTo>
                </a:path>
                <a:path w="877570" h="442594">
                  <a:moveTo>
                    <a:pt x="777574" y="0"/>
                  </a:moveTo>
                  <a:lnTo>
                    <a:pt x="877194" y="0"/>
                  </a:lnTo>
                </a:path>
              </a:pathLst>
            </a:custGeom>
            <a:ln w="35924">
              <a:solidFill>
                <a:srgbClr val="000000"/>
              </a:solidFill>
            </a:ln>
          </p:spPr>
          <p:txBody>
            <a:bodyPr wrap="square" lIns="0" tIns="0" rIns="0" bIns="0" rtlCol="0"/>
            <a:lstStyle/>
            <a:p>
              <a:endParaRPr sz="2400"/>
            </a:p>
          </p:txBody>
        </p:sp>
        <p:sp>
          <p:nvSpPr>
            <p:cNvPr id="51" name="object 51"/>
            <p:cNvSpPr/>
            <p:nvPr/>
          </p:nvSpPr>
          <p:spPr>
            <a:xfrm>
              <a:off x="5263134" y="1211198"/>
              <a:ext cx="193675" cy="269875"/>
            </a:xfrm>
            <a:custGeom>
              <a:avLst/>
              <a:gdLst/>
              <a:ahLst/>
              <a:cxnLst/>
              <a:rect l="l" t="t" r="r" b="b"/>
              <a:pathLst>
                <a:path w="193675" h="269875">
                  <a:moveTo>
                    <a:pt x="35915" y="61798"/>
                  </a:moveTo>
                  <a:lnTo>
                    <a:pt x="0" y="61798"/>
                  </a:lnTo>
                  <a:lnTo>
                    <a:pt x="0" y="269735"/>
                  </a:lnTo>
                  <a:lnTo>
                    <a:pt x="35915" y="269735"/>
                  </a:lnTo>
                  <a:lnTo>
                    <a:pt x="35915" y="61798"/>
                  </a:lnTo>
                  <a:close/>
                </a:path>
                <a:path w="193675" h="269875">
                  <a:moveTo>
                    <a:pt x="193395" y="0"/>
                  </a:moveTo>
                  <a:lnTo>
                    <a:pt x="69875" y="61810"/>
                  </a:lnTo>
                  <a:lnTo>
                    <a:pt x="193395" y="123634"/>
                  </a:lnTo>
                  <a:lnTo>
                    <a:pt x="193395" y="0"/>
                  </a:lnTo>
                  <a:close/>
                </a:path>
              </a:pathLst>
            </a:custGeom>
            <a:solidFill>
              <a:srgbClr val="000000"/>
            </a:solidFill>
          </p:spPr>
          <p:txBody>
            <a:bodyPr wrap="square" lIns="0" tIns="0" rIns="0" bIns="0" rtlCol="0"/>
            <a:lstStyle/>
            <a:p>
              <a:endParaRPr sz="2400"/>
            </a:p>
          </p:txBody>
        </p:sp>
        <p:sp>
          <p:nvSpPr>
            <p:cNvPr id="52" name="object 52"/>
            <p:cNvSpPr/>
            <p:nvPr/>
          </p:nvSpPr>
          <p:spPr>
            <a:xfrm>
              <a:off x="5333014" y="1480933"/>
              <a:ext cx="201295" cy="0"/>
            </a:xfrm>
            <a:custGeom>
              <a:avLst/>
              <a:gdLst/>
              <a:ahLst/>
              <a:cxnLst/>
              <a:rect l="l" t="t" r="r" b="b"/>
              <a:pathLst>
                <a:path w="201295">
                  <a:moveTo>
                    <a:pt x="200882" y="0"/>
                  </a:moveTo>
                  <a:lnTo>
                    <a:pt x="0" y="0"/>
                  </a:lnTo>
                </a:path>
              </a:pathLst>
            </a:custGeom>
            <a:ln w="35939">
              <a:solidFill>
                <a:srgbClr val="000000"/>
              </a:solidFill>
            </a:ln>
          </p:spPr>
          <p:txBody>
            <a:bodyPr wrap="square" lIns="0" tIns="0" rIns="0" bIns="0" rtlCol="0"/>
            <a:lstStyle/>
            <a:p>
              <a:endParaRPr sz="2400"/>
            </a:p>
          </p:txBody>
        </p:sp>
        <p:sp>
          <p:nvSpPr>
            <p:cNvPr id="53" name="object 53"/>
            <p:cNvSpPr/>
            <p:nvPr/>
          </p:nvSpPr>
          <p:spPr>
            <a:xfrm>
              <a:off x="5315059" y="1221016"/>
              <a:ext cx="36195" cy="312420"/>
            </a:xfrm>
            <a:custGeom>
              <a:avLst/>
              <a:gdLst/>
              <a:ahLst/>
              <a:cxnLst/>
              <a:rect l="l" t="t" r="r" b="b"/>
              <a:pathLst>
                <a:path w="36195" h="312419">
                  <a:moveTo>
                    <a:pt x="35908" y="0"/>
                  </a:moveTo>
                  <a:lnTo>
                    <a:pt x="0" y="0"/>
                  </a:lnTo>
                  <a:lnTo>
                    <a:pt x="0" y="311906"/>
                  </a:lnTo>
                  <a:lnTo>
                    <a:pt x="35908" y="311906"/>
                  </a:lnTo>
                  <a:lnTo>
                    <a:pt x="35908" y="0"/>
                  </a:lnTo>
                  <a:close/>
                </a:path>
              </a:pathLst>
            </a:custGeom>
            <a:solidFill>
              <a:srgbClr val="000000"/>
            </a:solidFill>
          </p:spPr>
          <p:txBody>
            <a:bodyPr wrap="square" lIns="0" tIns="0" rIns="0" bIns="0" rtlCol="0"/>
            <a:lstStyle/>
            <a:p>
              <a:endParaRPr sz="2400"/>
            </a:p>
          </p:txBody>
        </p:sp>
        <p:sp>
          <p:nvSpPr>
            <p:cNvPr id="54" name="object 54"/>
            <p:cNvSpPr/>
            <p:nvPr/>
          </p:nvSpPr>
          <p:spPr>
            <a:xfrm>
              <a:off x="4855430"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55" name="object 55"/>
            <p:cNvSpPr/>
            <p:nvPr/>
          </p:nvSpPr>
          <p:spPr>
            <a:xfrm>
              <a:off x="5263248" y="1953747"/>
              <a:ext cx="36195" cy="208279"/>
            </a:xfrm>
            <a:custGeom>
              <a:avLst/>
              <a:gdLst/>
              <a:ahLst/>
              <a:cxnLst/>
              <a:rect l="l" t="t" r="r" b="b"/>
              <a:pathLst>
                <a:path w="36195" h="208280">
                  <a:moveTo>
                    <a:pt x="35908" y="0"/>
                  </a:moveTo>
                  <a:lnTo>
                    <a:pt x="0" y="0"/>
                  </a:lnTo>
                  <a:lnTo>
                    <a:pt x="0" y="207937"/>
                  </a:lnTo>
                  <a:lnTo>
                    <a:pt x="35908" y="207937"/>
                  </a:lnTo>
                  <a:lnTo>
                    <a:pt x="35908" y="0"/>
                  </a:lnTo>
                  <a:close/>
                </a:path>
              </a:pathLst>
            </a:custGeom>
            <a:solidFill>
              <a:srgbClr val="000000"/>
            </a:solidFill>
          </p:spPr>
          <p:txBody>
            <a:bodyPr wrap="square" lIns="0" tIns="0" rIns="0" bIns="0" rtlCol="0"/>
            <a:lstStyle/>
            <a:p>
              <a:endParaRPr sz="2400"/>
            </a:p>
          </p:txBody>
        </p:sp>
        <p:sp>
          <p:nvSpPr>
            <p:cNvPr id="56" name="object 56"/>
            <p:cNvSpPr/>
            <p:nvPr/>
          </p:nvSpPr>
          <p:spPr>
            <a:xfrm>
              <a:off x="5333116" y="2161684"/>
              <a:ext cx="81280" cy="0"/>
            </a:xfrm>
            <a:custGeom>
              <a:avLst/>
              <a:gdLst/>
              <a:ahLst/>
              <a:cxnLst/>
              <a:rect l="l" t="t" r="r" b="b"/>
              <a:pathLst>
                <a:path w="81279">
                  <a:moveTo>
                    <a:pt x="81255" y="0"/>
                  </a:moveTo>
                  <a:lnTo>
                    <a:pt x="0" y="0"/>
                  </a:lnTo>
                </a:path>
              </a:pathLst>
            </a:custGeom>
            <a:ln w="35939">
              <a:solidFill>
                <a:srgbClr val="000000"/>
              </a:solidFill>
            </a:ln>
          </p:spPr>
          <p:txBody>
            <a:bodyPr wrap="square" lIns="0" tIns="0" rIns="0" bIns="0" rtlCol="0"/>
            <a:lstStyle/>
            <a:p>
              <a:endParaRPr sz="2400"/>
            </a:p>
          </p:txBody>
        </p:sp>
        <p:sp>
          <p:nvSpPr>
            <p:cNvPr id="57" name="object 57"/>
            <p:cNvSpPr/>
            <p:nvPr/>
          </p:nvSpPr>
          <p:spPr>
            <a:xfrm>
              <a:off x="5315153" y="1901774"/>
              <a:ext cx="238760" cy="312420"/>
            </a:xfrm>
            <a:custGeom>
              <a:avLst/>
              <a:gdLst/>
              <a:ahLst/>
              <a:cxnLst/>
              <a:rect l="l" t="t" r="r" b="b"/>
              <a:pathLst>
                <a:path w="238760" h="312419">
                  <a:moveTo>
                    <a:pt x="35915" y="0"/>
                  </a:moveTo>
                  <a:lnTo>
                    <a:pt x="0" y="0"/>
                  </a:lnTo>
                  <a:lnTo>
                    <a:pt x="0" y="311912"/>
                  </a:lnTo>
                  <a:lnTo>
                    <a:pt x="35915" y="311912"/>
                  </a:lnTo>
                  <a:lnTo>
                    <a:pt x="35915" y="0"/>
                  </a:lnTo>
                  <a:close/>
                </a:path>
                <a:path w="238760" h="312419">
                  <a:moveTo>
                    <a:pt x="238544" y="259918"/>
                  </a:moveTo>
                  <a:lnTo>
                    <a:pt x="86487" y="209194"/>
                  </a:lnTo>
                  <a:lnTo>
                    <a:pt x="86487" y="310642"/>
                  </a:lnTo>
                  <a:lnTo>
                    <a:pt x="238544" y="259918"/>
                  </a:lnTo>
                  <a:close/>
                </a:path>
              </a:pathLst>
            </a:custGeom>
            <a:solidFill>
              <a:srgbClr val="000000"/>
            </a:solidFill>
          </p:spPr>
          <p:txBody>
            <a:bodyPr wrap="square" lIns="0" tIns="0" rIns="0" bIns="0" rtlCol="0"/>
            <a:lstStyle/>
            <a:p>
              <a:endParaRPr sz="2400"/>
            </a:p>
          </p:txBody>
        </p:sp>
        <p:sp>
          <p:nvSpPr>
            <p:cNvPr id="58" name="object 58"/>
            <p:cNvSpPr/>
            <p:nvPr/>
          </p:nvSpPr>
          <p:spPr>
            <a:xfrm>
              <a:off x="5125359" y="1953747"/>
              <a:ext cx="415925" cy="327660"/>
            </a:xfrm>
            <a:custGeom>
              <a:avLst/>
              <a:gdLst/>
              <a:ahLst/>
              <a:cxnLst/>
              <a:rect l="l" t="t" r="r" b="b"/>
              <a:pathLst>
                <a:path w="415925" h="327660">
                  <a:moveTo>
                    <a:pt x="155843"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59" name="object 59"/>
            <p:cNvPicPr/>
            <p:nvPr/>
          </p:nvPicPr>
          <p:blipFill>
            <a:blip r:embed="rId7" cstate="print"/>
            <a:stretch>
              <a:fillRect/>
            </a:stretch>
          </p:blipFill>
          <p:spPr>
            <a:xfrm>
              <a:off x="5181986" y="1328565"/>
              <a:ext cx="90297" cy="89918"/>
            </a:xfrm>
            <a:prstGeom prst="rect">
              <a:avLst/>
            </a:prstGeom>
          </p:spPr>
        </p:pic>
        <p:sp>
          <p:nvSpPr>
            <p:cNvPr id="60" name="object 60"/>
            <p:cNvSpPr/>
            <p:nvPr/>
          </p:nvSpPr>
          <p:spPr>
            <a:xfrm>
              <a:off x="5479828" y="2171953"/>
              <a:ext cx="122555" cy="203835"/>
            </a:xfrm>
            <a:custGeom>
              <a:avLst/>
              <a:gdLst/>
              <a:ahLst/>
              <a:cxnLst/>
              <a:rect l="l" t="t" r="r" b="b"/>
              <a:pathLst>
                <a:path w="122554" h="203835">
                  <a:moveTo>
                    <a:pt x="60941" y="72115"/>
                  </a:moveTo>
                  <a:lnTo>
                    <a:pt x="60941" y="0"/>
                  </a:lnTo>
                </a:path>
                <a:path w="122554" h="203835">
                  <a:moveTo>
                    <a:pt x="0" y="123612"/>
                  </a:moveTo>
                  <a:lnTo>
                    <a:pt x="121986" y="123612"/>
                  </a:lnTo>
                </a:path>
                <a:path w="122554" h="203835">
                  <a:moveTo>
                    <a:pt x="20313" y="163636"/>
                  </a:moveTo>
                  <a:lnTo>
                    <a:pt x="101672" y="163636"/>
                  </a:lnTo>
                </a:path>
                <a:path w="122554" h="203835">
                  <a:moveTo>
                    <a:pt x="40627" y="203656"/>
                  </a:moveTo>
                  <a:lnTo>
                    <a:pt x="81255" y="203656"/>
                  </a:lnTo>
                </a:path>
                <a:path w="122554" h="203835">
                  <a:moveTo>
                    <a:pt x="60941" y="16891"/>
                  </a:moveTo>
                  <a:lnTo>
                    <a:pt x="60941" y="123612"/>
                  </a:lnTo>
                </a:path>
              </a:pathLst>
            </a:custGeom>
            <a:ln w="30792">
              <a:solidFill>
                <a:srgbClr val="000000"/>
              </a:solidFill>
            </a:ln>
          </p:spPr>
          <p:txBody>
            <a:bodyPr wrap="square" lIns="0" tIns="0" rIns="0" bIns="0" rtlCol="0"/>
            <a:lstStyle/>
            <a:p>
              <a:endParaRPr sz="2400"/>
            </a:p>
          </p:txBody>
        </p:sp>
        <p:sp>
          <p:nvSpPr>
            <p:cNvPr id="61" name="object 61"/>
            <p:cNvSpPr/>
            <p:nvPr/>
          </p:nvSpPr>
          <p:spPr>
            <a:xfrm>
              <a:off x="4848453" y="1092690"/>
              <a:ext cx="692785" cy="965200"/>
            </a:xfrm>
            <a:custGeom>
              <a:avLst/>
              <a:gdLst/>
              <a:ahLst/>
              <a:cxnLst/>
              <a:rect l="l" t="t" r="r" b="b"/>
              <a:pathLst>
                <a:path w="692785" h="965200">
                  <a:moveTo>
                    <a:pt x="692316" y="180315"/>
                  </a:moveTo>
                  <a:lnTo>
                    <a:pt x="692316" y="0"/>
                  </a:lnTo>
                </a:path>
                <a:path w="692785" h="965200">
                  <a:moveTo>
                    <a:pt x="408434" y="965025"/>
                  </a:moveTo>
                  <a:lnTo>
                    <a:pt x="0" y="965025"/>
                  </a:lnTo>
                </a:path>
              </a:pathLst>
            </a:custGeom>
            <a:ln w="35924">
              <a:solidFill>
                <a:srgbClr val="000000"/>
              </a:solidFill>
            </a:ln>
          </p:spPr>
          <p:txBody>
            <a:bodyPr wrap="square" lIns="0" tIns="0" rIns="0" bIns="0" rtlCol="0"/>
            <a:lstStyle/>
            <a:p>
              <a:endParaRPr sz="2400"/>
            </a:p>
          </p:txBody>
        </p:sp>
        <p:pic>
          <p:nvPicPr>
            <p:cNvPr id="62" name="object 62"/>
            <p:cNvPicPr/>
            <p:nvPr/>
          </p:nvPicPr>
          <p:blipFill>
            <a:blip r:embed="rId10" cstate="print"/>
            <a:stretch>
              <a:fillRect/>
            </a:stretch>
          </p:blipFill>
          <p:spPr>
            <a:xfrm>
              <a:off x="5492542" y="1667478"/>
              <a:ext cx="95429" cy="95070"/>
            </a:xfrm>
            <a:prstGeom prst="rect">
              <a:avLst/>
            </a:prstGeom>
          </p:spPr>
        </p:pic>
        <p:sp>
          <p:nvSpPr>
            <p:cNvPr id="63" name="object 63"/>
            <p:cNvSpPr/>
            <p:nvPr/>
          </p:nvSpPr>
          <p:spPr>
            <a:xfrm>
              <a:off x="4848453" y="1376964"/>
              <a:ext cx="6985" cy="681355"/>
            </a:xfrm>
            <a:custGeom>
              <a:avLst/>
              <a:gdLst/>
              <a:ahLst/>
              <a:cxnLst/>
              <a:rect l="l" t="t" r="r" b="b"/>
              <a:pathLst>
                <a:path w="6985" h="681355">
                  <a:moveTo>
                    <a:pt x="0" y="680751"/>
                  </a:moveTo>
                  <a:lnTo>
                    <a:pt x="6976" y="0"/>
                  </a:lnTo>
                </a:path>
              </a:pathLst>
            </a:custGeom>
            <a:ln w="35908">
              <a:solidFill>
                <a:srgbClr val="000000"/>
              </a:solidFill>
            </a:ln>
          </p:spPr>
          <p:txBody>
            <a:bodyPr wrap="square" lIns="0" tIns="0" rIns="0" bIns="0" rtlCol="0"/>
            <a:lstStyle/>
            <a:p>
              <a:endParaRPr sz="2400"/>
            </a:p>
          </p:txBody>
        </p:sp>
        <p:pic>
          <p:nvPicPr>
            <p:cNvPr id="64" name="object 64"/>
            <p:cNvPicPr/>
            <p:nvPr/>
          </p:nvPicPr>
          <p:blipFill>
            <a:blip r:embed="rId9" cstate="print"/>
            <a:stretch>
              <a:fillRect/>
            </a:stretch>
          </p:blipFill>
          <p:spPr>
            <a:xfrm>
              <a:off x="4804534" y="1664521"/>
              <a:ext cx="95429" cy="95070"/>
            </a:xfrm>
            <a:prstGeom prst="rect">
              <a:avLst/>
            </a:prstGeom>
          </p:spPr>
        </p:pic>
        <p:sp>
          <p:nvSpPr>
            <p:cNvPr id="65" name="object 65"/>
            <p:cNvSpPr/>
            <p:nvPr/>
          </p:nvSpPr>
          <p:spPr>
            <a:xfrm>
              <a:off x="5540770" y="1273005"/>
              <a:ext cx="848994" cy="442595"/>
            </a:xfrm>
            <a:custGeom>
              <a:avLst/>
              <a:gdLst/>
              <a:ahLst/>
              <a:cxnLst/>
              <a:rect l="l" t="t" r="r" b="b"/>
              <a:pathLst>
                <a:path w="848995" h="442594">
                  <a:moveTo>
                    <a:pt x="180466" y="442008"/>
                  </a:moveTo>
                  <a:lnTo>
                    <a:pt x="0" y="442008"/>
                  </a:lnTo>
                </a:path>
                <a:path w="848995" h="442594">
                  <a:moveTo>
                    <a:pt x="748744" y="0"/>
                  </a:moveTo>
                  <a:lnTo>
                    <a:pt x="848467" y="0"/>
                  </a:lnTo>
                </a:path>
              </a:pathLst>
            </a:custGeom>
            <a:ln w="35924">
              <a:solidFill>
                <a:srgbClr val="000000"/>
              </a:solidFill>
            </a:ln>
          </p:spPr>
          <p:txBody>
            <a:bodyPr wrap="square" lIns="0" tIns="0" rIns="0" bIns="0" rtlCol="0"/>
            <a:lstStyle/>
            <a:p>
              <a:endParaRPr sz="2400"/>
            </a:p>
          </p:txBody>
        </p:sp>
        <p:sp>
          <p:nvSpPr>
            <p:cNvPr id="66" name="object 66"/>
            <p:cNvSpPr/>
            <p:nvPr/>
          </p:nvSpPr>
          <p:spPr>
            <a:xfrm>
              <a:off x="6111506" y="1211198"/>
              <a:ext cx="193675" cy="269875"/>
            </a:xfrm>
            <a:custGeom>
              <a:avLst/>
              <a:gdLst/>
              <a:ahLst/>
              <a:cxnLst/>
              <a:rect l="l" t="t" r="r" b="b"/>
              <a:pathLst>
                <a:path w="193675" h="269875">
                  <a:moveTo>
                    <a:pt x="35902" y="61798"/>
                  </a:moveTo>
                  <a:lnTo>
                    <a:pt x="0" y="61798"/>
                  </a:lnTo>
                  <a:lnTo>
                    <a:pt x="0" y="269735"/>
                  </a:lnTo>
                  <a:lnTo>
                    <a:pt x="35902" y="269735"/>
                  </a:lnTo>
                  <a:lnTo>
                    <a:pt x="35902" y="61798"/>
                  </a:lnTo>
                  <a:close/>
                </a:path>
                <a:path w="193675" h="269875">
                  <a:moveTo>
                    <a:pt x="193497" y="0"/>
                  </a:moveTo>
                  <a:lnTo>
                    <a:pt x="69964" y="61810"/>
                  </a:lnTo>
                  <a:lnTo>
                    <a:pt x="193497" y="123634"/>
                  </a:lnTo>
                  <a:lnTo>
                    <a:pt x="193497" y="0"/>
                  </a:lnTo>
                  <a:close/>
                </a:path>
              </a:pathLst>
            </a:custGeom>
            <a:solidFill>
              <a:srgbClr val="000000"/>
            </a:solidFill>
          </p:spPr>
          <p:txBody>
            <a:bodyPr wrap="square" lIns="0" tIns="0" rIns="0" bIns="0" rtlCol="0"/>
            <a:lstStyle/>
            <a:p>
              <a:endParaRPr sz="2400"/>
            </a:p>
          </p:txBody>
        </p:sp>
        <p:sp>
          <p:nvSpPr>
            <p:cNvPr id="67" name="object 67"/>
            <p:cNvSpPr/>
            <p:nvPr/>
          </p:nvSpPr>
          <p:spPr>
            <a:xfrm>
              <a:off x="6181481" y="1480933"/>
              <a:ext cx="201295" cy="0"/>
            </a:xfrm>
            <a:custGeom>
              <a:avLst/>
              <a:gdLst/>
              <a:ahLst/>
              <a:cxnLst/>
              <a:rect l="l" t="t" r="r" b="b"/>
              <a:pathLst>
                <a:path w="201295">
                  <a:moveTo>
                    <a:pt x="200780" y="0"/>
                  </a:moveTo>
                  <a:lnTo>
                    <a:pt x="0" y="0"/>
                  </a:lnTo>
                </a:path>
              </a:pathLst>
            </a:custGeom>
            <a:ln w="35939">
              <a:solidFill>
                <a:srgbClr val="000000"/>
              </a:solidFill>
            </a:ln>
          </p:spPr>
          <p:txBody>
            <a:bodyPr wrap="square" lIns="0" tIns="0" rIns="0" bIns="0" rtlCol="0"/>
            <a:lstStyle/>
            <a:p>
              <a:endParaRPr sz="2400"/>
            </a:p>
          </p:txBody>
        </p:sp>
        <p:sp>
          <p:nvSpPr>
            <p:cNvPr id="68" name="object 68"/>
            <p:cNvSpPr/>
            <p:nvPr/>
          </p:nvSpPr>
          <p:spPr>
            <a:xfrm>
              <a:off x="6163527" y="1221016"/>
              <a:ext cx="36195" cy="312420"/>
            </a:xfrm>
            <a:custGeom>
              <a:avLst/>
              <a:gdLst/>
              <a:ahLst/>
              <a:cxnLst/>
              <a:rect l="l" t="t" r="r" b="b"/>
              <a:pathLst>
                <a:path w="36195" h="312419">
                  <a:moveTo>
                    <a:pt x="35907" y="0"/>
                  </a:moveTo>
                  <a:lnTo>
                    <a:pt x="0" y="0"/>
                  </a:lnTo>
                  <a:lnTo>
                    <a:pt x="0" y="311906"/>
                  </a:lnTo>
                  <a:lnTo>
                    <a:pt x="35907" y="311906"/>
                  </a:lnTo>
                  <a:lnTo>
                    <a:pt x="35907" y="0"/>
                  </a:lnTo>
                  <a:close/>
                </a:path>
              </a:pathLst>
            </a:custGeom>
            <a:solidFill>
              <a:srgbClr val="000000"/>
            </a:solidFill>
          </p:spPr>
          <p:txBody>
            <a:bodyPr wrap="square" lIns="0" tIns="0" rIns="0" bIns="0" rtlCol="0"/>
            <a:lstStyle/>
            <a:p>
              <a:endParaRPr sz="2400"/>
            </a:p>
          </p:txBody>
        </p:sp>
        <p:sp>
          <p:nvSpPr>
            <p:cNvPr id="69" name="object 69"/>
            <p:cNvSpPr/>
            <p:nvPr/>
          </p:nvSpPr>
          <p:spPr>
            <a:xfrm>
              <a:off x="5703897"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70" name="object 70"/>
            <p:cNvSpPr/>
            <p:nvPr/>
          </p:nvSpPr>
          <p:spPr>
            <a:xfrm>
              <a:off x="6111614" y="1953747"/>
              <a:ext cx="36195" cy="208279"/>
            </a:xfrm>
            <a:custGeom>
              <a:avLst/>
              <a:gdLst/>
              <a:ahLst/>
              <a:cxnLst/>
              <a:rect l="l" t="t" r="r" b="b"/>
              <a:pathLst>
                <a:path w="36195" h="208280">
                  <a:moveTo>
                    <a:pt x="35908" y="0"/>
                  </a:moveTo>
                  <a:lnTo>
                    <a:pt x="0" y="0"/>
                  </a:lnTo>
                  <a:lnTo>
                    <a:pt x="0" y="207937"/>
                  </a:lnTo>
                  <a:lnTo>
                    <a:pt x="35908" y="207937"/>
                  </a:lnTo>
                  <a:lnTo>
                    <a:pt x="35908" y="0"/>
                  </a:lnTo>
                  <a:close/>
                </a:path>
              </a:pathLst>
            </a:custGeom>
            <a:solidFill>
              <a:srgbClr val="000000"/>
            </a:solidFill>
          </p:spPr>
          <p:txBody>
            <a:bodyPr wrap="square" lIns="0" tIns="0" rIns="0" bIns="0" rtlCol="0"/>
            <a:lstStyle/>
            <a:p>
              <a:endParaRPr sz="2400"/>
            </a:p>
          </p:txBody>
        </p:sp>
        <p:sp>
          <p:nvSpPr>
            <p:cNvPr id="71" name="object 71"/>
            <p:cNvSpPr/>
            <p:nvPr/>
          </p:nvSpPr>
          <p:spPr>
            <a:xfrm>
              <a:off x="6181584" y="2161684"/>
              <a:ext cx="81280" cy="0"/>
            </a:xfrm>
            <a:custGeom>
              <a:avLst/>
              <a:gdLst/>
              <a:ahLst/>
              <a:cxnLst/>
              <a:rect l="l" t="t" r="r" b="b"/>
              <a:pathLst>
                <a:path w="81279">
                  <a:moveTo>
                    <a:pt x="81153" y="0"/>
                  </a:moveTo>
                  <a:lnTo>
                    <a:pt x="0" y="0"/>
                  </a:lnTo>
                </a:path>
              </a:pathLst>
            </a:custGeom>
            <a:ln w="35939">
              <a:solidFill>
                <a:srgbClr val="000000"/>
              </a:solidFill>
            </a:ln>
          </p:spPr>
          <p:txBody>
            <a:bodyPr wrap="square" lIns="0" tIns="0" rIns="0" bIns="0" rtlCol="0"/>
            <a:lstStyle/>
            <a:p>
              <a:endParaRPr sz="2400"/>
            </a:p>
          </p:txBody>
        </p:sp>
        <p:sp>
          <p:nvSpPr>
            <p:cNvPr id="72" name="object 72"/>
            <p:cNvSpPr/>
            <p:nvPr/>
          </p:nvSpPr>
          <p:spPr>
            <a:xfrm>
              <a:off x="6163627" y="1901774"/>
              <a:ext cx="238760" cy="312420"/>
            </a:xfrm>
            <a:custGeom>
              <a:avLst/>
              <a:gdLst/>
              <a:ahLst/>
              <a:cxnLst/>
              <a:rect l="l" t="t" r="r" b="b"/>
              <a:pathLst>
                <a:path w="238760" h="312419">
                  <a:moveTo>
                    <a:pt x="35902" y="0"/>
                  </a:moveTo>
                  <a:lnTo>
                    <a:pt x="0" y="0"/>
                  </a:lnTo>
                  <a:lnTo>
                    <a:pt x="0" y="311912"/>
                  </a:lnTo>
                  <a:lnTo>
                    <a:pt x="35902" y="311912"/>
                  </a:lnTo>
                  <a:lnTo>
                    <a:pt x="35902" y="0"/>
                  </a:lnTo>
                  <a:close/>
                </a:path>
                <a:path w="238760" h="312419">
                  <a:moveTo>
                    <a:pt x="238531" y="259918"/>
                  </a:moveTo>
                  <a:lnTo>
                    <a:pt x="86487" y="209194"/>
                  </a:lnTo>
                  <a:lnTo>
                    <a:pt x="86487" y="310642"/>
                  </a:lnTo>
                  <a:lnTo>
                    <a:pt x="238531" y="259918"/>
                  </a:lnTo>
                  <a:close/>
                </a:path>
              </a:pathLst>
            </a:custGeom>
            <a:solidFill>
              <a:srgbClr val="000000"/>
            </a:solidFill>
          </p:spPr>
          <p:txBody>
            <a:bodyPr wrap="square" lIns="0" tIns="0" rIns="0" bIns="0" rtlCol="0"/>
            <a:lstStyle/>
            <a:p>
              <a:endParaRPr sz="2400"/>
            </a:p>
          </p:txBody>
        </p:sp>
        <p:sp>
          <p:nvSpPr>
            <p:cNvPr id="73" name="object 73"/>
            <p:cNvSpPr/>
            <p:nvPr/>
          </p:nvSpPr>
          <p:spPr>
            <a:xfrm>
              <a:off x="5973827" y="1953747"/>
              <a:ext cx="415925" cy="327660"/>
            </a:xfrm>
            <a:custGeom>
              <a:avLst/>
              <a:gdLst/>
              <a:ahLst/>
              <a:cxnLst/>
              <a:rect l="l" t="t" r="r" b="b"/>
              <a:pathLst>
                <a:path w="415925" h="327660">
                  <a:moveTo>
                    <a:pt x="155740"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74" name="object 74"/>
            <p:cNvPicPr/>
            <p:nvPr/>
          </p:nvPicPr>
          <p:blipFill>
            <a:blip r:embed="rId3" cstate="print"/>
            <a:stretch>
              <a:fillRect/>
            </a:stretch>
          </p:blipFill>
          <p:spPr>
            <a:xfrm>
              <a:off x="6030454" y="1328565"/>
              <a:ext cx="90195" cy="89918"/>
            </a:xfrm>
            <a:prstGeom prst="rect">
              <a:avLst/>
            </a:prstGeom>
          </p:spPr>
        </p:pic>
        <p:sp>
          <p:nvSpPr>
            <p:cNvPr id="75" name="object 75"/>
            <p:cNvSpPr/>
            <p:nvPr/>
          </p:nvSpPr>
          <p:spPr>
            <a:xfrm>
              <a:off x="6328193" y="2171953"/>
              <a:ext cx="122555" cy="203835"/>
            </a:xfrm>
            <a:custGeom>
              <a:avLst/>
              <a:gdLst/>
              <a:ahLst/>
              <a:cxnLst/>
              <a:rect l="l" t="t" r="r" b="b"/>
              <a:pathLst>
                <a:path w="122554" h="203835">
                  <a:moveTo>
                    <a:pt x="61044" y="72115"/>
                  </a:moveTo>
                  <a:lnTo>
                    <a:pt x="61044" y="0"/>
                  </a:lnTo>
                </a:path>
                <a:path w="122554" h="203835">
                  <a:moveTo>
                    <a:pt x="0" y="123612"/>
                  </a:moveTo>
                  <a:lnTo>
                    <a:pt x="121986" y="123612"/>
                  </a:lnTo>
                </a:path>
                <a:path w="122554" h="203835">
                  <a:moveTo>
                    <a:pt x="20416" y="163636"/>
                  </a:moveTo>
                  <a:lnTo>
                    <a:pt x="101672" y="163636"/>
                  </a:lnTo>
                </a:path>
                <a:path w="122554" h="203835">
                  <a:moveTo>
                    <a:pt x="40730" y="203656"/>
                  </a:moveTo>
                  <a:lnTo>
                    <a:pt x="81358" y="203656"/>
                  </a:lnTo>
                </a:path>
                <a:path w="122554" h="203835">
                  <a:moveTo>
                    <a:pt x="61044" y="16891"/>
                  </a:moveTo>
                  <a:lnTo>
                    <a:pt x="61044" y="123612"/>
                  </a:lnTo>
                </a:path>
              </a:pathLst>
            </a:custGeom>
            <a:ln w="30792">
              <a:solidFill>
                <a:srgbClr val="000000"/>
              </a:solidFill>
            </a:ln>
          </p:spPr>
          <p:txBody>
            <a:bodyPr wrap="square" lIns="0" tIns="0" rIns="0" bIns="0" rtlCol="0"/>
            <a:lstStyle/>
            <a:p>
              <a:endParaRPr sz="2400"/>
            </a:p>
          </p:txBody>
        </p:sp>
        <p:sp>
          <p:nvSpPr>
            <p:cNvPr id="76" name="object 76"/>
            <p:cNvSpPr/>
            <p:nvPr/>
          </p:nvSpPr>
          <p:spPr>
            <a:xfrm>
              <a:off x="5696921" y="1092690"/>
              <a:ext cx="692785" cy="965200"/>
            </a:xfrm>
            <a:custGeom>
              <a:avLst/>
              <a:gdLst/>
              <a:ahLst/>
              <a:cxnLst/>
              <a:rect l="l" t="t" r="r" b="b"/>
              <a:pathLst>
                <a:path w="692785" h="965200">
                  <a:moveTo>
                    <a:pt x="692316" y="180315"/>
                  </a:moveTo>
                  <a:lnTo>
                    <a:pt x="692316" y="0"/>
                  </a:lnTo>
                </a:path>
                <a:path w="692785" h="965200">
                  <a:moveTo>
                    <a:pt x="408331" y="965025"/>
                  </a:moveTo>
                  <a:lnTo>
                    <a:pt x="0" y="965025"/>
                  </a:lnTo>
                </a:path>
                <a:path w="692785" h="965200">
                  <a:moveTo>
                    <a:pt x="212578" y="622323"/>
                  </a:moveTo>
                  <a:lnTo>
                    <a:pt x="237509" y="562437"/>
                  </a:lnTo>
                  <a:lnTo>
                    <a:pt x="287371" y="682209"/>
                  </a:lnTo>
                  <a:lnTo>
                    <a:pt x="337335" y="562437"/>
                  </a:lnTo>
                  <a:lnTo>
                    <a:pt x="387094" y="682209"/>
                  </a:lnTo>
                  <a:lnTo>
                    <a:pt x="436955" y="562437"/>
                  </a:lnTo>
                  <a:lnTo>
                    <a:pt x="486817" y="682209"/>
                  </a:lnTo>
                  <a:lnTo>
                    <a:pt x="511748" y="622323"/>
                  </a:lnTo>
                </a:path>
              </a:pathLst>
            </a:custGeom>
            <a:ln w="35924">
              <a:solidFill>
                <a:srgbClr val="000000"/>
              </a:solidFill>
            </a:ln>
          </p:spPr>
          <p:txBody>
            <a:bodyPr wrap="square" lIns="0" tIns="0" rIns="0" bIns="0" rtlCol="0"/>
            <a:lstStyle/>
            <a:p>
              <a:endParaRPr sz="2400"/>
            </a:p>
          </p:txBody>
        </p:sp>
        <p:pic>
          <p:nvPicPr>
            <p:cNvPr id="77" name="object 77"/>
            <p:cNvPicPr/>
            <p:nvPr/>
          </p:nvPicPr>
          <p:blipFill>
            <a:blip r:embed="rId4" cstate="print"/>
            <a:stretch>
              <a:fillRect/>
            </a:stretch>
          </p:blipFill>
          <p:spPr>
            <a:xfrm>
              <a:off x="6208669" y="1667478"/>
              <a:ext cx="227668" cy="95070"/>
            </a:xfrm>
            <a:prstGeom prst="rect">
              <a:avLst/>
            </a:prstGeom>
          </p:spPr>
        </p:pic>
        <p:sp>
          <p:nvSpPr>
            <p:cNvPr id="78" name="object 78"/>
            <p:cNvSpPr/>
            <p:nvPr/>
          </p:nvSpPr>
          <p:spPr>
            <a:xfrm>
              <a:off x="5565393" y="1376964"/>
              <a:ext cx="344170" cy="681355"/>
            </a:xfrm>
            <a:custGeom>
              <a:avLst/>
              <a:gdLst/>
              <a:ahLst/>
              <a:cxnLst/>
              <a:rect l="l" t="t" r="r" b="b"/>
              <a:pathLst>
                <a:path w="344170" h="681355">
                  <a:moveTo>
                    <a:pt x="344106" y="338049"/>
                  </a:moveTo>
                  <a:lnTo>
                    <a:pt x="262850" y="338049"/>
                  </a:lnTo>
                </a:path>
                <a:path w="344170" h="681355">
                  <a:moveTo>
                    <a:pt x="277008" y="338049"/>
                  </a:moveTo>
                  <a:lnTo>
                    <a:pt x="0" y="338049"/>
                  </a:lnTo>
                </a:path>
                <a:path w="344170" h="681355">
                  <a:moveTo>
                    <a:pt x="131527" y="680751"/>
                  </a:moveTo>
                  <a:lnTo>
                    <a:pt x="138504" y="0"/>
                  </a:lnTo>
                </a:path>
              </a:pathLst>
            </a:custGeom>
            <a:ln w="35924">
              <a:solidFill>
                <a:srgbClr val="000000"/>
              </a:solidFill>
            </a:ln>
          </p:spPr>
          <p:txBody>
            <a:bodyPr wrap="square" lIns="0" tIns="0" rIns="0" bIns="0" rtlCol="0"/>
            <a:lstStyle/>
            <a:p>
              <a:endParaRPr sz="2400"/>
            </a:p>
          </p:txBody>
        </p:sp>
        <p:pic>
          <p:nvPicPr>
            <p:cNvPr id="79" name="object 79"/>
            <p:cNvPicPr/>
            <p:nvPr/>
          </p:nvPicPr>
          <p:blipFill>
            <a:blip r:embed="rId5" cstate="print"/>
            <a:stretch>
              <a:fillRect/>
            </a:stretch>
          </p:blipFill>
          <p:spPr>
            <a:xfrm>
              <a:off x="5653002" y="1664521"/>
              <a:ext cx="95327" cy="95070"/>
            </a:xfrm>
            <a:prstGeom prst="rect">
              <a:avLst/>
            </a:prstGeom>
          </p:spPr>
        </p:pic>
        <p:sp>
          <p:nvSpPr>
            <p:cNvPr id="80" name="object 80"/>
            <p:cNvSpPr/>
            <p:nvPr/>
          </p:nvSpPr>
          <p:spPr>
            <a:xfrm>
              <a:off x="6389238" y="1273005"/>
              <a:ext cx="877569" cy="442595"/>
            </a:xfrm>
            <a:custGeom>
              <a:avLst/>
              <a:gdLst/>
              <a:ahLst/>
              <a:cxnLst/>
              <a:rect l="l" t="t" r="r" b="b"/>
              <a:pathLst>
                <a:path w="877570" h="442594">
                  <a:moveTo>
                    <a:pt x="180466" y="442008"/>
                  </a:moveTo>
                  <a:lnTo>
                    <a:pt x="0" y="442008"/>
                  </a:lnTo>
                </a:path>
                <a:path w="877570" h="442594">
                  <a:moveTo>
                    <a:pt x="777471" y="0"/>
                  </a:moveTo>
                  <a:lnTo>
                    <a:pt x="877194" y="0"/>
                  </a:lnTo>
                </a:path>
              </a:pathLst>
            </a:custGeom>
            <a:ln w="35924">
              <a:solidFill>
                <a:srgbClr val="000000"/>
              </a:solidFill>
            </a:ln>
          </p:spPr>
          <p:txBody>
            <a:bodyPr wrap="square" lIns="0" tIns="0" rIns="0" bIns="0" rtlCol="0"/>
            <a:lstStyle/>
            <a:p>
              <a:endParaRPr sz="2400"/>
            </a:p>
          </p:txBody>
        </p:sp>
        <p:sp>
          <p:nvSpPr>
            <p:cNvPr id="81" name="object 81"/>
            <p:cNvSpPr/>
            <p:nvPr/>
          </p:nvSpPr>
          <p:spPr>
            <a:xfrm>
              <a:off x="6988695" y="1211198"/>
              <a:ext cx="193675" cy="269875"/>
            </a:xfrm>
            <a:custGeom>
              <a:avLst/>
              <a:gdLst/>
              <a:ahLst/>
              <a:cxnLst/>
              <a:rect l="l" t="t" r="r" b="b"/>
              <a:pathLst>
                <a:path w="193675" h="269875">
                  <a:moveTo>
                    <a:pt x="35915" y="61798"/>
                  </a:moveTo>
                  <a:lnTo>
                    <a:pt x="0" y="61798"/>
                  </a:lnTo>
                  <a:lnTo>
                    <a:pt x="0" y="269735"/>
                  </a:lnTo>
                  <a:lnTo>
                    <a:pt x="35915" y="269735"/>
                  </a:lnTo>
                  <a:lnTo>
                    <a:pt x="35915" y="61798"/>
                  </a:lnTo>
                  <a:close/>
                </a:path>
                <a:path w="193675" h="269875">
                  <a:moveTo>
                    <a:pt x="193497" y="0"/>
                  </a:moveTo>
                  <a:lnTo>
                    <a:pt x="69977" y="61810"/>
                  </a:lnTo>
                  <a:lnTo>
                    <a:pt x="193497" y="123634"/>
                  </a:lnTo>
                  <a:lnTo>
                    <a:pt x="193497" y="0"/>
                  </a:lnTo>
                  <a:close/>
                </a:path>
              </a:pathLst>
            </a:custGeom>
            <a:solidFill>
              <a:srgbClr val="000000"/>
            </a:solidFill>
          </p:spPr>
          <p:txBody>
            <a:bodyPr wrap="square" lIns="0" tIns="0" rIns="0" bIns="0" rtlCol="0"/>
            <a:lstStyle/>
            <a:p>
              <a:endParaRPr sz="2400"/>
            </a:p>
          </p:txBody>
        </p:sp>
        <p:sp>
          <p:nvSpPr>
            <p:cNvPr id="82" name="object 82"/>
            <p:cNvSpPr/>
            <p:nvPr/>
          </p:nvSpPr>
          <p:spPr>
            <a:xfrm>
              <a:off x="7058676" y="1480933"/>
              <a:ext cx="201295" cy="0"/>
            </a:xfrm>
            <a:custGeom>
              <a:avLst/>
              <a:gdLst/>
              <a:ahLst/>
              <a:cxnLst/>
              <a:rect l="l" t="t" r="r" b="b"/>
              <a:pathLst>
                <a:path w="201295">
                  <a:moveTo>
                    <a:pt x="200780" y="0"/>
                  </a:moveTo>
                  <a:lnTo>
                    <a:pt x="0" y="0"/>
                  </a:lnTo>
                </a:path>
              </a:pathLst>
            </a:custGeom>
            <a:ln w="35939">
              <a:solidFill>
                <a:srgbClr val="000000"/>
              </a:solidFill>
            </a:ln>
          </p:spPr>
          <p:txBody>
            <a:bodyPr wrap="square" lIns="0" tIns="0" rIns="0" bIns="0" rtlCol="0"/>
            <a:lstStyle/>
            <a:p>
              <a:endParaRPr sz="2400"/>
            </a:p>
          </p:txBody>
        </p:sp>
        <p:sp>
          <p:nvSpPr>
            <p:cNvPr id="83" name="object 83"/>
            <p:cNvSpPr/>
            <p:nvPr/>
          </p:nvSpPr>
          <p:spPr>
            <a:xfrm>
              <a:off x="7040722" y="1221016"/>
              <a:ext cx="36195" cy="312420"/>
            </a:xfrm>
            <a:custGeom>
              <a:avLst/>
              <a:gdLst/>
              <a:ahLst/>
              <a:cxnLst/>
              <a:rect l="l" t="t" r="r" b="b"/>
              <a:pathLst>
                <a:path w="36195" h="312419">
                  <a:moveTo>
                    <a:pt x="35907" y="0"/>
                  </a:moveTo>
                  <a:lnTo>
                    <a:pt x="0" y="0"/>
                  </a:lnTo>
                  <a:lnTo>
                    <a:pt x="0" y="311906"/>
                  </a:lnTo>
                  <a:lnTo>
                    <a:pt x="35907" y="311906"/>
                  </a:lnTo>
                  <a:lnTo>
                    <a:pt x="35907" y="0"/>
                  </a:lnTo>
                  <a:close/>
                </a:path>
              </a:pathLst>
            </a:custGeom>
            <a:solidFill>
              <a:srgbClr val="000000"/>
            </a:solidFill>
          </p:spPr>
          <p:txBody>
            <a:bodyPr wrap="square" lIns="0" tIns="0" rIns="0" bIns="0" rtlCol="0"/>
            <a:lstStyle/>
            <a:p>
              <a:endParaRPr sz="2400"/>
            </a:p>
          </p:txBody>
        </p:sp>
        <p:sp>
          <p:nvSpPr>
            <p:cNvPr id="84" name="object 84"/>
            <p:cNvSpPr/>
            <p:nvPr/>
          </p:nvSpPr>
          <p:spPr>
            <a:xfrm>
              <a:off x="6581092"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85" name="object 85"/>
            <p:cNvSpPr/>
            <p:nvPr/>
          </p:nvSpPr>
          <p:spPr>
            <a:xfrm>
              <a:off x="6988808" y="1953747"/>
              <a:ext cx="36195" cy="208279"/>
            </a:xfrm>
            <a:custGeom>
              <a:avLst/>
              <a:gdLst/>
              <a:ahLst/>
              <a:cxnLst/>
              <a:rect l="l" t="t" r="r" b="b"/>
              <a:pathLst>
                <a:path w="36195" h="208280">
                  <a:moveTo>
                    <a:pt x="35907" y="0"/>
                  </a:moveTo>
                  <a:lnTo>
                    <a:pt x="0" y="0"/>
                  </a:lnTo>
                  <a:lnTo>
                    <a:pt x="0" y="207937"/>
                  </a:lnTo>
                  <a:lnTo>
                    <a:pt x="35907" y="207937"/>
                  </a:lnTo>
                  <a:lnTo>
                    <a:pt x="35907" y="0"/>
                  </a:lnTo>
                  <a:close/>
                </a:path>
              </a:pathLst>
            </a:custGeom>
            <a:solidFill>
              <a:srgbClr val="000000"/>
            </a:solidFill>
          </p:spPr>
          <p:txBody>
            <a:bodyPr wrap="square" lIns="0" tIns="0" rIns="0" bIns="0" rtlCol="0"/>
            <a:lstStyle/>
            <a:p>
              <a:endParaRPr sz="2400"/>
            </a:p>
          </p:txBody>
        </p:sp>
        <p:sp>
          <p:nvSpPr>
            <p:cNvPr id="86" name="object 86"/>
            <p:cNvSpPr/>
            <p:nvPr/>
          </p:nvSpPr>
          <p:spPr>
            <a:xfrm>
              <a:off x="7058779" y="2161684"/>
              <a:ext cx="81280" cy="0"/>
            </a:xfrm>
            <a:custGeom>
              <a:avLst/>
              <a:gdLst/>
              <a:ahLst/>
              <a:cxnLst/>
              <a:rect l="l" t="t" r="r" b="b"/>
              <a:pathLst>
                <a:path w="81279">
                  <a:moveTo>
                    <a:pt x="81153" y="0"/>
                  </a:moveTo>
                  <a:lnTo>
                    <a:pt x="0" y="0"/>
                  </a:lnTo>
                </a:path>
              </a:pathLst>
            </a:custGeom>
            <a:ln w="35939">
              <a:solidFill>
                <a:srgbClr val="000000"/>
              </a:solidFill>
            </a:ln>
          </p:spPr>
          <p:txBody>
            <a:bodyPr wrap="square" lIns="0" tIns="0" rIns="0" bIns="0" rtlCol="0"/>
            <a:lstStyle/>
            <a:p>
              <a:endParaRPr sz="2400"/>
            </a:p>
          </p:txBody>
        </p:sp>
        <p:sp>
          <p:nvSpPr>
            <p:cNvPr id="87" name="object 87"/>
            <p:cNvSpPr/>
            <p:nvPr/>
          </p:nvSpPr>
          <p:spPr>
            <a:xfrm>
              <a:off x="7040816" y="1901774"/>
              <a:ext cx="238760" cy="312420"/>
            </a:xfrm>
            <a:custGeom>
              <a:avLst/>
              <a:gdLst/>
              <a:ahLst/>
              <a:cxnLst/>
              <a:rect l="l" t="t" r="r" b="b"/>
              <a:pathLst>
                <a:path w="238759" h="312419">
                  <a:moveTo>
                    <a:pt x="35915" y="0"/>
                  </a:moveTo>
                  <a:lnTo>
                    <a:pt x="0" y="0"/>
                  </a:lnTo>
                  <a:lnTo>
                    <a:pt x="0" y="311912"/>
                  </a:lnTo>
                  <a:lnTo>
                    <a:pt x="35915" y="311912"/>
                  </a:lnTo>
                  <a:lnTo>
                    <a:pt x="35915" y="0"/>
                  </a:lnTo>
                  <a:close/>
                </a:path>
                <a:path w="238759" h="312419">
                  <a:moveTo>
                    <a:pt x="238531" y="259918"/>
                  </a:moveTo>
                  <a:lnTo>
                    <a:pt x="86487" y="209194"/>
                  </a:lnTo>
                  <a:lnTo>
                    <a:pt x="86487" y="310642"/>
                  </a:lnTo>
                  <a:lnTo>
                    <a:pt x="238531" y="259918"/>
                  </a:lnTo>
                  <a:close/>
                </a:path>
              </a:pathLst>
            </a:custGeom>
            <a:solidFill>
              <a:srgbClr val="000000"/>
            </a:solidFill>
          </p:spPr>
          <p:txBody>
            <a:bodyPr wrap="square" lIns="0" tIns="0" rIns="0" bIns="0" rtlCol="0"/>
            <a:lstStyle/>
            <a:p>
              <a:endParaRPr sz="2400"/>
            </a:p>
          </p:txBody>
        </p:sp>
        <p:sp>
          <p:nvSpPr>
            <p:cNvPr id="88" name="object 88"/>
            <p:cNvSpPr/>
            <p:nvPr/>
          </p:nvSpPr>
          <p:spPr>
            <a:xfrm>
              <a:off x="6851022" y="1953747"/>
              <a:ext cx="415925" cy="327660"/>
            </a:xfrm>
            <a:custGeom>
              <a:avLst/>
              <a:gdLst/>
              <a:ahLst/>
              <a:cxnLst/>
              <a:rect l="l" t="t" r="r" b="b"/>
              <a:pathLst>
                <a:path w="415925" h="327660">
                  <a:moveTo>
                    <a:pt x="155740"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89" name="object 89"/>
            <p:cNvPicPr/>
            <p:nvPr/>
          </p:nvPicPr>
          <p:blipFill>
            <a:blip r:embed="rId3" cstate="print"/>
            <a:stretch>
              <a:fillRect/>
            </a:stretch>
          </p:blipFill>
          <p:spPr>
            <a:xfrm>
              <a:off x="6907648" y="1328565"/>
              <a:ext cx="90195" cy="89918"/>
            </a:xfrm>
            <a:prstGeom prst="rect">
              <a:avLst/>
            </a:prstGeom>
          </p:spPr>
        </p:pic>
        <p:sp>
          <p:nvSpPr>
            <p:cNvPr id="90" name="object 90"/>
            <p:cNvSpPr/>
            <p:nvPr/>
          </p:nvSpPr>
          <p:spPr>
            <a:xfrm>
              <a:off x="7205388" y="2171953"/>
              <a:ext cx="122555" cy="203835"/>
            </a:xfrm>
            <a:custGeom>
              <a:avLst/>
              <a:gdLst/>
              <a:ahLst/>
              <a:cxnLst/>
              <a:rect l="l" t="t" r="r" b="b"/>
              <a:pathLst>
                <a:path w="122554" h="203835">
                  <a:moveTo>
                    <a:pt x="61044" y="72115"/>
                  </a:moveTo>
                  <a:lnTo>
                    <a:pt x="61044" y="0"/>
                  </a:lnTo>
                </a:path>
                <a:path w="122554" h="203835">
                  <a:moveTo>
                    <a:pt x="0" y="123612"/>
                  </a:moveTo>
                  <a:lnTo>
                    <a:pt x="121986" y="123612"/>
                  </a:lnTo>
                </a:path>
                <a:path w="122554" h="203835">
                  <a:moveTo>
                    <a:pt x="20416" y="163636"/>
                  </a:moveTo>
                  <a:lnTo>
                    <a:pt x="101672" y="163636"/>
                  </a:lnTo>
                </a:path>
                <a:path w="122554" h="203835">
                  <a:moveTo>
                    <a:pt x="40730" y="203656"/>
                  </a:moveTo>
                  <a:lnTo>
                    <a:pt x="81358" y="203656"/>
                  </a:lnTo>
                </a:path>
                <a:path w="122554" h="203835">
                  <a:moveTo>
                    <a:pt x="61044" y="16891"/>
                  </a:moveTo>
                  <a:lnTo>
                    <a:pt x="61044" y="123612"/>
                  </a:lnTo>
                </a:path>
              </a:pathLst>
            </a:custGeom>
            <a:ln w="30792">
              <a:solidFill>
                <a:srgbClr val="000000"/>
              </a:solidFill>
            </a:ln>
          </p:spPr>
          <p:txBody>
            <a:bodyPr wrap="square" lIns="0" tIns="0" rIns="0" bIns="0" rtlCol="0"/>
            <a:lstStyle/>
            <a:p>
              <a:endParaRPr sz="2400"/>
            </a:p>
          </p:txBody>
        </p:sp>
        <p:sp>
          <p:nvSpPr>
            <p:cNvPr id="91" name="object 91"/>
            <p:cNvSpPr/>
            <p:nvPr/>
          </p:nvSpPr>
          <p:spPr>
            <a:xfrm>
              <a:off x="6574116" y="1092690"/>
              <a:ext cx="692785" cy="965200"/>
            </a:xfrm>
            <a:custGeom>
              <a:avLst/>
              <a:gdLst/>
              <a:ahLst/>
              <a:cxnLst/>
              <a:rect l="l" t="t" r="r" b="b"/>
              <a:pathLst>
                <a:path w="692784" h="965200">
                  <a:moveTo>
                    <a:pt x="692316" y="180315"/>
                  </a:moveTo>
                  <a:lnTo>
                    <a:pt x="692316" y="0"/>
                  </a:lnTo>
                </a:path>
                <a:path w="692784" h="965200">
                  <a:moveTo>
                    <a:pt x="408331" y="965025"/>
                  </a:moveTo>
                  <a:lnTo>
                    <a:pt x="0" y="965025"/>
                  </a:lnTo>
                </a:path>
              </a:pathLst>
            </a:custGeom>
            <a:ln w="35924">
              <a:solidFill>
                <a:srgbClr val="000000"/>
              </a:solidFill>
            </a:ln>
          </p:spPr>
          <p:txBody>
            <a:bodyPr wrap="square" lIns="0" tIns="0" rIns="0" bIns="0" rtlCol="0"/>
            <a:lstStyle/>
            <a:p>
              <a:endParaRPr sz="2400"/>
            </a:p>
          </p:txBody>
        </p:sp>
        <p:pic>
          <p:nvPicPr>
            <p:cNvPr id="92" name="object 92"/>
            <p:cNvPicPr/>
            <p:nvPr/>
          </p:nvPicPr>
          <p:blipFill>
            <a:blip r:embed="rId6" cstate="print"/>
            <a:stretch>
              <a:fillRect/>
            </a:stretch>
          </p:blipFill>
          <p:spPr>
            <a:xfrm>
              <a:off x="7218205" y="1667478"/>
              <a:ext cx="95327" cy="95070"/>
            </a:xfrm>
            <a:prstGeom prst="rect">
              <a:avLst/>
            </a:prstGeom>
          </p:spPr>
        </p:pic>
        <p:sp>
          <p:nvSpPr>
            <p:cNvPr id="93" name="object 93"/>
            <p:cNvSpPr/>
            <p:nvPr/>
          </p:nvSpPr>
          <p:spPr>
            <a:xfrm>
              <a:off x="6574116" y="1376964"/>
              <a:ext cx="6985" cy="681355"/>
            </a:xfrm>
            <a:custGeom>
              <a:avLst/>
              <a:gdLst/>
              <a:ahLst/>
              <a:cxnLst/>
              <a:rect l="l" t="t" r="r" b="b"/>
              <a:pathLst>
                <a:path w="6984" h="681355">
                  <a:moveTo>
                    <a:pt x="0" y="680751"/>
                  </a:moveTo>
                  <a:lnTo>
                    <a:pt x="6976" y="0"/>
                  </a:lnTo>
                </a:path>
              </a:pathLst>
            </a:custGeom>
            <a:ln w="35908">
              <a:solidFill>
                <a:srgbClr val="000000"/>
              </a:solidFill>
            </a:ln>
          </p:spPr>
          <p:txBody>
            <a:bodyPr wrap="square" lIns="0" tIns="0" rIns="0" bIns="0" rtlCol="0"/>
            <a:lstStyle/>
            <a:p>
              <a:endParaRPr sz="2400"/>
            </a:p>
          </p:txBody>
        </p:sp>
        <p:pic>
          <p:nvPicPr>
            <p:cNvPr id="94" name="object 94"/>
            <p:cNvPicPr/>
            <p:nvPr/>
          </p:nvPicPr>
          <p:blipFill>
            <a:blip r:embed="rId5" cstate="print"/>
            <a:stretch>
              <a:fillRect/>
            </a:stretch>
          </p:blipFill>
          <p:spPr>
            <a:xfrm>
              <a:off x="6530197" y="1664521"/>
              <a:ext cx="95327" cy="95070"/>
            </a:xfrm>
            <a:prstGeom prst="rect">
              <a:avLst/>
            </a:prstGeom>
          </p:spPr>
        </p:pic>
        <p:sp>
          <p:nvSpPr>
            <p:cNvPr id="95" name="object 95"/>
            <p:cNvSpPr/>
            <p:nvPr/>
          </p:nvSpPr>
          <p:spPr>
            <a:xfrm>
              <a:off x="2926627" y="933631"/>
              <a:ext cx="5224145" cy="781685"/>
            </a:xfrm>
            <a:custGeom>
              <a:avLst/>
              <a:gdLst/>
              <a:ahLst/>
              <a:cxnLst/>
              <a:rect l="l" t="t" r="r" b="b"/>
              <a:pathLst>
                <a:path w="5224145" h="781685">
                  <a:moveTo>
                    <a:pt x="4520271" y="781382"/>
                  </a:moveTo>
                  <a:lnTo>
                    <a:pt x="4339805" y="781382"/>
                  </a:lnTo>
                </a:path>
                <a:path w="5224145" h="781685">
                  <a:moveTo>
                    <a:pt x="5223873" y="159059"/>
                  </a:moveTo>
                  <a:lnTo>
                    <a:pt x="0" y="159059"/>
                  </a:lnTo>
                </a:path>
                <a:path w="5224145" h="781685">
                  <a:moveTo>
                    <a:pt x="2612706" y="133285"/>
                  </a:moveTo>
                  <a:lnTo>
                    <a:pt x="2612706" y="0"/>
                  </a:lnTo>
                </a:path>
              </a:pathLst>
            </a:custGeom>
            <a:ln w="35924">
              <a:solidFill>
                <a:srgbClr val="000000"/>
              </a:solidFill>
            </a:ln>
          </p:spPr>
          <p:txBody>
            <a:bodyPr wrap="square" lIns="0" tIns="0" rIns="0" bIns="0" rtlCol="0"/>
            <a:lstStyle/>
            <a:p>
              <a:endParaRPr sz="2400"/>
            </a:p>
          </p:txBody>
        </p:sp>
        <p:sp>
          <p:nvSpPr>
            <p:cNvPr id="96" name="object 96"/>
            <p:cNvSpPr/>
            <p:nvPr/>
          </p:nvSpPr>
          <p:spPr>
            <a:xfrm>
              <a:off x="5432429" y="902825"/>
              <a:ext cx="215265" cy="62230"/>
            </a:xfrm>
            <a:custGeom>
              <a:avLst/>
              <a:gdLst/>
              <a:ahLst/>
              <a:cxnLst/>
              <a:rect l="l" t="t" r="r" b="b"/>
              <a:pathLst>
                <a:path w="215264" h="62230">
                  <a:moveTo>
                    <a:pt x="215092" y="0"/>
                  </a:moveTo>
                  <a:lnTo>
                    <a:pt x="0" y="0"/>
                  </a:lnTo>
                  <a:lnTo>
                    <a:pt x="0" y="61611"/>
                  </a:lnTo>
                  <a:lnTo>
                    <a:pt x="215092" y="61611"/>
                  </a:lnTo>
                  <a:lnTo>
                    <a:pt x="215092" y="0"/>
                  </a:lnTo>
                  <a:close/>
                </a:path>
              </a:pathLst>
            </a:custGeom>
            <a:solidFill>
              <a:srgbClr val="000000"/>
            </a:solidFill>
          </p:spPr>
          <p:txBody>
            <a:bodyPr wrap="square" lIns="0" tIns="0" rIns="0" bIns="0" rtlCol="0"/>
            <a:lstStyle/>
            <a:p>
              <a:endParaRPr sz="2400"/>
            </a:p>
          </p:txBody>
        </p:sp>
        <p:sp>
          <p:nvSpPr>
            <p:cNvPr id="97" name="object 97"/>
            <p:cNvSpPr/>
            <p:nvPr/>
          </p:nvSpPr>
          <p:spPr>
            <a:xfrm>
              <a:off x="8050881" y="1273006"/>
              <a:ext cx="99695" cy="0"/>
            </a:xfrm>
            <a:custGeom>
              <a:avLst/>
              <a:gdLst/>
              <a:ahLst/>
              <a:cxnLst/>
              <a:rect l="l" t="t" r="r" b="b"/>
              <a:pathLst>
                <a:path w="99695">
                  <a:moveTo>
                    <a:pt x="0" y="0"/>
                  </a:moveTo>
                  <a:lnTo>
                    <a:pt x="99620" y="0"/>
                  </a:lnTo>
                </a:path>
              </a:pathLst>
            </a:custGeom>
            <a:ln w="35939">
              <a:solidFill>
                <a:srgbClr val="000000"/>
              </a:solidFill>
            </a:ln>
          </p:spPr>
          <p:txBody>
            <a:bodyPr wrap="square" lIns="0" tIns="0" rIns="0" bIns="0" rtlCol="0"/>
            <a:lstStyle/>
            <a:p>
              <a:endParaRPr sz="2400"/>
            </a:p>
          </p:txBody>
        </p:sp>
        <p:sp>
          <p:nvSpPr>
            <p:cNvPr id="98" name="object 98"/>
            <p:cNvSpPr/>
            <p:nvPr/>
          </p:nvSpPr>
          <p:spPr>
            <a:xfrm>
              <a:off x="7872870" y="1211198"/>
              <a:ext cx="193675" cy="269875"/>
            </a:xfrm>
            <a:custGeom>
              <a:avLst/>
              <a:gdLst/>
              <a:ahLst/>
              <a:cxnLst/>
              <a:rect l="l" t="t" r="r" b="b"/>
              <a:pathLst>
                <a:path w="193675" h="269875">
                  <a:moveTo>
                    <a:pt x="35902" y="61798"/>
                  </a:moveTo>
                  <a:lnTo>
                    <a:pt x="0" y="61798"/>
                  </a:lnTo>
                  <a:lnTo>
                    <a:pt x="0" y="269735"/>
                  </a:lnTo>
                  <a:lnTo>
                    <a:pt x="35902" y="269735"/>
                  </a:lnTo>
                  <a:lnTo>
                    <a:pt x="35902" y="61798"/>
                  </a:lnTo>
                  <a:close/>
                </a:path>
                <a:path w="193675" h="269875">
                  <a:moveTo>
                    <a:pt x="193395" y="0"/>
                  </a:moveTo>
                  <a:lnTo>
                    <a:pt x="69875" y="61810"/>
                  </a:lnTo>
                  <a:lnTo>
                    <a:pt x="193395" y="123634"/>
                  </a:lnTo>
                  <a:lnTo>
                    <a:pt x="193395" y="0"/>
                  </a:lnTo>
                  <a:close/>
                </a:path>
              </a:pathLst>
            </a:custGeom>
            <a:solidFill>
              <a:srgbClr val="000000"/>
            </a:solidFill>
          </p:spPr>
          <p:txBody>
            <a:bodyPr wrap="square" lIns="0" tIns="0" rIns="0" bIns="0" rtlCol="0"/>
            <a:lstStyle/>
            <a:p>
              <a:endParaRPr sz="2400"/>
            </a:p>
          </p:txBody>
        </p:sp>
        <p:sp>
          <p:nvSpPr>
            <p:cNvPr id="99" name="object 99"/>
            <p:cNvSpPr/>
            <p:nvPr/>
          </p:nvSpPr>
          <p:spPr>
            <a:xfrm>
              <a:off x="7942745" y="1480933"/>
              <a:ext cx="201295" cy="0"/>
            </a:xfrm>
            <a:custGeom>
              <a:avLst/>
              <a:gdLst/>
              <a:ahLst/>
              <a:cxnLst/>
              <a:rect l="l" t="t" r="r" b="b"/>
              <a:pathLst>
                <a:path w="201295">
                  <a:moveTo>
                    <a:pt x="200882" y="0"/>
                  </a:moveTo>
                  <a:lnTo>
                    <a:pt x="0" y="0"/>
                  </a:lnTo>
                </a:path>
              </a:pathLst>
            </a:custGeom>
            <a:ln w="35939">
              <a:solidFill>
                <a:srgbClr val="000000"/>
              </a:solidFill>
            </a:ln>
          </p:spPr>
          <p:txBody>
            <a:bodyPr wrap="square" lIns="0" tIns="0" rIns="0" bIns="0" rtlCol="0"/>
            <a:lstStyle/>
            <a:p>
              <a:endParaRPr sz="2400"/>
            </a:p>
          </p:txBody>
        </p:sp>
        <p:sp>
          <p:nvSpPr>
            <p:cNvPr id="100" name="object 100"/>
            <p:cNvSpPr/>
            <p:nvPr/>
          </p:nvSpPr>
          <p:spPr>
            <a:xfrm>
              <a:off x="7924790" y="1221016"/>
              <a:ext cx="36195" cy="312420"/>
            </a:xfrm>
            <a:custGeom>
              <a:avLst/>
              <a:gdLst/>
              <a:ahLst/>
              <a:cxnLst/>
              <a:rect l="l" t="t" r="r" b="b"/>
              <a:pathLst>
                <a:path w="36195" h="312419">
                  <a:moveTo>
                    <a:pt x="35907" y="0"/>
                  </a:moveTo>
                  <a:lnTo>
                    <a:pt x="0" y="0"/>
                  </a:lnTo>
                  <a:lnTo>
                    <a:pt x="0" y="311906"/>
                  </a:lnTo>
                  <a:lnTo>
                    <a:pt x="35907" y="311906"/>
                  </a:lnTo>
                  <a:lnTo>
                    <a:pt x="35907" y="0"/>
                  </a:lnTo>
                  <a:close/>
                </a:path>
              </a:pathLst>
            </a:custGeom>
            <a:solidFill>
              <a:srgbClr val="000000"/>
            </a:solidFill>
          </p:spPr>
          <p:txBody>
            <a:bodyPr wrap="square" lIns="0" tIns="0" rIns="0" bIns="0" rtlCol="0"/>
            <a:lstStyle/>
            <a:p>
              <a:endParaRPr sz="2400"/>
            </a:p>
          </p:txBody>
        </p:sp>
        <p:sp>
          <p:nvSpPr>
            <p:cNvPr id="101" name="object 101"/>
            <p:cNvSpPr/>
            <p:nvPr/>
          </p:nvSpPr>
          <p:spPr>
            <a:xfrm>
              <a:off x="7465161" y="1376964"/>
              <a:ext cx="685800" cy="577215"/>
            </a:xfrm>
            <a:custGeom>
              <a:avLst/>
              <a:gdLst/>
              <a:ahLst/>
              <a:cxnLst/>
              <a:rect l="l" t="t" r="r" b="b"/>
              <a:pathLst>
                <a:path w="685800" h="577214">
                  <a:moveTo>
                    <a:pt x="342157" y="0"/>
                  </a:moveTo>
                  <a:lnTo>
                    <a:pt x="0" y="0"/>
                  </a:lnTo>
                </a:path>
                <a:path w="685800" h="577214">
                  <a:moveTo>
                    <a:pt x="685340" y="104379"/>
                  </a:moveTo>
                  <a:lnTo>
                    <a:pt x="685340" y="474251"/>
                  </a:lnTo>
                </a:path>
                <a:path w="685800" h="577214">
                  <a:moveTo>
                    <a:pt x="685442" y="576782"/>
                  </a:moveTo>
                  <a:lnTo>
                    <a:pt x="685442" y="472813"/>
                  </a:lnTo>
                </a:path>
                <a:path w="685800" h="577214">
                  <a:moveTo>
                    <a:pt x="477686" y="576782"/>
                  </a:moveTo>
                  <a:lnTo>
                    <a:pt x="685442" y="576782"/>
                  </a:lnTo>
                </a:path>
              </a:pathLst>
            </a:custGeom>
            <a:ln w="35924">
              <a:solidFill>
                <a:srgbClr val="000000"/>
              </a:solidFill>
            </a:ln>
          </p:spPr>
          <p:txBody>
            <a:bodyPr wrap="square" lIns="0" tIns="0" rIns="0" bIns="0" rtlCol="0"/>
            <a:lstStyle/>
            <a:p>
              <a:endParaRPr sz="2400"/>
            </a:p>
          </p:txBody>
        </p:sp>
        <p:sp>
          <p:nvSpPr>
            <p:cNvPr id="102" name="object 102"/>
            <p:cNvSpPr/>
            <p:nvPr/>
          </p:nvSpPr>
          <p:spPr>
            <a:xfrm>
              <a:off x="7872979" y="1953747"/>
              <a:ext cx="36195" cy="208279"/>
            </a:xfrm>
            <a:custGeom>
              <a:avLst/>
              <a:gdLst/>
              <a:ahLst/>
              <a:cxnLst/>
              <a:rect l="l" t="t" r="r" b="b"/>
              <a:pathLst>
                <a:path w="36195" h="208280">
                  <a:moveTo>
                    <a:pt x="35907" y="0"/>
                  </a:moveTo>
                  <a:lnTo>
                    <a:pt x="0" y="0"/>
                  </a:lnTo>
                  <a:lnTo>
                    <a:pt x="0" y="207937"/>
                  </a:lnTo>
                  <a:lnTo>
                    <a:pt x="35907" y="207937"/>
                  </a:lnTo>
                  <a:lnTo>
                    <a:pt x="35907" y="0"/>
                  </a:lnTo>
                  <a:close/>
                </a:path>
              </a:pathLst>
            </a:custGeom>
            <a:solidFill>
              <a:srgbClr val="000000"/>
            </a:solidFill>
          </p:spPr>
          <p:txBody>
            <a:bodyPr wrap="square" lIns="0" tIns="0" rIns="0" bIns="0" rtlCol="0"/>
            <a:lstStyle/>
            <a:p>
              <a:endParaRPr sz="2400"/>
            </a:p>
          </p:txBody>
        </p:sp>
        <p:sp>
          <p:nvSpPr>
            <p:cNvPr id="103" name="object 103"/>
            <p:cNvSpPr/>
            <p:nvPr/>
          </p:nvSpPr>
          <p:spPr>
            <a:xfrm>
              <a:off x="7942847" y="2161684"/>
              <a:ext cx="81280" cy="0"/>
            </a:xfrm>
            <a:custGeom>
              <a:avLst/>
              <a:gdLst/>
              <a:ahLst/>
              <a:cxnLst/>
              <a:rect l="l" t="t" r="r" b="b"/>
              <a:pathLst>
                <a:path w="81279">
                  <a:moveTo>
                    <a:pt x="81255" y="0"/>
                  </a:moveTo>
                  <a:lnTo>
                    <a:pt x="0" y="0"/>
                  </a:lnTo>
                </a:path>
              </a:pathLst>
            </a:custGeom>
            <a:ln w="35939">
              <a:solidFill>
                <a:srgbClr val="000000"/>
              </a:solidFill>
            </a:ln>
          </p:spPr>
          <p:txBody>
            <a:bodyPr wrap="square" lIns="0" tIns="0" rIns="0" bIns="0" rtlCol="0"/>
            <a:lstStyle/>
            <a:p>
              <a:endParaRPr sz="2400"/>
            </a:p>
          </p:txBody>
        </p:sp>
        <p:sp>
          <p:nvSpPr>
            <p:cNvPr id="104" name="object 104"/>
            <p:cNvSpPr/>
            <p:nvPr/>
          </p:nvSpPr>
          <p:spPr>
            <a:xfrm>
              <a:off x="7924889" y="1901774"/>
              <a:ext cx="238760" cy="312420"/>
            </a:xfrm>
            <a:custGeom>
              <a:avLst/>
              <a:gdLst/>
              <a:ahLst/>
              <a:cxnLst/>
              <a:rect l="l" t="t" r="r" b="b"/>
              <a:pathLst>
                <a:path w="238759" h="312419">
                  <a:moveTo>
                    <a:pt x="35902" y="0"/>
                  </a:moveTo>
                  <a:lnTo>
                    <a:pt x="0" y="0"/>
                  </a:lnTo>
                  <a:lnTo>
                    <a:pt x="0" y="311912"/>
                  </a:lnTo>
                  <a:lnTo>
                    <a:pt x="35902" y="311912"/>
                  </a:lnTo>
                  <a:lnTo>
                    <a:pt x="35902" y="0"/>
                  </a:lnTo>
                  <a:close/>
                </a:path>
                <a:path w="238759" h="312419">
                  <a:moveTo>
                    <a:pt x="238531" y="259918"/>
                  </a:moveTo>
                  <a:lnTo>
                    <a:pt x="86487" y="209194"/>
                  </a:lnTo>
                  <a:lnTo>
                    <a:pt x="86487" y="310642"/>
                  </a:lnTo>
                  <a:lnTo>
                    <a:pt x="238531" y="259918"/>
                  </a:lnTo>
                  <a:close/>
                </a:path>
              </a:pathLst>
            </a:custGeom>
            <a:solidFill>
              <a:srgbClr val="000000"/>
            </a:solidFill>
          </p:spPr>
          <p:txBody>
            <a:bodyPr wrap="square" lIns="0" tIns="0" rIns="0" bIns="0" rtlCol="0"/>
            <a:lstStyle/>
            <a:p>
              <a:endParaRPr sz="2400"/>
            </a:p>
          </p:txBody>
        </p:sp>
        <p:sp>
          <p:nvSpPr>
            <p:cNvPr id="105" name="object 105"/>
            <p:cNvSpPr/>
            <p:nvPr/>
          </p:nvSpPr>
          <p:spPr>
            <a:xfrm>
              <a:off x="7735091" y="1953747"/>
              <a:ext cx="415925" cy="327660"/>
            </a:xfrm>
            <a:custGeom>
              <a:avLst/>
              <a:gdLst/>
              <a:ahLst/>
              <a:cxnLst/>
              <a:rect l="l" t="t" r="r" b="b"/>
              <a:pathLst>
                <a:path w="415925" h="327660">
                  <a:moveTo>
                    <a:pt x="155843" y="103968"/>
                  </a:moveTo>
                  <a:lnTo>
                    <a:pt x="0" y="103968"/>
                  </a:lnTo>
                </a:path>
                <a:path w="415925" h="327660">
                  <a:moveTo>
                    <a:pt x="415513" y="223186"/>
                  </a:moveTo>
                  <a:lnTo>
                    <a:pt x="415513" y="327154"/>
                  </a:lnTo>
                </a:path>
                <a:path w="415925" h="327660">
                  <a:moveTo>
                    <a:pt x="415513" y="0"/>
                  </a:moveTo>
                  <a:lnTo>
                    <a:pt x="221504" y="0"/>
                  </a:lnTo>
                </a:path>
              </a:pathLst>
            </a:custGeom>
            <a:ln w="35924">
              <a:solidFill>
                <a:srgbClr val="000000"/>
              </a:solidFill>
            </a:ln>
          </p:spPr>
          <p:txBody>
            <a:bodyPr wrap="square" lIns="0" tIns="0" rIns="0" bIns="0" rtlCol="0"/>
            <a:lstStyle/>
            <a:p>
              <a:endParaRPr sz="2400"/>
            </a:p>
          </p:txBody>
        </p:sp>
        <p:pic>
          <p:nvPicPr>
            <p:cNvPr id="106" name="object 106"/>
            <p:cNvPicPr/>
            <p:nvPr/>
          </p:nvPicPr>
          <p:blipFill>
            <a:blip r:embed="rId7" cstate="print"/>
            <a:stretch>
              <a:fillRect/>
            </a:stretch>
          </p:blipFill>
          <p:spPr>
            <a:xfrm>
              <a:off x="7791717" y="1328565"/>
              <a:ext cx="90297" cy="89918"/>
            </a:xfrm>
            <a:prstGeom prst="rect">
              <a:avLst/>
            </a:prstGeom>
          </p:spPr>
        </p:pic>
        <p:sp>
          <p:nvSpPr>
            <p:cNvPr id="107" name="object 107"/>
            <p:cNvSpPr/>
            <p:nvPr/>
          </p:nvSpPr>
          <p:spPr>
            <a:xfrm>
              <a:off x="8089559" y="2171953"/>
              <a:ext cx="122555" cy="203835"/>
            </a:xfrm>
            <a:custGeom>
              <a:avLst/>
              <a:gdLst/>
              <a:ahLst/>
              <a:cxnLst/>
              <a:rect l="l" t="t" r="r" b="b"/>
              <a:pathLst>
                <a:path w="122554" h="203835">
                  <a:moveTo>
                    <a:pt x="60941" y="72115"/>
                  </a:moveTo>
                  <a:lnTo>
                    <a:pt x="60941" y="0"/>
                  </a:lnTo>
                </a:path>
                <a:path w="122554" h="203835">
                  <a:moveTo>
                    <a:pt x="0" y="123612"/>
                  </a:moveTo>
                  <a:lnTo>
                    <a:pt x="121986" y="123612"/>
                  </a:lnTo>
                </a:path>
                <a:path w="122554" h="203835">
                  <a:moveTo>
                    <a:pt x="20313" y="163636"/>
                  </a:moveTo>
                  <a:lnTo>
                    <a:pt x="101672" y="163636"/>
                  </a:lnTo>
                </a:path>
                <a:path w="122554" h="203835">
                  <a:moveTo>
                    <a:pt x="40627" y="203656"/>
                  </a:moveTo>
                  <a:lnTo>
                    <a:pt x="81358" y="203656"/>
                  </a:lnTo>
                </a:path>
                <a:path w="122554" h="203835">
                  <a:moveTo>
                    <a:pt x="60941" y="16891"/>
                  </a:moveTo>
                  <a:lnTo>
                    <a:pt x="60941" y="123612"/>
                  </a:lnTo>
                </a:path>
              </a:pathLst>
            </a:custGeom>
            <a:ln w="30792">
              <a:solidFill>
                <a:srgbClr val="000000"/>
              </a:solidFill>
            </a:ln>
          </p:spPr>
          <p:txBody>
            <a:bodyPr wrap="square" lIns="0" tIns="0" rIns="0" bIns="0" rtlCol="0"/>
            <a:lstStyle/>
            <a:p>
              <a:endParaRPr sz="2400"/>
            </a:p>
          </p:txBody>
        </p:sp>
        <p:sp>
          <p:nvSpPr>
            <p:cNvPr id="108" name="object 108"/>
            <p:cNvSpPr/>
            <p:nvPr/>
          </p:nvSpPr>
          <p:spPr>
            <a:xfrm>
              <a:off x="7458184" y="1092690"/>
              <a:ext cx="692785" cy="965200"/>
            </a:xfrm>
            <a:custGeom>
              <a:avLst/>
              <a:gdLst/>
              <a:ahLst/>
              <a:cxnLst/>
              <a:rect l="l" t="t" r="r" b="b"/>
              <a:pathLst>
                <a:path w="692784" h="965200">
                  <a:moveTo>
                    <a:pt x="692316" y="180315"/>
                  </a:moveTo>
                  <a:lnTo>
                    <a:pt x="692316" y="0"/>
                  </a:lnTo>
                </a:path>
                <a:path w="692784" h="965200">
                  <a:moveTo>
                    <a:pt x="408434" y="965025"/>
                  </a:moveTo>
                  <a:lnTo>
                    <a:pt x="0" y="965025"/>
                  </a:lnTo>
                </a:path>
                <a:path w="692784" h="965200">
                  <a:moveTo>
                    <a:pt x="212681" y="622323"/>
                  </a:moveTo>
                  <a:lnTo>
                    <a:pt x="237612" y="562437"/>
                  </a:lnTo>
                  <a:lnTo>
                    <a:pt x="287473" y="682209"/>
                  </a:lnTo>
                  <a:lnTo>
                    <a:pt x="337335" y="562437"/>
                  </a:lnTo>
                  <a:lnTo>
                    <a:pt x="387196" y="682209"/>
                  </a:lnTo>
                  <a:lnTo>
                    <a:pt x="437058" y="562437"/>
                  </a:lnTo>
                  <a:lnTo>
                    <a:pt x="486919" y="682209"/>
                  </a:lnTo>
                  <a:lnTo>
                    <a:pt x="511850" y="622323"/>
                  </a:lnTo>
                </a:path>
              </a:pathLst>
            </a:custGeom>
            <a:ln w="35924">
              <a:solidFill>
                <a:srgbClr val="000000"/>
              </a:solidFill>
            </a:ln>
          </p:spPr>
          <p:txBody>
            <a:bodyPr wrap="square" lIns="0" tIns="0" rIns="0" bIns="0" rtlCol="0"/>
            <a:lstStyle/>
            <a:p>
              <a:endParaRPr sz="2400"/>
            </a:p>
          </p:txBody>
        </p:sp>
        <p:pic>
          <p:nvPicPr>
            <p:cNvPr id="109" name="object 109"/>
            <p:cNvPicPr/>
            <p:nvPr/>
          </p:nvPicPr>
          <p:blipFill>
            <a:blip r:embed="rId8" cstate="print"/>
            <a:stretch>
              <a:fillRect/>
            </a:stretch>
          </p:blipFill>
          <p:spPr>
            <a:xfrm>
              <a:off x="7970035" y="1667478"/>
              <a:ext cx="227668" cy="95070"/>
            </a:xfrm>
            <a:prstGeom prst="rect">
              <a:avLst/>
            </a:prstGeom>
          </p:spPr>
        </p:pic>
        <p:sp>
          <p:nvSpPr>
            <p:cNvPr id="110" name="object 110"/>
            <p:cNvSpPr/>
            <p:nvPr/>
          </p:nvSpPr>
          <p:spPr>
            <a:xfrm>
              <a:off x="7446899" y="1376964"/>
              <a:ext cx="224154" cy="681355"/>
            </a:xfrm>
            <a:custGeom>
              <a:avLst/>
              <a:gdLst/>
              <a:ahLst/>
              <a:cxnLst/>
              <a:rect l="l" t="t" r="r" b="b"/>
              <a:pathLst>
                <a:path w="224154" h="681355">
                  <a:moveTo>
                    <a:pt x="223966" y="338049"/>
                  </a:moveTo>
                  <a:lnTo>
                    <a:pt x="0" y="338049"/>
                  </a:lnTo>
                </a:path>
                <a:path w="224154" h="681355">
                  <a:moveTo>
                    <a:pt x="11285" y="680751"/>
                  </a:moveTo>
                  <a:lnTo>
                    <a:pt x="18262" y="0"/>
                  </a:lnTo>
                </a:path>
              </a:pathLst>
            </a:custGeom>
            <a:ln w="35924">
              <a:solidFill>
                <a:srgbClr val="000000"/>
              </a:solidFill>
            </a:ln>
          </p:spPr>
          <p:txBody>
            <a:bodyPr wrap="square" lIns="0" tIns="0" rIns="0" bIns="0" rtlCol="0"/>
            <a:lstStyle/>
            <a:p>
              <a:endParaRPr sz="2400"/>
            </a:p>
          </p:txBody>
        </p:sp>
        <p:pic>
          <p:nvPicPr>
            <p:cNvPr id="111" name="object 111"/>
            <p:cNvPicPr/>
            <p:nvPr/>
          </p:nvPicPr>
          <p:blipFill>
            <a:blip r:embed="rId9" cstate="print"/>
            <a:stretch>
              <a:fillRect/>
            </a:stretch>
          </p:blipFill>
          <p:spPr>
            <a:xfrm>
              <a:off x="7414266" y="1664521"/>
              <a:ext cx="95429" cy="95070"/>
            </a:xfrm>
            <a:prstGeom prst="rect">
              <a:avLst/>
            </a:prstGeom>
          </p:spPr>
        </p:pic>
        <p:sp>
          <p:nvSpPr>
            <p:cNvPr id="112" name="object 112"/>
            <p:cNvSpPr/>
            <p:nvPr/>
          </p:nvSpPr>
          <p:spPr>
            <a:xfrm>
              <a:off x="8150501" y="1715014"/>
              <a:ext cx="180975" cy="0"/>
            </a:xfrm>
            <a:custGeom>
              <a:avLst/>
              <a:gdLst/>
              <a:ahLst/>
              <a:cxnLst/>
              <a:rect l="l" t="t" r="r" b="b"/>
              <a:pathLst>
                <a:path w="180975">
                  <a:moveTo>
                    <a:pt x="180466" y="0"/>
                  </a:moveTo>
                  <a:lnTo>
                    <a:pt x="0" y="0"/>
                  </a:lnTo>
                </a:path>
              </a:pathLst>
            </a:custGeom>
            <a:ln w="35939">
              <a:solidFill>
                <a:srgbClr val="000000"/>
              </a:solidFill>
            </a:ln>
          </p:spPr>
          <p:txBody>
            <a:bodyPr wrap="square" lIns="0" tIns="0" rIns="0" bIns="0" rtlCol="0"/>
            <a:lstStyle/>
            <a:p>
              <a:endParaRPr sz="2400"/>
            </a:p>
          </p:txBody>
        </p:sp>
        <p:sp>
          <p:nvSpPr>
            <p:cNvPr id="113" name="object 113"/>
            <p:cNvSpPr/>
            <p:nvPr/>
          </p:nvSpPr>
          <p:spPr>
            <a:xfrm>
              <a:off x="8188554" y="1650580"/>
              <a:ext cx="480059" cy="123825"/>
            </a:xfrm>
            <a:custGeom>
              <a:avLst/>
              <a:gdLst/>
              <a:ahLst/>
              <a:cxnLst/>
              <a:rect l="l" t="t" r="r" b="b"/>
              <a:pathLst>
                <a:path w="480059" h="123825">
                  <a:moveTo>
                    <a:pt x="479640" y="61810"/>
                  </a:moveTo>
                  <a:lnTo>
                    <a:pt x="294347" y="0"/>
                  </a:lnTo>
                  <a:lnTo>
                    <a:pt x="294347" y="43840"/>
                  </a:lnTo>
                  <a:lnTo>
                    <a:pt x="0" y="43840"/>
                  </a:lnTo>
                  <a:lnTo>
                    <a:pt x="0" y="79781"/>
                  </a:lnTo>
                  <a:lnTo>
                    <a:pt x="294347" y="79781"/>
                  </a:lnTo>
                  <a:lnTo>
                    <a:pt x="294347" y="123621"/>
                  </a:lnTo>
                  <a:lnTo>
                    <a:pt x="479640" y="61810"/>
                  </a:lnTo>
                  <a:close/>
                </a:path>
              </a:pathLst>
            </a:custGeom>
            <a:solidFill>
              <a:srgbClr val="000000"/>
            </a:solidFill>
          </p:spPr>
          <p:txBody>
            <a:bodyPr wrap="square" lIns="0" tIns="0" rIns="0" bIns="0" rtlCol="0"/>
            <a:lstStyle/>
            <a:p>
              <a:endParaRPr sz="2400"/>
            </a:p>
          </p:txBody>
        </p:sp>
      </p:grpSp>
      <p:sp>
        <p:nvSpPr>
          <p:cNvPr id="114" name="object 114"/>
          <p:cNvSpPr txBox="1"/>
          <p:nvPr/>
        </p:nvSpPr>
        <p:spPr>
          <a:xfrm>
            <a:off x="11134050" y="1609684"/>
            <a:ext cx="602827" cy="479618"/>
          </a:xfrm>
          <a:prstGeom prst="rect">
            <a:avLst/>
          </a:prstGeom>
        </p:spPr>
        <p:txBody>
          <a:bodyPr vert="horz" wrap="square" lIns="0" tIns="17780" rIns="0" bIns="0" rtlCol="0">
            <a:spAutoFit/>
          </a:bodyPr>
          <a:lstStyle/>
          <a:p>
            <a:pPr algn="ctr">
              <a:lnSpc>
                <a:spcPts val="1833"/>
              </a:lnSpc>
              <a:spcBef>
                <a:spcPts val="140"/>
              </a:spcBef>
            </a:pPr>
            <a:r>
              <a:rPr sz="1533" b="1" spc="-33" dirty="0">
                <a:latin typeface="Arial"/>
                <a:cs typeface="Arial"/>
              </a:rPr>
              <a:t>To</a:t>
            </a:r>
            <a:endParaRPr sz="1533">
              <a:latin typeface="Arial"/>
              <a:cs typeface="Arial"/>
            </a:endParaRPr>
          </a:p>
          <a:p>
            <a:pPr algn="ctr">
              <a:lnSpc>
                <a:spcPts val="1833"/>
              </a:lnSpc>
            </a:pPr>
            <a:r>
              <a:rPr sz="1533" b="1" spc="-13" dirty="0">
                <a:latin typeface="Arial"/>
                <a:cs typeface="Arial"/>
              </a:rPr>
              <a:t>Buffer</a:t>
            </a:r>
            <a:endParaRPr sz="1533">
              <a:latin typeface="Arial"/>
              <a:cs typeface="Arial"/>
            </a:endParaRPr>
          </a:p>
        </p:txBody>
      </p:sp>
      <p:grpSp>
        <p:nvGrpSpPr>
          <p:cNvPr id="115" name="object 115"/>
          <p:cNvGrpSpPr/>
          <p:nvPr/>
        </p:nvGrpSpPr>
        <p:grpSpPr>
          <a:xfrm>
            <a:off x="1751616" y="1340630"/>
            <a:ext cx="5934287" cy="1248833"/>
            <a:chOff x="1137499" y="1043923"/>
            <a:chExt cx="4450715" cy="936625"/>
          </a:xfrm>
        </p:grpSpPr>
        <p:pic>
          <p:nvPicPr>
            <p:cNvPr id="116" name="object 116"/>
            <p:cNvPicPr/>
            <p:nvPr/>
          </p:nvPicPr>
          <p:blipFill>
            <a:blip r:embed="rId11" cstate="print"/>
            <a:stretch>
              <a:fillRect/>
            </a:stretch>
          </p:blipFill>
          <p:spPr>
            <a:xfrm>
              <a:off x="5492542" y="1043923"/>
              <a:ext cx="95429" cy="95070"/>
            </a:xfrm>
            <a:prstGeom prst="rect">
              <a:avLst/>
            </a:prstGeom>
          </p:spPr>
        </p:pic>
        <p:sp>
          <p:nvSpPr>
            <p:cNvPr id="117" name="object 117"/>
            <p:cNvSpPr/>
            <p:nvPr/>
          </p:nvSpPr>
          <p:spPr>
            <a:xfrm>
              <a:off x="1156007" y="1713453"/>
              <a:ext cx="1062355" cy="635"/>
            </a:xfrm>
            <a:custGeom>
              <a:avLst/>
              <a:gdLst/>
              <a:ahLst/>
              <a:cxnLst/>
              <a:rect l="l" t="t" r="r" b="b"/>
              <a:pathLst>
                <a:path w="1062355" h="635">
                  <a:moveTo>
                    <a:pt x="715113" y="82"/>
                  </a:moveTo>
                  <a:lnTo>
                    <a:pt x="555884" y="82"/>
                  </a:lnTo>
                </a:path>
                <a:path w="1062355" h="635">
                  <a:moveTo>
                    <a:pt x="0" y="0"/>
                  </a:moveTo>
                  <a:lnTo>
                    <a:pt x="1062298" y="0"/>
                  </a:lnTo>
                </a:path>
              </a:pathLst>
            </a:custGeom>
            <a:ln w="35924">
              <a:solidFill>
                <a:srgbClr val="000000"/>
              </a:solidFill>
            </a:ln>
          </p:spPr>
          <p:txBody>
            <a:bodyPr wrap="square" lIns="0" tIns="0" rIns="0" bIns="0" rtlCol="0"/>
            <a:lstStyle/>
            <a:p>
              <a:endParaRPr sz="2400"/>
            </a:p>
          </p:txBody>
        </p:sp>
        <p:sp>
          <p:nvSpPr>
            <p:cNvPr id="118" name="object 118"/>
            <p:cNvSpPr/>
            <p:nvPr/>
          </p:nvSpPr>
          <p:spPr>
            <a:xfrm>
              <a:off x="1155597" y="1455703"/>
              <a:ext cx="506730" cy="507365"/>
            </a:xfrm>
            <a:custGeom>
              <a:avLst/>
              <a:gdLst/>
              <a:ahLst/>
              <a:cxnLst/>
              <a:rect l="l" t="t" r="r" b="b"/>
              <a:pathLst>
                <a:path w="506730" h="507364">
                  <a:moveTo>
                    <a:pt x="253155" y="0"/>
                  </a:moveTo>
                  <a:lnTo>
                    <a:pt x="207649" y="4082"/>
                  </a:lnTo>
                  <a:lnTo>
                    <a:pt x="164819" y="15851"/>
                  </a:lnTo>
                  <a:lnTo>
                    <a:pt x="125381" y="34592"/>
                  </a:lnTo>
                  <a:lnTo>
                    <a:pt x="90048" y="59589"/>
                  </a:lnTo>
                  <a:lnTo>
                    <a:pt x="59537" y="90127"/>
                  </a:lnTo>
                  <a:lnTo>
                    <a:pt x="34562" y="125490"/>
                  </a:lnTo>
                  <a:lnTo>
                    <a:pt x="15837" y="164963"/>
                  </a:lnTo>
                  <a:lnTo>
                    <a:pt x="4078" y="207830"/>
                  </a:lnTo>
                  <a:lnTo>
                    <a:pt x="0" y="253375"/>
                  </a:lnTo>
                  <a:lnTo>
                    <a:pt x="4078" y="298918"/>
                  </a:lnTo>
                  <a:lnTo>
                    <a:pt x="15837" y="341784"/>
                  </a:lnTo>
                  <a:lnTo>
                    <a:pt x="34562" y="381256"/>
                  </a:lnTo>
                  <a:lnTo>
                    <a:pt x="59537" y="416619"/>
                  </a:lnTo>
                  <a:lnTo>
                    <a:pt x="90048" y="447158"/>
                  </a:lnTo>
                  <a:lnTo>
                    <a:pt x="125381" y="472156"/>
                  </a:lnTo>
                  <a:lnTo>
                    <a:pt x="164819" y="490898"/>
                  </a:lnTo>
                  <a:lnTo>
                    <a:pt x="207649" y="502668"/>
                  </a:lnTo>
                  <a:lnTo>
                    <a:pt x="253155" y="506751"/>
                  </a:lnTo>
                  <a:lnTo>
                    <a:pt x="298659" y="502668"/>
                  </a:lnTo>
                  <a:lnTo>
                    <a:pt x="341489" y="490898"/>
                  </a:lnTo>
                  <a:lnTo>
                    <a:pt x="380930" y="472156"/>
                  </a:lnTo>
                  <a:lnTo>
                    <a:pt x="416265" y="447158"/>
                  </a:lnTo>
                  <a:lnTo>
                    <a:pt x="446781" y="416619"/>
                  </a:lnTo>
                  <a:lnTo>
                    <a:pt x="471761" y="381256"/>
                  </a:lnTo>
                  <a:lnTo>
                    <a:pt x="490489" y="341784"/>
                  </a:lnTo>
                  <a:lnTo>
                    <a:pt x="502251" y="298918"/>
                  </a:lnTo>
                  <a:lnTo>
                    <a:pt x="506331" y="253375"/>
                  </a:lnTo>
                  <a:lnTo>
                    <a:pt x="502251" y="207830"/>
                  </a:lnTo>
                  <a:lnTo>
                    <a:pt x="490489" y="164963"/>
                  </a:lnTo>
                  <a:lnTo>
                    <a:pt x="471761" y="125490"/>
                  </a:lnTo>
                  <a:lnTo>
                    <a:pt x="446781" y="90127"/>
                  </a:lnTo>
                  <a:lnTo>
                    <a:pt x="416265" y="59589"/>
                  </a:lnTo>
                  <a:lnTo>
                    <a:pt x="380930" y="34592"/>
                  </a:lnTo>
                  <a:lnTo>
                    <a:pt x="341489" y="15851"/>
                  </a:lnTo>
                  <a:lnTo>
                    <a:pt x="298659" y="4082"/>
                  </a:lnTo>
                  <a:lnTo>
                    <a:pt x="253155" y="0"/>
                  </a:lnTo>
                  <a:close/>
                </a:path>
              </a:pathLst>
            </a:custGeom>
            <a:solidFill>
              <a:srgbClr val="F1F1F1"/>
            </a:solidFill>
          </p:spPr>
          <p:txBody>
            <a:bodyPr wrap="square" lIns="0" tIns="0" rIns="0" bIns="0" rtlCol="0"/>
            <a:lstStyle/>
            <a:p>
              <a:endParaRPr sz="2400"/>
            </a:p>
          </p:txBody>
        </p:sp>
        <p:sp>
          <p:nvSpPr>
            <p:cNvPr id="119" name="object 119"/>
            <p:cNvSpPr/>
            <p:nvPr/>
          </p:nvSpPr>
          <p:spPr>
            <a:xfrm>
              <a:off x="1155597" y="1455703"/>
              <a:ext cx="506730" cy="507365"/>
            </a:xfrm>
            <a:custGeom>
              <a:avLst/>
              <a:gdLst/>
              <a:ahLst/>
              <a:cxnLst/>
              <a:rect l="l" t="t" r="r" b="b"/>
              <a:pathLst>
                <a:path w="506730" h="507364">
                  <a:moveTo>
                    <a:pt x="506331" y="253375"/>
                  </a:moveTo>
                  <a:lnTo>
                    <a:pt x="502251" y="207830"/>
                  </a:lnTo>
                  <a:lnTo>
                    <a:pt x="490489" y="164963"/>
                  </a:lnTo>
                  <a:lnTo>
                    <a:pt x="471761" y="125490"/>
                  </a:lnTo>
                  <a:lnTo>
                    <a:pt x="446781" y="90127"/>
                  </a:lnTo>
                  <a:lnTo>
                    <a:pt x="416265" y="59589"/>
                  </a:lnTo>
                  <a:lnTo>
                    <a:pt x="380930" y="34592"/>
                  </a:lnTo>
                  <a:lnTo>
                    <a:pt x="341489" y="15851"/>
                  </a:lnTo>
                  <a:lnTo>
                    <a:pt x="298659" y="4082"/>
                  </a:lnTo>
                  <a:lnTo>
                    <a:pt x="253155" y="0"/>
                  </a:lnTo>
                  <a:lnTo>
                    <a:pt x="207649" y="4082"/>
                  </a:lnTo>
                  <a:lnTo>
                    <a:pt x="164819" y="15851"/>
                  </a:lnTo>
                  <a:lnTo>
                    <a:pt x="125381" y="34592"/>
                  </a:lnTo>
                  <a:lnTo>
                    <a:pt x="90048" y="59589"/>
                  </a:lnTo>
                  <a:lnTo>
                    <a:pt x="59537" y="90127"/>
                  </a:lnTo>
                  <a:lnTo>
                    <a:pt x="34562" y="125490"/>
                  </a:lnTo>
                  <a:lnTo>
                    <a:pt x="15837" y="164963"/>
                  </a:lnTo>
                  <a:lnTo>
                    <a:pt x="4078" y="207830"/>
                  </a:lnTo>
                  <a:lnTo>
                    <a:pt x="0" y="253375"/>
                  </a:lnTo>
                  <a:lnTo>
                    <a:pt x="4078" y="298918"/>
                  </a:lnTo>
                  <a:lnTo>
                    <a:pt x="15837" y="341784"/>
                  </a:lnTo>
                  <a:lnTo>
                    <a:pt x="34562" y="381256"/>
                  </a:lnTo>
                  <a:lnTo>
                    <a:pt x="59537" y="416619"/>
                  </a:lnTo>
                  <a:lnTo>
                    <a:pt x="90048" y="447158"/>
                  </a:lnTo>
                  <a:lnTo>
                    <a:pt x="125381" y="472156"/>
                  </a:lnTo>
                  <a:lnTo>
                    <a:pt x="164819" y="490898"/>
                  </a:lnTo>
                  <a:lnTo>
                    <a:pt x="207649" y="502668"/>
                  </a:lnTo>
                  <a:lnTo>
                    <a:pt x="253155" y="506751"/>
                  </a:lnTo>
                  <a:lnTo>
                    <a:pt x="298659" y="502668"/>
                  </a:lnTo>
                  <a:lnTo>
                    <a:pt x="341489" y="490898"/>
                  </a:lnTo>
                  <a:lnTo>
                    <a:pt x="380930" y="472156"/>
                  </a:lnTo>
                  <a:lnTo>
                    <a:pt x="416265" y="447158"/>
                  </a:lnTo>
                  <a:lnTo>
                    <a:pt x="446781" y="416619"/>
                  </a:lnTo>
                  <a:lnTo>
                    <a:pt x="471761" y="381256"/>
                  </a:lnTo>
                  <a:lnTo>
                    <a:pt x="490489" y="341784"/>
                  </a:lnTo>
                  <a:lnTo>
                    <a:pt x="502251" y="298918"/>
                  </a:lnTo>
                  <a:lnTo>
                    <a:pt x="506331" y="253375"/>
                  </a:lnTo>
                  <a:close/>
                </a:path>
              </a:pathLst>
            </a:custGeom>
            <a:ln w="35924">
              <a:solidFill>
                <a:srgbClr val="000000"/>
              </a:solidFill>
            </a:ln>
          </p:spPr>
          <p:txBody>
            <a:bodyPr wrap="square" lIns="0" tIns="0" rIns="0" bIns="0" rtlCol="0"/>
            <a:lstStyle/>
            <a:p>
              <a:endParaRPr sz="2400"/>
            </a:p>
          </p:txBody>
        </p:sp>
      </p:grpSp>
      <p:sp>
        <p:nvSpPr>
          <p:cNvPr id="120" name="object 120"/>
          <p:cNvSpPr txBox="1"/>
          <p:nvPr/>
        </p:nvSpPr>
        <p:spPr>
          <a:xfrm>
            <a:off x="1926345" y="1934511"/>
            <a:ext cx="389467" cy="479618"/>
          </a:xfrm>
          <a:prstGeom prst="rect">
            <a:avLst/>
          </a:prstGeom>
        </p:spPr>
        <p:txBody>
          <a:bodyPr vert="horz" wrap="square" lIns="0" tIns="17780" rIns="0" bIns="0" rtlCol="0">
            <a:spAutoFit/>
          </a:bodyPr>
          <a:lstStyle/>
          <a:p>
            <a:pPr marL="70272">
              <a:lnSpc>
                <a:spcPts val="1833"/>
              </a:lnSpc>
              <a:spcBef>
                <a:spcPts val="140"/>
              </a:spcBef>
            </a:pPr>
            <a:r>
              <a:rPr sz="1533" b="1" spc="-33" dirty="0">
                <a:latin typeface="Arial"/>
                <a:cs typeface="Arial"/>
              </a:rPr>
              <a:t>Rx</a:t>
            </a:r>
            <a:endParaRPr sz="1533">
              <a:latin typeface="Arial"/>
              <a:cs typeface="Arial"/>
            </a:endParaRPr>
          </a:p>
          <a:p>
            <a:pPr marL="16933">
              <a:lnSpc>
                <a:spcPts val="1833"/>
              </a:lnSpc>
            </a:pPr>
            <a:r>
              <a:rPr sz="1533" b="1" spc="-33" dirty="0">
                <a:latin typeface="Arial"/>
                <a:cs typeface="Arial"/>
              </a:rPr>
              <a:t>Pad</a:t>
            </a:r>
            <a:endParaRPr sz="1533">
              <a:latin typeface="Arial"/>
              <a:cs typeface="Arial"/>
            </a:endParaRPr>
          </a:p>
        </p:txBody>
      </p:sp>
      <p:grpSp>
        <p:nvGrpSpPr>
          <p:cNvPr id="121" name="object 121"/>
          <p:cNvGrpSpPr/>
          <p:nvPr/>
        </p:nvGrpSpPr>
        <p:grpSpPr>
          <a:xfrm>
            <a:off x="937152" y="1051183"/>
            <a:ext cx="844973" cy="1209887"/>
            <a:chOff x="526651" y="826838"/>
            <a:chExt cx="633730" cy="907415"/>
          </a:xfrm>
        </p:grpSpPr>
        <p:sp>
          <p:nvSpPr>
            <p:cNvPr id="122" name="object 122"/>
            <p:cNvSpPr/>
            <p:nvPr/>
          </p:nvSpPr>
          <p:spPr>
            <a:xfrm>
              <a:off x="979430" y="1716195"/>
              <a:ext cx="167640" cy="0"/>
            </a:xfrm>
            <a:custGeom>
              <a:avLst/>
              <a:gdLst/>
              <a:ahLst/>
              <a:cxnLst/>
              <a:rect l="l" t="t" r="r" b="b"/>
              <a:pathLst>
                <a:path w="167640">
                  <a:moveTo>
                    <a:pt x="0" y="0"/>
                  </a:moveTo>
                  <a:lnTo>
                    <a:pt x="167292" y="0"/>
                  </a:lnTo>
                </a:path>
              </a:pathLst>
            </a:custGeom>
            <a:ln w="35939">
              <a:solidFill>
                <a:srgbClr val="000000"/>
              </a:solidFill>
            </a:ln>
          </p:spPr>
          <p:txBody>
            <a:bodyPr wrap="square" lIns="0" tIns="0" rIns="0" bIns="0" rtlCol="0"/>
            <a:lstStyle/>
            <a:p>
              <a:endParaRPr sz="2400"/>
            </a:p>
          </p:txBody>
        </p:sp>
        <p:sp>
          <p:nvSpPr>
            <p:cNvPr id="123" name="object 123"/>
            <p:cNvSpPr/>
            <p:nvPr/>
          </p:nvSpPr>
          <p:spPr>
            <a:xfrm>
              <a:off x="817020" y="1175762"/>
              <a:ext cx="325120" cy="325755"/>
            </a:xfrm>
            <a:custGeom>
              <a:avLst/>
              <a:gdLst/>
              <a:ahLst/>
              <a:cxnLst/>
              <a:rect l="l" t="t" r="r" b="b"/>
              <a:pathLst>
                <a:path w="325119" h="325755">
                  <a:moveTo>
                    <a:pt x="325044" y="325306"/>
                  </a:moveTo>
                  <a:lnTo>
                    <a:pt x="162522" y="0"/>
                  </a:lnTo>
                  <a:lnTo>
                    <a:pt x="0" y="325306"/>
                  </a:lnTo>
                  <a:lnTo>
                    <a:pt x="325044" y="325306"/>
                  </a:lnTo>
                  <a:close/>
                </a:path>
              </a:pathLst>
            </a:custGeom>
            <a:ln w="35924">
              <a:solidFill>
                <a:srgbClr val="538AD3"/>
              </a:solidFill>
            </a:ln>
          </p:spPr>
          <p:txBody>
            <a:bodyPr wrap="square" lIns="0" tIns="0" rIns="0" bIns="0" rtlCol="0"/>
            <a:lstStyle/>
            <a:p>
              <a:endParaRPr sz="2400"/>
            </a:p>
          </p:txBody>
        </p:sp>
        <p:sp>
          <p:nvSpPr>
            <p:cNvPr id="124" name="object 124"/>
            <p:cNvSpPr/>
            <p:nvPr/>
          </p:nvSpPr>
          <p:spPr>
            <a:xfrm>
              <a:off x="805417" y="1159744"/>
              <a:ext cx="348615" cy="46355"/>
            </a:xfrm>
            <a:custGeom>
              <a:avLst/>
              <a:gdLst/>
              <a:ahLst/>
              <a:cxnLst/>
              <a:rect l="l" t="t" r="r" b="b"/>
              <a:pathLst>
                <a:path w="348615" h="46355">
                  <a:moveTo>
                    <a:pt x="348261" y="0"/>
                  </a:moveTo>
                  <a:lnTo>
                    <a:pt x="0" y="0"/>
                  </a:lnTo>
                  <a:lnTo>
                    <a:pt x="0" y="46208"/>
                  </a:lnTo>
                  <a:lnTo>
                    <a:pt x="348261" y="46208"/>
                  </a:lnTo>
                  <a:lnTo>
                    <a:pt x="348261" y="0"/>
                  </a:lnTo>
                  <a:close/>
                </a:path>
              </a:pathLst>
            </a:custGeom>
            <a:solidFill>
              <a:srgbClr val="538AD3"/>
            </a:solidFill>
          </p:spPr>
          <p:txBody>
            <a:bodyPr wrap="square" lIns="0" tIns="0" rIns="0" bIns="0" rtlCol="0"/>
            <a:lstStyle/>
            <a:p>
              <a:endParaRPr sz="2400"/>
            </a:p>
          </p:txBody>
        </p:sp>
        <p:sp>
          <p:nvSpPr>
            <p:cNvPr id="125" name="object 125"/>
            <p:cNvSpPr/>
            <p:nvPr/>
          </p:nvSpPr>
          <p:spPr>
            <a:xfrm>
              <a:off x="881849" y="826845"/>
              <a:ext cx="191135" cy="367030"/>
            </a:xfrm>
            <a:custGeom>
              <a:avLst/>
              <a:gdLst/>
              <a:ahLst/>
              <a:cxnLst/>
              <a:rect l="l" t="t" r="r" b="b"/>
              <a:pathLst>
                <a:path w="191134" h="367030">
                  <a:moveTo>
                    <a:pt x="191122" y="0"/>
                  </a:moveTo>
                  <a:lnTo>
                    <a:pt x="0" y="0"/>
                  </a:lnTo>
                  <a:lnTo>
                    <a:pt x="0" y="51346"/>
                  </a:lnTo>
                  <a:lnTo>
                    <a:pt x="79730" y="51346"/>
                  </a:lnTo>
                  <a:lnTo>
                    <a:pt x="79730" y="366890"/>
                  </a:lnTo>
                  <a:lnTo>
                    <a:pt x="115646" y="366890"/>
                  </a:lnTo>
                  <a:lnTo>
                    <a:pt x="115646" y="51346"/>
                  </a:lnTo>
                  <a:lnTo>
                    <a:pt x="191122" y="51346"/>
                  </a:lnTo>
                  <a:lnTo>
                    <a:pt x="191122" y="0"/>
                  </a:lnTo>
                  <a:close/>
                </a:path>
              </a:pathLst>
            </a:custGeom>
            <a:solidFill>
              <a:srgbClr val="000000"/>
            </a:solidFill>
          </p:spPr>
          <p:txBody>
            <a:bodyPr wrap="square" lIns="0" tIns="0" rIns="0" bIns="0" rtlCol="0"/>
            <a:lstStyle/>
            <a:p>
              <a:endParaRPr sz="2400"/>
            </a:p>
          </p:txBody>
        </p:sp>
        <p:pic>
          <p:nvPicPr>
            <p:cNvPr id="126" name="object 126"/>
            <p:cNvPicPr/>
            <p:nvPr/>
          </p:nvPicPr>
          <p:blipFill>
            <a:blip r:embed="rId12" cstate="print"/>
            <a:stretch>
              <a:fillRect/>
            </a:stretch>
          </p:blipFill>
          <p:spPr>
            <a:xfrm>
              <a:off x="526651" y="1069131"/>
              <a:ext cx="309585" cy="431414"/>
            </a:xfrm>
            <a:prstGeom prst="rect">
              <a:avLst/>
            </a:prstGeom>
          </p:spPr>
        </p:pic>
        <p:sp>
          <p:nvSpPr>
            <p:cNvPr id="127" name="object 127"/>
            <p:cNvSpPr/>
            <p:nvPr/>
          </p:nvSpPr>
          <p:spPr>
            <a:xfrm>
              <a:off x="961588" y="1483110"/>
              <a:ext cx="36195" cy="251460"/>
            </a:xfrm>
            <a:custGeom>
              <a:avLst/>
              <a:gdLst/>
              <a:ahLst/>
              <a:cxnLst/>
              <a:rect l="l" t="t" r="r" b="b"/>
              <a:pathLst>
                <a:path w="36194" h="251460">
                  <a:moveTo>
                    <a:pt x="35908" y="0"/>
                  </a:moveTo>
                  <a:lnTo>
                    <a:pt x="0" y="0"/>
                  </a:lnTo>
                  <a:lnTo>
                    <a:pt x="0" y="251054"/>
                  </a:lnTo>
                  <a:lnTo>
                    <a:pt x="35908" y="251054"/>
                  </a:lnTo>
                  <a:lnTo>
                    <a:pt x="35908" y="0"/>
                  </a:lnTo>
                  <a:close/>
                </a:path>
              </a:pathLst>
            </a:custGeom>
            <a:solidFill>
              <a:srgbClr val="000000"/>
            </a:solidFill>
          </p:spPr>
          <p:txBody>
            <a:bodyPr wrap="square" lIns="0" tIns="0" rIns="0" bIns="0" rtlCol="0"/>
            <a:lstStyle/>
            <a:p>
              <a:endParaRPr sz="2400"/>
            </a:p>
          </p:txBody>
        </p:sp>
      </p:grpSp>
      <p:sp>
        <p:nvSpPr>
          <p:cNvPr id="128" name="object 128"/>
          <p:cNvSpPr txBox="1"/>
          <p:nvPr/>
        </p:nvSpPr>
        <p:spPr>
          <a:xfrm>
            <a:off x="1129368" y="3155704"/>
            <a:ext cx="9333653" cy="2940976"/>
          </a:xfrm>
          <a:prstGeom prst="rect">
            <a:avLst/>
          </a:prstGeom>
        </p:spPr>
        <p:txBody>
          <a:bodyPr vert="horz" wrap="square" lIns="0" tIns="154093" rIns="0" bIns="0" rtlCol="0">
            <a:spAutoFit/>
          </a:bodyPr>
          <a:lstStyle/>
          <a:p>
            <a:pPr marL="4340751">
              <a:spcBef>
                <a:spcPts val="1213"/>
              </a:spcBef>
            </a:pPr>
            <a:r>
              <a:rPr dirty="0">
                <a:latin typeface="Calibri"/>
                <a:cs typeface="Calibri"/>
              </a:rPr>
              <a:t>M.</a:t>
            </a:r>
            <a:r>
              <a:rPr spc="-47" dirty="0">
                <a:latin typeface="Calibri"/>
                <a:cs typeface="Calibri"/>
              </a:rPr>
              <a:t> </a:t>
            </a:r>
            <a:r>
              <a:rPr spc="-13" dirty="0">
                <a:latin typeface="Calibri"/>
                <a:cs typeface="Calibri"/>
              </a:rPr>
              <a:t>Rakowski</a:t>
            </a:r>
            <a:r>
              <a:rPr spc="-40" dirty="0">
                <a:latin typeface="Calibri"/>
                <a:cs typeface="Calibri"/>
              </a:rPr>
              <a:t> </a:t>
            </a:r>
            <a:r>
              <a:rPr i="1" dirty="0">
                <a:latin typeface="Calibri"/>
                <a:cs typeface="Calibri"/>
              </a:rPr>
              <a:t>et</a:t>
            </a:r>
            <a:r>
              <a:rPr i="1" spc="-20" dirty="0">
                <a:latin typeface="Calibri"/>
                <a:cs typeface="Calibri"/>
              </a:rPr>
              <a:t> </a:t>
            </a:r>
            <a:r>
              <a:rPr i="1" dirty="0">
                <a:latin typeface="Calibri"/>
                <a:cs typeface="Calibri"/>
              </a:rPr>
              <a:t>al</a:t>
            </a:r>
            <a:r>
              <a:rPr dirty="0">
                <a:latin typeface="Calibri"/>
                <a:cs typeface="Calibri"/>
              </a:rPr>
              <a:t>.,</a:t>
            </a:r>
            <a:r>
              <a:rPr spc="-40" dirty="0">
                <a:latin typeface="Calibri"/>
                <a:cs typeface="Calibri"/>
              </a:rPr>
              <a:t> </a:t>
            </a:r>
            <a:r>
              <a:rPr i="1" dirty="0">
                <a:latin typeface="Calibri"/>
                <a:cs typeface="Calibri"/>
              </a:rPr>
              <a:t>ISSCC,</a:t>
            </a:r>
            <a:r>
              <a:rPr i="1" spc="-47" dirty="0">
                <a:latin typeface="Calibri"/>
                <a:cs typeface="Calibri"/>
              </a:rPr>
              <a:t> </a:t>
            </a:r>
            <a:r>
              <a:rPr spc="-13" dirty="0">
                <a:latin typeface="Calibri"/>
                <a:cs typeface="Calibri"/>
              </a:rPr>
              <a:t>2015.</a:t>
            </a:r>
            <a:endParaRPr dirty="0">
              <a:latin typeface="Calibri"/>
              <a:cs typeface="Calibri"/>
            </a:endParaRPr>
          </a:p>
          <a:p>
            <a:pPr marL="473275" indent="-456342">
              <a:spcBef>
                <a:spcPts val="1667"/>
              </a:spcBef>
              <a:buFont typeface="Microsoft Sans Serif"/>
              <a:buChar char="•"/>
              <a:tabLst>
                <a:tab pos="473275" algn="l"/>
              </a:tabLst>
            </a:pPr>
            <a:r>
              <a:rPr sz="2800" dirty="0">
                <a:latin typeface="Calibri"/>
                <a:cs typeface="Calibri"/>
              </a:rPr>
              <a:t>Popular</a:t>
            </a:r>
            <a:r>
              <a:rPr sz="2800" spc="-73" dirty="0">
                <a:latin typeface="Calibri"/>
                <a:cs typeface="Calibri"/>
              </a:rPr>
              <a:t> </a:t>
            </a:r>
            <a:r>
              <a:rPr sz="2800" dirty="0">
                <a:latin typeface="Calibri"/>
                <a:cs typeface="Calibri"/>
              </a:rPr>
              <a:t>TIA</a:t>
            </a:r>
            <a:r>
              <a:rPr sz="2800" spc="-80" dirty="0">
                <a:latin typeface="Calibri"/>
                <a:cs typeface="Calibri"/>
              </a:rPr>
              <a:t> </a:t>
            </a:r>
            <a:r>
              <a:rPr sz="2800" dirty="0">
                <a:latin typeface="Calibri"/>
                <a:cs typeface="Calibri"/>
              </a:rPr>
              <a:t>architecture</a:t>
            </a:r>
            <a:r>
              <a:rPr sz="2800" spc="-67" dirty="0">
                <a:latin typeface="Calibri"/>
                <a:cs typeface="Calibri"/>
              </a:rPr>
              <a:t> </a:t>
            </a:r>
            <a:r>
              <a:rPr sz="2800" dirty="0">
                <a:latin typeface="Calibri"/>
                <a:cs typeface="Calibri"/>
              </a:rPr>
              <a:t>for</a:t>
            </a:r>
            <a:r>
              <a:rPr sz="2800" spc="-67" dirty="0">
                <a:latin typeface="Calibri"/>
                <a:cs typeface="Calibri"/>
              </a:rPr>
              <a:t> </a:t>
            </a:r>
            <a:r>
              <a:rPr sz="2800" dirty="0">
                <a:latin typeface="Calibri"/>
                <a:cs typeface="Calibri"/>
              </a:rPr>
              <a:t>modern</a:t>
            </a:r>
            <a:r>
              <a:rPr sz="2800" spc="-73" dirty="0">
                <a:latin typeface="Calibri"/>
                <a:cs typeface="Calibri"/>
              </a:rPr>
              <a:t> </a:t>
            </a:r>
            <a:r>
              <a:rPr sz="2800" dirty="0">
                <a:latin typeface="Calibri"/>
                <a:cs typeface="Calibri"/>
              </a:rPr>
              <a:t>scaled</a:t>
            </a:r>
            <a:r>
              <a:rPr sz="2800" spc="-73" dirty="0">
                <a:latin typeface="Calibri"/>
                <a:cs typeface="Calibri"/>
              </a:rPr>
              <a:t> </a:t>
            </a:r>
            <a:r>
              <a:rPr sz="2800" spc="-13" dirty="0">
                <a:latin typeface="Calibri"/>
                <a:cs typeface="Calibri"/>
              </a:rPr>
              <a:t>technologies</a:t>
            </a:r>
            <a:endParaRPr sz="2800" dirty="0">
              <a:latin typeface="Calibri"/>
              <a:cs typeface="Calibri"/>
            </a:endParaRPr>
          </a:p>
          <a:p>
            <a:pPr marL="473275" indent="-456342">
              <a:spcBef>
                <a:spcPts val="673"/>
              </a:spcBef>
              <a:buFont typeface="Microsoft Sans Serif"/>
              <a:buChar char="•"/>
              <a:tabLst>
                <a:tab pos="473275" algn="l"/>
              </a:tabLst>
            </a:pPr>
            <a:r>
              <a:rPr sz="2800" dirty="0">
                <a:latin typeface="Calibri"/>
                <a:cs typeface="Calibri"/>
              </a:rPr>
              <a:t>Large</a:t>
            </a:r>
            <a:r>
              <a:rPr sz="2800" spc="-73" dirty="0">
                <a:latin typeface="Calibri"/>
                <a:cs typeface="Calibri"/>
              </a:rPr>
              <a:t> </a:t>
            </a:r>
            <a:r>
              <a:rPr sz="2800" dirty="0">
                <a:latin typeface="Calibri"/>
                <a:cs typeface="Calibri"/>
              </a:rPr>
              <a:t>number</a:t>
            </a:r>
            <a:r>
              <a:rPr sz="2800" spc="-73" dirty="0">
                <a:latin typeface="Calibri"/>
                <a:cs typeface="Calibri"/>
              </a:rPr>
              <a:t> </a:t>
            </a:r>
            <a:r>
              <a:rPr sz="2800" dirty="0">
                <a:latin typeface="Calibri"/>
                <a:cs typeface="Calibri"/>
              </a:rPr>
              <a:t>of</a:t>
            </a:r>
            <a:r>
              <a:rPr sz="2800" spc="-53" dirty="0">
                <a:latin typeface="Calibri"/>
                <a:cs typeface="Calibri"/>
              </a:rPr>
              <a:t> </a:t>
            </a:r>
            <a:r>
              <a:rPr sz="2800" dirty="0">
                <a:latin typeface="Calibri"/>
                <a:cs typeface="Calibri"/>
              </a:rPr>
              <a:t>stages</a:t>
            </a:r>
            <a:r>
              <a:rPr sz="2800" spc="-73" dirty="0">
                <a:latin typeface="Calibri"/>
                <a:cs typeface="Calibri"/>
              </a:rPr>
              <a:t> </a:t>
            </a:r>
            <a:r>
              <a:rPr sz="2800" spc="-13" dirty="0">
                <a:latin typeface="Calibri"/>
                <a:cs typeface="Calibri"/>
              </a:rPr>
              <a:t>required</a:t>
            </a:r>
            <a:r>
              <a:rPr sz="2800" spc="-67" dirty="0">
                <a:latin typeface="Calibri"/>
                <a:cs typeface="Calibri"/>
              </a:rPr>
              <a:t> </a:t>
            </a:r>
            <a:r>
              <a:rPr sz="2800" dirty="0">
                <a:latin typeface="Calibri"/>
                <a:cs typeface="Calibri"/>
              </a:rPr>
              <a:t>to</a:t>
            </a:r>
            <a:r>
              <a:rPr sz="2800" spc="-67" dirty="0">
                <a:latin typeface="Calibri"/>
                <a:cs typeface="Calibri"/>
              </a:rPr>
              <a:t> </a:t>
            </a:r>
            <a:r>
              <a:rPr sz="2800" dirty="0">
                <a:latin typeface="Calibri"/>
                <a:cs typeface="Calibri"/>
              </a:rPr>
              <a:t>meet</a:t>
            </a:r>
            <a:r>
              <a:rPr sz="2800" spc="-53" dirty="0">
                <a:latin typeface="Calibri"/>
                <a:cs typeface="Calibri"/>
              </a:rPr>
              <a:t> </a:t>
            </a:r>
            <a:r>
              <a:rPr sz="2800" dirty="0">
                <a:latin typeface="Calibri"/>
                <a:cs typeface="Calibri"/>
              </a:rPr>
              <a:t>gain</a:t>
            </a:r>
            <a:r>
              <a:rPr sz="2800" spc="-60" dirty="0">
                <a:latin typeface="Calibri"/>
                <a:cs typeface="Calibri"/>
              </a:rPr>
              <a:t> </a:t>
            </a:r>
            <a:r>
              <a:rPr sz="2800" dirty="0">
                <a:latin typeface="Calibri"/>
                <a:cs typeface="Calibri"/>
              </a:rPr>
              <a:t>and</a:t>
            </a:r>
            <a:r>
              <a:rPr sz="2800" spc="-87" dirty="0">
                <a:latin typeface="Calibri"/>
                <a:cs typeface="Calibri"/>
              </a:rPr>
              <a:t> </a:t>
            </a:r>
            <a:r>
              <a:rPr sz="2800" spc="-13" dirty="0">
                <a:latin typeface="Calibri"/>
                <a:cs typeface="Calibri"/>
              </a:rPr>
              <a:t>bandwidth</a:t>
            </a:r>
            <a:endParaRPr sz="2800" dirty="0">
              <a:latin typeface="Calibri"/>
              <a:cs typeface="Calibri"/>
            </a:endParaRPr>
          </a:p>
          <a:p>
            <a:pPr marL="1008355" lvl="1" indent="-381837">
              <a:spcBef>
                <a:spcPts val="593"/>
              </a:spcBef>
              <a:buFont typeface="Microsoft Sans Serif"/>
              <a:buChar char="–"/>
              <a:tabLst>
                <a:tab pos="1008355" algn="l"/>
              </a:tabLst>
            </a:pPr>
            <a:r>
              <a:rPr sz="2400" dirty="0">
                <a:latin typeface="Calibri"/>
                <a:cs typeface="Calibri"/>
              </a:rPr>
              <a:t>Power</a:t>
            </a:r>
            <a:r>
              <a:rPr sz="2400" spc="-60" dirty="0">
                <a:latin typeface="Calibri"/>
                <a:cs typeface="Calibri"/>
              </a:rPr>
              <a:t> </a:t>
            </a:r>
            <a:r>
              <a:rPr sz="2400" spc="-13" dirty="0">
                <a:latin typeface="Calibri"/>
                <a:cs typeface="Calibri"/>
              </a:rPr>
              <a:t>consumption</a:t>
            </a:r>
            <a:r>
              <a:rPr sz="2400" spc="-47" dirty="0">
                <a:latin typeface="Calibri"/>
                <a:cs typeface="Calibri"/>
              </a:rPr>
              <a:t> </a:t>
            </a:r>
            <a:r>
              <a:rPr sz="2400" dirty="0">
                <a:latin typeface="Calibri"/>
                <a:cs typeface="Calibri"/>
              </a:rPr>
              <a:t>can</a:t>
            </a:r>
            <a:r>
              <a:rPr sz="2400" spc="-67" dirty="0">
                <a:latin typeface="Calibri"/>
                <a:cs typeface="Calibri"/>
              </a:rPr>
              <a:t> </a:t>
            </a:r>
            <a:r>
              <a:rPr sz="2400" dirty="0">
                <a:latin typeface="Calibri"/>
                <a:cs typeface="Calibri"/>
              </a:rPr>
              <a:t>be</a:t>
            </a:r>
            <a:r>
              <a:rPr sz="2400" spc="-47" dirty="0">
                <a:latin typeface="Calibri"/>
                <a:cs typeface="Calibri"/>
              </a:rPr>
              <a:t> </a:t>
            </a:r>
            <a:r>
              <a:rPr sz="2400" spc="-27" dirty="0">
                <a:latin typeface="Calibri"/>
                <a:cs typeface="Calibri"/>
              </a:rPr>
              <a:t>high</a:t>
            </a:r>
            <a:endParaRPr sz="2400" dirty="0">
              <a:latin typeface="Calibri"/>
              <a:cs typeface="Calibri"/>
            </a:endParaRPr>
          </a:p>
          <a:p>
            <a:pPr marL="1008355" lvl="1" indent="-381837">
              <a:spcBef>
                <a:spcPts val="573"/>
              </a:spcBef>
              <a:buFont typeface="Microsoft Sans Serif"/>
              <a:buChar char="–"/>
              <a:tabLst>
                <a:tab pos="1008355" algn="l"/>
              </a:tabLst>
            </a:pPr>
            <a:r>
              <a:rPr sz="2400" dirty="0">
                <a:latin typeface="Calibri"/>
                <a:cs typeface="Calibri"/>
              </a:rPr>
              <a:t>DC</a:t>
            </a:r>
            <a:r>
              <a:rPr sz="2400" spc="-60" dirty="0">
                <a:latin typeface="Calibri"/>
                <a:cs typeface="Calibri"/>
              </a:rPr>
              <a:t> </a:t>
            </a:r>
            <a:r>
              <a:rPr sz="2400" dirty="0">
                <a:latin typeface="Calibri"/>
                <a:cs typeface="Calibri"/>
              </a:rPr>
              <a:t>variation</a:t>
            </a:r>
            <a:r>
              <a:rPr sz="2400" spc="-47" dirty="0">
                <a:latin typeface="Calibri"/>
                <a:cs typeface="Calibri"/>
              </a:rPr>
              <a:t> </a:t>
            </a:r>
            <a:r>
              <a:rPr sz="2400" dirty="0">
                <a:latin typeface="Calibri"/>
                <a:cs typeface="Calibri"/>
              </a:rPr>
              <a:t>at</a:t>
            </a:r>
            <a:r>
              <a:rPr sz="2400" spc="-60" dirty="0">
                <a:latin typeface="Calibri"/>
                <a:cs typeface="Calibri"/>
              </a:rPr>
              <a:t> </a:t>
            </a:r>
            <a:r>
              <a:rPr sz="2400" dirty="0">
                <a:latin typeface="Calibri"/>
                <a:cs typeface="Calibri"/>
              </a:rPr>
              <a:t>each</a:t>
            </a:r>
            <a:r>
              <a:rPr sz="2400" spc="-47" dirty="0">
                <a:latin typeface="Calibri"/>
                <a:cs typeface="Calibri"/>
              </a:rPr>
              <a:t> </a:t>
            </a:r>
            <a:r>
              <a:rPr sz="2400" dirty="0">
                <a:latin typeface="Calibri"/>
                <a:cs typeface="Calibri"/>
              </a:rPr>
              <a:t>stage</a:t>
            </a:r>
            <a:r>
              <a:rPr sz="2400" spc="-73" dirty="0">
                <a:latin typeface="Calibri"/>
                <a:cs typeface="Calibri"/>
              </a:rPr>
              <a:t> </a:t>
            </a:r>
            <a:r>
              <a:rPr sz="2400" dirty="0">
                <a:latin typeface="Calibri"/>
                <a:cs typeface="Calibri"/>
              </a:rPr>
              <a:t>increases</a:t>
            </a:r>
            <a:r>
              <a:rPr sz="2400" spc="-60" dirty="0">
                <a:latin typeface="Calibri"/>
                <a:cs typeface="Calibri"/>
              </a:rPr>
              <a:t> </a:t>
            </a:r>
            <a:r>
              <a:rPr sz="2400" dirty="0">
                <a:latin typeface="Calibri"/>
                <a:cs typeface="Calibri"/>
              </a:rPr>
              <a:t>with</a:t>
            </a:r>
            <a:r>
              <a:rPr sz="2400" spc="-33" dirty="0">
                <a:latin typeface="Calibri"/>
                <a:cs typeface="Calibri"/>
              </a:rPr>
              <a:t> </a:t>
            </a:r>
            <a:r>
              <a:rPr sz="2400" dirty="0">
                <a:latin typeface="Calibri"/>
                <a:cs typeface="Calibri"/>
              </a:rPr>
              <a:t>number</a:t>
            </a:r>
            <a:r>
              <a:rPr sz="2400" spc="-60" dirty="0">
                <a:latin typeface="Calibri"/>
                <a:cs typeface="Calibri"/>
              </a:rPr>
              <a:t> </a:t>
            </a:r>
            <a:r>
              <a:rPr sz="2400" dirty="0">
                <a:latin typeface="Calibri"/>
                <a:cs typeface="Calibri"/>
              </a:rPr>
              <a:t>of</a:t>
            </a:r>
            <a:r>
              <a:rPr sz="2400" spc="-53" dirty="0">
                <a:latin typeface="Calibri"/>
                <a:cs typeface="Calibri"/>
              </a:rPr>
              <a:t> </a:t>
            </a:r>
            <a:r>
              <a:rPr sz="2400" spc="-13" dirty="0">
                <a:latin typeface="Calibri"/>
                <a:cs typeface="Calibri"/>
              </a:rPr>
              <a:t>stages</a:t>
            </a:r>
            <a:endParaRPr sz="2400" dirty="0">
              <a:latin typeface="Calibri"/>
              <a:cs typeface="Calibri"/>
            </a:endParaRPr>
          </a:p>
          <a:p>
            <a:pPr marL="1008355" lvl="1" indent="-381837">
              <a:spcBef>
                <a:spcPts val="579"/>
              </a:spcBef>
              <a:buFont typeface="Microsoft Sans Serif"/>
              <a:buChar char="–"/>
              <a:tabLst>
                <a:tab pos="1008355" algn="l"/>
              </a:tabLst>
            </a:pPr>
            <a:r>
              <a:rPr sz="2400" dirty="0">
                <a:latin typeface="Calibri"/>
                <a:cs typeface="Calibri"/>
              </a:rPr>
              <a:t>Power</a:t>
            </a:r>
            <a:r>
              <a:rPr sz="2400" spc="-67" dirty="0">
                <a:latin typeface="Calibri"/>
                <a:cs typeface="Calibri"/>
              </a:rPr>
              <a:t> </a:t>
            </a:r>
            <a:r>
              <a:rPr sz="2400" dirty="0">
                <a:latin typeface="Calibri"/>
                <a:cs typeface="Calibri"/>
              </a:rPr>
              <a:t>supply</a:t>
            </a:r>
            <a:r>
              <a:rPr sz="2400" spc="-80" dirty="0">
                <a:latin typeface="Calibri"/>
                <a:cs typeface="Calibri"/>
              </a:rPr>
              <a:t> </a:t>
            </a:r>
            <a:r>
              <a:rPr sz="2400" dirty="0">
                <a:latin typeface="Calibri"/>
                <a:cs typeface="Calibri"/>
              </a:rPr>
              <a:t>rejection</a:t>
            </a:r>
            <a:r>
              <a:rPr sz="2400" spc="-53" dirty="0">
                <a:latin typeface="Calibri"/>
                <a:cs typeface="Calibri"/>
              </a:rPr>
              <a:t> </a:t>
            </a:r>
            <a:r>
              <a:rPr sz="2400" dirty="0">
                <a:latin typeface="Calibri"/>
                <a:cs typeface="Calibri"/>
              </a:rPr>
              <a:t>also</a:t>
            </a:r>
            <a:r>
              <a:rPr sz="2400" spc="-80" dirty="0">
                <a:latin typeface="Calibri"/>
                <a:cs typeface="Calibri"/>
              </a:rPr>
              <a:t> </a:t>
            </a:r>
            <a:r>
              <a:rPr sz="2400" spc="-13" dirty="0">
                <a:latin typeface="Calibri"/>
                <a:cs typeface="Calibri"/>
              </a:rPr>
              <a:t>suffers</a:t>
            </a:r>
            <a:r>
              <a:rPr sz="2400" spc="-93" dirty="0">
                <a:latin typeface="Calibri"/>
                <a:cs typeface="Calibri"/>
              </a:rPr>
              <a:t> </a:t>
            </a:r>
            <a:r>
              <a:rPr sz="2400" dirty="0">
                <a:latin typeface="Calibri"/>
                <a:cs typeface="Calibri"/>
              </a:rPr>
              <a:t>as</a:t>
            </a:r>
            <a:r>
              <a:rPr sz="2400" spc="-87" dirty="0">
                <a:latin typeface="Calibri"/>
                <a:cs typeface="Calibri"/>
              </a:rPr>
              <a:t> </a:t>
            </a:r>
            <a:r>
              <a:rPr sz="2400" dirty="0">
                <a:latin typeface="Calibri"/>
                <a:cs typeface="Calibri"/>
              </a:rPr>
              <a:t>number</a:t>
            </a:r>
            <a:r>
              <a:rPr sz="2400" spc="-73" dirty="0">
                <a:latin typeface="Calibri"/>
                <a:cs typeface="Calibri"/>
              </a:rPr>
              <a:t> </a:t>
            </a:r>
            <a:r>
              <a:rPr sz="2400" dirty="0">
                <a:latin typeface="Calibri"/>
                <a:cs typeface="Calibri"/>
              </a:rPr>
              <a:t>of</a:t>
            </a:r>
            <a:r>
              <a:rPr sz="2400" spc="-67" dirty="0">
                <a:latin typeface="Calibri"/>
                <a:cs typeface="Calibri"/>
              </a:rPr>
              <a:t> </a:t>
            </a:r>
            <a:r>
              <a:rPr sz="2400" dirty="0">
                <a:latin typeface="Calibri"/>
                <a:cs typeface="Calibri"/>
              </a:rPr>
              <a:t>stages</a:t>
            </a:r>
            <a:r>
              <a:rPr sz="2400" spc="-87" dirty="0">
                <a:latin typeface="Calibri"/>
                <a:cs typeface="Calibri"/>
              </a:rPr>
              <a:t> </a:t>
            </a:r>
            <a:r>
              <a:rPr sz="2400" spc="-13" dirty="0">
                <a:latin typeface="Calibri"/>
                <a:cs typeface="Calibri"/>
              </a:rPr>
              <a:t>increase</a:t>
            </a:r>
            <a:endParaRPr sz="2400" dirty="0">
              <a:latin typeface="Calibri"/>
              <a:cs typeface="Calibri"/>
            </a:endParaRPr>
          </a:p>
        </p:txBody>
      </p:sp>
      <p:sp>
        <p:nvSpPr>
          <p:cNvPr id="129" name="object 129"/>
          <p:cNvSpPr txBox="1">
            <a:spLocks noGrp="1"/>
          </p:cNvSpPr>
          <p:nvPr>
            <p:ph type="sldNum" sz="quarter" idx="7"/>
          </p:nvPr>
        </p:nvSpPr>
        <p:spPr>
          <a:xfrm>
            <a:off x="8664953" y="6567306"/>
            <a:ext cx="3352800" cy="176202"/>
          </a:xfrm>
          <a:prstGeom prst="rect">
            <a:avLst/>
          </a:prstGeom>
        </p:spPr>
        <p:txBody>
          <a:bodyPr vert="horz" wrap="square" lIns="0" tIns="0" rIns="0" bIns="0" rtlCol="0" anchor="ctr">
            <a:spAutoFit/>
          </a:bodyPr>
          <a:lstStyle/>
          <a:p>
            <a:pPr marL="50799">
              <a:lnSpc>
                <a:spcPts val="1533"/>
              </a:lnSpc>
            </a:pPr>
            <a:fld id="{81D60167-4931-47E6-BA6A-407CBD079E47}" type="slidenum">
              <a:rPr/>
              <a:pPr marL="50799">
                <a:lnSpc>
                  <a:spcPts val="1533"/>
                </a:lnSpc>
              </a:pPr>
              <a:t>59</a:t>
            </a:fld>
            <a:r>
              <a:rPr dirty="0"/>
              <a:t> </a:t>
            </a:r>
            <a:endParaRPr spc="-33" dirty="0"/>
          </a:p>
        </p:txBody>
      </p:sp>
      <p:sp>
        <p:nvSpPr>
          <p:cNvPr id="130" name="Date Placeholder 129"/>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31" name="Footer Placeholder 130"/>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40326505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67" y="233003"/>
            <a:ext cx="585045" cy="221365"/>
          </a:xfrm>
          <a:prstGeom prst="rect">
            <a:avLst/>
          </a:prstGeom>
        </p:spPr>
        <p:txBody>
          <a:bodyPr vert="horz" wrap="square" lIns="0" tIns="16087" rIns="0" bIns="0" rtlCol="0">
            <a:spAutoFit/>
          </a:bodyPr>
          <a:lstStyle/>
          <a:p>
            <a:pPr marL="16933">
              <a:spcBef>
                <a:spcPts val="127"/>
              </a:spcBef>
            </a:pPr>
            <a:r>
              <a:rPr sz="1333" spc="-13" dirty="0">
                <a:solidFill>
                  <a:srgbClr val="008000"/>
                </a:solidFill>
                <a:latin typeface="Arial MT"/>
                <a:cs typeface="Arial MT"/>
              </a:rPr>
              <a:t>[Public]</a:t>
            </a:r>
            <a:endParaRPr sz="1333">
              <a:latin typeface="Arial MT"/>
              <a:cs typeface="Arial MT"/>
            </a:endParaRPr>
          </a:p>
        </p:txBody>
      </p:sp>
      <p:sp>
        <p:nvSpPr>
          <p:cNvPr id="4" name="object 4"/>
          <p:cNvSpPr/>
          <p:nvPr/>
        </p:nvSpPr>
        <p:spPr>
          <a:xfrm>
            <a:off x="6052774" y="2469244"/>
            <a:ext cx="165100" cy="0"/>
          </a:xfrm>
          <a:custGeom>
            <a:avLst/>
            <a:gdLst/>
            <a:ahLst/>
            <a:cxnLst/>
            <a:rect l="l" t="t" r="r" b="b"/>
            <a:pathLst>
              <a:path w="123825">
                <a:moveTo>
                  <a:pt x="0" y="0"/>
                </a:moveTo>
                <a:lnTo>
                  <a:pt x="123377" y="0"/>
                </a:lnTo>
              </a:path>
            </a:pathLst>
          </a:custGeom>
          <a:ln w="44461">
            <a:solidFill>
              <a:srgbClr val="000000"/>
            </a:solidFill>
          </a:ln>
        </p:spPr>
        <p:txBody>
          <a:bodyPr wrap="square" lIns="0" tIns="0" rIns="0" bIns="0" rtlCol="0"/>
          <a:lstStyle/>
          <a:p>
            <a:endParaRPr sz="2400"/>
          </a:p>
        </p:txBody>
      </p:sp>
      <p:sp>
        <p:nvSpPr>
          <p:cNvPr id="5" name="object 5"/>
          <p:cNvSpPr/>
          <p:nvPr/>
        </p:nvSpPr>
        <p:spPr>
          <a:xfrm>
            <a:off x="5759129" y="2367281"/>
            <a:ext cx="319193" cy="445347"/>
          </a:xfrm>
          <a:custGeom>
            <a:avLst/>
            <a:gdLst/>
            <a:ahLst/>
            <a:cxnLst/>
            <a:rect l="l" t="t" r="r" b="b"/>
            <a:pathLst>
              <a:path w="239395" h="334010">
                <a:moveTo>
                  <a:pt x="44424" y="76415"/>
                </a:moveTo>
                <a:lnTo>
                  <a:pt x="0" y="76415"/>
                </a:lnTo>
                <a:lnTo>
                  <a:pt x="0" y="333654"/>
                </a:lnTo>
                <a:lnTo>
                  <a:pt x="44424" y="333654"/>
                </a:lnTo>
                <a:lnTo>
                  <a:pt x="44424" y="76415"/>
                </a:lnTo>
                <a:close/>
              </a:path>
              <a:path w="239395" h="334010">
                <a:moveTo>
                  <a:pt x="239395" y="0"/>
                </a:moveTo>
                <a:lnTo>
                  <a:pt x="86563" y="76479"/>
                </a:lnTo>
                <a:lnTo>
                  <a:pt x="239395" y="152958"/>
                </a:lnTo>
                <a:lnTo>
                  <a:pt x="239395" y="0"/>
                </a:lnTo>
                <a:close/>
              </a:path>
            </a:pathLst>
          </a:custGeom>
          <a:solidFill>
            <a:srgbClr val="000000"/>
          </a:solidFill>
        </p:spPr>
        <p:txBody>
          <a:bodyPr wrap="square" lIns="0" tIns="0" rIns="0" bIns="0" rtlCol="0"/>
          <a:lstStyle/>
          <a:p>
            <a:endParaRPr sz="2400"/>
          </a:p>
        </p:txBody>
      </p:sp>
      <p:sp>
        <p:nvSpPr>
          <p:cNvPr id="6" name="object 6"/>
          <p:cNvSpPr/>
          <p:nvPr/>
        </p:nvSpPr>
        <p:spPr>
          <a:xfrm>
            <a:off x="5874562" y="2812152"/>
            <a:ext cx="331893" cy="0"/>
          </a:xfrm>
          <a:custGeom>
            <a:avLst/>
            <a:gdLst/>
            <a:ahLst/>
            <a:cxnLst/>
            <a:rect l="l" t="t" r="r" b="b"/>
            <a:pathLst>
              <a:path w="248920">
                <a:moveTo>
                  <a:pt x="248531" y="0"/>
                </a:moveTo>
                <a:lnTo>
                  <a:pt x="0" y="0"/>
                </a:lnTo>
              </a:path>
            </a:pathLst>
          </a:custGeom>
          <a:ln w="44461">
            <a:solidFill>
              <a:srgbClr val="000000"/>
            </a:solidFill>
          </a:ln>
        </p:spPr>
        <p:txBody>
          <a:bodyPr wrap="square" lIns="0" tIns="0" rIns="0" bIns="0" rtlCol="0"/>
          <a:lstStyle/>
          <a:p>
            <a:endParaRPr sz="2400"/>
          </a:p>
        </p:txBody>
      </p:sp>
      <p:sp>
        <p:nvSpPr>
          <p:cNvPr id="7" name="object 7"/>
          <p:cNvSpPr/>
          <p:nvPr/>
        </p:nvSpPr>
        <p:spPr>
          <a:xfrm>
            <a:off x="5844945" y="2383420"/>
            <a:ext cx="59267" cy="514773"/>
          </a:xfrm>
          <a:custGeom>
            <a:avLst/>
            <a:gdLst/>
            <a:ahLst/>
            <a:cxnLst/>
            <a:rect l="l" t="t" r="r" b="b"/>
            <a:pathLst>
              <a:path w="44450" h="386080">
                <a:moveTo>
                  <a:pt x="44425" y="0"/>
                </a:moveTo>
                <a:lnTo>
                  <a:pt x="0" y="0"/>
                </a:lnTo>
                <a:lnTo>
                  <a:pt x="0" y="385866"/>
                </a:lnTo>
                <a:lnTo>
                  <a:pt x="44425" y="385866"/>
                </a:lnTo>
                <a:lnTo>
                  <a:pt x="44425" y="0"/>
                </a:lnTo>
                <a:close/>
              </a:path>
            </a:pathLst>
          </a:custGeom>
          <a:solidFill>
            <a:srgbClr val="000000"/>
          </a:solidFill>
        </p:spPr>
        <p:txBody>
          <a:bodyPr wrap="square" lIns="0" tIns="0" rIns="0" bIns="0" rtlCol="0"/>
          <a:lstStyle/>
          <a:p>
            <a:endParaRPr sz="2400"/>
          </a:p>
        </p:txBody>
      </p:sp>
      <p:sp>
        <p:nvSpPr>
          <p:cNvPr id="8" name="object 8"/>
          <p:cNvSpPr/>
          <p:nvPr/>
        </p:nvSpPr>
        <p:spPr>
          <a:xfrm>
            <a:off x="4454286" y="2640656"/>
            <a:ext cx="1763607" cy="951653"/>
          </a:xfrm>
          <a:custGeom>
            <a:avLst/>
            <a:gdLst/>
            <a:ahLst/>
            <a:cxnLst/>
            <a:rect l="l" t="t" r="r" b="b"/>
            <a:pathLst>
              <a:path w="1322704" h="713739">
                <a:moveTo>
                  <a:pt x="897657" y="0"/>
                </a:moveTo>
                <a:lnTo>
                  <a:pt x="0" y="0"/>
                </a:lnTo>
              </a:path>
              <a:path w="1322704" h="713739">
                <a:moveTo>
                  <a:pt x="1322242" y="129130"/>
                </a:moveTo>
                <a:lnTo>
                  <a:pt x="1322242" y="586707"/>
                </a:lnTo>
              </a:path>
              <a:path w="1322704" h="713739">
                <a:moveTo>
                  <a:pt x="1322369" y="713550"/>
                </a:moveTo>
                <a:lnTo>
                  <a:pt x="1322369" y="584928"/>
                </a:lnTo>
              </a:path>
              <a:path w="1322704" h="713739">
                <a:moveTo>
                  <a:pt x="1065333" y="713550"/>
                </a:moveTo>
                <a:lnTo>
                  <a:pt x="1322369" y="713550"/>
                </a:lnTo>
              </a:path>
            </a:pathLst>
          </a:custGeom>
          <a:ln w="44443">
            <a:solidFill>
              <a:srgbClr val="000000"/>
            </a:solidFill>
          </a:ln>
        </p:spPr>
        <p:txBody>
          <a:bodyPr wrap="square" lIns="0" tIns="0" rIns="0" bIns="0" rtlCol="0"/>
          <a:lstStyle/>
          <a:p>
            <a:endParaRPr sz="2400"/>
          </a:p>
        </p:txBody>
      </p:sp>
      <p:sp>
        <p:nvSpPr>
          <p:cNvPr id="9" name="object 9"/>
          <p:cNvSpPr/>
          <p:nvPr/>
        </p:nvSpPr>
        <p:spPr>
          <a:xfrm>
            <a:off x="5759309" y="3592056"/>
            <a:ext cx="59267" cy="343747"/>
          </a:xfrm>
          <a:custGeom>
            <a:avLst/>
            <a:gdLst/>
            <a:ahLst/>
            <a:cxnLst/>
            <a:rect l="l" t="t" r="r" b="b"/>
            <a:pathLst>
              <a:path w="44450" h="257810">
                <a:moveTo>
                  <a:pt x="44425" y="0"/>
                </a:moveTo>
                <a:lnTo>
                  <a:pt x="0" y="0"/>
                </a:lnTo>
                <a:lnTo>
                  <a:pt x="0" y="257244"/>
                </a:lnTo>
                <a:lnTo>
                  <a:pt x="44425" y="257244"/>
                </a:lnTo>
                <a:lnTo>
                  <a:pt x="44425" y="0"/>
                </a:lnTo>
                <a:close/>
              </a:path>
            </a:pathLst>
          </a:custGeom>
          <a:solidFill>
            <a:srgbClr val="000000"/>
          </a:solidFill>
        </p:spPr>
        <p:txBody>
          <a:bodyPr wrap="square" lIns="0" tIns="0" rIns="0" bIns="0" rtlCol="0"/>
          <a:lstStyle/>
          <a:p>
            <a:endParaRPr sz="2400"/>
          </a:p>
        </p:txBody>
      </p:sp>
      <p:sp>
        <p:nvSpPr>
          <p:cNvPr id="10" name="object 10"/>
          <p:cNvSpPr/>
          <p:nvPr/>
        </p:nvSpPr>
        <p:spPr>
          <a:xfrm>
            <a:off x="5874731" y="3935048"/>
            <a:ext cx="134620" cy="0"/>
          </a:xfrm>
          <a:custGeom>
            <a:avLst/>
            <a:gdLst/>
            <a:ahLst/>
            <a:cxnLst/>
            <a:rect l="l" t="t" r="r" b="b"/>
            <a:pathLst>
              <a:path w="100964">
                <a:moveTo>
                  <a:pt x="100402" y="0"/>
                </a:moveTo>
                <a:lnTo>
                  <a:pt x="0" y="0"/>
                </a:lnTo>
              </a:path>
            </a:pathLst>
          </a:custGeom>
          <a:ln w="44461">
            <a:solidFill>
              <a:srgbClr val="000000"/>
            </a:solidFill>
          </a:ln>
        </p:spPr>
        <p:txBody>
          <a:bodyPr wrap="square" lIns="0" tIns="0" rIns="0" bIns="0" rtlCol="0"/>
          <a:lstStyle/>
          <a:p>
            <a:endParaRPr sz="2400"/>
          </a:p>
        </p:txBody>
      </p:sp>
      <p:sp>
        <p:nvSpPr>
          <p:cNvPr id="11" name="object 11"/>
          <p:cNvSpPr/>
          <p:nvPr/>
        </p:nvSpPr>
        <p:spPr>
          <a:xfrm>
            <a:off x="5845099" y="3506301"/>
            <a:ext cx="393700" cy="514773"/>
          </a:xfrm>
          <a:custGeom>
            <a:avLst/>
            <a:gdLst/>
            <a:ahLst/>
            <a:cxnLst/>
            <a:rect l="l" t="t" r="r" b="b"/>
            <a:pathLst>
              <a:path w="295275" h="386080">
                <a:moveTo>
                  <a:pt x="44424" y="0"/>
                </a:moveTo>
                <a:lnTo>
                  <a:pt x="0" y="0"/>
                </a:lnTo>
                <a:lnTo>
                  <a:pt x="0" y="385876"/>
                </a:lnTo>
                <a:lnTo>
                  <a:pt x="44424" y="385876"/>
                </a:lnTo>
                <a:lnTo>
                  <a:pt x="44424" y="0"/>
                </a:lnTo>
                <a:close/>
              </a:path>
              <a:path w="295275" h="386080">
                <a:moveTo>
                  <a:pt x="295122" y="321564"/>
                </a:moveTo>
                <a:lnTo>
                  <a:pt x="107010" y="258813"/>
                </a:lnTo>
                <a:lnTo>
                  <a:pt x="107010" y="384327"/>
                </a:lnTo>
                <a:lnTo>
                  <a:pt x="295122" y="321564"/>
                </a:lnTo>
                <a:close/>
              </a:path>
            </a:pathLst>
          </a:custGeom>
          <a:solidFill>
            <a:srgbClr val="000000"/>
          </a:solidFill>
        </p:spPr>
        <p:txBody>
          <a:bodyPr wrap="square" lIns="0" tIns="0" rIns="0" bIns="0" rtlCol="0"/>
          <a:lstStyle/>
          <a:p>
            <a:endParaRPr sz="2400"/>
          </a:p>
        </p:txBody>
      </p:sp>
      <p:sp>
        <p:nvSpPr>
          <p:cNvPr id="12" name="object 12"/>
          <p:cNvSpPr/>
          <p:nvPr/>
        </p:nvSpPr>
        <p:spPr>
          <a:xfrm>
            <a:off x="5532017" y="3592056"/>
            <a:ext cx="685800" cy="540173"/>
          </a:xfrm>
          <a:custGeom>
            <a:avLst/>
            <a:gdLst/>
            <a:ahLst/>
            <a:cxnLst/>
            <a:rect l="l" t="t" r="r" b="b"/>
            <a:pathLst>
              <a:path w="514350" h="405130">
                <a:moveTo>
                  <a:pt x="192681" y="128622"/>
                </a:moveTo>
                <a:lnTo>
                  <a:pt x="0" y="128622"/>
                </a:lnTo>
              </a:path>
              <a:path w="514350" h="405130">
                <a:moveTo>
                  <a:pt x="514071" y="276108"/>
                </a:moveTo>
                <a:lnTo>
                  <a:pt x="514071" y="404730"/>
                </a:lnTo>
              </a:path>
              <a:path w="514350" h="405130">
                <a:moveTo>
                  <a:pt x="514071" y="0"/>
                </a:moveTo>
                <a:lnTo>
                  <a:pt x="274044" y="0"/>
                </a:lnTo>
              </a:path>
            </a:pathLst>
          </a:custGeom>
          <a:ln w="44443">
            <a:solidFill>
              <a:srgbClr val="000000"/>
            </a:solidFill>
          </a:ln>
        </p:spPr>
        <p:txBody>
          <a:bodyPr wrap="square" lIns="0" tIns="0" rIns="0" bIns="0" rtlCol="0"/>
          <a:lstStyle/>
          <a:p>
            <a:endParaRPr sz="2400"/>
          </a:p>
        </p:txBody>
      </p:sp>
      <p:pic>
        <p:nvPicPr>
          <p:cNvPr id="13" name="object 13"/>
          <p:cNvPicPr/>
          <p:nvPr/>
        </p:nvPicPr>
        <p:blipFill>
          <a:blip r:embed="rId3" cstate="print"/>
          <a:stretch>
            <a:fillRect/>
          </a:stretch>
        </p:blipFill>
        <p:spPr>
          <a:xfrm>
            <a:off x="5625427" y="2560719"/>
            <a:ext cx="148953" cy="148423"/>
          </a:xfrm>
          <a:prstGeom prst="rect">
            <a:avLst/>
          </a:prstGeom>
        </p:spPr>
      </p:pic>
      <p:sp>
        <p:nvSpPr>
          <p:cNvPr id="14" name="object 14"/>
          <p:cNvSpPr/>
          <p:nvPr/>
        </p:nvSpPr>
        <p:spPr>
          <a:xfrm>
            <a:off x="6116747" y="3951987"/>
            <a:ext cx="201507" cy="336127"/>
          </a:xfrm>
          <a:custGeom>
            <a:avLst/>
            <a:gdLst/>
            <a:ahLst/>
            <a:cxnLst/>
            <a:rect l="l" t="t" r="r" b="b"/>
            <a:pathLst>
              <a:path w="151129" h="252094">
                <a:moveTo>
                  <a:pt x="75397" y="89216"/>
                </a:moveTo>
                <a:lnTo>
                  <a:pt x="75397" y="0"/>
                </a:lnTo>
              </a:path>
              <a:path w="151129" h="252094">
                <a:moveTo>
                  <a:pt x="0" y="152923"/>
                </a:moveTo>
                <a:lnTo>
                  <a:pt x="150794" y="152923"/>
                </a:lnTo>
              </a:path>
              <a:path w="151129" h="252094">
                <a:moveTo>
                  <a:pt x="25132" y="202432"/>
                </a:moveTo>
                <a:lnTo>
                  <a:pt x="125661" y="202432"/>
                </a:lnTo>
              </a:path>
              <a:path w="151129" h="252094">
                <a:moveTo>
                  <a:pt x="50264" y="251942"/>
                </a:moveTo>
                <a:lnTo>
                  <a:pt x="100529" y="251942"/>
                </a:lnTo>
              </a:path>
              <a:path w="151129" h="252094">
                <a:moveTo>
                  <a:pt x="75397" y="20897"/>
                </a:moveTo>
                <a:lnTo>
                  <a:pt x="75397" y="152923"/>
                </a:lnTo>
              </a:path>
            </a:pathLst>
          </a:custGeom>
          <a:ln w="38094">
            <a:solidFill>
              <a:srgbClr val="000000"/>
            </a:solidFill>
          </a:ln>
        </p:spPr>
        <p:txBody>
          <a:bodyPr wrap="square" lIns="0" tIns="0" rIns="0" bIns="0" rtlCol="0"/>
          <a:lstStyle/>
          <a:p>
            <a:endParaRPr sz="2400"/>
          </a:p>
        </p:txBody>
      </p:sp>
      <p:sp>
        <p:nvSpPr>
          <p:cNvPr id="15" name="object 15"/>
          <p:cNvSpPr/>
          <p:nvPr/>
        </p:nvSpPr>
        <p:spPr>
          <a:xfrm>
            <a:off x="4442778" y="2153691"/>
            <a:ext cx="1774613" cy="1610360"/>
          </a:xfrm>
          <a:custGeom>
            <a:avLst/>
            <a:gdLst/>
            <a:ahLst/>
            <a:cxnLst/>
            <a:rect l="l" t="t" r="r" b="b"/>
            <a:pathLst>
              <a:path w="1330960" h="1207770">
                <a:moveTo>
                  <a:pt x="1330874" y="236664"/>
                </a:moveTo>
                <a:lnTo>
                  <a:pt x="1330874" y="0"/>
                </a:lnTo>
              </a:path>
              <a:path w="1330960" h="1207770">
                <a:moveTo>
                  <a:pt x="979655" y="1207395"/>
                </a:moveTo>
                <a:lnTo>
                  <a:pt x="0" y="1207395"/>
                </a:lnTo>
              </a:path>
              <a:path w="1330960" h="1207770">
                <a:moveTo>
                  <a:pt x="737470" y="783432"/>
                </a:moveTo>
                <a:lnTo>
                  <a:pt x="768314" y="709345"/>
                </a:lnTo>
                <a:lnTo>
                  <a:pt x="830003" y="857518"/>
                </a:lnTo>
                <a:lnTo>
                  <a:pt x="891692" y="709345"/>
                </a:lnTo>
                <a:lnTo>
                  <a:pt x="953380" y="857518"/>
                </a:lnTo>
                <a:lnTo>
                  <a:pt x="1015069" y="709345"/>
                </a:lnTo>
                <a:lnTo>
                  <a:pt x="1076757" y="857518"/>
                </a:lnTo>
                <a:lnTo>
                  <a:pt x="1107602" y="783432"/>
                </a:lnTo>
              </a:path>
            </a:pathLst>
          </a:custGeom>
          <a:ln w="44443">
            <a:solidFill>
              <a:srgbClr val="000000"/>
            </a:solidFill>
          </a:ln>
        </p:spPr>
        <p:txBody>
          <a:bodyPr wrap="square" lIns="0" tIns="0" rIns="0" bIns="0" rtlCol="0"/>
          <a:lstStyle/>
          <a:p>
            <a:endParaRPr sz="2400"/>
          </a:p>
        </p:txBody>
      </p:sp>
      <p:pic>
        <p:nvPicPr>
          <p:cNvPr id="16" name="object 16"/>
          <p:cNvPicPr/>
          <p:nvPr/>
        </p:nvPicPr>
        <p:blipFill>
          <a:blip r:embed="rId4" cstate="print"/>
          <a:stretch>
            <a:fillRect/>
          </a:stretch>
        </p:blipFill>
        <p:spPr>
          <a:xfrm>
            <a:off x="5919581" y="3119857"/>
            <a:ext cx="375559" cy="156820"/>
          </a:xfrm>
          <a:prstGeom prst="rect">
            <a:avLst/>
          </a:prstGeom>
        </p:spPr>
      </p:pic>
      <p:sp>
        <p:nvSpPr>
          <p:cNvPr id="17" name="object 17"/>
          <p:cNvSpPr/>
          <p:nvPr/>
        </p:nvSpPr>
        <p:spPr>
          <a:xfrm>
            <a:off x="3616539" y="2640656"/>
            <a:ext cx="1810173" cy="1123525"/>
          </a:xfrm>
          <a:custGeom>
            <a:avLst/>
            <a:gdLst/>
            <a:ahLst/>
            <a:cxnLst/>
            <a:rect l="l" t="t" r="r" b="b"/>
            <a:pathLst>
              <a:path w="1357629" h="842644">
                <a:moveTo>
                  <a:pt x="1357148" y="418209"/>
                </a:moveTo>
                <a:lnTo>
                  <a:pt x="1256619" y="418209"/>
                </a:lnTo>
              </a:path>
              <a:path w="1357629" h="842644">
                <a:moveTo>
                  <a:pt x="799666" y="303878"/>
                </a:moveTo>
                <a:lnTo>
                  <a:pt x="803254" y="282325"/>
                </a:lnTo>
                <a:lnTo>
                  <a:pt x="814755" y="264396"/>
                </a:lnTo>
                <a:lnTo>
                  <a:pt x="832421" y="251925"/>
                </a:lnTo>
                <a:lnTo>
                  <a:pt x="854501" y="246751"/>
                </a:lnTo>
                <a:lnTo>
                  <a:pt x="876884" y="250215"/>
                </a:lnTo>
                <a:lnTo>
                  <a:pt x="895531" y="261288"/>
                </a:lnTo>
                <a:lnTo>
                  <a:pt x="908514" y="278276"/>
                </a:lnTo>
                <a:lnTo>
                  <a:pt x="913905" y="299482"/>
                </a:lnTo>
                <a:lnTo>
                  <a:pt x="913905" y="300943"/>
                </a:lnTo>
                <a:lnTo>
                  <a:pt x="913905" y="302417"/>
                </a:lnTo>
                <a:lnTo>
                  <a:pt x="913905" y="303878"/>
                </a:lnTo>
                <a:lnTo>
                  <a:pt x="917492" y="282325"/>
                </a:lnTo>
                <a:lnTo>
                  <a:pt x="928993" y="264396"/>
                </a:lnTo>
                <a:lnTo>
                  <a:pt x="946659" y="251925"/>
                </a:lnTo>
                <a:lnTo>
                  <a:pt x="968739" y="246751"/>
                </a:lnTo>
                <a:lnTo>
                  <a:pt x="991122" y="250215"/>
                </a:lnTo>
                <a:lnTo>
                  <a:pt x="1009769" y="261288"/>
                </a:lnTo>
                <a:lnTo>
                  <a:pt x="1022752" y="278276"/>
                </a:lnTo>
                <a:lnTo>
                  <a:pt x="1028143" y="299482"/>
                </a:lnTo>
                <a:lnTo>
                  <a:pt x="1028143" y="300943"/>
                </a:lnTo>
                <a:lnTo>
                  <a:pt x="1028143" y="302417"/>
                </a:lnTo>
                <a:lnTo>
                  <a:pt x="1028143" y="303878"/>
                </a:lnTo>
                <a:lnTo>
                  <a:pt x="1031730" y="282325"/>
                </a:lnTo>
                <a:lnTo>
                  <a:pt x="1043232" y="264396"/>
                </a:lnTo>
                <a:lnTo>
                  <a:pt x="1060897" y="251925"/>
                </a:lnTo>
                <a:lnTo>
                  <a:pt x="1082977" y="246751"/>
                </a:lnTo>
                <a:lnTo>
                  <a:pt x="1105360" y="250215"/>
                </a:lnTo>
                <a:lnTo>
                  <a:pt x="1124007" y="261288"/>
                </a:lnTo>
                <a:lnTo>
                  <a:pt x="1136990" y="278276"/>
                </a:lnTo>
                <a:lnTo>
                  <a:pt x="1142381" y="299482"/>
                </a:lnTo>
                <a:lnTo>
                  <a:pt x="1142381" y="300943"/>
                </a:lnTo>
                <a:lnTo>
                  <a:pt x="1142381" y="302417"/>
                </a:lnTo>
                <a:lnTo>
                  <a:pt x="1142381" y="303878"/>
                </a:lnTo>
                <a:lnTo>
                  <a:pt x="1145969" y="282325"/>
                </a:lnTo>
                <a:lnTo>
                  <a:pt x="1157470" y="264396"/>
                </a:lnTo>
                <a:lnTo>
                  <a:pt x="1175135" y="251925"/>
                </a:lnTo>
                <a:lnTo>
                  <a:pt x="1197215" y="246751"/>
                </a:lnTo>
                <a:lnTo>
                  <a:pt x="1219599" y="250215"/>
                </a:lnTo>
                <a:lnTo>
                  <a:pt x="1238246" y="261288"/>
                </a:lnTo>
                <a:lnTo>
                  <a:pt x="1251228" y="278276"/>
                </a:lnTo>
                <a:lnTo>
                  <a:pt x="1256619" y="299482"/>
                </a:lnTo>
                <a:lnTo>
                  <a:pt x="1256619" y="300943"/>
                </a:lnTo>
                <a:lnTo>
                  <a:pt x="1256619" y="302417"/>
                </a:lnTo>
                <a:lnTo>
                  <a:pt x="1256619" y="303878"/>
                </a:lnTo>
              </a:path>
              <a:path w="1357629" h="842644">
                <a:moveTo>
                  <a:pt x="799666" y="303878"/>
                </a:moveTo>
                <a:lnTo>
                  <a:pt x="799666" y="418209"/>
                </a:lnTo>
              </a:path>
              <a:path w="1357629" h="842644">
                <a:moveTo>
                  <a:pt x="1256619" y="303878"/>
                </a:moveTo>
                <a:lnTo>
                  <a:pt x="1256619" y="418209"/>
                </a:lnTo>
              </a:path>
              <a:path w="1357629" h="842644">
                <a:moveTo>
                  <a:pt x="0" y="303878"/>
                </a:moveTo>
                <a:lnTo>
                  <a:pt x="3587" y="282325"/>
                </a:lnTo>
                <a:lnTo>
                  <a:pt x="15088" y="264396"/>
                </a:lnTo>
                <a:lnTo>
                  <a:pt x="32754" y="251925"/>
                </a:lnTo>
                <a:lnTo>
                  <a:pt x="54834" y="246751"/>
                </a:lnTo>
                <a:lnTo>
                  <a:pt x="77217" y="250215"/>
                </a:lnTo>
                <a:lnTo>
                  <a:pt x="95864" y="261288"/>
                </a:lnTo>
                <a:lnTo>
                  <a:pt x="108847" y="278276"/>
                </a:lnTo>
                <a:lnTo>
                  <a:pt x="114238" y="299482"/>
                </a:lnTo>
                <a:lnTo>
                  <a:pt x="114238" y="300943"/>
                </a:lnTo>
                <a:lnTo>
                  <a:pt x="114238" y="302417"/>
                </a:lnTo>
                <a:lnTo>
                  <a:pt x="114238" y="303878"/>
                </a:lnTo>
                <a:lnTo>
                  <a:pt x="117825" y="282325"/>
                </a:lnTo>
                <a:lnTo>
                  <a:pt x="129327" y="264396"/>
                </a:lnTo>
                <a:lnTo>
                  <a:pt x="146992" y="251925"/>
                </a:lnTo>
                <a:lnTo>
                  <a:pt x="169072" y="246751"/>
                </a:lnTo>
                <a:lnTo>
                  <a:pt x="191455" y="250215"/>
                </a:lnTo>
                <a:lnTo>
                  <a:pt x="210102" y="261288"/>
                </a:lnTo>
                <a:lnTo>
                  <a:pt x="223085" y="278276"/>
                </a:lnTo>
                <a:lnTo>
                  <a:pt x="228476" y="299482"/>
                </a:lnTo>
                <a:lnTo>
                  <a:pt x="228476" y="300943"/>
                </a:lnTo>
                <a:lnTo>
                  <a:pt x="228476" y="302417"/>
                </a:lnTo>
                <a:lnTo>
                  <a:pt x="228476" y="303878"/>
                </a:lnTo>
                <a:lnTo>
                  <a:pt x="232064" y="282325"/>
                </a:lnTo>
                <a:lnTo>
                  <a:pt x="243565" y="264396"/>
                </a:lnTo>
                <a:lnTo>
                  <a:pt x="261230" y="251925"/>
                </a:lnTo>
                <a:lnTo>
                  <a:pt x="283310" y="246751"/>
                </a:lnTo>
                <a:lnTo>
                  <a:pt x="305694" y="250215"/>
                </a:lnTo>
                <a:lnTo>
                  <a:pt x="324341" y="261288"/>
                </a:lnTo>
                <a:lnTo>
                  <a:pt x="337323" y="278276"/>
                </a:lnTo>
                <a:lnTo>
                  <a:pt x="342714" y="299482"/>
                </a:lnTo>
                <a:lnTo>
                  <a:pt x="342714" y="300943"/>
                </a:lnTo>
                <a:lnTo>
                  <a:pt x="342714" y="302417"/>
                </a:lnTo>
                <a:lnTo>
                  <a:pt x="342714" y="303878"/>
                </a:lnTo>
                <a:lnTo>
                  <a:pt x="346302" y="282325"/>
                </a:lnTo>
                <a:lnTo>
                  <a:pt x="357803" y="264396"/>
                </a:lnTo>
                <a:lnTo>
                  <a:pt x="375468" y="251925"/>
                </a:lnTo>
                <a:lnTo>
                  <a:pt x="397548" y="246751"/>
                </a:lnTo>
                <a:lnTo>
                  <a:pt x="419932" y="250215"/>
                </a:lnTo>
                <a:lnTo>
                  <a:pt x="438579" y="261288"/>
                </a:lnTo>
                <a:lnTo>
                  <a:pt x="451561" y="278276"/>
                </a:lnTo>
                <a:lnTo>
                  <a:pt x="456952" y="299482"/>
                </a:lnTo>
                <a:lnTo>
                  <a:pt x="456952" y="300943"/>
                </a:lnTo>
                <a:lnTo>
                  <a:pt x="456952" y="302417"/>
                </a:lnTo>
                <a:lnTo>
                  <a:pt x="456952" y="303878"/>
                </a:lnTo>
              </a:path>
              <a:path w="1357629" h="842644">
                <a:moveTo>
                  <a:pt x="0" y="303878"/>
                </a:moveTo>
                <a:lnTo>
                  <a:pt x="0" y="418209"/>
                </a:lnTo>
              </a:path>
              <a:path w="1357629" h="842644">
                <a:moveTo>
                  <a:pt x="456952" y="303878"/>
                </a:moveTo>
                <a:lnTo>
                  <a:pt x="456952" y="418209"/>
                </a:lnTo>
              </a:path>
              <a:path w="1357629" h="842644">
                <a:moveTo>
                  <a:pt x="799666" y="418209"/>
                </a:moveTo>
                <a:lnTo>
                  <a:pt x="456952" y="418209"/>
                </a:lnTo>
              </a:path>
              <a:path w="1357629" h="842644">
                <a:moveTo>
                  <a:pt x="619678" y="842172"/>
                </a:moveTo>
                <a:lnTo>
                  <a:pt x="628309" y="0"/>
                </a:lnTo>
              </a:path>
            </a:pathLst>
          </a:custGeom>
          <a:ln w="44443">
            <a:solidFill>
              <a:srgbClr val="000000"/>
            </a:solidFill>
          </a:ln>
        </p:spPr>
        <p:txBody>
          <a:bodyPr wrap="square" lIns="0" tIns="0" rIns="0" bIns="0" rtlCol="0"/>
          <a:lstStyle/>
          <a:p>
            <a:endParaRPr sz="2400"/>
          </a:p>
        </p:txBody>
      </p:sp>
      <p:pic>
        <p:nvPicPr>
          <p:cNvPr id="18" name="object 18"/>
          <p:cNvPicPr/>
          <p:nvPr/>
        </p:nvPicPr>
        <p:blipFill>
          <a:blip r:embed="rId5" cstate="print"/>
          <a:stretch>
            <a:fillRect/>
          </a:stretch>
        </p:blipFill>
        <p:spPr>
          <a:xfrm>
            <a:off x="4370330" y="3114979"/>
            <a:ext cx="157249" cy="156820"/>
          </a:xfrm>
          <a:prstGeom prst="rect">
            <a:avLst/>
          </a:prstGeom>
        </p:spPr>
      </p:pic>
      <p:sp>
        <p:nvSpPr>
          <p:cNvPr id="19" name="object 19"/>
          <p:cNvSpPr/>
          <p:nvPr/>
        </p:nvSpPr>
        <p:spPr>
          <a:xfrm>
            <a:off x="2781163" y="3198268"/>
            <a:ext cx="263313" cy="0"/>
          </a:xfrm>
          <a:custGeom>
            <a:avLst/>
            <a:gdLst/>
            <a:ahLst/>
            <a:cxnLst/>
            <a:rect l="l" t="t" r="r" b="b"/>
            <a:pathLst>
              <a:path w="197485">
                <a:moveTo>
                  <a:pt x="196997" y="0"/>
                </a:moveTo>
                <a:lnTo>
                  <a:pt x="0" y="0"/>
                </a:lnTo>
              </a:path>
            </a:pathLst>
          </a:custGeom>
          <a:ln w="44461">
            <a:solidFill>
              <a:srgbClr val="000000"/>
            </a:solidFill>
          </a:ln>
        </p:spPr>
        <p:txBody>
          <a:bodyPr wrap="square" lIns="0" tIns="0" rIns="0" bIns="0" rtlCol="0"/>
          <a:lstStyle/>
          <a:p>
            <a:endParaRPr sz="2400"/>
          </a:p>
        </p:txBody>
      </p:sp>
      <p:sp>
        <p:nvSpPr>
          <p:cNvPr id="20" name="object 20"/>
          <p:cNvSpPr/>
          <p:nvPr/>
        </p:nvSpPr>
        <p:spPr>
          <a:xfrm>
            <a:off x="4117495" y="2764743"/>
            <a:ext cx="717973" cy="122767"/>
          </a:xfrm>
          <a:custGeom>
            <a:avLst/>
            <a:gdLst/>
            <a:ahLst/>
            <a:cxnLst/>
            <a:rect l="l" t="t" r="r" b="b"/>
            <a:pathLst>
              <a:path w="538479" h="92075">
                <a:moveTo>
                  <a:pt x="538188" y="80374"/>
                </a:moveTo>
                <a:lnTo>
                  <a:pt x="499211" y="55815"/>
                </a:lnTo>
                <a:lnTo>
                  <a:pt x="457025" y="35722"/>
                </a:lnTo>
                <a:lnTo>
                  <a:pt x="412274" y="20093"/>
                </a:lnTo>
                <a:lnTo>
                  <a:pt x="365599" y="8930"/>
                </a:lnTo>
                <a:lnTo>
                  <a:pt x="317642" y="2232"/>
                </a:lnTo>
                <a:lnTo>
                  <a:pt x="269046" y="0"/>
                </a:lnTo>
                <a:lnTo>
                  <a:pt x="220453" y="2232"/>
                </a:lnTo>
                <a:lnTo>
                  <a:pt x="172504" y="8930"/>
                </a:lnTo>
                <a:lnTo>
                  <a:pt x="125842" y="20093"/>
                </a:lnTo>
                <a:lnTo>
                  <a:pt x="81109" y="35721"/>
                </a:lnTo>
                <a:lnTo>
                  <a:pt x="38948" y="55815"/>
                </a:lnTo>
                <a:lnTo>
                  <a:pt x="0" y="80374"/>
                </a:lnTo>
              </a:path>
              <a:path w="538479" h="92075">
                <a:moveTo>
                  <a:pt x="466345" y="92036"/>
                </a:moveTo>
                <a:lnTo>
                  <a:pt x="538188" y="80374"/>
                </a:lnTo>
                <a:lnTo>
                  <a:pt x="526510" y="8549"/>
                </a:lnTo>
              </a:path>
              <a:path w="538479" h="92075">
                <a:moveTo>
                  <a:pt x="11550" y="8549"/>
                </a:moveTo>
                <a:lnTo>
                  <a:pt x="0" y="80374"/>
                </a:lnTo>
                <a:lnTo>
                  <a:pt x="71716" y="92036"/>
                </a:lnTo>
              </a:path>
            </a:pathLst>
          </a:custGeom>
          <a:ln w="28571">
            <a:solidFill>
              <a:srgbClr val="000000"/>
            </a:solidFill>
          </a:ln>
        </p:spPr>
        <p:txBody>
          <a:bodyPr wrap="square" lIns="0" tIns="0" rIns="0" bIns="0" rtlCol="0"/>
          <a:lstStyle/>
          <a:p>
            <a:endParaRPr sz="2400"/>
          </a:p>
        </p:txBody>
      </p:sp>
      <p:sp>
        <p:nvSpPr>
          <p:cNvPr id="21" name="object 21"/>
          <p:cNvSpPr/>
          <p:nvPr/>
        </p:nvSpPr>
        <p:spPr>
          <a:xfrm>
            <a:off x="6217277" y="2472971"/>
            <a:ext cx="4394200" cy="725593"/>
          </a:xfrm>
          <a:custGeom>
            <a:avLst/>
            <a:gdLst/>
            <a:ahLst/>
            <a:cxnLst/>
            <a:rect l="l" t="t" r="r" b="b"/>
            <a:pathLst>
              <a:path w="3295650" h="544194">
                <a:moveTo>
                  <a:pt x="223272" y="543972"/>
                </a:moveTo>
                <a:lnTo>
                  <a:pt x="0" y="543972"/>
                </a:lnTo>
              </a:path>
              <a:path w="3295650" h="544194">
                <a:moveTo>
                  <a:pt x="3172138" y="0"/>
                </a:moveTo>
                <a:lnTo>
                  <a:pt x="3295389" y="0"/>
                </a:lnTo>
              </a:path>
            </a:pathLst>
          </a:custGeom>
          <a:ln w="44443">
            <a:solidFill>
              <a:srgbClr val="000000"/>
            </a:solidFill>
          </a:ln>
        </p:spPr>
        <p:txBody>
          <a:bodyPr wrap="square" lIns="0" tIns="0" rIns="0" bIns="0" rtlCol="0"/>
          <a:lstStyle/>
          <a:p>
            <a:endParaRPr sz="2400"/>
          </a:p>
        </p:txBody>
      </p:sp>
      <p:sp>
        <p:nvSpPr>
          <p:cNvPr id="22" name="object 22"/>
          <p:cNvSpPr/>
          <p:nvPr/>
        </p:nvSpPr>
        <p:spPr>
          <a:xfrm>
            <a:off x="10153160" y="2371007"/>
            <a:ext cx="319193" cy="445347"/>
          </a:xfrm>
          <a:custGeom>
            <a:avLst/>
            <a:gdLst/>
            <a:ahLst/>
            <a:cxnLst/>
            <a:rect l="l" t="t" r="r" b="b"/>
            <a:pathLst>
              <a:path w="239395" h="334010">
                <a:moveTo>
                  <a:pt x="44424" y="76428"/>
                </a:moveTo>
                <a:lnTo>
                  <a:pt x="0" y="76428"/>
                </a:lnTo>
                <a:lnTo>
                  <a:pt x="0" y="333667"/>
                </a:lnTo>
                <a:lnTo>
                  <a:pt x="44424" y="333667"/>
                </a:lnTo>
                <a:lnTo>
                  <a:pt x="44424" y="76428"/>
                </a:lnTo>
                <a:close/>
              </a:path>
              <a:path w="239395" h="334010">
                <a:moveTo>
                  <a:pt x="239255" y="0"/>
                </a:moveTo>
                <a:lnTo>
                  <a:pt x="86436" y="76479"/>
                </a:lnTo>
                <a:lnTo>
                  <a:pt x="239255" y="152958"/>
                </a:lnTo>
                <a:lnTo>
                  <a:pt x="239255" y="0"/>
                </a:lnTo>
                <a:close/>
              </a:path>
            </a:pathLst>
          </a:custGeom>
          <a:solidFill>
            <a:srgbClr val="000000"/>
          </a:solidFill>
        </p:spPr>
        <p:txBody>
          <a:bodyPr wrap="square" lIns="0" tIns="0" rIns="0" bIns="0" rtlCol="0"/>
          <a:lstStyle/>
          <a:p>
            <a:endParaRPr sz="2400"/>
          </a:p>
        </p:txBody>
      </p:sp>
      <p:sp>
        <p:nvSpPr>
          <p:cNvPr id="23" name="object 23"/>
          <p:cNvSpPr/>
          <p:nvPr/>
        </p:nvSpPr>
        <p:spPr>
          <a:xfrm>
            <a:off x="10268414" y="2815895"/>
            <a:ext cx="331893" cy="0"/>
          </a:xfrm>
          <a:custGeom>
            <a:avLst/>
            <a:gdLst/>
            <a:ahLst/>
            <a:cxnLst/>
            <a:rect l="l" t="t" r="r" b="b"/>
            <a:pathLst>
              <a:path w="248920">
                <a:moveTo>
                  <a:pt x="248531" y="0"/>
                </a:moveTo>
                <a:lnTo>
                  <a:pt x="0" y="0"/>
                </a:lnTo>
              </a:path>
            </a:pathLst>
          </a:custGeom>
          <a:ln w="44461">
            <a:solidFill>
              <a:srgbClr val="000000"/>
            </a:solidFill>
          </a:ln>
        </p:spPr>
        <p:txBody>
          <a:bodyPr wrap="square" lIns="0" tIns="0" rIns="0" bIns="0" rtlCol="0"/>
          <a:lstStyle/>
          <a:p>
            <a:endParaRPr sz="2400"/>
          </a:p>
        </p:txBody>
      </p:sp>
      <p:sp>
        <p:nvSpPr>
          <p:cNvPr id="24" name="object 24"/>
          <p:cNvSpPr/>
          <p:nvPr/>
        </p:nvSpPr>
        <p:spPr>
          <a:xfrm>
            <a:off x="10238796" y="2387147"/>
            <a:ext cx="59267" cy="514773"/>
          </a:xfrm>
          <a:custGeom>
            <a:avLst/>
            <a:gdLst/>
            <a:ahLst/>
            <a:cxnLst/>
            <a:rect l="l" t="t" r="r" b="b"/>
            <a:pathLst>
              <a:path w="44450" h="386080">
                <a:moveTo>
                  <a:pt x="44427" y="0"/>
                </a:moveTo>
                <a:lnTo>
                  <a:pt x="0" y="0"/>
                </a:lnTo>
                <a:lnTo>
                  <a:pt x="0" y="385866"/>
                </a:lnTo>
                <a:lnTo>
                  <a:pt x="44427" y="385866"/>
                </a:lnTo>
                <a:lnTo>
                  <a:pt x="44427" y="0"/>
                </a:lnTo>
                <a:close/>
              </a:path>
            </a:pathLst>
          </a:custGeom>
          <a:solidFill>
            <a:srgbClr val="000000"/>
          </a:solidFill>
        </p:spPr>
        <p:txBody>
          <a:bodyPr wrap="square" lIns="0" tIns="0" rIns="0" bIns="0" rtlCol="0"/>
          <a:lstStyle/>
          <a:p>
            <a:endParaRPr sz="2400"/>
          </a:p>
        </p:txBody>
      </p:sp>
      <p:sp>
        <p:nvSpPr>
          <p:cNvPr id="25" name="object 25"/>
          <p:cNvSpPr/>
          <p:nvPr/>
        </p:nvSpPr>
        <p:spPr>
          <a:xfrm>
            <a:off x="8848138" y="2644399"/>
            <a:ext cx="1763607" cy="951653"/>
          </a:xfrm>
          <a:custGeom>
            <a:avLst/>
            <a:gdLst/>
            <a:ahLst/>
            <a:cxnLst/>
            <a:rect l="l" t="t" r="r" b="b"/>
            <a:pathLst>
              <a:path w="1322704" h="713739">
                <a:moveTo>
                  <a:pt x="897784" y="0"/>
                </a:moveTo>
                <a:lnTo>
                  <a:pt x="0" y="0"/>
                </a:lnTo>
              </a:path>
              <a:path w="1322704" h="713739">
                <a:moveTo>
                  <a:pt x="1322242" y="129117"/>
                </a:moveTo>
                <a:lnTo>
                  <a:pt x="1322242" y="586707"/>
                </a:lnTo>
              </a:path>
              <a:path w="1322704" h="713739">
                <a:moveTo>
                  <a:pt x="1322369" y="713550"/>
                </a:moveTo>
                <a:lnTo>
                  <a:pt x="1322369" y="584928"/>
                </a:lnTo>
              </a:path>
              <a:path w="1322704" h="713739">
                <a:moveTo>
                  <a:pt x="1065333" y="713550"/>
                </a:moveTo>
                <a:lnTo>
                  <a:pt x="1322369" y="713550"/>
                </a:lnTo>
              </a:path>
            </a:pathLst>
          </a:custGeom>
          <a:ln w="44443">
            <a:solidFill>
              <a:srgbClr val="000000"/>
            </a:solidFill>
          </a:ln>
        </p:spPr>
        <p:txBody>
          <a:bodyPr wrap="square" lIns="0" tIns="0" rIns="0" bIns="0" rtlCol="0"/>
          <a:lstStyle/>
          <a:p>
            <a:endParaRPr sz="2400"/>
          </a:p>
        </p:txBody>
      </p:sp>
      <p:sp>
        <p:nvSpPr>
          <p:cNvPr id="26" name="object 26"/>
          <p:cNvSpPr/>
          <p:nvPr/>
        </p:nvSpPr>
        <p:spPr>
          <a:xfrm>
            <a:off x="10153330" y="3595800"/>
            <a:ext cx="59267" cy="343747"/>
          </a:xfrm>
          <a:custGeom>
            <a:avLst/>
            <a:gdLst/>
            <a:ahLst/>
            <a:cxnLst/>
            <a:rect l="l" t="t" r="r" b="b"/>
            <a:pathLst>
              <a:path w="44450" h="257810">
                <a:moveTo>
                  <a:pt x="44425" y="0"/>
                </a:moveTo>
                <a:lnTo>
                  <a:pt x="0" y="0"/>
                </a:lnTo>
                <a:lnTo>
                  <a:pt x="0" y="257244"/>
                </a:lnTo>
                <a:lnTo>
                  <a:pt x="44425" y="257244"/>
                </a:lnTo>
                <a:lnTo>
                  <a:pt x="44425" y="0"/>
                </a:lnTo>
                <a:close/>
              </a:path>
            </a:pathLst>
          </a:custGeom>
          <a:solidFill>
            <a:srgbClr val="000000"/>
          </a:solidFill>
        </p:spPr>
        <p:txBody>
          <a:bodyPr wrap="square" lIns="0" tIns="0" rIns="0" bIns="0" rtlCol="0"/>
          <a:lstStyle/>
          <a:p>
            <a:endParaRPr sz="2400"/>
          </a:p>
        </p:txBody>
      </p:sp>
      <p:sp>
        <p:nvSpPr>
          <p:cNvPr id="27" name="object 27"/>
          <p:cNvSpPr/>
          <p:nvPr/>
        </p:nvSpPr>
        <p:spPr>
          <a:xfrm>
            <a:off x="10268583" y="3938792"/>
            <a:ext cx="134620" cy="0"/>
          </a:xfrm>
          <a:custGeom>
            <a:avLst/>
            <a:gdLst/>
            <a:ahLst/>
            <a:cxnLst/>
            <a:rect l="l" t="t" r="r" b="b"/>
            <a:pathLst>
              <a:path w="100965">
                <a:moveTo>
                  <a:pt x="100529" y="0"/>
                </a:moveTo>
                <a:lnTo>
                  <a:pt x="0" y="0"/>
                </a:lnTo>
              </a:path>
            </a:pathLst>
          </a:custGeom>
          <a:ln w="44461">
            <a:solidFill>
              <a:srgbClr val="000000"/>
            </a:solidFill>
          </a:ln>
        </p:spPr>
        <p:txBody>
          <a:bodyPr wrap="square" lIns="0" tIns="0" rIns="0" bIns="0" rtlCol="0"/>
          <a:lstStyle/>
          <a:p>
            <a:endParaRPr sz="2400"/>
          </a:p>
        </p:txBody>
      </p:sp>
      <p:sp>
        <p:nvSpPr>
          <p:cNvPr id="28" name="object 28"/>
          <p:cNvSpPr/>
          <p:nvPr/>
        </p:nvSpPr>
        <p:spPr>
          <a:xfrm>
            <a:off x="10238960" y="3510044"/>
            <a:ext cx="393700" cy="514773"/>
          </a:xfrm>
          <a:custGeom>
            <a:avLst/>
            <a:gdLst/>
            <a:ahLst/>
            <a:cxnLst/>
            <a:rect l="l" t="t" r="r" b="b"/>
            <a:pathLst>
              <a:path w="295275" h="386080">
                <a:moveTo>
                  <a:pt x="44424" y="0"/>
                </a:moveTo>
                <a:lnTo>
                  <a:pt x="0" y="0"/>
                </a:lnTo>
                <a:lnTo>
                  <a:pt x="0" y="385876"/>
                </a:lnTo>
                <a:lnTo>
                  <a:pt x="44424" y="385876"/>
                </a:lnTo>
                <a:lnTo>
                  <a:pt x="44424" y="0"/>
                </a:lnTo>
                <a:close/>
              </a:path>
              <a:path w="295275" h="386080">
                <a:moveTo>
                  <a:pt x="295109" y="321564"/>
                </a:moveTo>
                <a:lnTo>
                  <a:pt x="106997" y="258813"/>
                </a:lnTo>
                <a:lnTo>
                  <a:pt x="106997" y="384327"/>
                </a:lnTo>
                <a:lnTo>
                  <a:pt x="295109" y="321564"/>
                </a:lnTo>
                <a:close/>
              </a:path>
            </a:pathLst>
          </a:custGeom>
          <a:solidFill>
            <a:srgbClr val="000000"/>
          </a:solidFill>
        </p:spPr>
        <p:txBody>
          <a:bodyPr wrap="square" lIns="0" tIns="0" rIns="0" bIns="0" rtlCol="0"/>
          <a:lstStyle/>
          <a:p>
            <a:endParaRPr sz="2400"/>
          </a:p>
        </p:txBody>
      </p:sp>
      <p:sp>
        <p:nvSpPr>
          <p:cNvPr id="29" name="object 29"/>
          <p:cNvSpPr/>
          <p:nvPr/>
        </p:nvSpPr>
        <p:spPr>
          <a:xfrm>
            <a:off x="9925868" y="3595800"/>
            <a:ext cx="685800" cy="540173"/>
          </a:xfrm>
          <a:custGeom>
            <a:avLst/>
            <a:gdLst/>
            <a:ahLst/>
            <a:cxnLst/>
            <a:rect l="l" t="t" r="r" b="b"/>
            <a:pathLst>
              <a:path w="514350" h="405130">
                <a:moveTo>
                  <a:pt x="192808" y="128622"/>
                </a:moveTo>
                <a:lnTo>
                  <a:pt x="0" y="128622"/>
                </a:lnTo>
              </a:path>
              <a:path w="514350" h="405130">
                <a:moveTo>
                  <a:pt x="514071" y="276108"/>
                </a:moveTo>
                <a:lnTo>
                  <a:pt x="514071" y="404730"/>
                </a:lnTo>
              </a:path>
              <a:path w="514350" h="405130">
                <a:moveTo>
                  <a:pt x="514071" y="0"/>
                </a:moveTo>
                <a:lnTo>
                  <a:pt x="274044" y="0"/>
                </a:lnTo>
              </a:path>
            </a:pathLst>
          </a:custGeom>
          <a:ln w="44443">
            <a:solidFill>
              <a:srgbClr val="000000"/>
            </a:solidFill>
          </a:ln>
        </p:spPr>
        <p:txBody>
          <a:bodyPr wrap="square" lIns="0" tIns="0" rIns="0" bIns="0" rtlCol="0"/>
          <a:lstStyle/>
          <a:p>
            <a:endParaRPr sz="2400"/>
          </a:p>
        </p:txBody>
      </p:sp>
      <p:pic>
        <p:nvPicPr>
          <p:cNvPr id="30" name="object 30"/>
          <p:cNvPicPr/>
          <p:nvPr/>
        </p:nvPicPr>
        <p:blipFill>
          <a:blip r:embed="rId6" cstate="print"/>
          <a:stretch>
            <a:fillRect/>
          </a:stretch>
        </p:blipFill>
        <p:spPr>
          <a:xfrm>
            <a:off x="10019450" y="2564445"/>
            <a:ext cx="148784" cy="148440"/>
          </a:xfrm>
          <a:prstGeom prst="rect">
            <a:avLst/>
          </a:prstGeom>
        </p:spPr>
      </p:pic>
      <p:sp>
        <p:nvSpPr>
          <p:cNvPr id="31" name="object 31"/>
          <p:cNvSpPr/>
          <p:nvPr/>
        </p:nvSpPr>
        <p:spPr>
          <a:xfrm>
            <a:off x="10510599" y="3955713"/>
            <a:ext cx="201507" cy="336127"/>
          </a:xfrm>
          <a:custGeom>
            <a:avLst/>
            <a:gdLst/>
            <a:ahLst/>
            <a:cxnLst/>
            <a:rect l="l" t="t" r="r" b="b"/>
            <a:pathLst>
              <a:path w="151129" h="252094">
                <a:moveTo>
                  <a:pt x="75524" y="89216"/>
                </a:moveTo>
                <a:lnTo>
                  <a:pt x="75524" y="0"/>
                </a:lnTo>
              </a:path>
              <a:path w="151129" h="252094">
                <a:moveTo>
                  <a:pt x="0" y="152923"/>
                </a:moveTo>
                <a:lnTo>
                  <a:pt x="150921" y="152923"/>
                </a:lnTo>
              </a:path>
              <a:path w="151129" h="252094">
                <a:moveTo>
                  <a:pt x="25132" y="202440"/>
                </a:moveTo>
                <a:lnTo>
                  <a:pt x="125788" y="202440"/>
                </a:lnTo>
              </a:path>
              <a:path w="151129" h="252094">
                <a:moveTo>
                  <a:pt x="50391" y="251950"/>
                </a:moveTo>
                <a:lnTo>
                  <a:pt x="100656" y="251950"/>
                </a:lnTo>
              </a:path>
              <a:path w="151129" h="252094">
                <a:moveTo>
                  <a:pt x="75524" y="20897"/>
                </a:moveTo>
                <a:lnTo>
                  <a:pt x="75524" y="152923"/>
                </a:lnTo>
              </a:path>
            </a:pathLst>
          </a:custGeom>
          <a:ln w="38094">
            <a:solidFill>
              <a:srgbClr val="000000"/>
            </a:solidFill>
          </a:ln>
        </p:spPr>
        <p:txBody>
          <a:bodyPr wrap="square" lIns="0" tIns="0" rIns="0" bIns="0" rtlCol="0"/>
          <a:lstStyle/>
          <a:p>
            <a:endParaRPr sz="2400"/>
          </a:p>
        </p:txBody>
      </p:sp>
      <p:sp>
        <p:nvSpPr>
          <p:cNvPr id="32" name="object 32"/>
          <p:cNvSpPr/>
          <p:nvPr/>
        </p:nvSpPr>
        <p:spPr>
          <a:xfrm>
            <a:off x="8842975" y="2151997"/>
            <a:ext cx="1774613" cy="1613747"/>
          </a:xfrm>
          <a:custGeom>
            <a:avLst/>
            <a:gdLst/>
            <a:ahLst/>
            <a:cxnLst/>
            <a:rect l="l" t="t" r="r" b="b"/>
            <a:pathLst>
              <a:path w="1330959" h="1210310">
                <a:moveTo>
                  <a:pt x="1330874" y="239459"/>
                </a:moveTo>
                <a:lnTo>
                  <a:pt x="1330874" y="0"/>
                </a:lnTo>
              </a:path>
              <a:path w="1330959" h="1210310">
                <a:moveTo>
                  <a:pt x="979655" y="1210203"/>
                </a:moveTo>
                <a:lnTo>
                  <a:pt x="0" y="1210203"/>
                </a:lnTo>
              </a:path>
              <a:path w="1330959" h="1210310">
                <a:moveTo>
                  <a:pt x="737470" y="786226"/>
                </a:moveTo>
                <a:lnTo>
                  <a:pt x="768314" y="712140"/>
                </a:lnTo>
                <a:lnTo>
                  <a:pt x="830003" y="860313"/>
                </a:lnTo>
                <a:lnTo>
                  <a:pt x="891818" y="712140"/>
                </a:lnTo>
                <a:lnTo>
                  <a:pt x="953380" y="860313"/>
                </a:lnTo>
                <a:lnTo>
                  <a:pt x="1015069" y="712140"/>
                </a:lnTo>
                <a:lnTo>
                  <a:pt x="1076757" y="860313"/>
                </a:lnTo>
                <a:lnTo>
                  <a:pt x="1107602" y="786226"/>
                </a:lnTo>
              </a:path>
            </a:pathLst>
          </a:custGeom>
          <a:ln w="44443">
            <a:solidFill>
              <a:srgbClr val="000000"/>
            </a:solidFill>
          </a:ln>
        </p:spPr>
        <p:txBody>
          <a:bodyPr wrap="square" lIns="0" tIns="0" rIns="0" bIns="0" rtlCol="0"/>
          <a:lstStyle/>
          <a:p>
            <a:endParaRPr sz="2400"/>
          </a:p>
        </p:txBody>
      </p:sp>
      <p:pic>
        <p:nvPicPr>
          <p:cNvPr id="33" name="object 33"/>
          <p:cNvPicPr/>
          <p:nvPr/>
        </p:nvPicPr>
        <p:blipFill>
          <a:blip r:embed="rId7" cstate="print"/>
          <a:stretch>
            <a:fillRect/>
          </a:stretch>
        </p:blipFill>
        <p:spPr>
          <a:xfrm>
            <a:off x="10313432" y="3123584"/>
            <a:ext cx="375559" cy="156820"/>
          </a:xfrm>
          <a:prstGeom prst="rect">
            <a:avLst/>
          </a:prstGeom>
        </p:spPr>
      </p:pic>
      <p:sp>
        <p:nvSpPr>
          <p:cNvPr id="34" name="object 34"/>
          <p:cNvSpPr/>
          <p:nvPr/>
        </p:nvSpPr>
        <p:spPr>
          <a:xfrm>
            <a:off x="8010391" y="2644399"/>
            <a:ext cx="1810173" cy="1123525"/>
          </a:xfrm>
          <a:custGeom>
            <a:avLst/>
            <a:gdLst/>
            <a:ahLst/>
            <a:cxnLst/>
            <a:rect l="l" t="t" r="r" b="b"/>
            <a:pathLst>
              <a:path w="1357629" h="842644">
                <a:moveTo>
                  <a:pt x="1357148" y="418196"/>
                </a:moveTo>
                <a:lnTo>
                  <a:pt x="1256619" y="418196"/>
                </a:lnTo>
              </a:path>
              <a:path w="1357629" h="842644">
                <a:moveTo>
                  <a:pt x="799666" y="303865"/>
                </a:moveTo>
                <a:lnTo>
                  <a:pt x="803272" y="282313"/>
                </a:lnTo>
                <a:lnTo>
                  <a:pt x="814803" y="264385"/>
                </a:lnTo>
                <a:lnTo>
                  <a:pt x="832474" y="251918"/>
                </a:lnTo>
                <a:lnTo>
                  <a:pt x="854501" y="246751"/>
                </a:lnTo>
                <a:lnTo>
                  <a:pt x="876938" y="250209"/>
                </a:lnTo>
                <a:lnTo>
                  <a:pt x="895579" y="261282"/>
                </a:lnTo>
                <a:lnTo>
                  <a:pt x="908532" y="278268"/>
                </a:lnTo>
                <a:lnTo>
                  <a:pt x="913905" y="299470"/>
                </a:lnTo>
                <a:lnTo>
                  <a:pt x="914031" y="300943"/>
                </a:lnTo>
                <a:lnTo>
                  <a:pt x="914031" y="302404"/>
                </a:lnTo>
                <a:lnTo>
                  <a:pt x="913905" y="303865"/>
                </a:lnTo>
                <a:lnTo>
                  <a:pt x="917510" y="282313"/>
                </a:lnTo>
                <a:lnTo>
                  <a:pt x="929041" y="264385"/>
                </a:lnTo>
                <a:lnTo>
                  <a:pt x="946712" y="251918"/>
                </a:lnTo>
                <a:lnTo>
                  <a:pt x="968739" y="246751"/>
                </a:lnTo>
                <a:lnTo>
                  <a:pt x="991176" y="250209"/>
                </a:lnTo>
                <a:lnTo>
                  <a:pt x="1009817" y="261282"/>
                </a:lnTo>
                <a:lnTo>
                  <a:pt x="1022770" y="278268"/>
                </a:lnTo>
                <a:lnTo>
                  <a:pt x="1028143" y="299470"/>
                </a:lnTo>
                <a:lnTo>
                  <a:pt x="1028270" y="300943"/>
                </a:lnTo>
                <a:lnTo>
                  <a:pt x="1028270" y="302404"/>
                </a:lnTo>
                <a:lnTo>
                  <a:pt x="1028143" y="303865"/>
                </a:lnTo>
                <a:lnTo>
                  <a:pt x="1031748" y="282313"/>
                </a:lnTo>
                <a:lnTo>
                  <a:pt x="1043279" y="264385"/>
                </a:lnTo>
                <a:lnTo>
                  <a:pt x="1060950" y="251918"/>
                </a:lnTo>
                <a:lnTo>
                  <a:pt x="1082977" y="246751"/>
                </a:lnTo>
                <a:lnTo>
                  <a:pt x="1105414" y="250209"/>
                </a:lnTo>
                <a:lnTo>
                  <a:pt x="1124055" y="261282"/>
                </a:lnTo>
                <a:lnTo>
                  <a:pt x="1137008" y="278268"/>
                </a:lnTo>
                <a:lnTo>
                  <a:pt x="1142381" y="299470"/>
                </a:lnTo>
                <a:lnTo>
                  <a:pt x="1142508" y="300943"/>
                </a:lnTo>
                <a:lnTo>
                  <a:pt x="1142508" y="302404"/>
                </a:lnTo>
                <a:lnTo>
                  <a:pt x="1142381" y="303865"/>
                </a:lnTo>
                <a:lnTo>
                  <a:pt x="1145986" y="282313"/>
                </a:lnTo>
                <a:lnTo>
                  <a:pt x="1157517" y="264385"/>
                </a:lnTo>
                <a:lnTo>
                  <a:pt x="1175189" y="251918"/>
                </a:lnTo>
                <a:lnTo>
                  <a:pt x="1197215" y="246751"/>
                </a:lnTo>
                <a:lnTo>
                  <a:pt x="1219652" y="250209"/>
                </a:lnTo>
                <a:lnTo>
                  <a:pt x="1238293" y="261282"/>
                </a:lnTo>
                <a:lnTo>
                  <a:pt x="1251246" y="278268"/>
                </a:lnTo>
                <a:lnTo>
                  <a:pt x="1256619" y="299470"/>
                </a:lnTo>
                <a:lnTo>
                  <a:pt x="1256746" y="300943"/>
                </a:lnTo>
                <a:lnTo>
                  <a:pt x="1256746" y="302404"/>
                </a:lnTo>
                <a:lnTo>
                  <a:pt x="1256619" y="303865"/>
                </a:lnTo>
              </a:path>
              <a:path w="1357629" h="842644">
                <a:moveTo>
                  <a:pt x="799666" y="303865"/>
                </a:moveTo>
                <a:lnTo>
                  <a:pt x="799666" y="418196"/>
                </a:lnTo>
              </a:path>
              <a:path w="1357629" h="842644">
                <a:moveTo>
                  <a:pt x="1256619" y="303865"/>
                </a:moveTo>
                <a:lnTo>
                  <a:pt x="1256619" y="418196"/>
                </a:lnTo>
              </a:path>
              <a:path w="1357629" h="842644">
                <a:moveTo>
                  <a:pt x="0" y="303865"/>
                </a:moveTo>
                <a:lnTo>
                  <a:pt x="3605" y="282313"/>
                </a:lnTo>
                <a:lnTo>
                  <a:pt x="15136" y="264385"/>
                </a:lnTo>
                <a:lnTo>
                  <a:pt x="32807" y="251918"/>
                </a:lnTo>
                <a:lnTo>
                  <a:pt x="54834" y="246751"/>
                </a:lnTo>
                <a:lnTo>
                  <a:pt x="77271" y="250209"/>
                </a:lnTo>
                <a:lnTo>
                  <a:pt x="95912" y="261282"/>
                </a:lnTo>
                <a:lnTo>
                  <a:pt x="108865" y="278268"/>
                </a:lnTo>
                <a:lnTo>
                  <a:pt x="114238" y="299470"/>
                </a:lnTo>
                <a:lnTo>
                  <a:pt x="114365" y="300943"/>
                </a:lnTo>
                <a:lnTo>
                  <a:pt x="114365" y="302404"/>
                </a:lnTo>
                <a:lnTo>
                  <a:pt x="114238" y="303865"/>
                </a:lnTo>
                <a:lnTo>
                  <a:pt x="117843" y="282313"/>
                </a:lnTo>
                <a:lnTo>
                  <a:pt x="129374" y="264385"/>
                </a:lnTo>
                <a:lnTo>
                  <a:pt x="147045" y="251918"/>
                </a:lnTo>
                <a:lnTo>
                  <a:pt x="169072" y="246751"/>
                </a:lnTo>
                <a:lnTo>
                  <a:pt x="191509" y="250209"/>
                </a:lnTo>
                <a:lnTo>
                  <a:pt x="210150" y="261282"/>
                </a:lnTo>
                <a:lnTo>
                  <a:pt x="223103" y="278268"/>
                </a:lnTo>
                <a:lnTo>
                  <a:pt x="228476" y="299470"/>
                </a:lnTo>
                <a:lnTo>
                  <a:pt x="228603" y="300943"/>
                </a:lnTo>
                <a:lnTo>
                  <a:pt x="228603" y="302404"/>
                </a:lnTo>
                <a:lnTo>
                  <a:pt x="228476" y="303865"/>
                </a:lnTo>
                <a:lnTo>
                  <a:pt x="232081" y="282313"/>
                </a:lnTo>
                <a:lnTo>
                  <a:pt x="243612" y="264385"/>
                </a:lnTo>
                <a:lnTo>
                  <a:pt x="261284" y="251918"/>
                </a:lnTo>
                <a:lnTo>
                  <a:pt x="283310" y="246751"/>
                </a:lnTo>
                <a:lnTo>
                  <a:pt x="305747" y="250209"/>
                </a:lnTo>
                <a:lnTo>
                  <a:pt x="324388" y="261282"/>
                </a:lnTo>
                <a:lnTo>
                  <a:pt x="337341" y="278268"/>
                </a:lnTo>
                <a:lnTo>
                  <a:pt x="342714" y="299470"/>
                </a:lnTo>
                <a:lnTo>
                  <a:pt x="342841" y="300943"/>
                </a:lnTo>
                <a:lnTo>
                  <a:pt x="342841" y="302404"/>
                </a:lnTo>
                <a:lnTo>
                  <a:pt x="342714" y="303865"/>
                </a:lnTo>
                <a:lnTo>
                  <a:pt x="346320" y="282313"/>
                </a:lnTo>
                <a:lnTo>
                  <a:pt x="357850" y="264385"/>
                </a:lnTo>
                <a:lnTo>
                  <a:pt x="375522" y="251918"/>
                </a:lnTo>
                <a:lnTo>
                  <a:pt x="397548" y="246751"/>
                </a:lnTo>
                <a:lnTo>
                  <a:pt x="419985" y="250209"/>
                </a:lnTo>
                <a:lnTo>
                  <a:pt x="438626" y="261282"/>
                </a:lnTo>
                <a:lnTo>
                  <a:pt x="451579" y="278268"/>
                </a:lnTo>
                <a:lnTo>
                  <a:pt x="456952" y="299470"/>
                </a:lnTo>
                <a:lnTo>
                  <a:pt x="457079" y="300943"/>
                </a:lnTo>
                <a:lnTo>
                  <a:pt x="457079" y="302404"/>
                </a:lnTo>
                <a:lnTo>
                  <a:pt x="456952" y="303865"/>
                </a:lnTo>
              </a:path>
              <a:path w="1357629" h="842644">
                <a:moveTo>
                  <a:pt x="0" y="303865"/>
                </a:moveTo>
                <a:lnTo>
                  <a:pt x="0" y="418196"/>
                </a:lnTo>
              </a:path>
              <a:path w="1357629" h="842644">
                <a:moveTo>
                  <a:pt x="456952" y="303865"/>
                </a:moveTo>
                <a:lnTo>
                  <a:pt x="456952" y="418196"/>
                </a:lnTo>
              </a:path>
              <a:path w="1357629" h="842644">
                <a:moveTo>
                  <a:pt x="799666" y="418196"/>
                </a:moveTo>
                <a:lnTo>
                  <a:pt x="456952" y="418196"/>
                </a:lnTo>
              </a:path>
              <a:path w="1357629" h="842644">
                <a:moveTo>
                  <a:pt x="619678" y="842172"/>
                </a:moveTo>
                <a:lnTo>
                  <a:pt x="628309" y="0"/>
                </a:lnTo>
              </a:path>
            </a:pathLst>
          </a:custGeom>
          <a:ln w="44443">
            <a:solidFill>
              <a:srgbClr val="000000"/>
            </a:solidFill>
          </a:ln>
        </p:spPr>
        <p:txBody>
          <a:bodyPr wrap="square" lIns="0" tIns="0" rIns="0" bIns="0" rtlCol="0"/>
          <a:lstStyle/>
          <a:p>
            <a:endParaRPr sz="2400"/>
          </a:p>
        </p:txBody>
      </p:sp>
      <p:pic>
        <p:nvPicPr>
          <p:cNvPr id="35" name="object 35"/>
          <p:cNvPicPr/>
          <p:nvPr/>
        </p:nvPicPr>
        <p:blipFill>
          <a:blip r:embed="rId8" cstate="print"/>
          <a:stretch>
            <a:fillRect/>
          </a:stretch>
        </p:blipFill>
        <p:spPr>
          <a:xfrm>
            <a:off x="8764351" y="3118705"/>
            <a:ext cx="157249" cy="156820"/>
          </a:xfrm>
          <a:prstGeom prst="rect">
            <a:avLst/>
          </a:prstGeom>
        </p:spPr>
      </p:pic>
      <p:sp>
        <p:nvSpPr>
          <p:cNvPr id="36" name="object 36"/>
          <p:cNvSpPr/>
          <p:nvPr/>
        </p:nvSpPr>
        <p:spPr>
          <a:xfrm>
            <a:off x="7747898" y="3201993"/>
            <a:ext cx="263313" cy="0"/>
          </a:xfrm>
          <a:custGeom>
            <a:avLst/>
            <a:gdLst/>
            <a:ahLst/>
            <a:cxnLst/>
            <a:rect l="l" t="t" r="r" b="b"/>
            <a:pathLst>
              <a:path w="197485">
                <a:moveTo>
                  <a:pt x="196870" y="0"/>
                </a:moveTo>
                <a:lnTo>
                  <a:pt x="0" y="0"/>
                </a:lnTo>
              </a:path>
            </a:pathLst>
          </a:custGeom>
          <a:ln w="44461">
            <a:solidFill>
              <a:srgbClr val="000000"/>
            </a:solidFill>
          </a:ln>
        </p:spPr>
        <p:txBody>
          <a:bodyPr wrap="square" lIns="0" tIns="0" rIns="0" bIns="0" rtlCol="0"/>
          <a:lstStyle/>
          <a:p>
            <a:endParaRPr sz="2400"/>
          </a:p>
        </p:txBody>
      </p:sp>
      <p:sp>
        <p:nvSpPr>
          <p:cNvPr id="37" name="object 37"/>
          <p:cNvSpPr/>
          <p:nvPr/>
        </p:nvSpPr>
        <p:spPr>
          <a:xfrm>
            <a:off x="8511347" y="2768481"/>
            <a:ext cx="717973" cy="122767"/>
          </a:xfrm>
          <a:custGeom>
            <a:avLst/>
            <a:gdLst/>
            <a:ahLst/>
            <a:cxnLst/>
            <a:rect l="l" t="t" r="r" b="b"/>
            <a:pathLst>
              <a:path w="538479" h="92075">
                <a:moveTo>
                  <a:pt x="538188" y="80364"/>
                </a:moveTo>
                <a:lnTo>
                  <a:pt x="499240" y="55809"/>
                </a:lnTo>
                <a:lnTo>
                  <a:pt x="457078" y="35717"/>
                </a:lnTo>
                <a:lnTo>
                  <a:pt x="412346" y="20091"/>
                </a:lnTo>
                <a:lnTo>
                  <a:pt x="365684" y="8929"/>
                </a:lnTo>
                <a:lnTo>
                  <a:pt x="317735" y="2232"/>
                </a:lnTo>
                <a:lnTo>
                  <a:pt x="269141" y="0"/>
                </a:lnTo>
                <a:lnTo>
                  <a:pt x="220545" y="2232"/>
                </a:lnTo>
                <a:lnTo>
                  <a:pt x="172588" y="8929"/>
                </a:lnTo>
                <a:lnTo>
                  <a:pt x="125913" y="20091"/>
                </a:lnTo>
                <a:lnTo>
                  <a:pt x="81162" y="35717"/>
                </a:lnTo>
                <a:lnTo>
                  <a:pt x="38977" y="55809"/>
                </a:lnTo>
                <a:lnTo>
                  <a:pt x="0" y="80364"/>
                </a:lnTo>
              </a:path>
              <a:path w="538479" h="92075">
                <a:moveTo>
                  <a:pt x="466472" y="92039"/>
                </a:moveTo>
                <a:lnTo>
                  <a:pt x="538188" y="80364"/>
                </a:lnTo>
                <a:lnTo>
                  <a:pt x="526637" y="8552"/>
                </a:lnTo>
              </a:path>
              <a:path w="538479" h="92075">
                <a:moveTo>
                  <a:pt x="11677" y="8552"/>
                </a:moveTo>
                <a:lnTo>
                  <a:pt x="0" y="80364"/>
                </a:lnTo>
                <a:lnTo>
                  <a:pt x="71843" y="92039"/>
                </a:lnTo>
              </a:path>
            </a:pathLst>
          </a:custGeom>
          <a:ln w="28571">
            <a:solidFill>
              <a:srgbClr val="000000"/>
            </a:solidFill>
          </a:ln>
        </p:spPr>
        <p:txBody>
          <a:bodyPr wrap="square" lIns="0" tIns="0" rIns="0" bIns="0" rtlCol="0"/>
          <a:lstStyle/>
          <a:p>
            <a:endParaRPr sz="2400"/>
          </a:p>
        </p:txBody>
      </p:sp>
      <p:sp>
        <p:nvSpPr>
          <p:cNvPr id="38" name="object 38"/>
          <p:cNvSpPr/>
          <p:nvPr/>
        </p:nvSpPr>
        <p:spPr>
          <a:xfrm>
            <a:off x="7540220" y="2451940"/>
            <a:ext cx="3378200" cy="731520"/>
          </a:xfrm>
          <a:custGeom>
            <a:avLst/>
            <a:gdLst/>
            <a:ahLst/>
            <a:cxnLst/>
            <a:rect l="l" t="t" r="r" b="b"/>
            <a:pathLst>
              <a:path w="2533650" h="548639">
                <a:moveTo>
                  <a:pt x="2533547" y="548292"/>
                </a:moveTo>
                <a:lnTo>
                  <a:pt x="2310148" y="548292"/>
                </a:lnTo>
              </a:path>
              <a:path w="2533650" h="548639">
                <a:moveTo>
                  <a:pt x="0" y="0"/>
                </a:moveTo>
                <a:lnTo>
                  <a:pt x="123250" y="0"/>
                </a:lnTo>
              </a:path>
            </a:pathLst>
          </a:custGeom>
          <a:ln w="44443">
            <a:solidFill>
              <a:srgbClr val="000000"/>
            </a:solidFill>
          </a:ln>
        </p:spPr>
        <p:txBody>
          <a:bodyPr wrap="square" lIns="0" tIns="0" rIns="0" bIns="0" rtlCol="0"/>
          <a:lstStyle/>
          <a:p>
            <a:endParaRPr sz="2400"/>
          </a:p>
        </p:txBody>
      </p:sp>
      <p:sp>
        <p:nvSpPr>
          <p:cNvPr id="39" name="object 39"/>
          <p:cNvSpPr/>
          <p:nvPr/>
        </p:nvSpPr>
        <p:spPr>
          <a:xfrm>
            <a:off x="7222175" y="2370453"/>
            <a:ext cx="319193" cy="445347"/>
          </a:xfrm>
          <a:custGeom>
            <a:avLst/>
            <a:gdLst/>
            <a:ahLst/>
            <a:cxnLst/>
            <a:rect l="l" t="t" r="r" b="b"/>
            <a:pathLst>
              <a:path w="239395" h="334010">
                <a:moveTo>
                  <a:pt x="44424" y="76441"/>
                </a:moveTo>
                <a:lnTo>
                  <a:pt x="0" y="76441"/>
                </a:lnTo>
                <a:lnTo>
                  <a:pt x="0" y="333679"/>
                </a:lnTo>
                <a:lnTo>
                  <a:pt x="44424" y="333679"/>
                </a:lnTo>
                <a:lnTo>
                  <a:pt x="44424" y="76441"/>
                </a:lnTo>
                <a:close/>
              </a:path>
              <a:path w="239395" h="334010">
                <a:moveTo>
                  <a:pt x="239268" y="0"/>
                </a:moveTo>
                <a:lnTo>
                  <a:pt x="86436" y="76479"/>
                </a:lnTo>
                <a:lnTo>
                  <a:pt x="239268" y="152958"/>
                </a:lnTo>
                <a:lnTo>
                  <a:pt x="239268" y="0"/>
                </a:lnTo>
                <a:close/>
              </a:path>
            </a:pathLst>
          </a:custGeom>
          <a:solidFill>
            <a:srgbClr val="000000"/>
          </a:solidFill>
        </p:spPr>
        <p:txBody>
          <a:bodyPr wrap="square" lIns="0" tIns="0" rIns="0" bIns="0" rtlCol="0"/>
          <a:lstStyle/>
          <a:p>
            <a:endParaRPr sz="2400"/>
          </a:p>
        </p:txBody>
      </p:sp>
      <p:sp>
        <p:nvSpPr>
          <p:cNvPr id="40" name="object 40"/>
          <p:cNvSpPr/>
          <p:nvPr/>
        </p:nvSpPr>
        <p:spPr>
          <a:xfrm>
            <a:off x="7352548" y="2813879"/>
            <a:ext cx="331893" cy="0"/>
          </a:xfrm>
          <a:custGeom>
            <a:avLst/>
            <a:gdLst/>
            <a:ahLst/>
            <a:cxnLst/>
            <a:rect l="l" t="t" r="r" b="b"/>
            <a:pathLst>
              <a:path w="248920">
                <a:moveTo>
                  <a:pt x="248531" y="0"/>
                </a:moveTo>
                <a:lnTo>
                  <a:pt x="0" y="0"/>
                </a:lnTo>
              </a:path>
            </a:pathLst>
          </a:custGeom>
          <a:ln w="44461">
            <a:solidFill>
              <a:srgbClr val="000000"/>
            </a:solidFill>
          </a:ln>
        </p:spPr>
        <p:txBody>
          <a:bodyPr wrap="square" lIns="0" tIns="0" rIns="0" bIns="0" rtlCol="0"/>
          <a:lstStyle/>
          <a:p>
            <a:endParaRPr sz="2400"/>
          </a:p>
        </p:txBody>
      </p:sp>
      <p:sp>
        <p:nvSpPr>
          <p:cNvPr id="41" name="object 41"/>
          <p:cNvSpPr/>
          <p:nvPr/>
        </p:nvSpPr>
        <p:spPr>
          <a:xfrm>
            <a:off x="7322931" y="2385131"/>
            <a:ext cx="59267" cy="514773"/>
          </a:xfrm>
          <a:custGeom>
            <a:avLst/>
            <a:gdLst/>
            <a:ahLst/>
            <a:cxnLst/>
            <a:rect l="l" t="t" r="r" b="b"/>
            <a:pathLst>
              <a:path w="44450" h="386080">
                <a:moveTo>
                  <a:pt x="44425" y="0"/>
                </a:moveTo>
                <a:lnTo>
                  <a:pt x="0" y="0"/>
                </a:lnTo>
                <a:lnTo>
                  <a:pt x="0" y="385866"/>
                </a:lnTo>
                <a:lnTo>
                  <a:pt x="44425" y="385866"/>
                </a:lnTo>
                <a:lnTo>
                  <a:pt x="44425" y="0"/>
                </a:lnTo>
                <a:close/>
              </a:path>
            </a:pathLst>
          </a:custGeom>
          <a:solidFill>
            <a:srgbClr val="000000"/>
          </a:solidFill>
        </p:spPr>
        <p:txBody>
          <a:bodyPr wrap="square" lIns="0" tIns="0" rIns="0" bIns="0" rtlCol="0"/>
          <a:lstStyle/>
          <a:p>
            <a:endParaRPr sz="2400"/>
          </a:p>
        </p:txBody>
      </p:sp>
      <p:sp>
        <p:nvSpPr>
          <p:cNvPr id="42" name="object 42"/>
          <p:cNvSpPr/>
          <p:nvPr/>
        </p:nvSpPr>
        <p:spPr>
          <a:xfrm>
            <a:off x="6564898" y="2642383"/>
            <a:ext cx="1131147" cy="951653"/>
          </a:xfrm>
          <a:custGeom>
            <a:avLst/>
            <a:gdLst/>
            <a:ahLst/>
            <a:cxnLst/>
            <a:rect l="l" t="t" r="r" b="b"/>
            <a:pathLst>
              <a:path w="848360" h="713739">
                <a:moveTo>
                  <a:pt x="423315" y="0"/>
                </a:moveTo>
                <a:lnTo>
                  <a:pt x="0" y="0"/>
                </a:lnTo>
              </a:path>
              <a:path w="848360" h="713739">
                <a:moveTo>
                  <a:pt x="847773" y="129117"/>
                </a:moveTo>
                <a:lnTo>
                  <a:pt x="847773" y="586694"/>
                </a:lnTo>
              </a:path>
              <a:path w="848360" h="713739">
                <a:moveTo>
                  <a:pt x="847900" y="713538"/>
                </a:moveTo>
                <a:lnTo>
                  <a:pt x="847900" y="584916"/>
                </a:lnTo>
              </a:path>
              <a:path w="848360" h="713739">
                <a:moveTo>
                  <a:pt x="590864" y="713538"/>
                </a:moveTo>
                <a:lnTo>
                  <a:pt x="847900" y="713538"/>
                </a:lnTo>
              </a:path>
            </a:pathLst>
          </a:custGeom>
          <a:ln w="44443">
            <a:solidFill>
              <a:srgbClr val="000000"/>
            </a:solidFill>
          </a:ln>
        </p:spPr>
        <p:txBody>
          <a:bodyPr wrap="square" lIns="0" tIns="0" rIns="0" bIns="0" rtlCol="0"/>
          <a:lstStyle/>
          <a:p>
            <a:endParaRPr sz="2400"/>
          </a:p>
        </p:txBody>
      </p:sp>
      <p:sp>
        <p:nvSpPr>
          <p:cNvPr id="43" name="object 43"/>
          <p:cNvSpPr/>
          <p:nvPr/>
        </p:nvSpPr>
        <p:spPr>
          <a:xfrm>
            <a:off x="7237466" y="3593767"/>
            <a:ext cx="59267" cy="343747"/>
          </a:xfrm>
          <a:custGeom>
            <a:avLst/>
            <a:gdLst/>
            <a:ahLst/>
            <a:cxnLst/>
            <a:rect l="l" t="t" r="r" b="b"/>
            <a:pathLst>
              <a:path w="44450" h="257810">
                <a:moveTo>
                  <a:pt x="44425" y="0"/>
                </a:moveTo>
                <a:lnTo>
                  <a:pt x="0" y="0"/>
                </a:lnTo>
                <a:lnTo>
                  <a:pt x="0" y="257244"/>
                </a:lnTo>
                <a:lnTo>
                  <a:pt x="44425" y="257244"/>
                </a:lnTo>
                <a:lnTo>
                  <a:pt x="44425" y="0"/>
                </a:lnTo>
                <a:close/>
              </a:path>
            </a:pathLst>
          </a:custGeom>
          <a:solidFill>
            <a:srgbClr val="000000"/>
          </a:solidFill>
        </p:spPr>
        <p:txBody>
          <a:bodyPr wrap="square" lIns="0" tIns="0" rIns="0" bIns="0" rtlCol="0"/>
          <a:lstStyle/>
          <a:p>
            <a:endParaRPr sz="2400"/>
          </a:p>
        </p:txBody>
      </p:sp>
      <p:sp>
        <p:nvSpPr>
          <p:cNvPr id="44" name="object 44"/>
          <p:cNvSpPr/>
          <p:nvPr/>
        </p:nvSpPr>
        <p:spPr>
          <a:xfrm>
            <a:off x="7352719" y="3936760"/>
            <a:ext cx="134620" cy="0"/>
          </a:xfrm>
          <a:custGeom>
            <a:avLst/>
            <a:gdLst/>
            <a:ahLst/>
            <a:cxnLst/>
            <a:rect l="l" t="t" r="r" b="b"/>
            <a:pathLst>
              <a:path w="100964">
                <a:moveTo>
                  <a:pt x="100529" y="0"/>
                </a:moveTo>
                <a:lnTo>
                  <a:pt x="0" y="0"/>
                </a:lnTo>
              </a:path>
            </a:pathLst>
          </a:custGeom>
          <a:ln w="44461">
            <a:solidFill>
              <a:srgbClr val="000000"/>
            </a:solidFill>
          </a:ln>
        </p:spPr>
        <p:txBody>
          <a:bodyPr wrap="square" lIns="0" tIns="0" rIns="0" bIns="0" rtlCol="0"/>
          <a:lstStyle/>
          <a:p>
            <a:endParaRPr sz="2400"/>
          </a:p>
        </p:txBody>
      </p:sp>
      <p:sp>
        <p:nvSpPr>
          <p:cNvPr id="45" name="object 45"/>
          <p:cNvSpPr/>
          <p:nvPr/>
        </p:nvSpPr>
        <p:spPr>
          <a:xfrm>
            <a:off x="7323092" y="3508029"/>
            <a:ext cx="393700" cy="514773"/>
          </a:xfrm>
          <a:custGeom>
            <a:avLst/>
            <a:gdLst/>
            <a:ahLst/>
            <a:cxnLst/>
            <a:rect l="l" t="t" r="r" b="b"/>
            <a:pathLst>
              <a:path w="295275" h="386080">
                <a:moveTo>
                  <a:pt x="44424" y="0"/>
                </a:moveTo>
                <a:lnTo>
                  <a:pt x="0" y="0"/>
                </a:lnTo>
                <a:lnTo>
                  <a:pt x="0" y="385876"/>
                </a:lnTo>
                <a:lnTo>
                  <a:pt x="44424" y="385876"/>
                </a:lnTo>
                <a:lnTo>
                  <a:pt x="44424" y="0"/>
                </a:lnTo>
                <a:close/>
              </a:path>
              <a:path w="295275" h="386080">
                <a:moveTo>
                  <a:pt x="295109" y="321551"/>
                </a:moveTo>
                <a:lnTo>
                  <a:pt x="107010" y="258800"/>
                </a:lnTo>
                <a:lnTo>
                  <a:pt x="107010" y="384314"/>
                </a:lnTo>
                <a:lnTo>
                  <a:pt x="295109" y="321551"/>
                </a:lnTo>
                <a:close/>
              </a:path>
            </a:pathLst>
          </a:custGeom>
          <a:solidFill>
            <a:srgbClr val="000000"/>
          </a:solidFill>
        </p:spPr>
        <p:txBody>
          <a:bodyPr wrap="square" lIns="0" tIns="0" rIns="0" bIns="0" rtlCol="0"/>
          <a:lstStyle/>
          <a:p>
            <a:endParaRPr sz="2400"/>
          </a:p>
        </p:txBody>
      </p:sp>
      <p:sp>
        <p:nvSpPr>
          <p:cNvPr id="46" name="object 46"/>
          <p:cNvSpPr/>
          <p:nvPr/>
        </p:nvSpPr>
        <p:spPr>
          <a:xfrm>
            <a:off x="7010004" y="3593767"/>
            <a:ext cx="685800" cy="540173"/>
          </a:xfrm>
          <a:custGeom>
            <a:avLst/>
            <a:gdLst/>
            <a:ahLst/>
            <a:cxnLst/>
            <a:rect l="l" t="t" r="r" b="b"/>
            <a:pathLst>
              <a:path w="514350" h="405130">
                <a:moveTo>
                  <a:pt x="192808" y="128622"/>
                </a:moveTo>
                <a:lnTo>
                  <a:pt x="0" y="128622"/>
                </a:lnTo>
              </a:path>
              <a:path w="514350" h="405130">
                <a:moveTo>
                  <a:pt x="514071" y="276108"/>
                </a:moveTo>
                <a:lnTo>
                  <a:pt x="514071" y="404730"/>
                </a:lnTo>
              </a:path>
              <a:path w="514350" h="405130">
                <a:moveTo>
                  <a:pt x="514071" y="0"/>
                </a:moveTo>
                <a:lnTo>
                  <a:pt x="274044" y="0"/>
                </a:lnTo>
              </a:path>
            </a:pathLst>
          </a:custGeom>
          <a:ln w="44443">
            <a:solidFill>
              <a:srgbClr val="000000"/>
            </a:solidFill>
          </a:ln>
        </p:spPr>
        <p:txBody>
          <a:bodyPr wrap="square" lIns="0" tIns="0" rIns="0" bIns="0" rtlCol="0"/>
          <a:lstStyle/>
          <a:p>
            <a:endParaRPr sz="2400"/>
          </a:p>
        </p:txBody>
      </p:sp>
      <p:pic>
        <p:nvPicPr>
          <p:cNvPr id="47" name="object 47"/>
          <p:cNvPicPr/>
          <p:nvPr/>
        </p:nvPicPr>
        <p:blipFill>
          <a:blip r:embed="rId9" cstate="print"/>
          <a:stretch>
            <a:fillRect/>
          </a:stretch>
        </p:blipFill>
        <p:spPr>
          <a:xfrm>
            <a:off x="7103584" y="2562581"/>
            <a:ext cx="148784" cy="148287"/>
          </a:xfrm>
          <a:prstGeom prst="rect">
            <a:avLst/>
          </a:prstGeom>
        </p:spPr>
      </p:pic>
      <p:sp>
        <p:nvSpPr>
          <p:cNvPr id="48" name="object 48"/>
          <p:cNvSpPr/>
          <p:nvPr/>
        </p:nvSpPr>
        <p:spPr>
          <a:xfrm>
            <a:off x="7594734" y="3953697"/>
            <a:ext cx="201507" cy="336127"/>
          </a:xfrm>
          <a:custGeom>
            <a:avLst/>
            <a:gdLst/>
            <a:ahLst/>
            <a:cxnLst/>
            <a:rect l="l" t="t" r="r" b="b"/>
            <a:pathLst>
              <a:path w="151129" h="252094">
                <a:moveTo>
                  <a:pt x="75524" y="89216"/>
                </a:moveTo>
                <a:lnTo>
                  <a:pt x="75524" y="0"/>
                </a:lnTo>
              </a:path>
              <a:path w="151129" h="252094">
                <a:moveTo>
                  <a:pt x="0" y="152923"/>
                </a:moveTo>
                <a:lnTo>
                  <a:pt x="150921" y="152923"/>
                </a:lnTo>
              </a:path>
              <a:path w="151129" h="252094">
                <a:moveTo>
                  <a:pt x="25132" y="202440"/>
                </a:moveTo>
                <a:lnTo>
                  <a:pt x="125788" y="202440"/>
                </a:lnTo>
              </a:path>
              <a:path w="151129" h="252094">
                <a:moveTo>
                  <a:pt x="50264" y="251950"/>
                </a:moveTo>
                <a:lnTo>
                  <a:pt x="100656" y="251950"/>
                </a:lnTo>
              </a:path>
              <a:path w="151129" h="252094">
                <a:moveTo>
                  <a:pt x="75524" y="20897"/>
                </a:moveTo>
                <a:lnTo>
                  <a:pt x="75524" y="152923"/>
                </a:lnTo>
              </a:path>
            </a:pathLst>
          </a:custGeom>
          <a:ln w="38094">
            <a:solidFill>
              <a:srgbClr val="000000"/>
            </a:solidFill>
          </a:ln>
        </p:spPr>
        <p:txBody>
          <a:bodyPr wrap="square" lIns="0" tIns="0" rIns="0" bIns="0" rtlCol="0"/>
          <a:lstStyle/>
          <a:p>
            <a:endParaRPr sz="2400"/>
          </a:p>
        </p:txBody>
      </p:sp>
      <p:sp>
        <p:nvSpPr>
          <p:cNvPr id="49" name="object 49"/>
          <p:cNvSpPr/>
          <p:nvPr/>
        </p:nvSpPr>
        <p:spPr>
          <a:xfrm>
            <a:off x="6553221" y="1716185"/>
            <a:ext cx="1142153" cy="2049780"/>
          </a:xfrm>
          <a:custGeom>
            <a:avLst/>
            <a:gdLst/>
            <a:ahLst/>
            <a:cxnLst/>
            <a:rect l="l" t="t" r="r" b="b"/>
            <a:pathLst>
              <a:path w="856614" h="1537335">
                <a:moveTo>
                  <a:pt x="856532" y="566064"/>
                </a:moveTo>
                <a:lnTo>
                  <a:pt x="856532" y="0"/>
                </a:lnTo>
              </a:path>
              <a:path w="856614" h="1537335">
                <a:moveTo>
                  <a:pt x="505313" y="1536808"/>
                </a:moveTo>
                <a:lnTo>
                  <a:pt x="0" y="1536808"/>
                </a:lnTo>
              </a:path>
            </a:pathLst>
          </a:custGeom>
          <a:ln w="44443">
            <a:solidFill>
              <a:srgbClr val="000000"/>
            </a:solidFill>
          </a:ln>
        </p:spPr>
        <p:txBody>
          <a:bodyPr wrap="square" lIns="0" tIns="0" rIns="0" bIns="0" rtlCol="0"/>
          <a:lstStyle/>
          <a:p>
            <a:endParaRPr sz="2400"/>
          </a:p>
        </p:txBody>
      </p:sp>
      <p:pic>
        <p:nvPicPr>
          <p:cNvPr id="50" name="object 50"/>
          <p:cNvPicPr/>
          <p:nvPr/>
        </p:nvPicPr>
        <p:blipFill>
          <a:blip r:embed="rId8" cstate="print"/>
          <a:stretch>
            <a:fillRect/>
          </a:stretch>
        </p:blipFill>
        <p:spPr>
          <a:xfrm>
            <a:off x="7615878" y="3121568"/>
            <a:ext cx="157249" cy="156820"/>
          </a:xfrm>
          <a:prstGeom prst="rect">
            <a:avLst/>
          </a:prstGeom>
        </p:spPr>
      </p:pic>
      <p:sp>
        <p:nvSpPr>
          <p:cNvPr id="51" name="object 51"/>
          <p:cNvSpPr/>
          <p:nvPr/>
        </p:nvSpPr>
        <p:spPr>
          <a:xfrm>
            <a:off x="6572982" y="2642383"/>
            <a:ext cx="11853" cy="1123525"/>
          </a:xfrm>
          <a:custGeom>
            <a:avLst/>
            <a:gdLst/>
            <a:ahLst/>
            <a:cxnLst/>
            <a:rect l="l" t="t" r="r" b="b"/>
            <a:pathLst>
              <a:path w="8889" h="842644">
                <a:moveTo>
                  <a:pt x="0" y="842160"/>
                </a:moveTo>
                <a:lnTo>
                  <a:pt x="8758" y="0"/>
                </a:lnTo>
              </a:path>
            </a:pathLst>
          </a:custGeom>
          <a:ln w="44425">
            <a:solidFill>
              <a:srgbClr val="000000"/>
            </a:solidFill>
          </a:ln>
        </p:spPr>
        <p:txBody>
          <a:bodyPr wrap="square" lIns="0" tIns="0" rIns="0" bIns="0" rtlCol="0"/>
          <a:lstStyle/>
          <a:p>
            <a:endParaRPr sz="2400"/>
          </a:p>
        </p:txBody>
      </p:sp>
      <p:pic>
        <p:nvPicPr>
          <p:cNvPr id="52" name="object 52"/>
          <p:cNvPicPr/>
          <p:nvPr/>
        </p:nvPicPr>
        <p:blipFill>
          <a:blip r:embed="rId10" cstate="print"/>
          <a:stretch>
            <a:fillRect/>
          </a:stretch>
        </p:blipFill>
        <p:spPr>
          <a:xfrm>
            <a:off x="6480943" y="3116689"/>
            <a:ext cx="157249" cy="156820"/>
          </a:xfrm>
          <a:prstGeom prst="rect">
            <a:avLst/>
          </a:prstGeom>
        </p:spPr>
      </p:pic>
      <p:sp>
        <p:nvSpPr>
          <p:cNvPr id="53" name="object 53"/>
          <p:cNvSpPr txBox="1"/>
          <p:nvPr/>
        </p:nvSpPr>
        <p:spPr>
          <a:xfrm>
            <a:off x="3556788" y="2311219"/>
            <a:ext cx="1528233" cy="309551"/>
          </a:xfrm>
          <a:prstGeom prst="rect">
            <a:avLst/>
          </a:prstGeom>
        </p:spPr>
        <p:txBody>
          <a:bodyPr vert="horz" wrap="square" lIns="0" tIns="22013" rIns="0" bIns="0" rtlCol="0">
            <a:spAutoFit/>
          </a:bodyPr>
          <a:lstStyle/>
          <a:p>
            <a:pPr marL="16933">
              <a:spcBef>
                <a:spcPts val="173"/>
              </a:spcBef>
            </a:pPr>
            <a:r>
              <a:rPr sz="1867" b="1" dirty="0">
                <a:latin typeface="Arial"/>
                <a:cs typeface="Arial"/>
              </a:rPr>
              <a:t>20µm x</a:t>
            </a:r>
            <a:r>
              <a:rPr sz="1867" b="1" spc="-47" dirty="0">
                <a:latin typeface="Arial"/>
                <a:cs typeface="Arial"/>
              </a:rPr>
              <a:t> </a:t>
            </a:r>
            <a:r>
              <a:rPr sz="1867" b="1" spc="-27" dirty="0">
                <a:latin typeface="Arial"/>
                <a:cs typeface="Arial"/>
              </a:rPr>
              <a:t>20µm</a:t>
            </a:r>
            <a:endParaRPr sz="1867">
              <a:latin typeface="Arial"/>
              <a:cs typeface="Arial"/>
            </a:endParaRPr>
          </a:p>
        </p:txBody>
      </p:sp>
      <p:sp>
        <p:nvSpPr>
          <p:cNvPr id="54" name="object 54"/>
          <p:cNvSpPr txBox="1"/>
          <p:nvPr/>
        </p:nvSpPr>
        <p:spPr>
          <a:xfrm>
            <a:off x="8180301" y="2312912"/>
            <a:ext cx="1529080" cy="309551"/>
          </a:xfrm>
          <a:prstGeom prst="rect">
            <a:avLst/>
          </a:prstGeom>
        </p:spPr>
        <p:txBody>
          <a:bodyPr vert="horz" wrap="square" lIns="0" tIns="22013" rIns="0" bIns="0" rtlCol="0">
            <a:spAutoFit/>
          </a:bodyPr>
          <a:lstStyle/>
          <a:p>
            <a:pPr marL="16933">
              <a:spcBef>
                <a:spcPts val="173"/>
              </a:spcBef>
            </a:pPr>
            <a:r>
              <a:rPr sz="1867" b="1" dirty="0">
                <a:latin typeface="Arial"/>
                <a:cs typeface="Arial"/>
              </a:rPr>
              <a:t>25µm</a:t>
            </a:r>
            <a:r>
              <a:rPr sz="1867" b="1" spc="-7" dirty="0">
                <a:latin typeface="Arial"/>
                <a:cs typeface="Arial"/>
              </a:rPr>
              <a:t> </a:t>
            </a:r>
            <a:r>
              <a:rPr sz="1867" b="1" dirty="0">
                <a:latin typeface="Arial"/>
                <a:cs typeface="Arial"/>
              </a:rPr>
              <a:t>x</a:t>
            </a:r>
            <a:r>
              <a:rPr sz="1867" b="1" spc="-47" dirty="0">
                <a:latin typeface="Arial"/>
                <a:cs typeface="Arial"/>
              </a:rPr>
              <a:t> </a:t>
            </a:r>
            <a:r>
              <a:rPr sz="1867" b="1" spc="-27" dirty="0">
                <a:latin typeface="Arial"/>
                <a:cs typeface="Arial"/>
              </a:rPr>
              <a:t>25µm</a:t>
            </a:r>
            <a:endParaRPr sz="1867">
              <a:latin typeface="Arial"/>
              <a:cs typeface="Arial"/>
            </a:endParaRPr>
          </a:p>
        </p:txBody>
      </p:sp>
      <p:sp>
        <p:nvSpPr>
          <p:cNvPr id="55" name="object 55"/>
          <p:cNvSpPr/>
          <p:nvPr/>
        </p:nvSpPr>
        <p:spPr>
          <a:xfrm flipV="1">
            <a:off x="6206107" y="2128063"/>
            <a:ext cx="4426553" cy="45719"/>
          </a:xfrm>
          <a:custGeom>
            <a:avLst/>
            <a:gdLst/>
            <a:ahLst/>
            <a:cxnLst/>
            <a:rect l="l" t="t" r="r" b="b"/>
            <a:pathLst>
              <a:path w="3295650">
                <a:moveTo>
                  <a:pt x="3295389" y="0"/>
                </a:moveTo>
                <a:lnTo>
                  <a:pt x="0" y="0"/>
                </a:lnTo>
              </a:path>
            </a:pathLst>
          </a:custGeom>
          <a:ln w="44461">
            <a:solidFill>
              <a:srgbClr val="000000"/>
            </a:solidFill>
          </a:ln>
        </p:spPr>
        <p:txBody>
          <a:bodyPr wrap="square" lIns="0" tIns="0" rIns="0" bIns="0" rtlCol="0"/>
          <a:lstStyle/>
          <a:p>
            <a:endParaRPr sz="2400"/>
          </a:p>
        </p:txBody>
      </p:sp>
      <p:sp>
        <p:nvSpPr>
          <p:cNvPr id="56" name="object 56"/>
          <p:cNvSpPr txBox="1"/>
          <p:nvPr/>
        </p:nvSpPr>
        <p:spPr>
          <a:xfrm>
            <a:off x="6857179" y="1315266"/>
            <a:ext cx="1706033" cy="314680"/>
          </a:xfrm>
          <a:prstGeom prst="rect">
            <a:avLst/>
          </a:prstGeom>
          <a:ln w="38108">
            <a:solidFill>
              <a:srgbClr val="000000"/>
            </a:solidFill>
          </a:ln>
        </p:spPr>
        <p:txBody>
          <a:bodyPr vert="horz" wrap="square" lIns="0" tIns="27093" rIns="0" bIns="0" rtlCol="0">
            <a:spAutoFit/>
          </a:bodyPr>
          <a:lstStyle/>
          <a:p>
            <a:pPr marL="307331">
              <a:spcBef>
                <a:spcPts val="213"/>
              </a:spcBef>
            </a:pPr>
            <a:r>
              <a:rPr sz="1867" b="1" spc="-13" dirty="0">
                <a:latin typeface="Arial"/>
                <a:cs typeface="Arial"/>
              </a:rPr>
              <a:t>Regulator</a:t>
            </a:r>
            <a:endParaRPr sz="1867">
              <a:latin typeface="Arial"/>
              <a:cs typeface="Arial"/>
            </a:endParaRPr>
          </a:p>
        </p:txBody>
      </p:sp>
      <p:grpSp>
        <p:nvGrpSpPr>
          <p:cNvPr id="57" name="object 57"/>
          <p:cNvGrpSpPr/>
          <p:nvPr/>
        </p:nvGrpSpPr>
        <p:grpSpPr>
          <a:xfrm>
            <a:off x="7518743" y="1035791"/>
            <a:ext cx="355600" cy="270933"/>
            <a:chOff x="5291395" y="671165"/>
            <a:chExt cx="266700" cy="203200"/>
          </a:xfrm>
        </p:grpSpPr>
        <p:sp>
          <p:nvSpPr>
            <p:cNvPr id="58" name="object 58"/>
            <p:cNvSpPr/>
            <p:nvPr/>
          </p:nvSpPr>
          <p:spPr>
            <a:xfrm>
              <a:off x="5423784" y="709275"/>
              <a:ext cx="0" cy="165100"/>
            </a:xfrm>
            <a:custGeom>
              <a:avLst/>
              <a:gdLst/>
              <a:ahLst/>
              <a:cxnLst/>
              <a:rect l="l" t="t" r="r" b="b"/>
              <a:pathLst>
                <a:path h="165100">
                  <a:moveTo>
                    <a:pt x="0" y="165017"/>
                  </a:moveTo>
                  <a:lnTo>
                    <a:pt x="0" y="0"/>
                  </a:lnTo>
                </a:path>
              </a:pathLst>
            </a:custGeom>
            <a:ln w="44425">
              <a:solidFill>
                <a:srgbClr val="000000"/>
              </a:solidFill>
            </a:ln>
          </p:spPr>
          <p:txBody>
            <a:bodyPr wrap="square" lIns="0" tIns="0" rIns="0" bIns="0" rtlCol="0"/>
            <a:lstStyle/>
            <a:p>
              <a:endParaRPr sz="2400"/>
            </a:p>
          </p:txBody>
        </p:sp>
        <p:sp>
          <p:nvSpPr>
            <p:cNvPr id="59" name="object 59"/>
            <p:cNvSpPr/>
            <p:nvPr/>
          </p:nvSpPr>
          <p:spPr>
            <a:xfrm>
              <a:off x="5291395" y="671165"/>
              <a:ext cx="266700" cy="76835"/>
            </a:xfrm>
            <a:custGeom>
              <a:avLst/>
              <a:gdLst/>
              <a:ahLst/>
              <a:cxnLst/>
              <a:rect l="l" t="t" r="r" b="b"/>
              <a:pathLst>
                <a:path w="266700" h="76834">
                  <a:moveTo>
                    <a:pt x="266111" y="0"/>
                  </a:moveTo>
                  <a:lnTo>
                    <a:pt x="0" y="0"/>
                  </a:lnTo>
                  <a:lnTo>
                    <a:pt x="0" y="76220"/>
                  </a:lnTo>
                  <a:lnTo>
                    <a:pt x="266111" y="76220"/>
                  </a:lnTo>
                  <a:lnTo>
                    <a:pt x="266111" y="0"/>
                  </a:lnTo>
                  <a:close/>
                </a:path>
              </a:pathLst>
            </a:custGeom>
            <a:solidFill>
              <a:srgbClr val="000000"/>
            </a:solidFill>
          </p:spPr>
          <p:txBody>
            <a:bodyPr wrap="square" lIns="0" tIns="0" rIns="0" bIns="0" rtlCol="0"/>
            <a:lstStyle/>
            <a:p>
              <a:endParaRPr sz="2400"/>
            </a:p>
          </p:txBody>
        </p:sp>
      </p:grpSp>
      <p:sp>
        <p:nvSpPr>
          <p:cNvPr id="60" name="object 60"/>
          <p:cNvSpPr txBox="1"/>
          <p:nvPr/>
        </p:nvSpPr>
        <p:spPr>
          <a:xfrm>
            <a:off x="7784783" y="1779368"/>
            <a:ext cx="525780" cy="309551"/>
          </a:xfrm>
          <a:prstGeom prst="rect">
            <a:avLst/>
          </a:prstGeom>
        </p:spPr>
        <p:txBody>
          <a:bodyPr vert="horz" wrap="square" lIns="0" tIns="22013" rIns="0" bIns="0" rtlCol="0">
            <a:spAutoFit/>
          </a:bodyPr>
          <a:lstStyle/>
          <a:p>
            <a:pPr marL="16933">
              <a:spcBef>
                <a:spcPts val="173"/>
              </a:spcBef>
            </a:pPr>
            <a:r>
              <a:rPr sz="1867" b="1" spc="-27" dirty="0">
                <a:latin typeface="Arial"/>
                <a:cs typeface="Arial"/>
              </a:rPr>
              <a:t>0.9V</a:t>
            </a:r>
            <a:endParaRPr sz="1867">
              <a:latin typeface="Arial"/>
              <a:cs typeface="Arial"/>
            </a:endParaRPr>
          </a:p>
        </p:txBody>
      </p:sp>
      <p:sp>
        <p:nvSpPr>
          <p:cNvPr id="61" name="object 61"/>
          <p:cNvSpPr txBox="1"/>
          <p:nvPr/>
        </p:nvSpPr>
        <p:spPr>
          <a:xfrm>
            <a:off x="7976025" y="938064"/>
            <a:ext cx="525780" cy="309551"/>
          </a:xfrm>
          <a:prstGeom prst="rect">
            <a:avLst/>
          </a:prstGeom>
        </p:spPr>
        <p:txBody>
          <a:bodyPr vert="horz" wrap="square" lIns="0" tIns="22013" rIns="0" bIns="0" rtlCol="0">
            <a:spAutoFit/>
          </a:bodyPr>
          <a:lstStyle/>
          <a:p>
            <a:pPr marL="16933">
              <a:spcBef>
                <a:spcPts val="173"/>
              </a:spcBef>
            </a:pPr>
            <a:r>
              <a:rPr sz="1867" b="1" spc="-27" dirty="0">
                <a:latin typeface="Arial"/>
                <a:cs typeface="Arial"/>
              </a:rPr>
              <a:t>1.2V</a:t>
            </a:r>
            <a:endParaRPr sz="1867">
              <a:latin typeface="Arial"/>
              <a:cs typeface="Arial"/>
            </a:endParaRPr>
          </a:p>
        </p:txBody>
      </p:sp>
      <p:grpSp>
        <p:nvGrpSpPr>
          <p:cNvPr id="62" name="object 62"/>
          <p:cNvGrpSpPr/>
          <p:nvPr/>
        </p:nvGrpSpPr>
        <p:grpSpPr>
          <a:xfrm>
            <a:off x="1833866" y="2743340"/>
            <a:ext cx="1813560" cy="895773"/>
            <a:chOff x="1027737" y="1951827"/>
            <a:chExt cx="1360170" cy="671830"/>
          </a:xfrm>
        </p:grpSpPr>
        <p:sp>
          <p:nvSpPr>
            <p:cNvPr id="63" name="object 63"/>
            <p:cNvSpPr/>
            <p:nvPr/>
          </p:nvSpPr>
          <p:spPr>
            <a:xfrm>
              <a:off x="1050470" y="2292921"/>
              <a:ext cx="1314450" cy="0"/>
            </a:xfrm>
            <a:custGeom>
              <a:avLst/>
              <a:gdLst/>
              <a:ahLst/>
              <a:cxnLst/>
              <a:rect l="l" t="t" r="r" b="b"/>
              <a:pathLst>
                <a:path w="1314450">
                  <a:moveTo>
                    <a:pt x="0" y="0"/>
                  </a:moveTo>
                  <a:lnTo>
                    <a:pt x="1314271" y="0"/>
                  </a:lnTo>
                </a:path>
              </a:pathLst>
            </a:custGeom>
            <a:ln w="44461">
              <a:solidFill>
                <a:srgbClr val="000000"/>
              </a:solidFill>
            </a:ln>
          </p:spPr>
          <p:txBody>
            <a:bodyPr wrap="square" lIns="0" tIns="0" rIns="0" bIns="0" rtlCol="0"/>
            <a:lstStyle/>
            <a:p>
              <a:endParaRPr sz="2400"/>
            </a:p>
          </p:txBody>
        </p:sp>
        <p:sp>
          <p:nvSpPr>
            <p:cNvPr id="64" name="object 64"/>
            <p:cNvSpPr/>
            <p:nvPr/>
          </p:nvSpPr>
          <p:spPr>
            <a:xfrm>
              <a:off x="1049962" y="1974052"/>
              <a:ext cx="626745" cy="627380"/>
            </a:xfrm>
            <a:custGeom>
              <a:avLst/>
              <a:gdLst/>
              <a:ahLst/>
              <a:cxnLst/>
              <a:rect l="l" t="t" r="r" b="b"/>
              <a:pathLst>
                <a:path w="626744" h="627380">
                  <a:moveTo>
                    <a:pt x="313202" y="0"/>
                  </a:moveTo>
                  <a:lnTo>
                    <a:pt x="266918" y="3398"/>
                  </a:lnTo>
                  <a:lnTo>
                    <a:pt x="222744" y="13271"/>
                  </a:lnTo>
                  <a:lnTo>
                    <a:pt x="181162" y="29132"/>
                  </a:lnTo>
                  <a:lnTo>
                    <a:pt x="142658" y="50498"/>
                  </a:lnTo>
                  <a:lnTo>
                    <a:pt x="107716" y="76884"/>
                  </a:lnTo>
                  <a:lnTo>
                    <a:pt x="76821" y="107804"/>
                  </a:lnTo>
                  <a:lnTo>
                    <a:pt x="50457" y="142774"/>
                  </a:lnTo>
                  <a:lnTo>
                    <a:pt x="29109" y="181309"/>
                  </a:lnTo>
                  <a:lnTo>
                    <a:pt x="13260" y="222924"/>
                  </a:lnTo>
                  <a:lnTo>
                    <a:pt x="3395" y="267135"/>
                  </a:lnTo>
                  <a:lnTo>
                    <a:pt x="0" y="313456"/>
                  </a:lnTo>
                  <a:lnTo>
                    <a:pt x="3395" y="359775"/>
                  </a:lnTo>
                  <a:lnTo>
                    <a:pt x="13260" y="403984"/>
                  </a:lnTo>
                  <a:lnTo>
                    <a:pt x="29109" y="445598"/>
                  </a:lnTo>
                  <a:lnTo>
                    <a:pt x="50457" y="484133"/>
                  </a:lnTo>
                  <a:lnTo>
                    <a:pt x="76821" y="519104"/>
                  </a:lnTo>
                  <a:lnTo>
                    <a:pt x="107716" y="550025"/>
                  </a:lnTo>
                  <a:lnTo>
                    <a:pt x="142658" y="576411"/>
                  </a:lnTo>
                  <a:lnTo>
                    <a:pt x="181162" y="597778"/>
                  </a:lnTo>
                  <a:lnTo>
                    <a:pt x="222744" y="613641"/>
                  </a:lnTo>
                  <a:lnTo>
                    <a:pt x="266918" y="623514"/>
                  </a:lnTo>
                  <a:lnTo>
                    <a:pt x="313202" y="626913"/>
                  </a:lnTo>
                  <a:lnTo>
                    <a:pt x="359484" y="623514"/>
                  </a:lnTo>
                  <a:lnTo>
                    <a:pt x="403659" y="613641"/>
                  </a:lnTo>
                  <a:lnTo>
                    <a:pt x="445242" y="597778"/>
                  </a:lnTo>
                  <a:lnTo>
                    <a:pt x="483749" y="576411"/>
                  </a:lnTo>
                  <a:lnTo>
                    <a:pt x="518694" y="550025"/>
                  </a:lnTo>
                  <a:lnTo>
                    <a:pt x="549594" y="519104"/>
                  </a:lnTo>
                  <a:lnTo>
                    <a:pt x="575962" y="484133"/>
                  </a:lnTo>
                  <a:lnTo>
                    <a:pt x="597315" y="445598"/>
                  </a:lnTo>
                  <a:lnTo>
                    <a:pt x="613167" y="403984"/>
                  </a:lnTo>
                  <a:lnTo>
                    <a:pt x="623034" y="359775"/>
                  </a:lnTo>
                  <a:lnTo>
                    <a:pt x="626431" y="313456"/>
                  </a:lnTo>
                  <a:lnTo>
                    <a:pt x="623034" y="267135"/>
                  </a:lnTo>
                  <a:lnTo>
                    <a:pt x="613167" y="222924"/>
                  </a:lnTo>
                  <a:lnTo>
                    <a:pt x="597315" y="181309"/>
                  </a:lnTo>
                  <a:lnTo>
                    <a:pt x="575962" y="142774"/>
                  </a:lnTo>
                  <a:lnTo>
                    <a:pt x="549594" y="107804"/>
                  </a:lnTo>
                  <a:lnTo>
                    <a:pt x="518694" y="76884"/>
                  </a:lnTo>
                  <a:lnTo>
                    <a:pt x="483749" y="50498"/>
                  </a:lnTo>
                  <a:lnTo>
                    <a:pt x="445242" y="29132"/>
                  </a:lnTo>
                  <a:lnTo>
                    <a:pt x="403659" y="13271"/>
                  </a:lnTo>
                  <a:lnTo>
                    <a:pt x="359484" y="3398"/>
                  </a:lnTo>
                  <a:lnTo>
                    <a:pt x="313202" y="0"/>
                  </a:lnTo>
                  <a:close/>
                </a:path>
              </a:pathLst>
            </a:custGeom>
            <a:solidFill>
              <a:srgbClr val="F1F1F1"/>
            </a:solidFill>
          </p:spPr>
          <p:txBody>
            <a:bodyPr wrap="square" lIns="0" tIns="0" rIns="0" bIns="0" rtlCol="0"/>
            <a:lstStyle/>
            <a:p>
              <a:endParaRPr sz="2400"/>
            </a:p>
          </p:txBody>
        </p:sp>
        <p:sp>
          <p:nvSpPr>
            <p:cNvPr id="65" name="object 65"/>
            <p:cNvSpPr/>
            <p:nvPr/>
          </p:nvSpPr>
          <p:spPr>
            <a:xfrm>
              <a:off x="1049962" y="1974052"/>
              <a:ext cx="626745" cy="627380"/>
            </a:xfrm>
            <a:custGeom>
              <a:avLst/>
              <a:gdLst/>
              <a:ahLst/>
              <a:cxnLst/>
              <a:rect l="l" t="t" r="r" b="b"/>
              <a:pathLst>
                <a:path w="626744" h="627380">
                  <a:moveTo>
                    <a:pt x="626431" y="313456"/>
                  </a:moveTo>
                  <a:lnTo>
                    <a:pt x="623034" y="267135"/>
                  </a:lnTo>
                  <a:lnTo>
                    <a:pt x="613167" y="222924"/>
                  </a:lnTo>
                  <a:lnTo>
                    <a:pt x="597315" y="181309"/>
                  </a:lnTo>
                  <a:lnTo>
                    <a:pt x="575962" y="142774"/>
                  </a:lnTo>
                  <a:lnTo>
                    <a:pt x="549594" y="107804"/>
                  </a:lnTo>
                  <a:lnTo>
                    <a:pt x="518694" y="76884"/>
                  </a:lnTo>
                  <a:lnTo>
                    <a:pt x="483749" y="50498"/>
                  </a:lnTo>
                  <a:lnTo>
                    <a:pt x="445242" y="29132"/>
                  </a:lnTo>
                  <a:lnTo>
                    <a:pt x="403659" y="13271"/>
                  </a:lnTo>
                  <a:lnTo>
                    <a:pt x="359484" y="3398"/>
                  </a:lnTo>
                  <a:lnTo>
                    <a:pt x="313202" y="0"/>
                  </a:lnTo>
                  <a:lnTo>
                    <a:pt x="266918" y="3398"/>
                  </a:lnTo>
                  <a:lnTo>
                    <a:pt x="222744" y="13271"/>
                  </a:lnTo>
                  <a:lnTo>
                    <a:pt x="181162" y="29132"/>
                  </a:lnTo>
                  <a:lnTo>
                    <a:pt x="142658" y="50498"/>
                  </a:lnTo>
                  <a:lnTo>
                    <a:pt x="107716" y="76884"/>
                  </a:lnTo>
                  <a:lnTo>
                    <a:pt x="76821" y="107804"/>
                  </a:lnTo>
                  <a:lnTo>
                    <a:pt x="50457" y="142774"/>
                  </a:lnTo>
                  <a:lnTo>
                    <a:pt x="29109" y="181309"/>
                  </a:lnTo>
                  <a:lnTo>
                    <a:pt x="13260" y="222924"/>
                  </a:lnTo>
                  <a:lnTo>
                    <a:pt x="3395" y="267135"/>
                  </a:lnTo>
                  <a:lnTo>
                    <a:pt x="0" y="313456"/>
                  </a:lnTo>
                  <a:lnTo>
                    <a:pt x="3395" y="359775"/>
                  </a:lnTo>
                  <a:lnTo>
                    <a:pt x="13260" y="403984"/>
                  </a:lnTo>
                  <a:lnTo>
                    <a:pt x="29109" y="445598"/>
                  </a:lnTo>
                  <a:lnTo>
                    <a:pt x="50457" y="484133"/>
                  </a:lnTo>
                  <a:lnTo>
                    <a:pt x="76821" y="519104"/>
                  </a:lnTo>
                  <a:lnTo>
                    <a:pt x="107716" y="550025"/>
                  </a:lnTo>
                  <a:lnTo>
                    <a:pt x="142658" y="576411"/>
                  </a:lnTo>
                  <a:lnTo>
                    <a:pt x="181162" y="597778"/>
                  </a:lnTo>
                  <a:lnTo>
                    <a:pt x="222744" y="613641"/>
                  </a:lnTo>
                  <a:lnTo>
                    <a:pt x="266918" y="623514"/>
                  </a:lnTo>
                  <a:lnTo>
                    <a:pt x="313202" y="626913"/>
                  </a:lnTo>
                  <a:lnTo>
                    <a:pt x="359484" y="623514"/>
                  </a:lnTo>
                  <a:lnTo>
                    <a:pt x="403659" y="613641"/>
                  </a:lnTo>
                  <a:lnTo>
                    <a:pt x="445242" y="597778"/>
                  </a:lnTo>
                  <a:lnTo>
                    <a:pt x="483749" y="576411"/>
                  </a:lnTo>
                  <a:lnTo>
                    <a:pt x="518694" y="550025"/>
                  </a:lnTo>
                  <a:lnTo>
                    <a:pt x="549594" y="519104"/>
                  </a:lnTo>
                  <a:lnTo>
                    <a:pt x="575962" y="484133"/>
                  </a:lnTo>
                  <a:lnTo>
                    <a:pt x="597315" y="445598"/>
                  </a:lnTo>
                  <a:lnTo>
                    <a:pt x="613167" y="403984"/>
                  </a:lnTo>
                  <a:lnTo>
                    <a:pt x="623034" y="359775"/>
                  </a:lnTo>
                  <a:lnTo>
                    <a:pt x="626431" y="313456"/>
                  </a:lnTo>
                  <a:close/>
                </a:path>
              </a:pathLst>
            </a:custGeom>
            <a:ln w="44443">
              <a:solidFill>
                <a:srgbClr val="000000"/>
              </a:solidFill>
            </a:ln>
          </p:spPr>
          <p:txBody>
            <a:bodyPr wrap="square" lIns="0" tIns="0" rIns="0" bIns="0" rtlCol="0"/>
            <a:lstStyle/>
            <a:p>
              <a:endParaRPr sz="2400"/>
            </a:p>
          </p:txBody>
        </p:sp>
      </p:grpSp>
      <p:sp>
        <p:nvSpPr>
          <p:cNvPr id="66" name="object 66"/>
          <p:cNvSpPr txBox="1"/>
          <p:nvPr/>
        </p:nvSpPr>
        <p:spPr>
          <a:xfrm>
            <a:off x="1935791" y="2834243"/>
            <a:ext cx="701887" cy="596872"/>
          </a:xfrm>
          <a:prstGeom prst="rect">
            <a:avLst/>
          </a:prstGeom>
        </p:spPr>
        <p:txBody>
          <a:bodyPr vert="horz" wrap="square" lIns="0" tIns="22013" rIns="0" bIns="0" rtlCol="0">
            <a:spAutoFit/>
          </a:bodyPr>
          <a:lstStyle/>
          <a:p>
            <a:pPr marL="16933" marR="6773" indent="183722">
              <a:spcBef>
                <a:spcPts val="173"/>
              </a:spcBef>
            </a:pPr>
            <a:r>
              <a:rPr sz="1867" b="1" spc="-33" dirty="0">
                <a:latin typeface="Arial"/>
                <a:cs typeface="Arial"/>
              </a:rPr>
              <a:t>Rx </a:t>
            </a:r>
            <a:r>
              <a:rPr sz="1867" b="1" spc="-27" dirty="0">
                <a:latin typeface="Arial"/>
                <a:cs typeface="Arial"/>
              </a:rPr>
              <a:t>Bump</a:t>
            </a:r>
            <a:endParaRPr sz="1867">
              <a:latin typeface="Arial"/>
              <a:cs typeface="Arial"/>
            </a:endParaRPr>
          </a:p>
        </p:txBody>
      </p:sp>
      <p:grpSp>
        <p:nvGrpSpPr>
          <p:cNvPr id="67" name="object 67"/>
          <p:cNvGrpSpPr/>
          <p:nvPr/>
        </p:nvGrpSpPr>
        <p:grpSpPr>
          <a:xfrm>
            <a:off x="825994" y="1735664"/>
            <a:ext cx="10204873" cy="1540933"/>
            <a:chOff x="271832" y="1196070"/>
            <a:chExt cx="7653655" cy="1155700"/>
          </a:xfrm>
        </p:grpSpPr>
        <p:sp>
          <p:nvSpPr>
            <p:cNvPr id="68" name="object 68"/>
            <p:cNvSpPr/>
            <p:nvPr/>
          </p:nvSpPr>
          <p:spPr>
            <a:xfrm>
              <a:off x="832008" y="2296313"/>
              <a:ext cx="207010" cy="0"/>
            </a:xfrm>
            <a:custGeom>
              <a:avLst/>
              <a:gdLst/>
              <a:ahLst/>
              <a:cxnLst/>
              <a:rect l="l" t="t" r="r" b="b"/>
              <a:pathLst>
                <a:path w="207009">
                  <a:moveTo>
                    <a:pt x="0" y="0"/>
                  </a:moveTo>
                  <a:lnTo>
                    <a:pt x="206974" y="0"/>
                  </a:lnTo>
                </a:path>
              </a:pathLst>
            </a:custGeom>
            <a:ln w="44461">
              <a:solidFill>
                <a:srgbClr val="000000"/>
              </a:solidFill>
            </a:ln>
          </p:spPr>
          <p:txBody>
            <a:bodyPr wrap="square" lIns="0" tIns="0" rIns="0" bIns="0" rtlCol="0"/>
            <a:lstStyle/>
            <a:p>
              <a:endParaRPr sz="2400"/>
            </a:p>
          </p:txBody>
        </p:sp>
        <p:sp>
          <p:nvSpPr>
            <p:cNvPr id="69" name="object 69"/>
            <p:cNvSpPr/>
            <p:nvPr/>
          </p:nvSpPr>
          <p:spPr>
            <a:xfrm>
              <a:off x="631076" y="1627732"/>
              <a:ext cx="402590" cy="402590"/>
            </a:xfrm>
            <a:custGeom>
              <a:avLst/>
              <a:gdLst/>
              <a:ahLst/>
              <a:cxnLst/>
              <a:rect l="l" t="t" r="r" b="b"/>
              <a:pathLst>
                <a:path w="402590" h="402589">
                  <a:moveTo>
                    <a:pt x="402143" y="402444"/>
                  </a:moveTo>
                  <a:lnTo>
                    <a:pt x="201071" y="0"/>
                  </a:lnTo>
                  <a:lnTo>
                    <a:pt x="0" y="402444"/>
                  </a:lnTo>
                  <a:lnTo>
                    <a:pt x="402143" y="402444"/>
                  </a:lnTo>
                  <a:close/>
                </a:path>
              </a:pathLst>
            </a:custGeom>
            <a:ln w="44443">
              <a:solidFill>
                <a:srgbClr val="538AD3"/>
              </a:solidFill>
            </a:ln>
          </p:spPr>
          <p:txBody>
            <a:bodyPr wrap="square" lIns="0" tIns="0" rIns="0" bIns="0" rtlCol="0"/>
            <a:lstStyle/>
            <a:p>
              <a:endParaRPr sz="2400"/>
            </a:p>
          </p:txBody>
        </p:sp>
        <p:sp>
          <p:nvSpPr>
            <p:cNvPr id="70" name="object 70"/>
            <p:cNvSpPr/>
            <p:nvPr/>
          </p:nvSpPr>
          <p:spPr>
            <a:xfrm>
              <a:off x="616720" y="1607915"/>
              <a:ext cx="431165" cy="57785"/>
            </a:xfrm>
            <a:custGeom>
              <a:avLst/>
              <a:gdLst/>
              <a:ahLst/>
              <a:cxnLst/>
              <a:rect l="l" t="t" r="r" b="b"/>
              <a:pathLst>
                <a:path w="431165" h="57785">
                  <a:moveTo>
                    <a:pt x="430868" y="0"/>
                  </a:moveTo>
                  <a:lnTo>
                    <a:pt x="0" y="0"/>
                  </a:lnTo>
                  <a:lnTo>
                    <a:pt x="0" y="57165"/>
                  </a:lnTo>
                  <a:lnTo>
                    <a:pt x="430868" y="57165"/>
                  </a:lnTo>
                  <a:lnTo>
                    <a:pt x="430868" y="0"/>
                  </a:lnTo>
                  <a:close/>
                </a:path>
              </a:pathLst>
            </a:custGeom>
            <a:solidFill>
              <a:srgbClr val="538AD3"/>
            </a:solidFill>
          </p:spPr>
          <p:txBody>
            <a:bodyPr wrap="square" lIns="0" tIns="0" rIns="0" bIns="0" rtlCol="0"/>
            <a:lstStyle/>
            <a:p>
              <a:endParaRPr sz="2400"/>
            </a:p>
          </p:txBody>
        </p:sp>
        <p:sp>
          <p:nvSpPr>
            <p:cNvPr id="71" name="object 71"/>
            <p:cNvSpPr/>
            <p:nvPr/>
          </p:nvSpPr>
          <p:spPr>
            <a:xfrm>
              <a:off x="711288" y="1196073"/>
              <a:ext cx="236854" cy="454025"/>
            </a:xfrm>
            <a:custGeom>
              <a:avLst/>
              <a:gdLst/>
              <a:ahLst/>
              <a:cxnLst/>
              <a:rect l="l" t="t" r="r" b="b"/>
              <a:pathLst>
                <a:path w="236855" h="454025">
                  <a:moveTo>
                    <a:pt x="236448" y="0"/>
                  </a:moveTo>
                  <a:lnTo>
                    <a:pt x="0" y="0"/>
                  </a:lnTo>
                  <a:lnTo>
                    <a:pt x="0" y="63525"/>
                  </a:lnTo>
                  <a:lnTo>
                    <a:pt x="98640" y="63525"/>
                  </a:lnTo>
                  <a:lnTo>
                    <a:pt x="98640" y="453898"/>
                  </a:lnTo>
                  <a:lnTo>
                    <a:pt x="143065" y="453898"/>
                  </a:lnTo>
                  <a:lnTo>
                    <a:pt x="143065" y="63525"/>
                  </a:lnTo>
                  <a:lnTo>
                    <a:pt x="236448" y="63525"/>
                  </a:lnTo>
                  <a:lnTo>
                    <a:pt x="236448" y="0"/>
                  </a:lnTo>
                  <a:close/>
                </a:path>
              </a:pathLst>
            </a:custGeom>
            <a:solidFill>
              <a:srgbClr val="000000"/>
            </a:solidFill>
          </p:spPr>
          <p:txBody>
            <a:bodyPr wrap="square" lIns="0" tIns="0" rIns="0" bIns="0" rtlCol="0"/>
            <a:lstStyle/>
            <a:p>
              <a:endParaRPr sz="2400"/>
            </a:p>
          </p:txBody>
        </p:sp>
        <p:sp>
          <p:nvSpPr>
            <p:cNvPr id="72" name="object 72"/>
            <p:cNvSpPr/>
            <p:nvPr/>
          </p:nvSpPr>
          <p:spPr>
            <a:xfrm>
              <a:off x="378611" y="1510098"/>
              <a:ext cx="150495" cy="253365"/>
            </a:xfrm>
            <a:custGeom>
              <a:avLst/>
              <a:gdLst/>
              <a:ahLst/>
              <a:cxnLst/>
              <a:rect l="l" t="t" r="r" b="b"/>
              <a:pathLst>
                <a:path w="150495" h="253364">
                  <a:moveTo>
                    <a:pt x="0" y="0"/>
                  </a:moveTo>
                  <a:lnTo>
                    <a:pt x="55750" y="6198"/>
                  </a:lnTo>
                  <a:lnTo>
                    <a:pt x="95486" y="21148"/>
                  </a:lnTo>
                  <a:lnTo>
                    <a:pt x="137617" y="71702"/>
                  </a:lnTo>
                  <a:lnTo>
                    <a:pt x="147801" y="140452"/>
                  </a:lnTo>
                  <a:lnTo>
                    <a:pt x="147603" y="178149"/>
                  </a:lnTo>
                  <a:lnTo>
                    <a:pt x="147445" y="216191"/>
                  </a:lnTo>
                  <a:lnTo>
                    <a:pt x="150006" y="253179"/>
                  </a:lnTo>
                </a:path>
              </a:pathLst>
            </a:custGeom>
            <a:ln w="28565">
              <a:solidFill>
                <a:srgbClr val="538AD3"/>
              </a:solidFill>
            </a:ln>
          </p:spPr>
          <p:txBody>
            <a:bodyPr wrap="square" lIns="0" tIns="0" rIns="0" bIns="0" rtlCol="0"/>
            <a:lstStyle/>
            <a:p>
              <a:endParaRPr sz="2400"/>
            </a:p>
          </p:txBody>
        </p:sp>
        <p:sp>
          <p:nvSpPr>
            <p:cNvPr id="73" name="object 73"/>
            <p:cNvSpPr/>
            <p:nvPr/>
          </p:nvSpPr>
          <p:spPr>
            <a:xfrm>
              <a:off x="464707" y="1704207"/>
              <a:ext cx="190500" cy="203835"/>
            </a:xfrm>
            <a:custGeom>
              <a:avLst/>
              <a:gdLst/>
              <a:ahLst/>
              <a:cxnLst/>
              <a:rect l="l" t="t" r="r" b="b"/>
              <a:pathLst>
                <a:path w="190500" h="203835">
                  <a:moveTo>
                    <a:pt x="104857" y="0"/>
                  </a:moveTo>
                  <a:lnTo>
                    <a:pt x="0" y="91845"/>
                  </a:lnTo>
                  <a:lnTo>
                    <a:pt x="190143" y="203368"/>
                  </a:lnTo>
                  <a:lnTo>
                    <a:pt x="104857" y="0"/>
                  </a:lnTo>
                  <a:close/>
                </a:path>
              </a:pathLst>
            </a:custGeom>
            <a:solidFill>
              <a:srgbClr val="538AD3"/>
            </a:solidFill>
          </p:spPr>
          <p:txBody>
            <a:bodyPr wrap="square" lIns="0" tIns="0" rIns="0" bIns="0" rtlCol="0"/>
            <a:lstStyle/>
            <a:p>
              <a:endParaRPr sz="2400"/>
            </a:p>
          </p:txBody>
        </p:sp>
        <p:sp>
          <p:nvSpPr>
            <p:cNvPr id="74" name="object 74"/>
            <p:cNvSpPr/>
            <p:nvPr/>
          </p:nvSpPr>
          <p:spPr>
            <a:xfrm>
              <a:off x="286115" y="1632051"/>
              <a:ext cx="153670" cy="250825"/>
            </a:xfrm>
            <a:custGeom>
              <a:avLst/>
              <a:gdLst/>
              <a:ahLst/>
              <a:cxnLst/>
              <a:rect l="l" t="t" r="r" b="b"/>
              <a:pathLst>
                <a:path w="153670" h="250825">
                  <a:moveTo>
                    <a:pt x="0" y="0"/>
                  </a:moveTo>
                  <a:lnTo>
                    <a:pt x="54200" y="12681"/>
                  </a:lnTo>
                  <a:lnTo>
                    <a:pt x="92139" y="33709"/>
                  </a:lnTo>
                  <a:lnTo>
                    <a:pt x="131729" y="94753"/>
                  </a:lnTo>
                  <a:lnTo>
                    <a:pt x="143768" y="171019"/>
                  </a:lnTo>
                  <a:lnTo>
                    <a:pt x="147269" y="211075"/>
                  </a:lnTo>
                  <a:lnTo>
                    <a:pt x="153256" y="250396"/>
                  </a:lnTo>
                </a:path>
              </a:pathLst>
            </a:custGeom>
            <a:ln w="28565">
              <a:solidFill>
                <a:srgbClr val="538AD3"/>
              </a:solidFill>
            </a:ln>
          </p:spPr>
          <p:txBody>
            <a:bodyPr wrap="square" lIns="0" tIns="0" rIns="0" bIns="0" rtlCol="0"/>
            <a:lstStyle/>
            <a:p>
              <a:endParaRPr sz="2400"/>
            </a:p>
          </p:txBody>
        </p:sp>
        <p:sp>
          <p:nvSpPr>
            <p:cNvPr id="75" name="object 75"/>
            <p:cNvSpPr/>
            <p:nvPr/>
          </p:nvSpPr>
          <p:spPr>
            <a:xfrm>
              <a:off x="374751" y="1824254"/>
              <a:ext cx="187960" cy="205740"/>
            </a:xfrm>
            <a:custGeom>
              <a:avLst/>
              <a:gdLst/>
              <a:ahLst/>
              <a:cxnLst/>
              <a:rect l="l" t="t" r="r" b="b"/>
              <a:pathLst>
                <a:path w="187959" h="205739">
                  <a:moveTo>
                    <a:pt x="106888" y="0"/>
                  </a:moveTo>
                  <a:lnTo>
                    <a:pt x="0" y="89571"/>
                  </a:lnTo>
                  <a:lnTo>
                    <a:pt x="187604" y="205274"/>
                  </a:lnTo>
                  <a:lnTo>
                    <a:pt x="106888" y="0"/>
                  </a:lnTo>
                  <a:close/>
                </a:path>
              </a:pathLst>
            </a:custGeom>
            <a:solidFill>
              <a:srgbClr val="538AD3"/>
            </a:solidFill>
          </p:spPr>
          <p:txBody>
            <a:bodyPr wrap="square" lIns="0" tIns="0" rIns="0" bIns="0" rtlCol="0"/>
            <a:lstStyle/>
            <a:p>
              <a:endParaRPr sz="2400"/>
            </a:p>
          </p:txBody>
        </p:sp>
        <p:sp>
          <p:nvSpPr>
            <p:cNvPr id="76" name="object 76"/>
            <p:cNvSpPr/>
            <p:nvPr/>
          </p:nvSpPr>
          <p:spPr>
            <a:xfrm>
              <a:off x="809935" y="2007958"/>
              <a:ext cx="44450" cy="311150"/>
            </a:xfrm>
            <a:custGeom>
              <a:avLst/>
              <a:gdLst/>
              <a:ahLst/>
              <a:cxnLst/>
              <a:rect l="l" t="t" r="r" b="b"/>
              <a:pathLst>
                <a:path w="44450" h="311150">
                  <a:moveTo>
                    <a:pt x="44425" y="0"/>
                  </a:moveTo>
                  <a:lnTo>
                    <a:pt x="0" y="0"/>
                  </a:lnTo>
                  <a:lnTo>
                    <a:pt x="0" y="310585"/>
                  </a:lnTo>
                  <a:lnTo>
                    <a:pt x="44425" y="310585"/>
                  </a:lnTo>
                  <a:lnTo>
                    <a:pt x="44425" y="0"/>
                  </a:lnTo>
                  <a:close/>
                </a:path>
              </a:pathLst>
            </a:custGeom>
            <a:solidFill>
              <a:srgbClr val="000000"/>
            </a:solidFill>
          </p:spPr>
          <p:txBody>
            <a:bodyPr wrap="square" lIns="0" tIns="0" rIns="0" bIns="0" rtlCol="0"/>
            <a:lstStyle/>
            <a:p>
              <a:endParaRPr sz="2400"/>
            </a:p>
          </p:txBody>
        </p:sp>
        <p:pic>
          <p:nvPicPr>
            <p:cNvPr id="77" name="object 77"/>
            <p:cNvPicPr/>
            <p:nvPr/>
          </p:nvPicPr>
          <p:blipFill>
            <a:blip r:embed="rId11" cstate="print"/>
            <a:stretch>
              <a:fillRect/>
            </a:stretch>
          </p:blipFill>
          <p:spPr>
            <a:xfrm>
              <a:off x="7813765" y="2240184"/>
              <a:ext cx="111588" cy="111266"/>
            </a:xfrm>
            <a:prstGeom prst="rect">
              <a:avLst/>
            </a:prstGeom>
          </p:spPr>
        </p:pic>
        <p:pic>
          <p:nvPicPr>
            <p:cNvPr id="78" name="object 78"/>
            <p:cNvPicPr/>
            <p:nvPr/>
          </p:nvPicPr>
          <p:blipFill>
            <a:blip r:embed="rId12" cstate="print"/>
            <a:stretch>
              <a:fillRect/>
            </a:stretch>
          </p:blipFill>
          <p:spPr>
            <a:xfrm>
              <a:off x="5364245" y="1450783"/>
              <a:ext cx="117937" cy="117615"/>
            </a:xfrm>
            <a:prstGeom prst="rect">
              <a:avLst/>
            </a:prstGeom>
          </p:spPr>
        </p:pic>
      </p:grpSp>
      <p:sp>
        <p:nvSpPr>
          <p:cNvPr id="79" name="object 79"/>
          <p:cNvSpPr txBox="1"/>
          <p:nvPr/>
        </p:nvSpPr>
        <p:spPr>
          <a:xfrm>
            <a:off x="10798130" y="2684767"/>
            <a:ext cx="560493" cy="309551"/>
          </a:xfrm>
          <a:prstGeom prst="rect">
            <a:avLst/>
          </a:prstGeom>
        </p:spPr>
        <p:txBody>
          <a:bodyPr vert="horz" wrap="square" lIns="0" tIns="22013" rIns="0" bIns="0" rtlCol="0">
            <a:spAutoFit/>
          </a:bodyPr>
          <a:lstStyle/>
          <a:p>
            <a:pPr marL="16933">
              <a:spcBef>
                <a:spcPts val="173"/>
              </a:spcBef>
            </a:pPr>
            <a:r>
              <a:rPr sz="1867" b="1" spc="-27" dirty="0">
                <a:latin typeface="Arial"/>
                <a:cs typeface="Arial"/>
              </a:rPr>
              <a:t>Vout</a:t>
            </a:r>
            <a:endParaRPr sz="1867">
              <a:latin typeface="Arial"/>
              <a:cs typeface="Arial"/>
            </a:endParaRPr>
          </a:p>
        </p:txBody>
      </p:sp>
      <p:sp>
        <p:nvSpPr>
          <p:cNvPr id="82" name="object 82"/>
          <p:cNvSpPr txBox="1"/>
          <p:nvPr/>
        </p:nvSpPr>
        <p:spPr>
          <a:xfrm>
            <a:off x="4933271" y="6470714"/>
            <a:ext cx="3579707" cy="387286"/>
          </a:xfrm>
          <a:prstGeom prst="rect">
            <a:avLst/>
          </a:prstGeom>
        </p:spPr>
        <p:txBody>
          <a:bodyPr vert="horz" wrap="square" lIns="0" tIns="17780" rIns="0" bIns="0" rtlCol="0">
            <a:spAutoFit/>
          </a:bodyPr>
          <a:lstStyle/>
          <a:p>
            <a:pPr marL="601964" marR="6773" indent="-585879">
              <a:spcBef>
                <a:spcPts val="140"/>
              </a:spcBef>
            </a:pPr>
            <a:r>
              <a:rPr sz="1200" dirty="0">
                <a:solidFill>
                  <a:srgbClr val="FFFFFF"/>
                </a:solidFill>
                <a:latin typeface="Verdana"/>
                <a:cs typeface="Verdana"/>
              </a:rPr>
              <a:t>Distribution</a:t>
            </a:r>
            <a:r>
              <a:rPr sz="1200" spc="-60" dirty="0">
                <a:solidFill>
                  <a:srgbClr val="FFFFFF"/>
                </a:solidFill>
                <a:latin typeface="Verdana"/>
                <a:cs typeface="Verdana"/>
              </a:rPr>
              <a:t> </a:t>
            </a:r>
            <a:r>
              <a:rPr sz="1200" dirty="0">
                <a:solidFill>
                  <a:srgbClr val="FFFFFF"/>
                </a:solidFill>
                <a:latin typeface="Verdana"/>
                <a:cs typeface="Verdana"/>
              </a:rPr>
              <a:t>Statement</a:t>
            </a:r>
            <a:r>
              <a:rPr sz="1200" spc="-87" dirty="0">
                <a:solidFill>
                  <a:srgbClr val="FFFFFF"/>
                </a:solidFill>
                <a:latin typeface="Verdana"/>
                <a:cs typeface="Verdana"/>
              </a:rPr>
              <a:t> </a:t>
            </a:r>
            <a:r>
              <a:rPr sz="1200" dirty="0">
                <a:solidFill>
                  <a:srgbClr val="FFFFFF"/>
                </a:solidFill>
                <a:latin typeface="Verdana"/>
                <a:cs typeface="Verdana"/>
              </a:rPr>
              <a:t>A</a:t>
            </a:r>
            <a:r>
              <a:rPr sz="1200" spc="-40" dirty="0">
                <a:solidFill>
                  <a:srgbClr val="FFFFFF"/>
                </a:solidFill>
                <a:latin typeface="Verdana"/>
                <a:cs typeface="Verdana"/>
              </a:rPr>
              <a:t> </a:t>
            </a:r>
            <a:r>
              <a:rPr sz="1200" dirty="0">
                <a:solidFill>
                  <a:srgbClr val="FFFFFF"/>
                </a:solidFill>
                <a:latin typeface="Verdana"/>
                <a:cs typeface="Verdana"/>
              </a:rPr>
              <a:t>–Approved</a:t>
            </a:r>
            <a:r>
              <a:rPr sz="1200" spc="-40" dirty="0">
                <a:solidFill>
                  <a:srgbClr val="FFFFFF"/>
                </a:solidFill>
                <a:latin typeface="Verdana"/>
                <a:cs typeface="Verdana"/>
              </a:rPr>
              <a:t> </a:t>
            </a:r>
            <a:r>
              <a:rPr sz="1200" dirty="0">
                <a:solidFill>
                  <a:srgbClr val="FFFFFF"/>
                </a:solidFill>
                <a:latin typeface="Verdana"/>
                <a:cs typeface="Verdana"/>
              </a:rPr>
              <a:t>for</a:t>
            </a:r>
            <a:r>
              <a:rPr sz="1200" spc="-47" dirty="0">
                <a:solidFill>
                  <a:srgbClr val="FFFFFF"/>
                </a:solidFill>
                <a:latin typeface="Verdana"/>
                <a:cs typeface="Verdana"/>
              </a:rPr>
              <a:t> </a:t>
            </a:r>
            <a:r>
              <a:rPr sz="1200" spc="-13" dirty="0">
                <a:solidFill>
                  <a:srgbClr val="FFFFFF"/>
                </a:solidFill>
                <a:latin typeface="Verdana"/>
                <a:cs typeface="Verdana"/>
              </a:rPr>
              <a:t>Public </a:t>
            </a:r>
            <a:r>
              <a:rPr sz="1200" dirty="0">
                <a:solidFill>
                  <a:srgbClr val="FFFFFF"/>
                </a:solidFill>
                <a:latin typeface="Verdana"/>
                <a:cs typeface="Verdana"/>
              </a:rPr>
              <a:t>Release,</a:t>
            </a:r>
            <a:r>
              <a:rPr sz="1200" spc="-7" dirty="0">
                <a:solidFill>
                  <a:srgbClr val="FFFFFF"/>
                </a:solidFill>
                <a:latin typeface="Verdana"/>
                <a:cs typeface="Verdana"/>
              </a:rPr>
              <a:t> </a:t>
            </a:r>
            <a:r>
              <a:rPr sz="1200" spc="-13" dirty="0">
                <a:solidFill>
                  <a:srgbClr val="FFFFFF"/>
                </a:solidFill>
                <a:latin typeface="Verdana"/>
                <a:cs typeface="Verdana"/>
              </a:rPr>
              <a:t>Distribution</a:t>
            </a:r>
            <a:r>
              <a:rPr sz="1200" spc="-20" dirty="0">
                <a:solidFill>
                  <a:srgbClr val="FFFFFF"/>
                </a:solidFill>
                <a:latin typeface="Verdana"/>
                <a:cs typeface="Verdana"/>
              </a:rPr>
              <a:t> </a:t>
            </a:r>
            <a:r>
              <a:rPr sz="1200" spc="-13" dirty="0">
                <a:solidFill>
                  <a:srgbClr val="FFFFFF"/>
                </a:solidFill>
                <a:latin typeface="Verdana"/>
                <a:cs typeface="Verdana"/>
              </a:rPr>
              <a:t>Unlimited</a:t>
            </a:r>
            <a:endParaRPr sz="1200">
              <a:latin typeface="Verdana"/>
              <a:cs typeface="Verdana"/>
            </a:endParaRPr>
          </a:p>
        </p:txBody>
      </p:sp>
      <p:sp>
        <p:nvSpPr>
          <p:cNvPr id="83" name="object 83"/>
          <p:cNvSpPr txBox="1">
            <a:spLocks noGrp="1"/>
          </p:cNvSpPr>
          <p:nvPr>
            <p:ph type="sldNum" sz="quarter" idx="7"/>
          </p:nvPr>
        </p:nvSpPr>
        <p:spPr>
          <a:xfrm>
            <a:off x="8563212" y="6525353"/>
            <a:ext cx="3352800" cy="176202"/>
          </a:xfrm>
          <a:prstGeom prst="rect">
            <a:avLst/>
          </a:prstGeom>
        </p:spPr>
        <p:txBody>
          <a:bodyPr vert="horz" wrap="square" lIns="0" tIns="0" rIns="0" bIns="0" rtlCol="0" anchor="ctr">
            <a:spAutoFit/>
          </a:bodyPr>
          <a:lstStyle/>
          <a:p>
            <a:pPr marL="50799">
              <a:lnSpc>
                <a:spcPts val="1533"/>
              </a:lnSpc>
            </a:pPr>
            <a:fld id="{81D60167-4931-47E6-BA6A-407CBD079E47}" type="slidenum">
              <a:rPr/>
              <a:pPr marL="50799">
                <a:lnSpc>
                  <a:spcPts val="1533"/>
                </a:lnSpc>
              </a:pPr>
              <a:t>60</a:t>
            </a:fld>
            <a:r>
              <a:rPr dirty="0"/>
              <a:t> </a:t>
            </a:r>
            <a:endParaRPr spc="-33" dirty="0"/>
          </a:p>
        </p:txBody>
      </p:sp>
      <p:sp>
        <p:nvSpPr>
          <p:cNvPr id="80" name="object 80"/>
          <p:cNvSpPr txBox="1">
            <a:spLocks noGrp="1"/>
          </p:cNvSpPr>
          <p:nvPr>
            <p:ph type="title"/>
          </p:nvPr>
        </p:nvSpPr>
        <p:spPr>
          <a:xfrm>
            <a:off x="1222431" y="287236"/>
            <a:ext cx="6014860" cy="602729"/>
          </a:xfrm>
          <a:prstGeom prst="rect">
            <a:avLst/>
          </a:prstGeom>
        </p:spPr>
        <p:txBody>
          <a:bodyPr vert="horz" wrap="square" lIns="0" tIns="17780" rIns="0" bIns="0" rtlCol="0" anchor="ctr">
            <a:spAutoFit/>
          </a:bodyPr>
          <a:lstStyle/>
          <a:p>
            <a:pPr marL="16933">
              <a:lnSpc>
                <a:spcPct val="100000"/>
              </a:lnSpc>
              <a:spcBef>
                <a:spcPts val="140"/>
              </a:spcBef>
            </a:pPr>
            <a:r>
              <a:rPr spc="-13" dirty="0"/>
              <a:t>Proposed</a:t>
            </a:r>
            <a:r>
              <a:rPr spc="-80" dirty="0"/>
              <a:t> </a:t>
            </a:r>
            <a:r>
              <a:rPr spc="-33" dirty="0"/>
              <a:t>TIA</a:t>
            </a:r>
          </a:p>
        </p:txBody>
      </p:sp>
      <p:sp>
        <p:nvSpPr>
          <p:cNvPr id="81" name="object 81"/>
          <p:cNvSpPr txBox="1"/>
          <p:nvPr/>
        </p:nvSpPr>
        <p:spPr>
          <a:xfrm>
            <a:off x="741256" y="4541539"/>
            <a:ext cx="11105727" cy="1776554"/>
          </a:xfrm>
          <a:prstGeom prst="rect">
            <a:avLst/>
          </a:prstGeom>
        </p:spPr>
        <p:txBody>
          <a:bodyPr vert="horz" wrap="square" lIns="0" tIns="16933" rIns="0" bIns="0" rtlCol="0">
            <a:spAutoFit/>
          </a:bodyPr>
          <a:lstStyle/>
          <a:p>
            <a:pPr marL="473275" indent="-456342">
              <a:lnSpc>
                <a:spcPts val="3193"/>
              </a:lnSpc>
              <a:spcBef>
                <a:spcPts val="133"/>
              </a:spcBef>
              <a:buFont typeface="Microsoft Sans Serif"/>
              <a:buChar char="•"/>
              <a:tabLst>
                <a:tab pos="473275" algn="l"/>
              </a:tabLst>
            </a:pPr>
            <a:r>
              <a:rPr sz="2800" spc="-13" dirty="0">
                <a:latin typeface="Calibri"/>
                <a:cs typeface="Calibri"/>
              </a:rPr>
              <a:t>T-</a:t>
            </a:r>
            <a:r>
              <a:rPr sz="2800" dirty="0">
                <a:latin typeface="Calibri"/>
                <a:cs typeface="Calibri"/>
              </a:rPr>
              <a:t>coils</a:t>
            </a:r>
            <a:r>
              <a:rPr sz="2800" spc="-40" dirty="0">
                <a:latin typeface="Calibri"/>
                <a:cs typeface="Calibri"/>
              </a:rPr>
              <a:t> </a:t>
            </a:r>
            <a:r>
              <a:rPr sz="2800" dirty="0">
                <a:latin typeface="Calibri"/>
                <a:cs typeface="Calibri"/>
              </a:rPr>
              <a:t>help</a:t>
            </a:r>
            <a:r>
              <a:rPr sz="2800" spc="-40" dirty="0">
                <a:latin typeface="Calibri"/>
                <a:cs typeface="Calibri"/>
              </a:rPr>
              <a:t> </a:t>
            </a:r>
            <a:r>
              <a:rPr sz="2800" dirty="0">
                <a:latin typeface="Calibri"/>
                <a:cs typeface="Calibri"/>
              </a:rPr>
              <a:t>achieve</a:t>
            </a:r>
            <a:r>
              <a:rPr sz="2800" spc="-27" dirty="0">
                <a:latin typeface="Calibri"/>
                <a:cs typeface="Calibri"/>
              </a:rPr>
              <a:t> </a:t>
            </a:r>
            <a:r>
              <a:rPr sz="2800" dirty="0">
                <a:latin typeface="Calibri"/>
                <a:cs typeface="Calibri"/>
              </a:rPr>
              <a:t>the</a:t>
            </a:r>
            <a:r>
              <a:rPr sz="2800" spc="-53" dirty="0">
                <a:latin typeface="Calibri"/>
                <a:cs typeface="Calibri"/>
              </a:rPr>
              <a:t> </a:t>
            </a:r>
            <a:r>
              <a:rPr sz="2800" dirty="0">
                <a:latin typeface="Calibri"/>
                <a:cs typeface="Calibri"/>
              </a:rPr>
              <a:t>required</a:t>
            </a:r>
            <a:r>
              <a:rPr sz="2800" spc="-20" dirty="0">
                <a:latin typeface="Calibri"/>
                <a:cs typeface="Calibri"/>
              </a:rPr>
              <a:t> </a:t>
            </a:r>
            <a:r>
              <a:rPr sz="2800" dirty="0">
                <a:latin typeface="Calibri"/>
                <a:cs typeface="Calibri"/>
              </a:rPr>
              <a:t>gain</a:t>
            </a:r>
            <a:r>
              <a:rPr sz="2800" spc="-47" dirty="0">
                <a:latin typeface="Calibri"/>
                <a:cs typeface="Calibri"/>
              </a:rPr>
              <a:t> </a:t>
            </a:r>
            <a:r>
              <a:rPr sz="2800" dirty="0">
                <a:latin typeface="Calibri"/>
                <a:cs typeface="Calibri"/>
              </a:rPr>
              <a:t>(1.5K)</a:t>
            </a:r>
            <a:r>
              <a:rPr sz="2800" spc="-67" dirty="0">
                <a:latin typeface="Calibri"/>
                <a:cs typeface="Calibri"/>
              </a:rPr>
              <a:t> </a:t>
            </a:r>
            <a:r>
              <a:rPr sz="2800" dirty="0">
                <a:latin typeface="Calibri"/>
                <a:cs typeface="Calibri"/>
              </a:rPr>
              <a:t>and</a:t>
            </a:r>
            <a:r>
              <a:rPr sz="2800" spc="-53" dirty="0">
                <a:latin typeface="Calibri"/>
                <a:cs typeface="Calibri"/>
              </a:rPr>
              <a:t> </a:t>
            </a:r>
            <a:r>
              <a:rPr sz="2800" dirty="0">
                <a:latin typeface="Calibri"/>
                <a:cs typeface="Calibri"/>
              </a:rPr>
              <a:t>bandwidth</a:t>
            </a:r>
            <a:r>
              <a:rPr sz="2800" spc="-87" dirty="0">
                <a:latin typeface="Calibri"/>
                <a:cs typeface="Calibri"/>
              </a:rPr>
              <a:t> </a:t>
            </a:r>
            <a:r>
              <a:rPr sz="2800" dirty="0">
                <a:latin typeface="Calibri"/>
                <a:cs typeface="Calibri"/>
              </a:rPr>
              <a:t>(&gt;30GHz)</a:t>
            </a:r>
            <a:r>
              <a:rPr sz="2800" spc="-40" dirty="0">
                <a:latin typeface="Calibri"/>
                <a:cs typeface="Calibri"/>
              </a:rPr>
              <a:t> </a:t>
            </a:r>
            <a:r>
              <a:rPr sz="2800" dirty="0">
                <a:latin typeface="Calibri"/>
                <a:cs typeface="Calibri"/>
              </a:rPr>
              <a:t>in</a:t>
            </a:r>
            <a:r>
              <a:rPr sz="2800" spc="-40" dirty="0">
                <a:latin typeface="Calibri"/>
                <a:cs typeface="Calibri"/>
              </a:rPr>
              <a:t> </a:t>
            </a:r>
            <a:r>
              <a:rPr sz="2800" spc="-67" dirty="0">
                <a:latin typeface="Calibri"/>
                <a:cs typeface="Calibri"/>
              </a:rPr>
              <a:t>3</a:t>
            </a:r>
            <a:endParaRPr sz="2800" dirty="0">
              <a:latin typeface="Calibri"/>
              <a:cs typeface="Calibri"/>
            </a:endParaRPr>
          </a:p>
          <a:p>
            <a:pPr marL="474121">
              <a:lnSpc>
                <a:spcPts val="3193"/>
              </a:lnSpc>
            </a:pPr>
            <a:r>
              <a:rPr sz="2800" spc="-13" dirty="0">
                <a:latin typeface="Calibri"/>
                <a:cs typeface="Calibri"/>
              </a:rPr>
              <a:t>stages</a:t>
            </a:r>
            <a:endParaRPr sz="2800" dirty="0">
              <a:latin typeface="Calibri"/>
              <a:cs typeface="Calibri"/>
            </a:endParaRPr>
          </a:p>
          <a:p>
            <a:pPr marL="473275" indent="-456342">
              <a:spcBef>
                <a:spcPts val="339"/>
              </a:spcBef>
              <a:buFont typeface="Microsoft Sans Serif"/>
              <a:buChar char="•"/>
              <a:tabLst>
                <a:tab pos="473275" algn="l"/>
              </a:tabLst>
            </a:pPr>
            <a:r>
              <a:rPr sz="2800" dirty="0">
                <a:latin typeface="Calibri"/>
                <a:cs typeface="Calibri"/>
              </a:rPr>
              <a:t>Less</a:t>
            </a:r>
            <a:r>
              <a:rPr sz="2800" spc="-93" dirty="0">
                <a:latin typeface="Calibri"/>
                <a:cs typeface="Calibri"/>
              </a:rPr>
              <a:t> </a:t>
            </a:r>
            <a:r>
              <a:rPr sz="2800" spc="-13" dirty="0">
                <a:latin typeface="Calibri"/>
                <a:cs typeface="Calibri"/>
              </a:rPr>
              <a:t>invertor</a:t>
            </a:r>
            <a:r>
              <a:rPr sz="2800" spc="-93" dirty="0">
                <a:latin typeface="Calibri"/>
                <a:cs typeface="Calibri"/>
              </a:rPr>
              <a:t> </a:t>
            </a:r>
            <a:r>
              <a:rPr sz="2800" dirty="0">
                <a:latin typeface="Calibri"/>
                <a:cs typeface="Calibri"/>
              </a:rPr>
              <a:t>stages</a:t>
            </a:r>
            <a:r>
              <a:rPr sz="2800" spc="-120" dirty="0">
                <a:latin typeface="Calibri"/>
                <a:cs typeface="Calibri"/>
              </a:rPr>
              <a:t> </a:t>
            </a:r>
            <a:r>
              <a:rPr sz="2800" dirty="0">
                <a:latin typeface="Calibri"/>
                <a:cs typeface="Calibri"/>
              </a:rPr>
              <a:t>reduces</a:t>
            </a:r>
            <a:r>
              <a:rPr sz="2800" spc="-107" dirty="0">
                <a:latin typeface="Calibri"/>
                <a:cs typeface="Calibri"/>
              </a:rPr>
              <a:t> </a:t>
            </a:r>
            <a:r>
              <a:rPr sz="2800" dirty="0">
                <a:latin typeface="Calibri"/>
                <a:cs typeface="Calibri"/>
              </a:rPr>
              <a:t>power</a:t>
            </a:r>
            <a:r>
              <a:rPr sz="2800" spc="-100" dirty="0">
                <a:latin typeface="Calibri"/>
                <a:cs typeface="Calibri"/>
              </a:rPr>
              <a:t> </a:t>
            </a:r>
            <a:r>
              <a:rPr sz="2800" spc="-13" dirty="0">
                <a:latin typeface="Calibri"/>
                <a:cs typeface="Calibri"/>
              </a:rPr>
              <a:t>consumption</a:t>
            </a:r>
            <a:endParaRPr sz="2800" dirty="0">
              <a:latin typeface="Calibri"/>
              <a:cs typeface="Calibri"/>
            </a:endParaRPr>
          </a:p>
          <a:p>
            <a:pPr marL="473275" indent="-456342">
              <a:spcBef>
                <a:spcPts val="333"/>
              </a:spcBef>
              <a:buFont typeface="Microsoft Sans Serif"/>
              <a:buChar char="•"/>
              <a:tabLst>
                <a:tab pos="473275" algn="l"/>
              </a:tabLst>
            </a:pPr>
            <a:r>
              <a:rPr sz="2800" spc="-13" dirty="0">
                <a:latin typeface="Calibri"/>
                <a:cs typeface="Calibri"/>
              </a:rPr>
              <a:t>Regulated</a:t>
            </a:r>
            <a:r>
              <a:rPr sz="2800" spc="-67" dirty="0">
                <a:latin typeface="Calibri"/>
                <a:cs typeface="Calibri"/>
              </a:rPr>
              <a:t> </a:t>
            </a:r>
            <a:r>
              <a:rPr sz="2800" dirty="0">
                <a:latin typeface="Calibri"/>
                <a:cs typeface="Calibri"/>
              </a:rPr>
              <a:t>supply</a:t>
            </a:r>
            <a:r>
              <a:rPr sz="2800" spc="-53" dirty="0">
                <a:latin typeface="Calibri"/>
                <a:cs typeface="Calibri"/>
              </a:rPr>
              <a:t> </a:t>
            </a:r>
            <a:r>
              <a:rPr sz="2800" dirty="0">
                <a:latin typeface="Calibri"/>
                <a:cs typeface="Calibri"/>
              </a:rPr>
              <a:t>is</a:t>
            </a:r>
            <a:r>
              <a:rPr sz="2800" spc="-47" dirty="0">
                <a:latin typeface="Calibri"/>
                <a:cs typeface="Calibri"/>
              </a:rPr>
              <a:t> </a:t>
            </a:r>
            <a:r>
              <a:rPr sz="2800" dirty="0">
                <a:latin typeface="Calibri"/>
                <a:cs typeface="Calibri"/>
              </a:rPr>
              <a:t>used</a:t>
            </a:r>
            <a:r>
              <a:rPr sz="2800" spc="-60" dirty="0">
                <a:latin typeface="Calibri"/>
                <a:cs typeface="Calibri"/>
              </a:rPr>
              <a:t> </a:t>
            </a:r>
            <a:r>
              <a:rPr sz="2800" dirty="0">
                <a:latin typeface="Calibri"/>
                <a:cs typeface="Calibri"/>
              </a:rPr>
              <a:t>for</a:t>
            </a:r>
            <a:r>
              <a:rPr sz="2800" spc="-47" dirty="0">
                <a:latin typeface="Calibri"/>
                <a:cs typeface="Calibri"/>
              </a:rPr>
              <a:t> </a:t>
            </a:r>
            <a:r>
              <a:rPr sz="2800" dirty="0">
                <a:latin typeface="Calibri"/>
                <a:cs typeface="Calibri"/>
              </a:rPr>
              <a:t>power</a:t>
            </a:r>
            <a:r>
              <a:rPr sz="2800" spc="-27" dirty="0">
                <a:latin typeface="Calibri"/>
                <a:cs typeface="Calibri"/>
              </a:rPr>
              <a:t> </a:t>
            </a:r>
            <a:r>
              <a:rPr sz="2800" dirty="0">
                <a:latin typeface="Calibri"/>
                <a:cs typeface="Calibri"/>
              </a:rPr>
              <a:t>supply</a:t>
            </a:r>
            <a:r>
              <a:rPr sz="2800" spc="-67" dirty="0">
                <a:latin typeface="Calibri"/>
                <a:cs typeface="Calibri"/>
              </a:rPr>
              <a:t> </a:t>
            </a:r>
            <a:r>
              <a:rPr sz="2800" dirty="0">
                <a:latin typeface="Calibri"/>
                <a:cs typeface="Calibri"/>
              </a:rPr>
              <a:t>noise</a:t>
            </a:r>
            <a:r>
              <a:rPr sz="2800" spc="-27" dirty="0">
                <a:latin typeface="Calibri"/>
                <a:cs typeface="Calibri"/>
              </a:rPr>
              <a:t> </a:t>
            </a:r>
            <a:r>
              <a:rPr sz="2800" spc="-13" dirty="0">
                <a:latin typeface="Calibri"/>
                <a:cs typeface="Calibri"/>
              </a:rPr>
              <a:t>reduction</a:t>
            </a:r>
            <a:endParaRPr sz="2800" dirty="0">
              <a:latin typeface="Calibri"/>
              <a:cs typeface="Calibri"/>
            </a:endParaRPr>
          </a:p>
        </p:txBody>
      </p:sp>
      <p:sp>
        <p:nvSpPr>
          <p:cNvPr id="84" name="Date Placeholder 83"/>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85" name="Footer Placeholder 84"/>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
        <p:nvSpPr>
          <p:cNvPr id="86" name="object 58"/>
          <p:cNvSpPr/>
          <p:nvPr/>
        </p:nvSpPr>
        <p:spPr>
          <a:xfrm>
            <a:off x="7695262" y="1625601"/>
            <a:ext cx="0" cy="220133"/>
          </a:xfrm>
          <a:custGeom>
            <a:avLst/>
            <a:gdLst/>
            <a:ahLst/>
            <a:cxnLst/>
            <a:rect l="l" t="t" r="r" b="b"/>
            <a:pathLst>
              <a:path h="165100">
                <a:moveTo>
                  <a:pt x="0" y="165017"/>
                </a:moveTo>
                <a:lnTo>
                  <a:pt x="0" y="0"/>
                </a:lnTo>
              </a:path>
            </a:pathLst>
          </a:custGeom>
          <a:ln w="44425">
            <a:solidFill>
              <a:srgbClr val="000000"/>
            </a:solidFill>
          </a:ln>
        </p:spPr>
        <p:txBody>
          <a:bodyPr wrap="square" lIns="0" tIns="0" rIns="0" bIns="0" rtlCol="0"/>
          <a:lstStyle/>
          <a:p>
            <a:endParaRPr sz="2400"/>
          </a:p>
        </p:txBody>
      </p:sp>
    </p:spTree>
    <p:extLst>
      <p:ext uri="{BB962C8B-B14F-4D97-AF65-F5344CB8AC3E}">
        <p14:creationId xmlns:p14="http://schemas.microsoft.com/office/powerpoint/2010/main" val="9542661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67" y="233003"/>
            <a:ext cx="585045" cy="221365"/>
          </a:xfrm>
          <a:prstGeom prst="rect">
            <a:avLst/>
          </a:prstGeom>
        </p:spPr>
        <p:txBody>
          <a:bodyPr vert="horz" wrap="square" lIns="0" tIns="16087" rIns="0" bIns="0" rtlCol="0">
            <a:spAutoFit/>
          </a:bodyPr>
          <a:lstStyle/>
          <a:p>
            <a:pPr marL="16933">
              <a:spcBef>
                <a:spcPts val="127"/>
              </a:spcBef>
            </a:pPr>
            <a:r>
              <a:rPr sz="1333" spc="-13" dirty="0">
                <a:solidFill>
                  <a:srgbClr val="008000"/>
                </a:solidFill>
                <a:latin typeface="Arial MT"/>
                <a:cs typeface="Arial MT"/>
              </a:rPr>
              <a:t>[Public]</a:t>
            </a:r>
            <a:endParaRPr sz="1333">
              <a:latin typeface="Arial MT"/>
              <a:cs typeface="Arial MT"/>
            </a:endParaRPr>
          </a:p>
        </p:txBody>
      </p:sp>
      <p:sp>
        <p:nvSpPr>
          <p:cNvPr id="3" name="object 3"/>
          <p:cNvSpPr txBox="1"/>
          <p:nvPr/>
        </p:nvSpPr>
        <p:spPr>
          <a:xfrm>
            <a:off x="1011749" y="4508077"/>
            <a:ext cx="6251787" cy="1169551"/>
          </a:xfrm>
          <a:prstGeom prst="rect">
            <a:avLst/>
          </a:prstGeom>
        </p:spPr>
        <p:txBody>
          <a:bodyPr vert="horz" wrap="square" lIns="0" tIns="91440" rIns="0" bIns="0" rtlCol="0">
            <a:spAutoFit/>
          </a:bodyPr>
          <a:lstStyle/>
          <a:p>
            <a:pPr marL="246374" indent="-229441">
              <a:spcBef>
                <a:spcPts val="720"/>
              </a:spcBef>
              <a:buClr>
                <a:srgbClr val="17610F"/>
              </a:buClr>
              <a:buFont typeface="Microsoft Sans Serif"/>
              <a:buChar char="•"/>
              <a:tabLst>
                <a:tab pos="246374" algn="l"/>
              </a:tabLst>
            </a:pPr>
            <a:r>
              <a:rPr sz="2000" dirty="0">
                <a:latin typeface="Calibri"/>
                <a:cs typeface="Calibri"/>
              </a:rPr>
              <a:t>Single</a:t>
            </a:r>
            <a:r>
              <a:rPr sz="2000" spc="-20" dirty="0">
                <a:latin typeface="Calibri"/>
                <a:cs typeface="Calibri"/>
              </a:rPr>
              <a:t> </a:t>
            </a:r>
            <a:r>
              <a:rPr sz="2000" dirty="0">
                <a:latin typeface="Calibri"/>
                <a:cs typeface="Calibri"/>
              </a:rPr>
              <a:t>ended</a:t>
            </a:r>
            <a:r>
              <a:rPr sz="2000" spc="-20" dirty="0">
                <a:latin typeface="Calibri"/>
                <a:cs typeface="Calibri"/>
              </a:rPr>
              <a:t> </a:t>
            </a:r>
            <a:r>
              <a:rPr sz="2000" spc="-27" dirty="0">
                <a:latin typeface="Calibri"/>
                <a:cs typeface="Calibri"/>
              </a:rPr>
              <a:t>inverter-</a:t>
            </a:r>
            <a:r>
              <a:rPr sz="2000" dirty="0">
                <a:latin typeface="Calibri"/>
                <a:cs typeface="Calibri"/>
              </a:rPr>
              <a:t>based</a:t>
            </a:r>
            <a:r>
              <a:rPr sz="2000" spc="-20" dirty="0">
                <a:latin typeface="Calibri"/>
                <a:cs typeface="Calibri"/>
              </a:rPr>
              <a:t> </a:t>
            </a:r>
            <a:r>
              <a:rPr sz="2000" dirty="0">
                <a:latin typeface="Calibri"/>
                <a:cs typeface="Calibri"/>
              </a:rPr>
              <a:t>TIA</a:t>
            </a:r>
            <a:r>
              <a:rPr sz="2000" spc="-60" dirty="0">
                <a:latin typeface="Calibri"/>
                <a:cs typeface="Calibri"/>
              </a:rPr>
              <a:t> </a:t>
            </a:r>
            <a:r>
              <a:rPr sz="2000" dirty="0">
                <a:latin typeface="Calibri"/>
                <a:cs typeface="Calibri"/>
              </a:rPr>
              <a:t>to</a:t>
            </a:r>
            <a:r>
              <a:rPr sz="2000" spc="-33" dirty="0">
                <a:latin typeface="Calibri"/>
                <a:cs typeface="Calibri"/>
              </a:rPr>
              <a:t> </a:t>
            </a:r>
            <a:r>
              <a:rPr sz="2000" dirty="0">
                <a:latin typeface="Calibri"/>
                <a:cs typeface="Calibri"/>
              </a:rPr>
              <a:t>utilize</a:t>
            </a:r>
            <a:r>
              <a:rPr sz="2000" spc="-7" dirty="0">
                <a:latin typeface="Calibri"/>
                <a:cs typeface="Calibri"/>
              </a:rPr>
              <a:t> </a:t>
            </a:r>
            <a:r>
              <a:rPr sz="2000" dirty="0">
                <a:latin typeface="Calibri"/>
                <a:cs typeface="Calibri"/>
              </a:rPr>
              <a:t>gm/C</a:t>
            </a:r>
            <a:r>
              <a:rPr sz="2000" spc="-40" dirty="0">
                <a:latin typeface="Calibri"/>
                <a:cs typeface="Calibri"/>
              </a:rPr>
              <a:t> </a:t>
            </a:r>
            <a:r>
              <a:rPr sz="2000" spc="-13" dirty="0">
                <a:latin typeface="Calibri"/>
                <a:cs typeface="Calibri"/>
              </a:rPr>
              <a:t>scaling</a:t>
            </a:r>
            <a:endParaRPr sz="2000">
              <a:latin typeface="Calibri"/>
              <a:cs typeface="Calibri"/>
            </a:endParaRPr>
          </a:p>
          <a:p>
            <a:pPr marL="246374" indent="-229441">
              <a:spcBef>
                <a:spcPts val="593"/>
              </a:spcBef>
              <a:buClr>
                <a:srgbClr val="17610F"/>
              </a:buClr>
              <a:buFont typeface="Microsoft Sans Serif"/>
              <a:buChar char="•"/>
              <a:tabLst>
                <a:tab pos="246374" algn="l"/>
              </a:tabLst>
            </a:pPr>
            <a:r>
              <a:rPr sz="2000" spc="-13" dirty="0">
                <a:latin typeface="Calibri"/>
                <a:cs typeface="Calibri"/>
              </a:rPr>
              <a:t>T-</a:t>
            </a:r>
            <a:r>
              <a:rPr sz="2000" dirty="0">
                <a:latin typeface="Calibri"/>
                <a:cs typeface="Calibri"/>
              </a:rPr>
              <a:t>coil</a:t>
            </a:r>
            <a:r>
              <a:rPr sz="2000" spc="-33" dirty="0">
                <a:latin typeface="Calibri"/>
                <a:cs typeface="Calibri"/>
              </a:rPr>
              <a:t> </a:t>
            </a:r>
            <a:r>
              <a:rPr sz="2000" dirty="0">
                <a:latin typeface="Calibri"/>
                <a:cs typeface="Calibri"/>
              </a:rPr>
              <a:t>peaking</a:t>
            </a:r>
            <a:r>
              <a:rPr sz="2000" spc="-53"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reduce</a:t>
            </a:r>
            <a:r>
              <a:rPr sz="2000" spc="-27" dirty="0">
                <a:latin typeface="Calibri"/>
                <a:cs typeface="Calibri"/>
              </a:rPr>
              <a:t> </a:t>
            </a:r>
            <a:r>
              <a:rPr sz="2000" dirty="0">
                <a:latin typeface="Calibri"/>
                <a:cs typeface="Calibri"/>
              </a:rPr>
              <a:t>number</a:t>
            </a:r>
            <a:r>
              <a:rPr sz="2000" spc="-53" dirty="0">
                <a:latin typeface="Calibri"/>
                <a:cs typeface="Calibri"/>
              </a:rPr>
              <a:t> </a:t>
            </a:r>
            <a:r>
              <a:rPr sz="2000" dirty="0">
                <a:latin typeface="Calibri"/>
                <a:cs typeface="Calibri"/>
              </a:rPr>
              <a:t>of</a:t>
            </a:r>
            <a:r>
              <a:rPr sz="2000" spc="-33" dirty="0">
                <a:latin typeface="Calibri"/>
                <a:cs typeface="Calibri"/>
              </a:rPr>
              <a:t> </a:t>
            </a:r>
            <a:r>
              <a:rPr sz="2000" spc="-13" dirty="0">
                <a:latin typeface="Calibri"/>
                <a:cs typeface="Calibri"/>
              </a:rPr>
              <a:t>stages</a:t>
            </a:r>
            <a:r>
              <a:rPr sz="2000" spc="-73" dirty="0">
                <a:latin typeface="Calibri"/>
                <a:cs typeface="Calibri"/>
              </a:rPr>
              <a:t> </a:t>
            </a:r>
            <a:r>
              <a:rPr sz="2000" dirty="0">
                <a:latin typeface="Calibri"/>
                <a:cs typeface="Calibri"/>
              </a:rPr>
              <a:t>and</a:t>
            </a:r>
            <a:r>
              <a:rPr sz="2000" spc="-47" dirty="0">
                <a:latin typeface="Calibri"/>
                <a:cs typeface="Calibri"/>
              </a:rPr>
              <a:t> </a:t>
            </a:r>
            <a:r>
              <a:rPr sz="2000" dirty="0">
                <a:latin typeface="Calibri"/>
                <a:cs typeface="Calibri"/>
              </a:rPr>
              <a:t>save</a:t>
            </a:r>
            <a:r>
              <a:rPr sz="2000" spc="-47" dirty="0">
                <a:latin typeface="Calibri"/>
                <a:cs typeface="Calibri"/>
              </a:rPr>
              <a:t> </a:t>
            </a:r>
            <a:r>
              <a:rPr sz="2000" spc="-13" dirty="0">
                <a:latin typeface="Calibri"/>
                <a:cs typeface="Calibri"/>
              </a:rPr>
              <a:t>power</a:t>
            </a:r>
            <a:endParaRPr sz="2000">
              <a:latin typeface="Calibri"/>
              <a:cs typeface="Calibri"/>
            </a:endParaRPr>
          </a:p>
          <a:p>
            <a:pPr marL="246374" indent="-229441">
              <a:spcBef>
                <a:spcPts val="573"/>
              </a:spcBef>
              <a:buClr>
                <a:srgbClr val="17610F"/>
              </a:buClr>
              <a:buFont typeface="Microsoft Sans Serif"/>
              <a:buChar char="•"/>
              <a:tabLst>
                <a:tab pos="246374" algn="l"/>
              </a:tabLst>
            </a:pPr>
            <a:r>
              <a:rPr sz="2000" spc="-13" dirty="0">
                <a:latin typeface="Calibri"/>
                <a:cs typeface="Calibri"/>
              </a:rPr>
              <a:t>Programmable</a:t>
            </a:r>
            <a:r>
              <a:rPr sz="2000" spc="-33" dirty="0">
                <a:latin typeface="Calibri"/>
                <a:cs typeface="Calibri"/>
              </a:rPr>
              <a:t> </a:t>
            </a:r>
            <a:r>
              <a:rPr sz="2000" spc="-13" dirty="0">
                <a:latin typeface="Calibri"/>
                <a:cs typeface="Calibri"/>
              </a:rPr>
              <a:t>NMOS-</a:t>
            </a:r>
            <a:r>
              <a:rPr sz="2000" dirty="0">
                <a:latin typeface="Calibri"/>
                <a:cs typeface="Calibri"/>
              </a:rPr>
              <a:t>based</a:t>
            </a:r>
            <a:r>
              <a:rPr sz="2000" spc="-20" dirty="0">
                <a:latin typeface="Calibri"/>
                <a:cs typeface="Calibri"/>
              </a:rPr>
              <a:t> </a:t>
            </a:r>
            <a:r>
              <a:rPr sz="2000" spc="-13" dirty="0">
                <a:latin typeface="Calibri"/>
                <a:cs typeface="Calibri"/>
              </a:rPr>
              <a:t>resistor</a:t>
            </a:r>
            <a:r>
              <a:rPr sz="2000" spc="13" dirty="0">
                <a:latin typeface="Calibri"/>
                <a:cs typeface="Calibri"/>
              </a:rPr>
              <a:t> </a:t>
            </a:r>
            <a:r>
              <a:rPr sz="2000" dirty="0">
                <a:latin typeface="Calibri"/>
                <a:cs typeface="Calibri"/>
              </a:rPr>
              <a:t>to</a:t>
            </a:r>
            <a:r>
              <a:rPr sz="2000" spc="-7" dirty="0">
                <a:latin typeface="Calibri"/>
                <a:cs typeface="Calibri"/>
              </a:rPr>
              <a:t> </a:t>
            </a:r>
            <a:r>
              <a:rPr sz="2000" spc="-13" dirty="0">
                <a:latin typeface="Calibri"/>
                <a:cs typeface="Calibri"/>
              </a:rPr>
              <a:t>control</a:t>
            </a:r>
            <a:r>
              <a:rPr sz="2000" spc="-20" dirty="0">
                <a:latin typeface="Calibri"/>
                <a:cs typeface="Calibri"/>
              </a:rPr>
              <a:t> </a:t>
            </a:r>
            <a:r>
              <a:rPr sz="2000" spc="-13" dirty="0">
                <a:latin typeface="Calibri"/>
                <a:cs typeface="Calibri"/>
              </a:rPr>
              <a:t>gain/BW</a:t>
            </a:r>
            <a:endParaRPr sz="2000">
              <a:latin typeface="Calibri"/>
              <a:cs typeface="Calibri"/>
            </a:endParaRPr>
          </a:p>
        </p:txBody>
      </p:sp>
      <p:sp>
        <p:nvSpPr>
          <p:cNvPr id="4" name="object 4"/>
          <p:cNvSpPr txBox="1">
            <a:spLocks noGrp="1"/>
          </p:cNvSpPr>
          <p:nvPr>
            <p:ph type="title"/>
          </p:nvPr>
        </p:nvSpPr>
        <p:spPr>
          <a:xfrm>
            <a:off x="456576" y="478094"/>
            <a:ext cx="11425138" cy="571096"/>
          </a:xfrm>
          <a:prstGeom prst="rect">
            <a:avLst/>
          </a:prstGeom>
        </p:spPr>
        <p:txBody>
          <a:bodyPr vert="horz" wrap="square" lIns="0" tIns="16933" rIns="0" bIns="0" rtlCol="0" anchor="ctr">
            <a:spAutoFit/>
          </a:bodyPr>
          <a:lstStyle/>
          <a:p>
            <a:pPr marL="16933">
              <a:lnSpc>
                <a:spcPct val="100000"/>
              </a:lnSpc>
              <a:spcBef>
                <a:spcPts val="133"/>
              </a:spcBef>
            </a:pPr>
            <a:r>
              <a:rPr sz="3600" dirty="0"/>
              <a:t>TIA</a:t>
            </a:r>
            <a:r>
              <a:rPr sz="3600" spc="-40" dirty="0"/>
              <a:t> </a:t>
            </a:r>
            <a:r>
              <a:rPr sz="3600" spc="-13" dirty="0"/>
              <a:t>Architecture</a:t>
            </a:r>
            <a:endParaRPr sz="3600" dirty="0"/>
          </a:p>
        </p:txBody>
      </p:sp>
      <p:grpSp>
        <p:nvGrpSpPr>
          <p:cNvPr id="5" name="object 5"/>
          <p:cNvGrpSpPr/>
          <p:nvPr/>
        </p:nvGrpSpPr>
        <p:grpSpPr>
          <a:xfrm>
            <a:off x="3955940" y="2818077"/>
            <a:ext cx="1929553" cy="1224280"/>
            <a:chOff x="2853811" y="2275483"/>
            <a:chExt cx="1447165" cy="918210"/>
          </a:xfrm>
        </p:grpSpPr>
        <p:sp>
          <p:nvSpPr>
            <p:cNvPr id="6" name="object 6"/>
            <p:cNvSpPr/>
            <p:nvPr/>
          </p:nvSpPr>
          <p:spPr>
            <a:xfrm>
              <a:off x="3498576" y="2363189"/>
              <a:ext cx="518159" cy="599440"/>
            </a:xfrm>
            <a:custGeom>
              <a:avLst/>
              <a:gdLst/>
              <a:ahLst/>
              <a:cxnLst/>
              <a:rect l="l" t="t" r="r" b="b"/>
              <a:pathLst>
                <a:path w="518160" h="599439">
                  <a:moveTo>
                    <a:pt x="517688" y="0"/>
                  </a:moveTo>
                  <a:lnTo>
                    <a:pt x="0" y="0"/>
                  </a:lnTo>
                  <a:lnTo>
                    <a:pt x="0" y="599293"/>
                  </a:lnTo>
                  <a:lnTo>
                    <a:pt x="517688" y="599293"/>
                  </a:lnTo>
                  <a:lnTo>
                    <a:pt x="517688" y="0"/>
                  </a:lnTo>
                  <a:close/>
                </a:path>
              </a:pathLst>
            </a:custGeom>
            <a:solidFill>
              <a:srgbClr val="F1F1F1"/>
            </a:solidFill>
          </p:spPr>
          <p:txBody>
            <a:bodyPr wrap="square" lIns="0" tIns="0" rIns="0" bIns="0" rtlCol="0"/>
            <a:lstStyle/>
            <a:p>
              <a:endParaRPr sz="2400"/>
            </a:p>
          </p:txBody>
        </p:sp>
        <p:sp>
          <p:nvSpPr>
            <p:cNvPr id="7" name="object 7"/>
            <p:cNvSpPr/>
            <p:nvPr/>
          </p:nvSpPr>
          <p:spPr>
            <a:xfrm>
              <a:off x="3017776" y="2771206"/>
              <a:ext cx="694690" cy="234950"/>
            </a:xfrm>
            <a:custGeom>
              <a:avLst/>
              <a:gdLst/>
              <a:ahLst/>
              <a:cxnLst/>
              <a:rect l="l" t="t" r="r" b="b"/>
              <a:pathLst>
                <a:path w="694689" h="234950">
                  <a:moveTo>
                    <a:pt x="153962" y="117201"/>
                  </a:moveTo>
                  <a:lnTo>
                    <a:pt x="153962" y="126908"/>
                  </a:lnTo>
                  <a:lnTo>
                    <a:pt x="146068" y="134778"/>
                  </a:lnTo>
                  <a:lnTo>
                    <a:pt x="136377" y="134778"/>
                  </a:lnTo>
                  <a:lnTo>
                    <a:pt x="126686" y="134778"/>
                  </a:lnTo>
                  <a:lnTo>
                    <a:pt x="118793" y="126908"/>
                  </a:lnTo>
                  <a:lnTo>
                    <a:pt x="118793" y="117201"/>
                  </a:lnTo>
                  <a:lnTo>
                    <a:pt x="118793" y="107494"/>
                  </a:lnTo>
                  <a:lnTo>
                    <a:pt x="126686" y="99624"/>
                  </a:lnTo>
                  <a:lnTo>
                    <a:pt x="136377" y="99624"/>
                  </a:lnTo>
                  <a:lnTo>
                    <a:pt x="146068" y="99624"/>
                  </a:lnTo>
                  <a:lnTo>
                    <a:pt x="153962" y="107494"/>
                  </a:lnTo>
                  <a:lnTo>
                    <a:pt x="153962" y="117201"/>
                  </a:lnTo>
                  <a:close/>
                </a:path>
                <a:path w="694689" h="234950">
                  <a:moveTo>
                    <a:pt x="388344" y="0"/>
                  </a:moveTo>
                  <a:lnTo>
                    <a:pt x="153962" y="117201"/>
                  </a:lnTo>
                  <a:lnTo>
                    <a:pt x="388344" y="234402"/>
                  </a:lnTo>
                  <a:lnTo>
                    <a:pt x="388344" y="0"/>
                  </a:lnTo>
                  <a:close/>
                </a:path>
                <a:path w="694689" h="234950">
                  <a:moveTo>
                    <a:pt x="111993" y="117201"/>
                  </a:moveTo>
                  <a:lnTo>
                    <a:pt x="0" y="117201"/>
                  </a:lnTo>
                </a:path>
                <a:path w="694689" h="234950">
                  <a:moveTo>
                    <a:pt x="694627" y="117201"/>
                  </a:moveTo>
                  <a:lnTo>
                    <a:pt x="388344" y="117201"/>
                  </a:lnTo>
                </a:path>
              </a:pathLst>
            </a:custGeom>
            <a:ln w="23446">
              <a:solidFill>
                <a:srgbClr val="000000"/>
              </a:solidFill>
            </a:ln>
          </p:spPr>
          <p:txBody>
            <a:bodyPr wrap="square" lIns="0" tIns="0" rIns="0" bIns="0" rtlCol="0"/>
            <a:lstStyle/>
            <a:p>
              <a:endParaRPr sz="2400"/>
            </a:p>
          </p:txBody>
        </p:sp>
        <p:sp>
          <p:nvSpPr>
            <p:cNvPr id="8" name="object 8"/>
            <p:cNvSpPr/>
            <p:nvPr/>
          </p:nvSpPr>
          <p:spPr>
            <a:xfrm>
              <a:off x="3018089" y="2334123"/>
              <a:ext cx="0" cy="556895"/>
            </a:xfrm>
            <a:custGeom>
              <a:avLst/>
              <a:gdLst/>
              <a:ahLst/>
              <a:cxnLst/>
              <a:rect l="l" t="t" r="r" b="b"/>
              <a:pathLst>
                <a:path h="556894">
                  <a:moveTo>
                    <a:pt x="0" y="556613"/>
                  </a:moveTo>
                  <a:lnTo>
                    <a:pt x="0" y="0"/>
                  </a:lnTo>
                </a:path>
              </a:pathLst>
            </a:custGeom>
            <a:ln w="23446">
              <a:solidFill>
                <a:srgbClr val="000000"/>
              </a:solidFill>
            </a:ln>
          </p:spPr>
          <p:txBody>
            <a:bodyPr wrap="square" lIns="0" tIns="0" rIns="0" bIns="0" rtlCol="0"/>
            <a:lstStyle/>
            <a:p>
              <a:endParaRPr sz="2400"/>
            </a:p>
          </p:txBody>
        </p:sp>
        <p:sp>
          <p:nvSpPr>
            <p:cNvPr id="9" name="object 9"/>
            <p:cNvSpPr/>
            <p:nvPr/>
          </p:nvSpPr>
          <p:spPr>
            <a:xfrm>
              <a:off x="3171035" y="2287230"/>
              <a:ext cx="227965" cy="91440"/>
            </a:xfrm>
            <a:custGeom>
              <a:avLst/>
              <a:gdLst/>
              <a:ahLst/>
              <a:cxnLst/>
              <a:rect l="l" t="t" r="r" b="b"/>
              <a:pathLst>
                <a:path w="227964" h="91439">
                  <a:moveTo>
                    <a:pt x="227895" y="45564"/>
                  </a:moveTo>
                  <a:lnTo>
                    <a:pt x="208904" y="0"/>
                  </a:lnTo>
                  <a:lnTo>
                    <a:pt x="170921" y="91128"/>
                  </a:lnTo>
                  <a:lnTo>
                    <a:pt x="132938" y="0"/>
                  </a:lnTo>
                  <a:lnTo>
                    <a:pt x="94956" y="91128"/>
                  </a:lnTo>
                  <a:lnTo>
                    <a:pt x="56973" y="0"/>
                  </a:lnTo>
                  <a:lnTo>
                    <a:pt x="18991" y="91128"/>
                  </a:lnTo>
                  <a:lnTo>
                    <a:pt x="0" y="45564"/>
                  </a:lnTo>
                </a:path>
              </a:pathLst>
            </a:custGeom>
            <a:ln w="23446">
              <a:solidFill>
                <a:srgbClr val="000000"/>
              </a:solidFill>
            </a:ln>
          </p:spPr>
          <p:txBody>
            <a:bodyPr wrap="square" lIns="0" tIns="0" rIns="0" bIns="0" rtlCol="0"/>
            <a:lstStyle/>
            <a:p>
              <a:endParaRPr sz="2400"/>
            </a:p>
          </p:txBody>
        </p:sp>
        <p:sp>
          <p:nvSpPr>
            <p:cNvPr id="10" name="object 10"/>
            <p:cNvSpPr/>
            <p:nvPr/>
          </p:nvSpPr>
          <p:spPr>
            <a:xfrm>
              <a:off x="3398930" y="2332247"/>
              <a:ext cx="143510" cy="635"/>
            </a:xfrm>
            <a:custGeom>
              <a:avLst/>
              <a:gdLst/>
              <a:ahLst/>
              <a:cxnLst/>
              <a:rect l="l" t="t" r="r" b="b"/>
              <a:pathLst>
                <a:path w="143510" h="635">
                  <a:moveTo>
                    <a:pt x="143489" y="0"/>
                  </a:moveTo>
                  <a:lnTo>
                    <a:pt x="0" y="547"/>
                  </a:lnTo>
                </a:path>
              </a:pathLst>
            </a:custGeom>
            <a:ln w="23446">
              <a:solidFill>
                <a:srgbClr val="000000"/>
              </a:solidFill>
            </a:ln>
          </p:spPr>
          <p:txBody>
            <a:bodyPr wrap="square" lIns="0" tIns="0" rIns="0" bIns="0" rtlCol="0"/>
            <a:lstStyle/>
            <a:p>
              <a:endParaRPr sz="2400"/>
            </a:p>
          </p:txBody>
        </p:sp>
        <p:sp>
          <p:nvSpPr>
            <p:cNvPr id="11" name="object 11"/>
            <p:cNvSpPr/>
            <p:nvPr/>
          </p:nvSpPr>
          <p:spPr>
            <a:xfrm>
              <a:off x="3024732" y="2332794"/>
              <a:ext cx="1264920" cy="557530"/>
            </a:xfrm>
            <a:custGeom>
              <a:avLst/>
              <a:gdLst/>
              <a:ahLst/>
              <a:cxnLst/>
              <a:rect l="l" t="t" r="r" b="b"/>
              <a:pathLst>
                <a:path w="1264920" h="557530">
                  <a:moveTo>
                    <a:pt x="146303" y="0"/>
                  </a:moveTo>
                  <a:lnTo>
                    <a:pt x="0" y="0"/>
                  </a:lnTo>
                </a:path>
                <a:path w="1264920" h="557530">
                  <a:moveTo>
                    <a:pt x="1264443" y="557410"/>
                  </a:moveTo>
                  <a:lnTo>
                    <a:pt x="969023" y="557410"/>
                  </a:lnTo>
                </a:path>
              </a:pathLst>
            </a:custGeom>
            <a:ln w="23446">
              <a:solidFill>
                <a:srgbClr val="000000"/>
              </a:solidFill>
            </a:ln>
          </p:spPr>
          <p:txBody>
            <a:bodyPr wrap="square" lIns="0" tIns="0" rIns="0" bIns="0" rtlCol="0"/>
            <a:lstStyle/>
            <a:p>
              <a:endParaRPr sz="2400"/>
            </a:p>
          </p:txBody>
        </p:sp>
        <p:sp>
          <p:nvSpPr>
            <p:cNvPr id="12" name="object 12"/>
            <p:cNvSpPr/>
            <p:nvPr/>
          </p:nvSpPr>
          <p:spPr>
            <a:xfrm>
              <a:off x="2853811" y="2876700"/>
              <a:ext cx="254635" cy="23495"/>
            </a:xfrm>
            <a:custGeom>
              <a:avLst/>
              <a:gdLst/>
              <a:ahLst/>
              <a:cxnLst/>
              <a:rect l="l" t="t" r="r" b="b"/>
              <a:pathLst>
                <a:path w="254635" h="23494">
                  <a:moveTo>
                    <a:pt x="254443" y="0"/>
                  </a:moveTo>
                  <a:lnTo>
                    <a:pt x="0" y="0"/>
                  </a:lnTo>
                  <a:lnTo>
                    <a:pt x="0" y="23446"/>
                  </a:lnTo>
                  <a:lnTo>
                    <a:pt x="254443" y="23446"/>
                  </a:lnTo>
                  <a:lnTo>
                    <a:pt x="254443" y="0"/>
                  </a:lnTo>
                  <a:close/>
                </a:path>
              </a:pathLst>
            </a:custGeom>
            <a:solidFill>
              <a:srgbClr val="000000"/>
            </a:solidFill>
          </p:spPr>
          <p:txBody>
            <a:bodyPr wrap="square" lIns="0" tIns="0" rIns="0" bIns="0" rtlCol="0"/>
            <a:lstStyle/>
            <a:p>
              <a:endParaRPr sz="2400"/>
            </a:p>
          </p:txBody>
        </p:sp>
        <p:sp>
          <p:nvSpPr>
            <p:cNvPr id="13" name="object 13"/>
            <p:cNvSpPr/>
            <p:nvPr/>
          </p:nvSpPr>
          <p:spPr>
            <a:xfrm>
              <a:off x="3543592" y="2332951"/>
              <a:ext cx="106680" cy="552450"/>
            </a:xfrm>
            <a:custGeom>
              <a:avLst/>
              <a:gdLst/>
              <a:ahLst/>
              <a:cxnLst/>
              <a:rect l="l" t="t" r="r" b="b"/>
              <a:pathLst>
                <a:path w="106679" h="552450">
                  <a:moveTo>
                    <a:pt x="71510" y="460716"/>
                  </a:moveTo>
                  <a:lnTo>
                    <a:pt x="84775" y="458502"/>
                  </a:lnTo>
                  <a:lnTo>
                    <a:pt x="95806" y="451411"/>
                  </a:lnTo>
                  <a:lnTo>
                    <a:pt x="103481" y="440532"/>
                  </a:lnTo>
                  <a:lnTo>
                    <a:pt x="106679" y="426953"/>
                  </a:lnTo>
                  <a:lnTo>
                    <a:pt x="104535" y="413155"/>
                  </a:lnTo>
                  <a:lnTo>
                    <a:pt x="97730" y="401675"/>
                  </a:lnTo>
                  <a:lnTo>
                    <a:pt x="87292" y="393690"/>
                  </a:lnTo>
                  <a:lnTo>
                    <a:pt x="74245" y="390377"/>
                  </a:lnTo>
                  <a:lnTo>
                    <a:pt x="73307" y="390338"/>
                  </a:lnTo>
                  <a:lnTo>
                    <a:pt x="72448" y="390338"/>
                  </a:lnTo>
                  <a:lnTo>
                    <a:pt x="71510" y="390377"/>
                  </a:lnTo>
                  <a:lnTo>
                    <a:pt x="84775" y="388162"/>
                  </a:lnTo>
                  <a:lnTo>
                    <a:pt x="95806" y="381072"/>
                  </a:lnTo>
                  <a:lnTo>
                    <a:pt x="103481" y="370196"/>
                  </a:lnTo>
                  <a:lnTo>
                    <a:pt x="106679" y="356621"/>
                  </a:lnTo>
                  <a:lnTo>
                    <a:pt x="104535" y="342806"/>
                  </a:lnTo>
                  <a:lnTo>
                    <a:pt x="97730" y="331328"/>
                  </a:lnTo>
                  <a:lnTo>
                    <a:pt x="87292" y="323353"/>
                  </a:lnTo>
                  <a:lnTo>
                    <a:pt x="74245" y="320045"/>
                  </a:lnTo>
                  <a:lnTo>
                    <a:pt x="73307" y="319967"/>
                  </a:lnTo>
                  <a:lnTo>
                    <a:pt x="72448" y="319967"/>
                  </a:lnTo>
                  <a:lnTo>
                    <a:pt x="71510" y="320045"/>
                  </a:lnTo>
                  <a:lnTo>
                    <a:pt x="84775" y="317825"/>
                  </a:lnTo>
                  <a:lnTo>
                    <a:pt x="95806" y="310725"/>
                  </a:lnTo>
                  <a:lnTo>
                    <a:pt x="103481" y="299844"/>
                  </a:lnTo>
                  <a:lnTo>
                    <a:pt x="106679" y="286282"/>
                  </a:lnTo>
                  <a:lnTo>
                    <a:pt x="104535" y="272467"/>
                  </a:lnTo>
                  <a:lnTo>
                    <a:pt x="97730" y="260989"/>
                  </a:lnTo>
                  <a:lnTo>
                    <a:pt x="87292" y="253013"/>
                  </a:lnTo>
                  <a:lnTo>
                    <a:pt x="74245" y="249705"/>
                  </a:lnTo>
                  <a:lnTo>
                    <a:pt x="73307" y="249627"/>
                  </a:lnTo>
                  <a:lnTo>
                    <a:pt x="72448" y="249627"/>
                  </a:lnTo>
                  <a:lnTo>
                    <a:pt x="71510" y="249705"/>
                  </a:lnTo>
                  <a:lnTo>
                    <a:pt x="84775" y="247485"/>
                  </a:lnTo>
                  <a:lnTo>
                    <a:pt x="95806" y="240385"/>
                  </a:lnTo>
                  <a:lnTo>
                    <a:pt x="103481" y="229505"/>
                  </a:lnTo>
                  <a:lnTo>
                    <a:pt x="106679" y="215942"/>
                  </a:lnTo>
                  <a:lnTo>
                    <a:pt x="104535" y="202127"/>
                  </a:lnTo>
                  <a:lnTo>
                    <a:pt x="97730" y="190649"/>
                  </a:lnTo>
                  <a:lnTo>
                    <a:pt x="87292" y="182674"/>
                  </a:lnTo>
                  <a:lnTo>
                    <a:pt x="74245" y="179366"/>
                  </a:lnTo>
                  <a:lnTo>
                    <a:pt x="73307" y="179287"/>
                  </a:lnTo>
                  <a:lnTo>
                    <a:pt x="72448" y="179287"/>
                  </a:lnTo>
                  <a:lnTo>
                    <a:pt x="71510" y="179366"/>
                  </a:lnTo>
                </a:path>
                <a:path w="106679" h="552450">
                  <a:moveTo>
                    <a:pt x="71510" y="460716"/>
                  </a:moveTo>
                  <a:lnTo>
                    <a:pt x="1172" y="460716"/>
                  </a:lnTo>
                </a:path>
                <a:path w="106679" h="552450">
                  <a:moveTo>
                    <a:pt x="71510" y="179366"/>
                  </a:moveTo>
                  <a:lnTo>
                    <a:pt x="1172" y="179366"/>
                  </a:lnTo>
                </a:path>
                <a:path w="106679" h="552450">
                  <a:moveTo>
                    <a:pt x="1172" y="179366"/>
                  </a:moveTo>
                  <a:lnTo>
                    <a:pt x="0" y="0"/>
                  </a:lnTo>
                </a:path>
                <a:path w="106679" h="552450">
                  <a:moveTo>
                    <a:pt x="1172" y="552158"/>
                  </a:moveTo>
                  <a:lnTo>
                    <a:pt x="1172" y="460716"/>
                  </a:lnTo>
                </a:path>
              </a:pathLst>
            </a:custGeom>
            <a:ln w="23446">
              <a:solidFill>
                <a:srgbClr val="000000"/>
              </a:solidFill>
            </a:ln>
          </p:spPr>
          <p:txBody>
            <a:bodyPr wrap="square" lIns="0" tIns="0" rIns="0" bIns="0" rtlCol="0"/>
            <a:lstStyle/>
            <a:p>
              <a:endParaRPr sz="2400"/>
            </a:p>
          </p:txBody>
        </p:sp>
        <p:sp>
          <p:nvSpPr>
            <p:cNvPr id="14" name="object 14"/>
            <p:cNvSpPr/>
            <p:nvPr/>
          </p:nvSpPr>
          <p:spPr>
            <a:xfrm>
              <a:off x="3712404" y="2782929"/>
              <a:ext cx="281940" cy="106045"/>
            </a:xfrm>
            <a:custGeom>
              <a:avLst/>
              <a:gdLst/>
              <a:ahLst/>
              <a:cxnLst/>
              <a:rect l="l" t="t" r="r" b="b"/>
              <a:pathLst>
                <a:path w="281939" h="106044">
                  <a:moveTo>
                    <a:pt x="281352" y="35138"/>
                  </a:moveTo>
                  <a:lnTo>
                    <a:pt x="279143" y="21878"/>
                  </a:lnTo>
                  <a:lnTo>
                    <a:pt x="272061" y="10848"/>
                  </a:lnTo>
                  <a:lnTo>
                    <a:pt x="261184" y="3179"/>
                  </a:lnTo>
                  <a:lnTo>
                    <a:pt x="247589" y="0"/>
                  </a:lnTo>
                  <a:lnTo>
                    <a:pt x="233808" y="2126"/>
                  </a:lnTo>
                  <a:lnTo>
                    <a:pt x="222326" y="8937"/>
                  </a:lnTo>
                  <a:lnTo>
                    <a:pt x="214333" y="19387"/>
                  </a:lnTo>
                  <a:lnTo>
                    <a:pt x="211014" y="32434"/>
                  </a:lnTo>
                  <a:lnTo>
                    <a:pt x="211014" y="33333"/>
                  </a:lnTo>
                  <a:lnTo>
                    <a:pt x="211014" y="34239"/>
                  </a:lnTo>
                  <a:lnTo>
                    <a:pt x="211014" y="35138"/>
                  </a:lnTo>
                  <a:lnTo>
                    <a:pt x="208805" y="21878"/>
                  </a:lnTo>
                  <a:lnTo>
                    <a:pt x="201723" y="10848"/>
                  </a:lnTo>
                  <a:lnTo>
                    <a:pt x="190846" y="3179"/>
                  </a:lnTo>
                  <a:lnTo>
                    <a:pt x="177251" y="0"/>
                  </a:lnTo>
                  <a:lnTo>
                    <a:pt x="163470" y="2126"/>
                  </a:lnTo>
                  <a:lnTo>
                    <a:pt x="151988" y="8937"/>
                  </a:lnTo>
                  <a:lnTo>
                    <a:pt x="143995" y="19387"/>
                  </a:lnTo>
                  <a:lnTo>
                    <a:pt x="140676" y="32434"/>
                  </a:lnTo>
                  <a:lnTo>
                    <a:pt x="140676" y="33333"/>
                  </a:lnTo>
                  <a:lnTo>
                    <a:pt x="140676" y="34239"/>
                  </a:lnTo>
                  <a:lnTo>
                    <a:pt x="140676" y="35138"/>
                  </a:lnTo>
                  <a:lnTo>
                    <a:pt x="138467" y="21878"/>
                  </a:lnTo>
                  <a:lnTo>
                    <a:pt x="131385" y="10848"/>
                  </a:lnTo>
                  <a:lnTo>
                    <a:pt x="120508" y="3179"/>
                  </a:lnTo>
                  <a:lnTo>
                    <a:pt x="106913" y="0"/>
                  </a:lnTo>
                  <a:lnTo>
                    <a:pt x="93131" y="2126"/>
                  </a:lnTo>
                  <a:lnTo>
                    <a:pt x="81650" y="8937"/>
                  </a:lnTo>
                  <a:lnTo>
                    <a:pt x="73657" y="19387"/>
                  </a:lnTo>
                  <a:lnTo>
                    <a:pt x="70338" y="32434"/>
                  </a:lnTo>
                  <a:lnTo>
                    <a:pt x="70338" y="33333"/>
                  </a:lnTo>
                  <a:lnTo>
                    <a:pt x="70338" y="34239"/>
                  </a:lnTo>
                  <a:lnTo>
                    <a:pt x="70338" y="35138"/>
                  </a:lnTo>
                  <a:lnTo>
                    <a:pt x="68128" y="21878"/>
                  </a:lnTo>
                  <a:lnTo>
                    <a:pt x="61047" y="10848"/>
                  </a:lnTo>
                  <a:lnTo>
                    <a:pt x="50170" y="3179"/>
                  </a:lnTo>
                  <a:lnTo>
                    <a:pt x="36575" y="0"/>
                  </a:lnTo>
                  <a:lnTo>
                    <a:pt x="22793" y="2126"/>
                  </a:lnTo>
                  <a:lnTo>
                    <a:pt x="11312" y="8937"/>
                  </a:lnTo>
                  <a:lnTo>
                    <a:pt x="3319" y="19387"/>
                  </a:lnTo>
                  <a:lnTo>
                    <a:pt x="0" y="32434"/>
                  </a:lnTo>
                  <a:lnTo>
                    <a:pt x="0" y="33333"/>
                  </a:lnTo>
                  <a:lnTo>
                    <a:pt x="0" y="34239"/>
                  </a:lnTo>
                  <a:lnTo>
                    <a:pt x="0" y="35138"/>
                  </a:lnTo>
                </a:path>
                <a:path w="281939" h="106044">
                  <a:moveTo>
                    <a:pt x="281352" y="35138"/>
                  </a:moveTo>
                  <a:lnTo>
                    <a:pt x="281352" y="105478"/>
                  </a:lnTo>
                </a:path>
                <a:path w="281939" h="106044">
                  <a:moveTo>
                    <a:pt x="0" y="35138"/>
                  </a:moveTo>
                  <a:lnTo>
                    <a:pt x="0" y="105478"/>
                  </a:lnTo>
                </a:path>
              </a:pathLst>
            </a:custGeom>
            <a:ln w="23446">
              <a:solidFill>
                <a:srgbClr val="000000"/>
              </a:solidFill>
            </a:ln>
          </p:spPr>
          <p:txBody>
            <a:bodyPr wrap="square" lIns="0" tIns="0" rIns="0" bIns="0" rtlCol="0"/>
            <a:lstStyle/>
            <a:p>
              <a:endParaRPr sz="2400"/>
            </a:p>
          </p:txBody>
        </p:sp>
        <p:pic>
          <p:nvPicPr>
            <p:cNvPr id="15" name="object 15"/>
            <p:cNvPicPr/>
            <p:nvPr/>
          </p:nvPicPr>
          <p:blipFill>
            <a:blip r:embed="rId3" cstate="print"/>
            <a:stretch>
              <a:fillRect/>
            </a:stretch>
          </p:blipFill>
          <p:spPr>
            <a:xfrm>
              <a:off x="3703611" y="2501961"/>
              <a:ext cx="237977" cy="237974"/>
            </a:xfrm>
            <a:prstGeom prst="rect">
              <a:avLst/>
            </a:prstGeom>
          </p:spPr>
        </p:pic>
        <p:sp>
          <p:nvSpPr>
            <p:cNvPr id="16" name="object 16"/>
            <p:cNvSpPr/>
            <p:nvPr/>
          </p:nvSpPr>
          <p:spPr>
            <a:xfrm>
              <a:off x="3523272" y="2867446"/>
              <a:ext cx="45720" cy="45085"/>
            </a:xfrm>
            <a:custGeom>
              <a:avLst/>
              <a:gdLst/>
              <a:ahLst/>
              <a:cxnLst/>
              <a:rect l="l" t="t" r="r" b="b"/>
              <a:pathLst>
                <a:path w="45720" h="45085">
                  <a:moveTo>
                    <a:pt x="22664" y="0"/>
                  </a:moveTo>
                  <a:lnTo>
                    <a:pt x="13847" y="1769"/>
                  </a:lnTo>
                  <a:lnTo>
                    <a:pt x="6643" y="6594"/>
                  </a:lnTo>
                  <a:lnTo>
                    <a:pt x="1782" y="13749"/>
                  </a:lnTo>
                  <a:lnTo>
                    <a:pt x="0" y="22508"/>
                  </a:lnTo>
                  <a:lnTo>
                    <a:pt x="1782" y="31271"/>
                  </a:lnTo>
                  <a:lnTo>
                    <a:pt x="6643" y="38425"/>
                  </a:lnTo>
                  <a:lnTo>
                    <a:pt x="13847" y="43248"/>
                  </a:lnTo>
                  <a:lnTo>
                    <a:pt x="22664" y="45017"/>
                  </a:lnTo>
                  <a:lnTo>
                    <a:pt x="31481" y="43248"/>
                  </a:lnTo>
                  <a:lnTo>
                    <a:pt x="38685" y="38425"/>
                  </a:lnTo>
                  <a:lnTo>
                    <a:pt x="43546" y="31271"/>
                  </a:lnTo>
                  <a:lnTo>
                    <a:pt x="45328" y="22508"/>
                  </a:lnTo>
                  <a:lnTo>
                    <a:pt x="43546" y="13749"/>
                  </a:lnTo>
                  <a:lnTo>
                    <a:pt x="38685" y="6594"/>
                  </a:lnTo>
                  <a:lnTo>
                    <a:pt x="31481" y="1769"/>
                  </a:lnTo>
                  <a:lnTo>
                    <a:pt x="22664" y="0"/>
                  </a:lnTo>
                  <a:close/>
                </a:path>
              </a:pathLst>
            </a:custGeom>
            <a:solidFill>
              <a:srgbClr val="000000"/>
            </a:solidFill>
          </p:spPr>
          <p:txBody>
            <a:bodyPr wrap="square" lIns="0" tIns="0" rIns="0" bIns="0" rtlCol="0"/>
            <a:lstStyle/>
            <a:p>
              <a:endParaRPr sz="2400"/>
            </a:p>
          </p:txBody>
        </p:sp>
        <p:sp>
          <p:nvSpPr>
            <p:cNvPr id="17" name="object 17"/>
            <p:cNvSpPr/>
            <p:nvPr/>
          </p:nvSpPr>
          <p:spPr>
            <a:xfrm>
              <a:off x="3523272" y="2867446"/>
              <a:ext cx="45720" cy="45085"/>
            </a:xfrm>
            <a:custGeom>
              <a:avLst/>
              <a:gdLst/>
              <a:ahLst/>
              <a:cxnLst/>
              <a:rect l="l" t="t" r="r" b="b"/>
              <a:pathLst>
                <a:path w="45720" h="45085">
                  <a:moveTo>
                    <a:pt x="0" y="22508"/>
                  </a:moveTo>
                  <a:lnTo>
                    <a:pt x="1782" y="13749"/>
                  </a:lnTo>
                  <a:lnTo>
                    <a:pt x="6643" y="6594"/>
                  </a:lnTo>
                  <a:lnTo>
                    <a:pt x="13847" y="1769"/>
                  </a:lnTo>
                  <a:lnTo>
                    <a:pt x="22664" y="0"/>
                  </a:lnTo>
                  <a:lnTo>
                    <a:pt x="31481" y="1769"/>
                  </a:lnTo>
                  <a:lnTo>
                    <a:pt x="38685" y="6594"/>
                  </a:lnTo>
                  <a:lnTo>
                    <a:pt x="43546" y="13749"/>
                  </a:lnTo>
                  <a:lnTo>
                    <a:pt x="45328" y="22508"/>
                  </a:lnTo>
                  <a:lnTo>
                    <a:pt x="43546" y="31271"/>
                  </a:lnTo>
                  <a:lnTo>
                    <a:pt x="38685" y="38425"/>
                  </a:lnTo>
                  <a:lnTo>
                    <a:pt x="31481" y="43248"/>
                  </a:lnTo>
                  <a:lnTo>
                    <a:pt x="22664" y="45017"/>
                  </a:lnTo>
                  <a:lnTo>
                    <a:pt x="13847" y="43248"/>
                  </a:lnTo>
                  <a:lnTo>
                    <a:pt x="6643" y="38425"/>
                  </a:lnTo>
                  <a:lnTo>
                    <a:pt x="1782" y="31271"/>
                  </a:lnTo>
                  <a:lnTo>
                    <a:pt x="0" y="22508"/>
                  </a:lnTo>
                  <a:close/>
                </a:path>
              </a:pathLst>
            </a:custGeom>
            <a:ln w="3175">
              <a:solidFill>
                <a:srgbClr val="000000"/>
              </a:solidFill>
            </a:ln>
          </p:spPr>
          <p:txBody>
            <a:bodyPr wrap="square" lIns="0" tIns="0" rIns="0" bIns="0" rtlCol="0"/>
            <a:lstStyle/>
            <a:p>
              <a:endParaRPr sz="2400"/>
            </a:p>
          </p:txBody>
        </p:sp>
        <p:sp>
          <p:nvSpPr>
            <p:cNvPr id="18" name="object 18"/>
            <p:cNvSpPr/>
            <p:nvPr/>
          </p:nvSpPr>
          <p:spPr>
            <a:xfrm>
              <a:off x="2994956" y="2869009"/>
              <a:ext cx="45720" cy="45085"/>
            </a:xfrm>
            <a:custGeom>
              <a:avLst/>
              <a:gdLst/>
              <a:ahLst/>
              <a:cxnLst/>
              <a:rect l="l" t="t" r="r" b="b"/>
              <a:pathLst>
                <a:path w="45719" h="45085">
                  <a:moveTo>
                    <a:pt x="22664" y="0"/>
                  </a:moveTo>
                  <a:lnTo>
                    <a:pt x="13847" y="1769"/>
                  </a:lnTo>
                  <a:lnTo>
                    <a:pt x="6643" y="6594"/>
                  </a:lnTo>
                  <a:lnTo>
                    <a:pt x="1782" y="13749"/>
                  </a:lnTo>
                  <a:lnTo>
                    <a:pt x="0" y="22508"/>
                  </a:lnTo>
                  <a:lnTo>
                    <a:pt x="1782" y="31271"/>
                  </a:lnTo>
                  <a:lnTo>
                    <a:pt x="6643" y="38425"/>
                  </a:lnTo>
                  <a:lnTo>
                    <a:pt x="13847" y="43248"/>
                  </a:lnTo>
                  <a:lnTo>
                    <a:pt x="22664" y="45017"/>
                  </a:lnTo>
                  <a:lnTo>
                    <a:pt x="31481" y="43248"/>
                  </a:lnTo>
                  <a:lnTo>
                    <a:pt x="38685" y="38425"/>
                  </a:lnTo>
                  <a:lnTo>
                    <a:pt x="43546" y="31271"/>
                  </a:lnTo>
                  <a:lnTo>
                    <a:pt x="45328" y="22508"/>
                  </a:lnTo>
                  <a:lnTo>
                    <a:pt x="43546" y="13749"/>
                  </a:lnTo>
                  <a:lnTo>
                    <a:pt x="38685" y="6594"/>
                  </a:lnTo>
                  <a:lnTo>
                    <a:pt x="31481" y="1769"/>
                  </a:lnTo>
                  <a:lnTo>
                    <a:pt x="22664" y="0"/>
                  </a:lnTo>
                  <a:close/>
                </a:path>
              </a:pathLst>
            </a:custGeom>
            <a:solidFill>
              <a:srgbClr val="000000"/>
            </a:solidFill>
          </p:spPr>
          <p:txBody>
            <a:bodyPr wrap="square" lIns="0" tIns="0" rIns="0" bIns="0" rtlCol="0"/>
            <a:lstStyle/>
            <a:p>
              <a:endParaRPr sz="2400"/>
            </a:p>
          </p:txBody>
        </p:sp>
        <p:sp>
          <p:nvSpPr>
            <p:cNvPr id="19" name="object 19"/>
            <p:cNvSpPr/>
            <p:nvPr/>
          </p:nvSpPr>
          <p:spPr>
            <a:xfrm>
              <a:off x="2994956" y="2869009"/>
              <a:ext cx="45720" cy="45085"/>
            </a:xfrm>
            <a:custGeom>
              <a:avLst/>
              <a:gdLst/>
              <a:ahLst/>
              <a:cxnLst/>
              <a:rect l="l" t="t" r="r" b="b"/>
              <a:pathLst>
                <a:path w="45719" h="45085">
                  <a:moveTo>
                    <a:pt x="0" y="22508"/>
                  </a:moveTo>
                  <a:lnTo>
                    <a:pt x="1782" y="13749"/>
                  </a:lnTo>
                  <a:lnTo>
                    <a:pt x="6643" y="6594"/>
                  </a:lnTo>
                  <a:lnTo>
                    <a:pt x="13847" y="1769"/>
                  </a:lnTo>
                  <a:lnTo>
                    <a:pt x="22664" y="0"/>
                  </a:lnTo>
                  <a:lnTo>
                    <a:pt x="31481" y="1769"/>
                  </a:lnTo>
                  <a:lnTo>
                    <a:pt x="38685" y="6594"/>
                  </a:lnTo>
                  <a:lnTo>
                    <a:pt x="43546" y="13749"/>
                  </a:lnTo>
                  <a:lnTo>
                    <a:pt x="45328" y="22508"/>
                  </a:lnTo>
                  <a:lnTo>
                    <a:pt x="43546" y="31271"/>
                  </a:lnTo>
                  <a:lnTo>
                    <a:pt x="38685" y="38425"/>
                  </a:lnTo>
                  <a:lnTo>
                    <a:pt x="31481" y="43248"/>
                  </a:lnTo>
                  <a:lnTo>
                    <a:pt x="22664" y="45017"/>
                  </a:lnTo>
                  <a:lnTo>
                    <a:pt x="13847" y="43248"/>
                  </a:lnTo>
                  <a:lnTo>
                    <a:pt x="6643" y="38425"/>
                  </a:lnTo>
                  <a:lnTo>
                    <a:pt x="1782" y="31271"/>
                  </a:lnTo>
                  <a:lnTo>
                    <a:pt x="0" y="22508"/>
                  </a:lnTo>
                  <a:close/>
                </a:path>
              </a:pathLst>
            </a:custGeom>
            <a:ln w="3175">
              <a:solidFill>
                <a:srgbClr val="000000"/>
              </a:solidFill>
            </a:ln>
          </p:spPr>
          <p:txBody>
            <a:bodyPr wrap="square" lIns="0" tIns="0" rIns="0" bIns="0" rtlCol="0"/>
            <a:lstStyle/>
            <a:p>
              <a:endParaRPr sz="2400"/>
            </a:p>
          </p:txBody>
        </p:sp>
        <p:sp>
          <p:nvSpPr>
            <p:cNvPr id="20" name="object 20"/>
            <p:cNvSpPr/>
            <p:nvPr/>
          </p:nvSpPr>
          <p:spPr>
            <a:xfrm>
              <a:off x="3547422" y="2847329"/>
              <a:ext cx="0" cy="334645"/>
            </a:xfrm>
            <a:custGeom>
              <a:avLst/>
              <a:gdLst/>
              <a:ahLst/>
              <a:cxnLst/>
              <a:rect l="l" t="t" r="r" b="b"/>
              <a:pathLst>
                <a:path h="334644">
                  <a:moveTo>
                    <a:pt x="0" y="334113"/>
                  </a:moveTo>
                  <a:lnTo>
                    <a:pt x="0" y="0"/>
                  </a:lnTo>
                </a:path>
              </a:pathLst>
            </a:custGeom>
            <a:ln w="23446">
              <a:solidFill>
                <a:srgbClr val="000000"/>
              </a:solidFill>
            </a:ln>
          </p:spPr>
          <p:txBody>
            <a:bodyPr wrap="square" lIns="0" tIns="0" rIns="0" bIns="0" rtlCol="0"/>
            <a:lstStyle/>
            <a:p>
              <a:endParaRPr sz="2400"/>
            </a:p>
          </p:txBody>
        </p:sp>
      </p:grpSp>
      <p:sp>
        <p:nvSpPr>
          <p:cNvPr id="21" name="object 21"/>
          <p:cNvSpPr txBox="1"/>
          <p:nvPr/>
        </p:nvSpPr>
        <p:spPr>
          <a:xfrm>
            <a:off x="5175757" y="3756586"/>
            <a:ext cx="206587" cy="535981"/>
          </a:xfrm>
          <a:prstGeom prst="rect">
            <a:avLst/>
          </a:prstGeom>
          <a:ln w="23446">
            <a:solidFill>
              <a:srgbClr val="000000"/>
            </a:solidFill>
          </a:ln>
        </p:spPr>
        <p:txBody>
          <a:bodyPr vert="horz" wrap="square" lIns="0" tIns="2540" rIns="0" bIns="0" rtlCol="0">
            <a:spAutoFit/>
          </a:bodyPr>
          <a:lstStyle/>
          <a:p>
            <a:pPr marL="60958" marR="46566" indent="3387" algn="just">
              <a:lnSpc>
                <a:spcPct val="101600"/>
              </a:lnSpc>
              <a:spcBef>
                <a:spcPts val="20"/>
              </a:spcBef>
            </a:pPr>
            <a:r>
              <a:rPr sz="1133" b="1" spc="-140" dirty="0">
                <a:latin typeface="Arial"/>
                <a:cs typeface="Arial"/>
              </a:rPr>
              <a:t>E</a:t>
            </a:r>
            <a:r>
              <a:rPr sz="1133" b="1" spc="667" dirty="0">
                <a:latin typeface="Arial"/>
                <a:cs typeface="Arial"/>
              </a:rPr>
              <a:t> </a:t>
            </a:r>
            <a:r>
              <a:rPr sz="1133" b="1" spc="-113" dirty="0">
                <a:latin typeface="Arial"/>
                <a:cs typeface="Arial"/>
              </a:rPr>
              <a:t>S</a:t>
            </a:r>
            <a:r>
              <a:rPr sz="1133" b="1" spc="667" dirty="0">
                <a:latin typeface="Arial"/>
                <a:cs typeface="Arial"/>
              </a:rPr>
              <a:t> </a:t>
            </a:r>
            <a:r>
              <a:rPr sz="1133" b="1" spc="-180" dirty="0">
                <a:latin typeface="Arial"/>
                <a:cs typeface="Arial"/>
              </a:rPr>
              <a:t>D</a:t>
            </a:r>
            <a:endParaRPr sz="1133">
              <a:latin typeface="Arial"/>
              <a:cs typeface="Arial"/>
            </a:endParaRPr>
          </a:p>
        </p:txBody>
      </p:sp>
      <p:grpSp>
        <p:nvGrpSpPr>
          <p:cNvPr id="22" name="object 22"/>
          <p:cNvGrpSpPr/>
          <p:nvPr/>
        </p:nvGrpSpPr>
        <p:grpSpPr>
          <a:xfrm>
            <a:off x="4865403" y="2740579"/>
            <a:ext cx="2629747" cy="1309792"/>
            <a:chOff x="3535909" y="2217359"/>
            <a:chExt cx="1972310" cy="982344"/>
          </a:xfrm>
        </p:grpSpPr>
        <p:sp>
          <p:nvSpPr>
            <p:cNvPr id="23" name="object 23"/>
            <p:cNvSpPr/>
            <p:nvPr/>
          </p:nvSpPr>
          <p:spPr>
            <a:xfrm>
              <a:off x="3547656" y="2694028"/>
              <a:ext cx="1818005" cy="494030"/>
            </a:xfrm>
            <a:custGeom>
              <a:avLst/>
              <a:gdLst/>
              <a:ahLst/>
              <a:cxnLst/>
              <a:rect l="l" t="t" r="r" b="b"/>
              <a:pathLst>
                <a:path w="1818004" h="494030">
                  <a:moveTo>
                    <a:pt x="221017" y="493541"/>
                  </a:moveTo>
                  <a:lnTo>
                    <a:pt x="0" y="493541"/>
                  </a:lnTo>
                </a:path>
                <a:path w="1818004" h="494030">
                  <a:moveTo>
                    <a:pt x="749725" y="192840"/>
                  </a:moveTo>
                  <a:lnTo>
                    <a:pt x="754819" y="148623"/>
                  </a:lnTo>
                  <a:lnTo>
                    <a:pt x="769330" y="108034"/>
                  </a:lnTo>
                  <a:lnTo>
                    <a:pt x="792100" y="72228"/>
                  </a:lnTo>
                  <a:lnTo>
                    <a:pt x="821971" y="42364"/>
                  </a:lnTo>
                  <a:lnTo>
                    <a:pt x="857784" y="19600"/>
                  </a:lnTo>
                  <a:lnTo>
                    <a:pt x="898382" y="5093"/>
                  </a:lnTo>
                  <a:lnTo>
                    <a:pt x="942608" y="0"/>
                  </a:lnTo>
                  <a:lnTo>
                    <a:pt x="986804" y="5093"/>
                  </a:lnTo>
                  <a:lnTo>
                    <a:pt x="1027381" y="19600"/>
                  </a:lnTo>
                  <a:lnTo>
                    <a:pt x="1063181" y="42364"/>
                  </a:lnTo>
                  <a:lnTo>
                    <a:pt x="1093043" y="72228"/>
                  </a:lnTo>
                  <a:lnTo>
                    <a:pt x="1115808" y="108034"/>
                  </a:lnTo>
                  <a:lnTo>
                    <a:pt x="1130318" y="148623"/>
                  </a:lnTo>
                  <a:lnTo>
                    <a:pt x="1135412" y="192840"/>
                  </a:lnTo>
                  <a:lnTo>
                    <a:pt x="1130318" y="237059"/>
                  </a:lnTo>
                  <a:lnTo>
                    <a:pt x="1115808" y="277650"/>
                  </a:lnTo>
                  <a:lnTo>
                    <a:pt x="1093043" y="313457"/>
                  </a:lnTo>
                  <a:lnTo>
                    <a:pt x="1063181" y="343322"/>
                  </a:lnTo>
                  <a:lnTo>
                    <a:pt x="1027381" y="366087"/>
                  </a:lnTo>
                  <a:lnTo>
                    <a:pt x="986804" y="380594"/>
                  </a:lnTo>
                  <a:lnTo>
                    <a:pt x="942608" y="385687"/>
                  </a:lnTo>
                  <a:lnTo>
                    <a:pt x="898382" y="380594"/>
                  </a:lnTo>
                  <a:lnTo>
                    <a:pt x="857784" y="366087"/>
                  </a:lnTo>
                  <a:lnTo>
                    <a:pt x="821971" y="343322"/>
                  </a:lnTo>
                  <a:lnTo>
                    <a:pt x="792100" y="313457"/>
                  </a:lnTo>
                  <a:lnTo>
                    <a:pt x="769330" y="277650"/>
                  </a:lnTo>
                  <a:lnTo>
                    <a:pt x="754819" y="237059"/>
                  </a:lnTo>
                  <a:lnTo>
                    <a:pt x="749725" y="192840"/>
                  </a:lnTo>
                  <a:close/>
                </a:path>
                <a:path w="1818004" h="494030">
                  <a:moveTo>
                    <a:pt x="1817691" y="198115"/>
                  </a:moveTo>
                  <a:lnTo>
                    <a:pt x="1146666" y="198115"/>
                  </a:lnTo>
                </a:path>
              </a:pathLst>
            </a:custGeom>
            <a:ln w="23446">
              <a:solidFill>
                <a:srgbClr val="000000"/>
              </a:solidFill>
            </a:ln>
          </p:spPr>
          <p:txBody>
            <a:bodyPr wrap="square" lIns="0" tIns="0" rIns="0" bIns="0" rtlCol="0"/>
            <a:lstStyle/>
            <a:p>
              <a:endParaRPr sz="2400"/>
            </a:p>
          </p:txBody>
        </p:sp>
        <p:sp>
          <p:nvSpPr>
            <p:cNvPr id="24" name="object 24"/>
            <p:cNvSpPr/>
            <p:nvPr/>
          </p:nvSpPr>
          <p:spPr>
            <a:xfrm>
              <a:off x="5248274" y="2480977"/>
              <a:ext cx="247650" cy="247650"/>
            </a:xfrm>
            <a:custGeom>
              <a:avLst/>
              <a:gdLst/>
              <a:ahLst/>
              <a:cxnLst/>
              <a:rect l="l" t="t" r="r" b="b"/>
              <a:pathLst>
                <a:path w="247650" h="247650">
                  <a:moveTo>
                    <a:pt x="0" y="247579"/>
                  </a:moveTo>
                  <a:lnTo>
                    <a:pt x="123794" y="0"/>
                  </a:lnTo>
                  <a:lnTo>
                    <a:pt x="247589" y="247579"/>
                  </a:lnTo>
                  <a:lnTo>
                    <a:pt x="0" y="247579"/>
                  </a:lnTo>
                  <a:close/>
                </a:path>
              </a:pathLst>
            </a:custGeom>
            <a:ln w="23446">
              <a:solidFill>
                <a:srgbClr val="000000"/>
              </a:solidFill>
            </a:ln>
          </p:spPr>
          <p:txBody>
            <a:bodyPr wrap="square" lIns="0" tIns="0" rIns="0" bIns="0" rtlCol="0"/>
            <a:lstStyle/>
            <a:p>
              <a:endParaRPr sz="2400"/>
            </a:p>
          </p:txBody>
        </p:sp>
        <p:sp>
          <p:nvSpPr>
            <p:cNvPr id="25" name="object 25"/>
            <p:cNvSpPr/>
            <p:nvPr/>
          </p:nvSpPr>
          <p:spPr>
            <a:xfrm>
              <a:off x="5239443" y="2468784"/>
              <a:ext cx="265430" cy="35560"/>
            </a:xfrm>
            <a:custGeom>
              <a:avLst/>
              <a:gdLst/>
              <a:ahLst/>
              <a:cxnLst/>
              <a:rect l="l" t="t" r="r" b="b"/>
              <a:pathLst>
                <a:path w="265429" h="35560">
                  <a:moveTo>
                    <a:pt x="265291" y="0"/>
                  </a:moveTo>
                  <a:lnTo>
                    <a:pt x="0" y="0"/>
                  </a:lnTo>
                  <a:lnTo>
                    <a:pt x="0" y="35169"/>
                  </a:lnTo>
                  <a:lnTo>
                    <a:pt x="265291" y="35169"/>
                  </a:lnTo>
                  <a:lnTo>
                    <a:pt x="265291" y="0"/>
                  </a:lnTo>
                  <a:close/>
                </a:path>
              </a:pathLst>
            </a:custGeom>
            <a:solidFill>
              <a:srgbClr val="000000"/>
            </a:solidFill>
          </p:spPr>
          <p:txBody>
            <a:bodyPr wrap="square" lIns="0" tIns="0" rIns="0" bIns="0" rtlCol="0"/>
            <a:lstStyle/>
            <a:p>
              <a:endParaRPr sz="2400"/>
            </a:p>
          </p:txBody>
        </p:sp>
        <p:sp>
          <p:nvSpPr>
            <p:cNvPr id="26" name="object 26"/>
            <p:cNvSpPr/>
            <p:nvPr/>
          </p:nvSpPr>
          <p:spPr>
            <a:xfrm>
              <a:off x="5372069" y="2234944"/>
              <a:ext cx="0" cy="246379"/>
            </a:xfrm>
            <a:custGeom>
              <a:avLst/>
              <a:gdLst/>
              <a:ahLst/>
              <a:cxnLst/>
              <a:rect l="l" t="t" r="r" b="b"/>
              <a:pathLst>
                <a:path h="246380">
                  <a:moveTo>
                    <a:pt x="0" y="246032"/>
                  </a:moveTo>
                  <a:lnTo>
                    <a:pt x="0" y="0"/>
                  </a:lnTo>
                </a:path>
              </a:pathLst>
            </a:custGeom>
            <a:ln w="23446">
              <a:solidFill>
                <a:srgbClr val="000000"/>
              </a:solidFill>
            </a:ln>
          </p:spPr>
          <p:txBody>
            <a:bodyPr wrap="square" lIns="0" tIns="0" rIns="0" bIns="0" rtlCol="0"/>
            <a:lstStyle/>
            <a:p>
              <a:endParaRPr sz="2400"/>
            </a:p>
          </p:txBody>
        </p:sp>
        <p:sp>
          <p:nvSpPr>
            <p:cNvPr id="27" name="object 27"/>
            <p:cNvSpPr/>
            <p:nvPr/>
          </p:nvSpPr>
          <p:spPr>
            <a:xfrm>
              <a:off x="5300949" y="2217359"/>
              <a:ext cx="146050" cy="35560"/>
            </a:xfrm>
            <a:custGeom>
              <a:avLst/>
              <a:gdLst/>
              <a:ahLst/>
              <a:cxnLst/>
              <a:rect l="l" t="t" r="r" b="b"/>
              <a:pathLst>
                <a:path w="146050" h="35560">
                  <a:moveTo>
                    <a:pt x="145584" y="0"/>
                  </a:moveTo>
                  <a:lnTo>
                    <a:pt x="0" y="0"/>
                  </a:lnTo>
                  <a:lnTo>
                    <a:pt x="0" y="35169"/>
                  </a:lnTo>
                  <a:lnTo>
                    <a:pt x="145584" y="35169"/>
                  </a:lnTo>
                  <a:lnTo>
                    <a:pt x="145584" y="0"/>
                  </a:lnTo>
                  <a:close/>
                </a:path>
              </a:pathLst>
            </a:custGeom>
            <a:solidFill>
              <a:srgbClr val="000000"/>
            </a:solidFill>
          </p:spPr>
          <p:txBody>
            <a:bodyPr wrap="square" lIns="0" tIns="0" rIns="0" bIns="0" rtlCol="0"/>
            <a:lstStyle/>
            <a:p>
              <a:endParaRPr sz="2400"/>
            </a:p>
          </p:txBody>
        </p:sp>
      </p:grpSp>
      <p:sp>
        <p:nvSpPr>
          <p:cNvPr id="28" name="object 28"/>
          <p:cNvSpPr txBox="1"/>
          <p:nvPr/>
        </p:nvSpPr>
        <p:spPr>
          <a:xfrm>
            <a:off x="6493683" y="2886001"/>
            <a:ext cx="612987" cy="622222"/>
          </a:xfrm>
          <a:prstGeom prst="rect">
            <a:avLst/>
          </a:prstGeom>
        </p:spPr>
        <p:txBody>
          <a:bodyPr vert="horz" wrap="square" lIns="0" tIns="15240" rIns="0" bIns="0" rtlCol="0">
            <a:spAutoFit/>
          </a:bodyPr>
          <a:lstStyle/>
          <a:p>
            <a:pPr marL="22013" marR="6773" indent="-5927">
              <a:lnSpc>
                <a:spcPct val="102099"/>
              </a:lnSpc>
              <a:spcBef>
                <a:spcPts val="120"/>
              </a:spcBef>
            </a:pPr>
            <a:r>
              <a:rPr sz="1933" b="1" spc="-207" dirty="0">
                <a:latin typeface="Arial"/>
                <a:cs typeface="Arial"/>
              </a:rPr>
              <a:t>Photo </a:t>
            </a:r>
            <a:r>
              <a:rPr sz="1933" b="1" spc="-193" dirty="0">
                <a:latin typeface="Arial"/>
                <a:cs typeface="Arial"/>
              </a:rPr>
              <a:t>Diode</a:t>
            </a:r>
            <a:endParaRPr sz="1933">
              <a:latin typeface="Arial"/>
              <a:cs typeface="Arial"/>
            </a:endParaRPr>
          </a:p>
        </p:txBody>
      </p:sp>
      <p:grpSp>
        <p:nvGrpSpPr>
          <p:cNvPr id="29" name="object 29"/>
          <p:cNvGrpSpPr/>
          <p:nvPr/>
        </p:nvGrpSpPr>
        <p:grpSpPr>
          <a:xfrm>
            <a:off x="7174922" y="3406512"/>
            <a:ext cx="278553" cy="834813"/>
            <a:chOff x="5268047" y="2716809"/>
            <a:chExt cx="208915" cy="626110"/>
          </a:xfrm>
        </p:grpSpPr>
        <p:sp>
          <p:nvSpPr>
            <p:cNvPr id="30" name="object 30"/>
            <p:cNvSpPr/>
            <p:nvPr/>
          </p:nvSpPr>
          <p:spPr>
            <a:xfrm>
              <a:off x="5268047" y="3007367"/>
              <a:ext cx="208915" cy="23495"/>
            </a:xfrm>
            <a:custGeom>
              <a:avLst/>
              <a:gdLst/>
              <a:ahLst/>
              <a:cxnLst/>
              <a:rect l="l" t="t" r="r" b="b"/>
              <a:pathLst>
                <a:path w="208914" h="23494">
                  <a:moveTo>
                    <a:pt x="208669" y="0"/>
                  </a:moveTo>
                  <a:lnTo>
                    <a:pt x="0" y="0"/>
                  </a:lnTo>
                  <a:lnTo>
                    <a:pt x="0" y="23446"/>
                  </a:lnTo>
                  <a:lnTo>
                    <a:pt x="208669" y="23446"/>
                  </a:lnTo>
                  <a:lnTo>
                    <a:pt x="208669" y="0"/>
                  </a:lnTo>
                  <a:close/>
                </a:path>
              </a:pathLst>
            </a:custGeom>
            <a:solidFill>
              <a:srgbClr val="000000"/>
            </a:solidFill>
          </p:spPr>
          <p:txBody>
            <a:bodyPr wrap="square" lIns="0" tIns="0" rIns="0" bIns="0" rtlCol="0"/>
            <a:lstStyle/>
            <a:p>
              <a:endParaRPr sz="2400"/>
            </a:p>
          </p:txBody>
        </p:sp>
        <p:sp>
          <p:nvSpPr>
            <p:cNvPr id="31" name="object 31"/>
            <p:cNvSpPr/>
            <p:nvPr/>
          </p:nvSpPr>
          <p:spPr>
            <a:xfrm>
              <a:off x="5375195" y="3086280"/>
              <a:ext cx="0" cy="184150"/>
            </a:xfrm>
            <a:custGeom>
              <a:avLst/>
              <a:gdLst/>
              <a:ahLst/>
              <a:cxnLst/>
              <a:rect l="l" t="t" r="r" b="b"/>
              <a:pathLst>
                <a:path h="184150">
                  <a:moveTo>
                    <a:pt x="0" y="183648"/>
                  </a:moveTo>
                  <a:lnTo>
                    <a:pt x="0" y="0"/>
                  </a:lnTo>
                </a:path>
              </a:pathLst>
            </a:custGeom>
            <a:ln w="23446">
              <a:solidFill>
                <a:srgbClr val="000000"/>
              </a:solidFill>
            </a:ln>
          </p:spPr>
          <p:txBody>
            <a:bodyPr wrap="square" lIns="0" tIns="0" rIns="0" bIns="0" rtlCol="0"/>
            <a:lstStyle/>
            <a:p>
              <a:endParaRPr sz="2400"/>
            </a:p>
          </p:txBody>
        </p:sp>
        <p:sp>
          <p:nvSpPr>
            <p:cNvPr id="32" name="object 32"/>
            <p:cNvSpPr/>
            <p:nvPr/>
          </p:nvSpPr>
          <p:spPr>
            <a:xfrm>
              <a:off x="5268047" y="3066820"/>
              <a:ext cx="208915" cy="23495"/>
            </a:xfrm>
            <a:custGeom>
              <a:avLst/>
              <a:gdLst/>
              <a:ahLst/>
              <a:cxnLst/>
              <a:rect l="l" t="t" r="r" b="b"/>
              <a:pathLst>
                <a:path w="208914" h="23494">
                  <a:moveTo>
                    <a:pt x="208669" y="0"/>
                  </a:moveTo>
                  <a:lnTo>
                    <a:pt x="0" y="0"/>
                  </a:lnTo>
                  <a:lnTo>
                    <a:pt x="0" y="23446"/>
                  </a:lnTo>
                  <a:lnTo>
                    <a:pt x="208669" y="23446"/>
                  </a:lnTo>
                  <a:lnTo>
                    <a:pt x="208669" y="0"/>
                  </a:lnTo>
                  <a:close/>
                </a:path>
              </a:pathLst>
            </a:custGeom>
            <a:solidFill>
              <a:srgbClr val="000000"/>
            </a:solidFill>
          </p:spPr>
          <p:txBody>
            <a:bodyPr wrap="square" lIns="0" tIns="0" rIns="0" bIns="0" rtlCol="0"/>
            <a:lstStyle/>
            <a:p>
              <a:endParaRPr sz="2400"/>
            </a:p>
          </p:txBody>
        </p:sp>
        <p:sp>
          <p:nvSpPr>
            <p:cNvPr id="33" name="object 33"/>
            <p:cNvSpPr/>
            <p:nvPr/>
          </p:nvSpPr>
          <p:spPr>
            <a:xfrm>
              <a:off x="5326349" y="3269929"/>
              <a:ext cx="93345" cy="60960"/>
            </a:xfrm>
            <a:custGeom>
              <a:avLst/>
              <a:gdLst/>
              <a:ahLst/>
              <a:cxnLst/>
              <a:rect l="l" t="t" r="r" b="b"/>
              <a:pathLst>
                <a:path w="93345" h="60960">
                  <a:moveTo>
                    <a:pt x="92924" y="0"/>
                  </a:moveTo>
                  <a:lnTo>
                    <a:pt x="0" y="0"/>
                  </a:lnTo>
                </a:path>
                <a:path w="93345" h="60960">
                  <a:moveTo>
                    <a:pt x="77450" y="30464"/>
                  </a:moveTo>
                  <a:lnTo>
                    <a:pt x="15552" y="30464"/>
                  </a:lnTo>
                </a:path>
                <a:path w="93345" h="60960">
                  <a:moveTo>
                    <a:pt x="61975" y="60921"/>
                  </a:moveTo>
                  <a:lnTo>
                    <a:pt x="31026" y="60921"/>
                  </a:lnTo>
                </a:path>
              </a:pathLst>
            </a:custGeom>
            <a:ln w="23446">
              <a:solidFill>
                <a:srgbClr val="000000"/>
              </a:solidFill>
            </a:ln>
          </p:spPr>
          <p:txBody>
            <a:bodyPr wrap="square" lIns="0" tIns="0" rIns="0" bIns="0" rtlCol="0"/>
            <a:lstStyle/>
            <a:p>
              <a:endParaRPr sz="2400"/>
            </a:p>
          </p:txBody>
        </p:sp>
        <p:sp>
          <p:nvSpPr>
            <p:cNvPr id="34" name="object 34"/>
            <p:cNvSpPr/>
            <p:nvPr/>
          </p:nvSpPr>
          <p:spPr>
            <a:xfrm>
              <a:off x="5372069" y="2728557"/>
              <a:ext cx="0" cy="290195"/>
            </a:xfrm>
            <a:custGeom>
              <a:avLst/>
              <a:gdLst/>
              <a:ahLst/>
              <a:cxnLst/>
              <a:rect l="l" t="t" r="r" b="b"/>
              <a:pathLst>
                <a:path h="290194">
                  <a:moveTo>
                    <a:pt x="0" y="290197"/>
                  </a:moveTo>
                  <a:lnTo>
                    <a:pt x="0" y="0"/>
                  </a:lnTo>
                </a:path>
              </a:pathLst>
            </a:custGeom>
            <a:ln w="23446">
              <a:solidFill>
                <a:srgbClr val="000000"/>
              </a:solidFill>
            </a:ln>
          </p:spPr>
          <p:txBody>
            <a:bodyPr wrap="square" lIns="0" tIns="0" rIns="0" bIns="0" rtlCol="0"/>
            <a:lstStyle/>
            <a:p>
              <a:endParaRPr sz="2400"/>
            </a:p>
          </p:txBody>
        </p:sp>
      </p:grpSp>
      <p:sp>
        <p:nvSpPr>
          <p:cNvPr id="35" name="object 35"/>
          <p:cNvSpPr txBox="1"/>
          <p:nvPr/>
        </p:nvSpPr>
        <p:spPr>
          <a:xfrm>
            <a:off x="7498945" y="3440683"/>
            <a:ext cx="675640" cy="700599"/>
          </a:xfrm>
          <a:prstGeom prst="rect">
            <a:avLst/>
          </a:prstGeom>
        </p:spPr>
        <p:txBody>
          <a:bodyPr vert="horz" wrap="square" lIns="0" tIns="18627" rIns="0" bIns="0" rtlCol="0">
            <a:spAutoFit/>
          </a:bodyPr>
          <a:lstStyle/>
          <a:p>
            <a:pPr algn="ctr">
              <a:spcBef>
                <a:spcPts val="147"/>
              </a:spcBef>
            </a:pPr>
            <a:r>
              <a:rPr sz="1467" b="1" spc="-33" dirty="0">
                <a:latin typeface="Arial"/>
                <a:cs typeface="Arial"/>
              </a:rPr>
              <a:t>PD</a:t>
            </a:r>
            <a:endParaRPr sz="1467">
              <a:latin typeface="Arial"/>
              <a:cs typeface="Arial"/>
            </a:endParaRPr>
          </a:p>
          <a:p>
            <a:pPr marL="16933" marR="6773" algn="ctr">
              <a:lnSpc>
                <a:spcPct val="100899"/>
              </a:lnSpc>
            </a:pPr>
            <a:r>
              <a:rPr sz="1467" b="1" spc="-133" dirty="0">
                <a:latin typeface="Arial"/>
                <a:cs typeface="Arial"/>
              </a:rPr>
              <a:t>Parasitic</a:t>
            </a:r>
            <a:r>
              <a:rPr sz="1467" b="1" spc="-27" dirty="0">
                <a:latin typeface="Arial"/>
                <a:cs typeface="Arial"/>
              </a:rPr>
              <a:t> 10fF</a:t>
            </a:r>
            <a:endParaRPr sz="1467">
              <a:latin typeface="Arial"/>
              <a:cs typeface="Arial"/>
            </a:endParaRPr>
          </a:p>
        </p:txBody>
      </p:sp>
      <p:grpSp>
        <p:nvGrpSpPr>
          <p:cNvPr id="36" name="object 36"/>
          <p:cNvGrpSpPr/>
          <p:nvPr/>
        </p:nvGrpSpPr>
        <p:grpSpPr>
          <a:xfrm>
            <a:off x="661419" y="2816827"/>
            <a:ext cx="7415107" cy="990600"/>
            <a:chOff x="382921" y="2274545"/>
            <a:chExt cx="5561330" cy="742950"/>
          </a:xfrm>
        </p:grpSpPr>
        <p:sp>
          <p:nvSpPr>
            <p:cNvPr id="37" name="object 37"/>
            <p:cNvSpPr/>
            <p:nvPr/>
          </p:nvSpPr>
          <p:spPr>
            <a:xfrm>
              <a:off x="5349717" y="2870197"/>
              <a:ext cx="45720" cy="45085"/>
            </a:xfrm>
            <a:custGeom>
              <a:avLst/>
              <a:gdLst/>
              <a:ahLst/>
              <a:cxnLst/>
              <a:rect l="l" t="t" r="r" b="b"/>
              <a:pathLst>
                <a:path w="45720" h="45085">
                  <a:moveTo>
                    <a:pt x="22664" y="0"/>
                  </a:moveTo>
                  <a:lnTo>
                    <a:pt x="13847" y="1769"/>
                  </a:lnTo>
                  <a:lnTo>
                    <a:pt x="6643" y="6594"/>
                  </a:lnTo>
                  <a:lnTo>
                    <a:pt x="1782" y="13749"/>
                  </a:lnTo>
                  <a:lnTo>
                    <a:pt x="0" y="22508"/>
                  </a:lnTo>
                  <a:lnTo>
                    <a:pt x="1782" y="31271"/>
                  </a:lnTo>
                  <a:lnTo>
                    <a:pt x="6643" y="38425"/>
                  </a:lnTo>
                  <a:lnTo>
                    <a:pt x="13847" y="43248"/>
                  </a:lnTo>
                  <a:lnTo>
                    <a:pt x="22664" y="45017"/>
                  </a:lnTo>
                  <a:lnTo>
                    <a:pt x="31481" y="43248"/>
                  </a:lnTo>
                  <a:lnTo>
                    <a:pt x="38685" y="38425"/>
                  </a:lnTo>
                  <a:lnTo>
                    <a:pt x="43546" y="31271"/>
                  </a:lnTo>
                  <a:lnTo>
                    <a:pt x="45328" y="22508"/>
                  </a:lnTo>
                  <a:lnTo>
                    <a:pt x="43546" y="13749"/>
                  </a:lnTo>
                  <a:lnTo>
                    <a:pt x="38685" y="6594"/>
                  </a:lnTo>
                  <a:lnTo>
                    <a:pt x="31481" y="1769"/>
                  </a:lnTo>
                  <a:lnTo>
                    <a:pt x="22664" y="0"/>
                  </a:lnTo>
                  <a:close/>
                </a:path>
              </a:pathLst>
            </a:custGeom>
            <a:solidFill>
              <a:srgbClr val="000000"/>
            </a:solidFill>
          </p:spPr>
          <p:txBody>
            <a:bodyPr wrap="square" lIns="0" tIns="0" rIns="0" bIns="0" rtlCol="0"/>
            <a:lstStyle/>
            <a:p>
              <a:endParaRPr sz="2400"/>
            </a:p>
          </p:txBody>
        </p:sp>
        <p:sp>
          <p:nvSpPr>
            <p:cNvPr id="38" name="object 38"/>
            <p:cNvSpPr/>
            <p:nvPr/>
          </p:nvSpPr>
          <p:spPr>
            <a:xfrm>
              <a:off x="5349717" y="2870197"/>
              <a:ext cx="45720" cy="45085"/>
            </a:xfrm>
            <a:custGeom>
              <a:avLst/>
              <a:gdLst/>
              <a:ahLst/>
              <a:cxnLst/>
              <a:rect l="l" t="t" r="r" b="b"/>
              <a:pathLst>
                <a:path w="45720" h="45085">
                  <a:moveTo>
                    <a:pt x="0" y="22508"/>
                  </a:moveTo>
                  <a:lnTo>
                    <a:pt x="1782" y="13749"/>
                  </a:lnTo>
                  <a:lnTo>
                    <a:pt x="6643" y="6594"/>
                  </a:lnTo>
                  <a:lnTo>
                    <a:pt x="13847" y="1769"/>
                  </a:lnTo>
                  <a:lnTo>
                    <a:pt x="22664" y="0"/>
                  </a:lnTo>
                  <a:lnTo>
                    <a:pt x="31481" y="1769"/>
                  </a:lnTo>
                  <a:lnTo>
                    <a:pt x="38685" y="6594"/>
                  </a:lnTo>
                  <a:lnTo>
                    <a:pt x="43546" y="13749"/>
                  </a:lnTo>
                  <a:lnTo>
                    <a:pt x="45328" y="22508"/>
                  </a:lnTo>
                  <a:lnTo>
                    <a:pt x="43546" y="31271"/>
                  </a:lnTo>
                  <a:lnTo>
                    <a:pt x="38685" y="38425"/>
                  </a:lnTo>
                  <a:lnTo>
                    <a:pt x="31481" y="43248"/>
                  </a:lnTo>
                  <a:lnTo>
                    <a:pt x="22664" y="45017"/>
                  </a:lnTo>
                  <a:lnTo>
                    <a:pt x="13847" y="43248"/>
                  </a:lnTo>
                  <a:lnTo>
                    <a:pt x="6643" y="38425"/>
                  </a:lnTo>
                  <a:lnTo>
                    <a:pt x="1782" y="31271"/>
                  </a:lnTo>
                  <a:lnTo>
                    <a:pt x="0" y="22508"/>
                  </a:lnTo>
                  <a:close/>
                </a:path>
              </a:pathLst>
            </a:custGeom>
            <a:ln w="3175">
              <a:solidFill>
                <a:srgbClr val="000000"/>
              </a:solidFill>
            </a:ln>
          </p:spPr>
          <p:txBody>
            <a:bodyPr wrap="square" lIns="0" tIns="0" rIns="0" bIns="0" rtlCol="0"/>
            <a:lstStyle/>
            <a:p>
              <a:endParaRPr sz="2400"/>
            </a:p>
          </p:txBody>
        </p:sp>
        <p:sp>
          <p:nvSpPr>
            <p:cNvPr id="39" name="object 39"/>
            <p:cNvSpPr/>
            <p:nvPr/>
          </p:nvSpPr>
          <p:spPr>
            <a:xfrm>
              <a:off x="1979274" y="2362267"/>
              <a:ext cx="518159" cy="599440"/>
            </a:xfrm>
            <a:custGeom>
              <a:avLst/>
              <a:gdLst/>
              <a:ahLst/>
              <a:cxnLst/>
              <a:rect l="l" t="t" r="r" b="b"/>
              <a:pathLst>
                <a:path w="518160" h="599439">
                  <a:moveTo>
                    <a:pt x="517688" y="0"/>
                  </a:moveTo>
                  <a:lnTo>
                    <a:pt x="0" y="0"/>
                  </a:lnTo>
                  <a:lnTo>
                    <a:pt x="0" y="599293"/>
                  </a:lnTo>
                  <a:lnTo>
                    <a:pt x="517688" y="599293"/>
                  </a:lnTo>
                  <a:lnTo>
                    <a:pt x="517688" y="0"/>
                  </a:lnTo>
                  <a:close/>
                </a:path>
              </a:pathLst>
            </a:custGeom>
            <a:solidFill>
              <a:srgbClr val="F1F1F1"/>
            </a:solidFill>
          </p:spPr>
          <p:txBody>
            <a:bodyPr wrap="square" lIns="0" tIns="0" rIns="0" bIns="0" rtlCol="0"/>
            <a:lstStyle/>
            <a:p>
              <a:endParaRPr sz="2400"/>
            </a:p>
          </p:txBody>
        </p:sp>
        <p:sp>
          <p:nvSpPr>
            <p:cNvPr id="40" name="object 40"/>
            <p:cNvSpPr/>
            <p:nvPr/>
          </p:nvSpPr>
          <p:spPr>
            <a:xfrm>
              <a:off x="1498474" y="2770284"/>
              <a:ext cx="694690" cy="234950"/>
            </a:xfrm>
            <a:custGeom>
              <a:avLst/>
              <a:gdLst/>
              <a:ahLst/>
              <a:cxnLst/>
              <a:rect l="l" t="t" r="r" b="b"/>
              <a:pathLst>
                <a:path w="694689" h="234950">
                  <a:moveTo>
                    <a:pt x="153962" y="117201"/>
                  </a:moveTo>
                  <a:lnTo>
                    <a:pt x="153962" y="126908"/>
                  </a:lnTo>
                  <a:lnTo>
                    <a:pt x="146068" y="134778"/>
                  </a:lnTo>
                  <a:lnTo>
                    <a:pt x="136377" y="134778"/>
                  </a:lnTo>
                  <a:lnTo>
                    <a:pt x="126686" y="134778"/>
                  </a:lnTo>
                  <a:lnTo>
                    <a:pt x="118793" y="126908"/>
                  </a:lnTo>
                  <a:lnTo>
                    <a:pt x="118793" y="117201"/>
                  </a:lnTo>
                  <a:lnTo>
                    <a:pt x="118793" y="107494"/>
                  </a:lnTo>
                  <a:lnTo>
                    <a:pt x="126686" y="99624"/>
                  </a:lnTo>
                  <a:lnTo>
                    <a:pt x="136377" y="99624"/>
                  </a:lnTo>
                  <a:lnTo>
                    <a:pt x="146068" y="99624"/>
                  </a:lnTo>
                  <a:lnTo>
                    <a:pt x="153962" y="107494"/>
                  </a:lnTo>
                  <a:lnTo>
                    <a:pt x="153962" y="117201"/>
                  </a:lnTo>
                  <a:close/>
                </a:path>
                <a:path w="694689" h="234950">
                  <a:moveTo>
                    <a:pt x="388344" y="0"/>
                  </a:moveTo>
                  <a:lnTo>
                    <a:pt x="153962" y="117201"/>
                  </a:lnTo>
                  <a:lnTo>
                    <a:pt x="388344" y="234402"/>
                  </a:lnTo>
                  <a:lnTo>
                    <a:pt x="388344" y="0"/>
                  </a:lnTo>
                  <a:close/>
                </a:path>
                <a:path w="694689" h="234950">
                  <a:moveTo>
                    <a:pt x="111993" y="117201"/>
                  </a:moveTo>
                  <a:lnTo>
                    <a:pt x="0" y="117201"/>
                  </a:lnTo>
                </a:path>
                <a:path w="694689" h="234950">
                  <a:moveTo>
                    <a:pt x="694627" y="117201"/>
                  </a:moveTo>
                  <a:lnTo>
                    <a:pt x="388344" y="117201"/>
                  </a:lnTo>
                </a:path>
              </a:pathLst>
            </a:custGeom>
            <a:ln w="23446">
              <a:solidFill>
                <a:srgbClr val="000000"/>
              </a:solidFill>
            </a:ln>
          </p:spPr>
          <p:txBody>
            <a:bodyPr wrap="square" lIns="0" tIns="0" rIns="0" bIns="0" rtlCol="0"/>
            <a:lstStyle/>
            <a:p>
              <a:endParaRPr sz="2400"/>
            </a:p>
          </p:txBody>
        </p:sp>
        <p:sp>
          <p:nvSpPr>
            <p:cNvPr id="41" name="object 41"/>
            <p:cNvSpPr/>
            <p:nvPr/>
          </p:nvSpPr>
          <p:spPr>
            <a:xfrm>
              <a:off x="1498787" y="2333185"/>
              <a:ext cx="0" cy="580390"/>
            </a:xfrm>
            <a:custGeom>
              <a:avLst/>
              <a:gdLst/>
              <a:ahLst/>
              <a:cxnLst/>
              <a:rect l="l" t="t" r="r" b="b"/>
              <a:pathLst>
                <a:path h="580389">
                  <a:moveTo>
                    <a:pt x="0" y="579918"/>
                  </a:moveTo>
                  <a:lnTo>
                    <a:pt x="0" y="0"/>
                  </a:lnTo>
                </a:path>
              </a:pathLst>
            </a:custGeom>
            <a:ln w="23446">
              <a:solidFill>
                <a:srgbClr val="000000"/>
              </a:solidFill>
            </a:ln>
          </p:spPr>
          <p:txBody>
            <a:bodyPr wrap="square" lIns="0" tIns="0" rIns="0" bIns="0" rtlCol="0"/>
            <a:lstStyle/>
            <a:p>
              <a:endParaRPr sz="2400"/>
            </a:p>
          </p:txBody>
        </p:sp>
        <p:sp>
          <p:nvSpPr>
            <p:cNvPr id="42" name="object 42"/>
            <p:cNvSpPr/>
            <p:nvPr/>
          </p:nvSpPr>
          <p:spPr>
            <a:xfrm>
              <a:off x="1651733" y="2286292"/>
              <a:ext cx="227965" cy="91440"/>
            </a:xfrm>
            <a:custGeom>
              <a:avLst/>
              <a:gdLst/>
              <a:ahLst/>
              <a:cxnLst/>
              <a:rect l="l" t="t" r="r" b="b"/>
              <a:pathLst>
                <a:path w="227964" h="91439">
                  <a:moveTo>
                    <a:pt x="227895" y="45564"/>
                  </a:moveTo>
                  <a:lnTo>
                    <a:pt x="208904" y="0"/>
                  </a:lnTo>
                  <a:lnTo>
                    <a:pt x="170921" y="91207"/>
                  </a:lnTo>
                  <a:lnTo>
                    <a:pt x="132938" y="0"/>
                  </a:lnTo>
                  <a:lnTo>
                    <a:pt x="94956" y="91207"/>
                  </a:lnTo>
                  <a:lnTo>
                    <a:pt x="56973" y="0"/>
                  </a:lnTo>
                  <a:lnTo>
                    <a:pt x="18991" y="91207"/>
                  </a:lnTo>
                  <a:lnTo>
                    <a:pt x="0" y="45564"/>
                  </a:lnTo>
                </a:path>
              </a:pathLst>
            </a:custGeom>
            <a:ln w="23446">
              <a:solidFill>
                <a:srgbClr val="000000"/>
              </a:solidFill>
            </a:ln>
          </p:spPr>
          <p:txBody>
            <a:bodyPr wrap="square" lIns="0" tIns="0" rIns="0" bIns="0" rtlCol="0"/>
            <a:lstStyle/>
            <a:p>
              <a:endParaRPr sz="2400"/>
            </a:p>
          </p:txBody>
        </p:sp>
        <p:sp>
          <p:nvSpPr>
            <p:cNvPr id="43" name="object 43"/>
            <p:cNvSpPr/>
            <p:nvPr/>
          </p:nvSpPr>
          <p:spPr>
            <a:xfrm>
              <a:off x="1879629" y="2331310"/>
              <a:ext cx="143510" cy="635"/>
            </a:xfrm>
            <a:custGeom>
              <a:avLst/>
              <a:gdLst/>
              <a:ahLst/>
              <a:cxnLst/>
              <a:rect l="l" t="t" r="r" b="b"/>
              <a:pathLst>
                <a:path w="143510" h="635">
                  <a:moveTo>
                    <a:pt x="143489" y="0"/>
                  </a:moveTo>
                  <a:lnTo>
                    <a:pt x="0" y="547"/>
                  </a:lnTo>
                </a:path>
              </a:pathLst>
            </a:custGeom>
            <a:ln w="23446">
              <a:solidFill>
                <a:srgbClr val="000000"/>
              </a:solidFill>
            </a:ln>
          </p:spPr>
          <p:txBody>
            <a:bodyPr wrap="square" lIns="0" tIns="0" rIns="0" bIns="0" rtlCol="0"/>
            <a:lstStyle/>
            <a:p>
              <a:endParaRPr sz="2400"/>
            </a:p>
          </p:txBody>
        </p:sp>
        <p:sp>
          <p:nvSpPr>
            <p:cNvPr id="44" name="object 44"/>
            <p:cNvSpPr/>
            <p:nvPr/>
          </p:nvSpPr>
          <p:spPr>
            <a:xfrm>
              <a:off x="1505430" y="2331857"/>
              <a:ext cx="146685" cy="0"/>
            </a:xfrm>
            <a:custGeom>
              <a:avLst/>
              <a:gdLst/>
              <a:ahLst/>
              <a:cxnLst/>
              <a:rect l="l" t="t" r="r" b="b"/>
              <a:pathLst>
                <a:path w="146685">
                  <a:moveTo>
                    <a:pt x="146303" y="0"/>
                  </a:moveTo>
                  <a:lnTo>
                    <a:pt x="0" y="0"/>
                  </a:lnTo>
                </a:path>
              </a:pathLst>
            </a:custGeom>
            <a:ln w="23446">
              <a:solidFill>
                <a:srgbClr val="000000"/>
              </a:solidFill>
            </a:ln>
          </p:spPr>
          <p:txBody>
            <a:bodyPr wrap="square" lIns="0" tIns="0" rIns="0" bIns="0" rtlCol="0"/>
            <a:lstStyle/>
            <a:p>
              <a:endParaRPr sz="2400"/>
            </a:p>
          </p:txBody>
        </p:sp>
        <p:sp>
          <p:nvSpPr>
            <p:cNvPr id="45" name="object 45"/>
            <p:cNvSpPr/>
            <p:nvPr/>
          </p:nvSpPr>
          <p:spPr>
            <a:xfrm>
              <a:off x="382917" y="2849994"/>
              <a:ext cx="1206500" cy="75565"/>
            </a:xfrm>
            <a:custGeom>
              <a:avLst/>
              <a:gdLst/>
              <a:ahLst/>
              <a:cxnLst/>
              <a:rect l="l" t="t" r="r" b="b"/>
              <a:pathLst>
                <a:path w="1206500" h="75564">
                  <a:moveTo>
                    <a:pt x="1206055" y="25793"/>
                  </a:moveTo>
                  <a:lnTo>
                    <a:pt x="75018" y="25793"/>
                  </a:lnTo>
                  <a:lnTo>
                    <a:pt x="75018" y="0"/>
                  </a:lnTo>
                  <a:lnTo>
                    <a:pt x="0" y="37515"/>
                  </a:lnTo>
                  <a:lnTo>
                    <a:pt x="75018" y="75031"/>
                  </a:lnTo>
                  <a:lnTo>
                    <a:pt x="75018" y="49237"/>
                  </a:lnTo>
                  <a:lnTo>
                    <a:pt x="1206055" y="49237"/>
                  </a:lnTo>
                  <a:lnTo>
                    <a:pt x="1206055" y="25793"/>
                  </a:lnTo>
                  <a:close/>
                </a:path>
              </a:pathLst>
            </a:custGeom>
            <a:solidFill>
              <a:srgbClr val="000000"/>
            </a:solidFill>
          </p:spPr>
          <p:txBody>
            <a:bodyPr wrap="square" lIns="0" tIns="0" rIns="0" bIns="0" rtlCol="0"/>
            <a:lstStyle/>
            <a:p>
              <a:endParaRPr sz="2400"/>
            </a:p>
          </p:txBody>
        </p:sp>
        <p:sp>
          <p:nvSpPr>
            <p:cNvPr id="46" name="object 46"/>
            <p:cNvSpPr/>
            <p:nvPr/>
          </p:nvSpPr>
          <p:spPr>
            <a:xfrm>
              <a:off x="2024290" y="2332013"/>
              <a:ext cx="106680" cy="552450"/>
            </a:xfrm>
            <a:custGeom>
              <a:avLst/>
              <a:gdLst/>
              <a:ahLst/>
              <a:cxnLst/>
              <a:rect l="l" t="t" r="r" b="b"/>
              <a:pathLst>
                <a:path w="106680" h="552450">
                  <a:moveTo>
                    <a:pt x="71510" y="460732"/>
                  </a:moveTo>
                  <a:lnTo>
                    <a:pt x="84775" y="458514"/>
                  </a:lnTo>
                  <a:lnTo>
                    <a:pt x="95806" y="451424"/>
                  </a:lnTo>
                  <a:lnTo>
                    <a:pt x="103481" y="440547"/>
                  </a:lnTo>
                  <a:lnTo>
                    <a:pt x="106679" y="426969"/>
                  </a:lnTo>
                  <a:lnTo>
                    <a:pt x="104535" y="413169"/>
                  </a:lnTo>
                  <a:lnTo>
                    <a:pt x="97730" y="401688"/>
                  </a:lnTo>
                  <a:lnTo>
                    <a:pt x="87292" y="393703"/>
                  </a:lnTo>
                  <a:lnTo>
                    <a:pt x="74245" y="390392"/>
                  </a:lnTo>
                  <a:lnTo>
                    <a:pt x="73307" y="390353"/>
                  </a:lnTo>
                  <a:lnTo>
                    <a:pt x="72448" y="390353"/>
                  </a:lnTo>
                  <a:lnTo>
                    <a:pt x="71510" y="390392"/>
                  </a:lnTo>
                  <a:lnTo>
                    <a:pt x="84775" y="388174"/>
                  </a:lnTo>
                  <a:lnTo>
                    <a:pt x="95806" y="381083"/>
                  </a:lnTo>
                  <a:lnTo>
                    <a:pt x="103481" y="370204"/>
                  </a:lnTo>
                  <a:lnTo>
                    <a:pt x="106679" y="356621"/>
                  </a:lnTo>
                  <a:lnTo>
                    <a:pt x="104535" y="342839"/>
                  </a:lnTo>
                  <a:lnTo>
                    <a:pt x="97730" y="331358"/>
                  </a:lnTo>
                  <a:lnTo>
                    <a:pt x="87292" y="323364"/>
                  </a:lnTo>
                  <a:lnTo>
                    <a:pt x="74245" y="320045"/>
                  </a:lnTo>
                  <a:lnTo>
                    <a:pt x="73307" y="320045"/>
                  </a:lnTo>
                  <a:lnTo>
                    <a:pt x="72448" y="320045"/>
                  </a:lnTo>
                  <a:lnTo>
                    <a:pt x="71510" y="320045"/>
                  </a:lnTo>
                  <a:lnTo>
                    <a:pt x="84775" y="317836"/>
                  </a:lnTo>
                  <a:lnTo>
                    <a:pt x="95806" y="310754"/>
                  </a:lnTo>
                  <a:lnTo>
                    <a:pt x="103481" y="299877"/>
                  </a:lnTo>
                  <a:lnTo>
                    <a:pt x="106679" y="286282"/>
                  </a:lnTo>
                  <a:lnTo>
                    <a:pt x="104535" y="272500"/>
                  </a:lnTo>
                  <a:lnTo>
                    <a:pt x="97730" y="261018"/>
                  </a:lnTo>
                  <a:lnTo>
                    <a:pt x="87292" y="253024"/>
                  </a:lnTo>
                  <a:lnTo>
                    <a:pt x="74245" y="249705"/>
                  </a:lnTo>
                  <a:lnTo>
                    <a:pt x="73307" y="249705"/>
                  </a:lnTo>
                  <a:lnTo>
                    <a:pt x="72448" y="249705"/>
                  </a:lnTo>
                  <a:lnTo>
                    <a:pt x="71510" y="249705"/>
                  </a:lnTo>
                  <a:lnTo>
                    <a:pt x="84775" y="247496"/>
                  </a:lnTo>
                  <a:lnTo>
                    <a:pt x="95806" y="240414"/>
                  </a:lnTo>
                  <a:lnTo>
                    <a:pt x="103481" y="229537"/>
                  </a:lnTo>
                  <a:lnTo>
                    <a:pt x="106679" y="215942"/>
                  </a:lnTo>
                  <a:lnTo>
                    <a:pt x="104535" y="202160"/>
                  </a:lnTo>
                  <a:lnTo>
                    <a:pt x="97730" y="190679"/>
                  </a:lnTo>
                  <a:lnTo>
                    <a:pt x="87292" y="182685"/>
                  </a:lnTo>
                  <a:lnTo>
                    <a:pt x="74245" y="179366"/>
                  </a:lnTo>
                  <a:lnTo>
                    <a:pt x="73307" y="179366"/>
                  </a:lnTo>
                  <a:lnTo>
                    <a:pt x="72448" y="179366"/>
                  </a:lnTo>
                  <a:lnTo>
                    <a:pt x="71510" y="179366"/>
                  </a:lnTo>
                </a:path>
                <a:path w="106680" h="552450">
                  <a:moveTo>
                    <a:pt x="71510" y="460732"/>
                  </a:moveTo>
                  <a:lnTo>
                    <a:pt x="1172" y="460732"/>
                  </a:lnTo>
                </a:path>
                <a:path w="106680" h="552450">
                  <a:moveTo>
                    <a:pt x="71510" y="179366"/>
                  </a:moveTo>
                  <a:lnTo>
                    <a:pt x="1172" y="179366"/>
                  </a:lnTo>
                </a:path>
                <a:path w="106680" h="552450">
                  <a:moveTo>
                    <a:pt x="1172" y="179366"/>
                  </a:moveTo>
                  <a:lnTo>
                    <a:pt x="0" y="0"/>
                  </a:lnTo>
                </a:path>
                <a:path w="106680" h="552450">
                  <a:moveTo>
                    <a:pt x="1172" y="552173"/>
                  </a:moveTo>
                  <a:lnTo>
                    <a:pt x="1172" y="460732"/>
                  </a:lnTo>
                </a:path>
              </a:pathLst>
            </a:custGeom>
            <a:ln w="23446">
              <a:solidFill>
                <a:srgbClr val="000000"/>
              </a:solidFill>
            </a:ln>
          </p:spPr>
          <p:txBody>
            <a:bodyPr wrap="square" lIns="0" tIns="0" rIns="0" bIns="0" rtlCol="0"/>
            <a:lstStyle/>
            <a:p>
              <a:endParaRPr sz="2400"/>
            </a:p>
          </p:txBody>
        </p:sp>
        <p:sp>
          <p:nvSpPr>
            <p:cNvPr id="47" name="object 47"/>
            <p:cNvSpPr/>
            <p:nvPr/>
          </p:nvSpPr>
          <p:spPr>
            <a:xfrm>
              <a:off x="2193102" y="2781999"/>
              <a:ext cx="281940" cy="106045"/>
            </a:xfrm>
            <a:custGeom>
              <a:avLst/>
              <a:gdLst/>
              <a:ahLst/>
              <a:cxnLst/>
              <a:rect l="l" t="t" r="r" b="b"/>
              <a:pathLst>
                <a:path w="281939" h="106044">
                  <a:moveTo>
                    <a:pt x="281352" y="35146"/>
                  </a:moveTo>
                  <a:lnTo>
                    <a:pt x="279143" y="21886"/>
                  </a:lnTo>
                  <a:lnTo>
                    <a:pt x="272061" y="10855"/>
                  </a:lnTo>
                  <a:lnTo>
                    <a:pt x="261184" y="3183"/>
                  </a:lnTo>
                  <a:lnTo>
                    <a:pt x="247589" y="0"/>
                  </a:lnTo>
                  <a:lnTo>
                    <a:pt x="233808" y="2131"/>
                  </a:lnTo>
                  <a:lnTo>
                    <a:pt x="222326" y="8943"/>
                  </a:lnTo>
                  <a:lnTo>
                    <a:pt x="214333" y="19395"/>
                  </a:lnTo>
                  <a:lnTo>
                    <a:pt x="211014" y="32442"/>
                  </a:lnTo>
                  <a:lnTo>
                    <a:pt x="211014" y="33340"/>
                  </a:lnTo>
                  <a:lnTo>
                    <a:pt x="211014" y="34247"/>
                  </a:lnTo>
                  <a:lnTo>
                    <a:pt x="211014" y="35146"/>
                  </a:lnTo>
                  <a:lnTo>
                    <a:pt x="208805" y="21886"/>
                  </a:lnTo>
                  <a:lnTo>
                    <a:pt x="201723" y="10855"/>
                  </a:lnTo>
                  <a:lnTo>
                    <a:pt x="190846" y="3183"/>
                  </a:lnTo>
                  <a:lnTo>
                    <a:pt x="177251" y="0"/>
                  </a:lnTo>
                  <a:lnTo>
                    <a:pt x="163470" y="2131"/>
                  </a:lnTo>
                  <a:lnTo>
                    <a:pt x="151988" y="8943"/>
                  </a:lnTo>
                  <a:lnTo>
                    <a:pt x="143995" y="19395"/>
                  </a:lnTo>
                  <a:lnTo>
                    <a:pt x="140676" y="32442"/>
                  </a:lnTo>
                  <a:lnTo>
                    <a:pt x="140676" y="33340"/>
                  </a:lnTo>
                  <a:lnTo>
                    <a:pt x="140676" y="34247"/>
                  </a:lnTo>
                  <a:lnTo>
                    <a:pt x="140676" y="35146"/>
                  </a:lnTo>
                  <a:lnTo>
                    <a:pt x="138467" y="21886"/>
                  </a:lnTo>
                  <a:lnTo>
                    <a:pt x="131385" y="10855"/>
                  </a:lnTo>
                  <a:lnTo>
                    <a:pt x="120508" y="3183"/>
                  </a:lnTo>
                  <a:lnTo>
                    <a:pt x="106913" y="0"/>
                  </a:lnTo>
                  <a:lnTo>
                    <a:pt x="93131" y="2131"/>
                  </a:lnTo>
                  <a:lnTo>
                    <a:pt x="81650" y="8943"/>
                  </a:lnTo>
                  <a:lnTo>
                    <a:pt x="73657" y="19395"/>
                  </a:lnTo>
                  <a:lnTo>
                    <a:pt x="70338" y="32442"/>
                  </a:lnTo>
                  <a:lnTo>
                    <a:pt x="70338" y="33340"/>
                  </a:lnTo>
                  <a:lnTo>
                    <a:pt x="70338" y="34247"/>
                  </a:lnTo>
                  <a:lnTo>
                    <a:pt x="70338" y="35146"/>
                  </a:lnTo>
                  <a:lnTo>
                    <a:pt x="68128" y="21886"/>
                  </a:lnTo>
                  <a:lnTo>
                    <a:pt x="61047" y="10855"/>
                  </a:lnTo>
                  <a:lnTo>
                    <a:pt x="50170" y="3183"/>
                  </a:lnTo>
                  <a:lnTo>
                    <a:pt x="36575" y="0"/>
                  </a:lnTo>
                  <a:lnTo>
                    <a:pt x="22793" y="2131"/>
                  </a:lnTo>
                  <a:lnTo>
                    <a:pt x="11312" y="8943"/>
                  </a:lnTo>
                  <a:lnTo>
                    <a:pt x="3319" y="19395"/>
                  </a:lnTo>
                  <a:lnTo>
                    <a:pt x="0" y="32442"/>
                  </a:lnTo>
                  <a:lnTo>
                    <a:pt x="0" y="33340"/>
                  </a:lnTo>
                  <a:lnTo>
                    <a:pt x="0" y="34247"/>
                  </a:lnTo>
                  <a:lnTo>
                    <a:pt x="0" y="35146"/>
                  </a:lnTo>
                </a:path>
                <a:path w="281939" h="106044">
                  <a:moveTo>
                    <a:pt x="281352" y="35146"/>
                  </a:moveTo>
                  <a:lnTo>
                    <a:pt x="281352" y="105485"/>
                  </a:lnTo>
                </a:path>
                <a:path w="281939" h="106044">
                  <a:moveTo>
                    <a:pt x="0" y="35146"/>
                  </a:moveTo>
                  <a:lnTo>
                    <a:pt x="0" y="105485"/>
                  </a:lnTo>
                </a:path>
              </a:pathLst>
            </a:custGeom>
            <a:ln w="23446">
              <a:solidFill>
                <a:srgbClr val="000000"/>
              </a:solidFill>
            </a:ln>
          </p:spPr>
          <p:txBody>
            <a:bodyPr wrap="square" lIns="0" tIns="0" rIns="0" bIns="0" rtlCol="0"/>
            <a:lstStyle/>
            <a:p>
              <a:endParaRPr sz="2400"/>
            </a:p>
          </p:txBody>
        </p:sp>
        <p:pic>
          <p:nvPicPr>
            <p:cNvPr id="48" name="object 48"/>
            <p:cNvPicPr/>
            <p:nvPr/>
          </p:nvPicPr>
          <p:blipFill>
            <a:blip r:embed="rId4" cstate="print"/>
            <a:stretch>
              <a:fillRect/>
            </a:stretch>
          </p:blipFill>
          <p:spPr>
            <a:xfrm>
              <a:off x="2184309" y="2501024"/>
              <a:ext cx="237977" cy="237990"/>
            </a:xfrm>
            <a:prstGeom prst="rect">
              <a:avLst/>
            </a:prstGeom>
          </p:spPr>
        </p:pic>
        <p:sp>
          <p:nvSpPr>
            <p:cNvPr id="49" name="object 49"/>
            <p:cNvSpPr/>
            <p:nvPr/>
          </p:nvSpPr>
          <p:spPr>
            <a:xfrm>
              <a:off x="2197869" y="2324197"/>
              <a:ext cx="290195" cy="279400"/>
            </a:xfrm>
            <a:custGeom>
              <a:avLst/>
              <a:gdLst/>
              <a:ahLst/>
              <a:cxnLst/>
              <a:rect l="l" t="t" r="r" b="b"/>
              <a:pathLst>
                <a:path w="290194" h="279400">
                  <a:moveTo>
                    <a:pt x="210545" y="231808"/>
                  </a:moveTo>
                  <a:lnTo>
                    <a:pt x="204918" y="238607"/>
                  </a:lnTo>
                  <a:lnTo>
                    <a:pt x="202104" y="245563"/>
                  </a:lnTo>
                  <a:lnTo>
                    <a:pt x="202026" y="259865"/>
                  </a:lnTo>
                  <a:lnTo>
                    <a:pt x="204527" y="265961"/>
                  </a:lnTo>
                  <a:lnTo>
                    <a:pt x="214999" y="276434"/>
                  </a:lnTo>
                  <a:lnTo>
                    <a:pt x="221799" y="278935"/>
                  </a:lnTo>
                  <a:lnTo>
                    <a:pt x="238055" y="278154"/>
                  </a:lnTo>
                  <a:lnTo>
                    <a:pt x="245323" y="274715"/>
                  </a:lnTo>
                  <a:lnTo>
                    <a:pt x="251888" y="268228"/>
                  </a:lnTo>
                  <a:lnTo>
                    <a:pt x="256343" y="263695"/>
                  </a:lnTo>
                  <a:lnTo>
                    <a:pt x="256830" y="262835"/>
                  </a:lnTo>
                  <a:lnTo>
                    <a:pt x="226175" y="262835"/>
                  </a:lnTo>
                  <a:lnTo>
                    <a:pt x="223206" y="261976"/>
                  </a:lnTo>
                  <a:lnTo>
                    <a:pt x="220861" y="259709"/>
                  </a:lnTo>
                  <a:lnTo>
                    <a:pt x="218751" y="257521"/>
                  </a:lnTo>
                  <a:lnTo>
                    <a:pt x="217813" y="254863"/>
                  </a:lnTo>
                  <a:lnTo>
                    <a:pt x="218216" y="249080"/>
                  </a:lnTo>
                  <a:lnTo>
                    <a:pt x="218282" y="248142"/>
                  </a:lnTo>
                  <a:lnTo>
                    <a:pt x="219923" y="244703"/>
                  </a:lnTo>
                  <a:lnTo>
                    <a:pt x="222906" y="241108"/>
                  </a:lnTo>
                  <a:lnTo>
                    <a:pt x="223076" y="241108"/>
                  </a:lnTo>
                  <a:lnTo>
                    <a:pt x="210545" y="231808"/>
                  </a:lnTo>
                  <a:close/>
                </a:path>
                <a:path w="290194" h="279400">
                  <a:moveTo>
                    <a:pt x="250481" y="223054"/>
                  </a:moveTo>
                  <a:lnTo>
                    <a:pt x="238133" y="232902"/>
                  </a:lnTo>
                  <a:lnTo>
                    <a:pt x="240790" y="234230"/>
                  </a:lnTo>
                  <a:lnTo>
                    <a:pt x="242900" y="235637"/>
                  </a:lnTo>
                  <a:lnTo>
                    <a:pt x="246495" y="239232"/>
                  </a:lnTo>
                  <a:lnTo>
                    <a:pt x="247355" y="242046"/>
                  </a:lnTo>
                  <a:lnTo>
                    <a:pt x="246542" y="248142"/>
                  </a:lnTo>
                  <a:lnTo>
                    <a:pt x="246417" y="249080"/>
                  </a:lnTo>
                  <a:lnTo>
                    <a:pt x="226175" y="262835"/>
                  </a:lnTo>
                  <a:lnTo>
                    <a:pt x="256830" y="262835"/>
                  </a:lnTo>
                  <a:lnTo>
                    <a:pt x="259000" y="259006"/>
                  </a:lnTo>
                  <a:lnTo>
                    <a:pt x="260846" y="249080"/>
                  </a:lnTo>
                  <a:lnTo>
                    <a:pt x="260876" y="248924"/>
                  </a:lnTo>
                  <a:lnTo>
                    <a:pt x="260160" y="244703"/>
                  </a:lnTo>
                  <a:lnTo>
                    <a:pt x="260094" y="244312"/>
                  </a:lnTo>
                  <a:lnTo>
                    <a:pt x="257749" y="240170"/>
                  </a:lnTo>
                  <a:lnTo>
                    <a:pt x="269807" y="240170"/>
                  </a:lnTo>
                  <a:lnTo>
                    <a:pt x="274552" y="238842"/>
                  </a:lnTo>
                  <a:lnTo>
                    <a:pt x="277991" y="236810"/>
                  </a:lnTo>
                  <a:lnTo>
                    <a:pt x="285728" y="229072"/>
                  </a:lnTo>
                  <a:lnTo>
                    <a:pt x="286364" y="227665"/>
                  </a:lnTo>
                  <a:lnTo>
                    <a:pt x="256733" y="227665"/>
                  </a:lnTo>
                  <a:lnTo>
                    <a:pt x="253295" y="225946"/>
                  </a:lnTo>
                  <a:lnTo>
                    <a:pt x="250481" y="223054"/>
                  </a:lnTo>
                  <a:close/>
                </a:path>
                <a:path w="290194" h="279400">
                  <a:moveTo>
                    <a:pt x="243369" y="159436"/>
                  </a:moveTo>
                  <a:lnTo>
                    <a:pt x="220705" y="159436"/>
                  </a:lnTo>
                  <a:lnTo>
                    <a:pt x="227895" y="166626"/>
                  </a:lnTo>
                  <a:lnTo>
                    <a:pt x="228911" y="169284"/>
                  </a:lnTo>
                  <a:lnTo>
                    <a:pt x="228709" y="173113"/>
                  </a:lnTo>
                  <a:lnTo>
                    <a:pt x="228598" y="175223"/>
                  </a:lnTo>
                  <a:lnTo>
                    <a:pt x="226879" y="178271"/>
                  </a:lnTo>
                  <a:lnTo>
                    <a:pt x="220861" y="184289"/>
                  </a:lnTo>
                  <a:lnTo>
                    <a:pt x="217188" y="186321"/>
                  </a:lnTo>
                  <a:lnTo>
                    <a:pt x="212577" y="187494"/>
                  </a:lnTo>
                  <a:lnTo>
                    <a:pt x="209451" y="188353"/>
                  </a:lnTo>
                  <a:lnTo>
                    <a:pt x="202651" y="189135"/>
                  </a:lnTo>
                  <a:lnTo>
                    <a:pt x="192179" y="189760"/>
                  </a:lnTo>
                  <a:lnTo>
                    <a:pt x="182700" y="190542"/>
                  </a:lnTo>
                  <a:lnTo>
                    <a:pt x="145052" y="204063"/>
                  </a:lnTo>
                  <a:lnTo>
                    <a:pt x="184285" y="243296"/>
                  </a:lnTo>
                  <a:lnTo>
                    <a:pt x="197024" y="230635"/>
                  </a:lnTo>
                  <a:lnTo>
                    <a:pt x="174750" y="208361"/>
                  </a:lnTo>
                  <a:lnTo>
                    <a:pt x="176548" y="207736"/>
                  </a:lnTo>
                  <a:lnTo>
                    <a:pt x="178580" y="207267"/>
                  </a:lnTo>
                  <a:lnTo>
                    <a:pt x="180846" y="206876"/>
                  </a:lnTo>
                  <a:lnTo>
                    <a:pt x="183113" y="206564"/>
                  </a:lnTo>
                  <a:lnTo>
                    <a:pt x="187052" y="206251"/>
                  </a:lnTo>
                  <a:lnTo>
                    <a:pt x="186760" y="206251"/>
                  </a:lnTo>
                  <a:lnTo>
                    <a:pt x="226410" y="198748"/>
                  </a:lnTo>
                  <a:lnTo>
                    <a:pt x="230005" y="196872"/>
                  </a:lnTo>
                  <a:lnTo>
                    <a:pt x="233209" y="194450"/>
                  </a:lnTo>
                  <a:lnTo>
                    <a:pt x="236063" y="191519"/>
                  </a:lnTo>
                  <a:lnTo>
                    <a:pt x="241259" y="186321"/>
                  </a:lnTo>
                  <a:lnTo>
                    <a:pt x="244229" y="180225"/>
                  </a:lnTo>
                  <a:lnTo>
                    <a:pt x="245089" y="173113"/>
                  </a:lnTo>
                  <a:lnTo>
                    <a:pt x="245839" y="167486"/>
                  </a:lnTo>
                  <a:lnTo>
                    <a:pt x="245953" y="166626"/>
                  </a:lnTo>
                  <a:lnTo>
                    <a:pt x="246026" y="166079"/>
                  </a:lnTo>
                  <a:lnTo>
                    <a:pt x="243369" y="159436"/>
                  </a:lnTo>
                  <a:close/>
                </a:path>
                <a:path w="290194" h="279400">
                  <a:moveTo>
                    <a:pt x="269807" y="240170"/>
                  </a:moveTo>
                  <a:lnTo>
                    <a:pt x="257749" y="240170"/>
                  </a:lnTo>
                  <a:lnTo>
                    <a:pt x="262439" y="241108"/>
                  </a:lnTo>
                  <a:lnTo>
                    <a:pt x="266458" y="241108"/>
                  </a:lnTo>
                  <a:lnTo>
                    <a:pt x="269807" y="240170"/>
                  </a:lnTo>
                  <a:close/>
                </a:path>
                <a:path w="290194" h="279400">
                  <a:moveTo>
                    <a:pt x="288373" y="206251"/>
                  </a:moveTo>
                  <a:lnTo>
                    <a:pt x="266112" y="206251"/>
                  </a:lnTo>
                  <a:lnTo>
                    <a:pt x="268535" y="207111"/>
                  </a:lnTo>
                  <a:lnTo>
                    <a:pt x="272286" y="210862"/>
                  </a:lnTo>
                  <a:lnTo>
                    <a:pt x="273146" y="213050"/>
                  </a:lnTo>
                  <a:lnTo>
                    <a:pt x="272945" y="216411"/>
                  </a:lnTo>
                  <a:lnTo>
                    <a:pt x="272833" y="218287"/>
                  </a:lnTo>
                  <a:lnTo>
                    <a:pt x="271504" y="220788"/>
                  </a:lnTo>
                  <a:lnTo>
                    <a:pt x="269003" y="223211"/>
                  </a:lnTo>
                  <a:lnTo>
                    <a:pt x="266112" y="226180"/>
                  </a:lnTo>
                  <a:lnTo>
                    <a:pt x="262986" y="227665"/>
                  </a:lnTo>
                  <a:lnTo>
                    <a:pt x="286364" y="227665"/>
                  </a:lnTo>
                  <a:lnTo>
                    <a:pt x="288307" y="223367"/>
                  </a:lnTo>
                  <a:lnTo>
                    <a:pt x="289011" y="216411"/>
                  </a:lnTo>
                  <a:lnTo>
                    <a:pt x="289494" y="211097"/>
                  </a:lnTo>
                  <a:lnTo>
                    <a:pt x="289515" y="210862"/>
                  </a:lnTo>
                  <a:lnTo>
                    <a:pt x="289636" y="209533"/>
                  </a:lnTo>
                  <a:lnTo>
                    <a:pt x="288764" y="207267"/>
                  </a:lnTo>
                  <a:lnTo>
                    <a:pt x="288704" y="207111"/>
                  </a:lnTo>
                  <a:lnTo>
                    <a:pt x="288614" y="206876"/>
                  </a:lnTo>
                  <a:lnTo>
                    <a:pt x="288494" y="206564"/>
                  </a:lnTo>
                  <a:lnTo>
                    <a:pt x="288373" y="206251"/>
                  </a:lnTo>
                  <a:close/>
                </a:path>
                <a:path w="290194" h="279400">
                  <a:moveTo>
                    <a:pt x="259781" y="190542"/>
                  </a:moveTo>
                  <a:lnTo>
                    <a:pt x="252904" y="193199"/>
                  </a:lnTo>
                  <a:lnTo>
                    <a:pt x="245215" y="198748"/>
                  </a:lnTo>
                  <a:lnTo>
                    <a:pt x="245375" y="198748"/>
                  </a:lnTo>
                  <a:lnTo>
                    <a:pt x="253529" y="211097"/>
                  </a:lnTo>
                  <a:lnTo>
                    <a:pt x="256968" y="208205"/>
                  </a:lnTo>
                  <a:lnTo>
                    <a:pt x="260172" y="206720"/>
                  </a:lnTo>
                  <a:lnTo>
                    <a:pt x="266112" y="206251"/>
                  </a:lnTo>
                  <a:lnTo>
                    <a:pt x="288373" y="206251"/>
                  </a:lnTo>
                  <a:lnTo>
                    <a:pt x="287291" y="203437"/>
                  </a:lnTo>
                  <a:lnTo>
                    <a:pt x="281977" y="198045"/>
                  </a:lnTo>
                  <a:lnTo>
                    <a:pt x="277288" y="193355"/>
                  </a:lnTo>
                  <a:lnTo>
                    <a:pt x="271895" y="190933"/>
                  </a:lnTo>
                  <a:lnTo>
                    <a:pt x="265799" y="190698"/>
                  </a:lnTo>
                  <a:lnTo>
                    <a:pt x="259781" y="190542"/>
                  </a:lnTo>
                  <a:close/>
                </a:path>
                <a:path w="290194" h="279400">
                  <a:moveTo>
                    <a:pt x="158669" y="151152"/>
                  </a:moveTo>
                  <a:lnTo>
                    <a:pt x="140441" y="151152"/>
                  </a:lnTo>
                  <a:lnTo>
                    <a:pt x="129500" y="187494"/>
                  </a:lnTo>
                  <a:lnTo>
                    <a:pt x="129343" y="188353"/>
                  </a:lnTo>
                  <a:lnTo>
                    <a:pt x="143489" y="202499"/>
                  </a:lnTo>
                  <a:lnTo>
                    <a:pt x="158669" y="151152"/>
                  </a:lnTo>
                  <a:close/>
                </a:path>
                <a:path w="290194" h="279400">
                  <a:moveTo>
                    <a:pt x="225889" y="145134"/>
                  </a:moveTo>
                  <a:lnTo>
                    <a:pt x="212030" y="145134"/>
                  </a:lnTo>
                  <a:lnTo>
                    <a:pt x="204683" y="148416"/>
                  </a:lnTo>
                  <a:lnTo>
                    <a:pt x="196712" y="154981"/>
                  </a:lnTo>
                  <a:lnTo>
                    <a:pt x="206481" y="167486"/>
                  </a:lnTo>
                  <a:lnTo>
                    <a:pt x="214296" y="160452"/>
                  </a:lnTo>
                  <a:lnTo>
                    <a:pt x="220705" y="159436"/>
                  </a:lnTo>
                  <a:lnTo>
                    <a:pt x="243369" y="159436"/>
                  </a:lnTo>
                  <a:lnTo>
                    <a:pt x="237273" y="153340"/>
                  </a:lnTo>
                  <a:lnTo>
                    <a:pt x="231646" y="147791"/>
                  </a:lnTo>
                  <a:lnTo>
                    <a:pt x="225889" y="145134"/>
                  </a:lnTo>
                  <a:close/>
                </a:path>
                <a:path w="290194" h="279400">
                  <a:moveTo>
                    <a:pt x="162246" y="78780"/>
                  </a:moveTo>
                  <a:lnTo>
                    <a:pt x="146459" y="131300"/>
                  </a:lnTo>
                  <a:lnTo>
                    <a:pt x="89173" y="148182"/>
                  </a:lnTo>
                  <a:lnTo>
                    <a:pt x="103318" y="162328"/>
                  </a:lnTo>
                  <a:lnTo>
                    <a:pt x="140441" y="151152"/>
                  </a:lnTo>
                  <a:lnTo>
                    <a:pt x="158669" y="151152"/>
                  </a:lnTo>
                  <a:lnTo>
                    <a:pt x="160448" y="145134"/>
                  </a:lnTo>
                  <a:lnTo>
                    <a:pt x="212889" y="129424"/>
                  </a:lnTo>
                  <a:lnTo>
                    <a:pt x="208881" y="125439"/>
                  </a:lnTo>
                  <a:lnTo>
                    <a:pt x="166310" y="125439"/>
                  </a:lnTo>
                  <a:lnTo>
                    <a:pt x="176001" y="92613"/>
                  </a:lnTo>
                  <a:lnTo>
                    <a:pt x="162246" y="78780"/>
                  </a:lnTo>
                  <a:close/>
                </a:path>
                <a:path w="290194" h="279400">
                  <a:moveTo>
                    <a:pt x="138253" y="72059"/>
                  </a:moveTo>
                  <a:lnTo>
                    <a:pt x="115901" y="72059"/>
                  </a:lnTo>
                  <a:lnTo>
                    <a:pt x="64476" y="123485"/>
                  </a:lnTo>
                  <a:lnTo>
                    <a:pt x="75652" y="134661"/>
                  </a:lnTo>
                  <a:lnTo>
                    <a:pt x="138253" y="72059"/>
                  </a:lnTo>
                  <a:close/>
                </a:path>
                <a:path w="290194" h="279400">
                  <a:moveTo>
                    <a:pt x="199212" y="115825"/>
                  </a:moveTo>
                  <a:lnTo>
                    <a:pt x="166310" y="125439"/>
                  </a:lnTo>
                  <a:lnTo>
                    <a:pt x="208881" y="125439"/>
                  </a:lnTo>
                  <a:lnTo>
                    <a:pt x="199212" y="115825"/>
                  </a:lnTo>
                  <a:close/>
                </a:path>
                <a:path w="290194" h="279400">
                  <a:moveTo>
                    <a:pt x="98316" y="14380"/>
                  </a:moveTo>
                  <a:lnTo>
                    <a:pt x="75652" y="14380"/>
                  </a:lnTo>
                  <a:lnTo>
                    <a:pt x="82842" y="21570"/>
                  </a:lnTo>
                  <a:lnTo>
                    <a:pt x="83858" y="24149"/>
                  </a:lnTo>
                  <a:lnTo>
                    <a:pt x="67524" y="42438"/>
                  </a:lnTo>
                  <a:lnTo>
                    <a:pt x="64398" y="43297"/>
                  </a:lnTo>
                  <a:lnTo>
                    <a:pt x="57599" y="44079"/>
                  </a:lnTo>
                  <a:lnTo>
                    <a:pt x="47126" y="44704"/>
                  </a:lnTo>
                  <a:lnTo>
                    <a:pt x="37805" y="45466"/>
                  </a:lnTo>
                  <a:lnTo>
                    <a:pt x="0" y="59007"/>
                  </a:lnTo>
                  <a:lnTo>
                    <a:pt x="39233" y="98241"/>
                  </a:lnTo>
                  <a:lnTo>
                    <a:pt x="51893" y="85579"/>
                  </a:lnTo>
                  <a:lnTo>
                    <a:pt x="29698" y="63305"/>
                  </a:lnTo>
                  <a:lnTo>
                    <a:pt x="31495" y="62680"/>
                  </a:lnTo>
                  <a:lnTo>
                    <a:pt x="33527" y="62133"/>
                  </a:lnTo>
                  <a:lnTo>
                    <a:pt x="37982" y="61508"/>
                  </a:lnTo>
                  <a:lnTo>
                    <a:pt x="42984" y="61117"/>
                  </a:lnTo>
                  <a:lnTo>
                    <a:pt x="58771" y="60179"/>
                  </a:lnTo>
                  <a:lnTo>
                    <a:pt x="65023" y="59397"/>
                  </a:lnTo>
                  <a:lnTo>
                    <a:pt x="99176" y="35169"/>
                  </a:lnTo>
                  <a:lnTo>
                    <a:pt x="100725" y="22430"/>
                  </a:lnTo>
                  <a:lnTo>
                    <a:pt x="100829" y="21570"/>
                  </a:lnTo>
                  <a:lnTo>
                    <a:pt x="100896" y="21023"/>
                  </a:lnTo>
                  <a:lnTo>
                    <a:pt x="98316" y="14380"/>
                  </a:lnTo>
                  <a:close/>
                </a:path>
                <a:path w="290194" h="279400">
                  <a:moveTo>
                    <a:pt x="103475" y="55490"/>
                  </a:moveTo>
                  <a:lnTo>
                    <a:pt x="91126" y="67916"/>
                  </a:lnTo>
                  <a:lnTo>
                    <a:pt x="98785" y="71199"/>
                  </a:lnTo>
                  <a:lnTo>
                    <a:pt x="107070" y="72527"/>
                  </a:lnTo>
                  <a:lnTo>
                    <a:pt x="115901" y="72059"/>
                  </a:lnTo>
                  <a:lnTo>
                    <a:pt x="138253" y="72059"/>
                  </a:lnTo>
                  <a:lnTo>
                    <a:pt x="147006" y="63305"/>
                  </a:lnTo>
                  <a:lnTo>
                    <a:pt x="147162" y="63305"/>
                  </a:lnTo>
                  <a:lnTo>
                    <a:pt x="142435" y="58538"/>
                  </a:lnTo>
                  <a:lnTo>
                    <a:pt x="123169" y="58538"/>
                  </a:lnTo>
                  <a:lnTo>
                    <a:pt x="113322" y="58303"/>
                  </a:lnTo>
                  <a:lnTo>
                    <a:pt x="107851" y="57365"/>
                  </a:lnTo>
                  <a:lnTo>
                    <a:pt x="103475" y="55490"/>
                  </a:lnTo>
                  <a:close/>
                </a:path>
                <a:path w="290194" h="279400">
                  <a:moveTo>
                    <a:pt x="138097" y="54161"/>
                  </a:moveTo>
                  <a:lnTo>
                    <a:pt x="132548" y="57053"/>
                  </a:lnTo>
                  <a:lnTo>
                    <a:pt x="126530" y="58538"/>
                  </a:lnTo>
                  <a:lnTo>
                    <a:pt x="142435" y="58538"/>
                  </a:lnTo>
                  <a:lnTo>
                    <a:pt x="138097" y="54161"/>
                  </a:lnTo>
                  <a:close/>
                </a:path>
                <a:path w="290194" h="279400">
                  <a:moveTo>
                    <a:pt x="80667" y="0"/>
                  </a:moveTo>
                  <a:lnTo>
                    <a:pt x="66977" y="0"/>
                  </a:lnTo>
                  <a:lnTo>
                    <a:pt x="59631" y="3360"/>
                  </a:lnTo>
                  <a:lnTo>
                    <a:pt x="51659" y="9925"/>
                  </a:lnTo>
                  <a:lnTo>
                    <a:pt x="61428" y="22430"/>
                  </a:lnTo>
                  <a:lnTo>
                    <a:pt x="69243" y="15396"/>
                  </a:lnTo>
                  <a:lnTo>
                    <a:pt x="75652" y="14380"/>
                  </a:lnTo>
                  <a:lnTo>
                    <a:pt x="98316" y="14380"/>
                  </a:lnTo>
                  <a:lnTo>
                    <a:pt x="92220" y="8284"/>
                  </a:lnTo>
                  <a:lnTo>
                    <a:pt x="86593" y="2735"/>
                  </a:lnTo>
                  <a:lnTo>
                    <a:pt x="80667" y="0"/>
                  </a:lnTo>
                  <a:close/>
                </a:path>
              </a:pathLst>
            </a:custGeom>
            <a:solidFill>
              <a:srgbClr val="000000"/>
            </a:solidFill>
          </p:spPr>
          <p:txBody>
            <a:bodyPr wrap="square" lIns="0" tIns="0" rIns="0" bIns="0" rtlCol="0"/>
            <a:lstStyle/>
            <a:p>
              <a:endParaRPr sz="2400"/>
            </a:p>
          </p:txBody>
        </p:sp>
        <p:pic>
          <p:nvPicPr>
            <p:cNvPr id="50" name="object 50"/>
            <p:cNvPicPr/>
            <p:nvPr/>
          </p:nvPicPr>
          <p:blipFill>
            <a:blip r:embed="rId5" cstate="print"/>
            <a:stretch>
              <a:fillRect/>
            </a:stretch>
          </p:blipFill>
          <p:spPr>
            <a:xfrm>
              <a:off x="2417324" y="2570855"/>
              <a:ext cx="236492" cy="177412"/>
            </a:xfrm>
            <a:prstGeom prst="rect">
              <a:avLst/>
            </a:prstGeom>
          </p:spPr>
        </p:pic>
        <p:sp>
          <p:nvSpPr>
            <p:cNvPr id="51" name="object 51"/>
            <p:cNvSpPr/>
            <p:nvPr/>
          </p:nvSpPr>
          <p:spPr>
            <a:xfrm>
              <a:off x="2003971" y="2866524"/>
              <a:ext cx="45720" cy="45085"/>
            </a:xfrm>
            <a:custGeom>
              <a:avLst/>
              <a:gdLst/>
              <a:ahLst/>
              <a:cxnLst/>
              <a:rect l="l" t="t" r="r" b="b"/>
              <a:pathLst>
                <a:path w="45719" h="45085">
                  <a:moveTo>
                    <a:pt x="22664" y="0"/>
                  </a:moveTo>
                  <a:lnTo>
                    <a:pt x="13847" y="1769"/>
                  </a:lnTo>
                  <a:lnTo>
                    <a:pt x="6643" y="6594"/>
                  </a:lnTo>
                  <a:lnTo>
                    <a:pt x="1782" y="13749"/>
                  </a:lnTo>
                  <a:lnTo>
                    <a:pt x="0" y="22508"/>
                  </a:lnTo>
                  <a:lnTo>
                    <a:pt x="1782" y="31271"/>
                  </a:lnTo>
                  <a:lnTo>
                    <a:pt x="6643" y="38425"/>
                  </a:lnTo>
                  <a:lnTo>
                    <a:pt x="13847" y="43248"/>
                  </a:lnTo>
                  <a:lnTo>
                    <a:pt x="22664" y="45017"/>
                  </a:lnTo>
                  <a:lnTo>
                    <a:pt x="31481" y="43248"/>
                  </a:lnTo>
                  <a:lnTo>
                    <a:pt x="38685" y="38425"/>
                  </a:lnTo>
                  <a:lnTo>
                    <a:pt x="43546" y="31271"/>
                  </a:lnTo>
                  <a:lnTo>
                    <a:pt x="45328" y="22508"/>
                  </a:lnTo>
                  <a:lnTo>
                    <a:pt x="43546" y="13749"/>
                  </a:lnTo>
                  <a:lnTo>
                    <a:pt x="38685" y="6594"/>
                  </a:lnTo>
                  <a:lnTo>
                    <a:pt x="31481" y="1769"/>
                  </a:lnTo>
                  <a:lnTo>
                    <a:pt x="22664" y="0"/>
                  </a:lnTo>
                  <a:close/>
                </a:path>
              </a:pathLst>
            </a:custGeom>
            <a:solidFill>
              <a:srgbClr val="000000"/>
            </a:solidFill>
          </p:spPr>
          <p:txBody>
            <a:bodyPr wrap="square" lIns="0" tIns="0" rIns="0" bIns="0" rtlCol="0"/>
            <a:lstStyle/>
            <a:p>
              <a:endParaRPr sz="2400"/>
            </a:p>
          </p:txBody>
        </p:sp>
        <p:sp>
          <p:nvSpPr>
            <p:cNvPr id="52" name="object 52"/>
            <p:cNvSpPr/>
            <p:nvPr/>
          </p:nvSpPr>
          <p:spPr>
            <a:xfrm>
              <a:off x="2003971" y="2866524"/>
              <a:ext cx="45720" cy="45085"/>
            </a:xfrm>
            <a:custGeom>
              <a:avLst/>
              <a:gdLst/>
              <a:ahLst/>
              <a:cxnLst/>
              <a:rect l="l" t="t" r="r" b="b"/>
              <a:pathLst>
                <a:path w="45719" h="45085">
                  <a:moveTo>
                    <a:pt x="0" y="22508"/>
                  </a:moveTo>
                  <a:lnTo>
                    <a:pt x="1782" y="13749"/>
                  </a:lnTo>
                  <a:lnTo>
                    <a:pt x="6643" y="6594"/>
                  </a:lnTo>
                  <a:lnTo>
                    <a:pt x="13847" y="1769"/>
                  </a:lnTo>
                  <a:lnTo>
                    <a:pt x="22664" y="0"/>
                  </a:lnTo>
                  <a:lnTo>
                    <a:pt x="31481" y="1769"/>
                  </a:lnTo>
                  <a:lnTo>
                    <a:pt x="38685" y="6594"/>
                  </a:lnTo>
                  <a:lnTo>
                    <a:pt x="43546" y="13749"/>
                  </a:lnTo>
                  <a:lnTo>
                    <a:pt x="45328" y="22508"/>
                  </a:lnTo>
                  <a:lnTo>
                    <a:pt x="43546" y="31271"/>
                  </a:lnTo>
                  <a:lnTo>
                    <a:pt x="38685" y="38425"/>
                  </a:lnTo>
                  <a:lnTo>
                    <a:pt x="31481" y="43248"/>
                  </a:lnTo>
                  <a:lnTo>
                    <a:pt x="22664" y="45017"/>
                  </a:lnTo>
                  <a:lnTo>
                    <a:pt x="13847" y="43248"/>
                  </a:lnTo>
                  <a:lnTo>
                    <a:pt x="6643" y="38425"/>
                  </a:lnTo>
                  <a:lnTo>
                    <a:pt x="1782" y="31271"/>
                  </a:lnTo>
                  <a:lnTo>
                    <a:pt x="0" y="22508"/>
                  </a:lnTo>
                  <a:close/>
                </a:path>
              </a:pathLst>
            </a:custGeom>
            <a:ln w="3175">
              <a:solidFill>
                <a:srgbClr val="000000"/>
              </a:solidFill>
            </a:ln>
          </p:spPr>
          <p:txBody>
            <a:bodyPr wrap="square" lIns="0" tIns="0" rIns="0" bIns="0" rtlCol="0"/>
            <a:lstStyle/>
            <a:p>
              <a:endParaRPr sz="2400"/>
            </a:p>
          </p:txBody>
        </p:sp>
        <p:sp>
          <p:nvSpPr>
            <p:cNvPr id="53" name="object 53"/>
            <p:cNvSpPr/>
            <p:nvPr/>
          </p:nvSpPr>
          <p:spPr>
            <a:xfrm>
              <a:off x="1475654" y="2868087"/>
              <a:ext cx="45720" cy="45085"/>
            </a:xfrm>
            <a:custGeom>
              <a:avLst/>
              <a:gdLst/>
              <a:ahLst/>
              <a:cxnLst/>
              <a:rect l="l" t="t" r="r" b="b"/>
              <a:pathLst>
                <a:path w="45719" h="45085">
                  <a:moveTo>
                    <a:pt x="22664" y="0"/>
                  </a:moveTo>
                  <a:lnTo>
                    <a:pt x="13847" y="1769"/>
                  </a:lnTo>
                  <a:lnTo>
                    <a:pt x="6643" y="6594"/>
                  </a:lnTo>
                  <a:lnTo>
                    <a:pt x="1782" y="13749"/>
                  </a:lnTo>
                  <a:lnTo>
                    <a:pt x="0" y="22508"/>
                  </a:lnTo>
                  <a:lnTo>
                    <a:pt x="1782" y="31271"/>
                  </a:lnTo>
                  <a:lnTo>
                    <a:pt x="6643" y="38425"/>
                  </a:lnTo>
                  <a:lnTo>
                    <a:pt x="13847" y="43248"/>
                  </a:lnTo>
                  <a:lnTo>
                    <a:pt x="22664" y="45017"/>
                  </a:lnTo>
                  <a:lnTo>
                    <a:pt x="31481" y="43248"/>
                  </a:lnTo>
                  <a:lnTo>
                    <a:pt x="38685" y="38425"/>
                  </a:lnTo>
                  <a:lnTo>
                    <a:pt x="43546" y="31271"/>
                  </a:lnTo>
                  <a:lnTo>
                    <a:pt x="45328" y="22508"/>
                  </a:lnTo>
                  <a:lnTo>
                    <a:pt x="43546" y="13749"/>
                  </a:lnTo>
                  <a:lnTo>
                    <a:pt x="38685" y="6594"/>
                  </a:lnTo>
                  <a:lnTo>
                    <a:pt x="31481" y="1769"/>
                  </a:lnTo>
                  <a:lnTo>
                    <a:pt x="22664" y="0"/>
                  </a:lnTo>
                  <a:close/>
                </a:path>
              </a:pathLst>
            </a:custGeom>
            <a:solidFill>
              <a:srgbClr val="000000"/>
            </a:solidFill>
          </p:spPr>
          <p:txBody>
            <a:bodyPr wrap="square" lIns="0" tIns="0" rIns="0" bIns="0" rtlCol="0"/>
            <a:lstStyle/>
            <a:p>
              <a:endParaRPr sz="2400"/>
            </a:p>
          </p:txBody>
        </p:sp>
        <p:sp>
          <p:nvSpPr>
            <p:cNvPr id="54" name="object 54"/>
            <p:cNvSpPr/>
            <p:nvPr/>
          </p:nvSpPr>
          <p:spPr>
            <a:xfrm>
              <a:off x="1475654" y="2868087"/>
              <a:ext cx="45720" cy="45085"/>
            </a:xfrm>
            <a:custGeom>
              <a:avLst/>
              <a:gdLst/>
              <a:ahLst/>
              <a:cxnLst/>
              <a:rect l="l" t="t" r="r" b="b"/>
              <a:pathLst>
                <a:path w="45719" h="45085">
                  <a:moveTo>
                    <a:pt x="0" y="22508"/>
                  </a:moveTo>
                  <a:lnTo>
                    <a:pt x="1782" y="13749"/>
                  </a:lnTo>
                  <a:lnTo>
                    <a:pt x="6643" y="6594"/>
                  </a:lnTo>
                  <a:lnTo>
                    <a:pt x="13847" y="1769"/>
                  </a:lnTo>
                  <a:lnTo>
                    <a:pt x="22664" y="0"/>
                  </a:lnTo>
                  <a:lnTo>
                    <a:pt x="31481" y="1769"/>
                  </a:lnTo>
                  <a:lnTo>
                    <a:pt x="38685" y="6594"/>
                  </a:lnTo>
                  <a:lnTo>
                    <a:pt x="43546" y="13749"/>
                  </a:lnTo>
                  <a:lnTo>
                    <a:pt x="45328" y="22508"/>
                  </a:lnTo>
                  <a:lnTo>
                    <a:pt x="43546" y="31271"/>
                  </a:lnTo>
                  <a:lnTo>
                    <a:pt x="38685" y="38425"/>
                  </a:lnTo>
                  <a:lnTo>
                    <a:pt x="31481" y="43248"/>
                  </a:lnTo>
                  <a:lnTo>
                    <a:pt x="22664" y="45017"/>
                  </a:lnTo>
                  <a:lnTo>
                    <a:pt x="13847" y="43248"/>
                  </a:lnTo>
                  <a:lnTo>
                    <a:pt x="6643" y="38425"/>
                  </a:lnTo>
                  <a:lnTo>
                    <a:pt x="1782" y="31271"/>
                  </a:lnTo>
                  <a:lnTo>
                    <a:pt x="0" y="22508"/>
                  </a:lnTo>
                  <a:close/>
                </a:path>
              </a:pathLst>
            </a:custGeom>
            <a:ln w="3175">
              <a:solidFill>
                <a:srgbClr val="000000"/>
              </a:solidFill>
            </a:ln>
          </p:spPr>
          <p:txBody>
            <a:bodyPr wrap="square" lIns="0" tIns="0" rIns="0" bIns="0" rtlCol="0"/>
            <a:lstStyle/>
            <a:p>
              <a:endParaRPr sz="2400"/>
            </a:p>
          </p:txBody>
        </p:sp>
        <p:sp>
          <p:nvSpPr>
            <p:cNvPr id="55" name="object 55"/>
            <p:cNvSpPr/>
            <p:nvPr/>
          </p:nvSpPr>
          <p:spPr>
            <a:xfrm>
              <a:off x="2594029" y="2770846"/>
              <a:ext cx="269875" cy="234950"/>
            </a:xfrm>
            <a:custGeom>
              <a:avLst/>
              <a:gdLst/>
              <a:ahLst/>
              <a:cxnLst/>
              <a:rect l="l" t="t" r="r" b="b"/>
              <a:pathLst>
                <a:path w="269875" h="234950">
                  <a:moveTo>
                    <a:pt x="35169" y="117201"/>
                  </a:moveTo>
                  <a:lnTo>
                    <a:pt x="35169" y="126916"/>
                  </a:lnTo>
                  <a:lnTo>
                    <a:pt x="27275" y="134786"/>
                  </a:lnTo>
                  <a:lnTo>
                    <a:pt x="17584" y="134786"/>
                  </a:lnTo>
                  <a:lnTo>
                    <a:pt x="7893" y="134786"/>
                  </a:lnTo>
                  <a:lnTo>
                    <a:pt x="0" y="126916"/>
                  </a:lnTo>
                  <a:lnTo>
                    <a:pt x="0" y="117201"/>
                  </a:lnTo>
                  <a:lnTo>
                    <a:pt x="0" y="107494"/>
                  </a:lnTo>
                  <a:lnTo>
                    <a:pt x="7893" y="99624"/>
                  </a:lnTo>
                  <a:lnTo>
                    <a:pt x="17584" y="99624"/>
                  </a:lnTo>
                  <a:lnTo>
                    <a:pt x="27275" y="99624"/>
                  </a:lnTo>
                  <a:lnTo>
                    <a:pt x="35169" y="107494"/>
                  </a:lnTo>
                  <a:lnTo>
                    <a:pt x="35169" y="117201"/>
                  </a:lnTo>
                  <a:close/>
                </a:path>
                <a:path w="269875" h="234950">
                  <a:moveTo>
                    <a:pt x="269551" y="0"/>
                  </a:moveTo>
                  <a:lnTo>
                    <a:pt x="35169" y="117201"/>
                  </a:lnTo>
                  <a:lnTo>
                    <a:pt x="269551" y="234402"/>
                  </a:lnTo>
                  <a:lnTo>
                    <a:pt x="269551" y="0"/>
                  </a:lnTo>
                  <a:close/>
                </a:path>
              </a:pathLst>
            </a:custGeom>
            <a:ln w="23446">
              <a:solidFill>
                <a:srgbClr val="000000"/>
              </a:solidFill>
            </a:ln>
          </p:spPr>
          <p:txBody>
            <a:bodyPr wrap="square" lIns="0" tIns="0" rIns="0" bIns="0" rtlCol="0"/>
            <a:lstStyle/>
            <a:p>
              <a:endParaRPr sz="2400"/>
            </a:p>
          </p:txBody>
        </p:sp>
        <p:sp>
          <p:nvSpPr>
            <p:cNvPr id="56" name="object 56"/>
            <p:cNvSpPr/>
            <p:nvPr/>
          </p:nvSpPr>
          <p:spPr>
            <a:xfrm>
              <a:off x="2462731" y="2875762"/>
              <a:ext cx="127635" cy="23495"/>
            </a:xfrm>
            <a:custGeom>
              <a:avLst/>
              <a:gdLst/>
              <a:ahLst/>
              <a:cxnLst/>
              <a:rect l="l" t="t" r="r" b="b"/>
              <a:pathLst>
                <a:path w="127635" h="23494">
                  <a:moveTo>
                    <a:pt x="127546" y="0"/>
                  </a:moveTo>
                  <a:lnTo>
                    <a:pt x="0" y="0"/>
                  </a:lnTo>
                  <a:lnTo>
                    <a:pt x="0" y="23446"/>
                  </a:lnTo>
                  <a:lnTo>
                    <a:pt x="127546" y="23446"/>
                  </a:lnTo>
                  <a:lnTo>
                    <a:pt x="127546" y="0"/>
                  </a:lnTo>
                  <a:close/>
                </a:path>
              </a:pathLst>
            </a:custGeom>
            <a:solidFill>
              <a:srgbClr val="000000"/>
            </a:solidFill>
          </p:spPr>
          <p:txBody>
            <a:bodyPr wrap="square" lIns="0" tIns="0" rIns="0" bIns="0" rtlCol="0"/>
            <a:lstStyle/>
            <a:p>
              <a:endParaRPr sz="2400"/>
            </a:p>
          </p:txBody>
        </p:sp>
        <p:sp>
          <p:nvSpPr>
            <p:cNvPr id="57" name="object 57"/>
            <p:cNvSpPr/>
            <p:nvPr/>
          </p:nvSpPr>
          <p:spPr>
            <a:xfrm>
              <a:off x="5575737" y="2585548"/>
              <a:ext cx="356870" cy="35560"/>
            </a:xfrm>
            <a:custGeom>
              <a:avLst/>
              <a:gdLst/>
              <a:ahLst/>
              <a:cxnLst/>
              <a:rect l="l" t="t" r="r" b="b"/>
              <a:pathLst>
                <a:path w="356870" h="35560">
                  <a:moveTo>
                    <a:pt x="356379" y="0"/>
                  </a:moveTo>
                  <a:lnTo>
                    <a:pt x="356379" y="35169"/>
                  </a:lnTo>
                  <a:lnTo>
                    <a:pt x="0" y="35169"/>
                  </a:lnTo>
                </a:path>
              </a:pathLst>
            </a:custGeom>
            <a:ln w="23446">
              <a:solidFill>
                <a:srgbClr val="538AD3"/>
              </a:solidFill>
            </a:ln>
          </p:spPr>
          <p:txBody>
            <a:bodyPr wrap="square" lIns="0" tIns="0" rIns="0" bIns="0" rtlCol="0"/>
            <a:lstStyle/>
            <a:p>
              <a:endParaRPr sz="2400"/>
            </a:p>
          </p:txBody>
        </p:sp>
        <p:sp>
          <p:nvSpPr>
            <p:cNvPr id="58" name="object 58"/>
            <p:cNvSpPr/>
            <p:nvPr/>
          </p:nvSpPr>
          <p:spPr>
            <a:xfrm>
              <a:off x="5510088" y="2583204"/>
              <a:ext cx="75565" cy="75565"/>
            </a:xfrm>
            <a:custGeom>
              <a:avLst/>
              <a:gdLst/>
              <a:ahLst/>
              <a:cxnLst/>
              <a:rect l="l" t="t" r="r" b="b"/>
              <a:pathLst>
                <a:path w="75564" h="75564">
                  <a:moveTo>
                    <a:pt x="75027" y="0"/>
                  </a:moveTo>
                  <a:lnTo>
                    <a:pt x="0" y="37514"/>
                  </a:lnTo>
                  <a:lnTo>
                    <a:pt x="75027" y="75028"/>
                  </a:lnTo>
                  <a:lnTo>
                    <a:pt x="75027" y="0"/>
                  </a:lnTo>
                  <a:close/>
                </a:path>
              </a:pathLst>
            </a:custGeom>
            <a:solidFill>
              <a:srgbClr val="538AD3"/>
            </a:solidFill>
          </p:spPr>
          <p:txBody>
            <a:bodyPr wrap="square" lIns="0" tIns="0" rIns="0" bIns="0" rtlCol="0"/>
            <a:lstStyle/>
            <a:p>
              <a:endParaRPr sz="2400"/>
            </a:p>
          </p:txBody>
        </p:sp>
      </p:grpSp>
      <p:sp>
        <p:nvSpPr>
          <p:cNvPr id="59" name="object 59"/>
          <p:cNvSpPr txBox="1"/>
          <p:nvPr/>
        </p:nvSpPr>
        <p:spPr>
          <a:xfrm>
            <a:off x="7598982" y="2980620"/>
            <a:ext cx="546945"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0.9A/W</a:t>
            </a:r>
            <a:endParaRPr sz="1467">
              <a:latin typeface="Arial"/>
              <a:cs typeface="Arial"/>
            </a:endParaRPr>
          </a:p>
        </p:txBody>
      </p:sp>
      <p:sp>
        <p:nvSpPr>
          <p:cNvPr id="60" name="object 60"/>
          <p:cNvSpPr txBox="1"/>
          <p:nvPr/>
        </p:nvSpPr>
        <p:spPr>
          <a:xfrm>
            <a:off x="5950257" y="3404731"/>
            <a:ext cx="381000" cy="728427"/>
          </a:xfrm>
          <a:prstGeom prst="rect">
            <a:avLst/>
          </a:prstGeom>
        </p:spPr>
        <p:txBody>
          <a:bodyPr vert="horz" wrap="square" lIns="0" tIns="18627" rIns="0" bIns="0" rtlCol="0">
            <a:spAutoFit/>
          </a:bodyPr>
          <a:lstStyle/>
          <a:p>
            <a:pPr marL="16933" marR="12700" indent="33866">
              <a:lnSpc>
                <a:spcPct val="101699"/>
              </a:lnSpc>
              <a:spcBef>
                <a:spcPts val="147"/>
              </a:spcBef>
            </a:pPr>
            <a:r>
              <a:rPr sz="1133" b="1" spc="-133" dirty="0">
                <a:latin typeface="Arial"/>
                <a:cs typeface="Arial"/>
              </a:rPr>
              <a:t>Rx</a:t>
            </a:r>
            <a:r>
              <a:rPr sz="1133" b="1" spc="-33" dirty="0">
                <a:latin typeface="Arial"/>
                <a:cs typeface="Arial"/>
              </a:rPr>
              <a:t> </a:t>
            </a:r>
            <a:r>
              <a:rPr sz="1133" b="1" spc="-67" dirty="0">
                <a:latin typeface="Arial"/>
                <a:cs typeface="Arial"/>
              </a:rPr>
              <a:t>µ</a:t>
            </a:r>
            <a:r>
              <a:rPr sz="1133" b="1" spc="667" dirty="0">
                <a:latin typeface="Arial"/>
                <a:cs typeface="Arial"/>
              </a:rPr>
              <a:t> </a:t>
            </a:r>
            <a:r>
              <a:rPr sz="1133" b="1" spc="-152" dirty="0">
                <a:latin typeface="Arial"/>
                <a:cs typeface="Arial"/>
              </a:rPr>
              <a:t>Bump</a:t>
            </a:r>
            <a:endParaRPr sz="1133">
              <a:latin typeface="Arial"/>
              <a:cs typeface="Arial"/>
            </a:endParaRPr>
          </a:p>
          <a:p>
            <a:pPr marL="49952">
              <a:spcBef>
                <a:spcPts val="960"/>
              </a:spcBef>
            </a:pPr>
            <a:r>
              <a:rPr sz="1467" b="1" spc="-127" dirty="0">
                <a:latin typeface="Arial"/>
                <a:cs typeface="Arial"/>
              </a:rPr>
              <a:t>25fF</a:t>
            </a:r>
            <a:endParaRPr sz="1467">
              <a:latin typeface="Arial"/>
              <a:cs typeface="Arial"/>
            </a:endParaRPr>
          </a:p>
        </p:txBody>
      </p:sp>
      <p:sp>
        <p:nvSpPr>
          <p:cNvPr id="61" name="object 61"/>
          <p:cNvSpPr txBox="1"/>
          <p:nvPr/>
        </p:nvSpPr>
        <p:spPr>
          <a:xfrm>
            <a:off x="4727833" y="3815829"/>
            <a:ext cx="109220" cy="215508"/>
          </a:xfrm>
          <a:prstGeom prst="rect">
            <a:avLst/>
          </a:prstGeom>
        </p:spPr>
        <p:txBody>
          <a:bodyPr vert="horz" wrap="square" lIns="0" tIns="20320" rIns="0" bIns="0" rtlCol="0">
            <a:spAutoFit/>
          </a:bodyPr>
          <a:lstStyle/>
          <a:p>
            <a:pPr marL="16933">
              <a:spcBef>
                <a:spcPts val="160"/>
              </a:spcBef>
            </a:pPr>
            <a:r>
              <a:rPr sz="1267" b="1" spc="-67" dirty="0">
                <a:latin typeface="Arial"/>
                <a:cs typeface="Arial"/>
              </a:rPr>
              <a:t>1</a:t>
            </a:r>
            <a:endParaRPr sz="1267">
              <a:latin typeface="Arial"/>
              <a:cs typeface="Arial"/>
            </a:endParaRPr>
          </a:p>
        </p:txBody>
      </p:sp>
      <p:sp>
        <p:nvSpPr>
          <p:cNvPr id="62" name="object 62"/>
          <p:cNvSpPr txBox="1"/>
          <p:nvPr/>
        </p:nvSpPr>
        <p:spPr>
          <a:xfrm>
            <a:off x="3668906" y="3711882"/>
            <a:ext cx="1164033" cy="319682"/>
          </a:xfrm>
          <a:prstGeom prst="rect">
            <a:avLst/>
          </a:prstGeom>
        </p:spPr>
        <p:txBody>
          <a:bodyPr vert="horz" wrap="square" lIns="0" tIns="22013" rIns="0" bIns="0" rtlCol="0">
            <a:spAutoFit/>
          </a:bodyPr>
          <a:lstStyle/>
          <a:p>
            <a:pPr marL="16933">
              <a:spcBef>
                <a:spcPts val="173"/>
              </a:spcBef>
              <a:tabLst>
                <a:tab pos="767061" algn="l"/>
              </a:tabLst>
            </a:pPr>
            <a:r>
              <a:rPr sz="1933" b="1" spc="-33" dirty="0">
                <a:latin typeface="Arial"/>
                <a:cs typeface="Arial"/>
              </a:rPr>
              <a:t>gm</a:t>
            </a:r>
            <a:r>
              <a:rPr sz="1933" b="1" dirty="0">
                <a:latin typeface="Arial"/>
                <a:cs typeface="Arial"/>
              </a:rPr>
              <a:t>	</a:t>
            </a:r>
            <a:r>
              <a:rPr sz="1933" b="1" spc="-213" dirty="0" smtClean="0">
                <a:latin typeface="Arial"/>
                <a:cs typeface="Arial"/>
              </a:rPr>
              <a:t>gm</a:t>
            </a:r>
            <a:endParaRPr sz="1933" dirty="0">
              <a:latin typeface="Arial"/>
              <a:cs typeface="Arial"/>
            </a:endParaRPr>
          </a:p>
        </p:txBody>
      </p:sp>
      <p:sp>
        <p:nvSpPr>
          <p:cNvPr id="63" name="object 63"/>
          <p:cNvSpPr txBox="1"/>
          <p:nvPr/>
        </p:nvSpPr>
        <p:spPr>
          <a:xfrm>
            <a:off x="4028422" y="3834314"/>
            <a:ext cx="109220" cy="215508"/>
          </a:xfrm>
          <a:prstGeom prst="rect">
            <a:avLst/>
          </a:prstGeom>
        </p:spPr>
        <p:txBody>
          <a:bodyPr vert="horz" wrap="square" lIns="0" tIns="20320" rIns="0" bIns="0" rtlCol="0">
            <a:spAutoFit/>
          </a:bodyPr>
          <a:lstStyle/>
          <a:p>
            <a:pPr marL="16933">
              <a:spcBef>
                <a:spcPts val="160"/>
              </a:spcBef>
            </a:pPr>
            <a:r>
              <a:rPr sz="1267" b="1" spc="-67" dirty="0" smtClean="0">
                <a:latin typeface="Arial"/>
                <a:cs typeface="Arial"/>
              </a:rPr>
              <a:t>2</a:t>
            </a:r>
            <a:r>
              <a:rPr lang="en-US" sz="1267" b="1" spc="-67" dirty="0" smtClean="0">
                <a:latin typeface="Arial"/>
                <a:cs typeface="Arial"/>
              </a:rPr>
              <a:t> </a:t>
            </a:r>
            <a:endParaRPr sz="1267" dirty="0">
              <a:latin typeface="Arial"/>
              <a:cs typeface="Arial"/>
            </a:endParaRPr>
          </a:p>
        </p:txBody>
      </p:sp>
      <p:sp>
        <p:nvSpPr>
          <p:cNvPr id="64" name="object 64"/>
          <p:cNvSpPr txBox="1"/>
          <p:nvPr/>
        </p:nvSpPr>
        <p:spPr>
          <a:xfrm>
            <a:off x="2320813" y="3735067"/>
            <a:ext cx="485140" cy="319682"/>
          </a:xfrm>
          <a:prstGeom prst="rect">
            <a:avLst/>
          </a:prstGeom>
        </p:spPr>
        <p:txBody>
          <a:bodyPr vert="horz" wrap="square" lIns="0" tIns="22013" rIns="0" bIns="0" rtlCol="0">
            <a:spAutoFit/>
          </a:bodyPr>
          <a:lstStyle/>
          <a:p>
            <a:pPr marL="50799">
              <a:spcBef>
                <a:spcPts val="173"/>
              </a:spcBef>
            </a:pPr>
            <a:r>
              <a:rPr sz="1933" b="1" spc="-93" dirty="0">
                <a:latin typeface="Arial"/>
                <a:cs typeface="Arial"/>
              </a:rPr>
              <a:t>gm</a:t>
            </a:r>
            <a:r>
              <a:rPr sz="1900" b="1" spc="-139" baseline="-5847" dirty="0">
                <a:latin typeface="Arial"/>
                <a:cs typeface="Arial"/>
              </a:rPr>
              <a:t>3</a:t>
            </a:r>
            <a:endParaRPr sz="1900" baseline="-5847">
              <a:latin typeface="Arial"/>
              <a:cs typeface="Arial"/>
            </a:endParaRPr>
          </a:p>
        </p:txBody>
      </p:sp>
      <p:sp>
        <p:nvSpPr>
          <p:cNvPr id="65" name="object 65"/>
          <p:cNvSpPr txBox="1"/>
          <p:nvPr/>
        </p:nvSpPr>
        <p:spPr>
          <a:xfrm>
            <a:off x="4504420" y="2946440"/>
            <a:ext cx="202353" cy="244512"/>
          </a:xfrm>
          <a:prstGeom prst="rect">
            <a:avLst/>
          </a:prstGeom>
        </p:spPr>
        <p:txBody>
          <a:bodyPr vert="horz" wrap="square" lIns="0" tIns="18627" rIns="0" bIns="0" rtlCol="0">
            <a:spAutoFit/>
          </a:bodyPr>
          <a:lstStyle/>
          <a:p>
            <a:pPr marL="16933">
              <a:spcBef>
                <a:spcPts val="147"/>
              </a:spcBef>
            </a:pPr>
            <a:r>
              <a:rPr sz="2200" b="1" spc="-180" baseline="5050" dirty="0">
                <a:latin typeface="Arial"/>
                <a:cs typeface="Arial"/>
              </a:rPr>
              <a:t>R</a:t>
            </a:r>
            <a:r>
              <a:rPr sz="1000" b="1" spc="-120" dirty="0">
                <a:latin typeface="Arial"/>
                <a:cs typeface="Arial"/>
              </a:rPr>
              <a:t>1</a:t>
            </a:r>
            <a:endParaRPr sz="1000">
              <a:latin typeface="Arial"/>
              <a:cs typeface="Arial"/>
            </a:endParaRPr>
          </a:p>
        </p:txBody>
      </p:sp>
      <p:sp>
        <p:nvSpPr>
          <p:cNvPr id="66" name="object 66"/>
          <p:cNvSpPr txBox="1"/>
          <p:nvPr/>
        </p:nvSpPr>
        <p:spPr>
          <a:xfrm>
            <a:off x="2439295" y="2993593"/>
            <a:ext cx="202353" cy="244512"/>
          </a:xfrm>
          <a:prstGeom prst="rect">
            <a:avLst/>
          </a:prstGeom>
        </p:spPr>
        <p:txBody>
          <a:bodyPr vert="horz" wrap="square" lIns="0" tIns="18627" rIns="0" bIns="0" rtlCol="0">
            <a:spAutoFit/>
          </a:bodyPr>
          <a:lstStyle/>
          <a:p>
            <a:pPr marL="16933">
              <a:spcBef>
                <a:spcPts val="147"/>
              </a:spcBef>
            </a:pPr>
            <a:r>
              <a:rPr sz="2200" b="1" spc="-180" baseline="5050" dirty="0">
                <a:latin typeface="Arial"/>
                <a:cs typeface="Arial"/>
              </a:rPr>
              <a:t>R</a:t>
            </a:r>
            <a:r>
              <a:rPr sz="1000" b="1" spc="-120" dirty="0">
                <a:latin typeface="Arial"/>
                <a:cs typeface="Arial"/>
              </a:rPr>
              <a:t>3</a:t>
            </a:r>
            <a:endParaRPr sz="1000">
              <a:latin typeface="Arial"/>
              <a:cs typeface="Arial"/>
            </a:endParaRPr>
          </a:p>
        </p:txBody>
      </p:sp>
      <p:sp>
        <p:nvSpPr>
          <p:cNvPr id="67" name="object 67"/>
          <p:cNvSpPr txBox="1"/>
          <p:nvPr/>
        </p:nvSpPr>
        <p:spPr>
          <a:xfrm>
            <a:off x="1239380" y="3321106"/>
            <a:ext cx="614679" cy="319682"/>
          </a:xfrm>
          <a:prstGeom prst="rect">
            <a:avLst/>
          </a:prstGeom>
        </p:spPr>
        <p:txBody>
          <a:bodyPr vert="horz" wrap="square" lIns="0" tIns="22013" rIns="0" bIns="0" rtlCol="0">
            <a:spAutoFit/>
          </a:bodyPr>
          <a:lstStyle/>
          <a:p>
            <a:pPr marL="16933">
              <a:spcBef>
                <a:spcPts val="173"/>
              </a:spcBef>
            </a:pPr>
            <a:r>
              <a:rPr sz="1933" b="1" spc="-180" dirty="0">
                <a:latin typeface="Arial"/>
                <a:cs typeface="Arial"/>
              </a:rPr>
              <a:t>Voutb</a:t>
            </a:r>
            <a:endParaRPr sz="1933">
              <a:latin typeface="Arial"/>
              <a:cs typeface="Arial"/>
            </a:endParaRPr>
          </a:p>
        </p:txBody>
      </p:sp>
      <p:sp>
        <p:nvSpPr>
          <p:cNvPr id="68" name="object 68"/>
          <p:cNvSpPr txBox="1"/>
          <p:nvPr/>
        </p:nvSpPr>
        <p:spPr>
          <a:xfrm>
            <a:off x="6577777" y="3636331"/>
            <a:ext cx="363220" cy="244576"/>
          </a:xfrm>
          <a:prstGeom prst="rect">
            <a:avLst/>
          </a:prstGeom>
        </p:spPr>
        <p:txBody>
          <a:bodyPr vert="horz" wrap="square" lIns="0" tIns="18627" rIns="0" bIns="0" rtlCol="0">
            <a:spAutoFit/>
          </a:bodyPr>
          <a:lstStyle/>
          <a:p>
            <a:pPr marL="16933">
              <a:spcBef>
                <a:spcPts val="147"/>
              </a:spcBef>
            </a:pPr>
            <a:r>
              <a:rPr sz="1467" b="1" spc="-120" dirty="0">
                <a:latin typeface="Arial"/>
                <a:cs typeface="Arial"/>
              </a:rPr>
              <a:t>InFo</a:t>
            </a:r>
            <a:endParaRPr sz="1467">
              <a:latin typeface="Arial"/>
              <a:cs typeface="Arial"/>
            </a:endParaRPr>
          </a:p>
        </p:txBody>
      </p:sp>
      <p:sp>
        <p:nvSpPr>
          <p:cNvPr id="69" name="object 69"/>
          <p:cNvSpPr txBox="1"/>
          <p:nvPr/>
        </p:nvSpPr>
        <p:spPr>
          <a:xfrm>
            <a:off x="6419386" y="3861939"/>
            <a:ext cx="674793" cy="472266"/>
          </a:xfrm>
          <a:prstGeom prst="rect">
            <a:avLst/>
          </a:prstGeom>
        </p:spPr>
        <p:txBody>
          <a:bodyPr vert="horz" wrap="square" lIns="0" tIns="16087" rIns="0" bIns="0" rtlCol="0">
            <a:spAutoFit/>
          </a:bodyPr>
          <a:lstStyle/>
          <a:p>
            <a:pPr marL="179489" marR="6773" indent="-163403">
              <a:lnSpc>
                <a:spcPct val="100899"/>
              </a:lnSpc>
              <a:spcBef>
                <a:spcPts val="127"/>
              </a:spcBef>
            </a:pPr>
            <a:r>
              <a:rPr sz="1467" b="1" spc="-133" dirty="0">
                <a:latin typeface="Arial"/>
                <a:cs typeface="Arial"/>
              </a:rPr>
              <a:t>Parasitic</a:t>
            </a:r>
            <a:r>
              <a:rPr sz="1467" b="1" spc="-27" dirty="0">
                <a:latin typeface="Arial"/>
                <a:cs typeface="Arial"/>
              </a:rPr>
              <a:t> 25fF</a:t>
            </a:r>
            <a:endParaRPr sz="1467">
              <a:latin typeface="Arial"/>
              <a:cs typeface="Arial"/>
            </a:endParaRPr>
          </a:p>
        </p:txBody>
      </p:sp>
      <p:sp>
        <p:nvSpPr>
          <p:cNvPr id="70" name="object 70"/>
          <p:cNvSpPr/>
          <p:nvPr/>
        </p:nvSpPr>
        <p:spPr>
          <a:xfrm>
            <a:off x="2237191" y="2525914"/>
            <a:ext cx="547793" cy="253153"/>
          </a:xfrm>
          <a:custGeom>
            <a:avLst/>
            <a:gdLst/>
            <a:ahLst/>
            <a:cxnLst/>
            <a:rect l="l" t="t" r="r" b="b"/>
            <a:pathLst>
              <a:path w="410844" h="189864">
                <a:moveTo>
                  <a:pt x="410305" y="0"/>
                </a:moveTo>
                <a:lnTo>
                  <a:pt x="0" y="0"/>
                </a:lnTo>
                <a:lnTo>
                  <a:pt x="0" y="189682"/>
                </a:lnTo>
                <a:lnTo>
                  <a:pt x="410305" y="189682"/>
                </a:lnTo>
                <a:lnTo>
                  <a:pt x="410305" y="177959"/>
                </a:lnTo>
                <a:lnTo>
                  <a:pt x="23446" y="177959"/>
                </a:lnTo>
                <a:lnTo>
                  <a:pt x="11723" y="166235"/>
                </a:lnTo>
                <a:lnTo>
                  <a:pt x="23446" y="166235"/>
                </a:lnTo>
                <a:lnTo>
                  <a:pt x="23446" y="23446"/>
                </a:lnTo>
                <a:lnTo>
                  <a:pt x="11723" y="23446"/>
                </a:lnTo>
                <a:lnTo>
                  <a:pt x="23446" y="11723"/>
                </a:lnTo>
                <a:lnTo>
                  <a:pt x="410305" y="11723"/>
                </a:lnTo>
                <a:lnTo>
                  <a:pt x="410305" y="0"/>
                </a:lnTo>
                <a:close/>
              </a:path>
              <a:path w="410844" h="189864">
                <a:moveTo>
                  <a:pt x="23446" y="166235"/>
                </a:moveTo>
                <a:lnTo>
                  <a:pt x="11723" y="166235"/>
                </a:lnTo>
                <a:lnTo>
                  <a:pt x="23446" y="177959"/>
                </a:lnTo>
                <a:lnTo>
                  <a:pt x="23446" y="166235"/>
                </a:lnTo>
                <a:close/>
              </a:path>
              <a:path w="410844" h="189864">
                <a:moveTo>
                  <a:pt x="386859" y="166235"/>
                </a:moveTo>
                <a:lnTo>
                  <a:pt x="23446" y="166235"/>
                </a:lnTo>
                <a:lnTo>
                  <a:pt x="23446" y="177959"/>
                </a:lnTo>
                <a:lnTo>
                  <a:pt x="386859" y="177959"/>
                </a:lnTo>
                <a:lnTo>
                  <a:pt x="386859" y="166235"/>
                </a:lnTo>
                <a:close/>
              </a:path>
              <a:path w="410844" h="189864">
                <a:moveTo>
                  <a:pt x="386859" y="11723"/>
                </a:moveTo>
                <a:lnTo>
                  <a:pt x="386859" y="177959"/>
                </a:lnTo>
                <a:lnTo>
                  <a:pt x="398582" y="166235"/>
                </a:lnTo>
                <a:lnTo>
                  <a:pt x="410305" y="166235"/>
                </a:lnTo>
                <a:lnTo>
                  <a:pt x="410305" y="23446"/>
                </a:lnTo>
                <a:lnTo>
                  <a:pt x="398582" y="23446"/>
                </a:lnTo>
                <a:lnTo>
                  <a:pt x="386859" y="11723"/>
                </a:lnTo>
                <a:close/>
              </a:path>
              <a:path w="410844" h="189864">
                <a:moveTo>
                  <a:pt x="410305" y="166235"/>
                </a:moveTo>
                <a:lnTo>
                  <a:pt x="398582" y="166235"/>
                </a:lnTo>
                <a:lnTo>
                  <a:pt x="386859" y="177959"/>
                </a:lnTo>
                <a:lnTo>
                  <a:pt x="410305" y="177959"/>
                </a:lnTo>
                <a:lnTo>
                  <a:pt x="410305" y="166235"/>
                </a:lnTo>
                <a:close/>
              </a:path>
              <a:path w="410844" h="189864">
                <a:moveTo>
                  <a:pt x="23446" y="11723"/>
                </a:moveTo>
                <a:lnTo>
                  <a:pt x="11723" y="23446"/>
                </a:lnTo>
                <a:lnTo>
                  <a:pt x="23446" y="23446"/>
                </a:lnTo>
                <a:lnTo>
                  <a:pt x="23446" y="11723"/>
                </a:lnTo>
                <a:close/>
              </a:path>
              <a:path w="410844" h="189864">
                <a:moveTo>
                  <a:pt x="386859" y="11723"/>
                </a:moveTo>
                <a:lnTo>
                  <a:pt x="23446" y="11723"/>
                </a:lnTo>
                <a:lnTo>
                  <a:pt x="23446" y="23446"/>
                </a:lnTo>
                <a:lnTo>
                  <a:pt x="386859" y="23446"/>
                </a:lnTo>
                <a:lnTo>
                  <a:pt x="386859" y="11723"/>
                </a:lnTo>
                <a:close/>
              </a:path>
              <a:path w="410844" h="189864">
                <a:moveTo>
                  <a:pt x="410305" y="11723"/>
                </a:moveTo>
                <a:lnTo>
                  <a:pt x="386859" y="11723"/>
                </a:lnTo>
                <a:lnTo>
                  <a:pt x="398582" y="23446"/>
                </a:lnTo>
                <a:lnTo>
                  <a:pt x="410305" y="23446"/>
                </a:lnTo>
                <a:lnTo>
                  <a:pt x="410305" y="11723"/>
                </a:lnTo>
                <a:close/>
              </a:path>
            </a:pathLst>
          </a:custGeom>
          <a:solidFill>
            <a:srgbClr val="000000"/>
          </a:solidFill>
        </p:spPr>
        <p:txBody>
          <a:bodyPr wrap="square" lIns="0" tIns="0" rIns="0" bIns="0" rtlCol="0"/>
          <a:lstStyle/>
          <a:p>
            <a:endParaRPr sz="2400"/>
          </a:p>
        </p:txBody>
      </p:sp>
      <p:sp>
        <p:nvSpPr>
          <p:cNvPr id="71" name="object 71"/>
          <p:cNvSpPr txBox="1"/>
          <p:nvPr/>
        </p:nvSpPr>
        <p:spPr>
          <a:xfrm>
            <a:off x="2402614" y="2503352"/>
            <a:ext cx="215053" cy="244576"/>
          </a:xfrm>
          <a:prstGeom prst="rect">
            <a:avLst/>
          </a:prstGeom>
        </p:spPr>
        <p:txBody>
          <a:bodyPr vert="horz" wrap="square" lIns="0" tIns="18627" rIns="0" bIns="0" rtlCol="0">
            <a:spAutoFit/>
          </a:bodyPr>
          <a:lstStyle/>
          <a:p>
            <a:pPr marL="16933">
              <a:spcBef>
                <a:spcPts val="147"/>
              </a:spcBef>
            </a:pPr>
            <a:r>
              <a:rPr sz="1467" b="1" spc="-120" dirty="0">
                <a:latin typeface="Arial"/>
                <a:cs typeface="Arial"/>
              </a:rPr>
              <a:t>5b</a:t>
            </a:r>
            <a:endParaRPr sz="1467">
              <a:latin typeface="Arial"/>
              <a:cs typeface="Arial"/>
            </a:endParaRPr>
          </a:p>
        </p:txBody>
      </p:sp>
      <p:sp>
        <p:nvSpPr>
          <p:cNvPr id="72" name="object 72"/>
          <p:cNvSpPr/>
          <p:nvPr/>
        </p:nvSpPr>
        <p:spPr>
          <a:xfrm>
            <a:off x="2133396" y="2549365"/>
            <a:ext cx="2678007" cy="359833"/>
          </a:xfrm>
          <a:custGeom>
            <a:avLst/>
            <a:gdLst/>
            <a:ahLst/>
            <a:cxnLst/>
            <a:rect l="l" t="t" r="r" b="b"/>
            <a:pathLst>
              <a:path w="2008504" h="269875">
                <a:moveTo>
                  <a:pt x="92456" y="65493"/>
                </a:moveTo>
                <a:lnTo>
                  <a:pt x="622" y="65493"/>
                </a:lnTo>
                <a:lnTo>
                  <a:pt x="622" y="70294"/>
                </a:lnTo>
                <a:lnTo>
                  <a:pt x="0" y="70294"/>
                </a:lnTo>
                <a:lnTo>
                  <a:pt x="0" y="269633"/>
                </a:lnTo>
                <a:lnTo>
                  <a:pt x="23444" y="269633"/>
                </a:lnTo>
                <a:lnTo>
                  <a:pt x="23444" y="88938"/>
                </a:lnTo>
                <a:lnTo>
                  <a:pt x="92456" y="88938"/>
                </a:lnTo>
                <a:lnTo>
                  <a:pt x="92456" y="65493"/>
                </a:lnTo>
                <a:close/>
              </a:path>
              <a:path w="2008504" h="269875">
                <a:moveTo>
                  <a:pt x="548474" y="57556"/>
                </a:moveTo>
                <a:lnTo>
                  <a:pt x="547852" y="57556"/>
                </a:lnTo>
                <a:lnTo>
                  <a:pt x="547852" y="52755"/>
                </a:lnTo>
                <a:lnTo>
                  <a:pt x="469392" y="52755"/>
                </a:lnTo>
                <a:lnTo>
                  <a:pt x="469392" y="76200"/>
                </a:lnTo>
                <a:lnTo>
                  <a:pt x="525030" y="76200"/>
                </a:lnTo>
                <a:lnTo>
                  <a:pt x="525030" y="256895"/>
                </a:lnTo>
                <a:lnTo>
                  <a:pt x="548474" y="256895"/>
                </a:lnTo>
                <a:lnTo>
                  <a:pt x="548474" y="57556"/>
                </a:lnTo>
                <a:close/>
              </a:path>
              <a:path w="2008504" h="269875">
                <a:moveTo>
                  <a:pt x="2007920" y="0"/>
                </a:moveTo>
                <a:lnTo>
                  <a:pt x="1984463" y="0"/>
                </a:lnTo>
                <a:lnTo>
                  <a:pt x="1984463" y="23444"/>
                </a:lnTo>
                <a:lnTo>
                  <a:pt x="1984463" y="166243"/>
                </a:lnTo>
                <a:lnTo>
                  <a:pt x="1621053" y="166243"/>
                </a:lnTo>
                <a:lnTo>
                  <a:pt x="1621053" y="23444"/>
                </a:lnTo>
                <a:lnTo>
                  <a:pt x="1984463" y="23444"/>
                </a:lnTo>
                <a:lnTo>
                  <a:pt x="1984463" y="0"/>
                </a:lnTo>
                <a:lnTo>
                  <a:pt x="1597609" y="0"/>
                </a:lnTo>
                <a:lnTo>
                  <a:pt x="1597609" y="189687"/>
                </a:lnTo>
                <a:lnTo>
                  <a:pt x="2007920" y="189687"/>
                </a:lnTo>
                <a:lnTo>
                  <a:pt x="2007920" y="177965"/>
                </a:lnTo>
                <a:lnTo>
                  <a:pt x="2007920" y="166243"/>
                </a:lnTo>
                <a:lnTo>
                  <a:pt x="2007920" y="23444"/>
                </a:lnTo>
                <a:lnTo>
                  <a:pt x="2007920" y="11722"/>
                </a:lnTo>
                <a:lnTo>
                  <a:pt x="2007920" y="0"/>
                </a:lnTo>
                <a:close/>
              </a:path>
            </a:pathLst>
          </a:custGeom>
          <a:solidFill>
            <a:srgbClr val="000000"/>
          </a:solidFill>
        </p:spPr>
        <p:txBody>
          <a:bodyPr wrap="square" lIns="0" tIns="0" rIns="0" bIns="0" rtlCol="0"/>
          <a:lstStyle/>
          <a:p>
            <a:endParaRPr sz="2400"/>
          </a:p>
        </p:txBody>
      </p:sp>
      <p:sp>
        <p:nvSpPr>
          <p:cNvPr id="73" name="object 73"/>
          <p:cNvSpPr txBox="1"/>
          <p:nvPr/>
        </p:nvSpPr>
        <p:spPr>
          <a:xfrm>
            <a:off x="4430956" y="2527268"/>
            <a:ext cx="215053" cy="244576"/>
          </a:xfrm>
          <a:prstGeom prst="rect">
            <a:avLst/>
          </a:prstGeom>
        </p:spPr>
        <p:txBody>
          <a:bodyPr vert="horz" wrap="square" lIns="0" tIns="18627" rIns="0" bIns="0" rtlCol="0">
            <a:spAutoFit/>
          </a:bodyPr>
          <a:lstStyle/>
          <a:p>
            <a:pPr marL="16933">
              <a:spcBef>
                <a:spcPts val="147"/>
              </a:spcBef>
            </a:pPr>
            <a:r>
              <a:rPr sz="1467" b="1" spc="-120" dirty="0">
                <a:latin typeface="Arial"/>
                <a:cs typeface="Arial"/>
              </a:rPr>
              <a:t>5b</a:t>
            </a:r>
            <a:endParaRPr sz="1467">
              <a:latin typeface="Arial"/>
              <a:cs typeface="Arial"/>
            </a:endParaRPr>
          </a:p>
        </p:txBody>
      </p:sp>
      <p:grpSp>
        <p:nvGrpSpPr>
          <p:cNvPr id="74" name="object 74"/>
          <p:cNvGrpSpPr/>
          <p:nvPr/>
        </p:nvGrpSpPr>
        <p:grpSpPr>
          <a:xfrm>
            <a:off x="397471" y="1693235"/>
            <a:ext cx="4494105" cy="1278467"/>
            <a:chOff x="184959" y="1431851"/>
            <a:chExt cx="3370579" cy="958850"/>
          </a:xfrm>
        </p:grpSpPr>
        <p:sp>
          <p:nvSpPr>
            <p:cNvPr id="75" name="object 75"/>
            <p:cNvSpPr/>
            <p:nvPr/>
          </p:nvSpPr>
          <p:spPr>
            <a:xfrm>
              <a:off x="3006674" y="2144293"/>
              <a:ext cx="548640" cy="239395"/>
            </a:xfrm>
            <a:custGeom>
              <a:avLst/>
              <a:gdLst/>
              <a:ahLst/>
              <a:cxnLst/>
              <a:rect l="l" t="t" r="r" b="b"/>
              <a:pathLst>
                <a:path w="548639" h="239394">
                  <a:moveTo>
                    <a:pt x="92456" y="12738"/>
                  </a:moveTo>
                  <a:lnTo>
                    <a:pt x="622" y="12738"/>
                  </a:lnTo>
                  <a:lnTo>
                    <a:pt x="622" y="17538"/>
                  </a:lnTo>
                  <a:lnTo>
                    <a:pt x="0" y="17538"/>
                  </a:lnTo>
                  <a:lnTo>
                    <a:pt x="0" y="216877"/>
                  </a:lnTo>
                  <a:lnTo>
                    <a:pt x="23444" y="216877"/>
                  </a:lnTo>
                  <a:lnTo>
                    <a:pt x="23444" y="36182"/>
                  </a:lnTo>
                  <a:lnTo>
                    <a:pt x="92456" y="36182"/>
                  </a:lnTo>
                  <a:lnTo>
                    <a:pt x="92456" y="12738"/>
                  </a:lnTo>
                  <a:close/>
                </a:path>
                <a:path w="548639" h="239394">
                  <a:moveTo>
                    <a:pt x="548474" y="1447"/>
                  </a:moveTo>
                  <a:lnTo>
                    <a:pt x="547852" y="1447"/>
                  </a:lnTo>
                  <a:lnTo>
                    <a:pt x="547852" y="0"/>
                  </a:lnTo>
                  <a:lnTo>
                    <a:pt x="469392" y="0"/>
                  </a:lnTo>
                  <a:lnTo>
                    <a:pt x="469392" y="23444"/>
                  </a:lnTo>
                  <a:lnTo>
                    <a:pt x="525030" y="23444"/>
                  </a:lnTo>
                  <a:lnTo>
                    <a:pt x="525030" y="239001"/>
                  </a:lnTo>
                  <a:lnTo>
                    <a:pt x="548474" y="239001"/>
                  </a:lnTo>
                  <a:lnTo>
                    <a:pt x="548474" y="1447"/>
                  </a:lnTo>
                  <a:close/>
                </a:path>
              </a:pathLst>
            </a:custGeom>
            <a:solidFill>
              <a:srgbClr val="000000"/>
            </a:solidFill>
          </p:spPr>
          <p:txBody>
            <a:bodyPr wrap="square" lIns="0" tIns="0" rIns="0" bIns="0" rtlCol="0"/>
            <a:lstStyle/>
            <a:p>
              <a:endParaRPr sz="2400"/>
            </a:p>
          </p:txBody>
        </p:sp>
        <p:pic>
          <p:nvPicPr>
            <p:cNvPr id="76" name="object 76"/>
            <p:cNvPicPr/>
            <p:nvPr/>
          </p:nvPicPr>
          <p:blipFill>
            <a:blip r:embed="rId6" cstate="print"/>
            <a:stretch>
              <a:fillRect/>
            </a:stretch>
          </p:blipFill>
          <p:spPr>
            <a:xfrm>
              <a:off x="574991" y="2208606"/>
              <a:ext cx="342897" cy="181867"/>
            </a:xfrm>
            <a:prstGeom prst="rect">
              <a:avLst/>
            </a:prstGeom>
          </p:spPr>
        </p:pic>
        <p:sp>
          <p:nvSpPr>
            <p:cNvPr id="77" name="object 77"/>
            <p:cNvSpPr/>
            <p:nvPr/>
          </p:nvSpPr>
          <p:spPr>
            <a:xfrm>
              <a:off x="190088" y="2208762"/>
              <a:ext cx="965835" cy="175895"/>
            </a:xfrm>
            <a:custGeom>
              <a:avLst/>
              <a:gdLst/>
              <a:ahLst/>
              <a:cxnLst/>
              <a:rect l="l" t="t" r="r" b="b"/>
              <a:pathLst>
                <a:path w="965835" h="175894">
                  <a:moveTo>
                    <a:pt x="965214" y="0"/>
                  </a:moveTo>
                  <a:lnTo>
                    <a:pt x="472824" y="0"/>
                  </a:lnTo>
                </a:path>
                <a:path w="965835" h="175894">
                  <a:moveTo>
                    <a:pt x="0" y="175849"/>
                  </a:moveTo>
                  <a:lnTo>
                    <a:pt x="384902" y="175849"/>
                  </a:lnTo>
                </a:path>
              </a:pathLst>
            </a:custGeom>
            <a:ln w="5861">
              <a:solidFill>
                <a:srgbClr val="000000"/>
              </a:solidFill>
            </a:ln>
          </p:spPr>
          <p:txBody>
            <a:bodyPr wrap="square" lIns="0" tIns="0" rIns="0" bIns="0" rtlCol="0"/>
            <a:lstStyle/>
            <a:p>
              <a:endParaRPr sz="2400"/>
            </a:p>
          </p:txBody>
        </p:sp>
        <p:sp>
          <p:nvSpPr>
            <p:cNvPr id="78" name="object 78"/>
            <p:cNvSpPr/>
            <p:nvPr/>
          </p:nvSpPr>
          <p:spPr>
            <a:xfrm>
              <a:off x="188134" y="1435026"/>
              <a:ext cx="0" cy="949960"/>
            </a:xfrm>
            <a:custGeom>
              <a:avLst/>
              <a:gdLst/>
              <a:ahLst/>
              <a:cxnLst/>
              <a:rect l="l" t="t" r="r" b="b"/>
              <a:pathLst>
                <a:path h="949960">
                  <a:moveTo>
                    <a:pt x="0" y="949584"/>
                  </a:moveTo>
                  <a:lnTo>
                    <a:pt x="0" y="0"/>
                  </a:lnTo>
                </a:path>
              </a:pathLst>
            </a:custGeom>
            <a:ln w="5861">
              <a:solidFill>
                <a:srgbClr val="000000"/>
              </a:solidFill>
            </a:ln>
          </p:spPr>
          <p:txBody>
            <a:bodyPr wrap="square" lIns="0" tIns="0" rIns="0" bIns="0" rtlCol="0"/>
            <a:lstStyle/>
            <a:p>
              <a:endParaRPr sz="2400"/>
            </a:p>
          </p:txBody>
        </p:sp>
        <p:pic>
          <p:nvPicPr>
            <p:cNvPr id="79" name="object 79"/>
            <p:cNvPicPr/>
            <p:nvPr/>
          </p:nvPicPr>
          <p:blipFill>
            <a:blip r:embed="rId7" cstate="print"/>
            <a:stretch>
              <a:fillRect/>
            </a:stretch>
          </p:blipFill>
          <p:spPr>
            <a:xfrm>
              <a:off x="662913" y="1962574"/>
              <a:ext cx="175845" cy="181710"/>
            </a:xfrm>
            <a:prstGeom prst="rect">
              <a:avLst/>
            </a:prstGeom>
          </p:spPr>
        </p:pic>
        <p:sp>
          <p:nvSpPr>
            <p:cNvPr id="80" name="object 80"/>
            <p:cNvSpPr/>
            <p:nvPr/>
          </p:nvSpPr>
          <p:spPr>
            <a:xfrm>
              <a:off x="192042" y="2138423"/>
              <a:ext cx="471170" cy="0"/>
            </a:xfrm>
            <a:custGeom>
              <a:avLst/>
              <a:gdLst/>
              <a:ahLst/>
              <a:cxnLst/>
              <a:rect l="l" t="t" r="r" b="b"/>
              <a:pathLst>
                <a:path w="471170">
                  <a:moveTo>
                    <a:pt x="0" y="0"/>
                  </a:moveTo>
                  <a:lnTo>
                    <a:pt x="470871" y="0"/>
                  </a:lnTo>
                </a:path>
              </a:pathLst>
            </a:custGeom>
            <a:ln w="5861">
              <a:solidFill>
                <a:srgbClr val="000000"/>
              </a:solidFill>
            </a:ln>
          </p:spPr>
          <p:txBody>
            <a:bodyPr wrap="square" lIns="0" tIns="0" rIns="0" bIns="0" rtlCol="0"/>
            <a:lstStyle/>
            <a:p>
              <a:endParaRPr sz="2400"/>
            </a:p>
          </p:txBody>
        </p:sp>
      </p:grpSp>
      <p:sp>
        <p:nvSpPr>
          <p:cNvPr id="81" name="object 81"/>
          <p:cNvSpPr txBox="1"/>
          <p:nvPr/>
        </p:nvSpPr>
        <p:spPr>
          <a:xfrm>
            <a:off x="498226" y="2415819"/>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1X</a:t>
            </a:r>
            <a:endParaRPr sz="1467">
              <a:latin typeface="Arial"/>
              <a:cs typeface="Arial"/>
            </a:endParaRPr>
          </a:p>
        </p:txBody>
      </p:sp>
      <p:grpSp>
        <p:nvGrpSpPr>
          <p:cNvPr id="82" name="object 82"/>
          <p:cNvGrpSpPr/>
          <p:nvPr/>
        </p:nvGrpSpPr>
        <p:grpSpPr>
          <a:xfrm>
            <a:off x="403452" y="1744779"/>
            <a:ext cx="866140" cy="570653"/>
            <a:chOff x="189445" y="1470509"/>
            <a:chExt cx="649605" cy="427990"/>
          </a:xfrm>
        </p:grpSpPr>
        <p:pic>
          <p:nvPicPr>
            <p:cNvPr id="83" name="object 83"/>
            <p:cNvPicPr/>
            <p:nvPr/>
          </p:nvPicPr>
          <p:blipFill>
            <a:blip r:embed="rId8" cstate="print"/>
            <a:stretch>
              <a:fillRect/>
            </a:stretch>
          </p:blipFill>
          <p:spPr>
            <a:xfrm>
              <a:off x="662913" y="1716541"/>
              <a:ext cx="175845" cy="181710"/>
            </a:xfrm>
            <a:prstGeom prst="rect">
              <a:avLst/>
            </a:prstGeom>
          </p:spPr>
        </p:pic>
        <p:pic>
          <p:nvPicPr>
            <p:cNvPr id="84" name="object 84"/>
            <p:cNvPicPr/>
            <p:nvPr/>
          </p:nvPicPr>
          <p:blipFill>
            <a:blip r:embed="rId7" cstate="print"/>
            <a:stretch>
              <a:fillRect/>
            </a:stretch>
          </p:blipFill>
          <p:spPr>
            <a:xfrm>
              <a:off x="662913" y="1470509"/>
              <a:ext cx="175845" cy="181710"/>
            </a:xfrm>
            <a:prstGeom prst="rect">
              <a:avLst/>
            </a:prstGeom>
          </p:spPr>
        </p:pic>
        <p:sp>
          <p:nvSpPr>
            <p:cNvPr id="85" name="object 85"/>
            <p:cNvSpPr/>
            <p:nvPr/>
          </p:nvSpPr>
          <p:spPr>
            <a:xfrm>
              <a:off x="192620" y="1646045"/>
              <a:ext cx="471170" cy="246379"/>
            </a:xfrm>
            <a:custGeom>
              <a:avLst/>
              <a:gdLst/>
              <a:ahLst/>
              <a:cxnLst/>
              <a:rect l="l" t="t" r="r" b="b"/>
              <a:pathLst>
                <a:path w="471170" h="246380">
                  <a:moveTo>
                    <a:pt x="0" y="246188"/>
                  </a:moveTo>
                  <a:lnTo>
                    <a:pt x="470871" y="246188"/>
                  </a:lnTo>
                </a:path>
                <a:path w="471170" h="246380">
                  <a:moveTo>
                    <a:pt x="0" y="0"/>
                  </a:moveTo>
                  <a:lnTo>
                    <a:pt x="470871" y="0"/>
                  </a:lnTo>
                </a:path>
              </a:pathLst>
            </a:custGeom>
            <a:ln w="5861">
              <a:solidFill>
                <a:srgbClr val="000000"/>
              </a:solidFill>
            </a:ln>
          </p:spPr>
          <p:txBody>
            <a:bodyPr wrap="square" lIns="0" tIns="0" rIns="0" bIns="0" rtlCol="0"/>
            <a:lstStyle/>
            <a:p>
              <a:endParaRPr sz="2400"/>
            </a:p>
          </p:txBody>
        </p:sp>
      </p:grpSp>
      <p:sp>
        <p:nvSpPr>
          <p:cNvPr id="86" name="object 86"/>
          <p:cNvSpPr txBox="1"/>
          <p:nvPr/>
        </p:nvSpPr>
        <p:spPr>
          <a:xfrm>
            <a:off x="498747" y="2086734"/>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2X</a:t>
            </a:r>
            <a:endParaRPr sz="1467">
              <a:latin typeface="Arial"/>
              <a:cs typeface="Arial"/>
            </a:endParaRPr>
          </a:p>
        </p:txBody>
      </p:sp>
      <p:sp>
        <p:nvSpPr>
          <p:cNvPr id="87" name="object 87"/>
          <p:cNvSpPr txBox="1"/>
          <p:nvPr/>
        </p:nvSpPr>
        <p:spPr>
          <a:xfrm>
            <a:off x="499528" y="1757752"/>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4X</a:t>
            </a:r>
            <a:endParaRPr sz="1467">
              <a:latin typeface="Arial"/>
              <a:cs typeface="Arial"/>
            </a:endParaRPr>
          </a:p>
        </p:txBody>
      </p:sp>
      <p:grpSp>
        <p:nvGrpSpPr>
          <p:cNvPr id="88" name="object 88"/>
          <p:cNvGrpSpPr/>
          <p:nvPr/>
        </p:nvGrpSpPr>
        <p:grpSpPr>
          <a:xfrm>
            <a:off x="396241" y="1463421"/>
            <a:ext cx="866140" cy="242993"/>
            <a:chOff x="184037" y="1259490"/>
            <a:chExt cx="649605" cy="182245"/>
          </a:xfrm>
        </p:grpSpPr>
        <p:pic>
          <p:nvPicPr>
            <p:cNvPr id="89" name="object 89"/>
            <p:cNvPicPr/>
            <p:nvPr/>
          </p:nvPicPr>
          <p:blipFill>
            <a:blip r:embed="rId9" cstate="print"/>
            <a:stretch>
              <a:fillRect/>
            </a:stretch>
          </p:blipFill>
          <p:spPr>
            <a:xfrm>
              <a:off x="657505" y="1259490"/>
              <a:ext cx="175845" cy="181710"/>
            </a:xfrm>
            <a:prstGeom prst="rect">
              <a:avLst/>
            </a:prstGeom>
          </p:spPr>
        </p:pic>
        <p:sp>
          <p:nvSpPr>
            <p:cNvPr id="90" name="object 90"/>
            <p:cNvSpPr/>
            <p:nvPr/>
          </p:nvSpPr>
          <p:spPr>
            <a:xfrm>
              <a:off x="187212" y="1435026"/>
              <a:ext cx="471170" cy="0"/>
            </a:xfrm>
            <a:custGeom>
              <a:avLst/>
              <a:gdLst/>
              <a:ahLst/>
              <a:cxnLst/>
              <a:rect l="l" t="t" r="r" b="b"/>
              <a:pathLst>
                <a:path w="471170">
                  <a:moveTo>
                    <a:pt x="0" y="0"/>
                  </a:moveTo>
                  <a:lnTo>
                    <a:pt x="470871" y="0"/>
                  </a:lnTo>
                </a:path>
              </a:pathLst>
            </a:custGeom>
            <a:ln w="5861">
              <a:solidFill>
                <a:srgbClr val="000000"/>
              </a:solidFill>
            </a:ln>
          </p:spPr>
          <p:txBody>
            <a:bodyPr wrap="square" lIns="0" tIns="0" rIns="0" bIns="0" rtlCol="0"/>
            <a:lstStyle/>
            <a:p>
              <a:endParaRPr sz="2400"/>
            </a:p>
          </p:txBody>
        </p:sp>
      </p:grpSp>
      <p:graphicFrame>
        <p:nvGraphicFramePr>
          <p:cNvPr id="91" name="object 91"/>
          <p:cNvGraphicFramePr>
            <a:graphicFrameLocks noGrp="1"/>
          </p:cNvGraphicFramePr>
          <p:nvPr>
            <p:extLst>
              <p:ext uri="{D42A27DB-BD31-4B8C-83A1-F6EECF244321}">
                <p14:modId xmlns:p14="http://schemas.microsoft.com/office/powerpoint/2010/main" val="4045098445"/>
              </p:ext>
            </p:extLst>
          </p:nvPr>
        </p:nvGraphicFramePr>
        <p:xfrm>
          <a:off x="1148065" y="1717217"/>
          <a:ext cx="750146" cy="1238673"/>
        </p:xfrm>
        <a:graphic>
          <a:graphicData uri="http://schemas.openxmlformats.org/drawingml/2006/table">
            <a:tbl>
              <a:tblPr firstRow="1" bandRow="1">
                <a:tableStyleId>{2D5ABB26-0587-4C30-8999-92F81FD0307C}</a:tableStyleId>
              </a:tblPr>
              <a:tblGrid>
                <a:gridCol w="222673">
                  <a:extLst>
                    <a:ext uri="{9D8B030D-6E8A-4147-A177-3AD203B41FA5}">
                      <a16:colId xmlns:a16="http://schemas.microsoft.com/office/drawing/2014/main" val="20000"/>
                    </a:ext>
                  </a:extLst>
                </a:gridCol>
                <a:gridCol w="527473">
                  <a:extLst>
                    <a:ext uri="{9D8B030D-6E8A-4147-A177-3AD203B41FA5}">
                      <a16:colId xmlns:a16="http://schemas.microsoft.com/office/drawing/2014/main" val="20001"/>
                    </a:ext>
                  </a:extLst>
                </a:gridCol>
              </a:tblGrid>
              <a:tr h="257387">
                <a:tc gridSpan="2">
                  <a:txBody>
                    <a:bodyPr/>
                    <a:lstStyle/>
                    <a:p>
                      <a:pPr marL="276225">
                        <a:lnSpc>
                          <a:spcPct val="100000"/>
                        </a:lnSpc>
                        <a:spcBef>
                          <a:spcPts val="50"/>
                        </a:spcBef>
                      </a:pPr>
                      <a:r>
                        <a:rPr sz="1500" b="1" spc="-25" dirty="0">
                          <a:latin typeface="Arial"/>
                          <a:cs typeface="Arial"/>
                        </a:rPr>
                        <a:t>&lt;3&gt;</a:t>
                      </a:r>
                      <a:endParaRPr sz="1500">
                        <a:latin typeface="Arial"/>
                        <a:cs typeface="Arial"/>
                      </a:endParaRPr>
                    </a:p>
                  </a:txBody>
                  <a:tcPr marL="0" marR="0" marT="8467" marB="0">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93980">
                <a:tc gridSpan="2">
                  <a:txBody>
                    <a:bodyPr/>
                    <a:lstStyle/>
                    <a:p>
                      <a:pPr>
                        <a:lnSpc>
                          <a:spcPct val="100000"/>
                        </a:lnSpc>
                      </a:pPr>
                      <a:endParaRPr sz="400">
                        <a:latin typeface="Times New Roman"/>
                        <a:cs typeface="Times New Roman"/>
                      </a:endParaRPr>
                    </a:p>
                  </a:txBody>
                  <a:tcPr marL="0" marR="0" marT="0" marB="0">
                    <a:lnR w="6350">
                      <a:solidFill>
                        <a:srgbClr val="000000"/>
                      </a:solidFill>
                      <a:prstDash val="solid"/>
                    </a:lnR>
                    <a:lnT w="635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1"/>
                  </a:ext>
                </a:extLst>
              </a:tr>
              <a:tr h="233680">
                <a:tc gridSpan="2">
                  <a:txBody>
                    <a:bodyPr/>
                    <a:lstStyle/>
                    <a:p>
                      <a:pPr marL="276225">
                        <a:lnSpc>
                          <a:spcPts val="1280"/>
                        </a:lnSpc>
                      </a:pPr>
                      <a:r>
                        <a:rPr sz="1500" b="1" spc="-25" dirty="0">
                          <a:latin typeface="Arial"/>
                          <a:cs typeface="Arial"/>
                        </a:rPr>
                        <a:t>&lt;2&gt;</a:t>
                      </a:r>
                      <a:endParaRPr sz="1500">
                        <a:latin typeface="Arial"/>
                        <a:cs typeface="Arial"/>
                      </a:endParaRPr>
                    </a:p>
                  </a:txBody>
                  <a:tcPr marL="0" marR="0" marT="0" marB="0">
                    <a:lnR w="6350">
                      <a:solidFill>
                        <a:srgbClr val="000000"/>
                      </a:solidFill>
                      <a:prstDash val="solid"/>
                    </a:lnR>
                    <a:lnB w="63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93133">
                <a:tc gridSpan="2">
                  <a:txBody>
                    <a:bodyPr/>
                    <a:lstStyle/>
                    <a:p>
                      <a:pPr>
                        <a:lnSpc>
                          <a:spcPct val="100000"/>
                        </a:lnSpc>
                      </a:pPr>
                      <a:endParaRPr sz="400">
                        <a:latin typeface="Times New Roman"/>
                        <a:cs typeface="Times New Roman"/>
                      </a:endParaRPr>
                    </a:p>
                  </a:txBody>
                  <a:tcPr marL="0" marR="0" marT="0" marB="0">
                    <a:lnR w="6350">
                      <a:solidFill>
                        <a:srgbClr val="000000"/>
                      </a:solidFill>
                      <a:prstDash val="solid"/>
                    </a:lnR>
                    <a:lnT w="635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3"/>
                  </a:ext>
                </a:extLst>
              </a:tr>
              <a:tr h="233680">
                <a:tc gridSpan="2">
                  <a:txBody>
                    <a:bodyPr/>
                    <a:lstStyle/>
                    <a:p>
                      <a:pPr marL="276225">
                        <a:lnSpc>
                          <a:spcPts val="1240"/>
                        </a:lnSpc>
                      </a:pPr>
                      <a:r>
                        <a:rPr sz="1500" b="1" spc="-25" dirty="0">
                          <a:latin typeface="Arial"/>
                          <a:cs typeface="Arial"/>
                        </a:rPr>
                        <a:t>&lt;1&gt;</a:t>
                      </a:r>
                      <a:endParaRPr sz="1500">
                        <a:latin typeface="Arial"/>
                        <a:cs typeface="Arial"/>
                      </a:endParaRPr>
                    </a:p>
                  </a:txBody>
                  <a:tcPr marL="0" marR="0" marT="0" marB="0">
                    <a:lnR w="6350">
                      <a:solidFill>
                        <a:srgbClr val="000000"/>
                      </a:solidFill>
                      <a:prstDash val="solid"/>
                    </a:lnR>
                    <a:lnB w="63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r h="93133">
                <a:tc gridSpan="2">
                  <a:txBody>
                    <a:bodyPr/>
                    <a:lstStyle/>
                    <a:p>
                      <a:pPr>
                        <a:lnSpc>
                          <a:spcPct val="100000"/>
                        </a:lnSpc>
                      </a:pPr>
                      <a:endParaRPr sz="400">
                        <a:latin typeface="Times New Roman"/>
                        <a:cs typeface="Times New Roman"/>
                      </a:endParaRPr>
                    </a:p>
                  </a:txBody>
                  <a:tcPr marL="0" marR="0" marT="0" marB="0">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5"/>
                  </a:ext>
                </a:extLst>
              </a:tr>
              <a:tr h="233680">
                <a:tc>
                  <a:txBody>
                    <a:bodyPr/>
                    <a:lstStyle/>
                    <a:p>
                      <a:pPr>
                        <a:lnSpc>
                          <a:spcPct val="100000"/>
                        </a:lnSpc>
                      </a:pPr>
                      <a:endParaRPr sz="1300">
                        <a:latin typeface="Times New Roman"/>
                        <a:cs typeface="Times New Roman"/>
                      </a:endParaRPr>
                    </a:p>
                  </a:txBody>
                  <a:tcPr marL="0" marR="0" marT="0" marB="0">
                    <a:lnT w="6350">
                      <a:solidFill>
                        <a:srgbClr val="000000"/>
                      </a:solidFill>
                      <a:prstDash val="solid"/>
                    </a:lnT>
                  </a:tcPr>
                </a:tc>
                <a:tc>
                  <a:txBody>
                    <a:bodyPr/>
                    <a:lstStyle/>
                    <a:p>
                      <a:pPr marL="109220">
                        <a:lnSpc>
                          <a:spcPts val="1220"/>
                        </a:lnSpc>
                        <a:spcBef>
                          <a:spcPts val="65"/>
                        </a:spcBef>
                      </a:pPr>
                      <a:r>
                        <a:rPr sz="1500" b="1" spc="-25" dirty="0">
                          <a:latin typeface="Arial"/>
                          <a:cs typeface="Arial"/>
                        </a:rPr>
                        <a:t>&lt;0&gt;</a:t>
                      </a:r>
                      <a:endParaRPr sz="1500">
                        <a:latin typeface="Arial"/>
                        <a:cs typeface="Arial"/>
                      </a:endParaRPr>
                    </a:p>
                  </a:txBody>
                  <a:tcPr marL="0" marR="0" marT="11007"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grpSp>
        <p:nvGrpSpPr>
          <p:cNvPr id="92" name="object 92"/>
          <p:cNvGrpSpPr/>
          <p:nvPr/>
        </p:nvGrpSpPr>
        <p:grpSpPr>
          <a:xfrm>
            <a:off x="5039393" y="2697002"/>
            <a:ext cx="1509607" cy="251460"/>
            <a:chOff x="3666401" y="2184676"/>
            <a:chExt cx="1132205" cy="188595"/>
          </a:xfrm>
        </p:grpSpPr>
        <p:sp>
          <p:nvSpPr>
            <p:cNvPr id="93" name="object 93"/>
            <p:cNvSpPr/>
            <p:nvPr/>
          </p:nvSpPr>
          <p:spPr>
            <a:xfrm>
              <a:off x="4047682" y="2366558"/>
              <a:ext cx="44450" cy="0"/>
            </a:xfrm>
            <a:custGeom>
              <a:avLst/>
              <a:gdLst/>
              <a:ahLst/>
              <a:cxnLst/>
              <a:rect l="l" t="t" r="r" b="b"/>
              <a:pathLst>
                <a:path w="44450">
                  <a:moveTo>
                    <a:pt x="0" y="0"/>
                  </a:moveTo>
                  <a:lnTo>
                    <a:pt x="43922" y="0"/>
                  </a:lnTo>
                </a:path>
              </a:pathLst>
            </a:custGeom>
            <a:ln w="11723">
              <a:solidFill>
                <a:srgbClr val="000000"/>
              </a:solidFill>
            </a:ln>
          </p:spPr>
          <p:txBody>
            <a:bodyPr wrap="square" lIns="0" tIns="0" rIns="0" bIns="0" rtlCol="0"/>
            <a:lstStyle/>
            <a:p>
              <a:endParaRPr sz="2400"/>
            </a:p>
          </p:txBody>
        </p:sp>
        <p:sp>
          <p:nvSpPr>
            <p:cNvPr id="94" name="object 94"/>
            <p:cNvSpPr/>
            <p:nvPr/>
          </p:nvSpPr>
          <p:spPr>
            <a:xfrm>
              <a:off x="4041820" y="2278633"/>
              <a:ext cx="12065" cy="88265"/>
            </a:xfrm>
            <a:custGeom>
              <a:avLst/>
              <a:gdLst/>
              <a:ahLst/>
              <a:cxnLst/>
              <a:rect l="l" t="t" r="r" b="b"/>
              <a:pathLst>
                <a:path w="12064" h="88264">
                  <a:moveTo>
                    <a:pt x="0" y="87924"/>
                  </a:moveTo>
                  <a:lnTo>
                    <a:pt x="11723" y="87924"/>
                  </a:lnTo>
                  <a:lnTo>
                    <a:pt x="11723" y="0"/>
                  </a:lnTo>
                  <a:lnTo>
                    <a:pt x="0" y="0"/>
                  </a:lnTo>
                  <a:lnTo>
                    <a:pt x="0" y="87924"/>
                  </a:lnTo>
                  <a:close/>
                </a:path>
              </a:pathLst>
            </a:custGeom>
            <a:solidFill>
              <a:srgbClr val="000000"/>
            </a:solidFill>
          </p:spPr>
          <p:txBody>
            <a:bodyPr wrap="square" lIns="0" tIns="0" rIns="0" bIns="0" rtlCol="0"/>
            <a:lstStyle/>
            <a:p>
              <a:endParaRPr sz="2400"/>
            </a:p>
          </p:txBody>
        </p:sp>
        <p:sp>
          <p:nvSpPr>
            <p:cNvPr id="95" name="object 95"/>
            <p:cNvSpPr/>
            <p:nvPr/>
          </p:nvSpPr>
          <p:spPr>
            <a:xfrm>
              <a:off x="3959759" y="2250732"/>
              <a:ext cx="88265" cy="12065"/>
            </a:xfrm>
            <a:custGeom>
              <a:avLst/>
              <a:gdLst/>
              <a:ahLst/>
              <a:cxnLst/>
              <a:rect l="l" t="t" r="r" b="b"/>
              <a:pathLst>
                <a:path w="88264" h="12064">
                  <a:moveTo>
                    <a:pt x="87922" y="0"/>
                  </a:moveTo>
                  <a:lnTo>
                    <a:pt x="0" y="0"/>
                  </a:lnTo>
                  <a:lnTo>
                    <a:pt x="0" y="11723"/>
                  </a:lnTo>
                  <a:lnTo>
                    <a:pt x="87922" y="11723"/>
                  </a:lnTo>
                  <a:lnTo>
                    <a:pt x="87922" y="0"/>
                  </a:lnTo>
                  <a:close/>
                </a:path>
              </a:pathLst>
            </a:custGeom>
            <a:solidFill>
              <a:srgbClr val="000000"/>
            </a:solidFill>
          </p:spPr>
          <p:txBody>
            <a:bodyPr wrap="square" lIns="0" tIns="0" rIns="0" bIns="0" rtlCol="0"/>
            <a:lstStyle/>
            <a:p>
              <a:endParaRPr sz="2400"/>
            </a:p>
          </p:txBody>
        </p:sp>
        <p:sp>
          <p:nvSpPr>
            <p:cNvPr id="96" name="object 96"/>
            <p:cNvSpPr/>
            <p:nvPr/>
          </p:nvSpPr>
          <p:spPr>
            <a:xfrm>
              <a:off x="3959759" y="2278633"/>
              <a:ext cx="0" cy="30480"/>
            </a:xfrm>
            <a:custGeom>
              <a:avLst/>
              <a:gdLst/>
              <a:ahLst/>
              <a:cxnLst/>
              <a:rect l="l" t="t" r="r" b="b"/>
              <a:pathLst>
                <a:path h="30480">
                  <a:moveTo>
                    <a:pt x="0" y="30167"/>
                  </a:moveTo>
                  <a:lnTo>
                    <a:pt x="0" y="0"/>
                  </a:lnTo>
                </a:path>
              </a:pathLst>
            </a:custGeom>
            <a:ln w="11723">
              <a:solidFill>
                <a:srgbClr val="000000"/>
              </a:solidFill>
            </a:ln>
          </p:spPr>
          <p:txBody>
            <a:bodyPr wrap="square" lIns="0" tIns="0" rIns="0" bIns="0" rtlCol="0"/>
            <a:lstStyle/>
            <a:p>
              <a:endParaRPr sz="2400"/>
            </a:p>
          </p:txBody>
        </p:sp>
        <p:sp>
          <p:nvSpPr>
            <p:cNvPr id="97" name="object 97"/>
            <p:cNvSpPr/>
            <p:nvPr/>
          </p:nvSpPr>
          <p:spPr>
            <a:xfrm>
              <a:off x="3936771" y="2272779"/>
              <a:ext cx="133350" cy="99695"/>
            </a:xfrm>
            <a:custGeom>
              <a:avLst/>
              <a:gdLst/>
              <a:ahLst/>
              <a:cxnLst/>
              <a:rect l="l" t="t" r="r" b="b"/>
              <a:pathLst>
                <a:path w="133350" h="99694">
                  <a:moveTo>
                    <a:pt x="45961" y="30327"/>
                  </a:moveTo>
                  <a:lnTo>
                    <a:pt x="0" y="30327"/>
                  </a:lnTo>
                  <a:lnTo>
                    <a:pt x="22987" y="99250"/>
                  </a:lnTo>
                  <a:lnTo>
                    <a:pt x="45961" y="30327"/>
                  </a:lnTo>
                  <a:close/>
                </a:path>
                <a:path w="133350" h="99694">
                  <a:moveTo>
                    <a:pt x="132829" y="0"/>
                  </a:moveTo>
                  <a:lnTo>
                    <a:pt x="939" y="0"/>
                  </a:lnTo>
                  <a:lnTo>
                    <a:pt x="939" y="11722"/>
                  </a:lnTo>
                  <a:lnTo>
                    <a:pt x="132829" y="11722"/>
                  </a:lnTo>
                  <a:lnTo>
                    <a:pt x="132829" y="0"/>
                  </a:lnTo>
                  <a:close/>
                </a:path>
              </a:pathLst>
            </a:custGeom>
            <a:solidFill>
              <a:srgbClr val="000000"/>
            </a:solidFill>
          </p:spPr>
          <p:txBody>
            <a:bodyPr wrap="square" lIns="0" tIns="0" rIns="0" bIns="0" rtlCol="0"/>
            <a:lstStyle/>
            <a:p>
              <a:endParaRPr sz="2400"/>
            </a:p>
          </p:txBody>
        </p:sp>
        <p:sp>
          <p:nvSpPr>
            <p:cNvPr id="98" name="object 98"/>
            <p:cNvSpPr/>
            <p:nvPr/>
          </p:nvSpPr>
          <p:spPr>
            <a:xfrm>
              <a:off x="4003681" y="2190709"/>
              <a:ext cx="0" cy="66040"/>
            </a:xfrm>
            <a:custGeom>
              <a:avLst/>
              <a:gdLst/>
              <a:ahLst/>
              <a:cxnLst/>
              <a:rect l="l" t="t" r="r" b="b"/>
              <a:pathLst>
                <a:path h="66039">
                  <a:moveTo>
                    <a:pt x="0" y="65884"/>
                  </a:moveTo>
                  <a:lnTo>
                    <a:pt x="0" y="0"/>
                  </a:lnTo>
                </a:path>
              </a:pathLst>
            </a:custGeom>
            <a:ln w="11723">
              <a:solidFill>
                <a:srgbClr val="000000"/>
              </a:solidFill>
            </a:ln>
          </p:spPr>
          <p:txBody>
            <a:bodyPr wrap="square" lIns="0" tIns="0" rIns="0" bIns="0" rtlCol="0"/>
            <a:lstStyle/>
            <a:p>
              <a:endParaRPr sz="2400"/>
            </a:p>
          </p:txBody>
        </p:sp>
        <p:sp>
          <p:nvSpPr>
            <p:cNvPr id="99" name="object 99"/>
            <p:cNvSpPr/>
            <p:nvPr/>
          </p:nvSpPr>
          <p:spPr>
            <a:xfrm>
              <a:off x="3915759" y="2366558"/>
              <a:ext cx="40640" cy="0"/>
            </a:xfrm>
            <a:custGeom>
              <a:avLst/>
              <a:gdLst/>
              <a:ahLst/>
              <a:cxnLst/>
              <a:rect l="l" t="t" r="r" b="b"/>
              <a:pathLst>
                <a:path w="40639">
                  <a:moveTo>
                    <a:pt x="40639" y="0"/>
                  </a:moveTo>
                  <a:lnTo>
                    <a:pt x="0" y="0"/>
                  </a:lnTo>
                </a:path>
              </a:pathLst>
            </a:custGeom>
            <a:ln w="11723">
              <a:solidFill>
                <a:srgbClr val="000000"/>
              </a:solidFill>
            </a:ln>
          </p:spPr>
          <p:txBody>
            <a:bodyPr wrap="square" lIns="0" tIns="0" rIns="0" bIns="0" rtlCol="0"/>
            <a:lstStyle/>
            <a:p>
              <a:endParaRPr sz="2400"/>
            </a:p>
          </p:txBody>
        </p:sp>
        <p:sp>
          <p:nvSpPr>
            <p:cNvPr id="100" name="object 100"/>
            <p:cNvSpPr/>
            <p:nvPr/>
          </p:nvSpPr>
          <p:spPr>
            <a:xfrm>
              <a:off x="4041820" y="2284495"/>
              <a:ext cx="12065" cy="82550"/>
            </a:xfrm>
            <a:custGeom>
              <a:avLst/>
              <a:gdLst/>
              <a:ahLst/>
              <a:cxnLst/>
              <a:rect l="l" t="t" r="r" b="b"/>
              <a:pathLst>
                <a:path w="12064" h="82550">
                  <a:moveTo>
                    <a:pt x="0" y="82062"/>
                  </a:moveTo>
                  <a:lnTo>
                    <a:pt x="11723" y="82062"/>
                  </a:lnTo>
                  <a:lnTo>
                    <a:pt x="11723" y="0"/>
                  </a:lnTo>
                  <a:lnTo>
                    <a:pt x="0" y="0"/>
                  </a:lnTo>
                  <a:lnTo>
                    <a:pt x="0" y="82062"/>
                  </a:lnTo>
                  <a:close/>
                </a:path>
              </a:pathLst>
            </a:custGeom>
            <a:solidFill>
              <a:srgbClr val="000000"/>
            </a:solidFill>
          </p:spPr>
          <p:txBody>
            <a:bodyPr wrap="square" lIns="0" tIns="0" rIns="0" bIns="0" rtlCol="0"/>
            <a:lstStyle/>
            <a:p>
              <a:endParaRPr sz="2400"/>
            </a:p>
          </p:txBody>
        </p:sp>
        <p:sp>
          <p:nvSpPr>
            <p:cNvPr id="101" name="object 101"/>
            <p:cNvSpPr/>
            <p:nvPr/>
          </p:nvSpPr>
          <p:spPr>
            <a:xfrm>
              <a:off x="4205942" y="2366558"/>
              <a:ext cx="44450" cy="0"/>
            </a:xfrm>
            <a:custGeom>
              <a:avLst/>
              <a:gdLst/>
              <a:ahLst/>
              <a:cxnLst/>
              <a:rect l="l" t="t" r="r" b="b"/>
              <a:pathLst>
                <a:path w="44450">
                  <a:moveTo>
                    <a:pt x="0" y="0"/>
                  </a:moveTo>
                  <a:lnTo>
                    <a:pt x="43922" y="0"/>
                  </a:lnTo>
                </a:path>
              </a:pathLst>
            </a:custGeom>
            <a:ln w="11723">
              <a:solidFill>
                <a:srgbClr val="000000"/>
              </a:solidFill>
            </a:ln>
          </p:spPr>
          <p:txBody>
            <a:bodyPr wrap="square" lIns="0" tIns="0" rIns="0" bIns="0" rtlCol="0"/>
            <a:lstStyle/>
            <a:p>
              <a:endParaRPr sz="2400"/>
            </a:p>
          </p:txBody>
        </p:sp>
        <p:sp>
          <p:nvSpPr>
            <p:cNvPr id="102" name="object 102"/>
            <p:cNvSpPr/>
            <p:nvPr/>
          </p:nvSpPr>
          <p:spPr>
            <a:xfrm>
              <a:off x="4200081" y="2278633"/>
              <a:ext cx="12065" cy="88265"/>
            </a:xfrm>
            <a:custGeom>
              <a:avLst/>
              <a:gdLst/>
              <a:ahLst/>
              <a:cxnLst/>
              <a:rect l="l" t="t" r="r" b="b"/>
              <a:pathLst>
                <a:path w="12064" h="88264">
                  <a:moveTo>
                    <a:pt x="0" y="87924"/>
                  </a:moveTo>
                  <a:lnTo>
                    <a:pt x="11723" y="87924"/>
                  </a:lnTo>
                  <a:lnTo>
                    <a:pt x="11723" y="0"/>
                  </a:lnTo>
                  <a:lnTo>
                    <a:pt x="0" y="0"/>
                  </a:lnTo>
                  <a:lnTo>
                    <a:pt x="0" y="87924"/>
                  </a:lnTo>
                  <a:close/>
                </a:path>
              </a:pathLst>
            </a:custGeom>
            <a:solidFill>
              <a:srgbClr val="000000"/>
            </a:solidFill>
          </p:spPr>
          <p:txBody>
            <a:bodyPr wrap="square" lIns="0" tIns="0" rIns="0" bIns="0" rtlCol="0"/>
            <a:lstStyle/>
            <a:p>
              <a:endParaRPr sz="2400"/>
            </a:p>
          </p:txBody>
        </p:sp>
        <p:sp>
          <p:nvSpPr>
            <p:cNvPr id="103" name="object 103"/>
            <p:cNvSpPr/>
            <p:nvPr/>
          </p:nvSpPr>
          <p:spPr>
            <a:xfrm>
              <a:off x="4118020" y="2250732"/>
              <a:ext cx="88265" cy="12065"/>
            </a:xfrm>
            <a:custGeom>
              <a:avLst/>
              <a:gdLst/>
              <a:ahLst/>
              <a:cxnLst/>
              <a:rect l="l" t="t" r="r" b="b"/>
              <a:pathLst>
                <a:path w="88264" h="12064">
                  <a:moveTo>
                    <a:pt x="87922" y="0"/>
                  </a:moveTo>
                  <a:lnTo>
                    <a:pt x="0" y="0"/>
                  </a:lnTo>
                  <a:lnTo>
                    <a:pt x="0" y="11723"/>
                  </a:lnTo>
                  <a:lnTo>
                    <a:pt x="87922" y="11723"/>
                  </a:lnTo>
                  <a:lnTo>
                    <a:pt x="87922" y="0"/>
                  </a:lnTo>
                  <a:close/>
                </a:path>
              </a:pathLst>
            </a:custGeom>
            <a:solidFill>
              <a:srgbClr val="000000"/>
            </a:solidFill>
          </p:spPr>
          <p:txBody>
            <a:bodyPr wrap="square" lIns="0" tIns="0" rIns="0" bIns="0" rtlCol="0"/>
            <a:lstStyle/>
            <a:p>
              <a:endParaRPr sz="2400"/>
            </a:p>
          </p:txBody>
        </p:sp>
        <p:sp>
          <p:nvSpPr>
            <p:cNvPr id="104" name="object 104"/>
            <p:cNvSpPr/>
            <p:nvPr/>
          </p:nvSpPr>
          <p:spPr>
            <a:xfrm>
              <a:off x="4118020" y="2278633"/>
              <a:ext cx="0" cy="30480"/>
            </a:xfrm>
            <a:custGeom>
              <a:avLst/>
              <a:gdLst/>
              <a:ahLst/>
              <a:cxnLst/>
              <a:rect l="l" t="t" r="r" b="b"/>
              <a:pathLst>
                <a:path h="30480">
                  <a:moveTo>
                    <a:pt x="0" y="30167"/>
                  </a:moveTo>
                  <a:lnTo>
                    <a:pt x="0" y="0"/>
                  </a:lnTo>
                </a:path>
              </a:pathLst>
            </a:custGeom>
            <a:ln w="11723">
              <a:solidFill>
                <a:srgbClr val="000000"/>
              </a:solidFill>
            </a:ln>
          </p:spPr>
          <p:txBody>
            <a:bodyPr wrap="square" lIns="0" tIns="0" rIns="0" bIns="0" rtlCol="0"/>
            <a:lstStyle/>
            <a:p>
              <a:endParaRPr sz="2400"/>
            </a:p>
          </p:txBody>
        </p:sp>
        <p:sp>
          <p:nvSpPr>
            <p:cNvPr id="105" name="object 105"/>
            <p:cNvSpPr/>
            <p:nvPr/>
          </p:nvSpPr>
          <p:spPr>
            <a:xfrm>
              <a:off x="4095038" y="2272779"/>
              <a:ext cx="133350" cy="99695"/>
            </a:xfrm>
            <a:custGeom>
              <a:avLst/>
              <a:gdLst/>
              <a:ahLst/>
              <a:cxnLst/>
              <a:rect l="l" t="t" r="r" b="b"/>
              <a:pathLst>
                <a:path w="133350" h="99694">
                  <a:moveTo>
                    <a:pt x="45948" y="30327"/>
                  </a:moveTo>
                  <a:lnTo>
                    <a:pt x="0" y="30327"/>
                  </a:lnTo>
                  <a:lnTo>
                    <a:pt x="22974" y="99250"/>
                  </a:lnTo>
                  <a:lnTo>
                    <a:pt x="45948" y="30327"/>
                  </a:lnTo>
                  <a:close/>
                </a:path>
                <a:path w="133350" h="99694">
                  <a:moveTo>
                    <a:pt x="132816" y="0"/>
                  </a:moveTo>
                  <a:lnTo>
                    <a:pt x="939" y="0"/>
                  </a:lnTo>
                  <a:lnTo>
                    <a:pt x="939" y="11722"/>
                  </a:lnTo>
                  <a:lnTo>
                    <a:pt x="132816" y="11722"/>
                  </a:lnTo>
                  <a:lnTo>
                    <a:pt x="132816" y="0"/>
                  </a:lnTo>
                  <a:close/>
                </a:path>
              </a:pathLst>
            </a:custGeom>
            <a:solidFill>
              <a:srgbClr val="000000"/>
            </a:solidFill>
          </p:spPr>
          <p:txBody>
            <a:bodyPr wrap="square" lIns="0" tIns="0" rIns="0" bIns="0" rtlCol="0"/>
            <a:lstStyle/>
            <a:p>
              <a:endParaRPr sz="2400"/>
            </a:p>
          </p:txBody>
        </p:sp>
        <p:sp>
          <p:nvSpPr>
            <p:cNvPr id="106" name="object 106"/>
            <p:cNvSpPr/>
            <p:nvPr/>
          </p:nvSpPr>
          <p:spPr>
            <a:xfrm>
              <a:off x="4161942" y="2190709"/>
              <a:ext cx="0" cy="66040"/>
            </a:xfrm>
            <a:custGeom>
              <a:avLst/>
              <a:gdLst/>
              <a:ahLst/>
              <a:cxnLst/>
              <a:rect l="l" t="t" r="r" b="b"/>
              <a:pathLst>
                <a:path h="66039">
                  <a:moveTo>
                    <a:pt x="0" y="65884"/>
                  </a:moveTo>
                  <a:lnTo>
                    <a:pt x="0" y="0"/>
                  </a:lnTo>
                </a:path>
              </a:pathLst>
            </a:custGeom>
            <a:ln w="11723">
              <a:solidFill>
                <a:srgbClr val="000000"/>
              </a:solidFill>
            </a:ln>
          </p:spPr>
          <p:txBody>
            <a:bodyPr wrap="square" lIns="0" tIns="0" rIns="0" bIns="0" rtlCol="0"/>
            <a:lstStyle/>
            <a:p>
              <a:endParaRPr sz="2400"/>
            </a:p>
          </p:txBody>
        </p:sp>
        <p:sp>
          <p:nvSpPr>
            <p:cNvPr id="107" name="object 107"/>
            <p:cNvSpPr/>
            <p:nvPr/>
          </p:nvSpPr>
          <p:spPr>
            <a:xfrm>
              <a:off x="4074019" y="2366558"/>
              <a:ext cx="40640" cy="0"/>
            </a:xfrm>
            <a:custGeom>
              <a:avLst/>
              <a:gdLst/>
              <a:ahLst/>
              <a:cxnLst/>
              <a:rect l="l" t="t" r="r" b="b"/>
              <a:pathLst>
                <a:path w="40639">
                  <a:moveTo>
                    <a:pt x="40639" y="0"/>
                  </a:moveTo>
                  <a:lnTo>
                    <a:pt x="0" y="0"/>
                  </a:lnTo>
                </a:path>
              </a:pathLst>
            </a:custGeom>
            <a:ln w="11723">
              <a:solidFill>
                <a:srgbClr val="000000"/>
              </a:solidFill>
            </a:ln>
          </p:spPr>
          <p:txBody>
            <a:bodyPr wrap="square" lIns="0" tIns="0" rIns="0" bIns="0" rtlCol="0"/>
            <a:lstStyle/>
            <a:p>
              <a:endParaRPr sz="2400"/>
            </a:p>
          </p:txBody>
        </p:sp>
        <p:sp>
          <p:nvSpPr>
            <p:cNvPr id="108" name="object 108"/>
            <p:cNvSpPr/>
            <p:nvPr/>
          </p:nvSpPr>
          <p:spPr>
            <a:xfrm>
              <a:off x="4200081" y="2284495"/>
              <a:ext cx="12065" cy="82550"/>
            </a:xfrm>
            <a:custGeom>
              <a:avLst/>
              <a:gdLst/>
              <a:ahLst/>
              <a:cxnLst/>
              <a:rect l="l" t="t" r="r" b="b"/>
              <a:pathLst>
                <a:path w="12064" h="82550">
                  <a:moveTo>
                    <a:pt x="0" y="82062"/>
                  </a:moveTo>
                  <a:lnTo>
                    <a:pt x="11723" y="82062"/>
                  </a:lnTo>
                  <a:lnTo>
                    <a:pt x="11723" y="0"/>
                  </a:lnTo>
                  <a:lnTo>
                    <a:pt x="0" y="0"/>
                  </a:lnTo>
                  <a:lnTo>
                    <a:pt x="0" y="82062"/>
                  </a:lnTo>
                  <a:close/>
                </a:path>
              </a:pathLst>
            </a:custGeom>
            <a:solidFill>
              <a:srgbClr val="000000"/>
            </a:solidFill>
          </p:spPr>
          <p:txBody>
            <a:bodyPr wrap="square" lIns="0" tIns="0" rIns="0" bIns="0" rtlCol="0"/>
            <a:lstStyle/>
            <a:p>
              <a:endParaRPr sz="2400"/>
            </a:p>
          </p:txBody>
        </p:sp>
        <p:sp>
          <p:nvSpPr>
            <p:cNvPr id="109" name="object 109"/>
            <p:cNvSpPr/>
            <p:nvPr/>
          </p:nvSpPr>
          <p:spPr>
            <a:xfrm>
              <a:off x="4372956" y="2366714"/>
              <a:ext cx="44450" cy="0"/>
            </a:xfrm>
            <a:custGeom>
              <a:avLst/>
              <a:gdLst/>
              <a:ahLst/>
              <a:cxnLst/>
              <a:rect l="l" t="t" r="r" b="b"/>
              <a:pathLst>
                <a:path w="44450">
                  <a:moveTo>
                    <a:pt x="0" y="0"/>
                  </a:moveTo>
                  <a:lnTo>
                    <a:pt x="44000" y="0"/>
                  </a:lnTo>
                </a:path>
              </a:pathLst>
            </a:custGeom>
            <a:ln w="11723">
              <a:solidFill>
                <a:srgbClr val="000000"/>
              </a:solidFill>
            </a:ln>
          </p:spPr>
          <p:txBody>
            <a:bodyPr wrap="square" lIns="0" tIns="0" rIns="0" bIns="0" rtlCol="0"/>
            <a:lstStyle/>
            <a:p>
              <a:endParaRPr sz="2400"/>
            </a:p>
          </p:txBody>
        </p:sp>
        <p:sp>
          <p:nvSpPr>
            <p:cNvPr id="110" name="object 110"/>
            <p:cNvSpPr/>
            <p:nvPr/>
          </p:nvSpPr>
          <p:spPr>
            <a:xfrm>
              <a:off x="4367094" y="2278789"/>
              <a:ext cx="12065" cy="88265"/>
            </a:xfrm>
            <a:custGeom>
              <a:avLst/>
              <a:gdLst/>
              <a:ahLst/>
              <a:cxnLst/>
              <a:rect l="l" t="t" r="r" b="b"/>
              <a:pathLst>
                <a:path w="12064" h="88264">
                  <a:moveTo>
                    <a:pt x="0" y="87924"/>
                  </a:moveTo>
                  <a:lnTo>
                    <a:pt x="11723" y="87924"/>
                  </a:lnTo>
                  <a:lnTo>
                    <a:pt x="11723" y="0"/>
                  </a:lnTo>
                  <a:lnTo>
                    <a:pt x="0" y="0"/>
                  </a:lnTo>
                  <a:lnTo>
                    <a:pt x="0" y="87924"/>
                  </a:lnTo>
                  <a:close/>
                </a:path>
              </a:pathLst>
            </a:custGeom>
            <a:solidFill>
              <a:srgbClr val="000000"/>
            </a:solidFill>
          </p:spPr>
          <p:txBody>
            <a:bodyPr wrap="square" lIns="0" tIns="0" rIns="0" bIns="0" rtlCol="0"/>
            <a:lstStyle/>
            <a:p>
              <a:endParaRPr sz="2400"/>
            </a:p>
          </p:txBody>
        </p:sp>
        <p:sp>
          <p:nvSpPr>
            <p:cNvPr id="111" name="object 111"/>
            <p:cNvSpPr/>
            <p:nvPr/>
          </p:nvSpPr>
          <p:spPr>
            <a:xfrm>
              <a:off x="4285033" y="2250888"/>
              <a:ext cx="88265" cy="12065"/>
            </a:xfrm>
            <a:custGeom>
              <a:avLst/>
              <a:gdLst/>
              <a:ahLst/>
              <a:cxnLst/>
              <a:rect l="l" t="t" r="r" b="b"/>
              <a:pathLst>
                <a:path w="88264" h="12064">
                  <a:moveTo>
                    <a:pt x="87922" y="0"/>
                  </a:moveTo>
                  <a:lnTo>
                    <a:pt x="0" y="0"/>
                  </a:lnTo>
                  <a:lnTo>
                    <a:pt x="0" y="11723"/>
                  </a:lnTo>
                  <a:lnTo>
                    <a:pt x="87922" y="11723"/>
                  </a:lnTo>
                  <a:lnTo>
                    <a:pt x="87922" y="0"/>
                  </a:lnTo>
                  <a:close/>
                </a:path>
              </a:pathLst>
            </a:custGeom>
            <a:solidFill>
              <a:srgbClr val="000000"/>
            </a:solidFill>
          </p:spPr>
          <p:txBody>
            <a:bodyPr wrap="square" lIns="0" tIns="0" rIns="0" bIns="0" rtlCol="0"/>
            <a:lstStyle/>
            <a:p>
              <a:endParaRPr sz="2400"/>
            </a:p>
          </p:txBody>
        </p:sp>
        <p:sp>
          <p:nvSpPr>
            <p:cNvPr id="112" name="object 112"/>
            <p:cNvSpPr/>
            <p:nvPr/>
          </p:nvSpPr>
          <p:spPr>
            <a:xfrm>
              <a:off x="4285033" y="2278789"/>
              <a:ext cx="0" cy="30480"/>
            </a:xfrm>
            <a:custGeom>
              <a:avLst/>
              <a:gdLst/>
              <a:ahLst/>
              <a:cxnLst/>
              <a:rect l="l" t="t" r="r" b="b"/>
              <a:pathLst>
                <a:path h="30480">
                  <a:moveTo>
                    <a:pt x="0" y="30167"/>
                  </a:moveTo>
                  <a:lnTo>
                    <a:pt x="0" y="0"/>
                  </a:lnTo>
                </a:path>
              </a:pathLst>
            </a:custGeom>
            <a:ln w="11723">
              <a:solidFill>
                <a:srgbClr val="000000"/>
              </a:solidFill>
            </a:ln>
          </p:spPr>
          <p:txBody>
            <a:bodyPr wrap="square" lIns="0" tIns="0" rIns="0" bIns="0" rtlCol="0"/>
            <a:lstStyle/>
            <a:p>
              <a:endParaRPr sz="2400"/>
            </a:p>
          </p:txBody>
        </p:sp>
        <p:sp>
          <p:nvSpPr>
            <p:cNvPr id="113" name="object 113"/>
            <p:cNvSpPr/>
            <p:nvPr/>
          </p:nvSpPr>
          <p:spPr>
            <a:xfrm>
              <a:off x="4262056" y="2272931"/>
              <a:ext cx="133350" cy="99695"/>
            </a:xfrm>
            <a:custGeom>
              <a:avLst/>
              <a:gdLst/>
              <a:ahLst/>
              <a:cxnLst/>
              <a:rect l="l" t="t" r="r" b="b"/>
              <a:pathLst>
                <a:path w="133350" h="99694">
                  <a:moveTo>
                    <a:pt x="45948" y="30327"/>
                  </a:moveTo>
                  <a:lnTo>
                    <a:pt x="0" y="30327"/>
                  </a:lnTo>
                  <a:lnTo>
                    <a:pt x="22974" y="99263"/>
                  </a:lnTo>
                  <a:lnTo>
                    <a:pt x="45948" y="30327"/>
                  </a:lnTo>
                  <a:close/>
                </a:path>
                <a:path w="133350" h="99694">
                  <a:moveTo>
                    <a:pt x="132892" y="0"/>
                  </a:moveTo>
                  <a:lnTo>
                    <a:pt x="1016" y="0"/>
                  </a:lnTo>
                  <a:lnTo>
                    <a:pt x="1016" y="11722"/>
                  </a:lnTo>
                  <a:lnTo>
                    <a:pt x="132892" y="11722"/>
                  </a:lnTo>
                  <a:lnTo>
                    <a:pt x="132892" y="0"/>
                  </a:lnTo>
                  <a:close/>
                </a:path>
              </a:pathLst>
            </a:custGeom>
            <a:solidFill>
              <a:srgbClr val="000000"/>
            </a:solidFill>
          </p:spPr>
          <p:txBody>
            <a:bodyPr wrap="square" lIns="0" tIns="0" rIns="0" bIns="0" rtlCol="0"/>
            <a:lstStyle/>
            <a:p>
              <a:endParaRPr sz="2400"/>
            </a:p>
          </p:txBody>
        </p:sp>
        <p:sp>
          <p:nvSpPr>
            <p:cNvPr id="114" name="object 114"/>
            <p:cNvSpPr/>
            <p:nvPr/>
          </p:nvSpPr>
          <p:spPr>
            <a:xfrm>
              <a:off x="4329034" y="2190865"/>
              <a:ext cx="0" cy="66040"/>
            </a:xfrm>
            <a:custGeom>
              <a:avLst/>
              <a:gdLst/>
              <a:ahLst/>
              <a:cxnLst/>
              <a:rect l="l" t="t" r="r" b="b"/>
              <a:pathLst>
                <a:path h="66039">
                  <a:moveTo>
                    <a:pt x="0" y="65884"/>
                  </a:moveTo>
                  <a:lnTo>
                    <a:pt x="0" y="0"/>
                  </a:lnTo>
                </a:path>
              </a:pathLst>
            </a:custGeom>
            <a:ln w="11723">
              <a:solidFill>
                <a:srgbClr val="000000"/>
              </a:solidFill>
            </a:ln>
          </p:spPr>
          <p:txBody>
            <a:bodyPr wrap="square" lIns="0" tIns="0" rIns="0" bIns="0" rtlCol="0"/>
            <a:lstStyle/>
            <a:p>
              <a:endParaRPr sz="2400"/>
            </a:p>
          </p:txBody>
        </p:sp>
        <p:sp>
          <p:nvSpPr>
            <p:cNvPr id="115" name="object 115"/>
            <p:cNvSpPr/>
            <p:nvPr/>
          </p:nvSpPr>
          <p:spPr>
            <a:xfrm>
              <a:off x="4241111" y="2366714"/>
              <a:ext cx="40640" cy="0"/>
            </a:xfrm>
            <a:custGeom>
              <a:avLst/>
              <a:gdLst/>
              <a:ahLst/>
              <a:cxnLst/>
              <a:rect l="l" t="t" r="r" b="b"/>
              <a:pathLst>
                <a:path w="40639">
                  <a:moveTo>
                    <a:pt x="40639" y="0"/>
                  </a:moveTo>
                  <a:lnTo>
                    <a:pt x="0" y="0"/>
                  </a:lnTo>
                </a:path>
              </a:pathLst>
            </a:custGeom>
            <a:ln w="11723">
              <a:solidFill>
                <a:srgbClr val="000000"/>
              </a:solidFill>
            </a:ln>
          </p:spPr>
          <p:txBody>
            <a:bodyPr wrap="square" lIns="0" tIns="0" rIns="0" bIns="0" rtlCol="0"/>
            <a:lstStyle/>
            <a:p>
              <a:endParaRPr sz="2400"/>
            </a:p>
          </p:txBody>
        </p:sp>
        <p:sp>
          <p:nvSpPr>
            <p:cNvPr id="116" name="object 116"/>
            <p:cNvSpPr/>
            <p:nvPr/>
          </p:nvSpPr>
          <p:spPr>
            <a:xfrm>
              <a:off x="4367094" y="2284651"/>
              <a:ext cx="12065" cy="82550"/>
            </a:xfrm>
            <a:custGeom>
              <a:avLst/>
              <a:gdLst/>
              <a:ahLst/>
              <a:cxnLst/>
              <a:rect l="l" t="t" r="r" b="b"/>
              <a:pathLst>
                <a:path w="12064" h="82550">
                  <a:moveTo>
                    <a:pt x="0" y="82062"/>
                  </a:moveTo>
                  <a:lnTo>
                    <a:pt x="11723" y="82062"/>
                  </a:lnTo>
                  <a:lnTo>
                    <a:pt x="11723" y="0"/>
                  </a:lnTo>
                  <a:lnTo>
                    <a:pt x="0" y="0"/>
                  </a:lnTo>
                  <a:lnTo>
                    <a:pt x="0" y="82062"/>
                  </a:lnTo>
                  <a:close/>
                </a:path>
              </a:pathLst>
            </a:custGeom>
            <a:solidFill>
              <a:srgbClr val="000000"/>
            </a:solidFill>
          </p:spPr>
          <p:txBody>
            <a:bodyPr wrap="square" lIns="0" tIns="0" rIns="0" bIns="0" rtlCol="0"/>
            <a:lstStyle/>
            <a:p>
              <a:endParaRPr sz="2400"/>
            </a:p>
          </p:txBody>
        </p:sp>
        <p:sp>
          <p:nvSpPr>
            <p:cNvPr id="117" name="object 117"/>
            <p:cNvSpPr/>
            <p:nvPr/>
          </p:nvSpPr>
          <p:spPr>
            <a:xfrm>
              <a:off x="4531217" y="2366714"/>
              <a:ext cx="44450" cy="0"/>
            </a:xfrm>
            <a:custGeom>
              <a:avLst/>
              <a:gdLst/>
              <a:ahLst/>
              <a:cxnLst/>
              <a:rect l="l" t="t" r="r" b="b"/>
              <a:pathLst>
                <a:path w="44450">
                  <a:moveTo>
                    <a:pt x="0" y="0"/>
                  </a:moveTo>
                  <a:lnTo>
                    <a:pt x="44000" y="0"/>
                  </a:lnTo>
                </a:path>
              </a:pathLst>
            </a:custGeom>
            <a:ln w="11723">
              <a:solidFill>
                <a:srgbClr val="000000"/>
              </a:solidFill>
            </a:ln>
          </p:spPr>
          <p:txBody>
            <a:bodyPr wrap="square" lIns="0" tIns="0" rIns="0" bIns="0" rtlCol="0"/>
            <a:lstStyle/>
            <a:p>
              <a:endParaRPr sz="2400"/>
            </a:p>
          </p:txBody>
        </p:sp>
        <p:sp>
          <p:nvSpPr>
            <p:cNvPr id="118" name="object 118"/>
            <p:cNvSpPr/>
            <p:nvPr/>
          </p:nvSpPr>
          <p:spPr>
            <a:xfrm>
              <a:off x="4525355" y="2278789"/>
              <a:ext cx="12065" cy="88265"/>
            </a:xfrm>
            <a:custGeom>
              <a:avLst/>
              <a:gdLst/>
              <a:ahLst/>
              <a:cxnLst/>
              <a:rect l="l" t="t" r="r" b="b"/>
              <a:pathLst>
                <a:path w="12064" h="88264">
                  <a:moveTo>
                    <a:pt x="0" y="87924"/>
                  </a:moveTo>
                  <a:lnTo>
                    <a:pt x="11723" y="87924"/>
                  </a:lnTo>
                  <a:lnTo>
                    <a:pt x="11723" y="0"/>
                  </a:lnTo>
                  <a:lnTo>
                    <a:pt x="0" y="0"/>
                  </a:lnTo>
                  <a:lnTo>
                    <a:pt x="0" y="87924"/>
                  </a:lnTo>
                  <a:close/>
                </a:path>
              </a:pathLst>
            </a:custGeom>
            <a:solidFill>
              <a:srgbClr val="000000"/>
            </a:solidFill>
          </p:spPr>
          <p:txBody>
            <a:bodyPr wrap="square" lIns="0" tIns="0" rIns="0" bIns="0" rtlCol="0"/>
            <a:lstStyle/>
            <a:p>
              <a:endParaRPr sz="2400"/>
            </a:p>
          </p:txBody>
        </p:sp>
        <p:sp>
          <p:nvSpPr>
            <p:cNvPr id="119" name="object 119"/>
            <p:cNvSpPr/>
            <p:nvPr/>
          </p:nvSpPr>
          <p:spPr>
            <a:xfrm>
              <a:off x="4443294" y="2250888"/>
              <a:ext cx="88265" cy="12065"/>
            </a:xfrm>
            <a:custGeom>
              <a:avLst/>
              <a:gdLst/>
              <a:ahLst/>
              <a:cxnLst/>
              <a:rect l="l" t="t" r="r" b="b"/>
              <a:pathLst>
                <a:path w="88264" h="12064">
                  <a:moveTo>
                    <a:pt x="87922" y="0"/>
                  </a:moveTo>
                  <a:lnTo>
                    <a:pt x="0" y="0"/>
                  </a:lnTo>
                  <a:lnTo>
                    <a:pt x="0" y="11723"/>
                  </a:lnTo>
                  <a:lnTo>
                    <a:pt x="87922" y="11723"/>
                  </a:lnTo>
                  <a:lnTo>
                    <a:pt x="87922" y="0"/>
                  </a:lnTo>
                  <a:close/>
                </a:path>
              </a:pathLst>
            </a:custGeom>
            <a:solidFill>
              <a:srgbClr val="000000"/>
            </a:solidFill>
          </p:spPr>
          <p:txBody>
            <a:bodyPr wrap="square" lIns="0" tIns="0" rIns="0" bIns="0" rtlCol="0"/>
            <a:lstStyle/>
            <a:p>
              <a:endParaRPr sz="2400"/>
            </a:p>
          </p:txBody>
        </p:sp>
        <p:sp>
          <p:nvSpPr>
            <p:cNvPr id="120" name="object 120"/>
            <p:cNvSpPr/>
            <p:nvPr/>
          </p:nvSpPr>
          <p:spPr>
            <a:xfrm>
              <a:off x="4443294" y="2278789"/>
              <a:ext cx="0" cy="30480"/>
            </a:xfrm>
            <a:custGeom>
              <a:avLst/>
              <a:gdLst/>
              <a:ahLst/>
              <a:cxnLst/>
              <a:rect l="l" t="t" r="r" b="b"/>
              <a:pathLst>
                <a:path h="30480">
                  <a:moveTo>
                    <a:pt x="0" y="30167"/>
                  </a:moveTo>
                  <a:lnTo>
                    <a:pt x="0" y="0"/>
                  </a:lnTo>
                </a:path>
              </a:pathLst>
            </a:custGeom>
            <a:ln w="11723">
              <a:solidFill>
                <a:srgbClr val="000000"/>
              </a:solidFill>
            </a:ln>
          </p:spPr>
          <p:txBody>
            <a:bodyPr wrap="square" lIns="0" tIns="0" rIns="0" bIns="0" rtlCol="0"/>
            <a:lstStyle/>
            <a:p>
              <a:endParaRPr sz="2400"/>
            </a:p>
          </p:txBody>
        </p:sp>
        <p:sp>
          <p:nvSpPr>
            <p:cNvPr id="121" name="object 121"/>
            <p:cNvSpPr/>
            <p:nvPr/>
          </p:nvSpPr>
          <p:spPr>
            <a:xfrm>
              <a:off x="4420311" y="2272931"/>
              <a:ext cx="133350" cy="99695"/>
            </a:xfrm>
            <a:custGeom>
              <a:avLst/>
              <a:gdLst/>
              <a:ahLst/>
              <a:cxnLst/>
              <a:rect l="l" t="t" r="r" b="b"/>
              <a:pathLst>
                <a:path w="133350" h="99694">
                  <a:moveTo>
                    <a:pt x="45948" y="30327"/>
                  </a:moveTo>
                  <a:lnTo>
                    <a:pt x="0" y="30327"/>
                  </a:lnTo>
                  <a:lnTo>
                    <a:pt x="22974" y="99263"/>
                  </a:lnTo>
                  <a:lnTo>
                    <a:pt x="45948" y="30327"/>
                  </a:lnTo>
                  <a:close/>
                </a:path>
                <a:path w="133350" h="99694">
                  <a:moveTo>
                    <a:pt x="132905" y="0"/>
                  </a:moveTo>
                  <a:lnTo>
                    <a:pt x="1016" y="0"/>
                  </a:lnTo>
                  <a:lnTo>
                    <a:pt x="1016" y="11722"/>
                  </a:lnTo>
                  <a:lnTo>
                    <a:pt x="132905" y="11722"/>
                  </a:lnTo>
                  <a:lnTo>
                    <a:pt x="132905" y="0"/>
                  </a:lnTo>
                  <a:close/>
                </a:path>
              </a:pathLst>
            </a:custGeom>
            <a:solidFill>
              <a:srgbClr val="000000"/>
            </a:solidFill>
          </p:spPr>
          <p:txBody>
            <a:bodyPr wrap="square" lIns="0" tIns="0" rIns="0" bIns="0" rtlCol="0"/>
            <a:lstStyle/>
            <a:p>
              <a:endParaRPr sz="2400"/>
            </a:p>
          </p:txBody>
        </p:sp>
        <p:sp>
          <p:nvSpPr>
            <p:cNvPr id="122" name="object 122"/>
            <p:cNvSpPr/>
            <p:nvPr/>
          </p:nvSpPr>
          <p:spPr>
            <a:xfrm>
              <a:off x="4487294" y="2190865"/>
              <a:ext cx="0" cy="66040"/>
            </a:xfrm>
            <a:custGeom>
              <a:avLst/>
              <a:gdLst/>
              <a:ahLst/>
              <a:cxnLst/>
              <a:rect l="l" t="t" r="r" b="b"/>
              <a:pathLst>
                <a:path h="66039">
                  <a:moveTo>
                    <a:pt x="0" y="65884"/>
                  </a:moveTo>
                  <a:lnTo>
                    <a:pt x="0" y="0"/>
                  </a:lnTo>
                </a:path>
              </a:pathLst>
            </a:custGeom>
            <a:ln w="11723">
              <a:solidFill>
                <a:srgbClr val="000000"/>
              </a:solidFill>
            </a:ln>
          </p:spPr>
          <p:txBody>
            <a:bodyPr wrap="square" lIns="0" tIns="0" rIns="0" bIns="0" rtlCol="0"/>
            <a:lstStyle/>
            <a:p>
              <a:endParaRPr sz="2400"/>
            </a:p>
          </p:txBody>
        </p:sp>
        <p:sp>
          <p:nvSpPr>
            <p:cNvPr id="123" name="object 123"/>
            <p:cNvSpPr/>
            <p:nvPr/>
          </p:nvSpPr>
          <p:spPr>
            <a:xfrm>
              <a:off x="4399372" y="2366714"/>
              <a:ext cx="40640" cy="0"/>
            </a:xfrm>
            <a:custGeom>
              <a:avLst/>
              <a:gdLst/>
              <a:ahLst/>
              <a:cxnLst/>
              <a:rect l="l" t="t" r="r" b="b"/>
              <a:pathLst>
                <a:path w="40639">
                  <a:moveTo>
                    <a:pt x="40639" y="0"/>
                  </a:moveTo>
                  <a:lnTo>
                    <a:pt x="0" y="0"/>
                  </a:lnTo>
                </a:path>
              </a:pathLst>
            </a:custGeom>
            <a:ln w="11723">
              <a:solidFill>
                <a:srgbClr val="000000"/>
              </a:solidFill>
            </a:ln>
          </p:spPr>
          <p:txBody>
            <a:bodyPr wrap="square" lIns="0" tIns="0" rIns="0" bIns="0" rtlCol="0"/>
            <a:lstStyle/>
            <a:p>
              <a:endParaRPr sz="2400"/>
            </a:p>
          </p:txBody>
        </p:sp>
        <p:sp>
          <p:nvSpPr>
            <p:cNvPr id="124" name="object 124"/>
            <p:cNvSpPr/>
            <p:nvPr/>
          </p:nvSpPr>
          <p:spPr>
            <a:xfrm>
              <a:off x="4525355" y="2284651"/>
              <a:ext cx="12065" cy="82550"/>
            </a:xfrm>
            <a:custGeom>
              <a:avLst/>
              <a:gdLst/>
              <a:ahLst/>
              <a:cxnLst/>
              <a:rect l="l" t="t" r="r" b="b"/>
              <a:pathLst>
                <a:path w="12064" h="82550">
                  <a:moveTo>
                    <a:pt x="0" y="82062"/>
                  </a:moveTo>
                  <a:lnTo>
                    <a:pt x="11723" y="82062"/>
                  </a:lnTo>
                  <a:lnTo>
                    <a:pt x="11723" y="0"/>
                  </a:lnTo>
                  <a:lnTo>
                    <a:pt x="0" y="0"/>
                  </a:lnTo>
                  <a:lnTo>
                    <a:pt x="0" y="82062"/>
                  </a:lnTo>
                  <a:close/>
                </a:path>
              </a:pathLst>
            </a:custGeom>
            <a:solidFill>
              <a:srgbClr val="000000"/>
            </a:solidFill>
          </p:spPr>
          <p:txBody>
            <a:bodyPr wrap="square" lIns="0" tIns="0" rIns="0" bIns="0" rtlCol="0"/>
            <a:lstStyle/>
            <a:p>
              <a:endParaRPr sz="2400"/>
            </a:p>
          </p:txBody>
        </p:sp>
        <p:sp>
          <p:nvSpPr>
            <p:cNvPr id="125" name="object 125"/>
            <p:cNvSpPr/>
            <p:nvPr/>
          </p:nvSpPr>
          <p:spPr>
            <a:xfrm>
              <a:off x="3669576" y="2366558"/>
              <a:ext cx="1125855" cy="635"/>
            </a:xfrm>
            <a:custGeom>
              <a:avLst/>
              <a:gdLst/>
              <a:ahLst/>
              <a:cxnLst/>
              <a:rect l="l" t="t" r="r" b="b"/>
              <a:pathLst>
                <a:path w="1125854" h="635">
                  <a:moveTo>
                    <a:pt x="246183" y="0"/>
                  </a:moveTo>
                  <a:lnTo>
                    <a:pt x="0" y="0"/>
                  </a:lnTo>
                </a:path>
                <a:path w="1125854" h="635">
                  <a:moveTo>
                    <a:pt x="905641" y="156"/>
                  </a:moveTo>
                  <a:lnTo>
                    <a:pt x="1125408" y="156"/>
                  </a:lnTo>
                </a:path>
              </a:pathLst>
            </a:custGeom>
            <a:ln w="5861">
              <a:solidFill>
                <a:srgbClr val="000000"/>
              </a:solidFill>
            </a:ln>
          </p:spPr>
          <p:txBody>
            <a:bodyPr wrap="square" lIns="0" tIns="0" rIns="0" bIns="0" rtlCol="0"/>
            <a:lstStyle/>
            <a:p>
              <a:endParaRPr sz="2400"/>
            </a:p>
          </p:txBody>
        </p:sp>
      </p:grpSp>
      <p:sp>
        <p:nvSpPr>
          <p:cNvPr id="126" name="object 126"/>
          <p:cNvSpPr txBox="1"/>
          <p:nvPr/>
        </p:nvSpPr>
        <p:spPr>
          <a:xfrm>
            <a:off x="6247658" y="2721406"/>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1X</a:t>
            </a:r>
            <a:endParaRPr sz="1467">
              <a:latin typeface="Arial"/>
              <a:cs typeface="Arial"/>
            </a:endParaRPr>
          </a:p>
        </p:txBody>
      </p:sp>
      <p:grpSp>
        <p:nvGrpSpPr>
          <p:cNvPr id="127" name="object 127"/>
          <p:cNvGrpSpPr/>
          <p:nvPr/>
        </p:nvGrpSpPr>
        <p:grpSpPr>
          <a:xfrm>
            <a:off x="5323351" y="2423687"/>
            <a:ext cx="815340" cy="286172"/>
            <a:chOff x="3879369" y="1979690"/>
            <a:chExt cx="611505" cy="214629"/>
          </a:xfrm>
        </p:grpSpPr>
        <p:sp>
          <p:nvSpPr>
            <p:cNvPr id="128" name="object 128"/>
            <p:cNvSpPr/>
            <p:nvPr/>
          </p:nvSpPr>
          <p:spPr>
            <a:xfrm>
              <a:off x="3882544" y="2190865"/>
              <a:ext cx="605155" cy="0"/>
            </a:xfrm>
            <a:custGeom>
              <a:avLst/>
              <a:gdLst/>
              <a:ahLst/>
              <a:cxnLst/>
              <a:rect l="l" t="t" r="r" b="b"/>
              <a:pathLst>
                <a:path w="605154">
                  <a:moveTo>
                    <a:pt x="0" y="0"/>
                  </a:moveTo>
                  <a:lnTo>
                    <a:pt x="604750" y="0"/>
                  </a:lnTo>
                </a:path>
              </a:pathLst>
            </a:custGeom>
            <a:ln w="5861">
              <a:solidFill>
                <a:srgbClr val="000000"/>
              </a:solidFill>
            </a:ln>
          </p:spPr>
          <p:txBody>
            <a:bodyPr wrap="square" lIns="0" tIns="0" rIns="0" bIns="0" rtlCol="0"/>
            <a:lstStyle/>
            <a:p>
              <a:endParaRPr sz="2400"/>
            </a:p>
          </p:txBody>
        </p:sp>
        <p:pic>
          <p:nvPicPr>
            <p:cNvPr id="129" name="object 129"/>
            <p:cNvPicPr/>
            <p:nvPr/>
          </p:nvPicPr>
          <p:blipFill>
            <a:blip r:embed="rId10" cstate="print"/>
            <a:stretch>
              <a:fillRect/>
            </a:stretch>
          </p:blipFill>
          <p:spPr>
            <a:xfrm>
              <a:off x="4065266" y="1979690"/>
              <a:ext cx="342858" cy="181867"/>
            </a:xfrm>
            <a:prstGeom prst="rect">
              <a:avLst/>
            </a:prstGeom>
          </p:spPr>
        </p:pic>
      </p:grpSp>
      <p:sp>
        <p:nvSpPr>
          <p:cNvPr id="130" name="object 130"/>
          <p:cNvSpPr txBox="1"/>
          <p:nvPr/>
        </p:nvSpPr>
        <p:spPr>
          <a:xfrm>
            <a:off x="5129646" y="2639291"/>
            <a:ext cx="296333"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&lt;0&gt;</a:t>
            </a:r>
            <a:endParaRPr sz="1467">
              <a:latin typeface="Arial"/>
              <a:cs typeface="Arial"/>
            </a:endParaRPr>
          </a:p>
        </p:txBody>
      </p:sp>
      <p:sp>
        <p:nvSpPr>
          <p:cNvPr id="131" name="object 131"/>
          <p:cNvSpPr/>
          <p:nvPr/>
        </p:nvSpPr>
        <p:spPr>
          <a:xfrm>
            <a:off x="5046231" y="2423895"/>
            <a:ext cx="1496060" cy="234527"/>
          </a:xfrm>
          <a:custGeom>
            <a:avLst/>
            <a:gdLst/>
            <a:ahLst/>
            <a:cxnLst/>
            <a:rect l="l" t="t" r="r" b="b"/>
            <a:pathLst>
              <a:path w="1122045" h="175894">
                <a:moveTo>
                  <a:pt x="393736" y="175692"/>
                </a:moveTo>
                <a:lnTo>
                  <a:pt x="0" y="175692"/>
                </a:lnTo>
              </a:path>
              <a:path w="1122045" h="175894">
                <a:moveTo>
                  <a:pt x="156306" y="0"/>
                </a:moveTo>
                <a:lnTo>
                  <a:pt x="648673" y="0"/>
                </a:lnTo>
              </a:path>
              <a:path w="1122045" h="175894">
                <a:moveTo>
                  <a:pt x="1121501" y="175849"/>
                </a:moveTo>
                <a:lnTo>
                  <a:pt x="736595" y="175849"/>
                </a:lnTo>
              </a:path>
            </a:pathLst>
          </a:custGeom>
          <a:ln w="5861">
            <a:solidFill>
              <a:srgbClr val="000000"/>
            </a:solidFill>
          </a:ln>
        </p:spPr>
        <p:txBody>
          <a:bodyPr wrap="square" lIns="0" tIns="0" rIns="0" bIns="0" rtlCol="0"/>
          <a:lstStyle/>
          <a:p>
            <a:endParaRPr sz="2400"/>
          </a:p>
        </p:txBody>
      </p:sp>
      <p:sp>
        <p:nvSpPr>
          <p:cNvPr id="132" name="object 132"/>
          <p:cNvSpPr txBox="1"/>
          <p:nvPr/>
        </p:nvSpPr>
        <p:spPr>
          <a:xfrm>
            <a:off x="5129646" y="2368926"/>
            <a:ext cx="296333"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&lt;1&gt;</a:t>
            </a:r>
            <a:endParaRPr sz="1467">
              <a:latin typeface="Arial"/>
              <a:cs typeface="Arial"/>
            </a:endParaRPr>
          </a:p>
        </p:txBody>
      </p:sp>
      <p:grpSp>
        <p:nvGrpSpPr>
          <p:cNvPr id="133" name="object 133"/>
          <p:cNvGrpSpPr/>
          <p:nvPr/>
        </p:nvGrpSpPr>
        <p:grpSpPr>
          <a:xfrm>
            <a:off x="5039393" y="1669372"/>
            <a:ext cx="1509607" cy="1275080"/>
            <a:chOff x="3666401" y="1413954"/>
            <a:chExt cx="1132205" cy="956310"/>
          </a:xfrm>
        </p:grpSpPr>
        <p:sp>
          <p:nvSpPr>
            <p:cNvPr id="134" name="object 134"/>
            <p:cNvSpPr/>
            <p:nvPr/>
          </p:nvSpPr>
          <p:spPr>
            <a:xfrm>
              <a:off x="3669576" y="1417129"/>
              <a:ext cx="1125855" cy="949960"/>
            </a:xfrm>
            <a:custGeom>
              <a:avLst/>
              <a:gdLst/>
              <a:ahLst/>
              <a:cxnLst/>
              <a:rect l="l" t="t" r="r" b="b"/>
              <a:pathLst>
                <a:path w="1125854" h="949960">
                  <a:moveTo>
                    <a:pt x="0" y="949428"/>
                  </a:moveTo>
                  <a:lnTo>
                    <a:pt x="0" y="0"/>
                  </a:lnTo>
                </a:path>
                <a:path w="1125854" h="949960">
                  <a:moveTo>
                    <a:pt x="1125408" y="949584"/>
                  </a:moveTo>
                  <a:lnTo>
                    <a:pt x="1125408" y="0"/>
                  </a:lnTo>
                </a:path>
              </a:pathLst>
            </a:custGeom>
            <a:ln w="5861">
              <a:solidFill>
                <a:srgbClr val="000000"/>
              </a:solidFill>
            </a:ln>
          </p:spPr>
          <p:txBody>
            <a:bodyPr wrap="square" lIns="0" tIns="0" rIns="0" bIns="0" rtlCol="0"/>
            <a:lstStyle/>
            <a:p>
              <a:endParaRPr sz="2400"/>
            </a:p>
          </p:txBody>
        </p:sp>
        <p:pic>
          <p:nvPicPr>
            <p:cNvPr id="135" name="object 135"/>
            <p:cNvPicPr/>
            <p:nvPr/>
          </p:nvPicPr>
          <p:blipFill>
            <a:blip r:embed="rId11" cstate="print"/>
            <a:stretch>
              <a:fillRect/>
            </a:stretch>
          </p:blipFill>
          <p:spPr>
            <a:xfrm>
              <a:off x="4144357" y="1733657"/>
              <a:ext cx="175845" cy="181710"/>
            </a:xfrm>
            <a:prstGeom prst="rect">
              <a:avLst/>
            </a:prstGeom>
          </p:spPr>
        </p:pic>
        <p:sp>
          <p:nvSpPr>
            <p:cNvPr id="136" name="object 136"/>
            <p:cNvSpPr/>
            <p:nvPr/>
          </p:nvSpPr>
          <p:spPr>
            <a:xfrm>
              <a:off x="3673483" y="1909506"/>
              <a:ext cx="1117600" cy="0"/>
            </a:xfrm>
            <a:custGeom>
              <a:avLst/>
              <a:gdLst/>
              <a:ahLst/>
              <a:cxnLst/>
              <a:rect l="l" t="t" r="r" b="b"/>
              <a:pathLst>
                <a:path w="1117600">
                  <a:moveTo>
                    <a:pt x="470874" y="0"/>
                  </a:moveTo>
                  <a:lnTo>
                    <a:pt x="0" y="0"/>
                  </a:lnTo>
                </a:path>
                <a:path w="1117600">
                  <a:moveTo>
                    <a:pt x="1117593" y="0"/>
                  </a:moveTo>
                  <a:lnTo>
                    <a:pt x="646719" y="0"/>
                  </a:lnTo>
                </a:path>
              </a:pathLst>
            </a:custGeom>
            <a:ln w="5861">
              <a:solidFill>
                <a:srgbClr val="000000"/>
              </a:solidFill>
            </a:ln>
          </p:spPr>
          <p:txBody>
            <a:bodyPr wrap="square" lIns="0" tIns="0" rIns="0" bIns="0" rtlCol="0"/>
            <a:lstStyle/>
            <a:p>
              <a:endParaRPr sz="2400"/>
            </a:p>
          </p:txBody>
        </p:sp>
      </p:grpSp>
      <p:sp>
        <p:nvSpPr>
          <p:cNvPr id="137" name="object 137"/>
          <p:cNvSpPr txBox="1"/>
          <p:nvPr/>
        </p:nvSpPr>
        <p:spPr>
          <a:xfrm>
            <a:off x="6235987" y="2438952"/>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1X</a:t>
            </a:r>
            <a:endParaRPr sz="1467">
              <a:latin typeface="Arial"/>
              <a:cs typeface="Arial"/>
            </a:endParaRPr>
          </a:p>
        </p:txBody>
      </p:sp>
      <p:sp>
        <p:nvSpPr>
          <p:cNvPr id="138" name="object 138"/>
          <p:cNvSpPr txBox="1"/>
          <p:nvPr/>
        </p:nvSpPr>
        <p:spPr>
          <a:xfrm>
            <a:off x="6225046" y="2109972"/>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1X</a:t>
            </a:r>
            <a:endParaRPr sz="1467">
              <a:latin typeface="Arial"/>
              <a:cs typeface="Arial"/>
            </a:endParaRPr>
          </a:p>
        </p:txBody>
      </p:sp>
      <p:sp>
        <p:nvSpPr>
          <p:cNvPr id="139" name="object 139"/>
          <p:cNvSpPr txBox="1"/>
          <p:nvPr/>
        </p:nvSpPr>
        <p:spPr>
          <a:xfrm>
            <a:off x="5129646" y="2062766"/>
            <a:ext cx="296333"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&lt;2&gt;</a:t>
            </a:r>
            <a:endParaRPr sz="1467">
              <a:latin typeface="Arial"/>
              <a:cs typeface="Arial"/>
            </a:endParaRPr>
          </a:p>
        </p:txBody>
      </p:sp>
      <p:grpSp>
        <p:nvGrpSpPr>
          <p:cNvPr id="140" name="object 140"/>
          <p:cNvGrpSpPr/>
          <p:nvPr/>
        </p:nvGrpSpPr>
        <p:grpSpPr>
          <a:xfrm>
            <a:off x="5043873" y="1439556"/>
            <a:ext cx="1498600" cy="570653"/>
            <a:chOff x="3669761" y="1241592"/>
            <a:chExt cx="1123950" cy="427990"/>
          </a:xfrm>
        </p:grpSpPr>
        <p:pic>
          <p:nvPicPr>
            <p:cNvPr id="141" name="object 141"/>
            <p:cNvPicPr/>
            <p:nvPr/>
          </p:nvPicPr>
          <p:blipFill>
            <a:blip r:embed="rId12" cstate="print"/>
            <a:stretch>
              <a:fillRect/>
            </a:stretch>
          </p:blipFill>
          <p:spPr>
            <a:xfrm>
              <a:off x="4144357" y="1487625"/>
              <a:ext cx="175845" cy="181710"/>
            </a:xfrm>
            <a:prstGeom prst="rect">
              <a:avLst/>
            </a:prstGeom>
          </p:spPr>
        </p:pic>
        <p:pic>
          <p:nvPicPr>
            <p:cNvPr id="142" name="object 142"/>
            <p:cNvPicPr/>
            <p:nvPr/>
          </p:nvPicPr>
          <p:blipFill>
            <a:blip r:embed="rId11" cstate="print"/>
            <a:stretch>
              <a:fillRect/>
            </a:stretch>
          </p:blipFill>
          <p:spPr>
            <a:xfrm>
              <a:off x="4144357" y="1241592"/>
              <a:ext cx="175845" cy="181710"/>
            </a:xfrm>
            <a:prstGeom prst="rect">
              <a:avLst/>
            </a:prstGeom>
          </p:spPr>
        </p:pic>
        <p:sp>
          <p:nvSpPr>
            <p:cNvPr id="143" name="object 143"/>
            <p:cNvSpPr/>
            <p:nvPr/>
          </p:nvSpPr>
          <p:spPr>
            <a:xfrm>
              <a:off x="3672936" y="1417129"/>
              <a:ext cx="1117600" cy="246379"/>
            </a:xfrm>
            <a:custGeom>
              <a:avLst/>
              <a:gdLst/>
              <a:ahLst/>
              <a:cxnLst/>
              <a:rect l="l" t="t" r="r" b="b"/>
              <a:pathLst>
                <a:path w="1117600" h="246380">
                  <a:moveTo>
                    <a:pt x="470874" y="246188"/>
                  </a:moveTo>
                  <a:lnTo>
                    <a:pt x="0" y="246188"/>
                  </a:lnTo>
                </a:path>
                <a:path w="1117600" h="246380">
                  <a:moveTo>
                    <a:pt x="1117593" y="246188"/>
                  </a:moveTo>
                  <a:lnTo>
                    <a:pt x="646719" y="246188"/>
                  </a:lnTo>
                </a:path>
                <a:path w="1117600" h="246380">
                  <a:moveTo>
                    <a:pt x="470874" y="0"/>
                  </a:moveTo>
                  <a:lnTo>
                    <a:pt x="0" y="0"/>
                  </a:lnTo>
                </a:path>
                <a:path w="1117600" h="246380">
                  <a:moveTo>
                    <a:pt x="1117593" y="0"/>
                  </a:moveTo>
                  <a:lnTo>
                    <a:pt x="646719" y="0"/>
                  </a:lnTo>
                </a:path>
              </a:pathLst>
            </a:custGeom>
            <a:ln w="5861">
              <a:solidFill>
                <a:srgbClr val="000000"/>
              </a:solidFill>
            </a:ln>
          </p:spPr>
          <p:txBody>
            <a:bodyPr wrap="square" lIns="0" tIns="0" rIns="0" bIns="0" rtlCol="0"/>
            <a:lstStyle/>
            <a:p>
              <a:endParaRPr sz="2400"/>
            </a:p>
          </p:txBody>
        </p:sp>
      </p:grpSp>
      <p:sp>
        <p:nvSpPr>
          <p:cNvPr id="144" name="object 144"/>
          <p:cNvSpPr txBox="1"/>
          <p:nvPr/>
        </p:nvSpPr>
        <p:spPr>
          <a:xfrm>
            <a:off x="6224211" y="1781147"/>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2X</a:t>
            </a:r>
            <a:endParaRPr sz="1467">
              <a:latin typeface="Arial"/>
              <a:cs typeface="Arial"/>
            </a:endParaRPr>
          </a:p>
        </p:txBody>
      </p:sp>
      <p:sp>
        <p:nvSpPr>
          <p:cNvPr id="145" name="object 145"/>
          <p:cNvSpPr txBox="1"/>
          <p:nvPr/>
        </p:nvSpPr>
        <p:spPr>
          <a:xfrm>
            <a:off x="6223482" y="1452166"/>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4X</a:t>
            </a:r>
            <a:endParaRPr sz="1467">
              <a:latin typeface="Arial"/>
              <a:cs typeface="Arial"/>
            </a:endParaRPr>
          </a:p>
        </p:txBody>
      </p:sp>
      <p:sp>
        <p:nvSpPr>
          <p:cNvPr id="146" name="object 146"/>
          <p:cNvSpPr/>
          <p:nvPr/>
        </p:nvSpPr>
        <p:spPr>
          <a:xfrm>
            <a:off x="5255786" y="1439557"/>
            <a:ext cx="538480" cy="656167"/>
          </a:xfrm>
          <a:custGeom>
            <a:avLst/>
            <a:gdLst/>
            <a:ahLst/>
            <a:cxnLst/>
            <a:rect l="l" t="t" r="r" b="b"/>
            <a:pathLst>
              <a:path w="403860" h="492125">
                <a:moveTo>
                  <a:pt x="0" y="246032"/>
                </a:moveTo>
                <a:lnTo>
                  <a:pt x="403584" y="246032"/>
                </a:lnTo>
              </a:path>
              <a:path w="403860" h="492125">
                <a:moveTo>
                  <a:pt x="0" y="0"/>
                </a:moveTo>
                <a:lnTo>
                  <a:pt x="403584" y="0"/>
                </a:lnTo>
              </a:path>
              <a:path w="403860" h="492125">
                <a:moveTo>
                  <a:pt x="0" y="492064"/>
                </a:moveTo>
                <a:lnTo>
                  <a:pt x="403584" y="492064"/>
                </a:lnTo>
              </a:path>
            </a:pathLst>
          </a:custGeom>
          <a:ln w="5861">
            <a:solidFill>
              <a:srgbClr val="000000"/>
            </a:solidFill>
          </a:ln>
        </p:spPr>
        <p:txBody>
          <a:bodyPr wrap="square" lIns="0" tIns="0" rIns="0" bIns="0" rtlCol="0"/>
          <a:lstStyle/>
          <a:p>
            <a:endParaRPr sz="2400"/>
          </a:p>
        </p:txBody>
      </p:sp>
      <p:sp>
        <p:nvSpPr>
          <p:cNvPr id="147" name="object 147"/>
          <p:cNvSpPr txBox="1"/>
          <p:nvPr/>
        </p:nvSpPr>
        <p:spPr>
          <a:xfrm>
            <a:off x="5129646" y="1741600"/>
            <a:ext cx="296333"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&lt;3&gt;</a:t>
            </a:r>
            <a:endParaRPr sz="1467">
              <a:latin typeface="Arial"/>
              <a:cs typeface="Arial"/>
            </a:endParaRPr>
          </a:p>
        </p:txBody>
      </p:sp>
      <p:sp>
        <p:nvSpPr>
          <p:cNvPr id="148" name="object 148"/>
          <p:cNvSpPr txBox="1"/>
          <p:nvPr/>
        </p:nvSpPr>
        <p:spPr>
          <a:xfrm>
            <a:off x="5129646" y="1405220"/>
            <a:ext cx="296333"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&lt;4&gt;</a:t>
            </a:r>
            <a:endParaRPr sz="1467">
              <a:latin typeface="Arial"/>
              <a:cs typeface="Arial"/>
            </a:endParaRPr>
          </a:p>
        </p:txBody>
      </p:sp>
      <p:sp>
        <p:nvSpPr>
          <p:cNvPr id="149" name="object 149"/>
          <p:cNvSpPr txBox="1"/>
          <p:nvPr/>
        </p:nvSpPr>
        <p:spPr>
          <a:xfrm>
            <a:off x="492494" y="1475560"/>
            <a:ext cx="222673"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8X</a:t>
            </a:r>
            <a:endParaRPr sz="1467">
              <a:latin typeface="Arial"/>
              <a:cs typeface="Arial"/>
            </a:endParaRPr>
          </a:p>
        </p:txBody>
      </p:sp>
      <p:sp>
        <p:nvSpPr>
          <p:cNvPr id="150" name="object 150"/>
          <p:cNvSpPr/>
          <p:nvPr/>
        </p:nvSpPr>
        <p:spPr>
          <a:xfrm>
            <a:off x="1144761" y="1463420"/>
            <a:ext cx="538480" cy="0"/>
          </a:xfrm>
          <a:custGeom>
            <a:avLst/>
            <a:gdLst/>
            <a:ahLst/>
            <a:cxnLst/>
            <a:rect l="l" t="t" r="r" b="b"/>
            <a:pathLst>
              <a:path w="403859">
                <a:moveTo>
                  <a:pt x="403545" y="0"/>
                </a:moveTo>
                <a:lnTo>
                  <a:pt x="0" y="0"/>
                </a:lnTo>
              </a:path>
            </a:pathLst>
          </a:custGeom>
          <a:ln w="5861">
            <a:solidFill>
              <a:srgbClr val="000000"/>
            </a:solidFill>
          </a:ln>
        </p:spPr>
        <p:txBody>
          <a:bodyPr wrap="square" lIns="0" tIns="0" rIns="0" bIns="0" rtlCol="0"/>
          <a:lstStyle/>
          <a:p>
            <a:endParaRPr sz="2400"/>
          </a:p>
        </p:txBody>
      </p:sp>
      <p:sp>
        <p:nvSpPr>
          <p:cNvPr id="151" name="object 151"/>
          <p:cNvSpPr txBox="1"/>
          <p:nvPr/>
        </p:nvSpPr>
        <p:spPr>
          <a:xfrm>
            <a:off x="1496244" y="1429448"/>
            <a:ext cx="296333" cy="244576"/>
          </a:xfrm>
          <a:prstGeom prst="rect">
            <a:avLst/>
          </a:prstGeom>
        </p:spPr>
        <p:txBody>
          <a:bodyPr vert="horz" wrap="square" lIns="0" tIns="18627" rIns="0" bIns="0" rtlCol="0">
            <a:spAutoFit/>
          </a:bodyPr>
          <a:lstStyle/>
          <a:p>
            <a:pPr marL="16933">
              <a:spcBef>
                <a:spcPts val="147"/>
              </a:spcBef>
            </a:pPr>
            <a:r>
              <a:rPr sz="1467" b="1" spc="-140" dirty="0">
                <a:latin typeface="Arial"/>
                <a:cs typeface="Arial"/>
              </a:rPr>
              <a:t>&lt;4&gt;</a:t>
            </a:r>
            <a:endParaRPr sz="1467">
              <a:latin typeface="Arial"/>
              <a:cs typeface="Arial"/>
            </a:endParaRPr>
          </a:p>
        </p:txBody>
      </p:sp>
      <p:grpSp>
        <p:nvGrpSpPr>
          <p:cNvPr id="152" name="object 152"/>
          <p:cNvGrpSpPr/>
          <p:nvPr/>
        </p:nvGrpSpPr>
        <p:grpSpPr>
          <a:xfrm>
            <a:off x="1959693" y="2289573"/>
            <a:ext cx="3799840" cy="1255607"/>
            <a:chOff x="1356626" y="1879104"/>
            <a:chExt cx="2849880" cy="941705"/>
          </a:xfrm>
        </p:grpSpPr>
        <p:sp>
          <p:nvSpPr>
            <p:cNvPr id="153" name="object 153"/>
            <p:cNvSpPr/>
            <p:nvPr/>
          </p:nvSpPr>
          <p:spPr>
            <a:xfrm>
              <a:off x="1356614" y="1879104"/>
              <a:ext cx="2684145" cy="796290"/>
            </a:xfrm>
            <a:custGeom>
              <a:avLst/>
              <a:gdLst/>
              <a:ahLst/>
              <a:cxnLst/>
              <a:rect l="l" t="t" r="r" b="b"/>
              <a:pathLst>
                <a:path w="2684145" h="796289">
                  <a:moveTo>
                    <a:pt x="445249" y="127939"/>
                  </a:moveTo>
                  <a:lnTo>
                    <a:pt x="86309" y="30340"/>
                  </a:lnTo>
                  <a:lnTo>
                    <a:pt x="94576" y="0"/>
                  </a:lnTo>
                  <a:lnTo>
                    <a:pt x="0" y="18999"/>
                  </a:lnTo>
                  <a:lnTo>
                    <a:pt x="71907" y="83235"/>
                  </a:lnTo>
                  <a:lnTo>
                    <a:pt x="80162" y="52933"/>
                  </a:lnTo>
                  <a:lnTo>
                    <a:pt x="439077" y="150609"/>
                  </a:lnTo>
                  <a:lnTo>
                    <a:pt x="445249" y="127939"/>
                  </a:lnTo>
                  <a:close/>
                </a:path>
                <a:path w="2684145" h="796289">
                  <a:moveTo>
                    <a:pt x="2269896" y="13131"/>
                  </a:moveTo>
                  <a:lnTo>
                    <a:pt x="2173605" y="7277"/>
                  </a:lnTo>
                  <a:lnTo>
                    <a:pt x="2185898" y="36118"/>
                  </a:lnTo>
                  <a:lnTo>
                    <a:pt x="1902256" y="157099"/>
                  </a:lnTo>
                  <a:lnTo>
                    <a:pt x="1911477" y="178587"/>
                  </a:lnTo>
                  <a:lnTo>
                    <a:pt x="2195106" y="57696"/>
                  </a:lnTo>
                  <a:lnTo>
                    <a:pt x="2207450" y="86601"/>
                  </a:lnTo>
                  <a:lnTo>
                    <a:pt x="2269896" y="13131"/>
                  </a:lnTo>
                  <a:close/>
                </a:path>
                <a:path w="2684145" h="796289">
                  <a:moveTo>
                    <a:pt x="2494737" y="538264"/>
                  </a:moveTo>
                  <a:lnTo>
                    <a:pt x="2492159" y="531698"/>
                  </a:lnTo>
                  <a:lnTo>
                    <a:pt x="2485987" y="525602"/>
                  </a:lnTo>
                  <a:lnTo>
                    <a:pt x="2480437" y="519976"/>
                  </a:lnTo>
                  <a:lnTo>
                    <a:pt x="2474442" y="517309"/>
                  </a:lnTo>
                  <a:lnTo>
                    <a:pt x="2460739" y="517309"/>
                  </a:lnTo>
                  <a:lnTo>
                    <a:pt x="2453475" y="520674"/>
                  </a:lnTo>
                  <a:lnTo>
                    <a:pt x="2445499" y="527240"/>
                  </a:lnTo>
                  <a:lnTo>
                    <a:pt x="2455278" y="539750"/>
                  </a:lnTo>
                  <a:lnTo>
                    <a:pt x="2463088" y="532714"/>
                  </a:lnTo>
                  <a:lnTo>
                    <a:pt x="2468969" y="531698"/>
                  </a:lnTo>
                  <a:lnTo>
                    <a:pt x="2469502" y="531698"/>
                  </a:lnTo>
                  <a:lnTo>
                    <a:pt x="2476690" y="538886"/>
                  </a:lnTo>
                  <a:lnTo>
                    <a:pt x="2477706" y="541464"/>
                  </a:lnTo>
                  <a:lnTo>
                    <a:pt x="2477541" y="544436"/>
                  </a:lnTo>
                  <a:lnTo>
                    <a:pt x="2461374" y="559752"/>
                  </a:lnTo>
                  <a:lnTo>
                    <a:pt x="2458237" y="560616"/>
                  </a:lnTo>
                  <a:lnTo>
                    <a:pt x="2451443" y="561314"/>
                  </a:lnTo>
                  <a:lnTo>
                    <a:pt x="2440889" y="562025"/>
                  </a:lnTo>
                  <a:lnTo>
                    <a:pt x="2431618" y="562737"/>
                  </a:lnTo>
                  <a:lnTo>
                    <a:pt x="2393848" y="576249"/>
                  </a:lnTo>
                  <a:lnTo>
                    <a:pt x="2433078" y="615556"/>
                  </a:lnTo>
                  <a:lnTo>
                    <a:pt x="2445740" y="602818"/>
                  </a:lnTo>
                  <a:lnTo>
                    <a:pt x="2423464" y="580618"/>
                  </a:lnTo>
                  <a:lnTo>
                    <a:pt x="2425344" y="579996"/>
                  </a:lnTo>
                  <a:lnTo>
                    <a:pt x="2427376" y="579450"/>
                  </a:lnTo>
                  <a:lnTo>
                    <a:pt x="2431821" y="578827"/>
                  </a:lnTo>
                  <a:lnTo>
                    <a:pt x="2436749" y="578358"/>
                  </a:lnTo>
                  <a:lnTo>
                    <a:pt x="2452611" y="577494"/>
                  </a:lnTo>
                  <a:lnTo>
                    <a:pt x="2458872" y="576707"/>
                  </a:lnTo>
                  <a:lnTo>
                    <a:pt x="2493022" y="552488"/>
                  </a:lnTo>
                  <a:lnTo>
                    <a:pt x="2494661" y="538886"/>
                  </a:lnTo>
                  <a:lnTo>
                    <a:pt x="2494737" y="538264"/>
                  </a:lnTo>
                  <a:close/>
                </a:path>
                <a:path w="2684145" h="796289">
                  <a:moveTo>
                    <a:pt x="2540927" y="580466"/>
                  </a:moveTo>
                  <a:lnTo>
                    <a:pt x="2536279" y="575856"/>
                  </a:lnTo>
                  <a:lnTo>
                    <a:pt x="2531859" y="571474"/>
                  </a:lnTo>
                  <a:lnTo>
                    <a:pt x="2526246" y="574446"/>
                  </a:lnTo>
                  <a:lnTo>
                    <a:pt x="2526068" y="574446"/>
                  </a:lnTo>
                  <a:lnTo>
                    <a:pt x="2520302" y="575856"/>
                  </a:lnTo>
                  <a:lnTo>
                    <a:pt x="2513736" y="575691"/>
                  </a:lnTo>
                  <a:lnTo>
                    <a:pt x="2507627" y="575691"/>
                  </a:lnTo>
                  <a:lnTo>
                    <a:pt x="2501696" y="574675"/>
                  </a:lnTo>
                  <a:lnTo>
                    <a:pt x="2497315" y="572808"/>
                  </a:lnTo>
                  <a:lnTo>
                    <a:pt x="2484894" y="585228"/>
                  </a:lnTo>
                  <a:lnTo>
                    <a:pt x="2492629" y="588441"/>
                  </a:lnTo>
                  <a:lnTo>
                    <a:pt x="2500909" y="589838"/>
                  </a:lnTo>
                  <a:lnTo>
                    <a:pt x="2509748" y="589292"/>
                  </a:lnTo>
                  <a:lnTo>
                    <a:pt x="2458326" y="640803"/>
                  </a:lnTo>
                  <a:lnTo>
                    <a:pt x="2469502" y="651979"/>
                  </a:lnTo>
                  <a:lnTo>
                    <a:pt x="2532113" y="589292"/>
                  </a:lnTo>
                  <a:lnTo>
                    <a:pt x="2540927" y="580466"/>
                  </a:lnTo>
                  <a:close/>
                </a:path>
                <a:path w="2684145" h="796289">
                  <a:moveTo>
                    <a:pt x="2606662" y="646734"/>
                  </a:moveTo>
                  <a:lnTo>
                    <a:pt x="2602687" y="642759"/>
                  </a:lnTo>
                  <a:lnTo>
                    <a:pt x="2593060" y="633056"/>
                  </a:lnTo>
                  <a:lnTo>
                    <a:pt x="2560078" y="642759"/>
                  </a:lnTo>
                  <a:lnTo>
                    <a:pt x="2569845" y="609930"/>
                  </a:lnTo>
                  <a:lnTo>
                    <a:pt x="2556091" y="596099"/>
                  </a:lnTo>
                  <a:lnTo>
                    <a:pt x="2540228" y="648614"/>
                  </a:lnTo>
                  <a:lnTo>
                    <a:pt x="2483015" y="665492"/>
                  </a:lnTo>
                  <a:lnTo>
                    <a:pt x="2497163" y="679640"/>
                  </a:lnTo>
                  <a:lnTo>
                    <a:pt x="2534285" y="668464"/>
                  </a:lnTo>
                  <a:lnTo>
                    <a:pt x="2523350" y="704811"/>
                  </a:lnTo>
                  <a:lnTo>
                    <a:pt x="2523185" y="705662"/>
                  </a:lnTo>
                  <a:lnTo>
                    <a:pt x="2537333" y="719810"/>
                  </a:lnTo>
                  <a:lnTo>
                    <a:pt x="2552509" y="668464"/>
                  </a:lnTo>
                  <a:lnTo>
                    <a:pt x="2554287" y="662444"/>
                  </a:lnTo>
                  <a:lnTo>
                    <a:pt x="2606662" y="646734"/>
                  </a:lnTo>
                  <a:close/>
                </a:path>
                <a:path w="2684145" h="796289">
                  <a:moveTo>
                    <a:pt x="2639796" y="683399"/>
                  </a:moveTo>
                  <a:lnTo>
                    <a:pt x="2637218" y="676757"/>
                  </a:lnTo>
                  <a:lnTo>
                    <a:pt x="2631033" y="670661"/>
                  </a:lnTo>
                  <a:lnTo>
                    <a:pt x="2625496" y="665111"/>
                  </a:lnTo>
                  <a:lnTo>
                    <a:pt x="2619654" y="662444"/>
                  </a:lnTo>
                  <a:lnTo>
                    <a:pt x="2605709" y="662444"/>
                  </a:lnTo>
                  <a:lnTo>
                    <a:pt x="2598534" y="665734"/>
                  </a:lnTo>
                  <a:lnTo>
                    <a:pt x="2590558" y="672299"/>
                  </a:lnTo>
                  <a:lnTo>
                    <a:pt x="2600325" y="684796"/>
                  </a:lnTo>
                  <a:lnTo>
                    <a:pt x="2608135" y="677773"/>
                  </a:lnTo>
                  <a:lnTo>
                    <a:pt x="2614091" y="676757"/>
                  </a:lnTo>
                  <a:lnTo>
                    <a:pt x="2614625" y="676757"/>
                  </a:lnTo>
                  <a:lnTo>
                    <a:pt x="2619476" y="681672"/>
                  </a:lnTo>
                  <a:lnTo>
                    <a:pt x="2621737" y="683945"/>
                  </a:lnTo>
                  <a:lnTo>
                    <a:pt x="2622753" y="686523"/>
                  </a:lnTo>
                  <a:lnTo>
                    <a:pt x="2622600" y="689571"/>
                  </a:lnTo>
                  <a:lnTo>
                    <a:pt x="2622359" y="692543"/>
                  </a:lnTo>
                  <a:lnTo>
                    <a:pt x="2620721" y="695591"/>
                  </a:lnTo>
                  <a:lnTo>
                    <a:pt x="2617597" y="698639"/>
                  </a:lnTo>
                  <a:lnTo>
                    <a:pt x="2614701" y="701598"/>
                  </a:lnTo>
                  <a:lnTo>
                    <a:pt x="2610955" y="703630"/>
                  </a:lnTo>
                  <a:lnTo>
                    <a:pt x="2606421" y="704811"/>
                  </a:lnTo>
                  <a:lnTo>
                    <a:pt x="2603296" y="705662"/>
                  </a:lnTo>
                  <a:lnTo>
                    <a:pt x="2596502" y="706450"/>
                  </a:lnTo>
                  <a:lnTo>
                    <a:pt x="2585948" y="707072"/>
                  </a:lnTo>
                  <a:lnTo>
                    <a:pt x="2576665" y="707834"/>
                  </a:lnTo>
                  <a:lnTo>
                    <a:pt x="2538895" y="721372"/>
                  </a:lnTo>
                  <a:lnTo>
                    <a:pt x="2578125" y="760615"/>
                  </a:lnTo>
                  <a:lnTo>
                    <a:pt x="2590787" y="747953"/>
                  </a:lnTo>
                  <a:lnTo>
                    <a:pt x="2568600" y="725678"/>
                  </a:lnTo>
                  <a:lnTo>
                    <a:pt x="2570391" y="725055"/>
                  </a:lnTo>
                  <a:lnTo>
                    <a:pt x="2572423" y="724509"/>
                  </a:lnTo>
                  <a:lnTo>
                    <a:pt x="2576880" y="723874"/>
                  </a:lnTo>
                  <a:lnTo>
                    <a:pt x="2581884" y="723493"/>
                  </a:lnTo>
                  <a:lnTo>
                    <a:pt x="2597670" y="722553"/>
                  </a:lnTo>
                  <a:lnTo>
                    <a:pt x="2603919" y="721766"/>
                  </a:lnTo>
                  <a:lnTo>
                    <a:pt x="2638069" y="697534"/>
                  </a:lnTo>
                  <a:lnTo>
                    <a:pt x="2639720" y="683945"/>
                  </a:lnTo>
                  <a:lnTo>
                    <a:pt x="2639796" y="683399"/>
                  </a:lnTo>
                  <a:close/>
                </a:path>
                <a:path w="2684145" h="796289">
                  <a:moveTo>
                    <a:pt x="2683865" y="728802"/>
                  </a:moveTo>
                  <a:lnTo>
                    <a:pt x="2682862" y="725055"/>
                  </a:lnTo>
                  <a:lnTo>
                    <a:pt x="2682760" y="724662"/>
                  </a:lnTo>
                  <a:lnTo>
                    <a:pt x="2681986" y="721766"/>
                  </a:lnTo>
                  <a:lnTo>
                    <a:pt x="2681922" y="721537"/>
                  </a:lnTo>
                  <a:lnTo>
                    <a:pt x="2676296" y="715822"/>
                  </a:lnTo>
                  <a:lnTo>
                    <a:pt x="2670657" y="710196"/>
                  </a:lnTo>
                  <a:lnTo>
                    <a:pt x="2667533" y="709396"/>
                  </a:lnTo>
                  <a:lnTo>
                    <a:pt x="2667533" y="732637"/>
                  </a:lnTo>
                  <a:lnTo>
                    <a:pt x="2665895" y="736854"/>
                  </a:lnTo>
                  <a:lnTo>
                    <a:pt x="2639669" y="766787"/>
                  </a:lnTo>
                  <a:lnTo>
                    <a:pt x="2620416" y="779754"/>
                  </a:lnTo>
                  <a:lnTo>
                    <a:pt x="2617203" y="779449"/>
                  </a:lnTo>
                  <a:lnTo>
                    <a:pt x="2612758" y="774992"/>
                  </a:lnTo>
                  <a:lnTo>
                    <a:pt x="2612491" y="772287"/>
                  </a:lnTo>
                  <a:lnTo>
                    <a:pt x="2612440" y="771791"/>
                  </a:lnTo>
                  <a:lnTo>
                    <a:pt x="2640215" y="737704"/>
                  </a:lnTo>
                  <a:lnTo>
                    <a:pt x="2659570" y="724662"/>
                  </a:lnTo>
                  <a:lnTo>
                    <a:pt x="2663571" y="725055"/>
                  </a:lnTo>
                  <a:lnTo>
                    <a:pt x="2662847" y="725055"/>
                  </a:lnTo>
                  <a:lnTo>
                    <a:pt x="2667228" y="729424"/>
                  </a:lnTo>
                  <a:lnTo>
                    <a:pt x="2667495" y="732155"/>
                  </a:lnTo>
                  <a:lnTo>
                    <a:pt x="2667533" y="732637"/>
                  </a:lnTo>
                  <a:lnTo>
                    <a:pt x="2667533" y="709396"/>
                  </a:lnTo>
                  <a:lnTo>
                    <a:pt x="2630728" y="724154"/>
                  </a:lnTo>
                  <a:lnTo>
                    <a:pt x="2600515" y="759523"/>
                  </a:lnTo>
                  <a:lnTo>
                    <a:pt x="2596235" y="774992"/>
                  </a:lnTo>
                  <a:lnTo>
                    <a:pt x="2596235" y="776097"/>
                  </a:lnTo>
                  <a:lnTo>
                    <a:pt x="2597975" y="782891"/>
                  </a:lnTo>
                  <a:lnTo>
                    <a:pt x="2609316" y="794219"/>
                  </a:lnTo>
                  <a:lnTo>
                    <a:pt x="2616581" y="796099"/>
                  </a:lnTo>
                  <a:lnTo>
                    <a:pt x="2625064" y="794219"/>
                  </a:lnTo>
                  <a:lnTo>
                    <a:pt x="2625191" y="794219"/>
                  </a:lnTo>
                  <a:lnTo>
                    <a:pt x="2632519" y="791654"/>
                  </a:lnTo>
                  <a:lnTo>
                    <a:pt x="2640482" y="786993"/>
                  </a:lnTo>
                  <a:lnTo>
                    <a:pt x="2649283" y="780161"/>
                  </a:lnTo>
                  <a:lnTo>
                    <a:pt x="2649715" y="779754"/>
                  </a:lnTo>
                  <a:lnTo>
                    <a:pt x="2658935" y="771156"/>
                  </a:lnTo>
                  <a:lnTo>
                    <a:pt x="2667939" y="761504"/>
                  </a:lnTo>
                  <a:lnTo>
                    <a:pt x="2674772" y="752703"/>
                  </a:lnTo>
                  <a:lnTo>
                    <a:pt x="2679420" y="744740"/>
                  </a:lnTo>
                  <a:lnTo>
                    <a:pt x="2681897" y="737704"/>
                  </a:lnTo>
                  <a:lnTo>
                    <a:pt x="2683865" y="728802"/>
                  </a:lnTo>
                  <a:close/>
                </a:path>
              </a:pathLst>
            </a:custGeom>
            <a:solidFill>
              <a:srgbClr val="000000"/>
            </a:solidFill>
          </p:spPr>
          <p:txBody>
            <a:bodyPr wrap="square" lIns="0" tIns="0" rIns="0" bIns="0" rtlCol="0"/>
            <a:lstStyle/>
            <a:p>
              <a:endParaRPr sz="2400"/>
            </a:p>
          </p:txBody>
        </p:sp>
        <p:pic>
          <p:nvPicPr>
            <p:cNvPr id="154" name="object 154"/>
            <p:cNvPicPr/>
            <p:nvPr/>
          </p:nvPicPr>
          <p:blipFill>
            <a:blip r:embed="rId13" cstate="print"/>
            <a:stretch>
              <a:fillRect/>
            </a:stretch>
          </p:blipFill>
          <p:spPr>
            <a:xfrm>
              <a:off x="3969919" y="2643070"/>
              <a:ext cx="236492" cy="177396"/>
            </a:xfrm>
            <a:prstGeom prst="rect">
              <a:avLst/>
            </a:prstGeom>
          </p:spPr>
        </p:pic>
      </p:grpSp>
      <p:sp>
        <p:nvSpPr>
          <p:cNvPr id="155" name="object 155"/>
          <p:cNvSpPr txBox="1"/>
          <p:nvPr/>
        </p:nvSpPr>
        <p:spPr>
          <a:xfrm>
            <a:off x="4200560" y="3144434"/>
            <a:ext cx="744220" cy="244576"/>
          </a:xfrm>
          <a:prstGeom prst="rect">
            <a:avLst/>
          </a:prstGeom>
        </p:spPr>
        <p:txBody>
          <a:bodyPr vert="horz" wrap="square" lIns="0" tIns="18627" rIns="0" bIns="0" rtlCol="0">
            <a:spAutoFit/>
          </a:bodyPr>
          <a:lstStyle/>
          <a:p>
            <a:pPr marL="16933">
              <a:spcBef>
                <a:spcPts val="147"/>
              </a:spcBef>
            </a:pPr>
            <a:r>
              <a:rPr sz="1467" b="1" spc="-120" dirty="0">
                <a:latin typeface="Arial"/>
                <a:cs typeface="Arial"/>
              </a:rPr>
              <a:t>0.2-</a:t>
            </a:r>
            <a:r>
              <a:rPr sz="1467" b="1" spc="-100" dirty="0">
                <a:latin typeface="Arial"/>
                <a:cs typeface="Arial"/>
              </a:rPr>
              <a:t>1.5kΩ</a:t>
            </a:r>
            <a:endParaRPr sz="1467">
              <a:latin typeface="Arial"/>
              <a:cs typeface="Arial"/>
            </a:endParaRPr>
          </a:p>
        </p:txBody>
      </p:sp>
      <p:sp>
        <p:nvSpPr>
          <p:cNvPr id="156" name="object 156"/>
          <p:cNvSpPr txBox="1"/>
          <p:nvPr/>
        </p:nvSpPr>
        <p:spPr>
          <a:xfrm>
            <a:off x="2189203" y="3162982"/>
            <a:ext cx="701040" cy="244576"/>
          </a:xfrm>
          <a:prstGeom prst="rect">
            <a:avLst/>
          </a:prstGeom>
        </p:spPr>
        <p:txBody>
          <a:bodyPr vert="horz" wrap="square" lIns="0" tIns="18627" rIns="0" bIns="0" rtlCol="0">
            <a:spAutoFit/>
          </a:bodyPr>
          <a:lstStyle/>
          <a:p>
            <a:pPr marL="16933">
              <a:spcBef>
                <a:spcPts val="147"/>
              </a:spcBef>
            </a:pPr>
            <a:r>
              <a:rPr sz="1467" b="1" spc="-133" dirty="0">
                <a:latin typeface="Arial"/>
                <a:cs typeface="Arial"/>
              </a:rPr>
              <a:t>0.12-</a:t>
            </a:r>
            <a:r>
              <a:rPr sz="1467" b="1" spc="-87" dirty="0">
                <a:latin typeface="Arial"/>
                <a:cs typeface="Arial"/>
              </a:rPr>
              <a:t>1kΩ</a:t>
            </a:r>
            <a:endParaRPr sz="1467">
              <a:latin typeface="Arial"/>
              <a:cs typeface="Arial"/>
            </a:endParaRPr>
          </a:p>
        </p:txBody>
      </p:sp>
      <p:sp>
        <p:nvSpPr>
          <p:cNvPr id="157" name="object 157"/>
          <p:cNvSpPr txBox="1"/>
          <p:nvPr/>
        </p:nvSpPr>
        <p:spPr>
          <a:xfrm>
            <a:off x="11181420" y="3649506"/>
            <a:ext cx="966047" cy="265030"/>
          </a:xfrm>
          <a:prstGeom prst="rect">
            <a:avLst/>
          </a:prstGeom>
        </p:spPr>
        <p:txBody>
          <a:bodyPr vert="horz" wrap="square" lIns="0" tIns="18627" rIns="0" bIns="0" rtlCol="0">
            <a:spAutoFit/>
          </a:bodyPr>
          <a:lstStyle/>
          <a:p>
            <a:pPr marL="67732">
              <a:spcBef>
                <a:spcPts val="147"/>
              </a:spcBef>
              <a:tabLst>
                <a:tab pos="588419" algn="l"/>
              </a:tabLst>
            </a:pPr>
            <a:r>
              <a:rPr sz="2400" b="1" spc="-40" baseline="-13888" dirty="0">
                <a:latin typeface="Arial"/>
                <a:cs typeface="Arial"/>
              </a:rPr>
              <a:t>10</a:t>
            </a:r>
            <a:r>
              <a:rPr sz="1067" b="1" spc="-27" dirty="0">
                <a:latin typeface="Arial"/>
                <a:cs typeface="Arial"/>
              </a:rPr>
              <a:t>10</a:t>
            </a:r>
            <a:r>
              <a:rPr sz="1067" b="1" dirty="0">
                <a:latin typeface="Arial"/>
                <a:cs typeface="Arial"/>
              </a:rPr>
              <a:t>	</a:t>
            </a:r>
            <a:r>
              <a:rPr sz="2400" b="1" spc="-40" baseline="-13888" dirty="0">
                <a:latin typeface="Arial"/>
                <a:cs typeface="Arial"/>
              </a:rPr>
              <a:t>10</a:t>
            </a:r>
            <a:r>
              <a:rPr sz="1067" b="1" spc="-27" dirty="0">
                <a:latin typeface="Arial"/>
                <a:cs typeface="Arial"/>
              </a:rPr>
              <a:t>11</a:t>
            </a:r>
            <a:endParaRPr sz="1067" dirty="0">
              <a:latin typeface="Arial"/>
              <a:cs typeface="Arial"/>
            </a:endParaRPr>
          </a:p>
        </p:txBody>
      </p:sp>
      <p:sp>
        <p:nvSpPr>
          <p:cNvPr id="158" name="object 158"/>
          <p:cNvSpPr txBox="1"/>
          <p:nvPr/>
        </p:nvSpPr>
        <p:spPr>
          <a:xfrm>
            <a:off x="8546931" y="3704221"/>
            <a:ext cx="2559473" cy="429178"/>
          </a:xfrm>
          <a:prstGeom prst="rect">
            <a:avLst/>
          </a:prstGeom>
        </p:spPr>
        <p:txBody>
          <a:bodyPr vert="horz" wrap="square" lIns="0" tIns="18627" rIns="0" bIns="0" rtlCol="0">
            <a:spAutoFit/>
          </a:bodyPr>
          <a:lstStyle/>
          <a:p>
            <a:pPr marL="67732">
              <a:lnSpc>
                <a:spcPts val="1593"/>
              </a:lnSpc>
              <a:spcBef>
                <a:spcPts val="147"/>
              </a:spcBef>
              <a:tabLst>
                <a:tab pos="674776" algn="l"/>
                <a:tab pos="1165830" algn="l"/>
                <a:tab pos="1687364" algn="l"/>
                <a:tab pos="2208897" algn="l"/>
              </a:tabLst>
            </a:pPr>
            <a:r>
              <a:rPr sz="2400" b="1" spc="-239" baseline="25462" dirty="0">
                <a:latin typeface="Arial"/>
                <a:cs typeface="Arial"/>
              </a:rPr>
              <a:t>0</a:t>
            </a:r>
            <a:r>
              <a:rPr sz="2400" b="1" spc="-389" baseline="25462" dirty="0">
                <a:latin typeface="Arial"/>
                <a:cs typeface="Arial"/>
              </a:rPr>
              <a:t> </a:t>
            </a:r>
            <a:r>
              <a:rPr sz="1600" b="1" spc="-33" dirty="0">
                <a:latin typeface="Arial"/>
                <a:cs typeface="Arial"/>
              </a:rPr>
              <a:t>10</a:t>
            </a:r>
            <a:r>
              <a:rPr sz="1600" b="1" spc="-49" baseline="20833" dirty="0">
                <a:latin typeface="Arial"/>
                <a:cs typeface="Arial"/>
              </a:rPr>
              <a:t>5</a:t>
            </a:r>
            <a:r>
              <a:rPr sz="1600" b="1" baseline="20833" dirty="0">
                <a:latin typeface="Arial"/>
                <a:cs typeface="Arial"/>
              </a:rPr>
              <a:t>	</a:t>
            </a:r>
            <a:r>
              <a:rPr sz="1600" b="1" spc="-33" dirty="0">
                <a:latin typeface="Arial"/>
                <a:cs typeface="Arial"/>
              </a:rPr>
              <a:t>10</a:t>
            </a:r>
            <a:r>
              <a:rPr sz="1600" b="1" spc="-49" baseline="20833" dirty="0">
                <a:latin typeface="Arial"/>
                <a:cs typeface="Arial"/>
              </a:rPr>
              <a:t>6</a:t>
            </a:r>
            <a:r>
              <a:rPr sz="1600" b="1" baseline="20833" dirty="0">
                <a:latin typeface="Arial"/>
                <a:cs typeface="Arial"/>
              </a:rPr>
              <a:t>	</a:t>
            </a:r>
            <a:r>
              <a:rPr sz="1600" b="1" spc="-33" dirty="0">
                <a:latin typeface="Arial"/>
                <a:cs typeface="Arial"/>
              </a:rPr>
              <a:t>10</a:t>
            </a:r>
            <a:r>
              <a:rPr sz="1600" b="1" spc="-49" baseline="20833" dirty="0">
                <a:latin typeface="Arial"/>
                <a:cs typeface="Arial"/>
              </a:rPr>
              <a:t>7</a:t>
            </a:r>
            <a:r>
              <a:rPr sz="1600" b="1" baseline="20833" dirty="0">
                <a:latin typeface="Arial"/>
                <a:cs typeface="Arial"/>
              </a:rPr>
              <a:t>	</a:t>
            </a:r>
            <a:r>
              <a:rPr sz="1600" b="1" spc="-33" dirty="0">
                <a:latin typeface="Arial"/>
                <a:cs typeface="Arial"/>
              </a:rPr>
              <a:t>10</a:t>
            </a:r>
            <a:r>
              <a:rPr sz="1600" b="1" spc="-49" baseline="20833" dirty="0">
                <a:latin typeface="Arial"/>
                <a:cs typeface="Arial"/>
              </a:rPr>
              <a:t>8</a:t>
            </a:r>
            <a:r>
              <a:rPr sz="1600" b="1" baseline="20833" dirty="0">
                <a:latin typeface="Arial"/>
                <a:cs typeface="Arial"/>
              </a:rPr>
              <a:t>	</a:t>
            </a:r>
            <a:r>
              <a:rPr sz="1600" b="1" spc="-33" dirty="0">
                <a:latin typeface="Arial"/>
                <a:cs typeface="Arial"/>
              </a:rPr>
              <a:t>10</a:t>
            </a:r>
            <a:r>
              <a:rPr sz="1600" b="1" spc="-49" baseline="20833" dirty="0">
                <a:latin typeface="Arial"/>
                <a:cs typeface="Arial"/>
              </a:rPr>
              <a:t>9</a:t>
            </a:r>
            <a:endParaRPr sz="1600" baseline="20833" dirty="0">
              <a:latin typeface="Arial"/>
              <a:cs typeface="Arial"/>
            </a:endParaRPr>
          </a:p>
          <a:p>
            <a:pPr marL="1180224">
              <a:lnSpc>
                <a:spcPts val="1593"/>
              </a:lnSpc>
            </a:pPr>
            <a:r>
              <a:rPr sz="1600" b="1" spc="-167" dirty="0">
                <a:latin typeface="Arial"/>
                <a:cs typeface="Arial"/>
              </a:rPr>
              <a:t>Frequency</a:t>
            </a:r>
            <a:r>
              <a:rPr sz="1600" b="1" spc="-53" dirty="0">
                <a:latin typeface="Arial"/>
                <a:cs typeface="Arial"/>
              </a:rPr>
              <a:t> </a:t>
            </a:r>
            <a:r>
              <a:rPr sz="1600" b="1" spc="-27" dirty="0">
                <a:latin typeface="Arial"/>
                <a:cs typeface="Arial"/>
              </a:rPr>
              <a:t>(Hz)</a:t>
            </a:r>
            <a:endParaRPr sz="1600" dirty="0">
              <a:latin typeface="Arial"/>
              <a:cs typeface="Arial"/>
            </a:endParaRPr>
          </a:p>
        </p:txBody>
      </p:sp>
      <p:sp>
        <p:nvSpPr>
          <p:cNvPr id="159" name="object 159"/>
          <p:cNvSpPr txBox="1"/>
          <p:nvPr/>
        </p:nvSpPr>
        <p:spPr>
          <a:xfrm>
            <a:off x="8524287" y="3323375"/>
            <a:ext cx="220133" cy="265030"/>
          </a:xfrm>
          <a:prstGeom prst="rect">
            <a:avLst/>
          </a:prstGeom>
        </p:spPr>
        <p:txBody>
          <a:bodyPr vert="horz" wrap="square" lIns="0" tIns="18627" rIns="0" bIns="0" rtlCol="0">
            <a:spAutoFit/>
          </a:bodyPr>
          <a:lstStyle/>
          <a:p>
            <a:pPr marL="16933">
              <a:spcBef>
                <a:spcPts val="147"/>
              </a:spcBef>
            </a:pPr>
            <a:r>
              <a:rPr sz="1600" b="1" spc="-127" dirty="0">
                <a:latin typeface="Arial"/>
                <a:cs typeface="Arial"/>
              </a:rPr>
              <a:t>10</a:t>
            </a:r>
            <a:endParaRPr sz="1600" dirty="0">
              <a:latin typeface="Arial"/>
              <a:cs typeface="Arial"/>
            </a:endParaRPr>
          </a:p>
        </p:txBody>
      </p:sp>
      <p:sp>
        <p:nvSpPr>
          <p:cNvPr id="160" name="object 160"/>
          <p:cNvSpPr txBox="1"/>
          <p:nvPr/>
        </p:nvSpPr>
        <p:spPr>
          <a:xfrm>
            <a:off x="8198556" y="2342599"/>
            <a:ext cx="246221" cy="733213"/>
          </a:xfrm>
          <a:prstGeom prst="rect">
            <a:avLst/>
          </a:prstGeom>
        </p:spPr>
        <p:txBody>
          <a:bodyPr vert="vert270" wrap="square" lIns="0" tIns="5080" rIns="0" bIns="0" rtlCol="0">
            <a:spAutoFit/>
          </a:bodyPr>
          <a:lstStyle/>
          <a:p>
            <a:pPr marL="16933">
              <a:spcBef>
                <a:spcPts val="40"/>
              </a:spcBef>
            </a:pPr>
            <a:r>
              <a:rPr sz="1600" b="1" spc="-147" dirty="0">
                <a:latin typeface="Arial"/>
                <a:cs typeface="Arial"/>
              </a:rPr>
              <a:t>Zt</a:t>
            </a:r>
            <a:r>
              <a:rPr sz="1600" b="1" spc="-60" dirty="0">
                <a:latin typeface="Arial"/>
                <a:cs typeface="Arial"/>
              </a:rPr>
              <a:t> </a:t>
            </a:r>
            <a:r>
              <a:rPr sz="1600" b="1" spc="-113" dirty="0">
                <a:latin typeface="Arial"/>
                <a:cs typeface="Arial"/>
              </a:rPr>
              <a:t>(dBΩ)</a:t>
            </a:r>
            <a:endParaRPr sz="1600" dirty="0">
              <a:latin typeface="Arial"/>
              <a:cs typeface="Arial"/>
            </a:endParaRPr>
          </a:p>
        </p:txBody>
      </p:sp>
      <p:grpSp>
        <p:nvGrpSpPr>
          <p:cNvPr id="161" name="object 161"/>
          <p:cNvGrpSpPr/>
          <p:nvPr/>
        </p:nvGrpSpPr>
        <p:grpSpPr>
          <a:xfrm>
            <a:off x="8754126" y="1807688"/>
            <a:ext cx="3152987" cy="1905000"/>
            <a:chOff x="6452451" y="1517691"/>
            <a:chExt cx="2364740" cy="1428750"/>
          </a:xfrm>
        </p:grpSpPr>
        <p:sp>
          <p:nvSpPr>
            <p:cNvPr id="162" name="object 162"/>
            <p:cNvSpPr/>
            <p:nvPr/>
          </p:nvSpPr>
          <p:spPr>
            <a:xfrm>
              <a:off x="6461290" y="1517691"/>
              <a:ext cx="2355850" cy="1422400"/>
            </a:xfrm>
            <a:custGeom>
              <a:avLst/>
              <a:gdLst/>
              <a:ahLst/>
              <a:cxnLst/>
              <a:rect l="l" t="t" r="r" b="b"/>
              <a:pathLst>
                <a:path w="2355850" h="1422400">
                  <a:moveTo>
                    <a:pt x="2355583" y="0"/>
                  </a:moveTo>
                  <a:lnTo>
                    <a:pt x="0" y="0"/>
                  </a:lnTo>
                  <a:lnTo>
                    <a:pt x="0" y="1421887"/>
                  </a:lnTo>
                  <a:lnTo>
                    <a:pt x="2355584" y="1421887"/>
                  </a:lnTo>
                  <a:lnTo>
                    <a:pt x="2355584" y="1414684"/>
                  </a:lnTo>
                  <a:lnTo>
                    <a:pt x="14412" y="1414684"/>
                  </a:lnTo>
                  <a:lnTo>
                    <a:pt x="7206" y="1407480"/>
                  </a:lnTo>
                  <a:lnTo>
                    <a:pt x="14412" y="1407480"/>
                  </a:lnTo>
                  <a:lnTo>
                    <a:pt x="14412" y="14407"/>
                  </a:lnTo>
                  <a:lnTo>
                    <a:pt x="7206" y="14407"/>
                  </a:lnTo>
                  <a:lnTo>
                    <a:pt x="14412" y="7203"/>
                  </a:lnTo>
                  <a:lnTo>
                    <a:pt x="2355583" y="7203"/>
                  </a:lnTo>
                  <a:lnTo>
                    <a:pt x="2355583" y="0"/>
                  </a:lnTo>
                  <a:close/>
                </a:path>
                <a:path w="2355850" h="1422400">
                  <a:moveTo>
                    <a:pt x="14412" y="1407480"/>
                  </a:moveTo>
                  <a:lnTo>
                    <a:pt x="7206" y="1407480"/>
                  </a:lnTo>
                  <a:lnTo>
                    <a:pt x="14412" y="1414684"/>
                  </a:lnTo>
                  <a:lnTo>
                    <a:pt x="14412" y="1407480"/>
                  </a:lnTo>
                  <a:close/>
                </a:path>
                <a:path w="2355850" h="1422400">
                  <a:moveTo>
                    <a:pt x="2341171" y="1407480"/>
                  </a:moveTo>
                  <a:lnTo>
                    <a:pt x="14412" y="1407480"/>
                  </a:lnTo>
                  <a:lnTo>
                    <a:pt x="14412" y="1414684"/>
                  </a:lnTo>
                  <a:lnTo>
                    <a:pt x="2341171" y="1414684"/>
                  </a:lnTo>
                  <a:lnTo>
                    <a:pt x="2341171" y="1407480"/>
                  </a:lnTo>
                  <a:close/>
                </a:path>
                <a:path w="2355850" h="1422400">
                  <a:moveTo>
                    <a:pt x="2341171" y="7203"/>
                  </a:moveTo>
                  <a:lnTo>
                    <a:pt x="2341171" y="1414684"/>
                  </a:lnTo>
                  <a:lnTo>
                    <a:pt x="2348377" y="1407480"/>
                  </a:lnTo>
                  <a:lnTo>
                    <a:pt x="2355584" y="1407480"/>
                  </a:lnTo>
                  <a:lnTo>
                    <a:pt x="2355583" y="14407"/>
                  </a:lnTo>
                  <a:lnTo>
                    <a:pt x="2348377" y="14407"/>
                  </a:lnTo>
                  <a:lnTo>
                    <a:pt x="2341171" y="7203"/>
                  </a:lnTo>
                  <a:close/>
                </a:path>
                <a:path w="2355850" h="1422400">
                  <a:moveTo>
                    <a:pt x="2355584" y="1407480"/>
                  </a:moveTo>
                  <a:lnTo>
                    <a:pt x="2348377" y="1407480"/>
                  </a:lnTo>
                  <a:lnTo>
                    <a:pt x="2341171" y="1414684"/>
                  </a:lnTo>
                  <a:lnTo>
                    <a:pt x="2355584" y="1414684"/>
                  </a:lnTo>
                  <a:lnTo>
                    <a:pt x="2355584" y="1407480"/>
                  </a:lnTo>
                  <a:close/>
                </a:path>
                <a:path w="2355850" h="1422400">
                  <a:moveTo>
                    <a:pt x="14412" y="7203"/>
                  </a:moveTo>
                  <a:lnTo>
                    <a:pt x="7206" y="14407"/>
                  </a:lnTo>
                  <a:lnTo>
                    <a:pt x="14412" y="14407"/>
                  </a:lnTo>
                  <a:lnTo>
                    <a:pt x="14412" y="7203"/>
                  </a:lnTo>
                  <a:close/>
                </a:path>
                <a:path w="2355850" h="1422400">
                  <a:moveTo>
                    <a:pt x="2341171" y="7203"/>
                  </a:moveTo>
                  <a:lnTo>
                    <a:pt x="14412" y="7203"/>
                  </a:lnTo>
                  <a:lnTo>
                    <a:pt x="14412" y="14407"/>
                  </a:lnTo>
                  <a:lnTo>
                    <a:pt x="2341171" y="14407"/>
                  </a:lnTo>
                  <a:lnTo>
                    <a:pt x="2341171" y="7203"/>
                  </a:lnTo>
                  <a:close/>
                </a:path>
                <a:path w="2355850" h="1422400">
                  <a:moveTo>
                    <a:pt x="2355583" y="7203"/>
                  </a:moveTo>
                  <a:lnTo>
                    <a:pt x="2341171" y="7203"/>
                  </a:lnTo>
                  <a:lnTo>
                    <a:pt x="2348377" y="14407"/>
                  </a:lnTo>
                  <a:lnTo>
                    <a:pt x="2355583" y="14407"/>
                  </a:lnTo>
                  <a:lnTo>
                    <a:pt x="2355583" y="7203"/>
                  </a:lnTo>
                  <a:close/>
                </a:path>
              </a:pathLst>
            </a:custGeom>
            <a:solidFill>
              <a:srgbClr val="000000"/>
            </a:solidFill>
          </p:spPr>
          <p:txBody>
            <a:bodyPr wrap="square" lIns="0" tIns="0" rIns="0" bIns="0" rtlCol="0"/>
            <a:lstStyle/>
            <a:p>
              <a:endParaRPr sz="2400"/>
            </a:p>
          </p:txBody>
        </p:sp>
        <p:sp>
          <p:nvSpPr>
            <p:cNvPr id="163" name="object 163"/>
            <p:cNvSpPr/>
            <p:nvPr/>
          </p:nvSpPr>
          <p:spPr>
            <a:xfrm>
              <a:off x="6864029" y="1524895"/>
              <a:ext cx="1554480" cy="1415415"/>
            </a:xfrm>
            <a:custGeom>
              <a:avLst/>
              <a:gdLst/>
              <a:ahLst/>
              <a:cxnLst/>
              <a:rect l="l" t="t" r="r" b="b"/>
              <a:pathLst>
                <a:path w="1554479" h="1415414">
                  <a:moveTo>
                    <a:pt x="0" y="1403862"/>
                  </a:moveTo>
                  <a:lnTo>
                    <a:pt x="0" y="0"/>
                  </a:lnTo>
                </a:path>
                <a:path w="1554479" h="1415414">
                  <a:moveTo>
                    <a:pt x="389128" y="1407480"/>
                  </a:moveTo>
                  <a:lnTo>
                    <a:pt x="389127" y="3617"/>
                  </a:lnTo>
                </a:path>
                <a:path w="1554479" h="1415414">
                  <a:moveTo>
                    <a:pt x="777455" y="1412410"/>
                  </a:moveTo>
                  <a:lnTo>
                    <a:pt x="777454" y="8580"/>
                  </a:lnTo>
                </a:path>
                <a:path w="1554479" h="1415414">
                  <a:moveTo>
                    <a:pt x="1164981" y="1415228"/>
                  </a:moveTo>
                  <a:lnTo>
                    <a:pt x="1164980" y="11366"/>
                  </a:lnTo>
                </a:path>
                <a:path w="1554479" h="1415414">
                  <a:moveTo>
                    <a:pt x="1554109" y="1414684"/>
                  </a:moveTo>
                  <a:lnTo>
                    <a:pt x="1554108" y="10821"/>
                  </a:lnTo>
                </a:path>
              </a:pathLst>
            </a:custGeom>
            <a:ln w="3175">
              <a:solidFill>
                <a:srgbClr val="000000"/>
              </a:solidFill>
              <a:prstDash val="lgDash"/>
            </a:ln>
          </p:spPr>
          <p:txBody>
            <a:bodyPr wrap="square" lIns="0" tIns="0" rIns="0" bIns="0" rtlCol="0"/>
            <a:lstStyle/>
            <a:p>
              <a:endParaRPr sz="2400"/>
            </a:p>
          </p:txBody>
        </p:sp>
        <p:sp>
          <p:nvSpPr>
            <p:cNvPr id="164" name="object 164"/>
            <p:cNvSpPr/>
            <p:nvPr/>
          </p:nvSpPr>
          <p:spPr>
            <a:xfrm>
              <a:off x="6474902" y="1709506"/>
              <a:ext cx="2334895" cy="1049020"/>
            </a:xfrm>
            <a:custGeom>
              <a:avLst/>
              <a:gdLst/>
              <a:ahLst/>
              <a:cxnLst/>
              <a:rect l="l" t="t" r="r" b="b"/>
              <a:pathLst>
                <a:path w="2334895" h="1049020">
                  <a:moveTo>
                    <a:pt x="1249" y="1048758"/>
                  </a:moveTo>
                  <a:lnTo>
                    <a:pt x="2332364" y="1048758"/>
                  </a:lnTo>
                </a:path>
                <a:path w="2334895" h="1049020">
                  <a:moveTo>
                    <a:pt x="3651" y="874680"/>
                  </a:moveTo>
                  <a:lnTo>
                    <a:pt x="2334766" y="874680"/>
                  </a:lnTo>
                </a:path>
                <a:path w="2334895" h="1049020">
                  <a:moveTo>
                    <a:pt x="1249" y="699609"/>
                  </a:moveTo>
                  <a:lnTo>
                    <a:pt x="2332364" y="699609"/>
                  </a:lnTo>
                </a:path>
                <a:path w="2334895" h="1049020">
                  <a:moveTo>
                    <a:pt x="3651" y="524795"/>
                  </a:moveTo>
                  <a:lnTo>
                    <a:pt x="2334766" y="524795"/>
                  </a:lnTo>
                </a:path>
                <a:path w="2334895" h="1049020">
                  <a:moveTo>
                    <a:pt x="2402" y="349628"/>
                  </a:moveTo>
                  <a:lnTo>
                    <a:pt x="2333548" y="349628"/>
                  </a:lnTo>
                </a:path>
                <a:path w="2334895" h="1049020">
                  <a:moveTo>
                    <a:pt x="0" y="175070"/>
                  </a:moveTo>
                  <a:lnTo>
                    <a:pt x="2331146" y="175070"/>
                  </a:lnTo>
                </a:path>
                <a:path w="2334895" h="1049020">
                  <a:moveTo>
                    <a:pt x="2401" y="0"/>
                  </a:moveTo>
                  <a:lnTo>
                    <a:pt x="2333548" y="0"/>
                  </a:lnTo>
                </a:path>
              </a:pathLst>
            </a:custGeom>
            <a:ln w="3175">
              <a:solidFill>
                <a:srgbClr val="000000"/>
              </a:solidFill>
              <a:prstDash val="lgDash"/>
            </a:ln>
          </p:spPr>
          <p:txBody>
            <a:bodyPr wrap="square" lIns="0" tIns="0" rIns="0" bIns="0" rtlCol="0"/>
            <a:lstStyle/>
            <a:p>
              <a:endParaRPr sz="2400"/>
            </a:p>
          </p:txBody>
        </p:sp>
        <p:sp>
          <p:nvSpPr>
            <p:cNvPr id="165" name="object 165"/>
            <p:cNvSpPr/>
            <p:nvPr/>
          </p:nvSpPr>
          <p:spPr>
            <a:xfrm>
              <a:off x="6452451" y="1586922"/>
              <a:ext cx="2345690" cy="1358900"/>
            </a:xfrm>
            <a:custGeom>
              <a:avLst/>
              <a:gdLst/>
              <a:ahLst/>
              <a:cxnLst/>
              <a:rect l="l" t="t" r="r" b="b"/>
              <a:pathLst>
                <a:path w="2345690" h="1358900">
                  <a:moveTo>
                    <a:pt x="2327079" y="1092199"/>
                  </a:moveTo>
                  <a:lnTo>
                    <a:pt x="2294764" y="1092199"/>
                  </a:lnTo>
                  <a:lnTo>
                    <a:pt x="2295116" y="1104899"/>
                  </a:lnTo>
                  <a:lnTo>
                    <a:pt x="2295404" y="1104899"/>
                  </a:lnTo>
                  <a:lnTo>
                    <a:pt x="2296750" y="1130299"/>
                  </a:lnTo>
                  <a:lnTo>
                    <a:pt x="2299472" y="1168399"/>
                  </a:lnTo>
                  <a:lnTo>
                    <a:pt x="2300881" y="1193799"/>
                  </a:lnTo>
                  <a:lnTo>
                    <a:pt x="2302354" y="1219199"/>
                  </a:lnTo>
                  <a:lnTo>
                    <a:pt x="2303539" y="1231899"/>
                  </a:lnTo>
                  <a:lnTo>
                    <a:pt x="2304148" y="1244599"/>
                  </a:lnTo>
                  <a:lnTo>
                    <a:pt x="2305973" y="1269999"/>
                  </a:lnTo>
                  <a:lnTo>
                    <a:pt x="2307222" y="1282699"/>
                  </a:lnTo>
                  <a:lnTo>
                    <a:pt x="2307895" y="1295399"/>
                  </a:lnTo>
                  <a:lnTo>
                    <a:pt x="2309817" y="1308099"/>
                  </a:lnTo>
                  <a:lnTo>
                    <a:pt x="2310457" y="1320799"/>
                  </a:lnTo>
                  <a:lnTo>
                    <a:pt x="2311770" y="1333499"/>
                  </a:lnTo>
                  <a:lnTo>
                    <a:pt x="2313532" y="1358899"/>
                  </a:lnTo>
                  <a:lnTo>
                    <a:pt x="2345463" y="1358899"/>
                  </a:lnTo>
                  <a:lnTo>
                    <a:pt x="2343701" y="1333499"/>
                  </a:lnTo>
                  <a:lnTo>
                    <a:pt x="2342388" y="1320799"/>
                  </a:lnTo>
                  <a:lnTo>
                    <a:pt x="2340434" y="1295399"/>
                  </a:lnTo>
                  <a:lnTo>
                    <a:pt x="2337904" y="1269999"/>
                  </a:lnTo>
                  <a:lnTo>
                    <a:pt x="2336079" y="1244599"/>
                  </a:lnTo>
                  <a:lnTo>
                    <a:pt x="2334285" y="1219199"/>
                  </a:lnTo>
                  <a:lnTo>
                    <a:pt x="2331435" y="1168399"/>
                  </a:lnTo>
                  <a:lnTo>
                    <a:pt x="2328713" y="1130299"/>
                  </a:lnTo>
                  <a:lnTo>
                    <a:pt x="2327079" y="1092199"/>
                  </a:lnTo>
                  <a:close/>
                </a:path>
                <a:path w="2345690" h="1358900">
                  <a:moveTo>
                    <a:pt x="2323652" y="1054099"/>
                  </a:moveTo>
                  <a:lnTo>
                    <a:pt x="2292106" y="1054099"/>
                  </a:lnTo>
                  <a:lnTo>
                    <a:pt x="2293259" y="1079499"/>
                  </a:lnTo>
                  <a:lnTo>
                    <a:pt x="2294476" y="1092199"/>
                  </a:lnTo>
                  <a:lnTo>
                    <a:pt x="2326727" y="1092199"/>
                  </a:lnTo>
                  <a:lnTo>
                    <a:pt x="2326118" y="1079499"/>
                  </a:lnTo>
                  <a:lnTo>
                    <a:pt x="2325190" y="1066799"/>
                  </a:lnTo>
                  <a:lnTo>
                    <a:pt x="2324581" y="1066799"/>
                  </a:lnTo>
                  <a:lnTo>
                    <a:pt x="2323652" y="1054099"/>
                  </a:lnTo>
                  <a:close/>
                </a:path>
                <a:path w="2345690" h="1358900">
                  <a:moveTo>
                    <a:pt x="2322755" y="1041399"/>
                  </a:moveTo>
                  <a:lnTo>
                    <a:pt x="2290536" y="1041399"/>
                  </a:lnTo>
                  <a:lnTo>
                    <a:pt x="2291113" y="1054099"/>
                  </a:lnTo>
                  <a:lnTo>
                    <a:pt x="2322948" y="1054099"/>
                  </a:lnTo>
                  <a:lnTo>
                    <a:pt x="2322755" y="1041399"/>
                  </a:lnTo>
                  <a:close/>
                </a:path>
                <a:path w="2345690" h="1358900">
                  <a:moveTo>
                    <a:pt x="2286853" y="673099"/>
                  </a:moveTo>
                  <a:lnTo>
                    <a:pt x="2254506" y="673099"/>
                  </a:lnTo>
                  <a:lnTo>
                    <a:pt x="2254954" y="685799"/>
                  </a:lnTo>
                  <a:lnTo>
                    <a:pt x="2258253" y="711199"/>
                  </a:lnTo>
                  <a:lnTo>
                    <a:pt x="2260822" y="736720"/>
                  </a:lnTo>
                  <a:lnTo>
                    <a:pt x="2261552" y="749299"/>
                  </a:lnTo>
                  <a:lnTo>
                    <a:pt x="2262256" y="761999"/>
                  </a:lnTo>
                  <a:lnTo>
                    <a:pt x="2263025" y="761999"/>
                  </a:lnTo>
                  <a:lnTo>
                    <a:pt x="2264562" y="774699"/>
                  </a:lnTo>
                  <a:lnTo>
                    <a:pt x="2265395" y="787399"/>
                  </a:lnTo>
                  <a:lnTo>
                    <a:pt x="2267989" y="812799"/>
                  </a:lnTo>
                  <a:lnTo>
                    <a:pt x="2268886" y="825499"/>
                  </a:lnTo>
                  <a:lnTo>
                    <a:pt x="2271833" y="850899"/>
                  </a:lnTo>
                  <a:lnTo>
                    <a:pt x="2274010" y="876299"/>
                  </a:lnTo>
                  <a:lnTo>
                    <a:pt x="2278558" y="927099"/>
                  </a:lnTo>
                  <a:lnTo>
                    <a:pt x="2279647" y="939799"/>
                  </a:lnTo>
                  <a:lnTo>
                    <a:pt x="2285732" y="1003299"/>
                  </a:lnTo>
                  <a:lnTo>
                    <a:pt x="2288006" y="1028699"/>
                  </a:lnTo>
                  <a:lnTo>
                    <a:pt x="2289704" y="1041399"/>
                  </a:lnTo>
                  <a:lnTo>
                    <a:pt x="2321570" y="1041399"/>
                  </a:lnTo>
                  <a:lnTo>
                    <a:pt x="2320834" y="1028699"/>
                  </a:lnTo>
                  <a:lnTo>
                    <a:pt x="2320353" y="1028699"/>
                  </a:lnTo>
                  <a:lnTo>
                    <a:pt x="2319905" y="1015999"/>
                  </a:lnTo>
                  <a:lnTo>
                    <a:pt x="2319200" y="1015999"/>
                  </a:lnTo>
                  <a:lnTo>
                    <a:pt x="2318848" y="1003299"/>
                  </a:lnTo>
                  <a:lnTo>
                    <a:pt x="2318015" y="1003299"/>
                  </a:lnTo>
                  <a:lnTo>
                    <a:pt x="2316702" y="990599"/>
                  </a:lnTo>
                  <a:lnTo>
                    <a:pt x="2316254" y="977899"/>
                  </a:lnTo>
                  <a:lnTo>
                    <a:pt x="2314749" y="965199"/>
                  </a:lnTo>
                  <a:lnTo>
                    <a:pt x="2313724" y="952499"/>
                  </a:lnTo>
                  <a:lnTo>
                    <a:pt x="2312635" y="939799"/>
                  </a:lnTo>
                  <a:lnTo>
                    <a:pt x="2308151" y="901699"/>
                  </a:lnTo>
                  <a:lnTo>
                    <a:pt x="2307030" y="888999"/>
                  </a:lnTo>
                  <a:lnTo>
                    <a:pt x="2305877" y="876299"/>
                  </a:lnTo>
                  <a:lnTo>
                    <a:pt x="2301746" y="825499"/>
                  </a:lnTo>
                  <a:lnTo>
                    <a:pt x="2300785" y="825499"/>
                  </a:lnTo>
                  <a:lnTo>
                    <a:pt x="2296461" y="774699"/>
                  </a:lnTo>
                  <a:lnTo>
                    <a:pt x="2292074" y="736881"/>
                  </a:lnTo>
                  <a:lnTo>
                    <a:pt x="2290728" y="723899"/>
                  </a:lnTo>
                  <a:lnTo>
                    <a:pt x="2289543" y="711199"/>
                  </a:lnTo>
                  <a:lnTo>
                    <a:pt x="2287846" y="685799"/>
                  </a:lnTo>
                  <a:lnTo>
                    <a:pt x="2286853" y="673099"/>
                  </a:lnTo>
                  <a:close/>
                </a:path>
                <a:path w="2345690" h="1358900">
                  <a:moveTo>
                    <a:pt x="73727" y="736720"/>
                  </a:moveTo>
                  <a:lnTo>
                    <a:pt x="23157" y="736720"/>
                  </a:lnTo>
                  <a:lnTo>
                    <a:pt x="0" y="749299"/>
                  </a:lnTo>
                  <a:lnTo>
                    <a:pt x="19536" y="774699"/>
                  </a:lnTo>
                  <a:lnTo>
                    <a:pt x="43012" y="761999"/>
                  </a:lnTo>
                  <a:lnTo>
                    <a:pt x="53645" y="749299"/>
                  </a:lnTo>
                  <a:lnTo>
                    <a:pt x="63893" y="749299"/>
                  </a:lnTo>
                  <a:lnTo>
                    <a:pt x="73602" y="736881"/>
                  </a:lnTo>
                  <a:lnTo>
                    <a:pt x="73727" y="736720"/>
                  </a:lnTo>
                  <a:close/>
                </a:path>
                <a:path w="2345690" h="1358900">
                  <a:moveTo>
                    <a:pt x="83430" y="723899"/>
                  </a:moveTo>
                  <a:lnTo>
                    <a:pt x="33468" y="723899"/>
                  </a:lnTo>
                  <a:lnTo>
                    <a:pt x="22861" y="736881"/>
                  </a:lnTo>
                  <a:lnTo>
                    <a:pt x="23157" y="736720"/>
                  </a:lnTo>
                  <a:lnTo>
                    <a:pt x="73730" y="736720"/>
                  </a:lnTo>
                  <a:lnTo>
                    <a:pt x="83430" y="723899"/>
                  </a:lnTo>
                  <a:close/>
                </a:path>
                <a:path w="2345690" h="1358900">
                  <a:moveTo>
                    <a:pt x="110332" y="698499"/>
                  </a:moveTo>
                  <a:lnTo>
                    <a:pt x="62164" y="698499"/>
                  </a:lnTo>
                  <a:lnTo>
                    <a:pt x="47944" y="717549"/>
                  </a:lnTo>
                  <a:lnTo>
                    <a:pt x="43076" y="723899"/>
                  </a:lnTo>
                  <a:lnTo>
                    <a:pt x="92718" y="723899"/>
                  </a:lnTo>
                  <a:lnTo>
                    <a:pt x="101685" y="711199"/>
                  </a:lnTo>
                  <a:lnTo>
                    <a:pt x="110332" y="698499"/>
                  </a:lnTo>
                  <a:close/>
                </a:path>
                <a:path w="2345690" h="1358900">
                  <a:moveTo>
                    <a:pt x="701451" y="190499"/>
                  </a:moveTo>
                  <a:lnTo>
                    <a:pt x="687109" y="203311"/>
                  </a:lnTo>
                  <a:lnTo>
                    <a:pt x="629446" y="203311"/>
                  </a:lnTo>
                  <a:lnTo>
                    <a:pt x="605213" y="228599"/>
                  </a:lnTo>
                  <a:lnTo>
                    <a:pt x="581321" y="241299"/>
                  </a:lnTo>
                  <a:lnTo>
                    <a:pt x="557708" y="266779"/>
                  </a:lnTo>
                  <a:lnTo>
                    <a:pt x="534413" y="292163"/>
                  </a:lnTo>
                  <a:lnTo>
                    <a:pt x="511406" y="304799"/>
                  </a:lnTo>
                  <a:lnTo>
                    <a:pt x="465223" y="342899"/>
                  </a:lnTo>
                  <a:lnTo>
                    <a:pt x="432748" y="380999"/>
                  </a:lnTo>
                  <a:lnTo>
                    <a:pt x="400272" y="406399"/>
                  </a:lnTo>
                  <a:lnTo>
                    <a:pt x="384259" y="419099"/>
                  </a:lnTo>
                  <a:lnTo>
                    <a:pt x="368470" y="431799"/>
                  </a:lnTo>
                  <a:lnTo>
                    <a:pt x="352905" y="444499"/>
                  </a:lnTo>
                  <a:lnTo>
                    <a:pt x="337692" y="457199"/>
                  </a:lnTo>
                  <a:lnTo>
                    <a:pt x="321262" y="469899"/>
                  </a:lnTo>
                  <a:lnTo>
                    <a:pt x="296761" y="495299"/>
                  </a:lnTo>
                  <a:lnTo>
                    <a:pt x="288466" y="495299"/>
                  </a:lnTo>
                  <a:lnTo>
                    <a:pt x="279979" y="507999"/>
                  </a:lnTo>
                  <a:lnTo>
                    <a:pt x="241771" y="546099"/>
                  </a:lnTo>
                  <a:lnTo>
                    <a:pt x="195172" y="584199"/>
                  </a:lnTo>
                  <a:lnTo>
                    <a:pt x="164810" y="609599"/>
                  </a:lnTo>
                  <a:lnTo>
                    <a:pt x="142359" y="634999"/>
                  </a:lnTo>
                  <a:lnTo>
                    <a:pt x="119396" y="647699"/>
                  </a:lnTo>
                  <a:lnTo>
                    <a:pt x="104215" y="660399"/>
                  </a:lnTo>
                  <a:lnTo>
                    <a:pt x="80035" y="685799"/>
                  </a:lnTo>
                  <a:lnTo>
                    <a:pt x="71195" y="698499"/>
                  </a:lnTo>
                  <a:lnTo>
                    <a:pt x="118211" y="698499"/>
                  </a:lnTo>
                  <a:lnTo>
                    <a:pt x="141046" y="673099"/>
                  </a:lnTo>
                  <a:lnTo>
                    <a:pt x="156131" y="660399"/>
                  </a:lnTo>
                  <a:lnTo>
                    <a:pt x="163849" y="660399"/>
                  </a:lnTo>
                  <a:lnTo>
                    <a:pt x="171728" y="647699"/>
                  </a:lnTo>
                  <a:lnTo>
                    <a:pt x="193442" y="622299"/>
                  </a:lnTo>
                  <a:lnTo>
                    <a:pt x="201001" y="622299"/>
                  </a:lnTo>
                  <a:lnTo>
                    <a:pt x="216342" y="609599"/>
                  </a:lnTo>
                  <a:lnTo>
                    <a:pt x="262941" y="571499"/>
                  </a:lnTo>
                  <a:lnTo>
                    <a:pt x="278026" y="558799"/>
                  </a:lnTo>
                  <a:lnTo>
                    <a:pt x="292566" y="546099"/>
                  </a:lnTo>
                  <a:lnTo>
                    <a:pt x="301373" y="533399"/>
                  </a:lnTo>
                  <a:lnTo>
                    <a:pt x="326514" y="507999"/>
                  </a:lnTo>
                  <a:lnTo>
                    <a:pt x="357333" y="483919"/>
                  </a:lnTo>
                  <a:lnTo>
                    <a:pt x="373914" y="469899"/>
                  </a:lnTo>
                  <a:lnTo>
                    <a:pt x="389383" y="457199"/>
                  </a:lnTo>
                  <a:lnTo>
                    <a:pt x="405076" y="444499"/>
                  </a:lnTo>
                  <a:lnTo>
                    <a:pt x="421026" y="431799"/>
                  </a:lnTo>
                  <a:lnTo>
                    <a:pt x="453437" y="393699"/>
                  </a:lnTo>
                  <a:lnTo>
                    <a:pt x="486041" y="368299"/>
                  </a:lnTo>
                  <a:lnTo>
                    <a:pt x="509292" y="355599"/>
                  </a:lnTo>
                  <a:lnTo>
                    <a:pt x="532448" y="330199"/>
                  </a:lnTo>
                  <a:lnTo>
                    <a:pt x="555507" y="317499"/>
                  </a:lnTo>
                  <a:lnTo>
                    <a:pt x="578573" y="292163"/>
                  </a:lnTo>
                  <a:lnTo>
                    <a:pt x="578444" y="292163"/>
                  </a:lnTo>
                  <a:lnTo>
                    <a:pt x="588908" y="280811"/>
                  </a:lnTo>
                  <a:lnTo>
                    <a:pt x="594123" y="275081"/>
                  </a:lnTo>
                  <a:lnTo>
                    <a:pt x="601839" y="266779"/>
                  </a:lnTo>
                  <a:lnTo>
                    <a:pt x="601601" y="266779"/>
                  </a:lnTo>
                  <a:lnTo>
                    <a:pt x="624964" y="254245"/>
                  </a:lnTo>
                  <a:lnTo>
                    <a:pt x="649346" y="228599"/>
                  </a:lnTo>
                  <a:lnTo>
                    <a:pt x="661228" y="228599"/>
                  </a:lnTo>
                  <a:lnTo>
                    <a:pt x="673561" y="215996"/>
                  </a:lnTo>
                  <a:lnTo>
                    <a:pt x="673357" y="215996"/>
                  </a:lnTo>
                  <a:lnTo>
                    <a:pt x="675176" y="214344"/>
                  </a:lnTo>
                  <a:lnTo>
                    <a:pt x="675425" y="214090"/>
                  </a:lnTo>
                  <a:lnTo>
                    <a:pt x="701451" y="190499"/>
                  </a:lnTo>
                  <a:close/>
                </a:path>
                <a:path w="2345690" h="1358900">
                  <a:moveTo>
                    <a:pt x="2280159" y="609599"/>
                  </a:moveTo>
                  <a:lnTo>
                    <a:pt x="2247908" y="609599"/>
                  </a:lnTo>
                  <a:lnTo>
                    <a:pt x="2248837" y="622299"/>
                  </a:lnTo>
                  <a:lnTo>
                    <a:pt x="2249894" y="634999"/>
                  </a:lnTo>
                  <a:lnTo>
                    <a:pt x="2250887" y="647699"/>
                  </a:lnTo>
                  <a:lnTo>
                    <a:pt x="2252328" y="660399"/>
                  </a:lnTo>
                  <a:lnTo>
                    <a:pt x="2253161" y="660399"/>
                  </a:lnTo>
                  <a:lnTo>
                    <a:pt x="2253993" y="673099"/>
                  </a:lnTo>
                  <a:lnTo>
                    <a:pt x="2285860" y="673099"/>
                  </a:lnTo>
                  <a:lnTo>
                    <a:pt x="2284579" y="660399"/>
                  </a:lnTo>
                  <a:lnTo>
                    <a:pt x="2284195" y="647699"/>
                  </a:lnTo>
                  <a:lnTo>
                    <a:pt x="2282401" y="634999"/>
                  </a:lnTo>
                  <a:lnTo>
                    <a:pt x="2281761" y="634999"/>
                  </a:lnTo>
                  <a:lnTo>
                    <a:pt x="2281216" y="622299"/>
                  </a:lnTo>
                  <a:lnTo>
                    <a:pt x="2280159" y="609599"/>
                  </a:lnTo>
                  <a:close/>
                </a:path>
                <a:path w="2345690" h="1358900">
                  <a:moveTo>
                    <a:pt x="2181779" y="91439"/>
                  </a:moveTo>
                  <a:lnTo>
                    <a:pt x="2193014" y="139699"/>
                  </a:lnTo>
                  <a:lnTo>
                    <a:pt x="2200925" y="190499"/>
                  </a:lnTo>
                  <a:lnTo>
                    <a:pt x="2203444" y="203311"/>
                  </a:lnTo>
                  <a:lnTo>
                    <a:pt x="2205834" y="215996"/>
                  </a:lnTo>
                  <a:lnTo>
                    <a:pt x="2208195" y="241299"/>
                  </a:lnTo>
                  <a:lnTo>
                    <a:pt x="2210439" y="254024"/>
                  </a:lnTo>
                  <a:lnTo>
                    <a:pt x="2212678" y="279399"/>
                  </a:lnTo>
                  <a:lnTo>
                    <a:pt x="2216970" y="317499"/>
                  </a:lnTo>
                  <a:lnTo>
                    <a:pt x="2221102" y="355599"/>
                  </a:lnTo>
                  <a:lnTo>
                    <a:pt x="2225073" y="393699"/>
                  </a:lnTo>
                  <a:lnTo>
                    <a:pt x="2236795" y="507999"/>
                  </a:lnTo>
                  <a:lnTo>
                    <a:pt x="2238749" y="533399"/>
                  </a:lnTo>
                  <a:lnTo>
                    <a:pt x="2240702" y="546099"/>
                  </a:lnTo>
                  <a:lnTo>
                    <a:pt x="2242752" y="571499"/>
                  </a:lnTo>
                  <a:lnTo>
                    <a:pt x="2244770" y="584199"/>
                  </a:lnTo>
                  <a:lnTo>
                    <a:pt x="2247108" y="609599"/>
                  </a:lnTo>
                  <a:lnTo>
                    <a:pt x="2278942" y="609599"/>
                  </a:lnTo>
                  <a:lnTo>
                    <a:pt x="2278238" y="596899"/>
                  </a:lnTo>
                  <a:lnTo>
                    <a:pt x="2276572" y="584199"/>
                  </a:lnTo>
                  <a:lnTo>
                    <a:pt x="2274555" y="571499"/>
                  </a:lnTo>
                  <a:lnTo>
                    <a:pt x="2272569" y="546099"/>
                  </a:lnTo>
                  <a:lnTo>
                    <a:pt x="2270583" y="533399"/>
                  </a:lnTo>
                  <a:lnTo>
                    <a:pt x="2264754" y="469899"/>
                  </a:lnTo>
                  <a:lnTo>
                    <a:pt x="2256972" y="393699"/>
                  </a:lnTo>
                  <a:lnTo>
                    <a:pt x="2252968" y="355599"/>
                  </a:lnTo>
                  <a:lnTo>
                    <a:pt x="2248805" y="317499"/>
                  </a:lnTo>
                  <a:lnTo>
                    <a:pt x="2244488" y="266779"/>
                  </a:lnTo>
                  <a:lnTo>
                    <a:pt x="2242283" y="254245"/>
                  </a:lnTo>
                  <a:lnTo>
                    <a:pt x="2242244" y="254024"/>
                  </a:lnTo>
                  <a:lnTo>
                    <a:pt x="2239965" y="228599"/>
                  </a:lnTo>
                  <a:lnTo>
                    <a:pt x="2237293" y="214344"/>
                  </a:lnTo>
                  <a:lnTo>
                    <a:pt x="2235151" y="203311"/>
                  </a:lnTo>
                  <a:lnTo>
                    <a:pt x="2232599" y="177799"/>
                  </a:lnTo>
                  <a:lnTo>
                    <a:pt x="2230005" y="165099"/>
                  </a:lnTo>
                  <a:lnTo>
                    <a:pt x="2227283" y="152399"/>
                  </a:lnTo>
                  <a:lnTo>
                    <a:pt x="2224464" y="126999"/>
                  </a:lnTo>
                  <a:lnTo>
                    <a:pt x="2221582" y="114299"/>
                  </a:lnTo>
                  <a:lnTo>
                    <a:pt x="2218507" y="101599"/>
                  </a:lnTo>
                  <a:lnTo>
                    <a:pt x="2184367" y="101599"/>
                  </a:lnTo>
                  <a:lnTo>
                    <a:pt x="2181779" y="91439"/>
                  </a:lnTo>
                  <a:close/>
                </a:path>
                <a:path w="2345690" h="1358900">
                  <a:moveTo>
                    <a:pt x="588908" y="280811"/>
                  </a:moveTo>
                  <a:lnTo>
                    <a:pt x="578444" y="292163"/>
                  </a:lnTo>
                  <a:lnTo>
                    <a:pt x="578573" y="292163"/>
                  </a:lnTo>
                  <a:lnTo>
                    <a:pt x="588908" y="280811"/>
                  </a:lnTo>
                  <a:close/>
                </a:path>
                <a:path w="2345690" h="1358900">
                  <a:moveTo>
                    <a:pt x="675176" y="214344"/>
                  </a:moveTo>
                  <a:lnTo>
                    <a:pt x="673357" y="215996"/>
                  </a:lnTo>
                  <a:lnTo>
                    <a:pt x="673561" y="215996"/>
                  </a:lnTo>
                  <a:lnTo>
                    <a:pt x="675176" y="214344"/>
                  </a:lnTo>
                  <a:close/>
                </a:path>
                <a:path w="2345690" h="1358900">
                  <a:moveTo>
                    <a:pt x="744050" y="165099"/>
                  </a:moveTo>
                  <a:lnTo>
                    <a:pt x="683135" y="165099"/>
                  </a:lnTo>
                  <a:lnTo>
                    <a:pt x="654534" y="190499"/>
                  </a:lnTo>
                  <a:lnTo>
                    <a:pt x="641870" y="203311"/>
                  </a:lnTo>
                  <a:lnTo>
                    <a:pt x="687109" y="203311"/>
                  </a:lnTo>
                  <a:lnTo>
                    <a:pt x="703787" y="188383"/>
                  </a:lnTo>
                  <a:lnTo>
                    <a:pt x="717670" y="188383"/>
                  </a:lnTo>
                  <a:lnTo>
                    <a:pt x="729734" y="177799"/>
                  </a:lnTo>
                  <a:lnTo>
                    <a:pt x="729413" y="177799"/>
                  </a:lnTo>
                  <a:lnTo>
                    <a:pt x="744050" y="165099"/>
                  </a:lnTo>
                  <a:close/>
                </a:path>
                <a:path w="2345690" h="1358900">
                  <a:moveTo>
                    <a:pt x="717670" y="188383"/>
                  </a:moveTo>
                  <a:lnTo>
                    <a:pt x="703787" y="188383"/>
                  </a:lnTo>
                  <a:lnTo>
                    <a:pt x="701454" y="190499"/>
                  </a:lnTo>
                  <a:lnTo>
                    <a:pt x="715258" y="190499"/>
                  </a:lnTo>
                  <a:lnTo>
                    <a:pt x="717670" y="188383"/>
                  </a:lnTo>
                  <a:close/>
                </a:path>
                <a:path w="2345690" h="1358900">
                  <a:moveTo>
                    <a:pt x="813997" y="126999"/>
                  </a:moveTo>
                  <a:lnTo>
                    <a:pt x="742577" y="126999"/>
                  </a:lnTo>
                  <a:lnTo>
                    <a:pt x="727492" y="139699"/>
                  </a:lnTo>
                  <a:lnTo>
                    <a:pt x="697739" y="165099"/>
                  </a:lnTo>
                  <a:lnTo>
                    <a:pt x="758046" y="165099"/>
                  </a:lnTo>
                  <a:lnTo>
                    <a:pt x="772874" y="152399"/>
                  </a:lnTo>
                  <a:lnTo>
                    <a:pt x="779760" y="152399"/>
                  </a:lnTo>
                  <a:lnTo>
                    <a:pt x="787222" y="139699"/>
                  </a:lnTo>
                  <a:lnTo>
                    <a:pt x="804741" y="139699"/>
                  </a:lnTo>
                  <a:lnTo>
                    <a:pt x="813997" y="126999"/>
                  </a:lnTo>
                  <a:close/>
                </a:path>
                <a:path w="2345690" h="1358900">
                  <a:moveTo>
                    <a:pt x="850988" y="114299"/>
                  </a:moveTo>
                  <a:lnTo>
                    <a:pt x="765508" y="114299"/>
                  </a:lnTo>
                  <a:lnTo>
                    <a:pt x="757757" y="126999"/>
                  </a:lnTo>
                  <a:lnTo>
                    <a:pt x="841316" y="126999"/>
                  </a:lnTo>
                  <a:lnTo>
                    <a:pt x="850988" y="114299"/>
                  </a:lnTo>
                  <a:close/>
                </a:path>
                <a:path w="2345690" h="1358900">
                  <a:moveTo>
                    <a:pt x="885289" y="101599"/>
                  </a:moveTo>
                  <a:lnTo>
                    <a:pt x="792154" y="101599"/>
                  </a:lnTo>
                  <a:lnTo>
                    <a:pt x="782642" y="114299"/>
                  </a:lnTo>
                  <a:lnTo>
                    <a:pt x="872638" y="114299"/>
                  </a:lnTo>
                  <a:lnTo>
                    <a:pt x="885289" y="101599"/>
                  </a:lnTo>
                  <a:close/>
                </a:path>
                <a:path w="2345690" h="1358900">
                  <a:moveTo>
                    <a:pt x="936820" y="88899"/>
                  </a:moveTo>
                  <a:lnTo>
                    <a:pt x="830683" y="88899"/>
                  </a:lnTo>
                  <a:lnTo>
                    <a:pt x="820915" y="101599"/>
                  </a:lnTo>
                  <a:lnTo>
                    <a:pt x="910462" y="101599"/>
                  </a:lnTo>
                  <a:lnTo>
                    <a:pt x="936820" y="88899"/>
                  </a:lnTo>
                  <a:close/>
                </a:path>
                <a:path w="2345690" h="1358900">
                  <a:moveTo>
                    <a:pt x="2204864" y="50799"/>
                  </a:moveTo>
                  <a:lnTo>
                    <a:pt x="2168129" y="50799"/>
                  </a:lnTo>
                  <a:lnTo>
                    <a:pt x="2171844" y="63499"/>
                  </a:lnTo>
                  <a:lnTo>
                    <a:pt x="2174726" y="63499"/>
                  </a:lnTo>
                  <a:lnTo>
                    <a:pt x="2178153" y="76199"/>
                  </a:lnTo>
                  <a:lnTo>
                    <a:pt x="2177961" y="76199"/>
                  </a:lnTo>
                  <a:lnTo>
                    <a:pt x="2179062" y="80436"/>
                  </a:lnTo>
                  <a:lnTo>
                    <a:pt x="2181779" y="91439"/>
                  </a:lnTo>
                  <a:lnTo>
                    <a:pt x="2184367" y="101599"/>
                  </a:lnTo>
                  <a:lnTo>
                    <a:pt x="2218507" y="101599"/>
                  </a:lnTo>
                  <a:lnTo>
                    <a:pt x="2215337" y="88899"/>
                  </a:lnTo>
                  <a:lnTo>
                    <a:pt x="2212006" y="76199"/>
                  </a:lnTo>
                  <a:lnTo>
                    <a:pt x="2208547" y="63499"/>
                  </a:lnTo>
                  <a:lnTo>
                    <a:pt x="2204864" y="50799"/>
                  </a:lnTo>
                  <a:close/>
                </a:path>
                <a:path w="2345690" h="1358900">
                  <a:moveTo>
                    <a:pt x="985629" y="76199"/>
                  </a:moveTo>
                  <a:lnTo>
                    <a:pt x="863158" y="76199"/>
                  </a:lnTo>
                  <a:lnTo>
                    <a:pt x="850539" y="88899"/>
                  </a:lnTo>
                  <a:lnTo>
                    <a:pt x="962794" y="88899"/>
                  </a:lnTo>
                  <a:lnTo>
                    <a:pt x="985629" y="76199"/>
                  </a:lnTo>
                  <a:close/>
                </a:path>
                <a:path w="2345690" h="1358900">
                  <a:moveTo>
                    <a:pt x="1008208" y="76199"/>
                  </a:moveTo>
                  <a:lnTo>
                    <a:pt x="985629" y="76199"/>
                  </a:lnTo>
                  <a:lnTo>
                    <a:pt x="985373" y="88899"/>
                  </a:lnTo>
                  <a:lnTo>
                    <a:pt x="1008208" y="76199"/>
                  </a:lnTo>
                  <a:close/>
                </a:path>
                <a:path w="2345690" h="1358900">
                  <a:moveTo>
                    <a:pt x="1076298" y="63499"/>
                  </a:moveTo>
                  <a:lnTo>
                    <a:pt x="902231" y="63499"/>
                  </a:lnTo>
                  <a:lnTo>
                    <a:pt x="889004" y="76199"/>
                  </a:lnTo>
                  <a:lnTo>
                    <a:pt x="1053302" y="76199"/>
                  </a:lnTo>
                  <a:lnTo>
                    <a:pt x="1076298" y="63499"/>
                  </a:lnTo>
                  <a:close/>
                </a:path>
                <a:path w="2345690" h="1358900">
                  <a:moveTo>
                    <a:pt x="1167991" y="50799"/>
                  </a:moveTo>
                  <a:lnTo>
                    <a:pt x="955812" y="50799"/>
                  </a:lnTo>
                  <a:lnTo>
                    <a:pt x="928877" y="63499"/>
                  </a:lnTo>
                  <a:lnTo>
                    <a:pt x="1144739" y="63499"/>
                  </a:lnTo>
                  <a:lnTo>
                    <a:pt x="1167991" y="50799"/>
                  </a:lnTo>
                  <a:close/>
                </a:path>
                <a:path w="2345690" h="1358900">
                  <a:moveTo>
                    <a:pt x="1846258" y="38099"/>
                  </a:moveTo>
                  <a:lnTo>
                    <a:pt x="1025215" y="38099"/>
                  </a:lnTo>
                  <a:lnTo>
                    <a:pt x="1002027" y="50799"/>
                  </a:lnTo>
                  <a:lnTo>
                    <a:pt x="1831590" y="50799"/>
                  </a:lnTo>
                  <a:lnTo>
                    <a:pt x="1846258" y="38099"/>
                  </a:lnTo>
                  <a:close/>
                </a:path>
                <a:path w="2345690" h="1358900">
                  <a:moveTo>
                    <a:pt x="2154774" y="38099"/>
                  </a:moveTo>
                  <a:lnTo>
                    <a:pt x="2151091" y="38099"/>
                  </a:lnTo>
                  <a:lnTo>
                    <a:pt x="2155286" y="50799"/>
                  </a:lnTo>
                  <a:lnTo>
                    <a:pt x="2154774" y="38099"/>
                  </a:lnTo>
                  <a:close/>
                </a:path>
                <a:path w="2345690" h="1358900">
                  <a:moveTo>
                    <a:pt x="2196729" y="38099"/>
                  </a:moveTo>
                  <a:lnTo>
                    <a:pt x="2154774" y="38099"/>
                  </a:lnTo>
                  <a:lnTo>
                    <a:pt x="2158489" y="50799"/>
                  </a:lnTo>
                  <a:lnTo>
                    <a:pt x="2200925" y="50799"/>
                  </a:lnTo>
                  <a:lnTo>
                    <a:pt x="2196729" y="38099"/>
                  </a:lnTo>
                  <a:close/>
                </a:path>
                <a:path w="2345690" h="1358900">
                  <a:moveTo>
                    <a:pt x="2192982" y="25399"/>
                  </a:moveTo>
                  <a:lnTo>
                    <a:pt x="1118285" y="25399"/>
                  </a:lnTo>
                  <a:lnTo>
                    <a:pt x="1094937" y="38099"/>
                  </a:lnTo>
                  <a:lnTo>
                    <a:pt x="2194551" y="38099"/>
                  </a:lnTo>
                  <a:lnTo>
                    <a:pt x="2192982" y="25399"/>
                  </a:lnTo>
                  <a:close/>
                </a:path>
                <a:path w="2345690" h="1358900">
                  <a:moveTo>
                    <a:pt x="2177641" y="12699"/>
                  </a:moveTo>
                  <a:lnTo>
                    <a:pt x="1259748" y="12699"/>
                  </a:lnTo>
                  <a:lnTo>
                    <a:pt x="1235984" y="25399"/>
                  </a:lnTo>
                  <a:lnTo>
                    <a:pt x="2180812" y="25399"/>
                  </a:lnTo>
                  <a:lnTo>
                    <a:pt x="2177641" y="12699"/>
                  </a:lnTo>
                  <a:close/>
                </a:path>
                <a:path w="2345690" h="1358900">
                  <a:moveTo>
                    <a:pt x="2104331" y="0"/>
                  </a:moveTo>
                  <a:lnTo>
                    <a:pt x="1977216" y="0"/>
                  </a:lnTo>
                  <a:lnTo>
                    <a:pt x="1965686" y="12699"/>
                  </a:lnTo>
                  <a:lnTo>
                    <a:pt x="2112210" y="12699"/>
                  </a:lnTo>
                  <a:lnTo>
                    <a:pt x="2104331" y="0"/>
                  </a:lnTo>
                  <a:close/>
                </a:path>
              </a:pathLst>
            </a:custGeom>
            <a:solidFill>
              <a:srgbClr val="000000"/>
            </a:solidFill>
          </p:spPr>
          <p:txBody>
            <a:bodyPr wrap="square" lIns="0" tIns="0" rIns="0" bIns="0" rtlCol="0"/>
            <a:lstStyle/>
            <a:p>
              <a:endParaRPr sz="2400"/>
            </a:p>
          </p:txBody>
        </p:sp>
      </p:grpSp>
      <p:sp>
        <p:nvSpPr>
          <p:cNvPr id="166" name="object 166"/>
          <p:cNvSpPr txBox="1"/>
          <p:nvPr/>
        </p:nvSpPr>
        <p:spPr>
          <a:xfrm>
            <a:off x="8505030" y="1660386"/>
            <a:ext cx="1411393" cy="1685932"/>
          </a:xfrm>
          <a:prstGeom prst="rect">
            <a:avLst/>
          </a:prstGeom>
        </p:spPr>
        <p:txBody>
          <a:bodyPr vert="horz" wrap="square" lIns="0" tIns="18627" rIns="0" bIns="0" rtlCol="0">
            <a:spAutoFit/>
          </a:bodyPr>
          <a:lstStyle/>
          <a:p>
            <a:pPr marL="16933">
              <a:lnSpc>
                <a:spcPts val="1893"/>
              </a:lnSpc>
              <a:spcBef>
                <a:spcPts val="147"/>
              </a:spcBef>
            </a:pPr>
            <a:r>
              <a:rPr sz="1600" b="1" spc="-33" dirty="0">
                <a:latin typeface="Arial"/>
                <a:cs typeface="Arial"/>
              </a:rPr>
              <a:t>80</a:t>
            </a:r>
            <a:endParaRPr sz="1600" dirty="0">
              <a:latin typeface="Arial"/>
              <a:cs typeface="Arial"/>
            </a:endParaRPr>
          </a:p>
          <a:p>
            <a:pPr marL="16933">
              <a:lnSpc>
                <a:spcPts val="1840"/>
              </a:lnSpc>
            </a:pPr>
            <a:r>
              <a:rPr sz="1600" b="1" spc="-33" dirty="0">
                <a:latin typeface="Arial"/>
                <a:cs typeface="Arial"/>
              </a:rPr>
              <a:t>70</a:t>
            </a:r>
            <a:endParaRPr sz="1600" dirty="0">
              <a:latin typeface="Arial"/>
              <a:cs typeface="Arial"/>
            </a:endParaRPr>
          </a:p>
          <a:p>
            <a:pPr marL="16933">
              <a:lnSpc>
                <a:spcPts val="1833"/>
              </a:lnSpc>
            </a:pPr>
            <a:r>
              <a:rPr sz="1600" b="1" spc="-33" dirty="0">
                <a:latin typeface="Arial"/>
                <a:cs typeface="Arial"/>
              </a:rPr>
              <a:t>60</a:t>
            </a:r>
            <a:endParaRPr sz="1600" dirty="0">
              <a:latin typeface="Arial"/>
              <a:cs typeface="Arial"/>
            </a:endParaRPr>
          </a:p>
          <a:p>
            <a:pPr marL="18626">
              <a:lnSpc>
                <a:spcPts val="1780"/>
              </a:lnSpc>
            </a:pPr>
            <a:r>
              <a:rPr sz="1600" b="1" spc="-33" dirty="0">
                <a:latin typeface="Arial"/>
                <a:cs typeface="Arial"/>
              </a:rPr>
              <a:t>50</a:t>
            </a:r>
            <a:endParaRPr sz="1600" dirty="0">
              <a:latin typeface="Arial"/>
              <a:cs typeface="Arial"/>
            </a:endParaRPr>
          </a:p>
          <a:p>
            <a:pPr marL="16933">
              <a:lnSpc>
                <a:spcPts val="1953"/>
              </a:lnSpc>
              <a:tabLst>
                <a:tab pos="563019" algn="l"/>
              </a:tabLst>
            </a:pPr>
            <a:r>
              <a:rPr sz="2400" b="1" spc="-49" baseline="2314" dirty="0">
                <a:latin typeface="Arial"/>
                <a:cs typeface="Arial"/>
              </a:rPr>
              <a:t>40</a:t>
            </a:r>
            <a:r>
              <a:rPr sz="2400" b="1" baseline="2314" dirty="0">
                <a:latin typeface="Arial"/>
                <a:cs typeface="Arial"/>
              </a:rPr>
              <a:t>	</a:t>
            </a:r>
            <a:r>
              <a:rPr b="1" dirty="0">
                <a:latin typeface="Calibri"/>
                <a:cs typeface="Calibri"/>
              </a:rPr>
              <a:t>Zt</a:t>
            </a:r>
            <a:r>
              <a:rPr b="1" spc="393" dirty="0">
                <a:latin typeface="Calibri"/>
                <a:cs typeface="Calibri"/>
              </a:rPr>
              <a:t> </a:t>
            </a:r>
            <a:r>
              <a:rPr b="1" dirty="0">
                <a:latin typeface="Calibri"/>
                <a:cs typeface="Calibri"/>
              </a:rPr>
              <a:t>4k-</a:t>
            </a:r>
            <a:r>
              <a:rPr b="1" spc="-33" dirty="0">
                <a:latin typeface="Calibri"/>
                <a:cs typeface="Calibri"/>
              </a:rPr>
              <a:t>6K</a:t>
            </a:r>
            <a:endParaRPr dirty="0">
              <a:latin typeface="Calibri"/>
              <a:cs typeface="Calibri"/>
            </a:endParaRPr>
          </a:p>
          <a:p>
            <a:pPr marL="16933">
              <a:lnSpc>
                <a:spcPts val="1773"/>
              </a:lnSpc>
            </a:pPr>
            <a:r>
              <a:rPr sz="1600" b="1" spc="-33" dirty="0">
                <a:latin typeface="Arial"/>
                <a:cs typeface="Arial"/>
              </a:rPr>
              <a:t>30</a:t>
            </a:r>
            <a:endParaRPr sz="1600" dirty="0">
              <a:latin typeface="Arial"/>
              <a:cs typeface="Arial"/>
            </a:endParaRPr>
          </a:p>
          <a:p>
            <a:pPr marL="16933">
              <a:lnSpc>
                <a:spcPts val="1873"/>
              </a:lnSpc>
            </a:pPr>
            <a:r>
              <a:rPr sz="1600" b="1" spc="-33" dirty="0">
                <a:latin typeface="Arial"/>
                <a:cs typeface="Arial"/>
              </a:rPr>
              <a:t>20</a:t>
            </a:r>
            <a:endParaRPr sz="1600" dirty="0">
              <a:latin typeface="Arial"/>
              <a:cs typeface="Arial"/>
            </a:endParaRPr>
          </a:p>
        </p:txBody>
      </p:sp>
      <p:sp>
        <p:nvSpPr>
          <p:cNvPr id="169" name="object 169"/>
          <p:cNvSpPr txBox="1"/>
          <p:nvPr/>
        </p:nvSpPr>
        <p:spPr>
          <a:xfrm>
            <a:off x="4469721" y="6329810"/>
            <a:ext cx="3579707" cy="387286"/>
          </a:xfrm>
          <a:prstGeom prst="rect">
            <a:avLst/>
          </a:prstGeom>
        </p:spPr>
        <p:txBody>
          <a:bodyPr vert="horz" wrap="square" lIns="0" tIns="17780" rIns="0" bIns="0" rtlCol="0">
            <a:spAutoFit/>
          </a:bodyPr>
          <a:lstStyle/>
          <a:p>
            <a:pPr marL="601964" marR="6773" indent="-585879">
              <a:spcBef>
                <a:spcPts val="140"/>
              </a:spcBef>
            </a:pPr>
            <a:r>
              <a:rPr sz="1200" dirty="0">
                <a:solidFill>
                  <a:srgbClr val="FFFFFF"/>
                </a:solidFill>
                <a:latin typeface="Verdana"/>
                <a:cs typeface="Verdana"/>
              </a:rPr>
              <a:t>Distribution</a:t>
            </a:r>
            <a:r>
              <a:rPr sz="1200" spc="-60" dirty="0">
                <a:solidFill>
                  <a:srgbClr val="FFFFFF"/>
                </a:solidFill>
                <a:latin typeface="Verdana"/>
                <a:cs typeface="Verdana"/>
              </a:rPr>
              <a:t> </a:t>
            </a:r>
            <a:r>
              <a:rPr sz="1200" dirty="0">
                <a:solidFill>
                  <a:srgbClr val="FFFFFF"/>
                </a:solidFill>
                <a:latin typeface="Verdana"/>
                <a:cs typeface="Verdana"/>
              </a:rPr>
              <a:t>Statement</a:t>
            </a:r>
            <a:r>
              <a:rPr sz="1200" spc="-87" dirty="0">
                <a:solidFill>
                  <a:srgbClr val="FFFFFF"/>
                </a:solidFill>
                <a:latin typeface="Verdana"/>
                <a:cs typeface="Verdana"/>
              </a:rPr>
              <a:t> </a:t>
            </a:r>
            <a:r>
              <a:rPr sz="1200" dirty="0">
                <a:solidFill>
                  <a:srgbClr val="FFFFFF"/>
                </a:solidFill>
                <a:latin typeface="Verdana"/>
                <a:cs typeface="Verdana"/>
              </a:rPr>
              <a:t>A</a:t>
            </a:r>
            <a:r>
              <a:rPr sz="1200" spc="-40" dirty="0">
                <a:solidFill>
                  <a:srgbClr val="FFFFFF"/>
                </a:solidFill>
                <a:latin typeface="Verdana"/>
                <a:cs typeface="Verdana"/>
              </a:rPr>
              <a:t> </a:t>
            </a:r>
            <a:r>
              <a:rPr sz="1200" dirty="0">
                <a:solidFill>
                  <a:srgbClr val="FFFFFF"/>
                </a:solidFill>
                <a:latin typeface="Verdana"/>
                <a:cs typeface="Verdana"/>
              </a:rPr>
              <a:t>–Approved</a:t>
            </a:r>
            <a:r>
              <a:rPr sz="1200" spc="-40" dirty="0">
                <a:solidFill>
                  <a:srgbClr val="FFFFFF"/>
                </a:solidFill>
                <a:latin typeface="Verdana"/>
                <a:cs typeface="Verdana"/>
              </a:rPr>
              <a:t> </a:t>
            </a:r>
            <a:r>
              <a:rPr sz="1200" dirty="0">
                <a:solidFill>
                  <a:srgbClr val="FFFFFF"/>
                </a:solidFill>
                <a:latin typeface="Verdana"/>
                <a:cs typeface="Verdana"/>
              </a:rPr>
              <a:t>for</a:t>
            </a:r>
            <a:r>
              <a:rPr sz="1200" spc="-47" dirty="0">
                <a:solidFill>
                  <a:srgbClr val="FFFFFF"/>
                </a:solidFill>
                <a:latin typeface="Verdana"/>
                <a:cs typeface="Verdana"/>
              </a:rPr>
              <a:t> </a:t>
            </a:r>
            <a:r>
              <a:rPr sz="1200" spc="-13" dirty="0">
                <a:solidFill>
                  <a:srgbClr val="FFFFFF"/>
                </a:solidFill>
                <a:latin typeface="Verdana"/>
                <a:cs typeface="Verdana"/>
              </a:rPr>
              <a:t>Public </a:t>
            </a:r>
            <a:r>
              <a:rPr sz="1200" dirty="0">
                <a:solidFill>
                  <a:srgbClr val="FFFFFF"/>
                </a:solidFill>
                <a:latin typeface="Verdana"/>
                <a:cs typeface="Verdana"/>
              </a:rPr>
              <a:t>Release,</a:t>
            </a:r>
            <a:r>
              <a:rPr sz="1200" spc="-7" dirty="0">
                <a:solidFill>
                  <a:srgbClr val="FFFFFF"/>
                </a:solidFill>
                <a:latin typeface="Verdana"/>
                <a:cs typeface="Verdana"/>
              </a:rPr>
              <a:t> </a:t>
            </a:r>
            <a:r>
              <a:rPr sz="1200" spc="-13" dirty="0">
                <a:solidFill>
                  <a:srgbClr val="FFFFFF"/>
                </a:solidFill>
                <a:latin typeface="Verdana"/>
                <a:cs typeface="Verdana"/>
              </a:rPr>
              <a:t>Distribution</a:t>
            </a:r>
            <a:r>
              <a:rPr sz="1200" spc="-20" dirty="0">
                <a:solidFill>
                  <a:srgbClr val="FFFFFF"/>
                </a:solidFill>
                <a:latin typeface="Verdana"/>
                <a:cs typeface="Verdana"/>
              </a:rPr>
              <a:t> </a:t>
            </a:r>
            <a:r>
              <a:rPr sz="1200" spc="-13" dirty="0">
                <a:solidFill>
                  <a:srgbClr val="FFFFFF"/>
                </a:solidFill>
                <a:latin typeface="Verdana"/>
                <a:cs typeface="Verdana"/>
              </a:rPr>
              <a:t>Unlimited</a:t>
            </a:r>
            <a:endParaRPr sz="1200">
              <a:latin typeface="Verdana"/>
              <a:cs typeface="Verdana"/>
            </a:endParaRPr>
          </a:p>
        </p:txBody>
      </p:sp>
      <p:sp>
        <p:nvSpPr>
          <p:cNvPr id="170" name="object 170"/>
          <p:cNvSpPr txBox="1">
            <a:spLocks noGrp="1"/>
          </p:cNvSpPr>
          <p:nvPr>
            <p:ph type="sldNum" sz="quarter" idx="7"/>
          </p:nvPr>
        </p:nvSpPr>
        <p:spPr>
          <a:xfrm>
            <a:off x="8754126" y="6531532"/>
            <a:ext cx="3352800" cy="176202"/>
          </a:xfrm>
          <a:prstGeom prst="rect">
            <a:avLst/>
          </a:prstGeom>
        </p:spPr>
        <p:txBody>
          <a:bodyPr vert="horz" wrap="square" lIns="0" tIns="0" rIns="0" bIns="0" rtlCol="0" anchor="ctr">
            <a:spAutoFit/>
          </a:bodyPr>
          <a:lstStyle/>
          <a:p>
            <a:pPr marL="50799">
              <a:lnSpc>
                <a:spcPts val="1533"/>
              </a:lnSpc>
            </a:pPr>
            <a:fld id="{81D60167-4931-47E6-BA6A-407CBD079E47}" type="slidenum">
              <a:rPr/>
              <a:pPr marL="50799">
                <a:lnSpc>
                  <a:spcPts val="1533"/>
                </a:lnSpc>
              </a:pPr>
              <a:t>61</a:t>
            </a:fld>
            <a:r>
              <a:rPr dirty="0"/>
              <a:t> </a:t>
            </a:r>
            <a:endParaRPr spc="-33" dirty="0"/>
          </a:p>
        </p:txBody>
      </p:sp>
      <p:sp>
        <p:nvSpPr>
          <p:cNvPr id="167" name="object 167"/>
          <p:cNvSpPr txBox="1"/>
          <p:nvPr/>
        </p:nvSpPr>
        <p:spPr>
          <a:xfrm>
            <a:off x="9098770" y="2874434"/>
            <a:ext cx="1248833" cy="294953"/>
          </a:xfrm>
          <a:prstGeom prst="rect">
            <a:avLst/>
          </a:prstGeom>
        </p:spPr>
        <p:txBody>
          <a:bodyPr vert="horz" wrap="square" lIns="0" tIns="17780" rIns="0" bIns="0" rtlCol="0">
            <a:spAutoFit/>
          </a:bodyPr>
          <a:lstStyle/>
          <a:p>
            <a:pPr marL="16933">
              <a:spcBef>
                <a:spcPts val="140"/>
              </a:spcBef>
            </a:pPr>
            <a:r>
              <a:rPr b="1" dirty="0">
                <a:latin typeface="Calibri"/>
                <a:cs typeface="Calibri"/>
              </a:rPr>
              <a:t>BW</a:t>
            </a:r>
            <a:r>
              <a:rPr b="1" spc="-27" dirty="0">
                <a:latin typeface="Calibri"/>
                <a:cs typeface="Calibri"/>
              </a:rPr>
              <a:t> </a:t>
            </a:r>
            <a:r>
              <a:rPr b="1" dirty="0">
                <a:latin typeface="Calibri"/>
                <a:cs typeface="Calibri"/>
              </a:rPr>
              <a:t>&gt;</a:t>
            </a:r>
            <a:r>
              <a:rPr b="1" spc="-33" dirty="0">
                <a:latin typeface="Calibri"/>
                <a:cs typeface="Calibri"/>
              </a:rPr>
              <a:t> </a:t>
            </a:r>
            <a:r>
              <a:rPr b="1" dirty="0">
                <a:latin typeface="Calibri"/>
                <a:cs typeface="Calibri"/>
              </a:rPr>
              <a:t>35</a:t>
            </a:r>
            <a:r>
              <a:rPr b="1" spc="-33" dirty="0">
                <a:latin typeface="Calibri"/>
                <a:cs typeface="Calibri"/>
              </a:rPr>
              <a:t> GHz</a:t>
            </a:r>
            <a:endParaRPr>
              <a:latin typeface="Calibri"/>
              <a:cs typeface="Calibri"/>
            </a:endParaRPr>
          </a:p>
        </p:txBody>
      </p:sp>
      <p:sp>
        <p:nvSpPr>
          <p:cNvPr id="168" name="object 168"/>
          <p:cNvSpPr txBox="1"/>
          <p:nvPr/>
        </p:nvSpPr>
        <p:spPr>
          <a:xfrm>
            <a:off x="9098769" y="3148753"/>
            <a:ext cx="1761067" cy="294953"/>
          </a:xfrm>
          <a:prstGeom prst="rect">
            <a:avLst/>
          </a:prstGeom>
        </p:spPr>
        <p:txBody>
          <a:bodyPr vert="horz" wrap="square" lIns="0" tIns="17780" rIns="0" bIns="0" rtlCol="0">
            <a:spAutoFit/>
          </a:bodyPr>
          <a:lstStyle/>
          <a:p>
            <a:pPr marL="16933">
              <a:spcBef>
                <a:spcPts val="140"/>
              </a:spcBef>
            </a:pPr>
            <a:r>
              <a:rPr b="1" dirty="0">
                <a:latin typeface="Calibri"/>
                <a:cs typeface="Calibri"/>
              </a:rPr>
              <a:t>Integ.</a:t>
            </a:r>
            <a:r>
              <a:rPr b="1" spc="-87" dirty="0">
                <a:latin typeface="Calibri"/>
                <a:cs typeface="Calibri"/>
              </a:rPr>
              <a:t> </a:t>
            </a:r>
            <a:r>
              <a:rPr b="1" dirty="0">
                <a:latin typeface="Calibri"/>
                <a:cs typeface="Calibri"/>
              </a:rPr>
              <a:t>Noise</a:t>
            </a:r>
            <a:r>
              <a:rPr b="1" spc="-47" dirty="0">
                <a:latin typeface="Calibri"/>
                <a:cs typeface="Calibri"/>
              </a:rPr>
              <a:t> </a:t>
            </a:r>
            <a:r>
              <a:rPr b="1" dirty="0">
                <a:latin typeface="Calibri"/>
                <a:cs typeface="Calibri"/>
              </a:rPr>
              <a:t>&lt;3</a:t>
            </a:r>
            <a:r>
              <a:rPr b="1" spc="-40" dirty="0">
                <a:latin typeface="Calibri"/>
                <a:cs typeface="Calibri"/>
              </a:rPr>
              <a:t> </a:t>
            </a:r>
            <a:r>
              <a:rPr b="1" spc="-33" dirty="0">
                <a:latin typeface="Calibri"/>
                <a:cs typeface="Calibri"/>
              </a:rPr>
              <a:t>µA</a:t>
            </a:r>
            <a:endParaRPr>
              <a:latin typeface="Calibri"/>
              <a:cs typeface="Calibri"/>
            </a:endParaRPr>
          </a:p>
        </p:txBody>
      </p:sp>
      <p:sp>
        <p:nvSpPr>
          <p:cNvPr id="171" name="Date Placeholder 170"/>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72" name="Footer Placeholder 171"/>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93963118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67" y="233003"/>
            <a:ext cx="585045" cy="221365"/>
          </a:xfrm>
          <a:prstGeom prst="rect">
            <a:avLst/>
          </a:prstGeom>
        </p:spPr>
        <p:txBody>
          <a:bodyPr vert="horz" wrap="square" lIns="0" tIns="16087" rIns="0" bIns="0" rtlCol="0">
            <a:spAutoFit/>
          </a:bodyPr>
          <a:lstStyle/>
          <a:p>
            <a:pPr marL="16933">
              <a:spcBef>
                <a:spcPts val="127"/>
              </a:spcBef>
            </a:pPr>
            <a:r>
              <a:rPr sz="1333" spc="-13" dirty="0">
                <a:solidFill>
                  <a:srgbClr val="008000"/>
                </a:solidFill>
                <a:latin typeface="Arial MT"/>
                <a:cs typeface="Arial MT"/>
              </a:rPr>
              <a:t>[Public]</a:t>
            </a:r>
            <a:endParaRPr sz="1333">
              <a:latin typeface="Arial MT"/>
              <a:cs typeface="Arial MT"/>
            </a:endParaRPr>
          </a:p>
        </p:txBody>
      </p:sp>
      <p:sp>
        <p:nvSpPr>
          <p:cNvPr id="3" name="object 3"/>
          <p:cNvSpPr txBox="1">
            <a:spLocks noGrp="1"/>
          </p:cNvSpPr>
          <p:nvPr>
            <p:ph type="title"/>
          </p:nvPr>
        </p:nvSpPr>
        <p:spPr>
          <a:xfrm>
            <a:off x="2548931" y="276914"/>
            <a:ext cx="5646743" cy="551498"/>
          </a:xfrm>
          <a:prstGeom prst="rect">
            <a:avLst/>
          </a:prstGeom>
        </p:spPr>
        <p:txBody>
          <a:bodyPr vert="horz" wrap="square" lIns="0" tIns="17780" rIns="0" bIns="0" rtlCol="0" anchor="ctr">
            <a:spAutoFit/>
          </a:bodyPr>
          <a:lstStyle/>
          <a:p>
            <a:pPr marL="16933">
              <a:lnSpc>
                <a:spcPct val="100000"/>
              </a:lnSpc>
              <a:spcBef>
                <a:spcPts val="140"/>
              </a:spcBef>
            </a:pPr>
            <a:r>
              <a:rPr sz="3467" dirty="0"/>
              <a:t>TIA:</a:t>
            </a:r>
            <a:r>
              <a:rPr sz="3467" spc="-60" dirty="0"/>
              <a:t> </a:t>
            </a:r>
            <a:r>
              <a:rPr sz="3467" dirty="0"/>
              <a:t>Low</a:t>
            </a:r>
            <a:r>
              <a:rPr sz="3467" spc="-27" dirty="0"/>
              <a:t> </a:t>
            </a:r>
            <a:r>
              <a:rPr sz="3467" dirty="0"/>
              <a:t>Noise</a:t>
            </a:r>
            <a:r>
              <a:rPr sz="3467" spc="-40" dirty="0"/>
              <a:t> </a:t>
            </a:r>
            <a:r>
              <a:rPr sz="3467" spc="-13" dirty="0"/>
              <a:t>Design</a:t>
            </a:r>
            <a:endParaRPr sz="3467" dirty="0"/>
          </a:p>
        </p:txBody>
      </p:sp>
      <p:grpSp>
        <p:nvGrpSpPr>
          <p:cNvPr id="4" name="object 4"/>
          <p:cNvGrpSpPr/>
          <p:nvPr/>
        </p:nvGrpSpPr>
        <p:grpSpPr>
          <a:xfrm>
            <a:off x="3263339" y="1776752"/>
            <a:ext cx="8187267" cy="2629747"/>
            <a:chOff x="2447504" y="1332564"/>
            <a:chExt cx="6140450" cy="1972310"/>
          </a:xfrm>
        </p:grpSpPr>
        <p:sp>
          <p:nvSpPr>
            <p:cNvPr id="5" name="object 5"/>
            <p:cNvSpPr/>
            <p:nvPr/>
          </p:nvSpPr>
          <p:spPr>
            <a:xfrm>
              <a:off x="4923437" y="1919262"/>
              <a:ext cx="123825" cy="0"/>
            </a:xfrm>
            <a:custGeom>
              <a:avLst/>
              <a:gdLst/>
              <a:ahLst/>
              <a:cxnLst/>
              <a:rect l="l" t="t" r="r" b="b"/>
              <a:pathLst>
                <a:path w="123825">
                  <a:moveTo>
                    <a:pt x="0" y="0"/>
                  </a:moveTo>
                  <a:lnTo>
                    <a:pt x="123377" y="0"/>
                  </a:lnTo>
                </a:path>
              </a:pathLst>
            </a:custGeom>
            <a:ln w="44436">
              <a:solidFill>
                <a:srgbClr val="FF0000"/>
              </a:solidFill>
            </a:ln>
          </p:spPr>
          <p:txBody>
            <a:bodyPr wrap="square" lIns="0" tIns="0" rIns="0" bIns="0" rtlCol="0"/>
            <a:lstStyle/>
            <a:p>
              <a:endParaRPr sz="2400"/>
            </a:p>
          </p:txBody>
        </p:sp>
        <p:sp>
          <p:nvSpPr>
            <p:cNvPr id="6" name="object 6"/>
            <p:cNvSpPr/>
            <p:nvPr/>
          </p:nvSpPr>
          <p:spPr>
            <a:xfrm>
              <a:off x="4703204" y="1842833"/>
              <a:ext cx="239395" cy="334010"/>
            </a:xfrm>
            <a:custGeom>
              <a:avLst/>
              <a:gdLst/>
              <a:ahLst/>
              <a:cxnLst/>
              <a:rect l="l" t="t" r="r" b="b"/>
              <a:pathLst>
                <a:path w="239395" h="334010">
                  <a:moveTo>
                    <a:pt x="44424" y="76377"/>
                  </a:moveTo>
                  <a:lnTo>
                    <a:pt x="0" y="76377"/>
                  </a:lnTo>
                  <a:lnTo>
                    <a:pt x="0" y="333463"/>
                  </a:lnTo>
                  <a:lnTo>
                    <a:pt x="44424" y="333463"/>
                  </a:lnTo>
                  <a:lnTo>
                    <a:pt x="44424" y="76377"/>
                  </a:lnTo>
                  <a:close/>
                </a:path>
                <a:path w="239395" h="334010">
                  <a:moveTo>
                    <a:pt x="239395" y="0"/>
                  </a:moveTo>
                  <a:lnTo>
                    <a:pt x="86563" y="76441"/>
                  </a:lnTo>
                  <a:lnTo>
                    <a:pt x="239395" y="152869"/>
                  </a:lnTo>
                  <a:lnTo>
                    <a:pt x="239395" y="0"/>
                  </a:lnTo>
                  <a:close/>
                </a:path>
              </a:pathLst>
            </a:custGeom>
            <a:solidFill>
              <a:srgbClr val="FF0000"/>
            </a:solidFill>
          </p:spPr>
          <p:txBody>
            <a:bodyPr wrap="square" lIns="0" tIns="0" rIns="0" bIns="0" rtlCol="0"/>
            <a:lstStyle/>
            <a:p>
              <a:endParaRPr sz="2400"/>
            </a:p>
          </p:txBody>
        </p:sp>
        <p:sp>
          <p:nvSpPr>
            <p:cNvPr id="7" name="object 7"/>
            <p:cNvSpPr/>
            <p:nvPr/>
          </p:nvSpPr>
          <p:spPr>
            <a:xfrm>
              <a:off x="4789778" y="2176296"/>
              <a:ext cx="248920" cy="0"/>
            </a:xfrm>
            <a:custGeom>
              <a:avLst/>
              <a:gdLst/>
              <a:ahLst/>
              <a:cxnLst/>
              <a:rect l="l" t="t" r="r" b="b"/>
              <a:pathLst>
                <a:path w="248920">
                  <a:moveTo>
                    <a:pt x="248531" y="0"/>
                  </a:moveTo>
                  <a:lnTo>
                    <a:pt x="0" y="0"/>
                  </a:lnTo>
                </a:path>
              </a:pathLst>
            </a:custGeom>
            <a:ln w="44436">
              <a:solidFill>
                <a:srgbClr val="FF0000"/>
              </a:solidFill>
            </a:ln>
          </p:spPr>
          <p:txBody>
            <a:bodyPr wrap="square" lIns="0" tIns="0" rIns="0" bIns="0" rtlCol="0"/>
            <a:lstStyle/>
            <a:p>
              <a:endParaRPr sz="2400"/>
            </a:p>
          </p:txBody>
        </p:sp>
        <p:sp>
          <p:nvSpPr>
            <p:cNvPr id="8" name="object 8"/>
            <p:cNvSpPr/>
            <p:nvPr/>
          </p:nvSpPr>
          <p:spPr>
            <a:xfrm>
              <a:off x="4767565" y="1854930"/>
              <a:ext cx="44450" cy="386080"/>
            </a:xfrm>
            <a:custGeom>
              <a:avLst/>
              <a:gdLst/>
              <a:ahLst/>
              <a:cxnLst/>
              <a:rect l="l" t="t" r="r" b="b"/>
              <a:pathLst>
                <a:path w="44450" h="386080">
                  <a:moveTo>
                    <a:pt x="44425" y="0"/>
                  </a:moveTo>
                  <a:lnTo>
                    <a:pt x="0" y="0"/>
                  </a:lnTo>
                  <a:lnTo>
                    <a:pt x="0" y="385646"/>
                  </a:lnTo>
                  <a:lnTo>
                    <a:pt x="44425" y="385646"/>
                  </a:lnTo>
                  <a:lnTo>
                    <a:pt x="44425" y="0"/>
                  </a:lnTo>
                  <a:close/>
                </a:path>
              </a:pathLst>
            </a:custGeom>
            <a:solidFill>
              <a:srgbClr val="FF0000"/>
            </a:solidFill>
          </p:spPr>
          <p:txBody>
            <a:bodyPr wrap="square" lIns="0" tIns="0" rIns="0" bIns="0" rtlCol="0"/>
            <a:lstStyle/>
            <a:p>
              <a:endParaRPr sz="2400"/>
            </a:p>
          </p:txBody>
        </p:sp>
        <p:sp>
          <p:nvSpPr>
            <p:cNvPr id="9" name="object 9"/>
            <p:cNvSpPr/>
            <p:nvPr/>
          </p:nvSpPr>
          <p:spPr>
            <a:xfrm>
              <a:off x="3724571" y="2047747"/>
              <a:ext cx="1322705" cy="713740"/>
            </a:xfrm>
            <a:custGeom>
              <a:avLst/>
              <a:gdLst/>
              <a:ahLst/>
              <a:cxnLst/>
              <a:rect l="l" t="t" r="r" b="b"/>
              <a:pathLst>
                <a:path w="1322704" h="713739">
                  <a:moveTo>
                    <a:pt x="897657" y="0"/>
                  </a:moveTo>
                  <a:lnTo>
                    <a:pt x="0" y="0"/>
                  </a:lnTo>
                </a:path>
                <a:path w="1322704" h="713739">
                  <a:moveTo>
                    <a:pt x="1322369" y="713144"/>
                  </a:moveTo>
                  <a:lnTo>
                    <a:pt x="1322369" y="584596"/>
                  </a:lnTo>
                </a:path>
                <a:path w="1322704" h="713739">
                  <a:moveTo>
                    <a:pt x="1065334" y="713144"/>
                  </a:moveTo>
                  <a:lnTo>
                    <a:pt x="1322369" y="713144"/>
                  </a:lnTo>
                </a:path>
              </a:pathLst>
            </a:custGeom>
            <a:ln w="44431">
              <a:solidFill>
                <a:srgbClr val="FF0000"/>
              </a:solidFill>
            </a:ln>
          </p:spPr>
          <p:txBody>
            <a:bodyPr wrap="square" lIns="0" tIns="0" rIns="0" bIns="0" rtlCol="0"/>
            <a:lstStyle/>
            <a:p>
              <a:endParaRPr sz="2400"/>
            </a:p>
          </p:txBody>
        </p:sp>
        <p:sp>
          <p:nvSpPr>
            <p:cNvPr id="10" name="object 10"/>
            <p:cNvSpPr/>
            <p:nvPr/>
          </p:nvSpPr>
          <p:spPr>
            <a:xfrm>
              <a:off x="4703338" y="2760892"/>
              <a:ext cx="44450" cy="257175"/>
            </a:xfrm>
            <a:custGeom>
              <a:avLst/>
              <a:gdLst/>
              <a:ahLst/>
              <a:cxnLst/>
              <a:rect l="l" t="t" r="r" b="b"/>
              <a:pathLst>
                <a:path w="44450" h="257175">
                  <a:moveTo>
                    <a:pt x="44425" y="0"/>
                  </a:moveTo>
                  <a:lnTo>
                    <a:pt x="0" y="0"/>
                  </a:lnTo>
                  <a:lnTo>
                    <a:pt x="0" y="257097"/>
                  </a:lnTo>
                  <a:lnTo>
                    <a:pt x="44425" y="257097"/>
                  </a:lnTo>
                  <a:lnTo>
                    <a:pt x="44425" y="0"/>
                  </a:lnTo>
                  <a:close/>
                </a:path>
              </a:pathLst>
            </a:custGeom>
            <a:solidFill>
              <a:srgbClr val="FF0000"/>
            </a:solidFill>
          </p:spPr>
          <p:txBody>
            <a:bodyPr wrap="square" lIns="0" tIns="0" rIns="0" bIns="0" rtlCol="0"/>
            <a:lstStyle/>
            <a:p>
              <a:endParaRPr sz="2400"/>
            </a:p>
          </p:txBody>
        </p:sp>
        <p:sp>
          <p:nvSpPr>
            <p:cNvPr id="11" name="object 11"/>
            <p:cNvSpPr/>
            <p:nvPr/>
          </p:nvSpPr>
          <p:spPr>
            <a:xfrm>
              <a:off x="4789905" y="3017990"/>
              <a:ext cx="100965" cy="0"/>
            </a:xfrm>
            <a:custGeom>
              <a:avLst/>
              <a:gdLst/>
              <a:ahLst/>
              <a:cxnLst/>
              <a:rect l="l" t="t" r="r" b="b"/>
              <a:pathLst>
                <a:path w="100964">
                  <a:moveTo>
                    <a:pt x="100402" y="0"/>
                  </a:moveTo>
                  <a:lnTo>
                    <a:pt x="0" y="0"/>
                  </a:lnTo>
                </a:path>
              </a:pathLst>
            </a:custGeom>
            <a:ln w="44436">
              <a:solidFill>
                <a:srgbClr val="FF0000"/>
              </a:solidFill>
            </a:ln>
          </p:spPr>
          <p:txBody>
            <a:bodyPr wrap="square" lIns="0" tIns="0" rIns="0" bIns="0" rtlCol="0"/>
            <a:lstStyle/>
            <a:p>
              <a:endParaRPr sz="2400"/>
            </a:p>
          </p:txBody>
        </p:sp>
        <p:sp>
          <p:nvSpPr>
            <p:cNvPr id="12" name="object 12"/>
            <p:cNvSpPr/>
            <p:nvPr/>
          </p:nvSpPr>
          <p:spPr>
            <a:xfrm>
              <a:off x="4767681" y="2696616"/>
              <a:ext cx="295275" cy="386080"/>
            </a:xfrm>
            <a:custGeom>
              <a:avLst/>
              <a:gdLst/>
              <a:ahLst/>
              <a:cxnLst/>
              <a:rect l="l" t="t" r="r" b="b"/>
              <a:pathLst>
                <a:path w="295275" h="386080">
                  <a:moveTo>
                    <a:pt x="44424" y="0"/>
                  </a:moveTo>
                  <a:lnTo>
                    <a:pt x="0" y="0"/>
                  </a:lnTo>
                  <a:lnTo>
                    <a:pt x="0" y="385648"/>
                  </a:lnTo>
                  <a:lnTo>
                    <a:pt x="44424" y="385648"/>
                  </a:lnTo>
                  <a:lnTo>
                    <a:pt x="44424" y="0"/>
                  </a:lnTo>
                  <a:close/>
                </a:path>
                <a:path w="295275" h="386080">
                  <a:moveTo>
                    <a:pt x="295122" y="321386"/>
                  </a:moveTo>
                  <a:lnTo>
                    <a:pt x="107010" y="258660"/>
                  </a:lnTo>
                  <a:lnTo>
                    <a:pt x="107010" y="384098"/>
                  </a:lnTo>
                  <a:lnTo>
                    <a:pt x="295122" y="321386"/>
                  </a:lnTo>
                  <a:close/>
                </a:path>
              </a:pathLst>
            </a:custGeom>
            <a:solidFill>
              <a:srgbClr val="FF0000"/>
            </a:solidFill>
          </p:spPr>
          <p:txBody>
            <a:bodyPr wrap="square" lIns="0" tIns="0" rIns="0" bIns="0" rtlCol="0"/>
            <a:lstStyle/>
            <a:p>
              <a:endParaRPr sz="2400"/>
            </a:p>
          </p:txBody>
        </p:sp>
        <p:sp>
          <p:nvSpPr>
            <p:cNvPr id="13" name="object 13"/>
            <p:cNvSpPr/>
            <p:nvPr/>
          </p:nvSpPr>
          <p:spPr>
            <a:xfrm>
              <a:off x="4532869" y="2760892"/>
              <a:ext cx="514350" cy="404495"/>
            </a:xfrm>
            <a:custGeom>
              <a:avLst/>
              <a:gdLst/>
              <a:ahLst/>
              <a:cxnLst/>
              <a:rect l="l" t="t" r="r" b="b"/>
              <a:pathLst>
                <a:path w="514350" h="404494">
                  <a:moveTo>
                    <a:pt x="192681" y="128548"/>
                  </a:moveTo>
                  <a:lnTo>
                    <a:pt x="0" y="128548"/>
                  </a:lnTo>
                </a:path>
                <a:path w="514350" h="404494">
                  <a:moveTo>
                    <a:pt x="514071" y="275951"/>
                  </a:moveTo>
                  <a:lnTo>
                    <a:pt x="514071" y="404500"/>
                  </a:lnTo>
                </a:path>
                <a:path w="514350" h="404494">
                  <a:moveTo>
                    <a:pt x="514071" y="0"/>
                  </a:moveTo>
                  <a:lnTo>
                    <a:pt x="274044" y="0"/>
                  </a:lnTo>
                </a:path>
              </a:pathLst>
            </a:custGeom>
            <a:ln w="44431">
              <a:solidFill>
                <a:srgbClr val="FF0000"/>
              </a:solidFill>
            </a:ln>
          </p:spPr>
          <p:txBody>
            <a:bodyPr wrap="square" lIns="0" tIns="0" rIns="0" bIns="0" rtlCol="0"/>
            <a:lstStyle/>
            <a:p>
              <a:endParaRPr sz="2400"/>
            </a:p>
          </p:txBody>
        </p:sp>
        <p:pic>
          <p:nvPicPr>
            <p:cNvPr id="14" name="object 14"/>
            <p:cNvPicPr/>
            <p:nvPr/>
          </p:nvPicPr>
          <p:blipFill>
            <a:blip r:embed="rId3" cstate="print"/>
            <a:stretch>
              <a:fillRect/>
            </a:stretch>
          </p:blipFill>
          <p:spPr>
            <a:xfrm>
              <a:off x="4602933" y="1987824"/>
              <a:ext cx="111704" cy="111264"/>
            </a:xfrm>
            <a:prstGeom prst="rect">
              <a:avLst/>
            </a:prstGeom>
          </p:spPr>
        </p:pic>
        <p:sp>
          <p:nvSpPr>
            <p:cNvPr id="15" name="object 15"/>
            <p:cNvSpPr/>
            <p:nvPr/>
          </p:nvSpPr>
          <p:spPr>
            <a:xfrm>
              <a:off x="4971417" y="3030686"/>
              <a:ext cx="151130" cy="252095"/>
            </a:xfrm>
            <a:custGeom>
              <a:avLst/>
              <a:gdLst/>
              <a:ahLst/>
              <a:cxnLst/>
              <a:rect l="l" t="t" r="r" b="b"/>
              <a:pathLst>
                <a:path w="151129" h="252095">
                  <a:moveTo>
                    <a:pt x="75397" y="89165"/>
                  </a:moveTo>
                  <a:lnTo>
                    <a:pt x="75397" y="0"/>
                  </a:lnTo>
                </a:path>
                <a:path w="151129" h="252095">
                  <a:moveTo>
                    <a:pt x="0" y="152836"/>
                  </a:moveTo>
                  <a:lnTo>
                    <a:pt x="150794" y="152836"/>
                  </a:lnTo>
                </a:path>
                <a:path w="151129" h="252095">
                  <a:moveTo>
                    <a:pt x="25132" y="202317"/>
                  </a:moveTo>
                  <a:lnTo>
                    <a:pt x="125661" y="202317"/>
                  </a:lnTo>
                </a:path>
                <a:path w="151129" h="252095">
                  <a:moveTo>
                    <a:pt x="50264" y="251799"/>
                  </a:moveTo>
                  <a:lnTo>
                    <a:pt x="100529" y="251799"/>
                  </a:lnTo>
                </a:path>
                <a:path w="151129" h="252095">
                  <a:moveTo>
                    <a:pt x="75397" y="20885"/>
                  </a:moveTo>
                  <a:lnTo>
                    <a:pt x="75397" y="152836"/>
                  </a:lnTo>
                </a:path>
              </a:pathLst>
            </a:custGeom>
            <a:ln w="38083">
              <a:solidFill>
                <a:srgbClr val="000000"/>
              </a:solidFill>
            </a:ln>
          </p:spPr>
          <p:txBody>
            <a:bodyPr wrap="square" lIns="0" tIns="0" rIns="0" bIns="0" rtlCol="0"/>
            <a:lstStyle/>
            <a:p>
              <a:endParaRPr sz="2400"/>
            </a:p>
          </p:txBody>
        </p:sp>
        <p:sp>
          <p:nvSpPr>
            <p:cNvPr id="16" name="object 16"/>
            <p:cNvSpPr/>
            <p:nvPr/>
          </p:nvSpPr>
          <p:spPr>
            <a:xfrm>
              <a:off x="5046814" y="1682732"/>
              <a:ext cx="0" cy="236854"/>
            </a:xfrm>
            <a:custGeom>
              <a:avLst/>
              <a:gdLst/>
              <a:ahLst/>
              <a:cxnLst/>
              <a:rect l="l" t="t" r="r" b="b"/>
              <a:pathLst>
                <a:path h="236855">
                  <a:moveTo>
                    <a:pt x="0" y="236529"/>
                  </a:moveTo>
                  <a:lnTo>
                    <a:pt x="0" y="0"/>
                  </a:lnTo>
                </a:path>
              </a:pathLst>
            </a:custGeom>
            <a:ln w="44425">
              <a:solidFill>
                <a:srgbClr val="000000"/>
              </a:solidFill>
            </a:ln>
          </p:spPr>
          <p:txBody>
            <a:bodyPr wrap="square" lIns="0" tIns="0" rIns="0" bIns="0" rtlCol="0"/>
            <a:lstStyle/>
            <a:p>
              <a:endParaRPr sz="2400"/>
            </a:p>
          </p:txBody>
        </p:sp>
        <p:sp>
          <p:nvSpPr>
            <p:cNvPr id="17" name="object 17"/>
            <p:cNvSpPr/>
            <p:nvPr/>
          </p:nvSpPr>
          <p:spPr>
            <a:xfrm>
              <a:off x="3715940" y="2889441"/>
              <a:ext cx="979805" cy="0"/>
            </a:xfrm>
            <a:custGeom>
              <a:avLst/>
              <a:gdLst/>
              <a:ahLst/>
              <a:cxnLst/>
              <a:rect l="l" t="t" r="r" b="b"/>
              <a:pathLst>
                <a:path w="979804">
                  <a:moveTo>
                    <a:pt x="979655" y="0"/>
                  </a:moveTo>
                  <a:lnTo>
                    <a:pt x="0" y="0"/>
                  </a:lnTo>
                </a:path>
              </a:pathLst>
            </a:custGeom>
            <a:ln w="44436">
              <a:solidFill>
                <a:srgbClr val="FF0000"/>
              </a:solidFill>
            </a:ln>
          </p:spPr>
          <p:txBody>
            <a:bodyPr wrap="square" lIns="0" tIns="0" rIns="0" bIns="0" rtlCol="0"/>
            <a:lstStyle/>
            <a:p>
              <a:endParaRPr sz="2400"/>
            </a:p>
          </p:txBody>
        </p:sp>
        <p:sp>
          <p:nvSpPr>
            <p:cNvPr id="18" name="object 18"/>
            <p:cNvSpPr/>
            <p:nvPr/>
          </p:nvSpPr>
          <p:spPr>
            <a:xfrm>
              <a:off x="4453410" y="2391674"/>
              <a:ext cx="370205" cy="148590"/>
            </a:xfrm>
            <a:custGeom>
              <a:avLst/>
              <a:gdLst/>
              <a:ahLst/>
              <a:cxnLst/>
              <a:rect l="l" t="t" r="r" b="b"/>
              <a:pathLst>
                <a:path w="370204" h="148589">
                  <a:moveTo>
                    <a:pt x="0" y="74044"/>
                  </a:moveTo>
                  <a:lnTo>
                    <a:pt x="30844" y="0"/>
                  </a:lnTo>
                  <a:lnTo>
                    <a:pt x="92532" y="148088"/>
                  </a:lnTo>
                  <a:lnTo>
                    <a:pt x="154221" y="0"/>
                  </a:lnTo>
                  <a:lnTo>
                    <a:pt x="215910" y="148088"/>
                  </a:lnTo>
                  <a:lnTo>
                    <a:pt x="277598" y="0"/>
                  </a:lnTo>
                  <a:lnTo>
                    <a:pt x="339287" y="148088"/>
                  </a:lnTo>
                  <a:lnTo>
                    <a:pt x="370131" y="74044"/>
                  </a:lnTo>
                </a:path>
              </a:pathLst>
            </a:custGeom>
            <a:ln w="44435">
              <a:solidFill>
                <a:srgbClr val="000000"/>
              </a:solidFill>
            </a:ln>
          </p:spPr>
          <p:txBody>
            <a:bodyPr wrap="square" lIns="0" tIns="0" rIns="0" bIns="0" rtlCol="0"/>
            <a:lstStyle/>
            <a:p>
              <a:endParaRPr sz="2400"/>
            </a:p>
          </p:txBody>
        </p:sp>
        <p:pic>
          <p:nvPicPr>
            <p:cNvPr id="19" name="object 19"/>
            <p:cNvPicPr/>
            <p:nvPr/>
          </p:nvPicPr>
          <p:blipFill>
            <a:blip r:embed="rId4" cstate="print"/>
            <a:stretch>
              <a:fillRect/>
            </a:stretch>
          </p:blipFill>
          <p:spPr>
            <a:xfrm>
              <a:off x="4823542" y="2406938"/>
              <a:ext cx="281663" cy="117561"/>
            </a:xfrm>
            <a:prstGeom prst="rect">
              <a:avLst/>
            </a:prstGeom>
          </p:spPr>
        </p:pic>
        <p:sp>
          <p:nvSpPr>
            <p:cNvPr id="20" name="object 20"/>
            <p:cNvSpPr/>
            <p:nvPr/>
          </p:nvSpPr>
          <p:spPr>
            <a:xfrm>
              <a:off x="3895928" y="2294358"/>
              <a:ext cx="557530" cy="171450"/>
            </a:xfrm>
            <a:custGeom>
              <a:avLst/>
              <a:gdLst/>
              <a:ahLst/>
              <a:cxnLst/>
              <a:rect l="l" t="t" r="r" b="b"/>
              <a:pathLst>
                <a:path w="557529" h="171450">
                  <a:moveTo>
                    <a:pt x="557482" y="171360"/>
                  </a:moveTo>
                  <a:lnTo>
                    <a:pt x="456952" y="171360"/>
                  </a:lnTo>
                </a:path>
                <a:path w="557529" h="171450">
                  <a:moveTo>
                    <a:pt x="0" y="57094"/>
                  </a:moveTo>
                  <a:lnTo>
                    <a:pt x="3587" y="35554"/>
                  </a:lnTo>
                  <a:lnTo>
                    <a:pt x="15088" y="17635"/>
                  </a:lnTo>
                  <a:lnTo>
                    <a:pt x="32754" y="5171"/>
                  </a:lnTo>
                  <a:lnTo>
                    <a:pt x="54834" y="0"/>
                  </a:lnTo>
                  <a:lnTo>
                    <a:pt x="77217" y="3462"/>
                  </a:lnTo>
                  <a:lnTo>
                    <a:pt x="95864" y="14529"/>
                  </a:lnTo>
                  <a:lnTo>
                    <a:pt x="108847" y="31506"/>
                  </a:lnTo>
                  <a:lnTo>
                    <a:pt x="114238" y="52701"/>
                  </a:lnTo>
                  <a:lnTo>
                    <a:pt x="114238" y="54161"/>
                  </a:lnTo>
                  <a:lnTo>
                    <a:pt x="114238" y="55634"/>
                  </a:lnTo>
                  <a:lnTo>
                    <a:pt x="114238" y="57094"/>
                  </a:lnTo>
                  <a:lnTo>
                    <a:pt x="117825" y="35554"/>
                  </a:lnTo>
                  <a:lnTo>
                    <a:pt x="129327" y="17635"/>
                  </a:lnTo>
                  <a:lnTo>
                    <a:pt x="146992" y="5171"/>
                  </a:lnTo>
                  <a:lnTo>
                    <a:pt x="169072" y="0"/>
                  </a:lnTo>
                  <a:lnTo>
                    <a:pt x="191455" y="3462"/>
                  </a:lnTo>
                  <a:lnTo>
                    <a:pt x="210102" y="14529"/>
                  </a:lnTo>
                  <a:lnTo>
                    <a:pt x="223085" y="31506"/>
                  </a:lnTo>
                  <a:lnTo>
                    <a:pt x="228476" y="52701"/>
                  </a:lnTo>
                  <a:lnTo>
                    <a:pt x="228476" y="54161"/>
                  </a:lnTo>
                  <a:lnTo>
                    <a:pt x="228476" y="55634"/>
                  </a:lnTo>
                  <a:lnTo>
                    <a:pt x="228476" y="57094"/>
                  </a:lnTo>
                  <a:lnTo>
                    <a:pt x="232064" y="35554"/>
                  </a:lnTo>
                  <a:lnTo>
                    <a:pt x="243565" y="17635"/>
                  </a:lnTo>
                  <a:lnTo>
                    <a:pt x="261230" y="5171"/>
                  </a:lnTo>
                  <a:lnTo>
                    <a:pt x="283310" y="0"/>
                  </a:lnTo>
                  <a:lnTo>
                    <a:pt x="305694" y="3462"/>
                  </a:lnTo>
                  <a:lnTo>
                    <a:pt x="324341" y="14529"/>
                  </a:lnTo>
                  <a:lnTo>
                    <a:pt x="337323" y="31506"/>
                  </a:lnTo>
                  <a:lnTo>
                    <a:pt x="342714" y="52701"/>
                  </a:lnTo>
                  <a:lnTo>
                    <a:pt x="342714" y="54161"/>
                  </a:lnTo>
                  <a:lnTo>
                    <a:pt x="342714" y="55634"/>
                  </a:lnTo>
                  <a:lnTo>
                    <a:pt x="342714" y="57094"/>
                  </a:lnTo>
                  <a:lnTo>
                    <a:pt x="346302" y="35554"/>
                  </a:lnTo>
                  <a:lnTo>
                    <a:pt x="357803" y="17635"/>
                  </a:lnTo>
                  <a:lnTo>
                    <a:pt x="375468" y="5171"/>
                  </a:lnTo>
                  <a:lnTo>
                    <a:pt x="397548" y="0"/>
                  </a:lnTo>
                  <a:lnTo>
                    <a:pt x="419932" y="3462"/>
                  </a:lnTo>
                  <a:lnTo>
                    <a:pt x="451561" y="31506"/>
                  </a:lnTo>
                  <a:lnTo>
                    <a:pt x="456952" y="55634"/>
                  </a:lnTo>
                  <a:lnTo>
                    <a:pt x="456952" y="57094"/>
                  </a:lnTo>
                </a:path>
                <a:path w="557529" h="171450">
                  <a:moveTo>
                    <a:pt x="0" y="57094"/>
                  </a:moveTo>
                  <a:lnTo>
                    <a:pt x="0" y="171360"/>
                  </a:lnTo>
                </a:path>
                <a:path w="557529" h="171450">
                  <a:moveTo>
                    <a:pt x="456952" y="57094"/>
                  </a:moveTo>
                  <a:lnTo>
                    <a:pt x="456952" y="171360"/>
                  </a:lnTo>
                </a:path>
              </a:pathLst>
            </a:custGeom>
            <a:ln w="44431">
              <a:solidFill>
                <a:srgbClr val="000000"/>
              </a:solidFill>
            </a:ln>
          </p:spPr>
          <p:txBody>
            <a:bodyPr wrap="square" lIns="0" tIns="0" rIns="0" bIns="0" rtlCol="0"/>
            <a:lstStyle/>
            <a:p>
              <a:endParaRPr sz="2400"/>
            </a:p>
          </p:txBody>
        </p:sp>
        <p:sp>
          <p:nvSpPr>
            <p:cNvPr id="21" name="object 21"/>
            <p:cNvSpPr/>
            <p:nvPr/>
          </p:nvSpPr>
          <p:spPr>
            <a:xfrm>
              <a:off x="3096261" y="2047747"/>
              <a:ext cx="800100" cy="842010"/>
            </a:xfrm>
            <a:custGeom>
              <a:avLst/>
              <a:gdLst/>
              <a:ahLst/>
              <a:cxnLst/>
              <a:rect l="l" t="t" r="r" b="b"/>
              <a:pathLst>
                <a:path w="800100" h="842010">
                  <a:moveTo>
                    <a:pt x="0" y="303705"/>
                  </a:moveTo>
                  <a:lnTo>
                    <a:pt x="3587" y="282165"/>
                  </a:lnTo>
                  <a:lnTo>
                    <a:pt x="15088" y="264245"/>
                  </a:lnTo>
                  <a:lnTo>
                    <a:pt x="32754" y="251782"/>
                  </a:lnTo>
                  <a:lnTo>
                    <a:pt x="54834" y="246610"/>
                  </a:lnTo>
                  <a:lnTo>
                    <a:pt x="77217" y="250073"/>
                  </a:lnTo>
                  <a:lnTo>
                    <a:pt x="95864" y="261139"/>
                  </a:lnTo>
                  <a:lnTo>
                    <a:pt x="108847" y="278117"/>
                  </a:lnTo>
                  <a:lnTo>
                    <a:pt x="114238" y="299312"/>
                  </a:lnTo>
                  <a:lnTo>
                    <a:pt x="114238" y="300772"/>
                  </a:lnTo>
                  <a:lnTo>
                    <a:pt x="114238" y="302245"/>
                  </a:lnTo>
                  <a:lnTo>
                    <a:pt x="114238" y="303705"/>
                  </a:lnTo>
                  <a:lnTo>
                    <a:pt x="117825" y="282165"/>
                  </a:lnTo>
                  <a:lnTo>
                    <a:pt x="129327" y="264245"/>
                  </a:lnTo>
                  <a:lnTo>
                    <a:pt x="146992" y="251782"/>
                  </a:lnTo>
                  <a:lnTo>
                    <a:pt x="169072" y="246610"/>
                  </a:lnTo>
                  <a:lnTo>
                    <a:pt x="191455" y="250073"/>
                  </a:lnTo>
                  <a:lnTo>
                    <a:pt x="210102" y="261139"/>
                  </a:lnTo>
                  <a:lnTo>
                    <a:pt x="223085" y="278117"/>
                  </a:lnTo>
                  <a:lnTo>
                    <a:pt x="228476" y="299312"/>
                  </a:lnTo>
                  <a:lnTo>
                    <a:pt x="228476" y="300772"/>
                  </a:lnTo>
                  <a:lnTo>
                    <a:pt x="228476" y="302245"/>
                  </a:lnTo>
                  <a:lnTo>
                    <a:pt x="228476" y="303705"/>
                  </a:lnTo>
                  <a:lnTo>
                    <a:pt x="232064" y="282165"/>
                  </a:lnTo>
                  <a:lnTo>
                    <a:pt x="243565" y="264245"/>
                  </a:lnTo>
                  <a:lnTo>
                    <a:pt x="261230" y="251782"/>
                  </a:lnTo>
                  <a:lnTo>
                    <a:pt x="283310" y="246610"/>
                  </a:lnTo>
                  <a:lnTo>
                    <a:pt x="305694" y="250073"/>
                  </a:lnTo>
                  <a:lnTo>
                    <a:pt x="324341" y="261139"/>
                  </a:lnTo>
                  <a:lnTo>
                    <a:pt x="337323" y="278117"/>
                  </a:lnTo>
                  <a:lnTo>
                    <a:pt x="342714" y="299312"/>
                  </a:lnTo>
                  <a:lnTo>
                    <a:pt x="342714" y="300772"/>
                  </a:lnTo>
                  <a:lnTo>
                    <a:pt x="342714" y="302245"/>
                  </a:lnTo>
                  <a:lnTo>
                    <a:pt x="342714" y="303705"/>
                  </a:lnTo>
                  <a:lnTo>
                    <a:pt x="346302" y="282165"/>
                  </a:lnTo>
                  <a:lnTo>
                    <a:pt x="357803" y="264245"/>
                  </a:lnTo>
                  <a:lnTo>
                    <a:pt x="375468" y="251782"/>
                  </a:lnTo>
                  <a:lnTo>
                    <a:pt x="397548" y="246610"/>
                  </a:lnTo>
                  <a:lnTo>
                    <a:pt x="419932" y="250073"/>
                  </a:lnTo>
                  <a:lnTo>
                    <a:pt x="438579" y="261139"/>
                  </a:lnTo>
                  <a:lnTo>
                    <a:pt x="451561" y="278117"/>
                  </a:lnTo>
                  <a:lnTo>
                    <a:pt x="456952" y="299312"/>
                  </a:lnTo>
                  <a:lnTo>
                    <a:pt x="456952" y="300772"/>
                  </a:lnTo>
                  <a:lnTo>
                    <a:pt x="456952" y="302245"/>
                  </a:lnTo>
                  <a:lnTo>
                    <a:pt x="456952" y="303705"/>
                  </a:lnTo>
                </a:path>
                <a:path w="800100" h="842010">
                  <a:moveTo>
                    <a:pt x="0" y="303705"/>
                  </a:moveTo>
                  <a:lnTo>
                    <a:pt x="0" y="417971"/>
                  </a:lnTo>
                </a:path>
                <a:path w="800100" h="842010">
                  <a:moveTo>
                    <a:pt x="456952" y="303705"/>
                  </a:moveTo>
                  <a:lnTo>
                    <a:pt x="456952" y="417971"/>
                  </a:lnTo>
                </a:path>
                <a:path w="800100" h="842010">
                  <a:moveTo>
                    <a:pt x="799666" y="417971"/>
                  </a:moveTo>
                  <a:lnTo>
                    <a:pt x="456952" y="417971"/>
                  </a:lnTo>
                </a:path>
                <a:path w="800100" h="842010">
                  <a:moveTo>
                    <a:pt x="619678" y="841693"/>
                  </a:moveTo>
                  <a:lnTo>
                    <a:pt x="628309" y="0"/>
                  </a:lnTo>
                </a:path>
              </a:pathLst>
            </a:custGeom>
            <a:ln w="44431">
              <a:solidFill>
                <a:srgbClr val="FF0000"/>
              </a:solidFill>
            </a:ln>
          </p:spPr>
          <p:txBody>
            <a:bodyPr wrap="square" lIns="0" tIns="0" rIns="0" bIns="0" rtlCol="0"/>
            <a:lstStyle/>
            <a:p>
              <a:endParaRPr sz="2400"/>
            </a:p>
          </p:txBody>
        </p:sp>
        <p:sp>
          <p:nvSpPr>
            <p:cNvPr id="22" name="object 22"/>
            <p:cNvSpPr/>
            <p:nvPr/>
          </p:nvSpPr>
          <p:spPr>
            <a:xfrm>
              <a:off x="2469729" y="2465719"/>
              <a:ext cx="197485" cy="0"/>
            </a:xfrm>
            <a:custGeom>
              <a:avLst/>
              <a:gdLst/>
              <a:ahLst/>
              <a:cxnLst/>
              <a:rect l="l" t="t" r="r" b="b"/>
              <a:pathLst>
                <a:path w="197485">
                  <a:moveTo>
                    <a:pt x="196997" y="0"/>
                  </a:moveTo>
                  <a:lnTo>
                    <a:pt x="0" y="0"/>
                  </a:lnTo>
                </a:path>
              </a:pathLst>
            </a:custGeom>
            <a:ln w="44436">
              <a:solidFill>
                <a:srgbClr val="000000"/>
              </a:solidFill>
            </a:ln>
          </p:spPr>
          <p:txBody>
            <a:bodyPr wrap="square" lIns="0" tIns="0" rIns="0" bIns="0" rtlCol="0"/>
            <a:lstStyle/>
            <a:p>
              <a:endParaRPr sz="2400"/>
            </a:p>
          </p:txBody>
        </p:sp>
        <p:sp>
          <p:nvSpPr>
            <p:cNvPr id="23" name="object 23"/>
            <p:cNvSpPr/>
            <p:nvPr/>
          </p:nvSpPr>
          <p:spPr>
            <a:xfrm>
              <a:off x="3471978" y="2140760"/>
              <a:ext cx="538480" cy="92075"/>
            </a:xfrm>
            <a:custGeom>
              <a:avLst/>
              <a:gdLst/>
              <a:ahLst/>
              <a:cxnLst/>
              <a:rect l="l" t="t" r="r" b="b"/>
              <a:pathLst>
                <a:path w="538479" h="92075">
                  <a:moveTo>
                    <a:pt x="538188" y="80328"/>
                  </a:moveTo>
                  <a:lnTo>
                    <a:pt x="499211" y="55783"/>
                  </a:lnTo>
                  <a:lnTo>
                    <a:pt x="457025" y="35701"/>
                  </a:lnTo>
                  <a:lnTo>
                    <a:pt x="412274" y="20082"/>
                  </a:lnTo>
                  <a:lnTo>
                    <a:pt x="365599" y="8925"/>
                  </a:lnTo>
                  <a:lnTo>
                    <a:pt x="317642" y="2231"/>
                  </a:lnTo>
                  <a:lnTo>
                    <a:pt x="269046" y="0"/>
                  </a:lnTo>
                  <a:lnTo>
                    <a:pt x="220453" y="2231"/>
                  </a:lnTo>
                  <a:lnTo>
                    <a:pt x="172504" y="8925"/>
                  </a:lnTo>
                  <a:lnTo>
                    <a:pt x="125842" y="20082"/>
                  </a:lnTo>
                  <a:lnTo>
                    <a:pt x="81109" y="35701"/>
                  </a:lnTo>
                  <a:lnTo>
                    <a:pt x="38948" y="55783"/>
                  </a:lnTo>
                  <a:lnTo>
                    <a:pt x="0" y="80328"/>
                  </a:lnTo>
                </a:path>
                <a:path w="538479" h="92075">
                  <a:moveTo>
                    <a:pt x="466345" y="91983"/>
                  </a:moveTo>
                  <a:lnTo>
                    <a:pt x="538188" y="80328"/>
                  </a:lnTo>
                  <a:lnTo>
                    <a:pt x="526510" y="8544"/>
                  </a:lnTo>
                </a:path>
                <a:path w="538479" h="92075">
                  <a:moveTo>
                    <a:pt x="11550" y="8544"/>
                  </a:moveTo>
                  <a:lnTo>
                    <a:pt x="0" y="80328"/>
                  </a:lnTo>
                  <a:lnTo>
                    <a:pt x="71716" y="91983"/>
                  </a:lnTo>
                </a:path>
              </a:pathLst>
            </a:custGeom>
            <a:ln w="28562">
              <a:solidFill>
                <a:srgbClr val="000000"/>
              </a:solidFill>
            </a:ln>
          </p:spPr>
          <p:txBody>
            <a:bodyPr wrap="square" lIns="0" tIns="0" rIns="0" bIns="0" rtlCol="0"/>
            <a:lstStyle/>
            <a:p>
              <a:endParaRPr sz="2400"/>
            </a:p>
          </p:txBody>
        </p:sp>
        <p:sp>
          <p:nvSpPr>
            <p:cNvPr id="24" name="object 24"/>
            <p:cNvSpPr/>
            <p:nvPr/>
          </p:nvSpPr>
          <p:spPr>
            <a:xfrm>
              <a:off x="5046814" y="1922055"/>
              <a:ext cx="3295650" cy="544195"/>
            </a:xfrm>
            <a:custGeom>
              <a:avLst/>
              <a:gdLst/>
              <a:ahLst/>
              <a:cxnLst/>
              <a:rect l="l" t="t" r="r" b="b"/>
              <a:pathLst>
                <a:path w="3295650" h="544194">
                  <a:moveTo>
                    <a:pt x="223272" y="543663"/>
                  </a:moveTo>
                  <a:lnTo>
                    <a:pt x="0" y="543663"/>
                  </a:lnTo>
                </a:path>
                <a:path w="3295650" h="544194">
                  <a:moveTo>
                    <a:pt x="3172138" y="0"/>
                  </a:moveTo>
                  <a:lnTo>
                    <a:pt x="3295389" y="0"/>
                  </a:lnTo>
                </a:path>
              </a:pathLst>
            </a:custGeom>
            <a:ln w="44431">
              <a:solidFill>
                <a:srgbClr val="000000"/>
              </a:solidFill>
            </a:ln>
          </p:spPr>
          <p:txBody>
            <a:bodyPr wrap="square" lIns="0" tIns="0" rIns="0" bIns="0" rtlCol="0"/>
            <a:lstStyle/>
            <a:p>
              <a:endParaRPr sz="2400"/>
            </a:p>
          </p:txBody>
        </p:sp>
        <p:sp>
          <p:nvSpPr>
            <p:cNvPr id="25" name="object 25"/>
            <p:cNvSpPr/>
            <p:nvPr/>
          </p:nvSpPr>
          <p:spPr>
            <a:xfrm>
              <a:off x="7998727" y="1845627"/>
              <a:ext cx="239395" cy="334010"/>
            </a:xfrm>
            <a:custGeom>
              <a:avLst/>
              <a:gdLst/>
              <a:ahLst/>
              <a:cxnLst/>
              <a:rect l="l" t="t" r="r" b="b"/>
              <a:pathLst>
                <a:path w="239395" h="334010">
                  <a:moveTo>
                    <a:pt x="44424" y="76377"/>
                  </a:moveTo>
                  <a:lnTo>
                    <a:pt x="0" y="76377"/>
                  </a:lnTo>
                  <a:lnTo>
                    <a:pt x="0" y="333476"/>
                  </a:lnTo>
                  <a:lnTo>
                    <a:pt x="44424" y="333476"/>
                  </a:lnTo>
                  <a:lnTo>
                    <a:pt x="44424" y="76377"/>
                  </a:lnTo>
                  <a:close/>
                </a:path>
                <a:path w="239395" h="334010">
                  <a:moveTo>
                    <a:pt x="239255" y="0"/>
                  </a:moveTo>
                  <a:lnTo>
                    <a:pt x="86436" y="76428"/>
                  </a:lnTo>
                  <a:lnTo>
                    <a:pt x="239255" y="152869"/>
                  </a:lnTo>
                  <a:lnTo>
                    <a:pt x="239255" y="0"/>
                  </a:lnTo>
                  <a:close/>
                </a:path>
              </a:pathLst>
            </a:custGeom>
            <a:solidFill>
              <a:srgbClr val="000000"/>
            </a:solidFill>
          </p:spPr>
          <p:txBody>
            <a:bodyPr wrap="square" lIns="0" tIns="0" rIns="0" bIns="0" rtlCol="0"/>
            <a:lstStyle/>
            <a:p>
              <a:endParaRPr sz="2400"/>
            </a:p>
          </p:txBody>
        </p:sp>
        <p:sp>
          <p:nvSpPr>
            <p:cNvPr id="26" name="object 26"/>
            <p:cNvSpPr/>
            <p:nvPr/>
          </p:nvSpPr>
          <p:spPr>
            <a:xfrm>
              <a:off x="8085167" y="2179102"/>
              <a:ext cx="248920" cy="0"/>
            </a:xfrm>
            <a:custGeom>
              <a:avLst/>
              <a:gdLst/>
              <a:ahLst/>
              <a:cxnLst/>
              <a:rect l="l" t="t" r="r" b="b"/>
              <a:pathLst>
                <a:path w="248920">
                  <a:moveTo>
                    <a:pt x="248531" y="0"/>
                  </a:moveTo>
                  <a:lnTo>
                    <a:pt x="0" y="0"/>
                  </a:lnTo>
                </a:path>
              </a:pathLst>
            </a:custGeom>
            <a:ln w="44436">
              <a:solidFill>
                <a:srgbClr val="000000"/>
              </a:solidFill>
            </a:ln>
          </p:spPr>
          <p:txBody>
            <a:bodyPr wrap="square" lIns="0" tIns="0" rIns="0" bIns="0" rtlCol="0"/>
            <a:lstStyle/>
            <a:p>
              <a:endParaRPr sz="2400"/>
            </a:p>
          </p:txBody>
        </p:sp>
        <p:sp>
          <p:nvSpPr>
            <p:cNvPr id="27" name="object 27"/>
            <p:cNvSpPr/>
            <p:nvPr/>
          </p:nvSpPr>
          <p:spPr>
            <a:xfrm>
              <a:off x="8062954" y="1857724"/>
              <a:ext cx="44450" cy="386080"/>
            </a:xfrm>
            <a:custGeom>
              <a:avLst/>
              <a:gdLst/>
              <a:ahLst/>
              <a:cxnLst/>
              <a:rect l="l" t="t" r="r" b="b"/>
              <a:pathLst>
                <a:path w="44450" h="386080">
                  <a:moveTo>
                    <a:pt x="44427" y="0"/>
                  </a:moveTo>
                  <a:lnTo>
                    <a:pt x="0" y="0"/>
                  </a:lnTo>
                  <a:lnTo>
                    <a:pt x="0" y="385646"/>
                  </a:lnTo>
                  <a:lnTo>
                    <a:pt x="44427" y="385646"/>
                  </a:lnTo>
                  <a:lnTo>
                    <a:pt x="44427" y="0"/>
                  </a:lnTo>
                  <a:close/>
                </a:path>
              </a:pathLst>
            </a:custGeom>
            <a:solidFill>
              <a:srgbClr val="000000"/>
            </a:solidFill>
          </p:spPr>
          <p:txBody>
            <a:bodyPr wrap="square" lIns="0" tIns="0" rIns="0" bIns="0" rtlCol="0"/>
            <a:lstStyle/>
            <a:p>
              <a:endParaRPr sz="2400"/>
            </a:p>
          </p:txBody>
        </p:sp>
        <p:sp>
          <p:nvSpPr>
            <p:cNvPr id="28" name="object 28"/>
            <p:cNvSpPr/>
            <p:nvPr/>
          </p:nvSpPr>
          <p:spPr>
            <a:xfrm>
              <a:off x="7019960" y="2050553"/>
              <a:ext cx="1322705" cy="713740"/>
            </a:xfrm>
            <a:custGeom>
              <a:avLst/>
              <a:gdLst/>
              <a:ahLst/>
              <a:cxnLst/>
              <a:rect l="l" t="t" r="r" b="b"/>
              <a:pathLst>
                <a:path w="1322704" h="713739">
                  <a:moveTo>
                    <a:pt x="897784" y="0"/>
                  </a:moveTo>
                  <a:lnTo>
                    <a:pt x="0" y="0"/>
                  </a:lnTo>
                </a:path>
                <a:path w="1322704" h="713739">
                  <a:moveTo>
                    <a:pt x="1322242" y="129044"/>
                  </a:moveTo>
                  <a:lnTo>
                    <a:pt x="1322242" y="586373"/>
                  </a:lnTo>
                </a:path>
                <a:path w="1322704" h="713739">
                  <a:moveTo>
                    <a:pt x="1322369" y="713144"/>
                  </a:moveTo>
                  <a:lnTo>
                    <a:pt x="1322369" y="584596"/>
                  </a:lnTo>
                </a:path>
                <a:path w="1322704" h="713739">
                  <a:moveTo>
                    <a:pt x="1065334" y="713144"/>
                  </a:moveTo>
                  <a:lnTo>
                    <a:pt x="1322369" y="713144"/>
                  </a:lnTo>
                </a:path>
              </a:pathLst>
            </a:custGeom>
            <a:ln w="44431">
              <a:solidFill>
                <a:srgbClr val="000000"/>
              </a:solidFill>
            </a:ln>
          </p:spPr>
          <p:txBody>
            <a:bodyPr wrap="square" lIns="0" tIns="0" rIns="0" bIns="0" rtlCol="0"/>
            <a:lstStyle/>
            <a:p>
              <a:endParaRPr sz="2400"/>
            </a:p>
          </p:txBody>
        </p:sp>
        <p:sp>
          <p:nvSpPr>
            <p:cNvPr id="29" name="object 29"/>
            <p:cNvSpPr/>
            <p:nvPr/>
          </p:nvSpPr>
          <p:spPr>
            <a:xfrm>
              <a:off x="7998854" y="2763698"/>
              <a:ext cx="44450" cy="257175"/>
            </a:xfrm>
            <a:custGeom>
              <a:avLst/>
              <a:gdLst/>
              <a:ahLst/>
              <a:cxnLst/>
              <a:rect l="l" t="t" r="r" b="b"/>
              <a:pathLst>
                <a:path w="44450" h="257175">
                  <a:moveTo>
                    <a:pt x="44425" y="0"/>
                  </a:moveTo>
                  <a:lnTo>
                    <a:pt x="0" y="0"/>
                  </a:lnTo>
                  <a:lnTo>
                    <a:pt x="0" y="257097"/>
                  </a:lnTo>
                  <a:lnTo>
                    <a:pt x="44425" y="257097"/>
                  </a:lnTo>
                  <a:lnTo>
                    <a:pt x="44425" y="0"/>
                  </a:lnTo>
                  <a:close/>
                </a:path>
              </a:pathLst>
            </a:custGeom>
            <a:solidFill>
              <a:srgbClr val="000000"/>
            </a:solidFill>
          </p:spPr>
          <p:txBody>
            <a:bodyPr wrap="square" lIns="0" tIns="0" rIns="0" bIns="0" rtlCol="0"/>
            <a:lstStyle/>
            <a:p>
              <a:endParaRPr sz="2400"/>
            </a:p>
          </p:txBody>
        </p:sp>
        <p:sp>
          <p:nvSpPr>
            <p:cNvPr id="30" name="object 30"/>
            <p:cNvSpPr/>
            <p:nvPr/>
          </p:nvSpPr>
          <p:spPr>
            <a:xfrm>
              <a:off x="8085294" y="3020796"/>
              <a:ext cx="100965" cy="0"/>
            </a:xfrm>
            <a:custGeom>
              <a:avLst/>
              <a:gdLst/>
              <a:ahLst/>
              <a:cxnLst/>
              <a:rect l="l" t="t" r="r" b="b"/>
              <a:pathLst>
                <a:path w="100965">
                  <a:moveTo>
                    <a:pt x="100529" y="0"/>
                  </a:moveTo>
                  <a:lnTo>
                    <a:pt x="0" y="0"/>
                  </a:lnTo>
                </a:path>
              </a:pathLst>
            </a:custGeom>
            <a:ln w="44436">
              <a:solidFill>
                <a:srgbClr val="000000"/>
              </a:solidFill>
            </a:ln>
          </p:spPr>
          <p:txBody>
            <a:bodyPr wrap="square" lIns="0" tIns="0" rIns="0" bIns="0" rtlCol="0"/>
            <a:lstStyle/>
            <a:p>
              <a:endParaRPr sz="2400"/>
            </a:p>
          </p:txBody>
        </p:sp>
        <p:sp>
          <p:nvSpPr>
            <p:cNvPr id="31" name="object 31"/>
            <p:cNvSpPr/>
            <p:nvPr/>
          </p:nvSpPr>
          <p:spPr>
            <a:xfrm>
              <a:off x="8063077" y="2699423"/>
              <a:ext cx="295275" cy="386080"/>
            </a:xfrm>
            <a:custGeom>
              <a:avLst/>
              <a:gdLst/>
              <a:ahLst/>
              <a:cxnLst/>
              <a:rect l="l" t="t" r="r" b="b"/>
              <a:pathLst>
                <a:path w="295275" h="386080">
                  <a:moveTo>
                    <a:pt x="44424" y="0"/>
                  </a:moveTo>
                  <a:lnTo>
                    <a:pt x="0" y="0"/>
                  </a:lnTo>
                  <a:lnTo>
                    <a:pt x="0" y="385648"/>
                  </a:lnTo>
                  <a:lnTo>
                    <a:pt x="44424" y="385648"/>
                  </a:lnTo>
                  <a:lnTo>
                    <a:pt x="44424" y="0"/>
                  </a:lnTo>
                  <a:close/>
                </a:path>
                <a:path w="295275" h="386080">
                  <a:moveTo>
                    <a:pt x="295109" y="321373"/>
                  </a:moveTo>
                  <a:lnTo>
                    <a:pt x="106997" y="258660"/>
                  </a:lnTo>
                  <a:lnTo>
                    <a:pt x="106997" y="384098"/>
                  </a:lnTo>
                  <a:lnTo>
                    <a:pt x="295109" y="321373"/>
                  </a:lnTo>
                  <a:close/>
                </a:path>
              </a:pathLst>
            </a:custGeom>
            <a:solidFill>
              <a:srgbClr val="000000"/>
            </a:solidFill>
          </p:spPr>
          <p:txBody>
            <a:bodyPr wrap="square" lIns="0" tIns="0" rIns="0" bIns="0" rtlCol="0"/>
            <a:lstStyle/>
            <a:p>
              <a:endParaRPr sz="2400"/>
            </a:p>
          </p:txBody>
        </p:sp>
        <p:sp>
          <p:nvSpPr>
            <p:cNvPr id="32" name="object 32"/>
            <p:cNvSpPr/>
            <p:nvPr/>
          </p:nvSpPr>
          <p:spPr>
            <a:xfrm>
              <a:off x="7828258" y="2763698"/>
              <a:ext cx="514350" cy="404495"/>
            </a:xfrm>
            <a:custGeom>
              <a:avLst/>
              <a:gdLst/>
              <a:ahLst/>
              <a:cxnLst/>
              <a:rect l="l" t="t" r="r" b="b"/>
              <a:pathLst>
                <a:path w="514350" h="404494">
                  <a:moveTo>
                    <a:pt x="192808" y="128548"/>
                  </a:moveTo>
                  <a:lnTo>
                    <a:pt x="0" y="128548"/>
                  </a:lnTo>
                </a:path>
                <a:path w="514350" h="404494">
                  <a:moveTo>
                    <a:pt x="514071" y="275951"/>
                  </a:moveTo>
                  <a:lnTo>
                    <a:pt x="514071" y="404500"/>
                  </a:lnTo>
                </a:path>
                <a:path w="514350" h="404494">
                  <a:moveTo>
                    <a:pt x="514071" y="0"/>
                  </a:moveTo>
                  <a:lnTo>
                    <a:pt x="274044" y="0"/>
                  </a:lnTo>
                </a:path>
              </a:pathLst>
            </a:custGeom>
            <a:ln w="44431">
              <a:solidFill>
                <a:srgbClr val="000000"/>
              </a:solidFill>
            </a:ln>
          </p:spPr>
          <p:txBody>
            <a:bodyPr wrap="square" lIns="0" tIns="0" rIns="0" bIns="0" rtlCol="0"/>
            <a:lstStyle/>
            <a:p>
              <a:endParaRPr sz="2400"/>
            </a:p>
          </p:txBody>
        </p:sp>
        <p:pic>
          <p:nvPicPr>
            <p:cNvPr id="33" name="object 33"/>
            <p:cNvPicPr/>
            <p:nvPr/>
          </p:nvPicPr>
          <p:blipFill>
            <a:blip r:embed="rId5" cstate="print"/>
            <a:stretch>
              <a:fillRect/>
            </a:stretch>
          </p:blipFill>
          <p:spPr>
            <a:xfrm>
              <a:off x="7898449" y="1990617"/>
              <a:ext cx="111577" cy="111277"/>
            </a:xfrm>
            <a:prstGeom prst="rect">
              <a:avLst/>
            </a:prstGeom>
          </p:spPr>
        </p:pic>
        <p:sp>
          <p:nvSpPr>
            <p:cNvPr id="34" name="object 34"/>
            <p:cNvSpPr/>
            <p:nvPr/>
          </p:nvSpPr>
          <p:spPr>
            <a:xfrm>
              <a:off x="8266806" y="3033480"/>
              <a:ext cx="151130" cy="252095"/>
            </a:xfrm>
            <a:custGeom>
              <a:avLst/>
              <a:gdLst/>
              <a:ahLst/>
              <a:cxnLst/>
              <a:rect l="l" t="t" r="r" b="b"/>
              <a:pathLst>
                <a:path w="151129" h="252095">
                  <a:moveTo>
                    <a:pt x="75524" y="89165"/>
                  </a:moveTo>
                  <a:lnTo>
                    <a:pt x="75524" y="0"/>
                  </a:lnTo>
                </a:path>
                <a:path w="151129" h="252095">
                  <a:moveTo>
                    <a:pt x="0" y="152836"/>
                  </a:moveTo>
                  <a:lnTo>
                    <a:pt x="150921" y="152836"/>
                  </a:lnTo>
                </a:path>
                <a:path w="151129" h="252095">
                  <a:moveTo>
                    <a:pt x="25132" y="202325"/>
                  </a:moveTo>
                  <a:lnTo>
                    <a:pt x="125788" y="202325"/>
                  </a:lnTo>
                </a:path>
                <a:path w="151129" h="252095">
                  <a:moveTo>
                    <a:pt x="50391" y="251807"/>
                  </a:moveTo>
                  <a:lnTo>
                    <a:pt x="100656" y="251807"/>
                  </a:lnTo>
                </a:path>
                <a:path w="151129" h="252095">
                  <a:moveTo>
                    <a:pt x="75524" y="20885"/>
                  </a:moveTo>
                  <a:lnTo>
                    <a:pt x="75524" y="152836"/>
                  </a:lnTo>
                </a:path>
              </a:pathLst>
            </a:custGeom>
            <a:ln w="38083">
              <a:solidFill>
                <a:srgbClr val="000000"/>
              </a:solidFill>
            </a:ln>
          </p:spPr>
          <p:txBody>
            <a:bodyPr wrap="square" lIns="0" tIns="0" rIns="0" bIns="0" rtlCol="0"/>
            <a:lstStyle/>
            <a:p>
              <a:endParaRPr sz="2400"/>
            </a:p>
          </p:txBody>
        </p:sp>
        <p:sp>
          <p:nvSpPr>
            <p:cNvPr id="35" name="object 35"/>
            <p:cNvSpPr/>
            <p:nvPr/>
          </p:nvSpPr>
          <p:spPr>
            <a:xfrm>
              <a:off x="7011329" y="1682732"/>
              <a:ext cx="1330960" cy="1209675"/>
            </a:xfrm>
            <a:custGeom>
              <a:avLst/>
              <a:gdLst/>
              <a:ahLst/>
              <a:cxnLst/>
              <a:rect l="l" t="t" r="r" b="b"/>
              <a:pathLst>
                <a:path w="1330959" h="1209675">
                  <a:moveTo>
                    <a:pt x="1330874" y="239323"/>
                  </a:moveTo>
                  <a:lnTo>
                    <a:pt x="1330874" y="0"/>
                  </a:lnTo>
                </a:path>
                <a:path w="1330959" h="1209675">
                  <a:moveTo>
                    <a:pt x="979655" y="1209515"/>
                  </a:moveTo>
                  <a:lnTo>
                    <a:pt x="0" y="1209515"/>
                  </a:lnTo>
                </a:path>
                <a:path w="1330959" h="1209675">
                  <a:moveTo>
                    <a:pt x="737470" y="785779"/>
                  </a:moveTo>
                  <a:lnTo>
                    <a:pt x="768314" y="711735"/>
                  </a:lnTo>
                  <a:lnTo>
                    <a:pt x="830003" y="859823"/>
                  </a:lnTo>
                  <a:lnTo>
                    <a:pt x="891818" y="711735"/>
                  </a:lnTo>
                  <a:lnTo>
                    <a:pt x="953380" y="859823"/>
                  </a:lnTo>
                  <a:lnTo>
                    <a:pt x="1015069" y="711735"/>
                  </a:lnTo>
                  <a:lnTo>
                    <a:pt x="1076757" y="859823"/>
                  </a:lnTo>
                  <a:lnTo>
                    <a:pt x="1107602" y="785779"/>
                  </a:lnTo>
                </a:path>
              </a:pathLst>
            </a:custGeom>
            <a:ln w="44431">
              <a:solidFill>
                <a:srgbClr val="000000"/>
              </a:solidFill>
            </a:ln>
          </p:spPr>
          <p:txBody>
            <a:bodyPr wrap="square" lIns="0" tIns="0" rIns="0" bIns="0" rtlCol="0"/>
            <a:lstStyle/>
            <a:p>
              <a:endParaRPr sz="2400"/>
            </a:p>
          </p:txBody>
        </p:sp>
        <p:pic>
          <p:nvPicPr>
            <p:cNvPr id="36" name="object 36"/>
            <p:cNvPicPr/>
            <p:nvPr/>
          </p:nvPicPr>
          <p:blipFill>
            <a:blip r:embed="rId6" cstate="print"/>
            <a:stretch>
              <a:fillRect/>
            </a:stretch>
          </p:blipFill>
          <p:spPr>
            <a:xfrm>
              <a:off x="8118931" y="2409731"/>
              <a:ext cx="281663" cy="117561"/>
            </a:xfrm>
            <a:prstGeom prst="rect">
              <a:avLst/>
            </a:prstGeom>
          </p:spPr>
        </p:pic>
        <p:sp>
          <p:nvSpPr>
            <p:cNvPr id="37" name="object 37"/>
            <p:cNvSpPr/>
            <p:nvPr/>
          </p:nvSpPr>
          <p:spPr>
            <a:xfrm>
              <a:off x="6391650" y="2050553"/>
              <a:ext cx="1357630" cy="842010"/>
            </a:xfrm>
            <a:custGeom>
              <a:avLst/>
              <a:gdLst/>
              <a:ahLst/>
              <a:cxnLst/>
              <a:rect l="l" t="t" r="r" b="b"/>
              <a:pathLst>
                <a:path w="1357629" h="842010">
                  <a:moveTo>
                    <a:pt x="1357148" y="417958"/>
                  </a:moveTo>
                  <a:lnTo>
                    <a:pt x="1256619" y="417958"/>
                  </a:lnTo>
                </a:path>
                <a:path w="1357629" h="842010">
                  <a:moveTo>
                    <a:pt x="799666" y="303692"/>
                  </a:moveTo>
                  <a:lnTo>
                    <a:pt x="803272" y="282152"/>
                  </a:lnTo>
                  <a:lnTo>
                    <a:pt x="814803" y="264234"/>
                  </a:lnTo>
                  <a:lnTo>
                    <a:pt x="832474" y="251775"/>
                  </a:lnTo>
                  <a:lnTo>
                    <a:pt x="854501" y="246610"/>
                  </a:lnTo>
                  <a:lnTo>
                    <a:pt x="876938" y="250067"/>
                  </a:lnTo>
                  <a:lnTo>
                    <a:pt x="908532" y="278110"/>
                  </a:lnTo>
                  <a:lnTo>
                    <a:pt x="914031" y="302232"/>
                  </a:lnTo>
                  <a:lnTo>
                    <a:pt x="913905" y="303692"/>
                  </a:lnTo>
                  <a:lnTo>
                    <a:pt x="917510" y="282152"/>
                  </a:lnTo>
                  <a:lnTo>
                    <a:pt x="929041" y="264234"/>
                  </a:lnTo>
                  <a:lnTo>
                    <a:pt x="946712" y="251775"/>
                  </a:lnTo>
                  <a:lnTo>
                    <a:pt x="968739" y="246610"/>
                  </a:lnTo>
                  <a:lnTo>
                    <a:pt x="991176" y="250067"/>
                  </a:lnTo>
                  <a:lnTo>
                    <a:pt x="1022770" y="278110"/>
                  </a:lnTo>
                  <a:lnTo>
                    <a:pt x="1028270" y="302232"/>
                  </a:lnTo>
                  <a:lnTo>
                    <a:pt x="1028143" y="303692"/>
                  </a:lnTo>
                  <a:lnTo>
                    <a:pt x="1031748" y="282152"/>
                  </a:lnTo>
                  <a:lnTo>
                    <a:pt x="1043279" y="264234"/>
                  </a:lnTo>
                  <a:lnTo>
                    <a:pt x="1060950" y="251775"/>
                  </a:lnTo>
                  <a:lnTo>
                    <a:pt x="1082977" y="246610"/>
                  </a:lnTo>
                  <a:lnTo>
                    <a:pt x="1105414" y="250067"/>
                  </a:lnTo>
                  <a:lnTo>
                    <a:pt x="1137008" y="278110"/>
                  </a:lnTo>
                  <a:lnTo>
                    <a:pt x="1142508" y="302232"/>
                  </a:lnTo>
                  <a:lnTo>
                    <a:pt x="1142381" y="303692"/>
                  </a:lnTo>
                  <a:lnTo>
                    <a:pt x="1145986" y="282152"/>
                  </a:lnTo>
                  <a:lnTo>
                    <a:pt x="1157517" y="264234"/>
                  </a:lnTo>
                  <a:lnTo>
                    <a:pt x="1175189" y="251775"/>
                  </a:lnTo>
                  <a:lnTo>
                    <a:pt x="1197215" y="246610"/>
                  </a:lnTo>
                  <a:lnTo>
                    <a:pt x="1219652" y="250067"/>
                  </a:lnTo>
                  <a:lnTo>
                    <a:pt x="1251246" y="278110"/>
                  </a:lnTo>
                  <a:lnTo>
                    <a:pt x="1256746" y="302232"/>
                  </a:lnTo>
                  <a:lnTo>
                    <a:pt x="1256619" y="303692"/>
                  </a:lnTo>
                </a:path>
                <a:path w="1357629" h="842010">
                  <a:moveTo>
                    <a:pt x="799666" y="303692"/>
                  </a:moveTo>
                  <a:lnTo>
                    <a:pt x="799666" y="417958"/>
                  </a:lnTo>
                </a:path>
                <a:path w="1357629" h="842010">
                  <a:moveTo>
                    <a:pt x="1256619" y="303692"/>
                  </a:moveTo>
                  <a:lnTo>
                    <a:pt x="1256619" y="417958"/>
                  </a:lnTo>
                </a:path>
                <a:path w="1357629" h="842010">
                  <a:moveTo>
                    <a:pt x="0" y="303692"/>
                  </a:moveTo>
                  <a:lnTo>
                    <a:pt x="3605" y="282152"/>
                  </a:lnTo>
                  <a:lnTo>
                    <a:pt x="15136" y="264234"/>
                  </a:lnTo>
                  <a:lnTo>
                    <a:pt x="32807" y="251775"/>
                  </a:lnTo>
                  <a:lnTo>
                    <a:pt x="54834" y="246610"/>
                  </a:lnTo>
                  <a:lnTo>
                    <a:pt x="77271" y="250067"/>
                  </a:lnTo>
                  <a:lnTo>
                    <a:pt x="108865" y="278110"/>
                  </a:lnTo>
                  <a:lnTo>
                    <a:pt x="114365" y="302232"/>
                  </a:lnTo>
                  <a:lnTo>
                    <a:pt x="114238" y="303692"/>
                  </a:lnTo>
                  <a:lnTo>
                    <a:pt x="117843" y="282152"/>
                  </a:lnTo>
                  <a:lnTo>
                    <a:pt x="129374" y="264234"/>
                  </a:lnTo>
                  <a:lnTo>
                    <a:pt x="147045" y="251775"/>
                  </a:lnTo>
                  <a:lnTo>
                    <a:pt x="169072" y="246610"/>
                  </a:lnTo>
                  <a:lnTo>
                    <a:pt x="191509" y="250067"/>
                  </a:lnTo>
                  <a:lnTo>
                    <a:pt x="223103" y="278110"/>
                  </a:lnTo>
                  <a:lnTo>
                    <a:pt x="228603" y="302232"/>
                  </a:lnTo>
                  <a:lnTo>
                    <a:pt x="228476" y="303692"/>
                  </a:lnTo>
                  <a:lnTo>
                    <a:pt x="232081" y="282152"/>
                  </a:lnTo>
                  <a:lnTo>
                    <a:pt x="243612" y="264234"/>
                  </a:lnTo>
                  <a:lnTo>
                    <a:pt x="261284" y="251775"/>
                  </a:lnTo>
                  <a:lnTo>
                    <a:pt x="283310" y="246610"/>
                  </a:lnTo>
                  <a:lnTo>
                    <a:pt x="305747" y="250067"/>
                  </a:lnTo>
                  <a:lnTo>
                    <a:pt x="337341" y="278110"/>
                  </a:lnTo>
                  <a:lnTo>
                    <a:pt x="342841" y="302232"/>
                  </a:lnTo>
                  <a:lnTo>
                    <a:pt x="342714" y="303692"/>
                  </a:lnTo>
                  <a:lnTo>
                    <a:pt x="346320" y="282152"/>
                  </a:lnTo>
                  <a:lnTo>
                    <a:pt x="357850" y="264234"/>
                  </a:lnTo>
                  <a:lnTo>
                    <a:pt x="375522" y="251775"/>
                  </a:lnTo>
                  <a:lnTo>
                    <a:pt x="397548" y="246610"/>
                  </a:lnTo>
                  <a:lnTo>
                    <a:pt x="419985" y="250067"/>
                  </a:lnTo>
                  <a:lnTo>
                    <a:pt x="451579" y="278110"/>
                  </a:lnTo>
                  <a:lnTo>
                    <a:pt x="457079" y="302232"/>
                  </a:lnTo>
                  <a:lnTo>
                    <a:pt x="456952" y="303692"/>
                  </a:lnTo>
                </a:path>
                <a:path w="1357629" h="842010">
                  <a:moveTo>
                    <a:pt x="0" y="303692"/>
                  </a:moveTo>
                  <a:lnTo>
                    <a:pt x="0" y="417958"/>
                  </a:lnTo>
                </a:path>
                <a:path w="1357629" h="842010">
                  <a:moveTo>
                    <a:pt x="456952" y="303692"/>
                  </a:moveTo>
                  <a:lnTo>
                    <a:pt x="456952" y="417958"/>
                  </a:lnTo>
                </a:path>
                <a:path w="1357629" h="842010">
                  <a:moveTo>
                    <a:pt x="799666" y="417958"/>
                  </a:moveTo>
                  <a:lnTo>
                    <a:pt x="456952" y="417958"/>
                  </a:lnTo>
                </a:path>
                <a:path w="1357629" h="842010">
                  <a:moveTo>
                    <a:pt x="619678" y="841693"/>
                  </a:moveTo>
                  <a:lnTo>
                    <a:pt x="628309" y="0"/>
                  </a:lnTo>
                </a:path>
              </a:pathLst>
            </a:custGeom>
            <a:ln w="44431">
              <a:solidFill>
                <a:srgbClr val="000000"/>
              </a:solidFill>
            </a:ln>
          </p:spPr>
          <p:txBody>
            <a:bodyPr wrap="square" lIns="0" tIns="0" rIns="0" bIns="0" rtlCol="0"/>
            <a:lstStyle/>
            <a:p>
              <a:endParaRPr sz="2400"/>
            </a:p>
          </p:txBody>
        </p:sp>
        <p:pic>
          <p:nvPicPr>
            <p:cNvPr id="38" name="object 38"/>
            <p:cNvPicPr/>
            <p:nvPr/>
          </p:nvPicPr>
          <p:blipFill>
            <a:blip r:embed="rId7" cstate="print"/>
            <a:stretch>
              <a:fillRect/>
            </a:stretch>
          </p:blipFill>
          <p:spPr>
            <a:xfrm>
              <a:off x="6957126" y="2406075"/>
              <a:ext cx="117924" cy="117561"/>
            </a:xfrm>
            <a:prstGeom prst="rect">
              <a:avLst/>
            </a:prstGeom>
          </p:spPr>
        </p:pic>
        <p:sp>
          <p:nvSpPr>
            <p:cNvPr id="39" name="object 39"/>
            <p:cNvSpPr/>
            <p:nvPr/>
          </p:nvSpPr>
          <p:spPr>
            <a:xfrm>
              <a:off x="6194780" y="2468512"/>
              <a:ext cx="197485" cy="0"/>
            </a:xfrm>
            <a:custGeom>
              <a:avLst/>
              <a:gdLst/>
              <a:ahLst/>
              <a:cxnLst/>
              <a:rect l="l" t="t" r="r" b="b"/>
              <a:pathLst>
                <a:path w="197485">
                  <a:moveTo>
                    <a:pt x="196870" y="0"/>
                  </a:moveTo>
                  <a:lnTo>
                    <a:pt x="0" y="0"/>
                  </a:lnTo>
                </a:path>
              </a:pathLst>
            </a:custGeom>
            <a:ln w="44436">
              <a:solidFill>
                <a:srgbClr val="000000"/>
              </a:solidFill>
            </a:ln>
          </p:spPr>
          <p:txBody>
            <a:bodyPr wrap="square" lIns="0" tIns="0" rIns="0" bIns="0" rtlCol="0"/>
            <a:lstStyle/>
            <a:p>
              <a:endParaRPr sz="2400"/>
            </a:p>
          </p:txBody>
        </p:sp>
        <p:sp>
          <p:nvSpPr>
            <p:cNvPr id="40" name="object 40"/>
            <p:cNvSpPr/>
            <p:nvPr/>
          </p:nvSpPr>
          <p:spPr>
            <a:xfrm>
              <a:off x="6767367" y="2143562"/>
              <a:ext cx="538480" cy="92075"/>
            </a:xfrm>
            <a:custGeom>
              <a:avLst/>
              <a:gdLst/>
              <a:ahLst/>
              <a:cxnLst/>
              <a:rect l="l" t="t" r="r" b="b"/>
              <a:pathLst>
                <a:path w="538479" h="92075">
                  <a:moveTo>
                    <a:pt x="538188" y="80319"/>
                  </a:moveTo>
                  <a:lnTo>
                    <a:pt x="499240" y="55777"/>
                  </a:lnTo>
                  <a:lnTo>
                    <a:pt x="457078" y="35697"/>
                  </a:lnTo>
                  <a:lnTo>
                    <a:pt x="412346" y="20079"/>
                  </a:lnTo>
                  <a:lnTo>
                    <a:pt x="365684" y="8924"/>
                  </a:lnTo>
                  <a:lnTo>
                    <a:pt x="317735" y="2231"/>
                  </a:lnTo>
                  <a:lnTo>
                    <a:pt x="269141" y="0"/>
                  </a:lnTo>
                  <a:lnTo>
                    <a:pt x="220545" y="2231"/>
                  </a:lnTo>
                  <a:lnTo>
                    <a:pt x="172588" y="8924"/>
                  </a:lnTo>
                  <a:lnTo>
                    <a:pt x="125913" y="20079"/>
                  </a:lnTo>
                  <a:lnTo>
                    <a:pt x="81162" y="35697"/>
                  </a:lnTo>
                  <a:lnTo>
                    <a:pt x="38977" y="55777"/>
                  </a:lnTo>
                  <a:lnTo>
                    <a:pt x="0" y="80319"/>
                  </a:lnTo>
                </a:path>
                <a:path w="538479" h="92075">
                  <a:moveTo>
                    <a:pt x="466472" y="91987"/>
                  </a:moveTo>
                  <a:lnTo>
                    <a:pt x="538188" y="80319"/>
                  </a:lnTo>
                  <a:lnTo>
                    <a:pt x="526637" y="8547"/>
                  </a:lnTo>
                </a:path>
                <a:path w="538479" h="92075">
                  <a:moveTo>
                    <a:pt x="11677" y="8547"/>
                  </a:moveTo>
                  <a:lnTo>
                    <a:pt x="0" y="80319"/>
                  </a:lnTo>
                  <a:lnTo>
                    <a:pt x="71843" y="91987"/>
                  </a:lnTo>
                </a:path>
              </a:pathLst>
            </a:custGeom>
            <a:ln w="28562">
              <a:solidFill>
                <a:srgbClr val="000000"/>
              </a:solidFill>
            </a:ln>
          </p:spPr>
          <p:txBody>
            <a:bodyPr wrap="square" lIns="0" tIns="0" rIns="0" bIns="0" rtlCol="0"/>
            <a:lstStyle/>
            <a:p>
              <a:endParaRPr sz="2400"/>
            </a:p>
          </p:txBody>
        </p:sp>
        <p:sp>
          <p:nvSpPr>
            <p:cNvPr id="41" name="object 41"/>
            <p:cNvSpPr/>
            <p:nvPr/>
          </p:nvSpPr>
          <p:spPr>
            <a:xfrm>
              <a:off x="6032054" y="1920532"/>
              <a:ext cx="2533650" cy="548005"/>
            </a:xfrm>
            <a:custGeom>
              <a:avLst/>
              <a:gdLst/>
              <a:ahLst/>
              <a:cxnLst/>
              <a:rect l="l" t="t" r="r" b="b"/>
              <a:pathLst>
                <a:path w="2533650" h="548005">
                  <a:moveTo>
                    <a:pt x="2533547" y="547980"/>
                  </a:moveTo>
                  <a:lnTo>
                    <a:pt x="2310148" y="547980"/>
                  </a:lnTo>
                </a:path>
                <a:path w="2533650" h="548005">
                  <a:moveTo>
                    <a:pt x="0" y="0"/>
                  </a:moveTo>
                  <a:lnTo>
                    <a:pt x="123250" y="0"/>
                  </a:lnTo>
                </a:path>
              </a:pathLst>
            </a:custGeom>
            <a:ln w="44431">
              <a:solidFill>
                <a:srgbClr val="000000"/>
              </a:solidFill>
            </a:ln>
          </p:spPr>
          <p:txBody>
            <a:bodyPr wrap="square" lIns="0" tIns="0" rIns="0" bIns="0" rtlCol="0"/>
            <a:lstStyle/>
            <a:p>
              <a:endParaRPr sz="2400"/>
            </a:p>
          </p:txBody>
        </p:sp>
        <p:sp>
          <p:nvSpPr>
            <p:cNvPr id="42" name="object 42"/>
            <p:cNvSpPr/>
            <p:nvPr/>
          </p:nvSpPr>
          <p:spPr>
            <a:xfrm>
              <a:off x="5811825" y="1844103"/>
              <a:ext cx="239395" cy="334010"/>
            </a:xfrm>
            <a:custGeom>
              <a:avLst/>
              <a:gdLst/>
              <a:ahLst/>
              <a:cxnLst/>
              <a:rect l="l" t="t" r="r" b="b"/>
              <a:pathLst>
                <a:path w="239395" h="334010">
                  <a:moveTo>
                    <a:pt x="44424" y="76403"/>
                  </a:moveTo>
                  <a:lnTo>
                    <a:pt x="0" y="76403"/>
                  </a:lnTo>
                  <a:lnTo>
                    <a:pt x="0" y="333489"/>
                  </a:lnTo>
                  <a:lnTo>
                    <a:pt x="44424" y="333489"/>
                  </a:lnTo>
                  <a:lnTo>
                    <a:pt x="44424" y="76403"/>
                  </a:lnTo>
                  <a:close/>
                </a:path>
                <a:path w="239395" h="334010">
                  <a:moveTo>
                    <a:pt x="239268" y="0"/>
                  </a:moveTo>
                  <a:lnTo>
                    <a:pt x="86436" y="76428"/>
                  </a:lnTo>
                  <a:lnTo>
                    <a:pt x="239268" y="152869"/>
                  </a:lnTo>
                  <a:lnTo>
                    <a:pt x="239268" y="0"/>
                  </a:lnTo>
                  <a:close/>
                </a:path>
              </a:pathLst>
            </a:custGeom>
            <a:solidFill>
              <a:srgbClr val="000000"/>
            </a:solidFill>
          </p:spPr>
          <p:txBody>
            <a:bodyPr wrap="square" lIns="0" tIns="0" rIns="0" bIns="0" rtlCol="0"/>
            <a:lstStyle/>
            <a:p>
              <a:endParaRPr sz="2400"/>
            </a:p>
          </p:txBody>
        </p:sp>
        <p:sp>
          <p:nvSpPr>
            <p:cNvPr id="43" name="object 43"/>
            <p:cNvSpPr/>
            <p:nvPr/>
          </p:nvSpPr>
          <p:spPr>
            <a:xfrm>
              <a:off x="5898269" y="2177591"/>
              <a:ext cx="248920" cy="0"/>
            </a:xfrm>
            <a:custGeom>
              <a:avLst/>
              <a:gdLst/>
              <a:ahLst/>
              <a:cxnLst/>
              <a:rect l="l" t="t" r="r" b="b"/>
              <a:pathLst>
                <a:path w="248920">
                  <a:moveTo>
                    <a:pt x="248531" y="0"/>
                  </a:moveTo>
                  <a:lnTo>
                    <a:pt x="0" y="0"/>
                  </a:lnTo>
                </a:path>
              </a:pathLst>
            </a:custGeom>
            <a:ln w="44436">
              <a:solidFill>
                <a:srgbClr val="000000"/>
              </a:solidFill>
            </a:ln>
          </p:spPr>
          <p:txBody>
            <a:bodyPr wrap="square" lIns="0" tIns="0" rIns="0" bIns="0" rtlCol="0"/>
            <a:lstStyle/>
            <a:p>
              <a:endParaRPr sz="2400"/>
            </a:p>
          </p:txBody>
        </p:sp>
        <p:sp>
          <p:nvSpPr>
            <p:cNvPr id="44" name="object 44"/>
            <p:cNvSpPr/>
            <p:nvPr/>
          </p:nvSpPr>
          <p:spPr>
            <a:xfrm>
              <a:off x="5876056" y="1856213"/>
              <a:ext cx="44450" cy="386080"/>
            </a:xfrm>
            <a:custGeom>
              <a:avLst/>
              <a:gdLst/>
              <a:ahLst/>
              <a:cxnLst/>
              <a:rect l="l" t="t" r="r" b="b"/>
              <a:pathLst>
                <a:path w="44450" h="386080">
                  <a:moveTo>
                    <a:pt x="44425" y="0"/>
                  </a:moveTo>
                  <a:lnTo>
                    <a:pt x="0" y="0"/>
                  </a:lnTo>
                  <a:lnTo>
                    <a:pt x="0" y="385646"/>
                  </a:lnTo>
                  <a:lnTo>
                    <a:pt x="44425" y="385646"/>
                  </a:lnTo>
                  <a:lnTo>
                    <a:pt x="44425" y="0"/>
                  </a:lnTo>
                  <a:close/>
                </a:path>
              </a:pathLst>
            </a:custGeom>
            <a:solidFill>
              <a:srgbClr val="000000"/>
            </a:solidFill>
          </p:spPr>
          <p:txBody>
            <a:bodyPr wrap="square" lIns="0" tIns="0" rIns="0" bIns="0" rtlCol="0"/>
            <a:lstStyle/>
            <a:p>
              <a:endParaRPr sz="2400"/>
            </a:p>
          </p:txBody>
        </p:sp>
        <p:sp>
          <p:nvSpPr>
            <p:cNvPr id="45" name="object 45"/>
            <p:cNvSpPr/>
            <p:nvPr/>
          </p:nvSpPr>
          <p:spPr>
            <a:xfrm>
              <a:off x="5307531" y="2049042"/>
              <a:ext cx="848360" cy="713740"/>
            </a:xfrm>
            <a:custGeom>
              <a:avLst/>
              <a:gdLst/>
              <a:ahLst/>
              <a:cxnLst/>
              <a:rect l="l" t="t" r="r" b="b"/>
              <a:pathLst>
                <a:path w="848360" h="713739">
                  <a:moveTo>
                    <a:pt x="423315" y="0"/>
                  </a:moveTo>
                  <a:lnTo>
                    <a:pt x="0" y="0"/>
                  </a:lnTo>
                </a:path>
                <a:path w="848360" h="713739">
                  <a:moveTo>
                    <a:pt x="847773" y="129044"/>
                  </a:moveTo>
                  <a:lnTo>
                    <a:pt x="847773" y="586360"/>
                  </a:lnTo>
                </a:path>
                <a:path w="848360" h="713739">
                  <a:moveTo>
                    <a:pt x="847900" y="713132"/>
                  </a:moveTo>
                  <a:lnTo>
                    <a:pt x="847900" y="584583"/>
                  </a:lnTo>
                </a:path>
                <a:path w="848360" h="713739">
                  <a:moveTo>
                    <a:pt x="590864" y="713132"/>
                  </a:moveTo>
                  <a:lnTo>
                    <a:pt x="847900" y="713132"/>
                  </a:lnTo>
                </a:path>
              </a:pathLst>
            </a:custGeom>
            <a:ln w="44431">
              <a:solidFill>
                <a:srgbClr val="000000"/>
              </a:solidFill>
            </a:ln>
          </p:spPr>
          <p:txBody>
            <a:bodyPr wrap="square" lIns="0" tIns="0" rIns="0" bIns="0" rtlCol="0"/>
            <a:lstStyle/>
            <a:p>
              <a:endParaRPr sz="2400"/>
            </a:p>
          </p:txBody>
        </p:sp>
        <p:sp>
          <p:nvSpPr>
            <p:cNvPr id="46" name="object 46"/>
            <p:cNvSpPr/>
            <p:nvPr/>
          </p:nvSpPr>
          <p:spPr>
            <a:xfrm>
              <a:off x="5811955" y="2762175"/>
              <a:ext cx="44450" cy="257175"/>
            </a:xfrm>
            <a:custGeom>
              <a:avLst/>
              <a:gdLst/>
              <a:ahLst/>
              <a:cxnLst/>
              <a:rect l="l" t="t" r="r" b="b"/>
              <a:pathLst>
                <a:path w="44450" h="257175">
                  <a:moveTo>
                    <a:pt x="44425" y="0"/>
                  </a:moveTo>
                  <a:lnTo>
                    <a:pt x="0" y="0"/>
                  </a:lnTo>
                  <a:lnTo>
                    <a:pt x="0" y="257097"/>
                  </a:lnTo>
                  <a:lnTo>
                    <a:pt x="44425" y="257097"/>
                  </a:lnTo>
                  <a:lnTo>
                    <a:pt x="44425" y="0"/>
                  </a:lnTo>
                  <a:close/>
                </a:path>
              </a:pathLst>
            </a:custGeom>
            <a:solidFill>
              <a:srgbClr val="000000"/>
            </a:solidFill>
          </p:spPr>
          <p:txBody>
            <a:bodyPr wrap="square" lIns="0" tIns="0" rIns="0" bIns="0" rtlCol="0"/>
            <a:lstStyle/>
            <a:p>
              <a:endParaRPr sz="2400"/>
            </a:p>
          </p:txBody>
        </p:sp>
        <p:sp>
          <p:nvSpPr>
            <p:cNvPr id="47" name="object 47"/>
            <p:cNvSpPr/>
            <p:nvPr/>
          </p:nvSpPr>
          <p:spPr>
            <a:xfrm>
              <a:off x="5898396" y="3019273"/>
              <a:ext cx="100965" cy="0"/>
            </a:xfrm>
            <a:custGeom>
              <a:avLst/>
              <a:gdLst/>
              <a:ahLst/>
              <a:cxnLst/>
              <a:rect l="l" t="t" r="r" b="b"/>
              <a:pathLst>
                <a:path w="100964">
                  <a:moveTo>
                    <a:pt x="100529" y="0"/>
                  </a:moveTo>
                  <a:lnTo>
                    <a:pt x="0" y="0"/>
                  </a:lnTo>
                </a:path>
              </a:pathLst>
            </a:custGeom>
            <a:ln w="44436">
              <a:solidFill>
                <a:srgbClr val="000000"/>
              </a:solidFill>
            </a:ln>
          </p:spPr>
          <p:txBody>
            <a:bodyPr wrap="square" lIns="0" tIns="0" rIns="0" bIns="0" rtlCol="0"/>
            <a:lstStyle/>
            <a:p>
              <a:endParaRPr sz="2400"/>
            </a:p>
          </p:txBody>
        </p:sp>
        <p:sp>
          <p:nvSpPr>
            <p:cNvPr id="48" name="object 48"/>
            <p:cNvSpPr/>
            <p:nvPr/>
          </p:nvSpPr>
          <p:spPr>
            <a:xfrm>
              <a:off x="5876176" y="2697911"/>
              <a:ext cx="295275" cy="386080"/>
            </a:xfrm>
            <a:custGeom>
              <a:avLst/>
              <a:gdLst/>
              <a:ahLst/>
              <a:cxnLst/>
              <a:rect l="l" t="t" r="r" b="b"/>
              <a:pathLst>
                <a:path w="295275" h="386080">
                  <a:moveTo>
                    <a:pt x="44424" y="0"/>
                  </a:moveTo>
                  <a:lnTo>
                    <a:pt x="0" y="0"/>
                  </a:lnTo>
                  <a:lnTo>
                    <a:pt x="0" y="385648"/>
                  </a:lnTo>
                  <a:lnTo>
                    <a:pt x="44424" y="385648"/>
                  </a:lnTo>
                  <a:lnTo>
                    <a:pt x="44424" y="0"/>
                  </a:lnTo>
                  <a:close/>
                </a:path>
                <a:path w="295275" h="386080">
                  <a:moveTo>
                    <a:pt x="295109" y="321373"/>
                  </a:moveTo>
                  <a:lnTo>
                    <a:pt x="107010" y="258648"/>
                  </a:lnTo>
                  <a:lnTo>
                    <a:pt x="107010" y="384086"/>
                  </a:lnTo>
                  <a:lnTo>
                    <a:pt x="295109" y="321373"/>
                  </a:lnTo>
                  <a:close/>
                </a:path>
              </a:pathLst>
            </a:custGeom>
            <a:solidFill>
              <a:srgbClr val="000000"/>
            </a:solidFill>
          </p:spPr>
          <p:txBody>
            <a:bodyPr wrap="square" lIns="0" tIns="0" rIns="0" bIns="0" rtlCol="0"/>
            <a:lstStyle/>
            <a:p>
              <a:endParaRPr sz="2400"/>
            </a:p>
          </p:txBody>
        </p:sp>
        <p:sp>
          <p:nvSpPr>
            <p:cNvPr id="49" name="object 49"/>
            <p:cNvSpPr/>
            <p:nvPr/>
          </p:nvSpPr>
          <p:spPr>
            <a:xfrm>
              <a:off x="5641360" y="2762175"/>
              <a:ext cx="514350" cy="404495"/>
            </a:xfrm>
            <a:custGeom>
              <a:avLst/>
              <a:gdLst/>
              <a:ahLst/>
              <a:cxnLst/>
              <a:rect l="l" t="t" r="r" b="b"/>
              <a:pathLst>
                <a:path w="514350" h="404494">
                  <a:moveTo>
                    <a:pt x="192808" y="128548"/>
                  </a:moveTo>
                  <a:lnTo>
                    <a:pt x="0" y="128548"/>
                  </a:lnTo>
                </a:path>
                <a:path w="514350" h="404494">
                  <a:moveTo>
                    <a:pt x="514071" y="275951"/>
                  </a:moveTo>
                  <a:lnTo>
                    <a:pt x="514071" y="404500"/>
                  </a:lnTo>
                </a:path>
                <a:path w="514350" h="404494">
                  <a:moveTo>
                    <a:pt x="514071" y="0"/>
                  </a:moveTo>
                  <a:lnTo>
                    <a:pt x="274044" y="0"/>
                  </a:lnTo>
                </a:path>
              </a:pathLst>
            </a:custGeom>
            <a:ln w="44431">
              <a:solidFill>
                <a:srgbClr val="000000"/>
              </a:solidFill>
            </a:ln>
          </p:spPr>
          <p:txBody>
            <a:bodyPr wrap="square" lIns="0" tIns="0" rIns="0" bIns="0" rtlCol="0"/>
            <a:lstStyle/>
            <a:p>
              <a:endParaRPr sz="2400"/>
            </a:p>
          </p:txBody>
        </p:sp>
        <p:pic>
          <p:nvPicPr>
            <p:cNvPr id="50" name="object 50"/>
            <p:cNvPicPr/>
            <p:nvPr/>
          </p:nvPicPr>
          <p:blipFill>
            <a:blip r:embed="rId8" cstate="print"/>
            <a:stretch>
              <a:fillRect/>
            </a:stretch>
          </p:blipFill>
          <p:spPr>
            <a:xfrm>
              <a:off x="5711550" y="1989220"/>
              <a:ext cx="111577" cy="111163"/>
            </a:xfrm>
            <a:prstGeom prst="rect">
              <a:avLst/>
            </a:prstGeom>
          </p:spPr>
        </p:pic>
        <p:sp>
          <p:nvSpPr>
            <p:cNvPr id="51" name="object 51"/>
            <p:cNvSpPr/>
            <p:nvPr/>
          </p:nvSpPr>
          <p:spPr>
            <a:xfrm>
              <a:off x="6079907" y="3031969"/>
              <a:ext cx="151130" cy="252095"/>
            </a:xfrm>
            <a:custGeom>
              <a:avLst/>
              <a:gdLst/>
              <a:ahLst/>
              <a:cxnLst/>
              <a:rect l="l" t="t" r="r" b="b"/>
              <a:pathLst>
                <a:path w="151129" h="252095">
                  <a:moveTo>
                    <a:pt x="75524" y="89165"/>
                  </a:moveTo>
                  <a:lnTo>
                    <a:pt x="75524" y="0"/>
                  </a:lnTo>
                </a:path>
                <a:path w="151129" h="252095">
                  <a:moveTo>
                    <a:pt x="0" y="152836"/>
                  </a:moveTo>
                  <a:lnTo>
                    <a:pt x="150921" y="152836"/>
                  </a:lnTo>
                </a:path>
                <a:path w="151129" h="252095">
                  <a:moveTo>
                    <a:pt x="25132" y="202325"/>
                  </a:moveTo>
                  <a:lnTo>
                    <a:pt x="125788" y="202325"/>
                  </a:lnTo>
                </a:path>
                <a:path w="151129" h="252095">
                  <a:moveTo>
                    <a:pt x="50264" y="251807"/>
                  </a:moveTo>
                  <a:lnTo>
                    <a:pt x="100656" y="251807"/>
                  </a:lnTo>
                </a:path>
                <a:path w="151129" h="252095">
                  <a:moveTo>
                    <a:pt x="75524" y="20885"/>
                  </a:moveTo>
                  <a:lnTo>
                    <a:pt x="75524" y="152836"/>
                  </a:lnTo>
                </a:path>
              </a:pathLst>
            </a:custGeom>
            <a:ln w="38083">
              <a:solidFill>
                <a:srgbClr val="000000"/>
              </a:solidFill>
            </a:ln>
          </p:spPr>
          <p:txBody>
            <a:bodyPr wrap="square" lIns="0" tIns="0" rIns="0" bIns="0" rtlCol="0"/>
            <a:lstStyle/>
            <a:p>
              <a:endParaRPr sz="2400"/>
            </a:p>
          </p:txBody>
        </p:sp>
        <p:sp>
          <p:nvSpPr>
            <p:cNvPr id="52" name="object 52"/>
            <p:cNvSpPr/>
            <p:nvPr/>
          </p:nvSpPr>
          <p:spPr>
            <a:xfrm>
              <a:off x="5298772" y="1354789"/>
              <a:ext cx="856615" cy="1536065"/>
            </a:xfrm>
            <a:custGeom>
              <a:avLst/>
              <a:gdLst/>
              <a:ahLst/>
              <a:cxnLst/>
              <a:rect l="l" t="t" r="r" b="b"/>
              <a:pathLst>
                <a:path w="856614" h="1536064">
                  <a:moveTo>
                    <a:pt x="856532" y="565742"/>
                  </a:moveTo>
                  <a:lnTo>
                    <a:pt x="856532" y="0"/>
                  </a:lnTo>
                </a:path>
                <a:path w="856614" h="1536064">
                  <a:moveTo>
                    <a:pt x="505313" y="1535934"/>
                  </a:moveTo>
                  <a:lnTo>
                    <a:pt x="0" y="1535934"/>
                  </a:lnTo>
                </a:path>
              </a:pathLst>
            </a:custGeom>
            <a:ln w="44431">
              <a:solidFill>
                <a:srgbClr val="000000"/>
              </a:solidFill>
            </a:ln>
          </p:spPr>
          <p:txBody>
            <a:bodyPr wrap="square" lIns="0" tIns="0" rIns="0" bIns="0" rtlCol="0"/>
            <a:lstStyle/>
            <a:p>
              <a:endParaRPr sz="2400"/>
            </a:p>
          </p:txBody>
        </p:sp>
        <p:pic>
          <p:nvPicPr>
            <p:cNvPr id="53" name="object 53"/>
            <p:cNvPicPr/>
            <p:nvPr/>
          </p:nvPicPr>
          <p:blipFill>
            <a:blip r:embed="rId9" cstate="print"/>
            <a:stretch>
              <a:fillRect/>
            </a:stretch>
          </p:blipFill>
          <p:spPr>
            <a:xfrm>
              <a:off x="6095771" y="2408220"/>
              <a:ext cx="117924" cy="117561"/>
            </a:xfrm>
            <a:prstGeom prst="rect">
              <a:avLst/>
            </a:prstGeom>
          </p:spPr>
        </p:pic>
        <p:sp>
          <p:nvSpPr>
            <p:cNvPr id="54" name="object 54"/>
            <p:cNvSpPr/>
            <p:nvPr/>
          </p:nvSpPr>
          <p:spPr>
            <a:xfrm>
              <a:off x="5298772" y="2049042"/>
              <a:ext cx="8890" cy="842010"/>
            </a:xfrm>
            <a:custGeom>
              <a:avLst/>
              <a:gdLst/>
              <a:ahLst/>
              <a:cxnLst/>
              <a:rect l="l" t="t" r="r" b="b"/>
              <a:pathLst>
                <a:path w="8889" h="842010">
                  <a:moveTo>
                    <a:pt x="0" y="841681"/>
                  </a:moveTo>
                  <a:lnTo>
                    <a:pt x="8758" y="0"/>
                  </a:lnTo>
                </a:path>
              </a:pathLst>
            </a:custGeom>
            <a:ln w="44425">
              <a:solidFill>
                <a:srgbClr val="000000"/>
              </a:solidFill>
            </a:ln>
          </p:spPr>
          <p:txBody>
            <a:bodyPr wrap="square" lIns="0" tIns="0" rIns="0" bIns="0" rtlCol="0"/>
            <a:lstStyle/>
            <a:p>
              <a:endParaRPr sz="2400"/>
            </a:p>
          </p:txBody>
        </p:sp>
        <p:pic>
          <p:nvPicPr>
            <p:cNvPr id="55" name="object 55"/>
            <p:cNvPicPr/>
            <p:nvPr/>
          </p:nvPicPr>
          <p:blipFill>
            <a:blip r:embed="rId10" cstate="print"/>
            <a:stretch>
              <a:fillRect/>
            </a:stretch>
          </p:blipFill>
          <p:spPr>
            <a:xfrm>
              <a:off x="5244570" y="2404564"/>
              <a:ext cx="117924" cy="117561"/>
            </a:xfrm>
            <a:prstGeom prst="rect">
              <a:avLst/>
            </a:prstGeom>
          </p:spPr>
        </p:pic>
        <p:sp>
          <p:nvSpPr>
            <p:cNvPr id="56" name="object 56"/>
            <p:cNvSpPr/>
            <p:nvPr/>
          </p:nvSpPr>
          <p:spPr>
            <a:xfrm>
              <a:off x="5046814" y="1682732"/>
              <a:ext cx="3295650" cy="0"/>
            </a:xfrm>
            <a:custGeom>
              <a:avLst/>
              <a:gdLst/>
              <a:ahLst/>
              <a:cxnLst/>
              <a:rect l="l" t="t" r="r" b="b"/>
              <a:pathLst>
                <a:path w="3295650">
                  <a:moveTo>
                    <a:pt x="3295389" y="0"/>
                  </a:moveTo>
                  <a:lnTo>
                    <a:pt x="0" y="0"/>
                  </a:lnTo>
                </a:path>
              </a:pathLst>
            </a:custGeom>
            <a:ln w="44436">
              <a:solidFill>
                <a:srgbClr val="000000"/>
              </a:solidFill>
            </a:ln>
          </p:spPr>
          <p:txBody>
            <a:bodyPr wrap="square" lIns="0" tIns="0" rIns="0" bIns="0" rtlCol="0"/>
            <a:lstStyle/>
            <a:p>
              <a:endParaRPr sz="2400"/>
            </a:p>
          </p:txBody>
        </p:sp>
      </p:grpSp>
      <p:sp>
        <p:nvSpPr>
          <p:cNvPr id="57" name="object 57"/>
          <p:cNvSpPr txBox="1"/>
          <p:nvPr/>
        </p:nvSpPr>
        <p:spPr>
          <a:xfrm>
            <a:off x="7368989" y="1405695"/>
            <a:ext cx="1706033" cy="314680"/>
          </a:xfrm>
          <a:prstGeom prst="rect">
            <a:avLst/>
          </a:prstGeom>
          <a:ln w="38088">
            <a:solidFill>
              <a:srgbClr val="000000"/>
            </a:solidFill>
          </a:ln>
        </p:spPr>
        <p:txBody>
          <a:bodyPr vert="horz" wrap="square" lIns="0" tIns="27093" rIns="0" bIns="0" rtlCol="0">
            <a:spAutoFit/>
          </a:bodyPr>
          <a:lstStyle/>
          <a:p>
            <a:pPr marL="307331">
              <a:spcBef>
                <a:spcPts val="213"/>
              </a:spcBef>
            </a:pPr>
            <a:r>
              <a:rPr sz="1867" b="1" spc="-13" dirty="0">
                <a:latin typeface="Arial"/>
                <a:cs typeface="Arial"/>
              </a:rPr>
              <a:t>Regulator</a:t>
            </a:r>
            <a:endParaRPr sz="1867">
              <a:latin typeface="Arial"/>
              <a:cs typeface="Arial"/>
            </a:endParaRPr>
          </a:p>
        </p:txBody>
      </p:sp>
      <p:grpSp>
        <p:nvGrpSpPr>
          <p:cNvPr id="58" name="object 58"/>
          <p:cNvGrpSpPr/>
          <p:nvPr/>
        </p:nvGrpSpPr>
        <p:grpSpPr>
          <a:xfrm>
            <a:off x="8030553" y="1126378"/>
            <a:ext cx="355600" cy="270933"/>
            <a:chOff x="6022915" y="844783"/>
            <a:chExt cx="266700" cy="203200"/>
          </a:xfrm>
        </p:grpSpPr>
        <p:sp>
          <p:nvSpPr>
            <p:cNvPr id="59" name="object 59"/>
            <p:cNvSpPr/>
            <p:nvPr/>
          </p:nvSpPr>
          <p:spPr>
            <a:xfrm>
              <a:off x="6155304" y="882872"/>
              <a:ext cx="0" cy="165100"/>
            </a:xfrm>
            <a:custGeom>
              <a:avLst/>
              <a:gdLst/>
              <a:ahLst/>
              <a:cxnLst/>
              <a:rect l="l" t="t" r="r" b="b"/>
              <a:pathLst>
                <a:path h="165100">
                  <a:moveTo>
                    <a:pt x="0" y="164923"/>
                  </a:moveTo>
                  <a:lnTo>
                    <a:pt x="0" y="0"/>
                  </a:lnTo>
                </a:path>
              </a:pathLst>
            </a:custGeom>
            <a:ln w="44425">
              <a:solidFill>
                <a:srgbClr val="000000"/>
              </a:solidFill>
            </a:ln>
          </p:spPr>
          <p:txBody>
            <a:bodyPr wrap="square" lIns="0" tIns="0" rIns="0" bIns="0" rtlCol="0"/>
            <a:lstStyle/>
            <a:p>
              <a:endParaRPr sz="2400"/>
            </a:p>
          </p:txBody>
        </p:sp>
        <p:sp>
          <p:nvSpPr>
            <p:cNvPr id="60" name="object 60"/>
            <p:cNvSpPr/>
            <p:nvPr/>
          </p:nvSpPr>
          <p:spPr>
            <a:xfrm>
              <a:off x="6022915" y="844783"/>
              <a:ext cx="266700" cy="76200"/>
            </a:xfrm>
            <a:custGeom>
              <a:avLst/>
              <a:gdLst/>
              <a:ahLst/>
              <a:cxnLst/>
              <a:rect l="l" t="t" r="r" b="b"/>
              <a:pathLst>
                <a:path w="266700" h="76200">
                  <a:moveTo>
                    <a:pt x="266111" y="0"/>
                  </a:moveTo>
                  <a:lnTo>
                    <a:pt x="0" y="0"/>
                  </a:lnTo>
                  <a:lnTo>
                    <a:pt x="0" y="76177"/>
                  </a:lnTo>
                  <a:lnTo>
                    <a:pt x="266111" y="76177"/>
                  </a:lnTo>
                  <a:lnTo>
                    <a:pt x="266111" y="0"/>
                  </a:lnTo>
                  <a:close/>
                </a:path>
              </a:pathLst>
            </a:custGeom>
            <a:solidFill>
              <a:srgbClr val="000000"/>
            </a:solidFill>
          </p:spPr>
          <p:txBody>
            <a:bodyPr wrap="square" lIns="0" tIns="0" rIns="0" bIns="0" rtlCol="0"/>
            <a:lstStyle/>
            <a:p>
              <a:endParaRPr sz="2400"/>
            </a:p>
          </p:txBody>
        </p:sp>
      </p:grpSp>
      <p:sp>
        <p:nvSpPr>
          <p:cNvPr id="61" name="object 61"/>
          <p:cNvSpPr txBox="1"/>
          <p:nvPr/>
        </p:nvSpPr>
        <p:spPr>
          <a:xfrm>
            <a:off x="8296593" y="1869523"/>
            <a:ext cx="525780" cy="309551"/>
          </a:xfrm>
          <a:prstGeom prst="rect">
            <a:avLst/>
          </a:prstGeom>
        </p:spPr>
        <p:txBody>
          <a:bodyPr vert="horz" wrap="square" lIns="0" tIns="22013" rIns="0" bIns="0" rtlCol="0">
            <a:spAutoFit/>
          </a:bodyPr>
          <a:lstStyle/>
          <a:p>
            <a:pPr marL="16933">
              <a:spcBef>
                <a:spcPts val="173"/>
              </a:spcBef>
            </a:pPr>
            <a:r>
              <a:rPr sz="1867" b="1" spc="-27" dirty="0">
                <a:latin typeface="Arial"/>
                <a:cs typeface="Arial"/>
              </a:rPr>
              <a:t>0.9V</a:t>
            </a:r>
            <a:endParaRPr sz="1867">
              <a:latin typeface="Arial"/>
              <a:cs typeface="Arial"/>
            </a:endParaRPr>
          </a:p>
        </p:txBody>
      </p:sp>
      <p:sp>
        <p:nvSpPr>
          <p:cNvPr id="62" name="object 62"/>
          <p:cNvSpPr txBox="1"/>
          <p:nvPr/>
        </p:nvSpPr>
        <p:spPr>
          <a:xfrm>
            <a:off x="8487835" y="1028698"/>
            <a:ext cx="525780" cy="309551"/>
          </a:xfrm>
          <a:prstGeom prst="rect">
            <a:avLst/>
          </a:prstGeom>
        </p:spPr>
        <p:txBody>
          <a:bodyPr vert="horz" wrap="square" lIns="0" tIns="22013" rIns="0" bIns="0" rtlCol="0">
            <a:spAutoFit/>
          </a:bodyPr>
          <a:lstStyle/>
          <a:p>
            <a:pPr marL="16933">
              <a:spcBef>
                <a:spcPts val="173"/>
              </a:spcBef>
            </a:pPr>
            <a:r>
              <a:rPr sz="1867" b="1" spc="-27" dirty="0">
                <a:latin typeface="Arial"/>
                <a:cs typeface="Arial"/>
              </a:rPr>
              <a:t>1.2V</a:t>
            </a:r>
            <a:endParaRPr sz="1867">
              <a:latin typeface="Arial"/>
              <a:cs typeface="Arial"/>
            </a:endParaRPr>
          </a:p>
        </p:txBody>
      </p:sp>
      <p:grpSp>
        <p:nvGrpSpPr>
          <p:cNvPr id="63" name="object 63"/>
          <p:cNvGrpSpPr/>
          <p:nvPr/>
        </p:nvGrpSpPr>
        <p:grpSpPr>
          <a:xfrm>
            <a:off x="1337797" y="1825854"/>
            <a:ext cx="10204873" cy="2024380"/>
            <a:chOff x="1003347" y="1369390"/>
            <a:chExt cx="7653655" cy="1518285"/>
          </a:xfrm>
        </p:grpSpPr>
        <p:sp>
          <p:nvSpPr>
            <p:cNvPr id="64" name="object 64"/>
            <p:cNvSpPr/>
            <p:nvPr/>
          </p:nvSpPr>
          <p:spPr>
            <a:xfrm>
              <a:off x="1563528" y="2469007"/>
              <a:ext cx="207010" cy="0"/>
            </a:xfrm>
            <a:custGeom>
              <a:avLst/>
              <a:gdLst/>
              <a:ahLst/>
              <a:cxnLst/>
              <a:rect l="l" t="t" r="r" b="b"/>
              <a:pathLst>
                <a:path w="207010">
                  <a:moveTo>
                    <a:pt x="0" y="0"/>
                  </a:moveTo>
                  <a:lnTo>
                    <a:pt x="206974" y="0"/>
                  </a:lnTo>
                </a:path>
              </a:pathLst>
            </a:custGeom>
            <a:ln w="44436">
              <a:solidFill>
                <a:srgbClr val="FF0000"/>
              </a:solidFill>
            </a:ln>
          </p:spPr>
          <p:txBody>
            <a:bodyPr wrap="square" lIns="0" tIns="0" rIns="0" bIns="0" rtlCol="0"/>
            <a:lstStyle/>
            <a:p>
              <a:endParaRPr sz="2400"/>
            </a:p>
          </p:txBody>
        </p:sp>
        <p:sp>
          <p:nvSpPr>
            <p:cNvPr id="65" name="object 65"/>
            <p:cNvSpPr/>
            <p:nvPr/>
          </p:nvSpPr>
          <p:spPr>
            <a:xfrm>
              <a:off x="1362596" y="1800806"/>
              <a:ext cx="402590" cy="402590"/>
            </a:xfrm>
            <a:custGeom>
              <a:avLst/>
              <a:gdLst/>
              <a:ahLst/>
              <a:cxnLst/>
              <a:rect l="l" t="t" r="r" b="b"/>
              <a:pathLst>
                <a:path w="402589" h="402589">
                  <a:moveTo>
                    <a:pt x="402143" y="402215"/>
                  </a:moveTo>
                  <a:lnTo>
                    <a:pt x="201071" y="0"/>
                  </a:lnTo>
                  <a:lnTo>
                    <a:pt x="0" y="402215"/>
                  </a:lnTo>
                  <a:lnTo>
                    <a:pt x="402143" y="402215"/>
                  </a:lnTo>
                  <a:close/>
                </a:path>
              </a:pathLst>
            </a:custGeom>
            <a:ln w="44431">
              <a:solidFill>
                <a:srgbClr val="538AD3"/>
              </a:solidFill>
            </a:ln>
          </p:spPr>
          <p:txBody>
            <a:bodyPr wrap="square" lIns="0" tIns="0" rIns="0" bIns="0" rtlCol="0"/>
            <a:lstStyle/>
            <a:p>
              <a:endParaRPr sz="2400"/>
            </a:p>
          </p:txBody>
        </p:sp>
        <p:sp>
          <p:nvSpPr>
            <p:cNvPr id="66" name="object 66"/>
            <p:cNvSpPr/>
            <p:nvPr/>
          </p:nvSpPr>
          <p:spPr>
            <a:xfrm>
              <a:off x="1348240" y="1781000"/>
              <a:ext cx="431165" cy="57150"/>
            </a:xfrm>
            <a:custGeom>
              <a:avLst/>
              <a:gdLst/>
              <a:ahLst/>
              <a:cxnLst/>
              <a:rect l="l" t="t" r="r" b="b"/>
              <a:pathLst>
                <a:path w="431164" h="57150">
                  <a:moveTo>
                    <a:pt x="430868" y="0"/>
                  </a:moveTo>
                  <a:lnTo>
                    <a:pt x="0" y="0"/>
                  </a:lnTo>
                  <a:lnTo>
                    <a:pt x="0" y="57132"/>
                  </a:lnTo>
                  <a:lnTo>
                    <a:pt x="430868" y="57132"/>
                  </a:lnTo>
                  <a:lnTo>
                    <a:pt x="430868" y="0"/>
                  </a:lnTo>
                  <a:close/>
                </a:path>
              </a:pathLst>
            </a:custGeom>
            <a:solidFill>
              <a:srgbClr val="538AD3"/>
            </a:solidFill>
          </p:spPr>
          <p:txBody>
            <a:bodyPr wrap="square" lIns="0" tIns="0" rIns="0" bIns="0" rtlCol="0"/>
            <a:lstStyle/>
            <a:p>
              <a:endParaRPr sz="2400"/>
            </a:p>
          </p:txBody>
        </p:sp>
        <p:sp>
          <p:nvSpPr>
            <p:cNvPr id="67" name="object 67"/>
            <p:cNvSpPr/>
            <p:nvPr/>
          </p:nvSpPr>
          <p:spPr>
            <a:xfrm>
              <a:off x="1442808" y="1369402"/>
              <a:ext cx="236854" cy="454025"/>
            </a:xfrm>
            <a:custGeom>
              <a:avLst/>
              <a:gdLst/>
              <a:ahLst/>
              <a:cxnLst/>
              <a:rect l="l" t="t" r="r" b="b"/>
              <a:pathLst>
                <a:path w="236855" h="454025">
                  <a:moveTo>
                    <a:pt x="236448" y="0"/>
                  </a:moveTo>
                  <a:lnTo>
                    <a:pt x="0" y="0"/>
                  </a:lnTo>
                  <a:lnTo>
                    <a:pt x="0" y="63474"/>
                  </a:lnTo>
                  <a:lnTo>
                    <a:pt x="98640" y="63474"/>
                  </a:lnTo>
                  <a:lnTo>
                    <a:pt x="98640" y="453631"/>
                  </a:lnTo>
                  <a:lnTo>
                    <a:pt x="143065" y="453631"/>
                  </a:lnTo>
                  <a:lnTo>
                    <a:pt x="143065" y="63474"/>
                  </a:lnTo>
                  <a:lnTo>
                    <a:pt x="236448" y="63474"/>
                  </a:lnTo>
                  <a:lnTo>
                    <a:pt x="236448" y="0"/>
                  </a:lnTo>
                  <a:close/>
                </a:path>
              </a:pathLst>
            </a:custGeom>
            <a:solidFill>
              <a:srgbClr val="FF0000"/>
            </a:solidFill>
          </p:spPr>
          <p:txBody>
            <a:bodyPr wrap="square" lIns="0" tIns="0" rIns="0" bIns="0" rtlCol="0"/>
            <a:lstStyle/>
            <a:p>
              <a:endParaRPr sz="2400"/>
            </a:p>
          </p:txBody>
        </p:sp>
        <p:sp>
          <p:nvSpPr>
            <p:cNvPr id="68" name="object 68"/>
            <p:cNvSpPr/>
            <p:nvPr/>
          </p:nvSpPr>
          <p:spPr>
            <a:xfrm>
              <a:off x="1110131" y="1683240"/>
              <a:ext cx="150495" cy="253365"/>
            </a:xfrm>
            <a:custGeom>
              <a:avLst/>
              <a:gdLst/>
              <a:ahLst/>
              <a:cxnLst/>
              <a:rect l="l" t="t" r="r" b="b"/>
              <a:pathLst>
                <a:path w="150494" h="253364">
                  <a:moveTo>
                    <a:pt x="0" y="0"/>
                  </a:moveTo>
                  <a:lnTo>
                    <a:pt x="55750" y="6194"/>
                  </a:lnTo>
                  <a:lnTo>
                    <a:pt x="95486" y="21136"/>
                  </a:lnTo>
                  <a:lnTo>
                    <a:pt x="137617" y="71661"/>
                  </a:lnTo>
                  <a:lnTo>
                    <a:pt x="147801" y="140372"/>
                  </a:lnTo>
                  <a:lnTo>
                    <a:pt x="147603" y="178047"/>
                  </a:lnTo>
                  <a:lnTo>
                    <a:pt x="147445" y="216068"/>
                  </a:lnTo>
                  <a:lnTo>
                    <a:pt x="150006" y="253035"/>
                  </a:lnTo>
                </a:path>
              </a:pathLst>
            </a:custGeom>
            <a:ln w="28561">
              <a:solidFill>
                <a:srgbClr val="538AD3"/>
              </a:solidFill>
            </a:ln>
          </p:spPr>
          <p:txBody>
            <a:bodyPr wrap="square" lIns="0" tIns="0" rIns="0" bIns="0" rtlCol="0"/>
            <a:lstStyle/>
            <a:p>
              <a:endParaRPr sz="2400"/>
            </a:p>
          </p:txBody>
        </p:sp>
        <p:sp>
          <p:nvSpPr>
            <p:cNvPr id="69" name="object 69"/>
            <p:cNvSpPr/>
            <p:nvPr/>
          </p:nvSpPr>
          <p:spPr>
            <a:xfrm>
              <a:off x="1196227" y="1877237"/>
              <a:ext cx="190500" cy="203835"/>
            </a:xfrm>
            <a:custGeom>
              <a:avLst/>
              <a:gdLst/>
              <a:ahLst/>
              <a:cxnLst/>
              <a:rect l="l" t="t" r="r" b="b"/>
              <a:pathLst>
                <a:path w="190500" h="203835">
                  <a:moveTo>
                    <a:pt x="104857" y="0"/>
                  </a:moveTo>
                  <a:lnTo>
                    <a:pt x="0" y="91793"/>
                  </a:lnTo>
                  <a:lnTo>
                    <a:pt x="190143" y="203253"/>
                  </a:lnTo>
                  <a:lnTo>
                    <a:pt x="104857" y="0"/>
                  </a:lnTo>
                  <a:close/>
                </a:path>
              </a:pathLst>
            </a:custGeom>
            <a:solidFill>
              <a:srgbClr val="538AD3"/>
            </a:solidFill>
          </p:spPr>
          <p:txBody>
            <a:bodyPr wrap="square" lIns="0" tIns="0" rIns="0" bIns="0" rtlCol="0"/>
            <a:lstStyle/>
            <a:p>
              <a:endParaRPr sz="2400"/>
            </a:p>
          </p:txBody>
        </p:sp>
        <p:sp>
          <p:nvSpPr>
            <p:cNvPr id="70" name="object 70"/>
            <p:cNvSpPr/>
            <p:nvPr/>
          </p:nvSpPr>
          <p:spPr>
            <a:xfrm>
              <a:off x="1017635" y="1805123"/>
              <a:ext cx="153670" cy="250825"/>
            </a:xfrm>
            <a:custGeom>
              <a:avLst/>
              <a:gdLst/>
              <a:ahLst/>
              <a:cxnLst/>
              <a:rect l="l" t="t" r="r" b="b"/>
              <a:pathLst>
                <a:path w="153669" h="250825">
                  <a:moveTo>
                    <a:pt x="0" y="0"/>
                  </a:moveTo>
                  <a:lnTo>
                    <a:pt x="54200" y="12674"/>
                  </a:lnTo>
                  <a:lnTo>
                    <a:pt x="92139" y="33690"/>
                  </a:lnTo>
                  <a:lnTo>
                    <a:pt x="131729" y="94699"/>
                  </a:lnTo>
                  <a:lnTo>
                    <a:pt x="143768" y="170921"/>
                  </a:lnTo>
                  <a:lnTo>
                    <a:pt x="147269" y="210955"/>
                  </a:lnTo>
                  <a:lnTo>
                    <a:pt x="153256" y="250254"/>
                  </a:lnTo>
                </a:path>
              </a:pathLst>
            </a:custGeom>
            <a:ln w="28561">
              <a:solidFill>
                <a:srgbClr val="538AD3"/>
              </a:solidFill>
            </a:ln>
          </p:spPr>
          <p:txBody>
            <a:bodyPr wrap="square" lIns="0" tIns="0" rIns="0" bIns="0" rtlCol="0"/>
            <a:lstStyle/>
            <a:p>
              <a:endParaRPr sz="2400"/>
            </a:p>
          </p:txBody>
        </p:sp>
        <p:sp>
          <p:nvSpPr>
            <p:cNvPr id="71" name="object 71"/>
            <p:cNvSpPr/>
            <p:nvPr/>
          </p:nvSpPr>
          <p:spPr>
            <a:xfrm>
              <a:off x="1106271" y="1997216"/>
              <a:ext cx="187960" cy="205740"/>
            </a:xfrm>
            <a:custGeom>
              <a:avLst/>
              <a:gdLst/>
              <a:ahLst/>
              <a:cxnLst/>
              <a:rect l="l" t="t" r="r" b="b"/>
              <a:pathLst>
                <a:path w="187959" h="205739">
                  <a:moveTo>
                    <a:pt x="106888" y="0"/>
                  </a:moveTo>
                  <a:lnTo>
                    <a:pt x="0" y="89520"/>
                  </a:lnTo>
                  <a:lnTo>
                    <a:pt x="187604" y="205157"/>
                  </a:lnTo>
                  <a:lnTo>
                    <a:pt x="106888" y="0"/>
                  </a:lnTo>
                  <a:close/>
                </a:path>
              </a:pathLst>
            </a:custGeom>
            <a:solidFill>
              <a:srgbClr val="538AD3"/>
            </a:solidFill>
          </p:spPr>
          <p:txBody>
            <a:bodyPr wrap="square" lIns="0" tIns="0" rIns="0" bIns="0" rtlCol="0"/>
            <a:lstStyle/>
            <a:p>
              <a:endParaRPr sz="2400"/>
            </a:p>
          </p:txBody>
        </p:sp>
        <p:sp>
          <p:nvSpPr>
            <p:cNvPr id="72" name="object 72"/>
            <p:cNvSpPr/>
            <p:nvPr/>
          </p:nvSpPr>
          <p:spPr>
            <a:xfrm>
              <a:off x="1541455" y="2180816"/>
              <a:ext cx="44450" cy="310515"/>
            </a:xfrm>
            <a:custGeom>
              <a:avLst/>
              <a:gdLst/>
              <a:ahLst/>
              <a:cxnLst/>
              <a:rect l="l" t="t" r="r" b="b"/>
              <a:pathLst>
                <a:path w="44450" h="310514">
                  <a:moveTo>
                    <a:pt x="44425" y="0"/>
                  </a:moveTo>
                  <a:lnTo>
                    <a:pt x="0" y="0"/>
                  </a:lnTo>
                  <a:lnTo>
                    <a:pt x="0" y="310409"/>
                  </a:lnTo>
                  <a:lnTo>
                    <a:pt x="44425" y="310409"/>
                  </a:lnTo>
                  <a:lnTo>
                    <a:pt x="44425" y="0"/>
                  </a:lnTo>
                  <a:close/>
                </a:path>
              </a:pathLst>
            </a:custGeom>
            <a:solidFill>
              <a:srgbClr val="FF0000"/>
            </a:solidFill>
          </p:spPr>
          <p:txBody>
            <a:bodyPr wrap="square" lIns="0" tIns="0" rIns="0" bIns="0" rtlCol="0"/>
            <a:lstStyle/>
            <a:p>
              <a:endParaRPr sz="2400"/>
            </a:p>
          </p:txBody>
        </p:sp>
        <p:pic>
          <p:nvPicPr>
            <p:cNvPr id="73" name="object 73"/>
            <p:cNvPicPr/>
            <p:nvPr/>
          </p:nvPicPr>
          <p:blipFill>
            <a:blip r:embed="rId11" cstate="print"/>
            <a:stretch>
              <a:fillRect/>
            </a:stretch>
          </p:blipFill>
          <p:spPr>
            <a:xfrm>
              <a:off x="8545290" y="2412905"/>
              <a:ext cx="111577" cy="111214"/>
            </a:xfrm>
            <a:prstGeom prst="rect">
              <a:avLst/>
            </a:prstGeom>
          </p:spPr>
        </p:pic>
        <p:pic>
          <p:nvPicPr>
            <p:cNvPr id="74" name="object 74"/>
            <p:cNvPicPr/>
            <p:nvPr/>
          </p:nvPicPr>
          <p:blipFill>
            <a:blip r:embed="rId12" cstate="print"/>
            <a:stretch>
              <a:fillRect/>
            </a:stretch>
          </p:blipFill>
          <p:spPr>
            <a:xfrm>
              <a:off x="6095771" y="1623951"/>
              <a:ext cx="117924" cy="117561"/>
            </a:xfrm>
            <a:prstGeom prst="rect">
              <a:avLst/>
            </a:prstGeom>
          </p:spPr>
        </p:pic>
        <p:sp>
          <p:nvSpPr>
            <p:cNvPr id="75" name="object 75"/>
            <p:cNvSpPr/>
            <p:nvPr/>
          </p:nvSpPr>
          <p:spPr>
            <a:xfrm>
              <a:off x="5046814" y="2176804"/>
              <a:ext cx="635" cy="584200"/>
            </a:xfrm>
            <a:custGeom>
              <a:avLst/>
              <a:gdLst/>
              <a:ahLst/>
              <a:cxnLst/>
              <a:rect l="l" t="t" r="r" b="b"/>
              <a:pathLst>
                <a:path w="635" h="584200">
                  <a:moveTo>
                    <a:pt x="0" y="0"/>
                  </a:moveTo>
                  <a:lnTo>
                    <a:pt x="126" y="584088"/>
                  </a:lnTo>
                </a:path>
              </a:pathLst>
            </a:custGeom>
            <a:ln w="44425">
              <a:solidFill>
                <a:srgbClr val="000000"/>
              </a:solidFill>
            </a:ln>
          </p:spPr>
          <p:txBody>
            <a:bodyPr wrap="square" lIns="0" tIns="0" rIns="0" bIns="0" rtlCol="0"/>
            <a:lstStyle/>
            <a:p>
              <a:endParaRPr sz="2400"/>
            </a:p>
          </p:txBody>
        </p:sp>
        <p:sp>
          <p:nvSpPr>
            <p:cNvPr id="76" name="object 76"/>
            <p:cNvSpPr/>
            <p:nvPr/>
          </p:nvSpPr>
          <p:spPr>
            <a:xfrm>
              <a:off x="2538906" y="2842618"/>
              <a:ext cx="254635" cy="44450"/>
            </a:xfrm>
            <a:custGeom>
              <a:avLst/>
              <a:gdLst/>
              <a:ahLst/>
              <a:cxnLst/>
              <a:rect l="l" t="t" r="r" b="b"/>
              <a:pathLst>
                <a:path w="254635" h="44450">
                  <a:moveTo>
                    <a:pt x="254624" y="0"/>
                  </a:moveTo>
                  <a:lnTo>
                    <a:pt x="0" y="0"/>
                  </a:lnTo>
                  <a:lnTo>
                    <a:pt x="0" y="44436"/>
                  </a:lnTo>
                  <a:lnTo>
                    <a:pt x="254624" y="44436"/>
                  </a:lnTo>
                  <a:lnTo>
                    <a:pt x="254624" y="0"/>
                  </a:lnTo>
                  <a:close/>
                </a:path>
              </a:pathLst>
            </a:custGeom>
            <a:solidFill>
              <a:srgbClr val="FF0000"/>
            </a:solidFill>
          </p:spPr>
          <p:txBody>
            <a:bodyPr wrap="square" lIns="0" tIns="0" rIns="0" bIns="0" rtlCol="0"/>
            <a:lstStyle/>
            <a:p>
              <a:endParaRPr sz="2400"/>
            </a:p>
          </p:txBody>
        </p:sp>
        <p:sp>
          <p:nvSpPr>
            <p:cNvPr id="77" name="object 77"/>
            <p:cNvSpPr/>
            <p:nvPr/>
          </p:nvSpPr>
          <p:spPr>
            <a:xfrm>
              <a:off x="1781990" y="2465617"/>
              <a:ext cx="1314450" cy="399415"/>
            </a:xfrm>
            <a:custGeom>
              <a:avLst/>
              <a:gdLst/>
              <a:ahLst/>
              <a:cxnLst/>
              <a:rect l="l" t="t" r="r" b="b"/>
              <a:pathLst>
                <a:path w="1314450" h="399414">
                  <a:moveTo>
                    <a:pt x="887020" y="399218"/>
                  </a:moveTo>
                  <a:lnTo>
                    <a:pt x="884736" y="101"/>
                  </a:lnTo>
                </a:path>
                <a:path w="1314450" h="399414">
                  <a:moveTo>
                    <a:pt x="0" y="0"/>
                  </a:moveTo>
                  <a:lnTo>
                    <a:pt x="1314271" y="0"/>
                  </a:lnTo>
                </a:path>
              </a:pathLst>
            </a:custGeom>
            <a:ln w="44431">
              <a:solidFill>
                <a:srgbClr val="FF0000"/>
              </a:solidFill>
            </a:ln>
          </p:spPr>
          <p:txBody>
            <a:bodyPr wrap="square" lIns="0" tIns="0" rIns="0" bIns="0" rtlCol="0"/>
            <a:lstStyle/>
            <a:p>
              <a:endParaRPr sz="2400"/>
            </a:p>
          </p:txBody>
        </p:sp>
      </p:grpSp>
      <p:sp>
        <p:nvSpPr>
          <p:cNvPr id="78" name="object 78"/>
          <p:cNvSpPr txBox="1"/>
          <p:nvPr/>
        </p:nvSpPr>
        <p:spPr>
          <a:xfrm>
            <a:off x="11309940" y="2774406"/>
            <a:ext cx="560493" cy="309551"/>
          </a:xfrm>
          <a:prstGeom prst="rect">
            <a:avLst/>
          </a:prstGeom>
        </p:spPr>
        <p:txBody>
          <a:bodyPr vert="horz" wrap="square" lIns="0" tIns="22013" rIns="0" bIns="0" rtlCol="0">
            <a:spAutoFit/>
          </a:bodyPr>
          <a:lstStyle/>
          <a:p>
            <a:pPr marL="16933">
              <a:spcBef>
                <a:spcPts val="173"/>
              </a:spcBef>
            </a:pPr>
            <a:r>
              <a:rPr sz="1867" b="1" spc="-27" dirty="0">
                <a:latin typeface="Arial"/>
                <a:cs typeface="Arial"/>
              </a:rPr>
              <a:t>Vout</a:t>
            </a:r>
            <a:endParaRPr sz="1867">
              <a:latin typeface="Arial"/>
              <a:cs typeface="Arial"/>
            </a:endParaRPr>
          </a:p>
        </p:txBody>
      </p:sp>
      <p:grpSp>
        <p:nvGrpSpPr>
          <p:cNvPr id="79" name="object 79"/>
          <p:cNvGrpSpPr/>
          <p:nvPr/>
        </p:nvGrpSpPr>
        <p:grpSpPr>
          <a:xfrm>
            <a:off x="3385209" y="3960844"/>
            <a:ext cx="339513" cy="331893"/>
            <a:chOff x="2538906" y="2970633"/>
            <a:chExt cx="254635" cy="248920"/>
          </a:xfrm>
        </p:grpSpPr>
        <p:sp>
          <p:nvSpPr>
            <p:cNvPr id="80" name="object 80"/>
            <p:cNvSpPr/>
            <p:nvPr/>
          </p:nvSpPr>
          <p:spPr>
            <a:xfrm>
              <a:off x="2665203" y="3004469"/>
              <a:ext cx="0" cy="79375"/>
            </a:xfrm>
            <a:custGeom>
              <a:avLst/>
              <a:gdLst/>
              <a:ahLst/>
              <a:cxnLst/>
              <a:rect l="l" t="t" r="r" b="b"/>
              <a:pathLst>
                <a:path h="79375">
                  <a:moveTo>
                    <a:pt x="0" y="79287"/>
                  </a:moveTo>
                  <a:lnTo>
                    <a:pt x="0" y="0"/>
                  </a:lnTo>
                </a:path>
              </a:pathLst>
            </a:custGeom>
            <a:ln w="44425">
              <a:solidFill>
                <a:srgbClr val="FF0000"/>
              </a:solidFill>
            </a:ln>
          </p:spPr>
          <p:txBody>
            <a:bodyPr wrap="square" lIns="0" tIns="0" rIns="0" bIns="0" rtlCol="0"/>
            <a:lstStyle/>
            <a:p>
              <a:endParaRPr sz="2400"/>
            </a:p>
          </p:txBody>
        </p:sp>
        <p:sp>
          <p:nvSpPr>
            <p:cNvPr id="81" name="object 81"/>
            <p:cNvSpPr/>
            <p:nvPr/>
          </p:nvSpPr>
          <p:spPr>
            <a:xfrm>
              <a:off x="2538906" y="2970633"/>
              <a:ext cx="254635" cy="44450"/>
            </a:xfrm>
            <a:custGeom>
              <a:avLst/>
              <a:gdLst/>
              <a:ahLst/>
              <a:cxnLst/>
              <a:rect l="l" t="t" r="r" b="b"/>
              <a:pathLst>
                <a:path w="254635" h="44450">
                  <a:moveTo>
                    <a:pt x="254624" y="0"/>
                  </a:moveTo>
                  <a:lnTo>
                    <a:pt x="0" y="0"/>
                  </a:lnTo>
                  <a:lnTo>
                    <a:pt x="0" y="44436"/>
                  </a:lnTo>
                  <a:lnTo>
                    <a:pt x="254624" y="44436"/>
                  </a:lnTo>
                  <a:lnTo>
                    <a:pt x="254624" y="0"/>
                  </a:lnTo>
                  <a:close/>
                </a:path>
              </a:pathLst>
            </a:custGeom>
            <a:solidFill>
              <a:srgbClr val="FF0000"/>
            </a:solidFill>
          </p:spPr>
          <p:txBody>
            <a:bodyPr wrap="square" lIns="0" tIns="0" rIns="0" bIns="0" rtlCol="0"/>
            <a:lstStyle/>
            <a:p>
              <a:endParaRPr sz="2400"/>
            </a:p>
          </p:txBody>
        </p:sp>
        <p:sp>
          <p:nvSpPr>
            <p:cNvPr id="82" name="object 82"/>
            <p:cNvSpPr/>
            <p:nvPr/>
          </p:nvSpPr>
          <p:spPr>
            <a:xfrm>
              <a:off x="2587521" y="3098255"/>
              <a:ext cx="151130" cy="99060"/>
            </a:xfrm>
            <a:custGeom>
              <a:avLst/>
              <a:gdLst/>
              <a:ahLst/>
              <a:cxnLst/>
              <a:rect l="l" t="t" r="r" b="b"/>
              <a:pathLst>
                <a:path w="151130" h="99060">
                  <a:moveTo>
                    <a:pt x="0" y="0"/>
                  </a:moveTo>
                  <a:lnTo>
                    <a:pt x="150794" y="0"/>
                  </a:lnTo>
                </a:path>
                <a:path w="151130" h="99060">
                  <a:moveTo>
                    <a:pt x="25132" y="49489"/>
                  </a:moveTo>
                  <a:lnTo>
                    <a:pt x="125661" y="49489"/>
                  </a:lnTo>
                </a:path>
                <a:path w="151130" h="99060">
                  <a:moveTo>
                    <a:pt x="50264" y="98968"/>
                  </a:moveTo>
                  <a:lnTo>
                    <a:pt x="100529" y="98968"/>
                  </a:lnTo>
                </a:path>
              </a:pathLst>
            </a:custGeom>
            <a:ln w="44431">
              <a:solidFill>
                <a:srgbClr val="FF0000"/>
              </a:solidFill>
            </a:ln>
          </p:spPr>
          <p:txBody>
            <a:bodyPr wrap="square" lIns="0" tIns="0" rIns="0" bIns="0" rtlCol="0"/>
            <a:lstStyle/>
            <a:p>
              <a:endParaRPr sz="2400"/>
            </a:p>
          </p:txBody>
        </p:sp>
      </p:grpSp>
      <p:sp>
        <p:nvSpPr>
          <p:cNvPr id="83" name="object 83"/>
          <p:cNvSpPr txBox="1"/>
          <p:nvPr/>
        </p:nvSpPr>
        <p:spPr>
          <a:xfrm>
            <a:off x="810091" y="3725773"/>
            <a:ext cx="9337040" cy="2199875"/>
          </a:xfrm>
          <a:prstGeom prst="rect">
            <a:avLst/>
          </a:prstGeom>
        </p:spPr>
        <p:txBody>
          <a:bodyPr vert="horz" wrap="square" lIns="0" tIns="22013" rIns="0" bIns="0" rtlCol="0">
            <a:spAutoFit/>
          </a:bodyPr>
          <a:lstStyle/>
          <a:p>
            <a:pPr marL="2964106">
              <a:spcBef>
                <a:spcPts val="173"/>
              </a:spcBef>
            </a:pPr>
            <a:r>
              <a:rPr sz="1867" b="1" spc="-33" dirty="0">
                <a:solidFill>
                  <a:srgbClr val="FF0000"/>
                </a:solidFill>
                <a:latin typeface="Arial"/>
                <a:cs typeface="Arial"/>
              </a:rPr>
              <a:t>Cin</a:t>
            </a:r>
            <a:endParaRPr sz="1867">
              <a:latin typeface="Arial"/>
              <a:cs typeface="Arial"/>
            </a:endParaRPr>
          </a:p>
          <a:p>
            <a:pPr>
              <a:spcBef>
                <a:spcPts val="493"/>
              </a:spcBef>
            </a:pPr>
            <a:endParaRPr sz="1867">
              <a:latin typeface="Arial"/>
              <a:cs typeface="Arial"/>
            </a:endParaRPr>
          </a:p>
          <a:p>
            <a:pPr marL="297173" indent="-229441">
              <a:buClr>
                <a:srgbClr val="17610F"/>
              </a:buClr>
              <a:buFont typeface="Microsoft Sans Serif"/>
              <a:buChar char="•"/>
              <a:tabLst>
                <a:tab pos="297173" algn="l"/>
              </a:tabLst>
            </a:pPr>
            <a:r>
              <a:rPr sz="2000" dirty="0">
                <a:latin typeface="Calibri"/>
                <a:cs typeface="Calibri"/>
              </a:rPr>
              <a:t>First</a:t>
            </a:r>
            <a:r>
              <a:rPr sz="2000" spc="-60" dirty="0">
                <a:latin typeface="Calibri"/>
                <a:cs typeface="Calibri"/>
              </a:rPr>
              <a:t> </a:t>
            </a:r>
            <a:r>
              <a:rPr sz="2000" spc="-13" dirty="0">
                <a:latin typeface="Calibri"/>
                <a:cs typeface="Calibri"/>
              </a:rPr>
              <a:t>invertor</a:t>
            </a:r>
            <a:r>
              <a:rPr sz="2000" spc="-53" dirty="0">
                <a:latin typeface="Calibri"/>
                <a:cs typeface="Calibri"/>
              </a:rPr>
              <a:t> </a:t>
            </a:r>
            <a:r>
              <a:rPr sz="2000" dirty="0">
                <a:latin typeface="Calibri"/>
                <a:cs typeface="Calibri"/>
              </a:rPr>
              <a:t>is</a:t>
            </a:r>
            <a:r>
              <a:rPr sz="2000" spc="-27" dirty="0">
                <a:latin typeface="Calibri"/>
                <a:cs typeface="Calibri"/>
              </a:rPr>
              <a:t> </a:t>
            </a:r>
            <a:r>
              <a:rPr sz="2000" dirty="0">
                <a:latin typeface="Calibri"/>
                <a:cs typeface="Calibri"/>
              </a:rPr>
              <a:t>the</a:t>
            </a:r>
            <a:r>
              <a:rPr sz="2000" spc="-47" dirty="0">
                <a:latin typeface="Calibri"/>
                <a:cs typeface="Calibri"/>
              </a:rPr>
              <a:t> </a:t>
            </a:r>
            <a:r>
              <a:rPr sz="2000" dirty="0">
                <a:latin typeface="Calibri"/>
                <a:cs typeface="Calibri"/>
              </a:rPr>
              <a:t>main</a:t>
            </a:r>
            <a:r>
              <a:rPr sz="2000" spc="-53" dirty="0">
                <a:latin typeface="Calibri"/>
                <a:cs typeface="Calibri"/>
              </a:rPr>
              <a:t> </a:t>
            </a:r>
            <a:r>
              <a:rPr sz="2000" dirty="0">
                <a:latin typeface="Calibri"/>
                <a:cs typeface="Calibri"/>
              </a:rPr>
              <a:t>noise</a:t>
            </a:r>
            <a:r>
              <a:rPr sz="2000" spc="-53" dirty="0">
                <a:latin typeface="Calibri"/>
                <a:cs typeface="Calibri"/>
              </a:rPr>
              <a:t> </a:t>
            </a:r>
            <a:r>
              <a:rPr sz="2000" dirty="0">
                <a:latin typeface="Calibri"/>
                <a:cs typeface="Calibri"/>
              </a:rPr>
              <a:t>source</a:t>
            </a:r>
            <a:r>
              <a:rPr sz="2000" spc="-40" dirty="0">
                <a:latin typeface="Calibri"/>
                <a:cs typeface="Calibri"/>
              </a:rPr>
              <a:t> </a:t>
            </a:r>
            <a:r>
              <a:rPr sz="2000" dirty="0">
                <a:latin typeface="Calibri"/>
                <a:cs typeface="Calibri"/>
              </a:rPr>
              <a:t>due</a:t>
            </a:r>
            <a:r>
              <a:rPr sz="2000" spc="-47"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peaking</a:t>
            </a:r>
            <a:r>
              <a:rPr sz="2000" spc="-53" dirty="0">
                <a:latin typeface="Calibri"/>
                <a:cs typeface="Calibri"/>
              </a:rPr>
              <a:t> </a:t>
            </a:r>
            <a:r>
              <a:rPr sz="2000" dirty="0">
                <a:latin typeface="Calibri"/>
                <a:cs typeface="Calibri"/>
              </a:rPr>
              <a:t>from</a:t>
            </a:r>
            <a:r>
              <a:rPr sz="2000" spc="-33" dirty="0">
                <a:latin typeface="Calibri"/>
                <a:cs typeface="Calibri"/>
              </a:rPr>
              <a:t> C</a:t>
            </a:r>
            <a:r>
              <a:rPr sz="2000" spc="-49" baseline="-19444" dirty="0">
                <a:latin typeface="Calibri"/>
                <a:cs typeface="Calibri"/>
              </a:rPr>
              <a:t>in</a:t>
            </a:r>
            <a:endParaRPr sz="2000" baseline="-19444">
              <a:latin typeface="Calibri"/>
              <a:cs typeface="Calibri"/>
            </a:endParaRPr>
          </a:p>
          <a:p>
            <a:pPr marL="297173" indent="-229441">
              <a:spcBef>
                <a:spcPts val="833"/>
              </a:spcBef>
              <a:buClr>
                <a:srgbClr val="17610F"/>
              </a:buClr>
              <a:buFont typeface="Microsoft Sans Serif"/>
              <a:buChar char="•"/>
              <a:tabLst>
                <a:tab pos="297173" algn="l"/>
              </a:tabLst>
            </a:pPr>
            <a:r>
              <a:rPr sz="2000" dirty="0">
                <a:latin typeface="Calibri"/>
                <a:cs typeface="Calibri"/>
              </a:rPr>
              <a:t>Reduce</a:t>
            </a:r>
            <a:r>
              <a:rPr sz="2000" spc="-27" dirty="0">
                <a:latin typeface="Calibri"/>
                <a:cs typeface="Calibri"/>
              </a:rPr>
              <a:t> </a:t>
            </a:r>
            <a:r>
              <a:rPr sz="2000" dirty="0">
                <a:latin typeface="Calibri"/>
                <a:cs typeface="Calibri"/>
              </a:rPr>
              <a:t>C</a:t>
            </a:r>
            <a:r>
              <a:rPr sz="2000" baseline="-19444" dirty="0">
                <a:latin typeface="Calibri"/>
                <a:cs typeface="Calibri"/>
              </a:rPr>
              <a:t>in</a:t>
            </a:r>
            <a:r>
              <a:rPr sz="2000" spc="169" baseline="-19444" dirty="0">
                <a:latin typeface="Calibri"/>
                <a:cs typeface="Calibri"/>
              </a:rPr>
              <a:t> </a:t>
            </a:r>
            <a:r>
              <a:rPr sz="2000" dirty="0">
                <a:latin typeface="Calibri"/>
                <a:cs typeface="Calibri"/>
              </a:rPr>
              <a:t>as</a:t>
            </a:r>
            <a:r>
              <a:rPr sz="2000" spc="-27" dirty="0">
                <a:latin typeface="Calibri"/>
                <a:cs typeface="Calibri"/>
              </a:rPr>
              <a:t> </a:t>
            </a:r>
            <a:r>
              <a:rPr sz="2000" dirty="0">
                <a:latin typeface="Calibri"/>
                <a:cs typeface="Calibri"/>
              </a:rPr>
              <a:t>much</a:t>
            </a:r>
            <a:r>
              <a:rPr sz="2000" spc="-33" dirty="0">
                <a:latin typeface="Calibri"/>
                <a:cs typeface="Calibri"/>
              </a:rPr>
              <a:t> </a:t>
            </a:r>
            <a:r>
              <a:rPr sz="2000" dirty="0">
                <a:latin typeface="Calibri"/>
                <a:cs typeface="Calibri"/>
              </a:rPr>
              <a:t>as</a:t>
            </a:r>
            <a:r>
              <a:rPr sz="2000" spc="-27" dirty="0">
                <a:latin typeface="Calibri"/>
                <a:cs typeface="Calibri"/>
              </a:rPr>
              <a:t> </a:t>
            </a:r>
            <a:r>
              <a:rPr sz="2000" spc="-13" dirty="0">
                <a:latin typeface="Calibri"/>
                <a:cs typeface="Calibri"/>
              </a:rPr>
              <a:t>possible—</a:t>
            </a:r>
            <a:r>
              <a:rPr sz="2000" spc="-27" dirty="0">
                <a:latin typeface="Calibri"/>
                <a:cs typeface="Calibri"/>
              </a:rPr>
              <a:t>waveguide-</a:t>
            </a:r>
            <a:r>
              <a:rPr sz="2000" dirty="0">
                <a:latin typeface="Calibri"/>
                <a:cs typeface="Calibri"/>
              </a:rPr>
              <a:t>based</a:t>
            </a:r>
            <a:r>
              <a:rPr sz="2000" spc="-40" dirty="0">
                <a:latin typeface="Calibri"/>
                <a:cs typeface="Calibri"/>
              </a:rPr>
              <a:t> </a:t>
            </a:r>
            <a:r>
              <a:rPr sz="2000" dirty="0">
                <a:latin typeface="Calibri"/>
                <a:cs typeface="Calibri"/>
              </a:rPr>
              <a:t>PD,</a:t>
            </a:r>
            <a:r>
              <a:rPr sz="2000" spc="-27" dirty="0">
                <a:latin typeface="Calibri"/>
                <a:cs typeface="Calibri"/>
              </a:rPr>
              <a:t> </a:t>
            </a:r>
            <a:r>
              <a:rPr sz="2000" dirty="0">
                <a:latin typeface="Calibri"/>
                <a:cs typeface="Calibri"/>
              </a:rPr>
              <a:t>no</a:t>
            </a:r>
            <a:r>
              <a:rPr sz="2000" spc="-40" dirty="0">
                <a:latin typeface="Calibri"/>
                <a:cs typeface="Calibri"/>
              </a:rPr>
              <a:t> </a:t>
            </a:r>
            <a:r>
              <a:rPr sz="2000" dirty="0">
                <a:latin typeface="Calibri"/>
                <a:cs typeface="Calibri"/>
              </a:rPr>
              <a:t>Power</a:t>
            </a:r>
            <a:r>
              <a:rPr sz="2000" spc="-40" dirty="0">
                <a:latin typeface="Calibri"/>
                <a:cs typeface="Calibri"/>
              </a:rPr>
              <a:t> </a:t>
            </a:r>
            <a:r>
              <a:rPr sz="2000" dirty="0">
                <a:latin typeface="Calibri"/>
                <a:cs typeface="Calibri"/>
              </a:rPr>
              <a:t>Grid</a:t>
            </a:r>
            <a:r>
              <a:rPr sz="2000" spc="-7" dirty="0">
                <a:latin typeface="Calibri"/>
                <a:cs typeface="Calibri"/>
              </a:rPr>
              <a:t> </a:t>
            </a:r>
            <a:r>
              <a:rPr sz="2000" dirty="0">
                <a:latin typeface="Calibri"/>
                <a:cs typeface="Calibri"/>
              </a:rPr>
              <a:t>(PG)</a:t>
            </a:r>
            <a:r>
              <a:rPr sz="2000" spc="-40" dirty="0">
                <a:latin typeface="Calibri"/>
                <a:cs typeface="Calibri"/>
              </a:rPr>
              <a:t> </a:t>
            </a:r>
            <a:r>
              <a:rPr sz="2000" dirty="0">
                <a:latin typeface="Calibri"/>
                <a:cs typeface="Calibri"/>
              </a:rPr>
              <a:t>under</a:t>
            </a:r>
            <a:r>
              <a:rPr sz="2000" spc="-40" dirty="0">
                <a:latin typeface="Calibri"/>
                <a:cs typeface="Calibri"/>
              </a:rPr>
              <a:t> </a:t>
            </a:r>
            <a:r>
              <a:rPr sz="2000" spc="-27" dirty="0">
                <a:latin typeface="Calibri"/>
                <a:cs typeface="Calibri"/>
              </a:rPr>
              <a:t>bump</a:t>
            </a:r>
            <a:endParaRPr sz="2000">
              <a:latin typeface="Calibri"/>
              <a:cs typeface="Calibri"/>
            </a:endParaRPr>
          </a:p>
          <a:p>
            <a:pPr marL="297173" indent="-229441">
              <a:spcBef>
                <a:spcPts val="813"/>
              </a:spcBef>
              <a:buClr>
                <a:srgbClr val="17610F"/>
              </a:buClr>
              <a:buFont typeface="Microsoft Sans Serif"/>
              <a:buChar char="•"/>
              <a:tabLst>
                <a:tab pos="297173" algn="l"/>
              </a:tabLst>
            </a:pPr>
            <a:r>
              <a:rPr sz="2000" dirty="0">
                <a:latin typeface="Calibri"/>
                <a:cs typeface="Calibri"/>
              </a:rPr>
              <a:t>Increase</a:t>
            </a:r>
            <a:r>
              <a:rPr sz="2000" spc="-47" dirty="0">
                <a:latin typeface="Calibri"/>
                <a:cs typeface="Calibri"/>
              </a:rPr>
              <a:t> </a:t>
            </a:r>
            <a:r>
              <a:rPr sz="2000" dirty="0">
                <a:latin typeface="Calibri"/>
                <a:cs typeface="Calibri"/>
              </a:rPr>
              <a:t>g</a:t>
            </a:r>
            <a:r>
              <a:rPr sz="2000" baseline="-19444" dirty="0">
                <a:latin typeface="Calibri"/>
                <a:cs typeface="Calibri"/>
              </a:rPr>
              <a:t>m</a:t>
            </a:r>
            <a:r>
              <a:rPr sz="2000" spc="169" baseline="-19444" dirty="0">
                <a:latin typeface="Calibri"/>
                <a:cs typeface="Calibri"/>
              </a:rPr>
              <a:t> </a:t>
            </a:r>
            <a:r>
              <a:rPr sz="2000" dirty="0">
                <a:latin typeface="Calibri"/>
                <a:cs typeface="Calibri"/>
              </a:rPr>
              <a:t>until</a:t>
            </a:r>
            <a:r>
              <a:rPr sz="2000" spc="-53" dirty="0">
                <a:latin typeface="Calibri"/>
                <a:cs typeface="Calibri"/>
              </a:rPr>
              <a:t> </a:t>
            </a:r>
            <a:r>
              <a:rPr sz="2000" dirty="0">
                <a:latin typeface="Calibri"/>
                <a:cs typeface="Calibri"/>
              </a:rPr>
              <a:t>it</a:t>
            </a:r>
            <a:r>
              <a:rPr sz="2000" spc="-20" dirty="0">
                <a:latin typeface="Calibri"/>
                <a:cs typeface="Calibri"/>
              </a:rPr>
              <a:t> </a:t>
            </a:r>
            <a:r>
              <a:rPr sz="2000" dirty="0">
                <a:latin typeface="Calibri"/>
                <a:cs typeface="Calibri"/>
              </a:rPr>
              <a:t>does</a:t>
            </a:r>
            <a:r>
              <a:rPr sz="2000" spc="-40" dirty="0">
                <a:latin typeface="Calibri"/>
                <a:cs typeface="Calibri"/>
              </a:rPr>
              <a:t> </a:t>
            </a:r>
            <a:r>
              <a:rPr sz="2000" dirty="0">
                <a:latin typeface="Calibri"/>
                <a:cs typeface="Calibri"/>
              </a:rPr>
              <a:t>not</a:t>
            </a:r>
            <a:r>
              <a:rPr sz="2000" spc="-40" dirty="0">
                <a:latin typeface="Calibri"/>
                <a:cs typeface="Calibri"/>
              </a:rPr>
              <a:t> </a:t>
            </a:r>
            <a:r>
              <a:rPr sz="2000" dirty="0">
                <a:latin typeface="Calibri"/>
                <a:cs typeface="Calibri"/>
              </a:rPr>
              <a:t>increase</a:t>
            </a:r>
            <a:r>
              <a:rPr sz="2000" spc="-33" dirty="0">
                <a:latin typeface="Calibri"/>
                <a:cs typeface="Calibri"/>
              </a:rPr>
              <a:t> C</a:t>
            </a:r>
            <a:r>
              <a:rPr sz="2000" spc="-49" baseline="-19444" dirty="0">
                <a:latin typeface="Calibri"/>
                <a:cs typeface="Calibri"/>
              </a:rPr>
              <a:t>in</a:t>
            </a:r>
            <a:endParaRPr sz="2000" baseline="-19444">
              <a:latin typeface="Calibri"/>
              <a:cs typeface="Calibri"/>
            </a:endParaRPr>
          </a:p>
          <a:p>
            <a:pPr marL="297173" indent="-229441">
              <a:spcBef>
                <a:spcPts val="833"/>
              </a:spcBef>
              <a:buClr>
                <a:srgbClr val="17610F"/>
              </a:buClr>
              <a:buFont typeface="Microsoft Sans Serif"/>
              <a:buChar char="•"/>
              <a:tabLst>
                <a:tab pos="297173" algn="l"/>
              </a:tabLst>
            </a:pPr>
            <a:r>
              <a:rPr sz="2000" dirty="0">
                <a:latin typeface="Calibri"/>
                <a:cs typeface="Calibri"/>
              </a:rPr>
              <a:t>Reduce</a:t>
            </a:r>
            <a:r>
              <a:rPr sz="2000" spc="-40" dirty="0">
                <a:latin typeface="Calibri"/>
                <a:cs typeface="Calibri"/>
              </a:rPr>
              <a:t> </a:t>
            </a:r>
            <a:r>
              <a:rPr sz="2000" dirty="0">
                <a:latin typeface="Calibri"/>
                <a:cs typeface="Calibri"/>
              </a:rPr>
              <a:t>parasitic</a:t>
            </a:r>
            <a:r>
              <a:rPr sz="2000" spc="-53" dirty="0">
                <a:latin typeface="Calibri"/>
                <a:cs typeface="Calibri"/>
              </a:rPr>
              <a:t> </a:t>
            </a:r>
            <a:r>
              <a:rPr sz="2000" dirty="0">
                <a:latin typeface="Calibri"/>
                <a:cs typeface="Calibri"/>
              </a:rPr>
              <a:t>and</a:t>
            </a:r>
            <a:r>
              <a:rPr sz="2000" spc="-47" dirty="0">
                <a:latin typeface="Calibri"/>
                <a:cs typeface="Calibri"/>
              </a:rPr>
              <a:t> </a:t>
            </a:r>
            <a:r>
              <a:rPr sz="2000" spc="-13" dirty="0">
                <a:latin typeface="Calibri"/>
                <a:cs typeface="Calibri"/>
              </a:rPr>
              <a:t>gate</a:t>
            </a:r>
            <a:r>
              <a:rPr sz="2000" spc="-73" dirty="0">
                <a:latin typeface="Calibri"/>
                <a:cs typeface="Calibri"/>
              </a:rPr>
              <a:t> </a:t>
            </a:r>
            <a:r>
              <a:rPr sz="2000" spc="-13" dirty="0">
                <a:latin typeface="Calibri"/>
                <a:cs typeface="Calibri"/>
              </a:rPr>
              <a:t>resistance</a:t>
            </a:r>
            <a:r>
              <a:rPr sz="2000" spc="-33" dirty="0">
                <a:latin typeface="Calibri"/>
                <a:cs typeface="Calibri"/>
              </a:rPr>
              <a:t> </a:t>
            </a:r>
            <a:r>
              <a:rPr sz="2000" dirty="0">
                <a:latin typeface="Calibri"/>
                <a:cs typeface="Calibri"/>
              </a:rPr>
              <a:t>in</a:t>
            </a:r>
            <a:r>
              <a:rPr sz="2000" spc="-27" dirty="0">
                <a:latin typeface="Calibri"/>
                <a:cs typeface="Calibri"/>
              </a:rPr>
              <a:t> </a:t>
            </a:r>
            <a:r>
              <a:rPr sz="2000" dirty="0">
                <a:latin typeface="Calibri"/>
                <a:cs typeface="Calibri"/>
              </a:rPr>
              <a:t>the</a:t>
            </a:r>
            <a:r>
              <a:rPr sz="2000" spc="-33" dirty="0">
                <a:latin typeface="Calibri"/>
                <a:cs typeface="Calibri"/>
              </a:rPr>
              <a:t> </a:t>
            </a:r>
            <a:r>
              <a:rPr sz="2000" dirty="0">
                <a:latin typeface="Calibri"/>
                <a:cs typeface="Calibri"/>
              </a:rPr>
              <a:t>Ipd</a:t>
            </a:r>
            <a:r>
              <a:rPr sz="2000" spc="-60" dirty="0">
                <a:latin typeface="Calibri"/>
                <a:cs typeface="Calibri"/>
              </a:rPr>
              <a:t> </a:t>
            </a:r>
            <a:r>
              <a:rPr sz="2000" dirty="0">
                <a:latin typeface="Calibri"/>
                <a:cs typeface="Calibri"/>
              </a:rPr>
              <a:t>path</a:t>
            </a:r>
            <a:r>
              <a:rPr sz="2000" spc="-20" dirty="0">
                <a:latin typeface="Calibri"/>
                <a:cs typeface="Calibri"/>
              </a:rPr>
              <a:t> </a:t>
            </a:r>
            <a:r>
              <a:rPr sz="2000" dirty="0">
                <a:latin typeface="Calibri"/>
                <a:cs typeface="Calibri"/>
              </a:rPr>
              <a:t>–</a:t>
            </a:r>
            <a:r>
              <a:rPr sz="2000" spc="-47" dirty="0">
                <a:latin typeface="Calibri"/>
                <a:cs typeface="Calibri"/>
              </a:rPr>
              <a:t> </a:t>
            </a:r>
            <a:r>
              <a:rPr sz="2000" dirty="0">
                <a:latin typeface="Calibri"/>
                <a:cs typeface="Calibri"/>
              </a:rPr>
              <a:t>use</a:t>
            </a:r>
            <a:r>
              <a:rPr sz="2000" spc="-33" dirty="0">
                <a:latin typeface="Calibri"/>
                <a:cs typeface="Calibri"/>
              </a:rPr>
              <a:t> </a:t>
            </a:r>
            <a:r>
              <a:rPr sz="2000" dirty="0">
                <a:latin typeface="Calibri"/>
                <a:cs typeface="Calibri"/>
              </a:rPr>
              <a:t>low</a:t>
            </a:r>
            <a:r>
              <a:rPr sz="2000" spc="-33" dirty="0">
                <a:latin typeface="Calibri"/>
                <a:cs typeface="Calibri"/>
              </a:rPr>
              <a:t> </a:t>
            </a:r>
            <a:r>
              <a:rPr sz="2000" dirty="0">
                <a:latin typeface="Calibri"/>
                <a:cs typeface="Calibri"/>
              </a:rPr>
              <a:t>fin</a:t>
            </a:r>
            <a:r>
              <a:rPr sz="2000" spc="-20" dirty="0">
                <a:latin typeface="Calibri"/>
                <a:cs typeface="Calibri"/>
              </a:rPr>
              <a:t> </a:t>
            </a:r>
            <a:r>
              <a:rPr sz="2000" spc="-33" dirty="0">
                <a:latin typeface="Calibri"/>
                <a:cs typeface="Calibri"/>
              </a:rPr>
              <a:t>mos</a:t>
            </a:r>
            <a:endParaRPr sz="2000">
              <a:latin typeface="Calibri"/>
              <a:cs typeface="Calibri"/>
            </a:endParaRPr>
          </a:p>
        </p:txBody>
      </p:sp>
      <p:grpSp>
        <p:nvGrpSpPr>
          <p:cNvPr id="84" name="object 84"/>
          <p:cNvGrpSpPr/>
          <p:nvPr/>
        </p:nvGrpSpPr>
        <p:grpSpPr>
          <a:xfrm>
            <a:off x="2345677" y="2832941"/>
            <a:ext cx="894927" cy="894927"/>
            <a:chOff x="1759257" y="2124705"/>
            <a:chExt cx="671195" cy="671195"/>
          </a:xfrm>
        </p:grpSpPr>
        <p:sp>
          <p:nvSpPr>
            <p:cNvPr id="85" name="object 85"/>
            <p:cNvSpPr/>
            <p:nvPr/>
          </p:nvSpPr>
          <p:spPr>
            <a:xfrm>
              <a:off x="1781482" y="2146930"/>
              <a:ext cx="626745" cy="626745"/>
            </a:xfrm>
            <a:custGeom>
              <a:avLst/>
              <a:gdLst/>
              <a:ahLst/>
              <a:cxnLst/>
              <a:rect l="l" t="t" r="r" b="b"/>
              <a:pathLst>
                <a:path w="626744" h="626744">
                  <a:moveTo>
                    <a:pt x="313202" y="0"/>
                  </a:moveTo>
                  <a:lnTo>
                    <a:pt x="266918" y="3396"/>
                  </a:lnTo>
                  <a:lnTo>
                    <a:pt x="222743" y="13263"/>
                  </a:lnTo>
                  <a:lnTo>
                    <a:pt x="181162" y="29116"/>
                  </a:lnTo>
                  <a:lnTo>
                    <a:pt x="142658" y="50469"/>
                  </a:lnTo>
                  <a:lnTo>
                    <a:pt x="107716" y="76840"/>
                  </a:lnTo>
                  <a:lnTo>
                    <a:pt x="76821" y="107742"/>
                  </a:lnTo>
                  <a:lnTo>
                    <a:pt x="50457" y="142692"/>
                  </a:lnTo>
                  <a:lnTo>
                    <a:pt x="29109" y="181206"/>
                  </a:lnTo>
                  <a:lnTo>
                    <a:pt x="13260" y="222797"/>
                  </a:lnTo>
                  <a:lnTo>
                    <a:pt x="3395" y="266983"/>
                  </a:lnTo>
                  <a:lnTo>
                    <a:pt x="0" y="313278"/>
                  </a:lnTo>
                  <a:lnTo>
                    <a:pt x="3395" y="359570"/>
                  </a:lnTo>
                  <a:lnTo>
                    <a:pt x="13260" y="403754"/>
                  </a:lnTo>
                  <a:lnTo>
                    <a:pt x="29109" y="445345"/>
                  </a:lnTo>
                  <a:lnTo>
                    <a:pt x="50457" y="483858"/>
                  </a:lnTo>
                  <a:lnTo>
                    <a:pt x="76821" y="518808"/>
                  </a:lnTo>
                  <a:lnTo>
                    <a:pt x="107716" y="549712"/>
                  </a:lnTo>
                  <a:lnTo>
                    <a:pt x="142658" y="576083"/>
                  </a:lnTo>
                  <a:lnTo>
                    <a:pt x="181162" y="597438"/>
                  </a:lnTo>
                  <a:lnTo>
                    <a:pt x="222744" y="613292"/>
                  </a:lnTo>
                  <a:lnTo>
                    <a:pt x="266918" y="623159"/>
                  </a:lnTo>
                  <a:lnTo>
                    <a:pt x="313202" y="626556"/>
                  </a:lnTo>
                  <a:lnTo>
                    <a:pt x="359484" y="623159"/>
                  </a:lnTo>
                  <a:lnTo>
                    <a:pt x="403659" y="613292"/>
                  </a:lnTo>
                  <a:lnTo>
                    <a:pt x="445242" y="597438"/>
                  </a:lnTo>
                  <a:lnTo>
                    <a:pt x="483749" y="576083"/>
                  </a:lnTo>
                  <a:lnTo>
                    <a:pt x="518694" y="549712"/>
                  </a:lnTo>
                  <a:lnTo>
                    <a:pt x="549594" y="518808"/>
                  </a:lnTo>
                  <a:lnTo>
                    <a:pt x="575962" y="483858"/>
                  </a:lnTo>
                  <a:lnTo>
                    <a:pt x="597315" y="445345"/>
                  </a:lnTo>
                  <a:lnTo>
                    <a:pt x="613167" y="403754"/>
                  </a:lnTo>
                  <a:lnTo>
                    <a:pt x="623034" y="359570"/>
                  </a:lnTo>
                  <a:lnTo>
                    <a:pt x="626431" y="313278"/>
                  </a:lnTo>
                  <a:lnTo>
                    <a:pt x="623034" y="266983"/>
                  </a:lnTo>
                  <a:lnTo>
                    <a:pt x="613167" y="222797"/>
                  </a:lnTo>
                  <a:lnTo>
                    <a:pt x="597315" y="181206"/>
                  </a:lnTo>
                  <a:lnTo>
                    <a:pt x="575962" y="142692"/>
                  </a:lnTo>
                  <a:lnTo>
                    <a:pt x="549594" y="107742"/>
                  </a:lnTo>
                  <a:lnTo>
                    <a:pt x="518694" y="76840"/>
                  </a:lnTo>
                  <a:lnTo>
                    <a:pt x="483749" y="50469"/>
                  </a:lnTo>
                  <a:lnTo>
                    <a:pt x="445242" y="29116"/>
                  </a:lnTo>
                  <a:lnTo>
                    <a:pt x="403659" y="13263"/>
                  </a:lnTo>
                  <a:lnTo>
                    <a:pt x="359484" y="3396"/>
                  </a:lnTo>
                  <a:lnTo>
                    <a:pt x="313202" y="0"/>
                  </a:lnTo>
                  <a:close/>
                </a:path>
              </a:pathLst>
            </a:custGeom>
            <a:solidFill>
              <a:srgbClr val="F1F1F1"/>
            </a:solidFill>
          </p:spPr>
          <p:txBody>
            <a:bodyPr wrap="square" lIns="0" tIns="0" rIns="0" bIns="0" rtlCol="0"/>
            <a:lstStyle/>
            <a:p>
              <a:endParaRPr sz="2400"/>
            </a:p>
          </p:txBody>
        </p:sp>
        <p:sp>
          <p:nvSpPr>
            <p:cNvPr id="86" name="object 86"/>
            <p:cNvSpPr/>
            <p:nvPr/>
          </p:nvSpPr>
          <p:spPr>
            <a:xfrm>
              <a:off x="1781482" y="2146930"/>
              <a:ext cx="626745" cy="626745"/>
            </a:xfrm>
            <a:custGeom>
              <a:avLst/>
              <a:gdLst/>
              <a:ahLst/>
              <a:cxnLst/>
              <a:rect l="l" t="t" r="r" b="b"/>
              <a:pathLst>
                <a:path w="626744" h="626744">
                  <a:moveTo>
                    <a:pt x="626431" y="313278"/>
                  </a:moveTo>
                  <a:lnTo>
                    <a:pt x="623034" y="266983"/>
                  </a:lnTo>
                  <a:lnTo>
                    <a:pt x="613167" y="222797"/>
                  </a:lnTo>
                  <a:lnTo>
                    <a:pt x="597315" y="181206"/>
                  </a:lnTo>
                  <a:lnTo>
                    <a:pt x="575962" y="142692"/>
                  </a:lnTo>
                  <a:lnTo>
                    <a:pt x="549594" y="107742"/>
                  </a:lnTo>
                  <a:lnTo>
                    <a:pt x="518694" y="76840"/>
                  </a:lnTo>
                  <a:lnTo>
                    <a:pt x="483749" y="50469"/>
                  </a:lnTo>
                  <a:lnTo>
                    <a:pt x="445242" y="29116"/>
                  </a:lnTo>
                  <a:lnTo>
                    <a:pt x="403659" y="13263"/>
                  </a:lnTo>
                  <a:lnTo>
                    <a:pt x="359484" y="3396"/>
                  </a:lnTo>
                  <a:lnTo>
                    <a:pt x="313202" y="0"/>
                  </a:lnTo>
                  <a:lnTo>
                    <a:pt x="266918" y="3396"/>
                  </a:lnTo>
                  <a:lnTo>
                    <a:pt x="222743" y="13263"/>
                  </a:lnTo>
                  <a:lnTo>
                    <a:pt x="181162" y="29116"/>
                  </a:lnTo>
                  <a:lnTo>
                    <a:pt x="142658" y="50469"/>
                  </a:lnTo>
                  <a:lnTo>
                    <a:pt x="107716" y="76840"/>
                  </a:lnTo>
                  <a:lnTo>
                    <a:pt x="76821" y="107742"/>
                  </a:lnTo>
                  <a:lnTo>
                    <a:pt x="50457" y="142692"/>
                  </a:lnTo>
                  <a:lnTo>
                    <a:pt x="29109" y="181206"/>
                  </a:lnTo>
                  <a:lnTo>
                    <a:pt x="13260" y="222797"/>
                  </a:lnTo>
                  <a:lnTo>
                    <a:pt x="3395" y="266983"/>
                  </a:lnTo>
                  <a:lnTo>
                    <a:pt x="0" y="313278"/>
                  </a:lnTo>
                  <a:lnTo>
                    <a:pt x="3395" y="359570"/>
                  </a:lnTo>
                  <a:lnTo>
                    <a:pt x="13260" y="403754"/>
                  </a:lnTo>
                  <a:lnTo>
                    <a:pt x="29109" y="445345"/>
                  </a:lnTo>
                  <a:lnTo>
                    <a:pt x="50457" y="483858"/>
                  </a:lnTo>
                  <a:lnTo>
                    <a:pt x="76821" y="518808"/>
                  </a:lnTo>
                  <a:lnTo>
                    <a:pt x="107716" y="549712"/>
                  </a:lnTo>
                  <a:lnTo>
                    <a:pt x="142658" y="576083"/>
                  </a:lnTo>
                  <a:lnTo>
                    <a:pt x="181162" y="597438"/>
                  </a:lnTo>
                  <a:lnTo>
                    <a:pt x="222744" y="613292"/>
                  </a:lnTo>
                  <a:lnTo>
                    <a:pt x="266918" y="623159"/>
                  </a:lnTo>
                  <a:lnTo>
                    <a:pt x="313202" y="626556"/>
                  </a:lnTo>
                  <a:lnTo>
                    <a:pt x="359484" y="623159"/>
                  </a:lnTo>
                  <a:lnTo>
                    <a:pt x="403659" y="613292"/>
                  </a:lnTo>
                  <a:lnTo>
                    <a:pt x="445242" y="597438"/>
                  </a:lnTo>
                  <a:lnTo>
                    <a:pt x="483749" y="576083"/>
                  </a:lnTo>
                  <a:lnTo>
                    <a:pt x="518694" y="549712"/>
                  </a:lnTo>
                  <a:lnTo>
                    <a:pt x="549594" y="518808"/>
                  </a:lnTo>
                  <a:lnTo>
                    <a:pt x="575962" y="483858"/>
                  </a:lnTo>
                  <a:lnTo>
                    <a:pt x="597315" y="445345"/>
                  </a:lnTo>
                  <a:lnTo>
                    <a:pt x="613167" y="403754"/>
                  </a:lnTo>
                  <a:lnTo>
                    <a:pt x="623034" y="359570"/>
                  </a:lnTo>
                  <a:lnTo>
                    <a:pt x="626431" y="313278"/>
                  </a:lnTo>
                  <a:close/>
                </a:path>
              </a:pathLst>
            </a:custGeom>
            <a:ln w="44431">
              <a:solidFill>
                <a:srgbClr val="FF0000"/>
              </a:solidFill>
            </a:ln>
          </p:spPr>
          <p:txBody>
            <a:bodyPr wrap="square" lIns="0" tIns="0" rIns="0" bIns="0" rtlCol="0"/>
            <a:lstStyle/>
            <a:p>
              <a:endParaRPr sz="2400"/>
            </a:p>
          </p:txBody>
        </p:sp>
      </p:grpSp>
      <p:sp>
        <p:nvSpPr>
          <p:cNvPr id="87" name="object 87"/>
          <p:cNvSpPr txBox="1"/>
          <p:nvPr/>
        </p:nvSpPr>
        <p:spPr>
          <a:xfrm>
            <a:off x="2447601" y="2923798"/>
            <a:ext cx="701887" cy="596872"/>
          </a:xfrm>
          <a:prstGeom prst="rect">
            <a:avLst/>
          </a:prstGeom>
        </p:spPr>
        <p:txBody>
          <a:bodyPr vert="horz" wrap="square" lIns="0" tIns="22013" rIns="0" bIns="0" rtlCol="0">
            <a:spAutoFit/>
          </a:bodyPr>
          <a:lstStyle/>
          <a:p>
            <a:pPr marL="16933" marR="6773" indent="183722">
              <a:spcBef>
                <a:spcPts val="173"/>
              </a:spcBef>
            </a:pPr>
            <a:r>
              <a:rPr sz="1867" b="1" spc="-33" dirty="0">
                <a:latin typeface="Arial"/>
                <a:cs typeface="Arial"/>
              </a:rPr>
              <a:t>Rx </a:t>
            </a:r>
            <a:r>
              <a:rPr sz="1867" b="1" spc="-27" dirty="0">
                <a:latin typeface="Arial"/>
                <a:cs typeface="Arial"/>
              </a:rPr>
              <a:t>Bump</a:t>
            </a:r>
            <a:endParaRPr sz="1867">
              <a:latin typeface="Arial"/>
              <a:cs typeface="Arial"/>
            </a:endParaRPr>
          </a:p>
        </p:txBody>
      </p:sp>
      <p:grpSp>
        <p:nvGrpSpPr>
          <p:cNvPr id="88" name="object 88"/>
          <p:cNvGrpSpPr/>
          <p:nvPr/>
        </p:nvGrpSpPr>
        <p:grpSpPr>
          <a:xfrm>
            <a:off x="2374561" y="1403097"/>
            <a:ext cx="2820247" cy="1958340"/>
            <a:chOff x="1780920" y="1052322"/>
            <a:chExt cx="2115185" cy="1468755"/>
          </a:xfrm>
        </p:grpSpPr>
        <p:pic>
          <p:nvPicPr>
            <p:cNvPr id="89" name="object 89"/>
            <p:cNvPicPr/>
            <p:nvPr/>
          </p:nvPicPr>
          <p:blipFill>
            <a:blip r:embed="rId13" cstate="print"/>
            <a:stretch>
              <a:fillRect/>
            </a:stretch>
          </p:blipFill>
          <p:spPr>
            <a:xfrm>
              <a:off x="3661610" y="2403281"/>
              <a:ext cx="234317" cy="117561"/>
            </a:xfrm>
            <a:prstGeom prst="rect">
              <a:avLst/>
            </a:prstGeom>
          </p:spPr>
        </p:pic>
        <p:sp>
          <p:nvSpPr>
            <p:cNvPr id="90" name="object 90"/>
            <p:cNvSpPr/>
            <p:nvPr/>
          </p:nvSpPr>
          <p:spPr>
            <a:xfrm>
              <a:off x="1780921" y="1052321"/>
              <a:ext cx="1280795" cy="276225"/>
            </a:xfrm>
            <a:custGeom>
              <a:avLst/>
              <a:gdLst/>
              <a:ahLst/>
              <a:cxnLst/>
              <a:rect l="l" t="t" r="r" b="b"/>
              <a:pathLst>
                <a:path w="1280795" h="276225">
                  <a:moveTo>
                    <a:pt x="17145" y="0"/>
                  </a:moveTo>
                  <a:lnTo>
                    <a:pt x="0" y="0"/>
                  </a:lnTo>
                  <a:lnTo>
                    <a:pt x="0" y="276098"/>
                  </a:lnTo>
                  <a:lnTo>
                    <a:pt x="17145" y="276098"/>
                  </a:lnTo>
                  <a:lnTo>
                    <a:pt x="17145" y="0"/>
                  </a:lnTo>
                  <a:close/>
                </a:path>
                <a:path w="1280795" h="276225">
                  <a:moveTo>
                    <a:pt x="1280541" y="0"/>
                  </a:moveTo>
                  <a:lnTo>
                    <a:pt x="1263396" y="0"/>
                  </a:lnTo>
                  <a:lnTo>
                    <a:pt x="1263396" y="276098"/>
                  </a:lnTo>
                  <a:lnTo>
                    <a:pt x="1280541" y="276098"/>
                  </a:lnTo>
                  <a:lnTo>
                    <a:pt x="1280541" y="0"/>
                  </a:lnTo>
                  <a:close/>
                </a:path>
              </a:pathLst>
            </a:custGeom>
            <a:solidFill>
              <a:srgbClr val="000000"/>
            </a:solidFill>
          </p:spPr>
          <p:txBody>
            <a:bodyPr wrap="square" lIns="0" tIns="0" rIns="0" bIns="0" rtlCol="0"/>
            <a:lstStyle/>
            <a:p>
              <a:endParaRPr sz="2400"/>
            </a:p>
          </p:txBody>
        </p:sp>
      </p:grpSp>
      <p:sp>
        <p:nvSpPr>
          <p:cNvPr id="91" name="object 91"/>
          <p:cNvSpPr txBox="1"/>
          <p:nvPr/>
        </p:nvSpPr>
        <p:spPr>
          <a:xfrm>
            <a:off x="536989" y="1507406"/>
            <a:ext cx="455507" cy="287195"/>
          </a:xfrm>
          <a:prstGeom prst="rect">
            <a:avLst/>
          </a:prstGeom>
        </p:spPr>
        <p:txBody>
          <a:bodyPr vert="horz" wrap="square" lIns="0" tIns="20320" rIns="0" bIns="0" rtlCol="0">
            <a:spAutoFit/>
          </a:bodyPr>
          <a:lstStyle/>
          <a:p>
            <a:pPr marL="16933">
              <a:spcBef>
                <a:spcPts val="160"/>
              </a:spcBef>
            </a:pPr>
            <a:r>
              <a:rPr sz="1733" dirty="0">
                <a:latin typeface="Cambria Math"/>
                <a:cs typeface="Cambria Math"/>
              </a:rPr>
              <a:t>𝒏 </a:t>
            </a:r>
            <a:r>
              <a:rPr sz="1733" spc="-47" dirty="0">
                <a:latin typeface="Cambria Math"/>
                <a:cs typeface="Cambria Math"/>
              </a:rPr>
              <a:t>𝒊𝒏</a:t>
            </a:r>
            <a:endParaRPr sz="1733">
              <a:latin typeface="Cambria Math"/>
              <a:cs typeface="Cambria Math"/>
            </a:endParaRPr>
          </a:p>
        </p:txBody>
      </p:sp>
      <p:sp>
        <p:nvSpPr>
          <p:cNvPr id="92" name="object 92"/>
          <p:cNvSpPr txBox="1"/>
          <p:nvPr/>
        </p:nvSpPr>
        <p:spPr>
          <a:xfrm>
            <a:off x="389332" y="1231054"/>
            <a:ext cx="349673" cy="386430"/>
          </a:xfrm>
          <a:prstGeom prst="rect">
            <a:avLst/>
          </a:prstGeom>
        </p:spPr>
        <p:txBody>
          <a:bodyPr vert="horz" wrap="square" lIns="0" tIns="16933" rIns="0" bIns="0" rtlCol="0">
            <a:spAutoFit/>
          </a:bodyPr>
          <a:lstStyle/>
          <a:p>
            <a:pPr marL="50799">
              <a:spcBef>
                <a:spcPts val="133"/>
              </a:spcBef>
            </a:pPr>
            <a:r>
              <a:rPr sz="3600" spc="-49" baseline="-21604" dirty="0">
                <a:latin typeface="Cambria Math"/>
                <a:cs typeface="Cambria Math"/>
              </a:rPr>
              <a:t>𝒊</a:t>
            </a:r>
            <a:r>
              <a:rPr sz="1733" spc="-33" dirty="0">
                <a:latin typeface="Cambria Math"/>
                <a:cs typeface="Cambria Math"/>
              </a:rPr>
              <a:t>𝟐</a:t>
            </a:r>
            <a:endParaRPr sz="1733">
              <a:latin typeface="Cambria Math"/>
              <a:cs typeface="Cambria Math"/>
            </a:endParaRPr>
          </a:p>
        </p:txBody>
      </p:sp>
      <p:sp>
        <p:nvSpPr>
          <p:cNvPr id="93" name="object 93"/>
          <p:cNvSpPr txBox="1"/>
          <p:nvPr/>
        </p:nvSpPr>
        <p:spPr>
          <a:xfrm>
            <a:off x="4103623" y="1233084"/>
            <a:ext cx="167640" cy="287195"/>
          </a:xfrm>
          <a:prstGeom prst="rect">
            <a:avLst/>
          </a:prstGeom>
        </p:spPr>
        <p:txBody>
          <a:bodyPr vert="horz" wrap="square" lIns="0" tIns="20320" rIns="0" bIns="0" rtlCol="0">
            <a:spAutoFit/>
          </a:bodyPr>
          <a:lstStyle/>
          <a:p>
            <a:pPr marL="16933">
              <a:spcBef>
                <a:spcPts val="160"/>
              </a:spcBef>
            </a:pPr>
            <a:r>
              <a:rPr sz="1733" spc="-67" dirty="0">
                <a:latin typeface="Cambria Math"/>
                <a:cs typeface="Cambria Math"/>
              </a:rPr>
              <a:t>𝟐</a:t>
            </a:r>
            <a:endParaRPr sz="1733">
              <a:latin typeface="Cambria Math"/>
              <a:cs typeface="Cambria Math"/>
            </a:endParaRPr>
          </a:p>
        </p:txBody>
      </p:sp>
      <p:sp>
        <p:nvSpPr>
          <p:cNvPr id="94" name="object 94"/>
          <p:cNvSpPr txBox="1"/>
          <p:nvPr/>
        </p:nvSpPr>
        <p:spPr>
          <a:xfrm>
            <a:off x="934585" y="1352972"/>
            <a:ext cx="3668607" cy="427467"/>
          </a:xfrm>
          <a:prstGeom prst="rect">
            <a:avLst/>
          </a:prstGeom>
        </p:spPr>
        <p:txBody>
          <a:bodyPr vert="horz" wrap="square" lIns="0" tIns="16933" rIns="0" bIns="0" rtlCol="0">
            <a:spAutoFit/>
          </a:bodyPr>
          <a:lstStyle/>
          <a:p>
            <a:pPr marL="135463">
              <a:lnSpc>
                <a:spcPts val="2020"/>
              </a:lnSpc>
              <a:spcBef>
                <a:spcPts val="133"/>
              </a:spcBef>
              <a:tabLst>
                <a:tab pos="1118419" algn="l"/>
                <a:tab pos="2592429" algn="l"/>
                <a:tab pos="3398435" algn="l"/>
              </a:tabLst>
            </a:pPr>
            <a:r>
              <a:rPr sz="2400" dirty="0">
                <a:latin typeface="Cambria Math"/>
                <a:cs typeface="Cambria Math"/>
              </a:rPr>
              <a:t>≈</a:t>
            </a:r>
            <a:r>
              <a:rPr sz="2400" spc="113" dirty="0">
                <a:latin typeface="Cambria Math"/>
                <a:cs typeface="Cambria Math"/>
              </a:rPr>
              <a:t> </a:t>
            </a:r>
            <a:r>
              <a:rPr sz="2400" spc="-33" dirty="0">
                <a:latin typeface="Cambria Math"/>
                <a:cs typeface="Cambria Math"/>
              </a:rPr>
              <a:t>𝒊</a:t>
            </a:r>
            <a:r>
              <a:rPr sz="2600" spc="-49" baseline="27777" dirty="0">
                <a:latin typeface="Cambria Math"/>
                <a:cs typeface="Cambria Math"/>
              </a:rPr>
              <a:t>𝟐</a:t>
            </a:r>
            <a:r>
              <a:rPr sz="2600" baseline="27777" dirty="0">
                <a:latin typeface="Cambria Math"/>
                <a:cs typeface="Cambria Math"/>
              </a:rPr>
              <a:t>	</a:t>
            </a:r>
            <a:r>
              <a:rPr sz="2400" dirty="0">
                <a:latin typeface="Cambria Math"/>
                <a:cs typeface="Cambria Math"/>
              </a:rPr>
              <a:t>×</a:t>
            </a:r>
            <a:r>
              <a:rPr sz="2400" spc="100" dirty="0">
                <a:latin typeface="Cambria Math"/>
                <a:cs typeface="Cambria Math"/>
              </a:rPr>
              <a:t>  </a:t>
            </a:r>
            <a:r>
              <a:rPr sz="2400" spc="-67" dirty="0">
                <a:latin typeface="Cambria Math"/>
                <a:cs typeface="Cambria Math"/>
              </a:rPr>
              <a:t>𝒁</a:t>
            </a:r>
            <a:r>
              <a:rPr sz="2400" dirty="0">
                <a:latin typeface="Cambria Math"/>
                <a:cs typeface="Cambria Math"/>
              </a:rPr>
              <a:t>	</a:t>
            </a:r>
            <a:r>
              <a:rPr sz="2400" spc="-33" dirty="0">
                <a:latin typeface="Cambria Math"/>
                <a:cs typeface="Cambria Math"/>
              </a:rPr>
              <a:t>(𝝎)</a:t>
            </a:r>
            <a:r>
              <a:rPr sz="2400" dirty="0">
                <a:latin typeface="Cambria Math"/>
                <a:cs typeface="Cambria Math"/>
              </a:rPr>
              <a:t>	</a:t>
            </a:r>
            <a:r>
              <a:rPr sz="2400" spc="-67" dirty="0">
                <a:latin typeface="Cambria Math"/>
                <a:cs typeface="Cambria Math"/>
              </a:rPr>
              <a:t>×</a:t>
            </a:r>
            <a:endParaRPr sz="2400">
              <a:latin typeface="Cambria Math"/>
              <a:cs typeface="Cambria Math"/>
            </a:endParaRPr>
          </a:p>
          <a:p>
            <a:pPr marL="557939">
              <a:lnSpc>
                <a:spcPts val="1220"/>
              </a:lnSpc>
              <a:tabLst>
                <a:tab pos="1691598" algn="l"/>
              </a:tabLst>
            </a:pPr>
            <a:r>
              <a:rPr sz="1733" dirty="0">
                <a:latin typeface="Cambria Math"/>
                <a:cs typeface="Cambria Math"/>
              </a:rPr>
              <a:t>𝒏 </a:t>
            </a:r>
            <a:r>
              <a:rPr sz="1733" spc="-47" dirty="0">
                <a:latin typeface="Cambria Math"/>
                <a:cs typeface="Cambria Math"/>
              </a:rPr>
              <a:t>𝒈𝒎</a:t>
            </a:r>
            <a:r>
              <a:rPr sz="1733" dirty="0">
                <a:latin typeface="Cambria Math"/>
                <a:cs typeface="Cambria Math"/>
              </a:rPr>
              <a:t>	</a:t>
            </a:r>
            <a:r>
              <a:rPr sz="1733" spc="-13" dirty="0">
                <a:latin typeface="Cambria Math"/>
                <a:cs typeface="Cambria Math"/>
              </a:rPr>
              <a:t>𝒕_𝒔𝒄𝒂𝒍𝒆𝒅</a:t>
            </a:r>
            <a:endParaRPr sz="1733">
              <a:latin typeface="Cambria Math"/>
              <a:cs typeface="Cambria Math"/>
            </a:endParaRPr>
          </a:p>
        </p:txBody>
      </p:sp>
      <p:sp>
        <p:nvSpPr>
          <p:cNvPr id="95" name="object 95"/>
          <p:cNvSpPr/>
          <p:nvPr/>
        </p:nvSpPr>
        <p:spPr>
          <a:xfrm>
            <a:off x="4617720" y="1576663"/>
            <a:ext cx="983827" cy="20320"/>
          </a:xfrm>
          <a:custGeom>
            <a:avLst/>
            <a:gdLst/>
            <a:ahLst/>
            <a:cxnLst/>
            <a:rect l="l" t="t" r="r" b="b"/>
            <a:pathLst>
              <a:path w="737870" h="15240">
                <a:moveTo>
                  <a:pt x="737615" y="0"/>
                </a:moveTo>
                <a:lnTo>
                  <a:pt x="0" y="0"/>
                </a:lnTo>
                <a:lnTo>
                  <a:pt x="0" y="15239"/>
                </a:lnTo>
                <a:lnTo>
                  <a:pt x="737615" y="15239"/>
                </a:lnTo>
                <a:lnTo>
                  <a:pt x="737615" y="0"/>
                </a:lnTo>
                <a:close/>
              </a:path>
            </a:pathLst>
          </a:custGeom>
          <a:solidFill>
            <a:srgbClr val="000000"/>
          </a:solidFill>
        </p:spPr>
        <p:txBody>
          <a:bodyPr wrap="square" lIns="0" tIns="0" rIns="0" bIns="0" rtlCol="0"/>
          <a:lstStyle/>
          <a:p>
            <a:endParaRPr sz="2400"/>
          </a:p>
        </p:txBody>
      </p:sp>
      <p:sp>
        <p:nvSpPr>
          <p:cNvPr id="96" name="object 96"/>
          <p:cNvSpPr txBox="1"/>
          <p:nvPr/>
        </p:nvSpPr>
        <p:spPr>
          <a:xfrm>
            <a:off x="5016329" y="1172126"/>
            <a:ext cx="186267" cy="324875"/>
          </a:xfrm>
          <a:prstGeom prst="rect">
            <a:avLst/>
          </a:prstGeom>
        </p:spPr>
        <p:txBody>
          <a:bodyPr vert="horz" wrap="square" lIns="0" tIns="16933" rIns="0" bIns="0" rtlCol="0">
            <a:spAutoFit/>
          </a:bodyPr>
          <a:lstStyle/>
          <a:p>
            <a:pPr marL="16933">
              <a:spcBef>
                <a:spcPts val="133"/>
              </a:spcBef>
            </a:pPr>
            <a:r>
              <a:rPr sz="2000" spc="-67" dirty="0">
                <a:latin typeface="Cambria Math"/>
                <a:cs typeface="Cambria Math"/>
              </a:rPr>
              <a:t>𝟏</a:t>
            </a:r>
            <a:endParaRPr sz="2000">
              <a:latin typeface="Cambria Math"/>
              <a:cs typeface="Cambria Math"/>
            </a:endParaRPr>
          </a:p>
        </p:txBody>
      </p:sp>
      <p:sp>
        <p:nvSpPr>
          <p:cNvPr id="97" name="object 97"/>
          <p:cNvSpPr txBox="1"/>
          <p:nvPr/>
        </p:nvSpPr>
        <p:spPr>
          <a:xfrm>
            <a:off x="4882219" y="1739053"/>
            <a:ext cx="497840" cy="241156"/>
          </a:xfrm>
          <a:prstGeom prst="rect">
            <a:avLst/>
          </a:prstGeom>
        </p:spPr>
        <p:txBody>
          <a:bodyPr vert="horz" wrap="square" lIns="0" tIns="15240" rIns="0" bIns="0" rtlCol="0">
            <a:spAutoFit/>
          </a:bodyPr>
          <a:lstStyle/>
          <a:p>
            <a:pPr marL="16933">
              <a:spcBef>
                <a:spcPts val="120"/>
              </a:spcBef>
              <a:tabLst>
                <a:tab pos="375911" algn="l"/>
              </a:tabLst>
            </a:pPr>
            <a:r>
              <a:rPr sz="1467" spc="-67" dirty="0">
                <a:solidFill>
                  <a:srgbClr val="FF0000"/>
                </a:solidFill>
                <a:latin typeface="Cambria Math"/>
                <a:cs typeface="Cambria Math"/>
              </a:rPr>
              <a:t>𝒎</a:t>
            </a:r>
            <a:r>
              <a:rPr sz="1467" dirty="0">
                <a:solidFill>
                  <a:srgbClr val="FF0000"/>
                </a:solidFill>
                <a:latin typeface="Cambria Math"/>
                <a:cs typeface="Cambria Math"/>
              </a:rPr>
              <a:t>	</a:t>
            </a:r>
            <a:r>
              <a:rPr sz="1467" spc="-67" dirty="0">
                <a:latin typeface="Cambria Math"/>
                <a:cs typeface="Cambria Math"/>
              </a:rPr>
              <a:t>𝒇</a:t>
            </a:r>
            <a:endParaRPr sz="1467">
              <a:latin typeface="Cambria Math"/>
              <a:cs typeface="Cambria Math"/>
            </a:endParaRPr>
          </a:p>
        </p:txBody>
      </p:sp>
      <p:sp>
        <p:nvSpPr>
          <p:cNvPr id="98" name="object 98"/>
          <p:cNvSpPr txBox="1"/>
          <p:nvPr/>
        </p:nvSpPr>
        <p:spPr>
          <a:xfrm>
            <a:off x="4567937" y="1606973"/>
            <a:ext cx="1074420" cy="324875"/>
          </a:xfrm>
          <a:prstGeom prst="rect">
            <a:avLst/>
          </a:prstGeom>
        </p:spPr>
        <p:txBody>
          <a:bodyPr vert="horz" wrap="square" lIns="0" tIns="16933" rIns="0" bIns="0" rtlCol="0">
            <a:spAutoFit/>
          </a:bodyPr>
          <a:lstStyle/>
          <a:p>
            <a:pPr marL="50799">
              <a:spcBef>
                <a:spcPts val="133"/>
              </a:spcBef>
              <a:tabLst>
                <a:tab pos="513914" algn="l"/>
              </a:tabLst>
            </a:pPr>
            <a:r>
              <a:rPr sz="2000" spc="-33" dirty="0">
                <a:latin typeface="Cambria Math"/>
                <a:cs typeface="Cambria Math"/>
              </a:rPr>
              <a:t>(</a:t>
            </a:r>
            <a:r>
              <a:rPr sz="2000" spc="-33" dirty="0">
                <a:solidFill>
                  <a:srgbClr val="FF0000"/>
                </a:solidFill>
                <a:latin typeface="Cambria Math"/>
                <a:cs typeface="Cambria Math"/>
              </a:rPr>
              <a:t>𝒈</a:t>
            </a:r>
            <a:r>
              <a:rPr sz="2000" dirty="0">
                <a:solidFill>
                  <a:srgbClr val="FF0000"/>
                </a:solidFill>
                <a:latin typeface="Cambria Math"/>
                <a:cs typeface="Cambria Math"/>
              </a:rPr>
              <a:t>	</a:t>
            </a:r>
            <a:r>
              <a:rPr sz="2000" dirty="0">
                <a:latin typeface="Cambria Math"/>
                <a:cs typeface="Cambria Math"/>
              </a:rPr>
              <a:t>𝑹</a:t>
            </a:r>
            <a:r>
              <a:rPr sz="2000" spc="440" dirty="0">
                <a:latin typeface="Cambria Math"/>
                <a:cs typeface="Cambria Math"/>
              </a:rPr>
              <a:t> </a:t>
            </a:r>
            <a:r>
              <a:rPr sz="2000" spc="-33" dirty="0">
                <a:latin typeface="Cambria Math"/>
                <a:cs typeface="Cambria Math"/>
              </a:rPr>
              <a:t>)</a:t>
            </a:r>
            <a:r>
              <a:rPr sz="2200" spc="-49" baseline="27777" dirty="0">
                <a:latin typeface="Cambria Math"/>
                <a:cs typeface="Cambria Math"/>
              </a:rPr>
              <a:t>𝟐</a:t>
            </a:r>
            <a:endParaRPr sz="2200" baseline="27777">
              <a:latin typeface="Cambria Math"/>
              <a:cs typeface="Cambria Math"/>
            </a:endParaRPr>
          </a:p>
        </p:txBody>
      </p:sp>
      <p:sp>
        <p:nvSpPr>
          <p:cNvPr id="99" name="object 99"/>
          <p:cNvSpPr txBox="1"/>
          <p:nvPr/>
        </p:nvSpPr>
        <p:spPr>
          <a:xfrm>
            <a:off x="5644219" y="1403773"/>
            <a:ext cx="215900" cy="324875"/>
          </a:xfrm>
          <a:prstGeom prst="rect">
            <a:avLst/>
          </a:prstGeom>
        </p:spPr>
        <p:txBody>
          <a:bodyPr vert="horz" wrap="square" lIns="0" tIns="16933" rIns="0" bIns="0" rtlCol="0">
            <a:spAutoFit/>
          </a:bodyPr>
          <a:lstStyle/>
          <a:p>
            <a:pPr marL="16933">
              <a:spcBef>
                <a:spcPts val="133"/>
              </a:spcBef>
            </a:pPr>
            <a:r>
              <a:rPr sz="2000" spc="-67" dirty="0">
                <a:latin typeface="Cambria Math"/>
                <a:cs typeface="Cambria Math"/>
              </a:rPr>
              <a:t>×</a:t>
            </a:r>
            <a:endParaRPr sz="2000">
              <a:latin typeface="Cambria Math"/>
              <a:cs typeface="Cambria Math"/>
            </a:endParaRPr>
          </a:p>
        </p:txBody>
      </p:sp>
      <p:sp>
        <p:nvSpPr>
          <p:cNvPr id="100" name="object 100"/>
          <p:cNvSpPr/>
          <p:nvPr/>
        </p:nvSpPr>
        <p:spPr>
          <a:xfrm>
            <a:off x="5918709" y="1263395"/>
            <a:ext cx="815340" cy="647700"/>
          </a:xfrm>
          <a:custGeom>
            <a:avLst/>
            <a:gdLst/>
            <a:ahLst/>
            <a:cxnLst/>
            <a:rect l="l" t="t" r="r" b="b"/>
            <a:pathLst>
              <a:path w="611504" h="485775">
                <a:moveTo>
                  <a:pt x="87503" y="6985"/>
                </a:moveTo>
                <a:lnTo>
                  <a:pt x="48869" y="40855"/>
                </a:lnTo>
                <a:lnTo>
                  <a:pt x="22479" y="97790"/>
                </a:lnTo>
                <a:lnTo>
                  <a:pt x="5613" y="166433"/>
                </a:lnTo>
                <a:lnTo>
                  <a:pt x="0" y="242697"/>
                </a:lnTo>
                <a:lnTo>
                  <a:pt x="1346" y="279679"/>
                </a:lnTo>
                <a:lnTo>
                  <a:pt x="1397" y="281254"/>
                </a:lnTo>
                <a:lnTo>
                  <a:pt x="12636" y="353593"/>
                </a:lnTo>
                <a:lnTo>
                  <a:pt x="34696" y="418223"/>
                </a:lnTo>
                <a:lnTo>
                  <a:pt x="65036" y="467423"/>
                </a:lnTo>
                <a:lnTo>
                  <a:pt x="83185" y="485775"/>
                </a:lnTo>
                <a:lnTo>
                  <a:pt x="87503" y="478917"/>
                </a:lnTo>
                <a:lnTo>
                  <a:pt x="71945" y="460273"/>
                </a:lnTo>
                <a:lnTo>
                  <a:pt x="58293" y="437870"/>
                </a:lnTo>
                <a:lnTo>
                  <a:pt x="36703" y="381762"/>
                </a:lnTo>
                <a:lnTo>
                  <a:pt x="23266" y="315188"/>
                </a:lnTo>
                <a:lnTo>
                  <a:pt x="18796" y="242697"/>
                </a:lnTo>
                <a:lnTo>
                  <a:pt x="19913" y="205105"/>
                </a:lnTo>
                <a:lnTo>
                  <a:pt x="28867" y="135293"/>
                </a:lnTo>
                <a:lnTo>
                  <a:pt x="46583" y="73698"/>
                </a:lnTo>
                <a:lnTo>
                  <a:pt x="71970" y="25641"/>
                </a:lnTo>
                <a:lnTo>
                  <a:pt x="87503" y="6985"/>
                </a:lnTo>
                <a:close/>
              </a:path>
              <a:path w="611504" h="485775">
                <a:moveTo>
                  <a:pt x="517779" y="234950"/>
                </a:moveTo>
                <a:lnTo>
                  <a:pt x="94107" y="234950"/>
                </a:lnTo>
                <a:lnTo>
                  <a:pt x="94107" y="250190"/>
                </a:lnTo>
                <a:lnTo>
                  <a:pt x="517779" y="250190"/>
                </a:lnTo>
                <a:lnTo>
                  <a:pt x="517779" y="234950"/>
                </a:lnTo>
                <a:close/>
              </a:path>
              <a:path w="611504" h="485775">
                <a:moveTo>
                  <a:pt x="611505" y="242697"/>
                </a:moveTo>
                <a:lnTo>
                  <a:pt x="610146" y="205105"/>
                </a:lnTo>
                <a:lnTo>
                  <a:pt x="610095" y="203631"/>
                </a:lnTo>
                <a:lnTo>
                  <a:pt x="605878" y="166433"/>
                </a:lnTo>
                <a:lnTo>
                  <a:pt x="589026" y="97790"/>
                </a:lnTo>
                <a:lnTo>
                  <a:pt x="562571" y="40855"/>
                </a:lnTo>
                <a:lnTo>
                  <a:pt x="528320" y="0"/>
                </a:lnTo>
                <a:lnTo>
                  <a:pt x="523875" y="6985"/>
                </a:lnTo>
                <a:lnTo>
                  <a:pt x="539394" y="25641"/>
                </a:lnTo>
                <a:lnTo>
                  <a:pt x="553034" y="47866"/>
                </a:lnTo>
                <a:lnTo>
                  <a:pt x="574675" y="103124"/>
                </a:lnTo>
                <a:lnTo>
                  <a:pt x="588162" y="169303"/>
                </a:lnTo>
                <a:lnTo>
                  <a:pt x="592709" y="242697"/>
                </a:lnTo>
                <a:lnTo>
                  <a:pt x="591578" y="279679"/>
                </a:lnTo>
                <a:lnTo>
                  <a:pt x="582625" y="349211"/>
                </a:lnTo>
                <a:lnTo>
                  <a:pt x="564908" y="411695"/>
                </a:lnTo>
                <a:lnTo>
                  <a:pt x="539470" y="460273"/>
                </a:lnTo>
                <a:lnTo>
                  <a:pt x="523875" y="478917"/>
                </a:lnTo>
                <a:lnTo>
                  <a:pt x="528320" y="485775"/>
                </a:lnTo>
                <a:lnTo>
                  <a:pt x="562571" y="444906"/>
                </a:lnTo>
                <a:lnTo>
                  <a:pt x="589026" y="387350"/>
                </a:lnTo>
                <a:lnTo>
                  <a:pt x="605878" y="318223"/>
                </a:lnTo>
                <a:lnTo>
                  <a:pt x="610095" y="281254"/>
                </a:lnTo>
                <a:lnTo>
                  <a:pt x="611505" y="242697"/>
                </a:lnTo>
                <a:close/>
              </a:path>
            </a:pathLst>
          </a:custGeom>
          <a:solidFill>
            <a:srgbClr val="000000"/>
          </a:solidFill>
        </p:spPr>
        <p:txBody>
          <a:bodyPr wrap="square" lIns="0" tIns="0" rIns="0" bIns="0" rtlCol="0"/>
          <a:lstStyle/>
          <a:p>
            <a:endParaRPr sz="2400"/>
          </a:p>
        </p:txBody>
      </p:sp>
      <p:sp>
        <p:nvSpPr>
          <p:cNvPr id="101" name="object 101"/>
          <p:cNvSpPr txBox="1"/>
          <p:nvPr/>
        </p:nvSpPr>
        <p:spPr>
          <a:xfrm>
            <a:off x="6186761" y="1304206"/>
            <a:ext cx="223520" cy="241156"/>
          </a:xfrm>
          <a:prstGeom prst="rect">
            <a:avLst/>
          </a:prstGeom>
        </p:spPr>
        <p:txBody>
          <a:bodyPr vert="horz" wrap="square" lIns="0" tIns="15240" rIns="0" bIns="0" rtlCol="0">
            <a:spAutoFit/>
          </a:bodyPr>
          <a:lstStyle/>
          <a:p>
            <a:pPr marL="16933">
              <a:spcBef>
                <a:spcPts val="120"/>
              </a:spcBef>
            </a:pPr>
            <a:r>
              <a:rPr sz="1467" spc="-33" dirty="0">
                <a:solidFill>
                  <a:srgbClr val="FF0000"/>
                </a:solidFill>
                <a:latin typeface="Cambria Math"/>
                <a:cs typeface="Cambria Math"/>
              </a:rPr>
              <a:t>𝒊𝒏</a:t>
            </a:r>
            <a:endParaRPr sz="1467">
              <a:latin typeface="Cambria Math"/>
              <a:cs typeface="Cambria Math"/>
            </a:endParaRPr>
          </a:p>
        </p:txBody>
      </p:sp>
      <p:sp>
        <p:nvSpPr>
          <p:cNvPr id="107" name="object 107"/>
          <p:cNvSpPr txBox="1"/>
          <p:nvPr/>
        </p:nvSpPr>
        <p:spPr>
          <a:xfrm>
            <a:off x="4469721" y="6329810"/>
            <a:ext cx="3579707" cy="387286"/>
          </a:xfrm>
          <a:prstGeom prst="rect">
            <a:avLst/>
          </a:prstGeom>
        </p:spPr>
        <p:txBody>
          <a:bodyPr vert="horz" wrap="square" lIns="0" tIns="17780" rIns="0" bIns="0" rtlCol="0">
            <a:spAutoFit/>
          </a:bodyPr>
          <a:lstStyle/>
          <a:p>
            <a:pPr marL="601964" marR="6773" indent="-585879">
              <a:spcBef>
                <a:spcPts val="140"/>
              </a:spcBef>
            </a:pPr>
            <a:r>
              <a:rPr sz="1200" dirty="0">
                <a:solidFill>
                  <a:srgbClr val="FFFFFF"/>
                </a:solidFill>
                <a:latin typeface="Verdana"/>
                <a:cs typeface="Verdana"/>
              </a:rPr>
              <a:t>Distribution</a:t>
            </a:r>
            <a:r>
              <a:rPr sz="1200" spc="-60" dirty="0">
                <a:solidFill>
                  <a:srgbClr val="FFFFFF"/>
                </a:solidFill>
                <a:latin typeface="Verdana"/>
                <a:cs typeface="Verdana"/>
              </a:rPr>
              <a:t> </a:t>
            </a:r>
            <a:r>
              <a:rPr sz="1200" dirty="0">
                <a:solidFill>
                  <a:srgbClr val="FFFFFF"/>
                </a:solidFill>
                <a:latin typeface="Verdana"/>
                <a:cs typeface="Verdana"/>
              </a:rPr>
              <a:t>Statement</a:t>
            </a:r>
            <a:r>
              <a:rPr sz="1200" spc="-87" dirty="0">
                <a:solidFill>
                  <a:srgbClr val="FFFFFF"/>
                </a:solidFill>
                <a:latin typeface="Verdana"/>
                <a:cs typeface="Verdana"/>
              </a:rPr>
              <a:t> </a:t>
            </a:r>
            <a:r>
              <a:rPr sz="1200" dirty="0">
                <a:solidFill>
                  <a:srgbClr val="FFFFFF"/>
                </a:solidFill>
                <a:latin typeface="Verdana"/>
                <a:cs typeface="Verdana"/>
              </a:rPr>
              <a:t>A</a:t>
            </a:r>
            <a:r>
              <a:rPr sz="1200" spc="-40" dirty="0">
                <a:solidFill>
                  <a:srgbClr val="FFFFFF"/>
                </a:solidFill>
                <a:latin typeface="Verdana"/>
                <a:cs typeface="Verdana"/>
              </a:rPr>
              <a:t> </a:t>
            </a:r>
            <a:r>
              <a:rPr sz="1200" dirty="0">
                <a:solidFill>
                  <a:srgbClr val="FFFFFF"/>
                </a:solidFill>
                <a:latin typeface="Verdana"/>
                <a:cs typeface="Verdana"/>
              </a:rPr>
              <a:t>–Approved</a:t>
            </a:r>
            <a:r>
              <a:rPr sz="1200" spc="-40" dirty="0">
                <a:solidFill>
                  <a:srgbClr val="FFFFFF"/>
                </a:solidFill>
                <a:latin typeface="Verdana"/>
                <a:cs typeface="Verdana"/>
              </a:rPr>
              <a:t> </a:t>
            </a:r>
            <a:r>
              <a:rPr sz="1200" dirty="0">
                <a:solidFill>
                  <a:srgbClr val="FFFFFF"/>
                </a:solidFill>
                <a:latin typeface="Verdana"/>
                <a:cs typeface="Verdana"/>
              </a:rPr>
              <a:t>for</a:t>
            </a:r>
            <a:r>
              <a:rPr sz="1200" spc="-47" dirty="0">
                <a:solidFill>
                  <a:srgbClr val="FFFFFF"/>
                </a:solidFill>
                <a:latin typeface="Verdana"/>
                <a:cs typeface="Verdana"/>
              </a:rPr>
              <a:t> </a:t>
            </a:r>
            <a:r>
              <a:rPr sz="1200" spc="-13" dirty="0">
                <a:solidFill>
                  <a:srgbClr val="FFFFFF"/>
                </a:solidFill>
                <a:latin typeface="Verdana"/>
                <a:cs typeface="Verdana"/>
              </a:rPr>
              <a:t>Public </a:t>
            </a:r>
            <a:r>
              <a:rPr sz="1200" dirty="0">
                <a:solidFill>
                  <a:srgbClr val="FFFFFF"/>
                </a:solidFill>
                <a:latin typeface="Verdana"/>
                <a:cs typeface="Verdana"/>
              </a:rPr>
              <a:t>Release,</a:t>
            </a:r>
            <a:r>
              <a:rPr sz="1200" spc="-7" dirty="0">
                <a:solidFill>
                  <a:srgbClr val="FFFFFF"/>
                </a:solidFill>
                <a:latin typeface="Verdana"/>
                <a:cs typeface="Verdana"/>
              </a:rPr>
              <a:t> </a:t>
            </a:r>
            <a:r>
              <a:rPr sz="1200" spc="-13" dirty="0">
                <a:solidFill>
                  <a:srgbClr val="FFFFFF"/>
                </a:solidFill>
                <a:latin typeface="Verdana"/>
                <a:cs typeface="Verdana"/>
              </a:rPr>
              <a:t>Distribution</a:t>
            </a:r>
            <a:r>
              <a:rPr sz="1200" spc="-20" dirty="0">
                <a:solidFill>
                  <a:srgbClr val="FFFFFF"/>
                </a:solidFill>
                <a:latin typeface="Verdana"/>
                <a:cs typeface="Verdana"/>
              </a:rPr>
              <a:t> </a:t>
            </a:r>
            <a:r>
              <a:rPr sz="1200" spc="-13" dirty="0">
                <a:solidFill>
                  <a:srgbClr val="FFFFFF"/>
                </a:solidFill>
                <a:latin typeface="Verdana"/>
                <a:cs typeface="Verdana"/>
              </a:rPr>
              <a:t>Unlimited</a:t>
            </a:r>
            <a:endParaRPr sz="1200">
              <a:latin typeface="Verdana"/>
              <a:cs typeface="Verdana"/>
            </a:endParaRPr>
          </a:p>
        </p:txBody>
      </p:sp>
      <p:sp>
        <p:nvSpPr>
          <p:cNvPr id="108" name="object 108"/>
          <p:cNvSpPr txBox="1">
            <a:spLocks noGrp="1"/>
          </p:cNvSpPr>
          <p:nvPr>
            <p:ph type="sldNum" sz="quarter" idx="7"/>
          </p:nvPr>
        </p:nvSpPr>
        <p:spPr>
          <a:xfrm>
            <a:off x="8655974" y="6512464"/>
            <a:ext cx="3352800" cy="176202"/>
          </a:xfrm>
          <a:prstGeom prst="rect">
            <a:avLst/>
          </a:prstGeom>
        </p:spPr>
        <p:txBody>
          <a:bodyPr vert="horz" wrap="square" lIns="0" tIns="0" rIns="0" bIns="0" rtlCol="0" anchor="ctr">
            <a:spAutoFit/>
          </a:bodyPr>
          <a:lstStyle/>
          <a:p>
            <a:pPr marL="50799">
              <a:lnSpc>
                <a:spcPts val="1533"/>
              </a:lnSpc>
            </a:pPr>
            <a:fld id="{81D60167-4931-47E6-BA6A-407CBD079E47}" type="slidenum">
              <a:rPr/>
              <a:pPr marL="50799">
                <a:lnSpc>
                  <a:spcPts val="1533"/>
                </a:lnSpc>
              </a:pPr>
              <a:t>62</a:t>
            </a:fld>
            <a:r>
              <a:rPr dirty="0"/>
              <a:t> </a:t>
            </a:r>
            <a:endParaRPr spc="-33" dirty="0"/>
          </a:p>
        </p:txBody>
      </p:sp>
      <p:sp>
        <p:nvSpPr>
          <p:cNvPr id="102" name="object 102"/>
          <p:cNvSpPr txBox="1"/>
          <p:nvPr/>
        </p:nvSpPr>
        <p:spPr>
          <a:xfrm>
            <a:off x="6028267" y="1172126"/>
            <a:ext cx="599440" cy="324875"/>
          </a:xfrm>
          <a:prstGeom prst="rect">
            <a:avLst/>
          </a:prstGeom>
        </p:spPr>
        <p:txBody>
          <a:bodyPr vert="horz" wrap="square" lIns="0" tIns="16933" rIns="0" bIns="0" rtlCol="0">
            <a:spAutoFit/>
          </a:bodyPr>
          <a:lstStyle/>
          <a:p>
            <a:pPr marL="16933">
              <a:spcBef>
                <a:spcPts val="133"/>
              </a:spcBef>
              <a:tabLst>
                <a:tab pos="378451" algn="l"/>
              </a:tabLst>
            </a:pPr>
            <a:r>
              <a:rPr sz="2000" spc="-67" dirty="0">
                <a:solidFill>
                  <a:srgbClr val="FF0000"/>
                </a:solidFill>
                <a:latin typeface="Cambria Math"/>
                <a:cs typeface="Cambria Math"/>
              </a:rPr>
              <a:t>𝑪</a:t>
            </a:r>
            <a:r>
              <a:rPr sz="2000" dirty="0">
                <a:solidFill>
                  <a:srgbClr val="FF0000"/>
                </a:solidFill>
                <a:latin typeface="Cambria Math"/>
                <a:cs typeface="Cambria Math"/>
              </a:rPr>
              <a:t>	</a:t>
            </a:r>
            <a:r>
              <a:rPr sz="2000" spc="-67" dirty="0">
                <a:latin typeface="Cambria Math"/>
                <a:cs typeface="Cambria Math"/>
              </a:rPr>
              <a:t>𝝎</a:t>
            </a:r>
            <a:endParaRPr sz="2000">
              <a:latin typeface="Cambria Math"/>
              <a:cs typeface="Cambria Math"/>
            </a:endParaRPr>
          </a:p>
        </p:txBody>
      </p:sp>
      <p:sp>
        <p:nvSpPr>
          <p:cNvPr id="103" name="object 103"/>
          <p:cNvSpPr txBox="1"/>
          <p:nvPr/>
        </p:nvSpPr>
        <p:spPr>
          <a:xfrm>
            <a:off x="6131897" y="1606973"/>
            <a:ext cx="206587" cy="324875"/>
          </a:xfrm>
          <a:prstGeom prst="rect">
            <a:avLst/>
          </a:prstGeom>
        </p:spPr>
        <p:txBody>
          <a:bodyPr vert="horz" wrap="square" lIns="0" tIns="16933" rIns="0" bIns="0" rtlCol="0">
            <a:spAutoFit/>
          </a:bodyPr>
          <a:lstStyle/>
          <a:p>
            <a:pPr marL="16933">
              <a:spcBef>
                <a:spcPts val="133"/>
              </a:spcBef>
            </a:pPr>
            <a:r>
              <a:rPr sz="2000" spc="-67" dirty="0">
                <a:solidFill>
                  <a:srgbClr val="FF0000"/>
                </a:solidFill>
                <a:latin typeface="Cambria Math"/>
                <a:cs typeface="Cambria Math"/>
              </a:rPr>
              <a:t>𝒈</a:t>
            </a:r>
            <a:endParaRPr sz="2000">
              <a:latin typeface="Cambria Math"/>
              <a:cs typeface="Cambria Math"/>
            </a:endParaRPr>
          </a:p>
        </p:txBody>
      </p:sp>
      <p:sp>
        <p:nvSpPr>
          <p:cNvPr id="104" name="object 104"/>
          <p:cNvSpPr txBox="1"/>
          <p:nvPr/>
        </p:nvSpPr>
        <p:spPr>
          <a:xfrm>
            <a:off x="6304619" y="1739053"/>
            <a:ext cx="205740" cy="241156"/>
          </a:xfrm>
          <a:prstGeom prst="rect">
            <a:avLst/>
          </a:prstGeom>
        </p:spPr>
        <p:txBody>
          <a:bodyPr vert="horz" wrap="square" lIns="0" tIns="15240" rIns="0" bIns="0" rtlCol="0">
            <a:spAutoFit/>
          </a:bodyPr>
          <a:lstStyle/>
          <a:p>
            <a:pPr marL="16933">
              <a:spcBef>
                <a:spcPts val="120"/>
              </a:spcBef>
            </a:pPr>
            <a:r>
              <a:rPr sz="1467" spc="-67" dirty="0">
                <a:solidFill>
                  <a:srgbClr val="FF0000"/>
                </a:solidFill>
                <a:latin typeface="Cambria Math"/>
                <a:cs typeface="Cambria Math"/>
              </a:rPr>
              <a:t>𝒎</a:t>
            </a:r>
            <a:endParaRPr sz="1467">
              <a:latin typeface="Cambria Math"/>
              <a:cs typeface="Cambria Math"/>
            </a:endParaRPr>
          </a:p>
        </p:txBody>
      </p:sp>
      <p:sp>
        <p:nvSpPr>
          <p:cNvPr id="105" name="object 105"/>
          <p:cNvSpPr txBox="1"/>
          <p:nvPr/>
        </p:nvSpPr>
        <p:spPr>
          <a:xfrm>
            <a:off x="6739805" y="1131485"/>
            <a:ext cx="144780" cy="241156"/>
          </a:xfrm>
          <a:prstGeom prst="rect">
            <a:avLst/>
          </a:prstGeom>
        </p:spPr>
        <p:txBody>
          <a:bodyPr vert="horz" wrap="square" lIns="0" tIns="15240" rIns="0" bIns="0" rtlCol="0">
            <a:spAutoFit/>
          </a:bodyPr>
          <a:lstStyle/>
          <a:p>
            <a:pPr marL="16933">
              <a:spcBef>
                <a:spcPts val="120"/>
              </a:spcBef>
            </a:pPr>
            <a:r>
              <a:rPr sz="1467" spc="-67" dirty="0">
                <a:latin typeface="Cambria Math"/>
                <a:cs typeface="Cambria Math"/>
              </a:rPr>
              <a:t>𝟐</a:t>
            </a:r>
            <a:endParaRPr sz="1467">
              <a:latin typeface="Cambria Math"/>
              <a:cs typeface="Cambria Math"/>
            </a:endParaRPr>
          </a:p>
        </p:txBody>
      </p:sp>
      <p:sp>
        <p:nvSpPr>
          <p:cNvPr id="106" name="object 106"/>
          <p:cNvSpPr txBox="1"/>
          <p:nvPr/>
        </p:nvSpPr>
        <p:spPr>
          <a:xfrm>
            <a:off x="8946219" y="1817115"/>
            <a:ext cx="2399452" cy="324875"/>
          </a:xfrm>
          <a:prstGeom prst="rect">
            <a:avLst/>
          </a:prstGeom>
        </p:spPr>
        <p:txBody>
          <a:bodyPr vert="horz" wrap="square" lIns="0" tIns="16933" rIns="0" bIns="0" rtlCol="0">
            <a:spAutoFit/>
          </a:bodyPr>
          <a:lstStyle/>
          <a:p>
            <a:pPr marL="16933">
              <a:spcBef>
                <a:spcPts val="133"/>
              </a:spcBef>
            </a:pPr>
            <a:r>
              <a:rPr sz="2000" dirty="0">
                <a:latin typeface="Calibri"/>
                <a:cs typeface="Calibri"/>
              </a:rPr>
              <a:t>M.</a:t>
            </a:r>
            <a:r>
              <a:rPr sz="2000" spc="-20" dirty="0">
                <a:latin typeface="Calibri"/>
                <a:cs typeface="Calibri"/>
              </a:rPr>
              <a:t> </a:t>
            </a:r>
            <a:r>
              <a:rPr sz="2000" dirty="0">
                <a:latin typeface="Calibri"/>
                <a:cs typeface="Calibri"/>
              </a:rPr>
              <a:t>Raj</a:t>
            </a:r>
            <a:r>
              <a:rPr sz="2000" spc="-40" dirty="0">
                <a:latin typeface="Calibri"/>
                <a:cs typeface="Calibri"/>
              </a:rPr>
              <a:t> </a:t>
            </a:r>
            <a:r>
              <a:rPr sz="2000" dirty="0">
                <a:latin typeface="Calibri"/>
                <a:cs typeface="Calibri"/>
              </a:rPr>
              <a:t>et</a:t>
            </a:r>
            <a:r>
              <a:rPr sz="2000" spc="-20" dirty="0">
                <a:latin typeface="Calibri"/>
                <a:cs typeface="Calibri"/>
              </a:rPr>
              <a:t> </a:t>
            </a:r>
            <a:r>
              <a:rPr sz="2000" dirty="0">
                <a:latin typeface="Calibri"/>
                <a:cs typeface="Calibri"/>
              </a:rPr>
              <a:t>al.,</a:t>
            </a:r>
            <a:r>
              <a:rPr sz="2000" spc="-47" dirty="0">
                <a:latin typeface="Calibri"/>
                <a:cs typeface="Calibri"/>
              </a:rPr>
              <a:t> </a:t>
            </a:r>
            <a:r>
              <a:rPr sz="2000" dirty="0">
                <a:latin typeface="Calibri"/>
                <a:cs typeface="Calibri"/>
              </a:rPr>
              <a:t>JSSC</a:t>
            </a:r>
            <a:r>
              <a:rPr sz="2000" spc="-27" dirty="0">
                <a:latin typeface="Calibri"/>
                <a:cs typeface="Calibri"/>
              </a:rPr>
              <a:t> 2020</a:t>
            </a:r>
            <a:endParaRPr sz="2000">
              <a:latin typeface="Calibri"/>
              <a:cs typeface="Calibri"/>
            </a:endParaRPr>
          </a:p>
        </p:txBody>
      </p:sp>
      <p:sp>
        <p:nvSpPr>
          <p:cNvPr id="109" name="Date Placeholder 108"/>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110" name="Footer Placeholder 109"/>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79506767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67" y="233003"/>
            <a:ext cx="585045" cy="221365"/>
          </a:xfrm>
          <a:prstGeom prst="rect">
            <a:avLst/>
          </a:prstGeom>
        </p:spPr>
        <p:txBody>
          <a:bodyPr vert="horz" wrap="square" lIns="0" tIns="16087" rIns="0" bIns="0" rtlCol="0">
            <a:spAutoFit/>
          </a:bodyPr>
          <a:lstStyle/>
          <a:p>
            <a:pPr marL="16933">
              <a:spcBef>
                <a:spcPts val="127"/>
              </a:spcBef>
            </a:pPr>
            <a:r>
              <a:rPr sz="1333" spc="-13" dirty="0">
                <a:solidFill>
                  <a:srgbClr val="008000"/>
                </a:solidFill>
                <a:latin typeface="Times New Roman" panose="02020603050405020304" pitchFamily="18" charset="0"/>
                <a:cs typeface="Times New Roman" panose="02020603050405020304" pitchFamily="18" charset="0"/>
              </a:rPr>
              <a:t>[Public]</a:t>
            </a:r>
            <a:endParaRPr sz="1333">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548224" y="306402"/>
            <a:ext cx="9646656" cy="686855"/>
          </a:xfrm>
          <a:prstGeom prst="rect">
            <a:avLst/>
          </a:prstGeom>
        </p:spPr>
        <p:txBody>
          <a:bodyPr vert="horz" wrap="square" lIns="0" tIns="101092" rIns="0" bIns="0" rtlCol="0" anchor="ctr">
            <a:spAutoFit/>
          </a:bodyPr>
          <a:lstStyle/>
          <a:p>
            <a:pPr marL="16933">
              <a:lnSpc>
                <a:spcPct val="100000"/>
              </a:lnSpc>
              <a:spcBef>
                <a:spcPts val="140"/>
              </a:spcBef>
            </a:pPr>
            <a:r>
              <a:rPr dirty="0">
                <a:latin typeface="Times New Roman" panose="02020603050405020304" pitchFamily="18" charset="0"/>
                <a:cs typeface="Times New Roman" panose="02020603050405020304" pitchFamily="18" charset="0"/>
              </a:rPr>
              <a:t>Overall</a:t>
            </a:r>
            <a:r>
              <a:rPr spc="-107"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RX</a:t>
            </a:r>
            <a:r>
              <a:rPr spc="-73" dirty="0">
                <a:latin typeface="Times New Roman" panose="02020603050405020304" pitchFamily="18" charset="0"/>
                <a:cs typeface="Times New Roman" panose="02020603050405020304" pitchFamily="18" charset="0"/>
              </a:rPr>
              <a:t> </a:t>
            </a:r>
            <a:r>
              <a:rPr spc="-13" dirty="0">
                <a:latin typeface="Times New Roman" panose="02020603050405020304" pitchFamily="18" charset="0"/>
                <a:cs typeface="Times New Roman" panose="02020603050405020304" pitchFamily="18" charset="0"/>
              </a:rPr>
              <a:t>Architecture</a:t>
            </a:r>
          </a:p>
        </p:txBody>
      </p:sp>
      <p:grpSp>
        <p:nvGrpSpPr>
          <p:cNvPr id="4" name="object 4"/>
          <p:cNvGrpSpPr/>
          <p:nvPr/>
        </p:nvGrpSpPr>
        <p:grpSpPr>
          <a:xfrm>
            <a:off x="7118847" y="1472368"/>
            <a:ext cx="3654478" cy="3170156"/>
            <a:chOff x="5339136" y="1104276"/>
            <a:chExt cx="2740859" cy="2377617"/>
          </a:xfrm>
        </p:grpSpPr>
        <p:sp>
          <p:nvSpPr>
            <p:cNvPr id="5" name="object 5"/>
            <p:cNvSpPr/>
            <p:nvPr/>
          </p:nvSpPr>
          <p:spPr>
            <a:xfrm>
              <a:off x="6608065" y="2336582"/>
              <a:ext cx="1471930" cy="1145311"/>
            </a:xfrm>
            <a:custGeom>
              <a:avLst/>
              <a:gdLst/>
              <a:ahLst/>
              <a:cxnLst/>
              <a:rect l="l" t="t" r="r" b="b"/>
              <a:pathLst>
                <a:path w="1471929" h="1371600">
                  <a:moveTo>
                    <a:pt x="1471438" y="0"/>
                  </a:moveTo>
                  <a:lnTo>
                    <a:pt x="0" y="0"/>
                  </a:lnTo>
                  <a:lnTo>
                    <a:pt x="0" y="1371028"/>
                  </a:lnTo>
                  <a:lnTo>
                    <a:pt x="1471438" y="1371028"/>
                  </a:lnTo>
                  <a:lnTo>
                    <a:pt x="1471438" y="0"/>
                  </a:lnTo>
                  <a:close/>
                </a:path>
              </a:pathLst>
            </a:custGeom>
            <a:solidFill>
              <a:srgbClr val="D7D7D7"/>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 name="object 6"/>
            <p:cNvSpPr/>
            <p:nvPr/>
          </p:nvSpPr>
          <p:spPr>
            <a:xfrm>
              <a:off x="5952235" y="1187653"/>
              <a:ext cx="492759" cy="570230"/>
            </a:xfrm>
            <a:custGeom>
              <a:avLst/>
              <a:gdLst/>
              <a:ahLst/>
              <a:cxnLst/>
              <a:rect l="l" t="t" r="r" b="b"/>
              <a:pathLst>
                <a:path w="492760" h="570230">
                  <a:moveTo>
                    <a:pt x="492262" y="0"/>
                  </a:moveTo>
                  <a:lnTo>
                    <a:pt x="0" y="0"/>
                  </a:lnTo>
                  <a:lnTo>
                    <a:pt x="0" y="569812"/>
                  </a:lnTo>
                  <a:lnTo>
                    <a:pt x="492263" y="569812"/>
                  </a:lnTo>
                  <a:lnTo>
                    <a:pt x="492262" y="0"/>
                  </a:lnTo>
                  <a:close/>
                </a:path>
              </a:pathLst>
            </a:custGeom>
            <a:solidFill>
              <a:srgbClr val="F1F1F1"/>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7" name="object 7"/>
            <p:cNvPicPr/>
            <p:nvPr/>
          </p:nvPicPr>
          <p:blipFill>
            <a:blip r:embed="rId3" cstate="print"/>
            <a:stretch>
              <a:fillRect/>
            </a:stretch>
          </p:blipFill>
          <p:spPr>
            <a:xfrm>
              <a:off x="5495049" y="1564481"/>
              <a:ext cx="380418" cy="245150"/>
            </a:xfrm>
            <a:prstGeom prst="rect">
              <a:avLst/>
            </a:prstGeom>
          </p:spPr>
        </p:pic>
        <p:sp>
          <p:nvSpPr>
            <p:cNvPr id="8" name="object 8"/>
            <p:cNvSpPr/>
            <p:nvPr/>
          </p:nvSpPr>
          <p:spPr>
            <a:xfrm>
              <a:off x="5864320" y="1687019"/>
              <a:ext cx="291465" cy="0"/>
            </a:xfrm>
            <a:custGeom>
              <a:avLst/>
              <a:gdLst/>
              <a:ahLst/>
              <a:cxnLst/>
              <a:rect l="l" t="t" r="r" b="b"/>
              <a:pathLst>
                <a:path w="291464">
                  <a:moveTo>
                    <a:pt x="291240"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 name="object 9"/>
            <p:cNvSpPr/>
            <p:nvPr/>
          </p:nvSpPr>
          <p:spPr>
            <a:xfrm>
              <a:off x="5495272" y="1160009"/>
              <a:ext cx="0" cy="529590"/>
            </a:xfrm>
            <a:custGeom>
              <a:avLst/>
              <a:gdLst/>
              <a:ahLst/>
              <a:cxnLst/>
              <a:rect l="l" t="t" r="r" b="b"/>
              <a:pathLst>
                <a:path h="529589">
                  <a:moveTo>
                    <a:pt x="0" y="529239"/>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10" name="object 10"/>
            <p:cNvPicPr/>
            <p:nvPr/>
          </p:nvPicPr>
          <p:blipFill>
            <a:blip r:embed="rId4" cstate="print"/>
            <a:stretch>
              <a:fillRect/>
            </a:stretch>
          </p:blipFill>
          <p:spPr>
            <a:xfrm>
              <a:off x="5501663" y="1104276"/>
              <a:ext cx="503409" cy="108939"/>
            </a:xfrm>
            <a:prstGeom prst="rect">
              <a:avLst/>
            </a:prstGeom>
          </p:spPr>
        </p:pic>
        <p:sp>
          <p:nvSpPr>
            <p:cNvPr id="11" name="object 11"/>
            <p:cNvSpPr/>
            <p:nvPr/>
          </p:nvSpPr>
          <p:spPr>
            <a:xfrm>
              <a:off x="6423095" y="1688729"/>
              <a:ext cx="281305" cy="0"/>
            </a:xfrm>
            <a:custGeom>
              <a:avLst/>
              <a:gdLst/>
              <a:ahLst/>
              <a:cxnLst/>
              <a:rect l="l" t="t" r="r" b="b"/>
              <a:pathLst>
                <a:path w="281304">
                  <a:moveTo>
                    <a:pt x="280910"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2" name="object 12"/>
            <p:cNvSpPr/>
            <p:nvPr/>
          </p:nvSpPr>
          <p:spPr>
            <a:xfrm>
              <a:off x="5339136" y="1675873"/>
              <a:ext cx="242570" cy="22860"/>
            </a:xfrm>
            <a:custGeom>
              <a:avLst/>
              <a:gdLst/>
              <a:ahLst/>
              <a:cxnLst/>
              <a:rect l="l" t="t" r="r" b="b"/>
              <a:pathLst>
                <a:path w="242570" h="22860">
                  <a:moveTo>
                    <a:pt x="241947" y="0"/>
                  </a:moveTo>
                  <a:lnTo>
                    <a:pt x="0" y="0"/>
                  </a:lnTo>
                  <a:lnTo>
                    <a:pt x="0" y="22293"/>
                  </a:lnTo>
                  <a:lnTo>
                    <a:pt x="241947" y="22293"/>
                  </a:lnTo>
                  <a:lnTo>
                    <a:pt x="2419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 name="object 13"/>
            <p:cNvSpPr/>
            <p:nvPr/>
          </p:nvSpPr>
          <p:spPr>
            <a:xfrm>
              <a:off x="5995040" y="1158895"/>
              <a:ext cx="101600" cy="525145"/>
            </a:xfrm>
            <a:custGeom>
              <a:avLst/>
              <a:gdLst/>
              <a:ahLst/>
              <a:cxnLst/>
              <a:rect l="l" t="t" r="r" b="b"/>
              <a:pathLst>
                <a:path w="101600" h="525144">
                  <a:moveTo>
                    <a:pt x="67998" y="438060"/>
                  </a:moveTo>
                  <a:lnTo>
                    <a:pt x="80612" y="435959"/>
                  </a:lnTo>
                  <a:lnTo>
                    <a:pt x="91100" y="429226"/>
                  </a:lnTo>
                  <a:lnTo>
                    <a:pt x="98398" y="418884"/>
                  </a:lnTo>
                  <a:lnTo>
                    <a:pt x="101440" y="405958"/>
                  </a:lnTo>
                  <a:lnTo>
                    <a:pt x="99390" y="392822"/>
                  </a:lnTo>
                  <a:lnTo>
                    <a:pt x="92903" y="381909"/>
                  </a:lnTo>
                  <a:lnTo>
                    <a:pt x="82973" y="374326"/>
                  </a:lnTo>
                  <a:lnTo>
                    <a:pt x="70599" y="371180"/>
                  </a:lnTo>
                  <a:lnTo>
                    <a:pt x="69707" y="371180"/>
                  </a:lnTo>
                  <a:lnTo>
                    <a:pt x="68815" y="371180"/>
                  </a:lnTo>
                  <a:lnTo>
                    <a:pt x="67998" y="371180"/>
                  </a:lnTo>
                  <a:lnTo>
                    <a:pt x="80612" y="369080"/>
                  </a:lnTo>
                  <a:lnTo>
                    <a:pt x="91100" y="362347"/>
                  </a:lnTo>
                  <a:lnTo>
                    <a:pt x="98398" y="352005"/>
                  </a:lnTo>
                  <a:lnTo>
                    <a:pt x="101440" y="339078"/>
                  </a:lnTo>
                  <a:lnTo>
                    <a:pt x="99390" y="325943"/>
                  </a:lnTo>
                  <a:lnTo>
                    <a:pt x="92903" y="315030"/>
                  </a:lnTo>
                  <a:lnTo>
                    <a:pt x="82973" y="307446"/>
                  </a:lnTo>
                  <a:lnTo>
                    <a:pt x="70599" y="304301"/>
                  </a:lnTo>
                  <a:lnTo>
                    <a:pt x="69707" y="304301"/>
                  </a:lnTo>
                  <a:lnTo>
                    <a:pt x="68815" y="304301"/>
                  </a:lnTo>
                  <a:lnTo>
                    <a:pt x="67998" y="304301"/>
                  </a:lnTo>
                  <a:lnTo>
                    <a:pt x="80612" y="302201"/>
                  </a:lnTo>
                  <a:lnTo>
                    <a:pt x="91100" y="295467"/>
                  </a:lnTo>
                  <a:lnTo>
                    <a:pt x="98398" y="285125"/>
                  </a:lnTo>
                  <a:lnTo>
                    <a:pt x="101440" y="272199"/>
                  </a:lnTo>
                  <a:lnTo>
                    <a:pt x="99390" y="259063"/>
                  </a:lnTo>
                  <a:lnTo>
                    <a:pt x="92903" y="248150"/>
                  </a:lnTo>
                  <a:lnTo>
                    <a:pt x="82973" y="240567"/>
                  </a:lnTo>
                  <a:lnTo>
                    <a:pt x="70599" y="237421"/>
                  </a:lnTo>
                  <a:lnTo>
                    <a:pt x="69707" y="237421"/>
                  </a:lnTo>
                  <a:lnTo>
                    <a:pt x="68815" y="237421"/>
                  </a:lnTo>
                  <a:lnTo>
                    <a:pt x="67998" y="237421"/>
                  </a:lnTo>
                  <a:lnTo>
                    <a:pt x="80612" y="235321"/>
                  </a:lnTo>
                  <a:lnTo>
                    <a:pt x="91100" y="228588"/>
                  </a:lnTo>
                  <a:lnTo>
                    <a:pt x="98398" y="218246"/>
                  </a:lnTo>
                  <a:lnTo>
                    <a:pt x="101440" y="205319"/>
                  </a:lnTo>
                  <a:lnTo>
                    <a:pt x="99390" y="192184"/>
                  </a:lnTo>
                  <a:lnTo>
                    <a:pt x="92903" y="181271"/>
                  </a:lnTo>
                  <a:lnTo>
                    <a:pt x="82973" y="173687"/>
                  </a:lnTo>
                  <a:lnTo>
                    <a:pt x="70599" y="170542"/>
                  </a:lnTo>
                  <a:lnTo>
                    <a:pt x="69707" y="170542"/>
                  </a:lnTo>
                  <a:lnTo>
                    <a:pt x="68815" y="170542"/>
                  </a:lnTo>
                  <a:lnTo>
                    <a:pt x="67998" y="170542"/>
                  </a:lnTo>
                </a:path>
                <a:path w="101600" h="525144">
                  <a:moveTo>
                    <a:pt x="67998" y="438060"/>
                  </a:moveTo>
                  <a:lnTo>
                    <a:pt x="1114" y="438060"/>
                  </a:lnTo>
                </a:path>
                <a:path w="101600" h="525144">
                  <a:moveTo>
                    <a:pt x="67998" y="170542"/>
                  </a:moveTo>
                  <a:lnTo>
                    <a:pt x="1114" y="170542"/>
                  </a:lnTo>
                </a:path>
                <a:path w="101600" h="525144">
                  <a:moveTo>
                    <a:pt x="1114" y="170542"/>
                  </a:moveTo>
                  <a:lnTo>
                    <a:pt x="0" y="0"/>
                  </a:lnTo>
                </a:path>
                <a:path w="101600" h="525144">
                  <a:moveTo>
                    <a:pt x="1114" y="525003"/>
                  </a:moveTo>
                  <a:lnTo>
                    <a:pt x="1114" y="43806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 name="object 14"/>
            <p:cNvSpPr/>
            <p:nvPr/>
          </p:nvSpPr>
          <p:spPr>
            <a:xfrm>
              <a:off x="6155487" y="1586775"/>
              <a:ext cx="267970" cy="100330"/>
            </a:xfrm>
            <a:custGeom>
              <a:avLst/>
              <a:gdLst/>
              <a:ahLst/>
              <a:cxnLst/>
              <a:rect l="l" t="t" r="r" b="b"/>
              <a:pathLst>
                <a:path w="267970" h="100330">
                  <a:moveTo>
                    <a:pt x="267608" y="33365"/>
                  </a:moveTo>
                  <a:lnTo>
                    <a:pt x="265497" y="20753"/>
                  </a:lnTo>
                  <a:lnTo>
                    <a:pt x="258746" y="10273"/>
                  </a:lnTo>
                  <a:lnTo>
                    <a:pt x="248400" y="2997"/>
                  </a:lnTo>
                  <a:lnTo>
                    <a:pt x="235504" y="0"/>
                  </a:lnTo>
                  <a:lnTo>
                    <a:pt x="222368" y="2007"/>
                  </a:lnTo>
                  <a:lnTo>
                    <a:pt x="211454" y="8480"/>
                  </a:lnTo>
                  <a:lnTo>
                    <a:pt x="203870" y="18423"/>
                  </a:lnTo>
                  <a:lnTo>
                    <a:pt x="200724" y="30838"/>
                  </a:lnTo>
                  <a:lnTo>
                    <a:pt x="200650" y="31656"/>
                  </a:lnTo>
                  <a:lnTo>
                    <a:pt x="200650" y="32547"/>
                  </a:lnTo>
                  <a:lnTo>
                    <a:pt x="200724" y="33365"/>
                  </a:lnTo>
                  <a:lnTo>
                    <a:pt x="198613" y="20753"/>
                  </a:lnTo>
                  <a:lnTo>
                    <a:pt x="191862" y="10273"/>
                  </a:lnTo>
                  <a:lnTo>
                    <a:pt x="181516" y="2997"/>
                  </a:lnTo>
                  <a:lnTo>
                    <a:pt x="168620" y="0"/>
                  </a:lnTo>
                  <a:lnTo>
                    <a:pt x="155484" y="2007"/>
                  </a:lnTo>
                  <a:lnTo>
                    <a:pt x="144570" y="8480"/>
                  </a:lnTo>
                  <a:lnTo>
                    <a:pt x="136987" y="18423"/>
                  </a:lnTo>
                  <a:lnTo>
                    <a:pt x="133841" y="30838"/>
                  </a:lnTo>
                  <a:lnTo>
                    <a:pt x="133767" y="31656"/>
                  </a:lnTo>
                  <a:lnTo>
                    <a:pt x="133767" y="32547"/>
                  </a:lnTo>
                  <a:lnTo>
                    <a:pt x="133841" y="33365"/>
                  </a:lnTo>
                  <a:lnTo>
                    <a:pt x="131730" y="20753"/>
                  </a:lnTo>
                  <a:lnTo>
                    <a:pt x="124979" y="10273"/>
                  </a:lnTo>
                  <a:lnTo>
                    <a:pt x="114633" y="2997"/>
                  </a:lnTo>
                  <a:lnTo>
                    <a:pt x="101737" y="0"/>
                  </a:lnTo>
                  <a:lnTo>
                    <a:pt x="88600" y="2007"/>
                  </a:lnTo>
                  <a:lnTo>
                    <a:pt x="77687" y="8480"/>
                  </a:lnTo>
                  <a:lnTo>
                    <a:pt x="70103" y="18423"/>
                  </a:lnTo>
                  <a:lnTo>
                    <a:pt x="66957" y="30838"/>
                  </a:lnTo>
                  <a:lnTo>
                    <a:pt x="66883" y="31656"/>
                  </a:lnTo>
                  <a:lnTo>
                    <a:pt x="66883" y="32547"/>
                  </a:lnTo>
                  <a:lnTo>
                    <a:pt x="66957" y="33365"/>
                  </a:lnTo>
                  <a:lnTo>
                    <a:pt x="64846" y="20753"/>
                  </a:lnTo>
                  <a:lnTo>
                    <a:pt x="58095" y="10273"/>
                  </a:lnTo>
                  <a:lnTo>
                    <a:pt x="47749" y="2997"/>
                  </a:lnTo>
                  <a:lnTo>
                    <a:pt x="34853" y="0"/>
                  </a:lnTo>
                  <a:lnTo>
                    <a:pt x="21717" y="2007"/>
                  </a:lnTo>
                  <a:lnTo>
                    <a:pt x="10803" y="8480"/>
                  </a:lnTo>
                  <a:lnTo>
                    <a:pt x="3219" y="18423"/>
                  </a:lnTo>
                  <a:lnTo>
                    <a:pt x="74" y="30838"/>
                  </a:lnTo>
                  <a:lnTo>
                    <a:pt x="0" y="31656"/>
                  </a:lnTo>
                  <a:lnTo>
                    <a:pt x="0" y="32547"/>
                  </a:lnTo>
                  <a:lnTo>
                    <a:pt x="74" y="33365"/>
                  </a:lnTo>
                </a:path>
                <a:path w="267970" h="100330">
                  <a:moveTo>
                    <a:pt x="267608" y="33365"/>
                  </a:moveTo>
                  <a:lnTo>
                    <a:pt x="267608" y="100244"/>
                  </a:lnTo>
                </a:path>
                <a:path w="267970" h="100330">
                  <a:moveTo>
                    <a:pt x="74" y="33365"/>
                  </a:moveTo>
                  <a:lnTo>
                    <a:pt x="74" y="100244"/>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15" name="object 15"/>
            <p:cNvPicPr/>
            <p:nvPr/>
          </p:nvPicPr>
          <p:blipFill>
            <a:blip r:embed="rId5" cstate="print"/>
            <a:stretch>
              <a:fillRect/>
            </a:stretch>
          </p:blipFill>
          <p:spPr>
            <a:xfrm>
              <a:off x="6147201" y="1319591"/>
              <a:ext cx="226288" cy="226276"/>
            </a:xfrm>
            <a:prstGeom prst="rect">
              <a:avLst/>
            </a:prstGeom>
          </p:spPr>
        </p:pic>
        <p:sp>
          <p:nvSpPr>
            <p:cNvPr id="16" name="object 16"/>
            <p:cNvSpPr/>
            <p:nvPr/>
          </p:nvSpPr>
          <p:spPr>
            <a:xfrm>
              <a:off x="5975718" y="1667104"/>
              <a:ext cx="43180" cy="43180"/>
            </a:xfrm>
            <a:custGeom>
              <a:avLst/>
              <a:gdLst/>
              <a:ahLst/>
              <a:cxnLst/>
              <a:rect l="l" t="t" r="r" b="b"/>
              <a:pathLst>
                <a:path w="43179" h="43180">
                  <a:moveTo>
                    <a:pt x="21551" y="0"/>
                  </a:moveTo>
                  <a:lnTo>
                    <a:pt x="13167" y="1682"/>
                  </a:lnTo>
                  <a:lnTo>
                    <a:pt x="6316" y="6269"/>
                  </a:lnTo>
                  <a:lnTo>
                    <a:pt x="1695" y="13072"/>
                  </a:lnTo>
                  <a:lnTo>
                    <a:pt x="0" y="21401"/>
                  </a:lnTo>
                  <a:lnTo>
                    <a:pt x="1695" y="29729"/>
                  </a:lnTo>
                  <a:lnTo>
                    <a:pt x="6316" y="36532"/>
                  </a:lnTo>
                  <a:lnTo>
                    <a:pt x="13167" y="41120"/>
                  </a:lnTo>
                  <a:lnTo>
                    <a:pt x="21551" y="42802"/>
                  </a:lnTo>
                  <a:lnTo>
                    <a:pt x="29935" y="41120"/>
                  </a:lnTo>
                  <a:lnTo>
                    <a:pt x="36785" y="36532"/>
                  </a:lnTo>
                  <a:lnTo>
                    <a:pt x="41407" y="29729"/>
                  </a:lnTo>
                  <a:lnTo>
                    <a:pt x="43102" y="21401"/>
                  </a:lnTo>
                  <a:lnTo>
                    <a:pt x="41407" y="13072"/>
                  </a:lnTo>
                  <a:lnTo>
                    <a:pt x="36785" y="6269"/>
                  </a:lnTo>
                  <a:lnTo>
                    <a:pt x="29935"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 name="object 17"/>
            <p:cNvSpPr/>
            <p:nvPr/>
          </p:nvSpPr>
          <p:spPr>
            <a:xfrm>
              <a:off x="5975718" y="1667104"/>
              <a:ext cx="43180" cy="43180"/>
            </a:xfrm>
            <a:custGeom>
              <a:avLst/>
              <a:gdLst/>
              <a:ahLst/>
              <a:cxnLst/>
              <a:rect l="l" t="t" r="r" b="b"/>
              <a:pathLst>
                <a:path w="43179" h="43180">
                  <a:moveTo>
                    <a:pt x="0" y="21401"/>
                  </a:moveTo>
                  <a:lnTo>
                    <a:pt x="1695" y="13072"/>
                  </a:lnTo>
                  <a:lnTo>
                    <a:pt x="6316" y="6269"/>
                  </a:lnTo>
                  <a:lnTo>
                    <a:pt x="13167" y="1682"/>
                  </a:lnTo>
                  <a:lnTo>
                    <a:pt x="21551" y="0"/>
                  </a:lnTo>
                  <a:lnTo>
                    <a:pt x="29935" y="1682"/>
                  </a:lnTo>
                  <a:lnTo>
                    <a:pt x="36785" y="6269"/>
                  </a:lnTo>
                  <a:lnTo>
                    <a:pt x="41407" y="13072"/>
                  </a:lnTo>
                  <a:lnTo>
                    <a:pt x="43102" y="21401"/>
                  </a:lnTo>
                  <a:lnTo>
                    <a:pt x="41407" y="29729"/>
                  </a:lnTo>
                  <a:lnTo>
                    <a:pt x="36785" y="36532"/>
                  </a:lnTo>
                  <a:lnTo>
                    <a:pt x="29935" y="41120"/>
                  </a:lnTo>
                  <a:lnTo>
                    <a:pt x="21551" y="42802"/>
                  </a:lnTo>
                  <a:lnTo>
                    <a:pt x="13167" y="41120"/>
                  </a:lnTo>
                  <a:lnTo>
                    <a:pt x="6316" y="36532"/>
                  </a:lnTo>
                  <a:lnTo>
                    <a:pt x="1695"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 name="object 18"/>
            <p:cNvSpPr/>
            <p:nvPr/>
          </p:nvSpPr>
          <p:spPr>
            <a:xfrm>
              <a:off x="5473349" y="1668590"/>
              <a:ext cx="43180" cy="43180"/>
            </a:xfrm>
            <a:custGeom>
              <a:avLst/>
              <a:gdLst/>
              <a:ahLst/>
              <a:cxnLst/>
              <a:rect l="l" t="t" r="r" b="b"/>
              <a:pathLst>
                <a:path w="43179" h="43180">
                  <a:moveTo>
                    <a:pt x="21551" y="0"/>
                  </a:moveTo>
                  <a:lnTo>
                    <a:pt x="13167" y="1682"/>
                  </a:lnTo>
                  <a:lnTo>
                    <a:pt x="6316" y="6269"/>
                  </a:lnTo>
                  <a:lnTo>
                    <a:pt x="1695" y="13072"/>
                  </a:lnTo>
                  <a:lnTo>
                    <a:pt x="0" y="21401"/>
                  </a:lnTo>
                  <a:lnTo>
                    <a:pt x="1695" y="29729"/>
                  </a:lnTo>
                  <a:lnTo>
                    <a:pt x="6316" y="36532"/>
                  </a:lnTo>
                  <a:lnTo>
                    <a:pt x="13167" y="41120"/>
                  </a:lnTo>
                  <a:lnTo>
                    <a:pt x="21551" y="42802"/>
                  </a:lnTo>
                  <a:lnTo>
                    <a:pt x="29935" y="41120"/>
                  </a:lnTo>
                  <a:lnTo>
                    <a:pt x="36785" y="36532"/>
                  </a:lnTo>
                  <a:lnTo>
                    <a:pt x="41407" y="29729"/>
                  </a:lnTo>
                  <a:lnTo>
                    <a:pt x="43102" y="21401"/>
                  </a:lnTo>
                  <a:lnTo>
                    <a:pt x="41407" y="13072"/>
                  </a:lnTo>
                  <a:lnTo>
                    <a:pt x="36785" y="6269"/>
                  </a:lnTo>
                  <a:lnTo>
                    <a:pt x="29935"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 name="object 19"/>
            <p:cNvSpPr/>
            <p:nvPr/>
          </p:nvSpPr>
          <p:spPr>
            <a:xfrm>
              <a:off x="5473349" y="1668590"/>
              <a:ext cx="43180" cy="43180"/>
            </a:xfrm>
            <a:custGeom>
              <a:avLst/>
              <a:gdLst/>
              <a:ahLst/>
              <a:cxnLst/>
              <a:rect l="l" t="t" r="r" b="b"/>
              <a:pathLst>
                <a:path w="43179" h="43180">
                  <a:moveTo>
                    <a:pt x="0" y="21401"/>
                  </a:moveTo>
                  <a:lnTo>
                    <a:pt x="1695" y="13072"/>
                  </a:lnTo>
                  <a:lnTo>
                    <a:pt x="6316" y="6269"/>
                  </a:lnTo>
                  <a:lnTo>
                    <a:pt x="13167" y="1682"/>
                  </a:lnTo>
                  <a:lnTo>
                    <a:pt x="21551" y="0"/>
                  </a:lnTo>
                  <a:lnTo>
                    <a:pt x="29935" y="1682"/>
                  </a:lnTo>
                  <a:lnTo>
                    <a:pt x="36785" y="6269"/>
                  </a:lnTo>
                  <a:lnTo>
                    <a:pt x="41407" y="13072"/>
                  </a:lnTo>
                  <a:lnTo>
                    <a:pt x="43102" y="21401"/>
                  </a:lnTo>
                  <a:lnTo>
                    <a:pt x="41407" y="29729"/>
                  </a:lnTo>
                  <a:lnTo>
                    <a:pt x="36785" y="36532"/>
                  </a:lnTo>
                  <a:lnTo>
                    <a:pt x="29935" y="41120"/>
                  </a:lnTo>
                  <a:lnTo>
                    <a:pt x="21551" y="42802"/>
                  </a:lnTo>
                  <a:lnTo>
                    <a:pt x="13167" y="41120"/>
                  </a:lnTo>
                  <a:lnTo>
                    <a:pt x="6316" y="36532"/>
                  </a:lnTo>
                  <a:lnTo>
                    <a:pt x="1695"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20" name="object 20"/>
            <p:cNvPicPr/>
            <p:nvPr/>
          </p:nvPicPr>
          <p:blipFill>
            <a:blip r:embed="rId6" cstate="print"/>
            <a:stretch>
              <a:fillRect/>
            </a:stretch>
          </p:blipFill>
          <p:spPr>
            <a:xfrm>
              <a:off x="5903633" y="2442831"/>
              <a:ext cx="191211" cy="224343"/>
            </a:xfrm>
            <a:prstGeom prst="rect">
              <a:avLst/>
            </a:prstGeom>
          </p:spPr>
        </p:pic>
        <p:sp>
          <p:nvSpPr>
            <p:cNvPr id="21" name="object 21"/>
            <p:cNvSpPr/>
            <p:nvPr/>
          </p:nvSpPr>
          <p:spPr>
            <a:xfrm>
              <a:off x="5998682" y="1682561"/>
              <a:ext cx="0" cy="765175"/>
            </a:xfrm>
            <a:custGeom>
              <a:avLst/>
              <a:gdLst/>
              <a:ahLst/>
              <a:cxnLst/>
              <a:rect l="l" t="t" r="r" b="b"/>
              <a:pathLst>
                <a:path h="765175">
                  <a:moveTo>
                    <a:pt x="0" y="765100"/>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22" name="object 22"/>
            <p:cNvPicPr/>
            <p:nvPr/>
          </p:nvPicPr>
          <p:blipFill>
            <a:blip r:embed="rId7" cstate="print"/>
            <a:stretch>
              <a:fillRect/>
            </a:stretch>
          </p:blipFill>
          <p:spPr>
            <a:xfrm>
              <a:off x="5903633" y="2442831"/>
              <a:ext cx="191211" cy="330681"/>
            </a:xfrm>
            <a:prstGeom prst="rect">
              <a:avLst/>
            </a:prstGeom>
          </p:spPr>
        </p:pic>
      </p:grpSp>
      <p:sp>
        <p:nvSpPr>
          <p:cNvPr id="23" name="object 23"/>
          <p:cNvSpPr txBox="1"/>
          <p:nvPr/>
        </p:nvSpPr>
        <p:spPr>
          <a:xfrm>
            <a:off x="8278757" y="2364689"/>
            <a:ext cx="196427" cy="505267"/>
          </a:xfrm>
          <a:prstGeom prst="rect">
            <a:avLst/>
          </a:prstGeom>
          <a:ln w="22294">
            <a:solidFill>
              <a:srgbClr val="000000"/>
            </a:solidFill>
          </a:ln>
        </p:spPr>
        <p:txBody>
          <a:bodyPr vert="horz" wrap="square" lIns="0" tIns="5080" rIns="0" bIns="0" rtlCol="0">
            <a:spAutoFit/>
          </a:bodyPr>
          <a:lstStyle/>
          <a:p>
            <a:pPr marL="58419" marR="43178" indent="2540" algn="just">
              <a:lnSpc>
                <a:spcPts val="1307"/>
              </a:lnSpc>
              <a:spcBef>
                <a:spcPts val="40"/>
              </a:spcBef>
            </a:pPr>
            <a:r>
              <a:rPr sz="1067" b="1" spc="-133" dirty="0">
                <a:latin typeface="Times New Roman" panose="02020603050405020304" pitchFamily="18" charset="0"/>
                <a:cs typeface="Times New Roman" panose="02020603050405020304" pitchFamily="18" charset="0"/>
              </a:rPr>
              <a:t>E</a:t>
            </a:r>
            <a:r>
              <a:rPr sz="1067" b="1" spc="667" dirty="0">
                <a:latin typeface="Times New Roman" panose="02020603050405020304" pitchFamily="18" charset="0"/>
                <a:cs typeface="Times New Roman" panose="02020603050405020304" pitchFamily="18" charset="0"/>
              </a:rPr>
              <a:t> </a:t>
            </a:r>
            <a:r>
              <a:rPr sz="1067" b="1" spc="-113" dirty="0">
                <a:latin typeface="Times New Roman" panose="02020603050405020304" pitchFamily="18" charset="0"/>
                <a:cs typeface="Times New Roman" panose="02020603050405020304" pitchFamily="18" charset="0"/>
              </a:rPr>
              <a:t>S</a:t>
            </a:r>
            <a:r>
              <a:rPr sz="1067" b="1" spc="667" dirty="0">
                <a:latin typeface="Times New Roman" panose="02020603050405020304" pitchFamily="18" charset="0"/>
                <a:cs typeface="Times New Roman" panose="02020603050405020304" pitchFamily="18" charset="0"/>
              </a:rPr>
              <a:t> </a:t>
            </a:r>
            <a:r>
              <a:rPr sz="1067" b="1" spc="-152" dirty="0">
                <a:latin typeface="Times New Roman" panose="02020603050405020304" pitchFamily="18" charset="0"/>
                <a:cs typeface="Times New Roman" panose="02020603050405020304" pitchFamily="18" charset="0"/>
              </a:rPr>
              <a:t>D</a:t>
            </a:r>
            <a:endParaRPr sz="1067">
              <a:latin typeface="Times New Roman" panose="02020603050405020304" pitchFamily="18" charset="0"/>
              <a:cs typeface="Times New Roman" panose="02020603050405020304" pitchFamily="18" charset="0"/>
            </a:endParaRPr>
          </a:p>
        </p:txBody>
      </p:sp>
      <p:grpSp>
        <p:nvGrpSpPr>
          <p:cNvPr id="24" name="object 24"/>
          <p:cNvGrpSpPr/>
          <p:nvPr/>
        </p:nvGrpSpPr>
        <p:grpSpPr>
          <a:xfrm>
            <a:off x="7970319" y="1987706"/>
            <a:ext cx="1483360" cy="671407"/>
            <a:chOff x="5977739" y="1490779"/>
            <a:chExt cx="1112520" cy="503555"/>
          </a:xfrm>
        </p:grpSpPr>
        <p:sp>
          <p:nvSpPr>
            <p:cNvPr id="25" name="object 25"/>
            <p:cNvSpPr/>
            <p:nvPr/>
          </p:nvSpPr>
          <p:spPr>
            <a:xfrm>
              <a:off x="6005073" y="1971480"/>
              <a:ext cx="204470" cy="0"/>
            </a:xfrm>
            <a:custGeom>
              <a:avLst/>
              <a:gdLst/>
              <a:ahLst/>
              <a:cxnLst/>
              <a:rect l="l" t="t" r="r" b="b"/>
              <a:pathLst>
                <a:path w="204470">
                  <a:moveTo>
                    <a:pt x="203994"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6" name="object 26"/>
            <p:cNvSpPr/>
            <p:nvPr/>
          </p:nvSpPr>
          <p:spPr>
            <a:xfrm>
              <a:off x="5978691" y="1950079"/>
              <a:ext cx="43180" cy="43180"/>
            </a:xfrm>
            <a:custGeom>
              <a:avLst/>
              <a:gdLst/>
              <a:ahLst/>
              <a:cxnLst/>
              <a:rect l="l" t="t" r="r" b="b"/>
              <a:pathLst>
                <a:path w="43179" h="43180">
                  <a:moveTo>
                    <a:pt x="21551" y="0"/>
                  </a:moveTo>
                  <a:lnTo>
                    <a:pt x="13167" y="1682"/>
                  </a:lnTo>
                  <a:lnTo>
                    <a:pt x="6316" y="6269"/>
                  </a:lnTo>
                  <a:lnTo>
                    <a:pt x="1695" y="13072"/>
                  </a:lnTo>
                  <a:lnTo>
                    <a:pt x="0" y="21401"/>
                  </a:lnTo>
                  <a:lnTo>
                    <a:pt x="1695" y="29729"/>
                  </a:lnTo>
                  <a:lnTo>
                    <a:pt x="6316" y="36532"/>
                  </a:lnTo>
                  <a:lnTo>
                    <a:pt x="13167" y="41120"/>
                  </a:lnTo>
                  <a:lnTo>
                    <a:pt x="21551" y="42802"/>
                  </a:lnTo>
                  <a:lnTo>
                    <a:pt x="29935" y="41120"/>
                  </a:lnTo>
                  <a:lnTo>
                    <a:pt x="36785" y="36532"/>
                  </a:lnTo>
                  <a:lnTo>
                    <a:pt x="41407" y="29729"/>
                  </a:lnTo>
                  <a:lnTo>
                    <a:pt x="43102" y="21401"/>
                  </a:lnTo>
                  <a:lnTo>
                    <a:pt x="41407" y="13072"/>
                  </a:lnTo>
                  <a:lnTo>
                    <a:pt x="36785" y="6269"/>
                  </a:lnTo>
                  <a:lnTo>
                    <a:pt x="29935"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7" name="object 27"/>
            <p:cNvSpPr/>
            <p:nvPr/>
          </p:nvSpPr>
          <p:spPr>
            <a:xfrm>
              <a:off x="5978691" y="1950079"/>
              <a:ext cx="43180" cy="43180"/>
            </a:xfrm>
            <a:custGeom>
              <a:avLst/>
              <a:gdLst/>
              <a:ahLst/>
              <a:cxnLst/>
              <a:rect l="l" t="t" r="r" b="b"/>
              <a:pathLst>
                <a:path w="43179" h="43180">
                  <a:moveTo>
                    <a:pt x="0" y="21401"/>
                  </a:moveTo>
                  <a:lnTo>
                    <a:pt x="1695" y="13072"/>
                  </a:lnTo>
                  <a:lnTo>
                    <a:pt x="6316" y="6269"/>
                  </a:lnTo>
                  <a:lnTo>
                    <a:pt x="13167" y="1682"/>
                  </a:lnTo>
                  <a:lnTo>
                    <a:pt x="21551" y="0"/>
                  </a:lnTo>
                  <a:lnTo>
                    <a:pt x="29935" y="1682"/>
                  </a:lnTo>
                  <a:lnTo>
                    <a:pt x="36785" y="6269"/>
                  </a:lnTo>
                  <a:lnTo>
                    <a:pt x="41407" y="13072"/>
                  </a:lnTo>
                  <a:lnTo>
                    <a:pt x="43102" y="21401"/>
                  </a:lnTo>
                  <a:lnTo>
                    <a:pt x="41407" y="29729"/>
                  </a:lnTo>
                  <a:lnTo>
                    <a:pt x="36785" y="36532"/>
                  </a:lnTo>
                  <a:lnTo>
                    <a:pt x="29935" y="41120"/>
                  </a:lnTo>
                  <a:lnTo>
                    <a:pt x="21551" y="42802"/>
                  </a:lnTo>
                  <a:lnTo>
                    <a:pt x="13167" y="41120"/>
                  </a:lnTo>
                  <a:lnTo>
                    <a:pt x="6316" y="36532"/>
                  </a:lnTo>
                  <a:lnTo>
                    <a:pt x="1695"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8" name="object 28"/>
            <p:cNvSpPr/>
            <p:nvPr/>
          </p:nvSpPr>
          <p:spPr>
            <a:xfrm>
              <a:off x="6711809" y="1502209"/>
              <a:ext cx="367030" cy="367030"/>
            </a:xfrm>
            <a:custGeom>
              <a:avLst/>
              <a:gdLst/>
              <a:ahLst/>
              <a:cxnLst/>
              <a:rect l="l" t="t" r="r" b="b"/>
              <a:pathLst>
                <a:path w="367029" h="367030">
                  <a:moveTo>
                    <a:pt x="0" y="183323"/>
                  </a:moveTo>
                  <a:lnTo>
                    <a:pt x="6551" y="134601"/>
                  </a:lnTo>
                  <a:lnTo>
                    <a:pt x="25038" y="90812"/>
                  </a:lnTo>
                  <a:lnTo>
                    <a:pt x="53711" y="53707"/>
                  </a:lnTo>
                  <a:lnTo>
                    <a:pt x="90818" y="25037"/>
                  </a:lnTo>
                  <a:lnTo>
                    <a:pt x="134610" y="6551"/>
                  </a:lnTo>
                  <a:lnTo>
                    <a:pt x="183335" y="0"/>
                  </a:lnTo>
                  <a:lnTo>
                    <a:pt x="232091" y="6551"/>
                  </a:lnTo>
                  <a:lnTo>
                    <a:pt x="275904" y="25037"/>
                  </a:lnTo>
                  <a:lnTo>
                    <a:pt x="313024" y="53707"/>
                  </a:lnTo>
                  <a:lnTo>
                    <a:pt x="341703" y="90812"/>
                  </a:lnTo>
                  <a:lnTo>
                    <a:pt x="360193" y="134601"/>
                  </a:lnTo>
                  <a:lnTo>
                    <a:pt x="366744" y="183323"/>
                  </a:lnTo>
                  <a:lnTo>
                    <a:pt x="360193" y="232077"/>
                  </a:lnTo>
                  <a:lnTo>
                    <a:pt x="341703" y="275887"/>
                  </a:lnTo>
                  <a:lnTo>
                    <a:pt x="313024" y="313005"/>
                  </a:lnTo>
                  <a:lnTo>
                    <a:pt x="275904" y="341682"/>
                  </a:lnTo>
                  <a:lnTo>
                    <a:pt x="232091" y="360170"/>
                  </a:lnTo>
                  <a:lnTo>
                    <a:pt x="183335" y="366722"/>
                  </a:lnTo>
                  <a:lnTo>
                    <a:pt x="134610" y="360170"/>
                  </a:lnTo>
                  <a:lnTo>
                    <a:pt x="90818" y="341682"/>
                  </a:lnTo>
                  <a:lnTo>
                    <a:pt x="53711" y="313005"/>
                  </a:lnTo>
                  <a:lnTo>
                    <a:pt x="25038" y="275887"/>
                  </a:lnTo>
                  <a:lnTo>
                    <a:pt x="6551" y="232077"/>
                  </a:lnTo>
                  <a:lnTo>
                    <a:pt x="0" y="183323"/>
                  </a:lnTo>
                  <a:close/>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29" name="object 29"/>
          <p:cNvSpPr txBox="1"/>
          <p:nvPr/>
        </p:nvSpPr>
        <p:spPr>
          <a:xfrm>
            <a:off x="9014586" y="2025892"/>
            <a:ext cx="358140" cy="357107"/>
          </a:xfrm>
          <a:prstGeom prst="rect">
            <a:avLst/>
          </a:prstGeom>
        </p:spPr>
        <p:txBody>
          <a:bodyPr vert="horz" wrap="square" lIns="0" tIns="18627" rIns="0" bIns="0" rtlCol="0">
            <a:spAutoFit/>
          </a:bodyPr>
          <a:lstStyle/>
          <a:p>
            <a:pPr marL="16933" marR="6773" indent="32173">
              <a:lnSpc>
                <a:spcPct val="102600"/>
              </a:lnSpc>
              <a:spcBef>
                <a:spcPts val="147"/>
              </a:spcBef>
            </a:pPr>
            <a:r>
              <a:rPr sz="1067" b="1" spc="-127" dirty="0">
                <a:latin typeface="Times New Roman" panose="02020603050405020304" pitchFamily="18" charset="0"/>
                <a:cs typeface="Times New Roman" panose="02020603050405020304" pitchFamily="18" charset="0"/>
              </a:rPr>
              <a:t>Rx</a:t>
            </a:r>
            <a:r>
              <a:rPr sz="1067" b="1" spc="-27" dirty="0">
                <a:latin typeface="Times New Roman" panose="02020603050405020304" pitchFamily="18" charset="0"/>
                <a:cs typeface="Times New Roman" panose="02020603050405020304" pitchFamily="18" charset="0"/>
              </a:rPr>
              <a:t> </a:t>
            </a:r>
            <a:r>
              <a:rPr sz="1067" b="1" spc="-67" dirty="0">
                <a:latin typeface="Times New Roman" panose="02020603050405020304" pitchFamily="18" charset="0"/>
                <a:cs typeface="Times New Roman" panose="02020603050405020304" pitchFamily="18" charset="0"/>
              </a:rPr>
              <a:t>µ</a:t>
            </a:r>
            <a:r>
              <a:rPr sz="1067" b="1" spc="667" dirty="0">
                <a:latin typeface="Times New Roman" panose="02020603050405020304" pitchFamily="18" charset="0"/>
                <a:cs typeface="Times New Roman" panose="02020603050405020304" pitchFamily="18" charset="0"/>
              </a:rPr>
              <a:t> </a:t>
            </a:r>
            <a:r>
              <a:rPr sz="1067" b="1" spc="-140" dirty="0">
                <a:latin typeface="Times New Roman" panose="02020603050405020304" pitchFamily="18" charset="0"/>
                <a:cs typeface="Times New Roman" panose="02020603050405020304" pitchFamily="18" charset="0"/>
              </a:rPr>
              <a:t>Bump</a:t>
            </a:r>
            <a:endParaRPr sz="1067">
              <a:latin typeface="Times New Roman" panose="02020603050405020304" pitchFamily="18" charset="0"/>
              <a:cs typeface="Times New Roman" panose="02020603050405020304" pitchFamily="18" charset="0"/>
            </a:endParaRPr>
          </a:p>
        </p:txBody>
      </p:sp>
      <p:grpSp>
        <p:nvGrpSpPr>
          <p:cNvPr id="30" name="object 30"/>
          <p:cNvGrpSpPr/>
          <p:nvPr/>
        </p:nvGrpSpPr>
        <p:grpSpPr>
          <a:xfrm>
            <a:off x="9437102" y="1398654"/>
            <a:ext cx="1047327" cy="871220"/>
            <a:chOff x="7077826" y="1048990"/>
            <a:chExt cx="785495" cy="653415"/>
          </a:xfrm>
        </p:grpSpPr>
        <p:sp>
          <p:nvSpPr>
            <p:cNvPr id="31" name="object 31"/>
            <p:cNvSpPr/>
            <p:nvPr/>
          </p:nvSpPr>
          <p:spPr>
            <a:xfrm>
              <a:off x="7089256" y="1690586"/>
              <a:ext cx="638175" cy="0"/>
            </a:xfrm>
            <a:custGeom>
              <a:avLst/>
              <a:gdLst/>
              <a:ahLst/>
              <a:cxnLst/>
              <a:rect l="l" t="t" r="r" b="b"/>
              <a:pathLst>
                <a:path w="638175">
                  <a:moveTo>
                    <a:pt x="638069"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32" name="object 32"/>
            <p:cNvSpPr/>
            <p:nvPr/>
          </p:nvSpPr>
          <p:spPr>
            <a:xfrm>
              <a:off x="7616001" y="1299639"/>
              <a:ext cx="235585" cy="235585"/>
            </a:xfrm>
            <a:custGeom>
              <a:avLst/>
              <a:gdLst/>
              <a:ahLst/>
              <a:cxnLst/>
              <a:rect l="l" t="t" r="r" b="b"/>
              <a:pathLst>
                <a:path w="235584" h="235584">
                  <a:moveTo>
                    <a:pt x="0" y="235415"/>
                  </a:moveTo>
                  <a:lnTo>
                    <a:pt x="117715" y="0"/>
                  </a:lnTo>
                  <a:lnTo>
                    <a:pt x="235430" y="235415"/>
                  </a:lnTo>
                  <a:lnTo>
                    <a:pt x="0" y="235415"/>
                  </a:lnTo>
                  <a:close/>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33" name="object 33"/>
            <p:cNvSpPr/>
            <p:nvPr/>
          </p:nvSpPr>
          <p:spPr>
            <a:xfrm>
              <a:off x="7607603" y="1288046"/>
              <a:ext cx="252729" cy="33655"/>
            </a:xfrm>
            <a:custGeom>
              <a:avLst/>
              <a:gdLst/>
              <a:ahLst/>
              <a:cxnLst/>
              <a:rect l="l" t="t" r="r" b="b"/>
              <a:pathLst>
                <a:path w="252729" h="33655">
                  <a:moveTo>
                    <a:pt x="252262" y="0"/>
                  </a:moveTo>
                  <a:lnTo>
                    <a:pt x="0" y="0"/>
                  </a:lnTo>
                  <a:lnTo>
                    <a:pt x="0" y="33439"/>
                  </a:lnTo>
                  <a:lnTo>
                    <a:pt x="252262" y="33439"/>
                  </a:lnTo>
                  <a:lnTo>
                    <a:pt x="252262"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34" name="object 34"/>
            <p:cNvSpPr/>
            <p:nvPr/>
          </p:nvSpPr>
          <p:spPr>
            <a:xfrm>
              <a:off x="7733716" y="1065709"/>
              <a:ext cx="0" cy="234315"/>
            </a:xfrm>
            <a:custGeom>
              <a:avLst/>
              <a:gdLst/>
              <a:ahLst/>
              <a:cxnLst/>
              <a:rect l="l" t="t" r="r" b="b"/>
              <a:pathLst>
                <a:path h="234315">
                  <a:moveTo>
                    <a:pt x="0" y="233929"/>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35" name="object 35"/>
            <p:cNvSpPr/>
            <p:nvPr/>
          </p:nvSpPr>
          <p:spPr>
            <a:xfrm>
              <a:off x="7666015" y="1048990"/>
              <a:ext cx="138430" cy="33655"/>
            </a:xfrm>
            <a:custGeom>
              <a:avLst/>
              <a:gdLst/>
              <a:ahLst/>
              <a:cxnLst/>
              <a:rect l="l" t="t" r="r" b="b"/>
              <a:pathLst>
                <a:path w="138429" h="33655">
                  <a:moveTo>
                    <a:pt x="138434" y="0"/>
                  </a:moveTo>
                  <a:lnTo>
                    <a:pt x="0" y="0"/>
                  </a:lnTo>
                  <a:lnTo>
                    <a:pt x="0" y="33439"/>
                  </a:lnTo>
                  <a:lnTo>
                    <a:pt x="138434" y="33439"/>
                  </a:lnTo>
                  <a:lnTo>
                    <a:pt x="138434"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36" name="object 36"/>
          <p:cNvSpPr txBox="1"/>
          <p:nvPr/>
        </p:nvSpPr>
        <p:spPr>
          <a:xfrm>
            <a:off x="9531124" y="1533016"/>
            <a:ext cx="584200" cy="592598"/>
          </a:xfrm>
          <a:prstGeom prst="rect">
            <a:avLst/>
          </a:prstGeom>
        </p:spPr>
        <p:txBody>
          <a:bodyPr vert="horz" wrap="square" lIns="0" tIns="17780" rIns="0" bIns="0" rtlCol="0">
            <a:spAutoFit/>
          </a:bodyPr>
          <a:lstStyle/>
          <a:p>
            <a:pPr marL="22013" marR="6773" indent="-5927">
              <a:spcBef>
                <a:spcPts val="140"/>
              </a:spcBef>
            </a:pPr>
            <a:r>
              <a:rPr sz="1867" b="1" spc="-207" dirty="0">
                <a:latin typeface="Times New Roman" panose="02020603050405020304" pitchFamily="18" charset="0"/>
                <a:cs typeface="Times New Roman" panose="02020603050405020304" pitchFamily="18" charset="0"/>
              </a:rPr>
              <a:t>Photo </a:t>
            </a:r>
            <a:r>
              <a:rPr sz="1867" b="1" spc="-193" dirty="0">
                <a:latin typeface="Times New Roman" panose="02020603050405020304" pitchFamily="18" charset="0"/>
                <a:cs typeface="Times New Roman" panose="02020603050405020304" pitchFamily="18" charset="0"/>
              </a:rPr>
              <a:t>Diode</a:t>
            </a:r>
            <a:endParaRPr sz="1867">
              <a:latin typeface="Times New Roman" panose="02020603050405020304" pitchFamily="18" charset="0"/>
              <a:cs typeface="Times New Roman" panose="02020603050405020304" pitchFamily="18" charset="0"/>
            </a:endParaRPr>
          </a:p>
        </p:txBody>
      </p:sp>
      <p:grpSp>
        <p:nvGrpSpPr>
          <p:cNvPr id="37" name="object 37"/>
          <p:cNvGrpSpPr/>
          <p:nvPr/>
        </p:nvGrpSpPr>
        <p:grpSpPr>
          <a:xfrm>
            <a:off x="10179737" y="2031500"/>
            <a:ext cx="265007" cy="794173"/>
            <a:chOff x="7634802" y="1523625"/>
            <a:chExt cx="198755" cy="595630"/>
          </a:xfrm>
        </p:grpSpPr>
        <p:sp>
          <p:nvSpPr>
            <p:cNvPr id="38" name="object 38"/>
            <p:cNvSpPr/>
            <p:nvPr/>
          </p:nvSpPr>
          <p:spPr>
            <a:xfrm>
              <a:off x="7634802" y="1800120"/>
              <a:ext cx="198755" cy="22860"/>
            </a:xfrm>
            <a:custGeom>
              <a:avLst/>
              <a:gdLst/>
              <a:ahLst/>
              <a:cxnLst/>
              <a:rect l="l" t="t" r="r" b="b"/>
              <a:pathLst>
                <a:path w="198754" h="22860">
                  <a:moveTo>
                    <a:pt x="198421" y="0"/>
                  </a:moveTo>
                  <a:lnTo>
                    <a:pt x="0" y="0"/>
                  </a:lnTo>
                  <a:lnTo>
                    <a:pt x="0" y="22293"/>
                  </a:lnTo>
                  <a:lnTo>
                    <a:pt x="198421" y="22293"/>
                  </a:lnTo>
                  <a:lnTo>
                    <a:pt x="19842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39" name="object 39"/>
            <p:cNvSpPr/>
            <p:nvPr/>
          </p:nvSpPr>
          <p:spPr>
            <a:xfrm>
              <a:off x="7736688" y="1875174"/>
              <a:ext cx="0" cy="174625"/>
            </a:xfrm>
            <a:custGeom>
              <a:avLst/>
              <a:gdLst/>
              <a:ahLst/>
              <a:cxnLst/>
              <a:rect l="l" t="t" r="r" b="b"/>
              <a:pathLst>
                <a:path h="174625">
                  <a:moveTo>
                    <a:pt x="0" y="174629"/>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40" name="object 40"/>
            <p:cNvSpPr/>
            <p:nvPr/>
          </p:nvSpPr>
          <p:spPr>
            <a:xfrm>
              <a:off x="7634802" y="1856670"/>
              <a:ext cx="198755" cy="22860"/>
            </a:xfrm>
            <a:custGeom>
              <a:avLst/>
              <a:gdLst/>
              <a:ahLst/>
              <a:cxnLst/>
              <a:rect l="l" t="t" r="r" b="b"/>
              <a:pathLst>
                <a:path w="198754" h="22860">
                  <a:moveTo>
                    <a:pt x="198421" y="0"/>
                  </a:moveTo>
                  <a:lnTo>
                    <a:pt x="0" y="0"/>
                  </a:lnTo>
                  <a:lnTo>
                    <a:pt x="0" y="22293"/>
                  </a:lnTo>
                  <a:lnTo>
                    <a:pt x="198421" y="22293"/>
                  </a:lnTo>
                  <a:lnTo>
                    <a:pt x="19842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41" name="object 41"/>
            <p:cNvSpPr/>
            <p:nvPr/>
          </p:nvSpPr>
          <p:spPr>
            <a:xfrm>
              <a:off x="7690242" y="2049803"/>
              <a:ext cx="88900" cy="58419"/>
            </a:xfrm>
            <a:custGeom>
              <a:avLst/>
              <a:gdLst/>
              <a:ahLst/>
              <a:cxnLst/>
              <a:rect l="l" t="t" r="r" b="b"/>
              <a:pathLst>
                <a:path w="88900" h="58419">
                  <a:moveTo>
                    <a:pt x="88360" y="0"/>
                  </a:moveTo>
                  <a:lnTo>
                    <a:pt x="0" y="0"/>
                  </a:lnTo>
                </a:path>
                <a:path w="88900" h="58419">
                  <a:moveTo>
                    <a:pt x="73646" y="28981"/>
                  </a:moveTo>
                  <a:lnTo>
                    <a:pt x="14714" y="28981"/>
                  </a:lnTo>
                </a:path>
                <a:path w="88900" h="58419">
                  <a:moveTo>
                    <a:pt x="58931" y="57887"/>
                  </a:moveTo>
                  <a:lnTo>
                    <a:pt x="29428" y="57887"/>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42" name="object 42"/>
            <p:cNvSpPr/>
            <p:nvPr/>
          </p:nvSpPr>
          <p:spPr>
            <a:xfrm>
              <a:off x="7733716" y="1535055"/>
              <a:ext cx="0" cy="276225"/>
            </a:xfrm>
            <a:custGeom>
              <a:avLst/>
              <a:gdLst/>
              <a:ahLst/>
              <a:cxnLst/>
              <a:rect l="l" t="t" r="r" b="b"/>
              <a:pathLst>
                <a:path h="276225">
                  <a:moveTo>
                    <a:pt x="0" y="275914"/>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43" name="object 43"/>
          <p:cNvSpPr txBox="1"/>
          <p:nvPr/>
        </p:nvSpPr>
        <p:spPr>
          <a:xfrm>
            <a:off x="10487114" y="2060372"/>
            <a:ext cx="642620" cy="664284"/>
          </a:xfrm>
          <a:prstGeom prst="rect">
            <a:avLst/>
          </a:prstGeom>
        </p:spPr>
        <p:txBody>
          <a:bodyPr vert="horz" wrap="square" lIns="0" tIns="17780" rIns="0" bIns="0" rtlCol="0">
            <a:spAutoFit/>
          </a:bodyPr>
          <a:lstStyle/>
          <a:p>
            <a:pPr algn="ctr">
              <a:spcBef>
                <a:spcPts val="140"/>
              </a:spcBef>
            </a:pPr>
            <a:r>
              <a:rPr sz="1400" b="1" spc="-33" dirty="0">
                <a:latin typeface="Times New Roman" panose="02020603050405020304" pitchFamily="18" charset="0"/>
                <a:cs typeface="Times New Roman" panose="02020603050405020304" pitchFamily="18" charset="0"/>
              </a:rPr>
              <a:t>PD</a:t>
            </a:r>
            <a:endParaRPr sz="1400">
              <a:latin typeface="Times New Roman" panose="02020603050405020304" pitchFamily="18" charset="0"/>
              <a:cs typeface="Times New Roman" panose="02020603050405020304" pitchFamily="18" charset="0"/>
            </a:endParaRPr>
          </a:p>
          <a:p>
            <a:pPr algn="ctr">
              <a:spcBef>
                <a:spcPts val="7"/>
              </a:spcBef>
            </a:pPr>
            <a:r>
              <a:rPr sz="1400" b="1" spc="-107" dirty="0">
                <a:latin typeface="Times New Roman" panose="02020603050405020304" pitchFamily="18" charset="0"/>
                <a:cs typeface="Times New Roman" panose="02020603050405020304" pitchFamily="18" charset="0"/>
              </a:rPr>
              <a:t>Parasitic</a:t>
            </a:r>
            <a:endParaRPr sz="1400">
              <a:latin typeface="Times New Roman" panose="02020603050405020304" pitchFamily="18" charset="0"/>
              <a:cs typeface="Times New Roman" panose="02020603050405020304" pitchFamily="18" charset="0"/>
            </a:endParaRPr>
          </a:p>
          <a:p>
            <a:pPr algn="ctr">
              <a:spcBef>
                <a:spcPts val="7"/>
              </a:spcBef>
            </a:pPr>
            <a:r>
              <a:rPr sz="1400" b="1" spc="-27" dirty="0">
                <a:latin typeface="Times New Roman" panose="02020603050405020304" pitchFamily="18" charset="0"/>
                <a:cs typeface="Times New Roman" panose="02020603050405020304" pitchFamily="18" charset="0"/>
              </a:rPr>
              <a:t>10fF</a:t>
            </a:r>
            <a:endParaRPr sz="1400">
              <a:latin typeface="Times New Roman" panose="02020603050405020304" pitchFamily="18" charset="0"/>
              <a:cs typeface="Times New Roman" panose="02020603050405020304" pitchFamily="18" charset="0"/>
            </a:endParaRPr>
          </a:p>
        </p:txBody>
      </p:sp>
      <p:grpSp>
        <p:nvGrpSpPr>
          <p:cNvPr id="44" name="object 44"/>
          <p:cNvGrpSpPr/>
          <p:nvPr/>
        </p:nvGrpSpPr>
        <p:grpSpPr>
          <a:xfrm>
            <a:off x="3971852" y="1471180"/>
            <a:ext cx="6370320" cy="2200485"/>
            <a:chOff x="2978889" y="1103385"/>
            <a:chExt cx="4777740" cy="1650364"/>
          </a:xfrm>
        </p:grpSpPr>
        <p:sp>
          <p:nvSpPr>
            <p:cNvPr id="45" name="object 45"/>
            <p:cNvSpPr/>
            <p:nvPr/>
          </p:nvSpPr>
          <p:spPr>
            <a:xfrm>
              <a:off x="7712461" y="1669705"/>
              <a:ext cx="43180" cy="43180"/>
            </a:xfrm>
            <a:custGeom>
              <a:avLst/>
              <a:gdLst/>
              <a:ahLst/>
              <a:cxnLst/>
              <a:rect l="l" t="t" r="r" b="b"/>
              <a:pathLst>
                <a:path w="43179" h="43180">
                  <a:moveTo>
                    <a:pt x="21551" y="0"/>
                  </a:moveTo>
                  <a:lnTo>
                    <a:pt x="13136" y="1682"/>
                  </a:lnTo>
                  <a:lnTo>
                    <a:pt x="6288" y="6269"/>
                  </a:lnTo>
                  <a:lnTo>
                    <a:pt x="1684" y="13072"/>
                  </a:lnTo>
                  <a:lnTo>
                    <a:pt x="0" y="21401"/>
                  </a:lnTo>
                  <a:lnTo>
                    <a:pt x="1684" y="29729"/>
                  </a:lnTo>
                  <a:lnTo>
                    <a:pt x="6288" y="36532"/>
                  </a:lnTo>
                  <a:lnTo>
                    <a:pt x="13136" y="41120"/>
                  </a:lnTo>
                  <a:lnTo>
                    <a:pt x="21551" y="42802"/>
                  </a:lnTo>
                  <a:lnTo>
                    <a:pt x="29923" y="41120"/>
                  </a:lnTo>
                  <a:lnTo>
                    <a:pt x="36748" y="36532"/>
                  </a:lnTo>
                  <a:lnTo>
                    <a:pt x="41344" y="29729"/>
                  </a:lnTo>
                  <a:lnTo>
                    <a:pt x="43028" y="21401"/>
                  </a:lnTo>
                  <a:lnTo>
                    <a:pt x="41344" y="13072"/>
                  </a:lnTo>
                  <a:lnTo>
                    <a:pt x="36748" y="6269"/>
                  </a:lnTo>
                  <a:lnTo>
                    <a:pt x="29923"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46" name="object 46"/>
            <p:cNvSpPr/>
            <p:nvPr/>
          </p:nvSpPr>
          <p:spPr>
            <a:xfrm>
              <a:off x="7712461" y="1669705"/>
              <a:ext cx="43180" cy="43180"/>
            </a:xfrm>
            <a:custGeom>
              <a:avLst/>
              <a:gdLst/>
              <a:ahLst/>
              <a:cxnLst/>
              <a:rect l="l" t="t" r="r" b="b"/>
              <a:pathLst>
                <a:path w="43179" h="43180">
                  <a:moveTo>
                    <a:pt x="0" y="21401"/>
                  </a:moveTo>
                  <a:lnTo>
                    <a:pt x="1684" y="13072"/>
                  </a:lnTo>
                  <a:lnTo>
                    <a:pt x="6288" y="6269"/>
                  </a:lnTo>
                  <a:lnTo>
                    <a:pt x="13136" y="1682"/>
                  </a:lnTo>
                  <a:lnTo>
                    <a:pt x="21551" y="0"/>
                  </a:lnTo>
                  <a:lnTo>
                    <a:pt x="29923" y="1682"/>
                  </a:lnTo>
                  <a:lnTo>
                    <a:pt x="36748" y="6269"/>
                  </a:lnTo>
                  <a:lnTo>
                    <a:pt x="41344" y="13072"/>
                  </a:lnTo>
                  <a:lnTo>
                    <a:pt x="43028" y="21401"/>
                  </a:lnTo>
                  <a:lnTo>
                    <a:pt x="41344" y="29729"/>
                  </a:lnTo>
                  <a:lnTo>
                    <a:pt x="36748" y="36532"/>
                  </a:lnTo>
                  <a:lnTo>
                    <a:pt x="29923" y="41120"/>
                  </a:lnTo>
                  <a:lnTo>
                    <a:pt x="21551" y="42802"/>
                  </a:lnTo>
                  <a:lnTo>
                    <a:pt x="13136" y="41120"/>
                  </a:lnTo>
                  <a:lnTo>
                    <a:pt x="6288" y="36532"/>
                  </a:lnTo>
                  <a:lnTo>
                    <a:pt x="1684"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47" name="object 47"/>
            <p:cNvSpPr/>
            <p:nvPr/>
          </p:nvSpPr>
          <p:spPr>
            <a:xfrm>
              <a:off x="4507550" y="1186761"/>
              <a:ext cx="492759" cy="570230"/>
            </a:xfrm>
            <a:custGeom>
              <a:avLst/>
              <a:gdLst/>
              <a:ahLst/>
              <a:cxnLst/>
              <a:rect l="l" t="t" r="r" b="b"/>
              <a:pathLst>
                <a:path w="492760" h="570230">
                  <a:moveTo>
                    <a:pt x="492262" y="0"/>
                  </a:moveTo>
                  <a:lnTo>
                    <a:pt x="0" y="0"/>
                  </a:lnTo>
                  <a:lnTo>
                    <a:pt x="0" y="569812"/>
                  </a:lnTo>
                  <a:lnTo>
                    <a:pt x="492263" y="569812"/>
                  </a:lnTo>
                  <a:lnTo>
                    <a:pt x="492262" y="0"/>
                  </a:lnTo>
                  <a:close/>
                </a:path>
              </a:pathLst>
            </a:custGeom>
            <a:solidFill>
              <a:srgbClr val="F1F1F1"/>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48" name="object 48"/>
            <p:cNvPicPr/>
            <p:nvPr/>
          </p:nvPicPr>
          <p:blipFill>
            <a:blip r:embed="rId8" cstate="print"/>
            <a:stretch>
              <a:fillRect/>
            </a:stretch>
          </p:blipFill>
          <p:spPr>
            <a:xfrm>
              <a:off x="4050364" y="1563589"/>
              <a:ext cx="380418" cy="245150"/>
            </a:xfrm>
            <a:prstGeom prst="rect">
              <a:avLst/>
            </a:prstGeom>
          </p:spPr>
        </p:pic>
        <p:sp>
          <p:nvSpPr>
            <p:cNvPr id="49" name="object 49"/>
            <p:cNvSpPr/>
            <p:nvPr/>
          </p:nvSpPr>
          <p:spPr>
            <a:xfrm>
              <a:off x="4419635" y="1686128"/>
              <a:ext cx="291465" cy="0"/>
            </a:xfrm>
            <a:custGeom>
              <a:avLst/>
              <a:gdLst/>
              <a:ahLst/>
              <a:cxnLst/>
              <a:rect l="l" t="t" r="r" b="b"/>
              <a:pathLst>
                <a:path w="291464">
                  <a:moveTo>
                    <a:pt x="291240"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50" name="object 50"/>
            <p:cNvSpPr/>
            <p:nvPr/>
          </p:nvSpPr>
          <p:spPr>
            <a:xfrm>
              <a:off x="4049843" y="1159118"/>
              <a:ext cx="1270" cy="939800"/>
            </a:xfrm>
            <a:custGeom>
              <a:avLst/>
              <a:gdLst/>
              <a:ahLst/>
              <a:cxnLst/>
              <a:rect l="l" t="t" r="r" b="b"/>
              <a:pathLst>
                <a:path w="1270" h="939800">
                  <a:moveTo>
                    <a:pt x="0" y="939433"/>
                  </a:moveTo>
                  <a:lnTo>
                    <a:pt x="743"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51" name="object 51"/>
            <p:cNvPicPr/>
            <p:nvPr/>
          </p:nvPicPr>
          <p:blipFill>
            <a:blip r:embed="rId9" cstate="print"/>
            <a:stretch>
              <a:fillRect/>
            </a:stretch>
          </p:blipFill>
          <p:spPr>
            <a:xfrm>
              <a:off x="4056978" y="1103385"/>
              <a:ext cx="503409" cy="109013"/>
            </a:xfrm>
            <a:prstGeom prst="rect">
              <a:avLst/>
            </a:prstGeom>
          </p:spPr>
        </p:pic>
        <p:sp>
          <p:nvSpPr>
            <p:cNvPr id="52" name="object 52"/>
            <p:cNvSpPr/>
            <p:nvPr/>
          </p:nvSpPr>
          <p:spPr>
            <a:xfrm>
              <a:off x="2989580" y="1650542"/>
              <a:ext cx="1147445" cy="71755"/>
            </a:xfrm>
            <a:custGeom>
              <a:avLst/>
              <a:gdLst/>
              <a:ahLst/>
              <a:cxnLst/>
              <a:rect l="l" t="t" r="r" b="b"/>
              <a:pathLst>
                <a:path w="1147445" h="71755">
                  <a:moveTo>
                    <a:pt x="1146835" y="24523"/>
                  </a:moveTo>
                  <a:lnTo>
                    <a:pt x="71348" y="24523"/>
                  </a:lnTo>
                  <a:lnTo>
                    <a:pt x="71348" y="0"/>
                  </a:lnTo>
                  <a:lnTo>
                    <a:pt x="0" y="35661"/>
                  </a:lnTo>
                  <a:lnTo>
                    <a:pt x="71348" y="71335"/>
                  </a:lnTo>
                  <a:lnTo>
                    <a:pt x="71348" y="46812"/>
                  </a:lnTo>
                  <a:lnTo>
                    <a:pt x="1146835" y="46812"/>
                  </a:lnTo>
                  <a:lnTo>
                    <a:pt x="1146835" y="24523"/>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53" name="object 53"/>
            <p:cNvSpPr/>
            <p:nvPr/>
          </p:nvSpPr>
          <p:spPr>
            <a:xfrm>
              <a:off x="4550355" y="1158003"/>
              <a:ext cx="101600" cy="525145"/>
            </a:xfrm>
            <a:custGeom>
              <a:avLst/>
              <a:gdLst/>
              <a:ahLst/>
              <a:cxnLst/>
              <a:rect l="l" t="t" r="r" b="b"/>
              <a:pathLst>
                <a:path w="101600" h="525144">
                  <a:moveTo>
                    <a:pt x="67998" y="438060"/>
                  </a:moveTo>
                  <a:lnTo>
                    <a:pt x="80612" y="435959"/>
                  </a:lnTo>
                  <a:lnTo>
                    <a:pt x="91100" y="429226"/>
                  </a:lnTo>
                  <a:lnTo>
                    <a:pt x="98398" y="418884"/>
                  </a:lnTo>
                  <a:lnTo>
                    <a:pt x="101440" y="405958"/>
                  </a:lnTo>
                  <a:lnTo>
                    <a:pt x="99390" y="392853"/>
                  </a:lnTo>
                  <a:lnTo>
                    <a:pt x="92903" y="381937"/>
                  </a:lnTo>
                  <a:lnTo>
                    <a:pt x="82973" y="374336"/>
                  </a:lnTo>
                  <a:lnTo>
                    <a:pt x="70599" y="371180"/>
                  </a:lnTo>
                  <a:lnTo>
                    <a:pt x="69707" y="371180"/>
                  </a:lnTo>
                  <a:lnTo>
                    <a:pt x="68815" y="371180"/>
                  </a:lnTo>
                  <a:lnTo>
                    <a:pt x="67998" y="371180"/>
                  </a:lnTo>
                  <a:lnTo>
                    <a:pt x="80612" y="369080"/>
                  </a:lnTo>
                  <a:lnTo>
                    <a:pt x="91100" y="362347"/>
                  </a:lnTo>
                  <a:lnTo>
                    <a:pt x="98398" y="352005"/>
                  </a:lnTo>
                  <a:lnTo>
                    <a:pt x="101440" y="339078"/>
                  </a:lnTo>
                  <a:lnTo>
                    <a:pt x="99390" y="325974"/>
                  </a:lnTo>
                  <a:lnTo>
                    <a:pt x="92903" y="315057"/>
                  </a:lnTo>
                  <a:lnTo>
                    <a:pt x="82973" y="307457"/>
                  </a:lnTo>
                  <a:lnTo>
                    <a:pt x="70599" y="304301"/>
                  </a:lnTo>
                  <a:lnTo>
                    <a:pt x="69707" y="304301"/>
                  </a:lnTo>
                  <a:lnTo>
                    <a:pt x="68815" y="304301"/>
                  </a:lnTo>
                  <a:lnTo>
                    <a:pt x="67998" y="304301"/>
                  </a:lnTo>
                  <a:lnTo>
                    <a:pt x="80612" y="302201"/>
                  </a:lnTo>
                  <a:lnTo>
                    <a:pt x="91100" y="295467"/>
                  </a:lnTo>
                  <a:lnTo>
                    <a:pt x="98398" y="285125"/>
                  </a:lnTo>
                  <a:lnTo>
                    <a:pt x="101440" y="272199"/>
                  </a:lnTo>
                  <a:lnTo>
                    <a:pt x="99390" y="259095"/>
                  </a:lnTo>
                  <a:lnTo>
                    <a:pt x="92903" y="248178"/>
                  </a:lnTo>
                  <a:lnTo>
                    <a:pt x="82973" y="240577"/>
                  </a:lnTo>
                  <a:lnTo>
                    <a:pt x="70599" y="237421"/>
                  </a:lnTo>
                  <a:lnTo>
                    <a:pt x="69707" y="237421"/>
                  </a:lnTo>
                  <a:lnTo>
                    <a:pt x="68815" y="237421"/>
                  </a:lnTo>
                  <a:lnTo>
                    <a:pt x="67998" y="237421"/>
                  </a:lnTo>
                  <a:lnTo>
                    <a:pt x="80612" y="235321"/>
                  </a:lnTo>
                  <a:lnTo>
                    <a:pt x="91100" y="228588"/>
                  </a:lnTo>
                  <a:lnTo>
                    <a:pt x="98398" y="218246"/>
                  </a:lnTo>
                  <a:lnTo>
                    <a:pt x="101440" y="205319"/>
                  </a:lnTo>
                  <a:lnTo>
                    <a:pt x="99390" y="192215"/>
                  </a:lnTo>
                  <a:lnTo>
                    <a:pt x="92903" y="181299"/>
                  </a:lnTo>
                  <a:lnTo>
                    <a:pt x="82973" y="173698"/>
                  </a:lnTo>
                  <a:lnTo>
                    <a:pt x="70599" y="170542"/>
                  </a:lnTo>
                  <a:lnTo>
                    <a:pt x="69707" y="170542"/>
                  </a:lnTo>
                  <a:lnTo>
                    <a:pt x="68815" y="170542"/>
                  </a:lnTo>
                  <a:lnTo>
                    <a:pt x="67998" y="170542"/>
                  </a:lnTo>
                </a:path>
                <a:path w="101600" h="525144">
                  <a:moveTo>
                    <a:pt x="67998" y="438060"/>
                  </a:moveTo>
                  <a:lnTo>
                    <a:pt x="1114" y="438060"/>
                  </a:lnTo>
                </a:path>
                <a:path w="101600" h="525144">
                  <a:moveTo>
                    <a:pt x="67998" y="170542"/>
                  </a:moveTo>
                  <a:lnTo>
                    <a:pt x="1114" y="170542"/>
                  </a:lnTo>
                </a:path>
                <a:path w="101600" h="525144">
                  <a:moveTo>
                    <a:pt x="1114" y="170542"/>
                  </a:moveTo>
                  <a:lnTo>
                    <a:pt x="0" y="0"/>
                  </a:lnTo>
                </a:path>
                <a:path w="101600" h="525144">
                  <a:moveTo>
                    <a:pt x="1114" y="525003"/>
                  </a:moveTo>
                  <a:lnTo>
                    <a:pt x="1114" y="43806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54" name="object 54"/>
            <p:cNvSpPr/>
            <p:nvPr/>
          </p:nvSpPr>
          <p:spPr>
            <a:xfrm>
              <a:off x="4710801" y="1585883"/>
              <a:ext cx="267970" cy="100330"/>
            </a:xfrm>
            <a:custGeom>
              <a:avLst/>
              <a:gdLst/>
              <a:ahLst/>
              <a:cxnLst/>
              <a:rect l="l" t="t" r="r" b="b"/>
              <a:pathLst>
                <a:path w="267970" h="100330">
                  <a:moveTo>
                    <a:pt x="267608" y="33365"/>
                  </a:moveTo>
                  <a:lnTo>
                    <a:pt x="265497" y="20784"/>
                  </a:lnTo>
                  <a:lnTo>
                    <a:pt x="258746" y="10301"/>
                  </a:lnTo>
                  <a:lnTo>
                    <a:pt x="248400" y="3008"/>
                  </a:lnTo>
                  <a:lnTo>
                    <a:pt x="235504" y="0"/>
                  </a:lnTo>
                  <a:lnTo>
                    <a:pt x="222368" y="2007"/>
                  </a:lnTo>
                  <a:lnTo>
                    <a:pt x="211454" y="8480"/>
                  </a:lnTo>
                  <a:lnTo>
                    <a:pt x="203870" y="18423"/>
                  </a:lnTo>
                  <a:lnTo>
                    <a:pt x="200724" y="30838"/>
                  </a:lnTo>
                  <a:lnTo>
                    <a:pt x="200650" y="31656"/>
                  </a:lnTo>
                  <a:lnTo>
                    <a:pt x="200650" y="32547"/>
                  </a:lnTo>
                  <a:lnTo>
                    <a:pt x="200724" y="33365"/>
                  </a:lnTo>
                  <a:lnTo>
                    <a:pt x="198613" y="20784"/>
                  </a:lnTo>
                  <a:lnTo>
                    <a:pt x="191862" y="10301"/>
                  </a:lnTo>
                  <a:lnTo>
                    <a:pt x="181516" y="3008"/>
                  </a:lnTo>
                  <a:lnTo>
                    <a:pt x="168620" y="0"/>
                  </a:lnTo>
                  <a:lnTo>
                    <a:pt x="155484" y="2007"/>
                  </a:lnTo>
                  <a:lnTo>
                    <a:pt x="144570" y="8480"/>
                  </a:lnTo>
                  <a:lnTo>
                    <a:pt x="136987" y="18423"/>
                  </a:lnTo>
                  <a:lnTo>
                    <a:pt x="133841" y="30838"/>
                  </a:lnTo>
                  <a:lnTo>
                    <a:pt x="133767" y="31656"/>
                  </a:lnTo>
                  <a:lnTo>
                    <a:pt x="133767" y="32547"/>
                  </a:lnTo>
                  <a:lnTo>
                    <a:pt x="133841" y="33365"/>
                  </a:lnTo>
                  <a:lnTo>
                    <a:pt x="131730" y="20784"/>
                  </a:lnTo>
                  <a:lnTo>
                    <a:pt x="124979" y="10301"/>
                  </a:lnTo>
                  <a:lnTo>
                    <a:pt x="114633" y="3008"/>
                  </a:lnTo>
                  <a:lnTo>
                    <a:pt x="101737" y="0"/>
                  </a:lnTo>
                  <a:lnTo>
                    <a:pt x="88600" y="2007"/>
                  </a:lnTo>
                  <a:lnTo>
                    <a:pt x="77687" y="8480"/>
                  </a:lnTo>
                  <a:lnTo>
                    <a:pt x="70103" y="18423"/>
                  </a:lnTo>
                  <a:lnTo>
                    <a:pt x="66957" y="30838"/>
                  </a:lnTo>
                  <a:lnTo>
                    <a:pt x="66883" y="31656"/>
                  </a:lnTo>
                  <a:lnTo>
                    <a:pt x="66883" y="32547"/>
                  </a:lnTo>
                  <a:lnTo>
                    <a:pt x="66957" y="33365"/>
                  </a:lnTo>
                  <a:lnTo>
                    <a:pt x="64846" y="20784"/>
                  </a:lnTo>
                  <a:lnTo>
                    <a:pt x="58095" y="10301"/>
                  </a:lnTo>
                  <a:lnTo>
                    <a:pt x="47749" y="3008"/>
                  </a:lnTo>
                  <a:lnTo>
                    <a:pt x="34853" y="0"/>
                  </a:lnTo>
                  <a:lnTo>
                    <a:pt x="21717" y="2007"/>
                  </a:lnTo>
                  <a:lnTo>
                    <a:pt x="10803" y="8480"/>
                  </a:lnTo>
                  <a:lnTo>
                    <a:pt x="3219" y="18423"/>
                  </a:lnTo>
                  <a:lnTo>
                    <a:pt x="74" y="30838"/>
                  </a:lnTo>
                  <a:lnTo>
                    <a:pt x="0" y="31656"/>
                  </a:lnTo>
                  <a:lnTo>
                    <a:pt x="0" y="32547"/>
                  </a:lnTo>
                  <a:lnTo>
                    <a:pt x="74" y="33365"/>
                  </a:lnTo>
                </a:path>
                <a:path w="267970" h="100330">
                  <a:moveTo>
                    <a:pt x="267608" y="33365"/>
                  </a:moveTo>
                  <a:lnTo>
                    <a:pt x="267608" y="100244"/>
                  </a:lnTo>
                </a:path>
                <a:path w="267970" h="100330">
                  <a:moveTo>
                    <a:pt x="74" y="33365"/>
                  </a:moveTo>
                  <a:lnTo>
                    <a:pt x="74" y="100244"/>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55" name="object 55"/>
            <p:cNvPicPr/>
            <p:nvPr/>
          </p:nvPicPr>
          <p:blipFill>
            <a:blip r:embed="rId10" cstate="print"/>
            <a:stretch>
              <a:fillRect/>
            </a:stretch>
          </p:blipFill>
          <p:spPr>
            <a:xfrm>
              <a:off x="4702516" y="1318773"/>
              <a:ext cx="226288" cy="226201"/>
            </a:xfrm>
            <a:prstGeom prst="rect">
              <a:avLst/>
            </a:prstGeom>
          </p:spPr>
        </p:pic>
        <p:sp>
          <p:nvSpPr>
            <p:cNvPr id="56" name="object 56"/>
            <p:cNvSpPr/>
            <p:nvPr/>
          </p:nvSpPr>
          <p:spPr>
            <a:xfrm>
              <a:off x="4531029" y="1150657"/>
              <a:ext cx="618490" cy="558800"/>
            </a:xfrm>
            <a:custGeom>
              <a:avLst/>
              <a:gdLst/>
              <a:ahLst/>
              <a:cxnLst/>
              <a:rect l="l" t="t" r="r" b="b"/>
              <a:pathLst>
                <a:path w="618489" h="558800">
                  <a:moveTo>
                    <a:pt x="43103" y="536968"/>
                  </a:moveTo>
                  <a:lnTo>
                    <a:pt x="41402" y="528637"/>
                  </a:lnTo>
                  <a:lnTo>
                    <a:pt x="36779" y="521830"/>
                  </a:lnTo>
                  <a:lnTo>
                    <a:pt x="29933" y="517245"/>
                  </a:lnTo>
                  <a:lnTo>
                    <a:pt x="21551" y="515556"/>
                  </a:lnTo>
                  <a:lnTo>
                    <a:pt x="13169" y="517245"/>
                  </a:lnTo>
                  <a:lnTo>
                    <a:pt x="6311" y="521830"/>
                  </a:lnTo>
                  <a:lnTo>
                    <a:pt x="1689" y="528637"/>
                  </a:lnTo>
                  <a:lnTo>
                    <a:pt x="0" y="536968"/>
                  </a:lnTo>
                  <a:lnTo>
                    <a:pt x="1689" y="545287"/>
                  </a:lnTo>
                  <a:lnTo>
                    <a:pt x="6311" y="552094"/>
                  </a:lnTo>
                  <a:lnTo>
                    <a:pt x="13169" y="556679"/>
                  </a:lnTo>
                  <a:lnTo>
                    <a:pt x="21551" y="558368"/>
                  </a:lnTo>
                  <a:lnTo>
                    <a:pt x="29933" y="556679"/>
                  </a:lnTo>
                  <a:lnTo>
                    <a:pt x="36779" y="552094"/>
                  </a:lnTo>
                  <a:lnTo>
                    <a:pt x="41402" y="545287"/>
                  </a:lnTo>
                  <a:lnTo>
                    <a:pt x="43103" y="536968"/>
                  </a:lnTo>
                  <a:close/>
                </a:path>
                <a:path w="618489" h="558800">
                  <a:moveTo>
                    <a:pt x="280314" y="19913"/>
                  </a:moveTo>
                  <a:lnTo>
                    <a:pt x="277863" y="13589"/>
                  </a:lnTo>
                  <a:lnTo>
                    <a:pt x="271995" y="7797"/>
                  </a:lnTo>
                  <a:lnTo>
                    <a:pt x="266712" y="2527"/>
                  </a:lnTo>
                  <a:lnTo>
                    <a:pt x="261175" y="0"/>
                  </a:lnTo>
                  <a:lnTo>
                    <a:pt x="248056" y="0"/>
                  </a:lnTo>
                  <a:lnTo>
                    <a:pt x="241071" y="3111"/>
                  </a:lnTo>
                  <a:lnTo>
                    <a:pt x="233489" y="9359"/>
                  </a:lnTo>
                  <a:lnTo>
                    <a:pt x="242785" y="21247"/>
                  </a:lnTo>
                  <a:lnTo>
                    <a:pt x="250215" y="14554"/>
                  </a:lnTo>
                  <a:lnTo>
                    <a:pt x="256235" y="13589"/>
                  </a:lnTo>
                  <a:lnTo>
                    <a:pt x="260997" y="18275"/>
                  </a:lnTo>
                  <a:lnTo>
                    <a:pt x="263144" y="20434"/>
                  </a:lnTo>
                  <a:lnTo>
                    <a:pt x="264109" y="22961"/>
                  </a:lnTo>
                  <a:lnTo>
                    <a:pt x="263969" y="25781"/>
                  </a:lnTo>
                  <a:lnTo>
                    <a:pt x="263740" y="28600"/>
                  </a:lnTo>
                  <a:lnTo>
                    <a:pt x="262178" y="31508"/>
                  </a:lnTo>
                  <a:lnTo>
                    <a:pt x="259207" y="34404"/>
                  </a:lnTo>
                  <a:lnTo>
                    <a:pt x="256463" y="37223"/>
                  </a:lnTo>
                  <a:lnTo>
                    <a:pt x="252895" y="39154"/>
                  </a:lnTo>
                  <a:lnTo>
                    <a:pt x="248577" y="40271"/>
                  </a:lnTo>
                  <a:lnTo>
                    <a:pt x="245605" y="41084"/>
                  </a:lnTo>
                  <a:lnTo>
                    <a:pt x="239141" y="41833"/>
                  </a:lnTo>
                  <a:lnTo>
                    <a:pt x="229108" y="42430"/>
                  </a:lnTo>
                  <a:lnTo>
                    <a:pt x="220294" y="43154"/>
                  </a:lnTo>
                  <a:lnTo>
                    <a:pt x="184378" y="56019"/>
                  </a:lnTo>
                  <a:lnTo>
                    <a:pt x="221678" y="93332"/>
                  </a:lnTo>
                  <a:lnTo>
                    <a:pt x="233718" y="81292"/>
                  </a:lnTo>
                  <a:lnTo>
                    <a:pt x="212610" y="60109"/>
                  </a:lnTo>
                  <a:lnTo>
                    <a:pt x="214325" y="59512"/>
                  </a:lnTo>
                  <a:lnTo>
                    <a:pt x="216255" y="58991"/>
                  </a:lnTo>
                  <a:lnTo>
                    <a:pt x="220484" y="58407"/>
                  </a:lnTo>
                  <a:lnTo>
                    <a:pt x="225247" y="58026"/>
                  </a:lnTo>
                  <a:lnTo>
                    <a:pt x="240258" y="57137"/>
                  </a:lnTo>
                  <a:lnTo>
                    <a:pt x="246202" y="56400"/>
                  </a:lnTo>
                  <a:lnTo>
                    <a:pt x="278676" y="33362"/>
                  </a:lnTo>
                  <a:lnTo>
                    <a:pt x="280149" y="21247"/>
                  </a:lnTo>
                  <a:lnTo>
                    <a:pt x="280250" y="20434"/>
                  </a:lnTo>
                  <a:lnTo>
                    <a:pt x="280314" y="19913"/>
                  </a:lnTo>
                  <a:close/>
                </a:path>
                <a:path w="618489" h="558800">
                  <a:moveTo>
                    <a:pt x="324307" y="60109"/>
                  </a:moveTo>
                  <a:lnTo>
                    <a:pt x="319773" y="55575"/>
                  </a:lnTo>
                  <a:lnTo>
                    <a:pt x="315607" y="51422"/>
                  </a:lnTo>
                  <a:lnTo>
                    <a:pt x="310273" y="54317"/>
                  </a:lnTo>
                  <a:lnTo>
                    <a:pt x="310095" y="54317"/>
                  </a:lnTo>
                  <a:lnTo>
                    <a:pt x="304609" y="55575"/>
                  </a:lnTo>
                  <a:lnTo>
                    <a:pt x="301498" y="55575"/>
                  </a:lnTo>
                  <a:lnTo>
                    <a:pt x="292125" y="55359"/>
                  </a:lnTo>
                  <a:lnTo>
                    <a:pt x="286931" y="54470"/>
                  </a:lnTo>
                  <a:lnTo>
                    <a:pt x="282765" y="52679"/>
                  </a:lnTo>
                  <a:lnTo>
                    <a:pt x="270954" y="64490"/>
                  </a:lnTo>
                  <a:lnTo>
                    <a:pt x="278307" y="67614"/>
                  </a:lnTo>
                  <a:lnTo>
                    <a:pt x="286181" y="68884"/>
                  </a:lnTo>
                  <a:lnTo>
                    <a:pt x="294576" y="68440"/>
                  </a:lnTo>
                  <a:lnTo>
                    <a:pt x="245681" y="117335"/>
                  </a:lnTo>
                  <a:lnTo>
                    <a:pt x="256311" y="127952"/>
                  </a:lnTo>
                  <a:lnTo>
                    <a:pt x="315836" y="68440"/>
                  </a:lnTo>
                  <a:lnTo>
                    <a:pt x="324154" y="60109"/>
                  </a:lnTo>
                  <a:lnTo>
                    <a:pt x="324307" y="60109"/>
                  </a:lnTo>
                  <a:close/>
                </a:path>
                <a:path w="618489" h="558800">
                  <a:moveTo>
                    <a:pt x="386727" y="122974"/>
                  </a:moveTo>
                  <a:lnTo>
                    <a:pt x="382943" y="119189"/>
                  </a:lnTo>
                  <a:lnTo>
                    <a:pt x="373799" y="110045"/>
                  </a:lnTo>
                  <a:lnTo>
                    <a:pt x="342519" y="119189"/>
                  </a:lnTo>
                  <a:lnTo>
                    <a:pt x="351726" y="87972"/>
                  </a:lnTo>
                  <a:lnTo>
                    <a:pt x="338645" y="74828"/>
                  </a:lnTo>
                  <a:lnTo>
                    <a:pt x="323570" y="124764"/>
                  </a:lnTo>
                  <a:lnTo>
                    <a:pt x="269163" y="140817"/>
                  </a:lnTo>
                  <a:lnTo>
                    <a:pt x="282613" y="154266"/>
                  </a:lnTo>
                  <a:lnTo>
                    <a:pt x="317919" y="143637"/>
                  </a:lnTo>
                  <a:lnTo>
                    <a:pt x="307517" y="178193"/>
                  </a:lnTo>
                  <a:lnTo>
                    <a:pt x="307365" y="179006"/>
                  </a:lnTo>
                  <a:lnTo>
                    <a:pt x="320814" y="192455"/>
                  </a:lnTo>
                  <a:lnTo>
                    <a:pt x="335254" y="143637"/>
                  </a:lnTo>
                  <a:lnTo>
                    <a:pt x="336943" y="137909"/>
                  </a:lnTo>
                  <a:lnTo>
                    <a:pt x="386727" y="122974"/>
                  </a:lnTo>
                  <a:close/>
                </a:path>
                <a:path w="618489" h="558800">
                  <a:moveTo>
                    <a:pt x="418236" y="157835"/>
                  </a:moveTo>
                  <a:lnTo>
                    <a:pt x="415785" y="151511"/>
                  </a:lnTo>
                  <a:lnTo>
                    <a:pt x="409994" y="145719"/>
                  </a:lnTo>
                  <a:lnTo>
                    <a:pt x="404647" y="140436"/>
                  </a:lnTo>
                  <a:lnTo>
                    <a:pt x="399097" y="137909"/>
                  </a:lnTo>
                  <a:lnTo>
                    <a:pt x="385991" y="137909"/>
                  </a:lnTo>
                  <a:lnTo>
                    <a:pt x="379006" y="141033"/>
                  </a:lnTo>
                  <a:lnTo>
                    <a:pt x="371424" y="147281"/>
                  </a:lnTo>
                  <a:lnTo>
                    <a:pt x="380707" y="159169"/>
                  </a:lnTo>
                  <a:lnTo>
                    <a:pt x="388150" y="152476"/>
                  </a:lnTo>
                  <a:lnTo>
                    <a:pt x="394233" y="151511"/>
                  </a:lnTo>
                  <a:lnTo>
                    <a:pt x="401078" y="158356"/>
                  </a:lnTo>
                  <a:lnTo>
                    <a:pt x="402043" y="160883"/>
                  </a:lnTo>
                  <a:lnTo>
                    <a:pt x="401891" y="163703"/>
                  </a:lnTo>
                  <a:lnTo>
                    <a:pt x="401675" y="166522"/>
                  </a:lnTo>
                  <a:lnTo>
                    <a:pt x="400113" y="169418"/>
                  </a:lnTo>
                  <a:lnTo>
                    <a:pt x="394385" y="175145"/>
                  </a:lnTo>
                  <a:lnTo>
                    <a:pt x="390677" y="177152"/>
                  </a:lnTo>
                  <a:lnTo>
                    <a:pt x="390537" y="177152"/>
                  </a:lnTo>
                  <a:lnTo>
                    <a:pt x="386511" y="178193"/>
                  </a:lnTo>
                  <a:lnTo>
                    <a:pt x="383540" y="179006"/>
                  </a:lnTo>
                  <a:lnTo>
                    <a:pt x="377075" y="179755"/>
                  </a:lnTo>
                  <a:lnTo>
                    <a:pt x="367042" y="180352"/>
                  </a:lnTo>
                  <a:lnTo>
                    <a:pt x="358063" y="181089"/>
                  </a:lnTo>
                  <a:lnTo>
                    <a:pt x="322300" y="193941"/>
                  </a:lnTo>
                  <a:lnTo>
                    <a:pt x="359613" y="231254"/>
                  </a:lnTo>
                  <a:lnTo>
                    <a:pt x="371652" y="219214"/>
                  </a:lnTo>
                  <a:lnTo>
                    <a:pt x="350545" y="198031"/>
                  </a:lnTo>
                  <a:lnTo>
                    <a:pt x="352247" y="197434"/>
                  </a:lnTo>
                  <a:lnTo>
                    <a:pt x="354177" y="196989"/>
                  </a:lnTo>
                  <a:lnTo>
                    <a:pt x="356336" y="196621"/>
                  </a:lnTo>
                  <a:lnTo>
                    <a:pt x="358419" y="196329"/>
                  </a:lnTo>
                  <a:lnTo>
                    <a:pt x="362229" y="196024"/>
                  </a:lnTo>
                  <a:lnTo>
                    <a:pt x="361975" y="196024"/>
                  </a:lnTo>
                  <a:lnTo>
                    <a:pt x="399669" y="188887"/>
                  </a:lnTo>
                  <a:lnTo>
                    <a:pt x="403009" y="187109"/>
                  </a:lnTo>
                  <a:lnTo>
                    <a:pt x="406133" y="184810"/>
                  </a:lnTo>
                  <a:lnTo>
                    <a:pt x="408838" y="182016"/>
                  </a:lnTo>
                  <a:lnTo>
                    <a:pt x="413778" y="177152"/>
                  </a:lnTo>
                  <a:lnTo>
                    <a:pt x="416610" y="171284"/>
                  </a:lnTo>
                  <a:lnTo>
                    <a:pt x="418084" y="159169"/>
                  </a:lnTo>
                  <a:lnTo>
                    <a:pt x="418185" y="158356"/>
                  </a:lnTo>
                  <a:lnTo>
                    <a:pt x="418236" y="157835"/>
                  </a:lnTo>
                  <a:close/>
                </a:path>
                <a:path w="618489" h="558800">
                  <a:moveTo>
                    <a:pt x="459790" y="199148"/>
                  </a:moveTo>
                  <a:lnTo>
                    <a:pt x="458952" y="196989"/>
                  </a:lnTo>
                  <a:lnTo>
                    <a:pt x="458901" y="196850"/>
                  </a:lnTo>
                  <a:lnTo>
                    <a:pt x="458812" y="196621"/>
                  </a:lnTo>
                  <a:lnTo>
                    <a:pt x="458698" y="196329"/>
                  </a:lnTo>
                  <a:lnTo>
                    <a:pt x="458584" y="196024"/>
                  </a:lnTo>
                  <a:lnTo>
                    <a:pt x="457555" y="193344"/>
                  </a:lnTo>
                  <a:lnTo>
                    <a:pt x="447967" y="183769"/>
                  </a:lnTo>
                  <a:lnTo>
                    <a:pt x="442836" y="181457"/>
                  </a:lnTo>
                  <a:lnTo>
                    <a:pt x="437121" y="181241"/>
                  </a:lnTo>
                  <a:lnTo>
                    <a:pt x="431317" y="181089"/>
                  </a:lnTo>
                  <a:lnTo>
                    <a:pt x="424853" y="183616"/>
                  </a:lnTo>
                  <a:lnTo>
                    <a:pt x="417550" y="188887"/>
                  </a:lnTo>
                  <a:lnTo>
                    <a:pt x="417703" y="188887"/>
                  </a:lnTo>
                  <a:lnTo>
                    <a:pt x="425450" y="200634"/>
                  </a:lnTo>
                  <a:lnTo>
                    <a:pt x="428625" y="198031"/>
                  </a:lnTo>
                  <a:lnTo>
                    <a:pt x="429793" y="197434"/>
                  </a:lnTo>
                  <a:lnTo>
                    <a:pt x="431761" y="196469"/>
                  </a:lnTo>
                  <a:lnTo>
                    <a:pt x="437413" y="196024"/>
                  </a:lnTo>
                  <a:lnTo>
                    <a:pt x="439724" y="196850"/>
                  </a:lnTo>
                  <a:lnTo>
                    <a:pt x="443280" y="200406"/>
                  </a:lnTo>
                  <a:lnTo>
                    <a:pt x="444106" y="202565"/>
                  </a:lnTo>
                  <a:lnTo>
                    <a:pt x="443953" y="205016"/>
                  </a:lnTo>
                  <a:lnTo>
                    <a:pt x="443738" y="207467"/>
                  </a:lnTo>
                  <a:lnTo>
                    <a:pt x="442468" y="209842"/>
                  </a:lnTo>
                  <a:lnTo>
                    <a:pt x="437337" y="214972"/>
                  </a:lnTo>
                  <a:lnTo>
                    <a:pt x="434441" y="216382"/>
                  </a:lnTo>
                  <a:lnTo>
                    <a:pt x="428510" y="216382"/>
                  </a:lnTo>
                  <a:lnTo>
                    <a:pt x="425234" y="214833"/>
                  </a:lnTo>
                  <a:lnTo>
                    <a:pt x="422554" y="212001"/>
                  </a:lnTo>
                  <a:lnTo>
                    <a:pt x="410806" y="221361"/>
                  </a:lnTo>
                  <a:lnTo>
                    <a:pt x="419582" y="230060"/>
                  </a:lnTo>
                  <a:lnTo>
                    <a:pt x="418807" y="235851"/>
                  </a:lnTo>
                  <a:lnTo>
                    <a:pt x="418693" y="236753"/>
                  </a:lnTo>
                  <a:lnTo>
                    <a:pt x="399440" y="249897"/>
                  </a:lnTo>
                  <a:lnTo>
                    <a:pt x="396621" y="249008"/>
                  </a:lnTo>
                  <a:lnTo>
                    <a:pt x="394385" y="246849"/>
                  </a:lnTo>
                  <a:lnTo>
                    <a:pt x="392379" y="244843"/>
                  </a:lnTo>
                  <a:lnTo>
                    <a:pt x="391490" y="242252"/>
                  </a:lnTo>
                  <a:lnTo>
                    <a:pt x="391871" y="236753"/>
                  </a:lnTo>
                  <a:lnTo>
                    <a:pt x="391934" y="235851"/>
                  </a:lnTo>
                  <a:lnTo>
                    <a:pt x="393420" y="232587"/>
                  </a:lnTo>
                  <a:lnTo>
                    <a:pt x="396328" y="229171"/>
                  </a:lnTo>
                  <a:lnTo>
                    <a:pt x="396494" y="229171"/>
                  </a:lnTo>
                  <a:lnTo>
                    <a:pt x="384581" y="220319"/>
                  </a:lnTo>
                  <a:lnTo>
                    <a:pt x="379222" y="226796"/>
                  </a:lnTo>
                  <a:lnTo>
                    <a:pt x="376478" y="233400"/>
                  </a:lnTo>
                  <a:lnTo>
                    <a:pt x="376478" y="247002"/>
                  </a:lnTo>
                  <a:lnTo>
                    <a:pt x="378853" y="252793"/>
                  </a:lnTo>
                  <a:lnTo>
                    <a:pt x="388810" y="262763"/>
                  </a:lnTo>
                  <a:lnTo>
                    <a:pt x="395211" y="265137"/>
                  </a:lnTo>
                  <a:lnTo>
                    <a:pt x="410667" y="264388"/>
                  </a:lnTo>
                  <a:lnTo>
                    <a:pt x="417652" y="261124"/>
                  </a:lnTo>
                  <a:lnTo>
                    <a:pt x="428129" y="250647"/>
                  </a:lnTo>
                  <a:lnTo>
                    <a:pt x="428548" y="249897"/>
                  </a:lnTo>
                  <a:lnTo>
                    <a:pt x="430657" y="246189"/>
                  </a:lnTo>
                  <a:lnTo>
                    <a:pt x="432409" y="236753"/>
                  </a:lnTo>
                  <a:lnTo>
                    <a:pt x="432308" y="235851"/>
                  </a:lnTo>
                  <a:lnTo>
                    <a:pt x="431761" y="232587"/>
                  </a:lnTo>
                  <a:lnTo>
                    <a:pt x="431698" y="232219"/>
                  </a:lnTo>
                  <a:lnTo>
                    <a:pt x="429463" y="228282"/>
                  </a:lnTo>
                  <a:lnTo>
                    <a:pt x="433920" y="229171"/>
                  </a:lnTo>
                  <a:lnTo>
                    <a:pt x="437756" y="229171"/>
                  </a:lnTo>
                  <a:lnTo>
                    <a:pt x="440867" y="228282"/>
                  </a:lnTo>
                  <a:lnTo>
                    <a:pt x="441655" y="228053"/>
                  </a:lnTo>
                  <a:lnTo>
                    <a:pt x="445363" y="227088"/>
                  </a:lnTo>
                  <a:lnTo>
                    <a:pt x="459663" y="200406"/>
                  </a:lnTo>
                  <a:lnTo>
                    <a:pt x="459790" y="199148"/>
                  </a:lnTo>
                  <a:close/>
                </a:path>
                <a:path w="618489" h="558800">
                  <a:moveTo>
                    <a:pt x="505485" y="279031"/>
                  </a:moveTo>
                  <a:lnTo>
                    <a:pt x="492340" y="265874"/>
                  </a:lnTo>
                  <a:lnTo>
                    <a:pt x="464616" y="293674"/>
                  </a:lnTo>
                  <a:lnTo>
                    <a:pt x="460527" y="297014"/>
                  </a:lnTo>
                  <a:lnTo>
                    <a:pt x="457847" y="298272"/>
                  </a:lnTo>
                  <a:lnTo>
                    <a:pt x="455104" y="299466"/>
                  </a:lnTo>
                  <a:lnTo>
                    <a:pt x="452424" y="299834"/>
                  </a:lnTo>
                  <a:lnTo>
                    <a:pt x="449821" y="299466"/>
                  </a:lnTo>
                  <a:lnTo>
                    <a:pt x="447154" y="299021"/>
                  </a:lnTo>
                  <a:lnTo>
                    <a:pt x="444995" y="297980"/>
                  </a:lnTo>
                  <a:lnTo>
                    <a:pt x="443280" y="296202"/>
                  </a:lnTo>
                  <a:lnTo>
                    <a:pt x="440093" y="293001"/>
                  </a:lnTo>
                  <a:lnTo>
                    <a:pt x="439445" y="290398"/>
                  </a:lnTo>
                  <a:lnTo>
                    <a:pt x="439140" y="289217"/>
                  </a:lnTo>
                  <a:lnTo>
                    <a:pt x="441502" y="280885"/>
                  </a:lnTo>
                  <a:lnTo>
                    <a:pt x="445223" y="275907"/>
                  </a:lnTo>
                  <a:lnTo>
                    <a:pt x="473824" y="247370"/>
                  </a:lnTo>
                  <a:lnTo>
                    <a:pt x="460895" y="234442"/>
                  </a:lnTo>
                  <a:lnTo>
                    <a:pt x="393052" y="302285"/>
                  </a:lnTo>
                  <a:lnTo>
                    <a:pt x="405980" y="315150"/>
                  </a:lnTo>
                  <a:lnTo>
                    <a:pt x="430733" y="290398"/>
                  </a:lnTo>
                  <a:lnTo>
                    <a:pt x="429539" y="294487"/>
                  </a:lnTo>
                  <a:lnTo>
                    <a:pt x="429412" y="299834"/>
                  </a:lnTo>
                  <a:lnTo>
                    <a:pt x="429793" y="302285"/>
                  </a:lnTo>
                  <a:lnTo>
                    <a:pt x="429831" y="302590"/>
                  </a:lnTo>
                  <a:lnTo>
                    <a:pt x="442023" y="311353"/>
                  </a:lnTo>
                  <a:lnTo>
                    <a:pt x="445084" y="311353"/>
                  </a:lnTo>
                  <a:lnTo>
                    <a:pt x="447598" y="310832"/>
                  </a:lnTo>
                  <a:lnTo>
                    <a:pt x="450278" y="310019"/>
                  </a:lnTo>
                  <a:lnTo>
                    <a:pt x="444322" y="315963"/>
                  </a:lnTo>
                  <a:lnTo>
                    <a:pt x="456438" y="328079"/>
                  </a:lnTo>
                  <a:lnTo>
                    <a:pt x="474497" y="310019"/>
                  </a:lnTo>
                  <a:lnTo>
                    <a:pt x="484682" y="299834"/>
                  </a:lnTo>
                  <a:lnTo>
                    <a:pt x="505485" y="279031"/>
                  </a:lnTo>
                  <a:close/>
                </a:path>
                <a:path w="618489" h="558800">
                  <a:moveTo>
                    <a:pt x="568655" y="346430"/>
                  </a:moveTo>
                  <a:lnTo>
                    <a:pt x="557872" y="330301"/>
                  </a:lnTo>
                  <a:lnTo>
                    <a:pt x="558063" y="330301"/>
                  </a:lnTo>
                  <a:lnTo>
                    <a:pt x="554723" y="329565"/>
                  </a:lnTo>
                  <a:lnTo>
                    <a:pt x="551345" y="328739"/>
                  </a:lnTo>
                  <a:lnTo>
                    <a:pt x="547179" y="328739"/>
                  </a:lnTo>
                  <a:lnTo>
                    <a:pt x="542721" y="329565"/>
                  </a:lnTo>
                  <a:lnTo>
                    <a:pt x="544131" y="325767"/>
                  </a:lnTo>
                  <a:lnTo>
                    <a:pt x="531063" y="305714"/>
                  </a:lnTo>
                  <a:lnTo>
                    <a:pt x="530453" y="305562"/>
                  </a:lnTo>
                  <a:lnTo>
                    <a:pt x="527037" y="304812"/>
                  </a:lnTo>
                  <a:lnTo>
                    <a:pt x="523176" y="304812"/>
                  </a:lnTo>
                  <a:lnTo>
                    <a:pt x="518795" y="305714"/>
                  </a:lnTo>
                  <a:lnTo>
                    <a:pt x="525475" y="299021"/>
                  </a:lnTo>
                  <a:lnTo>
                    <a:pt x="515670" y="289217"/>
                  </a:lnTo>
                  <a:lnTo>
                    <a:pt x="466623" y="338251"/>
                  </a:lnTo>
                  <a:lnTo>
                    <a:pt x="477329" y="348957"/>
                  </a:lnTo>
                  <a:lnTo>
                    <a:pt x="501180" y="325107"/>
                  </a:lnTo>
                  <a:lnTo>
                    <a:pt x="505929" y="320268"/>
                  </a:lnTo>
                  <a:lnTo>
                    <a:pt x="509651" y="317157"/>
                  </a:lnTo>
                  <a:lnTo>
                    <a:pt x="512254" y="315734"/>
                  </a:lnTo>
                  <a:lnTo>
                    <a:pt x="514858" y="314248"/>
                  </a:lnTo>
                  <a:lnTo>
                    <a:pt x="517385" y="313664"/>
                  </a:lnTo>
                  <a:lnTo>
                    <a:pt x="522135" y="314248"/>
                  </a:lnTo>
                  <a:lnTo>
                    <a:pt x="524065" y="315150"/>
                  </a:lnTo>
                  <a:lnTo>
                    <a:pt x="528002" y="319087"/>
                  </a:lnTo>
                  <a:lnTo>
                    <a:pt x="528523" y="321614"/>
                  </a:lnTo>
                  <a:lnTo>
                    <a:pt x="526300" y="326593"/>
                  </a:lnTo>
                  <a:lnTo>
                    <a:pt x="523176" y="330301"/>
                  </a:lnTo>
                  <a:lnTo>
                    <a:pt x="490918" y="362559"/>
                  </a:lnTo>
                  <a:lnTo>
                    <a:pt x="501624" y="373176"/>
                  </a:lnTo>
                  <a:lnTo>
                    <a:pt x="531799" y="343014"/>
                  </a:lnTo>
                  <a:lnTo>
                    <a:pt x="536917" y="339293"/>
                  </a:lnTo>
                  <a:lnTo>
                    <a:pt x="544360" y="337667"/>
                  </a:lnTo>
                  <a:lnTo>
                    <a:pt x="547408" y="338480"/>
                  </a:lnTo>
                  <a:lnTo>
                    <a:pt x="551789" y="342861"/>
                  </a:lnTo>
                  <a:lnTo>
                    <a:pt x="552450" y="345173"/>
                  </a:lnTo>
                  <a:lnTo>
                    <a:pt x="551713" y="347624"/>
                  </a:lnTo>
                  <a:lnTo>
                    <a:pt x="550989" y="349770"/>
                  </a:lnTo>
                  <a:lnTo>
                    <a:pt x="550900" y="350075"/>
                  </a:lnTo>
                  <a:lnTo>
                    <a:pt x="548068" y="353783"/>
                  </a:lnTo>
                  <a:lnTo>
                    <a:pt x="515150" y="386778"/>
                  </a:lnTo>
                  <a:lnTo>
                    <a:pt x="525780" y="397408"/>
                  </a:lnTo>
                  <a:lnTo>
                    <a:pt x="562267" y="360997"/>
                  </a:lnTo>
                  <a:lnTo>
                    <a:pt x="565454" y="356679"/>
                  </a:lnTo>
                  <a:lnTo>
                    <a:pt x="566877" y="353263"/>
                  </a:lnTo>
                  <a:lnTo>
                    <a:pt x="568159" y="350075"/>
                  </a:lnTo>
                  <a:lnTo>
                    <a:pt x="568286" y="349770"/>
                  </a:lnTo>
                  <a:lnTo>
                    <a:pt x="568655" y="346430"/>
                  </a:lnTo>
                  <a:close/>
                </a:path>
                <a:path w="618489" h="558800">
                  <a:moveTo>
                    <a:pt x="617931" y="355422"/>
                  </a:moveTo>
                  <a:lnTo>
                    <a:pt x="616292" y="351332"/>
                  </a:lnTo>
                  <a:lnTo>
                    <a:pt x="609079" y="344131"/>
                  </a:lnTo>
                  <a:lnTo>
                    <a:pt x="605294" y="342417"/>
                  </a:lnTo>
                  <a:lnTo>
                    <a:pt x="596976" y="342493"/>
                  </a:lnTo>
                  <a:lnTo>
                    <a:pt x="592442" y="344500"/>
                  </a:lnTo>
                  <a:lnTo>
                    <a:pt x="587527" y="348589"/>
                  </a:lnTo>
                  <a:lnTo>
                    <a:pt x="593547" y="356311"/>
                  </a:lnTo>
                  <a:lnTo>
                    <a:pt x="598385" y="351929"/>
                  </a:lnTo>
                  <a:lnTo>
                    <a:pt x="602322" y="351256"/>
                  </a:lnTo>
                  <a:lnTo>
                    <a:pt x="606780" y="355790"/>
                  </a:lnTo>
                  <a:lnTo>
                    <a:pt x="607377" y="357352"/>
                  </a:lnTo>
                  <a:lnTo>
                    <a:pt x="607148" y="361073"/>
                  </a:lnTo>
                  <a:lnTo>
                    <a:pt x="576465" y="370586"/>
                  </a:lnTo>
                  <a:lnTo>
                    <a:pt x="570369" y="371475"/>
                  </a:lnTo>
                  <a:lnTo>
                    <a:pt x="562419" y="374154"/>
                  </a:lnTo>
                  <a:lnTo>
                    <a:pt x="558774" y="376161"/>
                  </a:lnTo>
                  <a:lnTo>
                    <a:pt x="555574" y="378904"/>
                  </a:lnTo>
                  <a:lnTo>
                    <a:pt x="579805" y="403123"/>
                  </a:lnTo>
                  <a:lnTo>
                    <a:pt x="587679" y="395325"/>
                  </a:lnTo>
                  <a:lnTo>
                    <a:pt x="573938" y="381584"/>
                  </a:lnTo>
                  <a:lnTo>
                    <a:pt x="575043" y="381139"/>
                  </a:lnTo>
                  <a:lnTo>
                    <a:pt x="577646" y="380619"/>
                  </a:lnTo>
                  <a:lnTo>
                    <a:pt x="582104" y="380161"/>
                  </a:lnTo>
                  <a:lnTo>
                    <a:pt x="591845" y="379653"/>
                  </a:lnTo>
                  <a:lnTo>
                    <a:pt x="595782" y="379133"/>
                  </a:lnTo>
                  <a:lnTo>
                    <a:pt x="616889" y="364185"/>
                  </a:lnTo>
                  <a:lnTo>
                    <a:pt x="617931" y="355422"/>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57" name="object 57"/>
            <p:cNvSpPr/>
            <p:nvPr/>
          </p:nvSpPr>
          <p:spPr>
            <a:xfrm>
              <a:off x="4531033" y="1666212"/>
              <a:ext cx="43180" cy="43180"/>
            </a:xfrm>
            <a:custGeom>
              <a:avLst/>
              <a:gdLst/>
              <a:ahLst/>
              <a:cxnLst/>
              <a:rect l="l" t="t" r="r" b="b"/>
              <a:pathLst>
                <a:path w="43179" h="43180">
                  <a:moveTo>
                    <a:pt x="0" y="21401"/>
                  </a:moveTo>
                  <a:lnTo>
                    <a:pt x="1695" y="13072"/>
                  </a:lnTo>
                  <a:lnTo>
                    <a:pt x="6316" y="6269"/>
                  </a:lnTo>
                  <a:lnTo>
                    <a:pt x="13167" y="1682"/>
                  </a:lnTo>
                  <a:lnTo>
                    <a:pt x="21551" y="0"/>
                  </a:lnTo>
                  <a:lnTo>
                    <a:pt x="29935" y="1682"/>
                  </a:lnTo>
                  <a:lnTo>
                    <a:pt x="36785" y="6269"/>
                  </a:lnTo>
                  <a:lnTo>
                    <a:pt x="41407" y="13072"/>
                  </a:lnTo>
                  <a:lnTo>
                    <a:pt x="43102" y="21401"/>
                  </a:lnTo>
                  <a:lnTo>
                    <a:pt x="41407" y="29729"/>
                  </a:lnTo>
                  <a:lnTo>
                    <a:pt x="36785" y="36532"/>
                  </a:lnTo>
                  <a:lnTo>
                    <a:pt x="29935" y="41120"/>
                  </a:lnTo>
                  <a:lnTo>
                    <a:pt x="21551" y="42802"/>
                  </a:lnTo>
                  <a:lnTo>
                    <a:pt x="13167" y="41120"/>
                  </a:lnTo>
                  <a:lnTo>
                    <a:pt x="6316" y="36532"/>
                  </a:lnTo>
                  <a:lnTo>
                    <a:pt x="1695"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58" name="object 58"/>
            <p:cNvSpPr/>
            <p:nvPr/>
          </p:nvSpPr>
          <p:spPr>
            <a:xfrm>
              <a:off x="4028664" y="1667699"/>
              <a:ext cx="43180" cy="43180"/>
            </a:xfrm>
            <a:custGeom>
              <a:avLst/>
              <a:gdLst/>
              <a:ahLst/>
              <a:cxnLst/>
              <a:rect l="l" t="t" r="r" b="b"/>
              <a:pathLst>
                <a:path w="43179" h="43180">
                  <a:moveTo>
                    <a:pt x="21551" y="0"/>
                  </a:moveTo>
                  <a:lnTo>
                    <a:pt x="13167" y="1682"/>
                  </a:lnTo>
                  <a:lnTo>
                    <a:pt x="6316" y="6269"/>
                  </a:lnTo>
                  <a:lnTo>
                    <a:pt x="1695" y="13072"/>
                  </a:lnTo>
                  <a:lnTo>
                    <a:pt x="0" y="21401"/>
                  </a:lnTo>
                  <a:lnTo>
                    <a:pt x="1695" y="29729"/>
                  </a:lnTo>
                  <a:lnTo>
                    <a:pt x="6316" y="36532"/>
                  </a:lnTo>
                  <a:lnTo>
                    <a:pt x="13167" y="41120"/>
                  </a:lnTo>
                  <a:lnTo>
                    <a:pt x="21551" y="42802"/>
                  </a:lnTo>
                  <a:lnTo>
                    <a:pt x="29935" y="41120"/>
                  </a:lnTo>
                  <a:lnTo>
                    <a:pt x="36785" y="36532"/>
                  </a:lnTo>
                  <a:lnTo>
                    <a:pt x="41407" y="29729"/>
                  </a:lnTo>
                  <a:lnTo>
                    <a:pt x="43102" y="21401"/>
                  </a:lnTo>
                  <a:lnTo>
                    <a:pt x="41407" y="13072"/>
                  </a:lnTo>
                  <a:lnTo>
                    <a:pt x="36785" y="6269"/>
                  </a:lnTo>
                  <a:lnTo>
                    <a:pt x="29935"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59" name="object 59"/>
            <p:cNvSpPr/>
            <p:nvPr/>
          </p:nvSpPr>
          <p:spPr>
            <a:xfrm>
              <a:off x="4028664" y="1667699"/>
              <a:ext cx="43180" cy="43180"/>
            </a:xfrm>
            <a:custGeom>
              <a:avLst/>
              <a:gdLst/>
              <a:ahLst/>
              <a:cxnLst/>
              <a:rect l="l" t="t" r="r" b="b"/>
              <a:pathLst>
                <a:path w="43179" h="43180">
                  <a:moveTo>
                    <a:pt x="0" y="21401"/>
                  </a:moveTo>
                  <a:lnTo>
                    <a:pt x="1695" y="13072"/>
                  </a:lnTo>
                  <a:lnTo>
                    <a:pt x="6316" y="6269"/>
                  </a:lnTo>
                  <a:lnTo>
                    <a:pt x="13167" y="1682"/>
                  </a:lnTo>
                  <a:lnTo>
                    <a:pt x="21551" y="0"/>
                  </a:lnTo>
                  <a:lnTo>
                    <a:pt x="29935" y="1682"/>
                  </a:lnTo>
                  <a:lnTo>
                    <a:pt x="36785" y="6269"/>
                  </a:lnTo>
                  <a:lnTo>
                    <a:pt x="41407" y="13072"/>
                  </a:lnTo>
                  <a:lnTo>
                    <a:pt x="43102" y="21401"/>
                  </a:lnTo>
                  <a:lnTo>
                    <a:pt x="41407" y="29729"/>
                  </a:lnTo>
                  <a:lnTo>
                    <a:pt x="36785" y="36532"/>
                  </a:lnTo>
                  <a:lnTo>
                    <a:pt x="29935" y="41120"/>
                  </a:lnTo>
                  <a:lnTo>
                    <a:pt x="21551" y="42802"/>
                  </a:lnTo>
                  <a:lnTo>
                    <a:pt x="13167" y="41120"/>
                  </a:lnTo>
                  <a:lnTo>
                    <a:pt x="6316" y="36532"/>
                  </a:lnTo>
                  <a:lnTo>
                    <a:pt x="1695"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0" name="object 60"/>
            <p:cNvSpPr/>
            <p:nvPr/>
          </p:nvSpPr>
          <p:spPr>
            <a:xfrm>
              <a:off x="5092112" y="1575256"/>
              <a:ext cx="256540" cy="222885"/>
            </a:xfrm>
            <a:custGeom>
              <a:avLst/>
              <a:gdLst/>
              <a:ahLst/>
              <a:cxnLst/>
              <a:rect l="l" t="t" r="r" b="b"/>
              <a:pathLst>
                <a:path w="256539" h="222885">
                  <a:moveTo>
                    <a:pt x="33441" y="111465"/>
                  </a:moveTo>
                  <a:lnTo>
                    <a:pt x="33441" y="120680"/>
                  </a:lnTo>
                  <a:lnTo>
                    <a:pt x="25935" y="128185"/>
                  </a:lnTo>
                  <a:lnTo>
                    <a:pt x="16720" y="128185"/>
                  </a:lnTo>
                  <a:lnTo>
                    <a:pt x="7505" y="128185"/>
                  </a:lnTo>
                  <a:lnTo>
                    <a:pt x="0" y="120680"/>
                  </a:lnTo>
                  <a:lnTo>
                    <a:pt x="0" y="111465"/>
                  </a:lnTo>
                  <a:lnTo>
                    <a:pt x="0" y="102176"/>
                  </a:lnTo>
                  <a:lnTo>
                    <a:pt x="7505" y="94745"/>
                  </a:lnTo>
                  <a:lnTo>
                    <a:pt x="16720" y="94745"/>
                  </a:lnTo>
                  <a:lnTo>
                    <a:pt x="25935" y="94745"/>
                  </a:lnTo>
                  <a:lnTo>
                    <a:pt x="33441" y="102176"/>
                  </a:lnTo>
                  <a:lnTo>
                    <a:pt x="33441" y="111465"/>
                  </a:lnTo>
                  <a:close/>
                </a:path>
                <a:path w="256539" h="222885">
                  <a:moveTo>
                    <a:pt x="256312" y="0"/>
                  </a:moveTo>
                  <a:lnTo>
                    <a:pt x="33441" y="111465"/>
                  </a:lnTo>
                  <a:lnTo>
                    <a:pt x="256312" y="222857"/>
                  </a:lnTo>
                  <a:lnTo>
                    <a:pt x="256312" y="0"/>
                  </a:lnTo>
                  <a:close/>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1" name="object 61"/>
            <p:cNvSpPr/>
            <p:nvPr/>
          </p:nvSpPr>
          <p:spPr>
            <a:xfrm>
              <a:off x="4967263" y="1674981"/>
              <a:ext cx="121285" cy="22860"/>
            </a:xfrm>
            <a:custGeom>
              <a:avLst/>
              <a:gdLst/>
              <a:ahLst/>
              <a:cxnLst/>
              <a:rect l="l" t="t" r="r" b="b"/>
              <a:pathLst>
                <a:path w="121285" h="22860">
                  <a:moveTo>
                    <a:pt x="121282" y="0"/>
                  </a:moveTo>
                  <a:lnTo>
                    <a:pt x="0" y="0"/>
                  </a:lnTo>
                  <a:lnTo>
                    <a:pt x="0" y="22293"/>
                  </a:lnTo>
                  <a:lnTo>
                    <a:pt x="121282" y="22293"/>
                  </a:lnTo>
                  <a:lnTo>
                    <a:pt x="121282"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2" name="object 62"/>
            <p:cNvSpPr/>
            <p:nvPr/>
          </p:nvSpPr>
          <p:spPr>
            <a:xfrm>
              <a:off x="3041314" y="1955355"/>
              <a:ext cx="498475" cy="0"/>
            </a:xfrm>
            <a:custGeom>
              <a:avLst/>
              <a:gdLst/>
              <a:ahLst/>
              <a:cxnLst/>
              <a:rect l="l" t="t" r="r" b="b"/>
              <a:pathLst>
                <a:path w="498475">
                  <a:moveTo>
                    <a:pt x="0" y="0"/>
                  </a:moveTo>
                  <a:lnTo>
                    <a:pt x="49791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3" name="object 63"/>
            <p:cNvSpPr/>
            <p:nvPr/>
          </p:nvSpPr>
          <p:spPr>
            <a:xfrm>
              <a:off x="2978889" y="1919686"/>
              <a:ext cx="71755" cy="71755"/>
            </a:xfrm>
            <a:custGeom>
              <a:avLst/>
              <a:gdLst/>
              <a:ahLst/>
              <a:cxnLst/>
              <a:rect l="l" t="t" r="r" b="b"/>
              <a:pathLst>
                <a:path w="71755" h="71755">
                  <a:moveTo>
                    <a:pt x="71342" y="0"/>
                  </a:moveTo>
                  <a:lnTo>
                    <a:pt x="0" y="35669"/>
                  </a:lnTo>
                  <a:lnTo>
                    <a:pt x="71342" y="71338"/>
                  </a:lnTo>
                  <a:lnTo>
                    <a:pt x="71342"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4" name="object 64"/>
            <p:cNvSpPr/>
            <p:nvPr/>
          </p:nvSpPr>
          <p:spPr>
            <a:xfrm>
              <a:off x="4684123" y="2340654"/>
              <a:ext cx="401320" cy="401320"/>
            </a:xfrm>
            <a:custGeom>
              <a:avLst/>
              <a:gdLst/>
              <a:ahLst/>
              <a:cxnLst/>
              <a:rect l="l" t="t" r="r" b="b"/>
              <a:pathLst>
                <a:path w="401320" h="401319">
                  <a:moveTo>
                    <a:pt x="0" y="0"/>
                  </a:moveTo>
                  <a:lnTo>
                    <a:pt x="401301" y="200638"/>
                  </a:lnTo>
                  <a:lnTo>
                    <a:pt x="0" y="401276"/>
                  </a:lnTo>
                  <a:lnTo>
                    <a:pt x="0" y="0"/>
                  </a:lnTo>
                  <a:close/>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65" name="object 65"/>
          <p:cNvSpPr txBox="1"/>
          <p:nvPr/>
        </p:nvSpPr>
        <p:spPr>
          <a:xfrm>
            <a:off x="6261757" y="3448939"/>
            <a:ext cx="472440" cy="486586"/>
          </a:xfrm>
          <a:prstGeom prst="rect">
            <a:avLst/>
          </a:prstGeom>
        </p:spPr>
        <p:txBody>
          <a:bodyPr vert="horz" wrap="square" lIns="0" tIns="22013" rIns="0" bIns="0" rtlCol="0">
            <a:spAutoFit/>
          </a:bodyPr>
          <a:lstStyle/>
          <a:p>
            <a:pPr marL="16933">
              <a:spcBef>
                <a:spcPts val="173"/>
              </a:spcBef>
            </a:pPr>
            <a:r>
              <a:rPr sz="1067" b="1" spc="-67" dirty="0">
                <a:latin typeface="Times New Roman" panose="02020603050405020304" pitchFamily="18" charset="0"/>
                <a:cs typeface="Times New Roman" panose="02020603050405020304" pitchFamily="18" charset="0"/>
              </a:rPr>
              <a:t>+</a:t>
            </a:r>
            <a:endParaRPr sz="1067">
              <a:latin typeface="Times New Roman" panose="02020603050405020304" pitchFamily="18" charset="0"/>
              <a:cs typeface="Times New Roman" panose="02020603050405020304" pitchFamily="18" charset="0"/>
            </a:endParaRPr>
          </a:p>
          <a:p>
            <a:pPr marL="45719">
              <a:spcBef>
                <a:spcPts val="80"/>
              </a:spcBef>
            </a:pPr>
            <a:r>
              <a:rPr sz="1867" b="1" spc="-227" dirty="0">
                <a:latin typeface="Times New Roman" panose="02020603050405020304" pitchFamily="18" charset="0"/>
                <a:cs typeface="Times New Roman" panose="02020603050405020304" pitchFamily="18" charset="0"/>
              </a:rPr>
              <a:t>OTA</a:t>
            </a:r>
            <a:endParaRPr sz="1867">
              <a:latin typeface="Times New Roman" panose="02020603050405020304" pitchFamily="18" charset="0"/>
              <a:cs typeface="Times New Roman" panose="02020603050405020304" pitchFamily="18" charset="0"/>
            </a:endParaRPr>
          </a:p>
        </p:txBody>
      </p:sp>
      <p:sp>
        <p:nvSpPr>
          <p:cNvPr id="66" name="object 66"/>
          <p:cNvSpPr txBox="1"/>
          <p:nvPr/>
        </p:nvSpPr>
        <p:spPr>
          <a:xfrm>
            <a:off x="6286727" y="3097253"/>
            <a:ext cx="72813" cy="187295"/>
          </a:xfrm>
          <a:prstGeom prst="rect">
            <a:avLst/>
          </a:prstGeom>
        </p:spPr>
        <p:txBody>
          <a:bodyPr vert="horz" wrap="square" lIns="0" tIns="22860" rIns="0" bIns="0" rtlCol="0">
            <a:spAutoFit/>
          </a:bodyPr>
          <a:lstStyle/>
          <a:p>
            <a:pPr marL="16933">
              <a:spcBef>
                <a:spcPts val="180"/>
              </a:spcBef>
            </a:pPr>
            <a:r>
              <a:rPr sz="1067" b="1" spc="-67" dirty="0">
                <a:latin typeface="Times New Roman" panose="02020603050405020304" pitchFamily="18" charset="0"/>
                <a:cs typeface="Times New Roman" panose="02020603050405020304" pitchFamily="18" charset="0"/>
              </a:rPr>
              <a:t>-</a:t>
            </a:r>
            <a:endParaRPr sz="1067">
              <a:latin typeface="Times New Roman" panose="02020603050405020304" pitchFamily="18" charset="0"/>
              <a:cs typeface="Times New Roman" panose="02020603050405020304" pitchFamily="18" charset="0"/>
            </a:endParaRPr>
          </a:p>
        </p:txBody>
      </p:sp>
      <p:grpSp>
        <p:nvGrpSpPr>
          <p:cNvPr id="67" name="object 67"/>
          <p:cNvGrpSpPr/>
          <p:nvPr/>
        </p:nvGrpSpPr>
        <p:grpSpPr>
          <a:xfrm>
            <a:off x="4686583" y="2602799"/>
            <a:ext cx="1574800" cy="988060"/>
            <a:chOff x="3514937" y="1952099"/>
            <a:chExt cx="1181100" cy="741045"/>
          </a:xfrm>
        </p:grpSpPr>
        <p:sp>
          <p:nvSpPr>
            <p:cNvPr id="68" name="object 68"/>
            <p:cNvSpPr/>
            <p:nvPr/>
          </p:nvSpPr>
          <p:spPr>
            <a:xfrm>
              <a:off x="4050587" y="2413107"/>
              <a:ext cx="633730" cy="0"/>
            </a:xfrm>
            <a:custGeom>
              <a:avLst/>
              <a:gdLst/>
              <a:ahLst/>
              <a:cxnLst/>
              <a:rect l="l" t="t" r="r" b="b"/>
              <a:pathLst>
                <a:path w="633729">
                  <a:moveTo>
                    <a:pt x="633535"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69" name="object 69"/>
            <p:cNvSpPr/>
            <p:nvPr/>
          </p:nvSpPr>
          <p:spPr>
            <a:xfrm>
              <a:off x="3539745" y="2669107"/>
              <a:ext cx="718820" cy="3810"/>
            </a:xfrm>
            <a:custGeom>
              <a:avLst/>
              <a:gdLst/>
              <a:ahLst/>
              <a:cxnLst/>
              <a:rect l="l" t="t" r="r" b="b"/>
              <a:pathLst>
                <a:path w="718820" h="3810">
                  <a:moveTo>
                    <a:pt x="718478" y="3418"/>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0" name="object 70"/>
            <p:cNvSpPr/>
            <p:nvPr/>
          </p:nvSpPr>
          <p:spPr>
            <a:xfrm>
              <a:off x="3539745" y="1963529"/>
              <a:ext cx="0" cy="706120"/>
            </a:xfrm>
            <a:custGeom>
              <a:avLst/>
              <a:gdLst/>
              <a:ahLst/>
              <a:cxnLst/>
              <a:rect l="l" t="t" r="r" b="b"/>
              <a:pathLst>
                <a:path h="706119">
                  <a:moveTo>
                    <a:pt x="0" y="0"/>
                  </a:moveTo>
                  <a:lnTo>
                    <a:pt x="0" y="66136"/>
                  </a:lnTo>
                </a:path>
                <a:path h="706119">
                  <a:moveTo>
                    <a:pt x="0" y="467412"/>
                  </a:moveTo>
                  <a:lnTo>
                    <a:pt x="0" y="705578"/>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1" name="object 71"/>
            <p:cNvSpPr/>
            <p:nvPr/>
          </p:nvSpPr>
          <p:spPr>
            <a:xfrm>
              <a:off x="3515890" y="2649192"/>
              <a:ext cx="43180" cy="43180"/>
            </a:xfrm>
            <a:custGeom>
              <a:avLst/>
              <a:gdLst/>
              <a:ahLst/>
              <a:cxnLst/>
              <a:rect l="l" t="t" r="r" b="b"/>
              <a:pathLst>
                <a:path w="43179" h="43180">
                  <a:moveTo>
                    <a:pt x="21477" y="0"/>
                  </a:moveTo>
                  <a:lnTo>
                    <a:pt x="13104" y="1682"/>
                  </a:lnTo>
                  <a:lnTo>
                    <a:pt x="6279" y="6269"/>
                  </a:lnTo>
                  <a:lnTo>
                    <a:pt x="1683" y="13072"/>
                  </a:lnTo>
                  <a:lnTo>
                    <a:pt x="0" y="21401"/>
                  </a:lnTo>
                  <a:lnTo>
                    <a:pt x="1683" y="29729"/>
                  </a:lnTo>
                  <a:lnTo>
                    <a:pt x="6279" y="36532"/>
                  </a:lnTo>
                  <a:lnTo>
                    <a:pt x="13104" y="41120"/>
                  </a:lnTo>
                  <a:lnTo>
                    <a:pt x="21477" y="42802"/>
                  </a:lnTo>
                  <a:lnTo>
                    <a:pt x="29892" y="41120"/>
                  </a:lnTo>
                  <a:lnTo>
                    <a:pt x="36739" y="36532"/>
                  </a:lnTo>
                  <a:lnTo>
                    <a:pt x="41343" y="29729"/>
                  </a:lnTo>
                  <a:lnTo>
                    <a:pt x="43028" y="21401"/>
                  </a:lnTo>
                  <a:lnTo>
                    <a:pt x="41343" y="13072"/>
                  </a:lnTo>
                  <a:lnTo>
                    <a:pt x="36739" y="6269"/>
                  </a:lnTo>
                  <a:lnTo>
                    <a:pt x="29892" y="1682"/>
                  </a:lnTo>
                  <a:lnTo>
                    <a:pt x="2147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2" name="object 72"/>
            <p:cNvSpPr/>
            <p:nvPr/>
          </p:nvSpPr>
          <p:spPr>
            <a:xfrm>
              <a:off x="3515890" y="2649192"/>
              <a:ext cx="43180" cy="43180"/>
            </a:xfrm>
            <a:custGeom>
              <a:avLst/>
              <a:gdLst/>
              <a:ahLst/>
              <a:cxnLst/>
              <a:rect l="l" t="t" r="r" b="b"/>
              <a:pathLst>
                <a:path w="43179" h="43180">
                  <a:moveTo>
                    <a:pt x="0" y="21401"/>
                  </a:moveTo>
                  <a:lnTo>
                    <a:pt x="1683" y="13072"/>
                  </a:lnTo>
                  <a:lnTo>
                    <a:pt x="6279" y="6269"/>
                  </a:lnTo>
                  <a:lnTo>
                    <a:pt x="13104" y="1682"/>
                  </a:lnTo>
                  <a:lnTo>
                    <a:pt x="21477" y="0"/>
                  </a:lnTo>
                  <a:lnTo>
                    <a:pt x="29892" y="1682"/>
                  </a:lnTo>
                  <a:lnTo>
                    <a:pt x="36739" y="6269"/>
                  </a:lnTo>
                  <a:lnTo>
                    <a:pt x="41343" y="13072"/>
                  </a:lnTo>
                  <a:lnTo>
                    <a:pt x="43028" y="21401"/>
                  </a:lnTo>
                  <a:lnTo>
                    <a:pt x="41343" y="29729"/>
                  </a:lnTo>
                  <a:lnTo>
                    <a:pt x="36739" y="36532"/>
                  </a:lnTo>
                  <a:lnTo>
                    <a:pt x="29892" y="41120"/>
                  </a:lnTo>
                  <a:lnTo>
                    <a:pt x="21477" y="42802"/>
                  </a:lnTo>
                  <a:lnTo>
                    <a:pt x="13104" y="41120"/>
                  </a:lnTo>
                  <a:lnTo>
                    <a:pt x="6279" y="36532"/>
                  </a:lnTo>
                  <a:lnTo>
                    <a:pt x="1683"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73" name="object 73"/>
          <p:cNvSpPr txBox="1"/>
          <p:nvPr/>
        </p:nvSpPr>
        <p:spPr>
          <a:xfrm>
            <a:off x="4242568" y="4081568"/>
            <a:ext cx="445347" cy="305276"/>
          </a:xfrm>
          <a:prstGeom prst="rect">
            <a:avLst/>
          </a:prstGeom>
        </p:spPr>
        <p:txBody>
          <a:bodyPr vert="horz" wrap="square" lIns="0" tIns="17780" rIns="0" bIns="0" rtlCol="0">
            <a:spAutoFit/>
          </a:bodyPr>
          <a:lstStyle/>
          <a:p>
            <a:pPr marL="16933">
              <a:spcBef>
                <a:spcPts val="140"/>
              </a:spcBef>
            </a:pPr>
            <a:r>
              <a:rPr sz="1867" b="1" spc="-227" dirty="0">
                <a:latin typeface="Times New Roman" panose="02020603050405020304" pitchFamily="18" charset="0"/>
                <a:cs typeface="Times New Roman" panose="02020603050405020304" pitchFamily="18" charset="0"/>
              </a:rPr>
              <a:t>Vcm</a:t>
            </a:r>
            <a:endParaRPr sz="1867">
              <a:latin typeface="Times New Roman" panose="02020603050405020304" pitchFamily="18" charset="0"/>
              <a:cs typeface="Times New Roman" panose="02020603050405020304" pitchFamily="18" charset="0"/>
            </a:endParaRPr>
          </a:p>
        </p:txBody>
      </p:sp>
      <p:grpSp>
        <p:nvGrpSpPr>
          <p:cNvPr id="74" name="object 74"/>
          <p:cNvGrpSpPr/>
          <p:nvPr/>
        </p:nvGrpSpPr>
        <p:grpSpPr>
          <a:xfrm>
            <a:off x="5303181" y="2782829"/>
            <a:ext cx="2584027" cy="749300"/>
            <a:chOff x="3977386" y="2087121"/>
            <a:chExt cx="1938020" cy="561975"/>
          </a:xfrm>
        </p:grpSpPr>
        <p:sp>
          <p:nvSpPr>
            <p:cNvPr id="75" name="object 75"/>
            <p:cNvSpPr/>
            <p:nvPr/>
          </p:nvSpPr>
          <p:spPr>
            <a:xfrm>
              <a:off x="4006518" y="2098551"/>
              <a:ext cx="86995" cy="349250"/>
            </a:xfrm>
            <a:custGeom>
              <a:avLst/>
              <a:gdLst/>
              <a:ahLst/>
              <a:cxnLst/>
              <a:rect l="l" t="t" r="r" b="b"/>
              <a:pathLst>
                <a:path w="86995" h="349250">
                  <a:moveTo>
                    <a:pt x="43325" y="216689"/>
                  </a:moveTo>
                  <a:lnTo>
                    <a:pt x="86651" y="198631"/>
                  </a:lnTo>
                  <a:lnTo>
                    <a:pt x="0" y="162517"/>
                  </a:lnTo>
                  <a:lnTo>
                    <a:pt x="86651" y="126402"/>
                  </a:lnTo>
                  <a:lnTo>
                    <a:pt x="0" y="90287"/>
                  </a:lnTo>
                  <a:lnTo>
                    <a:pt x="86651" y="54172"/>
                  </a:lnTo>
                  <a:lnTo>
                    <a:pt x="0" y="18057"/>
                  </a:lnTo>
                  <a:lnTo>
                    <a:pt x="43325" y="0"/>
                  </a:lnTo>
                </a:path>
                <a:path w="86995" h="349250">
                  <a:moveTo>
                    <a:pt x="43325" y="216689"/>
                  </a:moveTo>
                  <a:lnTo>
                    <a:pt x="43325" y="34911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6" name="object 76"/>
            <p:cNvSpPr/>
            <p:nvPr/>
          </p:nvSpPr>
          <p:spPr>
            <a:xfrm>
              <a:off x="3977386" y="2449817"/>
              <a:ext cx="145415" cy="22860"/>
            </a:xfrm>
            <a:custGeom>
              <a:avLst/>
              <a:gdLst/>
              <a:ahLst/>
              <a:cxnLst/>
              <a:rect l="l" t="t" r="r" b="b"/>
              <a:pathLst>
                <a:path w="145414" h="22860">
                  <a:moveTo>
                    <a:pt x="145360" y="0"/>
                  </a:moveTo>
                  <a:lnTo>
                    <a:pt x="0" y="0"/>
                  </a:lnTo>
                  <a:lnTo>
                    <a:pt x="0" y="22293"/>
                  </a:lnTo>
                  <a:lnTo>
                    <a:pt x="145360" y="22293"/>
                  </a:lnTo>
                  <a:lnTo>
                    <a:pt x="145360"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7" name="object 77"/>
            <p:cNvSpPr/>
            <p:nvPr/>
          </p:nvSpPr>
          <p:spPr>
            <a:xfrm>
              <a:off x="4050661" y="2524276"/>
              <a:ext cx="0" cy="46990"/>
            </a:xfrm>
            <a:custGeom>
              <a:avLst/>
              <a:gdLst/>
              <a:ahLst/>
              <a:cxnLst/>
              <a:rect l="l" t="t" r="r" b="b"/>
              <a:pathLst>
                <a:path h="46989">
                  <a:moveTo>
                    <a:pt x="0" y="46444"/>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8" name="object 78"/>
            <p:cNvSpPr/>
            <p:nvPr/>
          </p:nvSpPr>
          <p:spPr>
            <a:xfrm>
              <a:off x="3977386" y="2506367"/>
              <a:ext cx="145415" cy="22860"/>
            </a:xfrm>
            <a:custGeom>
              <a:avLst/>
              <a:gdLst/>
              <a:ahLst/>
              <a:cxnLst/>
              <a:rect l="l" t="t" r="r" b="b"/>
              <a:pathLst>
                <a:path w="145414" h="22860">
                  <a:moveTo>
                    <a:pt x="145360" y="0"/>
                  </a:moveTo>
                  <a:lnTo>
                    <a:pt x="0" y="0"/>
                  </a:lnTo>
                  <a:lnTo>
                    <a:pt x="0" y="22293"/>
                  </a:lnTo>
                  <a:lnTo>
                    <a:pt x="145360" y="22293"/>
                  </a:lnTo>
                  <a:lnTo>
                    <a:pt x="145360"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9" name="object 79"/>
            <p:cNvSpPr/>
            <p:nvPr/>
          </p:nvSpPr>
          <p:spPr>
            <a:xfrm>
              <a:off x="4007855" y="2579191"/>
              <a:ext cx="88900" cy="58419"/>
            </a:xfrm>
            <a:custGeom>
              <a:avLst/>
              <a:gdLst/>
              <a:ahLst/>
              <a:cxnLst/>
              <a:rect l="l" t="t" r="r" b="b"/>
              <a:pathLst>
                <a:path w="88900" h="58419">
                  <a:moveTo>
                    <a:pt x="88360" y="0"/>
                  </a:moveTo>
                  <a:lnTo>
                    <a:pt x="0" y="0"/>
                  </a:lnTo>
                </a:path>
                <a:path w="88900" h="58419">
                  <a:moveTo>
                    <a:pt x="73646" y="28981"/>
                  </a:moveTo>
                  <a:lnTo>
                    <a:pt x="14714" y="28981"/>
                  </a:lnTo>
                </a:path>
                <a:path w="88900" h="58419">
                  <a:moveTo>
                    <a:pt x="58857" y="57962"/>
                  </a:moveTo>
                  <a:lnTo>
                    <a:pt x="29428" y="57962"/>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80" name="object 80"/>
            <p:cNvSpPr/>
            <p:nvPr/>
          </p:nvSpPr>
          <p:spPr>
            <a:xfrm>
              <a:off x="4029035" y="2389699"/>
              <a:ext cx="43180" cy="43180"/>
            </a:xfrm>
            <a:custGeom>
              <a:avLst/>
              <a:gdLst/>
              <a:ahLst/>
              <a:cxnLst/>
              <a:rect l="l" t="t" r="r" b="b"/>
              <a:pathLst>
                <a:path w="43179" h="43180">
                  <a:moveTo>
                    <a:pt x="21551" y="0"/>
                  </a:moveTo>
                  <a:lnTo>
                    <a:pt x="13167" y="1682"/>
                  </a:lnTo>
                  <a:lnTo>
                    <a:pt x="6316" y="6269"/>
                  </a:lnTo>
                  <a:lnTo>
                    <a:pt x="1695" y="13072"/>
                  </a:lnTo>
                  <a:lnTo>
                    <a:pt x="0" y="21401"/>
                  </a:lnTo>
                  <a:lnTo>
                    <a:pt x="1695" y="29729"/>
                  </a:lnTo>
                  <a:lnTo>
                    <a:pt x="6316" y="36532"/>
                  </a:lnTo>
                  <a:lnTo>
                    <a:pt x="13167" y="41120"/>
                  </a:lnTo>
                  <a:lnTo>
                    <a:pt x="21551" y="42802"/>
                  </a:lnTo>
                  <a:lnTo>
                    <a:pt x="29935" y="41120"/>
                  </a:lnTo>
                  <a:lnTo>
                    <a:pt x="36785" y="36532"/>
                  </a:lnTo>
                  <a:lnTo>
                    <a:pt x="41407" y="29729"/>
                  </a:lnTo>
                  <a:lnTo>
                    <a:pt x="43102" y="21401"/>
                  </a:lnTo>
                  <a:lnTo>
                    <a:pt x="41407" y="13072"/>
                  </a:lnTo>
                  <a:lnTo>
                    <a:pt x="36785" y="6269"/>
                  </a:lnTo>
                  <a:lnTo>
                    <a:pt x="29935"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81" name="object 81"/>
            <p:cNvSpPr/>
            <p:nvPr/>
          </p:nvSpPr>
          <p:spPr>
            <a:xfrm>
              <a:off x="4029035" y="2389699"/>
              <a:ext cx="43180" cy="43180"/>
            </a:xfrm>
            <a:custGeom>
              <a:avLst/>
              <a:gdLst/>
              <a:ahLst/>
              <a:cxnLst/>
              <a:rect l="l" t="t" r="r" b="b"/>
              <a:pathLst>
                <a:path w="43179" h="43180">
                  <a:moveTo>
                    <a:pt x="0" y="21401"/>
                  </a:moveTo>
                  <a:lnTo>
                    <a:pt x="1695" y="13072"/>
                  </a:lnTo>
                  <a:lnTo>
                    <a:pt x="6316" y="6269"/>
                  </a:lnTo>
                  <a:lnTo>
                    <a:pt x="13167" y="1682"/>
                  </a:lnTo>
                  <a:lnTo>
                    <a:pt x="21551" y="0"/>
                  </a:lnTo>
                  <a:lnTo>
                    <a:pt x="29935" y="1682"/>
                  </a:lnTo>
                  <a:lnTo>
                    <a:pt x="36785" y="6269"/>
                  </a:lnTo>
                  <a:lnTo>
                    <a:pt x="41407" y="13072"/>
                  </a:lnTo>
                  <a:lnTo>
                    <a:pt x="43102" y="21401"/>
                  </a:lnTo>
                  <a:lnTo>
                    <a:pt x="41407" y="29729"/>
                  </a:lnTo>
                  <a:lnTo>
                    <a:pt x="36785" y="36532"/>
                  </a:lnTo>
                  <a:lnTo>
                    <a:pt x="29935" y="41120"/>
                  </a:lnTo>
                  <a:lnTo>
                    <a:pt x="21551" y="42802"/>
                  </a:lnTo>
                  <a:lnTo>
                    <a:pt x="13167" y="41120"/>
                  </a:lnTo>
                  <a:lnTo>
                    <a:pt x="6316" y="36532"/>
                  </a:lnTo>
                  <a:lnTo>
                    <a:pt x="1695"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82" name="object 82"/>
            <p:cNvSpPr/>
            <p:nvPr/>
          </p:nvSpPr>
          <p:spPr>
            <a:xfrm>
              <a:off x="5085424" y="2541293"/>
              <a:ext cx="767080" cy="0"/>
            </a:xfrm>
            <a:custGeom>
              <a:avLst/>
              <a:gdLst/>
              <a:ahLst/>
              <a:cxnLst/>
              <a:rect l="l" t="t" r="r" b="b"/>
              <a:pathLst>
                <a:path w="767079">
                  <a:moveTo>
                    <a:pt x="766931" y="0"/>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83" name="object 83"/>
            <p:cNvSpPr/>
            <p:nvPr/>
          </p:nvSpPr>
          <p:spPr>
            <a:xfrm>
              <a:off x="5843437" y="2505624"/>
              <a:ext cx="71755" cy="71755"/>
            </a:xfrm>
            <a:custGeom>
              <a:avLst/>
              <a:gdLst/>
              <a:ahLst/>
              <a:cxnLst/>
              <a:rect l="l" t="t" r="r" b="b"/>
              <a:pathLst>
                <a:path w="71754" h="71755">
                  <a:moveTo>
                    <a:pt x="0" y="0"/>
                  </a:moveTo>
                  <a:lnTo>
                    <a:pt x="0" y="71338"/>
                  </a:lnTo>
                  <a:lnTo>
                    <a:pt x="71342" y="35669"/>
                  </a:lnTo>
                  <a:lnTo>
                    <a:pt x="0"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84" name="object 84"/>
          <p:cNvSpPr txBox="1"/>
          <p:nvPr/>
        </p:nvSpPr>
        <p:spPr>
          <a:xfrm>
            <a:off x="6993514" y="2758891"/>
            <a:ext cx="805180" cy="592598"/>
          </a:xfrm>
          <a:prstGeom prst="rect">
            <a:avLst/>
          </a:prstGeom>
        </p:spPr>
        <p:txBody>
          <a:bodyPr vert="horz" wrap="square" lIns="0" tIns="17780" rIns="0" bIns="0" rtlCol="0">
            <a:spAutoFit/>
          </a:bodyPr>
          <a:lstStyle/>
          <a:p>
            <a:pPr marL="82123">
              <a:spcBef>
                <a:spcPts val="140"/>
              </a:spcBef>
            </a:pPr>
            <a:r>
              <a:rPr sz="1867" b="1" spc="-87" dirty="0">
                <a:latin typeface="Times New Roman" panose="02020603050405020304" pitchFamily="18" charset="0"/>
                <a:cs typeface="Times New Roman" panose="02020603050405020304" pitchFamily="18" charset="0"/>
              </a:rPr>
              <a:t>Cancel</a:t>
            </a:r>
            <a:endParaRPr sz="1867">
              <a:latin typeface="Times New Roman" panose="02020603050405020304" pitchFamily="18" charset="0"/>
              <a:cs typeface="Times New Roman" panose="02020603050405020304" pitchFamily="18" charset="0"/>
            </a:endParaRPr>
          </a:p>
          <a:p>
            <a:pPr marL="16933">
              <a:spcBef>
                <a:spcPts val="7"/>
              </a:spcBef>
            </a:pPr>
            <a:r>
              <a:rPr sz="1867" b="1" spc="-180" dirty="0">
                <a:latin typeface="Times New Roman" panose="02020603050405020304" pitchFamily="18" charset="0"/>
                <a:cs typeface="Times New Roman" panose="02020603050405020304" pitchFamily="18" charset="0"/>
              </a:rPr>
              <a:t>Average</a:t>
            </a:r>
            <a:endParaRPr sz="1867">
              <a:latin typeface="Times New Roman" panose="02020603050405020304" pitchFamily="18" charset="0"/>
              <a:cs typeface="Times New Roman" panose="02020603050405020304" pitchFamily="18" charset="0"/>
            </a:endParaRPr>
          </a:p>
        </p:txBody>
      </p:sp>
      <p:sp>
        <p:nvSpPr>
          <p:cNvPr id="85" name="object 85"/>
          <p:cNvSpPr txBox="1"/>
          <p:nvPr/>
        </p:nvSpPr>
        <p:spPr>
          <a:xfrm>
            <a:off x="6863709" y="3615889"/>
            <a:ext cx="1066800" cy="305276"/>
          </a:xfrm>
          <a:prstGeom prst="rect">
            <a:avLst/>
          </a:prstGeom>
        </p:spPr>
        <p:txBody>
          <a:bodyPr vert="horz" wrap="square" lIns="0" tIns="17780" rIns="0" bIns="0" rtlCol="0">
            <a:spAutoFit/>
          </a:bodyPr>
          <a:lstStyle/>
          <a:p>
            <a:pPr marL="16933">
              <a:spcBef>
                <a:spcPts val="140"/>
              </a:spcBef>
            </a:pPr>
            <a:r>
              <a:rPr sz="1867" b="1" spc="-260" dirty="0">
                <a:latin typeface="Times New Roman" panose="02020603050405020304" pitchFamily="18" charset="0"/>
                <a:cs typeface="Times New Roman" panose="02020603050405020304" pitchFamily="18" charset="0"/>
              </a:rPr>
              <a:t>PD</a:t>
            </a:r>
            <a:r>
              <a:rPr sz="1867" b="1" spc="-40" dirty="0">
                <a:latin typeface="Times New Roman" panose="02020603050405020304" pitchFamily="18" charset="0"/>
                <a:cs typeface="Times New Roman" panose="02020603050405020304" pitchFamily="18" charset="0"/>
              </a:rPr>
              <a:t> </a:t>
            </a:r>
            <a:r>
              <a:rPr sz="1867" b="1" spc="-167" dirty="0">
                <a:latin typeface="Times New Roman" panose="02020603050405020304" pitchFamily="18" charset="0"/>
                <a:cs typeface="Times New Roman" panose="02020603050405020304" pitchFamily="18" charset="0"/>
              </a:rPr>
              <a:t>Current</a:t>
            </a:r>
            <a:endParaRPr sz="1867">
              <a:latin typeface="Times New Roman" panose="02020603050405020304" pitchFamily="18" charset="0"/>
              <a:cs typeface="Times New Roman" panose="02020603050405020304" pitchFamily="18" charset="0"/>
            </a:endParaRPr>
          </a:p>
        </p:txBody>
      </p:sp>
      <p:grpSp>
        <p:nvGrpSpPr>
          <p:cNvPr id="86" name="object 86"/>
          <p:cNvGrpSpPr/>
          <p:nvPr/>
        </p:nvGrpSpPr>
        <p:grpSpPr>
          <a:xfrm>
            <a:off x="10486608" y="1850182"/>
            <a:ext cx="550333" cy="107527"/>
            <a:chOff x="7864956" y="1387636"/>
            <a:chExt cx="412750" cy="80645"/>
          </a:xfrm>
        </p:grpSpPr>
        <p:sp>
          <p:nvSpPr>
            <p:cNvPr id="87" name="object 87"/>
            <p:cNvSpPr/>
            <p:nvPr/>
          </p:nvSpPr>
          <p:spPr>
            <a:xfrm>
              <a:off x="7927381" y="1399066"/>
              <a:ext cx="339090" cy="33655"/>
            </a:xfrm>
            <a:custGeom>
              <a:avLst/>
              <a:gdLst/>
              <a:ahLst/>
              <a:cxnLst/>
              <a:rect l="l" t="t" r="r" b="b"/>
              <a:pathLst>
                <a:path w="339090" h="33655">
                  <a:moveTo>
                    <a:pt x="338876" y="0"/>
                  </a:moveTo>
                  <a:lnTo>
                    <a:pt x="338876" y="33439"/>
                  </a:lnTo>
                  <a:lnTo>
                    <a:pt x="0" y="33439"/>
                  </a:lnTo>
                </a:path>
              </a:pathLst>
            </a:custGeom>
            <a:ln w="22293">
              <a:solidFill>
                <a:srgbClr val="538AD3"/>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88" name="object 88"/>
            <p:cNvSpPr/>
            <p:nvPr/>
          </p:nvSpPr>
          <p:spPr>
            <a:xfrm>
              <a:off x="7864956" y="1396837"/>
              <a:ext cx="71755" cy="71755"/>
            </a:xfrm>
            <a:custGeom>
              <a:avLst/>
              <a:gdLst/>
              <a:ahLst/>
              <a:cxnLst/>
              <a:rect l="l" t="t" r="r" b="b"/>
              <a:pathLst>
                <a:path w="71754" h="71755">
                  <a:moveTo>
                    <a:pt x="71342" y="0"/>
                  </a:moveTo>
                  <a:lnTo>
                    <a:pt x="0" y="35669"/>
                  </a:lnTo>
                  <a:lnTo>
                    <a:pt x="71342" y="71338"/>
                  </a:lnTo>
                  <a:lnTo>
                    <a:pt x="71342" y="0"/>
                  </a:lnTo>
                  <a:close/>
                </a:path>
              </a:pathLst>
            </a:custGeom>
            <a:solidFill>
              <a:srgbClr val="538AD3"/>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89" name="object 89"/>
          <p:cNvSpPr txBox="1"/>
          <p:nvPr/>
        </p:nvSpPr>
        <p:spPr>
          <a:xfrm>
            <a:off x="10581940" y="1623130"/>
            <a:ext cx="521547" cy="233397"/>
          </a:xfrm>
          <a:prstGeom prst="rect">
            <a:avLst/>
          </a:prstGeom>
        </p:spPr>
        <p:txBody>
          <a:bodyPr vert="horz" wrap="square" lIns="0" tIns="17780" rIns="0" bIns="0" rtlCol="0">
            <a:spAutoFit/>
          </a:bodyPr>
          <a:lstStyle/>
          <a:p>
            <a:pPr marL="16933">
              <a:spcBef>
                <a:spcPts val="140"/>
              </a:spcBef>
            </a:pPr>
            <a:r>
              <a:rPr sz="1400" b="1" spc="-127" dirty="0">
                <a:latin typeface="Times New Roman" panose="02020603050405020304" pitchFamily="18" charset="0"/>
                <a:cs typeface="Times New Roman" panose="02020603050405020304" pitchFamily="18" charset="0"/>
              </a:rPr>
              <a:t>0.9A/W</a:t>
            </a:r>
            <a:endParaRPr sz="1400">
              <a:latin typeface="Times New Roman" panose="02020603050405020304" pitchFamily="18" charset="0"/>
              <a:cs typeface="Times New Roman" panose="02020603050405020304" pitchFamily="18" charset="0"/>
            </a:endParaRPr>
          </a:p>
        </p:txBody>
      </p:sp>
      <p:grpSp>
        <p:nvGrpSpPr>
          <p:cNvPr id="90" name="object 90"/>
          <p:cNvGrpSpPr/>
          <p:nvPr/>
        </p:nvGrpSpPr>
        <p:grpSpPr>
          <a:xfrm>
            <a:off x="2403111" y="1854009"/>
            <a:ext cx="5776807" cy="1710267"/>
            <a:chOff x="1802333" y="1390507"/>
            <a:chExt cx="4332605" cy="1282700"/>
          </a:xfrm>
        </p:grpSpPr>
        <p:sp>
          <p:nvSpPr>
            <p:cNvPr id="91" name="object 91"/>
            <p:cNvSpPr/>
            <p:nvPr/>
          </p:nvSpPr>
          <p:spPr>
            <a:xfrm>
              <a:off x="5885054" y="2423659"/>
              <a:ext cx="241300" cy="241300"/>
            </a:xfrm>
            <a:custGeom>
              <a:avLst/>
              <a:gdLst/>
              <a:ahLst/>
              <a:cxnLst/>
              <a:rect l="l" t="t" r="r" b="b"/>
              <a:pathLst>
                <a:path w="241300" h="241300">
                  <a:moveTo>
                    <a:pt x="240780" y="240765"/>
                  </a:moveTo>
                  <a:lnTo>
                    <a:pt x="0" y="0"/>
                  </a:lnTo>
                </a:path>
                <a:path w="241300" h="241300">
                  <a:moveTo>
                    <a:pt x="0" y="42505"/>
                  </a:moveTo>
                  <a:lnTo>
                    <a:pt x="0" y="0"/>
                  </a:lnTo>
                  <a:lnTo>
                    <a:pt x="42508" y="0"/>
                  </a:lnTo>
                </a:path>
              </a:pathLst>
            </a:custGeom>
            <a:ln w="16720">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2" name="object 92"/>
            <p:cNvSpPr/>
            <p:nvPr/>
          </p:nvSpPr>
          <p:spPr>
            <a:xfrm>
              <a:off x="2535674" y="1403525"/>
              <a:ext cx="283845" cy="487045"/>
            </a:xfrm>
            <a:custGeom>
              <a:avLst/>
              <a:gdLst/>
              <a:ahLst/>
              <a:cxnLst/>
              <a:rect l="l" t="t" r="r" b="b"/>
              <a:pathLst>
                <a:path w="283844" h="487044">
                  <a:moveTo>
                    <a:pt x="0" y="486882"/>
                  </a:moveTo>
                  <a:lnTo>
                    <a:pt x="283586" y="486882"/>
                  </a:lnTo>
                  <a:lnTo>
                    <a:pt x="283586" y="0"/>
                  </a:lnTo>
                  <a:lnTo>
                    <a:pt x="0" y="0"/>
                  </a:lnTo>
                  <a:lnTo>
                    <a:pt x="0" y="486882"/>
                  </a:lnTo>
                  <a:close/>
                </a:path>
              </a:pathLst>
            </a:custGeom>
            <a:ln w="26009">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3" name="object 93"/>
            <p:cNvSpPr/>
            <p:nvPr/>
          </p:nvSpPr>
          <p:spPr>
            <a:xfrm>
              <a:off x="2574318" y="1444990"/>
              <a:ext cx="283845" cy="487045"/>
            </a:xfrm>
            <a:custGeom>
              <a:avLst/>
              <a:gdLst/>
              <a:ahLst/>
              <a:cxnLst/>
              <a:rect l="l" t="t" r="r" b="b"/>
              <a:pathLst>
                <a:path w="283844" h="487044">
                  <a:moveTo>
                    <a:pt x="283586" y="0"/>
                  </a:moveTo>
                  <a:lnTo>
                    <a:pt x="0" y="0"/>
                  </a:lnTo>
                  <a:lnTo>
                    <a:pt x="0" y="486882"/>
                  </a:lnTo>
                  <a:lnTo>
                    <a:pt x="283586" y="486882"/>
                  </a:lnTo>
                  <a:lnTo>
                    <a:pt x="283586"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4" name="object 94"/>
            <p:cNvSpPr/>
            <p:nvPr/>
          </p:nvSpPr>
          <p:spPr>
            <a:xfrm>
              <a:off x="2574318" y="1444990"/>
              <a:ext cx="283845" cy="487045"/>
            </a:xfrm>
            <a:custGeom>
              <a:avLst/>
              <a:gdLst/>
              <a:ahLst/>
              <a:cxnLst/>
              <a:rect l="l" t="t" r="r" b="b"/>
              <a:pathLst>
                <a:path w="283844" h="487044">
                  <a:moveTo>
                    <a:pt x="0" y="486882"/>
                  </a:moveTo>
                  <a:lnTo>
                    <a:pt x="283586" y="486882"/>
                  </a:lnTo>
                  <a:lnTo>
                    <a:pt x="283586" y="0"/>
                  </a:lnTo>
                  <a:lnTo>
                    <a:pt x="0" y="0"/>
                  </a:lnTo>
                  <a:lnTo>
                    <a:pt x="0" y="486882"/>
                  </a:lnTo>
                  <a:close/>
                </a:path>
              </a:pathLst>
            </a:custGeom>
            <a:ln w="26009">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5" name="object 95"/>
            <p:cNvSpPr/>
            <p:nvPr/>
          </p:nvSpPr>
          <p:spPr>
            <a:xfrm>
              <a:off x="2615563" y="1485192"/>
              <a:ext cx="283845" cy="487045"/>
            </a:xfrm>
            <a:custGeom>
              <a:avLst/>
              <a:gdLst/>
              <a:ahLst/>
              <a:cxnLst/>
              <a:rect l="l" t="t" r="r" b="b"/>
              <a:pathLst>
                <a:path w="283844" h="487044">
                  <a:moveTo>
                    <a:pt x="283586" y="0"/>
                  </a:moveTo>
                  <a:lnTo>
                    <a:pt x="0" y="0"/>
                  </a:lnTo>
                  <a:lnTo>
                    <a:pt x="0" y="486882"/>
                  </a:lnTo>
                  <a:lnTo>
                    <a:pt x="283586" y="486882"/>
                  </a:lnTo>
                  <a:lnTo>
                    <a:pt x="283586"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6" name="object 96"/>
            <p:cNvSpPr/>
            <p:nvPr/>
          </p:nvSpPr>
          <p:spPr>
            <a:xfrm>
              <a:off x="2615563" y="1485192"/>
              <a:ext cx="283845" cy="487045"/>
            </a:xfrm>
            <a:custGeom>
              <a:avLst/>
              <a:gdLst/>
              <a:ahLst/>
              <a:cxnLst/>
              <a:rect l="l" t="t" r="r" b="b"/>
              <a:pathLst>
                <a:path w="283844" h="487044">
                  <a:moveTo>
                    <a:pt x="0" y="486882"/>
                  </a:moveTo>
                  <a:lnTo>
                    <a:pt x="283586" y="486882"/>
                  </a:lnTo>
                  <a:lnTo>
                    <a:pt x="283586" y="0"/>
                  </a:lnTo>
                  <a:lnTo>
                    <a:pt x="0" y="0"/>
                  </a:lnTo>
                  <a:lnTo>
                    <a:pt x="0" y="486882"/>
                  </a:lnTo>
                  <a:close/>
                </a:path>
              </a:pathLst>
            </a:custGeom>
            <a:ln w="26009">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7" name="object 97"/>
            <p:cNvSpPr/>
            <p:nvPr/>
          </p:nvSpPr>
          <p:spPr>
            <a:xfrm>
              <a:off x="2654206" y="1526732"/>
              <a:ext cx="283845" cy="487045"/>
            </a:xfrm>
            <a:custGeom>
              <a:avLst/>
              <a:gdLst/>
              <a:ahLst/>
              <a:cxnLst/>
              <a:rect l="l" t="t" r="r" b="b"/>
              <a:pathLst>
                <a:path w="283844" h="487044">
                  <a:moveTo>
                    <a:pt x="283586" y="0"/>
                  </a:moveTo>
                  <a:lnTo>
                    <a:pt x="0" y="0"/>
                  </a:lnTo>
                  <a:lnTo>
                    <a:pt x="0" y="486882"/>
                  </a:lnTo>
                  <a:lnTo>
                    <a:pt x="283586" y="486882"/>
                  </a:lnTo>
                  <a:lnTo>
                    <a:pt x="283586"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8" name="object 98"/>
            <p:cNvSpPr/>
            <p:nvPr/>
          </p:nvSpPr>
          <p:spPr>
            <a:xfrm>
              <a:off x="2654206" y="1526732"/>
              <a:ext cx="283845" cy="487045"/>
            </a:xfrm>
            <a:custGeom>
              <a:avLst/>
              <a:gdLst/>
              <a:ahLst/>
              <a:cxnLst/>
              <a:rect l="l" t="t" r="r" b="b"/>
              <a:pathLst>
                <a:path w="283844" h="487044">
                  <a:moveTo>
                    <a:pt x="0" y="486882"/>
                  </a:moveTo>
                  <a:lnTo>
                    <a:pt x="283586" y="486882"/>
                  </a:lnTo>
                  <a:lnTo>
                    <a:pt x="283586" y="0"/>
                  </a:lnTo>
                  <a:lnTo>
                    <a:pt x="0" y="0"/>
                  </a:lnTo>
                  <a:lnTo>
                    <a:pt x="0" y="486882"/>
                  </a:lnTo>
                  <a:close/>
                </a:path>
              </a:pathLst>
            </a:custGeom>
            <a:ln w="26009">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99" name="object 99"/>
            <p:cNvSpPr/>
            <p:nvPr/>
          </p:nvSpPr>
          <p:spPr>
            <a:xfrm>
              <a:off x="2693891" y="1568420"/>
              <a:ext cx="283845" cy="487045"/>
            </a:xfrm>
            <a:custGeom>
              <a:avLst/>
              <a:gdLst/>
              <a:ahLst/>
              <a:cxnLst/>
              <a:rect l="l" t="t" r="r" b="b"/>
              <a:pathLst>
                <a:path w="283844" h="487044">
                  <a:moveTo>
                    <a:pt x="283586" y="0"/>
                  </a:moveTo>
                  <a:lnTo>
                    <a:pt x="0" y="0"/>
                  </a:lnTo>
                  <a:lnTo>
                    <a:pt x="0" y="486882"/>
                  </a:lnTo>
                  <a:lnTo>
                    <a:pt x="283586" y="486882"/>
                  </a:lnTo>
                  <a:lnTo>
                    <a:pt x="283586"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00" name="object 100"/>
            <p:cNvSpPr/>
            <p:nvPr/>
          </p:nvSpPr>
          <p:spPr>
            <a:xfrm>
              <a:off x="2693891" y="1568420"/>
              <a:ext cx="283845" cy="487045"/>
            </a:xfrm>
            <a:custGeom>
              <a:avLst/>
              <a:gdLst/>
              <a:ahLst/>
              <a:cxnLst/>
              <a:rect l="l" t="t" r="r" b="b"/>
              <a:pathLst>
                <a:path w="283844" h="487044">
                  <a:moveTo>
                    <a:pt x="0" y="486882"/>
                  </a:moveTo>
                  <a:lnTo>
                    <a:pt x="283586" y="486882"/>
                  </a:lnTo>
                  <a:lnTo>
                    <a:pt x="283586" y="0"/>
                  </a:lnTo>
                  <a:lnTo>
                    <a:pt x="0" y="0"/>
                  </a:lnTo>
                  <a:lnTo>
                    <a:pt x="0" y="486882"/>
                  </a:lnTo>
                  <a:close/>
                </a:path>
              </a:pathLst>
            </a:custGeom>
            <a:ln w="26009">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01" name="object 101"/>
            <p:cNvSpPr/>
            <p:nvPr/>
          </p:nvSpPr>
          <p:spPr>
            <a:xfrm>
              <a:off x="2763443" y="1638350"/>
              <a:ext cx="160655" cy="347345"/>
            </a:xfrm>
            <a:custGeom>
              <a:avLst/>
              <a:gdLst/>
              <a:ahLst/>
              <a:cxnLst/>
              <a:rect l="l" t="t" r="r" b="b"/>
              <a:pathLst>
                <a:path w="160655" h="347344">
                  <a:moveTo>
                    <a:pt x="160515" y="321017"/>
                  </a:moveTo>
                  <a:lnTo>
                    <a:pt x="93268" y="321017"/>
                  </a:lnTo>
                  <a:lnTo>
                    <a:pt x="93268" y="186524"/>
                  </a:lnTo>
                  <a:lnTo>
                    <a:pt x="133769" y="186524"/>
                  </a:lnTo>
                  <a:lnTo>
                    <a:pt x="133769" y="160515"/>
                  </a:lnTo>
                  <a:lnTo>
                    <a:pt x="93268" y="160515"/>
                  </a:lnTo>
                  <a:lnTo>
                    <a:pt x="93268" y="26009"/>
                  </a:lnTo>
                  <a:lnTo>
                    <a:pt x="93268" y="13004"/>
                  </a:lnTo>
                  <a:lnTo>
                    <a:pt x="93268" y="0"/>
                  </a:lnTo>
                  <a:lnTo>
                    <a:pt x="0" y="0"/>
                  </a:lnTo>
                  <a:lnTo>
                    <a:pt x="0" y="26009"/>
                  </a:lnTo>
                  <a:lnTo>
                    <a:pt x="67259" y="26009"/>
                  </a:lnTo>
                  <a:lnTo>
                    <a:pt x="67259" y="160515"/>
                  </a:lnTo>
                  <a:lnTo>
                    <a:pt x="26758" y="160515"/>
                  </a:lnTo>
                  <a:lnTo>
                    <a:pt x="26758" y="186524"/>
                  </a:lnTo>
                  <a:lnTo>
                    <a:pt x="67259" y="186524"/>
                  </a:lnTo>
                  <a:lnTo>
                    <a:pt x="67259" y="347027"/>
                  </a:lnTo>
                  <a:lnTo>
                    <a:pt x="160515" y="347027"/>
                  </a:lnTo>
                  <a:lnTo>
                    <a:pt x="160515" y="334022"/>
                  </a:lnTo>
                  <a:lnTo>
                    <a:pt x="160515" y="321017"/>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02" name="object 102"/>
            <p:cNvSpPr/>
            <p:nvPr/>
          </p:nvSpPr>
          <p:spPr>
            <a:xfrm>
              <a:off x="2780616" y="2002988"/>
              <a:ext cx="100965" cy="52069"/>
            </a:xfrm>
            <a:custGeom>
              <a:avLst/>
              <a:gdLst/>
              <a:ahLst/>
              <a:cxnLst/>
              <a:rect l="l" t="t" r="r" b="b"/>
              <a:pathLst>
                <a:path w="100964" h="52069">
                  <a:moveTo>
                    <a:pt x="100548" y="51571"/>
                  </a:moveTo>
                  <a:lnTo>
                    <a:pt x="48973" y="0"/>
                  </a:lnTo>
                  <a:lnTo>
                    <a:pt x="0" y="48970"/>
                  </a:lnTo>
                </a:path>
              </a:pathLst>
            </a:custGeom>
            <a:ln w="26009">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03" name="object 103"/>
            <p:cNvSpPr/>
            <p:nvPr/>
          </p:nvSpPr>
          <p:spPr>
            <a:xfrm>
              <a:off x="1802333" y="1579054"/>
              <a:ext cx="1075055" cy="822960"/>
            </a:xfrm>
            <a:custGeom>
              <a:avLst/>
              <a:gdLst/>
              <a:ahLst/>
              <a:cxnLst/>
              <a:rect l="l" t="t" r="r" b="b"/>
              <a:pathLst>
                <a:path w="1075055" h="822960">
                  <a:moveTo>
                    <a:pt x="736028" y="32550"/>
                  </a:moveTo>
                  <a:lnTo>
                    <a:pt x="238988" y="32550"/>
                  </a:lnTo>
                  <a:lnTo>
                    <a:pt x="206438" y="0"/>
                  </a:lnTo>
                  <a:lnTo>
                    <a:pt x="188010" y="18351"/>
                  </a:lnTo>
                  <a:lnTo>
                    <a:pt x="202209" y="32550"/>
                  </a:lnTo>
                  <a:lnTo>
                    <a:pt x="78765" y="32550"/>
                  </a:lnTo>
                  <a:lnTo>
                    <a:pt x="78765" y="6172"/>
                  </a:lnTo>
                  <a:lnTo>
                    <a:pt x="0" y="45554"/>
                  </a:lnTo>
                  <a:lnTo>
                    <a:pt x="78765" y="84937"/>
                  </a:lnTo>
                  <a:lnTo>
                    <a:pt x="78765" y="58559"/>
                  </a:lnTo>
                  <a:lnTo>
                    <a:pt x="228219" y="58559"/>
                  </a:lnTo>
                  <a:lnTo>
                    <a:pt x="266484" y="96824"/>
                  </a:lnTo>
                  <a:lnTo>
                    <a:pt x="284848" y="78397"/>
                  </a:lnTo>
                  <a:lnTo>
                    <a:pt x="264998" y="58559"/>
                  </a:lnTo>
                  <a:lnTo>
                    <a:pt x="736028" y="58559"/>
                  </a:lnTo>
                  <a:lnTo>
                    <a:pt x="736028" y="32550"/>
                  </a:lnTo>
                  <a:close/>
                </a:path>
                <a:path w="1075055" h="822960">
                  <a:moveTo>
                    <a:pt x="1074521" y="693686"/>
                  </a:moveTo>
                  <a:lnTo>
                    <a:pt x="1038326" y="657542"/>
                  </a:lnTo>
                  <a:lnTo>
                    <a:pt x="1038326" y="557695"/>
                  </a:lnTo>
                  <a:lnTo>
                    <a:pt x="1064704" y="557695"/>
                  </a:lnTo>
                  <a:lnTo>
                    <a:pt x="1025321" y="478929"/>
                  </a:lnTo>
                  <a:lnTo>
                    <a:pt x="985926" y="557695"/>
                  </a:lnTo>
                  <a:lnTo>
                    <a:pt x="1012317" y="557695"/>
                  </a:lnTo>
                  <a:lnTo>
                    <a:pt x="1012317" y="631558"/>
                  </a:lnTo>
                  <a:lnTo>
                    <a:pt x="996035" y="615289"/>
                  </a:lnTo>
                  <a:lnTo>
                    <a:pt x="977684" y="633641"/>
                  </a:lnTo>
                  <a:lnTo>
                    <a:pt x="1012317" y="668312"/>
                  </a:lnTo>
                  <a:lnTo>
                    <a:pt x="1012317" y="822388"/>
                  </a:lnTo>
                  <a:lnTo>
                    <a:pt x="1038326" y="822388"/>
                  </a:lnTo>
                  <a:lnTo>
                    <a:pt x="1038326" y="694347"/>
                  </a:lnTo>
                  <a:lnTo>
                    <a:pt x="1056081" y="712114"/>
                  </a:lnTo>
                  <a:lnTo>
                    <a:pt x="1074521" y="693686"/>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104" name="object 104"/>
          <p:cNvSpPr txBox="1"/>
          <p:nvPr/>
        </p:nvSpPr>
        <p:spPr>
          <a:xfrm>
            <a:off x="2500921" y="1869097"/>
            <a:ext cx="417407" cy="305276"/>
          </a:xfrm>
          <a:prstGeom prst="rect">
            <a:avLst/>
          </a:prstGeom>
        </p:spPr>
        <p:txBody>
          <a:bodyPr vert="horz" wrap="square" lIns="0" tIns="17780" rIns="0" bIns="0" rtlCol="0">
            <a:spAutoFit/>
          </a:bodyPr>
          <a:lstStyle/>
          <a:p>
            <a:pPr marL="16933">
              <a:spcBef>
                <a:spcPts val="140"/>
              </a:spcBef>
            </a:pPr>
            <a:r>
              <a:rPr sz="1867" b="1" spc="-193" dirty="0">
                <a:latin typeface="Times New Roman" panose="02020603050405020304" pitchFamily="18" charset="0"/>
                <a:cs typeface="Times New Roman" panose="02020603050405020304" pitchFamily="18" charset="0"/>
              </a:rPr>
              <a:t>4</a:t>
            </a:r>
            <a:r>
              <a:rPr sz="1867" b="1" spc="-87" dirty="0">
                <a:latin typeface="Times New Roman" panose="02020603050405020304" pitchFamily="18" charset="0"/>
                <a:cs typeface="Times New Roman" panose="02020603050405020304" pitchFamily="18" charset="0"/>
              </a:rPr>
              <a:t> </a:t>
            </a:r>
            <a:r>
              <a:rPr sz="1867" b="1" spc="-160" dirty="0">
                <a:latin typeface="Times New Roman" panose="02020603050405020304" pitchFamily="18" charset="0"/>
                <a:cs typeface="Times New Roman" panose="02020603050405020304" pitchFamily="18" charset="0"/>
              </a:rPr>
              <a:t>+1</a:t>
            </a:r>
            <a:endParaRPr sz="1867">
              <a:latin typeface="Times New Roman" panose="02020603050405020304" pitchFamily="18" charset="0"/>
              <a:cs typeface="Times New Roman" panose="02020603050405020304" pitchFamily="18" charset="0"/>
            </a:endParaRPr>
          </a:p>
        </p:txBody>
      </p:sp>
      <p:grpSp>
        <p:nvGrpSpPr>
          <p:cNvPr id="105" name="object 105"/>
          <p:cNvGrpSpPr/>
          <p:nvPr/>
        </p:nvGrpSpPr>
        <p:grpSpPr>
          <a:xfrm>
            <a:off x="3288074" y="3293768"/>
            <a:ext cx="7321973" cy="1561253"/>
            <a:chOff x="2466055" y="2470326"/>
            <a:chExt cx="5491480" cy="1170940"/>
          </a:xfrm>
        </p:grpSpPr>
        <p:pic>
          <p:nvPicPr>
            <p:cNvPr id="106" name="object 106"/>
            <p:cNvPicPr/>
            <p:nvPr/>
          </p:nvPicPr>
          <p:blipFill>
            <a:blip r:embed="rId11" cstate="print"/>
            <a:stretch>
              <a:fillRect/>
            </a:stretch>
          </p:blipFill>
          <p:spPr>
            <a:xfrm>
              <a:off x="2611327" y="3149375"/>
              <a:ext cx="278606" cy="245150"/>
            </a:xfrm>
            <a:prstGeom prst="rect">
              <a:avLst/>
            </a:prstGeom>
          </p:spPr>
        </p:pic>
        <p:sp>
          <p:nvSpPr>
            <p:cNvPr id="107" name="object 107"/>
            <p:cNvSpPr/>
            <p:nvPr/>
          </p:nvSpPr>
          <p:spPr>
            <a:xfrm>
              <a:off x="2477485" y="3037910"/>
              <a:ext cx="501650" cy="234315"/>
            </a:xfrm>
            <a:custGeom>
              <a:avLst/>
              <a:gdLst/>
              <a:ahLst/>
              <a:cxnLst/>
              <a:rect l="l" t="t" r="r" b="b"/>
              <a:pathLst>
                <a:path w="501650" h="234314">
                  <a:moveTo>
                    <a:pt x="144988" y="234078"/>
                  </a:moveTo>
                  <a:lnTo>
                    <a:pt x="0" y="234078"/>
                  </a:lnTo>
                  <a:lnTo>
                    <a:pt x="0" y="0"/>
                  </a:lnTo>
                  <a:lnTo>
                    <a:pt x="501626" y="0"/>
                  </a:lnTo>
                  <a:lnTo>
                    <a:pt x="501626" y="234078"/>
                  </a:lnTo>
                  <a:lnTo>
                    <a:pt x="384580" y="234078"/>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08" name="object 108"/>
            <p:cNvSpPr/>
            <p:nvPr/>
          </p:nvSpPr>
          <p:spPr>
            <a:xfrm>
              <a:off x="6741832" y="3072256"/>
              <a:ext cx="1203960" cy="401320"/>
            </a:xfrm>
            <a:custGeom>
              <a:avLst/>
              <a:gdLst/>
              <a:ahLst/>
              <a:cxnLst/>
              <a:rect l="l" t="t" r="r" b="b"/>
              <a:pathLst>
                <a:path w="1203959" h="401320">
                  <a:moveTo>
                    <a:pt x="1203904" y="0"/>
                  </a:moveTo>
                  <a:lnTo>
                    <a:pt x="0" y="0"/>
                  </a:lnTo>
                  <a:lnTo>
                    <a:pt x="0" y="401276"/>
                  </a:lnTo>
                  <a:lnTo>
                    <a:pt x="1203904" y="401276"/>
                  </a:lnTo>
                  <a:lnTo>
                    <a:pt x="1203904"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09" name="object 109"/>
            <p:cNvSpPr/>
            <p:nvPr/>
          </p:nvSpPr>
          <p:spPr>
            <a:xfrm>
              <a:off x="6741832" y="3072256"/>
              <a:ext cx="1203960" cy="401320"/>
            </a:xfrm>
            <a:custGeom>
              <a:avLst/>
              <a:gdLst/>
              <a:ahLst/>
              <a:cxnLst/>
              <a:rect l="l" t="t" r="r" b="b"/>
              <a:pathLst>
                <a:path w="1203959" h="401320">
                  <a:moveTo>
                    <a:pt x="0" y="401276"/>
                  </a:moveTo>
                  <a:lnTo>
                    <a:pt x="1203904" y="401276"/>
                  </a:lnTo>
                  <a:lnTo>
                    <a:pt x="1203904" y="0"/>
                  </a:lnTo>
                  <a:lnTo>
                    <a:pt x="0" y="0"/>
                  </a:lnTo>
                  <a:lnTo>
                    <a:pt x="0" y="401276"/>
                  </a:lnTo>
                  <a:close/>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0" name="object 110"/>
            <p:cNvSpPr/>
            <p:nvPr/>
          </p:nvSpPr>
          <p:spPr>
            <a:xfrm>
              <a:off x="6737671" y="2612482"/>
              <a:ext cx="1203960" cy="267970"/>
            </a:xfrm>
            <a:custGeom>
              <a:avLst/>
              <a:gdLst/>
              <a:ahLst/>
              <a:cxnLst/>
              <a:rect l="l" t="t" r="r" b="b"/>
              <a:pathLst>
                <a:path w="1203959" h="267969">
                  <a:moveTo>
                    <a:pt x="1203904" y="0"/>
                  </a:moveTo>
                  <a:lnTo>
                    <a:pt x="0" y="0"/>
                  </a:lnTo>
                  <a:lnTo>
                    <a:pt x="0" y="267517"/>
                  </a:lnTo>
                  <a:lnTo>
                    <a:pt x="1203904" y="267517"/>
                  </a:lnTo>
                  <a:lnTo>
                    <a:pt x="1203904"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1" name="object 111"/>
            <p:cNvSpPr/>
            <p:nvPr/>
          </p:nvSpPr>
          <p:spPr>
            <a:xfrm>
              <a:off x="6737671" y="2612482"/>
              <a:ext cx="1203960" cy="267970"/>
            </a:xfrm>
            <a:custGeom>
              <a:avLst/>
              <a:gdLst/>
              <a:ahLst/>
              <a:cxnLst/>
              <a:rect l="l" t="t" r="r" b="b"/>
              <a:pathLst>
                <a:path w="1203959" h="267969">
                  <a:moveTo>
                    <a:pt x="0" y="267517"/>
                  </a:moveTo>
                  <a:lnTo>
                    <a:pt x="1203904" y="267517"/>
                  </a:lnTo>
                  <a:lnTo>
                    <a:pt x="1203904" y="0"/>
                  </a:lnTo>
                  <a:lnTo>
                    <a:pt x="0" y="0"/>
                  </a:lnTo>
                  <a:lnTo>
                    <a:pt x="0" y="267517"/>
                  </a:lnTo>
                  <a:close/>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2" name="object 112"/>
            <p:cNvSpPr/>
            <p:nvPr/>
          </p:nvSpPr>
          <p:spPr>
            <a:xfrm>
              <a:off x="7339623" y="2495443"/>
              <a:ext cx="0" cy="577215"/>
            </a:xfrm>
            <a:custGeom>
              <a:avLst/>
              <a:gdLst/>
              <a:ahLst/>
              <a:cxnLst/>
              <a:rect l="l" t="t" r="r" b="b"/>
              <a:pathLst>
                <a:path h="577214">
                  <a:moveTo>
                    <a:pt x="0" y="576797"/>
                  </a:moveTo>
                  <a:lnTo>
                    <a:pt x="0" y="384556"/>
                  </a:lnTo>
                </a:path>
                <a:path h="577214">
                  <a:moveTo>
                    <a:pt x="0" y="100319"/>
                  </a:moveTo>
                  <a:lnTo>
                    <a:pt x="0"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3" name="object 113"/>
            <p:cNvSpPr/>
            <p:nvPr/>
          </p:nvSpPr>
          <p:spPr>
            <a:xfrm>
              <a:off x="7222577" y="2470326"/>
              <a:ext cx="234315" cy="33655"/>
            </a:xfrm>
            <a:custGeom>
              <a:avLst/>
              <a:gdLst/>
              <a:ahLst/>
              <a:cxnLst/>
              <a:rect l="l" t="t" r="r" b="b"/>
              <a:pathLst>
                <a:path w="234315" h="33655">
                  <a:moveTo>
                    <a:pt x="234092" y="0"/>
                  </a:moveTo>
                  <a:lnTo>
                    <a:pt x="0" y="0"/>
                  </a:lnTo>
                  <a:lnTo>
                    <a:pt x="0" y="33439"/>
                  </a:lnTo>
                  <a:lnTo>
                    <a:pt x="234092" y="33439"/>
                  </a:lnTo>
                  <a:lnTo>
                    <a:pt x="234092"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4" name="object 114"/>
            <p:cNvSpPr/>
            <p:nvPr/>
          </p:nvSpPr>
          <p:spPr>
            <a:xfrm>
              <a:off x="7339623" y="3481893"/>
              <a:ext cx="0" cy="52705"/>
            </a:xfrm>
            <a:custGeom>
              <a:avLst/>
              <a:gdLst/>
              <a:ahLst/>
              <a:cxnLst/>
              <a:rect l="l" t="t" r="r" b="b"/>
              <a:pathLst>
                <a:path h="52704">
                  <a:moveTo>
                    <a:pt x="0" y="52195"/>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5" name="object 115"/>
            <p:cNvSpPr/>
            <p:nvPr/>
          </p:nvSpPr>
          <p:spPr>
            <a:xfrm>
              <a:off x="7295405" y="3571355"/>
              <a:ext cx="88900" cy="58419"/>
            </a:xfrm>
            <a:custGeom>
              <a:avLst/>
              <a:gdLst/>
              <a:ahLst/>
              <a:cxnLst/>
              <a:rect l="l" t="t" r="r" b="b"/>
              <a:pathLst>
                <a:path w="88900" h="58420">
                  <a:moveTo>
                    <a:pt x="88360" y="0"/>
                  </a:moveTo>
                  <a:lnTo>
                    <a:pt x="0" y="0"/>
                  </a:lnTo>
                </a:path>
                <a:path w="88900" h="58420">
                  <a:moveTo>
                    <a:pt x="73646" y="28958"/>
                  </a:moveTo>
                  <a:lnTo>
                    <a:pt x="14714" y="28958"/>
                  </a:lnTo>
                </a:path>
                <a:path w="88900" h="58420">
                  <a:moveTo>
                    <a:pt x="58931" y="57925"/>
                  </a:moveTo>
                  <a:lnTo>
                    <a:pt x="29503" y="57925"/>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16" name="object 116"/>
            <p:cNvSpPr/>
            <p:nvPr/>
          </p:nvSpPr>
          <p:spPr>
            <a:xfrm>
              <a:off x="7339623" y="3494124"/>
              <a:ext cx="0" cy="77470"/>
            </a:xfrm>
            <a:custGeom>
              <a:avLst/>
              <a:gdLst/>
              <a:ahLst/>
              <a:cxnLst/>
              <a:rect l="l" t="t" r="r" b="b"/>
              <a:pathLst>
                <a:path h="77470">
                  <a:moveTo>
                    <a:pt x="0" y="0"/>
                  </a:moveTo>
                  <a:lnTo>
                    <a:pt x="0" y="7723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117" name="object 117"/>
          <p:cNvSpPr txBox="1"/>
          <p:nvPr/>
        </p:nvSpPr>
        <p:spPr>
          <a:xfrm>
            <a:off x="8810754" y="3115444"/>
            <a:ext cx="1962573" cy="1381831"/>
          </a:xfrm>
          <a:prstGeom prst="rect">
            <a:avLst/>
          </a:prstGeom>
          <a:ln w="5573">
            <a:solidFill>
              <a:srgbClr val="000000"/>
            </a:solidFill>
          </a:ln>
        </p:spPr>
        <p:txBody>
          <a:bodyPr vert="horz" wrap="square" lIns="0" tIns="1693" rIns="0" bIns="0" rtlCol="0">
            <a:spAutoFit/>
          </a:bodyPr>
          <a:lstStyle/>
          <a:p>
            <a:pPr marL="1245416">
              <a:spcBef>
                <a:spcPts val="13"/>
              </a:spcBef>
            </a:pPr>
            <a:r>
              <a:rPr sz="1867" b="1" spc="-27" dirty="0">
                <a:latin typeface="Times New Roman" panose="02020603050405020304" pitchFamily="18" charset="0"/>
                <a:cs typeface="Times New Roman" panose="02020603050405020304" pitchFamily="18" charset="0"/>
              </a:rPr>
              <a:t>1.2V</a:t>
            </a:r>
            <a:endParaRPr sz="1867" dirty="0">
              <a:latin typeface="Times New Roman" panose="02020603050405020304" pitchFamily="18" charset="0"/>
              <a:cs typeface="Times New Roman" panose="02020603050405020304" pitchFamily="18" charset="0"/>
            </a:endParaRPr>
          </a:p>
          <a:p>
            <a:pPr algn="ctr">
              <a:spcBef>
                <a:spcPts val="747"/>
              </a:spcBef>
            </a:pPr>
            <a:r>
              <a:rPr sz="1867" b="1" spc="-33" dirty="0">
                <a:latin typeface="Times New Roman" panose="02020603050405020304" pitchFamily="18" charset="0"/>
                <a:cs typeface="Times New Roman" panose="02020603050405020304" pitchFamily="18" charset="0"/>
              </a:rPr>
              <a:t>Reg</a:t>
            </a:r>
            <a:endParaRPr sz="1867" dirty="0">
              <a:latin typeface="Times New Roman" panose="02020603050405020304" pitchFamily="18" charset="0"/>
              <a:cs typeface="Times New Roman" panose="02020603050405020304" pitchFamily="18" charset="0"/>
            </a:endParaRPr>
          </a:p>
          <a:p>
            <a:pPr marL="1135352">
              <a:spcBef>
                <a:spcPts val="400"/>
              </a:spcBef>
            </a:pPr>
            <a:r>
              <a:rPr sz="1867" b="1" spc="-13" dirty="0">
                <a:latin typeface="Times New Roman" panose="02020603050405020304" pitchFamily="18" charset="0"/>
                <a:cs typeface="Times New Roman" panose="02020603050405020304" pitchFamily="18" charset="0"/>
              </a:rPr>
              <a:t>0.88V</a:t>
            </a:r>
            <a:endParaRPr sz="1867" dirty="0">
              <a:latin typeface="Times New Roman" panose="02020603050405020304" pitchFamily="18" charset="0"/>
              <a:cs typeface="Times New Roman" panose="02020603050405020304" pitchFamily="18" charset="0"/>
            </a:endParaRPr>
          </a:p>
          <a:p>
            <a:pPr marL="3387" algn="ctr">
              <a:spcBef>
                <a:spcPts val="660"/>
              </a:spcBef>
            </a:pPr>
            <a:r>
              <a:rPr sz="1867" b="1" spc="-33" dirty="0">
                <a:latin typeface="Times New Roman" panose="02020603050405020304" pitchFamily="18" charset="0"/>
                <a:cs typeface="Times New Roman" panose="02020603050405020304" pitchFamily="18" charset="0"/>
              </a:rPr>
              <a:t>TIA</a:t>
            </a:r>
            <a:endParaRPr sz="1867" dirty="0">
              <a:latin typeface="Times New Roman" panose="02020603050405020304" pitchFamily="18" charset="0"/>
              <a:cs typeface="Times New Roman" panose="02020603050405020304" pitchFamily="18" charset="0"/>
            </a:endParaRPr>
          </a:p>
        </p:txBody>
      </p:sp>
      <p:sp>
        <p:nvSpPr>
          <p:cNvPr id="118" name="object 118"/>
          <p:cNvSpPr txBox="1"/>
          <p:nvPr/>
        </p:nvSpPr>
        <p:spPr>
          <a:xfrm>
            <a:off x="7852596" y="2416766"/>
            <a:ext cx="105833" cy="205184"/>
          </a:xfrm>
          <a:prstGeom prst="rect">
            <a:avLst/>
          </a:prstGeom>
        </p:spPr>
        <p:txBody>
          <a:bodyPr vert="horz" wrap="square" lIns="0" tIns="20320" rIns="0" bIns="0" rtlCol="0">
            <a:spAutoFit/>
          </a:bodyPr>
          <a:lstStyle/>
          <a:p>
            <a:pPr marL="16933">
              <a:spcBef>
                <a:spcPts val="160"/>
              </a:spcBef>
            </a:pPr>
            <a:r>
              <a:rPr sz="1200" b="1" spc="-67" dirty="0">
                <a:latin typeface="Times New Roman" panose="02020603050405020304" pitchFamily="18" charset="0"/>
                <a:cs typeface="Times New Roman" panose="02020603050405020304" pitchFamily="18" charset="0"/>
              </a:rPr>
              <a:t>1</a:t>
            </a:r>
            <a:endParaRPr sz="1200">
              <a:latin typeface="Times New Roman" panose="02020603050405020304" pitchFamily="18" charset="0"/>
              <a:cs typeface="Times New Roman" panose="02020603050405020304" pitchFamily="18" charset="0"/>
            </a:endParaRPr>
          </a:p>
        </p:txBody>
      </p:sp>
      <p:sp>
        <p:nvSpPr>
          <p:cNvPr id="119" name="object 119"/>
          <p:cNvSpPr txBox="1"/>
          <p:nvPr/>
        </p:nvSpPr>
        <p:spPr>
          <a:xfrm>
            <a:off x="6845874" y="2317983"/>
            <a:ext cx="1040553" cy="305276"/>
          </a:xfrm>
          <a:prstGeom prst="rect">
            <a:avLst/>
          </a:prstGeom>
        </p:spPr>
        <p:txBody>
          <a:bodyPr vert="horz" wrap="square" lIns="0" tIns="17780" rIns="0" bIns="0" rtlCol="0">
            <a:spAutoFit/>
          </a:bodyPr>
          <a:lstStyle/>
          <a:p>
            <a:pPr marL="16933">
              <a:spcBef>
                <a:spcPts val="140"/>
              </a:spcBef>
              <a:tabLst>
                <a:tab pos="730655" algn="l"/>
              </a:tabLst>
            </a:pPr>
            <a:r>
              <a:rPr sz="1867" b="1" spc="-33" dirty="0">
                <a:latin typeface="Times New Roman" panose="02020603050405020304" pitchFamily="18" charset="0"/>
                <a:cs typeface="Times New Roman" panose="02020603050405020304" pitchFamily="18" charset="0"/>
              </a:rPr>
              <a:t>gm</a:t>
            </a:r>
            <a:r>
              <a:rPr sz="1867" b="1" dirty="0">
                <a:latin typeface="Times New Roman" panose="02020603050405020304" pitchFamily="18" charset="0"/>
                <a:cs typeface="Times New Roman" panose="02020603050405020304" pitchFamily="18" charset="0"/>
              </a:rPr>
              <a:t>	</a:t>
            </a:r>
            <a:r>
              <a:rPr sz="1867" b="1" spc="-213" dirty="0">
                <a:latin typeface="Times New Roman" panose="02020603050405020304" pitchFamily="18" charset="0"/>
                <a:cs typeface="Times New Roman" panose="02020603050405020304" pitchFamily="18" charset="0"/>
              </a:rPr>
              <a:t>gm</a:t>
            </a:r>
            <a:endParaRPr sz="1867">
              <a:latin typeface="Times New Roman" panose="02020603050405020304" pitchFamily="18" charset="0"/>
              <a:cs typeface="Times New Roman" panose="02020603050405020304" pitchFamily="18" charset="0"/>
            </a:endParaRPr>
          </a:p>
        </p:txBody>
      </p:sp>
      <p:sp>
        <p:nvSpPr>
          <p:cNvPr id="120" name="object 120"/>
          <p:cNvSpPr txBox="1"/>
          <p:nvPr/>
        </p:nvSpPr>
        <p:spPr>
          <a:xfrm>
            <a:off x="7138676" y="2416766"/>
            <a:ext cx="105833" cy="205184"/>
          </a:xfrm>
          <a:prstGeom prst="rect">
            <a:avLst/>
          </a:prstGeom>
        </p:spPr>
        <p:txBody>
          <a:bodyPr vert="horz" wrap="square" lIns="0" tIns="20320" rIns="0" bIns="0" rtlCol="0">
            <a:spAutoFit/>
          </a:bodyPr>
          <a:lstStyle/>
          <a:p>
            <a:pPr marL="16933">
              <a:spcBef>
                <a:spcPts val="160"/>
              </a:spcBef>
            </a:pPr>
            <a:r>
              <a:rPr sz="1200" b="1" spc="-67" dirty="0">
                <a:latin typeface="Times New Roman" panose="02020603050405020304" pitchFamily="18" charset="0"/>
                <a:cs typeface="Times New Roman" panose="02020603050405020304" pitchFamily="18" charset="0"/>
              </a:rPr>
              <a:t>2</a:t>
            </a:r>
            <a:endParaRPr sz="1200">
              <a:latin typeface="Times New Roman" panose="02020603050405020304" pitchFamily="18" charset="0"/>
              <a:cs typeface="Times New Roman" panose="02020603050405020304" pitchFamily="18" charset="0"/>
            </a:endParaRPr>
          </a:p>
        </p:txBody>
      </p:sp>
      <p:sp>
        <p:nvSpPr>
          <p:cNvPr id="121" name="object 121"/>
          <p:cNvSpPr txBox="1"/>
          <p:nvPr/>
        </p:nvSpPr>
        <p:spPr>
          <a:xfrm>
            <a:off x="5562820" y="2340276"/>
            <a:ext cx="465667" cy="305276"/>
          </a:xfrm>
          <a:prstGeom prst="rect">
            <a:avLst/>
          </a:prstGeom>
        </p:spPr>
        <p:txBody>
          <a:bodyPr vert="horz" wrap="square" lIns="0" tIns="17780" rIns="0" bIns="0" rtlCol="0">
            <a:spAutoFit/>
          </a:bodyPr>
          <a:lstStyle/>
          <a:p>
            <a:pPr marL="50799">
              <a:spcBef>
                <a:spcPts val="140"/>
              </a:spcBef>
            </a:pPr>
            <a:r>
              <a:rPr sz="1867" b="1" spc="-100" dirty="0">
                <a:latin typeface="Times New Roman" panose="02020603050405020304" pitchFamily="18" charset="0"/>
                <a:cs typeface="Times New Roman" panose="02020603050405020304" pitchFamily="18" charset="0"/>
              </a:rPr>
              <a:t>gm</a:t>
            </a:r>
            <a:r>
              <a:rPr b="1" spc="-149" baseline="-6172" dirty="0">
                <a:latin typeface="Times New Roman" panose="02020603050405020304" pitchFamily="18" charset="0"/>
                <a:cs typeface="Times New Roman" panose="02020603050405020304" pitchFamily="18" charset="0"/>
              </a:rPr>
              <a:t>3</a:t>
            </a:r>
            <a:endParaRPr baseline="-6172">
              <a:latin typeface="Times New Roman" panose="02020603050405020304" pitchFamily="18" charset="0"/>
              <a:cs typeface="Times New Roman" panose="02020603050405020304" pitchFamily="18" charset="0"/>
            </a:endParaRPr>
          </a:p>
        </p:txBody>
      </p:sp>
      <p:sp>
        <p:nvSpPr>
          <p:cNvPr id="122" name="object 122"/>
          <p:cNvSpPr txBox="1"/>
          <p:nvPr/>
        </p:nvSpPr>
        <p:spPr>
          <a:xfrm>
            <a:off x="7640351" y="1590483"/>
            <a:ext cx="193887" cy="233397"/>
          </a:xfrm>
          <a:prstGeom prst="rect">
            <a:avLst/>
          </a:prstGeom>
        </p:spPr>
        <p:txBody>
          <a:bodyPr vert="horz" wrap="square" lIns="0" tIns="17780" rIns="0" bIns="0" rtlCol="0">
            <a:spAutoFit/>
          </a:bodyPr>
          <a:lstStyle/>
          <a:p>
            <a:pPr marL="16933">
              <a:spcBef>
                <a:spcPts val="140"/>
              </a:spcBef>
            </a:pPr>
            <a:r>
              <a:rPr sz="2100" b="1" spc="-169" baseline="5291" dirty="0">
                <a:latin typeface="Times New Roman" panose="02020603050405020304" pitchFamily="18" charset="0"/>
                <a:cs typeface="Times New Roman" panose="02020603050405020304" pitchFamily="18" charset="0"/>
              </a:rPr>
              <a:t>R</a:t>
            </a:r>
            <a:r>
              <a:rPr sz="933" b="1" spc="-113" dirty="0">
                <a:latin typeface="Times New Roman" panose="02020603050405020304" pitchFamily="18" charset="0"/>
                <a:cs typeface="Times New Roman" panose="02020603050405020304" pitchFamily="18" charset="0"/>
              </a:rPr>
              <a:t>1</a:t>
            </a:r>
            <a:endParaRPr sz="933">
              <a:latin typeface="Times New Roman" panose="02020603050405020304" pitchFamily="18" charset="0"/>
              <a:cs typeface="Times New Roman" panose="02020603050405020304" pitchFamily="18" charset="0"/>
            </a:endParaRPr>
          </a:p>
        </p:txBody>
      </p:sp>
      <p:sp>
        <p:nvSpPr>
          <p:cNvPr id="123" name="object 123"/>
          <p:cNvSpPr txBox="1"/>
          <p:nvPr/>
        </p:nvSpPr>
        <p:spPr>
          <a:xfrm>
            <a:off x="5676848" y="1635316"/>
            <a:ext cx="194733" cy="233397"/>
          </a:xfrm>
          <a:prstGeom prst="rect">
            <a:avLst/>
          </a:prstGeom>
        </p:spPr>
        <p:txBody>
          <a:bodyPr vert="horz" wrap="square" lIns="0" tIns="17780" rIns="0" bIns="0" rtlCol="0">
            <a:spAutoFit/>
          </a:bodyPr>
          <a:lstStyle/>
          <a:p>
            <a:pPr marL="16933">
              <a:spcBef>
                <a:spcPts val="140"/>
              </a:spcBef>
            </a:pPr>
            <a:r>
              <a:rPr sz="2100" b="1" spc="-149" baseline="2645" dirty="0">
                <a:latin typeface="Times New Roman" panose="02020603050405020304" pitchFamily="18" charset="0"/>
                <a:cs typeface="Times New Roman" panose="02020603050405020304" pitchFamily="18" charset="0"/>
              </a:rPr>
              <a:t>R</a:t>
            </a:r>
            <a:r>
              <a:rPr sz="933" b="1" spc="-100" dirty="0">
                <a:latin typeface="Times New Roman" panose="02020603050405020304" pitchFamily="18" charset="0"/>
                <a:cs typeface="Times New Roman" panose="02020603050405020304" pitchFamily="18" charset="0"/>
              </a:rPr>
              <a:t>3</a:t>
            </a:r>
            <a:endParaRPr sz="933">
              <a:latin typeface="Times New Roman" panose="02020603050405020304" pitchFamily="18" charset="0"/>
              <a:cs typeface="Times New Roman" panose="02020603050405020304" pitchFamily="18" charset="0"/>
            </a:endParaRPr>
          </a:p>
        </p:txBody>
      </p:sp>
      <p:sp>
        <p:nvSpPr>
          <p:cNvPr id="124" name="object 124"/>
          <p:cNvSpPr txBox="1"/>
          <p:nvPr/>
        </p:nvSpPr>
        <p:spPr>
          <a:xfrm>
            <a:off x="4536657" y="1946677"/>
            <a:ext cx="584200" cy="305276"/>
          </a:xfrm>
          <a:prstGeom prst="rect">
            <a:avLst/>
          </a:prstGeom>
        </p:spPr>
        <p:txBody>
          <a:bodyPr vert="horz" wrap="square" lIns="0" tIns="17780" rIns="0" bIns="0" rtlCol="0">
            <a:spAutoFit/>
          </a:bodyPr>
          <a:lstStyle/>
          <a:p>
            <a:pPr marL="16933">
              <a:spcBef>
                <a:spcPts val="140"/>
              </a:spcBef>
            </a:pPr>
            <a:r>
              <a:rPr sz="1867" b="1" spc="-173" dirty="0">
                <a:latin typeface="Times New Roman" panose="02020603050405020304" pitchFamily="18" charset="0"/>
                <a:cs typeface="Times New Roman" panose="02020603050405020304" pitchFamily="18" charset="0"/>
              </a:rPr>
              <a:t>Voutb</a:t>
            </a:r>
            <a:endParaRPr sz="1867">
              <a:latin typeface="Times New Roman" panose="02020603050405020304" pitchFamily="18" charset="0"/>
              <a:cs typeface="Times New Roman" panose="02020603050405020304" pitchFamily="18" charset="0"/>
            </a:endParaRPr>
          </a:p>
        </p:txBody>
      </p:sp>
      <p:sp>
        <p:nvSpPr>
          <p:cNvPr id="125" name="object 125"/>
          <p:cNvSpPr txBox="1"/>
          <p:nvPr/>
        </p:nvSpPr>
        <p:spPr>
          <a:xfrm>
            <a:off x="9611386" y="2246150"/>
            <a:ext cx="346287" cy="233397"/>
          </a:xfrm>
          <a:prstGeom prst="rect">
            <a:avLst/>
          </a:prstGeom>
        </p:spPr>
        <p:txBody>
          <a:bodyPr vert="horz" wrap="square" lIns="0" tIns="17780" rIns="0" bIns="0" rtlCol="0">
            <a:spAutoFit/>
          </a:bodyPr>
          <a:lstStyle/>
          <a:p>
            <a:pPr marL="16933">
              <a:spcBef>
                <a:spcPts val="140"/>
              </a:spcBef>
            </a:pPr>
            <a:r>
              <a:rPr sz="1400" b="1" spc="-113" dirty="0">
                <a:latin typeface="Times New Roman" panose="02020603050405020304" pitchFamily="18" charset="0"/>
                <a:cs typeface="Times New Roman" panose="02020603050405020304" pitchFamily="18" charset="0"/>
              </a:rPr>
              <a:t>InFo</a:t>
            </a:r>
            <a:endParaRPr sz="1400">
              <a:latin typeface="Times New Roman" panose="02020603050405020304" pitchFamily="18" charset="0"/>
              <a:cs typeface="Times New Roman" panose="02020603050405020304" pitchFamily="18" charset="0"/>
            </a:endParaRPr>
          </a:p>
        </p:txBody>
      </p:sp>
      <p:sp>
        <p:nvSpPr>
          <p:cNvPr id="126" name="object 126"/>
          <p:cNvSpPr txBox="1"/>
          <p:nvPr/>
        </p:nvSpPr>
        <p:spPr>
          <a:xfrm>
            <a:off x="9046591" y="2475274"/>
            <a:ext cx="1056640" cy="428322"/>
          </a:xfrm>
          <a:prstGeom prst="rect">
            <a:avLst/>
          </a:prstGeom>
        </p:spPr>
        <p:txBody>
          <a:bodyPr vert="horz" wrap="square" lIns="0" tIns="17780" rIns="0" bIns="0" rtlCol="0">
            <a:spAutoFit/>
          </a:bodyPr>
          <a:lstStyle/>
          <a:p>
            <a:pPr marL="16933">
              <a:lnSpc>
                <a:spcPts val="1627"/>
              </a:lnSpc>
              <a:spcBef>
                <a:spcPts val="140"/>
              </a:spcBef>
            </a:pPr>
            <a:r>
              <a:rPr sz="1400" b="1" spc="-67" dirty="0">
                <a:latin typeface="Times New Roman" panose="02020603050405020304" pitchFamily="18" charset="0"/>
                <a:cs typeface="Times New Roman" panose="02020603050405020304" pitchFamily="18" charset="0"/>
              </a:rPr>
              <a:t>25fF</a:t>
            </a:r>
            <a:r>
              <a:rPr sz="1400" b="1" spc="233" dirty="0">
                <a:latin typeface="Times New Roman" panose="02020603050405020304" pitchFamily="18" charset="0"/>
                <a:cs typeface="Times New Roman" panose="02020603050405020304" pitchFamily="18" charset="0"/>
              </a:rPr>
              <a:t> </a:t>
            </a:r>
            <a:r>
              <a:rPr sz="2100" b="1" spc="-180" baseline="5291" dirty="0">
                <a:latin typeface="Times New Roman" panose="02020603050405020304" pitchFamily="18" charset="0"/>
                <a:cs typeface="Times New Roman" panose="02020603050405020304" pitchFamily="18" charset="0"/>
              </a:rPr>
              <a:t>Parasitic</a:t>
            </a:r>
            <a:endParaRPr sz="2100" baseline="5291">
              <a:latin typeface="Times New Roman" panose="02020603050405020304" pitchFamily="18" charset="0"/>
              <a:cs typeface="Times New Roman" panose="02020603050405020304" pitchFamily="18" charset="0"/>
            </a:endParaRPr>
          </a:p>
          <a:p>
            <a:pPr marL="585031">
              <a:lnSpc>
                <a:spcPts val="1627"/>
              </a:lnSpc>
            </a:pPr>
            <a:r>
              <a:rPr sz="1400" b="1" spc="-27" dirty="0">
                <a:latin typeface="Times New Roman" panose="02020603050405020304" pitchFamily="18" charset="0"/>
                <a:cs typeface="Times New Roman" panose="02020603050405020304" pitchFamily="18" charset="0"/>
              </a:rPr>
              <a:t>25fF</a:t>
            </a:r>
            <a:endParaRPr sz="1400">
              <a:latin typeface="Times New Roman" panose="02020603050405020304" pitchFamily="18" charset="0"/>
              <a:cs typeface="Times New Roman" panose="02020603050405020304" pitchFamily="18" charset="0"/>
            </a:endParaRPr>
          </a:p>
        </p:txBody>
      </p:sp>
      <p:sp>
        <p:nvSpPr>
          <p:cNvPr id="127" name="object 127"/>
          <p:cNvSpPr/>
          <p:nvPr/>
        </p:nvSpPr>
        <p:spPr>
          <a:xfrm>
            <a:off x="5484413" y="1194547"/>
            <a:ext cx="520700" cy="241300"/>
          </a:xfrm>
          <a:custGeom>
            <a:avLst/>
            <a:gdLst/>
            <a:ahLst/>
            <a:cxnLst/>
            <a:rect l="l" t="t" r="r" b="b"/>
            <a:pathLst>
              <a:path w="390525" h="180975">
                <a:moveTo>
                  <a:pt x="390154" y="0"/>
                </a:moveTo>
                <a:lnTo>
                  <a:pt x="0" y="0"/>
                </a:lnTo>
                <a:lnTo>
                  <a:pt x="0" y="180351"/>
                </a:lnTo>
                <a:lnTo>
                  <a:pt x="390154" y="180351"/>
                </a:lnTo>
                <a:lnTo>
                  <a:pt x="390154" y="169204"/>
                </a:lnTo>
                <a:lnTo>
                  <a:pt x="22294" y="169204"/>
                </a:lnTo>
                <a:lnTo>
                  <a:pt x="11147" y="158058"/>
                </a:lnTo>
                <a:lnTo>
                  <a:pt x="22294" y="158058"/>
                </a:lnTo>
                <a:lnTo>
                  <a:pt x="22294" y="22293"/>
                </a:lnTo>
                <a:lnTo>
                  <a:pt x="11147" y="22293"/>
                </a:lnTo>
                <a:lnTo>
                  <a:pt x="22294" y="11146"/>
                </a:lnTo>
                <a:lnTo>
                  <a:pt x="390154" y="11146"/>
                </a:lnTo>
                <a:lnTo>
                  <a:pt x="390154" y="0"/>
                </a:lnTo>
                <a:close/>
              </a:path>
              <a:path w="390525" h="180975">
                <a:moveTo>
                  <a:pt x="22294" y="158058"/>
                </a:moveTo>
                <a:lnTo>
                  <a:pt x="11147" y="158058"/>
                </a:lnTo>
                <a:lnTo>
                  <a:pt x="22294" y="169204"/>
                </a:lnTo>
                <a:lnTo>
                  <a:pt x="22294" y="158058"/>
                </a:lnTo>
                <a:close/>
              </a:path>
              <a:path w="390525" h="180975">
                <a:moveTo>
                  <a:pt x="367859" y="158058"/>
                </a:moveTo>
                <a:lnTo>
                  <a:pt x="22294" y="158058"/>
                </a:lnTo>
                <a:lnTo>
                  <a:pt x="22294" y="169204"/>
                </a:lnTo>
                <a:lnTo>
                  <a:pt x="367859" y="169204"/>
                </a:lnTo>
                <a:lnTo>
                  <a:pt x="367859" y="158058"/>
                </a:lnTo>
                <a:close/>
              </a:path>
              <a:path w="390525" h="180975">
                <a:moveTo>
                  <a:pt x="367859" y="11146"/>
                </a:moveTo>
                <a:lnTo>
                  <a:pt x="367859" y="169204"/>
                </a:lnTo>
                <a:lnTo>
                  <a:pt x="379006" y="158058"/>
                </a:lnTo>
                <a:lnTo>
                  <a:pt x="390154" y="158058"/>
                </a:lnTo>
                <a:lnTo>
                  <a:pt x="390154" y="22293"/>
                </a:lnTo>
                <a:lnTo>
                  <a:pt x="379006" y="22293"/>
                </a:lnTo>
                <a:lnTo>
                  <a:pt x="367859" y="11146"/>
                </a:lnTo>
                <a:close/>
              </a:path>
              <a:path w="390525" h="180975">
                <a:moveTo>
                  <a:pt x="390154" y="158058"/>
                </a:moveTo>
                <a:lnTo>
                  <a:pt x="379006" y="158058"/>
                </a:lnTo>
                <a:lnTo>
                  <a:pt x="367859" y="169204"/>
                </a:lnTo>
                <a:lnTo>
                  <a:pt x="390154" y="169204"/>
                </a:lnTo>
                <a:lnTo>
                  <a:pt x="390154" y="158058"/>
                </a:lnTo>
                <a:close/>
              </a:path>
              <a:path w="390525" h="180975">
                <a:moveTo>
                  <a:pt x="22294" y="11146"/>
                </a:moveTo>
                <a:lnTo>
                  <a:pt x="11147" y="22293"/>
                </a:lnTo>
                <a:lnTo>
                  <a:pt x="22294" y="22293"/>
                </a:lnTo>
                <a:lnTo>
                  <a:pt x="22294" y="11146"/>
                </a:lnTo>
                <a:close/>
              </a:path>
              <a:path w="390525" h="180975">
                <a:moveTo>
                  <a:pt x="367859" y="11146"/>
                </a:moveTo>
                <a:lnTo>
                  <a:pt x="22294" y="11146"/>
                </a:lnTo>
                <a:lnTo>
                  <a:pt x="22294" y="22293"/>
                </a:lnTo>
                <a:lnTo>
                  <a:pt x="367859" y="22293"/>
                </a:lnTo>
                <a:lnTo>
                  <a:pt x="367859" y="11146"/>
                </a:lnTo>
                <a:close/>
              </a:path>
              <a:path w="390525" h="180975">
                <a:moveTo>
                  <a:pt x="390154" y="11146"/>
                </a:moveTo>
                <a:lnTo>
                  <a:pt x="367859" y="11146"/>
                </a:lnTo>
                <a:lnTo>
                  <a:pt x="379006" y="22293"/>
                </a:lnTo>
                <a:lnTo>
                  <a:pt x="390154" y="22293"/>
                </a:lnTo>
                <a:lnTo>
                  <a:pt x="390154" y="11146"/>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28" name="object 128"/>
          <p:cNvSpPr txBox="1"/>
          <p:nvPr/>
        </p:nvSpPr>
        <p:spPr>
          <a:xfrm>
            <a:off x="5642169" y="1169836"/>
            <a:ext cx="205740" cy="233397"/>
          </a:xfrm>
          <a:prstGeom prst="rect">
            <a:avLst/>
          </a:prstGeom>
        </p:spPr>
        <p:txBody>
          <a:bodyPr vert="horz" wrap="square" lIns="0" tIns="17780" rIns="0" bIns="0" rtlCol="0">
            <a:spAutoFit/>
          </a:bodyPr>
          <a:lstStyle/>
          <a:p>
            <a:pPr marL="16933">
              <a:spcBef>
                <a:spcPts val="140"/>
              </a:spcBef>
            </a:pPr>
            <a:r>
              <a:rPr sz="1400" b="1" spc="-107" dirty="0">
                <a:latin typeface="Times New Roman" panose="02020603050405020304" pitchFamily="18" charset="0"/>
                <a:cs typeface="Times New Roman" panose="02020603050405020304" pitchFamily="18" charset="0"/>
              </a:rPr>
              <a:t>5b</a:t>
            </a:r>
            <a:endParaRPr sz="1400">
              <a:latin typeface="Times New Roman" panose="02020603050405020304" pitchFamily="18" charset="0"/>
              <a:cs typeface="Times New Roman" panose="02020603050405020304" pitchFamily="18" charset="0"/>
            </a:endParaRPr>
          </a:p>
        </p:txBody>
      </p:sp>
      <p:sp>
        <p:nvSpPr>
          <p:cNvPr id="129" name="object 129"/>
          <p:cNvSpPr/>
          <p:nvPr/>
        </p:nvSpPr>
        <p:spPr>
          <a:xfrm>
            <a:off x="5385715" y="1216846"/>
            <a:ext cx="2545927" cy="342053"/>
          </a:xfrm>
          <a:custGeom>
            <a:avLst/>
            <a:gdLst/>
            <a:ahLst/>
            <a:cxnLst/>
            <a:rect l="l" t="t" r="r" b="b"/>
            <a:pathLst>
              <a:path w="1909445" h="256540">
                <a:moveTo>
                  <a:pt x="87985" y="62268"/>
                </a:moveTo>
                <a:lnTo>
                  <a:pt x="673" y="62268"/>
                </a:lnTo>
                <a:lnTo>
                  <a:pt x="673" y="66840"/>
                </a:lnTo>
                <a:lnTo>
                  <a:pt x="0" y="66840"/>
                </a:lnTo>
                <a:lnTo>
                  <a:pt x="0" y="256374"/>
                </a:lnTo>
                <a:lnTo>
                  <a:pt x="22288" y="256374"/>
                </a:lnTo>
                <a:lnTo>
                  <a:pt x="22288" y="84569"/>
                </a:lnTo>
                <a:lnTo>
                  <a:pt x="87985" y="84569"/>
                </a:lnTo>
                <a:lnTo>
                  <a:pt x="87985" y="62268"/>
                </a:lnTo>
                <a:close/>
              </a:path>
              <a:path w="1909445" h="256540">
                <a:moveTo>
                  <a:pt x="521614" y="54724"/>
                </a:moveTo>
                <a:lnTo>
                  <a:pt x="520941" y="54724"/>
                </a:lnTo>
                <a:lnTo>
                  <a:pt x="520941" y="50165"/>
                </a:lnTo>
                <a:lnTo>
                  <a:pt x="446328" y="50165"/>
                </a:lnTo>
                <a:lnTo>
                  <a:pt x="446328" y="72453"/>
                </a:lnTo>
                <a:lnTo>
                  <a:pt x="499325" y="72453"/>
                </a:lnTo>
                <a:lnTo>
                  <a:pt x="499325" y="244259"/>
                </a:lnTo>
                <a:lnTo>
                  <a:pt x="521614" y="244259"/>
                </a:lnTo>
                <a:lnTo>
                  <a:pt x="521614" y="54724"/>
                </a:lnTo>
                <a:close/>
              </a:path>
              <a:path w="1909445" h="256540">
                <a:moveTo>
                  <a:pt x="1909305" y="0"/>
                </a:moveTo>
                <a:lnTo>
                  <a:pt x="1887004" y="0"/>
                </a:lnTo>
                <a:lnTo>
                  <a:pt x="1887004" y="22301"/>
                </a:lnTo>
                <a:lnTo>
                  <a:pt x="1887004" y="158064"/>
                </a:lnTo>
                <a:lnTo>
                  <a:pt x="1541437" y="158064"/>
                </a:lnTo>
                <a:lnTo>
                  <a:pt x="1541437" y="22301"/>
                </a:lnTo>
                <a:lnTo>
                  <a:pt x="1887004" y="22301"/>
                </a:lnTo>
                <a:lnTo>
                  <a:pt x="1887004" y="0"/>
                </a:lnTo>
                <a:lnTo>
                  <a:pt x="1519148" y="0"/>
                </a:lnTo>
                <a:lnTo>
                  <a:pt x="1519148" y="180352"/>
                </a:lnTo>
                <a:lnTo>
                  <a:pt x="1909305" y="180352"/>
                </a:lnTo>
                <a:lnTo>
                  <a:pt x="1909305" y="169202"/>
                </a:lnTo>
                <a:lnTo>
                  <a:pt x="1909305" y="158064"/>
                </a:lnTo>
                <a:lnTo>
                  <a:pt x="1909305" y="22301"/>
                </a:lnTo>
                <a:lnTo>
                  <a:pt x="1909305" y="11150"/>
                </a:lnTo>
                <a:lnTo>
                  <a:pt x="1909305"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0" name="object 130"/>
          <p:cNvSpPr txBox="1"/>
          <p:nvPr/>
        </p:nvSpPr>
        <p:spPr>
          <a:xfrm>
            <a:off x="7570495" y="1192130"/>
            <a:ext cx="205740" cy="233397"/>
          </a:xfrm>
          <a:prstGeom prst="rect">
            <a:avLst/>
          </a:prstGeom>
        </p:spPr>
        <p:txBody>
          <a:bodyPr vert="horz" wrap="square" lIns="0" tIns="17780" rIns="0" bIns="0" rtlCol="0">
            <a:spAutoFit/>
          </a:bodyPr>
          <a:lstStyle/>
          <a:p>
            <a:pPr marL="16933">
              <a:spcBef>
                <a:spcPts val="140"/>
              </a:spcBef>
            </a:pPr>
            <a:r>
              <a:rPr sz="1400" b="1" spc="-107" dirty="0">
                <a:latin typeface="Times New Roman" panose="02020603050405020304" pitchFamily="18" charset="0"/>
                <a:cs typeface="Times New Roman" panose="02020603050405020304" pitchFamily="18" charset="0"/>
              </a:rPr>
              <a:t>5b</a:t>
            </a:r>
            <a:endParaRPr sz="1400">
              <a:latin typeface="Times New Roman" panose="02020603050405020304" pitchFamily="18" charset="0"/>
              <a:cs typeface="Times New Roman" panose="02020603050405020304" pitchFamily="18" charset="0"/>
            </a:endParaRPr>
          </a:p>
        </p:txBody>
      </p:sp>
      <p:grpSp>
        <p:nvGrpSpPr>
          <p:cNvPr id="131" name="object 131"/>
          <p:cNvGrpSpPr/>
          <p:nvPr/>
        </p:nvGrpSpPr>
        <p:grpSpPr>
          <a:xfrm>
            <a:off x="3038068" y="1306013"/>
            <a:ext cx="5796280" cy="2698327"/>
            <a:chOff x="2278551" y="979509"/>
            <a:chExt cx="4347210" cy="2023745"/>
          </a:xfrm>
        </p:grpSpPr>
        <p:sp>
          <p:nvSpPr>
            <p:cNvPr id="132" name="object 132"/>
            <p:cNvSpPr/>
            <p:nvPr/>
          </p:nvSpPr>
          <p:spPr>
            <a:xfrm>
              <a:off x="5484418" y="979512"/>
              <a:ext cx="982980" cy="504825"/>
            </a:xfrm>
            <a:custGeom>
              <a:avLst/>
              <a:gdLst/>
              <a:ahLst/>
              <a:cxnLst/>
              <a:rect l="l" t="t" r="r" b="b"/>
              <a:pathLst>
                <a:path w="982979" h="504825">
                  <a:moveTo>
                    <a:pt x="87985" y="12115"/>
                  </a:moveTo>
                  <a:lnTo>
                    <a:pt x="660" y="12115"/>
                  </a:lnTo>
                  <a:lnTo>
                    <a:pt x="660" y="16675"/>
                  </a:lnTo>
                  <a:lnTo>
                    <a:pt x="0" y="16675"/>
                  </a:lnTo>
                  <a:lnTo>
                    <a:pt x="0" y="206209"/>
                  </a:lnTo>
                  <a:lnTo>
                    <a:pt x="22288" y="206209"/>
                  </a:lnTo>
                  <a:lnTo>
                    <a:pt x="22288" y="34404"/>
                  </a:lnTo>
                  <a:lnTo>
                    <a:pt x="87985" y="34404"/>
                  </a:lnTo>
                  <a:lnTo>
                    <a:pt x="87985" y="12115"/>
                  </a:lnTo>
                  <a:close/>
                </a:path>
                <a:path w="982979" h="504825">
                  <a:moveTo>
                    <a:pt x="521614" y="1384"/>
                  </a:moveTo>
                  <a:lnTo>
                    <a:pt x="520941" y="1384"/>
                  </a:lnTo>
                  <a:lnTo>
                    <a:pt x="520941" y="0"/>
                  </a:lnTo>
                  <a:lnTo>
                    <a:pt x="446328" y="0"/>
                  </a:lnTo>
                  <a:lnTo>
                    <a:pt x="446328" y="22301"/>
                  </a:lnTo>
                  <a:lnTo>
                    <a:pt x="499313" y="22301"/>
                  </a:lnTo>
                  <a:lnTo>
                    <a:pt x="499313" y="227241"/>
                  </a:lnTo>
                  <a:lnTo>
                    <a:pt x="521614" y="227241"/>
                  </a:lnTo>
                  <a:lnTo>
                    <a:pt x="521614" y="1384"/>
                  </a:lnTo>
                  <a:close/>
                </a:path>
                <a:path w="982979" h="504825">
                  <a:moveTo>
                    <a:pt x="803262" y="259715"/>
                  </a:moveTo>
                  <a:lnTo>
                    <a:pt x="800735" y="253403"/>
                  </a:lnTo>
                  <a:lnTo>
                    <a:pt x="794943" y="247611"/>
                  </a:lnTo>
                  <a:lnTo>
                    <a:pt x="789673" y="242252"/>
                  </a:lnTo>
                  <a:lnTo>
                    <a:pt x="783971" y="239725"/>
                  </a:lnTo>
                  <a:lnTo>
                    <a:pt x="770940" y="239725"/>
                  </a:lnTo>
                  <a:lnTo>
                    <a:pt x="763955" y="242925"/>
                  </a:lnTo>
                  <a:lnTo>
                    <a:pt x="756450" y="249161"/>
                  </a:lnTo>
                  <a:lnTo>
                    <a:pt x="765733" y="261061"/>
                  </a:lnTo>
                  <a:lnTo>
                    <a:pt x="773176" y="254368"/>
                  </a:lnTo>
                  <a:lnTo>
                    <a:pt x="778764" y="253403"/>
                  </a:lnTo>
                  <a:lnTo>
                    <a:pt x="779259" y="253403"/>
                  </a:lnTo>
                  <a:lnTo>
                    <a:pt x="786104" y="260235"/>
                  </a:lnTo>
                  <a:lnTo>
                    <a:pt x="787069" y="262686"/>
                  </a:lnTo>
                  <a:lnTo>
                    <a:pt x="786841" y="265518"/>
                  </a:lnTo>
                  <a:lnTo>
                    <a:pt x="786701" y="268414"/>
                  </a:lnTo>
                  <a:lnTo>
                    <a:pt x="785139" y="271233"/>
                  </a:lnTo>
                  <a:lnTo>
                    <a:pt x="779411" y="276961"/>
                  </a:lnTo>
                  <a:lnTo>
                    <a:pt x="775843" y="278968"/>
                  </a:lnTo>
                  <a:lnTo>
                    <a:pt x="771537" y="280085"/>
                  </a:lnTo>
                  <a:lnTo>
                    <a:pt x="768565" y="280898"/>
                  </a:lnTo>
                  <a:lnTo>
                    <a:pt x="762101" y="281635"/>
                  </a:lnTo>
                  <a:lnTo>
                    <a:pt x="752068" y="282232"/>
                  </a:lnTo>
                  <a:lnTo>
                    <a:pt x="743242" y="282917"/>
                  </a:lnTo>
                  <a:lnTo>
                    <a:pt x="707326" y="295833"/>
                  </a:lnTo>
                  <a:lnTo>
                    <a:pt x="744639" y="333133"/>
                  </a:lnTo>
                  <a:lnTo>
                    <a:pt x="756678" y="321094"/>
                  </a:lnTo>
                  <a:lnTo>
                    <a:pt x="735495" y="299923"/>
                  </a:lnTo>
                  <a:lnTo>
                    <a:pt x="737196" y="299326"/>
                  </a:lnTo>
                  <a:lnTo>
                    <a:pt x="739140" y="298805"/>
                  </a:lnTo>
                  <a:lnTo>
                    <a:pt x="743445" y="298208"/>
                  </a:lnTo>
                  <a:lnTo>
                    <a:pt x="748131" y="297840"/>
                  </a:lnTo>
                  <a:lnTo>
                    <a:pt x="763143" y="296951"/>
                  </a:lnTo>
                  <a:lnTo>
                    <a:pt x="769162" y="296202"/>
                  </a:lnTo>
                  <a:lnTo>
                    <a:pt x="801636" y="273164"/>
                  </a:lnTo>
                  <a:lnTo>
                    <a:pt x="803198" y="260235"/>
                  </a:lnTo>
                  <a:lnTo>
                    <a:pt x="803262" y="259715"/>
                  </a:lnTo>
                  <a:close/>
                </a:path>
                <a:path w="982979" h="504825">
                  <a:moveTo>
                    <a:pt x="847191" y="299770"/>
                  </a:moveTo>
                  <a:lnTo>
                    <a:pt x="842759" y="295389"/>
                  </a:lnTo>
                  <a:lnTo>
                    <a:pt x="838568" y="291223"/>
                  </a:lnTo>
                  <a:lnTo>
                    <a:pt x="833361" y="293979"/>
                  </a:lnTo>
                  <a:lnTo>
                    <a:pt x="827570" y="295389"/>
                  </a:lnTo>
                  <a:lnTo>
                    <a:pt x="821321" y="295236"/>
                  </a:lnTo>
                  <a:lnTo>
                    <a:pt x="815517" y="295236"/>
                  </a:lnTo>
                  <a:lnTo>
                    <a:pt x="809879" y="294271"/>
                  </a:lnTo>
                  <a:lnTo>
                    <a:pt x="805726" y="292493"/>
                  </a:lnTo>
                  <a:lnTo>
                    <a:pt x="793902" y="304304"/>
                  </a:lnTo>
                  <a:lnTo>
                    <a:pt x="801192" y="307428"/>
                  </a:lnTo>
                  <a:lnTo>
                    <a:pt x="809066" y="308686"/>
                  </a:lnTo>
                  <a:lnTo>
                    <a:pt x="817537" y="308241"/>
                  </a:lnTo>
                  <a:lnTo>
                    <a:pt x="768642" y="357136"/>
                  </a:lnTo>
                  <a:lnTo>
                    <a:pt x="779259" y="367766"/>
                  </a:lnTo>
                  <a:lnTo>
                    <a:pt x="838720" y="308241"/>
                  </a:lnTo>
                  <a:lnTo>
                    <a:pt x="847191" y="299770"/>
                  </a:lnTo>
                  <a:close/>
                </a:path>
                <a:path w="982979" h="504825">
                  <a:moveTo>
                    <a:pt x="909688" y="362788"/>
                  </a:moveTo>
                  <a:lnTo>
                    <a:pt x="905916" y="359003"/>
                  </a:lnTo>
                  <a:lnTo>
                    <a:pt x="896759" y="349783"/>
                  </a:lnTo>
                  <a:lnTo>
                    <a:pt x="865390" y="359003"/>
                  </a:lnTo>
                  <a:lnTo>
                    <a:pt x="874687" y="327787"/>
                  </a:lnTo>
                  <a:lnTo>
                    <a:pt x="861606" y="314629"/>
                  </a:lnTo>
                  <a:lnTo>
                    <a:pt x="846518" y="364566"/>
                  </a:lnTo>
                  <a:lnTo>
                    <a:pt x="792124" y="380619"/>
                  </a:lnTo>
                  <a:lnTo>
                    <a:pt x="805573" y="394068"/>
                  </a:lnTo>
                  <a:lnTo>
                    <a:pt x="840867" y="383451"/>
                  </a:lnTo>
                  <a:lnTo>
                    <a:pt x="830465" y="417995"/>
                  </a:lnTo>
                  <a:lnTo>
                    <a:pt x="830313" y="418820"/>
                  </a:lnTo>
                  <a:lnTo>
                    <a:pt x="843775" y="432269"/>
                  </a:lnTo>
                  <a:lnTo>
                    <a:pt x="858202" y="383451"/>
                  </a:lnTo>
                  <a:lnTo>
                    <a:pt x="859891" y="377723"/>
                  </a:lnTo>
                  <a:lnTo>
                    <a:pt x="909688" y="362788"/>
                  </a:lnTo>
                  <a:close/>
                </a:path>
                <a:path w="982979" h="504825">
                  <a:moveTo>
                    <a:pt x="941197" y="397637"/>
                  </a:moveTo>
                  <a:lnTo>
                    <a:pt x="938745" y="391325"/>
                  </a:lnTo>
                  <a:lnTo>
                    <a:pt x="932878" y="385521"/>
                  </a:lnTo>
                  <a:lnTo>
                    <a:pt x="927595" y="380250"/>
                  </a:lnTo>
                  <a:lnTo>
                    <a:pt x="922058" y="377723"/>
                  </a:lnTo>
                  <a:lnTo>
                    <a:pt x="908875" y="377723"/>
                  </a:lnTo>
                  <a:lnTo>
                    <a:pt x="901877" y="380847"/>
                  </a:lnTo>
                  <a:lnTo>
                    <a:pt x="894372" y="387083"/>
                  </a:lnTo>
                  <a:lnTo>
                    <a:pt x="903668" y="398970"/>
                  </a:lnTo>
                  <a:lnTo>
                    <a:pt x="911098" y="392290"/>
                  </a:lnTo>
                  <a:lnTo>
                    <a:pt x="917117" y="391325"/>
                  </a:lnTo>
                  <a:lnTo>
                    <a:pt x="921880" y="395998"/>
                  </a:lnTo>
                  <a:lnTo>
                    <a:pt x="924026" y="398157"/>
                  </a:lnTo>
                  <a:lnTo>
                    <a:pt x="924991" y="400685"/>
                  </a:lnTo>
                  <a:lnTo>
                    <a:pt x="924852" y="403504"/>
                  </a:lnTo>
                  <a:lnTo>
                    <a:pt x="924623" y="406336"/>
                  </a:lnTo>
                  <a:lnTo>
                    <a:pt x="923061" y="409232"/>
                  </a:lnTo>
                  <a:lnTo>
                    <a:pt x="920089" y="412127"/>
                  </a:lnTo>
                  <a:lnTo>
                    <a:pt x="917346" y="414947"/>
                  </a:lnTo>
                  <a:lnTo>
                    <a:pt x="913777" y="416890"/>
                  </a:lnTo>
                  <a:lnTo>
                    <a:pt x="909459" y="417995"/>
                  </a:lnTo>
                  <a:lnTo>
                    <a:pt x="906487" y="418820"/>
                  </a:lnTo>
                  <a:lnTo>
                    <a:pt x="900023" y="419557"/>
                  </a:lnTo>
                  <a:lnTo>
                    <a:pt x="889990" y="420154"/>
                  </a:lnTo>
                  <a:lnTo>
                    <a:pt x="881176" y="420878"/>
                  </a:lnTo>
                  <a:lnTo>
                    <a:pt x="845261" y="433755"/>
                  </a:lnTo>
                  <a:lnTo>
                    <a:pt x="882561" y="471055"/>
                  </a:lnTo>
                  <a:lnTo>
                    <a:pt x="894600" y="459016"/>
                  </a:lnTo>
                  <a:lnTo>
                    <a:pt x="873417" y="437845"/>
                  </a:lnTo>
                  <a:lnTo>
                    <a:pt x="875207" y="437248"/>
                  </a:lnTo>
                  <a:lnTo>
                    <a:pt x="877138" y="436727"/>
                  </a:lnTo>
                  <a:lnTo>
                    <a:pt x="881367" y="436130"/>
                  </a:lnTo>
                  <a:lnTo>
                    <a:pt x="886053" y="435762"/>
                  </a:lnTo>
                  <a:lnTo>
                    <a:pt x="901141" y="434873"/>
                  </a:lnTo>
                  <a:lnTo>
                    <a:pt x="907084" y="434124"/>
                  </a:lnTo>
                  <a:lnTo>
                    <a:pt x="939558" y="411086"/>
                  </a:lnTo>
                  <a:lnTo>
                    <a:pt x="941031" y="398970"/>
                  </a:lnTo>
                  <a:lnTo>
                    <a:pt x="941133" y="398157"/>
                  </a:lnTo>
                  <a:lnTo>
                    <a:pt x="941197" y="397637"/>
                  </a:lnTo>
                  <a:close/>
                </a:path>
                <a:path w="982979" h="504825">
                  <a:moveTo>
                    <a:pt x="982929" y="440385"/>
                  </a:moveTo>
                  <a:lnTo>
                    <a:pt x="982116" y="437248"/>
                  </a:lnTo>
                  <a:lnTo>
                    <a:pt x="982014" y="436880"/>
                  </a:lnTo>
                  <a:lnTo>
                    <a:pt x="981316" y="434124"/>
                  </a:lnTo>
                  <a:lnTo>
                    <a:pt x="981252" y="433908"/>
                  </a:lnTo>
                  <a:lnTo>
                    <a:pt x="975906" y="428472"/>
                  </a:lnTo>
                  <a:lnTo>
                    <a:pt x="970546" y="423125"/>
                  </a:lnTo>
                  <a:lnTo>
                    <a:pt x="967574" y="422363"/>
                  </a:lnTo>
                  <a:lnTo>
                    <a:pt x="967574" y="444449"/>
                  </a:lnTo>
                  <a:lnTo>
                    <a:pt x="966012" y="448462"/>
                  </a:lnTo>
                  <a:lnTo>
                    <a:pt x="935151" y="482155"/>
                  </a:lnTo>
                  <a:lnTo>
                    <a:pt x="922769" y="489267"/>
                  </a:lnTo>
                  <a:lnTo>
                    <a:pt x="919721" y="488962"/>
                  </a:lnTo>
                  <a:lnTo>
                    <a:pt x="917562" y="486879"/>
                  </a:lnTo>
                  <a:lnTo>
                    <a:pt x="915479" y="484733"/>
                  </a:lnTo>
                  <a:lnTo>
                    <a:pt x="915238" y="482155"/>
                  </a:lnTo>
                  <a:lnTo>
                    <a:pt x="915187" y="481685"/>
                  </a:lnTo>
                  <a:lnTo>
                    <a:pt x="941578" y="449287"/>
                  </a:lnTo>
                  <a:lnTo>
                    <a:pt x="959993" y="436880"/>
                  </a:lnTo>
                  <a:lnTo>
                    <a:pt x="963803" y="437248"/>
                  </a:lnTo>
                  <a:lnTo>
                    <a:pt x="963117" y="437248"/>
                  </a:lnTo>
                  <a:lnTo>
                    <a:pt x="967282" y="441413"/>
                  </a:lnTo>
                  <a:lnTo>
                    <a:pt x="967536" y="444004"/>
                  </a:lnTo>
                  <a:lnTo>
                    <a:pt x="967574" y="444449"/>
                  </a:lnTo>
                  <a:lnTo>
                    <a:pt x="967574" y="422363"/>
                  </a:lnTo>
                  <a:lnTo>
                    <a:pt x="923429" y="444906"/>
                  </a:lnTo>
                  <a:lnTo>
                    <a:pt x="903859" y="470014"/>
                  </a:lnTo>
                  <a:lnTo>
                    <a:pt x="903744" y="470204"/>
                  </a:lnTo>
                  <a:lnTo>
                    <a:pt x="901369" y="476923"/>
                  </a:lnTo>
                  <a:lnTo>
                    <a:pt x="899769" y="484733"/>
                  </a:lnTo>
                  <a:lnTo>
                    <a:pt x="899769" y="485787"/>
                  </a:lnTo>
                  <a:lnTo>
                    <a:pt x="901433" y="492239"/>
                  </a:lnTo>
                  <a:lnTo>
                    <a:pt x="912215" y="503008"/>
                  </a:lnTo>
                  <a:lnTo>
                    <a:pt x="919124" y="504799"/>
                  </a:lnTo>
                  <a:lnTo>
                    <a:pt x="927188" y="503008"/>
                  </a:lnTo>
                  <a:lnTo>
                    <a:pt x="934275" y="500570"/>
                  </a:lnTo>
                  <a:lnTo>
                    <a:pt x="941844" y="496138"/>
                  </a:lnTo>
                  <a:lnTo>
                    <a:pt x="950226" y="489648"/>
                  </a:lnTo>
                  <a:lnTo>
                    <a:pt x="950633" y="489267"/>
                  </a:lnTo>
                  <a:lnTo>
                    <a:pt x="959408" y="481088"/>
                  </a:lnTo>
                  <a:lnTo>
                    <a:pt x="981252" y="449287"/>
                  </a:lnTo>
                  <a:lnTo>
                    <a:pt x="982916" y="441413"/>
                  </a:lnTo>
                  <a:lnTo>
                    <a:pt x="982929" y="440385"/>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133" name="object 133"/>
            <p:cNvPicPr/>
            <p:nvPr/>
          </p:nvPicPr>
          <p:blipFill>
            <a:blip r:embed="rId12" cstate="print"/>
            <a:stretch>
              <a:fillRect/>
            </a:stretch>
          </p:blipFill>
          <p:spPr>
            <a:xfrm>
              <a:off x="6400429" y="1453759"/>
              <a:ext cx="224877" cy="168684"/>
            </a:xfrm>
            <a:prstGeom prst="rect">
              <a:avLst/>
            </a:prstGeom>
          </p:spPr>
        </p:pic>
        <p:sp>
          <p:nvSpPr>
            <p:cNvPr id="134" name="object 134"/>
            <p:cNvSpPr/>
            <p:nvPr/>
          </p:nvSpPr>
          <p:spPr>
            <a:xfrm>
              <a:off x="2451475" y="2829840"/>
              <a:ext cx="0" cy="41910"/>
            </a:xfrm>
            <a:custGeom>
              <a:avLst/>
              <a:gdLst/>
              <a:ahLst/>
              <a:cxnLst/>
              <a:rect l="l" t="t" r="r" b="b"/>
              <a:pathLst>
                <a:path h="41910">
                  <a:moveTo>
                    <a:pt x="0" y="41762"/>
                  </a:moveTo>
                  <a:lnTo>
                    <a:pt x="0" y="0"/>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5" name="object 135"/>
            <p:cNvSpPr/>
            <p:nvPr/>
          </p:nvSpPr>
          <p:spPr>
            <a:xfrm>
              <a:off x="2367871" y="2871603"/>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6" name="object 136"/>
            <p:cNvSpPr/>
            <p:nvPr/>
          </p:nvSpPr>
          <p:spPr>
            <a:xfrm>
              <a:off x="2341414" y="2871603"/>
              <a:ext cx="11430" cy="83820"/>
            </a:xfrm>
            <a:custGeom>
              <a:avLst/>
              <a:gdLst/>
              <a:ahLst/>
              <a:cxnLst/>
              <a:rect l="l" t="t" r="r" b="b"/>
              <a:pathLst>
                <a:path w="11430" h="83819">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7" name="object 137"/>
            <p:cNvSpPr/>
            <p:nvPr/>
          </p:nvSpPr>
          <p:spPr>
            <a:xfrm>
              <a:off x="2367871" y="2955202"/>
              <a:ext cx="83820" cy="0"/>
            </a:xfrm>
            <a:custGeom>
              <a:avLst/>
              <a:gdLst/>
              <a:ahLst/>
              <a:cxnLst/>
              <a:rect l="l" t="t" r="r" b="b"/>
              <a:pathLst>
                <a:path w="83819">
                  <a:moveTo>
                    <a:pt x="83604"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8" name="object 138"/>
            <p:cNvSpPr/>
            <p:nvPr/>
          </p:nvSpPr>
          <p:spPr>
            <a:xfrm>
              <a:off x="2362297" y="2850684"/>
              <a:ext cx="11430" cy="125730"/>
            </a:xfrm>
            <a:custGeom>
              <a:avLst/>
              <a:gdLst/>
              <a:ahLst/>
              <a:cxnLst/>
              <a:rect l="l" t="t" r="r" b="b"/>
              <a:pathLst>
                <a:path w="11430" h="125730">
                  <a:moveTo>
                    <a:pt x="11147" y="0"/>
                  </a:moveTo>
                  <a:lnTo>
                    <a:pt x="0" y="0"/>
                  </a:lnTo>
                  <a:lnTo>
                    <a:pt x="0" y="125398"/>
                  </a:lnTo>
                  <a:lnTo>
                    <a:pt x="11147" y="125398"/>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39" name="object 139"/>
            <p:cNvSpPr/>
            <p:nvPr/>
          </p:nvSpPr>
          <p:spPr>
            <a:xfrm>
              <a:off x="2284266" y="2913440"/>
              <a:ext cx="62865" cy="0"/>
            </a:xfrm>
            <a:custGeom>
              <a:avLst/>
              <a:gdLst/>
              <a:ahLst/>
              <a:cxnLst/>
              <a:rect l="l" t="t" r="r" b="b"/>
              <a:pathLst>
                <a:path w="62864">
                  <a:moveTo>
                    <a:pt x="62721"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0" name="object 140"/>
            <p:cNvSpPr/>
            <p:nvPr/>
          </p:nvSpPr>
          <p:spPr>
            <a:xfrm>
              <a:off x="2451475" y="2955202"/>
              <a:ext cx="0" cy="41910"/>
            </a:xfrm>
            <a:custGeom>
              <a:avLst/>
              <a:gdLst/>
              <a:ahLst/>
              <a:cxnLst/>
              <a:rect l="l" t="t" r="r" b="b"/>
              <a:pathLst>
                <a:path h="41910">
                  <a:moveTo>
                    <a:pt x="0" y="0"/>
                  </a:moveTo>
                  <a:lnTo>
                    <a:pt x="0" y="41836"/>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1" name="object 141"/>
            <p:cNvSpPr/>
            <p:nvPr/>
          </p:nvSpPr>
          <p:spPr>
            <a:xfrm>
              <a:off x="2430667" y="2871603"/>
              <a:ext cx="20955" cy="0"/>
            </a:xfrm>
            <a:custGeom>
              <a:avLst/>
              <a:gdLst/>
              <a:ahLst/>
              <a:cxnLst/>
              <a:rect l="l" t="t" r="r" b="b"/>
              <a:pathLst>
                <a:path w="20955">
                  <a:moveTo>
                    <a:pt x="20808"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2" name="object 142"/>
            <p:cNvSpPr/>
            <p:nvPr/>
          </p:nvSpPr>
          <p:spPr>
            <a:xfrm>
              <a:off x="2363263" y="2847080"/>
              <a:ext cx="73660" cy="49530"/>
            </a:xfrm>
            <a:custGeom>
              <a:avLst/>
              <a:gdLst/>
              <a:ahLst/>
              <a:cxnLst/>
              <a:rect l="l" t="t" r="r" b="b"/>
              <a:pathLst>
                <a:path w="73660" h="49530">
                  <a:moveTo>
                    <a:pt x="73571" y="0"/>
                  </a:moveTo>
                  <a:lnTo>
                    <a:pt x="0" y="24522"/>
                  </a:lnTo>
                  <a:lnTo>
                    <a:pt x="73571" y="49044"/>
                  </a:lnTo>
                  <a:lnTo>
                    <a:pt x="7357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3" name="object 143"/>
            <p:cNvSpPr/>
            <p:nvPr/>
          </p:nvSpPr>
          <p:spPr>
            <a:xfrm>
              <a:off x="2310425" y="2897760"/>
              <a:ext cx="31750" cy="31750"/>
            </a:xfrm>
            <a:custGeom>
              <a:avLst/>
              <a:gdLst/>
              <a:ahLst/>
              <a:cxnLst/>
              <a:rect l="l" t="t" r="r" b="b"/>
              <a:pathLst>
                <a:path w="31750" h="31750">
                  <a:moveTo>
                    <a:pt x="24301" y="0"/>
                  </a:moveTo>
                  <a:lnTo>
                    <a:pt x="6985" y="0"/>
                  </a:lnTo>
                  <a:lnTo>
                    <a:pt x="0" y="6985"/>
                  </a:lnTo>
                  <a:lnTo>
                    <a:pt x="0" y="24299"/>
                  </a:lnTo>
                  <a:lnTo>
                    <a:pt x="6985" y="31359"/>
                  </a:lnTo>
                  <a:lnTo>
                    <a:pt x="24301" y="31359"/>
                  </a:lnTo>
                  <a:lnTo>
                    <a:pt x="31360" y="24299"/>
                  </a:lnTo>
                  <a:lnTo>
                    <a:pt x="31360" y="15679"/>
                  </a:lnTo>
                  <a:lnTo>
                    <a:pt x="31360" y="6985"/>
                  </a:lnTo>
                  <a:lnTo>
                    <a:pt x="24301"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4" name="object 144"/>
            <p:cNvSpPr/>
            <p:nvPr/>
          </p:nvSpPr>
          <p:spPr>
            <a:xfrm>
              <a:off x="2310425" y="2897760"/>
              <a:ext cx="31750" cy="31750"/>
            </a:xfrm>
            <a:custGeom>
              <a:avLst/>
              <a:gdLst/>
              <a:ahLst/>
              <a:cxnLst/>
              <a:rect l="l" t="t" r="r" b="b"/>
              <a:pathLst>
                <a:path w="31750" h="31750">
                  <a:moveTo>
                    <a:pt x="31360" y="15679"/>
                  </a:moveTo>
                  <a:lnTo>
                    <a:pt x="31360" y="6985"/>
                  </a:lnTo>
                  <a:lnTo>
                    <a:pt x="24301" y="0"/>
                  </a:lnTo>
                  <a:lnTo>
                    <a:pt x="15680" y="0"/>
                  </a:lnTo>
                  <a:lnTo>
                    <a:pt x="6985" y="0"/>
                  </a:lnTo>
                  <a:lnTo>
                    <a:pt x="0" y="6985"/>
                  </a:lnTo>
                  <a:lnTo>
                    <a:pt x="0" y="15679"/>
                  </a:lnTo>
                  <a:lnTo>
                    <a:pt x="0" y="24299"/>
                  </a:lnTo>
                  <a:lnTo>
                    <a:pt x="6985" y="31359"/>
                  </a:lnTo>
                  <a:lnTo>
                    <a:pt x="15680" y="31359"/>
                  </a:lnTo>
                  <a:lnTo>
                    <a:pt x="24301" y="31359"/>
                  </a:lnTo>
                  <a:lnTo>
                    <a:pt x="31360" y="24299"/>
                  </a:lnTo>
                  <a:lnTo>
                    <a:pt x="31360" y="15679"/>
                  </a:lnTo>
                  <a:close/>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5" name="object 145"/>
            <p:cNvSpPr/>
            <p:nvPr/>
          </p:nvSpPr>
          <p:spPr>
            <a:xfrm>
              <a:off x="2693965" y="2483628"/>
              <a:ext cx="160020" cy="37465"/>
            </a:xfrm>
            <a:custGeom>
              <a:avLst/>
              <a:gdLst/>
              <a:ahLst/>
              <a:cxnLst/>
              <a:rect l="l" t="t" r="r" b="b"/>
              <a:pathLst>
                <a:path w="160019" h="37464">
                  <a:moveTo>
                    <a:pt x="159777" y="0"/>
                  </a:moveTo>
                  <a:lnTo>
                    <a:pt x="0" y="0"/>
                  </a:lnTo>
                  <a:lnTo>
                    <a:pt x="0" y="37155"/>
                  </a:lnTo>
                  <a:lnTo>
                    <a:pt x="159777" y="37155"/>
                  </a:lnTo>
                  <a:lnTo>
                    <a:pt x="15977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6" name="object 146"/>
            <p:cNvSpPr/>
            <p:nvPr/>
          </p:nvSpPr>
          <p:spPr>
            <a:xfrm>
              <a:off x="2773036" y="2498193"/>
              <a:ext cx="0" cy="161925"/>
            </a:xfrm>
            <a:custGeom>
              <a:avLst/>
              <a:gdLst/>
              <a:ahLst/>
              <a:cxnLst/>
              <a:rect l="l" t="t" r="r" b="b"/>
              <a:pathLst>
                <a:path h="161925">
                  <a:moveTo>
                    <a:pt x="0" y="0"/>
                  </a:moveTo>
                  <a:lnTo>
                    <a:pt x="0" y="161699"/>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7" name="object 147"/>
            <p:cNvSpPr/>
            <p:nvPr/>
          </p:nvSpPr>
          <p:spPr>
            <a:xfrm>
              <a:off x="2451475" y="2665911"/>
              <a:ext cx="0" cy="41910"/>
            </a:xfrm>
            <a:custGeom>
              <a:avLst/>
              <a:gdLst/>
              <a:ahLst/>
              <a:cxnLst/>
              <a:rect l="l" t="t" r="r" b="b"/>
              <a:pathLst>
                <a:path h="41910">
                  <a:moveTo>
                    <a:pt x="0" y="41762"/>
                  </a:moveTo>
                  <a:lnTo>
                    <a:pt x="0" y="0"/>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8" name="object 148"/>
            <p:cNvSpPr/>
            <p:nvPr/>
          </p:nvSpPr>
          <p:spPr>
            <a:xfrm>
              <a:off x="2367871" y="2707674"/>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49" name="object 149"/>
            <p:cNvSpPr/>
            <p:nvPr/>
          </p:nvSpPr>
          <p:spPr>
            <a:xfrm>
              <a:off x="2341414" y="2707674"/>
              <a:ext cx="11430" cy="83820"/>
            </a:xfrm>
            <a:custGeom>
              <a:avLst/>
              <a:gdLst/>
              <a:ahLst/>
              <a:cxnLst/>
              <a:rect l="l" t="t" r="r" b="b"/>
              <a:pathLst>
                <a:path w="11430" h="83819">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0" name="object 150"/>
            <p:cNvSpPr/>
            <p:nvPr/>
          </p:nvSpPr>
          <p:spPr>
            <a:xfrm>
              <a:off x="2367871" y="2791273"/>
              <a:ext cx="83820" cy="0"/>
            </a:xfrm>
            <a:custGeom>
              <a:avLst/>
              <a:gdLst/>
              <a:ahLst/>
              <a:cxnLst/>
              <a:rect l="l" t="t" r="r" b="b"/>
              <a:pathLst>
                <a:path w="83819">
                  <a:moveTo>
                    <a:pt x="83604"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1" name="object 151"/>
            <p:cNvSpPr/>
            <p:nvPr/>
          </p:nvSpPr>
          <p:spPr>
            <a:xfrm>
              <a:off x="2362297" y="2686830"/>
              <a:ext cx="11430" cy="125730"/>
            </a:xfrm>
            <a:custGeom>
              <a:avLst/>
              <a:gdLst/>
              <a:ahLst/>
              <a:cxnLst/>
              <a:rect l="l" t="t" r="r" b="b"/>
              <a:pathLst>
                <a:path w="11430" h="125730">
                  <a:moveTo>
                    <a:pt x="11147" y="0"/>
                  </a:moveTo>
                  <a:lnTo>
                    <a:pt x="0" y="0"/>
                  </a:lnTo>
                  <a:lnTo>
                    <a:pt x="0" y="125398"/>
                  </a:lnTo>
                  <a:lnTo>
                    <a:pt x="11147" y="125398"/>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2" name="object 152"/>
            <p:cNvSpPr/>
            <p:nvPr/>
          </p:nvSpPr>
          <p:spPr>
            <a:xfrm>
              <a:off x="2284266" y="2749511"/>
              <a:ext cx="62865" cy="0"/>
            </a:xfrm>
            <a:custGeom>
              <a:avLst/>
              <a:gdLst/>
              <a:ahLst/>
              <a:cxnLst/>
              <a:rect l="l" t="t" r="r" b="b"/>
              <a:pathLst>
                <a:path w="62864">
                  <a:moveTo>
                    <a:pt x="62721"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3" name="object 153"/>
            <p:cNvSpPr/>
            <p:nvPr/>
          </p:nvSpPr>
          <p:spPr>
            <a:xfrm>
              <a:off x="2451475" y="2791273"/>
              <a:ext cx="0" cy="41910"/>
            </a:xfrm>
            <a:custGeom>
              <a:avLst/>
              <a:gdLst/>
              <a:ahLst/>
              <a:cxnLst/>
              <a:rect l="l" t="t" r="r" b="b"/>
              <a:pathLst>
                <a:path h="41910">
                  <a:moveTo>
                    <a:pt x="0" y="0"/>
                  </a:moveTo>
                  <a:lnTo>
                    <a:pt x="0" y="41836"/>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4" name="object 154"/>
            <p:cNvSpPr/>
            <p:nvPr/>
          </p:nvSpPr>
          <p:spPr>
            <a:xfrm>
              <a:off x="2430667" y="2707674"/>
              <a:ext cx="20955" cy="0"/>
            </a:xfrm>
            <a:custGeom>
              <a:avLst/>
              <a:gdLst/>
              <a:ahLst/>
              <a:cxnLst/>
              <a:rect l="l" t="t" r="r" b="b"/>
              <a:pathLst>
                <a:path w="20955">
                  <a:moveTo>
                    <a:pt x="20808"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5" name="object 155"/>
            <p:cNvSpPr/>
            <p:nvPr/>
          </p:nvSpPr>
          <p:spPr>
            <a:xfrm>
              <a:off x="2363263" y="2683151"/>
              <a:ext cx="73660" cy="49530"/>
            </a:xfrm>
            <a:custGeom>
              <a:avLst/>
              <a:gdLst/>
              <a:ahLst/>
              <a:cxnLst/>
              <a:rect l="l" t="t" r="r" b="b"/>
              <a:pathLst>
                <a:path w="73660" h="49530">
                  <a:moveTo>
                    <a:pt x="73571" y="0"/>
                  </a:moveTo>
                  <a:lnTo>
                    <a:pt x="0" y="24522"/>
                  </a:lnTo>
                  <a:lnTo>
                    <a:pt x="73571" y="49044"/>
                  </a:lnTo>
                  <a:lnTo>
                    <a:pt x="7357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6" name="object 156"/>
            <p:cNvSpPr/>
            <p:nvPr/>
          </p:nvSpPr>
          <p:spPr>
            <a:xfrm>
              <a:off x="2310425" y="2733831"/>
              <a:ext cx="31750" cy="31750"/>
            </a:xfrm>
            <a:custGeom>
              <a:avLst/>
              <a:gdLst/>
              <a:ahLst/>
              <a:cxnLst/>
              <a:rect l="l" t="t" r="r" b="b"/>
              <a:pathLst>
                <a:path w="31750" h="31750">
                  <a:moveTo>
                    <a:pt x="24301" y="0"/>
                  </a:moveTo>
                  <a:lnTo>
                    <a:pt x="6985" y="0"/>
                  </a:lnTo>
                  <a:lnTo>
                    <a:pt x="0" y="6985"/>
                  </a:lnTo>
                  <a:lnTo>
                    <a:pt x="0" y="24299"/>
                  </a:lnTo>
                  <a:lnTo>
                    <a:pt x="6985" y="31359"/>
                  </a:lnTo>
                  <a:lnTo>
                    <a:pt x="24301" y="31359"/>
                  </a:lnTo>
                  <a:lnTo>
                    <a:pt x="31360" y="24299"/>
                  </a:lnTo>
                  <a:lnTo>
                    <a:pt x="31360" y="15679"/>
                  </a:lnTo>
                  <a:lnTo>
                    <a:pt x="31360" y="6985"/>
                  </a:lnTo>
                  <a:lnTo>
                    <a:pt x="24301" y="0"/>
                  </a:lnTo>
                  <a:close/>
                </a:path>
              </a:pathLst>
            </a:custGeom>
            <a:solidFill>
              <a:srgbClr val="FFFFFF"/>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57" name="object 157"/>
            <p:cNvSpPr/>
            <p:nvPr/>
          </p:nvSpPr>
          <p:spPr>
            <a:xfrm>
              <a:off x="2310425" y="2733831"/>
              <a:ext cx="31750" cy="31750"/>
            </a:xfrm>
            <a:custGeom>
              <a:avLst/>
              <a:gdLst/>
              <a:ahLst/>
              <a:cxnLst/>
              <a:rect l="l" t="t" r="r" b="b"/>
              <a:pathLst>
                <a:path w="31750" h="31750">
                  <a:moveTo>
                    <a:pt x="31360" y="15679"/>
                  </a:moveTo>
                  <a:lnTo>
                    <a:pt x="31360" y="6985"/>
                  </a:lnTo>
                  <a:lnTo>
                    <a:pt x="24301" y="0"/>
                  </a:lnTo>
                  <a:lnTo>
                    <a:pt x="15680" y="0"/>
                  </a:lnTo>
                  <a:lnTo>
                    <a:pt x="6985" y="0"/>
                  </a:lnTo>
                  <a:lnTo>
                    <a:pt x="0" y="6985"/>
                  </a:lnTo>
                  <a:lnTo>
                    <a:pt x="0" y="15679"/>
                  </a:lnTo>
                  <a:lnTo>
                    <a:pt x="0" y="24299"/>
                  </a:lnTo>
                  <a:lnTo>
                    <a:pt x="6985" y="31359"/>
                  </a:lnTo>
                  <a:lnTo>
                    <a:pt x="15680" y="31359"/>
                  </a:lnTo>
                  <a:lnTo>
                    <a:pt x="24301" y="31359"/>
                  </a:lnTo>
                  <a:lnTo>
                    <a:pt x="31360" y="24299"/>
                  </a:lnTo>
                  <a:lnTo>
                    <a:pt x="31360" y="15679"/>
                  </a:lnTo>
                  <a:close/>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pic>
          <p:nvPicPr>
            <p:cNvPr id="158" name="object 158"/>
            <p:cNvPicPr/>
            <p:nvPr/>
          </p:nvPicPr>
          <p:blipFill>
            <a:blip r:embed="rId13" cstate="print"/>
            <a:stretch>
              <a:fillRect/>
            </a:stretch>
          </p:blipFill>
          <p:spPr>
            <a:xfrm>
              <a:off x="2496361" y="2829840"/>
              <a:ext cx="172782" cy="167198"/>
            </a:xfrm>
            <a:prstGeom prst="rect">
              <a:avLst/>
            </a:prstGeom>
          </p:spPr>
        </p:pic>
        <p:pic>
          <p:nvPicPr>
            <p:cNvPr id="159" name="object 159"/>
            <p:cNvPicPr/>
            <p:nvPr/>
          </p:nvPicPr>
          <p:blipFill>
            <a:blip r:embed="rId13" cstate="print"/>
            <a:stretch>
              <a:fillRect/>
            </a:stretch>
          </p:blipFill>
          <p:spPr>
            <a:xfrm>
              <a:off x="2708457" y="2829840"/>
              <a:ext cx="172782" cy="167198"/>
            </a:xfrm>
            <a:prstGeom prst="rect">
              <a:avLst/>
            </a:prstGeom>
          </p:spPr>
        </p:pic>
        <p:pic>
          <p:nvPicPr>
            <p:cNvPr id="160" name="object 160"/>
            <p:cNvPicPr/>
            <p:nvPr/>
          </p:nvPicPr>
          <p:blipFill>
            <a:blip r:embed="rId14" cstate="print"/>
            <a:stretch>
              <a:fillRect/>
            </a:stretch>
          </p:blipFill>
          <p:spPr>
            <a:xfrm>
              <a:off x="2920552" y="2829840"/>
              <a:ext cx="172782" cy="167198"/>
            </a:xfrm>
            <a:prstGeom prst="rect">
              <a:avLst/>
            </a:prstGeom>
          </p:spPr>
        </p:pic>
        <p:sp>
          <p:nvSpPr>
            <p:cNvPr id="161" name="object 161"/>
            <p:cNvSpPr/>
            <p:nvPr/>
          </p:nvSpPr>
          <p:spPr>
            <a:xfrm>
              <a:off x="2451475" y="2665911"/>
              <a:ext cx="636905" cy="331470"/>
            </a:xfrm>
            <a:custGeom>
              <a:avLst/>
              <a:gdLst/>
              <a:ahLst/>
              <a:cxnLst/>
              <a:rect l="l" t="t" r="r" b="b"/>
              <a:pathLst>
                <a:path w="636905" h="331469">
                  <a:moveTo>
                    <a:pt x="636285" y="331127"/>
                  </a:moveTo>
                  <a:lnTo>
                    <a:pt x="0" y="331127"/>
                  </a:lnTo>
                </a:path>
                <a:path w="636905" h="331469">
                  <a:moveTo>
                    <a:pt x="0" y="0"/>
                  </a:moveTo>
                  <a:lnTo>
                    <a:pt x="636136"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62" name="object 162"/>
            <p:cNvSpPr/>
            <p:nvPr/>
          </p:nvSpPr>
          <p:spPr>
            <a:xfrm>
              <a:off x="2284266" y="2665911"/>
              <a:ext cx="803910" cy="247650"/>
            </a:xfrm>
            <a:custGeom>
              <a:avLst/>
              <a:gdLst/>
              <a:ahLst/>
              <a:cxnLst/>
              <a:rect l="l" t="t" r="r" b="b"/>
              <a:pathLst>
                <a:path w="803910" h="247650">
                  <a:moveTo>
                    <a:pt x="803494" y="168090"/>
                  </a:moveTo>
                  <a:lnTo>
                    <a:pt x="803494" y="891"/>
                  </a:lnTo>
                </a:path>
                <a:path w="803910" h="247650">
                  <a:moveTo>
                    <a:pt x="0" y="83599"/>
                  </a:moveTo>
                  <a:lnTo>
                    <a:pt x="0" y="247528"/>
                  </a:lnTo>
                </a:path>
                <a:path w="803910" h="247650">
                  <a:moveTo>
                    <a:pt x="379304" y="163928"/>
                  </a:moveTo>
                  <a:lnTo>
                    <a:pt x="379304" y="0"/>
                  </a:lnTo>
                </a:path>
                <a:path w="803910" h="247650">
                  <a:moveTo>
                    <a:pt x="591399" y="163928"/>
                  </a:moveTo>
                  <a:lnTo>
                    <a:pt x="591399"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163" name="object 163"/>
          <p:cNvSpPr txBox="1"/>
          <p:nvPr/>
        </p:nvSpPr>
        <p:spPr>
          <a:xfrm>
            <a:off x="7351514" y="1778984"/>
            <a:ext cx="708660" cy="233397"/>
          </a:xfrm>
          <a:prstGeom prst="rect">
            <a:avLst/>
          </a:prstGeom>
        </p:spPr>
        <p:txBody>
          <a:bodyPr vert="horz" wrap="square" lIns="0" tIns="17780" rIns="0" bIns="0" rtlCol="0">
            <a:spAutoFit/>
          </a:bodyPr>
          <a:lstStyle/>
          <a:p>
            <a:pPr marL="16933">
              <a:spcBef>
                <a:spcPts val="140"/>
              </a:spcBef>
            </a:pPr>
            <a:r>
              <a:rPr sz="1400" b="1" spc="-127" dirty="0">
                <a:latin typeface="Times New Roman" panose="02020603050405020304" pitchFamily="18" charset="0"/>
                <a:cs typeface="Times New Roman" panose="02020603050405020304" pitchFamily="18" charset="0"/>
              </a:rPr>
              <a:t>0.2-</a:t>
            </a:r>
            <a:r>
              <a:rPr sz="1400" b="1" spc="-93" dirty="0">
                <a:latin typeface="Times New Roman" panose="02020603050405020304" pitchFamily="18" charset="0"/>
                <a:cs typeface="Times New Roman" panose="02020603050405020304" pitchFamily="18" charset="0"/>
              </a:rPr>
              <a:t>1.5kΩ</a:t>
            </a:r>
            <a:endParaRPr sz="1400">
              <a:latin typeface="Times New Roman" panose="02020603050405020304" pitchFamily="18" charset="0"/>
              <a:cs typeface="Times New Roman" panose="02020603050405020304" pitchFamily="18" charset="0"/>
            </a:endParaRPr>
          </a:p>
        </p:txBody>
      </p:sp>
      <p:sp>
        <p:nvSpPr>
          <p:cNvPr id="164" name="object 164"/>
          <p:cNvSpPr txBox="1"/>
          <p:nvPr/>
        </p:nvSpPr>
        <p:spPr>
          <a:xfrm>
            <a:off x="5439338" y="1796520"/>
            <a:ext cx="668020" cy="233397"/>
          </a:xfrm>
          <a:prstGeom prst="rect">
            <a:avLst/>
          </a:prstGeom>
        </p:spPr>
        <p:txBody>
          <a:bodyPr vert="horz" wrap="square" lIns="0" tIns="17780" rIns="0" bIns="0" rtlCol="0">
            <a:spAutoFit/>
          </a:bodyPr>
          <a:lstStyle/>
          <a:p>
            <a:pPr marL="16933">
              <a:spcBef>
                <a:spcPts val="140"/>
              </a:spcBef>
            </a:pPr>
            <a:r>
              <a:rPr sz="1400" b="1" spc="-133" dirty="0">
                <a:latin typeface="Times New Roman" panose="02020603050405020304" pitchFamily="18" charset="0"/>
                <a:cs typeface="Times New Roman" panose="02020603050405020304" pitchFamily="18" charset="0"/>
              </a:rPr>
              <a:t>0.12-</a:t>
            </a:r>
            <a:r>
              <a:rPr sz="1400" b="1" spc="-80" dirty="0">
                <a:latin typeface="Times New Roman" panose="02020603050405020304" pitchFamily="18" charset="0"/>
                <a:cs typeface="Times New Roman" panose="02020603050405020304" pitchFamily="18" charset="0"/>
              </a:rPr>
              <a:t>1kΩ</a:t>
            </a:r>
            <a:endParaRPr sz="1400">
              <a:latin typeface="Times New Roman" panose="02020603050405020304" pitchFamily="18" charset="0"/>
              <a:cs typeface="Times New Roman" panose="02020603050405020304" pitchFamily="18" charset="0"/>
            </a:endParaRPr>
          </a:p>
        </p:txBody>
      </p:sp>
      <p:sp>
        <p:nvSpPr>
          <p:cNvPr id="165" name="object 165"/>
          <p:cNvSpPr txBox="1"/>
          <p:nvPr/>
        </p:nvSpPr>
        <p:spPr>
          <a:xfrm>
            <a:off x="3628527" y="3520276"/>
            <a:ext cx="331893" cy="233397"/>
          </a:xfrm>
          <a:prstGeom prst="rect">
            <a:avLst/>
          </a:prstGeom>
        </p:spPr>
        <p:txBody>
          <a:bodyPr vert="horz" wrap="square" lIns="0" tIns="17780" rIns="0" bIns="0" rtlCol="0">
            <a:spAutoFit/>
          </a:bodyPr>
          <a:lstStyle/>
          <a:p>
            <a:pPr marL="16933">
              <a:spcBef>
                <a:spcPts val="140"/>
              </a:spcBef>
            </a:pPr>
            <a:r>
              <a:rPr sz="1400" b="1" spc="-160" dirty="0">
                <a:latin typeface="Times New Roman" panose="02020603050405020304" pitchFamily="18" charset="0"/>
                <a:cs typeface="Times New Roman" panose="02020603050405020304" pitchFamily="18" charset="0"/>
              </a:rPr>
              <a:t>4b</a:t>
            </a:r>
            <a:r>
              <a:rPr sz="1400" b="1" spc="-80" dirty="0">
                <a:latin typeface="Times New Roman" panose="02020603050405020304" pitchFamily="18" charset="0"/>
                <a:cs typeface="Times New Roman" panose="02020603050405020304" pitchFamily="18" charset="0"/>
              </a:rPr>
              <a:t> </a:t>
            </a:r>
            <a:r>
              <a:rPr sz="1400" b="1" spc="-67" dirty="0">
                <a:latin typeface="Times New Roman" panose="02020603050405020304" pitchFamily="18" charset="0"/>
                <a:cs typeface="Times New Roman" panose="02020603050405020304" pitchFamily="18" charset="0"/>
              </a:rPr>
              <a:t>p</a:t>
            </a:r>
            <a:endParaRPr sz="1400">
              <a:latin typeface="Times New Roman" panose="02020603050405020304" pitchFamily="18" charset="0"/>
              <a:cs typeface="Times New Roman" panose="02020603050405020304" pitchFamily="18" charset="0"/>
            </a:endParaRPr>
          </a:p>
        </p:txBody>
      </p:sp>
      <p:grpSp>
        <p:nvGrpSpPr>
          <p:cNvPr id="166" name="object 166"/>
          <p:cNvGrpSpPr/>
          <p:nvPr/>
        </p:nvGrpSpPr>
        <p:grpSpPr>
          <a:xfrm>
            <a:off x="3053075" y="3992241"/>
            <a:ext cx="1079500" cy="1010920"/>
            <a:chOff x="2289806" y="2994181"/>
            <a:chExt cx="809625" cy="758190"/>
          </a:xfrm>
        </p:grpSpPr>
        <p:sp>
          <p:nvSpPr>
            <p:cNvPr id="167" name="object 167"/>
            <p:cNvSpPr/>
            <p:nvPr/>
          </p:nvSpPr>
          <p:spPr>
            <a:xfrm>
              <a:off x="2753343" y="2997039"/>
              <a:ext cx="0" cy="223520"/>
            </a:xfrm>
            <a:custGeom>
              <a:avLst/>
              <a:gdLst/>
              <a:ahLst/>
              <a:cxnLst/>
              <a:rect l="l" t="t" r="r" b="b"/>
              <a:pathLst>
                <a:path h="223519">
                  <a:moveTo>
                    <a:pt x="0" y="222931"/>
                  </a:moveTo>
                  <a:lnTo>
                    <a:pt x="0"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68" name="object 168"/>
            <p:cNvSpPr/>
            <p:nvPr/>
          </p:nvSpPr>
          <p:spPr>
            <a:xfrm>
              <a:off x="2459873" y="3418305"/>
              <a:ext cx="636905" cy="331470"/>
            </a:xfrm>
            <a:custGeom>
              <a:avLst/>
              <a:gdLst/>
              <a:ahLst/>
              <a:cxnLst/>
              <a:rect l="l" t="t" r="r" b="b"/>
              <a:pathLst>
                <a:path w="636905" h="331470">
                  <a:moveTo>
                    <a:pt x="636285" y="331105"/>
                  </a:moveTo>
                  <a:lnTo>
                    <a:pt x="0" y="331105"/>
                  </a:lnTo>
                </a:path>
                <a:path w="636905" h="331470">
                  <a:moveTo>
                    <a:pt x="0" y="0"/>
                  </a:moveTo>
                  <a:lnTo>
                    <a:pt x="636136"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69" name="object 169"/>
            <p:cNvSpPr/>
            <p:nvPr/>
          </p:nvSpPr>
          <p:spPr>
            <a:xfrm>
              <a:off x="2292664" y="3418305"/>
              <a:ext cx="803910" cy="247650"/>
            </a:xfrm>
            <a:custGeom>
              <a:avLst/>
              <a:gdLst/>
              <a:ahLst/>
              <a:cxnLst/>
              <a:rect l="l" t="t" r="r" b="b"/>
              <a:pathLst>
                <a:path w="803910" h="247650">
                  <a:moveTo>
                    <a:pt x="803494" y="168090"/>
                  </a:moveTo>
                  <a:lnTo>
                    <a:pt x="803494" y="891"/>
                  </a:lnTo>
                </a:path>
                <a:path w="803910" h="247650">
                  <a:moveTo>
                    <a:pt x="0" y="83599"/>
                  </a:moveTo>
                  <a:lnTo>
                    <a:pt x="0" y="247505"/>
                  </a:lnTo>
                </a:path>
                <a:path w="803910" h="247650">
                  <a:moveTo>
                    <a:pt x="379304" y="163906"/>
                  </a:moveTo>
                  <a:lnTo>
                    <a:pt x="379304" y="0"/>
                  </a:lnTo>
                </a:path>
                <a:path w="803910" h="247650">
                  <a:moveTo>
                    <a:pt x="591399" y="163906"/>
                  </a:moveTo>
                  <a:lnTo>
                    <a:pt x="591399"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170" name="object 170"/>
          <p:cNvSpPr txBox="1"/>
          <p:nvPr/>
        </p:nvSpPr>
        <p:spPr>
          <a:xfrm>
            <a:off x="3351580" y="4525499"/>
            <a:ext cx="331893" cy="233397"/>
          </a:xfrm>
          <a:prstGeom prst="rect">
            <a:avLst/>
          </a:prstGeom>
        </p:spPr>
        <p:txBody>
          <a:bodyPr vert="horz" wrap="square" lIns="0" tIns="17780" rIns="0" bIns="0" rtlCol="0">
            <a:spAutoFit/>
          </a:bodyPr>
          <a:lstStyle/>
          <a:p>
            <a:pPr marL="16933">
              <a:spcBef>
                <a:spcPts val="140"/>
              </a:spcBef>
            </a:pPr>
            <a:r>
              <a:rPr sz="1400" b="1" spc="-160" dirty="0">
                <a:latin typeface="Times New Roman" panose="02020603050405020304" pitchFamily="18" charset="0"/>
                <a:cs typeface="Times New Roman" panose="02020603050405020304" pitchFamily="18" charset="0"/>
              </a:rPr>
              <a:t>4b</a:t>
            </a:r>
            <a:r>
              <a:rPr sz="1400" b="1" spc="-80" dirty="0">
                <a:latin typeface="Times New Roman" panose="02020603050405020304" pitchFamily="18" charset="0"/>
                <a:cs typeface="Times New Roman" panose="02020603050405020304" pitchFamily="18" charset="0"/>
              </a:rPr>
              <a:t> </a:t>
            </a:r>
            <a:r>
              <a:rPr sz="1400" b="1" spc="-67" dirty="0">
                <a:latin typeface="Times New Roman" panose="02020603050405020304" pitchFamily="18" charset="0"/>
                <a:cs typeface="Times New Roman" panose="02020603050405020304" pitchFamily="18" charset="0"/>
              </a:rPr>
              <a:t>n</a:t>
            </a:r>
            <a:endParaRPr sz="1400">
              <a:latin typeface="Times New Roman" panose="02020603050405020304" pitchFamily="18" charset="0"/>
              <a:cs typeface="Times New Roman" panose="02020603050405020304" pitchFamily="18" charset="0"/>
            </a:endParaRPr>
          </a:p>
        </p:txBody>
      </p:sp>
      <p:sp>
        <p:nvSpPr>
          <p:cNvPr id="171" name="object 171"/>
          <p:cNvSpPr/>
          <p:nvPr/>
        </p:nvSpPr>
        <p:spPr>
          <a:xfrm>
            <a:off x="3175790" y="4609084"/>
            <a:ext cx="104140" cy="0"/>
          </a:xfrm>
          <a:custGeom>
            <a:avLst/>
            <a:gdLst/>
            <a:ahLst/>
            <a:cxnLst/>
            <a:rect l="l" t="t" r="r" b="b"/>
            <a:pathLst>
              <a:path w="78105">
                <a:moveTo>
                  <a:pt x="78030"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2" name="object 172"/>
          <p:cNvSpPr/>
          <p:nvPr/>
        </p:nvSpPr>
        <p:spPr>
          <a:xfrm>
            <a:off x="3175790" y="4832015"/>
            <a:ext cx="104140" cy="0"/>
          </a:xfrm>
          <a:custGeom>
            <a:avLst/>
            <a:gdLst/>
            <a:ahLst/>
            <a:cxnLst/>
            <a:rect l="l" t="t" r="r" b="b"/>
            <a:pathLst>
              <a:path w="78105">
                <a:moveTo>
                  <a:pt x="78030"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nvGrpSpPr>
          <p:cNvPr id="173" name="object 173"/>
          <p:cNvGrpSpPr/>
          <p:nvPr/>
        </p:nvGrpSpPr>
        <p:grpSpPr>
          <a:xfrm>
            <a:off x="3049266" y="3490363"/>
            <a:ext cx="3201247" cy="1674707"/>
            <a:chOff x="2286949" y="2617772"/>
            <a:chExt cx="2400935" cy="1256030"/>
          </a:xfrm>
        </p:grpSpPr>
        <p:sp>
          <p:nvSpPr>
            <p:cNvPr id="174" name="object 174"/>
            <p:cNvSpPr/>
            <p:nvPr/>
          </p:nvSpPr>
          <p:spPr>
            <a:xfrm>
              <a:off x="2753343" y="3325863"/>
              <a:ext cx="0" cy="93345"/>
            </a:xfrm>
            <a:custGeom>
              <a:avLst/>
              <a:gdLst/>
              <a:ahLst/>
              <a:cxnLst/>
              <a:rect l="l" t="t" r="r" b="b"/>
              <a:pathLst>
                <a:path h="93345">
                  <a:moveTo>
                    <a:pt x="0" y="92865"/>
                  </a:moveTo>
                  <a:lnTo>
                    <a:pt x="0"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5" name="object 175"/>
            <p:cNvSpPr/>
            <p:nvPr/>
          </p:nvSpPr>
          <p:spPr>
            <a:xfrm>
              <a:off x="2709200" y="3804051"/>
              <a:ext cx="88900" cy="58419"/>
            </a:xfrm>
            <a:custGeom>
              <a:avLst/>
              <a:gdLst/>
              <a:ahLst/>
              <a:cxnLst/>
              <a:rect l="l" t="t" r="r" b="b"/>
              <a:pathLst>
                <a:path w="88900" h="58420">
                  <a:moveTo>
                    <a:pt x="88360" y="0"/>
                  </a:moveTo>
                  <a:lnTo>
                    <a:pt x="0" y="0"/>
                  </a:lnTo>
                </a:path>
                <a:path w="88900" h="58420">
                  <a:moveTo>
                    <a:pt x="73646" y="28958"/>
                  </a:moveTo>
                  <a:lnTo>
                    <a:pt x="14714" y="28958"/>
                  </a:lnTo>
                </a:path>
                <a:path w="88900" h="58420">
                  <a:moveTo>
                    <a:pt x="58931" y="57925"/>
                  </a:moveTo>
                  <a:lnTo>
                    <a:pt x="29428" y="57925"/>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6" name="object 176"/>
            <p:cNvSpPr/>
            <p:nvPr/>
          </p:nvSpPr>
          <p:spPr>
            <a:xfrm>
              <a:off x="2753343" y="3749410"/>
              <a:ext cx="0" cy="55244"/>
            </a:xfrm>
            <a:custGeom>
              <a:avLst/>
              <a:gdLst/>
              <a:ahLst/>
              <a:cxnLst/>
              <a:rect l="l" t="t" r="r" b="b"/>
              <a:pathLst>
                <a:path h="55245">
                  <a:moveTo>
                    <a:pt x="0" y="54640"/>
                  </a:moveTo>
                  <a:lnTo>
                    <a:pt x="0" y="0"/>
                  </a:lnTo>
                </a:path>
              </a:pathLst>
            </a:custGeom>
            <a:ln w="557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7" name="object 177"/>
            <p:cNvSpPr/>
            <p:nvPr/>
          </p:nvSpPr>
          <p:spPr>
            <a:xfrm>
              <a:off x="2459873" y="3415013"/>
              <a:ext cx="0" cy="41910"/>
            </a:xfrm>
            <a:custGeom>
              <a:avLst/>
              <a:gdLst/>
              <a:ahLst/>
              <a:cxnLst/>
              <a:rect l="l" t="t" r="r" b="b"/>
              <a:pathLst>
                <a:path h="41910">
                  <a:moveTo>
                    <a:pt x="0" y="41799"/>
                  </a:moveTo>
                  <a:lnTo>
                    <a:pt x="0" y="0"/>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8" name="object 178"/>
            <p:cNvSpPr/>
            <p:nvPr/>
          </p:nvSpPr>
          <p:spPr>
            <a:xfrm>
              <a:off x="2376268" y="3456813"/>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79" name="object 179"/>
            <p:cNvSpPr/>
            <p:nvPr/>
          </p:nvSpPr>
          <p:spPr>
            <a:xfrm>
              <a:off x="2349738" y="3456813"/>
              <a:ext cx="11430" cy="83820"/>
            </a:xfrm>
            <a:custGeom>
              <a:avLst/>
              <a:gdLst/>
              <a:ahLst/>
              <a:cxnLst/>
              <a:rect l="l" t="t" r="r" b="b"/>
              <a:pathLst>
                <a:path w="11430" h="83820">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0" name="object 180"/>
            <p:cNvSpPr/>
            <p:nvPr/>
          </p:nvSpPr>
          <p:spPr>
            <a:xfrm>
              <a:off x="2376268" y="3540412"/>
              <a:ext cx="29209" cy="0"/>
            </a:xfrm>
            <a:custGeom>
              <a:avLst/>
              <a:gdLst/>
              <a:ahLst/>
              <a:cxnLst/>
              <a:rect l="l" t="t" r="r" b="b"/>
              <a:pathLst>
                <a:path w="29210">
                  <a:moveTo>
                    <a:pt x="28685"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1" name="object 181"/>
            <p:cNvSpPr/>
            <p:nvPr/>
          </p:nvSpPr>
          <p:spPr>
            <a:xfrm>
              <a:off x="2370683" y="3435921"/>
              <a:ext cx="94615" cy="126364"/>
            </a:xfrm>
            <a:custGeom>
              <a:avLst/>
              <a:gdLst/>
              <a:ahLst/>
              <a:cxnLst/>
              <a:rect l="l" t="t" r="r" b="b"/>
              <a:pathLst>
                <a:path w="94614" h="126364">
                  <a:moveTo>
                    <a:pt x="11150" y="0"/>
                  </a:moveTo>
                  <a:lnTo>
                    <a:pt x="0" y="0"/>
                  </a:lnTo>
                  <a:lnTo>
                    <a:pt x="0" y="125399"/>
                  </a:lnTo>
                  <a:lnTo>
                    <a:pt x="11150" y="125399"/>
                  </a:lnTo>
                  <a:lnTo>
                    <a:pt x="11150" y="0"/>
                  </a:lnTo>
                  <a:close/>
                </a:path>
                <a:path w="94614" h="126364">
                  <a:moveTo>
                    <a:pt x="94386" y="104495"/>
                  </a:moveTo>
                  <a:lnTo>
                    <a:pt x="28841" y="82651"/>
                  </a:lnTo>
                  <a:lnTo>
                    <a:pt x="28841" y="126339"/>
                  </a:lnTo>
                  <a:lnTo>
                    <a:pt x="94386" y="104495"/>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2" name="object 182"/>
            <p:cNvSpPr/>
            <p:nvPr/>
          </p:nvSpPr>
          <p:spPr>
            <a:xfrm>
              <a:off x="2292664" y="3498612"/>
              <a:ext cx="62865" cy="0"/>
            </a:xfrm>
            <a:custGeom>
              <a:avLst/>
              <a:gdLst/>
              <a:ahLst/>
              <a:cxnLst/>
              <a:rect l="l" t="t" r="r" b="b"/>
              <a:pathLst>
                <a:path w="62864">
                  <a:moveTo>
                    <a:pt x="62647"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3" name="object 183"/>
            <p:cNvSpPr/>
            <p:nvPr/>
          </p:nvSpPr>
          <p:spPr>
            <a:xfrm>
              <a:off x="2459873" y="3543570"/>
              <a:ext cx="0" cy="80645"/>
            </a:xfrm>
            <a:custGeom>
              <a:avLst/>
              <a:gdLst/>
              <a:ahLst/>
              <a:cxnLst/>
              <a:rect l="l" t="t" r="r" b="b"/>
              <a:pathLst>
                <a:path h="80645">
                  <a:moveTo>
                    <a:pt x="0" y="0"/>
                  </a:moveTo>
                  <a:lnTo>
                    <a:pt x="0" y="38641"/>
                  </a:lnTo>
                </a:path>
                <a:path h="80645">
                  <a:moveTo>
                    <a:pt x="0" y="80441"/>
                  </a:moveTo>
                  <a:lnTo>
                    <a:pt x="0" y="38641"/>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4" name="object 184"/>
            <p:cNvSpPr/>
            <p:nvPr/>
          </p:nvSpPr>
          <p:spPr>
            <a:xfrm>
              <a:off x="2376268" y="3624011"/>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5" name="object 185"/>
            <p:cNvSpPr/>
            <p:nvPr/>
          </p:nvSpPr>
          <p:spPr>
            <a:xfrm>
              <a:off x="2349738" y="3624011"/>
              <a:ext cx="11430" cy="83820"/>
            </a:xfrm>
            <a:custGeom>
              <a:avLst/>
              <a:gdLst/>
              <a:ahLst/>
              <a:cxnLst/>
              <a:rect l="l" t="t" r="r" b="b"/>
              <a:pathLst>
                <a:path w="11430" h="83820">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6" name="object 186"/>
            <p:cNvSpPr/>
            <p:nvPr/>
          </p:nvSpPr>
          <p:spPr>
            <a:xfrm>
              <a:off x="2376268" y="3707611"/>
              <a:ext cx="29209" cy="0"/>
            </a:xfrm>
            <a:custGeom>
              <a:avLst/>
              <a:gdLst/>
              <a:ahLst/>
              <a:cxnLst/>
              <a:rect l="l" t="t" r="r" b="b"/>
              <a:pathLst>
                <a:path w="29210">
                  <a:moveTo>
                    <a:pt x="28685"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7" name="object 187"/>
            <p:cNvSpPr/>
            <p:nvPr/>
          </p:nvSpPr>
          <p:spPr>
            <a:xfrm>
              <a:off x="2370683" y="3603116"/>
              <a:ext cx="94615" cy="126364"/>
            </a:xfrm>
            <a:custGeom>
              <a:avLst/>
              <a:gdLst/>
              <a:ahLst/>
              <a:cxnLst/>
              <a:rect l="l" t="t" r="r" b="b"/>
              <a:pathLst>
                <a:path w="94614" h="126364">
                  <a:moveTo>
                    <a:pt x="11150" y="0"/>
                  </a:moveTo>
                  <a:lnTo>
                    <a:pt x="0" y="0"/>
                  </a:lnTo>
                  <a:lnTo>
                    <a:pt x="0" y="125399"/>
                  </a:lnTo>
                  <a:lnTo>
                    <a:pt x="11150" y="125399"/>
                  </a:lnTo>
                  <a:lnTo>
                    <a:pt x="11150" y="0"/>
                  </a:lnTo>
                  <a:close/>
                </a:path>
                <a:path w="94614" h="126364">
                  <a:moveTo>
                    <a:pt x="94386" y="104495"/>
                  </a:moveTo>
                  <a:lnTo>
                    <a:pt x="28841" y="82651"/>
                  </a:lnTo>
                  <a:lnTo>
                    <a:pt x="28841" y="126352"/>
                  </a:lnTo>
                  <a:lnTo>
                    <a:pt x="94386" y="104495"/>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8" name="object 188"/>
            <p:cNvSpPr/>
            <p:nvPr/>
          </p:nvSpPr>
          <p:spPr>
            <a:xfrm>
              <a:off x="2292664" y="3665811"/>
              <a:ext cx="62865" cy="0"/>
            </a:xfrm>
            <a:custGeom>
              <a:avLst/>
              <a:gdLst/>
              <a:ahLst/>
              <a:cxnLst/>
              <a:rect l="l" t="t" r="r" b="b"/>
              <a:pathLst>
                <a:path w="62864">
                  <a:moveTo>
                    <a:pt x="62647"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89" name="object 189"/>
            <p:cNvSpPr/>
            <p:nvPr/>
          </p:nvSpPr>
          <p:spPr>
            <a:xfrm>
              <a:off x="2459873" y="3582212"/>
              <a:ext cx="212725" cy="167640"/>
            </a:xfrm>
            <a:custGeom>
              <a:avLst/>
              <a:gdLst/>
              <a:ahLst/>
              <a:cxnLst/>
              <a:rect l="l" t="t" r="r" b="b"/>
              <a:pathLst>
                <a:path w="212725" h="167639">
                  <a:moveTo>
                    <a:pt x="0" y="128557"/>
                  </a:moveTo>
                  <a:lnTo>
                    <a:pt x="0" y="167198"/>
                  </a:lnTo>
                </a:path>
                <a:path w="212725" h="167639">
                  <a:moveTo>
                    <a:pt x="212689" y="41799"/>
                  </a:moveTo>
                  <a:lnTo>
                    <a:pt x="212689"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0" name="object 190"/>
            <p:cNvSpPr/>
            <p:nvPr/>
          </p:nvSpPr>
          <p:spPr>
            <a:xfrm>
              <a:off x="2588958" y="3624011"/>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1" name="object 191"/>
            <p:cNvSpPr/>
            <p:nvPr/>
          </p:nvSpPr>
          <p:spPr>
            <a:xfrm>
              <a:off x="2562502" y="3624011"/>
              <a:ext cx="11430" cy="83820"/>
            </a:xfrm>
            <a:custGeom>
              <a:avLst/>
              <a:gdLst/>
              <a:ahLst/>
              <a:cxnLst/>
              <a:rect l="l" t="t" r="r" b="b"/>
              <a:pathLst>
                <a:path w="11430" h="83820">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2" name="object 192"/>
            <p:cNvSpPr/>
            <p:nvPr/>
          </p:nvSpPr>
          <p:spPr>
            <a:xfrm>
              <a:off x="2588958" y="3707611"/>
              <a:ext cx="29209" cy="0"/>
            </a:xfrm>
            <a:custGeom>
              <a:avLst/>
              <a:gdLst/>
              <a:ahLst/>
              <a:cxnLst/>
              <a:rect l="l" t="t" r="r" b="b"/>
              <a:pathLst>
                <a:path w="29210">
                  <a:moveTo>
                    <a:pt x="28685"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3" name="object 193"/>
            <p:cNvSpPr/>
            <p:nvPr/>
          </p:nvSpPr>
          <p:spPr>
            <a:xfrm>
              <a:off x="2583383" y="3603116"/>
              <a:ext cx="94615" cy="126364"/>
            </a:xfrm>
            <a:custGeom>
              <a:avLst/>
              <a:gdLst/>
              <a:ahLst/>
              <a:cxnLst/>
              <a:rect l="l" t="t" r="r" b="b"/>
              <a:pathLst>
                <a:path w="94614" h="126364">
                  <a:moveTo>
                    <a:pt x="11137" y="0"/>
                  </a:moveTo>
                  <a:lnTo>
                    <a:pt x="0" y="0"/>
                  </a:lnTo>
                  <a:lnTo>
                    <a:pt x="0" y="125399"/>
                  </a:lnTo>
                  <a:lnTo>
                    <a:pt x="11137" y="125399"/>
                  </a:lnTo>
                  <a:lnTo>
                    <a:pt x="11137" y="0"/>
                  </a:lnTo>
                  <a:close/>
                </a:path>
                <a:path w="94614" h="126364">
                  <a:moveTo>
                    <a:pt x="94373" y="104495"/>
                  </a:moveTo>
                  <a:lnTo>
                    <a:pt x="28829" y="82651"/>
                  </a:lnTo>
                  <a:lnTo>
                    <a:pt x="28829" y="126352"/>
                  </a:lnTo>
                  <a:lnTo>
                    <a:pt x="94373" y="104495"/>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4" name="object 194"/>
            <p:cNvSpPr/>
            <p:nvPr/>
          </p:nvSpPr>
          <p:spPr>
            <a:xfrm>
              <a:off x="2505354" y="3665811"/>
              <a:ext cx="62865" cy="0"/>
            </a:xfrm>
            <a:custGeom>
              <a:avLst/>
              <a:gdLst/>
              <a:ahLst/>
              <a:cxnLst/>
              <a:rect l="l" t="t" r="r" b="b"/>
              <a:pathLst>
                <a:path w="62864">
                  <a:moveTo>
                    <a:pt x="62721"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5" name="object 195"/>
            <p:cNvSpPr/>
            <p:nvPr/>
          </p:nvSpPr>
          <p:spPr>
            <a:xfrm>
              <a:off x="2672562" y="3710769"/>
              <a:ext cx="0" cy="38735"/>
            </a:xfrm>
            <a:custGeom>
              <a:avLst/>
              <a:gdLst/>
              <a:ahLst/>
              <a:cxnLst/>
              <a:rect l="l" t="t" r="r" b="b"/>
              <a:pathLst>
                <a:path h="38735">
                  <a:moveTo>
                    <a:pt x="0" y="0"/>
                  </a:moveTo>
                  <a:lnTo>
                    <a:pt x="0" y="38641"/>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6" name="object 196"/>
            <p:cNvSpPr/>
            <p:nvPr/>
          </p:nvSpPr>
          <p:spPr>
            <a:xfrm>
              <a:off x="2594532" y="3624011"/>
              <a:ext cx="78105" cy="0"/>
            </a:xfrm>
            <a:custGeom>
              <a:avLst/>
              <a:gdLst/>
              <a:ahLst/>
              <a:cxnLst/>
              <a:rect l="l" t="t" r="r" b="b"/>
              <a:pathLst>
                <a:path w="78105">
                  <a:moveTo>
                    <a:pt x="78030"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7" name="object 197"/>
            <p:cNvSpPr/>
            <p:nvPr/>
          </p:nvSpPr>
          <p:spPr>
            <a:xfrm>
              <a:off x="2885252" y="3582212"/>
              <a:ext cx="0" cy="41910"/>
            </a:xfrm>
            <a:custGeom>
              <a:avLst/>
              <a:gdLst/>
              <a:ahLst/>
              <a:cxnLst/>
              <a:rect l="l" t="t" r="r" b="b"/>
              <a:pathLst>
                <a:path h="41910">
                  <a:moveTo>
                    <a:pt x="0" y="41799"/>
                  </a:moveTo>
                  <a:lnTo>
                    <a:pt x="0" y="0"/>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8" name="object 198"/>
            <p:cNvSpPr/>
            <p:nvPr/>
          </p:nvSpPr>
          <p:spPr>
            <a:xfrm>
              <a:off x="2801648" y="3624011"/>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199" name="object 199"/>
            <p:cNvSpPr/>
            <p:nvPr/>
          </p:nvSpPr>
          <p:spPr>
            <a:xfrm>
              <a:off x="2775192" y="3624011"/>
              <a:ext cx="11430" cy="83820"/>
            </a:xfrm>
            <a:custGeom>
              <a:avLst/>
              <a:gdLst/>
              <a:ahLst/>
              <a:cxnLst/>
              <a:rect l="l" t="t" r="r" b="b"/>
              <a:pathLst>
                <a:path w="11430" h="83820">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0" name="object 200"/>
            <p:cNvSpPr/>
            <p:nvPr/>
          </p:nvSpPr>
          <p:spPr>
            <a:xfrm>
              <a:off x="2801648" y="3707611"/>
              <a:ext cx="29209" cy="0"/>
            </a:xfrm>
            <a:custGeom>
              <a:avLst/>
              <a:gdLst/>
              <a:ahLst/>
              <a:cxnLst/>
              <a:rect l="l" t="t" r="r" b="b"/>
              <a:pathLst>
                <a:path w="29210">
                  <a:moveTo>
                    <a:pt x="28759"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1" name="object 201"/>
            <p:cNvSpPr/>
            <p:nvPr/>
          </p:nvSpPr>
          <p:spPr>
            <a:xfrm>
              <a:off x="2796070" y="3603116"/>
              <a:ext cx="94615" cy="126364"/>
            </a:xfrm>
            <a:custGeom>
              <a:avLst/>
              <a:gdLst/>
              <a:ahLst/>
              <a:cxnLst/>
              <a:rect l="l" t="t" r="r" b="b"/>
              <a:pathLst>
                <a:path w="94614" h="126364">
                  <a:moveTo>
                    <a:pt x="11150" y="0"/>
                  </a:moveTo>
                  <a:lnTo>
                    <a:pt x="0" y="0"/>
                  </a:lnTo>
                  <a:lnTo>
                    <a:pt x="0" y="125399"/>
                  </a:lnTo>
                  <a:lnTo>
                    <a:pt x="11150" y="125399"/>
                  </a:lnTo>
                  <a:lnTo>
                    <a:pt x="11150" y="0"/>
                  </a:lnTo>
                  <a:close/>
                </a:path>
                <a:path w="94614" h="126364">
                  <a:moveTo>
                    <a:pt x="94373" y="104495"/>
                  </a:moveTo>
                  <a:lnTo>
                    <a:pt x="28829" y="82651"/>
                  </a:lnTo>
                  <a:lnTo>
                    <a:pt x="28829" y="126352"/>
                  </a:lnTo>
                  <a:lnTo>
                    <a:pt x="94373" y="104495"/>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2" name="object 202"/>
            <p:cNvSpPr/>
            <p:nvPr/>
          </p:nvSpPr>
          <p:spPr>
            <a:xfrm>
              <a:off x="2718043" y="3665811"/>
              <a:ext cx="62865" cy="0"/>
            </a:xfrm>
            <a:custGeom>
              <a:avLst/>
              <a:gdLst/>
              <a:ahLst/>
              <a:cxnLst/>
              <a:rect l="l" t="t" r="r" b="b"/>
              <a:pathLst>
                <a:path w="62864">
                  <a:moveTo>
                    <a:pt x="62721"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3" name="object 203"/>
            <p:cNvSpPr/>
            <p:nvPr/>
          </p:nvSpPr>
          <p:spPr>
            <a:xfrm>
              <a:off x="2885252" y="3710769"/>
              <a:ext cx="0" cy="38735"/>
            </a:xfrm>
            <a:custGeom>
              <a:avLst/>
              <a:gdLst/>
              <a:ahLst/>
              <a:cxnLst/>
              <a:rect l="l" t="t" r="r" b="b"/>
              <a:pathLst>
                <a:path h="38735">
                  <a:moveTo>
                    <a:pt x="0" y="0"/>
                  </a:moveTo>
                  <a:lnTo>
                    <a:pt x="0" y="38641"/>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4" name="object 204"/>
            <p:cNvSpPr/>
            <p:nvPr/>
          </p:nvSpPr>
          <p:spPr>
            <a:xfrm>
              <a:off x="2807221" y="3624011"/>
              <a:ext cx="78105" cy="0"/>
            </a:xfrm>
            <a:custGeom>
              <a:avLst/>
              <a:gdLst/>
              <a:ahLst/>
              <a:cxnLst/>
              <a:rect l="l" t="t" r="r" b="b"/>
              <a:pathLst>
                <a:path w="78105">
                  <a:moveTo>
                    <a:pt x="78030"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5" name="object 205"/>
            <p:cNvSpPr/>
            <p:nvPr/>
          </p:nvSpPr>
          <p:spPr>
            <a:xfrm>
              <a:off x="3096158" y="3582212"/>
              <a:ext cx="0" cy="41910"/>
            </a:xfrm>
            <a:custGeom>
              <a:avLst/>
              <a:gdLst/>
              <a:ahLst/>
              <a:cxnLst/>
              <a:rect l="l" t="t" r="r" b="b"/>
              <a:pathLst>
                <a:path h="41910">
                  <a:moveTo>
                    <a:pt x="0" y="41799"/>
                  </a:moveTo>
                  <a:lnTo>
                    <a:pt x="0" y="0"/>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6" name="object 206"/>
            <p:cNvSpPr/>
            <p:nvPr/>
          </p:nvSpPr>
          <p:spPr>
            <a:xfrm>
              <a:off x="3012554" y="3624011"/>
              <a:ext cx="83820" cy="0"/>
            </a:xfrm>
            <a:custGeom>
              <a:avLst/>
              <a:gdLst/>
              <a:ahLst/>
              <a:cxnLst/>
              <a:rect l="l" t="t" r="r" b="b"/>
              <a:pathLst>
                <a:path w="83819">
                  <a:moveTo>
                    <a:pt x="0" y="0"/>
                  </a:moveTo>
                  <a:lnTo>
                    <a:pt x="83604"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7" name="object 207"/>
            <p:cNvSpPr/>
            <p:nvPr/>
          </p:nvSpPr>
          <p:spPr>
            <a:xfrm>
              <a:off x="2986098" y="3624011"/>
              <a:ext cx="11430" cy="83820"/>
            </a:xfrm>
            <a:custGeom>
              <a:avLst/>
              <a:gdLst/>
              <a:ahLst/>
              <a:cxnLst/>
              <a:rect l="l" t="t" r="r" b="b"/>
              <a:pathLst>
                <a:path w="11430" h="83820">
                  <a:moveTo>
                    <a:pt x="11147" y="0"/>
                  </a:moveTo>
                  <a:lnTo>
                    <a:pt x="0" y="0"/>
                  </a:lnTo>
                  <a:lnTo>
                    <a:pt x="0" y="83599"/>
                  </a:lnTo>
                  <a:lnTo>
                    <a:pt x="11147" y="83599"/>
                  </a:lnTo>
                  <a:lnTo>
                    <a:pt x="11147"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8" name="object 208"/>
            <p:cNvSpPr/>
            <p:nvPr/>
          </p:nvSpPr>
          <p:spPr>
            <a:xfrm>
              <a:off x="3012554" y="3707611"/>
              <a:ext cx="29209" cy="0"/>
            </a:xfrm>
            <a:custGeom>
              <a:avLst/>
              <a:gdLst/>
              <a:ahLst/>
              <a:cxnLst/>
              <a:rect l="l" t="t" r="r" b="b"/>
              <a:pathLst>
                <a:path w="29210">
                  <a:moveTo>
                    <a:pt x="28685"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09" name="object 209"/>
            <p:cNvSpPr/>
            <p:nvPr/>
          </p:nvSpPr>
          <p:spPr>
            <a:xfrm>
              <a:off x="3006979" y="3603116"/>
              <a:ext cx="94615" cy="126364"/>
            </a:xfrm>
            <a:custGeom>
              <a:avLst/>
              <a:gdLst/>
              <a:ahLst/>
              <a:cxnLst/>
              <a:rect l="l" t="t" r="r" b="b"/>
              <a:pathLst>
                <a:path w="94614" h="126364">
                  <a:moveTo>
                    <a:pt x="11137" y="0"/>
                  </a:moveTo>
                  <a:lnTo>
                    <a:pt x="0" y="0"/>
                  </a:lnTo>
                  <a:lnTo>
                    <a:pt x="0" y="125399"/>
                  </a:lnTo>
                  <a:lnTo>
                    <a:pt x="11137" y="125399"/>
                  </a:lnTo>
                  <a:lnTo>
                    <a:pt x="11137" y="0"/>
                  </a:lnTo>
                  <a:close/>
                </a:path>
                <a:path w="94614" h="126364">
                  <a:moveTo>
                    <a:pt x="94373" y="104495"/>
                  </a:moveTo>
                  <a:lnTo>
                    <a:pt x="28829" y="82651"/>
                  </a:lnTo>
                  <a:lnTo>
                    <a:pt x="28829" y="126352"/>
                  </a:lnTo>
                  <a:lnTo>
                    <a:pt x="94373" y="104495"/>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0" name="object 210"/>
            <p:cNvSpPr/>
            <p:nvPr/>
          </p:nvSpPr>
          <p:spPr>
            <a:xfrm>
              <a:off x="2928949" y="3665811"/>
              <a:ext cx="62865" cy="0"/>
            </a:xfrm>
            <a:custGeom>
              <a:avLst/>
              <a:gdLst/>
              <a:ahLst/>
              <a:cxnLst/>
              <a:rect l="l" t="t" r="r" b="b"/>
              <a:pathLst>
                <a:path w="62864">
                  <a:moveTo>
                    <a:pt x="62721"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1" name="object 211"/>
            <p:cNvSpPr/>
            <p:nvPr/>
          </p:nvSpPr>
          <p:spPr>
            <a:xfrm>
              <a:off x="3096158" y="3710769"/>
              <a:ext cx="0" cy="38735"/>
            </a:xfrm>
            <a:custGeom>
              <a:avLst/>
              <a:gdLst/>
              <a:ahLst/>
              <a:cxnLst/>
              <a:rect l="l" t="t" r="r" b="b"/>
              <a:pathLst>
                <a:path h="38735">
                  <a:moveTo>
                    <a:pt x="0" y="0"/>
                  </a:moveTo>
                  <a:lnTo>
                    <a:pt x="0" y="38641"/>
                  </a:lnTo>
                </a:path>
              </a:pathLst>
            </a:custGeom>
            <a:ln w="11147">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2" name="object 212"/>
            <p:cNvSpPr/>
            <p:nvPr/>
          </p:nvSpPr>
          <p:spPr>
            <a:xfrm>
              <a:off x="3018128" y="3624011"/>
              <a:ext cx="78105" cy="0"/>
            </a:xfrm>
            <a:custGeom>
              <a:avLst/>
              <a:gdLst/>
              <a:ahLst/>
              <a:cxnLst/>
              <a:rect l="l" t="t" r="r" b="b"/>
              <a:pathLst>
                <a:path w="78105">
                  <a:moveTo>
                    <a:pt x="78030" y="0"/>
                  </a:moveTo>
                  <a:lnTo>
                    <a:pt x="0" y="0"/>
                  </a:lnTo>
                </a:path>
              </a:pathLst>
            </a:custGeom>
            <a:ln w="11146">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3" name="object 213"/>
            <p:cNvSpPr/>
            <p:nvPr/>
          </p:nvSpPr>
          <p:spPr>
            <a:xfrm>
              <a:off x="2979112" y="3271988"/>
              <a:ext cx="559435" cy="0"/>
            </a:xfrm>
            <a:custGeom>
              <a:avLst/>
              <a:gdLst/>
              <a:ahLst/>
              <a:cxnLst/>
              <a:rect l="l" t="t" r="r" b="b"/>
              <a:pathLst>
                <a:path w="559435">
                  <a:moveTo>
                    <a:pt x="0" y="0"/>
                  </a:moveTo>
                  <a:lnTo>
                    <a:pt x="559295" y="0"/>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4" name="object 214"/>
            <p:cNvSpPr/>
            <p:nvPr/>
          </p:nvSpPr>
          <p:spPr>
            <a:xfrm>
              <a:off x="3539745" y="2669107"/>
              <a:ext cx="0" cy="601345"/>
            </a:xfrm>
            <a:custGeom>
              <a:avLst/>
              <a:gdLst/>
              <a:ahLst/>
              <a:cxnLst/>
              <a:rect l="l" t="t" r="r" b="b"/>
              <a:pathLst>
                <a:path h="601345">
                  <a:moveTo>
                    <a:pt x="0" y="0"/>
                  </a:moveTo>
                  <a:lnTo>
                    <a:pt x="0" y="601171"/>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5" name="object 215"/>
            <p:cNvSpPr/>
            <p:nvPr/>
          </p:nvSpPr>
          <p:spPr>
            <a:xfrm>
              <a:off x="4258223" y="2629202"/>
              <a:ext cx="418465" cy="86995"/>
            </a:xfrm>
            <a:custGeom>
              <a:avLst/>
              <a:gdLst/>
              <a:ahLst/>
              <a:cxnLst/>
              <a:rect l="l" t="t" r="r" b="b"/>
              <a:pathLst>
                <a:path w="418464" h="86994">
                  <a:moveTo>
                    <a:pt x="216702" y="43323"/>
                  </a:moveTo>
                  <a:lnTo>
                    <a:pt x="198644" y="0"/>
                  </a:lnTo>
                  <a:lnTo>
                    <a:pt x="162527" y="86646"/>
                  </a:lnTo>
                  <a:lnTo>
                    <a:pt x="126409" y="0"/>
                  </a:lnTo>
                  <a:lnTo>
                    <a:pt x="90292" y="86646"/>
                  </a:lnTo>
                  <a:lnTo>
                    <a:pt x="54175" y="0"/>
                  </a:lnTo>
                  <a:lnTo>
                    <a:pt x="18058" y="86646"/>
                  </a:lnTo>
                  <a:lnTo>
                    <a:pt x="0" y="43323"/>
                  </a:lnTo>
                </a:path>
                <a:path w="418464" h="86994">
                  <a:moveTo>
                    <a:pt x="418022" y="43323"/>
                  </a:moveTo>
                  <a:lnTo>
                    <a:pt x="216702" y="43323"/>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6" name="object 216"/>
            <p:cNvSpPr/>
            <p:nvPr/>
          </p:nvSpPr>
          <p:spPr>
            <a:xfrm>
              <a:off x="4491870" y="2709383"/>
              <a:ext cx="145415" cy="22860"/>
            </a:xfrm>
            <a:custGeom>
              <a:avLst/>
              <a:gdLst/>
              <a:ahLst/>
              <a:cxnLst/>
              <a:rect l="l" t="t" r="r" b="b"/>
              <a:pathLst>
                <a:path w="145414" h="22860">
                  <a:moveTo>
                    <a:pt x="145360" y="0"/>
                  </a:moveTo>
                  <a:lnTo>
                    <a:pt x="0" y="0"/>
                  </a:lnTo>
                  <a:lnTo>
                    <a:pt x="0" y="22293"/>
                  </a:lnTo>
                  <a:lnTo>
                    <a:pt x="145360" y="22293"/>
                  </a:lnTo>
                  <a:lnTo>
                    <a:pt x="145360"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7" name="object 217"/>
            <p:cNvSpPr/>
            <p:nvPr/>
          </p:nvSpPr>
          <p:spPr>
            <a:xfrm>
              <a:off x="4565144" y="2783842"/>
              <a:ext cx="0" cy="46990"/>
            </a:xfrm>
            <a:custGeom>
              <a:avLst/>
              <a:gdLst/>
              <a:ahLst/>
              <a:cxnLst/>
              <a:rect l="l" t="t" r="r" b="b"/>
              <a:pathLst>
                <a:path h="46989">
                  <a:moveTo>
                    <a:pt x="0" y="46444"/>
                  </a:moveTo>
                  <a:lnTo>
                    <a:pt x="0" y="0"/>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8" name="object 218"/>
            <p:cNvSpPr/>
            <p:nvPr/>
          </p:nvSpPr>
          <p:spPr>
            <a:xfrm>
              <a:off x="4491870" y="2765933"/>
              <a:ext cx="145415" cy="22860"/>
            </a:xfrm>
            <a:custGeom>
              <a:avLst/>
              <a:gdLst/>
              <a:ahLst/>
              <a:cxnLst/>
              <a:rect l="l" t="t" r="r" b="b"/>
              <a:pathLst>
                <a:path w="145414" h="22860">
                  <a:moveTo>
                    <a:pt x="145360" y="0"/>
                  </a:moveTo>
                  <a:lnTo>
                    <a:pt x="0" y="0"/>
                  </a:lnTo>
                  <a:lnTo>
                    <a:pt x="0" y="22293"/>
                  </a:lnTo>
                  <a:lnTo>
                    <a:pt x="145360" y="22293"/>
                  </a:lnTo>
                  <a:lnTo>
                    <a:pt x="145360"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19" name="object 219"/>
            <p:cNvSpPr/>
            <p:nvPr/>
          </p:nvSpPr>
          <p:spPr>
            <a:xfrm>
              <a:off x="4522339" y="2838758"/>
              <a:ext cx="88900" cy="58419"/>
            </a:xfrm>
            <a:custGeom>
              <a:avLst/>
              <a:gdLst/>
              <a:ahLst/>
              <a:cxnLst/>
              <a:rect l="l" t="t" r="r" b="b"/>
              <a:pathLst>
                <a:path w="88900" h="58419">
                  <a:moveTo>
                    <a:pt x="88360" y="0"/>
                  </a:moveTo>
                  <a:lnTo>
                    <a:pt x="0" y="0"/>
                  </a:lnTo>
                </a:path>
                <a:path w="88900" h="58419">
                  <a:moveTo>
                    <a:pt x="73646" y="28981"/>
                  </a:moveTo>
                  <a:lnTo>
                    <a:pt x="14788" y="28981"/>
                  </a:lnTo>
                </a:path>
                <a:path w="88900" h="58419">
                  <a:moveTo>
                    <a:pt x="58931" y="57962"/>
                  </a:moveTo>
                  <a:lnTo>
                    <a:pt x="29503" y="57962"/>
                  </a:lnTo>
                </a:path>
              </a:pathLst>
            </a:custGeom>
            <a:ln w="22293">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20" name="object 220"/>
            <p:cNvSpPr/>
            <p:nvPr/>
          </p:nvSpPr>
          <p:spPr>
            <a:xfrm>
              <a:off x="4543593" y="2649266"/>
              <a:ext cx="43180" cy="43180"/>
            </a:xfrm>
            <a:custGeom>
              <a:avLst/>
              <a:gdLst/>
              <a:ahLst/>
              <a:cxnLst/>
              <a:rect l="l" t="t" r="r" b="b"/>
              <a:pathLst>
                <a:path w="43179" h="43180">
                  <a:moveTo>
                    <a:pt x="21551" y="0"/>
                  </a:moveTo>
                  <a:lnTo>
                    <a:pt x="13136" y="1682"/>
                  </a:lnTo>
                  <a:lnTo>
                    <a:pt x="6288" y="6269"/>
                  </a:lnTo>
                  <a:lnTo>
                    <a:pt x="1684" y="13072"/>
                  </a:lnTo>
                  <a:lnTo>
                    <a:pt x="0" y="21401"/>
                  </a:lnTo>
                  <a:lnTo>
                    <a:pt x="1684" y="29729"/>
                  </a:lnTo>
                  <a:lnTo>
                    <a:pt x="6288" y="36532"/>
                  </a:lnTo>
                  <a:lnTo>
                    <a:pt x="13136" y="41120"/>
                  </a:lnTo>
                  <a:lnTo>
                    <a:pt x="21551" y="42802"/>
                  </a:lnTo>
                  <a:lnTo>
                    <a:pt x="29923" y="41120"/>
                  </a:lnTo>
                  <a:lnTo>
                    <a:pt x="36748" y="36532"/>
                  </a:lnTo>
                  <a:lnTo>
                    <a:pt x="41344" y="29729"/>
                  </a:lnTo>
                  <a:lnTo>
                    <a:pt x="43028" y="21401"/>
                  </a:lnTo>
                  <a:lnTo>
                    <a:pt x="41344" y="13072"/>
                  </a:lnTo>
                  <a:lnTo>
                    <a:pt x="36748" y="6269"/>
                  </a:lnTo>
                  <a:lnTo>
                    <a:pt x="29923" y="1682"/>
                  </a:lnTo>
                  <a:lnTo>
                    <a:pt x="21551"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21" name="object 221"/>
            <p:cNvSpPr/>
            <p:nvPr/>
          </p:nvSpPr>
          <p:spPr>
            <a:xfrm>
              <a:off x="4543593" y="2649266"/>
              <a:ext cx="43180" cy="43180"/>
            </a:xfrm>
            <a:custGeom>
              <a:avLst/>
              <a:gdLst/>
              <a:ahLst/>
              <a:cxnLst/>
              <a:rect l="l" t="t" r="r" b="b"/>
              <a:pathLst>
                <a:path w="43179" h="43180">
                  <a:moveTo>
                    <a:pt x="0" y="21401"/>
                  </a:moveTo>
                  <a:lnTo>
                    <a:pt x="1684" y="13072"/>
                  </a:lnTo>
                  <a:lnTo>
                    <a:pt x="6288" y="6269"/>
                  </a:lnTo>
                  <a:lnTo>
                    <a:pt x="13136" y="1682"/>
                  </a:lnTo>
                  <a:lnTo>
                    <a:pt x="21551" y="0"/>
                  </a:lnTo>
                  <a:lnTo>
                    <a:pt x="29923" y="1682"/>
                  </a:lnTo>
                  <a:lnTo>
                    <a:pt x="36748" y="6269"/>
                  </a:lnTo>
                  <a:lnTo>
                    <a:pt x="41344" y="13072"/>
                  </a:lnTo>
                  <a:lnTo>
                    <a:pt x="43028" y="21401"/>
                  </a:lnTo>
                  <a:lnTo>
                    <a:pt x="41344" y="29729"/>
                  </a:lnTo>
                  <a:lnTo>
                    <a:pt x="36748" y="36532"/>
                  </a:lnTo>
                  <a:lnTo>
                    <a:pt x="29923" y="41120"/>
                  </a:lnTo>
                  <a:lnTo>
                    <a:pt x="21551" y="42802"/>
                  </a:lnTo>
                  <a:lnTo>
                    <a:pt x="13136" y="41120"/>
                  </a:lnTo>
                  <a:lnTo>
                    <a:pt x="6288" y="36532"/>
                  </a:lnTo>
                  <a:lnTo>
                    <a:pt x="1684" y="29729"/>
                  </a:lnTo>
                  <a:lnTo>
                    <a:pt x="0" y="21401"/>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22" name="object 222"/>
            <p:cNvSpPr/>
            <p:nvPr/>
          </p:nvSpPr>
          <p:spPr>
            <a:xfrm>
              <a:off x="4566630" y="2659298"/>
              <a:ext cx="0" cy="61594"/>
            </a:xfrm>
            <a:custGeom>
              <a:avLst/>
              <a:gdLst/>
              <a:ahLst/>
              <a:cxnLst/>
              <a:rect l="l" t="t" r="r" b="b"/>
              <a:pathLst>
                <a:path h="61594">
                  <a:moveTo>
                    <a:pt x="0" y="0"/>
                  </a:moveTo>
                  <a:lnTo>
                    <a:pt x="0" y="61231"/>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223" name="object 223"/>
          <p:cNvSpPr txBox="1"/>
          <p:nvPr/>
        </p:nvSpPr>
        <p:spPr>
          <a:xfrm>
            <a:off x="4317665" y="2706221"/>
            <a:ext cx="802640" cy="530979"/>
          </a:xfrm>
          <a:prstGeom prst="rect">
            <a:avLst/>
          </a:prstGeom>
          <a:ln w="22293">
            <a:solidFill>
              <a:srgbClr val="000000"/>
            </a:solidFill>
          </a:ln>
        </p:spPr>
        <p:txBody>
          <a:bodyPr vert="horz" wrap="square" lIns="0" tIns="0" rIns="0" bIns="0" rtlCol="0">
            <a:spAutoFit/>
          </a:bodyPr>
          <a:lstStyle/>
          <a:p>
            <a:pPr marL="112604">
              <a:lnSpc>
                <a:spcPts val="1913"/>
              </a:lnSpc>
            </a:pPr>
            <a:r>
              <a:rPr sz="1867" b="1" spc="-187" dirty="0">
                <a:latin typeface="Times New Roman" panose="02020603050405020304" pitchFamily="18" charset="0"/>
                <a:cs typeface="Times New Roman" panose="02020603050405020304" pitchFamily="18" charset="0"/>
              </a:rPr>
              <a:t>2b</a:t>
            </a:r>
            <a:r>
              <a:rPr sz="1867" b="1" spc="-113" dirty="0">
                <a:latin typeface="Times New Roman" panose="02020603050405020304" pitchFamily="18" charset="0"/>
                <a:cs typeface="Times New Roman" panose="02020603050405020304" pitchFamily="18" charset="0"/>
              </a:rPr>
              <a:t> </a:t>
            </a:r>
            <a:r>
              <a:rPr sz="1867" b="1" spc="-33" dirty="0">
                <a:latin typeface="Times New Roman" panose="02020603050405020304" pitchFamily="18" charset="0"/>
                <a:cs typeface="Times New Roman" panose="02020603050405020304" pitchFamily="18" charset="0"/>
              </a:rPr>
              <a:t>res</a:t>
            </a:r>
            <a:endParaRPr sz="1867">
              <a:latin typeface="Times New Roman" panose="02020603050405020304" pitchFamily="18" charset="0"/>
              <a:cs typeface="Times New Roman" panose="02020603050405020304" pitchFamily="18" charset="0"/>
            </a:endParaRPr>
          </a:p>
          <a:p>
            <a:pPr marL="59265">
              <a:spcBef>
                <a:spcPts val="7"/>
              </a:spcBef>
            </a:pPr>
            <a:r>
              <a:rPr sz="1867" b="1" spc="-173" dirty="0">
                <a:latin typeface="Times New Roman" panose="02020603050405020304" pitchFamily="18" charset="0"/>
                <a:cs typeface="Times New Roman" panose="02020603050405020304" pitchFamily="18" charset="0"/>
              </a:rPr>
              <a:t>40-</a:t>
            </a:r>
            <a:r>
              <a:rPr sz="1867" b="1" spc="-33" dirty="0">
                <a:latin typeface="Times New Roman" panose="02020603050405020304" pitchFamily="18" charset="0"/>
                <a:cs typeface="Times New Roman" panose="02020603050405020304" pitchFamily="18" charset="0"/>
              </a:rPr>
              <a:t>80Ω</a:t>
            </a:r>
            <a:endParaRPr sz="1867">
              <a:latin typeface="Times New Roman" panose="02020603050405020304" pitchFamily="18" charset="0"/>
              <a:cs typeface="Times New Roman" panose="02020603050405020304" pitchFamily="18" charset="0"/>
            </a:endParaRPr>
          </a:p>
        </p:txBody>
      </p:sp>
      <p:sp>
        <p:nvSpPr>
          <p:cNvPr id="224" name="object 224"/>
          <p:cNvSpPr txBox="1"/>
          <p:nvPr/>
        </p:nvSpPr>
        <p:spPr>
          <a:xfrm>
            <a:off x="5468370" y="2767313"/>
            <a:ext cx="710353" cy="461665"/>
          </a:xfrm>
          <a:prstGeom prst="rect">
            <a:avLst/>
          </a:prstGeom>
        </p:spPr>
        <p:txBody>
          <a:bodyPr vert="horz" wrap="square" lIns="0" tIns="17780" rIns="0" bIns="0" rtlCol="0">
            <a:spAutoFit/>
          </a:bodyPr>
          <a:lstStyle/>
          <a:p>
            <a:pPr marL="63498">
              <a:spcBef>
                <a:spcPts val="140"/>
              </a:spcBef>
            </a:pPr>
            <a:r>
              <a:rPr sz="1400" b="1" spc="-27" dirty="0">
                <a:latin typeface="Times New Roman" panose="02020603050405020304" pitchFamily="18" charset="0"/>
                <a:cs typeface="Times New Roman" panose="02020603050405020304" pitchFamily="18" charset="0"/>
              </a:rPr>
              <a:t>21kΩ</a:t>
            </a:r>
            <a:endParaRPr sz="1400">
              <a:latin typeface="Times New Roman" panose="02020603050405020304" pitchFamily="18" charset="0"/>
              <a:cs typeface="Times New Roman" panose="02020603050405020304" pitchFamily="18" charset="0"/>
            </a:endParaRPr>
          </a:p>
          <a:p>
            <a:pPr marL="16933">
              <a:spcBef>
                <a:spcPts val="73"/>
              </a:spcBef>
            </a:pPr>
            <a:r>
              <a:rPr sz="1400" b="1" spc="-180" dirty="0">
                <a:latin typeface="Times New Roman" panose="02020603050405020304" pitchFamily="18" charset="0"/>
                <a:cs typeface="Times New Roman" panose="02020603050405020304" pitchFamily="18" charset="0"/>
              </a:rPr>
              <a:t>Low</a:t>
            </a:r>
            <a:r>
              <a:rPr sz="1400" b="1" spc="-33" dirty="0">
                <a:latin typeface="Times New Roman" panose="02020603050405020304" pitchFamily="18" charset="0"/>
                <a:cs typeface="Times New Roman" panose="02020603050405020304" pitchFamily="18" charset="0"/>
              </a:rPr>
              <a:t> </a:t>
            </a:r>
            <a:r>
              <a:rPr sz="1400" b="1" spc="-133" dirty="0">
                <a:latin typeface="Times New Roman" panose="02020603050405020304" pitchFamily="18" charset="0"/>
                <a:cs typeface="Times New Roman" panose="02020603050405020304" pitchFamily="18" charset="0"/>
              </a:rPr>
              <a:t>Pass</a:t>
            </a:r>
            <a:endParaRPr sz="1400">
              <a:latin typeface="Times New Roman" panose="02020603050405020304" pitchFamily="18" charset="0"/>
              <a:cs typeface="Times New Roman" panose="02020603050405020304" pitchFamily="18" charset="0"/>
            </a:endParaRPr>
          </a:p>
        </p:txBody>
      </p:sp>
      <p:sp>
        <p:nvSpPr>
          <p:cNvPr id="225" name="object 225"/>
          <p:cNvSpPr txBox="1"/>
          <p:nvPr/>
        </p:nvSpPr>
        <p:spPr>
          <a:xfrm>
            <a:off x="5633250" y="3275102"/>
            <a:ext cx="415713" cy="233397"/>
          </a:xfrm>
          <a:prstGeom prst="rect">
            <a:avLst/>
          </a:prstGeom>
        </p:spPr>
        <p:txBody>
          <a:bodyPr vert="horz" wrap="square" lIns="0" tIns="17780" rIns="0" bIns="0" rtlCol="0">
            <a:spAutoFit/>
          </a:bodyPr>
          <a:lstStyle/>
          <a:p>
            <a:pPr marL="16933">
              <a:spcBef>
                <a:spcPts val="140"/>
              </a:spcBef>
            </a:pPr>
            <a:r>
              <a:rPr sz="1400" b="1" spc="-107" dirty="0">
                <a:latin typeface="Times New Roman" panose="02020603050405020304" pitchFamily="18" charset="0"/>
                <a:cs typeface="Times New Roman" panose="02020603050405020304" pitchFamily="18" charset="0"/>
              </a:rPr>
              <a:t>21kΩ</a:t>
            </a:r>
            <a:endParaRPr sz="1400">
              <a:latin typeface="Times New Roman" panose="02020603050405020304" pitchFamily="18" charset="0"/>
              <a:cs typeface="Times New Roman" panose="02020603050405020304" pitchFamily="18" charset="0"/>
            </a:endParaRPr>
          </a:p>
        </p:txBody>
      </p:sp>
      <p:sp>
        <p:nvSpPr>
          <p:cNvPr id="226" name="object 226"/>
          <p:cNvSpPr txBox="1"/>
          <p:nvPr/>
        </p:nvSpPr>
        <p:spPr>
          <a:xfrm>
            <a:off x="5385831" y="3997101"/>
            <a:ext cx="1031240" cy="592598"/>
          </a:xfrm>
          <a:prstGeom prst="rect">
            <a:avLst/>
          </a:prstGeom>
        </p:spPr>
        <p:txBody>
          <a:bodyPr vert="horz" wrap="square" lIns="0" tIns="17780" rIns="0" bIns="0" rtlCol="0">
            <a:spAutoFit/>
          </a:bodyPr>
          <a:lstStyle/>
          <a:p>
            <a:pPr marL="16933" marR="6773" indent="64345">
              <a:spcBef>
                <a:spcPts val="140"/>
              </a:spcBef>
            </a:pPr>
            <a:r>
              <a:rPr sz="1867" b="1" spc="-133" dirty="0">
                <a:latin typeface="Times New Roman" panose="02020603050405020304" pitchFamily="18" charset="0"/>
                <a:cs typeface="Times New Roman" panose="02020603050405020304" pitchFamily="18" charset="0"/>
              </a:rPr>
              <a:t>Improves </a:t>
            </a:r>
            <a:r>
              <a:rPr sz="1867" b="1" spc="-152" dirty="0">
                <a:latin typeface="Times New Roman" panose="02020603050405020304" pitchFamily="18" charset="0"/>
                <a:cs typeface="Times New Roman" panose="02020603050405020304" pitchFamily="18" charset="0"/>
              </a:rPr>
              <a:t>differential</a:t>
            </a:r>
            <a:endParaRPr sz="1867" dirty="0">
              <a:latin typeface="Times New Roman" panose="02020603050405020304" pitchFamily="18" charset="0"/>
              <a:cs typeface="Times New Roman" panose="02020603050405020304" pitchFamily="18" charset="0"/>
            </a:endParaRPr>
          </a:p>
        </p:txBody>
      </p:sp>
      <p:sp>
        <p:nvSpPr>
          <p:cNvPr id="227" name="object 227"/>
          <p:cNvSpPr txBox="1"/>
          <p:nvPr/>
        </p:nvSpPr>
        <p:spPr>
          <a:xfrm>
            <a:off x="5613532" y="4568847"/>
            <a:ext cx="576579" cy="305276"/>
          </a:xfrm>
          <a:prstGeom prst="rect">
            <a:avLst/>
          </a:prstGeom>
        </p:spPr>
        <p:txBody>
          <a:bodyPr vert="horz" wrap="square" lIns="0" tIns="17780" rIns="0" bIns="0" rtlCol="0">
            <a:spAutoFit/>
          </a:bodyPr>
          <a:lstStyle/>
          <a:p>
            <a:pPr marL="16933">
              <a:spcBef>
                <a:spcPts val="140"/>
              </a:spcBef>
            </a:pPr>
            <a:r>
              <a:rPr sz="1867" b="1" spc="-227" dirty="0">
                <a:latin typeface="Times New Roman" panose="02020603050405020304" pitchFamily="18" charset="0"/>
                <a:cs typeface="Times New Roman" panose="02020603050405020304" pitchFamily="18" charset="0"/>
              </a:rPr>
              <a:t>PSRR</a:t>
            </a:r>
            <a:endParaRPr sz="1867">
              <a:latin typeface="Times New Roman" panose="02020603050405020304" pitchFamily="18" charset="0"/>
              <a:cs typeface="Times New Roman" panose="02020603050405020304" pitchFamily="18" charset="0"/>
            </a:endParaRPr>
          </a:p>
        </p:txBody>
      </p:sp>
      <p:grpSp>
        <p:nvGrpSpPr>
          <p:cNvPr id="228" name="object 228"/>
          <p:cNvGrpSpPr/>
          <p:nvPr/>
        </p:nvGrpSpPr>
        <p:grpSpPr>
          <a:xfrm>
            <a:off x="2098082" y="1611397"/>
            <a:ext cx="3857413" cy="2473960"/>
            <a:chOff x="1573561" y="1208548"/>
            <a:chExt cx="2893060" cy="1855470"/>
          </a:xfrm>
        </p:grpSpPr>
        <p:sp>
          <p:nvSpPr>
            <p:cNvPr id="229" name="object 229"/>
            <p:cNvSpPr/>
            <p:nvPr/>
          </p:nvSpPr>
          <p:spPr>
            <a:xfrm>
              <a:off x="4425432" y="2796401"/>
              <a:ext cx="0" cy="196215"/>
            </a:xfrm>
            <a:custGeom>
              <a:avLst/>
              <a:gdLst/>
              <a:ahLst/>
              <a:cxnLst/>
              <a:rect l="l" t="t" r="r" b="b"/>
              <a:pathLst>
                <a:path h="196214">
                  <a:moveTo>
                    <a:pt x="0" y="0"/>
                  </a:moveTo>
                  <a:lnTo>
                    <a:pt x="0" y="195733"/>
                  </a:lnTo>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30" name="object 230"/>
            <p:cNvSpPr/>
            <p:nvPr/>
          </p:nvSpPr>
          <p:spPr>
            <a:xfrm>
              <a:off x="4384410" y="2981880"/>
              <a:ext cx="82550" cy="82550"/>
            </a:xfrm>
            <a:custGeom>
              <a:avLst/>
              <a:gdLst/>
              <a:ahLst/>
              <a:cxnLst/>
              <a:rect l="l" t="t" r="r" b="b"/>
              <a:pathLst>
                <a:path w="82550" h="82550">
                  <a:moveTo>
                    <a:pt x="82043" y="0"/>
                  </a:moveTo>
                  <a:lnTo>
                    <a:pt x="0" y="0"/>
                  </a:lnTo>
                  <a:lnTo>
                    <a:pt x="41021" y="82038"/>
                  </a:lnTo>
                  <a:lnTo>
                    <a:pt x="82043" y="0"/>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31" name="object 231"/>
            <p:cNvSpPr/>
            <p:nvPr/>
          </p:nvSpPr>
          <p:spPr>
            <a:xfrm>
              <a:off x="1584991" y="1219978"/>
              <a:ext cx="217804" cy="809625"/>
            </a:xfrm>
            <a:custGeom>
              <a:avLst/>
              <a:gdLst/>
              <a:ahLst/>
              <a:cxnLst/>
              <a:rect l="l" t="t" r="r" b="b"/>
              <a:pathLst>
                <a:path w="217805" h="809625">
                  <a:moveTo>
                    <a:pt x="0" y="809241"/>
                  </a:moveTo>
                  <a:lnTo>
                    <a:pt x="217371" y="809241"/>
                  </a:lnTo>
                  <a:lnTo>
                    <a:pt x="217371" y="0"/>
                  </a:lnTo>
                  <a:lnTo>
                    <a:pt x="0" y="0"/>
                  </a:lnTo>
                  <a:lnTo>
                    <a:pt x="0" y="809241"/>
                  </a:lnTo>
                  <a:close/>
                </a:path>
              </a:pathLst>
            </a:custGeom>
            <a:ln w="22294">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232" name="object 232"/>
          <p:cNvSpPr txBox="1"/>
          <p:nvPr/>
        </p:nvSpPr>
        <p:spPr>
          <a:xfrm>
            <a:off x="2137061" y="1849083"/>
            <a:ext cx="287323" cy="631612"/>
          </a:xfrm>
          <a:prstGeom prst="rect">
            <a:avLst/>
          </a:prstGeom>
        </p:spPr>
        <p:txBody>
          <a:bodyPr vert="vert" wrap="square" lIns="0" tIns="2540" rIns="0" bIns="0" rtlCol="0">
            <a:spAutoFit/>
          </a:bodyPr>
          <a:lstStyle/>
          <a:p>
            <a:pPr marL="16933">
              <a:spcBef>
                <a:spcPts val="20"/>
              </a:spcBef>
            </a:pPr>
            <a:r>
              <a:rPr sz="1867" b="1" spc="-167" dirty="0">
                <a:latin typeface="Times New Roman" panose="02020603050405020304" pitchFamily="18" charset="0"/>
                <a:cs typeface="Times New Roman" panose="02020603050405020304" pitchFamily="18" charset="0"/>
              </a:rPr>
              <a:t>Deser.</a:t>
            </a:r>
            <a:endParaRPr sz="1867">
              <a:latin typeface="Times New Roman" panose="02020603050405020304" pitchFamily="18" charset="0"/>
              <a:cs typeface="Times New Roman" panose="02020603050405020304" pitchFamily="18" charset="0"/>
            </a:endParaRPr>
          </a:p>
        </p:txBody>
      </p:sp>
      <p:sp>
        <p:nvSpPr>
          <p:cNvPr id="233" name="object 233"/>
          <p:cNvSpPr/>
          <p:nvPr/>
        </p:nvSpPr>
        <p:spPr>
          <a:xfrm>
            <a:off x="2197490" y="2697208"/>
            <a:ext cx="129540" cy="1505373"/>
          </a:xfrm>
          <a:custGeom>
            <a:avLst/>
            <a:gdLst/>
            <a:ahLst/>
            <a:cxnLst/>
            <a:rect l="l" t="t" r="r" b="b"/>
            <a:pathLst>
              <a:path w="97155" h="1129030">
                <a:moveTo>
                  <a:pt x="96837" y="663968"/>
                </a:moveTo>
                <a:lnTo>
                  <a:pt x="58572" y="625703"/>
                </a:lnTo>
                <a:lnTo>
                  <a:pt x="58572" y="0"/>
                </a:lnTo>
                <a:lnTo>
                  <a:pt x="32550" y="0"/>
                </a:lnTo>
                <a:lnTo>
                  <a:pt x="32550" y="599681"/>
                </a:lnTo>
                <a:lnTo>
                  <a:pt x="18364" y="585495"/>
                </a:lnTo>
                <a:lnTo>
                  <a:pt x="0" y="603923"/>
                </a:lnTo>
                <a:lnTo>
                  <a:pt x="32550" y="636447"/>
                </a:lnTo>
                <a:lnTo>
                  <a:pt x="32550" y="1050010"/>
                </a:lnTo>
                <a:lnTo>
                  <a:pt x="6172" y="1050010"/>
                </a:lnTo>
                <a:lnTo>
                  <a:pt x="45567" y="1128776"/>
                </a:lnTo>
                <a:lnTo>
                  <a:pt x="84950" y="1050010"/>
                </a:lnTo>
                <a:lnTo>
                  <a:pt x="58572" y="1050010"/>
                </a:lnTo>
                <a:lnTo>
                  <a:pt x="58572" y="662432"/>
                </a:lnTo>
                <a:lnTo>
                  <a:pt x="78486" y="682320"/>
                </a:lnTo>
                <a:lnTo>
                  <a:pt x="96837" y="663968"/>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34" name="object 234"/>
          <p:cNvSpPr txBox="1"/>
          <p:nvPr/>
        </p:nvSpPr>
        <p:spPr>
          <a:xfrm>
            <a:off x="2296968" y="3221516"/>
            <a:ext cx="287323" cy="634153"/>
          </a:xfrm>
          <a:prstGeom prst="rect">
            <a:avLst/>
          </a:prstGeom>
        </p:spPr>
        <p:txBody>
          <a:bodyPr vert="vert270" wrap="square" lIns="0" tIns="1693" rIns="0" bIns="0" rtlCol="0">
            <a:spAutoFit/>
          </a:bodyPr>
          <a:lstStyle/>
          <a:p>
            <a:pPr marL="16933">
              <a:spcBef>
                <a:spcPts val="13"/>
              </a:spcBef>
            </a:pPr>
            <a:r>
              <a:rPr sz="1867" b="1" spc="-187" dirty="0">
                <a:latin typeface="Times New Roman" panose="02020603050405020304" pitchFamily="18" charset="0"/>
                <a:cs typeface="Times New Roman" panose="02020603050405020304" pitchFamily="18" charset="0"/>
              </a:rPr>
              <a:t>64</a:t>
            </a:r>
            <a:r>
              <a:rPr sz="1867" b="1" spc="-120" dirty="0">
                <a:latin typeface="Times New Roman" panose="02020603050405020304" pitchFamily="18" charset="0"/>
                <a:cs typeface="Times New Roman" panose="02020603050405020304" pitchFamily="18" charset="0"/>
              </a:rPr>
              <a:t> </a:t>
            </a:r>
            <a:r>
              <a:rPr sz="1867" b="1" spc="-160" dirty="0">
                <a:latin typeface="Times New Roman" panose="02020603050405020304" pitchFamily="18" charset="0"/>
                <a:cs typeface="Times New Roman" panose="02020603050405020304" pitchFamily="18" charset="0"/>
              </a:rPr>
              <a:t>+16</a:t>
            </a:r>
            <a:endParaRPr sz="1867">
              <a:latin typeface="Times New Roman" panose="02020603050405020304" pitchFamily="18" charset="0"/>
              <a:cs typeface="Times New Roman" panose="02020603050405020304" pitchFamily="18" charset="0"/>
            </a:endParaRPr>
          </a:p>
        </p:txBody>
      </p:sp>
      <p:sp>
        <p:nvSpPr>
          <p:cNvPr id="235" name="object 235"/>
          <p:cNvSpPr txBox="1"/>
          <p:nvPr/>
        </p:nvSpPr>
        <p:spPr>
          <a:xfrm>
            <a:off x="1174181" y="2435532"/>
            <a:ext cx="287323" cy="1605280"/>
          </a:xfrm>
          <a:prstGeom prst="rect">
            <a:avLst/>
          </a:prstGeom>
          <a:ln w="22294">
            <a:solidFill>
              <a:srgbClr val="000000"/>
            </a:solidFill>
          </a:ln>
        </p:spPr>
        <p:txBody>
          <a:bodyPr vert="vert270" wrap="square" lIns="0" tIns="99060" rIns="0" bIns="0" rtlCol="0">
            <a:spAutoFit/>
          </a:bodyPr>
          <a:lstStyle/>
          <a:p>
            <a:pPr marL="118530">
              <a:spcBef>
                <a:spcPts val="780"/>
              </a:spcBef>
            </a:pPr>
            <a:r>
              <a:rPr sz="1867" b="1" spc="-253" dirty="0">
                <a:latin typeface="Times New Roman" panose="02020603050405020304" pitchFamily="18" charset="0"/>
                <a:cs typeface="Times New Roman" panose="02020603050405020304" pitchFamily="18" charset="0"/>
              </a:rPr>
              <a:t>PRBS</a:t>
            </a:r>
            <a:r>
              <a:rPr sz="1867" b="1" spc="-40" dirty="0">
                <a:latin typeface="Times New Roman" panose="02020603050405020304" pitchFamily="18" charset="0"/>
                <a:cs typeface="Times New Roman" panose="02020603050405020304" pitchFamily="18" charset="0"/>
              </a:rPr>
              <a:t> </a:t>
            </a:r>
            <a:r>
              <a:rPr sz="1867" b="1" spc="-67" dirty="0">
                <a:latin typeface="Times New Roman" panose="02020603050405020304" pitchFamily="18" charset="0"/>
                <a:cs typeface="Times New Roman" panose="02020603050405020304" pitchFamily="18" charset="0"/>
              </a:rPr>
              <a:t>Checker</a:t>
            </a:r>
            <a:endParaRPr sz="1867">
              <a:latin typeface="Times New Roman" panose="02020603050405020304" pitchFamily="18" charset="0"/>
              <a:cs typeface="Times New Roman" panose="02020603050405020304" pitchFamily="18" charset="0"/>
            </a:endParaRPr>
          </a:p>
        </p:txBody>
      </p:sp>
      <p:grpSp>
        <p:nvGrpSpPr>
          <p:cNvPr id="236" name="object 236"/>
          <p:cNvGrpSpPr/>
          <p:nvPr/>
        </p:nvGrpSpPr>
        <p:grpSpPr>
          <a:xfrm>
            <a:off x="1709245" y="3186563"/>
            <a:ext cx="584200" cy="110067"/>
            <a:chOff x="1281934" y="2389922"/>
            <a:chExt cx="438150" cy="82550"/>
          </a:xfrm>
        </p:grpSpPr>
        <p:sp>
          <p:nvSpPr>
            <p:cNvPr id="237" name="object 237"/>
            <p:cNvSpPr/>
            <p:nvPr/>
          </p:nvSpPr>
          <p:spPr>
            <a:xfrm>
              <a:off x="1281925" y="2389923"/>
              <a:ext cx="436880" cy="82550"/>
            </a:xfrm>
            <a:custGeom>
              <a:avLst/>
              <a:gdLst/>
              <a:ahLst/>
              <a:cxnLst/>
              <a:rect l="l" t="t" r="r" b="b"/>
              <a:pathLst>
                <a:path w="436880" h="82550">
                  <a:moveTo>
                    <a:pt x="436867" y="41021"/>
                  </a:moveTo>
                  <a:lnTo>
                    <a:pt x="434911" y="31330"/>
                  </a:lnTo>
                  <a:lnTo>
                    <a:pt x="429577" y="23418"/>
                  </a:lnTo>
                  <a:lnTo>
                    <a:pt x="421665" y="18084"/>
                  </a:lnTo>
                  <a:lnTo>
                    <a:pt x="411975" y="16129"/>
                  </a:lnTo>
                  <a:lnTo>
                    <a:pt x="402247" y="18084"/>
                  </a:lnTo>
                  <a:lnTo>
                    <a:pt x="394309" y="23418"/>
                  </a:lnTo>
                  <a:lnTo>
                    <a:pt x="389940" y="29883"/>
                  </a:lnTo>
                  <a:lnTo>
                    <a:pt x="82042" y="29883"/>
                  </a:lnTo>
                  <a:lnTo>
                    <a:pt x="82042" y="0"/>
                  </a:lnTo>
                  <a:lnTo>
                    <a:pt x="0" y="41021"/>
                  </a:lnTo>
                  <a:lnTo>
                    <a:pt x="82042" y="82042"/>
                  </a:lnTo>
                  <a:lnTo>
                    <a:pt x="82042" y="52171"/>
                  </a:lnTo>
                  <a:lnTo>
                    <a:pt x="389940" y="52171"/>
                  </a:lnTo>
                  <a:lnTo>
                    <a:pt x="394309" y="58623"/>
                  </a:lnTo>
                  <a:lnTo>
                    <a:pt x="402247" y="63957"/>
                  </a:lnTo>
                  <a:lnTo>
                    <a:pt x="411975" y="65913"/>
                  </a:lnTo>
                  <a:lnTo>
                    <a:pt x="421665" y="63957"/>
                  </a:lnTo>
                  <a:lnTo>
                    <a:pt x="429577" y="58623"/>
                  </a:lnTo>
                  <a:lnTo>
                    <a:pt x="434911" y="50711"/>
                  </a:lnTo>
                  <a:lnTo>
                    <a:pt x="436867" y="41021"/>
                  </a:lnTo>
                  <a:close/>
                </a:path>
              </a:pathLst>
            </a:custGeom>
            <a:solidFill>
              <a:srgbClr val="000000"/>
            </a:solidFill>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238" name="object 238"/>
            <p:cNvSpPr/>
            <p:nvPr/>
          </p:nvSpPr>
          <p:spPr>
            <a:xfrm>
              <a:off x="1668937" y="2406048"/>
              <a:ext cx="50165" cy="50165"/>
            </a:xfrm>
            <a:custGeom>
              <a:avLst/>
              <a:gdLst/>
              <a:ahLst/>
              <a:cxnLst/>
              <a:rect l="l" t="t" r="r" b="b"/>
              <a:pathLst>
                <a:path w="50164" h="50164">
                  <a:moveTo>
                    <a:pt x="0" y="24894"/>
                  </a:moveTo>
                  <a:lnTo>
                    <a:pt x="1957" y="15204"/>
                  </a:lnTo>
                  <a:lnTo>
                    <a:pt x="7301" y="7291"/>
                  </a:lnTo>
                  <a:lnTo>
                    <a:pt x="15236" y="1956"/>
                  </a:lnTo>
                  <a:lnTo>
                    <a:pt x="24969" y="0"/>
                  </a:lnTo>
                  <a:lnTo>
                    <a:pt x="34659" y="1956"/>
                  </a:lnTo>
                  <a:lnTo>
                    <a:pt x="42573" y="7291"/>
                  </a:lnTo>
                  <a:lnTo>
                    <a:pt x="47908" y="15204"/>
                  </a:lnTo>
                  <a:lnTo>
                    <a:pt x="49865" y="24894"/>
                  </a:lnTo>
                  <a:lnTo>
                    <a:pt x="47908" y="34583"/>
                  </a:lnTo>
                  <a:lnTo>
                    <a:pt x="42573" y="42496"/>
                  </a:lnTo>
                  <a:lnTo>
                    <a:pt x="34659" y="47831"/>
                  </a:lnTo>
                  <a:lnTo>
                    <a:pt x="24969" y="49788"/>
                  </a:lnTo>
                  <a:lnTo>
                    <a:pt x="15236" y="47831"/>
                  </a:lnTo>
                  <a:lnTo>
                    <a:pt x="7301" y="42496"/>
                  </a:lnTo>
                  <a:lnTo>
                    <a:pt x="1957" y="34583"/>
                  </a:lnTo>
                  <a:lnTo>
                    <a:pt x="0" y="24894"/>
                  </a:lnTo>
                  <a:close/>
                </a:path>
              </a:pathLst>
            </a:custGeom>
            <a:ln w="3175">
              <a:solidFill>
                <a:srgbClr val="000000"/>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grpSp>
      <p:sp>
        <p:nvSpPr>
          <p:cNvPr id="239" name="object 239"/>
          <p:cNvSpPr txBox="1"/>
          <p:nvPr/>
        </p:nvSpPr>
        <p:spPr>
          <a:xfrm>
            <a:off x="860891" y="5108837"/>
            <a:ext cx="5770880" cy="920830"/>
          </a:xfrm>
          <a:prstGeom prst="rect">
            <a:avLst/>
          </a:prstGeom>
        </p:spPr>
        <p:txBody>
          <a:bodyPr vert="horz" wrap="square" lIns="0" tIns="17780" rIns="0" bIns="0" rtlCol="0">
            <a:spAutoFit/>
          </a:bodyPr>
          <a:lstStyle/>
          <a:p>
            <a:pPr marL="337812" algn="ctr">
              <a:lnSpc>
                <a:spcPts val="2213"/>
              </a:lnSpc>
              <a:spcBef>
                <a:spcPts val="140"/>
              </a:spcBef>
            </a:pPr>
            <a:r>
              <a:rPr sz="1867" b="1" spc="-247" dirty="0">
                <a:latin typeface="Times New Roman" panose="02020603050405020304" pitchFamily="18" charset="0"/>
                <a:cs typeface="Times New Roman" panose="02020603050405020304" pitchFamily="18" charset="0"/>
              </a:rPr>
              <a:t>Common</a:t>
            </a:r>
            <a:r>
              <a:rPr sz="1867" b="1" spc="-87" dirty="0">
                <a:latin typeface="Times New Roman" panose="02020603050405020304" pitchFamily="18" charset="0"/>
                <a:cs typeface="Times New Roman" panose="02020603050405020304" pitchFamily="18" charset="0"/>
              </a:rPr>
              <a:t> </a:t>
            </a:r>
            <a:r>
              <a:rPr sz="1867" b="1" spc="-233" dirty="0">
                <a:latin typeface="Times New Roman" panose="02020603050405020304" pitchFamily="18" charset="0"/>
                <a:cs typeface="Times New Roman" panose="02020603050405020304" pitchFamily="18" charset="0"/>
              </a:rPr>
              <a:t>Mode</a:t>
            </a:r>
            <a:r>
              <a:rPr sz="1867" b="1" spc="-53" dirty="0">
                <a:latin typeface="Times New Roman" panose="02020603050405020304" pitchFamily="18" charset="0"/>
                <a:cs typeface="Times New Roman" panose="02020603050405020304" pitchFamily="18" charset="0"/>
              </a:rPr>
              <a:t> </a:t>
            </a:r>
            <a:r>
              <a:rPr sz="1867" b="1" spc="-27" dirty="0">
                <a:latin typeface="Times New Roman" panose="02020603050405020304" pitchFamily="18" charset="0"/>
                <a:cs typeface="Times New Roman" panose="02020603050405020304" pitchFamily="18" charset="0"/>
              </a:rPr>
              <a:t>Gen.</a:t>
            </a:r>
            <a:endParaRPr sz="1867" dirty="0">
              <a:latin typeface="Times New Roman" panose="02020603050405020304" pitchFamily="18" charset="0"/>
              <a:cs typeface="Times New Roman" panose="02020603050405020304" pitchFamily="18" charset="0"/>
            </a:endParaRPr>
          </a:p>
          <a:p>
            <a:pPr marL="247220" indent="-230288">
              <a:lnSpc>
                <a:spcPts val="2213"/>
              </a:lnSpc>
              <a:buClr>
                <a:srgbClr val="17610F"/>
              </a:buClr>
              <a:buFont typeface="Microsoft Sans Serif"/>
              <a:buChar char="•"/>
              <a:tabLst>
                <a:tab pos="247220" algn="l"/>
              </a:tabLst>
            </a:pPr>
            <a:r>
              <a:rPr sz="1867" spc="-13" dirty="0">
                <a:latin typeface="Times New Roman" panose="02020603050405020304" pitchFamily="18" charset="0"/>
                <a:cs typeface="Times New Roman" panose="02020603050405020304" pitchFamily="18" charset="0"/>
              </a:rPr>
              <a:t>Voutb</a:t>
            </a:r>
            <a:r>
              <a:rPr sz="1867" spc="-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is</a:t>
            </a:r>
            <a:r>
              <a:rPr sz="1867" spc="-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directly</a:t>
            </a:r>
            <a:r>
              <a:rPr sz="1867" spc="-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fed</a:t>
            </a:r>
            <a:r>
              <a:rPr sz="1867" spc="-5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to</a:t>
            </a:r>
            <a:r>
              <a:rPr sz="1867" spc="-5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four</a:t>
            </a:r>
            <a:r>
              <a:rPr sz="1867" spc="-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data</a:t>
            </a:r>
            <a:r>
              <a:rPr sz="1867" spc="-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and</a:t>
            </a:r>
            <a:r>
              <a:rPr sz="1867" spc="-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one</a:t>
            </a:r>
            <a:r>
              <a:rPr sz="1867" spc="-6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error</a:t>
            </a:r>
            <a:r>
              <a:rPr sz="1867" spc="-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slicers</a:t>
            </a:r>
            <a:endParaRPr sz="1867" dirty="0">
              <a:latin typeface="Times New Roman" panose="02020603050405020304" pitchFamily="18" charset="0"/>
              <a:cs typeface="Times New Roman" panose="02020603050405020304" pitchFamily="18" charset="0"/>
            </a:endParaRPr>
          </a:p>
          <a:p>
            <a:pPr marL="247220" indent="-230288">
              <a:spcBef>
                <a:spcPts val="387"/>
              </a:spcBef>
              <a:buClr>
                <a:srgbClr val="17610F"/>
              </a:buClr>
              <a:buFont typeface="Microsoft Sans Serif"/>
              <a:buChar char="•"/>
              <a:tabLst>
                <a:tab pos="247220" algn="l"/>
              </a:tabLst>
            </a:pPr>
            <a:r>
              <a:rPr sz="1867" dirty="0">
                <a:latin typeface="Times New Roman" panose="02020603050405020304" pitchFamily="18" charset="0"/>
                <a:cs typeface="Times New Roman" panose="02020603050405020304" pitchFamily="18" charset="0"/>
              </a:rPr>
              <a:t>Kickback</a:t>
            </a:r>
            <a:r>
              <a:rPr sz="1867" spc="-60"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matched</a:t>
            </a:r>
            <a:r>
              <a:rPr sz="1867" spc="-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on</a:t>
            </a:r>
            <a:r>
              <a:rPr sz="1867" spc="-5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4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Vcm</a:t>
            </a:r>
            <a:r>
              <a:rPr sz="1867" spc="-4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and</a:t>
            </a:r>
            <a:r>
              <a:rPr sz="1867" spc="-4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Voutb</a:t>
            </a:r>
            <a:r>
              <a:rPr sz="1867" spc="-40"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node</a:t>
            </a:r>
            <a:endParaRPr sz="1867" dirty="0">
              <a:latin typeface="Times New Roman" panose="02020603050405020304" pitchFamily="18" charset="0"/>
              <a:cs typeface="Times New Roman" panose="02020603050405020304" pitchFamily="18" charset="0"/>
            </a:endParaRPr>
          </a:p>
        </p:txBody>
      </p:sp>
      <p:sp>
        <p:nvSpPr>
          <p:cNvPr id="244" name="object 244"/>
          <p:cNvSpPr txBox="1"/>
          <p:nvPr/>
        </p:nvSpPr>
        <p:spPr>
          <a:xfrm>
            <a:off x="4469721" y="6329810"/>
            <a:ext cx="3579707" cy="387286"/>
          </a:xfrm>
          <a:prstGeom prst="rect">
            <a:avLst/>
          </a:prstGeom>
        </p:spPr>
        <p:txBody>
          <a:bodyPr vert="horz" wrap="square" lIns="0" tIns="17780" rIns="0" bIns="0" rtlCol="0">
            <a:spAutoFit/>
          </a:bodyPr>
          <a:lstStyle/>
          <a:p>
            <a:pPr marL="601964" marR="6773" indent="-585879">
              <a:spcBef>
                <a:spcPts val="140"/>
              </a:spcBef>
            </a:pPr>
            <a:r>
              <a:rPr sz="1200" dirty="0">
                <a:solidFill>
                  <a:srgbClr val="FFFFFF"/>
                </a:solidFill>
                <a:latin typeface="Times New Roman" panose="02020603050405020304" pitchFamily="18" charset="0"/>
                <a:cs typeface="Times New Roman" panose="02020603050405020304" pitchFamily="18" charset="0"/>
              </a:rPr>
              <a:t>Distribution</a:t>
            </a:r>
            <a:r>
              <a:rPr sz="1200" spc="-60" dirty="0">
                <a:solidFill>
                  <a:srgbClr val="FFFFFF"/>
                </a:solidFill>
                <a:latin typeface="Times New Roman" panose="02020603050405020304" pitchFamily="18" charset="0"/>
                <a:cs typeface="Times New Roman" panose="02020603050405020304" pitchFamily="18" charset="0"/>
              </a:rPr>
              <a:t> </a:t>
            </a:r>
            <a:r>
              <a:rPr sz="1200" dirty="0">
                <a:solidFill>
                  <a:srgbClr val="FFFFFF"/>
                </a:solidFill>
                <a:latin typeface="Times New Roman" panose="02020603050405020304" pitchFamily="18" charset="0"/>
                <a:cs typeface="Times New Roman" panose="02020603050405020304" pitchFamily="18" charset="0"/>
              </a:rPr>
              <a:t>Statement</a:t>
            </a:r>
            <a:r>
              <a:rPr sz="1200" spc="-87" dirty="0">
                <a:solidFill>
                  <a:srgbClr val="FFFFFF"/>
                </a:solidFill>
                <a:latin typeface="Times New Roman" panose="02020603050405020304" pitchFamily="18" charset="0"/>
                <a:cs typeface="Times New Roman" panose="02020603050405020304" pitchFamily="18" charset="0"/>
              </a:rPr>
              <a:t> </a:t>
            </a:r>
            <a:r>
              <a:rPr sz="1200" dirty="0">
                <a:solidFill>
                  <a:srgbClr val="FFFFFF"/>
                </a:solidFill>
                <a:latin typeface="Times New Roman" panose="02020603050405020304" pitchFamily="18" charset="0"/>
                <a:cs typeface="Times New Roman" panose="02020603050405020304" pitchFamily="18" charset="0"/>
              </a:rPr>
              <a:t>A</a:t>
            </a:r>
            <a:r>
              <a:rPr sz="1200" spc="-40" dirty="0">
                <a:solidFill>
                  <a:srgbClr val="FFFFFF"/>
                </a:solidFill>
                <a:latin typeface="Times New Roman" panose="02020603050405020304" pitchFamily="18" charset="0"/>
                <a:cs typeface="Times New Roman" panose="02020603050405020304" pitchFamily="18" charset="0"/>
              </a:rPr>
              <a:t> </a:t>
            </a:r>
            <a:r>
              <a:rPr sz="1200" dirty="0">
                <a:solidFill>
                  <a:srgbClr val="FFFFFF"/>
                </a:solidFill>
                <a:latin typeface="Times New Roman" panose="02020603050405020304" pitchFamily="18" charset="0"/>
                <a:cs typeface="Times New Roman" panose="02020603050405020304" pitchFamily="18" charset="0"/>
              </a:rPr>
              <a:t>–Approved</a:t>
            </a:r>
            <a:r>
              <a:rPr sz="1200" spc="-40" dirty="0">
                <a:solidFill>
                  <a:srgbClr val="FFFFFF"/>
                </a:solidFill>
                <a:latin typeface="Times New Roman" panose="02020603050405020304" pitchFamily="18" charset="0"/>
                <a:cs typeface="Times New Roman" panose="02020603050405020304" pitchFamily="18" charset="0"/>
              </a:rPr>
              <a:t> </a:t>
            </a:r>
            <a:r>
              <a:rPr sz="1200" dirty="0">
                <a:solidFill>
                  <a:srgbClr val="FFFFFF"/>
                </a:solidFill>
                <a:latin typeface="Times New Roman" panose="02020603050405020304" pitchFamily="18" charset="0"/>
                <a:cs typeface="Times New Roman" panose="02020603050405020304" pitchFamily="18" charset="0"/>
              </a:rPr>
              <a:t>for</a:t>
            </a:r>
            <a:r>
              <a:rPr sz="1200" spc="-47" dirty="0">
                <a:solidFill>
                  <a:srgbClr val="FFFFFF"/>
                </a:solidFill>
                <a:latin typeface="Times New Roman" panose="02020603050405020304" pitchFamily="18" charset="0"/>
                <a:cs typeface="Times New Roman" panose="02020603050405020304" pitchFamily="18" charset="0"/>
              </a:rPr>
              <a:t> </a:t>
            </a:r>
            <a:r>
              <a:rPr sz="1200" spc="-13" dirty="0">
                <a:solidFill>
                  <a:srgbClr val="FFFFFF"/>
                </a:solidFill>
                <a:latin typeface="Times New Roman" panose="02020603050405020304" pitchFamily="18" charset="0"/>
                <a:cs typeface="Times New Roman" panose="02020603050405020304" pitchFamily="18" charset="0"/>
              </a:rPr>
              <a:t>Public </a:t>
            </a:r>
            <a:r>
              <a:rPr sz="1200" dirty="0">
                <a:solidFill>
                  <a:srgbClr val="FFFFFF"/>
                </a:solidFill>
                <a:latin typeface="Times New Roman" panose="02020603050405020304" pitchFamily="18" charset="0"/>
                <a:cs typeface="Times New Roman" panose="02020603050405020304" pitchFamily="18" charset="0"/>
              </a:rPr>
              <a:t>Release,</a:t>
            </a:r>
            <a:r>
              <a:rPr sz="1200" spc="-7" dirty="0">
                <a:solidFill>
                  <a:srgbClr val="FFFFFF"/>
                </a:solidFill>
                <a:latin typeface="Times New Roman" panose="02020603050405020304" pitchFamily="18" charset="0"/>
                <a:cs typeface="Times New Roman" panose="02020603050405020304" pitchFamily="18" charset="0"/>
              </a:rPr>
              <a:t> </a:t>
            </a:r>
            <a:r>
              <a:rPr sz="1200" spc="-13" dirty="0">
                <a:solidFill>
                  <a:srgbClr val="FFFFFF"/>
                </a:solidFill>
                <a:latin typeface="Times New Roman" panose="02020603050405020304" pitchFamily="18" charset="0"/>
                <a:cs typeface="Times New Roman" panose="02020603050405020304" pitchFamily="18" charset="0"/>
              </a:rPr>
              <a:t>Distribution</a:t>
            </a:r>
            <a:r>
              <a:rPr sz="1200" spc="-20" dirty="0">
                <a:solidFill>
                  <a:srgbClr val="FFFFFF"/>
                </a:solidFill>
                <a:latin typeface="Times New Roman" panose="02020603050405020304" pitchFamily="18" charset="0"/>
                <a:cs typeface="Times New Roman" panose="02020603050405020304" pitchFamily="18" charset="0"/>
              </a:rPr>
              <a:t> </a:t>
            </a:r>
            <a:r>
              <a:rPr sz="1200" spc="-13" dirty="0">
                <a:solidFill>
                  <a:srgbClr val="FFFFFF"/>
                </a:solidFill>
                <a:latin typeface="Times New Roman" panose="02020603050405020304" pitchFamily="18" charset="0"/>
                <a:cs typeface="Times New Roman" panose="02020603050405020304" pitchFamily="18" charset="0"/>
              </a:rPr>
              <a:t>Unlimited</a:t>
            </a:r>
            <a:endParaRPr sz="1200">
              <a:latin typeface="Times New Roman" panose="02020603050405020304" pitchFamily="18" charset="0"/>
              <a:cs typeface="Times New Roman" panose="02020603050405020304" pitchFamily="18" charset="0"/>
            </a:endParaRPr>
          </a:p>
        </p:txBody>
      </p:sp>
      <p:sp>
        <p:nvSpPr>
          <p:cNvPr id="245" name="object 245"/>
          <p:cNvSpPr txBox="1">
            <a:spLocks noGrp="1"/>
          </p:cNvSpPr>
          <p:nvPr>
            <p:ph type="sldNum" sz="quarter" idx="7"/>
          </p:nvPr>
        </p:nvSpPr>
        <p:spPr>
          <a:xfrm>
            <a:off x="8564125" y="6534484"/>
            <a:ext cx="3403609" cy="180306"/>
          </a:xfrm>
          <a:prstGeom prst="rect">
            <a:avLst/>
          </a:prstGeom>
        </p:spPr>
        <p:txBody>
          <a:bodyPr vert="horz" wrap="square" lIns="0" tIns="0" rIns="0" bIns="0" rtlCol="0" anchor="ctr">
            <a:spAutoFit/>
          </a:bodyPr>
          <a:lstStyle/>
          <a:p>
            <a:pPr marL="50799">
              <a:lnSpc>
                <a:spcPts val="1533"/>
              </a:lnSpc>
            </a:pPr>
            <a:fld id="{81D60167-4931-47E6-BA6A-407CBD079E47}" type="slidenum">
              <a:rPr>
                <a:latin typeface="Times New Roman" panose="02020603050405020304" pitchFamily="18" charset="0"/>
                <a:cs typeface="Times New Roman" panose="02020603050405020304" pitchFamily="18" charset="0"/>
              </a:rPr>
              <a:pPr marL="50799">
                <a:lnSpc>
                  <a:spcPts val="1533"/>
                </a:lnSpc>
              </a:pPr>
              <a:t>63</a:t>
            </a:fld>
            <a:r>
              <a:rPr dirty="0">
                <a:latin typeface="Times New Roman" panose="02020603050405020304" pitchFamily="18" charset="0"/>
                <a:cs typeface="Times New Roman" panose="02020603050405020304" pitchFamily="18" charset="0"/>
              </a:rPr>
              <a:t> </a:t>
            </a:r>
            <a:endParaRPr spc="-33" dirty="0">
              <a:latin typeface="Times New Roman" panose="02020603050405020304" pitchFamily="18" charset="0"/>
              <a:cs typeface="Times New Roman" panose="02020603050405020304" pitchFamily="18" charset="0"/>
            </a:endParaRPr>
          </a:p>
        </p:txBody>
      </p:sp>
      <p:sp>
        <p:nvSpPr>
          <p:cNvPr id="240" name="object 240"/>
          <p:cNvSpPr txBox="1"/>
          <p:nvPr/>
        </p:nvSpPr>
        <p:spPr>
          <a:xfrm>
            <a:off x="2019854" y="4162120"/>
            <a:ext cx="458893" cy="592598"/>
          </a:xfrm>
          <a:prstGeom prst="rect">
            <a:avLst/>
          </a:prstGeom>
        </p:spPr>
        <p:txBody>
          <a:bodyPr vert="horz" wrap="square" lIns="0" tIns="17780" rIns="0" bIns="0" rtlCol="0">
            <a:spAutoFit/>
          </a:bodyPr>
          <a:lstStyle/>
          <a:p>
            <a:pPr marL="108371">
              <a:spcBef>
                <a:spcPts val="140"/>
              </a:spcBef>
            </a:pPr>
            <a:r>
              <a:rPr sz="1867" b="1" spc="-33" dirty="0">
                <a:latin typeface="Times New Roman" panose="02020603050405020304" pitchFamily="18" charset="0"/>
                <a:cs typeface="Times New Roman" panose="02020603050405020304" pitchFamily="18" charset="0"/>
              </a:rPr>
              <a:t>To</a:t>
            </a:r>
            <a:endParaRPr sz="1867">
              <a:latin typeface="Times New Roman" panose="02020603050405020304" pitchFamily="18" charset="0"/>
              <a:cs typeface="Times New Roman" panose="02020603050405020304" pitchFamily="18" charset="0"/>
            </a:endParaRPr>
          </a:p>
          <a:p>
            <a:pPr marL="16933">
              <a:spcBef>
                <a:spcPts val="13"/>
              </a:spcBef>
            </a:pPr>
            <a:r>
              <a:rPr sz="1867" b="1" spc="-220" dirty="0">
                <a:latin typeface="Times New Roman" panose="02020603050405020304" pitchFamily="18" charset="0"/>
                <a:cs typeface="Times New Roman" panose="02020603050405020304" pitchFamily="18" charset="0"/>
              </a:rPr>
              <a:t>CDR</a:t>
            </a:r>
            <a:endParaRPr sz="1867">
              <a:latin typeface="Times New Roman" panose="02020603050405020304" pitchFamily="18" charset="0"/>
              <a:cs typeface="Times New Roman" panose="02020603050405020304" pitchFamily="18" charset="0"/>
            </a:endParaRPr>
          </a:p>
        </p:txBody>
      </p:sp>
      <p:sp>
        <p:nvSpPr>
          <p:cNvPr id="241" name="object 241"/>
          <p:cNvSpPr txBox="1"/>
          <p:nvPr/>
        </p:nvSpPr>
        <p:spPr>
          <a:xfrm>
            <a:off x="2698422" y="2679379"/>
            <a:ext cx="1021927" cy="305276"/>
          </a:xfrm>
          <a:prstGeom prst="rect">
            <a:avLst/>
          </a:prstGeom>
        </p:spPr>
        <p:txBody>
          <a:bodyPr vert="horz" wrap="square" lIns="0" tIns="17780" rIns="0" bIns="0" rtlCol="0">
            <a:spAutoFit/>
          </a:bodyPr>
          <a:lstStyle/>
          <a:p>
            <a:pPr marL="50799">
              <a:spcBef>
                <a:spcPts val="140"/>
              </a:spcBef>
            </a:pPr>
            <a:r>
              <a:rPr sz="1867" b="1" spc="-207" dirty="0">
                <a:latin typeface="Times New Roman" panose="02020603050405020304" pitchFamily="18" charset="0"/>
                <a:cs typeface="Times New Roman" panose="02020603050405020304" pitchFamily="18" charset="0"/>
              </a:rPr>
              <a:t>12.5GHz</a:t>
            </a:r>
            <a:r>
              <a:rPr sz="1867" b="1" spc="-100" dirty="0">
                <a:latin typeface="Times New Roman" panose="02020603050405020304" pitchFamily="18" charset="0"/>
                <a:cs typeface="Times New Roman" panose="02020603050405020304" pitchFamily="18" charset="0"/>
              </a:rPr>
              <a:t> </a:t>
            </a:r>
            <a:r>
              <a:rPr sz="2800" b="1" spc="-100" baseline="-35714" dirty="0">
                <a:latin typeface="Times New Roman" panose="02020603050405020304" pitchFamily="18" charset="0"/>
                <a:cs typeface="Times New Roman" panose="02020603050405020304" pitchFamily="18" charset="0"/>
              </a:rPr>
              <a:t>4</a:t>
            </a:r>
            <a:endParaRPr sz="2800" baseline="-35714">
              <a:latin typeface="Times New Roman" panose="02020603050405020304" pitchFamily="18" charset="0"/>
              <a:cs typeface="Times New Roman" panose="02020603050405020304" pitchFamily="18" charset="0"/>
            </a:endParaRPr>
          </a:p>
        </p:txBody>
      </p:sp>
      <p:sp>
        <p:nvSpPr>
          <p:cNvPr id="242" name="object 242"/>
          <p:cNvSpPr txBox="1"/>
          <p:nvPr/>
        </p:nvSpPr>
        <p:spPr>
          <a:xfrm>
            <a:off x="2965637" y="2965227"/>
            <a:ext cx="336127" cy="305276"/>
          </a:xfrm>
          <a:prstGeom prst="rect">
            <a:avLst/>
          </a:prstGeom>
        </p:spPr>
        <p:txBody>
          <a:bodyPr vert="horz" wrap="square" lIns="0" tIns="17780" rIns="0" bIns="0" rtlCol="0">
            <a:spAutoFit/>
          </a:bodyPr>
          <a:lstStyle/>
          <a:p>
            <a:pPr marL="16933">
              <a:spcBef>
                <a:spcPts val="140"/>
              </a:spcBef>
            </a:pPr>
            <a:r>
              <a:rPr sz="1867" b="1" spc="-160" dirty="0">
                <a:latin typeface="Times New Roman" panose="02020603050405020304" pitchFamily="18" charset="0"/>
                <a:cs typeface="Times New Roman" panose="02020603050405020304" pitchFamily="18" charset="0"/>
              </a:rPr>
              <a:t>Clk</a:t>
            </a:r>
            <a:endParaRPr sz="1867">
              <a:latin typeface="Times New Roman" panose="02020603050405020304" pitchFamily="18" charset="0"/>
              <a:cs typeface="Times New Roman" panose="02020603050405020304" pitchFamily="18" charset="0"/>
            </a:endParaRPr>
          </a:p>
        </p:txBody>
      </p:sp>
      <p:sp>
        <p:nvSpPr>
          <p:cNvPr id="243" name="object 243"/>
          <p:cNvSpPr txBox="1"/>
          <p:nvPr/>
        </p:nvSpPr>
        <p:spPr>
          <a:xfrm>
            <a:off x="8103277" y="3017849"/>
            <a:ext cx="675640" cy="853289"/>
          </a:xfrm>
          <a:prstGeom prst="rect">
            <a:avLst/>
          </a:prstGeom>
        </p:spPr>
        <p:txBody>
          <a:bodyPr vert="horz" wrap="square" lIns="0" tIns="52493" rIns="0" bIns="0" rtlCol="0">
            <a:spAutoFit/>
          </a:bodyPr>
          <a:lstStyle/>
          <a:p>
            <a:pPr marL="32173">
              <a:spcBef>
                <a:spcPts val="413"/>
              </a:spcBef>
            </a:pPr>
            <a:r>
              <a:rPr sz="1867" b="1" spc="-33" dirty="0">
                <a:latin typeface="Times New Roman" panose="02020603050405020304" pitchFamily="18" charset="0"/>
                <a:cs typeface="Times New Roman" panose="02020603050405020304" pitchFamily="18" charset="0"/>
              </a:rPr>
              <a:t>3b</a:t>
            </a:r>
            <a:endParaRPr sz="1867">
              <a:latin typeface="Times New Roman" panose="02020603050405020304" pitchFamily="18" charset="0"/>
              <a:cs typeface="Times New Roman" panose="02020603050405020304" pitchFamily="18" charset="0"/>
            </a:endParaRPr>
          </a:p>
          <a:p>
            <a:pPr marL="88051">
              <a:lnSpc>
                <a:spcPts val="1653"/>
              </a:lnSpc>
              <a:spcBef>
                <a:spcPts val="213"/>
              </a:spcBef>
            </a:pPr>
            <a:r>
              <a:rPr sz="1400" b="1" spc="-127" dirty="0">
                <a:latin typeface="Times New Roman" panose="02020603050405020304" pitchFamily="18" charset="0"/>
                <a:cs typeface="Times New Roman" panose="02020603050405020304" pitchFamily="18" charset="0"/>
              </a:rPr>
              <a:t>0-</a:t>
            </a:r>
            <a:r>
              <a:rPr sz="1400" b="1" spc="-147" dirty="0">
                <a:latin typeface="Times New Roman" panose="02020603050405020304" pitchFamily="18" charset="0"/>
                <a:cs typeface="Times New Roman" panose="02020603050405020304" pitchFamily="18" charset="0"/>
              </a:rPr>
              <a:t>1.3mA</a:t>
            </a:r>
            <a:endParaRPr sz="1400">
              <a:latin typeface="Times New Roman" panose="02020603050405020304" pitchFamily="18" charset="0"/>
              <a:cs typeface="Times New Roman" panose="02020603050405020304" pitchFamily="18" charset="0"/>
            </a:endParaRPr>
          </a:p>
          <a:p>
            <a:pPr marL="16933">
              <a:lnSpc>
                <a:spcPts val="2133"/>
              </a:lnSpc>
            </a:pPr>
            <a:r>
              <a:rPr spc="-13" dirty="0">
                <a:latin typeface="Times New Roman" panose="02020603050405020304" pitchFamily="18" charset="0"/>
                <a:cs typeface="Times New Roman" panose="02020603050405020304" pitchFamily="18" charset="0"/>
              </a:rPr>
              <a:t>range</a:t>
            </a:r>
            <a:endParaRPr>
              <a:latin typeface="Times New Roman" panose="02020603050405020304" pitchFamily="18" charset="0"/>
              <a:cs typeface="Times New Roman" panose="02020603050405020304" pitchFamily="18" charset="0"/>
            </a:endParaRPr>
          </a:p>
        </p:txBody>
      </p:sp>
      <p:sp>
        <p:nvSpPr>
          <p:cNvPr id="246" name="Date Placeholder 245"/>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247" name="Footer Placeholder 246"/>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150548673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67" y="233003"/>
            <a:ext cx="585045" cy="221365"/>
          </a:xfrm>
          <a:prstGeom prst="rect">
            <a:avLst/>
          </a:prstGeom>
        </p:spPr>
        <p:txBody>
          <a:bodyPr vert="horz" wrap="square" lIns="0" tIns="16087" rIns="0" bIns="0" rtlCol="0">
            <a:spAutoFit/>
          </a:bodyPr>
          <a:lstStyle/>
          <a:p>
            <a:pPr marL="16933">
              <a:spcBef>
                <a:spcPts val="127"/>
              </a:spcBef>
            </a:pPr>
            <a:r>
              <a:rPr sz="1333" spc="-13" dirty="0">
                <a:solidFill>
                  <a:srgbClr val="008000"/>
                </a:solidFill>
                <a:latin typeface="Arial MT"/>
                <a:cs typeface="Arial MT"/>
              </a:rPr>
              <a:t>[Public]</a:t>
            </a:r>
            <a:endParaRPr sz="1333">
              <a:latin typeface="Arial MT"/>
              <a:cs typeface="Arial MT"/>
            </a:endParaRPr>
          </a:p>
        </p:txBody>
      </p:sp>
      <p:grpSp>
        <p:nvGrpSpPr>
          <p:cNvPr id="3" name="object 3"/>
          <p:cNvGrpSpPr/>
          <p:nvPr/>
        </p:nvGrpSpPr>
        <p:grpSpPr>
          <a:xfrm>
            <a:off x="7253528" y="4269293"/>
            <a:ext cx="1858433" cy="1214967"/>
            <a:chOff x="5440145" y="3201969"/>
            <a:chExt cx="1393825" cy="911225"/>
          </a:xfrm>
        </p:grpSpPr>
        <p:sp>
          <p:nvSpPr>
            <p:cNvPr id="4" name="object 4"/>
            <p:cNvSpPr/>
            <p:nvPr/>
          </p:nvSpPr>
          <p:spPr>
            <a:xfrm>
              <a:off x="5451527" y="3212188"/>
              <a:ext cx="1373505" cy="888365"/>
            </a:xfrm>
            <a:custGeom>
              <a:avLst/>
              <a:gdLst/>
              <a:ahLst/>
              <a:cxnLst/>
              <a:rect l="l" t="t" r="r" b="b"/>
              <a:pathLst>
                <a:path w="1373504" h="888364">
                  <a:moveTo>
                    <a:pt x="117445" y="7857"/>
                  </a:moveTo>
                  <a:lnTo>
                    <a:pt x="117445" y="887811"/>
                  </a:lnTo>
                </a:path>
                <a:path w="1373504" h="888364">
                  <a:moveTo>
                    <a:pt x="230862" y="7857"/>
                  </a:moveTo>
                  <a:lnTo>
                    <a:pt x="230862" y="887811"/>
                  </a:lnTo>
                </a:path>
                <a:path w="1373504" h="888364">
                  <a:moveTo>
                    <a:pt x="344280" y="0"/>
                  </a:moveTo>
                  <a:lnTo>
                    <a:pt x="344280" y="887811"/>
                  </a:lnTo>
                </a:path>
                <a:path w="1373504" h="888364">
                  <a:moveTo>
                    <a:pt x="457697" y="0"/>
                  </a:moveTo>
                  <a:lnTo>
                    <a:pt x="457697" y="887811"/>
                  </a:lnTo>
                </a:path>
                <a:path w="1373504" h="888364">
                  <a:moveTo>
                    <a:pt x="571075" y="7857"/>
                  </a:moveTo>
                  <a:lnTo>
                    <a:pt x="571075" y="887811"/>
                  </a:lnTo>
                </a:path>
                <a:path w="1373504" h="888364">
                  <a:moveTo>
                    <a:pt x="684492" y="7857"/>
                  </a:moveTo>
                  <a:lnTo>
                    <a:pt x="684492" y="887811"/>
                  </a:lnTo>
                </a:path>
                <a:path w="1373504" h="888364">
                  <a:moveTo>
                    <a:pt x="797910" y="0"/>
                  </a:moveTo>
                  <a:lnTo>
                    <a:pt x="797910" y="887811"/>
                  </a:lnTo>
                </a:path>
                <a:path w="1373504" h="888364">
                  <a:moveTo>
                    <a:pt x="911327" y="0"/>
                  </a:moveTo>
                  <a:lnTo>
                    <a:pt x="911327" y="887811"/>
                  </a:lnTo>
                </a:path>
                <a:path w="1373504" h="888364">
                  <a:moveTo>
                    <a:pt x="1024745" y="0"/>
                  </a:moveTo>
                  <a:lnTo>
                    <a:pt x="1024745" y="887811"/>
                  </a:lnTo>
                </a:path>
                <a:path w="1373504" h="888364">
                  <a:moveTo>
                    <a:pt x="1138162" y="7857"/>
                  </a:moveTo>
                  <a:lnTo>
                    <a:pt x="1138163" y="887811"/>
                  </a:lnTo>
                </a:path>
                <a:path w="1373504" h="888364">
                  <a:moveTo>
                    <a:pt x="1251580" y="7857"/>
                  </a:moveTo>
                  <a:lnTo>
                    <a:pt x="1251580" y="887811"/>
                  </a:lnTo>
                </a:path>
                <a:path w="1373504" h="888364">
                  <a:moveTo>
                    <a:pt x="1364957" y="117827"/>
                  </a:moveTo>
                  <a:lnTo>
                    <a:pt x="0" y="117827"/>
                  </a:lnTo>
                </a:path>
                <a:path w="1373504" h="888364">
                  <a:moveTo>
                    <a:pt x="1364957" y="227838"/>
                  </a:moveTo>
                  <a:lnTo>
                    <a:pt x="0" y="227838"/>
                  </a:lnTo>
                </a:path>
                <a:path w="1373504" h="888364">
                  <a:moveTo>
                    <a:pt x="1369025" y="337848"/>
                  </a:moveTo>
                  <a:lnTo>
                    <a:pt x="4027" y="337848"/>
                  </a:lnTo>
                </a:path>
                <a:path w="1373504" h="888364">
                  <a:moveTo>
                    <a:pt x="1369025" y="447818"/>
                  </a:moveTo>
                  <a:lnTo>
                    <a:pt x="4027" y="447818"/>
                  </a:lnTo>
                </a:path>
                <a:path w="1373504" h="888364">
                  <a:moveTo>
                    <a:pt x="1369025" y="557829"/>
                  </a:moveTo>
                  <a:lnTo>
                    <a:pt x="4027" y="557829"/>
                  </a:lnTo>
                </a:path>
                <a:path w="1373504" h="888364">
                  <a:moveTo>
                    <a:pt x="1369025" y="667839"/>
                  </a:moveTo>
                  <a:lnTo>
                    <a:pt x="4027" y="667839"/>
                  </a:lnTo>
                </a:path>
                <a:path w="1373504" h="888364">
                  <a:moveTo>
                    <a:pt x="1373093" y="777813"/>
                  </a:moveTo>
                  <a:lnTo>
                    <a:pt x="8095" y="777813"/>
                  </a:lnTo>
                </a:path>
              </a:pathLst>
            </a:custGeom>
            <a:ln w="3175">
              <a:solidFill>
                <a:srgbClr val="A4A4A4"/>
              </a:solidFill>
            </a:ln>
          </p:spPr>
          <p:txBody>
            <a:bodyPr wrap="square" lIns="0" tIns="0" rIns="0" bIns="0" rtlCol="0"/>
            <a:lstStyle/>
            <a:p>
              <a:endParaRPr sz="2400"/>
            </a:p>
          </p:txBody>
        </p:sp>
        <p:sp>
          <p:nvSpPr>
            <p:cNvPr id="5" name="object 5"/>
            <p:cNvSpPr/>
            <p:nvPr/>
          </p:nvSpPr>
          <p:spPr>
            <a:xfrm>
              <a:off x="5449352" y="3211176"/>
              <a:ext cx="1375410" cy="892810"/>
            </a:xfrm>
            <a:custGeom>
              <a:avLst/>
              <a:gdLst/>
              <a:ahLst/>
              <a:cxnLst/>
              <a:rect l="l" t="t" r="r" b="b"/>
              <a:pathLst>
                <a:path w="1375409" h="892810">
                  <a:moveTo>
                    <a:pt x="0" y="892776"/>
                  </a:moveTo>
                  <a:lnTo>
                    <a:pt x="1375268" y="892776"/>
                  </a:lnTo>
                  <a:lnTo>
                    <a:pt x="1375268" y="0"/>
                  </a:lnTo>
                  <a:lnTo>
                    <a:pt x="0" y="0"/>
                  </a:lnTo>
                  <a:lnTo>
                    <a:pt x="0" y="892776"/>
                  </a:lnTo>
                  <a:close/>
                </a:path>
              </a:pathLst>
            </a:custGeom>
            <a:ln w="18130">
              <a:solidFill>
                <a:srgbClr val="000000"/>
              </a:solidFill>
            </a:ln>
          </p:spPr>
          <p:txBody>
            <a:bodyPr wrap="square" lIns="0" tIns="0" rIns="0" bIns="0" rtlCol="0"/>
            <a:lstStyle/>
            <a:p>
              <a:endParaRPr sz="2400"/>
            </a:p>
          </p:txBody>
        </p:sp>
      </p:grpSp>
      <p:grpSp>
        <p:nvGrpSpPr>
          <p:cNvPr id="6" name="object 6"/>
          <p:cNvGrpSpPr/>
          <p:nvPr/>
        </p:nvGrpSpPr>
        <p:grpSpPr>
          <a:xfrm>
            <a:off x="7253526" y="2341175"/>
            <a:ext cx="1858433" cy="1214967"/>
            <a:chOff x="5440144" y="1755881"/>
            <a:chExt cx="1393825" cy="911225"/>
          </a:xfrm>
        </p:grpSpPr>
        <p:sp>
          <p:nvSpPr>
            <p:cNvPr id="7" name="object 7"/>
            <p:cNvSpPr/>
            <p:nvPr/>
          </p:nvSpPr>
          <p:spPr>
            <a:xfrm>
              <a:off x="5451527" y="1761502"/>
              <a:ext cx="1373505" cy="888365"/>
            </a:xfrm>
            <a:custGeom>
              <a:avLst/>
              <a:gdLst/>
              <a:ahLst/>
              <a:cxnLst/>
              <a:rect l="l" t="t" r="r" b="b"/>
              <a:pathLst>
                <a:path w="1373504" h="888364">
                  <a:moveTo>
                    <a:pt x="117445" y="7857"/>
                  </a:moveTo>
                  <a:lnTo>
                    <a:pt x="117445" y="887819"/>
                  </a:lnTo>
                </a:path>
                <a:path w="1373504" h="888364">
                  <a:moveTo>
                    <a:pt x="230862" y="7857"/>
                  </a:moveTo>
                  <a:lnTo>
                    <a:pt x="230862" y="887819"/>
                  </a:lnTo>
                </a:path>
                <a:path w="1373504" h="888364">
                  <a:moveTo>
                    <a:pt x="344280" y="0"/>
                  </a:moveTo>
                  <a:lnTo>
                    <a:pt x="344280" y="887819"/>
                  </a:lnTo>
                </a:path>
                <a:path w="1373504" h="888364">
                  <a:moveTo>
                    <a:pt x="457697" y="0"/>
                  </a:moveTo>
                  <a:lnTo>
                    <a:pt x="457697" y="887819"/>
                  </a:lnTo>
                </a:path>
                <a:path w="1373504" h="888364">
                  <a:moveTo>
                    <a:pt x="571075" y="7857"/>
                  </a:moveTo>
                  <a:lnTo>
                    <a:pt x="571075" y="887819"/>
                  </a:lnTo>
                </a:path>
                <a:path w="1373504" h="888364">
                  <a:moveTo>
                    <a:pt x="684492" y="7857"/>
                  </a:moveTo>
                  <a:lnTo>
                    <a:pt x="684492" y="887819"/>
                  </a:lnTo>
                </a:path>
                <a:path w="1373504" h="888364">
                  <a:moveTo>
                    <a:pt x="797910" y="0"/>
                  </a:moveTo>
                  <a:lnTo>
                    <a:pt x="797910" y="887819"/>
                  </a:lnTo>
                </a:path>
                <a:path w="1373504" h="888364">
                  <a:moveTo>
                    <a:pt x="911327" y="0"/>
                  </a:moveTo>
                  <a:lnTo>
                    <a:pt x="911327" y="887819"/>
                  </a:lnTo>
                </a:path>
                <a:path w="1373504" h="888364">
                  <a:moveTo>
                    <a:pt x="1024745" y="0"/>
                  </a:moveTo>
                  <a:lnTo>
                    <a:pt x="1024745" y="887819"/>
                  </a:lnTo>
                </a:path>
                <a:path w="1373504" h="888364">
                  <a:moveTo>
                    <a:pt x="1138162" y="7857"/>
                  </a:moveTo>
                  <a:lnTo>
                    <a:pt x="1138163" y="887819"/>
                  </a:lnTo>
                </a:path>
                <a:path w="1373504" h="888364">
                  <a:moveTo>
                    <a:pt x="1251580" y="7857"/>
                  </a:moveTo>
                  <a:lnTo>
                    <a:pt x="1251580" y="887819"/>
                  </a:lnTo>
                </a:path>
                <a:path w="1373504" h="888364">
                  <a:moveTo>
                    <a:pt x="1364957" y="117827"/>
                  </a:moveTo>
                  <a:lnTo>
                    <a:pt x="0" y="117827"/>
                  </a:lnTo>
                </a:path>
                <a:path w="1373504" h="888364">
                  <a:moveTo>
                    <a:pt x="1364957" y="227838"/>
                  </a:moveTo>
                  <a:lnTo>
                    <a:pt x="0" y="227838"/>
                  </a:lnTo>
                </a:path>
                <a:path w="1373504" h="888364">
                  <a:moveTo>
                    <a:pt x="1369025" y="337848"/>
                  </a:moveTo>
                  <a:lnTo>
                    <a:pt x="4027" y="337848"/>
                  </a:lnTo>
                </a:path>
                <a:path w="1373504" h="888364">
                  <a:moveTo>
                    <a:pt x="1369025" y="447818"/>
                  </a:moveTo>
                  <a:lnTo>
                    <a:pt x="4027" y="447818"/>
                  </a:lnTo>
                </a:path>
                <a:path w="1373504" h="888364">
                  <a:moveTo>
                    <a:pt x="1369025" y="557829"/>
                  </a:moveTo>
                  <a:lnTo>
                    <a:pt x="4027" y="557829"/>
                  </a:lnTo>
                </a:path>
                <a:path w="1373504" h="888364">
                  <a:moveTo>
                    <a:pt x="1369025" y="667799"/>
                  </a:moveTo>
                  <a:lnTo>
                    <a:pt x="4027" y="667799"/>
                  </a:lnTo>
                </a:path>
                <a:path w="1373504" h="888364">
                  <a:moveTo>
                    <a:pt x="1373093" y="777809"/>
                  </a:moveTo>
                  <a:lnTo>
                    <a:pt x="8095" y="777809"/>
                  </a:lnTo>
                </a:path>
              </a:pathLst>
            </a:custGeom>
            <a:ln w="3175">
              <a:solidFill>
                <a:srgbClr val="A4A4A4"/>
              </a:solidFill>
            </a:ln>
          </p:spPr>
          <p:txBody>
            <a:bodyPr wrap="square" lIns="0" tIns="0" rIns="0" bIns="0" rtlCol="0"/>
            <a:lstStyle/>
            <a:p>
              <a:endParaRPr sz="2400"/>
            </a:p>
          </p:txBody>
        </p:sp>
        <p:sp>
          <p:nvSpPr>
            <p:cNvPr id="8" name="object 8"/>
            <p:cNvSpPr/>
            <p:nvPr/>
          </p:nvSpPr>
          <p:spPr>
            <a:xfrm>
              <a:off x="5449352" y="1765088"/>
              <a:ext cx="1375410" cy="892810"/>
            </a:xfrm>
            <a:custGeom>
              <a:avLst/>
              <a:gdLst/>
              <a:ahLst/>
              <a:cxnLst/>
              <a:rect l="l" t="t" r="r" b="b"/>
              <a:pathLst>
                <a:path w="1375409" h="892810">
                  <a:moveTo>
                    <a:pt x="0" y="892776"/>
                  </a:moveTo>
                  <a:lnTo>
                    <a:pt x="1375268" y="892776"/>
                  </a:lnTo>
                  <a:lnTo>
                    <a:pt x="1375268" y="0"/>
                  </a:lnTo>
                  <a:lnTo>
                    <a:pt x="0" y="0"/>
                  </a:lnTo>
                  <a:lnTo>
                    <a:pt x="0" y="892776"/>
                  </a:lnTo>
                  <a:close/>
                </a:path>
              </a:pathLst>
            </a:custGeom>
            <a:ln w="18130">
              <a:solidFill>
                <a:srgbClr val="000000"/>
              </a:solidFill>
            </a:ln>
          </p:spPr>
          <p:txBody>
            <a:bodyPr wrap="square" lIns="0" tIns="0" rIns="0" bIns="0" rtlCol="0"/>
            <a:lstStyle/>
            <a:p>
              <a:endParaRPr sz="2400"/>
            </a:p>
          </p:txBody>
        </p:sp>
      </p:grpSp>
      <p:sp>
        <p:nvSpPr>
          <p:cNvPr id="9" name="object 9"/>
          <p:cNvSpPr txBox="1"/>
          <p:nvPr/>
        </p:nvSpPr>
        <p:spPr>
          <a:xfrm>
            <a:off x="7000448" y="2639446"/>
            <a:ext cx="230832" cy="561340"/>
          </a:xfrm>
          <a:prstGeom prst="rect">
            <a:avLst/>
          </a:prstGeom>
        </p:spPr>
        <p:txBody>
          <a:bodyPr vert="vert270" wrap="square" lIns="0" tIns="0" rIns="0" bIns="0" rtlCol="0">
            <a:spAutoFit/>
          </a:bodyPr>
          <a:lstStyle/>
          <a:p>
            <a:pPr marL="16933">
              <a:lnSpc>
                <a:spcPts val="1820"/>
              </a:lnSpc>
            </a:pPr>
            <a:r>
              <a:rPr sz="1533" b="1" spc="-13" dirty="0">
                <a:latin typeface="Arial"/>
                <a:cs typeface="Arial"/>
              </a:rPr>
              <a:t>Noise</a:t>
            </a:r>
            <a:endParaRPr sz="1533">
              <a:latin typeface="Arial"/>
              <a:cs typeface="Arial"/>
            </a:endParaRPr>
          </a:p>
        </p:txBody>
      </p:sp>
      <p:sp>
        <p:nvSpPr>
          <p:cNvPr id="10" name="object 10"/>
          <p:cNvSpPr txBox="1"/>
          <p:nvPr/>
        </p:nvSpPr>
        <p:spPr>
          <a:xfrm>
            <a:off x="7460239" y="3549346"/>
            <a:ext cx="1389380" cy="251287"/>
          </a:xfrm>
          <a:prstGeom prst="rect">
            <a:avLst/>
          </a:prstGeom>
        </p:spPr>
        <p:txBody>
          <a:bodyPr vert="horz" wrap="square" lIns="0" tIns="15240" rIns="0" bIns="0" rtlCol="0">
            <a:spAutoFit/>
          </a:bodyPr>
          <a:lstStyle/>
          <a:p>
            <a:pPr marL="16933">
              <a:spcBef>
                <a:spcPts val="120"/>
              </a:spcBef>
            </a:pPr>
            <a:r>
              <a:rPr sz="1533" b="1" dirty="0">
                <a:latin typeface="Arial"/>
                <a:cs typeface="Arial"/>
              </a:rPr>
              <a:t>TIA</a:t>
            </a:r>
            <a:r>
              <a:rPr sz="1533" b="1" spc="-33" dirty="0">
                <a:latin typeface="Arial"/>
                <a:cs typeface="Arial"/>
              </a:rPr>
              <a:t> </a:t>
            </a:r>
            <a:r>
              <a:rPr sz="1533" b="1" spc="-13" dirty="0">
                <a:latin typeface="Arial"/>
                <a:cs typeface="Arial"/>
              </a:rPr>
              <a:t>Bandwidth</a:t>
            </a:r>
            <a:endParaRPr sz="1533">
              <a:latin typeface="Arial"/>
              <a:cs typeface="Arial"/>
            </a:endParaRPr>
          </a:p>
        </p:txBody>
      </p:sp>
      <p:grpSp>
        <p:nvGrpSpPr>
          <p:cNvPr id="11" name="object 11"/>
          <p:cNvGrpSpPr/>
          <p:nvPr/>
        </p:nvGrpSpPr>
        <p:grpSpPr>
          <a:xfrm>
            <a:off x="7254848" y="2559610"/>
            <a:ext cx="1671320" cy="956733"/>
            <a:chOff x="5441136" y="1919707"/>
            <a:chExt cx="1253490" cy="717550"/>
          </a:xfrm>
        </p:grpSpPr>
        <p:sp>
          <p:nvSpPr>
            <p:cNvPr id="12" name="object 12"/>
            <p:cNvSpPr/>
            <p:nvPr/>
          </p:nvSpPr>
          <p:spPr>
            <a:xfrm>
              <a:off x="5567522" y="1919707"/>
              <a:ext cx="1127125" cy="655320"/>
            </a:xfrm>
            <a:custGeom>
              <a:avLst/>
              <a:gdLst/>
              <a:ahLst/>
              <a:cxnLst/>
              <a:rect l="l" t="t" r="r" b="b"/>
              <a:pathLst>
                <a:path w="1127125" h="655319">
                  <a:moveTo>
                    <a:pt x="1117984" y="0"/>
                  </a:moveTo>
                  <a:lnTo>
                    <a:pt x="0" y="639188"/>
                  </a:lnTo>
                  <a:lnTo>
                    <a:pt x="8981" y="654944"/>
                  </a:lnTo>
                  <a:lnTo>
                    <a:pt x="1126966" y="15756"/>
                  </a:lnTo>
                  <a:lnTo>
                    <a:pt x="1117984" y="0"/>
                  </a:lnTo>
                  <a:close/>
                </a:path>
              </a:pathLst>
            </a:custGeom>
            <a:solidFill>
              <a:srgbClr val="FF0000"/>
            </a:solidFill>
          </p:spPr>
          <p:txBody>
            <a:bodyPr wrap="square" lIns="0" tIns="0" rIns="0" bIns="0" rtlCol="0"/>
            <a:lstStyle/>
            <a:p>
              <a:endParaRPr sz="2400"/>
            </a:p>
          </p:txBody>
        </p:sp>
        <p:sp>
          <p:nvSpPr>
            <p:cNvPr id="13" name="object 13"/>
            <p:cNvSpPr/>
            <p:nvPr/>
          </p:nvSpPr>
          <p:spPr>
            <a:xfrm>
              <a:off x="6186647" y="2208071"/>
              <a:ext cx="0" cy="429259"/>
            </a:xfrm>
            <a:custGeom>
              <a:avLst/>
              <a:gdLst/>
              <a:ahLst/>
              <a:cxnLst/>
              <a:rect l="l" t="t" r="r" b="b"/>
              <a:pathLst>
                <a:path h="429260">
                  <a:moveTo>
                    <a:pt x="0" y="0"/>
                  </a:moveTo>
                  <a:lnTo>
                    <a:pt x="0" y="429161"/>
                  </a:lnTo>
                </a:path>
              </a:pathLst>
            </a:custGeom>
            <a:ln w="12082">
              <a:solidFill>
                <a:srgbClr val="000000"/>
              </a:solidFill>
              <a:prstDash val="sysDash"/>
            </a:ln>
          </p:spPr>
          <p:txBody>
            <a:bodyPr wrap="square" lIns="0" tIns="0" rIns="0" bIns="0" rtlCol="0"/>
            <a:lstStyle/>
            <a:p>
              <a:endParaRPr sz="2400"/>
            </a:p>
          </p:txBody>
        </p:sp>
        <p:sp>
          <p:nvSpPr>
            <p:cNvPr id="14" name="object 14"/>
            <p:cNvSpPr/>
            <p:nvPr/>
          </p:nvSpPr>
          <p:spPr>
            <a:xfrm>
              <a:off x="5441136" y="2214116"/>
              <a:ext cx="751840" cy="0"/>
            </a:xfrm>
            <a:custGeom>
              <a:avLst/>
              <a:gdLst/>
              <a:ahLst/>
              <a:cxnLst/>
              <a:rect l="l" t="t" r="r" b="b"/>
              <a:pathLst>
                <a:path w="751839">
                  <a:moveTo>
                    <a:pt x="0" y="0"/>
                  </a:moveTo>
                  <a:lnTo>
                    <a:pt x="751552" y="0"/>
                  </a:lnTo>
                </a:path>
              </a:pathLst>
            </a:custGeom>
            <a:ln w="12089">
              <a:solidFill>
                <a:srgbClr val="000000"/>
              </a:solidFill>
              <a:prstDash val="sysDash"/>
            </a:ln>
          </p:spPr>
          <p:txBody>
            <a:bodyPr wrap="square" lIns="0" tIns="0" rIns="0" bIns="0" rtlCol="0"/>
            <a:lstStyle/>
            <a:p>
              <a:endParaRPr sz="2400"/>
            </a:p>
          </p:txBody>
        </p:sp>
      </p:grpSp>
      <p:grpSp>
        <p:nvGrpSpPr>
          <p:cNvPr id="15" name="object 15"/>
          <p:cNvGrpSpPr/>
          <p:nvPr/>
        </p:nvGrpSpPr>
        <p:grpSpPr>
          <a:xfrm>
            <a:off x="4359779" y="2267632"/>
            <a:ext cx="2103120" cy="1524000"/>
            <a:chOff x="3269834" y="1700724"/>
            <a:chExt cx="1577340" cy="1143000"/>
          </a:xfrm>
        </p:grpSpPr>
        <p:sp>
          <p:nvSpPr>
            <p:cNvPr id="16" name="object 16"/>
            <p:cNvSpPr/>
            <p:nvPr/>
          </p:nvSpPr>
          <p:spPr>
            <a:xfrm>
              <a:off x="3315748" y="1721044"/>
              <a:ext cx="1479550" cy="1102360"/>
            </a:xfrm>
            <a:custGeom>
              <a:avLst/>
              <a:gdLst/>
              <a:ahLst/>
              <a:cxnLst/>
              <a:rect l="l" t="t" r="r" b="b"/>
              <a:pathLst>
                <a:path w="1479550" h="1102360">
                  <a:moveTo>
                    <a:pt x="0" y="841236"/>
                  </a:moveTo>
                  <a:lnTo>
                    <a:pt x="28869" y="797131"/>
                  </a:lnTo>
                  <a:lnTo>
                    <a:pt x="57038" y="753197"/>
                  </a:lnTo>
                  <a:lnTo>
                    <a:pt x="84741" y="709367"/>
                  </a:lnTo>
                  <a:lnTo>
                    <a:pt x="112212" y="665574"/>
                  </a:lnTo>
                  <a:lnTo>
                    <a:pt x="139687" y="621751"/>
                  </a:lnTo>
                  <a:lnTo>
                    <a:pt x="167400" y="577832"/>
                  </a:lnTo>
                  <a:lnTo>
                    <a:pt x="195586" y="533750"/>
                  </a:lnTo>
                  <a:lnTo>
                    <a:pt x="224480" y="489437"/>
                  </a:lnTo>
                  <a:lnTo>
                    <a:pt x="254317" y="444828"/>
                  </a:lnTo>
                  <a:lnTo>
                    <a:pt x="285331" y="399854"/>
                  </a:lnTo>
                  <a:lnTo>
                    <a:pt x="317758" y="354450"/>
                  </a:lnTo>
                  <a:lnTo>
                    <a:pt x="349779" y="311303"/>
                  </a:lnTo>
                  <a:lnTo>
                    <a:pt x="383134" y="268248"/>
                  </a:lnTo>
                  <a:lnTo>
                    <a:pt x="417700" y="225813"/>
                  </a:lnTo>
                  <a:lnTo>
                    <a:pt x="453353" y="184526"/>
                  </a:lnTo>
                  <a:lnTo>
                    <a:pt x="489972" y="144916"/>
                  </a:lnTo>
                  <a:lnTo>
                    <a:pt x="527431" y="107511"/>
                  </a:lnTo>
                  <a:lnTo>
                    <a:pt x="563854" y="74551"/>
                  </a:lnTo>
                  <a:lnTo>
                    <a:pt x="601037" y="45702"/>
                  </a:lnTo>
                  <a:lnTo>
                    <a:pt x="639097" y="22582"/>
                  </a:lnTo>
                  <a:lnTo>
                    <a:pt x="678147" y="6809"/>
                  </a:lnTo>
                  <a:lnTo>
                    <a:pt x="718300" y="0"/>
                  </a:lnTo>
                  <a:lnTo>
                    <a:pt x="763610" y="4039"/>
                  </a:lnTo>
                  <a:lnTo>
                    <a:pt x="809474" y="18695"/>
                  </a:lnTo>
                  <a:lnTo>
                    <a:pt x="854989" y="41829"/>
                  </a:lnTo>
                  <a:lnTo>
                    <a:pt x="899249" y="71301"/>
                  </a:lnTo>
                  <a:lnTo>
                    <a:pt x="941349" y="104973"/>
                  </a:lnTo>
                  <a:lnTo>
                    <a:pt x="977514" y="138008"/>
                  </a:lnTo>
                  <a:lnTo>
                    <a:pt x="1011432" y="172601"/>
                  </a:lnTo>
                  <a:lnTo>
                    <a:pt x="1043452" y="208576"/>
                  </a:lnTo>
                  <a:lnTo>
                    <a:pt x="1073919" y="245757"/>
                  </a:lnTo>
                  <a:lnTo>
                    <a:pt x="1103181" y="283968"/>
                  </a:lnTo>
                  <a:lnTo>
                    <a:pt x="1131584" y="323032"/>
                  </a:lnTo>
                  <a:lnTo>
                    <a:pt x="1159474" y="362774"/>
                  </a:lnTo>
                  <a:lnTo>
                    <a:pt x="1187199" y="403018"/>
                  </a:lnTo>
                  <a:lnTo>
                    <a:pt x="1215106" y="443587"/>
                  </a:lnTo>
                  <a:lnTo>
                    <a:pt x="1245762" y="487633"/>
                  </a:lnTo>
                  <a:lnTo>
                    <a:pt x="1276750" y="531815"/>
                  </a:lnTo>
                  <a:lnTo>
                    <a:pt x="1307784" y="576089"/>
                  </a:lnTo>
                  <a:lnTo>
                    <a:pt x="1338579" y="620412"/>
                  </a:lnTo>
                  <a:lnTo>
                    <a:pt x="1368848" y="664740"/>
                  </a:lnTo>
                  <a:lnTo>
                    <a:pt x="1398306" y="709030"/>
                  </a:lnTo>
                  <a:lnTo>
                    <a:pt x="1426667" y="753238"/>
                  </a:lnTo>
                  <a:lnTo>
                    <a:pt x="1453645" y="797321"/>
                  </a:lnTo>
                  <a:lnTo>
                    <a:pt x="1478955" y="841236"/>
                  </a:lnTo>
                </a:path>
                <a:path w="1479550" h="1102360">
                  <a:moveTo>
                    <a:pt x="0" y="260962"/>
                  </a:moveTo>
                  <a:lnTo>
                    <a:pt x="28869" y="305058"/>
                  </a:lnTo>
                  <a:lnTo>
                    <a:pt x="57038" y="348986"/>
                  </a:lnTo>
                  <a:lnTo>
                    <a:pt x="84741" y="392813"/>
                  </a:lnTo>
                  <a:lnTo>
                    <a:pt x="112212" y="436605"/>
                  </a:lnTo>
                  <a:lnTo>
                    <a:pt x="139687" y="480427"/>
                  </a:lnTo>
                  <a:lnTo>
                    <a:pt x="167400" y="524346"/>
                  </a:lnTo>
                  <a:lnTo>
                    <a:pt x="195586" y="568428"/>
                  </a:lnTo>
                  <a:lnTo>
                    <a:pt x="224480" y="612739"/>
                  </a:lnTo>
                  <a:lnTo>
                    <a:pt x="254317" y="657345"/>
                  </a:lnTo>
                  <a:lnTo>
                    <a:pt x="285331" y="702312"/>
                  </a:lnTo>
                  <a:lnTo>
                    <a:pt x="317758" y="747707"/>
                  </a:lnTo>
                  <a:lnTo>
                    <a:pt x="349779" y="790857"/>
                  </a:lnTo>
                  <a:lnTo>
                    <a:pt x="383134" y="833920"/>
                  </a:lnTo>
                  <a:lnTo>
                    <a:pt x="417700" y="876365"/>
                  </a:lnTo>
                  <a:lnTo>
                    <a:pt x="453353" y="917661"/>
                  </a:lnTo>
                  <a:lnTo>
                    <a:pt x="489972" y="957279"/>
                  </a:lnTo>
                  <a:lnTo>
                    <a:pt x="527432" y="994687"/>
                  </a:lnTo>
                  <a:lnTo>
                    <a:pt x="563854" y="1027632"/>
                  </a:lnTo>
                  <a:lnTo>
                    <a:pt x="601038" y="1056479"/>
                  </a:lnTo>
                  <a:lnTo>
                    <a:pt x="639097" y="1079604"/>
                  </a:lnTo>
                  <a:lnTo>
                    <a:pt x="678147" y="1095385"/>
                  </a:lnTo>
                  <a:lnTo>
                    <a:pt x="718300" y="1102199"/>
                  </a:lnTo>
                  <a:lnTo>
                    <a:pt x="763610" y="1098156"/>
                  </a:lnTo>
                  <a:lnTo>
                    <a:pt x="809474" y="1083492"/>
                  </a:lnTo>
                  <a:lnTo>
                    <a:pt x="854989" y="1060352"/>
                  </a:lnTo>
                  <a:lnTo>
                    <a:pt x="899249" y="1030881"/>
                  </a:lnTo>
                  <a:lnTo>
                    <a:pt x="941349" y="997225"/>
                  </a:lnTo>
                  <a:lnTo>
                    <a:pt x="977514" y="964180"/>
                  </a:lnTo>
                  <a:lnTo>
                    <a:pt x="1011433" y="929581"/>
                  </a:lnTo>
                  <a:lnTo>
                    <a:pt x="1043452" y="893604"/>
                  </a:lnTo>
                  <a:lnTo>
                    <a:pt x="1073919" y="856424"/>
                  </a:lnTo>
                  <a:lnTo>
                    <a:pt x="1103181" y="818217"/>
                  </a:lnTo>
                  <a:lnTo>
                    <a:pt x="1131584" y="779157"/>
                  </a:lnTo>
                  <a:lnTo>
                    <a:pt x="1159474" y="739419"/>
                  </a:lnTo>
                  <a:lnTo>
                    <a:pt x="1187200" y="699179"/>
                  </a:lnTo>
                  <a:lnTo>
                    <a:pt x="1215106" y="658611"/>
                  </a:lnTo>
                  <a:lnTo>
                    <a:pt x="1245762" y="614554"/>
                  </a:lnTo>
                  <a:lnTo>
                    <a:pt x="1276750" y="570367"/>
                  </a:lnTo>
                  <a:lnTo>
                    <a:pt x="1307784" y="526091"/>
                  </a:lnTo>
                  <a:lnTo>
                    <a:pt x="1338579" y="481770"/>
                  </a:lnTo>
                  <a:lnTo>
                    <a:pt x="1368848" y="437445"/>
                  </a:lnTo>
                  <a:lnTo>
                    <a:pt x="1398306" y="393159"/>
                  </a:lnTo>
                  <a:lnTo>
                    <a:pt x="1426667" y="348955"/>
                  </a:lnTo>
                  <a:lnTo>
                    <a:pt x="1453645" y="304875"/>
                  </a:lnTo>
                  <a:lnTo>
                    <a:pt x="1478955" y="260962"/>
                  </a:lnTo>
                </a:path>
              </a:pathLst>
            </a:custGeom>
            <a:ln w="40286">
              <a:solidFill>
                <a:srgbClr val="FF0000"/>
              </a:solidFill>
            </a:ln>
          </p:spPr>
          <p:txBody>
            <a:bodyPr wrap="square" lIns="0" tIns="0" rIns="0" bIns="0" rtlCol="0"/>
            <a:lstStyle/>
            <a:p>
              <a:endParaRPr sz="2400"/>
            </a:p>
          </p:txBody>
        </p:sp>
        <p:sp>
          <p:nvSpPr>
            <p:cNvPr id="17" name="object 17"/>
            <p:cNvSpPr/>
            <p:nvPr/>
          </p:nvSpPr>
          <p:spPr>
            <a:xfrm>
              <a:off x="3269831" y="1961870"/>
              <a:ext cx="1577340" cy="621030"/>
            </a:xfrm>
            <a:custGeom>
              <a:avLst/>
              <a:gdLst/>
              <a:ahLst/>
              <a:cxnLst/>
              <a:rect l="l" t="t" r="r" b="b"/>
              <a:pathLst>
                <a:path w="1577339" h="621030">
                  <a:moveTo>
                    <a:pt x="1577213" y="580263"/>
                  </a:moveTo>
                  <a:lnTo>
                    <a:pt x="0" y="580263"/>
                  </a:lnTo>
                  <a:lnTo>
                    <a:pt x="0" y="620560"/>
                  </a:lnTo>
                  <a:lnTo>
                    <a:pt x="1577213" y="620560"/>
                  </a:lnTo>
                  <a:lnTo>
                    <a:pt x="1577213" y="580263"/>
                  </a:lnTo>
                  <a:close/>
                </a:path>
                <a:path w="1577339" h="621030">
                  <a:moveTo>
                    <a:pt x="1577213" y="0"/>
                  </a:moveTo>
                  <a:lnTo>
                    <a:pt x="0" y="0"/>
                  </a:lnTo>
                  <a:lnTo>
                    <a:pt x="0" y="40284"/>
                  </a:lnTo>
                  <a:lnTo>
                    <a:pt x="1577213" y="40284"/>
                  </a:lnTo>
                  <a:lnTo>
                    <a:pt x="1577213" y="0"/>
                  </a:lnTo>
                  <a:close/>
                </a:path>
              </a:pathLst>
            </a:custGeom>
            <a:solidFill>
              <a:srgbClr val="FF0000"/>
            </a:solidFill>
          </p:spPr>
          <p:txBody>
            <a:bodyPr wrap="square" lIns="0" tIns="0" rIns="0" bIns="0" rtlCol="0"/>
            <a:lstStyle/>
            <a:p>
              <a:endParaRPr sz="2400"/>
            </a:p>
          </p:txBody>
        </p:sp>
      </p:grpSp>
      <p:grpSp>
        <p:nvGrpSpPr>
          <p:cNvPr id="18" name="object 18"/>
          <p:cNvGrpSpPr/>
          <p:nvPr/>
        </p:nvGrpSpPr>
        <p:grpSpPr>
          <a:xfrm>
            <a:off x="4355484" y="4462695"/>
            <a:ext cx="2625513" cy="828040"/>
            <a:chOff x="3266612" y="3347021"/>
            <a:chExt cx="1969135" cy="621030"/>
          </a:xfrm>
        </p:grpSpPr>
        <p:sp>
          <p:nvSpPr>
            <p:cNvPr id="19" name="object 19"/>
            <p:cNvSpPr/>
            <p:nvPr/>
          </p:nvSpPr>
          <p:spPr>
            <a:xfrm>
              <a:off x="3312527" y="3367170"/>
              <a:ext cx="1479550" cy="580390"/>
            </a:xfrm>
            <a:custGeom>
              <a:avLst/>
              <a:gdLst/>
              <a:ahLst/>
              <a:cxnLst/>
              <a:rect l="l" t="t" r="r" b="b"/>
              <a:pathLst>
                <a:path w="1479550" h="580389">
                  <a:moveTo>
                    <a:pt x="0" y="580274"/>
                  </a:moveTo>
                  <a:lnTo>
                    <a:pt x="35182" y="543118"/>
                  </a:lnTo>
                  <a:lnTo>
                    <a:pt x="69394" y="506119"/>
                  </a:lnTo>
                  <a:lnTo>
                    <a:pt x="103066" y="469192"/>
                  </a:lnTo>
                  <a:lnTo>
                    <a:pt x="136627" y="432255"/>
                  </a:lnTo>
                  <a:lnTo>
                    <a:pt x="170504" y="395226"/>
                  </a:lnTo>
                  <a:lnTo>
                    <a:pt x="205127" y="358020"/>
                  </a:lnTo>
                  <a:lnTo>
                    <a:pt x="240925" y="320556"/>
                  </a:lnTo>
                  <a:lnTo>
                    <a:pt x="278325" y="282751"/>
                  </a:lnTo>
                  <a:lnTo>
                    <a:pt x="317758" y="244521"/>
                  </a:lnTo>
                  <a:lnTo>
                    <a:pt x="356347" y="208798"/>
                  </a:lnTo>
                  <a:lnTo>
                    <a:pt x="396822" y="173277"/>
                  </a:lnTo>
                  <a:lnTo>
                    <a:pt x="438969" y="138583"/>
                  </a:lnTo>
                  <a:lnTo>
                    <a:pt x="482577" y="105344"/>
                  </a:lnTo>
                  <a:lnTo>
                    <a:pt x="527431" y="74186"/>
                  </a:lnTo>
                  <a:lnTo>
                    <a:pt x="573074" y="46161"/>
                  </a:lnTo>
                  <a:lnTo>
                    <a:pt x="619951" y="23009"/>
                  </a:lnTo>
                  <a:lnTo>
                    <a:pt x="668285" y="6899"/>
                  </a:lnTo>
                  <a:lnTo>
                    <a:pt x="718300" y="0"/>
                  </a:lnTo>
                  <a:lnTo>
                    <a:pt x="763610" y="2795"/>
                  </a:lnTo>
                  <a:lnTo>
                    <a:pt x="809474" y="12909"/>
                  </a:lnTo>
                  <a:lnTo>
                    <a:pt x="854989" y="28865"/>
                  </a:lnTo>
                  <a:lnTo>
                    <a:pt x="899249" y="49191"/>
                  </a:lnTo>
                  <a:lnTo>
                    <a:pt x="941349" y="72413"/>
                  </a:lnTo>
                  <a:lnTo>
                    <a:pt x="987419" y="101922"/>
                  </a:lnTo>
                  <a:lnTo>
                    <a:pt x="1029940" y="133147"/>
                  </a:lnTo>
                  <a:lnTo>
                    <a:pt x="1069649" y="165831"/>
                  </a:lnTo>
                  <a:lnTo>
                    <a:pt x="1107283" y="199717"/>
                  </a:lnTo>
                  <a:lnTo>
                    <a:pt x="1143579" y="234548"/>
                  </a:lnTo>
                  <a:lnTo>
                    <a:pt x="1179275" y="270066"/>
                  </a:lnTo>
                  <a:lnTo>
                    <a:pt x="1215106" y="306014"/>
                  </a:lnTo>
                  <a:lnTo>
                    <a:pt x="1249623" y="340192"/>
                  </a:lnTo>
                  <a:lnTo>
                    <a:pt x="1284516" y="374486"/>
                  </a:lnTo>
                  <a:lnTo>
                    <a:pt x="1319376" y="408853"/>
                  </a:lnTo>
                  <a:lnTo>
                    <a:pt x="1353797" y="443250"/>
                  </a:lnTo>
                  <a:lnTo>
                    <a:pt x="1387372" y="477633"/>
                  </a:lnTo>
                  <a:lnTo>
                    <a:pt x="1419695" y="511960"/>
                  </a:lnTo>
                  <a:lnTo>
                    <a:pt x="1450358" y="546188"/>
                  </a:lnTo>
                  <a:lnTo>
                    <a:pt x="1478955" y="580274"/>
                  </a:lnTo>
                </a:path>
                <a:path w="1479550" h="580389">
                  <a:moveTo>
                    <a:pt x="0" y="0"/>
                  </a:moveTo>
                  <a:lnTo>
                    <a:pt x="35181" y="37166"/>
                  </a:lnTo>
                  <a:lnTo>
                    <a:pt x="69394" y="74171"/>
                  </a:lnTo>
                  <a:lnTo>
                    <a:pt x="103066" y="111099"/>
                  </a:lnTo>
                  <a:lnTo>
                    <a:pt x="136627" y="148035"/>
                  </a:lnTo>
                  <a:lnTo>
                    <a:pt x="170504" y="185061"/>
                  </a:lnTo>
                  <a:lnTo>
                    <a:pt x="205127" y="222262"/>
                  </a:lnTo>
                  <a:lnTo>
                    <a:pt x="240925" y="259722"/>
                  </a:lnTo>
                  <a:lnTo>
                    <a:pt x="278325" y="297524"/>
                  </a:lnTo>
                  <a:lnTo>
                    <a:pt x="317758" y="335753"/>
                  </a:lnTo>
                  <a:lnTo>
                    <a:pt x="356347" y="371480"/>
                  </a:lnTo>
                  <a:lnTo>
                    <a:pt x="396822" y="407011"/>
                  </a:lnTo>
                  <a:lnTo>
                    <a:pt x="438969" y="441717"/>
                  </a:lnTo>
                  <a:lnTo>
                    <a:pt x="482577" y="474966"/>
                  </a:lnTo>
                  <a:lnTo>
                    <a:pt x="527432" y="506128"/>
                  </a:lnTo>
                  <a:lnTo>
                    <a:pt x="573074" y="534135"/>
                  </a:lnTo>
                  <a:lnTo>
                    <a:pt x="619951" y="557285"/>
                  </a:lnTo>
                  <a:lnTo>
                    <a:pt x="668285" y="573392"/>
                  </a:lnTo>
                  <a:lnTo>
                    <a:pt x="718300" y="580274"/>
                  </a:lnTo>
                  <a:lnTo>
                    <a:pt x="763610" y="577493"/>
                  </a:lnTo>
                  <a:lnTo>
                    <a:pt x="809474" y="567382"/>
                  </a:lnTo>
                  <a:lnTo>
                    <a:pt x="854989" y="551420"/>
                  </a:lnTo>
                  <a:lnTo>
                    <a:pt x="899249" y="531086"/>
                  </a:lnTo>
                  <a:lnTo>
                    <a:pt x="941349" y="507860"/>
                  </a:lnTo>
                  <a:lnTo>
                    <a:pt x="987419" y="478354"/>
                  </a:lnTo>
                  <a:lnTo>
                    <a:pt x="1029940" y="447135"/>
                  </a:lnTo>
                  <a:lnTo>
                    <a:pt x="1069649" y="414458"/>
                  </a:lnTo>
                  <a:lnTo>
                    <a:pt x="1107283" y="380581"/>
                  </a:lnTo>
                  <a:lnTo>
                    <a:pt x="1143579" y="345758"/>
                  </a:lnTo>
                  <a:lnTo>
                    <a:pt x="1179275" y="310246"/>
                  </a:lnTo>
                  <a:lnTo>
                    <a:pt x="1215106" y="274300"/>
                  </a:lnTo>
                  <a:lnTo>
                    <a:pt x="1249623" y="240108"/>
                  </a:lnTo>
                  <a:lnTo>
                    <a:pt x="1284516" y="205804"/>
                  </a:lnTo>
                  <a:lnTo>
                    <a:pt x="1319376" y="171430"/>
                  </a:lnTo>
                  <a:lnTo>
                    <a:pt x="1353797" y="137029"/>
                  </a:lnTo>
                  <a:lnTo>
                    <a:pt x="1387372" y="102643"/>
                  </a:lnTo>
                  <a:lnTo>
                    <a:pt x="1419695" y="68314"/>
                  </a:lnTo>
                  <a:lnTo>
                    <a:pt x="1450358" y="34085"/>
                  </a:lnTo>
                  <a:lnTo>
                    <a:pt x="1478955" y="0"/>
                  </a:lnTo>
                </a:path>
              </a:pathLst>
            </a:custGeom>
            <a:ln w="40286">
              <a:solidFill>
                <a:srgbClr val="FF0000"/>
              </a:solidFill>
            </a:ln>
          </p:spPr>
          <p:txBody>
            <a:bodyPr wrap="square" lIns="0" tIns="0" rIns="0" bIns="0" rtlCol="0"/>
            <a:lstStyle/>
            <a:p>
              <a:endParaRPr sz="2400"/>
            </a:p>
          </p:txBody>
        </p:sp>
        <p:sp>
          <p:nvSpPr>
            <p:cNvPr id="20" name="object 20"/>
            <p:cNvSpPr/>
            <p:nvPr/>
          </p:nvSpPr>
          <p:spPr>
            <a:xfrm>
              <a:off x="3266605" y="3347021"/>
              <a:ext cx="1577340" cy="621030"/>
            </a:xfrm>
            <a:custGeom>
              <a:avLst/>
              <a:gdLst/>
              <a:ahLst/>
              <a:cxnLst/>
              <a:rect l="l" t="t" r="r" b="b"/>
              <a:pathLst>
                <a:path w="1577339" h="621029">
                  <a:moveTo>
                    <a:pt x="1577213" y="580275"/>
                  </a:moveTo>
                  <a:lnTo>
                    <a:pt x="0" y="580275"/>
                  </a:lnTo>
                  <a:lnTo>
                    <a:pt x="0" y="620572"/>
                  </a:lnTo>
                  <a:lnTo>
                    <a:pt x="1577213" y="620572"/>
                  </a:lnTo>
                  <a:lnTo>
                    <a:pt x="1577213" y="580275"/>
                  </a:lnTo>
                  <a:close/>
                </a:path>
                <a:path w="1577339" h="621029">
                  <a:moveTo>
                    <a:pt x="1577213" y="0"/>
                  </a:moveTo>
                  <a:lnTo>
                    <a:pt x="0" y="0"/>
                  </a:lnTo>
                  <a:lnTo>
                    <a:pt x="0" y="40297"/>
                  </a:lnTo>
                  <a:lnTo>
                    <a:pt x="1577213" y="40297"/>
                  </a:lnTo>
                  <a:lnTo>
                    <a:pt x="1577213" y="0"/>
                  </a:lnTo>
                  <a:close/>
                </a:path>
              </a:pathLst>
            </a:custGeom>
            <a:solidFill>
              <a:srgbClr val="FF0000"/>
            </a:solidFill>
          </p:spPr>
          <p:txBody>
            <a:bodyPr wrap="square" lIns="0" tIns="0" rIns="0" bIns="0" rtlCol="0"/>
            <a:lstStyle/>
            <a:p>
              <a:endParaRPr sz="2400"/>
            </a:p>
          </p:txBody>
        </p:sp>
        <p:sp>
          <p:nvSpPr>
            <p:cNvPr id="21" name="object 21"/>
            <p:cNvSpPr/>
            <p:nvPr/>
          </p:nvSpPr>
          <p:spPr>
            <a:xfrm>
              <a:off x="4801590" y="3618471"/>
              <a:ext cx="434340" cy="79375"/>
            </a:xfrm>
            <a:custGeom>
              <a:avLst/>
              <a:gdLst/>
              <a:ahLst/>
              <a:cxnLst/>
              <a:rect l="l" t="t" r="r" b="b"/>
              <a:pathLst>
                <a:path w="434339" h="79375">
                  <a:moveTo>
                    <a:pt x="434047" y="39484"/>
                  </a:moveTo>
                  <a:lnTo>
                    <a:pt x="315633" y="0"/>
                  </a:lnTo>
                  <a:lnTo>
                    <a:pt x="315633" y="23368"/>
                  </a:lnTo>
                  <a:lnTo>
                    <a:pt x="0" y="23368"/>
                  </a:lnTo>
                  <a:lnTo>
                    <a:pt x="0" y="55600"/>
                  </a:lnTo>
                  <a:lnTo>
                    <a:pt x="315633" y="55600"/>
                  </a:lnTo>
                  <a:lnTo>
                    <a:pt x="315633" y="78981"/>
                  </a:lnTo>
                  <a:lnTo>
                    <a:pt x="434047" y="39484"/>
                  </a:lnTo>
                  <a:close/>
                </a:path>
              </a:pathLst>
            </a:custGeom>
            <a:solidFill>
              <a:srgbClr val="000000"/>
            </a:solidFill>
          </p:spPr>
          <p:txBody>
            <a:bodyPr wrap="square" lIns="0" tIns="0" rIns="0" bIns="0" rtlCol="0"/>
            <a:lstStyle/>
            <a:p>
              <a:endParaRPr sz="2400"/>
            </a:p>
          </p:txBody>
        </p:sp>
      </p:grpSp>
      <p:grpSp>
        <p:nvGrpSpPr>
          <p:cNvPr id="22" name="object 22"/>
          <p:cNvGrpSpPr/>
          <p:nvPr/>
        </p:nvGrpSpPr>
        <p:grpSpPr>
          <a:xfrm>
            <a:off x="9279288" y="4391664"/>
            <a:ext cx="2874433" cy="1043093"/>
            <a:chOff x="6959465" y="3293748"/>
            <a:chExt cx="2155825" cy="782320"/>
          </a:xfrm>
        </p:grpSpPr>
        <p:sp>
          <p:nvSpPr>
            <p:cNvPr id="23" name="object 23"/>
            <p:cNvSpPr/>
            <p:nvPr/>
          </p:nvSpPr>
          <p:spPr>
            <a:xfrm>
              <a:off x="7502870" y="3394491"/>
              <a:ext cx="1479550" cy="580390"/>
            </a:xfrm>
            <a:custGeom>
              <a:avLst/>
              <a:gdLst/>
              <a:ahLst/>
              <a:cxnLst/>
              <a:rect l="l" t="t" r="r" b="b"/>
              <a:pathLst>
                <a:path w="1479550" h="580389">
                  <a:moveTo>
                    <a:pt x="0" y="580270"/>
                  </a:moveTo>
                  <a:lnTo>
                    <a:pt x="35178" y="543105"/>
                  </a:lnTo>
                  <a:lnTo>
                    <a:pt x="69389" y="506101"/>
                  </a:lnTo>
                  <a:lnTo>
                    <a:pt x="103060" y="469173"/>
                  </a:lnTo>
                  <a:lnTo>
                    <a:pt x="136620" y="432238"/>
                  </a:lnTo>
                  <a:lnTo>
                    <a:pt x="170497" y="395212"/>
                  </a:lnTo>
                  <a:lnTo>
                    <a:pt x="205118" y="358011"/>
                  </a:lnTo>
                  <a:lnTo>
                    <a:pt x="240914" y="320552"/>
                  </a:lnTo>
                  <a:lnTo>
                    <a:pt x="278311" y="282749"/>
                  </a:lnTo>
                  <a:lnTo>
                    <a:pt x="317738" y="244521"/>
                  </a:lnTo>
                  <a:lnTo>
                    <a:pt x="356329" y="208794"/>
                  </a:lnTo>
                  <a:lnTo>
                    <a:pt x="396805" y="173262"/>
                  </a:lnTo>
                  <a:lnTo>
                    <a:pt x="438953" y="138557"/>
                  </a:lnTo>
                  <a:lnTo>
                    <a:pt x="482561" y="105308"/>
                  </a:lnTo>
                  <a:lnTo>
                    <a:pt x="527415" y="74146"/>
                  </a:lnTo>
                  <a:lnTo>
                    <a:pt x="573058" y="46138"/>
                  </a:lnTo>
                  <a:lnTo>
                    <a:pt x="619935" y="22989"/>
                  </a:lnTo>
                  <a:lnTo>
                    <a:pt x="668269" y="6881"/>
                  </a:lnTo>
                  <a:lnTo>
                    <a:pt x="718284" y="0"/>
                  </a:lnTo>
                  <a:lnTo>
                    <a:pt x="763594" y="2795"/>
                  </a:lnTo>
                  <a:lnTo>
                    <a:pt x="809458" y="12909"/>
                  </a:lnTo>
                  <a:lnTo>
                    <a:pt x="854973" y="28865"/>
                  </a:lnTo>
                  <a:lnTo>
                    <a:pt x="899233" y="49191"/>
                  </a:lnTo>
                  <a:lnTo>
                    <a:pt x="941333" y="72413"/>
                  </a:lnTo>
                  <a:lnTo>
                    <a:pt x="987403" y="101921"/>
                  </a:lnTo>
                  <a:lnTo>
                    <a:pt x="1029924" y="133146"/>
                  </a:lnTo>
                  <a:lnTo>
                    <a:pt x="1069633" y="165828"/>
                  </a:lnTo>
                  <a:lnTo>
                    <a:pt x="1107267" y="199710"/>
                  </a:lnTo>
                  <a:lnTo>
                    <a:pt x="1143563" y="234533"/>
                  </a:lnTo>
                  <a:lnTo>
                    <a:pt x="1179259" y="270040"/>
                  </a:lnTo>
                  <a:lnTo>
                    <a:pt x="1215090" y="305973"/>
                  </a:lnTo>
                  <a:lnTo>
                    <a:pt x="1249607" y="340165"/>
                  </a:lnTo>
                  <a:lnTo>
                    <a:pt x="1284500" y="374469"/>
                  </a:lnTo>
                  <a:lnTo>
                    <a:pt x="1319360" y="408843"/>
                  </a:lnTo>
                  <a:lnTo>
                    <a:pt x="1353781" y="443244"/>
                  </a:lnTo>
                  <a:lnTo>
                    <a:pt x="1387356" y="477630"/>
                  </a:lnTo>
                  <a:lnTo>
                    <a:pt x="1419679" y="511958"/>
                  </a:lnTo>
                  <a:lnTo>
                    <a:pt x="1450342" y="546185"/>
                  </a:lnTo>
                  <a:lnTo>
                    <a:pt x="1478939" y="580270"/>
                  </a:lnTo>
                </a:path>
                <a:path w="1479550" h="580389">
                  <a:moveTo>
                    <a:pt x="0" y="0"/>
                  </a:moveTo>
                  <a:lnTo>
                    <a:pt x="35178" y="37166"/>
                  </a:lnTo>
                  <a:lnTo>
                    <a:pt x="69389" y="74171"/>
                  </a:lnTo>
                  <a:lnTo>
                    <a:pt x="103060" y="111099"/>
                  </a:lnTo>
                  <a:lnTo>
                    <a:pt x="136620" y="148035"/>
                  </a:lnTo>
                  <a:lnTo>
                    <a:pt x="170497" y="185061"/>
                  </a:lnTo>
                  <a:lnTo>
                    <a:pt x="205118" y="222262"/>
                  </a:lnTo>
                  <a:lnTo>
                    <a:pt x="240914" y="259722"/>
                  </a:lnTo>
                  <a:lnTo>
                    <a:pt x="278311" y="297524"/>
                  </a:lnTo>
                  <a:lnTo>
                    <a:pt x="317738" y="335753"/>
                  </a:lnTo>
                  <a:lnTo>
                    <a:pt x="356329" y="371479"/>
                  </a:lnTo>
                  <a:lnTo>
                    <a:pt x="396805" y="407008"/>
                  </a:lnTo>
                  <a:lnTo>
                    <a:pt x="438953" y="441708"/>
                  </a:lnTo>
                  <a:lnTo>
                    <a:pt x="482561" y="474945"/>
                  </a:lnTo>
                  <a:lnTo>
                    <a:pt x="527415" y="506087"/>
                  </a:lnTo>
                  <a:lnTo>
                    <a:pt x="573058" y="534118"/>
                  </a:lnTo>
                  <a:lnTo>
                    <a:pt x="619935" y="557279"/>
                  </a:lnTo>
                  <a:lnTo>
                    <a:pt x="668269" y="573390"/>
                  </a:lnTo>
                  <a:lnTo>
                    <a:pt x="718284" y="580270"/>
                  </a:lnTo>
                  <a:lnTo>
                    <a:pt x="763594" y="577481"/>
                  </a:lnTo>
                  <a:lnTo>
                    <a:pt x="809458" y="567369"/>
                  </a:lnTo>
                  <a:lnTo>
                    <a:pt x="854973" y="551411"/>
                  </a:lnTo>
                  <a:lnTo>
                    <a:pt x="899233" y="531083"/>
                  </a:lnTo>
                  <a:lnTo>
                    <a:pt x="941333" y="507860"/>
                  </a:lnTo>
                  <a:lnTo>
                    <a:pt x="987403" y="478352"/>
                  </a:lnTo>
                  <a:lnTo>
                    <a:pt x="1029924" y="447127"/>
                  </a:lnTo>
                  <a:lnTo>
                    <a:pt x="1069633" y="414442"/>
                  </a:lnTo>
                  <a:lnTo>
                    <a:pt x="1107267" y="380556"/>
                  </a:lnTo>
                  <a:lnTo>
                    <a:pt x="1143563" y="345726"/>
                  </a:lnTo>
                  <a:lnTo>
                    <a:pt x="1179259" y="310208"/>
                  </a:lnTo>
                  <a:lnTo>
                    <a:pt x="1215090" y="274260"/>
                  </a:lnTo>
                  <a:lnTo>
                    <a:pt x="1249607" y="240081"/>
                  </a:lnTo>
                  <a:lnTo>
                    <a:pt x="1284499" y="205787"/>
                  </a:lnTo>
                  <a:lnTo>
                    <a:pt x="1319360" y="171420"/>
                  </a:lnTo>
                  <a:lnTo>
                    <a:pt x="1353781" y="137024"/>
                  </a:lnTo>
                  <a:lnTo>
                    <a:pt x="1387356" y="102640"/>
                  </a:lnTo>
                  <a:lnTo>
                    <a:pt x="1419679" y="68313"/>
                  </a:lnTo>
                  <a:lnTo>
                    <a:pt x="1450342" y="34085"/>
                  </a:lnTo>
                  <a:lnTo>
                    <a:pt x="1478939" y="0"/>
                  </a:lnTo>
                </a:path>
              </a:pathLst>
            </a:custGeom>
            <a:ln w="201432">
              <a:solidFill>
                <a:srgbClr val="FF0000"/>
              </a:solidFill>
            </a:ln>
          </p:spPr>
          <p:txBody>
            <a:bodyPr wrap="square" lIns="0" tIns="0" rIns="0" bIns="0" rtlCol="0"/>
            <a:lstStyle/>
            <a:p>
              <a:endParaRPr sz="2400"/>
            </a:p>
          </p:txBody>
        </p:sp>
        <p:sp>
          <p:nvSpPr>
            <p:cNvPr id="24" name="object 24"/>
            <p:cNvSpPr/>
            <p:nvPr/>
          </p:nvSpPr>
          <p:spPr>
            <a:xfrm>
              <a:off x="7376401" y="3293757"/>
              <a:ext cx="1738630" cy="782320"/>
            </a:xfrm>
            <a:custGeom>
              <a:avLst/>
              <a:gdLst/>
              <a:ahLst/>
              <a:cxnLst/>
              <a:rect l="l" t="t" r="r" b="b"/>
              <a:pathLst>
                <a:path w="1738629" h="782320">
                  <a:moveTo>
                    <a:pt x="1738312" y="580263"/>
                  </a:moveTo>
                  <a:lnTo>
                    <a:pt x="0" y="580263"/>
                  </a:lnTo>
                  <a:lnTo>
                    <a:pt x="0" y="781748"/>
                  </a:lnTo>
                  <a:lnTo>
                    <a:pt x="1738312" y="781748"/>
                  </a:lnTo>
                  <a:lnTo>
                    <a:pt x="1738312" y="580263"/>
                  </a:lnTo>
                  <a:close/>
                </a:path>
                <a:path w="1738629" h="782320">
                  <a:moveTo>
                    <a:pt x="1738312" y="0"/>
                  </a:moveTo>
                  <a:lnTo>
                    <a:pt x="0" y="0"/>
                  </a:lnTo>
                  <a:lnTo>
                    <a:pt x="0" y="201485"/>
                  </a:lnTo>
                  <a:lnTo>
                    <a:pt x="1738312" y="201485"/>
                  </a:lnTo>
                  <a:lnTo>
                    <a:pt x="1738312" y="0"/>
                  </a:lnTo>
                  <a:close/>
                </a:path>
              </a:pathLst>
            </a:custGeom>
            <a:solidFill>
              <a:srgbClr val="FF0000"/>
            </a:solidFill>
          </p:spPr>
          <p:txBody>
            <a:bodyPr wrap="square" lIns="0" tIns="0" rIns="0" bIns="0" rtlCol="0"/>
            <a:lstStyle/>
            <a:p>
              <a:endParaRPr sz="2400"/>
            </a:p>
          </p:txBody>
        </p:sp>
        <p:sp>
          <p:nvSpPr>
            <p:cNvPr id="25" name="object 25"/>
            <p:cNvSpPr/>
            <p:nvPr/>
          </p:nvSpPr>
          <p:spPr>
            <a:xfrm>
              <a:off x="6959460" y="3618471"/>
              <a:ext cx="434340" cy="79375"/>
            </a:xfrm>
            <a:custGeom>
              <a:avLst/>
              <a:gdLst/>
              <a:ahLst/>
              <a:cxnLst/>
              <a:rect l="l" t="t" r="r" b="b"/>
              <a:pathLst>
                <a:path w="434340" h="79375">
                  <a:moveTo>
                    <a:pt x="434009" y="39484"/>
                  </a:moveTo>
                  <a:lnTo>
                    <a:pt x="315607" y="0"/>
                  </a:lnTo>
                  <a:lnTo>
                    <a:pt x="315607" y="23368"/>
                  </a:lnTo>
                  <a:lnTo>
                    <a:pt x="0" y="23368"/>
                  </a:lnTo>
                  <a:lnTo>
                    <a:pt x="0" y="55600"/>
                  </a:lnTo>
                  <a:lnTo>
                    <a:pt x="315607" y="55600"/>
                  </a:lnTo>
                  <a:lnTo>
                    <a:pt x="315607" y="78981"/>
                  </a:lnTo>
                  <a:lnTo>
                    <a:pt x="434009" y="39484"/>
                  </a:lnTo>
                  <a:close/>
                </a:path>
              </a:pathLst>
            </a:custGeom>
            <a:solidFill>
              <a:srgbClr val="000000"/>
            </a:solidFill>
          </p:spPr>
          <p:txBody>
            <a:bodyPr wrap="square" lIns="0" tIns="0" rIns="0" bIns="0" rtlCol="0"/>
            <a:lstStyle/>
            <a:p>
              <a:endParaRPr sz="2400"/>
            </a:p>
          </p:txBody>
        </p:sp>
      </p:grpSp>
      <p:grpSp>
        <p:nvGrpSpPr>
          <p:cNvPr id="26" name="object 26"/>
          <p:cNvGrpSpPr/>
          <p:nvPr/>
        </p:nvGrpSpPr>
        <p:grpSpPr>
          <a:xfrm>
            <a:off x="9279287" y="2545909"/>
            <a:ext cx="2729652" cy="908473"/>
            <a:chOff x="6959465" y="1909431"/>
            <a:chExt cx="2047239" cy="681355"/>
          </a:xfrm>
        </p:grpSpPr>
        <p:sp>
          <p:nvSpPr>
            <p:cNvPr id="27" name="object 27"/>
            <p:cNvSpPr/>
            <p:nvPr/>
          </p:nvSpPr>
          <p:spPr>
            <a:xfrm>
              <a:off x="7444872" y="1959802"/>
              <a:ext cx="1479550" cy="580390"/>
            </a:xfrm>
            <a:custGeom>
              <a:avLst/>
              <a:gdLst/>
              <a:ahLst/>
              <a:cxnLst/>
              <a:rect l="l" t="t" r="r" b="b"/>
              <a:pathLst>
                <a:path w="1479550" h="580389">
                  <a:moveTo>
                    <a:pt x="0" y="580274"/>
                  </a:moveTo>
                  <a:lnTo>
                    <a:pt x="35178" y="543118"/>
                  </a:lnTo>
                  <a:lnTo>
                    <a:pt x="69389" y="506119"/>
                  </a:lnTo>
                  <a:lnTo>
                    <a:pt x="103060" y="469192"/>
                  </a:lnTo>
                  <a:lnTo>
                    <a:pt x="136620" y="432255"/>
                  </a:lnTo>
                  <a:lnTo>
                    <a:pt x="170497" y="395226"/>
                  </a:lnTo>
                  <a:lnTo>
                    <a:pt x="205118" y="358020"/>
                  </a:lnTo>
                  <a:lnTo>
                    <a:pt x="240914" y="320556"/>
                  </a:lnTo>
                  <a:lnTo>
                    <a:pt x="278311" y="282751"/>
                  </a:lnTo>
                  <a:lnTo>
                    <a:pt x="317738" y="244521"/>
                  </a:lnTo>
                  <a:lnTo>
                    <a:pt x="356329" y="208794"/>
                  </a:lnTo>
                  <a:lnTo>
                    <a:pt x="396805" y="173265"/>
                  </a:lnTo>
                  <a:lnTo>
                    <a:pt x="438953" y="138565"/>
                  </a:lnTo>
                  <a:lnTo>
                    <a:pt x="482561" y="105328"/>
                  </a:lnTo>
                  <a:lnTo>
                    <a:pt x="527415" y="74186"/>
                  </a:lnTo>
                  <a:lnTo>
                    <a:pt x="573058" y="46155"/>
                  </a:lnTo>
                  <a:lnTo>
                    <a:pt x="619935" y="22994"/>
                  </a:lnTo>
                  <a:lnTo>
                    <a:pt x="668269" y="6882"/>
                  </a:lnTo>
                  <a:lnTo>
                    <a:pt x="718284" y="0"/>
                  </a:lnTo>
                  <a:lnTo>
                    <a:pt x="763594" y="2795"/>
                  </a:lnTo>
                  <a:lnTo>
                    <a:pt x="809458" y="12909"/>
                  </a:lnTo>
                  <a:lnTo>
                    <a:pt x="854973" y="28865"/>
                  </a:lnTo>
                  <a:lnTo>
                    <a:pt x="899233" y="49191"/>
                  </a:lnTo>
                  <a:lnTo>
                    <a:pt x="941333" y="72413"/>
                  </a:lnTo>
                  <a:lnTo>
                    <a:pt x="987403" y="101922"/>
                  </a:lnTo>
                  <a:lnTo>
                    <a:pt x="1029924" y="133147"/>
                  </a:lnTo>
                  <a:lnTo>
                    <a:pt x="1069633" y="165831"/>
                  </a:lnTo>
                  <a:lnTo>
                    <a:pt x="1107267" y="199717"/>
                  </a:lnTo>
                  <a:lnTo>
                    <a:pt x="1143563" y="234548"/>
                  </a:lnTo>
                  <a:lnTo>
                    <a:pt x="1179259" y="270066"/>
                  </a:lnTo>
                  <a:lnTo>
                    <a:pt x="1215090" y="306014"/>
                  </a:lnTo>
                  <a:lnTo>
                    <a:pt x="1249607" y="340192"/>
                  </a:lnTo>
                  <a:lnTo>
                    <a:pt x="1284500" y="374486"/>
                  </a:lnTo>
                  <a:lnTo>
                    <a:pt x="1319360" y="408853"/>
                  </a:lnTo>
                  <a:lnTo>
                    <a:pt x="1353781" y="443250"/>
                  </a:lnTo>
                  <a:lnTo>
                    <a:pt x="1387356" y="477633"/>
                  </a:lnTo>
                  <a:lnTo>
                    <a:pt x="1419679" y="511960"/>
                  </a:lnTo>
                  <a:lnTo>
                    <a:pt x="1450342" y="546188"/>
                  </a:lnTo>
                  <a:lnTo>
                    <a:pt x="1478939" y="580274"/>
                  </a:lnTo>
                </a:path>
                <a:path w="1479550" h="580389">
                  <a:moveTo>
                    <a:pt x="0" y="0"/>
                  </a:moveTo>
                  <a:lnTo>
                    <a:pt x="35178" y="37166"/>
                  </a:lnTo>
                  <a:lnTo>
                    <a:pt x="69389" y="74171"/>
                  </a:lnTo>
                  <a:lnTo>
                    <a:pt x="103060" y="111099"/>
                  </a:lnTo>
                  <a:lnTo>
                    <a:pt x="136620" y="148035"/>
                  </a:lnTo>
                  <a:lnTo>
                    <a:pt x="170497" y="185061"/>
                  </a:lnTo>
                  <a:lnTo>
                    <a:pt x="205118" y="222262"/>
                  </a:lnTo>
                  <a:lnTo>
                    <a:pt x="240914" y="259722"/>
                  </a:lnTo>
                  <a:lnTo>
                    <a:pt x="278311" y="297524"/>
                  </a:lnTo>
                  <a:lnTo>
                    <a:pt x="317738" y="335753"/>
                  </a:lnTo>
                  <a:lnTo>
                    <a:pt x="356329" y="371480"/>
                  </a:lnTo>
                  <a:lnTo>
                    <a:pt x="396805" y="407011"/>
                  </a:lnTo>
                  <a:lnTo>
                    <a:pt x="438953" y="441717"/>
                  </a:lnTo>
                  <a:lnTo>
                    <a:pt x="482561" y="474966"/>
                  </a:lnTo>
                  <a:lnTo>
                    <a:pt x="527415" y="506128"/>
                  </a:lnTo>
                  <a:lnTo>
                    <a:pt x="573058" y="534135"/>
                  </a:lnTo>
                  <a:lnTo>
                    <a:pt x="619935" y="557285"/>
                  </a:lnTo>
                  <a:lnTo>
                    <a:pt x="668269" y="573392"/>
                  </a:lnTo>
                  <a:lnTo>
                    <a:pt x="718284" y="580274"/>
                  </a:lnTo>
                  <a:lnTo>
                    <a:pt x="763594" y="577493"/>
                  </a:lnTo>
                  <a:lnTo>
                    <a:pt x="809458" y="567382"/>
                  </a:lnTo>
                  <a:lnTo>
                    <a:pt x="854973" y="551420"/>
                  </a:lnTo>
                  <a:lnTo>
                    <a:pt x="899233" y="531086"/>
                  </a:lnTo>
                  <a:lnTo>
                    <a:pt x="941333" y="507860"/>
                  </a:lnTo>
                  <a:lnTo>
                    <a:pt x="987403" y="478352"/>
                  </a:lnTo>
                  <a:lnTo>
                    <a:pt x="1029924" y="447128"/>
                  </a:lnTo>
                  <a:lnTo>
                    <a:pt x="1069633" y="414446"/>
                  </a:lnTo>
                  <a:lnTo>
                    <a:pt x="1107267" y="380564"/>
                  </a:lnTo>
                  <a:lnTo>
                    <a:pt x="1143563" y="345740"/>
                  </a:lnTo>
                  <a:lnTo>
                    <a:pt x="1179259" y="310233"/>
                  </a:lnTo>
                  <a:lnTo>
                    <a:pt x="1215090" y="274300"/>
                  </a:lnTo>
                  <a:lnTo>
                    <a:pt x="1249607" y="240108"/>
                  </a:lnTo>
                  <a:lnTo>
                    <a:pt x="1284499" y="205804"/>
                  </a:lnTo>
                  <a:lnTo>
                    <a:pt x="1319360" y="171430"/>
                  </a:lnTo>
                  <a:lnTo>
                    <a:pt x="1353781" y="137029"/>
                  </a:lnTo>
                  <a:lnTo>
                    <a:pt x="1387356" y="102643"/>
                  </a:lnTo>
                  <a:lnTo>
                    <a:pt x="1419679" y="68314"/>
                  </a:lnTo>
                  <a:lnTo>
                    <a:pt x="1450342" y="34085"/>
                  </a:lnTo>
                  <a:lnTo>
                    <a:pt x="1478939" y="0"/>
                  </a:lnTo>
                </a:path>
              </a:pathLst>
            </a:custGeom>
            <a:ln w="100716">
              <a:solidFill>
                <a:srgbClr val="FF0000"/>
              </a:solidFill>
            </a:ln>
          </p:spPr>
          <p:txBody>
            <a:bodyPr wrap="square" lIns="0" tIns="0" rIns="0" bIns="0" rtlCol="0"/>
            <a:lstStyle/>
            <a:p>
              <a:endParaRPr sz="2400"/>
            </a:p>
          </p:txBody>
        </p:sp>
        <p:sp>
          <p:nvSpPr>
            <p:cNvPr id="28" name="object 28"/>
            <p:cNvSpPr/>
            <p:nvPr/>
          </p:nvSpPr>
          <p:spPr>
            <a:xfrm>
              <a:off x="7368743" y="1909432"/>
              <a:ext cx="1637664" cy="681355"/>
            </a:xfrm>
            <a:custGeom>
              <a:avLst/>
              <a:gdLst/>
              <a:ahLst/>
              <a:cxnLst/>
              <a:rect l="l" t="t" r="r" b="b"/>
              <a:pathLst>
                <a:path w="1637665" h="681355">
                  <a:moveTo>
                    <a:pt x="1637626" y="580275"/>
                  </a:moveTo>
                  <a:lnTo>
                    <a:pt x="0" y="580275"/>
                  </a:lnTo>
                  <a:lnTo>
                    <a:pt x="0" y="681024"/>
                  </a:lnTo>
                  <a:lnTo>
                    <a:pt x="1637626" y="681024"/>
                  </a:lnTo>
                  <a:lnTo>
                    <a:pt x="1637626" y="580275"/>
                  </a:lnTo>
                  <a:close/>
                </a:path>
                <a:path w="1637665" h="681355">
                  <a:moveTo>
                    <a:pt x="1637626" y="0"/>
                  </a:moveTo>
                  <a:lnTo>
                    <a:pt x="0" y="0"/>
                  </a:lnTo>
                  <a:lnTo>
                    <a:pt x="0" y="100749"/>
                  </a:lnTo>
                  <a:lnTo>
                    <a:pt x="1637626" y="100749"/>
                  </a:lnTo>
                  <a:lnTo>
                    <a:pt x="1637626" y="0"/>
                  </a:lnTo>
                  <a:close/>
                </a:path>
              </a:pathLst>
            </a:custGeom>
            <a:solidFill>
              <a:srgbClr val="FF0000"/>
            </a:solidFill>
          </p:spPr>
          <p:txBody>
            <a:bodyPr wrap="square" lIns="0" tIns="0" rIns="0" bIns="0" rtlCol="0"/>
            <a:lstStyle/>
            <a:p>
              <a:endParaRPr sz="2400"/>
            </a:p>
          </p:txBody>
        </p:sp>
        <p:sp>
          <p:nvSpPr>
            <p:cNvPr id="29" name="object 29"/>
            <p:cNvSpPr/>
            <p:nvPr/>
          </p:nvSpPr>
          <p:spPr>
            <a:xfrm>
              <a:off x="6959460" y="2201913"/>
              <a:ext cx="434340" cy="79375"/>
            </a:xfrm>
            <a:custGeom>
              <a:avLst/>
              <a:gdLst/>
              <a:ahLst/>
              <a:cxnLst/>
              <a:rect l="l" t="t" r="r" b="b"/>
              <a:pathLst>
                <a:path w="434340" h="79375">
                  <a:moveTo>
                    <a:pt x="434009" y="39484"/>
                  </a:moveTo>
                  <a:lnTo>
                    <a:pt x="315607" y="0"/>
                  </a:lnTo>
                  <a:lnTo>
                    <a:pt x="315607" y="23368"/>
                  </a:lnTo>
                  <a:lnTo>
                    <a:pt x="0" y="23368"/>
                  </a:lnTo>
                  <a:lnTo>
                    <a:pt x="0" y="55613"/>
                  </a:lnTo>
                  <a:lnTo>
                    <a:pt x="315607" y="55613"/>
                  </a:lnTo>
                  <a:lnTo>
                    <a:pt x="315607" y="78981"/>
                  </a:lnTo>
                  <a:lnTo>
                    <a:pt x="434009" y="39484"/>
                  </a:lnTo>
                  <a:close/>
                </a:path>
              </a:pathLst>
            </a:custGeom>
            <a:solidFill>
              <a:srgbClr val="000000"/>
            </a:solidFill>
          </p:spPr>
          <p:txBody>
            <a:bodyPr wrap="square" lIns="0" tIns="0" rIns="0" bIns="0" rtlCol="0"/>
            <a:lstStyle/>
            <a:p>
              <a:endParaRPr sz="2400"/>
            </a:p>
          </p:txBody>
        </p:sp>
      </p:grpSp>
      <p:sp>
        <p:nvSpPr>
          <p:cNvPr id="30" name="object 30"/>
          <p:cNvSpPr txBox="1"/>
          <p:nvPr/>
        </p:nvSpPr>
        <p:spPr>
          <a:xfrm>
            <a:off x="7000448" y="4569858"/>
            <a:ext cx="230832" cy="561340"/>
          </a:xfrm>
          <a:prstGeom prst="rect">
            <a:avLst/>
          </a:prstGeom>
        </p:spPr>
        <p:txBody>
          <a:bodyPr vert="vert270" wrap="square" lIns="0" tIns="0" rIns="0" bIns="0" rtlCol="0">
            <a:spAutoFit/>
          </a:bodyPr>
          <a:lstStyle/>
          <a:p>
            <a:pPr marL="16933">
              <a:lnSpc>
                <a:spcPts val="1820"/>
              </a:lnSpc>
            </a:pPr>
            <a:r>
              <a:rPr sz="1533" b="1" spc="-13" dirty="0">
                <a:latin typeface="Arial"/>
                <a:cs typeface="Arial"/>
              </a:rPr>
              <a:t>Noise</a:t>
            </a:r>
            <a:endParaRPr sz="1533">
              <a:latin typeface="Arial"/>
              <a:cs typeface="Arial"/>
            </a:endParaRPr>
          </a:p>
        </p:txBody>
      </p:sp>
      <p:sp>
        <p:nvSpPr>
          <p:cNvPr id="31" name="object 31"/>
          <p:cNvSpPr txBox="1"/>
          <p:nvPr/>
        </p:nvSpPr>
        <p:spPr>
          <a:xfrm>
            <a:off x="7460239" y="5479822"/>
            <a:ext cx="1389380" cy="251287"/>
          </a:xfrm>
          <a:prstGeom prst="rect">
            <a:avLst/>
          </a:prstGeom>
        </p:spPr>
        <p:txBody>
          <a:bodyPr vert="horz" wrap="square" lIns="0" tIns="15240" rIns="0" bIns="0" rtlCol="0">
            <a:spAutoFit/>
          </a:bodyPr>
          <a:lstStyle/>
          <a:p>
            <a:pPr marL="16933">
              <a:spcBef>
                <a:spcPts val="120"/>
              </a:spcBef>
            </a:pPr>
            <a:r>
              <a:rPr sz="1533" b="1" dirty="0">
                <a:latin typeface="Arial"/>
                <a:cs typeface="Arial"/>
              </a:rPr>
              <a:t>TIA</a:t>
            </a:r>
            <a:r>
              <a:rPr sz="1533" b="1" spc="-40" dirty="0">
                <a:latin typeface="Arial"/>
                <a:cs typeface="Arial"/>
              </a:rPr>
              <a:t> </a:t>
            </a:r>
            <a:r>
              <a:rPr sz="1533" b="1" spc="-13" dirty="0">
                <a:latin typeface="Arial"/>
                <a:cs typeface="Arial"/>
              </a:rPr>
              <a:t>Bandwidth</a:t>
            </a:r>
            <a:endParaRPr sz="1533">
              <a:latin typeface="Arial"/>
              <a:cs typeface="Arial"/>
            </a:endParaRPr>
          </a:p>
        </p:txBody>
      </p:sp>
      <p:grpSp>
        <p:nvGrpSpPr>
          <p:cNvPr id="32" name="object 32"/>
          <p:cNvGrpSpPr/>
          <p:nvPr/>
        </p:nvGrpSpPr>
        <p:grpSpPr>
          <a:xfrm>
            <a:off x="7274181" y="4487733"/>
            <a:ext cx="1651847" cy="981287"/>
            <a:chOff x="5455635" y="3365799"/>
            <a:chExt cx="1238885" cy="735965"/>
          </a:xfrm>
        </p:grpSpPr>
        <p:sp>
          <p:nvSpPr>
            <p:cNvPr id="33" name="object 33"/>
            <p:cNvSpPr/>
            <p:nvPr/>
          </p:nvSpPr>
          <p:spPr>
            <a:xfrm>
              <a:off x="5567522" y="3365799"/>
              <a:ext cx="1127125" cy="655320"/>
            </a:xfrm>
            <a:custGeom>
              <a:avLst/>
              <a:gdLst/>
              <a:ahLst/>
              <a:cxnLst/>
              <a:rect l="l" t="t" r="r" b="b"/>
              <a:pathLst>
                <a:path w="1127125" h="655320">
                  <a:moveTo>
                    <a:pt x="1117984" y="0"/>
                  </a:moveTo>
                  <a:lnTo>
                    <a:pt x="0" y="639180"/>
                  </a:lnTo>
                  <a:lnTo>
                    <a:pt x="8981" y="654928"/>
                  </a:lnTo>
                  <a:lnTo>
                    <a:pt x="1126966" y="15756"/>
                  </a:lnTo>
                  <a:lnTo>
                    <a:pt x="1117984" y="0"/>
                  </a:lnTo>
                  <a:close/>
                </a:path>
              </a:pathLst>
            </a:custGeom>
            <a:solidFill>
              <a:srgbClr val="FF0000"/>
            </a:solidFill>
          </p:spPr>
          <p:txBody>
            <a:bodyPr wrap="square" lIns="0" tIns="0" rIns="0" bIns="0" rtlCol="0"/>
            <a:lstStyle/>
            <a:p>
              <a:endParaRPr sz="2400"/>
            </a:p>
          </p:txBody>
        </p:sp>
        <p:sp>
          <p:nvSpPr>
            <p:cNvPr id="34" name="object 34"/>
            <p:cNvSpPr/>
            <p:nvPr/>
          </p:nvSpPr>
          <p:spPr>
            <a:xfrm>
              <a:off x="6534633" y="3453284"/>
              <a:ext cx="0" cy="648335"/>
            </a:xfrm>
            <a:custGeom>
              <a:avLst/>
              <a:gdLst/>
              <a:ahLst/>
              <a:cxnLst/>
              <a:rect l="l" t="t" r="r" b="b"/>
              <a:pathLst>
                <a:path h="648335">
                  <a:moveTo>
                    <a:pt x="0" y="0"/>
                  </a:moveTo>
                  <a:lnTo>
                    <a:pt x="0" y="648158"/>
                  </a:lnTo>
                </a:path>
              </a:pathLst>
            </a:custGeom>
            <a:ln w="12082">
              <a:solidFill>
                <a:srgbClr val="000000"/>
              </a:solidFill>
              <a:prstDash val="sysDash"/>
            </a:ln>
          </p:spPr>
          <p:txBody>
            <a:bodyPr wrap="square" lIns="0" tIns="0" rIns="0" bIns="0" rtlCol="0"/>
            <a:lstStyle/>
            <a:p>
              <a:endParaRPr sz="2400"/>
            </a:p>
          </p:txBody>
        </p:sp>
        <p:sp>
          <p:nvSpPr>
            <p:cNvPr id="35" name="object 35"/>
            <p:cNvSpPr/>
            <p:nvPr/>
          </p:nvSpPr>
          <p:spPr>
            <a:xfrm>
              <a:off x="5455635" y="3459328"/>
              <a:ext cx="1085215" cy="0"/>
            </a:xfrm>
            <a:custGeom>
              <a:avLst/>
              <a:gdLst/>
              <a:ahLst/>
              <a:cxnLst/>
              <a:rect l="l" t="t" r="r" b="b"/>
              <a:pathLst>
                <a:path w="1085215">
                  <a:moveTo>
                    <a:pt x="0" y="0"/>
                  </a:moveTo>
                  <a:lnTo>
                    <a:pt x="1085038" y="0"/>
                  </a:lnTo>
                </a:path>
              </a:pathLst>
            </a:custGeom>
            <a:ln w="12089">
              <a:solidFill>
                <a:srgbClr val="000000"/>
              </a:solidFill>
              <a:prstDash val="sysDash"/>
            </a:ln>
          </p:spPr>
          <p:txBody>
            <a:bodyPr wrap="square" lIns="0" tIns="0" rIns="0" bIns="0" rtlCol="0"/>
            <a:lstStyle/>
            <a:p>
              <a:endParaRPr sz="2400"/>
            </a:p>
          </p:txBody>
        </p:sp>
      </p:grpSp>
      <p:sp>
        <p:nvSpPr>
          <p:cNvPr id="36" name="object 36"/>
          <p:cNvSpPr txBox="1"/>
          <p:nvPr/>
        </p:nvSpPr>
        <p:spPr>
          <a:xfrm>
            <a:off x="4645608" y="3741696"/>
            <a:ext cx="1485053" cy="251287"/>
          </a:xfrm>
          <a:prstGeom prst="rect">
            <a:avLst/>
          </a:prstGeom>
        </p:spPr>
        <p:txBody>
          <a:bodyPr vert="horz" wrap="square" lIns="0" tIns="15240" rIns="0" bIns="0" rtlCol="0">
            <a:spAutoFit/>
          </a:bodyPr>
          <a:lstStyle/>
          <a:p>
            <a:pPr marL="16933">
              <a:spcBef>
                <a:spcPts val="120"/>
              </a:spcBef>
            </a:pPr>
            <a:r>
              <a:rPr sz="1533" b="1" spc="-27" dirty="0">
                <a:latin typeface="Arial"/>
                <a:cs typeface="Arial"/>
              </a:rPr>
              <a:t>Over-</a:t>
            </a:r>
            <a:r>
              <a:rPr sz="1533" b="1" dirty="0">
                <a:latin typeface="Arial"/>
                <a:cs typeface="Arial"/>
              </a:rPr>
              <a:t>peaked</a:t>
            </a:r>
            <a:r>
              <a:rPr sz="1533" b="1" spc="-20" dirty="0">
                <a:latin typeface="Arial"/>
                <a:cs typeface="Arial"/>
              </a:rPr>
              <a:t> </a:t>
            </a:r>
            <a:r>
              <a:rPr sz="1533" b="1" spc="-33" dirty="0">
                <a:latin typeface="Arial"/>
                <a:cs typeface="Arial"/>
              </a:rPr>
              <a:t>Tx</a:t>
            </a:r>
            <a:endParaRPr sz="1533">
              <a:latin typeface="Arial"/>
              <a:cs typeface="Arial"/>
            </a:endParaRPr>
          </a:p>
        </p:txBody>
      </p:sp>
      <p:sp>
        <p:nvSpPr>
          <p:cNvPr id="37" name="object 37"/>
          <p:cNvSpPr txBox="1"/>
          <p:nvPr/>
        </p:nvSpPr>
        <p:spPr>
          <a:xfrm>
            <a:off x="4619027" y="5303860"/>
            <a:ext cx="1539240" cy="251287"/>
          </a:xfrm>
          <a:prstGeom prst="rect">
            <a:avLst/>
          </a:prstGeom>
        </p:spPr>
        <p:txBody>
          <a:bodyPr vert="horz" wrap="square" lIns="0" tIns="15240" rIns="0" bIns="0" rtlCol="0">
            <a:spAutoFit/>
          </a:bodyPr>
          <a:lstStyle/>
          <a:p>
            <a:pPr marL="16933">
              <a:spcBef>
                <a:spcPts val="120"/>
              </a:spcBef>
            </a:pPr>
            <a:r>
              <a:rPr sz="1533" b="1" spc="-13" dirty="0">
                <a:latin typeface="Arial"/>
                <a:cs typeface="Arial"/>
              </a:rPr>
              <a:t>Conventional </a:t>
            </a:r>
            <a:r>
              <a:rPr sz="1533" b="1" spc="-33" dirty="0">
                <a:latin typeface="Arial"/>
                <a:cs typeface="Arial"/>
              </a:rPr>
              <a:t>Tx</a:t>
            </a:r>
            <a:endParaRPr sz="1533">
              <a:latin typeface="Arial"/>
              <a:cs typeface="Arial"/>
            </a:endParaRPr>
          </a:p>
        </p:txBody>
      </p:sp>
      <p:sp>
        <p:nvSpPr>
          <p:cNvPr id="38" name="object 38"/>
          <p:cNvSpPr txBox="1"/>
          <p:nvPr/>
        </p:nvSpPr>
        <p:spPr>
          <a:xfrm>
            <a:off x="10522567" y="3619033"/>
            <a:ext cx="677333" cy="251287"/>
          </a:xfrm>
          <a:prstGeom prst="rect">
            <a:avLst/>
          </a:prstGeom>
        </p:spPr>
        <p:txBody>
          <a:bodyPr vert="horz" wrap="square" lIns="0" tIns="15240" rIns="0" bIns="0" rtlCol="0">
            <a:spAutoFit/>
          </a:bodyPr>
          <a:lstStyle/>
          <a:p>
            <a:pPr marL="16933">
              <a:spcBef>
                <a:spcPts val="120"/>
              </a:spcBef>
            </a:pPr>
            <a:r>
              <a:rPr sz="1533" b="1" dirty="0">
                <a:latin typeface="Arial"/>
                <a:cs typeface="Arial"/>
              </a:rPr>
              <a:t>Rx</a:t>
            </a:r>
            <a:r>
              <a:rPr sz="1533" b="1" spc="-20" dirty="0">
                <a:latin typeface="Arial"/>
                <a:cs typeface="Arial"/>
              </a:rPr>
              <a:t> </a:t>
            </a:r>
            <a:r>
              <a:rPr sz="1533" b="1" spc="-33" dirty="0">
                <a:latin typeface="Arial"/>
                <a:cs typeface="Arial"/>
              </a:rPr>
              <a:t>Eye</a:t>
            </a:r>
            <a:endParaRPr sz="1533">
              <a:latin typeface="Arial"/>
              <a:cs typeface="Arial"/>
            </a:endParaRPr>
          </a:p>
        </p:txBody>
      </p:sp>
      <p:sp>
        <p:nvSpPr>
          <p:cNvPr id="39" name="object 39"/>
          <p:cNvSpPr txBox="1"/>
          <p:nvPr/>
        </p:nvSpPr>
        <p:spPr>
          <a:xfrm>
            <a:off x="10522567" y="5486136"/>
            <a:ext cx="677333" cy="251287"/>
          </a:xfrm>
          <a:prstGeom prst="rect">
            <a:avLst/>
          </a:prstGeom>
        </p:spPr>
        <p:txBody>
          <a:bodyPr vert="horz" wrap="square" lIns="0" tIns="15240" rIns="0" bIns="0" rtlCol="0">
            <a:spAutoFit/>
          </a:bodyPr>
          <a:lstStyle/>
          <a:p>
            <a:pPr marL="16933">
              <a:spcBef>
                <a:spcPts val="120"/>
              </a:spcBef>
            </a:pPr>
            <a:r>
              <a:rPr sz="1533" b="1" dirty="0">
                <a:latin typeface="Arial"/>
                <a:cs typeface="Arial"/>
              </a:rPr>
              <a:t>Rx</a:t>
            </a:r>
            <a:r>
              <a:rPr sz="1533" b="1" spc="-27" dirty="0">
                <a:latin typeface="Arial"/>
                <a:cs typeface="Arial"/>
              </a:rPr>
              <a:t> </a:t>
            </a:r>
            <a:r>
              <a:rPr sz="1533" b="1" spc="-33" dirty="0">
                <a:latin typeface="Arial"/>
                <a:cs typeface="Arial"/>
              </a:rPr>
              <a:t>Eye</a:t>
            </a:r>
            <a:endParaRPr sz="1533">
              <a:latin typeface="Arial"/>
              <a:cs typeface="Arial"/>
            </a:endParaRPr>
          </a:p>
        </p:txBody>
      </p:sp>
      <p:sp>
        <p:nvSpPr>
          <p:cNvPr id="40" name="object 40"/>
          <p:cNvSpPr/>
          <p:nvPr/>
        </p:nvSpPr>
        <p:spPr>
          <a:xfrm>
            <a:off x="6402120" y="2935885"/>
            <a:ext cx="579120" cy="105833"/>
          </a:xfrm>
          <a:custGeom>
            <a:avLst/>
            <a:gdLst/>
            <a:ahLst/>
            <a:cxnLst/>
            <a:rect l="l" t="t" r="r" b="b"/>
            <a:pathLst>
              <a:path w="434339" h="79375">
                <a:moveTo>
                  <a:pt x="434047" y="39484"/>
                </a:moveTo>
                <a:lnTo>
                  <a:pt x="315633" y="0"/>
                </a:lnTo>
                <a:lnTo>
                  <a:pt x="315633" y="23368"/>
                </a:lnTo>
                <a:lnTo>
                  <a:pt x="0" y="23368"/>
                </a:lnTo>
                <a:lnTo>
                  <a:pt x="0" y="55613"/>
                </a:lnTo>
                <a:lnTo>
                  <a:pt x="315633" y="55613"/>
                </a:lnTo>
                <a:lnTo>
                  <a:pt x="315633" y="78981"/>
                </a:lnTo>
                <a:lnTo>
                  <a:pt x="434047" y="39484"/>
                </a:lnTo>
                <a:close/>
              </a:path>
            </a:pathLst>
          </a:custGeom>
          <a:solidFill>
            <a:srgbClr val="000000"/>
          </a:solidFill>
        </p:spPr>
        <p:txBody>
          <a:bodyPr wrap="square" lIns="0" tIns="0" rIns="0" bIns="0" rtlCol="0"/>
          <a:lstStyle/>
          <a:p>
            <a:endParaRPr sz="2400"/>
          </a:p>
        </p:txBody>
      </p:sp>
      <p:sp>
        <p:nvSpPr>
          <p:cNvPr id="41" name="object 41"/>
          <p:cNvSpPr txBox="1">
            <a:spLocks noGrp="1"/>
          </p:cNvSpPr>
          <p:nvPr>
            <p:ph type="title"/>
          </p:nvPr>
        </p:nvSpPr>
        <p:spPr>
          <a:xfrm>
            <a:off x="653173" y="254544"/>
            <a:ext cx="9469921" cy="686855"/>
          </a:xfrm>
          <a:prstGeom prst="rect">
            <a:avLst/>
          </a:prstGeom>
        </p:spPr>
        <p:txBody>
          <a:bodyPr vert="horz" wrap="square" lIns="0" tIns="101092" rIns="0" bIns="0" rtlCol="0" anchor="ctr">
            <a:spAutoFit/>
          </a:bodyPr>
          <a:lstStyle/>
          <a:p>
            <a:pPr marL="16933">
              <a:lnSpc>
                <a:spcPct val="100000"/>
              </a:lnSpc>
              <a:spcBef>
                <a:spcPts val="140"/>
              </a:spcBef>
            </a:pPr>
            <a:r>
              <a:rPr dirty="0"/>
              <a:t>Why</a:t>
            </a:r>
            <a:r>
              <a:rPr spc="-40" dirty="0"/>
              <a:t> </a:t>
            </a:r>
            <a:r>
              <a:rPr dirty="0"/>
              <a:t>no</a:t>
            </a:r>
            <a:r>
              <a:rPr spc="-53" dirty="0"/>
              <a:t> </a:t>
            </a:r>
            <a:r>
              <a:rPr dirty="0"/>
              <a:t>DFE</a:t>
            </a:r>
            <a:r>
              <a:rPr spc="-40" dirty="0"/>
              <a:t> </a:t>
            </a:r>
            <a:r>
              <a:rPr spc="-67" dirty="0"/>
              <a:t>?</a:t>
            </a:r>
          </a:p>
        </p:txBody>
      </p:sp>
      <p:sp>
        <p:nvSpPr>
          <p:cNvPr id="42" name="object 42"/>
          <p:cNvSpPr txBox="1"/>
          <p:nvPr/>
        </p:nvSpPr>
        <p:spPr>
          <a:xfrm>
            <a:off x="277705" y="1037337"/>
            <a:ext cx="3982720" cy="4806615"/>
          </a:xfrm>
          <a:prstGeom prst="rect">
            <a:avLst/>
          </a:prstGeom>
        </p:spPr>
        <p:txBody>
          <a:bodyPr vert="horz" wrap="square" lIns="0" tIns="60113" rIns="0" bIns="0" rtlCol="0">
            <a:spAutoFit/>
          </a:bodyPr>
          <a:lstStyle/>
          <a:p>
            <a:pPr marL="474121" marR="476661" indent="-457189" algn="just">
              <a:lnSpc>
                <a:spcPts val="2733"/>
              </a:lnSpc>
              <a:spcBef>
                <a:spcPts val="473"/>
              </a:spcBef>
              <a:buFont typeface="Microsoft Sans Serif"/>
              <a:buChar char="•"/>
              <a:tabLst>
                <a:tab pos="474121" algn="l"/>
              </a:tabLst>
            </a:pPr>
            <a:r>
              <a:rPr sz="2200" dirty="0">
                <a:latin typeface="Verdana" panose="020B0604030504040204" pitchFamily="34" charset="0"/>
                <a:ea typeface="Verdana" panose="020B0604030504040204" pitchFamily="34" charset="0"/>
                <a:cs typeface="Calibri"/>
              </a:rPr>
              <a:t>There</a:t>
            </a:r>
            <a:r>
              <a:rPr sz="2200" spc="-4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is</a:t>
            </a:r>
            <a:r>
              <a:rPr sz="2200" spc="-4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a</a:t>
            </a:r>
            <a:r>
              <a:rPr sz="2200" spc="-33" dirty="0">
                <a:latin typeface="Verdana" panose="020B0604030504040204" pitchFamily="34" charset="0"/>
                <a:ea typeface="Verdana" panose="020B0604030504040204" pitchFamily="34" charset="0"/>
                <a:cs typeface="Calibri"/>
              </a:rPr>
              <a:t> </a:t>
            </a:r>
            <a:r>
              <a:rPr sz="2200" spc="-107" dirty="0">
                <a:latin typeface="Verdana" panose="020B0604030504040204" pitchFamily="34" charset="0"/>
                <a:ea typeface="Verdana" panose="020B0604030504040204" pitchFamily="34" charset="0"/>
                <a:cs typeface="Calibri"/>
              </a:rPr>
              <a:t>BW.</a:t>
            </a:r>
            <a:r>
              <a:rPr sz="2200" spc="-4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vs.</a:t>
            </a:r>
            <a:r>
              <a:rPr sz="2200" spc="-27" dirty="0">
                <a:latin typeface="Verdana" panose="020B0604030504040204" pitchFamily="34" charset="0"/>
                <a:ea typeface="Verdana" panose="020B0604030504040204" pitchFamily="34" charset="0"/>
                <a:cs typeface="Calibri"/>
              </a:rPr>
              <a:t> noise </a:t>
            </a:r>
            <a:r>
              <a:rPr sz="2200" spc="-33" dirty="0">
                <a:latin typeface="Verdana" panose="020B0604030504040204" pitchFamily="34" charset="0"/>
                <a:ea typeface="Verdana" panose="020B0604030504040204" pitchFamily="34" charset="0"/>
                <a:cs typeface="Calibri"/>
              </a:rPr>
              <a:t>trade-</a:t>
            </a:r>
            <a:r>
              <a:rPr sz="2200" dirty="0">
                <a:latin typeface="Verdana" panose="020B0604030504040204" pitchFamily="34" charset="0"/>
                <a:ea typeface="Verdana" panose="020B0604030504040204" pitchFamily="34" charset="0"/>
                <a:cs typeface="Calibri"/>
              </a:rPr>
              <a:t>off</a:t>
            </a:r>
            <a:r>
              <a:rPr sz="2200" spc="13"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in</a:t>
            </a:r>
            <a:r>
              <a:rPr sz="2200" spc="-2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the</a:t>
            </a:r>
            <a:r>
              <a:rPr sz="2200" spc="-7" dirty="0">
                <a:latin typeface="Verdana" panose="020B0604030504040204" pitchFamily="34" charset="0"/>
                <a:ea typeface="Verdana" panose="020B0604030504040204" pitchFamily="34" charset="0"/>
                <a:cs typeface="Calibri"/>
              </a:rPr>
              <a:t> </a:t>
            </a:r>
            <a:r>
              <a:rPr sz="2200" spc="-33" dirty="0">
                <a:latin typeface="Verdana" panose="020B0604030504040204" pitchFamily="34" charset="0"/>
                <a:ea typeface="Verdana" panose="020B0604030504040204" pitchFamily="34" charset="0"/>
                <a:cs typeface="Calibri"/>
              </a:rPr>
              <a:t>Rx</a:t>
            </a:r>
            <a:endParaRPr sz="2200" dirty="0">
              <a:latin typeface="Verdana" panose="020B0604030504040204" pitchFamily="34" charset="0"/>
              <a:ea typeface="Verdana" panose="020B0604030504040204" pitchFamily="34" charset="0"/>
              <a:cs typeface="Calibri"/>
            </a:endParaRPr>
          </a:p>
          <a:p>
            <a:pPr marL="474121" marR="44872" indent="-457189" algn="just">
              <a:lnSpc>
                <a:spcPct val="90000"/>
              </a:lnSpc>
              <a:spcBef>
                <a:spcPts val="573"/>
              </a:spcBef>
              <a:buFont typeface="Microsoft Sans Serif"/>
              <a:buChar char="•"/>
              <a:tabLst>
                <a:tab pos="474121" algn="l"/>
              </a:tabLst>
            </a:pPr>
            <a:r>
              <a:rPr sz="2200" spc="-27" dirty="0">
                <a:latin typeface="Verdana" panose="020B0604030504040204" pitchFamily="34" charset="0"/>
                <a:ea typeface="Verdana" panose="020B0604030504040204" pitchFamily="34" charset="0"/>
                <a:cs typeface="Calibri"/>
              </a:rPr>
              <a:t>Traditionally</a:t>
            </a:r>
            <a:r>
              <a:rPr sz="2200" dirty="0">
                <a:latin typeface="Verdana" panose="020B0604030504040204" pitchFamily="34" charset="0"/>
                <a:ea typeface="Verdana" panose="020B0604030504040204" pitchFamily="34" charset="0"/>
                <a:cs typeface="Calibri"/>
              </a:rPr>
              <a:t> a</a:t>
            </a:r>
            <a:r>
              <a:rPr sz="2200" spc="-4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low</a:t>
            </a:r>
            <a:r>
              <a:rPr sz="2200" spc="-20" dirty="0">
                <a:latin typeface="Verdana" panose="020B0604030504040204" pitchFamily="34" charset="0"/>
                <a:ea typeface="Verdana" panose="020B0604030504040204" pitchFamily="34" charset="0"/>
                <a:cs typeface="Calibri"/>
              </a:rPr>
              <a:t> </a:t>
            </a:r>
            <a:r>
              <a:rPr sz="2200" spc="-107" dirty="0">
                <a:latin typeface="Verdana" panose="020B0604030504040204" pitchFamily="34" charset="0"/>
                <a:ea typeface="Verdana" panose="020B0604030504040204" pitchFamily="34" charset="0"/>
                <a:cs typeface="Calibri"/>
              </a:rPr>
              <a:t>BW.</a:t>
            </a:r>
            <a:r>
              <a:rPr sz="2200" spc="-40" dirty="0">
                <a:latin typeface="Verdana" panose="020B0604030504040204" pitchFamily="34" charset="0"/>
                <a:ea typeface="Verdana" panose="020B0604030504040204" pitchFamily="34" charset="0"/>
                <a:cs typeface="Calibri"/>
              </a:rPr>
              <a:t> </a:t>
            </a:r>
            <a:r>
              <a:rPr sz="2200" spc="-33" dirty="0">
                <a:latin typeface="Verdana" panose="020B0604030504040204" pitchFamily="34" charset="0"/>
                <a:ea typeface="Verdana" panose="020B0604030504040204" pitchFamily="34" charset="0"/>
                <a:cs typeface="Calibri"/>
              </a:rPr>
              <a:t>TIA </a:t>
            </a:r>
            <a:r>
              <a:rPr sz="2200" dirty="0">
                <a:latin typeface="Verdana" panose="020B0604030504040204" pitchFamily="34" charset="0"/>
                <a:ea typeface="Verdana" panose="020B0604030504040204" pitchFamily="34" charset="0"/>
                <a:cs typeface="Calibri"/>
              </a:rPr>
              <a:t>and</a:t>
            </a:r>
            <a:r>
              <a:rPr sz="2200" spc="-53"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DFE</a:t>
            </a:r>
            <a:r>
              <a:rPr sz="2200" spc="-47"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is</a:t>
            </a:r>
            <a:r>
              <a:rPr sz="2200" spc="-53"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used</a:t>
            </a:r>
            <a:r>
              <a:rPr sz="2200" spc="-4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to</a:t>
            </a:r>
            <a:r>
              <a:rPr sz="2200" spc="-53" dirty="0">
                <a:latin typeface="Verdana" panose="020B0604030504040204" pitchFamily="34" charset="0"/>
                <a:ea typeface="Verdana" panose="020B0604030504040204" pitchFamily="34" charset="0"/>
                <a:cs typeface="Calibri"/>
              </a:rPr>
              <a:t> </a:t>
            </a:r>
            <a:r>
              <a:rPr sz="2200" spc="-13" dirty="0">
                <a:latin typeface="Verdana" panose="020B0604030504040204" pitchFamily="34" charset="0"/>
                <a:ea typeface="Verdana" panose="020B0604030504040204" pitchFamily="34" charset="0"/>
                <a:cs typeface="Calibri"/>
              </a:rPr>
              <a:t>break </a:t>
            </a:r>
            <a:r>
              <a:rPr sz="2200" dirty="0">
                <a:latin typeface="Verdana" panose="020B0604030504040204" pitchFamily="34" charset="0"/>
                <a:ea typeface="Verdana" panose="020B0604030504040204" pitchFamily="34" charset="0"/>
                <a:cs typeface="Calibri"/>
              </a:rPr>
              <a:t>this</a:t>
            </a:r>
            <a:r>
              <a:rPr sz="2200" spc="-27" dirty="0">
                <a:latin typeface="Verdana" panose="020B0604030504040204" pitchFamily="34" charset="0"/>
                <a:ea typeface="Verdana" panose="020B0604030504040204" pitchFamily="34" charset="0"/>
                <a:cs typeface="Calibri"/>
              </a:rPr>
              <a:t> trade-</a:t>
            </a:r>
            <a:r>
              <a:rPr sz="2200" spc="-33" dirty="0">
                <a:latin typeface="Verdana" panose="020B0604030504040204" pitchFamily="34" charset="0"/>
                <a:ea typeface="Verdana" panose="020B0604030504040204" pitchFamily="34" charset="0"/>
                <a:cs typeface="Calibri"/>
              </a:rPr>
              <a:t>off</a:t>
            </a:r>
            <a:endParaRPr sz="2200" dirty="0">
              <a:latin typeface="Verdana" panose="020B0604030504040204" pitchFamily="34" charset="0"/>
              <a:ea typeface="Verdana" panose="020B0604030504040204" pitchFamily="34" charset="0"/>
              <a:cs typeface="Calibri"/>
            </a:endParaRPr>
          </a:p>
          <a:p>
            <a:pPr marL="474121" marR="6773" indent="-457189" algn="just">
              <a:lnSpc>
                <a:spcPts val="2733"/>
              </a:lnSpc>
              <a:spcBef>
                <a:spcPts val="645"/>
              </a:spcBef>
              <a:buFont typeface="Microsoft Sans Serif"/>
              <a:buChar char="•"/>
              <a:tabLst>
                <a:tab pos="474121" algn="l"/>
              </a:tabLst>
            </a:pPr>
            <a:r>
              <a:rPr sz="2200" dirty="0">
                <a:latin typeface="Verdana" panose="020B0604030504040204" pitchFamily="34" charset="0"/>
                <a:ea typeface="Verdana" panose="020B0604030504040204" pitchFamily="34" charset="0"/>
                <a:cs typeface="Calibri"/>
              </a:rPr>
              <a:t>But</a:t>
            </a:r>
            <a:r>
              <a:rPr sz="2200" spc="-6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DFE</a:t>
            </a:r>
            <a:r>
              <a:rPr sz="2200" spc="-33"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is</a:t>
            </a:r>
            <a:r>
              <a:rPr sz="2200" spc="-67"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power</a:t>
            </a:r>
            <a:r>
              <a:rPr sz="2200" spc="-33" dirty="0">
                <a:latin typeface="Verdana" panose="020B0604030504040204" pitchFamily="34" charset="0"/>
                <a:ea typeface="Verdana" panose="020B0604030504040204" pitchFamily="34" charset="0"/>
                <a:cs typeface="Calibri"/>
              </a:rPr>
              <a:t> </a:t>
            </a:r>
            <a:r>
              <a:rPr sz="2200" spc="-13" dirty="0">
                <a:latin typeface="Verdana" panose="020B0604030504040204" pitchFamily="34" charset="0"/>
                <a:ea typeface="Verdana" panose="020B0604030504040204" pitchFamily="34" charset="0"/>
                <a:cs typeface="Calibri"/>
              </a:rPr>
              <a:t>hungry </a:t>
            </a:r>
            <a:r>
              <a:rPr sz="2200" dirty="0">
                <a:latin typeface="Verdana" panose="020B0604030504040204" pitchFamily="34" charset="0"/>
                <a:ea typeface="Verdana" panose="020B0604030504040204" pitchFamily="34" charset="0"/>
                <a:cs typeface="Calibri"/>
              </a:rPr>
              <a:t>and</a:t>
            </a:r>
            <a:r>
              <a:rPr sz="2200" spc="-67"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costly</a:t>
            </a:r>
            <a:r>
              <a:rPr sz="2200" spc="-73"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to</a:t>
            </a:r>
            <a:r>
              <a:rPr sz="2200" spc="-53" dirty="0">
                <a:latin typeface="Verdana" panose="020B0604030504040204" pitchFamily="34" charset="0"/>
                <a:ea typeface="Verdana" panose="020B0604030504040204" pitchFamily="34" charset="0"/>
                <a:cs typeface="Calibri"/>
              </a:rPr>
              <a:t> </a:t>
            </a:r>
            <a:r>
              <a:rPr sz="2200" spc="-13" dirty="0">
                <a:latin typeface="Verdana" panose="020B0604030504040204" pitchFamily="34" charset="0"/>
                <a:ea typeface="Verdana" panose="020B0604030504040204" pitchFamily="34" charset="0"/>
                <a:cs typeface="Calibri"/>
              </a:rPr>
              <a:t>implement</a:t>
            </a:r>
            <a:r>
              <a:rPr sz="2200" spc="-47" dirty="0">
                <a:latin typeface="Verdana" panose="020B0604030504040204" pitchFamily="34" charset="0"/>
                <a:ea typeface="Verdana" panose="020B0604030504040204" pitchFamily="34" charset="0"/>
                <a:cs typeface="Calibri"/>
              </a:rPr>
              <a:t> </a:t>
            </a:r>
            <a:r>
              <a:rPr sz="2200" spc="-33" dirty="0">
                <a:latin typeface="Verdana" panose="020B0604030504040204" pitchFamily="34" charset="0"/>
                <a:ea typeface="Verdana" panose="020B0604030504040204" pitchFamily="34" charset="0"/>
                <a:cs typeface="Calibri"/>
              </a:rPr>
              <a:t>at </a:t>
            </a:r>
            <a:r>
              <a:rPr sz="2200" spc="-27" dirty="0">
                <a:latin typeface="Verdana" panose="020B0604030504040204" pitchFamily="34" charset="0"/>
                <a:ea typeface="Verdana" panose="020B0604030504040204" pitchFamily="34" charset="0"/>
                <a:cs typeface="Calibri"/>
              </a:rPr>
              <a:t>high-</a:t>
            </a:r>
            <a:r>
              <a:rPr sz="2200" spc="-13" dirty="0">
                <a:latin typeface="Verdana" panose="020B0604030504040204" pitchFamily="34" charset="0"/>
                <a:ea typeface="Verdana" panose="020B0604030504040204" pitchFamily="34" charset="0"/>
                <a:cs typeface="Calibri"/>
              </a:rPr>
              <a:t>speeds</a:t>
            </a:r>
            <a:endParaRPr sz="2200" dirty="0">
              <a:latin typeface="Verdana" panose="020B0604030504040204" pitchFamily="34" charset="0"/>
              <a:ea typeface="Verdana" panose="020B0604030504040204" pitchFamily="34" charset="0"/>
              <a:cs typeface="Calibri"/>
            </a:endParaRPr>
          </a:p>
          <a:p>
            <a:pPr marL="474121" marR="198962" indent="-457189" algn="just">
              <a:lnSpc>
                <a:spcPct val="90000"/>
              </a:lnSpc>
              <a:spcBef>
                <a:spcPts val="579"/>
              </a:spcBef>
              <a:buFont typeface="Microsoft Sans Serif"/>
              <a:buChar char="•"/>
              <a:tabLst>
                <a:tab pos="474121" algn="l"/>
              </a:tabLst>
            </a:pPr>
            <a:r>
              <a:rPr sz="2200" spc="-27" dirty="0">
                <a:latin typeface="Verdana" panose="020B0604030504040204" pitchFamily="34" charset="0"/>
                <a:ea typeface="Verdana" panose="020B0604030504040204" pitchFamily="34" charset="0"/>
                <a:cs typeface="Calibri"/>
              </a:rPr>
              <a:t>Over-</a:t>
            </a:r>
            <a:r>
              <a:rPr sz="2200" dirty="0">
                <a:latin typeface="Verdana" panose="020B0604030504040204" pitchFamily="34" charset="0"/>
                <a:ea typeface="Verdana" panose="020B0604030504040204" pitchFamily="34" charset="0"/>
                <a:cs typeface="Calibri"/>
              </a:rPr>
              <a:t>peaking</a:t>
            </a:r>
            <a:r>
              <a:rPr sz="2200" spc="-13"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at</a:t>
            </a:r>
            <a:r>
              <a:rPr sz="2200" spc="-67" dirty="0">
                <a:latin typeface="Verdana" panose="020B0604030504040204" pitchFamily="34" charset="0"/>
                <a:ea typeface="Verdana" panose="020B0604030504040204" pitchFamily="34" charset="0"/>
                <a:cs typeface="Calibri"/>
              </a:rPr>
              <a:t> </a:t>
            </a:r>
            <a:r>
              <a:rPr sz="2200" spc="-13" dirty="0">
                <a:latin typeface="Verdana" panose="020B0604030504040204" pitchFamily="34" charset="0"/>
                <a:ea typeface="Verdana" panose="020B0604030504040204" pitchFamily="34" charset="0"/>
                <a:cs typeface="Calibri"/>
              </a:rPr>
              <a:t>Tx</a:t>
            </a:r>
            <a:r>
              <a:rPr sz="2200" spc="-67" dirty="0">
                <a:latin typeface="Verdana" panose="020B0604030504040204" pitchFamily="34" charset="0"/>
                <a:ea typeface="Verdana" panose="020B0604030504040204" pitchFamily="34" charset="0"/>
                <a:cs typeface="Calibri"/>
              </a:rPr>
              <a:t> </a:t>
            </a:r>
            <a:r>
              <a:rPr sz="2200" spc="-33" dirty="0">
                <a:latin typeface="Verdana" panose="020B0604030504040204" pitchFamily="34" charset="0"/>
                <a:ea typeface="Verdana" panose="020B0604030504040204" pitchFamily="34" charset="0"/>
                <a:cs typeface="Calibri"/>
              </a:rPr>
              <a:t>can </a:t>
            </a:r>
            <a:r>
              <a:rPr sz="2200" dirty="0">
                <a:latin typeface="Verdana" panose="020B0604030504040204" pitchFamily="34" charset="0"/>
                <a:ea typeface="Verdana" panose="020B0604030504040204" pitchFamily="34" charset="0"/>
                <a:cs typeface="Calibri"/>
              </a:rPr>
              <a:t>allow</a:t>
            </a:r>
            <a:r>
              <a:rPr sz="2200" spc="-4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the</a:t>
            </a:r>
            <a:r>
              <a:rPr sz="2200" spc="-6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Rx</a:t>
            </a:r>
            <a:r>
              <a:rPr sz="2200" spc="-67"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to</a:t>
            </a:r>
            <a:r>
              <a:rPr sz="2200" spc="-6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reduce</a:t>
            </a:r>
            <a:r>
              <a:rPr sz="2200" spc="-60" dirty="0">
                <a:latin typeface="Verdana" panose="020B0604030504040204" pitchFamily="34" charset="0"/>
                <a:ea typeface="Verdana" panose="020B0604030504040204" pitchFamily="34" charset="0"/>
                <a:cs typeface="Calibri"/>
              </a:rPr>
              <a:t> </a:t>
            </a:r>
            <a:r>
              <a:rPr sz="2200" spc="-33" dirty="0">
                <a:latin typeface="Verdana" panose="020B0604030504040204" pitchFamily="34" charset="0"/>
                <a:ea typeface="Verdana" panose="020B0604030504040204" pitchFamily="34" charset="0"/>
                <a:cs typeface="Calibri"/>
              </a:rPr>
              <a:t>its </a:t>
            </a:r>
            <a:r>
              <a:rPr sz="2200" spc="-107" dirty="0">
                <a:latin typeface="Verdana" panose="020B0604030504040204" pitchFamily="34" charset="0"/>
                <a:ea typeface="Verdana" panose="020B0604030504040204" pitchFamily="34" charset="0"/>
                <a:cs typeface="Calibri"/>
              </a:rPr>
              <a:t>BW.</a:t>
            </a:r>
            <a:r>
              <a:rPr sz="2200" spc="-20" dirty="0">
                <a:latin typeface="Verdana" panose="020B0604030504040204" pitchFamily="34" charset="0"/>
                <a:ea typeface="Verdana" panose="020B0604030504040204" pitchFamily="34" charset="0"/>
                <a:cs typeface="Calibri"/>
              </a:rPr>
              <a:t> </a:t>
            </a:r>
            <a:r>
              <a:rPr sz="2200" spc="-13" dirty="0">
                <a:latin typeface="Verdana" panose="020B0604030504040204" pitchFamily="34" charset="0"/>
                <a:ea typeface="Verdana" panose="020B0604030504040204" pitchFamily="34" charset="0"/>
                <a:cs typeface="Calibri"/>
              </a:rPr>
              <a:t>without </a:t>
            </a:r>
            <a:r>
              <a:rPr sz="2200" dirty="0">
                <a:latin typeface="Verdana" panose="020B0604030504040204" pitchFamily="34" charset="0"/>
                <a:ea typeface="Verdana" panose="020B0604030504040204" pitchFamily="34" charset="0"/>
                <a:cs typeface="Calibri"/>
              </a:rPr>
              <a:t>compromising</a:t>
            </a:r>
            <a:r>
              <a:rPr sz="2200" spc="-80" dirty="0">
                <a:latin typeface="Verdana" panose="020B0604030504040204" pitchFamily="34" charset="0"/>
                <a:ea typeface="Verdana" panose="020B0604030504040204" pitchFamily="34" charset="0"/>
                <a:cs typeface="Calibri"/>
              </a:rPr>
              <a:t> </a:t>
            </a:r>
            <a:r>
              <a:rPr sz="2200" dirty="0">
                <a:latin typeface="Verdana" panose="020B0604030504040204" pitchFamily="34" charset="0"/>
                <a:ea typeface="Verdana" panose="020B0604030504040204" pitchFamily="34" charset="0"/>
                <a:cs typeface="Calibri"/>
              </a:rPr>
              <a:t>on</a:t>
            </a:r>
            <a:r>
              <a:rPr sz="2200" spc="-107" dirty="0">
                <a:latin typeface="Verdana" panose="020B0604030504040204" pitchFamily="34" charset="0"/>
                <a:ea typeface="Verdana" panose="020B0604030504040204" pitchFamily="34" charset="0"/>
                <a:cs typeface="Calibri"/>
              </a:rPr>
              <a:t> </a:t>
            </a:r>
            <a:r>
              <a:rPr sz="2200" spc="-33" dirty="0">
                <a:latin typeface="Verdana" panose="020B0604030504040204" pitchFamily="34" charset="0"/>
                <a:ea typeface="Verdana" panose="020B0604030504040204" pitchFamily="34" charset="0"/>
                <a:cs typeface="Calibri"/>
              </a:rPr>
              <a:t>Tx </a:t>
            </a:r>
            <a:r>
              <a:rPr sz="2200" dirty="0">
                <a:latin typeface="Verdana" panose="020B0604030504040204" pitchFamily="34" charset="0"/>
                <a:ea typeface="Verdana" panose="020B0604030504040204" pitchFamily="34" charset="0"/>
                <a:cs typeface="Calibri"/>
              </a:rPr>
              <a:t>modulation</a:t>
            </a:r>
            <a:r>
              <a:rPr sz="2200" spc="-127" dirty="0">
                <a:latin typeface="Verdana" panose="020B0604030504040204" pitchFamily="34" charset="0"/>
                <a:ea typeface="Verdana" panose="020B0604030504040204" pitchFamily="34" charset="0"/>
                <a:cs typeface="Calibri"/>
              </a:rPr>
              <a:t> </a:t>
            </a:r>
            <a:r>
              <a:rPr sz="2200" spc="-13" dirty="0">
                <a:latin typeface="Verdana" panose="020B0604030504040204" pitchFamily="34" charset="0"/>
                <a:ea typeface="Verdana" panose="020B0604030504040204" pitchFamily="34" charset="0"/>
                <a:cs typeface="Calibri"/>
              </a:rPr>
              <a:t>amplitude</a:t>
            </a:r>
            <a:endParaRPr sz="2200" dirty="0">
              <a:latin typeface="Verdana" panose="020B0604030504040204" pitchFamily="34" charset="0"/>
              <a:ea typeface="Verdana" panose="020B0604030504040204" pitchFamily="34" charset="0"/>
              <a:cs typeface="Calibri"/>
            </a:endParaRPr>
          </a:p>
        </p:txBody>
      </p:sp>
      <p:sp>
        <p:nvSpPr>
          <p:cNvPr id="43" name="object 43"/>
          <p:cNvSpPr txBox="1"/>
          <p:nvPr/>
        </p:nvSpPr>
        <p:spPr>
          <a:xfrm>
            <a:off x="4843948" y="1355954"/>
            <a:ext cx="455507" cy="287195"/>
          </a:xfrm>
          <a:prstGeom prst="rect">
            <a:avLst/>
          </a:prstGeom>
        </p:spPr>
        <p:txBody>
          <a:bodyPr vert="horz" wrap="square" lIns="0" tIns="20320" rIns="0" bIns="0" rtlCol="0">
            <a:spAutoFit/>
          </a:bodyPr>
          <a:lstStyle/>
          <a:p>
            <a:pPr marL="16933">
              <a:spcBef>
                <a:spcPts val="160"/>
              </a:spcBef>
            </a:pPr>
            <a:r>
              <a:rPr sz="1733" dirty="0">
                <a:latin typeface="Cambria Math"/>
                <a:cs typeface="Cambria Math"/>
              </a:rPr>
              <a:t>𝒏</a:t>
            </a:r>
            <a:r>
              <a:rPr sz="1733" spc="13" dirty="0">
                <a:latin typeface="Cambria Math"/>
                <a:cs typeface="Cambria Math"/>
              </a:rPr>
              <a:t> </a:t>
            </a:r>
            <a:r>
              <a:rPr sz="1733" spc="-33" dirty="0">
                <a:latin typeface="Cambria Math"/>
                <a:cs typeface="Cambria Math"/>
              </a:rPr>
              <a:t>𝒊𝒏</a:t>
            </a:r>
            <a:endParaRPr sz="1733">
              <a:latin typeface="Cambria Math"/>
              <a:cs typeface="Cambria Math"/>
            </a:endParaRPr>
          </a:p>
        </p:txBody>
      </p:sp>
      <p:sp>
        <p:nvSpPr>
          <p:cNvPr id="44" name="object 44"/>
          <p:cNvSpPr txBox="1"/>
          <p:nvPr/>
        </p:nvSpPr>
        <p:spPr>
          <a:xfrm>
            <a:off x="4696290" y="1079602"/>
            <a:ext cx="349673" cy="386430"/>
          </a:xfrm>
          <a:prstGeom prst="rect">
            <a:avLst/>
          </a:prstGeom>
        </p:spPr>
        <p:txBody>
          <a:bodyPr vert="horz" wrap="square" lIns="0" tIns="16933" rIns="0" bIns="0" rtlCol="0">
            <a:spAutoFit/>
          </a:bodyPr>
          <a:lstStyle/>
          <a:p>
            <a:pPr marL="50799">
              <a:spcBef>
                <a:spcPts val="133"/>
              </a:spcBef>
            </a:pPr>
            <a:r>
              <a:rPr sz="3600" spc="-49" baseline="-21604" dirty="0">
                <a:latin typeface="Cambria Math"/>
                <a:cs typeface="Cambria Math"/>
              </a:rPr>
              <a:t>𝒊</a:t>
            </a:r>
            <a:r>
              <a:rPr sz="1733" spc="-33" dirty="0">
                <a:latin typeface="Cambria Math"/>
                <a:cs typeface="Cambria Math"/>
              </a:rPr>
              <a:t>𝟐</a:t>
            </a:r>
            <a:endParaRPr sz="1733">
              <a:latin typeface="Cambria Math"/>
              <a:cs typeface="Cambria Math"/>
            </a:endParaRPr>
          </a:p>
        </p:txBody>
      </p:sp>
      <p:sp>
        <p:nvSpPr>
          <p:cNvPr id="45" name="object 45"/>
          <p:cNvSpPr txBox="1"/>
          <p:nvPr/>
        </p:nvSpPr>
        <p:spPr>
          <a:xfrm>
            <a:off x="5783240" y="1345794"/>
            <a:ext cx="584200" cy="287195"/>
          </a:xfrm>
          <a:prstGeom prst="rect">
            <a:avLst/>
          </a:prstGeom>
        </p:spPr>
        <p:txBody>
          <a:bodyPr vert="horz" wrap="square" lIns="0" tIns="20320" rIns="0" bIns="0" rtlCol="0">
            <a:spAutoFit/>
          </a:bodyPr>
          <a:lstStyle/>
          <a:p>
            <a:pPr marL="16933">
              <a:spcBef>
                <a:spcPts val="160"/>
              </a:spcBef>
            </a:pPr>
            <a:r>
              <a:rPr sz="1733" dirty="0">
                <a:latin typeface="Cambria Math"/>
                <a:cs typeface="Cambria Math"/>
              </a:rPr>
              <a:t>𝒏</a:t>
            </a:r>
            <a:r>
              <a:rPr sz="1733" spc="13" dirty="0">
                <a:latin typeface="Cambria Math"/>
                <a:cs typeface="Cambria Math"/>
              </a:rPr>
              <a:t> </a:t>
            </a:r>
            <a:r>
              <a:rPr sz="1733" spc="-33" dirty="0">
                <a:latin typeface="Cambria Math"/>
                <a:cs typeface="Cambria Math"/>
              </a:rPr>
              <a:t>𝒈𝒎</a:t>
            </a:r>
            <a:endParaRPr sz="1733">
              <a:latin typeface="Cambria Math"/>
              <a:cs typeface="Cambria Math"/>
            </a:endParaRPr>
          </a:p>
        </p:txBody>
      </p:sp>
      <p:sp>
        <p:nvSpPr>
          <p:cNvPr id="46" name="object 46"/>
          <p:cNvSpPr/>
          <p:nvPr/>
        </p:nvSpPr>
        <p:spPr>
          <a:xfrm>
            <a:off x="8365574" y="1252219"/>
            <a:ext cx="22860" cy="368300"/>
          </a:xfrm>
          <a:custGeom>
            <a:avLst/>
            <a:gdLst/>
            <a:ahLst/>
            <a:cxnLst/>
            <a:rect l="l" t="t" r="r" b="b"/>
            <a:pathLst>
              <a:path w="17145" h="276225">
                <a:moveTo>
                  <a:pt x="17145" y="0"/>
                </a:moveTo>
                <a:lnTo>
                  <a:pt x="0" y="0"/>
                </a:lnTo>
                <a:lnTo>
                  <a:pt x="0" y="276098"/>
                </a:lnTo>
                <a:lnTo>
                  <a:pt x="17145" y="276098"/>
                </a:lnTo>
                <a:lnTo>
                  <a:pt x="17145" y="0"/>
                </a:lnTo>
                <a:close/>
              </a:path>
            </a:pathLst>
          </a:custGeom>
          <a:solidFill>
            <a:srgbClr val="000000"/>
          </a:solidFill>
        </p:spPr>
        <p:txBody>
          <a:bodyPr wrap="square" lIns="0" tIns="0" rIns="0" bIns="0" rtlCol="0"/>
          <a:lstStyle/>
          <a:p>
            <a:endParaRPr sz="2400"/>
          </a:p>
        </p:txBody>
      </p:sp>
      <p:sp>
        <p:nvSpPr>
          <p:cNvPr id="47" name="object 47"/>
          <p:cNvSpPr/>
          <p:nvPr/>
        </p:nvSpPr>
        <p:spPr>
          <a:xfrm>
            <a:off x="6681046" y="1252219"/>
            <a:ext cx="22860" cy="368300"/>
          </a:xfrm>
          <a:custGeom>
            <a:avLst/>
            <a:gdLst/>
            <a:ahLst/>
            <a:cxnLst/>
            <a:rect l="l" t="t" r="r" b="b"/>
            <a:pathLst>
              <a:path w="17145" h="276225">
                <a:moveTo>
                  <a:pt x="17144" y="0"/>
                </a:moveTo>
                <a:lnTo>
                  <a:pt x="0" y="0"/>
                </a:lnTo>
                <a:lnTo>
                  <a:pt x="0" y="276098"/>
                </a:lnTo>
                <a:lnTo>
                  <a:pt x="17144" y="276098"/>
                </a:lnTo>
                <a:lnTo>
                  <a:pt x="17144" y="0"/>
                </a:lnTo>
                <a:close/>
              </a:path>
            </a:pathLst>
          </a:custGeom>
          <a:solidFill>
            <a:srgbClr val="000000"/>
          </a:solidFill>
        </p:spPr>
        <p:txBody>
          <a:bodyPr wrap="square" lIns="0" tIns="0" rIns="0" bIns="0" rtlCol="0"/>
          <a:lstStyle/>
          <a:p>
            <a:endParaRPr sz="2400"/>
          </a:p>
        </p:txBody>
      </p:sp>
      <p:sp>
        <p:nvSpPr>
          <p:cNvPr id="48" name="object 48"/>
          <p:cNvSpPr txBox="1"/>
          <p:nvPr/>
        </p:nvSpPr>
        <p:spPr>
          <a:xfrm>
            <a:off x="5309278" y="1201522"/>
            <a:ext cx="1675553" cy="386430"/>
          </a:xfrm>
          <a:prstGeom prst="rect">
            <a:avLst/>
          </a:prstGeom>
        </p:spPr>
        <p:txBody>
          <a:bodyPr vert="horz" wrap="square" lIns="0" tIns="16933" rIns="0" bIns="0" rtlCol="0">
            <a:spAutoFit/>
          </a:bodyPr>
          <a:lstStyle/>
          <a:p>
            <a:pPr marL="67732">
              <a:spcBef>
                <a:spcPts val="133"/>
              </a:spcBef>
              <a:tabLst>
                <a:tab pos="1051534" algn="l"/>
              </a:tabLst>
            </a:pPr>
            <a:r>
              <a:rPr sz="2400" dirty="0">
                <a:latin typeface="Cambria Math"/>
                <a:cs typeface="Cambria Math"/>
              </a:rPr>
              <a:t>≈</a:t>
            </a:r>
            <a:r>
              <a:rPr sz="2400" spc="133" dirty="0">
                <a:latin typeface="Cambria Math"/>
                <a:cs typeface="Cambria Math"/>
              </a:rPr>
              <a:t> </a:t>
            </a:r>
            <a:r>
              <a:rPr sz="2400" spc="-33" dirty="0">
                <a:latin typeface="Cambria Math"/>
                <a:cs typeface="Cambria Math"/>
              </a:rPr>
              <a:t>𝒊</a:t>
            </a:r>
            <a:r>
              <a:rPr sz="2600" spc="-49" baseline="27777" dirty="0">
                <a:latin typeface="Cambria Math"/>
                <a:cs typeface="Cambria Math"/>
              </a:rPr>
              <a:t>𝟐</a:t>
            </a:r>
            <a:r>
              <a:rPr sz="2600" baseline="27777" dirty="0">
                <a:latin typeface="Cambria Math"/>
                <a:cs typeface="Cambria Math"/>
              </a:rPr>
              <a:t>	</a:t>
            </a:r>
            <a:r>
              <a:rPr sz="2400" dirty="0">
                <a:latin typeface="Cambria Math"/>
                <a:cs typeface="Cambria Math"/>
              </a:rPr>
              <a:t>×</a:t>
            </a:r>
            <a:r>
              <a:rPr sz="2400" spc="93" dirty="0">
                <a:latin typeface="Cambria Math"/>
                <a:cs typeface="Cambria Math"/>
              </a:rPr>
              <a:t>  </a:t>
            </a:r>
            <a:r>
              <a:rPr sz="2400" spc="-67" dirty="0">
                <a:solidFill>
                  <a:srgbClr val="FF0000"/>
                </a:solidFill>
                <a:latin typeface="Cambria Math"/>
                <a:cs typeface="Cambria Math"/>
              </a:rPr>
              <a:t>𝒁</a:t>
            </a:r>
            <a:endParaRPr sz="2400">
              <a:latin typeface="Cambria Math"/>
              <a:cs typeface="Cambria Math"/>
            </a:endParaRPr>
          </a:p>
        </p:txBody>
      </p:sp>
      <p:sp>
        <p:nvSpPr>
          <p:cNvPr id="49" name="object 49"/>
          <p:cNvSpPr txBox="1"/>
          <p:nvPr/>
        </p:nvSpPr>
        <p:spPr>
          <a:xfrm>
            <a:off x="6917096" y="1345794"/>
            <a:ext cx="922867" cy="287195"/>
          </a:xfrm>
          <a:prstGeom prst="rect">
            <a:avLst/>
          </a:prstGeom>
        </p:spPr>
        <p:txBody>
          <a:bodyPr vert="horz" wrap="square" lIns="0" tIns="20320" rIns="0" bIns="0" rtlCol="0">
            <a:spAutoFit/>
          </a:bodyPr>
          <a:lstStyle/>
          <a:p>
            <a:pPr marL="16933">
              <a:spcBef>
                <a:spcPts val="160"/>
              </a:spcBef>
            </a:pPr>
            <a:r>
              <a:rPr sz="1733" spc="-13" dirty="0">
                <a:solidFill>
                  <a:srgbClr val="FF0000"/>
                </a:solidFill>
                <a:latin typeface="Cambria Math"/>
                <a:cs typeface="Cambria Math"/>
              </a:rPr>
              <a:t>𝒕_𝒔𝒄𝒂𝒍𝒆𝒅</a:t>
            </a:r>
            <a:endParaRPr sz="1733">
              <a:latin typeface="Cambria Math"/>
              <a:cs typeface="Cambria Math"/>
            </a:endParaRPr>
          </a:p>
        </p:txBody>
      </p:sp>
      <p:sp>
        <p:nvSpPr>
          <p:cNvPr id="50" name="object 50"/>
          <p:cNvSpPr txBox="1"/>
          <p:nvPr/>
        </p:nvSpPr>
        <p:spPr>
          <a:xfrm>
            <a:off x="8410955" y="1082040"/>
            <a:ext cx="167640" cy="287195"/>
          </a:xfrm>
          <a:prstGeom prst="rect">
            <a:avLst/>
          </a:prstGeom>
        </p:spPr>
        <p:txBody>
          <a:bodyPr vert="horz" wrap="square" lIns="0" tIns="20320" rIns="0" bIns="0" rtlCol="0">
            <a:spAutoFit/>
          </a:bodyPr>
          <a:lstStyle/>
          <a:p>
            <a:pPr marL="16933">
              <a:spcBef>
                <a:spcPts val="160"/>
              </a:spcBef>
            </a:pPr>
            <a:r>
              <a:rPr sz="1733" spc="-67" dirty="0">
                <a:latin typeface="Cambria Math"/>
                <a:cs typeface="Cambria Math"/>
              </a:rPr>
              <a:t>𝟐</a:t>
            </a:r>
            <a:endParaRPr sz="1733">
              <a:latin typeface="Cambria Math"/>
              <a:cs typeface="Cambria Math"/>
            </a:endParaRPr>
          </a:p>
        </p:txBody>
      </p:sp>
      <p:sp>
        <p:nvSpPr>
          <p:cNvPr id="51" name="object 51"/>
          <p:cNvSpPr txBox="1"/>
          <p:nvPr/>
        </p:nvSpPr>
        <p:spPr>
          <a:xfrm>
            <a:off x="7817273" y="1201521"/>
            <a:ext cx="1059180" cy="386430"/>
          </a:xfrm>
          <a:prstGeom prst="rect">
            <a:avLst/>
          </a:prstGeom>
        </p:spPr>
        <p:txBody>
          <a:bodyPr vert="horz" wrap="square" lIns="0" tIns="16933" rIns="0" bIns="0" rtlCol="0">
            <a:spAutoFit/>
          </a:bodyPr>
          <a:lstStyle/>
          <a:p>
            <a:pPr marL="16933">
              <a:spcBef>
                <a:spcPts val="133"/>
              </a:spcBef>
              <a:tabLst>
                <a:tab pos="823786" algn="l"/>
              </a:tabLst>
            </a:pPr>
            <a:r>
              <a:rPr sz="2400" spc="-33" dirty="0">
                <a:solidFill>
                  <a:srgbClr val="FF0000"/>
                </a:solidFill>
                <a:latin typeface="Cambria Math"/>
                <a:cs typeface="Cambria Math"/>
              </a:rPr>
              <a:t>(𝝎)</a:t>
            </a:r>
            <a:r>
              <a:rPr sz="2400" dirty="0">
                <a:solidFill>
                  <a:srgbClr val="FF0000"/>
                </a:solidFill>
                <a:latin typeface="Cambria Math"/>
                <a:cs typeface="Cambria Math"/>
              </a:rPr>
              <a:t>	</a:t>
            </a:r>
            <a:r>
              <a:rPr sz="2400" spc="-67" dirty="0">
                <a:latin typeface="Cambria Math"/>
                <a:cs typeface="Cambria Math"/>
              </a:rPr>
              <a:t>×</a:t>
            </a:r>
            <a:endParaRPr sz="2400">
              <a:latin typeface="Cambria Math"/>
              <a:cs typeface="Cambria Math"/>
            </a:endParaRPr>
          </a:p>
        </p:txBody>
      </p:sp>
      <p:sp>
        <p:nvSpPr>
          <p:cNvPr id="52" name="object 52"/>
          <p:cNvSpPr/>
          <p:nvPr/>
        </p:nvSpPr>
        <p:spPr>
          <a:xfrm>
            <a:off x="8924036" y="1425785"/>
            <a:ext cx="983827" cy="20320"/>
          </a:xfrm>
          <a:custGeom>
            <a:avLst/>
            <a:gdLst/>
            <a:ahLst/>
            <a:cxnLst/>
            <a:rect l="l" t="t" r="r" b="b"/>
            <a:pathLst>
              <a:path w="737870" h="15240">
                <a:moveTo>
                  <a:pt x="737616" y="0"/>
                </a:moveTo>
                <a:lnTo>
                  <a:pt x="0" y="0"/>
                </a:lnTo>
                <a:lnTo>
                  <a:pt x="0" y="15239"/>
                </a:lnTo>
                <a:lnTo>
                  <a:pt x="737616" y="15239"/>
                </a:lnTo>
                <a:lnTo>
                  <a:pt x="737616" y="0"/>
                </a:lnTo>
                <a:close/>
              </a:path>
            </a:pathLst>
          </a:custGeom>
          <a:solidFill>
            <a:srgbClr val="000000"/>
          </a:solidFill>
        </p:spPr>
        <p:txBody>
          <a:bodyPr wrap="square" lIns="0" tIns="0" rIns="0" bIns="0" rtlCol="0"/>
          <a:lstStyle/>
          <a:p>
            <a:endParaRPr sz="2400"/>
          </a:p>
        </p:txBody>
      </p:sp>
      <p:sp>
        <p:nvSpPr>
          <p:cNvPr id="53" name="object 53"/>
          <p:cNvSpPr txBox="1"/>
          <p:nvPr/>
        </p:nvSpPr>
        <p:spPr>
          <a:xfrm>
            <a:off x="9323324" y="1021079"/>
            <a:ext cx="186267" cy="324875"/>
          </a:xfrm>
          <a:prstGeom prst="rect">
            <a:avLst/>
          </a:prstGeom>
        </p:spPr>
        <p:txBody>
          <a:bodyPr vert="horz" wrap="square" lIns="0" tIns="16933" rIns="0" bIns="0" rtlCol="0">
            <a:spAutoFit/>
          </a:bodyPr>
          <a:lstStyle/>
          <a:p>
            <a:pPr marL="16933">
              <a:spcBef>
                <a:spcPts val="133"/>
              </a:spcBef>
            </a:pPr>
            <a:r>
              <a:rPr sz="2000" spc="-67" dirty="0">
                <a:latin typeface="Cambria Math"/>
                <a:cs typeface="Cambria Math"/>
              </a:rPr>
              <a:t>𝟏</a:t>
            </a:r>
            <a:endParaRPr sz="2000">
              <a:latin typeface="Cambria Math"/>
              <a:cs typeface="Cambria Math"/>
            </a:endParaRPr>
          </a:p>
        </p:txBody>
      </p:sp>
      <p:sp>
        <p:nvSpPr>
          <p:cNvPr id="54" name="object 54"/>
          <p:cNvSpPr txBox="1"/>
          <p:nvPr/>
        </p:nvSpPr>
        <p:spPr>
          <a:xfrm>
            <a:off x="9189211" y="1588348"/>
            <a:ext cx="497840" cy="241156"/>
          </a:xfrm>
          <a:prstGeom prst="rect">
            <a:avLst/>
          </a:prstGeom>
        </p:spPr>
        <p:txBody>
          <a:bodyPr vert="horz" wrap="square" lIns="0" tIns="15240" rIns="0" bIns="0" rtlCol="0">
            <a:spAutoFit/>
          </a:bodyPr>
          <a:lstStyle/>
          <a:p>
            <a:pPr marL="16933">
              <a:spcBef>
                <a:spcPts val="120"/>
              </a:spcBef>
              <a:tabLst>
                <a:tab pos="375911" algn="l"/>
              </a:tabLst>
            </a:pPr>
            <a:r>
              <a:rPr sz="1467" spc="-67" dirty="0">
                <a:latin typeface="Cambria Math"/>
                <a:cs typeface="Cambria Math"/>
              </a:rPr>
              <a:t>𝒎</a:t>
            </a:r>
            <a:r>
              <a:rPr sz="1467" dirty="0">
                <a:latin typeface="Cambria Math"/>
                <a:cs typeface="Cambria Math"/>
              </a:rPr>
              <a:t>	</a:t>
            </a:r>
            <a:r>
              <a:rPr sz="1467" spc="-67" dirty="0">
                <a:latin typeface="Cambria Math"/>
                <a:cs typeface="Cambria Math"/>
              </a:rPr>
              <a:t>𝒇</a:t>
            </a:r>
            <a:endParaRPr sz="1467">
              <a:latin typeface="Cambria Math"/>
              <a:cs typeface="Cambria Math"/>
            </a:endParaRPr>
          </a:p>
        </p:txBody>
      </p:sp>
      <p:sp>
        <p:nvSpPr>
          <p:cNvPr id="55" name="object 55"/>
          <p:cNvSpPr txBox="1"/>
          <p:nvPr/>
        </p:nvSpPr>
        <p:spPr>
          <a:xfrm>
            <a:off x="8874929" y="1456267"/>
            <a:ext cx="1074420" cy="324875"/>
          </a:xfrm>
          <a:prstGeom prst="rect">
            <a:avLst/>
          </a:prstGeom>
        </p:spPr>
        <p:txBody>
          <a:bodyPr vert="horz" wrap="square" lIns="0" tIns="16933" rIns="0" bIns="0" rtlCol="0">
            <a:spAutoFit/>
          </a:bodyPr>
          <a:lstStyle/>
          <a:p>
            <a:pPr marL="50799">
              <a:spcBef>
                <a:spcPts val="133"/>
              </a:spcBef>
              <a:tabLst>
                <a:tab pos="513914" algn="l"/>
              </a:tabLst>
            </a:pPr>
            <a:r>
              <a:rPr sz="2000" spc="-33" dirty="0">
                <a:latin typeface="Cambria Math"/>
                <a:cs typeface="Cambria Math"/>
              </a:rPr>
              <a:t>(𝒈</a:t>
            </a:r>
            <a:r>
              <a:rPr sz="2000" dirty="0">
                <a:latin typeface="Cambria Math"/>
                <a:cs typeface="Cambria Math"/>
              </a:rPr>
              <a:t>	𝑹</a:t>
            </a:r>
            <a:r>
              <a:rPr sz="2000" spc="440" dirty="0">
                <a:latin typeface="Cambria Math"/>
                <a:cs typeface="Cambria Math"/>
              </a:rPr>
              <a:t> </a:t>
            </a:r>
            <a:r>
              <a:rPr sz="2000" spc="-33" dirty="0">
                <a:latin typeface="Cambria Math"/>
                <a:cs typeface="Cambria Math"/>
              </a:rPr>
              <a:t>)</a:t>
            </a:r>
            <a:r>
              <a:rPr sz="2200" spc="-49" baseline="27777" dirty="0">
                <a:latin typeface="Cambria Math"/>
                <a:cs typeface="Cambria Math"/>
              </a:rPr>
              <a:t>𝟐</a:t>
            </a:r>
            <a:endParaRPr sz="2200" baseline="27777">
              <a:latin typeface="Cambria Math"/>
              <a:cs typeface="Cambria Math"/>
            </a:endParaRPr>
          </a:p>
        </p:txBody>
      </p:sp>
      <p:sp>
        <p:nvSpPr>
          <p:cNvPr id="56" name="object 56"/>
          <p:cNvSpPr txBox="1"/>
          <p:nvPr/>
        </p:nvSpPr>
        <p:spPr>
          <a:xfrm>
            <a:off x="9951211" y="1252322"/>
            <a:ext cx="215900" cy="324875"/>
          </a:xfrm>
          <a:prstGeom prst="rect">
            <a:avLst/>
          </a:prstGeom>
        </p:spPr>
        <p:txBody>
          <a:bodyPr vert="horz" wrap="square" lIns="0" tIns="16933" rIns="0" bIns="0" rtlCol="0">
            <a:spAutoFit/>
          </a:bodyPr>
          <a:lstStyle/>
          <a:p>
            <a:pPr marL="16933">
              <a:spcBef>
                <a:spcPts val="133"/>
              </a:spcBef>
            </a:pPr>
            <a:r>
              <a:rPr sz="2000" spc="-67" dirty="0">
                <a:latin typeface="Cambria Math"/>
                <a:cs typeface="Cambria Math"/>
              </a:rPr>
              <a:t>×</a:t>
            </a:r>
            <a:endParaRPr sz="2000">
              <a:latin typeface="Cambria Math"/>
              <a:cs typeface="Cambria Math"/>
            </a:endParaRPr>
          </a:p>
        </p:txBody>
      </p:sp>
      <p:sp>
        <p:nvSpPr>
          <p:cNvPr id="57" name="object 57"/>
          <p:cNvSpPr/>
          <p:nvPr/>
        </p:nvSpPr>
        <p:spPr>
          <a:xfrm>
            <a:off x="10225025" y="1112519"/>
            <a:ext cx="815340" cy="647700"/>
          </a:xfrm>
          <a:custGeom>
            <a:avLst/>
            <a:gdLst/>
            <a:ahLst/>
            <a:cxnLst/>
            <a:rect l="l" t="t" r="r" b="b"/>
            <a:pathLst>
              <a:path w="611504" h="485775">
                <a:moveTo>
                  <a:pt x="87630" y="6985"/>
                </a:moveTo>
                <a:lnTo>
                  <a:pt x="48920" y="40830"/>
                </a:lnTo>
                <a:lnTo>
                  <a:pt x="22479" y="97663"/>
                </a:lnTo>
                <a:lnTo>
                  <a:pt x="5613" y="166420"/>
                </a:lnTo>
                <a:lnTo>
                  <a:pt x="0" y="242697"/>
                </a:lnTo>
                <a:lnTo>
                  <a:pt x="1346" y="279679"/>
                </a:lnTo>
                <a:lnTo>
                  <a:pt x="1397" y="281254"/>
                </a:lnTo>
                <a:lnTo>
                  <a:pt x="12636" y="353593"/>
                </a:lnTo>
                <a:lnTo>
                  <a:pt x="34709" y="418223"/>
                </a:lnTo>
                <a:lnTo>
                  <a:pt x="65087" y="467423"/>
                </a:lnTo>
                <a:lnTo>
                  <a:pt x="83185" y="485775"/>
                </a:lnTo>
                <a:lnTo>
                  <a:pt x="87630" y="478917"/>
                </a:lnTo>
                <a:lnTo>
                  <a:pt x="72021" y="460260"/>
                </a:lnTo>
                <a:lnTo>
                  <a:pt x="58356" y="437807"/>
                </a:lnTo>
                <a:lnTo>
                  <a:pt x="36703" y="381635"/>
                </a:lnTo>
                <a:lnTo>
                  <a:pt x="23266" y="315175"/>
                </a:lnTo>
                <a:lnTo>
                  <a:pt x="18796" y="242697"/>
                </a:lnTo>
                <a:lnTo>
                  <a:pt x="19913" y="205054"/>
                </a:lnTo>
                <a:lnTo>
                  <a:pt x="28867" y="135280"/>
                </a:lnTo>
                <a:lnTo>
                  <a:pt x="46596" y="73698"/>
                </a:lnTo>
                <a:lnTo>
                  <a:pt x="72072" y="25641"/>
                </a:lnTo>
                <a:lnTo>
                  <a:pt x="87630" y="6985"/>
                </a:lnTo>
                <a:close/>
              </a:path>
              <a:path w="611504" h="485775">
                <a:moveTo>
                  <a:pt x="517779" y="234950"/>
                </a:moveTo>
                <a:lnTo>
                  <a:pt x="94107" y="234950"/>
                </a:lnTo>
                <a:lnTo>
                  <a:pt x="94107" y="250190"/>
                </a:lnTo>
                <a:lnTo>
                  <a:pt x="517779" y="250190"/>
                </a:lnTo>
                <a:lnTo>
                  <a:pt x="517779" y="234950"/>
                </a:lnTo>
                <a:close/>
              </a:path>
              <a:path w="611504" h="485775">
                <a:moveTo>
                  <a:pt x="611505" y="242697"/>
                </a:moveTo>
                <a:lnTo>
                  <a:pt x="610146" y="205054"/>
                </a:lnTo>
                <a:lnTo>
                  <a:pt x="610095" y="203631"/>
                </a:lnTo>
                <a:lnTo>
                  <a:pt x="605878" y="166420"/>
                </a:lnTo>
                <a:lnTo>
                  <a:pt x="589026" y="97663"/>
                </a:lnTo>
                <a:lnTo>
                  <a:pt x="562622" y="40830"/>
                </a:lnTo>
                <a:lnTo>
                  <a:pt x="528320" y="0"/>
                </a:lnTo>
                <a:lnTo>
                  <a:pt x="524002" y="6985"/>
                </a:lnTo>
                <a:lnTo>
                  <a:pt x="539457" y="25641"/>
                </a:lnTo>
                <a:lnTo>
                  <a:pt x="553059" y="47866"/>
                </a:lnTo>
                <a:lnTo>
                  <a:pt x="574802" y="103124"/>
                </a:lnTo>
                <a:lnTo>
                  <a:pt x="588225" y="169252"/>
                </a:lnTo>
                <a:lnTo>
                  <a:pt x="592709" y="242697"/>
                </a:lnTo>
                <a:lnTo>
                  <a:pt x="591578" y="279679"/>
                </a:lnTo>
                <a:lnTo>
                  <a:pt x="582625" y="349161"/>
                </a:lnTo>
                <a:lnTo>
                  <a:pt x="564959" y="411594"/>
                </a:lnTo>
                <a:lnTo>
                  <a:pt x="539546" y="460260"/>
                </a:lnTo>
                <a:lnTo>
                  <a:pt x="524002" y="478917"/>
                </a:lnTo>
                <a:lnTo>
                  <a:pt x="528320" y="485775"/>
                </a:lnTo>
                <a:lnTo>
                  <a:pt x="562622" y="444906"/>
                </a:lnTo>
                <a:lnTo>
                  <a:pt x="589026" y="387350"/>
                </a:lnTo>
                <a:lnTo>
                  <a:pt x="605878" y="318223"/>
                </a:lnTo>
                <a:lnTo>
                  <a:pt x="610095" y="281254"/>
                </a:lnTo>
                <a:lnTo>
                  <a:pt x="611505" y="242697"/>
                </a:lnTo>
                <a:close/>
              </a:path>
            </a:pathLst>
          </a:custGeom>
          <a:solidFill>
            <a:srgbClr val="000000"/>
          </a:solidFill>
        </p:spPr>
        <p:txBody>
          <a:bodyPr wrap="square" lIns="0" tIns="0" rIns="0" bIns="0" rtlCol="0"/>
          <a:lstStyle/>
          <a:p>
            <a:endParaRPr sz="2400"/>
          </a:p>
        </p:txBody>
      </p:sp>
      <p:sp>
        <p:nvSpPr>
          <p:cNvPr id="58" name="object 58"/>
          <p:cNvSpPr txBox="1"/>
          <p:nvPr/>
        </p:nvSpPr>
        <p:spPr>
          <a:xfrm>
            <a:off x="10301902" y="1021079"/>
            <a:ext cx="667173" cy="324875"/>
          </a:xfrm>
          <a:prstGeom prst="rect">
            <a:avLst/>
          </a:prstGeom>
        </p:spPr>
        <p:txBody>
          <a:bodyPr vert="horz" wrap="square" lIns="0" tIns="16933" rIns="0" bIns="0" rtlCol="0">
            <a:spAutoFit/>
          </a:bodyPr>
          <a:lstStyle/>
          <a:p>
            <a:pPr marL="50799">
              <a:spcBef>
                <a:spcPts val="133"/>
              </a:spcBef>
            </a:pPr>
            <a:r>
              <a:rPr sz="2000" spc="-27" dirty="0">
                <a:latin typeface="Cambria Math"/>
                <a:cs typeface="Cambria Math"/>
              </a:rPr>
              <a:t>𝑪</a:t>
            </a:r>
            <a:r>
              <a:rPr sz="2200" spc="-40" baseline="-17676" dirty="0">
                <a:latin typeface="Cambria Math"/>
                <a:cs typeface="Cambria Math"/>
              </a:rPr>
              <a:t>𝒊𝒏</a:t>
            </a:r>
            <a:r>
              <a:rPr sz="2000" spc="-27" dirty="0">
                <a:latin typeface="Cambria Math"/>
                <a:cs typeface="Cambria Math"/>
              </a:rPr>
              <a:t>𝝎</a:t>
            </a:r>
            <a:endParaRPr sz="2000">
              <a:latin typeface="Cambria Math"/>
              <a:cs typeface="Cambria Math"/>
            </a:endParaRPr>
          </a:p>
        </p:txBody>
      </p:sp>
      <p:sp>
        <p:nvSpPr>
          <p:cNvPr id="59" name="object 59"/>
          <p:cNvSpPr txBox="1"/>
          <p:nvPr/>
        </p:nvSpPr>
        <p:spPr>
          <a:xfrm>
            <a:off x="10439400" y="1456267"/>
            <a:ext cx="206587" cy="324875"/>
          </a:xfrm>
          <a:prstGeom prst="rect">
            <a:avLst/>
          </a:prstGeom>
        </p:spPr>
        <p:txBody>
          <a:bodyPr vert="horz" wrap="square" lIns="0" tIns="16933" rIns="0" bIns="0" rtlCol="0">
            <a:spAutoFit/>
          </a:bodyPr>
          <a:lstStyle/>
          <a:p>
            <a:pPr marL="16933">
              <a:spcBef>
                <a:spcPts val="133"/>
              </a:spcBef>
            </a:pPr>
            <a:r>
              <a:rPr sz="2000" spc="-67" dirty="0">
                <a:latin typeface="Cambria Math"/>
                <a:cs typeface="Cambria Math"/>
              </a:rPr>
              <a:t>𝒈</a:t>
            </a:r>
            <a:endParaRPr sz="2000">
              <a:latin typeface="Cambria Math"/>
              <a:cs typeface="Cambria Math"/>
            </a:endParaRPr>
          </a:p>
        </p:txBody>
      </p:sp>
      <p:sp>
        <p:nvSpPr>
          <p:cNvPr id="60" name="object 60"/>
          <p:cNvSpPr txBox="1"/>
          <p:nvPr/>
        </p:nvSpPr>
        <p:spPr>
          <a:xfrm>
            <a:off x="10612121" y="1588348"/>
            <a:ext cx="205740" cy="241156"/>
          </a:xfrm>
          <a:prstGeom prst="rect">
            <a:avLst/>
          </a:prstGeom>
        </p:spPr>
        <p:txBody>
          <a:bodyPr vert="horz" wrap="square" lIns="0" tIns="15240" rIns="0" bIns="0" rtlCol="0">
            <a:spAutoFit/>
          </a:bodyPr>
          <a:lstStyle/>
          <a:p>
            <a:pPr marL="16933">
              <a:spcBef>
                <a:spcPts val="120"/>
              </a:spcBef>
            </a:pPr>
            <a:r>
              <a:rPr sz="1467" spc="-67" dirty="0">
                <a:latin typeface="Cambria Math"/>
                <a:cs typeface="Cambria Math"/>
              </a:rPr>
              <a:t>𝒎</a:t>
            </a:r>
            <a:endParaRPr sz="1467">
              <a:latin typeface="Cambria Math"/>
              <a:cs typeface="Cambria Math"/>
            </a:endParaRPr>
          </a:p>
        </p:txBody>
      </p:sp>
      <p:sp>
        <p:nvSpPr>
          <p:cNvPr id="61" name="object 61"/>
          <p:cNvSpPr txBox="1"/>
          <p:nvPr/>
        </p:nvSpPr>
        <p:spPr>
          <a:xfrm>
            <a:off x="11046969" y="980441"/>
            <a:ext cx="144780" cy="241156"/>
          </a:xfrm>
          <a:prstGeom prst="rect">
            <a:avLst/>
          </a:prstGeom>
        </p:spPr>
        <p:txBody>
          <a:bodyPr vert="horz" wrap="square" lIns="0" tIns="15240" rIns="0" bIns="0" rtlCol="0">
            <a:spAutoFit/>
          </a:bodyPr>
          <a:lstStyle/>
          <a:p>
            <a:pPr marL="16933">
              <a:spcBef>
                <a:spcPts val="120"/>
              </a:spcBef>
            </a:pPr>
            <a:r>
              <a:rPr sz="1467" spc="-67" dirty="0">
                <a:latin typeface="Cambria Math"/>
                <a:cs typeface="Cambria Math"/>
              </a:rPr>
              <a:t>𝟐</a:t>
            </a:r>
            <a:endParaRPr sz="1467">
              <a:latin typeface="Cambria Math"/>
              <a:cs typeface="Cambria Math"/>
            </a:endParaRPr>
          </a:p>
        </p:txBody>
      </p:sp>
      <p:sp>
        <p:nvSpPr>
          <p:cNvPr id="62" name="object 62"/>
          <p:cNvSpPr txBox="1"/>
          <p:nvPr/>
        </p:nvSpPr>
        <p:spPr>
          <a:xfrm>
            <a:off x="11384619" y="6411501"/>
            <a:ext cx="652779" cy="242866"/>
          </a:xfrm>
          <a:prstGeom prst="rect">
            <a:avLst/>
          </a:prstGeom>
        </p:spPr>
        <p:txBody>
          <a:bodyPr vert="horz" wrap="square" lIns="0" tIns="16933" rIns="0" bIns="0" rtlCol="0">
            <a:spAutoFit/>
          </a:bodyPr>
          <a:lstStyle/>
          <a:p>
            <a:pPr marL="16933">
              <a:spcBef>
                <a:spcPts val="133"/>
              </a:spcBef>
            </a:pPr>
            <a:r>
              <a:rPr sz="1467" dirty="0">
                <a:solidFill>
                  <a:srgbClr val="FFFFFF"/>
                </a:solidFill>
                <a:latin typeface="Calibri"/>
                <a:cs typeface="Calibri"/>
              </a:rPr>
              <a:t>52 of</a:t>
            </a:r>
            <a:r>
              <a:rPr sz="1467" spc="-33" dirty="0">
                <a:solidFill>
                  <a:srgbClr val="FFFFFF"/>
                </a:solidFill>
                <a:latin typeface="Calibri"/>
                <a:cs typeface="Calibri"/>
              </a:rPr>
              <a:t> 72</a:t>
            </a:r>
            <a:endParaRPr sz="1467">
              <a:latin typeface="Calibri"/>
              <a:cs typeface="Calibri"/>
            </a:endParaRPr>
          </a:p>
        </p:txBody>
      </p:sp>
      <p:sp>
        <p:nvSpPr>
          <p:cNvPr id="63" name="Slide Number Placeholder 62"/>
          <p:cNvSpPr>
            <a:spLocks noGrp="1"/>
          </p:cNvSpPr>
          <p:nvPr>
            <p:ph type="sldNum" sz="quarter" idx="7"/>
          </p:nvPr>
        </p:nvSpPr>
        <p:spPr/>
        <p:txBody>
          <a:bodyPr/>
          <a:lstStyle/>
          <a:p>
            <a:pPr marL="135255">
              <a:lnSpc>
                <a:spcPct val="100000"/>
              </a:lnSpc>
              <a:spcBef>
                <a:spcPts val="110"/>
              </a:spcBef>
            </a:pPr>
            <a:fld id="{81D60167-4931-47E6-BA6A-407CBD079E47}" type="slidenum">
              <a:rPr lang="en-US" spc="-50" smtClean="0"/>
              <a:t>64</a:t>
            </a:fld>
            <a:endParaRPr lang="en-US" spc="-50" dirty="0"/>
          </a:p>
        </p:txBody>
      </p:sp>
      <p:sp>
        <p:nvSpPr>
          <p:cNvPr id="64" name="Date Placeholder 63"/>
          <p:cNvSpPr>
            <a:spLocks noGrp="1"/>
          </p:cNvSpPr>
          <p:nvPr>
            <p:ph type="dt" sz="half" idx="6"/>
          </p:nvPr>
        </p:nvSpPr>
        <p:spPr/>
        <p:txBody>
          <a:bodyPr/>
          <a:lstStyle/>
          <a:p>
            <a:pPr marL="12700">
              <a:lnSpc>
                <a:spcPct val="100000"/>
              </a:lnSpc>
              <a:spcBef>
                <a:spcPts val="105"/>
              </a:spcBef>
            </a:pPr>
            <a:r>
              <a:rPr lang="en-US" smtClean="0"/>
              <a:t>Feburary 28, 2025</a:t>
            </a:r>
            <a:endParaRPr lang="en-US" spc="-10" dirty="0"/>
          </a:p>
        </p:txBody>
      </p:sp>
      <p:sp>
        <p:nvSpPr>
          <p:cNvPr id="65" name="Footer Placeholder 64"/>
          <p:cNvSpPr>
            <a:spLocks noGrp="1"/>
          </p:cNvSpPr>
          <p:nvPr>
            <p:ph type="ftr" sz="quarter" idx="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271269065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Text Placeholder 2"/>
          <p:cNvSpPr>
            <a:spLocks noGrp="1"/>
          </p:cNvSpPr>
          <p:nvPr>
            <p:ph type="body" sz="quarter" idx="13"/>
          </p:nvPr>
        </p:nvSpPr>
        <p:spPr>
          <a:xfrm>
            <a:off x="457201" y="1383489"/>
            <a:ext cx="11621386" cy="4234675"/>
          </a:xfrm>
        </p:spPr>
        <p:txBody>
          <a:bodyPr>
            <a:noAutofit/>
          </a:bodyPr>
          <a:lstStyle/>
          <a:p>
            <a:pPr algn="just"/>
            <a:r>
              <a:rPr lang="en-US" sz="2600" b="1" dirty="0">
                <a:latin typeface="Verdana" panose="020B0604030504040204" pitchFamily="34" charset="0"/>
                <a:ea typeface="Verdana" panose="020B0604030504040204" pitchFamily="34" charset="0"/>
                <a:cs typeface="Times New Roman" panose="02020603050405020304" pitchFamily="18" charset="0"/>
              </a:rPr>
              <a:t>Growing Need for High-Speed Links</a:t>
            </a:r>
            <a:r>
              <a:rPr lang="en-US" sz="2600" dirty="0">
                <a:latin typeface="Verdana" panose="020B0604030504040204" pitchFamily="34" charset="0"/>
                <a:ea typeface="Verdana" panose="020B0604030504040204" pitchFamily="34" charset="0"/>
                <a:cs typeface="Times New Roman" panose="02020603050405020304" pitchFamily="18" charset="0"/>
              </a:rPr>
              <a:t>: Optical and wireline links are crucial for modern high-speed communication</a:t>
            </a:r>
            <a:r>
              <a:rPr lang="en-US" sz="2600" dirty="0" smtClean="0">
                <a:latin typeface="Verdana" panose="020B0604030504040204" pitchFamily="34" charset="0"/>
                <a:ea typeface="Verdana" panose="020B0604030504040204" pitchFamily="34" charset="0"/>
                <a:cs typeface="Times New Roman" panose="02020603050405020304" pitchFamily="18" charset="0"/>
              </a:rPr>
              <a:t>.</a:t>
            </a:r>
          </a:p>
          <a:p>
            <a:pPr algn="just"/>
            <a:r>
              <a:rPr lang="en-US" sz="2600" b="1" dirty="0" smtClean="0">
                <a:latin typeface="Verdana" panose="020B0604030504040204" pitchFamily="34" charset="0"/>
                <a:ea typeface="Verdana" panose="020B0604030504040204" pitchFamily="34" charset="0"/>
                <a:cs typeface="Times New Roman" panose="02020603050405020304" pitchFamily="18" charset="0"/>
              </a:rPr>
              <a:t>Equalization </a:t>
            </a:r>
            <a:r>
              <a:rPr lang="en-US" sz="2600" b="1" dirty="0">
                <a:latin typeface="Verdana" panose="020B0604030504040204" pitchFamily="34" charset="0"/>
                <a:ea typeface="Verdana" panose="020B0604030504040204" pitchFamily="34" charset="0"/>
                <a:cs typeface="Times New Roman" panose="02020603050405020304" pitchFamily="18" charset="0"/>
              </a:rPr>
              <a:t>is Essential</a:t>
            </a:r>
            <a:r>
              <a:rPr lang="en-US" sz="2600" dirty="0">
                <a:latin typeface="Verdana" panose="020B0604030504040204" pitchFamily="34" charset="0"/>
                <a:ea typeface="Verdana" panose="020B0604030504040204" pitchFamily="34" charset="0"/>
                <a:cs typeface="Times New Roman" panose="02020603050405020304" pitchFamily="18" charset="0"/>
              </a:rPr>
              <a:t>: Signal degradation necessitates robust equalization techniques for reliable data recovery</a:t>
            </a:r>
            <a:r>
              <a:rPr lang="en-US" sz="2600" dirty="0" smtClean="0">
                <a:latin typeface="Verdana" panose="020B0604030504040204" pitchFamily="34" charset="0"/>
                <a:ea typeface="Verdana" panose="020B0604030504040204" pitchFamily="34" charset="0"/>
                <a:cs typeface="Times New Roman" panose="02020603050405020304" pitchFamily="18" charset="0"/>
              </a:rPr>
              <a:t>.</a:t>
            </a:r>
          </a:p>
          <a:p>
            <a:pPr algn="just"/>
            <a:r>
              <a:rPr lang="en-US" sz="2600" b="1" dirty="0" smtClean="0">
                <a:latin typeface="Verdana" panose="020B0604030504040204" pitchFamily="34" charset="0"/>
                <a:ea typeface="Verdana" panose="020B0604030504040204" pitchFamily="34" charset="0"/>
                <a:cs typeface="Times New Roman" panose="02020603050405020304" pitchFamily="18" charset="0"/>
              </a:rPr>
              <a:t>Optical </a:t>
            </a:r>
            <a:r>
              <a:rPr lang="en-US" sz="2600" b="1" dirty="0">
                <a:latin typeface="Verdana" panose="020B0604030504040204" pitchFamily="34" charset="0"/>
                <a:ea typeface="Verdana" panose="020B0604030504040204" pitchFamily="34" charset="0"/>
                <a:cs typeface="Times New Roman" panose="02020603050405020304" pitchFamily="18" charset="0"/>
              </a:rPr>
              <a:t>Receiver Challenges</a:t>
            </a:r>
            <a:r>
              <a:rPr lang="en-US" sz="2600" dirty="0">
                <a:latin typeface="Verdana" panose="020B0604030504040204" pitchFamily="34" charset="0"/>
                <a:ea typeface="Verdana" panose="020B0604030504040204" pitchFamily="34" charset="0"/>
                <a:cs typeface="Times New Roman" panose="02020603050405020304" pitchFamily="18" charset="0"/>
              </a:rPr>
              <a:t>: Bandwidth, gain, and noise trade-offs define performance bottlenecks</a:t>
            </a:r>
            <a:r>
              <a:rPr lang="en-US" sz="2600" dirty="0" smtClean="0">
                <a:latin typeface="Verdana" panose="020B0604030504040204" pitchFamily="34" charset="0"/>
                <a:ea typeface="Verdana" panose="020B0604030504040204" pitchFamily="34" charset="0"/>
                <a:cs typeface="Times New Roman" panose="02020603050405020304" pitchFamily="18" charset="0"/>
              </a:rPr>
              <a:t>.</a:t>
            </a:r>
          </a:p>
          <a:p>
            <a:pPr algn="just"/>
            <a:r>
              <a:rPr lang="en-US" sz="2600" b="1" dirty="0" smtClean="0">
                <a:latin typeface="Verdana" panose="020B0604030504040204" pitchFamily="34" charset="0"/>
                <a:ea typeface="Verdana" panose="020B0604030504040204" pitchFamily="34" charset="0"/>
                <a:cs typeface="Times New Roman" panose="02020603050405020304" pitchFamily="18" charset="0"/>
              </a:rPr>
              <a:t>Inverter-Based </a:t>
            </a:r>
            <a:r>
              <a:rPr lang="en-US" sz="2600" b="1" dirty="0">
                <a:latin typeface="Verdana" panose="020B0604030504040204" pitchFamily="34" charset="0"/>
                <a:ea typeface="Verdana" panose="020B0604030504040204" pitchFamily="34" charset="0"/>
                <a:cs typeface="Times New Roman" panose="02020603050405020304" pitchFamily="18" charset="0"/>
              </a:rPr>
              <a:t>Design Advantage</a:t>
            </a:r>
            <a:r>
              <a:rPr lang="en-US" sz="2600" dirty="0">
                <a:latin typeface="Verdana" panose="020B0604030504040204" pitchFamily="34" charset="0"/>
                <a:ea typeface="Verdana" panose="020B0604030504040204" pitchFamily="34" charset="0"/>
                <a:cs typeface="Times New Roman" panose="02020603050405020304" pitchFamily="18" charset="0"/>
              </a:rPr>
              <a:t>: Offers a compact, high-speed, and power-efficient solution for next-gen optical receivers</a:t>
            </a:r>
            <a:r>
              <a:rPr lang="en-US" sz="2600" dirty="0" smtClean="0">
                <a:latin typeface="Verdana" panose="020B0604030504040204" pitchFamily="34" charset="0"/>
                <a:ea typeface="Verdana" panose="020B0604030504040204" pitchFamily="34" charset="0"/>
                <a:cs typeface="Times New Roman" panose="02020603050405020304" pitchFamily="18" charset="0"/>
              </a:rPr>
              <a:t>.</a:t>
            </a:r>
          </a:p>
          <a:p>
            <a:pPr algn="just"/>
            <a:r>
              <a:rPr lang="en-US" sz="2600" b="1" dirty="0" smtClean="0">
                <a:latin typeface="Verdana" panose="020B0604030504040204" pitchFamily="34" charset="0"/>
                <a:ea typeface="Verdana" panose="020B0604030504040204" pitchFamily="34" charset="0"/>
                <a:cs typeface="Times New Roman" panose="02020603050405020304" pitchFamily="18" charset="0"/>
              </a:rPr>
              <a:t>Future </a:t>
            </a:r>
            <a:r>
              <a:rPr lang="en-US" sz="2600" b="1" dirty="0">
                <a:latin typeface="Verdana" panose="020B0604030504040204" pitchFamily="34" charset="0"/>
                <a:ea typeface="Verdana" panose="020B0604030504040204" pitchFamily="34" charset="0"/>
                <a:cs typeface="Times New Roman" panose="02020603050405020304" pitchFamily="18" charset="0"/>
              </a:rPr>
              <a:t>Outlook</a:t>
            </a:r>
            <a:r>
              <a:rPr lang="en-US" sz="2600" dirty="0">
                <a:latin typeface="Verdana" panose="020B0604030504040204" pitchFamily="34" charset="0"/>
                <a:ea typeface="Verdana" panose="020B0604030504040204" pitchFamily="34" charset="0"/>
                <a:cs typeface="Times New Roman" panose="02020603050405020304" pitchFamily="18" charset="0"/>
              </a:rPr>
              <a:t>: Inverter-based architectures will continue evolving to meet the demands of higher data rates and integration challenges.</a:t>
            </a:r>
          </a:p>
        </p:txBody>
      </p:sp>
      <p:sp>
        <p:nvSpPr>
          <p:cNvPr id="4" name="Slide Number Placeholder 3"/>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65</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Date Placeholder 5"/>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Feburary 28, 2025</a:t>
            </a:r>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7" name="Footer Placeholder 6"/>
          <p:cNvSpPr>
            <a:spLocks noGrp="1"/>
          </p:cNvSpPr>
          <p:nvPr>
            <p:ph type="ftr" sz="quarter" idx="3"/>
          </p:nvPr>
        </p:nvSpPr>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Workshop "Robust and Reliable VLSI Circuits"</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109676666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1A3699F-279E-4EDA-A470-7DA0E35FD13B}" type="slidenum">
              <a:rPr lang="en-US" smtClean="0"/>
              <a:t>66</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4" name="Footer Placeholder 3"/>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283507916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Rectangle 171">
            <a:extLst>
              <a:ext uri="{FF2B5EF4-FFF2-40B4-BE49-F238E27FC236}">
                <a16:creationId xmlns:a16="http://schemas.microsoft.com/office/drawing/2014/main" id="{68C41C31-6210-4DBE-9D9E-65AF7B1C0982}"/>
              </a:ext>
            </a:extLst>
          </p:cNvPr>
          <p:cNvSpPr/>
          <p:nvPr/>
        </p:nvSpPr>
        <p:spPr>
          <a:xfrm>
            <a:off x="6451310" y="981594"/>
            <a:ext cx="5706678" cy="3865118"/>
          </a:xfrm>
          <a:prstGeom prst="rect">
            <a:avLst/>
          </a:prstGeom>
          <a:solidFill>
            <a:srgbClr val="ED7D31">
              <a:lumMod val="20000"/>
              <a:lumOff val="80000"/>
            </a:srgbClr>
          </a:solidFill>
          <a:ln w="28575" cap="flat" cmpd="sng" algn="ctr">
            <a:solidFill>
              <a:srgbClr val="92D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71" name="Rectangle 170">
            <a:extLst>
              <a:ext uri="{FF2B5EF4-FFF2-40B4-BE49-F238E27FC236}">
                <a16:creationId xmlns:a16="http://schemas.microsoft.com/office/drawing/2014/main" id="{68C41C31-6210-4DBE-9D9E-65AF7B1C0982}"/>
              </a:ext>
            </a:extLst>
          </p:cNvPr>
          <p:cNvSpPr/>
          <p:nvPr/>
        </p:nvSpPr>
        <p:spPr>
          <a:xfrm>
            <a:off x="3720685" y="1076308"/>
            <a:ext cx="2385088" cy="2759101"/>
          </a:xfrm>
          <a:prstGeom prst="rect">
            <a:avLst/>
          </a:prstGeom>
          <a:solidFill>
            <a:srgbClr val="ED7D31">
              <a:lumMod val="20000"/>
              <a:lumOff val="80000"/>
            </a:srgbClr>
          </a:solidFill>
          <a:ln w="28575" cap="flat" cmpd="sng" algn="ctr">
            <a:solidFill>
              <a:srgbClr val="92D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70" name="Rectangle 169">
            <a:extLst>
              <a:ext uri="{FF2B5EF4-FFF2-40B4-BE49-F238E27FC236}">
                <a16:creationId xmlns:a16="http://schemas.microsoft.com/office/drawing/2014/main" id="{68C41C31-6210-4DBE-9D9E-65AF7B1C0982}"/>
              </a:ext>
            </a:extLst>
          </p:cNvPr>
          <p:cNvSpPr/>
          <p:nvPr/>
        </p:nvSpPr>
        <p:spPr>
          <a:xfrm>
            <a:off x="486633" y="1803087"/>
            <a:ext cx="2628445" cy="1287867"/>
          </a:xfrm>
          <a:prstGeom prst="rect">
            <a:avLst/>
          </a:prstGeom>
          <a:solidFill>
            <a:srgbClr val="ED7D31">
              <a:lumMod val="20000"/>
              <a:lumOff val="80000"/>
            </a:srgbClr>
          </a:solidFill>
          <a:ln w="28575" cap="flat" cmpd="sng" algn="ctr">
            <a:solidFill>
              <a:srgbClr val="92D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39A0200F-769B-B6FB-E7AD-FFF9F0289236}"/>
              </a:ext>
            </a:extLst>
          </p:cNvPr>
          <p:cNvSpPr>
            <a:spLocks noGrp="1"/>
          </p:cNvSpPr>
          <p:nvPr>
            <p:ph type="title"/>
          </p:nvPr>
        </p:nvSpPr>
        <p:spPr>
          <a:xfrm>
            <a:off x="3147981" y="0"/>
            <a:ext cx="5868707" cy="1325563"/>
          </a:xfrm>
        </p:spPr>
        <p:txBody>
          <a:bodyPr/>
          <a:lstStyle/>
          <a:p>
            <a:r>
              <a:rPr lang="en-US" b="1" dirty="0">
                <a:solidFill>
                  <a:srgbClr val="FF0000"/>
                </a:solidFill>
              </a:rPr>
              <a:t>INVERTER BASED DESIGN</a:t>
            </a:r>
            <a:endParaRPr lang="en-BE" b="1" dirty="0">
              <a:solidFill>
                <a:srgbClr val="FF0000"/>
              </a:solidFill>
            </a:endParaRPr>
          </a:p>
        </p:txBody>
      </p:sp>
      <p:grpSp>
        <p:nvGrpSpPr>
          <p:cNvPr id="10" name="Group 9"/>
          <p:cNvGrpSpPr/>
          <p:nvPr/>
        </p:nvGrpSpPr>
        <p:grpSpPr>
          <a:xfrm>
            <a:off x="627089" y="2049004"/>
            <a:ext cx="2323465" cy="851533"/>
            <a:chOff x="327663" y="1400453"/>
            <a:chExt cx="2323465" cy="851533"/>
          </a:xfrm>
        </p:grpSpPr>
        <p:grpSp>
          <p:nvGrpSpPr>
            <p:cNvPr id="5" name="Group 4">
              <a:extLst>
                <a:ext uri="{FF2B5EF4-FFF2-40B4-BE49-F238E27FC236}">
                  <a16:creationId xmlns:a16="http://schemas.microsoft.com/office/drawing/2014/main" id="{E0F775E4-0080-3201-8A3C-6B253DCCC632}"/>
                </a:ext>
              </a:extLst>
            </p:cNvPr>
            <p:cNvGrpSpPr/>
            <p:nvPr/>
          </p:nvGrpSpPr>
          <p:grpSpPr>
            <a:xfrm>
              <a:off x="1006478" y="1400453"/>
              <a:ext cx="972185" cy="851533"/>
              <a:chOff x="1116965" y="5086353"/>
              <a:chExt cx="972185" cy="851533"/>
            </a:xfrm>
          </p:grpSpPr>
          <p:sp>
            <p:nvSpPr>
              <p:cNvPr id="6" name="Isosceles Triangle 5">
                <a:extLst>
                  <a:ext uri="{FF2B5EF4-FFF2-40B4-BE49-F238E27FC236}">
                    <a16:creationId xmlns:a16="http://schemas.microsoft.com/office/drawing/2014/main" id="{9E22FBE6-2817-861B-4FA8-F81FB6187DAF}"/>
                  </a:ext>
                </a:extLst>
              </p:cNvPr>
              <p:cNvSpPr/>
              <p:nvPr/>
            </p:nvSpPr>
            <p:spPr>
              <a:xfrm rot="5400000">
                <a:off x="1113790" y="5089528"/>
                <a:ext cx="851533" cy="845184"/>
              </a:xfrm>
              <a:prstGeom prst="triangle">
                <a:avLst/>
              </a:prstGeom>
              <a:solidFill>
                <a:sysClr val="window" lastClr="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CC990965-3979-758A-42A8-ECF831F21200}"/>
                  </a:ext>
                </a:extLst>
              </p:cNvPr>
              <p:cNvSpPr/>
              <p:nvPr/>
            </p:nvSpPr>
            <p:spPr>
              <a:xfrm>
                <a:off x="1981200" y="5467350"/>
                <a:ext cx="107950" cy="108000"/>
              </a:xfrm>
              <a:prstGeom prst="ellipse">
                <a:avLst/>
              </a:prstGeom>
              <a:solidFill>
                <a:sysClr val="window" lastClr="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cxnSp>
          <p:nvCxnSpPr>
            <p:cNvPr id="8" name="Straight Connector 7">
              <a:extLst>
                <a:ext uri="{FF2B5EF4-FFF2-40B4-BE49-F238E27FC236}">
                  <a16:creationId xmlns:a16="http://schemas.microsoft.com/office/drawing/2014/main" id="{F54F9EC5-9883-F87B-6ACF-D4E4874F5032}"/>
                </a:ext>
              </a:extLst>
            </p:cNvPr>
            <p:cNvCxnSpPr>
              <a:cxnSpLocks/>
              <a:endCxn id="6" idx="3"/>
            </p:cNvCxnSpPr>
            <p:nvPr/>
          </p:nvCxnSpPr>
          <p:spPr>
            <a:xfrm>
              <a:off x="327663" y="1819550"/>
              <a:ext cx="678815" cy="6671"/>
            </a:xfrm>
            <a:prstGeom prst="line">
              <a:avLst/>
            </a:prstGeom>
            <a:noFill/>
            <a:ln w="28575" cap="flat" cmpd="sng" algn="ctr">
              <a:solidFill>
                <a:srgbClr val="FF0000"/>
              </a:solidFill>
              <a:prstDash val="solid"/>
              <a:miter lim="800000"/>
            </a:ln>
            <a:effectLst/>
          </p:spPr>
        </p:cxnSp>
        <p:cxnSp>
          <p:nvCxnSpPr>
            <p:cNvPr id="9" name="Straight Connector 8">
              <a:extLst>
                <a:ext uri="{FF2B5EF4-FFF2-40B4-BE49-F238E27FC236}">
                  <a16:creationId xmlns:a16="http://schemas.microsoft.com/office/drawing/2014/main" id="{0A0CE600-33CA-EA6C-9DF2-4F21BC6C1E5E}"/>
                </a:ext>
              </a:extLst>
            </p:cNvPr>
            <p:cNvCxnSpPr>
              <a:cxnSpLocks/>
            </p:cNvCxnSpPr>
            <p:nvPr/>
          </p:nvCxnSpPr>
          <p:spPr>
            <a:xfrm>
              <a:off x="1972313" y="1844950"/>
              <a:ext cx="678815" cy="6671"/>
            </a:xfrm>
            <a:prstGeom prst="line">
              <a:avLst/>
            </a:prstGeom>
            <a:noFill/>
            <a:ln w="28575" cap="flat" cmpd="sng" algn="ctr">
              <a:solidFill>
                <a:srgbClr val="FF0000"/>
              </a:solidFill>
              <a:prstDash val="solid"/>
              <a:miter lim="800000"/>
            </a:ln>
            <a:effectLst/>
          </p:spPr>
        </p:cxnSp>
      </p:grpSp>
      <p:grpSp>
        <p:nvGrpSpPr>
          <p:cNvPr id="11" name="Group 10">
            <a:extLst>
              <a:ext uri="{FF2B5EF4-FFF2-40B4-BE49-F238E27FC236}">
                <a16:creationId xmlns:a16="http://schemas.microsoft.com/office/drawing/2014/main" id="{029C776E-5688-430C-AAA5-2A84290E0BF6}"/>
              </a:ext>
            </a:extLst>
          </p:cNvPr>
          <p:cNvGrpSpPr/>
          <p:nvPr/>
        </p:nvGrpSpPr>
        <p:grpSpPr>
          <a:xfrm>
            <a:off x="4167068" y="1080318"/>
            <a:ext cx="1698346" cy="2603031"/>
            <a:chOff x="4985483" y="172826"/>
            <a:chExt cx="1304617" cy="1849191"/>
          </a:xfrm>
        </p:grpSpPr>
        <p:sp>
          <p:nvSpPr>
            <p:cNvPr id="12" name="Freeform 88">
              <a:extLst>
                <a:ext uri="{FF2B5EF4-FFF2-40B4-BE49-F238E27FC236}">
                  <a16:creationId xmlns:a16="http://schemas.microsoft.com/office/drawing/2014/main" id="{C250BC4A-8BC7-07E9-E2AE-5F99A7DCD8CD}"/>
                </a:ext>
              </a:extLst>
            </p:cNvPr>
            <p:cNvSpPr>
              <a:spLocks/>
            </p:cNvSpPr>
            <p:nvPr/>
          </p:nvSpPr>
          <p:spPr bwMode="auto">
            <a:xfrm>
              <a:off x="5789824" y="1939864"/>
              <a:ext cx="103584" cy="0"/>
            </a:xfrm>
            <a:custGeom>
              <a:avLst/>
              <a:gdLst>
                <a:gd name="T0" fmla="*/ 0 w 127"/>
                <a:gd name="T1" fmla="*/ 0 w 127"/>
                <a:gd name="T2" fmla="*/ 127 w 127"/>
              </a:gdLst>
              <a:ahLst/>
              <a:cxnLst>
                <a:cxn ang="0">
                  <a:pos x="T0" y="0"/>
                </a:cxn>
                <a:cxn ang="0">
                  <a:pos x="T1" y="0"/>
                </a:cxn>
                <a:cxn ang="0">
                  <a:pos x="T2" y="0"/>
                </a:cxn>
              </a:cxnLst>
              <a:rect l="0" t="0" r="r" b="b"/>
              <a:pathLst>
                <a:path w="127">
                  <a:moveTo>
                    <a:pt x="0" y="0"/>
                  </a:moveTo>
                  <a:lnTo>
                    <a:pt x="0" y="0"/>
                  </a:lnTo>
                  <a:lnTo>
                    <a:pt x="127"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13" name="Freeform 89">
              <a:extLst>
                <a:ext uri="{FF2B5EF4-FFF2-40B4-BE49-F238E27FC236}">
                  <a16:creationId xmlns:a16="http://schemas.microsoft.com/office/drawing/2014/main" id="{B350467D-2706-A457-8BC4-35BBAB8EB64D}"/>
                </a:ext>
              </a:extLst>
            </p:cNvPr>
            <p:cNvSpPr>
              <a:spLocks/>
            </p:cNvSpPr>
            <p:nvPr/>
          </p:nvSpPr>
          <p:spPr bwMode="auto">
            <a:xfrm>
              <a:off x="5816017" y="1981536"/>
              <a:ext cx="51197" cy="0"/>
            </a:xfrm>
            <a:custGeom>
              <a:avLst/>
              <a:gdLst>
                <a:gd name="T0" fmla="*/ 0 w 63"/>
                <a:gd name="T1" fmla="*/ 0 w 63"/>
                <a:gd name="T2" fmla="*/ 63 w 63"/>
              </a:gdLst>
              <a:ahLst/>
              <a:cxnLst>
                <a:cxn ang="0">
                  <a:pos x="T0" y="0"/>
                </a:cxn>
                <a:cxn ang="0">
                  <a:pos x="T1" y="0"/>
                </a:cxn>
                <a:cxn ang="0">
                  <a:pos x="T2" y="0"/>
                </a:cxn>
              </a:cxnLst>
              <a:rect l="0" t="0" r="r" b="b"/>
              <a:pathLst>
                <a:path w="63">
                  <a:moveTo>
                    <a:pt x="0" y="0"/>
                  </a:moveTo>
                  <a:lnTo>
                    <a:pt x="0" y="0"/>
                  </a:lnTo>
                  <a:lnTo>
                    <a:pt x="63"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14" name="Freeform 90">
              <a:extLst>
                <a:ext uri="{FF2B5EF4-FFF2-40B4-BE49-F238E27FC236}">
                  <a16:creationId xmlns:a16="http://schemas.microsoft.com/office/drawing/2014/main" id="{05EBFD2B-3CC3-DE8A-4EB9-22AAEF5176D4}"/>
                </a:ext>
              </a:extLst>
            </p:cNvPr>
            <p:cNvSpPr>
              <a:spLocks/>
            </p:cNvSpPr>
            <p:nvPr/>
          </p:nvSpPr>
          <p:spPr bwMode="auto">
            <a:xfrm>
              <a:off x="5836258" y="2022017"/>
              <a:ext cx="11906" cy="0"/>
            </a:xfrm>
            <a:custGeom>
              <a:avLst/>
              <a:gdLst>
                <a:gd name="T0" fmla="*/ 0 w 15"/>
                <a:gd name="T1" fmla="*/ 0 w 15"/>
                <a:gd name="T2" fmla="*/ 15 w 15"/>
              </a:gdLst>
              <a:ahLst/>
              <a:cxnLst>
                <a:cxn ang="0">
                  <a:pos x="T0" y="0"/>
                </a:cxn>
                <a:cxn ang="0">
                  <a:pos x="T1" y="0"/>
                </a:cxn>
                <a:cxn ang="0">
                  <a:pos x="T2" y="0"/>
                </a:cxn>
              </a:cxnLst>
              <a:rect l="0" t="0" r="r" b="b"/>
              <a:pathLst>
                <a:path w="15">
                  <a:moveTo>
                    <a:pt x="0" y="0"/>
                  </a:moveTo>
                  <a:lnTo>
                    <a:pt x="0" y="0"/>
                  </a:lnTo>
                  <a:lnTo>
                    <a:pt x="15"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15" name="Rectangle 14">
              <a:extLst>
                <a:ext uri="{FF2B5EF4-FFF2-40B4-BE49-F238E27FC236}">
                  <a16:creationId xmlns:a16="http://schemas.microsoft.com/office/drawing/2014/main" id="{4DD4C207-06C5-5CA5-DFF5-39743DA9BB4B}"/>
                </a:ext>
              </a:extLst>
            </p:cNvPr>
            <p:cNvSpPr>
              <a:spLocks noChangeArrowheads="1"/>
            </p:cNvSpPr>
            <p:nvPr/>
          </p:nvSpPr>
          <p:spPr bwMode="auto">
            <a:xfrm>
              <a:off x="4985483" y="929500"/>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a:ln>
                    <a:noFill/>
                  </a:ln>
                  <a:solidFill>
                    <a:srgbClr val="000000"/>
                  </a:solidFill>
                  <a:effectLst/>
                  <a:uLnTx/>
                  <a:uFillTx/>
                  <a:latin typeface="Arial" panose="020B0604020202020204" pitchFamily="34" charset="0"/>
                </a:rPr>
                <a:t>V</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IN</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16" name="Freeform 13">
              <a:extLst>
                <a:ext uri="{FF2B5EF4-FFF2-40B4-BE49-F238E27FC236}">
                  <a16:creationId xmlns:a16="http://schemas.microsoft.com/office/drawing/2014/main" id="{78198C70-73A1-7F9E-ADA2-067E98F15B5B}"/>
                </a:ext>
              </a:extLst>
            </p:cNvPr>
            <p:cNvSpPr>
              <a:spLocks/>
            </p:cNvSpPr>
            <p:nvPr/>
          </p:nvSpPr>
          <p:spPr bwMode="auto">
            <a:xfrm flipH="1">
              <a:off x="5497049" y="793769"/>
              <a:ext cx="143305" cy="0"/>
            </a:xfrm>
            <a:custGeom>
              <a:avLst/>
              <a:gdLst>
                <a:gd name="T0" fmla="*/ 0 w 178"/>
                <a:gd name="T1" fmla="*/ 0 w 178"/>
                <a:gd name="T2" fmla="*/ 178 w 178"/>
              </a:gdLst>
              <a:ahLst/>
              <a:cxnLst>
                <a:cxn ang="0">
                  <a:pos x="T0" y="0"/>
                </a:cxn>
                <a:cxn ang="0">
                  <a:pos x="T1" y="0"/>
                </a:cxn>
                <a:cxn ang="0">
                  <a:pos x="T2" y="0"/>
                </a:cxn>
              </a:cxnLst>
              <a:rect l="0" t="0" r="r" b="b"/>
              <a:pathLst>
                <a:path w="178">
                  <a:moveTo>
                    <a:pt x="0" y="0"/>
                  </a:moveTo>
                  <a:lnTo>
                    <a:pt x="0" y="0"/>
                  </a:lnTo>
                  <a:lnTo>
                    <a:pt x="178"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17" name="Freeform 14">
              <a:extLst>
                <a:ext uri="{FF2B5EF4-FFF2-40B4-BE49-F238E27FC236}">
                  <a16:creationId xmlns:a16="http://schemas.microsoft.com/office/drawing/2014/main" id="{7D57887A-D777-ACFD-0A35-A0C3D6FC931A}"/>
                </a:ext>
              </a:extLst>
            </p:cNvPr>
            <p:cNvSpPr>
              <a:spLocks/>
            </p:cNvSpPr>
            <p:nvPr/>
          </p:nvSpPr>
          <p:spPr bwMode="auto">
            <a:xfrm flipH="1">
              <a:off x="5640354" y="699710"/>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18" name="Freeform 15">
              <a:extLst>
                <a:ext uri="{FF2B5EF4-FFF2-40B4-BE49-F238E27FC236}">
                  <a16:creationId xmlns:a16="http://schemas.microsoft.com/office/drawing/2014/main" id="{6358FAF5-5E69-2521-9826-1ADF88F2F632}"/>
                </a:ext>
              </a:extLst>
            </p:cNvPr>
            <p:cNvSpPr>
              <a:spLocks/>
            </p:cNvSpPr>
            <p:nvPr/>
          </p:nvSpPr>
          <p:spPr bwMode="auto">
            <a:xfrm flipH="1">
              <a:off x="5821614" y="878304"/>
              <a:ext cx="34290" cy="534114"/>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19" name="Freeform 17">
              <a:extLst>
                <a:ext uri="{FF2B5EF4-FFF2-40B4-BE49-F238E27FC236}">
                  <a16:creationId xmlns:a16="http://schemas.microsoft.com/office/drawing/2014/main" id="{210F04E7-FCF0-ED38-BCE2-10C94E388DB2}"/>
                </a:ext>
              </a:extLst>
            </p:cNvPr>
            <p:cNvSpPr>
              <a:spLocks/>
            </p:cNvSpPr>
            <p:nvPr/>
          </p:nvSpPr>
          <p:spPr bwMode="auto">
            <a:xfrm flipH="1">
              <a:off x="5684175" y="878304"/>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0" name="Freeform 18">
              <a:extLst>
                <a:ext uri="{FF2B5EF4-FFF2-40B4-BE49-F238E27FC236}">
                  <a16:creationId xmlns:a16="http://schemas.microsoft.com/office/drawing/2014/main" id="{E5AC498B-BF40-112E-5F9A-8CD7792CE06D}"/>
                </a:ext>
              </a:extLst>
            </p:cNvPr>
            <p:cNvSpPr>
              <a:spLocks/>
            </p:cNvSpPr>
            <p:nvPr/>
          </p:nvSpPr>
          <p:spPr bwMode="auto">
            <a:xfrm flipH="1">
              <a:off x="5684175" y="706854"/>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type="triangl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1" name="Freeform 19">
              <a:extLst>
                <a:ext uri="{FF2B5EF4-FFF2-40B4-BE49-F238E27FC236}">
                  <a16:creationId xmlns:a16="http://schemas.microsoft.com/office/drawing/2014/main" id="{72738865-4D6B-D9F9-DB0A-573D0D603886}"/>
                </a:ext>
              </a:extLst>
            </p:cNvPr>
            <p:cNvSpPr>
              <a:spLocks/>
            </p:cNvSpPr>
            <p:nvPr/>
          </p:nvSpPr>
          <p:spPr bwMode="auto">
            <a:xfrm flipH="1">
              <a:off x="5684175" y="655657"/>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2" name="Freeform 15">
              <a:extLst>
                <a:ext uri="{FF2B5EF4-FFF2-40B4-BE49-F238E27FC236}">
                  <a16:creationId xmlns:a16="http://schemas.microsoft.com/office/drawing/2014/main" id="{0EDB318C-87A9-A26A-AA39-3B7BFDE932ED}"/>
                </a:ext>
              </a:extLst>
            </p:cNvPr>
            <p:cNvSpPr>
              <a:spLocks/>
            </p:cNvSpPr>
            <p:nvPr/>
          </p:nvSpPr>
          <p:spPr bwMode="auto">
            <a:xfrm flipH="1">
              <a:off x="5832090" y="402529"/>
              <a:ext cx="34290" cy="30432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3" name="Freeform 13">
              <a:extLst>
                <a:ext uri="{FF2B5EF4-FFF2-40B4-BE49-F238E27FC236}">
                  <a16:creationId xmlns:a16="http://schemas.microsoft.com/office/drawing/2014/main" id="{1EF2785D-1433-2718-CF78-9BADF4EE8819}"/>
                </a:ext>
              </a:extLst>
            </p:cNvPr>
            <p:cNvSpPr>
              <a:spLocks/>
            </p:cNvSpPr>
            <p:nvPr/>
          </p:nvSpPr>
          <p:spPr bwMode="auto">
            <a:xfrm flipH="1">
              <a:off x="5497057" y="1610061"/>
              <a:ext cx="143305" cy="0"/>
            </a:xfrm>
            <a:custGeom>
              <a:avLst/>
              <a:gdLst>
                <a:gd name="T0" fmla="*/ 0 w 178"/>
                <a:gd name="T1" fmla="*/ 0 w 178"/>
                <a:gd name="T2" fmla="*/ 178 w 178"/>
              </a:gdLst>
              <a:ahLst/>
              <a:cxnLst>
                <a:cxn ang="0">
                  <a:pos x="T0" y="0"/>
                </a:cxn>
                <a:cxn ang="0">
                  <a:pos x="T1" y="0"/>
                </a:cxn>
                <a:cxn ang="0">
                  <a:pos x="T2" y="0"/>
                </a:cxn>
              </a:cxnLst>
              <a:rect l="0" t="0" r="r" b="b"/>
              <a:pathLst>
                <a:path w="178">
                  <a:moveTo>
                    <a:pt x="0" y="0"/>
                  </a:moveTo>
                  <a:lnTo>
                    <a:pt x="0" y="0"/>
                  </a:lnTo>
                  <a:lnTo>
                    <a:pt x="178"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4" name="Freeform 14">
              <a:extLst>
                <a:ext uri="{FF2B5EF4-FFF2-40B4-BE49-F238E27FC236}">
                  <a16:creationId xmlns:a16="http://schemas.microsoft.com/office/drawing/2014/main" id="{DEEA1E19-5C65-3646-1606-CD608A90414A}"/>
                </a:ext>
              </a:extLst>
            </p:cNvPr>
            <p:cNvSpPr>
              <a:spLocks/>
            </p:cNvSpPr>
            <p:nvPr/>
          </p:nvSpPr>
          <p:spPr bwMode="auto">
            <a:xfrm flipH="1">
              <a:off x="5640362" y="1516002"/>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5" name="Freeform 15">
              <a:extLst>
                <a:ext uri="{FF2B5EF4-FFF2-40B4-BE49-F238E27FC236}">
                  <a16:creationId xmlns:a16="http://schemas.microsoft.com/office/drawing/2014/main" id="{8351A398-706E-1AB3-B3C8-FCEE0DBB657A}"/>
                </a:ext>
              </a:extLst>
            </p:cNvPr>
            <p:cNvSpPr>
              <a:spLocks/>
            </p:cNvSpPr>
            <p:nvPr/>
          </p:nvSpPr>
          <p:spPr bwMode="auto">
            <a:xfrm flipH="1">
              <a:off x="5809121" y="1704121"/>
              <a:ext cx="34290" cy="235743"/>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6" name="Freeform 17">
              <a:extLst>
                <a:ext uri="{FF2B5EF4-FFF2-40B4-BE49-F238E27FC236}">
                  <a16:creationId xmlns:a16="http://schemas.microsoft.com/office/drawing/2014/main" id="{0B75C307-26AB-DFD6-35E5-5E58B2EBE18B}"/>
                </a:ext>
              </a:extLst>
            </p:cNvPr>
            <p:cNvSpPr>
              <a:spLocks/>
            </p:cNvSpPr>
            <p:nvPr/>
          </p:nvSpPr>
          <p:spPr bwMode="auto">
            <a:xfrm flipH="1">
              <a:off x="5684183" y="1694596"/>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type="triangle"/>
              <a:tailEnd type="non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7" name="Freeform 18">
              <a:extLst>
                <a:ext uri="{FF2B5EF4-FFF2-40B4-BE49-F238E27FC236}">
                  <a16:creationId xmlns:a16="http://schemas.microsoft.com/office/drawing/2014/main" id="{3961E6D4-69BA-B142-DAEE-1EB8BB5C8342}"/>
                </a:ext>
              </a:extLst>
            </p:cNvPr>
            <p:cNvSpPr>
              <a:spLocks/>
            </p:cNvSpPr>
            <p:nvPr/>
          </p:nvSpPr>
          <p:spPr bwMode="auto">
            <a:xfrm flipH="1">
              <a:off x="5684183" y="1523146"/>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8" name="Freeform 19">
              <a:extLst>
                <a:ext uri="{FF2B5EF4-FFF2-40B4-BE49-F238E27FC236}">
                  <a16:creationId xmlns:a16="http://schemas.microsoft.com/office/drawing/2014/main" id="{30605735-1B39-C424-CAA4-3930A9206250}"/>
                </a:ext>
              </a:extLst>
            </p:cNvPr>
            <p:cNvSpPr>
              <a:spLocks/>
            </p:cNvSpPr>
            <p:nvPr/>
          </p:nvSpPr>
          <p:spPr bwMode="auto">
            <a:xfrm flipH="1">
              <a:off x="5684182" y="1471949"/>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9" name="Freeform 15">
              <a:extLst>
                <a:ext uri="{FF2B5EF4-FFF2-40B4-BE49-F238E27FC236}">
                  <a16:creationId xmlns:a16="http://schemas.microsoft.com/office/drawing/2014/main" id="{04236FCC-D0A1-7AF6-E611-61AF57E7044E}"/>
                </a:ext>
              </a:extLst>
            </p:cNvPr>
            <p:cNvSpPr>
              <a:spLocks/>
            </p:cNvSpPr>
            <p:nvPr/>
          </p:nvSpPr>
          <p:spPr bwMode="auto">
            <a:xfrm flipH="1">
              <a:off x="5855912" y="1417180"/>
              <a:ext cx="0" cy="105966"/>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0" name="Freeform 35">
              <a:extLst>
                <a:ext uri="{FF2B5EF4-FFF2-40B4-BE49-F238E27FC236}">
                  <a16:creationId xmlns:a16="http://schemas.microsoft.com/office/drawing/2014/main" id="{A7D73AFB-D114-AFA0-3222-5E8043627A25}"/>
                </a:ext>
              </a:extLst>
            </p:cNvPr>
            <p:cNvSpPr>
              <a:spLocks/>
            </p:cNvSpPr>
            <p:nvPr/>
          </p:nvSpPr>
          <p:spPr bwMode="auto">
            <a:xfrm>
              <a:off x="5287507" y="793769"/>
              <a:ext cx="304800"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1" name="Freeform 35">
              <a:extLst>
                <a:ext uri="{FF2B5EF4-FFF2-40B4-BE49-F238E27FC236}">
                  <a16:creationId xmlns:a16="http://schemas.microsoft.com/office/drawing/2014/main" id="{DA5D2777-710A-07AD-CBF4-77F356EB466F}"/>
                </a:ext>
              </a:extLst>
            </p:cNvPr>
            <p:cNvSpPr>
              <a:spLocks/>
            </p:cNvSpPr>
            <p:nvPr/>
          </p:nvSpPr>
          <p:spPr bwMode="auto">
            <a:xfrm>
              <a:off x="5291083" y="1610062"/>
              <a:ext cx="304800"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2" name="Freeform 15">
              <a:extLst>
                <a:ext uri="{FF2B5EF4-FFF2-40B4-BE49-F238E27FC236}">
                  <a16:creationId xmlns:a16="http://schemas.microsoft.com/office/drawing/2014/main" id="{B7224ACD-AEF9-5A22-D5CA-6E57E2614303}"/>
                </a:ext>
              </a:extLst>
            </p:cNvPr>
            <p:cNvSpPr>
              <a:spLocks/>
            </p:cNvSpPr>
            <p:nvPr/>
          </p:nvSpPr>
          <p:spPr bwMode="auto">
            <a:xfrm flipH="1">
              <a:off x="5231335" y="796629"/>
              <a:ext cx="49169" cy="812242"/>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3" name="Freeform 15">
              <a:extLst>
                <a:ext uri="{FF2B5EF4-FFF2-40B4-BE49-F238E27FC236}">
                  <a16:creationId xmlns:a16="http://schemas.microsoft.com/office/drawing/2014/main" id="{AB09F4A4-0F03-CA64-7DCB-C7CF3BE030FE}"/>
                </a:ext>
              </a:extLst>
            </p:cNvPr>
            <p:cNvSpPr>
              <a:spLocks/>
            </p:cNvSpPr>
            <p:nvPr/>
          </p:nvSpPr>
          <p:spPr bwMode="auto">
            <a:xfrm rot="16200000" flipH="1">
              <a:off x="5162995" y="1104075"/>
              <a:ext cx="81155" cy="19989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4" name="Freeform 15">
              <a:extLst>
                <a:ext uri="{FF2B5EF4-FFF2-40B4-BE49-F238E27FC236}">
                  <a16:creationId xmlns:a16="http://schemas.microsoft.com/office/drawing/2014/main" id="{A6392A2B-CAB9-A2E2-48D2-AD1B1810E985}"/>
                </a:ext>
              </a:extLst>
            </p:cNvPr>
            <p:cNvSpPr>
              <a:spLocks/>
            </p:cNvSpPr>
            <p:nvPr/>
          </p:nvSpPr>
          <p:spPr bwMode="auto">
            <a:xfrm rot="16200000">
              <a:off x="5925745" y="1027051"/>
              <a:ext cx="45719" cy="20304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5" name="Freeform 38">
              <a:extLst>
                <a:ext uri="{FF2B5EF4-FFF2-40B4-BE49-F238E27FC236}">
                  <a16:creationId xmlns:a16="http://schemas.microsoft.com/office/drawing/2014/main" id="{A5883605-B877-ABC3-A6F0-46D9DEA8BF0B}"/>
                </a:ext>
              </a:extLst>
            </p:cNvPr>
            <p:cNvSpPr>
              <a:spLocks noEditPoints="1"/>
            </p:cNvSpPr>
            <p:nvPr/>
          </p:nvSpPr>
          <p:spPr bwMode="auto">
            <a:xfrm>
              <a:off x="5029266" y="1124168"/>
              <a:ext cx="80963" cy="78581"/>
            </a:xfrm>
            <a:custGeom>
              <a:avLst/>
              <a:gdLst>
                <a:gd name="T0" fmla="*/ 48 w 101"/>
                <a:gd name="T1" fmla="*/ 0 h 97"/>
                <a:gd name="T2" fmla="*/ 48 w 101"/>
                <a:gd name="T3" fmla="*/ 0 h 97"/>
                <a:gd name="T4" fmla="*/ 0 w 101"/>
                <a:gd name="T5" fmla="*/ 0 h 97"/>
                <a:gd name="T6" fmla="*/ 0 w 101"/>
                <a:gd name="T7" fmla="*/ 48 h 97"/>
                <a:gd name="T8" fmla="*/ 101 w 101"/>
                <a:gd name="T9" fmla="*/ 48 h 97"/>
                <a:gd name="T10" fmla="*/ 101 w 101"/>
                <a:gd name="T11" fmla="*/ 48 h 97"/>
                <a:gd name="T12" fmla="*/ 48 w 101"/>
                <a:gd name="T13" fmla="*/ 0 h 97"/>
                <a:gd name="T14" fmla="*/ 0 w 101"/>
                <a:gd name="T15" fmla="*/ 48 h 97"/>
                <a:gd name="T16" fmla="*/ 0 w 101"/>
                <a:gd name="T17" fmla="*/ 48 h 97"/>
                <a:gd name="T18" fmla="*/ 0 w 101"/>
                <a:gd name="T19" fmla="*/ 97 h 97"/>
                <a:gd name="T20" fmla="*/ 48 w 101"/>
                <a:gd name="T21" fmla="*/ 97 h 97"/>
                <a:gd name="T22" fmla="*/ 101 w 101"/>
                <a:gd name="T23"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97">
                  <a:moveTo>
                    <a:pt x="48" y="0"/>
                  </a:moveTo>
                  <a:lnTo>
                    <a:pt x="48" y="0"/>
                  </a:lnTo>
                  <a:lnTo>
                    <a:pt x="0" y="0"/>
                  </a:lnTo>
                  <a:lnTo>
                    <a:pt x="0" y="48"/>
                  </a:lnTo>
                  <a:moveTo>
                    <a:pt x="101" y="48"/>
                  </a:moveTo>
                  <a:lnTo>
                    <a:pt x="101" y="48"/>
                  </a:lnTo>
                  <a:lnTo>
                    <a:pt x="48" y="0"/>
                  </a:lnTo>
                  <a:moveTo>
                    <a:pt x="0" y="48"/>
                  </a:moveTo>
                  <a:lnTo>
                    <a:pt x="0" y="48"/>
                  </a:lnTo>
                  <a:lnTo>
                    <a:pt x="0" y="97"/>
                  </a:lnTo>
                  <a:lnTo>
                    <a:pt x="48" y="97"/>
                  </a:lnTo>
                  <a:lnTo>
                    <a:pt x="101" y="48"/>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6" name="Freeform 37">
              <a:extLst>
                <a:ext uri="{FF2B5EF4-FFF2-40B4-BE49-F238E27FC236}">
                  <a16:creationId xmlns:a16="http://schemas.microsoft.com/office/drawing/2014/main" id="{9FDCB049-719F-1B1F-C560-EB776CA7C10B}"/>
                </a:ext>
              </a:extLst>
            </p:cNvPr>
            <p:cNvSpPr>
              <a:spLocks noEditPoints="1"/>
            </p:cNvSpPr>
            <p:nvPr/>
          </p:nvSpPr>
          <p:spPr bwMode="auto">
            <a:xfrm>
              <a:off x="6048025" y="1117961"/>
              <a:ext cx="80963" cy="79772"/>
            </a:xfrm>
            <a:custGeom>
              <a:avLst/>
              <a:gdLst>
                <a:gd name="T0" fmla="*/ 53 w 100"/>
                <a:gd name="T1" fmla="*/ 0 h 97"/>
                <a:gd name="T2" fmla="*/ 53 w 100"/>
                <a:gd name="T3" fmla="*/ 0 h 97"/>
                <a:gd name="T4" fmla="*/ 100 w 100"/>
                <a:gd name="T5" fmla="*/ 0 h 97"/>
                <a:gd name="T6" fmla="*/ 100 w 100"/>
                <a:gd name="T7" fmla="*/ 49 h 97"/>
                <a:gd name="T8" fmla="*/ 0 w 100"/>
                <a:gd name="T9" fmla="*/ 49 h 97"/>
                <a:gd name="T10" fmla="*/ 0 w 100"/>
                <a:gd name="T11" fmla="*/ 49 h 97"/>
                <a:gd name="T12" fmla="*/ 53 w 100"/>
                <a:gd name="T13" fmla="*/ 0 h 97"/>
                <a:gd name="T14" fmla="*/ 100 w 100"/>
                <a:gd name="T15" fmla="*/ 49 h 97"/>
                <a:gd name="T16" fmla="*/ 100 w 100"/>
                <a:gd name="T17" fmla="*/ 49 h 97"/>
                <a:gd name="T18" fmla="*/ 100 w 100"/>
                <a:gd name="T19" fmla="*/ 97 h 97"/>
                <a:gd name="T20" fmla="*/ 53 w 100"/>
                <a:gd name="T21" fmla="*/ 97 h 97"/>
                <a:gd name="T22" fmla="*/ 0 w 100"/>
                <a:gd name="T23" fmla="*/ 4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97">
                  <a:moveTo>
                    <a:pt x="53" y="0"/>
                  </a:moveTo>
                  <a:lnTo>
                    <a:pt x="53" y="0"/>
                  </a:lnTo>
                  <a:lnTo>
                    <a:pt x="100" y="0"/>
                  </a:lnTo>
                  <a:lnTo>
                    <a:pt x="100" y="49"/>
                  </a:lnTo>
                  <a:moveTo>
                    <a:pt x="0" y="49"/>
                  </a:moveTo>
                  <a:lnTo>
                    <a:pt x="0" y="49"/>
                  </a:lnTo>
                  <a:lnTo>
                    <a:pt x="53" y="0"/>
                  </a:lnTo>
                  <a:moveTo>
                    <a:pt x="100" y="49"/>
                  </a:moveTo>
                  <a:lnTo>
                    <a:pt x="100" y="49"/>
                  </a:lnTo>
                  <a:lnTo>
                    <a:pt x="100" y="97"/>
                  </a:lnTo>
                  <a:lnTo>
                    <a:pt x="53" y="97"/>
                  </a:lnTo>
                  <a:lnTo>
                    <a:pt x="0" y="49"/>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7" name="Freeform 28">
              <a:extLst>
                <a:ext uri="{FF2B5EF4-FFF2-40B4-BE49-F238E27FC236}">
                  <a16:creationId xmlns:a16="http://schemas.microsoft.com/office/drawing/2014/main" id="{DF721B98-D045-6AA6-028E-01450FD06CE5}"/>
                </a:ext>
              </a:extLst>
            </p:cNvPr>
            <p:cNvSpPr>
              <a:spLocks/>
            </p:cNvSpPr>
            <p:nvPr/>
          </p:nvSpPr>
          <p:spPr bwMode="auto">
            <a:xfrm>
              <a:off x="5793396" y="402529"/>
              <a:ext cx="163115" cy="0"/>
            </a:xfrm>
            <a:custGeom>
              <a:avLst/>
              <a:gdLst>
                <a:gd name="T0" fmla="*/ 0 w 201"/>
                <a:gd name="T1" fmla="*/ 0 w 201"/>
                <a:gd name="T2" fmla="*/ 201 w 201"/>
              </a:gdLst>
              <a:ahLst/>
              <a:cxnLst>
                <a:cxn ang="0">
                  <a:pos x="T0" y="0"/>
                </a:cxn>
                <a:cxn ang="0">
                  <a:pos x="T1" y="0"/>
                </a:cxn>
                <a:cxn ang="0">
                  <a:pos x="T2" y="0"/>
                </a:cxn>
              </a:cxnLst>
              <a:rect l="0" t="0" r="r" b="b"/>
              <a:pathLst>
                <a:path w="201">
                  <a:moveTo>
                    <a:pt x="0" y="0"/>
                  </a:moveTo>
                  <a:lnTo>
                    <a:pt x="0" y="0"/>
                  </a:lnTo>
                  <a:lnTo>
                    <a:pt x="201" y="0"/>
                  </a:lnTo>
                </a:path>
              </a:pathLst>
            </a:custGeom>
            <a:noFill/>
            <a:ln w="508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8" name="Rectangle 37">
              <a:extLst>
                <a:ext uri="{FF2B5EF4-FFF2-40B4-BE49-F238E27FC236}">
                  <a16:creationId xmlns:a16="http://schemas.microsoft.com/office/drawing/2014/main" id="{31611F3F-6B53-50C8-79CE-500D69732DC2}"/>
                </a:ext>
              </a:extLst>
            </p:cNvPr>
            <p:cNvSpPr>
              <a:spLocks noChangeArrowheads="1"/>
            </p:cNvSpPr>
            <p:nvPr/>
          </p:nvSpPr>
          <p:spPr bwMode="auto">
            <a:xfrm>
              <a:off x="5727970" y="172826"/>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a:ln>
                    <a:noFill/>
                  </a:ln>
                  <a:solidFill>
                    <a:srgbClr val="000000"/>
                  </a:solidFill>
                  <a:effectLst/>
                  <a:uLnTx/>
                  <a:uFillTx/>
                  <a:latin typeface="Arial" panose="020B0604020202020204" pitchFamily="34" charset="0"/>
                </a:rPr>
                <a:t>V</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DD</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39" name="Rectangle 38">
              <a:extLst>
                <a:ext uri="{FF2B5EF4-FFF2-40B4-BE49-F238E27FC236}">
                  <a16:creationId xmlns:a16="http://schemas.microsoft.com/office/drawing/2014/main" id="{CC6D995A-9F2C-1FA4-3DFD-F3A9311D421B}"/>
                </a:ext>
              </a:extLst>
            </p:cNvPr>
            <p:cNvSpPr>
              <a:spLocks noChangeArrowheads="1"/>
            </p:cNvSpPr>
            <p:nvPr/>
          </p:nvSpPr>
          <p:spPr bwMode="auto">
            <a:xfrm>
              <a:off x="5760130" y="711706"/>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US" altLang="en-BE" sz="1050" b="1" i="0" u="none" strike="noStrike" kern="0" cap="none" spc="0" normalizeH="0" baseline="0" noProof="0">
                  <a:ln>
                    <a:noFill/>
                  </a:ln>
                  <a:solidFill>
                    <a:srgbClr val="000000"/>
                  </a:solidFill>
                  <a:effectLst/>
                  <a:uLnTx/>
                  <a:uFillTx/>
                  <a:latin typeface="Arial" panose="020B0604020202020204" pitchFamily="34" charset="0"/>
                </a:rPr>
                <a:t>M</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1</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40" name="Rectangle 39">
              <a:extLst>
                <a:ext uri="{FF2B5EF4-FFF2-40B4-BE49-F238E27FC236}">
                  <a16:creationId xmlns:a16="http://schemas.microsoft.com/office/drawing/2014/main" id="{47113A47-919F-5F00-F991-F36B602E3A02}"/>
                </a:ext>
              </a:extLst>
            </p:cNvPr>
            <p:cNvSpPr>
              <a:spLocks noChangeArrowheads="1"/>
            </p:cNvSpPr>
            <p:nvPr/>
          </p:nvSpPr>
          <p:spPr bwMode="auto">
            <a:xfrm>
              <a:off x="5739188" y="1526093"/>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US" altLang="en-BE" sz="1050" b="1" i="0" u="none" strike="noStrike" kern="0" cap="none" spc="0" normalizeH="0" baseline="0" noProof="0">
                  <a:ln>
                    <a:noFill/>
                  </a:ln>
                  <a:solidFill>
                    <a:srgbClr val="000000"/>
                  </a:solidFill>
                  <a:effectLst/>
                  <a:uLnTx/>
                  <a:uFillTx/>
                  <a:latin typeface="Arial" panose="020B0604020202020204" pitchFamily="34" charset="0"/>
                </a:rPr>
                <a:t>M</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2</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41" name="Rectangle 40">
              <a:extLst>
                <a:ext uri="{FF2B5EF4-FFF2-40B4-BE49-F238E27FC236}">
                  <a16:creationId xmlns:a16="http://schemas.microsoft.com/office/drawing/2014/main" id="{C3588A43-04AE-35A1-DB47-2A3115518AAF}"/>
                </a:ext>
              </a:extLst>
            </p:cNvPr>
            <p:cNvSpPr>
              <a:spLocks noChangeArrowheads="1"/>
            </p:cNvSpPr>
            <p:nvPr/>
          </p:nvSpPr>
          <p:spPr bwMode="auto">
            <a:xfrm>
              <a:off x="6011177" y="929500"/>
              <a:ext cx="278923"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a:ln>
                    <a:noFill/>
                  </a:ln>
                  <a:solidFill>
                    <a:srgbClr val="000000"/>
                  </a:solidFill>
                  <a:effectLst/>
                  <a:uLnTx/>
                  <a:uFillTx/>
                  <a:latin typeface="Arial" panose="020B0604020202020204" pitchFamily="34" charset="0"/>
                </a:rPr>
                <a:t>V</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OUT</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42" name="Freeform 36">
              <a:extLst>
                <a:ext uri="{FF2B5EF4-FFF2-40B4-BE49-F238E27FC236}">
                  <a16:creationId xmlns:a16="http://schemas.microsoft.com/office/drawing/2014/main" id="{6CBE3F65-CDF6-D549-9F8F-E1069A2A9B5F}"/>
                </a:ext>
              </a:extLst>
            </p:cNvPr>
            <p:cNvSpPr>
              <a:spLocks noEditPoints="1"/>
            </p:cNvSpPr>
            <p:nvPr/>
          </p:nvSpPr>
          <p:spPr bwMode="auto">
            <a:xfrm>
              <a:off x="5246443" y="1130702"/>
              <a:ext cx="65484"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3" name="Freeform 36">
              <a:extLst>
                <a:ext uri="{FF2B5EF4-FFF2-40B4-BE49-F238E27FC236}">
                  <a16:creationId xmlns:a16="http://schemas.microsoft.com/office/drawing/2014/main" id="{BB15E884-8F52-AA7F-7C09-8D0C2F756932}"/>
                </a:ext>
              </a:extLst>
            </p:cNvPr>
            <p:cNvSpPr>
              <a:spLocks noEditPoints="1"/>
            </p:cNvSpPr>
            <p:nvPr/>
          </p:nvSpPr>
          <p:spPr bwMode="auto">
            <a:xfrm>
              <a:off x="5814451" y="1127308"/>
              <a:ext cx="65484"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grpSp>
      <p:cxnSp>
        <p:nvCxnSpPr>
          <p:cNvPr id="44" name="Straight Arrow Connector 43">
            <a:extLst>
              <a:ext uri="{FF2B5EF4-FFF2-40B4-BE49-F238E27FC236}">
                <a16:creationId xmlns:a16="http://schemas.microsoft.com/office/drawing/2014/main" id="{C4CDAE44-B577-7C24-FE34-3098682696CE}"/>
              </a:ext>
            </a:extLst>
          </p:cNvPr>
          <p:cNvCxnSpPr>
            <a:cxnSpLocks/>
            <a:stCxn id="126" idx="0"/>
          </p:cNvCxnSpPr>
          <p:nvPr/>
        </p:nvCxnSpPr>
        <p:spPr>
          <a:xfrm flipV="1">
            <a:off x="7978334" y="2931136"/>
            <a:ext cx="3981290" cy="253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74A9CC9D-5C93-94F0-9194-7F81B39E531D}"/>
              </a:ext>
            </a:extLst>
          </p:cNvPr>
          <p:cNvGrpSpPr/>
          <p:nvPr/>
        </p:nvGrpSpPr>
        <p:grpSpPr>
          <a:xfrm>
            <a:off x="8461999" y="2926433"/>
            <a:ext cx="386849" cy="1826216"/>
            <a:chOff x="6923016" y="264244"/>
            <a:chExt cx="318614" cy="1447411"/>
          </a:xfrm>
        </p:grpSpPr>
        <p:grpSp>
          <p:nvGrpSpPr>
            <p:cNvPr id="46" name="Group 45">
              <a:extLst>
                <a:ext uri="{FF2B5EF4-FFF2-40B4-BE49-F238E27FC236}">
                  <a16:creationId xmlns:a16="http://schemas.microsoft.com/office/drawing/2014/main" id="{CA1BDA97-8041-A8D7-BBE7-702C4E549560}"/>
                </a:ext>
              </a:extLst>
            </p:cNvPr>
            <p:cNvGrpSpPr/>
            <p:nvPr/>
          </p:nvGrpSpPr>
          <p:grpSpPr>
            <a:xfrm>
              <a:off x="6923016" y="264244"/>
              <a:ext cx="312936" cy="1297856"/>
              <a:chOff x="6923016" y="264244"/>
              <a:chExt cx="312936" cy="1297856"/>
            </a:xfrm>
          </p:grpSpPr>
          <p:grpSp>
            <p:nvGrpSpPr>
              <p:cNvPr id="52" name="Group 51">
                <a:extLst>
                  <a:ext uri="{FF2B5EF4-FFF2-40B4-BE49-F238E27FC236}">
                    <a16:creationId xmlns:a16="http://schemas.microsoft.com/office/drawing/2014/main" id="{9467294F-AD9C-5C25-0D1B-B51389C7BF02}"/>
                  </a:ext>
                </a:extLst>
              </p:cNvPr>
              <p:cNvGrpSpPr/>
              <p:nvPr/>
            </p:nvGrpSpPr>
            <p:grpSpPr>
              <a:xfrm>
                <a:off x="6923016" y="585216"/>
                <a:ext cx="312936" cy="448682"/>
                <a:chOff x="6923016" y="739140"/>
                <a:chExt cx="176919" cy="294758"/>
              </a:xfrm>
            </p:grpSpPr>
            <p:sp>
              <p:nvSpPr>
                <p:cNvPr id="55" name="Freeform: Shape 65">
                  <a:extLst>
                    <a:ext uri="{FF2B5EF4-FFF2-40B4-BE49-F238E27FC236}">
                      <a16:creationId xmlns:a16="http://schemas.microsoft.com/office/drawing/2014/main" id="{7E559BCB-1EAC-0AB8-A881-FB595A0594F4}"/>
                    </a:ext>
                  </a:extLst>
                </p:cNvPr>
                <p:cNvSpPr/>
                <p:nvPr/>
              </p:nvSpPr>
              <p:spPr>
                <a:xfrm>
                  <a:off x="6923016" y="739140"/>
                  <a:ext cx="176919" cy="294758"/>
                </a:xfrm>
                <a:custGeom>
                  <a:avLst/>
                  <a:gdLst>
                    <a:gd name="connsiteX0" fmla="*/ 153244 w 176919"/>
                    <a:gd name="connsiteY0" fmla="*/ 142912 h 294758"/>
                    <a:gd name="connsiteX1" fmla="*/ 170192 w 176919"/>
                    <a:gd name="connsiteY1" fmla="*/ 169408 h 294758"/>
                    <a:gd name="connsiteX2" fmla="*/ 176919 w 176919"/>
                    <a:gd name="connsiteY2" fmla="*/ 204529 h 294758"/>
                    <a:gd name="connsiteX3" fmla="*/ 91317 w 176919"/>
                    <a:gd name="connsiteY3" fmla="*/ 294758 h 294758"/>
                    <a:gd name="connsiteX4" fmla="*/ 5715 w 176919"/>
                    <a:gd name="connsiteY4" fmla="*/ 204529 h 294758"/>
                    <a:gd name="connsiteX5" fmla="*/ 12442 w 176919"/>
                    <a:gd name="connsiteY5" fmla="*/ 169408 h 294758"/>
                    <a:gd name="connsiteX6" fmla="*/ 23675 w 176919"/>
                    <a:gd name="connsiteY6" fmla="*/ 151846 h 294758"/>
                    <a:gd name="connsiteX7" fmla="*/ 25072 w 176919"/>
                    <a:gd name="connsiteY7" fmla="*/ 154031 h 294758"/>
                    <a:gd name="connsiteX8" fmla="*/ 85602 w 176919"/>
                    <a:gd name="connsiteY8" fmla="*/ 180458 h 294758"/>
                    <a:gd name="connsiteX9" fmla="*/ 146132 w 176919"/>
                    <a:gd name="connsiteY9" fmla="*/ 154031 h 294758"/>
                    <a:gd name="connsiteX10" fmla="*/ 85602 w 176919"/>
                    <a:gd name="connsiteY10" fmla="*/ 0 h 294758"/>
                    <a:gd name="connsiteX11" fmla="*/ 171204 w 176919"/>
                    <a:gd name="connsiteY11" fmla="*/ 90229 h 294758"/>
                    <a:gd name="connsiteX12" fmla="*/ 164477 w 176919"/>
                    <a:gd name="connsiteY12" fmla="*/ 125350 h 294758"/>
                    <a:gd name="connsiteX13" fmla="*/ 153244 w 176919"/>
                    <a:gd name="connsiteY13" fmla="*/ 142912 h 294758"/>
                    <a:gd name="connsiteX14" fmla="*/ 151847 w 176919"/>
                    <a:gd name="connsiteY14" fmla="*/ 140728 h 294758"/>
                    <a:gd name="connsiteX15" fmla="*/ 91317 w 176919"/>
                    <a:gd name="connsiteY15" fmla="*/ 114300 h 294758"/>
                    <a:gd name="connsiteX16" fmla="*/ 30787 w 176919"/>
                    <a:gd name="connsiteY16" fmla="*/ 140728 h 294758"/>
                    <a:gd name="connsiteX17" fmla="*/ 23675 w 176919"/>
                    <a:gd name="connsiteY17" fmla="*/ 151846 h 294758"/>
                    <a:gd name="connsiteX18" fmla="*/ 6727 w 176919"/>
                    <a:gd name="connsiteY18" fmla="*/ 125350 h 294758"/>
                    <a:gd name="connsiteX19" fmla="*/ 0 w 176919"/>
                    <a:gd name="connsiteY19" fmla="*/ 90229 h 294758"/>
                    <a:gd name="connsiteX20" fmla="*/ 85602 w 176919"/>
                    <a:gd name="connsiteY20" fmla="*/ 0 h 29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919" h="294758">
                      <a:moveTo>
                        <a:pt x="153244" y="142912"/>
                      </a:moveTo>
                      <a:lnTo>
                        <a:pt x="170192" y="169408"/>
                      </a:lnTo>
                      <a:cubicBezTo>
                        <a:pt x="174524" y="180203"/>
                        <a:pt x="176919" y="192071"/>
                        <a:pt x="176919" y="204529"/>
                      </a:cubicBezTo>
                      <a:cubicBezTo>
                        <a:pt x="176919" y="254361"/>
                        <a:pt x="138594" y="294758"/>
                        <a:pt x="91317" y="294758"/>
                      </a:cubicBezTo>
                      <a:cubicBezTo>
                        <a:pt x="44040" y="294758"/>
                        <a:pt x="5715" y="254361"/>
                        <a:pt x="5715" y="204529"/>
                      </a:cubicBezTo>
                      <a:cubicBezTo>
                        <a:pt x="5715" y="192071"/>
                        <a:pt x="8111" y="180203"/>
                        <a:pt x="12442" y="169408"/>
                      </a:cubicBezTo>
                      <a:lnTo>
                        <a:pt x="23675" y="151846"/>
                      </a:lnTo>
                      <a:lnTo>
                        <a:pt x="25072" y="154031"/>
                      </a:lnTo>
                      <a:cubicBezTo>
                        <a:pt x="40563" y="170359"/>
                        <a:pt x="61964" y="180458"/>
                        <a:pt x="85602" y="180458"/>
                      </a:cubicBezTo>
                      <a:cubicBezTo>
                        <a:pt x="109241" y="180458"/>
                        <a:pt x="130641" y="170359"/>
                        <a:pt x="146132" y="154031"/>
                      </a:cubicBezTo>
                      <a:close/>
                      <a:moveTo>
                        <a:pt x="85602" y="0"/>
                      </a:moveTo>
                      <a:cubicBezTo>
                        <a:pt x="132879" y="0"/>
                        <a:pt x="171204" y="40397"/>
                        <a:pt x="171204" y="90229"/>
                      </a:cubicBezTo>
                      <a:cubicBezTo>
                        <a:pt x="171204" y="102687"/>
                        <a:pt x="168809" y="114555"/>
                        <a:pt x="164477" y="125350"/>
                      </a:cubicBezTo>
                      <a:lnTo>
                        <a:pt x="153244" y="142912"/>
                      </a:lnTo>
                      <a:lnTo>
                        <a:pt x="151847" y="140728"/>
                      </a:lnTo>
                      <a:cubicBezTo>
                        <a:pt x="136356" y="124399"/>
                        <a:pt x="114956" y="114300"/>
                        <a:pt x="91317" y="114300"/>
                      </a:cubicBezTo>
                      <a:cubicBezTo>
                        <a:pt x="67679" y="114300"/>
                        <a:pt x="46278" y="124399"/>
                        <a:pt x="30787" y="140728"/>
                      </a:cubicBezTo>
                      <a:lnTo>
                        <a:pt x="23675" y="151846"/>
                      </a:lnTo>
                      <a:lnTo>
                        <a:pt x="6727" y="125350"/>
                      </a:lnTo>
                      <a:cubicBezTo>
                        <a:pt x="2395" y="114555"/>
                        <a:pt x="0" y="102687"/>
                        <a:pt x="0" y="90229"/>
                      </a:cubicBezTo>
                      <a:cubicBezTo>
                        <a:pt x="0" y="40397"/>
                        <a:pt x="38325" y="0"/>
                        <a:pt x="85602" y="0"/>
                      </a:cubicBezTo>
                      <a:close/>
                    </a:path>
                  </a:pathLst>
                </a:custGeom>
                <a:ln w="19050">
                  <a:solidFill>
                    <a:schemeClr val="tx1"/>
                  </a:solidFill>
                </a:ln>
              </p:spPr>
              <p:style>
                <a:lnRef idx="2">
                  <a:schemeClr val="dk1"/>
                </a:lnRef>
                <a:fillRef idx="1">
                  <a:schemeClr val="lt1"/>
                </a:fillRef>
                <a:effectRef idx="0">
                  <a:schemeClr val="dk1"/>
                </a:effectRef>
                <a:fontRef idx="minor">
                  <a:schemeClr val="dk1"/>
                </a:fontRef>
              </p:style>
              <p:txBody>
                <a:bodyPr wrap="square" rtlCol="0" anchor="t">
                  <a:noAutofit/>
                </a:bodyPr>
                <a:lstStyle/>
                <a:p>
                  <a:pPr algn="ctr"/>
                  <a:endParaRPr lang="en-BE"/>
                </a:p>
              </p:txBody>
            </p:sp>
            <p:cxnSp>
              <p:nvCxnSpPr>
                <p:cNvPr id="56" name="Straight Arrow Connector 55">
                  <a:extLst>
                    <a:ext uri="{FF2B5EF4-FFF2-40B4-BE49-F238E27FC236}">
                      <a16:creationId xmlns:a16="http://schemas.microsoft.com/office/drawing/2014/main" id="{102DC10E-7145-2308-44EB-D371A9B14C0C}"/>
                    </a:ext>
                  </a:extLst>
                </p:cNvPr>
                <p:cNvCxnSpPr/>
                <p:nvPr/>
              </p:nvCxnSpPr>
              <p:spPr>
                <a:xfrm>
                  <a:off x="7010400" y="800100"/>
                  <a:ext cx="0" cy="216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Straight Arrow Connector 52">
                <a:extLst>
                  <a:ext uri="{FF2B5EF4-FFF2-40B4-BE49-F238E27FC236}">
                    <a16:creationId xmlns:a16="http://schemas.microsoft.com/office/drawing/2014/main" id="{DD5F5A01-CB4D-023B-4DB8-FF8B39D251E8}"/>
                  </a:ext>
                </a:extLst>
              </p:cNvPr>
              <p:cNvCxnSpPr>
                <a:cxnSpLocks/>
              </p:cNvCxnSpPr>
              <p:nvPr/>
            </p:nvCxnSpPr>
            <p:spPr>
              <a:xfrm>
                <a:off x="7085964" y="1038436"/>
                <a:ext cx="0" cy="52366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5938766-7E5C-1844-1ECB-D3C096477442}"/>
                  </a:ext>
                </a:extLst>
              </p:cNvPr>
              <p:cNvCxnSpPr/>
              <p:nvPr/>
            </p:nvCxnSpPr>
            <p:spPr>
              <a:xfrm>
                <a:off x="7067676" y="264244"/>
                <a:ext cx="0" cy="328796"/>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ABF11C8F-EC6E-4B79-B9EA-CB52BF8B67D8}"/>
                </a:ext>
              </a:extLst>
            </p:cNvPr>
            <p:cNvGrpSpPr/>
            <p:nvPr/>
          </p:nvGrpSpPr>
          <p:grpSpPr>
            <a:xfrm>
              <a:off x="6944360" y="1555445"/>
              <a:ext cx="297270" cy="156210"/>
              <a:chOff x="6944360" y="1555445"/>
              <a:chExt cx="297270" cy="156210"/>
            </a:xfrm>
          </p:grpSpPr>
          <p:cxnSp>
            <p:nvCxnSpPr>
              <p:cNvPr id="48" name="Straight Arrow Connector 47">
                <a:extLst>
                  <a:ext uri="{FF2B5EF4-FFF2-40B4-BE49-F238E27FC236}">
                    <a16:creationId xmlns:a16="http://schemas.microsoft.com/office/drawing/2014/main" id="{955DFC20-AB37-C456-747D-4D7442E0EA96}"/>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50AA9C4-07BB-EBFD-9DD6-D3626CA7E0B4}"/>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4DDBDC4-966A-D2A1-99FD-0169701551E9}"/>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BE44FF9-68FB-D9A2-ED62-BF9D797EB76D}"/>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57" name="TextBox 56">
            <a:extLst>
              <a:ext uri="{FF2B5EF4-FFF2-40B4-BE49-F238E27FC236}">
                <a16:creationId xmlns:a16="http://schemas.microsoft.com/office/drawing/2014/main" id="{BEF25AEC-BB40-CD9E-8987-705B160BE1E4}"/>
              </a:ext>
            </a:extLst>
          </p:cNvPr>
          <p:cNvSpPr txBox="1"/>
          <p:nvPr/>
        </p:nvSpPr>
        <p:spPr>
          <a:xfrm>
            <a:off x="7674345" y="3324555"/>
            <a:ext cx="1045218" cy="386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a:latin typeface="Cambria Math" panose="02040503050406030204" pitchFamily="18" charset="0"/>
                <a:ea typeface="Cambria Math" panose="02040503050406030204" pitchFamily="18" charset="0"/>
                <a:cs typeface="Calibri" panose="020F0502020204030204" pitchFamily="34" charset="0"/>
              </a:rPr>
              <a:t>g</a:t>
            </a:r>
            <a:r>
              <a:rPr kumimoji="0" lang="en-US" i="1" u="none" strike="noStrike" kern="1200" cap="none" spc="0" normalizeH="0" baseline="-25000" noProof="0">
                <a:ln>
                  <a:noFill/>
                </a:ln>
                <a:effectLst/>
                <a:uLnTx/>
                <a:uFillTx/>
                <a:latin typeface="Cambria Math" panose="02040503050406030204" pitchFamily="18" charset="0"/>
                <a:ea typeface="Cambria Math" panose="02040503050406030204" pitchFamily="18" charset="0"/>
                <a:cs typeface="Calibri" panose="020F0502020204030204" pitchFamily="34" charset="0"/>
              </a:rPr>
              <a:t>m,1 </a:t>
            </a:r>
            <a:r>
              <a:rPr lang="en-US" i="1">
                <a:latin typeface="Cambria Math" panose="02040503050406030204" pitchFamily="18" charset="0"/>
                <a:ea typeface="Cambria Math" panose="02040503050406030204" pitchFamily="18" charset="0"/>
                <a:cs typeface="Calibri" panose="020F0502020204030204" pitchFamily="34" charset="0"/>
              </a:rPr>
              <a:t>v</a:t>
            </a:r>
            <a:r>
              <a:rPr lang="en-US" i="1" baseline="-25000">
                <a:latin typeface="Cambria Math" panose="02040503050406030204" pitchFamily="18" charset="0"/>
                <a:ea typeface="Cambria Math" panose="02040503050406030204" pitchFamily="18" charset="0"/>
                <a:cs typeface="Calibri" panose="020F0502020204030204" pitchFamily="34" charset="0"/>
              </a:rPr>
              <a:t>in </a:t>
            </a:r>
            <a:endParaRPr lang="en-BE" i="1">
              <a:latin typeface="Cambria Math" panose="02040503050406030204" pitchFamily="18" charset="0"/>
              <a:ea typeface="Cambria Math" panose="02040503050406030204" pitchFamily="18" charset="0"/>
              <a:cs typeface="Calibri" panose="020F0502020204030204" pitchFamily="34" charset="0"/>
            </a:endParaRPr>
          </a:p>
        </p:txBody>
      </p:sp>
      <p:grpSp>
        <p:nvGrpSpPr>
          <p:cNvPr id="58" name="Group 57">
            <a:extLst>
              <a:ext uri="{FF2B5EF4-FFF2-40B4-BE49-F238E27FC236}">
                <a16:creationId xmlns:a16="http://schemas.microsoft.com/office/drawing/2014/main" id="{F3106C7C-B09A-B604-A689-DDA8A48F1E2F}"/>
              </a:ext>
            </a:extLst>
          </p:cNvPr>
          <p:cNvGrpSpPr/>
          <p:nvPr/>
        </p:nvGrpSpPr>
        <p:grpSpPr>
          <a:xfrm>
            <a:off x="9890543" y="2943315"/>
            <a:ext cx="360934" cy="1846041"/>
            <a:chOff x="3920239" y="2486400"/>
            <a:chExt cx="360934" cy="1764320"/>
          </a:xfrm>
        </p:grpSpPr>
        <p:cxnSp>
          <p:nvCxnSpPr>
            <p:cNvPr id="59" name="Straight Arrow Connector 58">
              <a:extLst>
                <a:ext uri="{FF2B5EF4-FFF2-40B4-BE49-F238E27FC236}">
                  <a16:creationId xmlns:a16="http://schemas.microsoft.com/office/drawing/2014/main" id="{07F19663-7D42-574C-1260-B36A279F4022}"/>
                </a:ext>
              </a:extLst>
            </p:cNvPr>
            <p:cNvCxnSpPr>
              <a:cxnSpLocks/>
            </p:cNvCxnSpPr>
            <p:nvPr/>
          </p:nvCxnSpPr>
          <p:spPr>
            <a:xfrm>
              <a:off x="4081789" y="2486400"/>
              <a:ext cx="0" cy="200787"/>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716B8DCC-F3BB-67CD-59BC-DD0A81F5BF4A}"/>
                </a:ext>
              </a:extLst>
            </p:cNvPr>
            <p:cNvGrpSpPr/>
            <p:nvPr/>
          </p:nvGrpSpPr>
          <p:grpSpPr>
            <a:xfrm>
              <a:off x="3920239" y="4062353"/>
              <a:ext cx="360934" cy="188367"/>
              <a:chOff x="6944360" y="1555445"/>
              <a:chExt cx="297270" cy="156210"/>
            </a:xfrm>
          </p:grpSpPr>
          <p:cxnSp>
            <p:nvCxnSpPr>
              <p:cNvPr id="69" name="Straight Arrow Connector 68">
                <a:extLst>
                  <a:ext uri="{FF2B5EF4-FFF2-40B4-BE49-F238E27FC236}">
                    <a16:creationId xmlns:a16="http://schemas.microsoft.com/office/drawing/2014/main" id="{FCA6741A-6CE3-BAF6-ACCE-F5DC38422E44}"/>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0C3AC3B-DDF3-E0D7-8B9D-D129B9A34C2E}"/>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86E3840-0A58-6278-E8C3-9D435B207583}"/>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0A820BA-8244-5A4C-F71A-1192FA04D220}"/>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C7E9829D-7AA2-C75F-C15D-A28600A553DA}"/>
                </a:ext>
              </a:extLst>
            </p:cNvPr>
            <p:cNvGrpSpPr/>
            <p:nvPr/>
          </p:nvGrpSpPr>
          <p:grpSpPr>
            <a:xfrm>
              <a:off x="3960494" y="2689037"/>
              <a:ext cx="255055" cy="530521"/>
              <a:chOff x="5542451" y="2102326"/>
              <a:chExt cx="174669" cy="355599"/>
            </a:xfrm>
          </p:grpSpPr>
          <p:grpSp>
            <p:nvGrpSpPr>
              <p:cNvPr id="63" name="Group 62">
                <a:extLst>
                  <a:ext uri="{FF2B5EF4-FFF2-40B4-BE49-F238E27FC236}">
                    <a16:creationId xmlns:a16="http://schemas.microsoft.com/office/drawing/2014/main" id="{170D86D5-6E5C-8DCC-D26D-413615F89C0F}"/>
                  </a:ext>
                </a:extLst>
              </p:cNvPr>
              <p:cNvGrpSpPr/>
              <p:nvPr/>
            </p:nvGrpSpPr>
            <p:grpSpPr>
              <a:xfrm>
                <a:off x="5542451" y="2102326"/>
                <a:ext cx="166687" cy="236537"/>
                <a:chOff x="5542451" y="2102326"/>
                <a:chExt cx="166687" cy="236537"/>
              </a:xfrm>
            </p:grpSpPr>
            <p:sp>
              <p:nvSpPr>
                <p:cNvPr id="67" name="Freeform 43">
                  <a:extLst>
                    <a:ext uri="{FF2B5EF4-FFF2-40B4-BE49-F238E27FC236}">
                      <a16:creationId xmlns:a16="http://schemas.microsoft.com/office/drawing/2014/main" id="{5C195F73-BE3F-F40F-212F-4E6E9B48C361}"/>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68" name="Freeform 46">
                  <a:extLst>
                    <a:ext uri="{FF2B5EF4-FFF2-40B4-BE49-F238E27FC236}">
                      <a16:creationId xmlns:a16="http://schemas.microsoft.com/office/drawing/2014/main" id="{DADBF006-DD24-101E-74B8-B24EDF76DFCC}"/>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nvGrpSpPr>
              <p:cNvPr id="64" name="Group 63">
                <a:extLst>
                  <a:ext uri="{FF2B5EF4-FFF2-40B4-BE49-F238E27FC236}">
                    <a16:creationId xmlns:a16="http://schemas.microsoft.com/office/drawing/2014/main" id="{BAB6A1DF-F284-9DA7-D993-412881C8362A}"/>
                  </a:ext>
                </a:extLst>
              </p:cNvPr>
              <p:cNvGrpSpPr/>
              <p:nvPr/>
            </p:nvGrpSpPr>
            <p:grpSpPr>
              <a:xfrm>
                <a:off x="5550433" y="2221388"/>
                <a:ext cx="166687" cy="236537"/>
                <a:chOff x="5542451" y="2102326"/>
                <a:chExt cx="166687" cy="236537"/>
              </a:xfrm>
            </p:grpSpPr>
            <p:sp>
              <p:nvSpPr>
                <p:cNvPr id="65" name="Freeform 43">
                  <a:extLst>
                    <a:ext uri="{FF2B5EF4-FFF2-40B4-BE49-F238E27FC236}">
                      <a16:creationId xmlns:a16="http://schemas.microsoft.com/office/drawing/2014/main" id="{0A81270E-A091-08B6-9BBF-F96315F014E0}"/>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66" name="Freeform 46">
                  <a:extLst>
                    <a:ext uri="{FF2B5EF4-FFF2-40B4-BE49-F238E27FC236}">
                      <a16:creationId xmlns:a16="http://schemas.microsoft.com/office/drawing/2014/main" id="{7D4F7062-B40B-3535-2AD8-352CA3843549}"/>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cxnSp>
          <p:nvCxnSpPr>
            <p:cNvPr id="62" name="Straight Arrow Connector 61">
              <a:extLst>
                <a:ext uri="{FF2B5EF4-FFF2-40B4-BE49-F238E27FC236}">
                  <a16:creationId xmlns:a16="http://schemas.microsoft.com/office/drawing/2014/main" id="{7EE21162-ADA5-30C8-9BDE-B29E040527C2}"/>
                </a:ext>
              </a:extLst>
            </p:cNvPr>
            <p:cNvCxnSpPr>
              <a:cxnSpLocks/>
            </p:cNvCxnSpPr>
            <p:nvPr/>
          </p:nvCxnSpPr>
          <p:spPr>
            <a:xfrm>
              <a:off x="4090933" y="3214688"/>
              <a:ext cx="0" cy="82696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3" name="Rectangle 72">
            <a:extLst>
              <a:ext uri="{FF2B5EF4-FFF2-40B4-BE49-F238E27FC236}">
                <a16:creationId xmlns:a16="http://schemas.microsoft.com/office/drawing/2014/main" id="{554DC8CB-F132-8D4C-C88F-B1CA95EC4C41}"/>
              </a:ext>
            </a:extLst>
          </p:cNvPr>
          <p:cNvSpPr>
            <a:spLocks noChangeArrowheads="1"/>
          </p:cNvSpPr>
          <p:nvPr/>
        </p:nvSpPr>
        <p:spPr bwMode="auto">
          <a:xfrm>
            <a:off x="6523958" y="2799788"/>
            <a:ext cx="203582" cy="22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400" b="1" i="1">
                <a:solidFill>
                  <a:srgbClr val="000000"/>
                </a:solidFill>
                <a:latin typeface="Cambria Math" panose="02040503050406030204" pitchFamily="18" charset="0"/>
                <a:ea typeface="Cambria Math" panose="02040503050406030204" pitchFamily="18" charset="0"/>
              </a:rPr>
              <a:t>V</a:t>
            </a:r>
            <a:r>
              <a:rPr lang="en-US" altLang="en-BE" sz="1400" b="1" i="1" baseline="-25000">
                <a:solidFill>
                  <a:srgbClr val="000000"/>
                </a:solidFill>
                <a:latin typeface="Cambria Math" panose="02040503050406030204" pitchFamily="18" charset="0"/>
                <a:ea typeface="Cambria Math" panose="02040503050406030204" pitchFamily="18" charset="0"/>
              </a:rPr>
              <a:t>in</a:t>
            </a:r>
            <a:endParaRPr lang="en-BE" altLang="en-BE" sz="1400" b="1" i="1">
              <a:latin typeface="Cambria Math" panose="02040503050406030204" pitchFamily="18" charset="0"/>
              <a:ea typeface="Cambria Math" panose="02040503050406030204" pitchFamily="18" charset="0"/>
            </a:endParaRPr>
          </a:p>
        </p:txBody>
      </p:sp>
      <p:sp>
        <p:nvSpPr>
          <p:cNvPr id="74" name="Rectangle 73">
            <a:extLst>
              <a:ext uri="{FF2B5EF4-FFF2-40B4-BE49-F238E27FC236}">
                <a16:creationId xmlns:a16="http://schemas.microsoft.com/office/drawing/2014/main" id="{901D1245-62ED-7128-A119-34BA74086549}"/>
              </a:ext>
            </a:extLst>
          </p:cNvPr>
          <p:cNvSpPr>
            <a:spLocks noChangeArrowheads="1"/>
          </p:cNvSpPr>
          <p:nvPr/>
        </p:nvSpPr>
        <p:spPr bwMode="auto">
          <a:xfrm>
            <a:off x="11548144" y="3775185"/>
            <a:ext cx="662940" cy="22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400" b="1" i="1" err="1">
                <a:solidFill>
                  <a:srgbClr val="000000"/>
                </a:solidFill>
                <a:latin typeface="Cambria Math" panose="02040503050406030204" pitchFamily="18" charset="0"/>
                <a:ea typeface="Cambria Math" panose="02040503050406030204" pitchFamily="18" charset="0"/>
              </a:rPr>
              <a:t>C</a:t>
            </a:r>
            <a:r>
              <a:rPr lang="en-US" altLang="en-BE" sz="1400" b="1" i="1" baseline="-25000" err="1">
                <a:solidFill>
                  <a:srgbClr val="000000"/>
                </a:solidFill>
                <a:latin typeface="Cambria Math" panose="02040503050406030204" pitchFamily="18" charset="0"/>
                <a:ea typeface="Cambria Math" panose="02040503050406030204" pitchFamily="18" charset="0"/>
              </a:rPr>
              <a:t>l</a:t>
            </a:r>
            <a:r>
              <a:rPr lang="en-US" altLang="en-BE" sz="1400" b="1" i="1" err="1">
                <a:solidFill>
                  <a:srgbClr val="000000"/>
                </a:solidFill>
                <a:latin typeface="Cambria Math" panose="02040503050406030204" pitchFamily="18" charset="0"/>
                <a:ea typeface="Cambria Math" panose="02040503050406030204" pitchFamily="18" charset="0"/>
              </a:rPr>
              <a:t>+C</a:t>
            </a:r>
            <a:r>
              <a:rPr lang="en-US" altLang="en-BE" sz="1400" b="1" i="1" baseline="-25000" err="1">
                <a:solidFill>
                  <a:srgbClr val="000000"/>
                </a:solidFill>
                <a:latin typeface="Cambria Math" panose="02040503050406030204" pitchFamily="18" charset="0"/>
                <a:ea typeface="Cambria Math" panose="02040503050406030204" pitchFamily="18" charset="0"/>
              </a:rPr>
              <a:t>gate</a:t>
            </a:r>
            <a:endParaRPr lang="en-BE" altLang="en-BE" sz="1400" b="1" i="1">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74D30566-D8A1-4918-28A1-C8E847E1175A}"/>
                  </a:ext>
                </a:extLst>
              </p:cNvPr>
              <p:cNvSpPr txBox="1"/>
              <p:nvPr/>
            </p:nvSpPr>
            <p:spPr>
              <a:xfrm>
                <a:off x="10220195" y="3215059"/>
                <a:ext cx="481606" cy="5953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BE"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𝑔</m:t>
                          </m:r>
                          <m:r>
                            <a:rPr lang="en-US" i="1" baseline="-25000">
                              <a:latin typeface="Cambria Math" panose="02040503050406030204" pitchFamily="18" charset="0"/>
                              <a:ea typeface="Cambria Math" panose="02040503050406030204" pitchFamily="18" charset="0"/>
                            </a:rPr>
                            <m:t>𝑚</m:t>
                          </m:r>
                          <m:r>
                            <a:rPr lang="en-US" i="1" baseline="-25000">
                              <a:latin typeface="Cambria Math" panose="02040503050406030204" pitchFamily="18" charset="0"/>
                              <a:ea typeface="Cambria Math" panose="02040503050406030204" pitchFamily="18" charset="0"/>
                            </a:rPr>
                            <m:t>,</m:t>
                          </m:r>
                          <m:r>
                            <a:rPr lang="en-US" b="0" i="1" baseline="-25000" smtClean="0">
                              <a:latin typeface="Cambria Math" panose="02040503050406030204" pitchFamily="18" charset="0"/>
                              <a:ea typeface="Cambria Math" panose="02040503050406030204" pitchFamily="18" charset="0"/>
                            </a:rPr>
                            <m:t>𝐿</m:t>
                          </m:r>
                        </m:den>
                      </m:f>
                    </m:oMath>
                  </m:oMathPara>
                </a14:m>
                <a:endParaRPr lang="en-BE">
                  <a:latin typeface="Cambria Math" panose="02040503050406030204" pitchFamily="18" charset="0"/>
                  <a:ea typeface="Cambria Math" panose="02040503050406030204" pitchFamily="18" charset="0"/>
                </a:endParaRPr>
              </a:p>
            </p:txBody>
          </p:sp>
        </mc:Choice>
        <mc:Fallback xmlns="">
          <p:sp>
            <p:nvSpPr>
              <p:cNvPr id="75" name="TextBox 74">
                <a:extLst>
                  <a:ext uri="{FF2B5EF4-FFF2-40B4-BE49-F238E27FC236}">
                    <a16:creationId xmlns:a16="http://schemas.microsoft.com/office/drawing/2014/main" id="{74D30566-D8A1-4918-28A1-C8E847E1175A}"/>
                  </a:ext>
                </a:extLst>
              </p:cNvPr>
              <p:cNvSpPr txBox="1">
                <a:spLocks noRot="1" noChangeAspect="1" noMove="1" noResize="1" noEditPoints="1" noAdjustHandles="1" noChangeArrowheads="1" noChangeShapeType="1" noTextEdit="1"/>
              </p:cNvSpPr>
              <p:nvPr/>
            </p:nvSpPr>
            <p:spPr>
              <a:xfrm>
                <a:off x="10220195" y="3215059"/>
                <a:ext cx="481606" cy="595358"/>
              </a:xfrm>
              <a:prstGeom prst="rect">
                <a:avLst/>
              </a:prstGeom>
              <a:blipFill>
                <a:blip r:embed="rId2"/>
                <a:stretch>
                  <a:fillRect b="-6122"/>
                </a:stretch>
              </a:blipFill>
            </p:spPr>
            <p:txBody>
              <a:bodyPr/>
              <a:lstStyle/>
              <a:p>
                <a:r>
                  <a:rPr lang="en-US">
                    <a:noFill/>
                  </a:rPr>
                  <a:t> </a:t>
                </a:r>
              </a:p>
            </p:txBody>
          </p:sp>
        </mc:Fallback>
      </mc:AlternateContent>
      <p:grpSp>
        <p:nvGrpSpPr>
          <p:cNvPr id="76" name="Group 75">
            <a:extLst>
              <a:ext uri="{FF2B5EF4-FFF2-40B4-BE49-F238E27FC236}">
                <a16:creationId xmlns:a16="http://schemas.microsoft.com/office/drawing/2014/main" id="{441B1B33-B50E-A2AD-D7B8-7F57CC4172E2}"/>
              </a:ext>
            </a:extLst>
          </p:cNvPr>
          <p:cNvGrpSpPr/>
          <p:nvPr/>
        </p:nvGrpSpPr>
        <p:grpSpPr>
          <a:xfrm>
            <a:off x="11119056" y="2931362"/>
            <a:ext cx="360934" cy="1769407"/>
            <a:chOff x="5003972" y="2474976"/>
            <a:chExt cx="360934" cy="1691078"/>
          </a:xfrm>
        </p:grpSpPr>
        <p:grpSp>
          <p:nvGrpSpPr>
            <p:cNvPr id="77" name="Group 76">
              <a:extLst>
                <a:ext uri="{FF2B5EF4-FFF2-40B4-BE49-F238E27FC236}">
                  <a16:creationId xmlns:a16="http://schemas.microsoft.com/office/drawing/2014/main" id="{1EB1EFC4-C4AD-EDBF-F3C7-46660C8FE1F8}"/>
                </a:ext>
              </a:extLst>
            </p:cNvPr>
            <p:cNvGrpSpPr/>
            <p:nvPr/>
          </p:nvGrpSpPr>
          <p:grpSpPr>
            <a:xfrm>
              <a:off x="5011377" y="3334431"/>
              <a:ext cx="349679" cy="281019"/>
              <a:chOff x="3607682" y="2217488"/>
              <a:chExt cx="288000" cy="233045"/>
            </a:xfrm>
          </p:grpSpPr>
          <p:cxnSp>
            <p:nvCxnSpPr>
              <p:cNvPr id="85" name="Straight Connector 84">
                <a:extLst>
                  <a:ext uri="{FF2B5EF4-FFF2-40B4-BE49-F238E27FC236}">
                    <a16:creationId xmlns:a16="http://schemas.microsoft.com/office/drawing/2014/main" id="{1EBEFA9E-99FB-9456-52E4-E67859D155C6}"/>
                  </a:ext>
                </a:extLst>
              </p:cNvPr>
              <p:cNvCxnSpPr>
                <a:cxnSpLocks/>
              </p:cNvCxnSpPr>
              <p:nvPr/>
            </p:nvCxnSpPr>
            <p:spPr>
              <a:xfrm>
                <a:off x="3607682" y="2217488"/>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A0D22825-0B1B-E949-984F-C4E542026D69}"/>
                  </a:ext>
                </a:extLst>
              </p:cNvPr>
              <p:cNvGrpSpPr/>
              <p:nvPr/>
            </p:nvGrpSpPr>
            <p:grpSpPr>
              <a:xfrm>
                <a:off x="3625843" y="2313373"/>
                <a:ext cx="259080" cy="137160"/>
                <a:chOff x="4084320" y="1447800"/>
                <a:chExt cx="406400" cy="147320"/>
              </a:xfrm>
            </p:grpSpPr>
            <p:sp>
              <p:nvSpPr>
                <p:cNvPr id="87" name="Arc 86">
                  <a:extLst>
                    <a:ext uri="{FF2B5EF4-FFF2-40B4-BE49-F238E27FC236}">
                      <a16:creationId xmlns:a16="http://schemas.microsoft.com/office/drawing/2014/main" id="{42E91BFB-F93F-7A07-EAA9-8058A514A1D7}"/>
                    </a:ext>
                  </a:extLst>
                </p:cNvPr>
                <p:cNvSpPr/>
                <p:nvPr/>
              </p:nvSpPr>
              <p:spPr>
                <a:xfrm flipH="1">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88" name="Arc 87">
                  <a:extLst>
                    <a:ext uri="{FF2B5EF4-FFF2-40B4-BE49-F238E27FC236}">
                      <a16:creationId xmlns:a16="http://schemas.microsoft.com/office/drawing/2014/main" id="{BAABBC47-6F80-3692-EA30-4B64C38B505E}"/>
                    </a:ext>
                  </a:extLst>
                </p:cNvPr>
                <p:cNvSpPr/>
                <p:nvPr/>
              </p:nvSpPr>
              <p:spPr>
                <a:xfrm>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grpSp>
        </p:grpSp>
        <p:cxnSp>
          <p:nvCxnSpPr>
            <p:cNvPr id="78" name="Straight Arrow Connector 77">
              <a:extLst>
                <a:ext uri="{FF2B5EF4-FFF2-40B4-BE49-F238E27FC236}">
                  <a16:creationId xmlns:a16="http://schemas.microsoft.com/office/drawing/2014/main" id="{84AC7832-E6D1-22A7-DCE0-BF85EC432BC9}"/>
                </a:ext>
              </a:extLst>
            </p:cNvPr>
            <p:cNvCxnSpPr>
              <a:cxnSpLocks/>
              <a:stCxn id="88" idx="0"/>
            </p:cNvCxnSpPr>
            <p:nvPr/>
          </p:nvCxnSpPr>
          <p:spPr>
            <a:xfrm>
              <a:off x="5190709" y="3450055"/>
              <a:ext cx="0" cy="53473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7AE58450-8D6C-E5AC-99BF-7E447B87BDEE}"/>
                </a:ext>
              </a:extLst>
            </p:cNvPr>
            <p:cNvGrpSpPr/>
            <p:nvPr/>
          </p:nvGrpSpPr>
          <p:grpSpPr>
            <a:xfrm>
              <a:off x="5003972" y="3977687"/>
              <a:ext cx="360934" cy="188367"/>
              <a:chOff x="6944360" y="1555445"/>
              <a:chExt cx="297270" cy="156210"/>
            </a:xfrm>
          </p:grpSpPr>
          <p:cxnSp>
            <p:nvCxnSpPr>
              <p:cNvPr id="81" name="Straight Arrow Connector 80">
                <a:extLst>
                  <a:ext uri="{FF2B5EF4-FFF2-40B4-BE49-F238E27FC236}">
                    <a16:creationId xmlns:a16="http://schemas.microsoft.com/office/drawing/2014/main" id="{720DC5FC-54DF-3722-CE4E-59F6B3910F40}"/>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DA115FB-83FF-F8CA-EEAF-7DF9C705858B}"/>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00A9DB05-EE0F-5BC5-7C89-DD384DE99C0E}"/>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18C94BC-1551-F08D-AB62-9FCC1EA9F909}"/>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a:extLst>
                <a:ext uri="{FF2B5EF4-FFF2-40B4-BE49-F238E27FC236}">
                  <a16:creationId xmlns:a16="http://schemas.microsoft.com/office/drawing/2014/main" id="{45F320FD-9BE3-26BD-784E-5C3297557160}"/>
                </a:ext>
              </a:extLst>
            </p:cNvPr>
            <p:cNvCxnSpPr>
              <a:cxnSpLocks/>
            </p:cNvCxnSpPr>
            <p:nvPr/>
          </p:nvCxnSpPr>
          <p:spPr>
            <a:xfrm>
              <a:off x="5174666" y="2474976"/>
              <a:ext cx="0" cy="853731"/>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FF7D22A4-DF75-AF44-AC94-310BE17953E3}"/>
              </a:ext>
            </a:extLst>
          </p:cNvPr>
          <p:cNvGrpSpPr/>
          <p:nvPr/>
        </p:nvGrpSpPr>
        <p:grpSpPr>
          <a:xfrm>
            <a:off x="6800249" y="2912088"/>
            <a:ext cx="749345" cy="1793464"/>
            <a:chOff x="560643" y="1388107"/>
            <a:chExt cx="749345" cy="1793464"/>
          </a:xfrm>
        </p:grpSpPr>
        <p:sp>
          <p:nvSpPr>
            <p:cNvPr id="90" name="Freeform 36">
              <a:extLst>
                <a:ext uri="{FF2B5EF4-FFF2-40B4-BE49-F238E27FC236}">
                  <a16:creationId xmlns:a16="http://schemas.microsoft.com/office/drawing/2014/main" id="{027F32AC-6AC1-B7D8-1825-F97B80B25664}"/>
                </a:ext>
              </a:extLst>
            </p:cNvPr>
            <p:cNvSpPr>
              <a:spLocks noEditPoints="1"/>
            </p:cNvSpPr>
            <p:nvPr/>
          </p:nvSpPr>
          <p:spPr bwMode="auto">
            <a:xfrm>
              <a:off x="560643" y="1388107"/>
              <a:ext cx="72000" cy="7533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bg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grpSp>
          <p:nvGrpSpPr>
            <p:cNvPr id="91" name="Group 90">
              <a:extLst>
                <a:ext uri="{FF2B5EF4-FFF2-40B4-BE49-F238E27FC236}">
                  <a16:creationId xmlns:a16="http://schemas.microsoft.com/office/drawing/2014/main" id="{AB773BC0-88C3-8F8F-55A5-37762C46E336}"/>
                </a:ext>
              </a:extLst>
            </p:cNvPr>
            <p:cNvGrpSpPr/>
            <p:nvPr/>
          </p:nvGrpSpPr>
          <p:grpSpPr>
            <a:xfrm>
              <a:off x="956459" y="2311428"/>
              <a:ext cx="349679" cy="294035"/>
              <a:chOff x="3607682" y="2217488"/>
              <a:chExt cx="288000" cy="233045"/>
            </a:xfrm>
          </p:grpSpPr>
          <p:cxnSp>
            <p:nvCxnSpPr>
              <p:cNvPr id="101" name="Straight Connector 100">
                <a:extLst>
                  <a:ext uri="{FF2B5EF4-FFF2-40B4-BE49-F238E27FC236}">
                    <a16:creationId xmlns:a16="http://schemas.microsoft.com/office/drawing/2014/main" id="{1C892A3D-E1EB-B420-5904-753B2B66C6A1}"/>
                  </a:ext>
                </a:extLst>
              </p:cNvPr>
              <p:cNvCxnSpPr>
                <a:cxnSpLocks/>
              </p:cNvCxnSpPr>
              <p:nvPr/>
            </p:nvCxnSpPr>
            <p:spPr>
              <a:xfrm>
                <a:off x="3607682" y="2217488"/>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955CAC4F-67FF-750E-1E6D-4EBAFA098E04}"/>
                  </a:ext>
                </a:extLst>
              </p:cNvPr>
              <p:cNvGrpSpPr/>
              <p:nvPr/>
            </p:nvGrpSpPr>
            <p:grpSpPr>
              <a:xfrm>
                <a:off x="3625843" y="2313373"/>
                <a:ext cx="259080" cy="137160"/>
                <a:chOff x="4084320" y="1447800"/>
                <a:chExt cx="406400" cy="147320"/>
              </a:xfrm>
            </p:grpSpPr>
            <p:sp>
              <p:nvSpPr>
                <p:cNvPr id="103" name="Arc 102">
                  <a:extLst>
                    <a:ext uri="{FF2B5EF4-FFF2-40B4-BE49-F238E27FC236}">
                      <a16:creationId xmlns:a16="http://schemas.microsoft.com/office/drawing/2014/main" id="{5F1A90F5-638A-C691-4D28-5554916AF7FC}"/>
                    </a:ext>
                  </a:extLst>
                </p:cNvPr>
                <p:cNvSpPr/>
                <p:nvPr/>
              </p:nvSpPr>
              <p:spPr>
                <a:xfrm flipH="1">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04" name="Arc 103">
                  <a:extLst>
                    <a:ext uri="{FF2B5EF4-FFF2-40B4-BE49-F238E27FC236}">
                      <a16:creationId xmlns:a16="http://schemas.microsoft.com/office/drawing/2014/main" id="{C633A480-245F-67E3-4EE7-4F25B1215ED8}"/>
                    </a:ext>
                  </a:extLst>
                </p:cNvPr>
                <p:cNvSpPr/>
                <p:nvPr/>
              </p:nvSpPr>
              <p:spPr>
                <a:xfrm>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grpSp>
        </p:grpSp>
        <p:cxnSp>
          <p:nvCxnSpPr>
            <p:cNvPr id="92" name="Straight Arrow Connector 91">
              <a:extLst>
                <a:ext uri="{FF2B5EF4-FFF2-40B4-BE49-F238E27FC236}">
                  <a16:creationId xmlns:a16="http://schemas.microsoft.com/office/drawing/2014/main" id="{217A65A1-FF79-8C74-782A-419A99C1DA67}"/>
                </a:ext>
              </a:extLst>
            </p:cNvPr>
            <p:cNvCxnSpPr>
              <a:cxnSpLocks/>
              <a:stCxn id="104" idx="0"/>
            </p:cNvCxnSpPr>
            <p:nvPr/>
          </p:nvCxnSpPr>
          <p:spPr>
            <a:xfrm>
              <a:off x="1135791" y="2432408"/>
              <a:ext cx="0" cy="559502"/>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3" name="Group 92">
              <a:extLst>
                <a:ext uri="{FF2B5EF4-FFF2-40B4-BE49-F238E27FC236}">
                  <a16:creationId xmlns:a16="http://schemas.microsoft.com/office/drawing/2014/main" id="{FE702E7D-E56F-B7D9-01DA-FB8F83E7B49B}"/>
                </a:ext>
              </a:extLst>
            </p:cNvPr>
            <p:cNvGrpSpPr/>
            <p:nvPr/>
          </p:nvGrpSpPr>
          <p:grpSpPr>
            <a:xfrm>
              <a:off x="949054" y="2984479"/>
              <a:ext cx="360934" cy="197092"/>
              <a:chOff x="6944360" y="1555445"/>
              <a:chExt cx="297270" cy="156210"/>
            </a:xfrm>
          </p:grpSpPr>
          <p:cxnSp>
            <p:nvCxnSpPr>
              <p:cNvPr id="97" name="Straight Arrow Connector 96">
                <a:extLst>
                  <a:ext uri="{FF2B5EF4-FFF2-40B4-BE49-F238E27FC236}">
                    <a16:creationId xmlns:a16="http://schemas.microsoft.com/office/drawing/2014/main" id="{F1818F0F-8A6C-85DA-4060-089C019BAEB4}"/>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D3FEE4C6-9958-1BD5-6653-B02EAF07E5B4}"/>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762E879-62EE-FE0C-4049-DE84B23FFA79}"/>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49A43E0-BA6E-DA6C-99A3-263B1DB13DBE}"/>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94" name="Straight Arrow Connector 93">
              <a:extLst>
                <a:ext uri="{FF2B5EF4-FFF2-40B4-BE49-F238E27FC236}">
                  <a16:creationId xmlns:a16="http://schemas.microsoft.com/office/drawing/2014/main" id="{B5D9F9B4-337E-7A2E-A301-F62BCA0E6839}"/>
                </a:ext>
              </a:extLst>
            </p:cNvPr>
            <p:cNvCxnSpPr>
              <a:cxnSpLocks/>
            </p:cNvCxnSpPr>
            <p:nvPr/>
          </p:nvCxnSpPr>
          <p:spPr>
            <a:xfrm>
              <a:off x="1119748" y="1412164"/>
              <a:ext cx="0" cy="89327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22390A70-A1AE-C89C-50FC-53248EAD0E5C}"/>
                </a:ext>
              </a:extLst>
            </p:cNvPr>
            <p:cNvCxnSpPr>
              <a:cxnSpLocks/>
            </p:cNvCxnSpPr>
            <p:nvPr/>
          </p:nvCxnSpPr>
          <p:spPr>
            <a:xfrm>
              <a:off x="639219" y="1415127"/>
              <a:ext cx="497369"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EE5CB7DC-232A-FB06-D1AE-AFC3C9D03B7C}"/>
                </a:ext>
              </a:extLst>
            </p:cNvPr>
            <p:cNvSpPr>
              <a:spLocks noChangeArrowheads="1"/>
            </p:cNvSpPr>
            <p:nvPr/>
          </p:nvSpPr>
          <p:spPr bwMode="auto">
            <a:xfrm>
              <a:off x="599312" y="2244964"/>
              <a:ext cx="230832" cy="2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600" i="1" err="1">
                  <a:solidFill>
                    <a:srgbClr val="000000"/>
                  </a:solidFill>
                  <a:latin typeface="Cambria Math" panose="02040503050406030204" pitchFamily="18" charset="0"/>
                  <a:ea typeface="Cambria Math" panose="02040503050406030204" pitchFamily="18" charset="0"/>
                </a:rPr>
                <a:t>C</a:t>
              </a:r>
              <a:r>
                <a:rPr lang="en-US" altLang="en-BE" sz="1600" i="1" baseline="-25000" err="1">
                  <a:solidFill>
                    <a:srgbClr val="000000"/>
                  </a:solidFill>
                  <a:latin typeface="Cambria Math" panose="02040503050406030204" pitchFamily="18" charset="0"/>
                  <a:ea typeface="Cambria Math" panose="02040503050406030204" pitchFamily="18" charset="0"/>
                </a:rPr>
                <a:t>in</a:t>
              </a:r>
              <a:endParaRPr lang="en-BE" altLang="en-BE" sz="1600" i="1">
                <a:latin typeface="Cambria Math" panose="02040503050406030204" pitchFamily="18" charset="0"/>
                <a:ea typeface="Cambria Math" panose="02040503050406030204" pitchFamily="18" charset="0"/>
              </a:endParaRPr>
            </a:p>
          </p:txBody>
        </p:sp>
      </p:grpSp>
      <p:sp>
        <p:nvSpPr>
          <p:cNvPr id="105" name="Rectangle 104">
            <a:extLst>
              <a:ext uri="{FF2B5EF4-FFF2-40B4-BE49-F238E27FC236}">
                <a16:creationId xmlns:a16="http://schemas.microsoft.com/office/drawing/2014/main" id="{09B95430-9910-648D-B3C7-D8E5733A79AD}"/>
              </a:ext>
            </a:extLst>
          </p:cNvPr>
          <p:cNvSpPr>
            <a:spLocks noChangeArrowheads="1"/>
          </p:cNvSpPr>
          <p:nvPr/>
        </p:nvSpPr>
        <p:spPr bwMode="auto">
          <a:xfrm>
            <a:off x="11723338" y="2953932"/>
            <a:ext cx="260264" cy="22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400" b="1" i="1">
                <a:solidFill>
                  <a:srgbClr val="000000"/>
                </a:solidFill>
                <a:latin typeface="Cambria Math" panose="02040503050406030204" pitchFamily="18" charset="0"/>
                <a:ea typeface="Cambria Math" panose="02040503050406030204" pitchFamily="18" charset="0"/>
              </a:rPr>
              <a:t>V</a:t>
            </a:r>
            <a:r>
              <a:rPr lang="en-US" altLang="en-BE" sz="1400" b="1" i="1" baseline="-25000">
                <a:solidFill>
                  <a:srgbClr val="000000"/>
                </a:solidFill>
                <a:latin typeface="Cambria Math" panose="02040503050406030204" pitchFamily="18" charset="0"/>
                <a:ea typeface="Cambria Math" panose="02040503050406030204" pitchFamily="18" charset="0"/>
              </a:rPr>
              <a:t>out</a:t>
            </a:r>
            <a:endParaRPr lang="en-BE" altLang="en-BE" sz="1400" b="1" i="1">
              <a:latin typeface="Cambria Math" panose="02040503050406030204" pitchFamily="18" charset="0"/>
              <a:ea typeface="Cambria Math" panose="02040503050406030204" pitchFamily="18" charset="0"/>
            </a:endParaRPr>
          </a:p>
        </p:txBody>
      </p:sp>
      <p:sp>
        <p:nvSpPr>
          <p:cNvPr id="106" name="Freeform 36">
            <a:extLst>
              <a:ext uri="{FF2B5EF4-FFF2-40B4-BE49-F238E27FC236}">
                <a16:creationId xmlns:a16="http://schemas.microsoft.com/office/drawing/2014/main" id="{B9941D5C-665C-D4CD-9108-2783971C5A51}"/>
              </a:ext>
            </a:extLst>
          </p:cNvPr>
          <p:cNvSpPr>
            <a:spLocks noEditPoints="1"/>
          </p:cNvSpPr>
          <p:nvPr/>
        </p:nvSpPr>
        <p:spPr bwMode="auto">
          <a:xfrm>
            <a:off x="11939939" y="2896142"/>
            <a:ext cx="72000" cy="7533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bg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107" name="Freeform 36">
            <a:extLst>
              <a:ext uri="{FF2B5EF4-FFF2-40B4-BE49-F238E27FC236}">
                <a16:creationId xmlns:a16="http://schemas.microsoft.com/office/drawing/2014/main" id="{B20263FD-3295-71B2-64BD-366F3FF83C3C}"/>
              </a:ext>
            </a:extLst>
          </p:cNvPr>
          <p:cNvSpPr>
            <a:spLocks noEditPoints="1"/>
          </p:cNvSpPr>
          <p:nvPr/>
        </p:nvSpPr>
        <p:spPr bwMode="auto">
          <a:xfrm rot="10800000">
            <a:off x="7308788" y="2904823"/>
            <a:ext cx="108000" cy="108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tx1"/>
          </a:solidFill>
          <a:ln w="0">
            <a:solidFill>
              <a:schemeClr val="tx1"/>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grpSp>
        <p:nvGrpSpPr>
          <p:cNvPr id="108" name="Group 107">
            <a:extLst>
              <a:ext uri="{FF2B5EF4-FFF2-40B4-BE49-F238E27FC236}">
                <a16:creationId xmlns:a16="http://schemas.microsoft.com/office/drawing/2014/main" id="{AF2186A2-2C1D-37D8-832F-73477883D683}"/>
              </a:ext>
            </a:extLst>
          </p:cNvPr>
          <p:cNvGrpSpPr/>
          <p:nvPr/>
        </p:nvGrpSpPr>
        <p:grpSpPr>
          <a:xfrm>
            <a:off x="7170363" y="1242219"/>
            <a:ext cx="368769" cy="1708447"/>
            <a:chOff x="1083157" y="1340209"/>
            <a:chExt cx="368769" cy="1708447"/>
          </a:xfrm>
        </p:grpSpPr>
        <p:grpSp>
          <p:nvGrpSpPr>
            <p:cNvPr id="109" name="Group 108">
              <a:extLst>
                <a:ext uri="{FF2B5EF4-FFF2-40B4-BE49-F238E27FC236}">
                  <a16:creationId xmlns:a16="http://schemas.microsoft.com/office/drawing/2014/main" id="{3260CA2B-8CE0-E10F-9528-F978D16C6CFE}"/>
                </a:ext>
              </a:extLst>
            </p:cNvPr>
            <p:cNvGrpSpPr/>
            <p:nvPr/>
          </p:nvGrpSpPr>
          <p:grpSpPr>
            <a:xfrm>
              <a:off x="1102247" y="2043317"/>
              <a:ext cx="349679" cy="294035"/>
              <a:chOff x="3607682" y="2217488"/>
              <a:chExt cx="288000" cy="233045"/>
            </a:xfrm>
          </p:grpSpPr>
          <p:cxnSp>
            <p:nvCxnSpPr>
              <p:cNvPr id="117" name="Straight Connector 116">
                <a:extLst>
                  <a:ext uri="{FF2B5EF4-FFF2-40B4-BE49-F238E27FC236}">
                    <a16:creationId xmlns:a16="http://schemas.microsoft.com/office/drawing/2014/main" id="{B99195D7-D44B-D6DA-0532-3F4D086DBCFA}"/>
                  </a:ext>
                </a:extLst>
              </p:cNvPr>
              <p:cNvCxnSpPr>
                <a:cxnSpLocks/>
              </p:cNvCxnSpPr>
              <p:nvPr/>
            </p:nvCxnSpPr>
            <p:spPr>
              <a:xfrm>
                <a:off x="3607682" y="2217488"/>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2EC3093C-3617-9374-CBA3-23D25AD20F26}"/>
                  </a:ext>
                </a:extLst>
              </p:cNvPr>
              <p:cNvGrpSpPr/>
              <p:nvPr/>
            </p:nvGrpSpPr>
            <p:grpSpPr>
              <a:xfrm>
                <a:off x="3625843" y="2313373"/>
                <a:ext cx="259080" cy="137160"/>
                <a:chOff x="4084320" y="1447800"/>
                <a:chExt cx="406400" cy="147320"/>
              </a:xfrm>
            </p:grpSpPr>
            <p:sp>
              <p:nvSpPr>
                <p:cNvPr id="119" name="Arc 118">
                  <a:extLst>
                    <a:ext uri="{FF2B5EF4-FFF2-40B4-BE49-F238E27FC236}">
                      <a16:creationId xmlns:a16="http://schemas.microsoft.com/office/drawing/2014/main" id="{8F00294D-274A-9744-5D84-63B854DCE240}"/>
                    </a:ext>
                  </a:extLst>
                </p:cNvPr>
                <p:cNvSpPr/>
                <p:nvPr/>
              </p:nvSpPr>
              <p:spPr>
                <a:xfrm flipH="1">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20" name="Arc 119">
                  <a:extLst>
                    <a:ext uri="{FF2B5EF4-FFF2-40B4-BE49-F238E27FC236}">
                      <a16:creationId xmlns:a16="http://schemas.microsoft.com/office/drawing/2014/main" id="{BAE4F559-7A45-DBA8-9C1B-14871A029AF9}"/>
                    </a:ext>
                  </a:extLst>
                </p:cNvPr>
                <p:cNvSpPr/>
                <p:nvPr/>
              </p:nvSpPr>
              <p:spPr>
                <a:xfrm>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grpSp>
        </p:grpSp>
        <p:cxnSp>
          <p:nvCxnSpPr>
            <p:cNvPr id="110" name="Straight Arrow Connector 109">
              <a:extLst>
                <a:ext uri="{FF2B5EF4-FFF2-40B4-BE49-F238E27FC236}">
                  <a16:creationId xmlns:a16="http://schemas.microsoft.com/office/drawing/2014/main" id="{F387D139-4DCC-7D05-C19F-B626823D1A96}"/>
                </a:ext>
              </a:extLst>
            </p:cNvPr>
            <p:cNvCxnSpPr>
              <a:cxnSpLocks/>
            </p:cNvCxnSpPr>
            <p:nvPr/>
          </p:nvCxnSpPr>
          <p:spPr>
            <a:xfrm flipH="1" flipV="1">
              <a:off x="1257354" y="1534950"/>
              <a:ext cx="8985" cy="507426"/>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1" name="Group 110">
              <a:extLst>
                <a:ext uri="{FF2B5EF4-FFF2-40B4-BE49-F238E27FC236}">
                  <a16:creationId xmlns:a16="http://schemas.microsoft.com/office/drawing/2014/main" id="{8C247F76-5AA1-DFE7-DB73-04ACFFA3F92E}"/>
                </a:ext>
              </a:extLst>
            </p:cNvPr>
            <p:cNvGrpSpPr/>
            <p:nvPr/>
          </p:nvGrpSpPr>
          <p:grpSpPr>
            <a:xfrm rot="10800000">
              <a:off x="1083157" y="1340209"/>
              <a:ext cx="360934" cy="197092"/>
              <a:chOff x="6944360" y="1555445"/>
              <a:chExt cx="297270" cy="156210"/>
            </a:xfrm>
          </p:grpSpPr>
          <p:cxnSp>
            <p:nvCxnSpPr>
              <p:cNvPr id="113" name="Straight Arrow Connector 112">
                <a:extLst>
                  <a:ext uri="{FF2B5EF4-FFF2-40B4-BE49-F238E27FC236}">
                    <a16:creationId xmlns:a16="http://schemas.microsoft.com/office/drawing/2014/main" id="{B8170414-2273-B42A-9CD5-46D2061B7090}"/>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2D8040C7-2AFE-9B75-72BD-0B34B3B67000}"/>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2F506117-FC35-4800-9EEA-EB2F4C04114B}"/>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6AA2DE47-E410-75E3-2783-FA257E07ADA5}"/>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2" name="Straight Arrow Connector 111">
              <a:extLst>
                <a:ext uri="{FF2B5EF4-FFF2-40B4-BE49-F238E27FC236}">
                  <a16:creationId xmlns:a16="http://schemas.microsoft.com/office/drawing/2014/main" id="{3D10B251-F5C0-5DA7-6B07-B6567E33D878}"/>
                </a:ext>
              </a:extLst>
            </p:cNvPr>
            <p:cNvCxnSpPr>
              <a:cxnSpLocks/>
            </p:cNvCxnSpPr>
            <p:nvPr/>
          </p:nvCxnSpPr>
          <p:spPr>
            <a:xfrm rot="10800000">
              <a:off x="1273397" y="2155381"/>
              <a:ext cx="0" cy="89327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21" name="Straight Arrow Connector 120">
            <a:extLst>
              <a:ext uri="{FF2B5EF4-FFF2-40B4-BE49-F238E27FC236}">
                <a16:creationId xmlns:a16="http://schemas.microsoft.com/office/drawing/2014/main" id="{63599F9A-88F3-0092-FF8E-6566343B03FB}"/>
              </a:ext>
            </a:extLst>
          </p:cNvPr>
          <p:cNvCxnSpPr>
            <a:cxnSpLocks/>
          </p:cNvCxnSpPr>
          <p:nvPr/>
        </p:nvCxnSpPr>
        <p:spPr>
          <a:xfrm rot="10800000">
            <a:off x="7343763" y="2947703"/>
            <a:ext cx="497369"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AF898FB2-F969-3947-95A3-C6BEF4882455}"/>
              </a:ext>
            </a:extLst>
          </p:cNvPr>
          <p:cNvSpPr>
            <a:spLocks noChangeArrowheads="1"/>
          </p:cNvSpPr>
          <p:nvPr/>
        </p:nvSpPr>
        <p:spPr bwMode="auto">
          <a:xfrm>
            <a:off x="7650207" y="1860240"/>
            <a:ext cx="230832" cy="2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600" i="1" err="1">
                <a:solidFill>
                  <a:srgbClr val="000000"/>
                </a:solidFill>
                <a:latin typeface="Cambria Math" panose="02040503050406030204" pitchFamily="18" charset="0"/>
                <a:ea typeface="Cambria Math" panose="02040503050406030204" pitchFamily="18" charset="0"/>
              </a:rPr>
              <a:t>C</a:t>
            </a:r>
            <a:r>
              <a:rPr lang="en-US" altLang="en-BE" sz="1600" i="1" baseline="-25000" err="1">
                <a:solidFill>
                  <a:srgbClr val="000000"/>
                </a:solidFill>
                <a:latin typeface="Cambria Math" panose="02040503050406030204" pitchFamily="18" charset="0"/>
                <a:ea typeface="Cambria Math" panose="02040503050406030204" pitchFamily="18" charset="0"/>
              </a:rPr>
              <a:t>in</a:t>
            </a:r>
            <a:endParaRPr lang="en-BE" altLang="en-BE" sz="1600" i="1">
              <a:latin typeface="Cambria Math" panose="02040503050406030204" pitchFamily="18" charset="0"/>
              <a:ea typeface="Cambria Math" panose="02040503050406030204" pitchFamily="18" charset="0"/>
            </a:endParaRPr>
          </a:p>
        </p:txBody>
      </p:sp>
      <p:grpSp>
        <p:nvGrpSpPr>
          <p:cNvPr id="123" name="Group 122">
            <a:extLst>
              <a:ext uri="{FF2B5EF4-FFF2-40B4-BE49-F238E27FC236}">
                <a16:creationId xmlns:a16="http://schemas.microsoft.com/office/drawing/2014/main" id="{3A44F789-2DAF-50A0-9F34-B1933A503401}"/>
              </a:ext>
            </a:extLst>
          </p:cNvPr>
          <p:cNvGrpSpPr/>
          <p:nvPr/>
        </p:nvGrpSpPr>
        <p:grpSpPr>
          <a:xfrm rot="16200000">
            <a:off x="7829533" y="2791147"/>
            <a:ext cx="349679" cy="294035"/>
            <a:chOff x="3607682" y="2217488"/>
            <a:chExt cx="288000" cy="233045"/>
          </a:xfrm>
        </p:grpSpPr>
        <p:cxnSp>
          <p:nvCxnSpPr>
            <p:cNvPr id="124" name="Straight Connector 123">
              <a:extLst>
                <a:ext uri="{FF2B5EF4-FFF2-40B4-BE49-F238E27FC236}">
                  <a16:creationId xmlns:a16="http://schemas.microsoft.com/office/drawing/2014/main" id="{FE389652-7552-6BDE-E710-CDBB3840F567}"/>
                </a:ext>
              </a:extLst>
            </p:cNvPr>
            <p:cNvCxnSpPr>
              <a:cxnSpLocks/>
            </p:cNvCxnSpPr>
            <p:nvPr/>
          </p:nvCxnSpPr>
          <p:spPr>
            <a:xfrm>
              <a:off x="3607682" y="2217488"/>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 name="Group 124">
              <a:extLst>
                <a:ext uri="{FF2B5EF4-FFF2-40B4-BE49-F238E27FC236}">
                  <a16:creationId xmlns:a16="http://schemas.microsoft.com/office/drawing/2014/main" id="{EBAF3E85-E2AE-4FF5-AE8E-6195DE81749A}"/>
                </a:ext>
              </a:extLst>
            </p:cNvPr>
            <p:cNvGrpSpPr/>
            <p:nvPr/>
          </p:nvGrpSpPr>
          <p:grpSpPr>
            <a:xfrm>
              <a:off x="3625843" y="2313373"/>
              <a:ext cx="259080" cy="137160"/>
              <a:chOff x="4084320" y="1447800"/>
              <a:chExt cx="406400" cy="147320"/>
            </a:xfrm>
          </p:grpSpPr>
          <p:sp>
            <p:nvSpPr>
              <p:cNvPr id="126" name="Arc 125">
                <a:extLst>
                  <a:ext uri="{FF2B5EF4-FFF2-40B4-BE49-F238E27FC236}">
                    <a16:creationId xmlns:a16="http://schemas.microsoft.com/office/drawing/2014/main" id="{A859073D-B0C9-C371-C346-0A3A798BC4F1}"/>
                  </a:ext>
                </a:extLst>
              </p:cNvPr>
              <p:cNvSpPr/>
              <p:nvPr/>
            </p:nvSpPr>
            <p:spPr>
              <a:xfrm flipH="1">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27" name="Arc 126">
                <a:extLst>
                  <a:ext uri="{FF2B5EF4-FFF2-40B4-BE49-F238E27FC236}">
                    <a16:creationId xmlns:a16="http://schemas.microsoft.com/office/drawing/2014/main" id="{E715D1D8-BCD3-1011-B05E-C92CDD71DD4D}"/>
                  </a:ext>
                </a:extLst>
              </p:cNvPr>
              <p:cNvSpPr/>
              <p:nvPr/>
            </p:nvSpPr>
            <p:spPr>
              <a:xfrm>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grpSp>
      </p:grpSp>
      <p:grpSp>
        <p:nvGrpSpPr>
          <p:cNvPr id="128" name="Group 127">
            <a:extLst>
              <a:ext uri="{FF2B5EF4-FFF2-40B4-BE49-F238E27FC236}">
                <a16:creationId xmlns:a16="http://schemas.microsoft.com/office/drawing/2014/main" id="{9264C121-1955-3C34-C16B-E03097E026A0}"/>
              </a:ext>
            </a:extLst>
          </p:cNvPr>
          <p:cNvGrpSpPr/>
          <p:nvPr/>
        </p:nvGrpSpPr>
        <p:grpSpPr>
          <a:xfrm rot="10800000">
            <a:off x="8416279" y="1143353"/>
            <a:ext cx="386849" cy="1826216"/>
            <a:chOff x="8394593" y="2841543"/>
            <a:chExt cx="386849" cy="1826216"/>
          </a:xfrm>
        </p:grpSpPr>
        <p:grpSp>
          <p:nvGrpSpPr>
            <p:cNvPr id="129" name="Group 128">
              <a:extLst>
                <a:ext uri="{FF2B5EF4-FFF2-40B4-BE49-F238E27FC236}">
                  <a16:creationId xmlns:a16="http://schemas.microsoft.com/office/drawing/2014/main" id="{B26E7A3B-5BA4-6C28-9E04-E1F27F1F9BD9}"/>
                </a:ext>
              </a:extLst>
            </p:cNvPr>
            <p:cNvGrpSpPr/>
            <p:nvPr/>
          </p:nvGrpSpPr>
          <p:grpSpPr>
            <a:xfrm rot="10800000">
              <a:off x="8394593" y="3246517"/>
              <a:ext cx="379955" cy="566108"/>
              <a:chOff x="6923016" y="739140"/>
              <a:chExt cx="176919" cy="294758"/>
            </a:xfrm>
          </p:grpSpPr>
          <p:sp>
            <p:nvSpPr>
              <p:cNvPr id="137" name="Freeform: Shape 123">
                <a:extLst>
                  <a:ext uri="{FF2B5EF4-FFF2-40B4-BE49-F238E27FC236}">
                    <a16:creationId xmlns:a16="http://schemas.microsoft.com/office/drawing/2014/main" id="{FBEE41BF-350A-BC8B-7755-FA9C3C53A284}"/>
                  </a:ext>
                </a:extLst>
              </p:cNvPr>
              <p:cNvSpPr/>
              <p:nvPr/>
            </p:nvSpPr>
            <p:spPr>
              <a:xfrm>
                <a:off x="6923016" y="739140"/>
                <a:ext cx="176919" cy="294758"/>
              </a:xfrm>
              <a:custGeom>
                <a:avLst/>
                <a:gdLst>
                  <a:gd name="connsiteX0" fmla="*/ 153244 w 176919"/>
                  <a:gd name="connsiteY0" fmla="*/ 142912 h 294758"/>
                  <a:gd name="connsiteX1" fmla="*/ 170192 w 176919"/>
                  <a:gd name="connsiteY1" fmla="*/ 169408 h 294758"/>
                  <a:gd name="connsiteX2" fmla="*/ 176919 w 176919"/>
                  <a:gd name="connsiteY2" fmla="*/ 204529 h 294758"/>
                  <a:gd name="connsiteX3" fmla="*/ 91317 w 176919"/>
                  <a:gd name="connsiteY3" fmla="*/ 294758 h 294758"/>
                  <a:gd name="connsiteX4" fmla="*/ 5715 w 176919"/>
                  <a:gd name="connsiteY4" fmla="*/ 204529 h 294758"/>
                  <a:gd name="connsiteX5" fmla="*/ 12442 w 176919"/>
                  <a:gd name="connsiteY5" fmla="*/ 169408 h 294758"/>
                  <a:gd name="connsiteX6" fmla="*/ 23675 w 176919"/>
                  <a:gd name="connsiteY6" fmla="*/ 151846 h 294758"/>
                  <a:gd name="connsiteX7" fmla="*/ 25072 w 176919"/>
                  <a:gd name="connsiteY7" fmla="*/ 154031 h 294758"/>
                  <a:gd name="connsiteX8" fmla="*/ 85602 w 176919"/>
                  <a:gd name="connsiteY8" fmla="*/ 180458 h 294758"/>
                  <a:gd name="connsiteX9" fmla="*/ 146132 w 176919"/>
                  <a:gd name="connsiteY9" fmla="*/ 154031 h 294758"/>
                  <a:gd name="connsiteX10" fmla="*/ 85602 w 176919"/>
                  <a:gd name="connsiteY10" fmla="*/ 0 h 294758"/>
                  <a:gd name="connsiteX11" fmla="*/ 171204 w 176919"/>
                  <a:gd name="connsiteY11" fmla="*/ 90229 h 294758"/>
                  <a:gd name="connsiteX12" fmla="*/ 164477 w 176919"/>
                  <a:gd name="connsiteY12" fmla="*/ 125350 h 294758"/>
                  <a:gd name="connsiteX13" fmla="*/ 153244 w 176919"/>
                  <a:gd name="connsiteY13" fmla="*/ 142912 h 294758"/>
                  <a:gd name="connsiteX14" fmla="*/ 151847 w 176919"/>
                  <a:gd name="connsiteY14" fmla="*/ 140728 h 294758"/>
                  <a:gd name="connsiteX15" fmla="*/ 91317 w 176919"/>
                  <a:gd name="connsiteY15" fmla="*/ 114300 h 294758"/>
                  <a:gd name="connsiteX16" fmla="*/ 30787 w 176919"/>
                  <a:gd name="connsiteY16" fmla="*/ 140728 h 294758"/>
                  <a:gd name="connsiteX17" fmla="*/ 23675 w 176919"/>
                  <a:gd name="connsiteY17" fmla="*/ 151846 h 294758"/>
                  <a:gd name="connsiteX18" fmla="*/ 6727 w 176919"/>
                  <a:gd name="connsiteY18" fmla="*/ 125350 h 294758"/>
                  <a:gd name="connsiteX19" fmla="*/ 0 w 176919"/>
                  <a:gd name="connsiteY19" fmla="*/ 90229 h 294758"/>
                  <a:gd name="connsiteX20" fmla="*/ 85602 w 176919"/>
                  <a:gd name="connsiteY20" fmla="*/ 0 h 29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919" h="294758">
                    <a:moveTo>
                      <a:pt x="153244" y="142912"/>
                    </a:moveTo>
                    <a:lnTo>
                      <a:pt x="170192" y="169408"/>
                    </a:lnTo>
                    <a:cubicBezTo>
                      <a:pt x="174524" y="180203"/>
                      <a:pt x="176919" y="192071"/>
                      <a:pt x="176919" y="204529"/>
                    </a:cubicBezTo>
                    <a:cubicBezTo>
                      <a:pt x="176919" y="254361"/>
                      <a:pt x="138594" y="294758"/>
                      <a:pt x="91317" y="294758"/>
                    </a:cubicBezTo>
                    <a:cubicBezTo>
                      <a:pt x="44040" y="294758"/>
                      <a:pt x="5715" y="254361"/>
                      <a:pt x="5715" y="204529"/>
                    </a:cubicBezTo>
                    <a:cubicBezTo>
                      <a:pt x="5715" y="192071"/>
                      <a:pt x="8111" y="180203"/>
                      <a:pt x="12442" y="169408"/>
                    </a:cubicBezTo>
                    <a:lnTo>
                      <a:pt x="23675" y="151846"/>
                    </a:lnTo>
                    <a:lnTo>
                      <a:pt x="25072" y="154031"/>
                    </a:lnTo>
                    <a:cubicBezTo>
                      <a:pt x="40563" y="170359"/>
                      <a:pt x="61964" y="180458"/>
                      <a:pt x="85602" y="180458"/>
                    </a:cubicBezTo>
                    <a:cubicBezTo>
                      <a:pt x="109241" y="180458"/>
                      <a:pt x="130641" y="170359"/>
                      <a:pt x="146132" y="154031"/>
                    </a:cubicBezTo>
                    <a:close/>
                    <a:moveTo>
                      <a:pt x="85602" y="0"/>
                    </a:moveTo>
                    <a:cubicBezTo>
                      <a:pt x="132879" y="0"/>
                      <a:pt x="171204" y="40397"/>
                      <a:pt x="171204" y="90229"/>
                    </a:cubicBezTo>
                    <a:cubicBezTo>
                      <a:pt x="171204" y="102687"/>
                      <a:pt x="168809" y="114555"/>
                      <a:pt x="164477" y="125350"/>
                    </a:cubicBezTo>
                    <a:lnTo>
                      <a:pt x="153244" y="142912"/>
                    </a:lnTo>
                    <a:lnTo>
                      <a:pt x="151847" y="140728"/>
                    </a:lnTo>
                    <a:cubicBezTo>
                      <a:pt x="136356" y="124399"/>
                      <a:pt x="114956" y="114300"/>
                      <a:pt x="91317" y="114300"/>
                    </a:cubicBezTo>
                    <a:cubicBezTo>
                      <a:pt x="67679" y="114300"/>
                      <a:pt x="46278" y="124399"/>
                      <a:pt x="30787" y="140728"/>
                    </a:cubicBezTo>
                    <a:lnTo>
                      <a:pt x="23675" y="151846"/>
                    </a:lnTo>
                    <a:lnTo>
                      <a:pt x="6727" y="125350"/>
                    </a:lnTo>
                    <a:cubicBezTo>
                      <a:pt x="2395" y="114555"/>
                      <a:pt x="0" y="102687"/>
                      <a:pt x="0" y="90229"/>
                    </a:cubicBezTo>
                    <a:cubicBezTo>
                      <a:pt x="0" y="40397"/>
                      <a:pt x="38325" y="0"/>
                      <a:pt x="85602" y="0"/>
                    </a:cubicBezTo>
                    <a:close/>
                  </a:path>
                </a:pathLst>
              </a:custGeom>
              <a:ln w="19050">
                <a:solidFill>
                  <a:schemeClr val="tx1"/>
                </a:solidFill>
              </a:ln>
            </p:spPr>
            <p:style>
              <a:lnRef idx="2">
                <a:schemeClr val="dk1"/>
              </a:lnRef>
              <a:fillRef idx="1">
                <a:schemeClr val="lt1"/>
              </a:fillRef>
              <a:effectRef idx="0">
                <a:schemeClr val="dk1"/>
              </a:effectRef>
              <a:fontRef idx="minor">
                <a:schemeClr val="dk1"/>
              </a:fontRef>
            </p:style>
            <p:txBody>
              <a:bodyPr wrap="square" rtlCol="0" anchor="t">
                <a:noAutofit/>
              </a:bodyPr>
              <a:lstStyle/>
              <a:p>
                <a:pPr algn="ctr"/>
                <a:endParaRPr lang="en-BE"/>
              </a:p>
            </p:txBody>
          </p:sp>
          <p:cxnSp>
            <p:nvCxnSpPr>
              <p:cNvPr id="138" name="Straight Arrow Connector 137">
                <a:extLst>
                  <a:ext uri="{FF2B5EF4-FFF2-40B4-BE49-F238E27FC236}">
                    <a16:creationId xmlns:a16="http://schemas.microsoft.com/office/drawing/2014/main" id="{989D493E-84E8-2280-FE2D-F380FBA925FA}"/>
                  </a:ext>
                </a:extLst>
              </p:cNvPr>
              <p:cNvCxnSpPr/>
              <p:nvPr/>
            </p:nvCxnSpPr>
            <p:spPr>
              <a:xfrm>
                <a:off x="7010400" y="800100"/>
                <a:ext cx="0" cy="216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30" name="Straight Arrow Connector 129">
              <a:extLst>
                <a:ext uri="{FF2B5EF4-FFF2-40B4-BE49-F238E27FC236}">
                  <a16:creationId xmlns:a16="http://schemas.microsoft.com/office/drawing/2014/main" id="{F53E7659-89BE-B4D9-135D-55B88D1B5939}"/>
                </a:ext>
              </a:extLst>
            </p:cNvPr>
            <p:cNvCxnSpPr>
              <a:cxnSpLocks/>
            </p:cNvCxnSpPr>
            <p:nvPr/>
          </p:nvCxnSpPr>
          <p:spPr>
            <a:xfrm>
              <a:off x="8592438" y="3818351"/>
              <a:ext cx="0" cy="660713"/>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19628A57-7598-4B81-E24C-CB08BD3240C9}"/>
                </a:ext>
              </a:extLst>
            </p:cNvPr>
            <p:cNvCxnSpPr/>
            <p:nvPr/>
          </p:nvCxnSpPr>
          <p:spPr>
            <a:xfrm>
              <a:off x="8570234" y="2841543"/>
              <a:ext cx="0" cy="414846"/>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2" name="Group 131">
              <a:extLst>
                <a:ext uri="{FF2B5EF4-FFF2-40B4-BE49-F238E27FC236}">
                  <a16:creationId xmlns:a16="http://schemas.microsoft.com/office/drawing/2014/main" id="{180B4217-9F37-4D88-1B62-1E9FEE305AAF}"/>
                </a:ext>
              </a:extLst>
            </p:cNvPr>
            <p:cNvGrpSpPr/>
            <p:nvPr/>
          </p:nvGrpSpPr>
          <p:grpSpPr>
            <a:xfrm>
              <a:off x="8420508" y="4470667"/>
              <a:ext cx="360934" cy="197092"/>
              <a:chOff x="6944360" y="1555445"/>
              <a:chExt cx="297270" cy="156210"/>
            </a:xfrm>
          </p:grpSpPr>
          <p:cxnSp>
            <p:nvCxnSpPr>
              <p:cNvPr id="133" name="Straight Arrow Connector 132">
                <a:extLst>
                  <a:ext uri="{FF2B5EF4-FFF2-40B4-BE49-F238E27FC236}">
                    <a16:creationId xmlns:a16="http://schemas.microsoft.com/office/drawing/2014/main" id="{297905E6-AC11-A0E5-0958-65BC449357DE}"/>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93BFC962-572E-3515-69DF-595930E6DA9C}"/>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2EED2BD3-AF2D-AB93-A4AC-D191E69830B4}"/>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9D32A1A1-DEA3-E46C-A519-186CA5E36812}"/>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39" name="Freeform 36">
            <a:extLst>
              <a:ext uri="{FF2B5EF4-FFF2-40B4-BE49-F238E27FC236}">
                <a16:creationId xmlns:a16="http://schemas.microsoft.com/office/drawing/2014/main" id="{E85EB3FD-B24E-D97F-C1F1-0B888011C078}"/>
              </a:ext>
            </a:extLst>
          </p:cNvPr>
          <p:cNvSpPr>
            <a:spLocks noEditPoints="1"/>
          </p:cNvSpPr>
          <p:nvPr/>
        </p:nvSpPr>
        <p:spPr bwMode="auto">
          <a:xfrm rot="10800000">
            <a:off x="8582852" y="2874343"/>
            <a:ext cx="108000" cy="108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tx1"/>
          </a:solidFill>
          <a:ln w="0">
            <a:solidFill>
              <a:schemeClr val="tx1"/>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grpSp>
        <p:nvGrpSpPr>
          <p:cNvPr id="140" name="Group 139">
            <a:extLst>
              <a:ext uri="{FF2B5EF4-FFF2-40B4-BE49-F238E27FC236}">
                <a16:creationId xmlns:a16="http://schemas.microsoft.com/office/drawing/2014/main" id="{309B0629-4939-9CBC-B0FB-BDC0D8F3A519}"/>
              </a:ext>
            </a:extLst>
          </p:cNvPr>
          <p:cNvGrpSpPr/>
          <p:nvPr/>
        </p:nvGrpSpPr>
        <p:grpSpPr>
          <a:xfrm rot="10800000">
            <a:off x="9849903" y="1104355"/>
            <a:ext cx="360934" cy="1846041"/>
            <a:chOff x="3920239" y="2486400"/>
            <a:chExt cx="360934" cy="1764320"/>
          </a:xfrm>
        </p:grpSpPr>
        <p:cxnSp>
          <p:nvCxnSpPr>
            <p:cNvPr id="141" name="Straight Arrow Connector 140">
              <a:extLst>
                <a:ext uri="{FF2B5EF4-FFF2-40B4-BE49-F238E27FC236}">
                  <a16:creationId xmlns:a16="http://schemas.microsoft.com/office/drawing/2014/main" id="{FDEBA4BE-B019-530E-5F0F-D54BC5FCECEE}"/>
                </a:ext>
              </a:extLst>
            </p:cNvPr>
            <p:cNvCxnSpPr>
              <a:cxnSpLocks/>
            </p:cNvCxnSpPr>
            <p:nvPr/>
          </p:nvCxnSpPr>
          <p:spPr>
            <a:xfrm>
              <a:off x="4081789" y="2486400"/>
              <a:ext cx="0" cy="200787"/>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2" name="Group 141">
              <a:extLst>
                <a:ext uri="{FF2B5EF4-FFF2-40B4-BE49-F238E27FC236}">
                  <a16:creationId xmlns:a16="http://schemas.microsoft.com/office/drawing/2014/main" id="{B2C0EE50-F58E-1DD3-478D-B88AF2C2E39B}"/>
                </a:ext>
              </a:extLst>
            </p:cNvPr>
            <p:cNvGrpSpPr/>
            <p:nvPr/>
          </p:nvGrpSpPr>
          <p:grpSpPr>
            <a:xfrm>
              <a:off x="3920239" y="4062353"/>
              <a:ext cx="360934" cy="188367"/>
              <a:chOff x="6944360" y="1555445"/>
              <a:chExt cx="297270" cy="156210"/>
            </a:xfrm>
          </p:grpSpPr>
          <p:cxnSp>
            <p:nvCxnSpPr>
              <p:cNvPr id="151" name="Straight Arrow Connector 150">
                <a:extLst>
                  <a:ext uri="{FF2B5EF4-FFF2-40B4-BE49-F238E27FC236}">
                    <a16:creationId xmlns:a16="http://schemas.microsoft.com/office/drawing/2014/main" id="{7717E82C-9F11-68EF-816E-CB28ED406193}"/>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C65A6775-8B5D-D24D-1886-CCA96A5A02A9}"/>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853196D2-7530-154B-B345-06779059D20C}"/>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CD36F012-4964-6E75-8623-879B7A6054F4}"/>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3" name="Group 142">
              <a:extLst>
                <a:ext uri="{FF2B5EF4-FFF2-40B4-BE49-F238E27FC236}">
                  <a16:creationId xmlns:a16="http://schemas.microsoft.com/office/drawing/2014/main" id="{289BE8D1-BAFB-17DB-EE8B-390092DD5799}"/>
                </a:ext>
              </a:extLst>
            </p:cNvPr>
            <p:cNvGrpSpPr/>
            <p:nvPr/>
          </p:nvGrpSpPr>
          <p:grpSpPr>
            <a:xfrm>
              <a:off x="3960494" y="2689037"/>
              <a:ext cx="255055" cy="530521"/>
              <a:chOff x="5542451" y="2102326"/>
              <a:chExt cx="174669" cy="355599"/>
            </a:xfrm>
          </p:grpSpPr>
          <p:grpSp>
            <p:nvGrpSpPr>
              <p:cNvPr id="145" name="Group 144">
                <a:extLst>
                  <a:ext uri="{FF2B5EF4-FFF2-40B4-BE49-F238E27FC236}">
                    <a16:creationId xmlns:a16="http://schemas.microsoft.com/office/drawing/2014/main" id="{EFB329E4-2A08-AC76-55C4-FD0FEDF459F9}"/>
                  </a:ext>
                </a:extLst>
              </p:cNvPr>
              <p:cNvGrpSpPr/>
              <p:nvPr/>
            </p:nvGrpSpPr>
            <p:grpSpPr>
              <a:xfrm>
                <a:off x="5542451" y="2102326"/>
                <a:ext cx="166687" cy="236537"/>
                <a:chOff x="5542451" y="2102326"/>
                <a:chExt cx="166687" cy="236537"/>
              </a:xfrm>
            </p:grpSpPr>
            <p:sp>
              <p:nvSpPr>
                <p:cNvPr id="149" name="Freeform 43">
                  <a:extLst>
                    <a:ext uri="{FF2B5EF4-FFF2-40B4-BE49-F238E27FC236}">
                      <a16:creationId xmlns:a16="http://schemas.microsoft.com/office/drawing/2014/main" id="{97E5F154-3E68-1579-1AA2-D366DDD7561F}"/>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150" name="Freeform 46">
                  <a:extLst>
                    <a:ext uri="{FF2B5EF4-FFF2-40B4-BE49-F238E27FC236}">
                      <a16:creationId xmlns:a16="http://schemas.microsoft.com/office/drawing/2014/main" id="{DEA83ACD-65A8-5AEE-266F-C3A95A07D1EA}"/>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nvGrpSpPr>
              <p:cNvPr id="146" name="Group 145">
                <a:extLst>
                  <a:ext uri="{FF2B5EF4-FFF2-40B4-BE49-F238E27FC236}">
                    <a16:creationId xmlns:a16="http://schemas.microsoft.com/office/drawing/2014/main" id="{3AE6585C-3361-1BAC-AEE2-3720789A6835}"/>
                  </a:ext>
                </a:extLst>
              </p:cNvPr>
              <p:cNvGrpSpPr/>
              <p:nvPr/>
            </p:nvGrpSpPr>
            <p:grpSpPr>
              <a:xfrm>
                <a:off x="5550433" y="2221388"/>
                <a:ext cx="166687" cy="236537"/>
                <a:chOff x="5542451" y="2102326"/>
                <a:chExt cx="166687" cy="236537"/>
              </a:xfrm>
            </p:grpSpPr>
            <p:sp>
              <p:nvSpPr>
                <p:cNvPr id="147" name="Freeform 43">
                  <a:extLst>
                    <a:ext uri="{FF2B5EF4-FFF2-40B4-BE49-F238E27FC236}">
                      <a16:creationId xmlns:a16="http://schemas.microsoft.com/office/drawing/2014/main" id="{CEE9801A-305C-6BC9-1CB8-E2DAEE08251A}"/>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148" name="Freeform 46">
                  <a:extLst>
                    <a:ext uri="{FF2B5EF4-FFF2-40B4-BE49-F238E27FC236}">
                      <a16:creationId xmlns:a16="http://schemas.microsoft.com/office/drawing/2014/main" id="{FEC5B39A-A38A-BC5B-1D34-CB868B1AC519}"/>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cxnSp>
          <p:nvCxnSpPr>
            <p:cNvPr id="144" name="Straight Arrow Connector 143">
              <a:extLst>
                <a:ext uri="{FF2B5EF4-FFF2-40B4-BE49-F238E27FC236}">
                  <a16:creationId xmlns:a16="http://schemas.microsoft.com/office/drawing/2014/main" id="{ACE836C1-ECB7-0AE4-F2DC-2FD25B1640CE}"/>
                </a:ext>
              </a:extLst>
            </p:cNvPr>
            <p:cNvCxnSpPr>
              <a:cxnSpLocks/>
            </p:cNvCxnSpPr>
            <p:nvPr/>
          </p:nvCxnSpPr>
          <p:spPr>
            <a:xfrm>
              <a:off x="4090933" y="3214688"/>
              <a:ext cx="0" cy="82696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55" name="Freeform 36">
            <a:extLst>
              <a:ext uri="{FF2B5EF4-FFF2-40B4-BE49-F238E27FC236}">
                <a16:creationId xmlns:a16="http://schemas.microsoft.com/office/drawing/2014/main" id="{13A3A03F-DD61-5FDC-5EBB-2E916EEDE4CE}"/>
              </a:ext>
            </a:extLst>
          </p:cNvPr>
          <p:cNvSpPr>
            <a:spLocks noEditPoints="1"/>
          </p:cNvSpPr>
          <p:nvPr/>
        </p:nvSpPr>
        <p:spPr bwMode="auto">
          <a:xfrm rot="10800000">
            <a:off x="9990012" y="2874343"/>
            <a:ext cx="108000" cy="108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tx1"/>
          </a:solidFill>
          <a:ln w="0">
            <a:solidFill>
              <a:schemeClr val="tx1"/>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grpSp>
        <p:nvGrpSpPr>
          <p:cNvPr id="156" name="Group 155">
            <a:extLst>
              <a:ext uri="{FF2B5EF4-FFF2-40B4-BE49-F238E27FC236}">
                <a16:creationId xmlns:a16="http://schemas.microsoft.com/office/drawing/2014/main" id="{DEACF189-CF4D-F3A2-24BC-FAEC405A7C09}"/>
              </a:ext>
            </a:extLst>
          </p:cNvPr>
          <p:cNvGrpSpPr/>
          <p:nvPr/>
        </p:nvGrpSpPr>
        <p:grpSpPr>
          <a:xfrm>
            <a:off x="11084536" y="1232574"/>
            <a:ext cx="368769" cy="1708447"/>
            <a:chOff x="1083157" y="1340209"/>
            <a:chExt cx="368769" cy="1708447"/>
          </a:xfrm>
        </p:grpSpPr>
        <p:grpSp>
          <p:nvGrpSpPr>
            <p:cNvPr id="157" name="Group 156">
              <a:extLst>
                <a:ext uri="{FF2B5EF4-FFF2-40B4-BE49-F238E27FC236}">
                  <a16:creationId xmlns:a16="http://schemas.microsoft.com/office/drawing/2014/main" id="{AF50746C-6478-3398-B08E-6FB7FB8EF230}"/>
                </a:ext>
              </a:extLst>
            </p:cNvPr>
            <p:cNvGrpSpPr/>
            <p:nvPr/>
          </p:nvGrpSpPr>
          <p:grpSpPr>
            <a:xfrm>
              <a:off x="1102247" y="2043317"/>
              <a:ext cx="349679" cy="294035"/>
              <a:chOff x="3607682" y="2217488"/>
              <a:chExt cx="288000" cy="233045"/>
            </a:xfrm>
          </p:grpSpPr>
          <p:cxnSp>
            <p:nvCxnSpPr>
              <p:cNvPr id="165" name="Straight Connector 164">
                <a:extLst>
                  <a:ext uri="{FF2B5EF4-FFF2-40B4-BE49-F238E27FC236}">
                    <a16:creationId xmlns:a16="http://schemas.microsoft.com/office/drawing/2014/main" id="{7F74BA26-5A14-3065-B46D-28576F9BF4C7}"/>
                  </a:ext>
                </a:extLst>
              </p:cNvPr>
              <p:cNvCxnSpPr>
                <a:cxnSpLocks/>
              </p:cNvCxnSpPr>
              <p:nvPr/>
            </p:nvCxnSpPr>
            <p:spPr>
              <a:xfrm>
                <a:off x="3607682" y="2217488"/>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6" name="Group 165">
                <a:extLst>
                  <a:ext uri="{FF2B5EF4-FFF2-40B4-BE49-F238E27FC236}">
                    <a16:creationId xmlns:a16="http://schemas.microsoft.com/office/drawing/2014/main" id="{EBFC763B-81F8-0FBB-D7F1-F7C4F59DC4D8}"/>
                  </a:ext>
                </a:extLst>
              </p:cNvPr>
              <p:cNvGrpSpPr/>
              <p:nvPr/>
            </p:nvGrpSpPr>
            <p:grpSpPr>
              <a:xfrm>
                <a:off x="3625843" y="2313373"/>
                <a:ext cx="259080" cy="137160"/>
                <a:chOff x="4084320" y="1447800"/>
                <a:chExt cx="406400" cy="147320"/>
              </a:xfrm>
            </p:grpSpPr>
            <p:sp>
              <p:nvSpPr>
                <p:cNvPr id="167" name="Arc 166">
                  <a:extLst>
                    <a:ext uri="{FF2B5EF4-FFF2-40B4-BE49-F238E27FC236}">
                      <a16:creationId xmlns:a16="http://schemas.microsoft.com/office/drawing/2014/main" id="{1260BB9B-EF2E-2828-EF2E-92A8266E5D6D}"/>
                    </a:ext>
                  </a:extLst>
                </p:cNvPr>
                <p:cNvSpPr/>
                <p:nvPr/>
              </p:nvSpPr>
              <p:spPr>
                <a:xfrm flipH="1">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68" name="Arc 167">
                  <a:extLst>
                    <a:ext uri="{FF2B5EF4-FFF2-40B4-BE49-F238E27FC236}">
                      <a16:creationId xmlns:a16="http://schemas.microsoft.com/office/drawing/2014/main" id="{21A2A971-0F86-A0C2-BDCC-FC4D168E4300}"/>
                    </a:ext>
                  </a:extLst>
                </p:cNvPr>
                <p:cNvSpPr/>
                <p:nvPr/>
              </p:nvSpPr>
              <p:spPr>
                <a:xfrm>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grpSp>
        </p:grpSp>
        <p:cxnSp>
          <p:nvCxnSpPr>
            <p:cNvPr id="158" name="Straight Arrow Connector 157">
              <a:extLst>
                <a:ext uri="{FF2B5EF4-FFF2-40B4-BE49-F238E27FC236}">
                  <a16:creationId xmlns:a16="http://schemas.microsoft.com/office/drawing/2014/main" id="{5CE7FF56-C829-8D3D-71AB-082E0A94BE69}"/>
                </a:ext>
              </a:extLst>
            </p:cNvPr>
            <p:cNvCxnSpPr>
              <a:cxnSpLocks/>
            </p:cNvCxnSpPr>
            <p:nvPr/>
          </p:nvCxnSpPr>
          <p:spPr>
            <a:xfrm flipH="1" flipV="1">
              <a:off x="1257354" y="1534950"/>
              <a:ext cx="8985" cy="507426"/>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41CE0A60-FB28-69D4-D685-D08D6ECF3E08}"/>
                </a:ext>
              </a:extLst>
            </p:cNvPr>
            <p:cNvGrpSpPr/>
            <p:nvPr/>
          </p:nvGrpSpPr>
          <p:grpSpPr>
            <a:xfrm rot="10800000">
              <a:off x="1083157" y="1340209"/>
              <a:ext cx="360934" cy="197092"/>
              <a:chOff x="6944360" y="1555445"/>
              <a:chExt cx="297270" cy="156210"/>
            </a:xfrm>
          </p:grpSpPr>
          <p:cxnSp>
            <p:nvCxnSpPr>
              <p:cNvPr id="161" name="Straight Arrow Connector 160">
                <a:extLst>
                  <a:ext uri="{FF2B5EF4-FFF2-40B4-BE49-F238E27FC236}">
                    <a16:creationId xmlns:a16="http://schemas.microsoft.com/office/drawing/2014/main" id="{8749B218-D419-AA58-25EF-E4F1E0ECC165}"/>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6B5877BD-F735-7411-F614-4C5148014A7C}"/>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A09C66F5-5738-EC2B-802F-B7E0BB0D7E5F}"/>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5270D8E6-9173-6684-FB34-2544085A09D1}"/>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0" name="Straight Arrow Connector 159">
              <a:extLst>
                <a:ext uri="{FF2B5EF4-FFF2-40B4-BE49-F238E27FC236}">
                  <a16:creationId xmlns:a16="http://schemas.microsoft.com/office/drawing/2014/main" id="{CA4F3933-93F4-DBF9-21EA-CC20F4F3DA48}"/>
                </a:ext>
              </a:extLst>
            </p:cNvPr>
            <p:cNvCxnSpPr>
              <a:cxnSpLocks/>
            </p:cNvCxnSpPr>
            <p:nvPr/>
          </p:nvCxnSpPr>
          <p:spPr>
            <a:xfrm rot="10800000">
              <a:off x="1273397" y="2155381"/>
              <a:ext cx="0" cy="89327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69" name="Freeform 36">
            <a:extLst>
              <a:ext uri="{FF2B5EF4-FFF2-40B4-BE49-F238E27FC236}">
                <a16:creationId xmlns:a16="http://schemas.microsoft.com/office/drawing/2014/main" id="{5C2CB7C7-26F2-0C36-0174-7E073B4026A6}"/>
              </a:ext>
            </a:extLst>
          </p:cNvPr>
          <p:cNvSpPr>
            <a:spLocks noEditPoints="1"/>
          </p:cNvSpPr>
          <p:nvPr/>
        </p:nvSpPr>
        <p:spPr bwMode="auto">
          <a:xfrm rot="10800000">
            <a:off x="11219372" y="2879423"/>
            <a:ext cx="108000" cy="108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tx1"/>
          </a:solidFill>
          <a:ln w="0">
            <a:solidFill>
              <a:schemeClr val="tx1"/>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2" name="Slide Number Placeholder 1"/>
          <p:cNvSpPr>
            <a:spLocks noGrp="1"/>
          </p:cNvSpPr>
          <p:nvPr>
            <p:ph type="sldNum" sz="quarter" idx="12"/>
          </p:nvPr>
        </p:nvSpPr>
        <p:spPr/>
        <p:txBody>
          <a:bodyPr/>
          <a:lstStyle/>
          <a:p>
            <a:fld id="{81A3699F-279E-4EDA-A470-7DA0E35FD13B}" type="slidenum">
              <a:rPr lang="en-US" smtClean="0"/>
              <a:t>67</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173" name="Footer Placeholder 172"/>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388384978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450" y="475387"/>
            <a:ext cx="11645900" cy="1200329"/>
          </a:xfrm>
          <a:prstGeom prst="rect">
            <a:avLst/>
          </a:prstGeom>
        </p:spPr>
        <p:txBody>
          <a:bodyPr wrap="square">
            <a:spAutoFit/>
          </a:bodyPr>
          <a:lstStyle/>
          <a:p>
            <a:r>
              <a:rPr lang="en-US" b="1" dirty="0" smtClean="0"/>
              <a:t>1. Inverter Basics</a:t>
            </a:r>
          </a:p>
          <a:p>
            <a:pPr>
              <a:buFont typeface="Arial" panose="020B0604020202020204" pitchFamily="34" charset="0"/>
              <a:buChar char="•"/>
            </a:pPr>
            <a:r>
              <a:rPr lang="en-US" b="1" dirty="0" smtClean="0"/>
              <a:t>Symbol &amp; Circuit Representation</a:t>
            </a:r>
            <a:r>
              <a:rPr lang="en-US" dirty="0" smtClean="0"/>
              <a:t>: The inverter is represented as a basic logic gate with an input and an inverted output.</a:t>
            </a:r>
          </a:p>
          <a:p>
            <a:pPr>
              <a:buFont typeface="Arial" panose="020B0604020202020204" pitchFamily="34" charset="0"/>
              <a:buChar char="•"/>
            </a:pPr>
            <a:r>
              <a:rPr lang="en-US" b="1" dirty="0" smtClean="0"/>
              <a:t>DC Characteristics</a:t>
            </a:r>
            <a:r>
              <a:rPr lang="en-US" dirty="0" smtClean="0"/>
              <a:t>: The voltage transfer characteristic (VTC) shows the relationship between input and output voltages. The transition region is crucial for determining switching behavior</a:t>
            </a:r>
            <a:endParaRPr lang="en-US" dirty="0"/>
          </a:p>
        </p:txBody>
      </p:sp>
      <p:sp>
        <p:nvSpPr>
          <p:cNvPr id="5" name="Rectangle 4"/>
          <p:cNvSpPr/>
          <p:nvPr/>
        </p:nvSpPr>
        <p:spPr>
          <a:xfrm>
            <a:off x="44450" y="1780739"/>
            <a:ext cx="11430000" cy="1754326"/>
          </a:xfrm>
          <a:prstGeom prst="rect">
            <a:avLst/>
          </a:prstGeom>
        </p:spPr>
        <p:txBody>
          <a:bodyPr wrap="square">
            <a:spAutoFit/>
          </a:bodyPr>
          <a:lstStyle/>
          <a:p>
            <a:r>
              <a:rPr lang="en-US" b="1" dirty="0" smtClean="0"/>
              <a:t>2. Small-Signal Model of an Inverter</a:t>
            </a:r>
          </a:p>
          <a:p>
            <a:pPr>
              <a:buFont typeface="Arial" panose="020B0604020202020204" pitchFamily="34" charset="0"/>
              <a:buChar char="•"/>
            </a:pPr>
            <a:r>
              <a:rPr lang="en-US" b="1" dirty="0" smtClean="0"/>
              <a:t>MOSFETs as Amplifiers</a:t>
            </a:r>
            <a:r>
              <a:rPr lang="en-US" dirty="0" smtClean="0"/>
              <a:t>: When biased in the transition region, both NMOS and PMOS contribute to small-signal gain.</a:t>
            </a:r>
          </a:p>
          <a:p>
            <a:pPr>
              <a:buFont typeface="Arial" panose="020B0604020202020204" pitchFamily="34" charset="0"/>
              <a:buChar char="•"/>
            </a:pPr>
            <a:r>
              <a:rPr lang="en-US" b="1" dirty="0" smtClean="0"/>
              <a:t>Capacitances &amp; Resistances</a:t>
            </a:r>
            <a:r>
              <a:rPr lang="en-US" dirty="0" smtClean="0"/>
              <a:t>: Parasitic capacitances (gate-drain, drain-bulk) and </a:t>
            </a:r>
            <a:r>
              <a:rPr lang="en-US" dirty="0" err="1" smtClean="0"/>
              <a:t>transconductance</a:t>
            </a:r>
            <a:r>
              <a:rPr lang="en-US" dirty="0" smtClean="0"/>
              <a:t> (gm​) play key roles in signal propagation.</a:t>
            </a:r>
          </a:p>
          <a:p>
            <a:pPr>
              <a:buFont typeface="Arial" panose="020B0604020202020204" pitchFamily="34" charset="0"/>
              <a:buChar char="•"/>
            </a:pPr>
            <a:r>
              <a:rPr lang="en-US" b="1" dirty="0" smtClean="0"/>
              <a:t>Simplified Approximation</a:t>
            </a:r>
            <a:r>
              <a:rPr lang="en-US" dirty="0" smtClean="0"/>
              <a:t>: Reducing complexity by using dominant parameters helps in quick analysis while detailed models are used for precise design.</a:t>
            </a:r>
            <a:endParaRPr lang="en-US" dirty="0"/>
          </a:p>
        </p:txBody>
      </p:sp>
      <p:sp>
        <p:nvSpPr>
          <p:cNvPr id="6" name="Rectangle 5"/>
          <p:cNvSpPr/>
          <p:nvPr/>
        </p:nvSpPr>
        <p:spPr>
          <a:xfrm>
            <a:off x="139700" y="3535065"/>
            <a:ext cx="11658600" cy="2585323"/>
          </a:xfrm>
          <a:prstGeom prst="rect">
            <a:avLst/>
          </a:prstGeom>
        </p:spPr>
        <p:txBody>
          <a:bodyPr wrap="square">
            <a:spAutoFit/>
          </a:bodyPr>
          <a:lstStyle/>
          <a:p>
            <a:r>
              <a:rPr lang="en-US" b="1" dirty="0" smtClean="0"/>
              <a:t>3. MOSFET Scaling (28nm CMOS Example)</a:t>
            </a:r>
          </a:p>
          <a:p>
            <a:pPr>
              <a:buFont typeface="Arial" panose="020B0604020202020204" pitchFamily="34" charset="0"/>
              <a:buChar char="•"/>
            </a:pPr>
            <a:r>
              <a:rPr lang="en-US" b="1" dirty="0" smtClean="0"/>
              <a:t>NMOS vs. PMOS Width Ratio</a:t>
            </a:r>
            <a:r>
              <a:rPr lang="en-US" dirty="0" smtClean="0"/>
              <a:t>: Typically, PMOS width is larger (WPMOS​=3WNMOS​) to balance mobility differences.</a:t>
            </a:r>
          </a:p>
          <a:p>
            <a:pPr>
              <a:buFont typeface="Arial" panose="020B0604020202020204" pitchFamily="34" charset="0"/>
              <a:buChar char="•"/>
            </a:pPr>
            <a:r>
              <a:rPr lang="en-US" b="1" dirty="0" smtClean="0"/>
              <a:t>Common-Mode Considerations</a:t>
            </a:r>
            <a:r>
              <a:rPr lang="en-US" dirty="0" smtClean="0"/>
              <a:t>: Adjusting transistor sizing helps achieve the desired common-mode voltage for stable operation.</a:t>
            </a:r>
          </a:p>
          <a:p>
            <a:pPr>
              <a:buFont typeface="Arial" panose="020B0604020202020204" pitchFamily="34" charset="0"/>
              <a:buChar char="•"/>
            </a:pPr>
            <a:r>
              <a:rPr lang="en-US" b="1" dirty="0" smtClean="0"/>
              <a:t>Biasing Impact</a:t>
            </a:r>
            <a:r>
              <a:rPr lang="en-US" dirty="0" smtClean="0"/>
              <a:t>: Selecting proper bias points ensures optimal linearity and performance.</a:t>
            </a:r>
          </a:p>
          <a:p>
            <a:pPr>
              <a:buFont typeface="Arial" panose="020B0604020202020204" pitchFamily="34" charset="0"/>
              <a:buChar char="•"/>
            </a:pPr>
            <a:r>
              <a:rPr lang="en-US" b="1" dirty="0" smtClean="0"/>
              <a:t>Process Variations &amp; Effects</a:t>
            </a:r>
            <a:r>
              <a:rPr lang="en-US" dirty="0" smtClean="0"/>
              <a:t>: Different fabrication variations affect PMOS and NMOS devices differently, leading to potential mismatches.</a:t>
            </a:r>
          </a:p>
          <a:p>
            <a:pPr>
              <a:buFont typeface="Arial" panose="020B0604020202020204" pitchFamily="34" charset="0"/>
              <a:buChar char="•"/>
            </a:pPr>
            <a:r>
              <a:rPr lang="en-US" b="1" dirty="0" smtClean="0"/>
              <a:t>Impact of Lithography</a:t>
            </a:r>
            <a:r>
              <a:rPr lang="en-US" dirty="0" smtClean="0"/>
              <a:t>: The manufacturing process influences small-scale transistor behavior, necessitating careful design choices.</a:t>
            </a:r>
            <a:endParaRPr lang="en-US" dirty="0"/>
          </a:p>
        </p:txBody>
      </p:sp>
      <p:sp>
        <p:nvSpPr>
          <p:cNvPr id="2" name="Slide Number Placeholder 1"/>
          <p:cNvSpPr>
            <a:spLocks noGrp="1"/>
          </p:cNvSpPr>
          <p:nvPr>
            <p:ph type="sldNum" sz="quarter" idx="12"/>
          </p:nvPr>
        </p:nvSpPr>
        <p:spPr/>
        <p:txBody>
          <a:bodyPr/>
          <a:lstStyle/>
          <a:p>
            <a:fld id="{81A3699F-279E-4EDA-A470-7DA0E35FD13B}" type="slidenum">
              <a:rPr lang="en-US" smtClean="0"/>
              <a:t>68</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7" name="Footer Placeholder 6"/>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3653108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A0200F-769B-B6FB-E7AD-FFF9F0289236}"/>
              </a:ext>
            </a:extLst>
          </p:cNvPr>
          <p:cNvSpPr txBox="1">
            <a:spLocks/>
          </p:cNvSpPr>
          <p:nvPr/>
        </p:nvSpPr>
        <p:spPr>
          <a:xfrm>
            <a:off x="3705255" y="10634"/>
            <a:ext cx="445391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rgbClr val="FF0000"/>
                </a:solidFill>
                <a:effectLst/>
                <a:uLnTx/>
                <a:uFillTx/>
                <a:latin typeface="Calibri Light" panose="020F0302020204030204"/>
                <a:ea typeface="+mj-ea"/>
                <a:cs typeface="+mj-cs"/>
              </a:rPr>
              <a:t>INV_ACTIVE_LOAD</a:t>
            </a:r>
            <a:endParaRPr kumimoji="0" lang="en-BE" sz="4400" b="1" i="0" u="none" strike="noStrike" kern="1200" cap="none" spc="0" normalizeH="0" baseline="0" noProof="0" dirty="0">
              <a:ln>
                <a:noFill/>
              </a:ln>
              <a:solidFill>
                <a:srgbClr val="FF0000"/>
              </a:solidFill>
              <a:effectLst/>
              <a:uLnTx/>
              <a:uFillTx/>
              <a:latin typeface="Calibri Light" panose="020F0302020204030204"/>
              <a:ea typeface="+mj-ea"/>
              <a:cs typeface="+mj-cs"/>
            </a:endParaRPr>
          </a:p>
        </p:txBody>
      </p:sp>
      <p:sp>
        <p:nvSpPr>
          <p:cNvPr id="5" name="Rectangle 4">
            <a:extLst>
              <a:ext uri="{FF2B5EF4-FFF2-40B4-BE49-F238E27FC236}">
                <a16:creationId xmlns:a16="http://schemas.microsoft.com/office/drawing/2014/main" id="{17E891A0-91E6-4875-8924-A6AD49549B55}"/>
              </a:ext>
            </a:extLst>
          </p:cNvPr>
          <p:cNvSpPr/>
          <p:nvPr/>
        </p:nvSpPr>
        <p:spPr>
          <a:xfrm>
            <a:off x="820418" y="1470869"/>
            <a:ext cx="4572000" cy="2572512"/>
          </a:xfrm>
          <a:prstGeom prst="rect">
            <a:avLst/>
          </a:prstGeom>
          <a:solidFill>
            <a:srgbClr val="ED7D31">
              <a:lumMod val="20000"/>
              <a:lumOff val="80000"/>
            </a:srgbClr>
          </a:solidFill>
          <a:ln w="28575" cap="flat" cmpd="sng" algn="ctr">
            <a:solidFill>
              <a:srgbClr val="92D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CF521CC8-4D9D-4F9B-80BF-F2F8F06A39BA}"/>
              </a:ext>
            </a:extLst>
          </p:cNvPr>
          <p:cNvGrpSpPr/>
          <p:nvPr/>
        </p:nvGrpSpPr>
        <p:grpSpPr>
          <a:xfrm>
            <a:off x="888600" y="1951923"/>
            <a:ext cx="2101744" cy="1281109"/>
            <a:chOff x="6274971" y="777373"/>
            <a:chExt cx="2101744" cy="1281109"/>
          </a:xfrm>
        </p:grpSpPr>
        <p:cxnSp>
          <p:nvCxnSpPr>
            <p:cNvPr id="7" name="Straight Connector 6">
              <a:extLst>
                <a:ext uri="{FF2B5EF4-FFF2-40B4-BE49-F238E27FC236}">
                  <a16:creationId xmlns:a16="http://schemas.microsoft.com/office/drawing/2014/main" id="{321C0C91-27F6-40EA-A28D-CEEF45FBFC82}"/>
                </a:ext>
              </a:extLst>
            </p:cNvPr>
            <p:cNvCxnSpPr>
              <a:cxnSpLocks/>
            </p:cNvCxnSpPr>
            <p:nvPr/>
          </p:nvCxnSpPr>
          <p:spPr>
            <a:xfrm>
              <a:off x="6455205" y="1523812"/>
              <a:ext cx="678815" cy="6671"/>
            </a:xfrm>
            <a:prstGeom prst="line">
              <a:avLst/>
            </a:prstGeom>
            <a:noFill/>
            <a:ln w="28575" cap="flat" cmpd="sng" algn="ctr">
              <a:solidFill>
                <a:srgbClr val="FF0000"/>
              </a:solidFill>
              <a:prstDash val="solid"/>
              <a:miter lim="800000"/>
            </a:ln>
            <a:effectLst/>
          </p:spPr>
        </p:cxnSp>
        <p:grpSp>
          <p:nvGrpSpPr>
            <p:cNvPr id="8" name="Group 7">
              <a:extLst>
                <a:ext uri="{FF2B5EF4-FFF2-40B4-BE49-F238E27FC236}">
                  <a16:creationId xmlns:a16="http://schemas.microsoft.com/office/drawing/2014/main" id="{F500537C-F41F-4B91-A45E-E4A87B35CA11}"/>
                </a:ext>
              </a:extLst>
            </p:cNvPr>
            <p:cNvGrpSpPr/>
            <p:nvPr/>
          </p:nvGrpSpPr>
          <p:grpSpPr>
            <a:xfrm flipH="1">
              <a:off x="7127670" y="1104715"/>
              <a:ext cx="972185" cy="851533"/>
              <a:chOff x="1116965" y="5086353"/>
              <a:chExt cx="972185" cy="851533"/>
            </a:xfrm>
          </p:grpSpPr>
          <p:sp>
            <p:nvSpPr>
              <p:cNvPr id="17" name="Isosceles Triangle 16">
                <a:extLst>
                  <a:ext uri="{FF2B5EF4-FFF2-40B4-BE49-F238E27FC236}">
                    <a16:creationId xmlns:a16="http://schemas.microsoft.com/office/drawing/2014/main" id="{6E254ACC-F604-4B27-95BD-74F99DE0E1EC}"/>
                  </a:ext>
                </a:extLst>
              </p:cNvPr>
              <p:cNvSpPr/>
              <p:nvPr/>
            </p:nvSpPr>
            <p:spPr>
              <a:xfrm rot="5400000">
                <a:off x="1113790" y="5089528"/>
                <a:ext cx="851533" cy="845184"/>
              </a:xfrm>
              <a:prstGeom prst="triangle">
                <a:avLst/>
              </a:prstGeom>
              <a:solidFill>
                <a:sysClr val="window" lastClr="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024B4608-7A84-45DA-8ABD-DEABF0E99921}"/>
                  </a:ext>
                </a:extLst>
              </p:cNvPr>
              <p:cNvSpPr/>
              <p:nvPr/>
            </p:nvSpPr>
            <p:spPr>
              <a:xfrm>
                <a:off x="1981200" y="5467350"/>
                <a:ext cx="107950" cy="108000"/>
              </a:xfrm>
              <a:prstGeom prst="ellipse">
                <a:avLst/>
              </a:prstGeom>
              <a:solidFill>
                <a:sysClr val="window" lastClr="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cxnSp>
          <p:nvCxnSpPr>
            <p:cNvPr id="9" name="Straight Connector 8">
              <a:extLst>
                <a:ext uri="{FF2B5EF4-FFF2-40B4-BE49-F238E27FC236}">
                  <a16:creationId xmlns:a16="http://schemas.microsoft.com/office/drawing/2014/main" id="{6A80ACB4-85B4-4BB6-B033-394DD4364326}"/>
                </a:ext>
              </a:extLst>
            </p:cNvPr>
            <p:cNvCxnSpPr>
              <a:cxnSpLocks/>
              <a:endCxn id="14" idx="6"/>
            </p:cNvCxnSpPr>
            <p:nvPr/>
          </p:nvCxnSpPr>
          <p:spPr>
            <a:xfrm>
              <a:off x="8106205" y="1542862"/>
              <a:ext cx="270510" cy="4470"/>
            </a:xfrm>
            <a:prstGeom prst="line">
              <a:avLst/>
            </a:prstGeom>
            <a:noFill/>
            <a:ln w="28575" cap="flat" cmpd="sng" algn="ctr">
              <a:solidFill>
                <a:srgbClr val="FF0000"/>
              </a:solidFill>
              <a:prstDash val="solid"/>
              <a:miter lim="800000"/>
            </a:ln>
            <a:effectLst/>
          </p:spPr>
        </p:cxnSp>
        <p:cxnSp>
          <p:nvCxnSpPr>
            <p:cNvPr id="10" name="Straight Connector 9">
              <a:extLst>
                <a:ext uri="{FF2B5EF4-FFF2-40B4-BE49-F238E27FC236}">
                  <a16:creationId xmlns:a16="http://schemas.microsoft.com/office/drawing/2014/main" id="{31BBE76B-F9DD-4A15-AFCD-9BC4C827B4E2}"/>
                </a:ext>
              </a:extLst>
            </p:cNvPr>
            <p:cNvCxnSpPr>
              <a:cxnSpLocks/>
            </p:cNvCxnSpPr>
            <p:nvPr/>
          </p:nvCxnSpPr>
          <p:spPr>
            <a:xfrm>
              <a:off x="6881925" y="787533"/>
              <a:ext cx="1446272" cy="0"/>
            </a:xfrm>
            <a:prstGeom prst="line">
              <a:avLst/>
            </a:prstGeom>
            <a:noFill/>
            <a:ln w="28575" cap="flat" cmpd="sng" algn="ctr">
              <a:solidFill>
                <a:srgbClr val="FF0000"/>
              </a:solidFill>
              <a:prstDash val="solid"/>
              <a:miter lim="800000"/>
            </a:ln>
            <a:effectLst/>
          </p:spPr>
        </p:cxnSp>
        <p:cxnSp>
          <p:nvCxnSpPr>
            <p:cNvPr id="11" name="Straight Connector 10">
              <a:extLst>
                <a:ext uri="{FF2B5EF4-FFF2-40B4-BE49-F238E27FC236}">
                  <a16:creationId xmlns:a16="http://schemas.microsoft.com/office/drawing/2014/main" id="{45EACA5B-A7C6-4326-AE79-4897EBD0468F}"/>
                </a:ext>
              </a:extLst>
            </p:cNvPr>
            <p:cNvCxnSpPr>
              <a:cxnSpLocks/>
            </p:cNvCxnSpPr>
            <p:nvPr/>
          </p:nvCxnSpPr>
          <p:spPr>
            <a:xfrm flipV="1">
              <a:off x="8322105" y="777373"/>
              <a:ext cx="0" cy="760409"/>
            </a:xfrm>
            <a:prstGeom prst="line">
              <a:avLst/>
            </a:prstGeom>
            <a:noFill/>
            <a:ln w="28575" cap="flat" cmpd="sng" algn="ctr">
              <a:solidFill>
                <a:srgbClr val="FF0000"/>
              </a:solidFill>
              <a:prstDash val="solid"/>
              <a:miter lim="800000"/>
            </a:ln>
            <a:effectLst/>
          </p:spPr>
        </p:cxnSp>
        <p:cxnSp>
          <p:nvCxnSpPr>
            <p:cNvPr id="12" name="Straight Connector 11">
              <a:extLst>
                <a:ext uri="{FF2B5EF4-FFF2-40B4-BE49-F238E27FC236}">
                  <a16:creationId xmlns:a16="http://schemas.microsoft.com/office/drawing/2014/main" id="{6976826D-166E-40D4-B642-131E18E8374E}"/>
                </a:ext>
              </a:extLst>
            </p:cNvPr>
            <p:cNvCxnSpPr>
              <a:cxnSpLocks/>
            </p:cNvCxnSpPr>
            <p:nvPr/>
          </p:nvCxnSpPr>
          <p:spPr>
            <a:xfrm flipV="1">
              <a:off x="6892085" y="779913"/>
              <a:ext cx="0" cy="760409"/>
            </a:xfrm>
            <a:prstGeom prst="line">
              <a:avLst/>
            </a:prstGeom>
            <a:noFill/>
            <a:ln w="28575" cap="flat" cmpd="sng" algn="ctr">
              <a:solidFill>
                <a:srgbClr val="FF0000"/>
              </a:solidFill>
              <a:prstDash val="solid"/>
              <a:miter lim="800000"/>
            </a:ln>
            <a:effectLst/>
          </p:spPr>
        </p:cxnSp>
        <p:sp>
          <p:nvSpPr>
            <p:cNvPr id="13" name="Oval 12">
              <a:extLst>
                <a:ext uri="{FF2B5EF4-FFF2-40B4-BE49-F238E27FC236}">
                  <a16:creationId xmlns:a16="http://schemas.microsoft.com/office/drawing/2014/main" id="{25545640-3F83-44E1-8BF1-EEE812C82A82}"/>
                </a:ext>
              </a:extLst>
            </p:cNvPr>
            <p:cNvSpPr/>
            <p:nvPr/>
          </p:nvSpPr>
          <p:spPr>
            <a:xfrm>
              <a:off x="6838745" y="1462852"/>
              <a:ext cx="107950" cy="108000"/>
            </a:xfrm>
            <a:prstGeom prst="ellipse">
              <a:avLst/>
            </a:prstGeom>
            <a:solidFill>
              <a:srgbClr val="FF0000"/>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6F7DFC4-5B28-4C4C-BD28-1437E38F746A}"/>
                </a:ext>
              </a:extLst>
            </p:cNvPr>
            <p:cNvSpPr/>
            <p:nvPr/>
          </p:nvSpPr>
          <p:spPr>
            <a:xfrm>
              <a:off x="8268765" y="1493332"/>
              <a:ext cx="107950" cy="108000"/>
            </a:xfrm>
            <a:prstGeom prst="ellipse">
              <a:avLst/>
            </a:prstGeom>
            <a:solidFill>
              <a:srgbClr val="FF0000"/>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17EFC485-D79B-4A69-8D0F-DBF0DB6C6F33}"/>
                </a:ext>
              </a:extLst>
            </p:cNvPr>
            <p:cNvCxnSpPr>
              <a:cxnSpLocks/>
            </p:cNvCxnSpPr>
            <p:nvPr/>
          </p:nvCxnSpPr>
          <p:spPr>
            <a:xfrm flipV="1">
              <a:off x="6889291" y="1346164"/>
              <a:ext cx="0" cy="712318"/>
            </a:xfrm>
            <a:prstGeom prst="line">
              <a:avLst/>
            </a:prstGeom>
            <a:noFill/>
            <a:ln w="28575" cap="flat" cmpd="sng" algn="ctr">
              <a:solidFill>
                <a:srgbClr val="FF0000"/>
              </a:solidFill>
              <a:prstDash val="solid"/>
              <a:miter lim="800000"/>
            </a:ln>
            <a:effectLst/>
          </p:spPr>
        </p:cxnSp>
        <p:sp>
          <p:nvSpPr>
            <p:cNvPr id="16" name="Freeform 38">
              <a:extLst>
                <a:ext uri="{FF2B5EF4-FFF2-40B4-BE49-F238E27FC236}">
                  <a16:creationId xmlns:a16="http://schemas.microsoft.com/office/drawing/2014/main" id="{A3EB4547-E098-46AB-9FD5-62196688D266}"/>
                </a:ext>
              </a:extLst>
            </p:cNvPr>
            <p:cNvSpPr>
              <a:spLocks noEditPoints="1"/>
            </p:cNvSpPr>
            <p:nvPr/>
          </p:nvSpPr>
          <p:spPr bwMode="auto">
            <a:xfrm>
              <a:off x="6274971" y="1435594"/>
              <a:ext cx="205343" cy="187797"/>
            </a:xfrm>
            <a:custGeom>
              <a:avLst/>
              <a:gdLst>
                <a:gd name="T0" fmla="*/ 48 w 101"/>
                <a:gd name="T1" fmla="*/ 0 h 97"/>
                <a:gd name="T2" fmla="*/ 48 w 101"/>
                <a:gd name="T3" fmla="*/ 0 h 97"/>
                <a:gd name="T4" fmla="*/ 0 w 101"/>
                <a:gd name="T5" fmla="*/ 0 h 97"/>
                <a:gd name="T6" fmla="*/ 0 w 101"/>
                <a:gd name="T7" fmla="*/ 48 h 97"/>
                <a:gd name="T8" fmla="*/ 101 w 101"/>
                <a:gd name="T9" fmla="*/ 48 h 97"/>
                <a:gd name="T10" fmla="*/ 101 w 101"/>
                <a:gd name="T11" fmla="*/ 48 h 97"/>
                <a:gd name="T12" fmla="*/ 48 w 101"/>
                <a:gd name="T13" fmla="*/ 0 h 97"/>
                <a:gd name="T14" fmla="*/ 0 w 101"/>
                <a:gd name="T15" fmla="*/ 48 h 97"/>
                <a:gd name="T16" fmla="*/ 0 w 101"/>
                <a:gd name="T17" fmla="*/ 48 h 97"/>
                <a:gd name="T18" fmla="*/ 0 w 101"/>
                <a:gd name="T19" fmla="*/ 97 h 97"/>
                <a:gd name="T20" fmla="*/ 48 w 101"/>
                <a:gd name="T21" fmla="*/ 97 h 97"/>
                <a:gd name="T22" fmla="*/ 101 w 101"/>
                <a:gd name="T23"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97">
                  <a:moveTo>
                    <a:pt x="48" y="0"/>
                  </a:moveTo>
                  <a:lnTo>
                    <a:pt x="48" y="0"/>
                  </a:lnTo>
                  <a:lnTo>
                    <a:pt x="0" y="0"/>
                  </a:lnTo>
                  <a:lnTo>
                    <a:pt x="0" y="48"/>
                  </a:lnTo>
                  <a:moveTo>
                    <a:pt x="101" y="48"/>
                  </a:moveTo>
                  <a:lnTo>
                    <a:pt x="101" y="48"/>
                  </a:lnTo>
                  <a:lnTo>
                    <a:pt x="48" y="0"/>
                  </a:lnTo>
                  <a:moveTo>
                    <a:pt x="0" y="48"/>
                  </a:moveTo>
                  <a:lnTo>
                    <a:pt x="0" y="48"/>
                  </a:lnTo>
                  <a:lnTo>
                    <a:pt x="0" y="97"/>
                  </a:lnTo>
                  <a:lnTo>
                    <a:pt x="48" y="97"/>
                  </a:lnTo>
                  <a:lnTo>
                    <a:pt x="101" y="48"/>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grpSp>
      <p:grpSp>
        <p:nvGrpSpPr>
          <p:cNvPr id="19" name="Group 18">
            <a:extLst>
              <a:ext uri="{FF2B5EF4-FFF2-40B4-BE49-F238E27FC236}">
                <a16:creationId xmlns:a16="http://schemas.microsoft.com/office/drawing/2014/main" id="{758739CF-11CA-4814-881F-E515CA70688B}"/>
              </a:ext>
            </a:extLst>
          </p:cNvPr>
          <p:cNvGrpSpPr/>
          <p:nvPr/>
        </p:nvGrpSpPr>
        <p:grpSpPr>
          <a:xfrm>
            <a:off x="3830797" y="1661983"/>
            <a:ext cx="1051467" cy="1849191"/>
            <a:chOff x="4985483" y="172826"/>
            <a:chExt cx="1051467" cy="1849191"/>
          </a:xfrm>
        </p:grpSpPr>
        <p:sp>
          <p:nvSpPr>
            <p:cNvPr id="20" name="Freeform 88">
              <a:extLst>
                <a:ext uri="{FF2B5EF4-FFF2-40B4-BE49-F238E27FC236}">
                  <a16:creationId xmlns:a16="http://schemas.microsoft.com/office/drawing/2014/main" id="{302C605F-7DCF-4738-8809-6FDB08F62078}"/>
                </a:ext>
              </a:extLst>
            </p:cNvPr>
            <p:cNvSpPr>
              <a:spLocks/>
            </p:cNvSpPr>
            <p:nvPr/>
          </p:nvSpPr>
          <p:spPr bwMode="auto">
            <a:xfrm>
              <a:off x="5789824" y="1939864"/>
              <a:ext cx="103584" cy="0"/>
            </a:xfrm>
            <a:custGeom>
              <a:avLst/>
              <a:gdLst>
                <a:gd name="T0" fmla="*/ 0 w 127"/>
                <a:gd name="T1" fmla="*/ 0 w 127"/>
                <a:gd name="T2" fmla="*/ 127 w 127"/>
              </a:gdLst>
              <a:ahLst/>
              <a:cxnLst>
                <a:cxn ang="0">
                  <a:pos x="T0" y="0"/>
                </a:cxn>
                <a:cxn ang="0">
                  <a:pos x="T1" y="0"/>
                </a:cxn>
                <a:cxn ang="0">
                  <a:pos x="T2" y="0"/>
                </a:cxn>
              </a:cxnLst>
              <a:rect l="0" t="0" r="r" b="b"/>
              <a:pathLst>
                <a:path w="127">
                  <a:moveTo>
                    <a:pt x="0" y="0"/>
                  </a:moveTo>
                  <a:lnTo>
                    <a:pt x="0" y="0"/>
                  </a:lnTo>
                  <a:lnTo>
                    <a:pt x="127"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1" name="Freeform 89">
              <a:extLst>
                <a:ext uri="{FF2B5EF4-FFF2-40B4-BE49-F238E27FC236}">
                  <a16:creationId xmlns:a16="http://schemas.microsoft.com/office/drawing/2014/main" id="{D5EF8CF7-DAD1-47B2-BEEC-DAE49B10085C}"/>
                </a:ext>
              </a:extLst>
            </p:cNvPr>
            <p:cNvSpPr>
              <a:spLocks/>
            </p:cNvSpPr>
            <p:nvPr/>
          </p:nvSpPr>
          <p:spPr bwMode="auto">
            <a:xfrm>
              <a:off x="5816017" y="1981536"/>
              <a:ext cx="51197" cy="0"/>
            </a:xfrm>
            <a:custGeom>
              <a:avLst/>
              <a:gdLst>
                <a:gd name="T0" fmla="*/ 0 w 63"/>
                <a:gd name="T1" fmla="*/ 0 w 63"/>
                <a:gd name="T2" fmla="*/ 63 w 63"/>
              </a:gdLst>
              <a:ahLst/>
              <a:cxnLst>
                <a:cxn ang="0">
                  <a:pos x="T0" y="0"/>
                </a:cxn>
                <a:cxn ang="0">
                  <a:pos x="T1" y="0"/>
                </a:cxn>
                <a:cxn ang="0">
                  <a:pos x="T2" y="0"/>
                </a:cxn>
              </a:cxnLst>
              <a:rect l="0" t="0" r="r" b="b"/>
              <a:pathLst>
                <a:path w="63">
                  <a:moveTo>
                    <a:pt x="0" y="0"/>
                  </a:moveTo>
                  <a:lnTo>
                    <a:pt x="0" y="0"/>
                  </a:lnTo>
                  <a:lnTo>
                    <a:pt x="63"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2" name="Freeform 90">
              <a:extLst>
                <a:ext uri="{FF2B5EF4-FFF2-40B4-BE49-F238E27FC236}">
                  <a16:creationId xmlns:a16="http://schemas.microsoft.com/office/drawing/2014/main" id="{FD3CF386-1BB2-43B6-B78A-79B986A22BB5}"/>
                </a:ext>
              </a:extLst>
            </p:cNvPr>
            <p:cNvSpPr>
              <a:spLocks/>
            </p:cNvSpPr>
            <p:nvPr/>
          </p:nvSpPr>
          <p:spPr bwMode="auto">
            <a:xfrm>
              <a:off x="5836258" y="2022017"/>
              <a:ext cx="11906" cy="0"/>
            </a:xfrm>
            <a:custGeom>
              <a:avLst/>
              <a:gdLst>
                <a:gd name="T0" fmla="*/ 0 w 15"/>
                <a:gd name="T1" fmla="*/ 0 w 15"/>
                <a:gd name="T2" fmla="*/ 15 w 15"/>
              </a:gdLst>
              <a:ahLst/>
              <a:cxnLst>
                <a:cxn ang="0">
                  <a:pos x="T0" y="0"/>
                </a:cxn>
                <a:cxn ang="0">
                  <a:pos x="T1" y="0"/>
                </a:cxn>
                <a:cxn ang="0">
                  <a:pos x="T2" y="0"/>
                </a:cxn>
              </a:cxnLst>
              <a:rect l="0" t="0" r="r" b="b"/>
              <a:pathLst>
                <a:path w="15">
                  <a:moveTo>
                    <a:pt x="0" y="0"/>
                  </a:moveTo>
                  <a:lnTo>
                    <a:pt x="0" y="0"/>
                  </a:lnTo>
                  <a:lnTo>
                    <a:pt x="15"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3" name="Rectangle 22">
              <a:extLst>
                <a:ext uri="{FF2B5EF4-FFF2-40B4-BE49-F238E27FC236}">
                  <a16:creationId xmlns:a16="http://schemas.microsoft.com/office/drawing/2014/main" id="{917A0076-A0A5-4F83-BCA4-B7B6DA9FCD18}"/>
                </a:ext>
              </a:extLst>
            </p:cNvPr>
            <p:cNvSpPr>
              <a:spLocks noChangeArrowheads="1"/>
            </p:cNvSpPr>
            <p:nvPr/>
          </p:nvSpPr>
          <p:spPr bwMode="auto">
            <a:xfrm>
              <a:off x="4985483" y="929500"/>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dirty="0">
                  <a:ln>
                    <a:noFill/>
                  </a:ln>
                  <a:solidFill>
                    <a:srgbClr val="000000"/>
                  </a:solidFill>
                  <a:effectLst/>
                  <a:uLnTx/>
                  <a:uFillTx/>
                  <a:latin typeface="Arial" panose="020B0604020202020204" pitchFamily="34" charset="0"/>
                </a:rPr>
                <a:t>V</a:t>
              </a:r>
              <a:r>
                <a:rPr kumimoji="0" lang="en-US" altLang="en-BE" sz="1050" b="1" i="0" u="none" strike="noStrike" kern="0" cap="none" spc="0" normalizeH="0" baseline="-25000" noProof="0" dirty="0">
                  <a:ln>
                    <a:noFill/>
                  </a:ln>
                  <a:solidFill>
                    <a:srgbClr val="000000"/>
                  </a:solidFill>
                  <a:effectLst/>
                  <a:uLnTx/>
                  <a:uFillTx/>
                  <a:latin typeface="Arial" panose="020B0604020202020204" pitchFamily="34" charset="0"/>
                </a:rPr>
                <a:t>IN</a:t>
              </a:r>
              <a:endParaRPr kumimoji="0" lang="en-BE" altLang="en-BE" sz="1350" b="1" i="0" u="none" strike="noStrike" kern="0" cap="none" spc="0" normalizeH="0" baseline="0" noProof="0" dirty="0">
                <a:ln>
                  <a:noFill/>
                </a:ln>
                <a:solidFill>
                  <a:prstClr val="black"/>
                </a:solidFill>
                <a:effectLst/>
                <a:uLnTx/>
                <a:uFillTx/>
                <a:latin typeface="Arial" panose="020B0604020202020204" pitchFamily="34" charset="0"/>
              </a:endParaRPr>
            </a:p>
          </p:txBody>
        </p:sp>
        <p:sp>
          <p:nvSpPr>
            <p:cNvPr id="24" name="Freeform 13">
              <a:extLst>
                <a:ext uri="{FF2B5EF4-FFF2-40B4-BE49-F238E27FC236}">
                  <a16:creationId xmlns:a16="http://schemas.microsoft.com/office/drawing/2014/main" id="{68C7BDFA-AD7C-4887-9E7C-56DBE5CCAEB9}"/>
                </a:ext>
              </a:extLst>
            </p:cNvPr>
            <p:cNvSpPr>
              <a:spLocks/>
            </p:cNvSpPr>
            <p:nvPr/>
          </p:nvSpPr>
          <p:spPr bwMode="auto">
            <a:xfrm flipH="1">
              <a:off x="5497049" y="793769"/>
              <a:ext cx="143305" cy="0"/>
            </a:xfrm>
            <a:custGeom>
              <a:avLst/>
              <a:gdLst>
                <a:gd name="T0" fmla="*/ 0 w 178"/>
                <a:gd name="T1" fmla="*/ 0 w 178"/>
                <a:gd name="T2" fmla="*/ 178 w 178"/>
              </a:gdLst>
              <a:ahLst/>
              <a:cxnLst>
                <a:cxn ang="0">
                  <a:pos x="T0" y="0"/>
                </a:cxn>
                <a:cxn ang="0">
                  <a:pos x="T1" y="0"/>
                </a:cxn>
                <a:cxn ang="0">
                  <a:pos x="T2" y="0"/>
                </a:cxn>
              </a:cxnLst>
              <a:rect l="0" t="0" r="r" b="b"/>
              <a:pathLst>
                <a:path w="178">
                  <a:moveTo>
                    <a:pt x="0" y="0"/>
                  </a:moveTo>
                  <a:lnTo>
                    <a:pt x="0" y="0"/>
                  </a:lnTo>
                  <a:lnTo>
                    <a:pt x="178"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5" name="Freeform 14">
              <a:extLst>
                <a:ext uri="{FF2B5EF4-FFF2-40B4-BE49-F238E27FC236}">
                  <a16:creationId xmlns:a16="http://schemas.microsoft.com/office/drawing/2014/main" id="{7ED442AC-62EB-4D6D-8FBA-1DCF27011833}"/>
                </a:ext>
              </a:extLst>
            </p:cNvPr>
            <p:cNvSpPr>
              <a:spLocks/>
            </p:cNvSpPr>
            <p:nvPr/>
          </p:nvSpPr>
          <p:spPr bwMode="auto">
            <a:xfrm flipH="1">
              <a:off x="5640354" y="699710"/>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6" name="Freeform 15">
              <a:extLst>
                <a:ext uri="{FF2B5EF4-FFF2-40B4-BE49-F238E27FC236}">
                  <a16:creationId xmlns:a16="http://schemas.microsoft.com/office/drawing/2014/main" id="{DF712647-EAF3-4188-9F59-BFAB2EB6D811}"/>
                </a:ext>
              </a:extLst>
            </p:cNvPr>
            <p:cNvSpPr>
              <a:spLocks/>
            </p:cNvSpPr>
            <p:nvPr/>
          </p:nvSpPr>
          <p:spPr bwMode="auto">
            <a:xfrm flipH="1">
              <a:off x="5821614" y="878304"/>
              <a:ext cx="34290" cy="534114"/>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7" name="Freeform 17">
              <a:extLst>
                <a:ext uri="{FF2B5EF4-FFF2-40B4-BE49-F238E27FC236}">
                  <a16:creationId xmlns:a16="http://schemas.microsoft.com/office/drawing/2014/main" id="{3108AB9D-C9EB-4E06-92DB-3011CD206156}"/>
                </a:ext>
              </a:extLst>
            </p:cNvPr>
            <p:cNvSpPr>
              <a:spLocks/>
            </p:cNvSpPr>
            <p:nvPr/>
          </p:nvSpPr>
          <p:spPr bwMode="auto">
            <a:xfrm flipH="1">
              <a:off x="5684175" y="878304"/>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8" name="Freeform 18">
              <a:extLst>
                <a:ext uri="{FF2B5EF4-FFF2-40B4-BE49-F238E27FC236}">
                  <a16:creationId xmlns:a16="http://schemas.microsoft.com/office/drawing/2014/main" id="{5DF56C25-61B1-4746-B680-8639AB050580}"/>
                </a:ext>
              </a:extLst>
            </p:cNvPr>
            <p:cNvSpPr>
              <a:spLocks/>
            </p:cNvSpPr>
            <p:nvPr/>
          </p:nvSpPr>
          <p:spPr bwMode="auto">
            <a:xfrm flipH="1">
              <a:off x="5684175" y="706854"/>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type="triangl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29" name="Freeform 19">
              <a:extLst>
                <a:ext uri="{FF2B5EF4-FFF2-40B4-BE49-F238E27FC236}">
                  <a16:creationId xmlns:a16="http://schemas.microsoft.com/office/drawing/2014/main" id="{4D3EF18B-6F2B-43E9-A92C-C8625CD00233}"/>
                </a:ext>
              </a:extLst>
            </p:cNvPr>
            <p:cNvSpPr>
              <a:spLocks/>
            </p:cNvSpPr>
            <p:nvPr/>
          </p:nvSpPr>
          <p:spPr bwMode="auto">
            <a:xfrm flipH="1">
              <a:off x="5684175" y="655657"/>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0" name="Freeform 15">
              <a:extLst>
                <a:ext uri="{FF2B5EF4-FFF2-40B4-BE49-F238E27FC236}">
                  <a16:creationId xmlns:a16="http://schemas.microsoft.com/office/drawing/2014/main" id="{A82EF39D-F3AF-45A7-8A17-39DC476EDDC8}"/>
                </a:ext>
              </a:extLst>
            </p:cNvPr>
            <p:cNvSpPr>
              <a:spLocks/>
            </p:cNvSpPr>
            <p:nvPr/>
          </p:nvSpPr>
          <p:spPr bwMode="auto">
            <a:xfrm flipH="1">
              <a:off x="5832090" y="402529"/>
              <a:ext cx="34290" cy="30432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1" name="Freeform 13">
              <a:extLst>
                <a:ext uri="{FF2B5EF4-FFF2-40B4-BE49-F238E27FC236}">
                  <a16:creationId xmlns:a16="http://schemas.microsoft.com/office/drawing/2014/main" id="{9430501E-C03D-4EE9-B390-434505CF205B}"/>
                </a:ext>
              </a:extLst>
            </p:cNvPr>
            <p:cNvSpPr>
              <a:spLocks/>
            </p:cNvSpPr>
            <p:nvPr/>
          </p:nvSpPr>
          <p:spPr bwMode="auto">
            <a:xfrm flipH="1">
              <a:off x="5497057" y="1610061"/>
              <a:ext cx="143305" cy="0"/>
            </a:xfrm>
            <a:custGeom>
              <a:avLst/>
              <a:gdLst>
                <a:gd name="T0" fmla="*/ 0 w 178"/>
                <a:gd name="T1" fmla="*/ 0 w 178"/>
                <a:gd name="T2" fmla="*/ 178 w 178"/>
              </a:gdLst>
              <a:ahLst/>
              <a:cxnLst>
                <a:cxn ang="0">
                  <a:pos x="T0" y="0"/>
                </a:cxn>
                <a:cxn ang="0">
                  <a:pos x="T1" y="0"/>
                </a:cxn>
                <a:cxn ang="0">
                  <a:pos x="T2" y="0"/>
                </a:cxn>
              </a:cxnLst>
              <a:rect l="0" t="0" r="r" b="b"/>
              <a:pathLst>
                <a:path w="178">
                  <a:moveTo>
                    <a:pt x="0" y="0"/>
                  </a:moveTo>
                  <a:lnTo>
                    <a:pt x="0" y="0"/>
                  </a:lnTo>
                  <a:lnTo>
                    <a:pt x="178"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2" name="Freeform 14">
              <a:extLst>
                <a:ext uri="{FF2B5EF4-FFF2-40B4-BE49-F238E27FC236}">
                  <a16:creationId xmlns:a16="http://schemas.microsoft.com/office/drawing/2014/main" id="{7D460B10-28EA-4EC8-9594-FABD24B19EC6}"/>
                </a:ext>
              </a:extLst>
            </p:cNvPr>
            <p:cNvSpPr>
              <a:spLocks/>
            </p:cNvSpPr>
            <p:nvPr/>
          </p:nvSpPr>
          <p:spPr bwMode="auto">
            <a:xfrm flipH="1">
              <a:off x="5640362" y="1516002"/>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3" name="Freeform 15">
              <a:extLst>
                <a:ext uri="{FF2B5EF4-FFF2-40B4-BE49-F238E27FC236}">
                  <a16:creationId xmlns:a16="http://schemas.microsoft.com/office/drawing/2014/main" id="{2C2862FE-B389-41A4-84F4-4E287F4FB1FB}"/>
                </a:ext>
              </a:extLst>
            </p:cNvPr>
            <p:cNvSpPr>
              <a:spLocks/>
            </p:cNvSpPr>
            <p:nvPr/>
          </p:nvSpPr>
          <p:spPr bwMode="auto">
            <a:xfrm flipH="1">
              <a:off x="5809121" y="1704121"/>
              <a:ext cx="34290" cy="235743"/>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4" name="Freeform 17">
              <a:extLst>
                <a:ext uri="{FF2B5EF4-FFF2-40B4-BE49-F238E27FC236}">
                  <a16:creationId xmlns:a16="http://schemas.microsoft.com/office/drawing/2014/main" id="{70A2F9E1-8404-4CE4-BF90-6FA366A106A9}"/>
                </a:ext>
              </a:extLst>
            </p:cNvPr>
            <p:cNvSpPr>
              <a:spLocks/>
            </p:cNvSpPr>
            <p:nvPr/>
          </p:nvSpPr>
          <p:spPr bwMode="auto">
            <a:xfrm flipH="1">
              <a:off x="5684183" y="1694596"/>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type="triangle"/>
              <a:tailEnd type="non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5" name="Freeform 18">
              <a:extLst>
                <a:ext uri="{FF2B5EF4-FFF2-40B4-BE49-F238E27FC236}">
                  <a16:creationId xmlns:a16="http://schemas.microsoft.com/office/drawing/2014/main" id="{5487C945-2C68-442D-B843-EBBCB8A7FC4E}"/>
                </a:ext>
              </a:extLst>
            </p:cNvPr>
            <p:cNvSpPr>
              <a:spLocks/>
            </p:cNvSpPr>
            <p:nvPr/>
          </p:nvSpPr>
          <p:spPr bwMode="auto">
            <a:xfrm flipH="1">
              <a:off x="5684183" y="1523146"/>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6" name="Freeform 19">
              <a:extLst>
                <a:ext uri="{FF2B5EF4-FFF2-40B4-BE49-F238E27FC236}">
                  <a16:creationId xmlns:a16="http://schemas.microsoft.com/office/drawing/2014/main" id="{9B2362B4-081F-461F-BFA6-1062729AD549}"/>
                </a:ext>
              </a:extLst>
            </p:cNvPr>
            <p:cNvSpPr>
              <a:spLocks/>
            </p:cNvSpPr>
            <p:nvPr/>
          </p:nvSpPr>
          <p:spPr bwMode="auto">
            <a:xfrm flipH="1">
              <a:off x="5684182" y="1471949"/>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7" name="Freeform 15">
              <a:extLst>
                <a:ext uri="{FF2B5EF4-FFF2-40B4-BE49-F238E27FC236}">
                  <a16:creationId xmlns:a16="http://schemas.microsoft.com/office/drawing/2014/main" id="{CB1FDFBC-0C65-4D3E-9BCF-2F887204C0ED}"/>
                </a:ext>
              </a:extLst>
            </p:cNvPr>
            <p:cNvSpPr>
              <a:spLocks/>
            </p:cNvSpPr>
            <p:nvPr/>
          </p:nvSpPr>
          <p:spPr bwMode="auto">
            <a:xfrm flipH="1">
              <a:off x="5855912" y="1417180"/>
              <a:ext cx="0" cy="105966"/>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8" name="Freeform 35">
              <a:extLst>
                <a:ext uri="{FF2B5EF4-FFF2-40B4-BE49-F238E27FC236}">
                  <a16:creationId xmlns:a16="http://schemas.microsoft.com/office/drawing/2014/main" id="{D1BD302C-79AB-4E2F-8141-F80E5C3B2B42}"/>
                </a:ext>
              </a:extLst>
            </p:cNvPr>
            <p:cNvSpPr>
              <a:spLocks/>
            </p:cNvSpPr>
            <p:nvPr/>
          </p:nvSpPr>
          <p:spPr bwMode="auto">
            <a:xfrm>
              <a:off x="5287507" y="793769"/>
              <a:ext cx="304800"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39" name="Freeform 35">
              <a:extLst>
                <a:ext uri="{FF2B5EF4-FFF2-40B4-BE49-F238E27FC236}">
                  <a16:creationId xmlns:a16="http://schemas.microsoft.com/office/drawing/2014/main" id="{4E0B4354-5036-4F5E-9C62-79EF0E20F3DD}"/>
                </a:ext>
              </a:extLst>
            </p:cNvPr>
            <p:cNvSpPr>
              <a:spLocks/>
            </p:cNvSpPr>
            <p:nvPr/>
          </p:nvSpPr>
          <p:spPr bwMode="auto">
            <a:xfrm>
              <a:off x="5291083" y="1610062"/>
              <a:ext cx="304800"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0" name="Freeform 15">
              <a:extLst>
                <a:ext uri="{FF2B5EF4-FFF2-40B4-BE49-F238E27FC236}">
                  <a16:creationId xmlns:a16="http://schemas.microsoft.com/office/drawing/2014/main" id="{EF99938C-C5BD-48FD-B785-C584E760DEA7}"/>
                </a:ext>
              </a:extLst>
            </p:cNvPr>
            <p:cNvSpPr>
              <a:spLocks/>
            </p:cNvSpPr>
            <p:nvPr/>
          </p:nvSpPr>
          <p:spPr bwMode="auto">
            <a:xfrm flipH="1">
              <a:off x="5231335" y="796629"/>
              <a:ext cx="49169" cy="812242"/>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1" name="Freeform 15">
              <a:extLst>
                <a:ext uri="{FF2B5EF4-FFF2-40B4-BE49-F238E27FC236}">
                  <a16:creationId xmlns:a16="http://schemas.microsoft.com/office/drawing/2014/main" id="{A030F800-E1BD-45E1-B301-EDAB6108BE1C}"/>
                </a:ext>
              </a:extLst>
            </p:cNvPr>
            <p:cNvSpPr>
              <a:spLocks/>
            </p:cNvSpPr>
            <p:nvPr/>
          </p:nvSpPr>
          <p:spPr bwMode="auto">
            <a:xfrm rot="16200000" flipH="1">
              <a:off x="5441115" y="825955"/>
              <a:ext cx="81155" cy="756136"/>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2" name="Freeform 38">
              <a:extLst>
                <a:ext uri="{FF2B5EF4-FFF2-40B4-BE49-F238E27FC236}">
                  <a16:creationId xmlns:a16="http://schemas.microsoft.com/office/drawing/2014/main" id="{DC8A6764-923D-4E62-9CD8-AA0A89EFB3E8}"/>
                </a:ext>
              </a:extLst>
            </p:cNvPr>
            <p:cNvSpPr>
              <a:spLocks noEditPoints="1"/>
            </p:cNvSpPr>
            <p:nvPr/>
          </p:nvSpPr>
          <p:spPr bwMode="auto">
            <a:xfrm>
              <a:off x="5029266" y="1124168"/>
              <a:ext cx="80963" cy="78581"/>
            </a:xfrm>
            <a:custGeom>
              <a:avLst/>
              <a:gdLst>
                <a:gd name="T0" fmla="*/ 48 w 101"/>
                <a:gd name="T1" fmla="*/ 0 h 97"/>
                <a:gd name="T2" fmla="*/ 48 w 101"/>
                <a:gd name="T3" fmla="*/ 0 h 97"/>
                <a:gd name="T4" fmla="*/ 0 w 101"/>
                <a:gd name="T5" fmla="*/ 0 h 97"/>
                <a:gd name="T6" fmla="*/ 0 w 101"/>
                <a:gd name="T7" fmla="*/ 48 h 97"/>
                <a:gd name="T8" fmla="*/ 101 w 101"/>
                <a:gd name="T9" fmla="*/ 48 h 97"/>
                <a:gd name="T10" fmla="*/ 101 w 101"/>
                <a:gd name="T11" fmla="*/ 48 h 97"/>
                <a:gd name="T12" fmla="*/ 48 w 101"/>
                <a:gd name="T13" fmla="*/ 0 h 97"/>
                <a:gd name="T14" fmla="*/ 0 w 101"/>
                <a:gd name="T15" fmla="*/ 48 h 97"/>
                <a:gd name="T16" fmla="*/ 0 w 101"/>
                <a:gd name="T17" fmla="*/ 48 h 97"/>
                <a:gd name="T18" fmla="*/ 0 w 101"/>
                <a:gd name="T19" fmla="*/ 97 h 97"/>
                <a:gd name="T20" fmla="*/ 48 w 101"/>
                <a:gd name="T21" fmla="*/ 97 h 97"/>
                <a:gd name="T22" fmla="*/ 101 w 101"/>
                <a:gd name="T23"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97">
                  <a:moveTo>
                    <a:pt x="48" y="0"/>
                  </a:moveTo>
                  <a:lnTo>
                    <a:pt x="48" y="0"/>
                  </a:lnTo>
                  <a:lnTo>
                    <a:pt x="0" y="0"/>
                  </a:lnTo>
                  <a:lnTo>
                    <a:pt x="0" y="48"/>
                  </a:lnTo>
                  <a:moveTo>
                    <a:pt x="101" y="48"/>
                  </a:moveTo>
                  <a:lnTo>
                    <a:pt x="101" y="48"/>
                  </a:lnTo>
                  <a:lnTo>
                    <a:pt x="48" y="0"/>
                  </a:lnTo>
                  <a:moveTo>
                    <a:pt x="0" y="48"/>
                  </a:moveTo>
                  <a:lnTo>
                    <a:pt x="0" y="48"/>
                  </a:lnTo>
                  <a:lnTo>
                    <a:pt x="0" y="97"/>
                  </a:lnTo>
                  <a:lnTo>
                    <a:pt x="48" y="97"/>
                  </a:lnTo>
                  <a:lnTo>
                    <a:pt x="101" y="48"/>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3" name="Freeform 28">
              <a:extLst>
                <a:ext uri="{FF2B5EF4-FFF2-40B4-BE49-F238E27FC236}">
                  <a16:creationId xmlns:a16="http://schemas.microsoft.com/office/drawing/2014/main" id="{2D090D53-AA31-43C7-9201-B8AAC1696F89}"/>
                </a:ext>
              </a:extLst>
            </p:cNvPr>
            <p:cNvSpPr>
              <a:spLocks/>
            </p:cNvSpPr>
            <p:nvPr/>
          </p:nvSpPr>
          <p:spPr bwMode="auto">
            <a:xfrm>
              <a:off x="5793396" y="402529"/>
              <a:ext cx="163115" cy="0"/>
            </a:xfrm>
            <a:custGeom>
              <a:avLst/>
              <a:gdLst>
                <a:gd name="T0" fmla="*/ 0 w 201"/>
                <a:gd name="T1" fmla="*/ 0 w 201"/>
                <a:gd name="T2" fmla="*/ 201 w 201"/>
              </a:gdLst>
              <a:ahLst/>
              <a:cxnLst>
                <a:cxn ang="0">
                  <a:pos x="T0" y="0"/>
                </a:cxn>
                <a:cxn ang="0">
                  <a:pos x="T1" y="0"/>
                </a:cxn>
                <a:cxn ang="0">
                  <a:pos x="T2" y="0"/>
                </a:cxn>
              </a:cxnLst>
              <a:rect l="0" t="0" r="r" b="b"/>
              <a:pathLst>
                <a:path w="201">
                  <a:moveTo>
                    <a:pt x="0" y="0"/>
                  </a:moveTo>
                  <a:lnTo>
                    <a:pt x="0" y="0"/>
                  </a:lnTo>
                  <a:lnTo>
                    <a:pt x="201" y="0"/>
                  </a:lnTo>
                </a:path>
              </a:pathLst>
            </a:custGeom>
            <a:noFill/>
            <a:ln w="508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4" name="Rectangle 43">
              <a:extLst>
                <a:ext uri="{FF2B5EF4-FFF2-40B4-BE49-F238E27FC236}">
                  <a16:creationId xmlns:a16="http://schemas.microsoft.com/office/drawing/2014/main" id="{29AAB53E-57A2-4E99-9C86-185425508048}"/>
                </a:ext>
              </a:extLst>
            </p:cNvPr>
            <p:cNvSpPr>
              <a:spLocks noChangeArrowheads="1"/>
            </p:cNvSpPr>
            <p:nvPr/>
          </p:nvSpPr>
          <p:spPr bwMode="auto">
            <a:xfrm>
              <a:off x="5727970" y="172826"/>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a:ln>
                    <a:noFill/>
                  </a:ln>
                  <a:solidFill>
                    <a:srgbClr val="000000"/>
                  </a:solidFill>
                  <a:effectLst/>
                  <a:uLnTx/>
                  <a:uFillTx/>
                  <a:latin typeface="Arial" panose="020B0604020202020204" pitchFamily="34" charset="0"/>
                </a:rPr>
                <a:t>V</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DD</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45" name="Rectangle 44">
              <a:extLst>
                <a:ext uri="{FF2B5EF4-FFF2-40B4-BE49-F238E27FC236}">
                  <a16:creationId xmlns:a16="http://schemas.microsoft.com/office/drawing/2014/main" id="{27CBE1D0-7CE1-4185-8492-1EB5ADFF7D35}"/>
                </a:ext>
              </a:extLst>
            </p:cNvPr>
            <p:cNvSpPr>
              <a:spLocks noChangeArrowheads="1"/>
            </p:cNvSpPr>
            <p:nvPr/>
          </p:nvSpPr>
          <p:spPr bwMode="auto">
            <a:xfrm>
              <a:off x="5760130" y="711706"/>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US" altLang="en-BE" sz="1050" b="1" i="0" u="none" strike="noStrike" kern="0" cap="none" spc="0" normalizeH="0" baseline="0" noProof="0">
                  <a:ln>
                    <a:noFill/>
                  </a:ln>
                  <a:solidFill>
                    <a:srgbClr val="000000"/>
                  </a:solidFill>
                  <a:effectLst/>
                  <a:uLnTx/>
                  <a:uFillTx/>
                  <a:latin typeface="Arial" panose="020B0604020202020204" pitchFamily="34" charset="0"/>
                </a:rPr>
                <a:t>M</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1</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46" name="Rectangle 45">
              <a:extLst>
                <a:ext uri="{FF2B5EF4-FFF2-40B4-BE49-F238E27FC236}">
                  <a16:creationId xmlns:a16="http://schemas.microsoft.com/office/drawing/2014/main" id="{7AC6F79D-C57E-4C0A-9113-7F4C758E1A12}"/>
                </a:ext>
              </a:extLst>
            </p:cNvPr>
            <p:cNvSpPr>
              <a:spLocks noChangeArrowheads="1"/>
            </p:cNvSpPr>
            <p:nvPr/>
          </p:nvSpPr>
          <p:spPr bwMode="auto">
            <a:xfrm>
              <a:off x="5739188" y="1526093"/>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US" altLang="en-BE" sz="1050" b="1" i="0" u="none" strike="noStrike" kern="0" cap="none" spc="0" normalizeH="0" baseline="0" noProof="0">
                  <a:ln>
                    <a:noFill/>
                  </a:ln>
                  <a:solidFill>
                    <a:srgbClr val="000000"/>
                  </a:solidFill>
                  <a:effectLst/>
                  <a:uLnTx/>
                  <a:uFillTx/>
                  <a:latin typeface="Arial" panose="020B0604020202020204" pitchFamily="34" charset="0"/>
                </a:rPr>
                <a:t>M</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2</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47" name="Freeform 36">
              <a:extLst>
                <a:ext uri="{FF2B5EF4-FFF2-40B4-BE49-F238E27FC236}">
                  <a16:creationId xmlns:a16="http://schemas.microsoft.com/office/drawing/2014/main" id="{7FE46A7E-4E74-4772-995B-C3EFA173A872}"/>
                </a:ext>
              </a:extLst>
            </p:cNvPr>
            <p:cNvSpPr>
              <a:spLocks noEditPoints="1"/>
            </p:cNvSpPr>
            <p:nvPr/>
          </p:nvSpPr>
          <p:spPr bwMode="auto">
            <a:xfrm>
              <a:off x="5246443" y="1130702"/>
              <a:ext cx="65484"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sp>
          <p:nvSpPr>
            <p:cNvPr id="48" name="Freeform 36">
              <a:extLst>
                <a:ext uri="{FF2B5EF4-FFF2-40B4-BE49-F238E27FC236}">
                  <a16:creationId xmlns:a16="http://schemas.microsoft.com/office/drawing/2014/main" id="{2D5B38A9-4C73-46DD-8D69-5C05364432E5}"/>
                </a:ext>
              </a:extLst>
            </p:cNvPr>
            <p:cNvSpPr>
              <a:spLocks noEditPoints="1"/>
            </p:cNvSpPr>
            <p:nvPr/>
          </p:nvSpPr>
          <p:spPr bwMode="auto">
            <a:xfrm>
              <a:off x="5823393" y="1127308"/>
              <a:ext cx="65484"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0" i="0" u="none" strike="noStrike" kern="0" cap="none" spc="0" normalizeH="0" baseline="0" noProof="0">
                <a:ln>
                  <a:noFill/>
                </a:ln>
                <a:solidFill>
                  <a:prstClr val="black"/>
                </a:solidFill>
                <a:effectLst/>
                <a:uLnTx/>
                <a:uFillTx/>
              </a:endParaRPr>
            </a:p>
          </p:txBody>
        </p:sp>
      </p:grpSp>
      <p:sp>
        <p:nvSpPr>
          <p:cNvPr id="49" name="TextBox 48">
            <a:extLst>
              <a:ext uri="{FF2B5EF4-FFF2-40B4-BE49-F238E27FC236}">
                <a16:creationId xmlns:a16="http://schemas.microsoft.com/office/drawing/2014/main" id="{7F16843E-B163-4386-B44D-BC12920451CF}"/>
              </a:ext>
            </a:extLst>
          </p:cNvPr>
          <p:cNvSpPr txBox="1"/>
          <p:nvPr/>
        </p:nvSpPr>
        <p:spPr>
          <a:xfrm>
            <a:off x="1655570" y="3239971"/>
            <a:ext cx="1152144"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rPr>
              <a:t>(a) Symbol</a:t>
            </a:r>
            <a:endParaRPr kumimoji="0" lang="en-BE" sz="1200" b="0" i="0" u="none" strike="noStrike" kern="0" cap="none" spc="0" normalizeH="0" baseline="0" noProof="0">
              <a:ln>
                <a:noFill/>
              </a:ln>
              <a:solidFill>
                <a:prstClr val="black"/>
              </a:solidFill>
              <a:effectLst/>
              <a:uLnTx/>
              <a:uFillTx/>
            </a:endParaRPr>
          </a:p>
        </p:txBody>
      </p:sp>
      <p:sp>
        <p:nvSpPr>
          <p:cNvPr id="50" name="TextBox 49">
            <a:extLst>
              <a:ext uri="{FF2B5EF4-FFF2-40B4-BE49-F238E27FC236}">
                <a16:creationId xmlns:a16="http://schemas.microsoft.com/office/drawing/2014/main" id="{FB9499D0-03AC-4B47-94EA-F7988B19008A}"/>
              </a:ext>
            </a:extLst>
          </p:cNvPr>
          <p:cNvSpPr txBox="1"/>
          <p:nvPr/>
        </p:nvSpPr>
        <p:spPr>
          <a:xfrm>
            <a:off x="4191506" y="3483811"/>
            <a:ext cx="859536"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rPr>
              <a:t>(b) Circuit</a:t>
            </a:r>
            <a:endParaRPr kumimoji="0" lang="en-BE" sz="1200" b="0" i="0" u="none" strike="noStrike" kern="0" cap="none" spc="0" normalizeH="0" baseline="0" noProof="0">
              <a:ln>
                <a:noFill/>
              </a:ln>
              <a:solidFill>
                <a:prstClr val="black"/>
              </a:solidFill>
              <a:effectLst/>
              <a:uLnTx/>
              <a:uFillTx/>
            </a:endParaRPr>
          </a:p>
        </p:txBody>
      </p:sp>
      <p:sp>
        <p:nvSpPr>
          <p:cNvPr id="51" name="TextBox 50">
            <a:extLst>
              <a:ext uri="{FF2B5EF4-FFF2-40B4-BE49-F238E27FC236}">
                <a16:creationId xmlns:a16="http://schemas.microsoft.com/office/drawing/2014/main" id="{90607FD0-9307-425B-B91A-A10C17B9C275}"/>
              </a:ext>
            </a:extLst>
          </p:cNvPr>
          <p:cNvSpPr txBox="1"/>
          <p:nvPr/>
        </p:nvSpPr>
        <p:spPr>
          <a:xfrm>
            <a:off x="1844546" y="3752035"/>
            <a:ext cx="3224784"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rPr>
              <a:t>Fig 1 Symbol and circuit used for the active load</a:t>
            </a:r>
            <a:endParaRPr kumimoji="0" lang="en-BE" sz="1200" b="0" i="0" u="none" strike="noStrike" kern="0" cap="none" spc="0" normalizeH="0" baseline="0" noProof="0">
              <a:ln>
                <a:noFill/>
              </a:ln>
              <a:solidFill>
                <a:prstClr val="black"/>
              </a:solidFill>
              <a:effectLst/>
              <a:uLnTx/>
              <a:uFillTx/>
            </a:endParaRPr>
          </a:p>
        </p:txBody>
      </p:sp>
      <p:sp>
        <p:nvSpPr>
          <p:cNvPr id="52" name="Rectangle 51">
            <a:extLst>
              <a:ext uri="{FF2B5EF4-FFF2-40B4-BE49-F238E27FC236}">
                <a16:creationId xmlns:a16="http://schemas.microsoft.com/office/drawing/2014/main" id="{10FF0AED-94D7-4014-B6E3-5D5DC7388C77}"/>
              </a:ext>
            </a:extLst>
          </p:cNvPr>
          <p:cNvSpPr>
            <a:spLocks noChangeArrowheads="1"/>
          </p:cNvSpPr>
          <p:nvPr/>
        </p:nvSpPr>
        <p:spPr bwMode="auto">
          <a:xfrm>
            <a:off x="904717" y="2388177"/>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a:ln>
                  <a:noFill/>
                </a:ln>
                <a:solidFill>
                  <a:srgbClr val="000000"/>
                </a:solidFill>
                <a:effectLst/>
                <a:uLnTx/>
                <a:uFillTx/>
                <a:latin typeface="Arial" panose="020B0604020202020204" pitchFamily="34" charset="0"/>
              </a:rPr>
              <a:t>V</a:t>
            </a:r>
            <a:r>
              <a:rPr kumimoji="0" lang="en-US" altLang="en-BE" sz="1050" b="1" i="0" u="none" strike="noStrike" kern="0" cap="none" spc="0" normalizeH="0" baseline="-25000" noProof="0">
                <a:ln>
                  <a:noFill/>
                </a:ln>
                <a:solidFill>
                  <a:srgbClr val="000000"/>
                </a:solidFill>
                <a:effectLst/>
                <a:uLnTx/>
                <a:uFillTx/>
                <a:latin typeface="Arial" panose="020B0604020202020204" pitchFamily="34" charset="0"/>
              </a:rPr>
              <a:t>IN</a:t>
            </a:r>
            <a:endParaRPr kumimoji="0" lang="en-BE" altLang="en-BE" sz="1350" b="1" i="0" u="none" strike="noStrike" kern="0" cap="none" spc="0" normalizeH="0" baseline="0" noProof="0">
              <a:ln>
                <a:noFill/>
              </a:ln>
              <a:solidFill>
                <a:prstClr val="black"/>
              </a:solidFill>
              <a:effectLst/>
              <a:uLnTx/>
              <a:uFillTx/>
              <a:latin typeface="Arial" panose="020B0604020202020204" pitchFamily="34" charset="0"/>
            </a:endParaRPr>
          </a:p>
        </p:txBody>
      </p:sp>
      <p:sp>
        <p:nvSpPr>
          <p:cNvPr id="53" name="Rectangle 52">
            <a:extLst>
              <a:ext uri="{FF2B5EF4-FFF2-40B4-BE49-F238E27FC236}">
                <a16:creationId xmlns:a16="http://schemas.microsoft.com/office/drawing/2014/main" id="{68C41C31-6210-4DBE-9D9E-65AF7B1C0982}"/>
              </a:ext>
            </a:extLst>
          </p:cNvPr>
          <p:cNvSpPr/>
          <p:nvPr/>
        </p:nvSpPr>
        <p:spPr>
          <a:xfrm>
            <a:off x="1183" y="4169033"/>
            <a:ext cx="6230865" cy="2572512"/>
          </a:xfrm>
          <a:prstGeom prst="rect">
            <a:avLst/>
          </a:prstGeom>
          <a:solidFill>
            <a:srgbClr val="ED7D31">
              <a:lumMod val="20000"/>
              <a:lumOff val="80000"/>
            </a:srgbClr>
          </a:solidFill>
          <a:ln w="28575" cap="flat" cmpd="sng" algn="ctr">
            <a:solidFill>
              <a:srgbClr val="92D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54" name="Group 53">
            <a:extLst>
              <a:ext uri="{FF2B5EF4-FFF2-40B4-BE49-F238E27FC236}">
                <a16:creationId xmlns:a16="http://schemas.microsoft.com/office/drawing/2014/main" id="{DD365C31-3D78-4CD4-8610-CB4E410F53FA}"/>
              </a:ext>
            </a:extLst>
          </p:cNvPr>
          <p:cNvGrpSpPr/>
          <p:nvPr/>
        </p:nvGrpSpPr>
        <p:grpSpPr>
          <a:xfrm>
            <a:off x="5031484" y="4465230"/>
            <a:ext cx="360934" cy="1762218"/>
            <a:chOff x="9408160" y="275674"/>
            <a:chExt cx="297270" cy="1461381"/>
          </a:xfrm>
        </p:grpSpPr>
        <p:grpSp>
          <p:nvGrpSpPr>
            <p:cNvPr id="55" name="Group 54">
              <a:extLst>
                <a:ext uri="{FF2B5EF4-FFF2-40B4-BE49-F238E27FC236}">
                  <a16:creationId xmlns:a16="http://schemas.microsoft.com/office/drawing/2014/main" id="{95BB8E2F-8B39-4B70-9F11-F3781BC136B4}"/>
                </a:ext>
              </a:extLst>
            </p:cNvPr>
            <p:cNvGrpSpPr/>
            <p:nvPr/>
          </p:nvGrpSpPr>
          <p:grpSpPr>
            <a:xfrm>
              <a:off x="9464284" y="275674"/>
              <a:ext cx="210067" cy="1299126"/>
              <a:chOff x="9464284" y="275674"/>
              <a:chExt cx="210067" cy="1299126"/>
            </a:xfrm>
          </p:grpSpPr>
          <p:grpSp>
            <p:nvGrpSpPr>
              <p:cNvPr id="61" name="Group 60">
                <a:extLst>
                  <a:ext uri="{FF2B5EF4-FFF2-40B4-BE49-F238E27FC236}">
                    <a16:creationId xmlns:a16="http://schemas.microsoft.com/office/drawing/2014/main" id="{498BB3D8-10CF-45A0-8484-BCD8F284D47F}"/>
                  </a:ext>
                </a:extLst>
              </p:cNvPr>
              <p:cNvGrpSpPr/>
              <p:nvPr/>
            </p:nvGrpSpPr>
            <p:grpSpPr>
              <a:xfrm>
                <a:off x="9464284" y="615696"/>
                <a:ext cx="210067" cy="439953"/>
                <a:chOff x="5542451" y="2102326"/>
                <a:chExt cx="174669" cy="355599"/>
              </a:xfrm>
            </p:grpSpPr>
            <p:grpSp>
              <p:nvGrpSpPr>
                <p:cNvPr id="64" name="Group 63">
                  <a:extLst>
                    <a:ext uri="{FF2B5EF4-FFF2-40B4-BE49-F238E27FC236}">
                      <a16:creationId xmlns:a16="http://schemas.microsoft.com/office/drawing/2014/main" id="{21D465D4-65B9-4342-A151-26969F8BB6D5}"/>
                    </a:ext>
                  </a:extLst>
                </p:cNvPr>
                <p:cNvGrpSpPr/>
                <p:nvPr/>
              </p:nvGrpSpPr>
              <p:grpSpPr>
                <a:xfrm>
                  <a:off x="5542451" y="2102326"/>
                  <a:ext cx="166687" cy="236537"/>
                  <a:chOff x="5542451" y="2102326"/>
                  <a:chExt cx="166687" cy="236537"/>
                </a:xfrm>
              </p:grpSpPr>
              <p:sp>
                <p:nvSpPr>
                  <p:cNvPr id="68" name="Freeform 43">
                    <a:extLst>
                      <a:ext uri="{FF2B5EF4-FFF2-40B4-BE49-F238E27FC236}">
                        <a16:creationId xmlns:a16="http://schemas.microsoft.com/office/drawing/2014/main" id="{D5F90C51-5AE9-416B-BA6D-D8FCD178A8DB}"/>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1" i="0" u="none" strike="noStrike" kern="0" cap="none" spc="0" normalizeH="0" baseline="0" noProof="0">
                      <a:ln>
                        <a:noFill/>
                      </a:ln>
                      <a:solidFill>
                        <a:prstClr val="black"/>
                      </a:solidFill>
                      <a:effectLst/>
                      <a:uLnTx/>
                      <a:uFillTx/>
                    </a:endParaRPr>
                  </a:p>
                </p:txBody>
              </p:sp>
              <p:sp>
                <p:nvSpPr>
                  <p:cNvPr id="69" name="Freeform 46">
                    <a:extLst>
                      <a:ext uri="{FF2B5EF4-FFF2-40B4-BE49-F238E27FC236}">
                        <a16:creationId xmlns:a16="http://schemas.microsoft.com/office/drawing/2014/main" id="{A4370269-7F90-4828-AE98-F42F336E1453}"/>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1" i="0" u="none" strike="noStrike" kern="0" cap="none" spc="0" normalizeH="0" baseline="0" noProof="0">
                      <a:ln>
                        <a:noFill/>
                      </a:ln>
                      <a:solidFill>
                        <a:prstClr val="black"/>
                      </a:solidFill>
                      <a:effectLst/>
                      <a:uLnTx/>
                      <a:uFillTx/>
                    </a:endParaRPr>
                  </a:p>
                </p:txBody>
              </p:sp>
            </p:grpSp>
            <p:grpSp>
              <p:nvGrpSpPr>
                <p:cNvPr id="65" name="Group 64">
                  <a:extLst>
                    <a:ext uri="{FF2B5EF4-FFF2-40B4-BE49-F238E27FC236}">
                      <a16:creationId xmlns:a16="http://schemas.microsoft.com/office/drawing/2014/main" id="{74F03332-488A-4834-BF6F-BF6080C0BD82}"/>
                    </a:ext>
                  </a:extLst>
                </p:cNvPr>
                <p:cNvGrpSpPr/>
                <p:nvPr/>
              </p:nvGrpSpPr>
              <p:grpSpPr>
                <a:xfrm>
                  <a:off x="5550433" y="2221388"/>
                  <a:ext cx="166687" cy="236537"/>
                  <a:chOff x="5542451" y="2102326"/>
                  <a:chExt cx="166687" cy="236537"/>
                </a:xfrm>
              </p:grpSpPr>
              <p:sp>
                <p:nvSpPr>
                  <p:cNvPr id="66" name="Freeform 43">
                    <a:extLst>
                      <a:ext uri="{FF2B5EF4-FFF2-40B4-BE49-F238E27FC236}">
                        <a16:creationId xmlns:a16="http://schemas.microsoft.com/office/drawing/2014/main" id="{FD6309A3-A508-46C3-ACB6-76D2A51761EB}"/>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1" i="0" u="none" strike="noStrike" kern="0" cap="none" spc="0" normalizeH="0" baseline="0" noProof="0">
                      <a:ln>
                        <a:noFill/>
                      </a:ln>
                      <a:solidFill>
                        <a:prstClr val="black"/>
                      </a:solidFill>
                      <a:effectLst/>
                      <a:uLnTx/>
                      <a:uFillTx/>
                    </a:endParaRPr>
                  </a:p>
                </p:txBody>
              </p:sp>
              <p:sp>
                <p:nvSpPr>
                  <p:cNvPr id="67" name="Freeform 46">
                    <a:extLst>
                      <a:ext uri="{FF2B5EF4-FFF2-40B4-BE49-F238E27FC236}">
                        <a16:creationId xmlns:a16="http://schemas.microsoft.com/office/drawing/2014/main" id="{AA425845-37B0-457B-8C8F-769ED4CC1953}"/>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BE" sz="1215" b="1" i="0" u="none" strike="noStrike" kern="0" cap="none" spc="0" normalizeH="0" baseline="0" noProof="0">
                      <a:ln>
                        <a:noFill/>
                      </a:ln>
                      <a:solidFill>
                        <a:prstClr val="black"/>
                      </a:solidFill>
                      <a:effectLst/>
                      <a:uLnTx/>
                      <a:uFillTx/>
                    </a:endParaRPr>
                  </a:p>
                </p:txBody>
              </p:sp>
            </p:grpSp>
          </p:grpSp>
          <p:cxnSp>
            <p:nvCxnSpPr>
              <p:cNvPr id="62" name="Straight Arrow Connector 61">
                <a:extLst>
                  <a:ext uri="{FF2B5EF4-FFF2-40B4-BE49-F238E27FC236}">
                    <a16:creationId xmlns:a16="http://schemas.microsoft.com/office/drawing/2014/main" id="{0A145AE8-968B-448A-A1B4-5D40C8509358}"/>
                  </a:ext>
                </a:extLst>
              </p:cNvPr>
              <p:cNvCxnSpPr>
                <a:cxnSpLocks/>
                <a:endCxn id="69" idx="4"/>
              </p:cNvCxnSpPr>
              <p:nvPr/>
            </p:nvCxnSpPr>
            <p:spPr>
              <a:xfrm flipH="1">
                <a:off x="9563871" y="275674"/>
                <a:ext cx="879" cy="340022"/>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63" name="Straight Arrow Connector 62">
                <a:extLst>
                  <a:ext uri="{FF2B5EF4-FFF2-40B4-BE49-F238E27FC236}">
                    <a16:creationId xmlns:a16="http://schemas.microsoft.com/office/drawing/2014/main" id="{3062E74E-CAE0-47C3-A753-1532A7283281}"/>
                  </a:ext>
                </a:extLst>
              </p:cNvPr>
              <p:cNvCxnSpPr>
                <a:cxnSpLocks/>
              </p:cNvCxnSpPr>
              <p:nvPr/>
            </p:nvCxnSpPr>
            <p:spPr>
              <a:xfrm>
                <a:off x="9575164" y="1051136"/>
                <a:ext cx="0" cy="523664"/>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grpSp>
          <p:nvGrpSpPr>
            <p:cNvPr id="56" name="Group 55">
              <a:extLst>
                <a:ext uri="{FF2B5EF4-FFF2-40B4-BE49-F238E27FC236}">
                  <a16:creationId xmlns:a16="http://schemas.microsoft.com/office/drawing/2014/main" id="{543FDA1F-9223-4DD2-90AD-8CE95828236B}"/>
                </a:ext>
              </a:extLst>
            </p:cNvPr>
            <p:cNvGrpSpPr/>
            <p:nvPr/>
          </p:nvGrpSpPr>
          <p:grpSpPr>
            <a:xfrm>
              <a:off x="9408160" y="1580845"/>
              <a:ext cx="297270" cy="156210"/>
              <a:chOff x="6944360" y="1555445"/>
              <a:chExt cx="297270" cy="156210"/>
            </a:xfrm>
          </p:grpSpPr>
          <p:cxnSp>
            <p:nvCxnSpPr>
              <p:cNvPr id="57" name="Straight Arrow Connector 56">
                <a:extLst>
                  <a:ext uri="{FF2B5EF4-FFF2-40B4-BE49-F238E27FC236}">
                    <a16:creationId xmlns:a16="http://schemas.microsoft.com/office/drawing/2014/main" id="{14A341A1-896D-4D5C-A61C-B131D1D47E9A}"/>
                  </a:ext>
                </a:extLst>
              </p:cNvPr>
              <p:cNvCxnSpPr>
                <a:cxnSpLocks/>
              </p:cNvCxnSpPr>
              <p:nvPr/>
            </p:nvCxnSpPr>
            <p:spPr>
              <a:xfrm>
                <a:off x="6944360" y="1555445"/>
                <a:ext cx="297270"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58" name="Straight Arrow Connector 57">
                <a:extLst>
                  <a:ext uri="{FF2B5EF4-FFF2-40B4-BE49-F238E27FC236}">
                    <a16:creationId xmlns:a16="http://schemas.microsoft.com/office/drawing/2014/main" id="{98C0CE44-02B2-4EA9-9D64-9CFF3DF92A28}"/>
                  </a:ext>
                </a:extLst>
              </p:cNvPr>
              <p:cNvCxnSpPr>
                <a:cxnSpLocks/>
              </p:cNvCxnSpPr>
              <p:nvPr/>
            </p:nvCxnSpPr>
            <p:spPr>
              <a:xfrm>
                <a:off x="6989445" y="1606880"/>
                <a:ext cx="208370"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59" name="Straight Arrow Connector 58">
                <a:extLst>
                  <a:ext uri="{FF2B5EF4-FFF2-40B4-BE49-F238E27FC236}">
                    <a16:creationId xmlns:a16="http://schemas.microsoft.com/office/drawing/2014/main" id="{2B8E430C-F8AC-4FC4-854A-7A27A6CE50DF}"/>
                  </a:ext>
                </a:extLst>
              </p:cNvPr>
              <p:cNvCxnSpPr>
                <a:cxnSpLocks/>
              </p:cNvCxnSpPr>
              <p:nvPr/>
            </p:nvCxnSpPr>
            <p:spPr>
              <a:xfrm>
                <a:off x="7046595" y="1662125"/>
                <a:ext cx="11883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60" name="Straight Arrow Connector 59">
                <a:extLst>
                  <a:ext uri="{FF2B5EF4-FFF2-40B4-BE49-F238E27FC236}">
                    <a16:creationId xmlns:a16="http://schemas.microsoft.com/office/drawing/2014/main" id="{C74831CA-903C-4316-897E-6EEFBA768786}"/>
                  </a:ext>
                </a:extLst>
              </p:cNvPr>
              <p:cNvCxnSpPr>
                <a:cxnSpLocks/>
              </p:cNvCxnSpPr>
              <p:nvPr/>
            </p:nvCxnSpPr>
            <p:spPr>
              <a:xfrm>
                <a:off x="7078980" y="1711655"/>
                <a:ext cx="6168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grpSp>
      <p:cxnSp>
        <p:nvCxnSpPr>
          <p:cNvPr id="70" name="Straight Arrow Connector 69">
            <a:extLst>
              <a:ext uri="{FF2B5EF4-FFF2-40B4-BE49-F238E27FC236}">
                <a16:creationId xmlns:a16="http://schemas.microsoft.com/office/drawing/2014/main" id="{4DFEF220-4810-4187-827B-ABDC76B1DC0E}"/>
              </a:ext>
            </a:extLst>
          </p:cNvPr>
          <p:cNvCxnSpPr>
            <a:cxnSpLocks/>
          </p:cNvCxnSpPr>
          <p:nvPr/>
        </p:nvCxnSpPr>
        <p:spPr>
          <a:xfrm>
            <a:off x="4387316" y="4476290"/>
            <a:ext cx="84423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sp>
        <p:nvSpPr>
          <p:cNvPr id="71" name="TextBox 70">
            <a:extLst>
              <a:ext uri="{FF2B5EF4-FFF2-40B4-BE49-F238E27FC236}">
                <a16:creationId xmlns:a16="http://schemas.microsoft.com/office/drawing/2014/main" id="{73421CC3-3580-4450-A1ED-45F91CB8C92D}"/>
              </a:ext>
            </a:extLst>
          </p:cNvPr>
          <p:cNvSpPr txBox="1"/>
          <p:nvPr/>
        </p:nvSpPr>
        <p:spPr>
          <a:xfrm>
            <a:off x="5354733" y="4839593"/>
            <a:ext cx="1045218" cy="461665"/>
          </a:xfrm>
          <a:prstGeom prst="rect">
            <a:avLst/>
          </a:prstGeom>
          <a:noFill/>
        </p:spPr>
        <p:txBody>
          <a:bodyPr wrap="square">
            <a:spAutoFit/>
          </a:bodyPr>
          <a:lstStyle/>
          <a:p>
            <a:pPr>
              <a:defRPr/>
            </a:pPr>
            <a:r>
              <a:rPr lang="en-US" sz="2400" b="1" i="1">
                <a:solidFill>
                  <a:srgbClr val="FF0000"/>
                </a:solidFill>
                <a:cs typeface="Calibri" panose="020F0502020204030204" pitchFamily="34" charset="0"/>
              </a:rPr>
              <a:t>1/</a:t>
            </a:r>
            <a:r>
              <a:rPr lang="en-US" sz="2400" b="1" i="1" err="1">
                <a:solidFill>
                  <a:srgbClr val="FF0000"/>
                </a:solidFill>
                <a:cs typeface="Calibri" panose="020F0502020204030204" pitchFamily="34" charset="0"/>
              </a:rPr>
              <a:t>g</a:t>
            </a:r>
            <a:r>
              <a:rPr lang="en-US" sz="2400" b="1" i="1" baseline="-25000" err="1">
                <a:solidFill>
                  <a:srgbClr val="FF0000"/>
                </a:solidFill>
                <a:cs typeface="Calibri" panose="020F0502020204030204" pitchFamily="34" charset="0"/>
              </a:rPr>
              <a:t>m,L</a:t>
            </a:r>
            <a:r>
              <a:rPr lang="en-US" sz="2400" b="1" i="1" baseline="-25000">
                <a:solidFill>
                  <a:srgbClr val="FF0000"/>
                </a:solidFill>
                <a:cs typeface="Calibri" panose="020F0502020204030204" pitchFamily="34" charset="0"/>
              </a:rPr>
              <a:t> </a:t>
            </a:r>
            <a:endParaRPr lang="en-BE" sz="2400" b="1" i="1">
              <a:solidFill>
                <a:srgbClr val="FF0000"/>
              </a:solidFill>
              <a:cs typeface="Calibri" panose="020F0502020204030204" pitchFamily="34" charset="0"/>
            </a:endParaRPr>
          </a:p>
        </p:txBody>
      </p:sp>
      <p:grpSp>
        <p:nvGrpSpPr>
          <p:cNvPr id="72" name="Group 71">
            <a:extLst>
              <a:ext uri="{FF2B5EF4-FFF2-40B4-BE49-F238E27FC236}">
                <a16:creationId xmlns:a16="http://schemas.microsoft.com/office/drawing/2014/main" id="{CF42EDE4-D1AF-4321-A518-BE7541E99A10}"/>
              </a:ext>
            </a:extLst>
          </p:cNvPr>
          <p:cNvGrpSpPr/>
          <p:nvPr/>
        </p:nvGrpSpPr>
        <p:grpSpPr>
          <a:xfrm>
            <a:off x="100743" y="4339275"/>
            <a:ext cx="3136908" cy="1749877"/>
            <a:chOff x="6780776" y="511618"/>
            <a:chExt cx="3136908" cy="1749877"/>
          </a:xfrm>
        </p:grpSpPr>
        <p:cxnSp>
          <p:nvCxnSpPr>
            <p:cNvPr id="73" name="Straight Arrow Connector 72">
              <a:extLst>
                <a:ext uri="{FF2B5EF4-FFF2-40B4-BE49-F238E27FC236}">
                  <a16:creationId xmlns:a16="http://schemas.microsoft.com/office/drawing/2014/main" id="{E4295E37-BFC0-4E68-9E7F-D636A00F2D1E}"/>
                </a:ext>
              </a:extLst>
            </p:cNvPr>
            <p:cNvCxnSpPr>
              <a:cxnSpLocks/>
            </p:cNvCxnSpPr>
            <p:nvPr/>
          </p:nvCxnSpPr>
          <p:spPr>
            <a:xfrm>
              <a:off x="6949325" y="520617"/>
              <a:ext cx="1732422"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nvGrpSpPr>
            <p:cNvPr id="74" name="Group 73">
              <a:extLst>
                <a:ext uri="{FF2B5EF4-FFF2-40B4-BE49-F238E27FC236}">
                  <a16:creationId xmlns:a16="http://schemas.microsoft.com/office/drawing/2014/main" id="{F544DDAC-1DC6-4796-B78E-12070EFABE90}"/>
                </a:ext>
              </a:extLst>
            </p:cNvPr>
            <p:cNvGrpSpPr/>
            <p:nvPr/>
          </p:nvGrpSpPr>
          <p:grpSpPr>
            <a:xfrm>
              <a:off x="6780776" y="516123"/>
              <a:ext cx="386849" cy="1745372"/>
              <a:chOff x="6923016" y="264244"/>
              <a:chExt cx="318614" cy="1447411"/>
            </a:xfrm>
          </p:grpSpPr>
          <p:grpSp>
            <p:nvGrpSpPr>
              <p:cNvPr id="89" name="Group 88">
                <a:extLst>
                  <a:ext uri="{FF2B5EF4-FFF2-40B4-BE49-F238E27FC236}">
                    <a16:creationId xmlns:a16="http://schemas.microsoft.com/office/drawing/2014/main" id="{A161B9B8-CC78-4DCF-B2C4-1D5C46FB1530}"/>
                  </a:ext>
                </a:extLst>
              </p:cNvPr>
              <p:cNvGrpSpPr/>
              <p:nvPr/>
            </p:nvGrpSpPr>
            <p:grpSpPr>
              <a:xfrm>
                <a:off x="6923016" y="264244"/>
                <a:ext cx="312936" cy="1297856"/>
                <a:chOff x="6923016" y="264244"/>
                <a:chExt cx="312936" cy="1297856"/>
              </a:xfrm>
            </p:grpSpPr>
            <p:grpSp>
              <p:nvGrpSpPr>
                <p:cNvPr id="95" name="Group 94">
                  <a:extLst>
                    <a:ext uri="{FF2B5EF4-FFF2-40B4-BE49-F238E27FC236}">
                      <a16:creationId xmlns:a16="http://schemas.microsoft.com/office/drawing/2014/main" id="{E2FB7D88-34DD-4CC9-83F0-75303CC12C92}"/>
                    </a:ext>
                  </a:extLst>
                </p:cNvPr>
                <p:cNvGrpSpPr/>
                <p:nvPr/>
              </p:nvGrpSpPr>
              <p:grpSpPr>
                <a:xfrm>
                  <a:off x="6923016" y="585216"/>
                  <a:ext cx="312936" cy="448682"/>
                  <a:chOff x="6923016" y="739140"/>
                  <a:chExt cx="176919" cy="294758"/>
                </a:xfrm>
              </p:grpSpPr>
              <p:sp>
                <p:nvSpPr>
                  <p:cNvPr id="98" name="Freeform: Shape 183">
                    <a:extLst>
                      <a:ext uri="{FF2B5EF4-FFF2-40B4-BE49-F238E27FC236}">
                        <a16:creationId xmlns:a16="http://schemas.microsoft.com/office/drawing/2014/main" id="{93579C49-252B-4921-9E53-0FA85E5ED66A}"/>
                      </a:ext>
                    </a:extLst>
                  </p:cNvPr>
                  <p:cNvSpPr/>
                  <p:nvPr/>
                </p:nvSpPr>
                <p:spPr>
                  <a:xfrm>
                    <a:off x="6923016" y="739140"/>
                    <a:ext cx="176919" cy="294758"/>
                  </a:xfrm>
                  <a:custGeom>
                    <a:avLst/>
                    <a:gdLst>
                      <a:gd name="connsiteX0" fmla="*/ 153244 w 176919"/>
                      <a:gd name="connsiteY0" fmla="*/ 142912 h 294758"/>
                      <a:gd name="connsiteX1" fmla="*/ 170192 w 176919"/>
                      <a:gd name="connsiteY1" fmla="*/ 169408 h 294758"/>
                      <a:gd name="connsiteX2" fmla="*/ 176919 w 176919"/>
                      <a:gd name="connsiteY2" fmla="*/ 204529 h 294758"/>
                      <a:gd name="connsiteX3" fmla="*/ 91317 w 176919"/>
                      <a:gd name="connsiteY3" fmla="*/ 294758 h 294758"/>
                      <a:gd name="connsiteX4" fmla="*/ 5715 w 176919"/>
                      <a:gd name="connsiteY4" fmla="*/ 204529 h 294758"/>
                      <a:gd name="connsiteX5" fmla="*/ 12442 w 176919"/>
                      <a:gd name="connsiteY5" fmla="*/ 169408 h 294758"/>
                      <a:gd name="connsiteX6" fmla="*/ 23675 w 176919"/>
                      <a:gd name="connsiteY6" fmla="*/ 151846 h 294758"/>
                      <a:gd name="connsiteX7" fmla="*/ 25072 w 176919"/>
                      <a:gd name="connsiteY7" fmla="*/ 154031 h 294758"/>
                      <a:gd name="connsiteX8" fmla="*/ 85602 w 176919"/>
                      <a:gd name="connsiteY8" fmla="*/ 180458 h 294758"/>
                      <a:gd name="connsiteX9" fmla="*/ 146132 w 176919"/>
                      <a:gd name="connsiteY9" fmla="*/ 154031 h 294758"/>
                      <a:gd name="connsiteX10" fmla="*/ 85602 w 176919"/>
                      <a:gd name="connsiteY10" fmla="*/ 0 h 294758"/>
                      <a:gd name="connsiteX11" fmla="*/ 171204 w 176919"/>
                      <a:gd name="connsiteY11" fmla="*/ 90229 h 294758"/>
                      <a:gd name="connsiteX12" fmla="*/ 164477 w 176919"/>
                      <a:gd name="connsiteY12" fmla="*/ 125350 h 294758"/>
                      <a:gd name="connsiteX13" fmla="*/ 153244 w 176919"/>
                      <a:gd name="connsiteY13" fmla="*/ 142912 h 294758"/>
                      <a:gd name="connsiteX14" fmla="*/ 151847 w 176919"/>
                      <a:gd name="connsiteY14" fmla="*/ 140728 h 294758"/>
                      <a:gd name="connsiteX15" fmla="*/ 91317 w 176919"/>
                      <a:gd name="connsiteY15" fmla="*/ 114300 h 294758"/>
                      <a:gd name="connsiteX16" fmla="*/ 30787 w 176919"/>
                      <a:gd name="connsiteY16" fmla="*/ 140728 h 294758"/>
                      <a:gd name="connsiteX17" fmla="*/ 23675 w 176919"/>
                      <a:gd name="connsiteY17" fmla="*/ 151846 h 294758"/>
                      <a:gd name="connsiteX18" fmla="*/ 6727 w 176919"/>
                      <a:gd name="connsiteY18" fmla="*/ 125350 h 294758"/>
                      <a:gd name="connsiteX19" fmla="*/ 0 w 176919"/>
                      <a:gd name="connsiteY19" fmla="*/ 90229 h 294758"/>
                      <a:gd name="connsiteX20" fmla="*/ 85602 w 176919"/>
                      <a:gd name="connsiteY20" fmla="*/ 0 h 29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919" h="294758">
                        <a:moveTo>
                          <a:pt x="153244" y="142912"/>
                        </a:moveTo>
                        <a:lnTo>
                          <a:pt x="170192" y="169408"/>
                        </a:lnTo>
                        <a:cubicBezTo>
                          <a:pt x="174524" y="180203"/>
                          <a:pt x="176919" y="192071"/>
                          <a:pt x="176919" y="204529"/>
                        </a:cubicBezTo>
                        <a:cubicBezTo>
                          <a:pt x="176919" y="254361"/>
                          <a:pt x="138594" y="294758"/>
                          <a:pt x="91317" y="294758"/>
                        </a:cubicBezTo>
                        <a:cubicBezTo>
                          <a:pt x="44040" y="294758"/>
                          <a:pt x="5715" y="254361"/>
                          <a:pt x="5715" y="204529"/>
                        </a:cubicBezTo>
                        <a:cubicBezTo>
                          <a:pt x="5715" y="192071"/>
                          <a:pt x="8111" y="180203"/>
                          <a:pt x="12442" y="169408"/>
                        </a:cubicBezTo>
                        <a:lnTo>
                          <a:pt x="23675" y="151846"/>
                        </a:lnTo>
                        <a:lnTo>
                          <a:pt x="25072" y="154031"/>
                        </a:lnTo>
                        <a:cubicBezTo>
                          <a:pt x="40563" y="170359"/>
                          <a:pt x="61964" y="180458"/>
                          <a:pt x="85602" y="180458"/>
                        </a:cubicBezTo>
                        <a:cubicBezTo>
                          <a:pt x="109241" y="180458"/>
                          <a:pt x="130641" y="170359"/>
                          <a:pt x="146132" y="154031"/>
                        </a:cubicBezTo>
                        <a:close/>
                        <a:moveTo>
                          <a:pt x="85602" y="0"/>
                        </a:moveTo>
                        <a:cubicBezTo>
                          <a:pt x="132879" y="0"/>
                          <a:pt x="171204" y="40397"/>
                          <a:pt x="171204" y="90229"/>
                        </a:cubicBezTo>
                        <a:cubicBezTo>
                          <a:pt x="171204" y="102687"/>
                          <a:pt x="168809" y="114555"/>
                          <a:pt x="164477" y="125350"/>
                        </a:cubicBezTo>
                        <a:lnTo>
                          <a:pt x="153244" y="142912"/>
                        </a:lnTo>
                        <a:lnTo>
                          <a:pt x="151847" y="140728"/>
                        </a:lnTo>
                        <a:cubicBezTo>
                          <a:pt x="136356" y="124399"/>
                          <a:pt x="114956" y="114300"/>
                          <a:pt x="91317" y="114300"/>
                        </a:cubicBezTo>
                        <a:cubicBezTo>
                          <a:pt x="67679" y="114300"/>
                          <a:pt x="46278" y="124399"/>
                          <a:pt x="30787" y="140728"/>
                        </a:cubicBezTo>
                        <a:lnTo>
                          <a:pt x="23675" y="151846"/>
                        </a:lnTo>
                        <a:lnTo>
                          <a:pt x="6727" y="125350"/>
                        </a:lnTo>
                        <a:cubicBezTo>
                          <a:pt x="2395" y="114555"/>
                          <a:pt x="0" y="102687"/>
                          <a:pt x="0" y="90229"/>
                        </a:cubicBezTo>
                        <a:cubicBezTo>
                          <a:pt x="0" y="40397"/>
                          <a:pt x="38325" y="0"/>
                          <a:pt x="85602" y="0"/>
                        </a:cubicBezTo>
                        <a:close/>
                      </a:path>
                    </a:pathLst>
                  </a:custGeom>
                  <a:solidFill>
                    <a:sysClr val="window" lastClr="FFFFFF"/>
                  </a:solidFill>
                  <a:ln w="19050" cap="flat" cmpd="sng" algn="ctr">
                    <a:solidFill>
                      <a:sysClr val="windowText" lastClr="000000"/>
                    </a:solidFill>
                    <a:prstDash val="solid"/>
                    <a:miter lim="800000"/>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99" name="Straight Arrow Connector 98">
                    <a:extLst>
                      <a:ext uri="{FF2B5EF4-FFF2-40B4-BE49-F238E27FC236}">
                        <a16:creationId xmlns:a16="http://schemas.microsoft.com/office/drawing/2014/main" id="{651E0FF0-E122-43E4-9B31-0C5C6426CCAF}"/>
                      </a:ext>
                    </a:extLst>
                  </p:cNvPr>
                  <p:cNvCxnSpPr/>
                  <p:nvPr/>
                </p:nvCxnSpPr>
                <p:spPr>
                  <a:xfrm>
                    <a:off x="7010400" y="800100"/>
                    <a:ext cx="0" cy="216000"/>
                  </a:xfrm>
                  <a:prstGeom prst="straightConnector1">
                    <a:avLst/>
                  </a:prstGeom>
                  <a:noFill/>
                  <a:ln w="19050" cap="flat" cmpd="sng" algn="ctr">
                    <a:solidFill>
                      <a:sysClr val="windowText" lastClr="000000"/>
                    </a:solidFill>
                    <a:prstDash val="solid"/>
                    <a:miter lim="800000"/>
                    <a:tailEnd type="triangle"/>
                  </a:ln>
                  <a:effectLst/>
                </p:spPr>
              </p:cxnSp>
            </p:grpSp>
            <p:cxnSp>
              <p:nvCxnSpPr>
                <p:cNvPr id="96" name="Straight Arrow Connector 95">
                  <a:extLst>
                    <a:ext uri="{FF2B5EF4-FFF2-40B4-BE49-F238E27FC236}">
                      <a16:creationId xmlns:a16="http://schemas.microsoft.com/office/drawing/2014/main" id="{10ADE7C0-9539-41B2-9CDC-15B4FD60206F}"/>
                    </a:ext>
                  </a:extLst>
                </p:cNvPr>
                <p:cNvCxnSpPr>
                  <a:cxnSpLocks/>
                </p:cNvCxnSpPr>
                <p:nvPr/>
              </p:nvCxnSpPr>
              <p:spPr>
                <a:xfrm>
                  <a:off x="7085964" y="1038436"/>
                  <a:ext cx="0" cy="523664"/>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97" name="Straight Arrow Connector 96">
                  <a:extLst>
                    <a:ext uri="{FF2B5EF4-FFF2-40B4-BE49-F238E27FC236}">
                      <a16:creationId xmlns:a16="http://schemas.microsoft.com/office/drawing/2014/main" id="{C303DCBF-B31A-46C2-8D86-A41459B423CF}"/>
                    </a:ext>
                  </a:extLst>
                </p:cNvPr>
                <p:cNvCxnSpPr/>
                <p:nvPr/>
              </p:nvCxnSpPr>
              <p:spPr>
                <a:xfrm>
                  <a:off x="7067676" y="264244"/>
                  <a:ext cx="0" cy="328796"/>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grpSp>
            <p:nvGrpSpPr>
              <p:cNvPr id="90" name="Group 89">
                <a:extLst>
                  <a:ext uri="{FF2B5EF4-FFF2-40B4-BE49-F238E27FC236}">
                    <a16:creationId xmlns:a16="http://schemas.microsoft.com/office/drawing/2014/main" id="{B06B0B36-FBCF-4642-A972-F53B0DFA0E55}"/>
                  </a:ext>
                </a:extLst>
              </p:cNvPr>
              <p:cNvGrpSpPr/>
              <p:nvPr/>
            </p:nvGrpSpPr>
            <p:grpSpPr>
              <a:xfrm>
                <a:off x="6944360" y="1555445"/>
                <a:ext cx="297270" cy="156210"/>
                <a:chOff x="6944360" y="1555445"/>
                <a:chExt cx="297270" cy="156210"/>
              </a:xfrm>
            </p:grpSpPr>
            <p:cxnSp>
              <p:nvCxnSpPr>
                <p:cNvPr id="91" name="Straight Arrow Connector 90">
                  <a:extLst>
                    <a:ext uri="{FF2B5EF4-FFF2-40B4-BE49-F238E27FC236}">
                      <a16:creationId xmlns:a16="http://schemas.microsoft.com/office/drawing/2014/main" id="{1B2F7040-B402-4F4E-BF9E-F66808CD1616}"/>
                    </a:ext>
                  </a:extLst>
                </p:cNvPr>
                <p:cNvCxnSpPr>
                  <a:cxnSpLocks/>
                </p:cNvCxnSpPr>
                <p:nvPr/>
              </p:nvCxnSpPr>
              <p:spPr>
                <a:xfrm>
                  <a:off x="6944360" y="1555445"/>
                  <a:ext cx="297270"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92" name="Straight Arrow Connector 91">
                  <a:extLst>
                    <a:ext uri="{FF2B5EF4-FFF2-40B4-BE49-F238E27FC236}">
                      <a16:creationId xmlns:a16="http://schemas.microsoft.com/office/drawing/2014/main" id="{1D8354C9-3928-436C-96FD-7AD3EA0B6F7F}"/>
                    </a:ext>
                  </a:extLst>
                </p:cNvPr>
                <p:cNvCxnSpPr>
                  <a:cxnSpLocks/>
                </p:cNvCxnSpPr>
                <p:nvPr/>
              </p:nvCxnSpPr>
              <p:spPr>
                <a:xfrm>
                  <a:off x="6989445" y="1606880"/>
                  <a:ext cx="208370"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93" name="Straight Arrow Connector 92">
                  <a:extLst>
                    <a:ext uri="{FF2B5EF4-FFF2-40B4-BE49-F238E27FC236}">
                      <a16:creationId xmlns:a16="http://schemas.microsoft.com/office/drawing/2014/main" id="{2556D601-07FB-4353-A42D-66F18C21BBCD}"/>
                    </a:ext>
                  </a:extLst>
                </p:cNvPr>
                <p:cNvCxnSpPr>
                  <a:cxnSpLocks/>
                </p:cNvCxnSpPr>
                <p:nvPr/>
              </p:nvCxnSpPr>
              <p:spPr>
                <a:xfrm>
                  <a:off x="7046595" y="1662125"/>
                  <a:ext cx="11883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94" name="Straight Arrow Connector 93">
                  <a:extLst>
                    <a:ext uri="{FF2B5EF4-FFF2-40B4-BE49-F238E27FC236}">
                      <a16:creationId xmlns:a16="http://schemas.microsoft.com/office/drawing/2014/main" id="{8AEFF73C-E061-46D9-9C26-91F36DA917F0}"/>
                    </a:ext>
                  </a:extLst>
                </p:cNvPr>
                <p:cNvCxnSpPr>
                  <a:cxnSpLocks/>
                </p:cNvCxnSpPr>
                <p:nvPr/>
              </p:nvCxnSpPr>
              <p:spPr>
                <a:xfrm>
                  <a:off x="7078980" y="1711655"/>
                  <a:ext cx="6168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grpSp>
        <p:grpSp>
          <p:nvGrpSpPr>
            <p:cNvPr id="75" name="Group 74">
              <a:extLst>
                <a:ext uri="{FF2B5EF4-FFF2-40B4-BE49-F238E27FC236}">
                  <a16:creationId xmlns:a16="http://schemas.microsoft.com/office/drawing/2014/main" id="{9BFC7F76-96E9-4E8F-9D7F-AC58F902C97D}"/>
                </a:ext>
              </a:extLst>
            </p:cNvPr>
            <p:cNvGrpSpPr/>
            <p:nvPr/>
          </p:nvGrpSpPr>
          <p:grpSpPr>
            <a:xfrm>
              <a:off x="8498095" y="511618"/>
              <a:ext cx="382413" cy="1731590"/>
              <a:chOff x="8554720" y="275674"/>
              <a:chExt cx="314960" cy="1435981"/>
            </a:xfrm>
          </p:grpSpPr>
          <p:grpSp>
            <p:nvGrpSpPr>
              <p:cNvPr id="78" name="Group 77">
                <a:extLst>
                  <a:ext uri="{FF2B5EF4-FFF2-40B4-BE49-F238E27FC236}">
                    <a16:creationId xmlns:a16="http://schemas.microsoft.com/office/drawing/2014/main" id="{4AF0C2C2-9080-473E-AE34-18285ED37034}"/>
                  </a:ext>
                </a:extLst>
              </p:cNvPr>
              <p:cNvGrpSpPr/>
              <p:nvPr/>
            </p:nvGrpSpPr>
            <p:grpSpPr>
              <a:xfrm>
                <a:off x="8556744" y="275674"/>
                <a:ext cx="312936" cy="1290236"/>
                <a:chOff x="8556744" y="275674"/>
                <a:chExt cx="312936" cy="1290236"/>
              </a:xfrm>
            </p:grpSpPr>
            <p:grpSp>
              <p:nvGrpSpPr>
                <p:cNvPr id="84" name="Group 83">
                  <a:extLst>
                    <a:ext uri="{FF2B5EF4-FFF2-40B4-BE49-F238E27FC236}">
                      <a16:creationId xmlns:a16="http://schemas.microsoft.com/office/drawing/2014/main" id="{27814EE5-1409-4523-90D1-1DC7200EA193}"/>
                    </a:ext>
                  </a:extLst>
                </p:cNvPr>
                <p:cNvGrpSpPr/>
                <p:nvPr/>
              </p:nvGrpSpPr>
              <p:grpSpPr>
                <a:xfrm>
                  <a:off x="8556744" y="591312"/>
                  <a:ext cx="312936" cy="448682"/>
                  <a:chOff x="6923016" y="739140"/>
                  <a:chExt cx="176919" cy="294758"/>
                </a:xfrm>
              </p:grpSpPr>
              <p:sp>
                <p:nvSpPr>
                  <p:cNvPr id="87" name="Freeform: Shape 157">
                    <a:extLst>
                      <a:ext uri="{FF2B5EF4-FFF2-40B4-BE49-F238E27FC236}">
                        <a16:creationId xmlns:a16="http://schemas.microsoft.com/office/drawing/2014/main" id="{44BC462B-C102-41FB-94A0-77248C64F528}"/>
                      </a:ext>
                    </a:extLst>
                  </p:cNvPr>
                  <p:cNvSpPr/>
                  <p:nvPr/>
                </p:nvSpPr>
                <p:spPr>
                  <a:xfrm>
                    <a:off x="6923016" y="739140"/>
                    <a:ext cx="176919" cy="294758"/>
                  </a:xfrm>
                  <a:custGeom>
                    <a:avLst/>
                    <a:gdLst>
                      <a:gd name="connsiteX0" fmla="*/ 153244 w 176919"/>
                      <a:gd name="connsiteY0" fmla="*/ 142912 h 294758"/>
                      <a:gd name="connsiteX1" fmla="*/ 170192 w 176919"/>
                      <a:gd name="connsiteY1" fmla="*/ 169408 h 294758"/>
                      <a:gd name="connsiteX2" fmla="*/ 176919 w 176919"/>
                      <a:gd name="connsiteY2" fmla="*/ 204529 h 294758"/>
                      <a:gd name="connsiteX3" fmla="*/ 91317 w 176919"/>
                      <a:gd name="connsiteY3" fmla="*/ 294758 h 294758"/>
                      <a:gd name="connsiteX4" fmla="*/ 5715 w 176919"/>
                      <a:gd name="connsiteY4" fmla="*/ 204529 h 294758"/>
                      <a:gd name="connsiteX5" fmla="*/ 12442 w 176919"/>
                      <a:gd name="connsiteY5" fmla="*/ 169408 h 294758"/>
                      <a:gd name="connsiteX6" fmla="*/ 23675 w 176919"/>
                      <a:gd name="connsiteY6" fmla="*/ 151846 h 294758"/>
                      <a:gd name="connsiteX7" fmla="*/ 25072 w 176919"/>
                      <a:gd name="connsiteY7" fmla="*/ 154031 h 294758"/>
                      <a:gd name="connsiteX8" fmla="*/ 85602 w 176919"/>
                      <a:gd name="connsiteY8" fmla="*/ 180458 h 294758"/>
                      <a:gd name="connsiteX9" fmla="*/ 146132 w 176919"/>
                      <a:gd name="connsiteY9" fmla="*/ 154031 h 294758"/>
                      <a:gd name="connsiteX10" fmla="*/ 85602 w 176919"/>
                      <a:gd name="connsiteY10" fmla="*/ 0 h 294758"/>
                      <a:gd name="connsiteX11" fmla="*/ 171204 w 176919"/>
                      <a:gd name="connsiteY11" fmla="*/ 90229 h 294758"/>
                      <a:gd name="connsiteX12" fmla="*/ 164477 w 176919"/>
                      <a:gd name="connsiteY12" fmla="*/ 125350 h 294758"/>
                      <a:gd name="connsiteX13" fmla="*/ 153244 w 176919"/>
                      <a:gd name="connsiteY13" fmla="*/ 142912 h 294758"/>
                      <a:gd name="connsiteX14" fmla="*/ 151847 w 176919"/>
                      <a:gd name="connsiteY14" fmla="*/ 140728 h 294758"/>
                      <a:gd name="connsiteX15" fmla="*/ 91317 w 176919"/>
                      <a:gd name="connsiteY15" fmla="*/ 114300 h 294758"/>
                      <a:gd name="connsiteX16" fmla="*/ 30787 w 176919"/>
                      <a:gd name="connsiteY16" fmla="*/ 140728 h 294758"/>
                      <a:gd name="connsiteX17" fmla="*/ 23675 w 176919"/>
                      <a:gd name="connsiteY17" fmla="*/ 151846 h 294758"/>
                      <a:gd name="connsiteX18" fmla="*/ 6727 w 176919"/>
                      <a:gd name="connsiteY18" fmla="*/ 125350 h 294758"/>
                      <a:gd name="connsiteX19" fmla="*/ 0 w 176919"/>
                      <a:gd name="connsiteY19" fmla="*/ 90229 h 294758"/>
                      <a:gd name="connsiteX20" fmla="*/ 85602 w 176919"/>
                      <a:gd name="connsiteY20" fmla="*/ 0 h 29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919" h="294758">
                        <a:moveTo>
                          <a:pt x="153244" y="142912"/>
                        </a:moveTo>
                        <a:lnTo>
                          <a:pt x="170192" y="169408"/>
                        </a:lnTo>
                        <a:cubicBezTo>
                          <a:pt x="174524" y="180203"/>
                          <a:pt x="176919" y="192071"/>
                          <a:pt x="176919" y="204529"/>
                        </a:cubicBezTo>
                        <a:cubicBezTo>
                          <a:pt x="176919" y="254361"/>
                          <a:pt x="138594" y="294758"/>
                          <a:pt x="91317" y="294758"/>
                        </a:cubicBezTo>
                        <a:cubicBezTo>
                          <a:pt x="44040" y="294758"/>
                          <a:pt x="5715" y="254361"/>
                          <a:pt x="5715" y="204529"/>
                        </a:cubicBezTo>
                        <a:cubicBezTo>
                          <a:pt x="5715" y="192071"/>
                          <a:pt x="8111" y="180203"/>
                          <a:pt x="12442" y="169408"/>
                        </a:cubicBezTo>
                        <a:lnTo>
                          <a:pt x="23675" y="151846"/>
                        </a:lnTo>
                        <a:lnTo>
                          <a:pt x="25072" y="154031"/>
                        </a:lnTo>
                        <a:cubicBezTo>
                          <a:pt x="40563" y="170359"/>
                          <a:pt x="61964" y="180458"/>
                          <a:pt x="85602" y="180458"/>
                        </a:cubicBezTo>
                        <a:cubicBezTo>
                          <a:pt x="109241" y="180458"/>
                          <a:pt x="130641" y="170359"/>
                          <a:pt x="146132" y="154031"/>
                        </a:cubicBezTo>
                        <a:close/>
                        <a:moveTo>
                          <a:pt x="85602" y="0"/>
                        </a:moveTo>
                        <a:cubicBezTo>
                          <a:pt x="132879" y="0"/>
                          <a:pt x="171204" y="40397"/>
                          <a:pt x="171204" y="90229"/>
                        </a:cubicBezTo>
                        <a:cubicBezTo>
                          <a:pt x="171204" y="102687"/>
                          <a:pt x="168809" y="114555"/>
                          <a:pt x="164477" y="125350"/>
                        </a:cubicBezTo>
                        <a:lnTo>
                          <a:pt x="153244" y="142912"/>
                        </a:lnTo>
                        <a:lnTo>
                          <a:pt x="151847" y="140728"/>
                        </a:lnTo>
                        <a:cubicBezTo>
                          <a:pt x="136356" y="124399"/>
                          <a:pt x="114956" y="114300"/>
                          <a:pt x="91317" y="114300"/>
                        </a:cubicBezTo>
                        <a:cubicBezTo>
                          <a:pt x="67679" y="114300"/>
                          <a:pt x="46278" y="124399"/>
                          <a:pt x="30787" y="140728"/>
                        </a:cubicBezTo>
                        <a:lnTo>
                          <a:pt x="23675" y="151846"/>
                        </a:lnTo>
                        <a:lnTo>
                          <a:pt x="6727" y="125350"/>
                        </a:lnTo>
                        <a:cubicBezTo>
                          <a:pt x="2395" y="114555"/>
                          <a:pt x="0" y="102687"/>
                          <a:pt x="0" y="90229"/>
                        </a:cubicBezTo>
                        <a:cubicBezTo>
                          <a:pt x="0" y="40397"/>
                          <a:pt x="38325" y="0"/>
                          <a:pt x="85602" y="0"/>
                        </a:cubicBezTo>
                        <a:close/>
                      </a:path>
                    </a:pathLst>
                  </a:custGeom>
                  <a:solidFill>
                    <a:sysClr val="window" lastClr="FFFFFF"/>
                  </a:solidFill>
                  <a:ln w="19050" cap="flat" cmpd="sng" algn="ctr">
                    <a:solidFill>
                      <a:sysClr val="windowText" lastClr="000000"/>
                    </a:solidFill>
                    <a:prstDash val="solid"/>
                    <a:miter lim="800000"/>
                  </a:ln>
                  <a:effectLst/>
                </p:spPr>
                <p:txBody>
                  <a:bodyPr wrap="square"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88" name="Straight Arrow Connector 87">
                    <a:extLst>
                      <a:ext uri="{FF2B5EF4-FFF2-40B4-BE49-F238E27FC236}">
                        <a16:creationId xmlns:a16="http://schemas.microsoft.com/office/drawing/2014/main" id="{A0527E0D-3E76-41EE-90EC-D4EC48754B9F}"/>
                      </a:ext>
                    </a:extLst>
                  </p:cNvPr>
                  <p:cNvCxnSpPr/>
                  <p:nvPr/>
                </p:nvCxnSpPr>
                <p:spPr>
                  <a:xfrm>
                    <a:off x="7010400" y="800100"/>
                    <a:ext cx="0" cy="216000"/>
                  </a:xfrm>
                  <a:prstGeom prst="straightConnector1">
                    <a:avLst/>
                  </a:prstGeom>
                  <a:noFill/>
                  <a:ln w="19050" cap="flat" cmpd="sng" algn="ctr">
                    <a:solidFill>
                      <a:sysClr val="windowText" lastClr="000000"/>
                    </a:solidFill>
                    <a:prstDash val="solid"/>
                    <a:miter lim="800000"/>
                    <a:tailEnd type="triangle"/>
                  </a:ln>
                  <a:effectLst/>
                </p:spPr>
              </p:cxnSp>
            </p:grpSp>
            <p:cxnSp>
              <p:nvCxnSpPr>
                <p:cNvPr id="85" name="Straight Arrow Connector 84">
                  <a:extLst>
                    <a:ext uri="{FF2B5EF4-FFF2-40B4-BE49-F238E27FC236}">
                      <a16:creationId xmlns:a16="http://schemas.microsoft.com/office/drawing/2014/main" id="{AD3D566C-8D67-4CAF-AF6F-A20008C334AA}"/>
                    </a:ext>
                  </a:extLst>
                </p:cNvPr>
                <p:cNvCxnSpPr/>
                <p:nvPr/>
              </p:nvCxnSpPr>
              <p:spPr>
                <a:xfrm>
                  <a:off x="8705214" y="275674"/>
                  <a:ext cx="0" cy="328796"/>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86" name="Straight Arrow Connector 85">
                  <a:extLst>
                    <a:ext uri="{FF2B5EF4-FFF2-40B4-BE49-F238E27FC236}">
                      <a16:creationId xmlns:a16="http://schemas.microsoft.com/office/drawing/2014/main" id="{09EBB899-D955-41F7-9C02-9E34E6DF86F5}"/>
                    </a:ext>
                  </a:extLst>
                </p:cNvPr>
                <p:cNvCxnSpPr>
                  <a:cxnSpLocks/>
                </p:cNvCxnSpPr>
                <p:nvPr/>
              </p:nvCxnSpPr>
              <p:spPr>
                <a:xfrm>
                  <a:off x="8724264" y="1042246"/>
                  <a:ext cx="0" cy="523664"/>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grpSp>
            <p:nvGrpSpPr>
              <p:cNvPr id="79" name="Group 78">
                <a:extLst>
                  <a:ext uri="{FF2B5EF4-FFF2-40B4-BE49-F238E27FC236}">
                    <a16:creationId xmlns:a16="http://schemas.microsoft.com/office/drawing/2014/main" id="{2A82EBA5-4435-4823-A831-36EFB3D3A26A}"/>
                  </a:ext>
                </a:extLst>
              </p:cNvPr>
              <p:cNvGrpSpPr/>
              <p:nvPr/>
            </p:nvGrpSpPr>
            <p:grpSpPr>
              <a:xfrm>
                <a:off x="8554720" y="1555445"/>
                <a:ext cx="297270" cy="156210"/>
                <a:chOff x="6944360" y="1555445"/>
                <a:chExt cx="297270" cy="156210"/>
              </a:xfrm>
            </p:grpSpPr>
            <p:cxnSp>
              <p:nvCxnSpPr>
                <p:cNvPr id="80" name="Straight Arrow Connector 79">
                  <a:extLst>
                    <a:ext uri="{FF2B5EF4-FFF2-40B4-BE49-F238E27FC236}">
                      <a16:creationId xmlns:a16="http://schemas.microsoft.com/office/drawing/2014/main" id="{06B16EEF-A41D-46F4-8BB7-BB40D2F3818B}"/>
                    </a:ext>
                  </a:extLst>
                </p:cNvPr>
                <p:cNvCxnSpPr>
                  <a:cxnSpLocks/>
                </p:cNvCxnSpPr>
                <p:nvPr/>
              </p:nvCxnSpPr>
              <p:spPr>
                <a:xfrm>
                  <a:off x="6944360" y="1555445"/>
                  <a:ext cx="297270"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81" name="Straight Arrow Connector 80">
                  <a:extLst>
                    <a:ext uri="{FF2B5EF4-FFF2-40B4-BE49-F238E27FC236}">
                      <a16:creationId xmlns:a16="http://schemas.microsoft.com/office/drawing/2014/main" id="{C40C77EE-D204-4427-AD4A-FA45E74A86C2}"/>
                    </a:ext>
                  </a:extLst>
                </p:cNvPr>
                <p:cNvCxnSpPr>
                  <a:cxnSpLocks/>
                </p:cNvCxnSpPr>
                <p:nvPr/>
              </p:nvCxnSpPr>
              <p:spPr>
                <a:xfrm>
                  <a:off x="6989445" y="1606880"/>
                  <a:ext cx="208370"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82" name="Straight Arrow Connector 81">
                  <a:extLst>
                    <a:ext uri="{FF2B5EF4-FFF2-40B4-BE49-F238E27FC236}">
                      <a16:creationId xmlns:a16="http://schemas.microsoft.com/office/drawing/2014/main" id="{AE5BF998-7014-406E-A29E-3F408D346FA7}"/>
                    </a:ext>
                  </a:extLst>
                </p:cNvPr>
                <p:cNvCxnSpPr>
                  <a:cxnSpLocks/>
                </p:cNvCxnSpPr>
                <p:nvPr/>
              </p:nvCxnSpPr>
              <p:spPr>
                <a:xfrm>
                  <a:off x="7046595" y="1662125"/>
                  <a:ext cx="11883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83" name="Straight Arrow Connector 82">
                  <a:extLst>
                    <a:ext uri="{FF2B5EF4-FFF2-40B4-BE49-F238E27FC236}">
                      <a16:creationId xmlns:a16="http://schemas.microsoft.com/office/drawing/2014/main" id="{54BFF5F2-EB84-4A8E-82E4-BFDD3B2A09A1}"/>
                    </a:ext>
                  </a:extLst>
                </p:cNvPr>
                <p:cNvCxnSpPr>
                  <a:cxnSpLocks/>
                </p:cNvCxnSpPr>
                <p:nvPr/>
              </p:nvCxnSpPr>
              <p:spPr>
                <a:xfrm>
                  <a:off x="7078980" y="1711655"/>
                  <a:ext cx="61685" cy="0"/>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grpSp>
        </p:grpSp>
        <p:sp>
          <p:nvSpPr>
            <p:cNvPr id="76" name="TextBox 75">
              <a:extLst>
                <a:ext uri="{FF2B5EF4-FFF2-40B4-BE49-F238E27FC236}">
                  <a16:creationId xmlns:a16="http://schemas.microsoft.com/office/drawing/2014/main" id="{AD24414B-16E8-4FE8-8E5D-53E959CF9E78}"/>
                </a:ext>
              </a:extLst>
            </p:cNvPr>
            <p:cNvSpPr txBox="1"/>
            <p:nvPr/>
          </p:nvSpPr>
          <p:spPr>
            <a:xfrm>
              <a:off x="7143742" y="843280"/>
              <a:ext cx="1045218"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1" u="none" strike="noStrike" kern="0" cap="none" spc="0" normalizeH="0" baseline="0" noProof="0">
                  <a:ln>
                    <a:noFill/>
                  </a:ln>
                  <a:solidFill>
                    <a:srgbClr val="FF0000"/>
                  </a:solidFill>
                  <a:effectLst/>
                  <a:uLnTx/>
                  <a:uFillTx/>
                  <a:cs typeface="Calibri" panose="020F0502020204030204" pitchFamily="34" charset="0"/>
                </a:rPr>
                <a:t>g</a:t>
              </a:r>
              <a:r>
                <a:rPr kumimoji="0" lang="en-US" sz="2400" b="1" i="1" u="none" strike="noStrike" kern="0" cap="none" spc="0" normalizeH="0" baseline="-25000" noProof="0">
                  <a:ln>
                    <a:noFill/>
                  </a:ln>
                  <a:solidFill>
                    <a:srgbClr val="FF0000"/>
                  </a:solidFill>
                  <a:effectLst/>
                  <a:uLnTx/>
                  <a:uFillTx/>
                  <a:cs typeface="Calibri" panose="020F0502020204030204" pitchFamily="34" charset="0"/>
                </a:rPr>
                <a:t>m,2 </a:t>
              </a:r>
              <a:r>
                <a:rPr kumimoji="0" lang="en-US" sz="2400" b="1" i="1" u="none" strike="noStrike" kern="0" cap="none" spc="0" normalizeH="0" baseline="0" noProof="0">
                  <a:ln>
                    <a:noFill/>
                  </a:ln>
                  <a:solidFill>
                    <a:srgbClr val="FF0000"/>
                  </a:solidFill>
                  <a:effectLst/>
                  <a:uLnTx/>
                  <a:uFillTx/>
                  <a:cs typeface="Calibri" panose="020F0502020204030204" pitchFamily="34" charset="0"/>
                </a:rPr>
                <a:t>v</a:t>
              </a:r>
              <a:r>
                <a:rPr kumimoji="0" lang="en-US" sz="2400" b="1" i="1" u="none" strike="noStrike" kern="0" cap="none" spc="0" normalizeH="0" baseline="-25000" noProof="0">
                  <a:ln>
                    <a:noFill/>
                  </a:ln>
                  <a:solidFill>
                    <a:srgbClr val="FF0000"/>
                  </a:solidFill>
                  <a:effectLst/>
                  <a:uLnTx/>
                  <a:uFillTx/>
                  <a:cs typeface="Calibri" panose="020F0502020204030204" pitchFamily="34" charset="0"/>
                </a:rPr>
                <a:t>in </a:t>
              </a:r>
              <a:endParaRPr kumimoji="0" lang="en-BE" sz="2400" b="1" i="1" u="none" strike="noStrike" kern="0" cap="none" spc="0" normalizeH="0" baseline="0" noProof="0">
                <a:ln>
                  <a:noFill/>
                </a:ln>
                <a:solidFill>
                  <a:srgbClr val="FF0000"/>
                </a:solidFill>
                <a:effectLst/>
                <a:uLnTx/>
                <a:uFillTx/>
                <a:cs typeface="Calibri" panose="020F0502020204030204" pitchFamily="34" charset="0"/>
              </a:endParaRPr>
            </a:p>
          </p:txBody>
        </p:sp>
        <p:sp>
          <p:nvSpPr>
            <p:cNvPr id="77" name="TextBox 76">
              <a:extLst>
                <a:ext uri="{FF2B5EF4-FFF2-40B4-BE49-F238E27FC236}">
                  <a16:creationId xmlns:a16="http://schemas.microsoft.com/office/drawing/2014/main" id="{C94797A9-C652-4537-A092-BD61D231537B}"/>
                </a:ext>
              </a:extLst>
            </p:cNvPr>
            <p:cNvSpPr txBox="1"/>
            <p:nvPr/>
          </p:nvSpPr>
          <p:spPr>
            <a:xfrm>
              <a:off x="8872466" y="853948"/>
              <a:ext cx="1045218"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1" u="none" strike="noStrike" kern="0" cap="none" spc="0" normalizeH="0" baseline="0" noProof="0">
                  <a:ln>
                    <a:noFill/>
                  </a:ln>
                  <a:solidFill>
                    <a:srgbClr val="FF0000"/>
                  </a:solidFill>
                  <a:effectLst/>
                  <a:uLnTx/>
                  <a:uFillTx/>
                  <a:cs typeface="Calibri" panose="020F0502020204030204" pitchFamily="34" charset="0"/>
                </a:rPr>
                <a:t>g</a:t>
              </a:r>
              <a:r>
                <a:rPr kumimoji="0" lang="en-US" sz="2400" b="1" i="1" u="none" strike="noStrike" kern="0" cap="none" spc="0" normalizeH="0" baseline="-25000" noProof="0">
                  <a:ln>
                    <a:noFill/>
                  </a:ln>
                  <a:solidFill>
                    <a:srgbClr val="FF0000"/>
                  </a:solidFill>
                  <a:effectLst/>
                  <a:uLnTx/>
                  <a:uFillTx/>
                  <a:cs typeface="Calibri" panose="020F0502020204030204" pitchFamily="34" charset="0"/>
                </a:rPr>
                <a:t>m,1 </a:t>
              </a:r>
              <a:r>
                <a:rPr kumimoji="0" lang="en-US" sz="2400" b="1" i="1" u="none" strike="noStrike" kern="0" cap="none" spc="0" normalizeH="0" baseline="0" noProof="0">
                  <a:ln>
                    <a:noFill/>
                  </a:ln>
                  <a:solidFill>
                    <a:srgbClr val="FF0000"/>
                  </a:solidFill>
                  <a:effectLst/>
                  <a:uLnTx/>
                  <a:uFillTx/>
                  <a:cs typeface="Calibri" panose="020F0502020204030204" pitchFamily="34" charset="0"/>
                </a:rPr>
                <a:t>v</a:t>
              </a:r>
              <a:r>
                <a:rPr kumimoji="0" lang="en-US" sz="2400" b="1" i="1" u="none" strike="noStrike" kern="0" cap="none" spc="0" normalizeH="0" baseline="-25000" noProof="0">
                  <a:ln>
                    <a:noFill/>
                  </a:ln>
                  <a:solidFill>
                    <a:srgbClr val="FF0000"/>
                  </a:solidFill>
                  <a:effectLst/>
                  <a:uLnTx/>
                  <a:uFillTx/>
                  <a:cs typeface="Calibri" panose="020F0502020204030204" pitchFamily="34" charset="0"/>
                </a:rPr>
                <a:t>in </a:t>
              </a:r>
              <a:endParaRPr kumimoji="0" lang="en-BE" sz="2400" b="1" i="1" u="none" strike="noStrike" kern="0" cap="none" spc="0" normalizeH="0" baseline="0" noProof="0">
                <a:ln>
                  <a:noFill/>
                </a:ln>
                <a:solidFill>
                  <a:srgbClr val="FF0000"/>
                </a:solidFill>
                <a:effectLst/>
                <a:uLnTx/>
                <a:uFillTx/>
                <a:cs typeface="Calibri" panose="020F0502020204030204" pitchFamily="34" charset="0"/>
              </a:endParaRPr>
            </a:p>
          </p:txBody>
        </p:sp>
      </p:grpSp>
      <p:sp>
        <p:nvSpPr>
          <p:cNvPr id="100" name="TextBox 99">
            <a:extLst>
              <a:ext uri="{FF2B5EF4-FFF2-40B4-BE49-F238E27FC236}">
                <a16:creationId xmlns:a16="http://schemas.microsoft.com/office/drawing/2014/main" id="{E19AFF5D-65B3-4E40-9582-4A01BE09FB1D}"/>
              </a:ext>
            </a:extLst>
          </p:cNvPr>
          <p:cNvSpPr txBox="1"/>
          <p:nvPr/>
        </p:nvSpPr>
        <p:spPr>
          <a:xfrm>
            <a:off x="226735" y="6212455"/>
            <a:ext cx="2084832"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rPr>
              <a:t>(a) Small signal approximation</a:t>
            </a:r>
            <a:endParaRPr kumimoji="0" lang="en-BE" sz="1200" b="0" i="0" u="none" strike="noStrike" kern="0" cap="none" spc="0" normalizeH="0" baseline="0" noProof="0">
              <a:ln>
                <a:noFill/>
              </a:ln>
              <a:solidFill>
                <a:prstClr val="black"/>
              </a:solidFill>
              <a:effectLst/>
              <a:uLnTx/>
              <a:uFillTx/>
            </a:endParaRPr>
          </a:p>
        </p:txBody>
      </p:sp>
      <p:sp>
        <p:nvSpPr>
          <p:cNvPr id="101" name="TextBox 100">
            <a:extLst>
              <a:ext uri="{FF2B5EF4-FFF2-40B4-BE49-F238E27FC236}">
                <a16:creationId xmlns:a16="http://schemas.microsoft.com/office/drawing/2014/main" id="{1142484F-2DB1-4D96-8BFC-2FDC8877A2DD}"/>
              </a:ext>
            </a:extLst>
          </p:cNvPr>
          <p:cNvSpPr txBox="1"/>
          <p:nvPr/>
        </p:nvSpPr>
        <p:spPr>
          <a:xfrm>
            <a:off x="3488095" y="6230743"/>
            <a:ext cx="2791968"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rPr>
              <a:t>(b) Simplified small signal approximation</a:t>
            </a:r>
            <a:endParaRPr kumimoji="0" lang="en-BE" sz="1200" b="0" i="0" u="none" strike="noStrike" kern="0" cap="none" spc="0" normalizeH="0" baseline="0" noProof="0">
              <a:ln>
                <a:noFill/>
              </a:ln>
              <a:solidFill>
                <a:prstClr val="black"/>
              </a:solidFill>
              <a:effectLst/>
              <a:uLnTx/>
              <a:uFillTx/>
            </a:endParaRPr>
          </a:p>
        </p:txBody>
      </p:sp>
      <p:sp>
        <p:nvSpPr>
          <p:cNvPr id="102" name="TextBox 101">
            <a:extLst>
              <a:ext uri="{FF2B5EF4-FFF2-40B4-BE49-F238E27FC236}">
                <a16:creationId xmlns:a16="http://schemas.microsoft.com/office/drawing/2014/main" id="{D5C44BC5-7DC5-45B2-AC49-6E79FB293140}"/>
              </a:ext>
            </a:extLst>
          </p:cNvPr>
          <p:cNvSpPr txBox="1"/>
          <p:nvPr/>
        </p:nvSpPr>
        <p:spPr>
          <a:xfrm>
            <a:off x="2811439" y="6419719"/>
            <a:ext cx="841248" cy="276999"/>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rPr>
              <a:t>Fig 2</a:t>
            </a:r>
            <a:endParaRPr kumimoji="0" lang="en-BE" sz="1200" b="0" i="0" u="none" strike="noStrike" kern="0" cap="none" spc="0" normalizeH="0" baseline="0" noProof="0">
              <a:ln>
                <a:noFill/>
              </a:ln>
              <a:solidFill>
                <a:prstClr val="black"/>
              </a:solidFill>
              <a:effectLst/>
              <a:uLnTx/>
              <a:uFillTx/>
            </a:endParaRPr>
          </a:p>
        </p:txBody>
      </p:sp>
      <mc:AlternateContent xmlns:mc="http://schemas.openxmlformats.org/markup-compatibility/2006" xmlns:a14="http://schemas.microsoft.com/office/drawing/2010/main">
        <mc:Choice Requires="a14">
          <p:sp>
            <p:nvSpPr>
              <p:cNvPr id="106" name="Rectangle 105"/>
              <p:cNvSpPr/>
              <p:nvPr/>
            </p:nvSpPr>
            <p:spPr>
              <a:xfrm>
                <a:off x="6270742" y="1323164"/>
                <a:ext cx="6096000" cy="4110612"/>
              </a:xfrm>
              <a:prstGeom prst="rect">
                <a:avLst/>
              </a:prstGeom>
            </p:spPr>
            <p:txBody>
              <a:bodyPr>
                <a:spAutoFit/>
              </a:bodyPr>
              <a:lstStyle/>
              <a:p>
                <a:pPr>
                  <a:lnSpc>
                    <a:spcPct val="107000"/>
                  </a:lnSpc>
                  <a:spcAft>
                    <a:spcPts val="800"/>
                  </a:spcAft>
                </a:pPr>
                <a:r>
                  <a:rPr lang="en-US" sz="1350" b="1" dirty="0" smtClean="0">
                    <a:effectLst/>
                    <a:latin typeface="Times New Roman" panose="02020603050405020304" pitchFamily="18" charset="0"/>
                    <a:ea typeface="Times New Roman" panose="02020603050405020304" pitchFamily="18" charset="0"/>
                    <a:cs typeface="Times New Roman" panose="02020603050405020304" pitchFamily="18" charset="0"/>
                  </a:rPr>
                  <a:t>Active Load: Key Insights</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Definition &amp; Function:</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An active load provides a dynamic load to a circuit.</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It is essentially an inverter with input and output shorted.</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2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transconductance</a:t>
                </a: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200" i="1" smtClean="0">
                            <a:effectLst/>
                            <a:latin typeface="Cambria Math" panose="02040503050406030204" pitchFamily="18" charset="0"/>
                            <a:cs typeface="Times New Roman" panose="02020603050405020304" pitchFamily="18" charset="0"/>
                          </a:rPr>
                        </m:ctrlPr>
                      </m:sSubPr>
                      <m:e>
                        <m:r>
                          <a:rPr lang="en-US" sz="1200" b="0" i="1" smtClean="0">
                            <a:effectLst/>
                            <a:latin typeface="Cambria Math" panose="02040503050406030204" pitchFamily="18" charset="0"/>
                            <a:cs typeface="Times New Roman" panose="02020603050405020304" pitchFamily="18" charset="0"/>
                          </a:rPr>
                          <m:t>𝑔</m:t>
                        </m:r>
                      </m:e>
                      <m:sub>
                        <m:r>
                          <a:rPr lang="en-US" sz="1200" b="0" i="1" smtClean="0">
                            <a:effectLst/>
                            <a:latin typeface="Cambria Math" panose="02040503050406030204" pitchFamily="18" charset="0"/>
                            <a:cs typeface="Times New Roman" panose="02020603050405020304" pitchFamily="18" charset="0"/>
                          </a:rPr>
                          <m:t>𝑚</m:t>
                        </m:r>
                      </m:sub>
                    </m:sSub>
                  </m:oMath>
                </a14:m>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 represents the combined (</a:t>
                </a:r>
                <a14:m>
                  <m:oMath xmlns:m="http://schemas.openxmlformats.org/officeDocument/2006/math">
                    <m:sSub>
                      <m:sSubPr>
                        <m:ctrlPr>
                          <a:rPr lang="en-US" sz="1200" i="1" smtClean="0">
                            <a:effectLst/>
                            <a:latin typeface="Cambria Math" panose="02040503050406030204" pitchFamily="18" charset="0"/>
                            <a:cs typeface="Times New Roman" panose="02020603050405020304" pitchFamily="18" charset="0"/>
                          </a:rPr>
                        </m:ctrlPr>
                      </m:sSubPr>
                      <m:e>
                        <m:r>
                          <a:rPr lang="en-US" sz="1200" b="0" i="1" smtClean="0">
                            <a:effectLst/>
                            <a:latin typeface="Cambria Math" panose="02040503050406030204" pitchFamily="18" charset="0"/>
                            <a:cs typeface="Times New Roman" panose="02020603050405020304" pitchFamily="18" charset="0"/>
                          </a:rPr>
                          <m:t>𝑔</m:t>
                        </m:r>
                      </m:e>
                      <m:sub>
                        <m:r>
                          <a:rPr lang="en-US" sz="1200" b="0" i="1" smtClean="0">
                            <a:effectLst/>
                            <a:latin typeface="Cambria Math" panose="02040503050406030204" pitchFamily="18" charset="0"/>
                            <a:cs typeface="Times New Roman" panose="02020603050405020304" pitchFamily="18" charset="0"/>
                          </a:rPr>
                          <m:t>𝑚</m:t>
                        </m:r>
                        <m:r>
                          <a:rPr lang="en-US" sz="1200" b="0" i="1" smtClean="0">
                            <a:effectLst/>
                            <a:latin typeface="Cambria Math" panose="02040503050406030204" pitchFamily="18" charset="0"/>
                            <a:cs typeface="Times New Roman" panose="02020603050405020304" pitchFamily="18" charset="0"/>
                          </a:rPr>
                          <m:t>,</m:t>
                        </m:r>
                        <m:r>
                          <a:rPr lang="en-US" sz="1200" b="0" i="1" smtClean="0">
                            <a:effectLst/>
                            <a:latin typeface="Cambria Math" panose="02040503050406030204" pitchFamily="18" charset="0"/>
                            <a:cs typeface="Times New Roman" panose="02020603050405020304" pitchFamily="18" charset="0"/>
                          </a:rPr>
                          <m:t>𝑁𝑀𝑂𝑆</m:t>
                        </m:r>
                      </m:sub>
                    </m:sSub>
                  </m:oMath>
                </a14:m>
                <a:r>
                  <a:rPr lang="en-US" sz="1200" b="0" i="1" u="none" strike="noStrike" baseline="0" dirty="0" smtClean="0"/>
                  <a:t> </a:t>
                </a:r>
                <a:r>
                  <a:rPr lang="en-US" sz="1200" b="0" i="0" u="none" strike="noStrike" baseline="0" dirty="0" smtClean="0"/>
                  <a:t>+ </a:t>
                </a:r>
                <a14:m>
                  <m:oMath xmlns:m="http://schemas.openxmlformats.org/officeDocument/2006/math">
                    <m:sSub>
                      <m:sSubPr>
                        <m:ctrlPr>
                          <a:rPr lang="en-US" sz="1200" i="1" smtClean="0">
                            <a:effectLst/>
                            <a:latin typeface="Cambria Math" panose="02040503050406030204" pitchFamily="18" charset="0"/>
                            <a:cs typeface="Times New Roman" panose="02020603050405020304" pitchFamily="18" charset="0"/>
                          </a:rPr>
                        </m:ctrlPr>
                      </m:sSubPr>
                      <m:e>
                        <m:r>
                          <a:rPr lang="en-US" sz="1200" b="0" i="1" smtClean="0">
                            <a:effectLst/>
                            <a:latin typeface="Cambria Math" panose="02040503050406030204" pitchFamily="18" charset="0"/>
                            <a:cs typeface="Times New Roman" panose="02020603050405020304" pitchFamily="18" charset="0"/>
                          </a:rPr>
                          <m:t>𝑔</m:t>
                        </m:r>
                      </m:e>
                      <m:sub>
                        <m:r>
                          <a:rPr lang="en-US" sz="1200" b="0" i="1" smtClean="0">
                            <a:effectLst/>
                            <a:latin typeface="Cambria Math" panose="02040503050406030204" pitchFamily="18" charset="0"/>
                            <a:cs typeface="Times New Roman" panose="02020603050405020304" pitchFamily="18" charset="0"/>
                          </a:rPr>
                          <m:t>𝑚</m:t>
                        </m:r>
                        <m:r>
                          <a:rPr lang="en-US" sz="1200" b="0" i="1" smtClean="0">
                            <a:effectLst/>
                            <a:latin typeface="Cambria Math" panose="02040503050406030204" pitchFamily="18" charset="0"/>
                            <a:cs typeface="Times New Roman" panose="02020603050405020304" pitchFamily="18" charset="0"/>
                          </a:rPr>
                          <m:t>,</m:t>
                        </m:r>
                        <m:r>
                          <a:rPr lang="en-US" sz="1200" b="0" i="1" smtClean="0">
                            <a:effectLst/>
                            <a:latin typeface="Cambria Math" panose="02040503050406030204" pitchFamily="18" charset="0"/>
                            <a:cs typeface="Times New Roman" panose="02020603050405020304" pitchFamily="18" charset="0"/>
                          </a:rPr>
                          <m:t>𝑃𝑀𝑂𝑆</m:t>
                        </m:r>
                      </m:sub>
                    </m:sSub>
                  </m:oMath>
                </a14:m>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 )of NMOS and PMOS.</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High-Frequency Behavior:</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Simplified small-signal model replaces MOSFETs with voltage-controlled current sources.</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The equivalent load is approximated as </a:t>
                </a:r>
                <a14:m>
                  <m:oMath xmlns:m="http://schemas.openxmlformats.org/officeDocument/2006/math">
                    <m:f>
                      <m:fPr>
                        <m:ctrlPr>
                          <a:rPr lang="en-US" sz="1200" i="1" smtClean="0">
                            <a:effectLst/>
                            <a:latin typeface="Cambria Math" panose="02040503050406030204" pitchFamily="18" charset="0"/>
                            <a:cs typeface="Times New Roman" panose="02020603050405020304" pitchFamily="18" charset="0"/>
                          </a:rPr>
                        </m:ctrlPr>
                      </m:fPr>
                      <m:num>
                        <m:r>
                          <a:rPr lang="en-US" sz="1200" b="0" i="1" smtClean="0">
                            <a:effectLst/>
                            <a:latin typeface="Cambria Math" panose="02040503050406030204" pitchFamily="18" charset="0"/>
                            <a:cs typeface="Times New Roman" panose="02020603050405020304" pitchFamily="18" charset="0"/>
                          </a:rPr>
                          <m:t>1</m:t>
                        </m:r>
                      </m:num>
                      <m:den>
                        <m:sSub>
                          <m:sSubPr>
                            <m:ctrlPr>
                              <a:rPr lang="en-US" sz="1200" i="1" smtClean="0">
                                <a:effectLst/>
                                <a:latin typeface="Cambria Math" panose="02040503050406030204" pitchFamily="18" charset="0"/>
                                <a:cs typeface="Times New Roman" panose="02020603050405020304" pitchFamily="18" charset="0"/>
                              </a:rPr>
                            </m:ctrlPr>
                          </m:sSubPr>
                          <m:e>
                            <m:r>
                              <a:rPr lang="en-US" sz="1200" b="0" i="1" smtClean="0">
                                <a:effectLst/>
                                <a:latin typeface="Cambria Math" panose="02040503050406030204" pitchFamily="18" charset="0"/>
                                <a:cs typeface="Times New Roman" panose="02020603050405020304" pitchFamily="18" charset="0"/>
                              </a:rPr>
                              <m:t>𝑔</m:t>
                            </m:r>
                          </m:e>
                          <m:sub>
                            <m:r>
                              <a:rPr lang="en-US" sz="1200" b="0" i="1" smtClean="0">
                                <a:effectLst/>
                                <a:latin typeface="Cambria Math" panose="02040503050406030204" pitchFamily="18" charset="0"/>
                                <a:cs typeface="Times New Roman" panose="02020603050405020304" pitchFamily="18" charset="0"/>
                              </a:rPr>
                              <m:t>𝑚</m:t>
                            </m:r>
                          </m:sub>
                        </m:sSub>
                      </m:den>
                    </m:f>
                  </m:oMath>
                </a14:m>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 simplifying analysis.</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200" b="1" dirty="0" smtClean="0">
                    <a:effectLst/>
                    <a:latin typeface="Times New Roman" panose="02020603050405020304" pitchFamily="18" charset="0"/>
                    <a:ea typeface="Times New Roman" panose="02020603050405020304" pitchFamily="18" charset="0"/>
                    <a:cs typeface="Times New Roman" panose="02020603050405020304" pitchFamily="18" charset="0"/>
                  </a:rPr>
                  <a:t>Advantages Over Resistors:</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Maintains a stable operating voltage at its input.</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Less variation due to process mismatches, ensuring reliable performance.</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200" dirty="0" smtClean="0">
                    <a:effectLst/>
                    <a:latin typeface="Times New Roman" panose="02020603050405020304" pitchFamily="18" charset="0"/>
                    <a:ea typeface="Times New Roman" panose="02020603050405020304" pitchFamily="18" charset="0"/>
                    <a:cs typeface="Times New Roman" panose="02020603050405020304" pitchFamily="18" charset="0"/>
                  </a:rPr>
                  <a:t>Corrects undefined output voltages, keeping circuits in the desired operating region.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6" name="Rectangle 105"/>
              <p:cNvSpPr>
                <a:spLocks noRot="1" noChangeAspect="1" noMove="1" noResize="1" noEditPoints="1" noAdjustHandles="1" noChangeArrowheads="1" noChangeShapeType="1" noTextEdit="1"/>
              </p:cNvSpPr>
              <p:nvPr/>
            </p:nvSpPr>
            <p:spPr>
              <a:xfrm>
                <a:off x="6270742" y="1323164"/>
                <a:ext cx="6096000" cy="4110612"/>
              </a:xfrm>
              <a:prstGeom prst="rect">
                <a:avLst/>
              </a:prstGeom>
              <a:blipFill>
                <a:blip r:embed="rId2"/>
                <a:stretch>
                  <a:fillRect l="-300" t="-148" b="-445"/>
                </a:stretch>
              </a:blipFill>
            </p:spPr>
            <p:txBody>
              <a:bodyPr/>
              <a:lstStyle/>
              <a:p>
                <a:r>
                  <a:rPr lang="en-US">
                    <a:noFill/>
                  </a:rPr>
                  <a:t> </a:t>
                </a:r>
              </a:p>
            </p:txBody>
          </p:sp>
        </mc:Fallback>
      </mc:AlternateContent>
      <p:sp>
        <p:nvSpPr>
          <p:cNvPr id="107" name="Rectangle 106">
            <a:extLst>
              <a:ext uri="{FF2B5EF4-FFF2-40B4-BE49-F238E27FC236}">
                <a16:creationId xmlns:a16="http://schemas.microsoft.com/office/drawing/2014/main" id="{917A0076-A0A5-4F83-BCA4-B7B6DA9FCD18}"/>
              </a:ext>
            </a:extLst>
          </p:cNvPr>
          <p:cNvSpPr>
            <a:spLocks noChangeArrowheads="1"/>
          </p:cNvSpPr>
          <p:nvPr/>
        </p:nvSpPr>
        <p:spPr bwMode="auto">
          <a:xfrm>
            <a:off x="4751506" y="2571809"/>
            <a:ext cx="278923"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685800" eaLnBrk="0" fontAlgn="base" latinLnBrk="0" hangingPunct="0">
              <a:lnSpc>
                <a:spcPct val="100000"/>
              </a:lnSpc>
              <a:spcBef>
                <a:spcPct val="0"/>
              </a:spcBef>
              <a:spcAft>
                <a:spcPct val="0"/>
              </a:spcAft>
              <a:buClrTx/>
              <a:buSzTx/>
              <a:buFontTx/>
              <a:buNone/>
              <a:tabLst/>
              <a:defRPr/>
            </a:pPr>
            <a:r>
              <a:rPr kumimoji="0" lang="en-BE" altLang="en-BE" sz="1050" b="1" i="0" u="none" strike="noStrike" kern="0" cap="none" spc="0" normalizeH="0" baseline="0" noProof="0" dirty="0" smtClean="0">
                <a:ln>
                  <a:noFill/>
                </a:ln>
                <a:solidFill>
                  <a:srgbClr val="000000"/>
                </a:solidFill>
                <a:effectLst/>
                <a:uLnTx/>
                <a:uFillTx/>
                <a:latin typeface="Arial" panose="020B0604020202020204" pitchFamily="34" charset="0"/>
              </a:rPr>
              <a:t>V</a:t>
            </a:r>
            <a:r>
              <a:rPr lang="en-US" altLang="en-BE" sz="1050" b="1" kern="0" baseline="-25000" dirty="0" smtClean="0">
                <a:solidFill>
                  <a:srgbClr val="000000"/>
                </a:solidFill>
              </a:rPr>
              <a:t>OUT</a:t>
            </a:r>
            <a:endParaRPr kumimoji="0" lang="en-BE" altLang="en-BE" sz="1350" b="1" i="0" u="none" strike="noStrike" kern="0" cap="none" spc="0" normalizeH="0" baseline="0" noProof="0" dirty="0">
              <a:ln>
                <a:noFill/>
              </a:ln>
              <a:solidFill>
                <a:prstClr val="black"/>
              </a:solidFill>
              <a:effectLst/>
              <a:uLnTx/>
              <a:uFillTx/>
              <a:latin typeface="Arial" panose="020B0604020202020204" pitchFamily="34" charset="0"/>
            </a:endParaRPr>
          </a:p>
        </p:txBody>
      </p:sp>
      <p:sp>
        <p:nvSpPr>
          <p:cNvPr id="2" name="Slide Number Placeholder 1"/>
          <p:cNvSpPr>
            <a:spLocks noGrp="1"/>
          </p:cNvSpPr>
          <p:nvPr>
            <p:ph type="sldNum" sz="quarter" idx="12"/>
          </p:nvPr>
        </p:nvSpPr>
        <p:spPr/>
        <p:txBody>
          <a:bodyPr/>
          <a:lstStyle/>
          <a:p>
            <a:fld id="{81A3699F-279E-4EDA-A470-7DA0E35FD13B}" type="slidenum">
              <a:rPr lang="en-US" smtClean="0"/>
              <a:t>69</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103" name="Footer Placeholder 102"/>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162507889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Rectangle 3"/>
              <p:cNvSpPr/>
              <p:nvPr/>
            </p:nvSpPr>
            <p:spPr>
              <a:xfrm>
                <a:off x="243317" y="104864"/>
                <a:ext cx="11789088" cy="6338915"/>
              </a:xfrm>
              <a:prstGeom prst="rect">
                <a:avLst/>
              </a:prstGeom>
            </p:spPr>
            <p:txBody>
              <a:bodyPr wrap="square">
                <a:spAutoFit/>
              </a:bodyPr>
              <a:lstStyle/>
              <a:p>
                <a:pPr>
                  <a:lnSpc>
                    <a:spcPct val="107000"/>
                  </a:lnSpc>
                  <a:spcAft>
                    <a:spcPts val="800"/>
                  </a:spcAf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Key Intuitive Insights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Self-Balancing Mechanism</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The active load automatically sets its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input voltage</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because it forces </a:t>
                </a:r>
                <a14:m>
                  <m:oMath xmlns:m="http://schemas.openxmlformats.org/officeDocument/2006/math">
                    <m:sSub>
                      <m:sSubPr>
                        <m:ctrlPr>
                          <a:rPr lang="en-US" sz="2000" i="1" smtClean="0">
                            <a:effectLst/>
                            <a:latin typeface="Cambria Math" panose="02040503050406030204" pitchFamily="18" charset="0"/>
                            <a:cs typeface="Times New Roman" panose="02020603050405020304" pitchFamily="18" charset="0"/>
                          </a:rPr>
                        </m:ctrlPr>
                      </m:sSubPr>
                      <m:e>
                        <m:r>
                          <a:rPr lang="en-US" sz="2000" b="0" i="1" smtClean="0">
                            <a:effectLst/>
                            <a:latin typeface="Cambria Math" panose="02040503050406030204" pitchFamily="18" charset="0"/>
                            <a:cs typeface="Times New Roman" panose="02020603050405020304" pitchFamily="18" charset="0"/>
                          </a:rPr>
                          <m:t>𝑉</m:t>
                        </m:r>
                      </m:e>
                      <m:sub>
                        <m:r>
                          <a:rPr lang="en-US" sz="2000" b="0" i="1" smtClean="0">
                            <a:effectLst/>
                            <a:latin typeface="Cambria Math" panose="02040503050406030204" pitchFamily="18" charset="0"/>
                            <a:cs typeface="Times New Roman" panose="02020603050405020304" pitchFamily="18" charset="0"/>
                          </a:rPr>
                          <m:t>𝑖𝑛</m:t>
                        </m:r>
                      </m:sub>
                    </m:sSub>
                  </m:oMath>
                </a14:m>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t>
                </a:r>
                <a14:m>
                  <m:oMath xmlns:m="http://schemas.openxmlformats.org/officeDocument/2006/math">
                    <m:sSub>
                      <m:sSubPr>
                        <m:ctrlPr>
                          <a:rPr lang="en-US" sz="2000" i="1" smtClean="0">
                            <a:effectLst/>
                            <a:latin typeface="Cambria Math" panose="02040503050406030204" pitchFamily="18" charset="0"/>
                            <a:cs typeface="Times New Roman" panose="02020603050405020304" pitchFamily="18" charset="0"/>
                          </a:rPr>
                        </m:ctrlPr>
                      </m:sSubPr>
                      <m:e>
                        <m:r>
                          <a:rPr lang="en-US" sz="2000" b="0" i="1" smtClean="0">
                            <a:effectLst/>
                            <a:latin typeface="Cambria Math" panose="02040503050406030204" pitchFamily="18" charset="0"/>
                            <a:cs typeface="Times New Roman" panose="02020603050405020304" pitchFamily="18" charset="0"/>
                          </a:rPr>
                          <m:t>𝑉</m:t>
                        </m:r>
                      </m:e>
                      <m:sub>
                        <m:r>
                          <a:rPr lang="en-US" sz="2000" b="0" i="1" smtClean="0">
                            <a:effectLst/>
                            <a:latin typeface="Cambria Math" panose="02040503050406030204" pitchFamily="18" charset="0"/>
                            <a:cs typeface="Times New Roman" panose="02020603050405020304" pitchFamily="18" charset="0"/>
                          </a:rPr>
                          <m:t>𝑜𝑢𝑡</m:t>
                        </m:r>
                      </m:sub>
                    </m:sSub>
                  </m:oMath>
                </a14:m>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Just like a pressure regulator reacts to changes in flow, the active load adjusts its impedance dynamically.</a:t>
                </a:r>
              </a:p>
              <a:p>
                <a:pPr marL="342900" marR="0" lvl="0" indent="-342900">
                  <a:lnSpc>
                    <a:spcPct val="107000"/>
                  </a:lnSpc>
                  <a:spcBef>
                    <a:spcPts val="0"/>
                  </a:spcBef>
                  <a:spcAft>
                    <a:spcPts val="800"/>
                  </a:spcAft>
                  <a:buFont typeface="+mj-lt"/>
                  <a:buAutoNum type="arabicPeriod"/>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Why It’s Better than a Resistor</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 passive resistor has a fixed value, which can lead to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undesired variations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in circuit behavior.</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The active load, however,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reacts to changes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and maintains a more controlled and predictable response.</a:t>
                </a:r>
              </a:p>
              <a:p>
                <a:pPr marL="342900" marR="0" lvl="0" indent="-342900">
                  <a:lnSpc>
                    <a:spcPct val="107000"/>
                  </a:lnSpc>
                  <a:spcBef>
                    <a:spcPts val="0"/>
                  </a:spcBef>
                  <a:spcAft>
                    <a:spcPts val="800"/>
                  </a:spcAft>
                  <a:buFont typeface="+mj-lt"/>
                  <a:buAutoNum type="arabicPeriod"/>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Small-Signal Model Interpretation</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US" sz="2000" b="1" dirty="0" err="1" smtClean="0">
                    <a:effectLst/>
                    <a:latin typeface="Calibri" panose="020F0502020204030204" pitchFamily="34" charset="0"/>
                    <a:ea typeface="Calibri" panose="020F0502020204030204" pitchFamily="34" charset="0"/>
                    <a:cs typeface="Times New Roman" panose="02020603050405020304" pitchFamily="18" charset="0"/>
                  </a:rPr>
                  <a:t>transconductance</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(gm</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 of the NMOS and PMOS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behaves as a dynamic current source, making the equivalent resistance appear as </a:t>
                </a:r>
                <a14:m>
                  <m:oMath xmlns:m="http://schemas.openxmlformats.org/officeDocument/2006/math">
                    <m:f>
                      <m:fPr>
                        <m:ctrlPr>
                          <a:rPr lang="en-US" sz="2000" i="1" smtClean="0">
                            <a:effectLst/>
                            <a:latin typeface="Cambria Math" panose="02040503050406030204" pitchFamily="18" charset="0"/>
                            <a:cs typeface="Times New Roman" panose="02020603050405020304" pitchFamily="18" charset="0"/>
                          </a:rPr>
                        </m:ctrlPr>
                      </m:fPr>
                      <m:num>
                        <m:r>
                          <a:rPr lang="en-US" sz="2000" b="0" i="1" smtClean="0">
                            <a:effectLst/>
                            <a:latin typeface="Cambria Math" panose="02040503050406030204" pitchFamily="18" charset="0"/>
                            <a:cs typeface="Times New Roman" panose="02020603050405020304" pitchFamily="18" charset="0"/>
                          </a:rPr>
                          <m:t>1</m:t>
                        </m:r>
                      </m:num>
                      <m:den>
                        <m:sSub>
                          <m:sSubPr>
                            <m:ctrlPr>
                              <a:rPr lang="en-US" sz="2000" i="1" smtClean="0">
                                <a:effectLst/>
                                <a:latin typeface="Cambria Math" panose="02040503050406030204" pitchFamily="18" charset="0"/>
                                <a:cs typeface="Times New Roman" panose="02020603050405020304" pitchFamily="18" charset="0"/>
                              </a:rPr>
                            </m:ctrlPr>
                          </m:sSubPr>
                          <m:e>
                            <m:r>
                              <a:rPr lang="en-US" sz="2000" b="0" i="1" smtClean="0">
                                <a:effectLst/>
                                <a:latin typeface="Cambria Math" panose="02040503050406030204" pitchFamily="18" charset="0"/>
                                <a:cs typeface="Times New Roman" panose="02020603050405020304" pitchFamily="18" charset="0"/>
                              </a:rPr>
                              <m:t>𝑔</m:t>
                            </m:r>
                          </m:e>
                          <m:sub>
                            <m:r>
                              <a:rPr lang="en-US" sz="2000" b="0" i="1" smtClean="0">
                                <a:effectLst/>
                                <a:latin typeface="Cambria Math" panose="02040503050406030204" pitchFamily="18" charset="0"/>
                                <a:cs typeface="Times New Roman" panose="02020603050405020304" pitchFamily="18" charset="0"/>
                              </a:rPr>
                              <m:t>𝑚</m:t>
                            </m:r>
                          </m:sub>
                        </m:sSub>
                      </m:den>
                    </m:f>
                  </m:oMath>
                </a14:m>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This is like a valve that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self-adjusts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rather than a fixed-sized hole in a pipe.</a:t>
                </a:r>
              </a:p>
              <a:p>
                <a:pPr>
                  <a:lnSpc>
                    <a:spcPct val="107000"/>
                  </a:lnSpc>
                  <a:spcAft>
                    <a:spcPts val="800"/>
                  </a:spcAf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Final Takeaway</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An active load is a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smart, self-adjusting alternative to a resistor</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in analog design. It provides stability, reduces process mismatch effects, and ensures predictable circuit operation—just like an automatic pressure regulator keeps water pressure steady.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4" name="Rectangle 3"/>
              <p:cNvSpPr>
                <a:spLocks noRot="1" noChangeAspect="1" noMove="1" noResize="1" noEditPoints="1" noAdjustHandles="1" noChangeArrowheads="1" noChangeShapeType="1" noTextEdit="1"/>
              </p:cNvSpPr>
              <p:nvPr/>
            </p:nvSpPr>
            <p:spPr>
              <a:xfrm>
                <a:off x="243317" y="104864"/>
                <a:ext cx="11789088" cy="6338915"/>
              </a:xfrm>
              <a:prstGeom prst="rect">
                <a:avLst/>
              </a:prstGeom>
              <a:blipFill>
                <a:blip r:embed="rId2"/>
                <a:stretch>
                  <a:fillRect l="-569" t="-385" r="-103" b="-481"/>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81A3699F-279E-4EDA-A470-7DA0E35FD13B}" type="slidenum">
              <a:rPr lang="en-US" smtClean="0"/>
              <a:t>70</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41919854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17733" y="585057"/>
            <a:ext cx="11906823" cy="1496692"/>
          </a:xfrm>
          <a:prstGeom prst="rect">
            <a:avLst/>
          </a:prstGeom>
        </p:spPr>
        <p:txBody>
          <a:bodyPr wrap="square">
            <a:spAutoFit/>
          </a:bodyPr>
          <a:lstStyle/>
          <a:p>
            <a:pPr>
              <a:lnSpc>
                <a:spcPct val="107000"/>
              </a:lnSpc>
              <a:spcBef>
                <a:spcPts val="200"/>
              </a:spcBef>
            </a:pPr>
            <a:r>
              <a:rPr lang="en-US"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1. Introduction: What is an Active Load?</a:t>
            </a:r>
            <a:endParaRPr lang="en-US"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dirty="0" smtClean="0">
                <a:effectLst/>
                <a:latin typeface="Times New Roman" panose="02020603050405020304" pitchFamily="18" charset="0"/>
                <a:ea typeface="Times New Roman" panose="02020603050405020304" pitchFamily="18" charset="0"/>
              </a:rPr>
              <a:t>An </a:t>
            </a:r>
            <a:r>
              <a:rPr lang="en-US" b="1" dirty="0" smtClean="0">
                <a:effectLst/>
                <a:latin typeface="Times New Roman" panose="02020603050405020304" pitchFamily="18" charset="0"/>
                <a:ea typeface="Times New Roman" panose="02020603050405020304" pitchFamily="18" charset="0"/>
              </a:rPr>
              <a:t>active load</a:t>
            </a:r>
            <a:r>
              <a:rPr lang="en-US" dirty="0" smtClean="0">
                <a:effectLst/>
                <a:latin typeface="Times New Roman" panose="02020603050405020304" pitchFamily="18" charset="0"/>
                <a:ea typeface="Times New Roman" panose="02020603050405020304" pitchFamily="18" charset="0"/>
              </a:rPr>
              <a:t> is a circuit element that replaces a </a:t>
            </a:r>
            <a:r>
              <a:rPr lang="en-US" b="1" dirty="0" smtClean="0">
                <a:effectLst/>
                <a:latin typeface="Times New Roman" panose="02020603050405020304" pitchFamily="18" charset="0"/>
                <a:ea typeface="Times New Roman" panose="02020603050405020304" pitchFamily="18" charset="0"/>
              </a:rPr>
              <a:t>passive resistor</a:t>
            </a:r>
            <a:r>
              <a:rPr lang="en-US" dirty="0" smtClean="0">
                <a:effectLst/>
                <a:latin typeface="Times New Roman" panose="02020603050405020304" pitchFamily="18" charset="0"/>
                <a:ea typeface="Times New Roman" panose="02020603050405020304" pitchFamily="18" charset="0"/>
              </a:rPr>
              <a:t> using transistors to provide a </a:t>
            </a:r>
            <a:r>
              <a:rPr lang="en-US" b="1" dirty="0" smtClean="0">
                <a:effectLst/>
                <a:latin typeface="Times New Roman" panose="02020603050405020304" pitchFamily="18" charset="0"/>
                <a:ea typeface="Times New Roman" panose="02020603050405020304" pitchFamily="18" charset="0"/>
              </a:rPr>
              <a:t>dynamic, self-regulating load</a:t>
            </a:r>
            <a:r>
              <a:rPr lang="en-US" dirty="0" smtClean="0">
                <a:effectLst/>
                <a:latin typeface="Times New Roman" panose="02020603050405020304" pitchFamily="18" charset="0"/>
                <a:ea typeface="Times New Roman" panose="02020603050405020304" pitchFamily="18" charset="0"/>
              </a:rPr>
              <a:t>.</a:t>
            </a:r>
          </a:p>
          <a:p>
            <a:pPr marL="342900" marR="0" lvl="0" indent="-342900">
              <a:buSzPts val="1000"/>
              <a:buFont typeface="Symbol" panose="05050102010706020507" pitchFamily="18" charset="2"/>
              <a:buChar char=""/>
              <a:tabLst>
                <a:tab pos="457200" algn="l"/>
              </a:tabLst>
            </a:pPr>
            <a:r>
              <a:rPr lang="en-US" dirty="0" smtClean="0">
                <a:effectLst/>
                <a:latin typeface="Times New Roman" panose="02020603050405020304" pitchFamily="18" charset="0"/>
                <a:ea typeface="Times New Roman" panose="02020603050405020304" pitchFamily="18" charset="0"/>
              </a:rPr>
              <a:t>It is commonly implemented using an </a:t>
            </a:r>
            <a:r>
              <a:rPr lang="en-US" b="1" dirty="0" smtClean="0">
                <a:effectLst/>
                <a:latin typeface="Times New Roman" panose="02020603050405020304" pitchFamily="18" charset="0"/>
                <a:ea typeface="Times New Roman" panose="02020603050405020304" pitchFamily="18" charset="0"/>
              </a:rPr>
              <a:t>inverter with input and output shorted</a:t>
            </a:r>
            <a:r>
              <a:rPr lang="en-US" dirty="0" smtClean="0">
                <a:effectLst/>
                <a:latin typeface="Times New Roman" panose="02020603050405020304" pitchFamily="18" charset="0"/>
                <a:ea typeface="Times New Roman" panose="02020603050405020304" pitchFamily="18" charset="0"/>
              </a:rPr>
              <a:t>.</a:t>
            </a:r>
          </a:p>
          <a:p>
            <a:pPr marL="342900" marR="0" lvl="0" indent="-342900">
              <a:buSzPts val="1000"/>
              <a:buFont typeface="Symbol" panose="05050102010706020507" pitchFamily="18" charset="2"/>
              <a:buChar char=""/>
              <a:tabLst>
                <a:tab pos="457200" algn="l"/>
              </a:tabLst>
            </a:pPr>
            <a:r>
              <a:rPr lang="en-US" dirty="0" smtClean="0">
                <a:effectLst/>
                <a:latin typeface="Times New Roman" panose="02020603050405020304" pitchFamily="18" charset="0"/>
                <a:ea typeface="Times New Roman" panose="02020603050405020304" pitchFamily="18" charset="0"/>
              </a:rPr>
              <a:t>The </a:t>
            </a:r>
            <a:r>
              <a:rPr lang="en-US" b="1" dirty="0" smtClean="0">
                <a:effectLst/>
                <a:latin typeface="Times New Roman" panose="02020603050405020304" pitchFamily="18" charset="0"/>
                <a:ea typeface="Times New Roman" panose="02020603050405020304" pitchFamily="18" charset="0"/>
              </a:rPr>
              <a:t>effective impedance</a:t>
            </a:r>
            <a:r>
              <a:rPr lang="en-US" dirty="0" smtClean="0">
                <a:effectLst/>
                <a:latin typeface="Times New Roman" panose="02020603050405020304" pitchFamily="18" charset="0"/>
                <a:ea typeface="Times New Roman" panose="02020603050405020304" pitchFamily="18" charset="0"/>
              </a:rPr>
              <a:t> is determined by transistor </a:t>
            </a:r>
            <a:r>
              <a:rPr lang="en-US" b="1" dirty="0" err="1" smtClean="0">
                <a:effectLst/>
                <a:latin typeface="Times New Roman" panose="02020603050405020304" pitchFamily="18" charset="0"/>
                <a:ea typeface="Times New Roman" panose="02020603050405020304" pitchFamily="18" charset="0"/>
              </a:rPr>
              <a:t>transconductance</a:t>
            </a:r>
            <a:r>
              <a:rPr lang="en-US" b="1" dirty="0" smtClean="0">
                <a:effectLst/>
                <a:latin typeface="Times New Roman" panose="02020603050405020304" pitchFamily="18" charset="0"/>
                <a:ea typeface="Times New Roman" panose="02020603050405020304" pitchFamily="18" charset="0"/>
              </a:rPr>
              <a:t> (gm)</a:t>
            </a:r>
            <a:r>
              <a:rPr lang="en-US" dirty="0" smtClean="0">
                <a:effectLst/>
                <a:latin typeface="Times New Roman" panose="02020603050405020304" pitchFamily="18" charset="0"/>
                <a:ea typeface="Times New Roman" panose="02020603050405020304" pitchFamily="18" charset="0"/>
              </a:rPr>
              <a:t> rather than a fixed resistor value.</a:t>
            </a:r>
            <a:endParaRPr lang="en-US" dirty="0">
              <a:effectLst/>
              <a:latin typeface="Times New Roman" panose="02020603050405020304" pitchFamily="18" charset="0"/>
              <a:ea typeface="Times New Roman" panose="02020603050405020304" pitchFamily="18" charset="0"/>
            </a:endParaRPr>
          </a:p>
        </p:txBody>
      </p:sp>
      <p:sp>
        <p:nvSpPr>
          <p:cNvPr id="9" name="Rectangle 8"/>
          <p:cNvSpPr/>
          <p:nvPr/>
        </p:nvSpPr>
        <p:spPr>
          <a:xfrm>
            <a:off x="243317" y="2244966"/>
            <a:ext cx="11745919" cy="1556132"/>
          </a:xfrm>
          <a:prstGeom prst="rect">
            <a:avLst/>
          </a:prstGeom>
        </p:spPr>
        <p:txBody>
          <a:bodyPr wrap="square">
            <a:spAutoFit/>
          </a:bodyPr>
          <a:lstStyle/>
          <a:p>
            <a:pPr>
              <a:lnSpc>
                <a:spcPct val="107000"/>
              </a:lnSpc>
              <a:spcBef>
                <a:spcPts val="200"/>
              </a:spcBef>
            </a:pPr>
            <a:r>
              <a:rPr lang="en-US" sz="1600"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2. Understanding Fig. 1: Symbol and Circuit of Active Load</a:t>
            </a:r>
            <a:endParaRPr lang="en-US" sz="1600"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US" sz="1600" b="1" dirty="0" smtClean="0">
                <a:effectLst/>
                <a:latin typeface="Times New Roman" panose="02020603050405020304" pitchFamily="18" charset="0"/>
                <a:ea typeface="Times New Roman" panose="02020603050405020304" pitchFamily="18" charset="0"/>
              </a:rPr>
              <a:t>Circuit Representation:</a:t>
            </a:r>
          </a:p>
          <a:p>
            <a:pPr marL="342900" marR="0" lvl="0" indent="-342900">
              <a:buSzPts val="1000"/>
              <a:buFont typeface="Symbol" panose="05050102010706020507" pitchFamily="18" charset="2"/>
              <a:buChar char=""/>
              <a:tabLst>
                <a:tab pos="457200" algn="l"/>
              </a:tabLst>
            </a:pPr>
            <a:r>
              <a:rPr lang="en-US" sz="1600" b="1" dirty="0" smtClean="0">
                <a:effectLst/>
                <a:latin typeface="Times New Roman" panose="02020603050405020304" pitchFamily="18" charset="0"/>
                <a:ea typeface="Times New Roman" panose="02020603050405020304" pitchFamily="18" charset="0"/>
              </a:rPr>
              <a:t>Left (Symbolic Representation):</a:t>
            </a:r>
            <a:r>
              <a:rPr lang="en-US" sz="1600" dirty="0" smtClean="0">
                <a:effectLst/>
                <a:latin typeface="Times New Roman" panose="02020603050405020304" pitchFamily="18" charset="0"/>
                <a:ea typeface="Times New Roman" panose="02020603050405020304" pitchFamily="18" charset="0"/>
              </a:rPr>
              <a:t> Shows an inverter where the output is fed back to the input.</a:t>
            </a:r>
          </a:p>
          <a:p>
            <a:pPr marL="342900" marR="0" lvl="0" indent="-342900">
              <a:buSzPts val="1000"/>
              <a:buFont typeface="Symbol" panose="05050102010706020507" pitchFamily="18" charset="2"/>
              <a:buChar char=""/>
              <a:tabLst>
                <a:tab pos="457200" algn="l"/>
              </a:tabLst>
            </a:pPr>
            <a:r>
              <a:rPr lang="en-US" sz="1600" b="1" dirty="0" smtClean="0">
                <a:effectLst/>
                <a:latin typeface="Times New Roman" panose="02020603050405020304" pitchFamily="18" charset="0"/>
                <a:ea typeface="Times New Roman" panose="02020603050405020304" pitchFamily="18" charset="0"/>
              </a:rPr>
              <a:t>Right (MOSFET Circuit):</a:t>
            </a:r>
            <a:r>
              <a:rPr lang="en-US" sz="1600" dirty="0" smtClean="0">
                <a:effectLst/>
                <a:latin typeface="Times New Roman" panose="02020603050405020304" pitchFamily="18" charset="0"/>
                <a:ea typeface="Times New Roman" panose="02020603050405020304" pitchFamily="18" charset="0"/>
              </a:rPr>
              <a:t> Consists of an </a:t>
            </a:r>
            <a:r>
              <a:rPr lang="en-US" sz="1600" b="1" dirty="0" smtClean="0">
                <a:effectLst/>
                <a:latin typeface="Times New Roman" panose="02020603050405020304" pitchFamily="18" charset="0"/>
                <a:ea typeface="Times New Roman" panose="02020603050405020304" pitchFamily="18" charset="0"/>
              </a:rPr>
              <a:t>NMOS and PMOS pair</a:t>
            </a:r>
            <a:r>
              <a:rPr lang="en-US" sz="1600" dirty="0" smtClean="0">
                <a:effectLst/>
                <a:latin typeface="Times New Roman" panose="02020603050405020304" pitchFamily="18" charset="0"/>
                <a:ea typeface="Times New Roman" panose="02020603050405020304" pitchFamily="18" charset="0"/>
              </a:rPr>
              <a:t> stacked as an inverter.</a:t>
            </a:r>
          </a:p>
          <a:p>
            <a:pPr marL="342900" marR="0" lvl="0" indent="-342900">
              <a:buSzPts val="1000"/>
              <a:buFont typeface="Symbol" panose="05050102010706020507" pitchFamily="18" charset="2"/>
              <a:buChar char=""/>
              <a:tabLst>
                <a:tab pos="457200" algn="l"/>
              </a:tabLst>
            </a:pPr>
            <a:r>
              <a:rPr lang="en-US" sz="1600" dirty="0" smtClean="0">
                <a:effectLst/>
                <a:latin typeface="Times New Roman" panose="02020603050405020304" pitchFamily="18" charset="0"/>
                <a:ea typeface="Times New Roman" panose="02020603050405020304" pitchFamily="18" charset="0"/>
              </a:rPr>
              <a:t>The effective </a:t>
            </a:r>
            <a:r>
              <a:rPr lang="en-US" sz="1600" b="1" dirty="0" err="1" smtClean="0">
                <a:effectLst/>
                <a:latin typeface="Times New Roman" panose="02020603050405020304" pitchFamily="18" charset="0"/>
                <a:ea typeface="Times New Roman" panose="02020603050405020304" pitchFamily="18" charset="0"/>
              </a:rPr>
              <a:t>transconductance</a:t>
            </a:r>
            <a:r>
              <a:rPr lang="en-US" sz="1600" dirty="0" smtClean="0">
                <a:effectLst/>
                <a:latin typeface="Times New Roman" panose="02020603050405020304" pitchFamily="18" charset="0"/>
                <a:ea typeface="Times New Roman" panose="02020603050405020304" pitchFamily="18" charset="0"/>
              </a:rPr>
              <a:t> is </a:t>
            </a:r>
            <a:r>
              <a:rPr lang="en-US" sz="1600" b="1" dirty="0" err="1" smtClean="0">
                <a:effectLst/>
                <a:latin typeface="Times New Roman" panose="02020603050405020304" pitchFamily="18" charset="0"/>
                <a:ea typeface="Times New Roman" panose="02020603050405020304" pitchFamily="18" charset="0"/>
              </a:rPr>
              <a:t>gm,NMOS</a:t>
            </a:r>
            <a:r>
              <a:rPr lang="en-US" sz="1600" b="1" dirty="0" smtClean="0">
                <a:effectLst/>
                <a:latin typeface="Times New Roman" panose="02020603050405020304" pitchFamily="18" charset="0"/>
                <a:ea typeface="Times New Roman" panose="02020603050405020304" pitchFamily="18" charset="0"/>
              </a:rPr>
              <a:t> + </a:t>
            </a:r>
            <a:r>
              <a:rPr lang="en-US" sz="1600" b="1" dirty="0" err="1" smtClean="0">
                <a:effectLst/>
                <a:latin typeface="Times New Roman" panose="02020603050405020304" pitchFamily="18" charset="0"/>
                <a:ea typeface="Times New Roman" panose="02020603050405020304" pitchFamily="18" charset="0"/>
              </a:rPr>
              <a:t>gm,PMOS</a:t>
            </a:r>
            <a:r>
              <a:rPr lang="en-US" sz="1600" dirty="0" smtClean="0">
                <a:effectLst/>
                <a:latin typeface="Times New Roman" panose="02020603050405020304" pitchFamily="18" charset="0"/>
                <a:ea typeface="Times New Roman" panose="02020603050405020304" pitchFamily="18" charset="0"/>
              </a:rPr>
              <a:t>, which defines the impedance.</a:t>
            </a:r>
          </a:p>
          <a:p>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When left alone, </a:t>
            </a:r>
            <a:r>
              <a:rPr lang="en-US" sz="1400" b="1" dirty="0" smtClean="0">
                <a:effectLst/>
                <a:latin typeface="Calibri" panose="020F0502020204030204" pitchFamily="34" charset="0"/>
                <a:ea typeface="Calibri" panose="020F0502020204030204" pitchFamily="34" charset="0"/>
                <a:cs typeface="Times New Roman" panose="02020603050405020304" pitchFamily="18" charset="0"/>
              </a:rPr>
              <a:t>Vin converges to a stable point</a:t>
            </a: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 where </a:t>
            </a:r>
            <a:r>
              <a:rPr lang="en-US" sz="1400" b="1" dirty="0" smtClean="0">
                <a:effectLst/>
                <a:latin typeface="Calibri" panose="020F0502020204030204" pitchFamily="34" charset="0"/>
                <a:ea typeface="Calibri" panose="020F0502020204030204" pitchFamily="34" charset="0"/>
                <a:cs typeface="Times New Roman" panose="02020603050405020304" pitchFamily="18" charset="0"/>
              </a:rPr>
              <a:t>Vin = </a:t>
            </a:r>
            <a:r>
              <a:rPr lang="en-US" sz="1400" b="1" dirty="0" err="1" smtClean="0">
                <a:effectLst/>
                <a:latin typeface="Calibri" panose="020F0502020204030204" pitchFamily="34" charset="0"/>
                <a:ea typeface="Calibri" panose="020F0502020204030204" pitchFamily="34" charset="0"/>
                <a:cs typeface="Times New Roman" panose="02020603050405020304" pitchFamily="18" charset="0"/>
              </a:rPr>
              <a:t>Vout</a:t>
            </a:r>
            <a:endParaRPr lang="en-US" sz="2400" dirty="0"/>
          </a:p>
        </p:txBody>
      </p:sp>
      <p:sp>
        <p:nvSpPr>
          <p:cNvPr id="11" name="Rectangle 10"/>
          <p:cNvSpPr/>
          <p:nvPr/>
        </p:nvSpPr>
        <p:spPr>
          <a:xfrm>
            <a:off x="243317" y="3794893"/>
            <a:ext cx="12016708" cy="1560427"/>
          </a:xfrm>
          <a:prstGeom prst="rect">
            <a:avLst/>
          </a:prstGeom>
        </p:spPr>
        <p:txBody>
          <a:bodyPr wrap="square">
            <a:spAutoFit/>
          </a:bodyPr>
          <a:lstStyle/>
          <a:p>
            <a:pPr>
              <a:lnSpc>
                <a:spcPct val="107000"/>
              </a:lnSpc>
              <a:spcBef>
                <a:spcPts val="200"/>
              </a:spcBef>
            </a:pPr>
            <a:r>
              <a:rPr lang="en-US" sz="2000"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3. High-Frequency Analysis (Fig. 2: Small-Signal Model)</a:t>
            </a:r>
            <a:endParaRPr lang="en-US" sz="2000"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US" sz="2000" b="1" dirty="0" smtClean="0">
                <a:effectLst/>
                <a:latin typeface="Times New Roman" panose="02020603050405020304" pitchFamily="18" charset="0"/>
                <a:ea typeface="Times New Roman" panose="02020603050405020304" pitchFamily="18" charset="0"/>
              </a:rPr>
              <a:t>Breaking It Down:</a:t>
            </a:r>
          </a:p>
          <a:p>
            <a:pPr marL="342900" marR="0" lvl="0" indent="-342900">
              <a:buSzPts val="1000"/>
              <a:buFont typeface="Symbol" panose="05050102010706020507" pitchFamily="18" charset="2"/>
              <a:buChar char=""/>
              <a:tabLst>
                <a:tab pos="457200" algn="l"/>
              </a:tabLst>
            </a:pPr>
            <a:r>
              <a:rPr lang="en-US" dirty="0" smtClean="0">
                <a:effectLst/>
                <a:latin typeface="Times New Roman" panose="02020603050405020304" pitchFamily="18" charset="0"/>
                <a:ea typeface="Times New Roman" panose="02020603050405020304" pitchFamily="18" charset="0"/>
              </a:rPr>
              <a:t>MOSFETs in the circuit are modeled as </a:t>
            </a:r>
            <a:r>
              <a:rPr lang="en-US" b="1" dirty="0" smtClean="0">
                <a:effectLst/>
                <a:latin typeface="Times New Roman" panose="02020603050405020304" pitchFamily="18" charset="0"/>
                <a:ea typeface="Times New Roman" panose="02020603050405020304" pitchFamily="18" charset="0"/>
              </a:rPr>
              <a:t>voltage-controlled current sources</a:t>
            </a:r>
            <a:r>
              <a:rPr lang="en-US" dirty="0" smtClean="0">
                <a:effectLst/>
                <a:latin typeface="Times New Roman" panose="02020603050405020304" pitchFamily="18" charset="0"/>
                <a:ea typeface="Times New Roman" panose="02020603050405020304" pitchFamily="18" charset="0"/>
              </a:rPr>
              <a:t>.</a:t>
            </a:r>
          </a:p>
          <a:p>
            <a:pPr marL="342900" marR="0" lvl="0" indent="-342900">
              <a:buSzPts val="1000"/>
              <a:buFont typeface="Symbol" panose="05050102010706020507" pitchFamily="18" charset="2"/>
              <a:buChar char=""/>
              <a:tabLst>
                <a:tab pos="457200" algn="l"/>
              </a:tabLst>
            </a:pPr>
            <a:r>
              <a:rPr lang="en-US" dirty="0" smtClean="0">
                <a:effectLst/>
                <a:latin typeface="Times New Roman" panose="02020603050405020304" pitchFamily="18" charset="0"/>
                <a:ea typeface="Times New Roman" panose="02020603050405020304" pitchFamily="18" charset="0"/>
              </a:rPr>
              <a:t>These current sources act as loads, which can be </a:t>
            </a:r>
            <a:r>
              <a:rPr lang="en-US" b="1" dirty="0" smtClean="0">
                <a:effectLst/>
                <a:latin typeface="Times New Roman" panose="02020603050405020304" pitchFamily="18" charset="0"/>
                <a:ea typeface="Times New Roman" panose="02020603050405020304" pitchFamily="18" charset="0"/>
              </a:rPr>
              <a:t>combined into an effective impedance of 1/gm</a:t>
            </a:r>
            <a:r>
              <a:rPr lang="en-US" dirty="0" smtClean="0">
                <a:effectLst/>
                <a:latin typeface="Times New Roman" panose="02020603050405020304" pitchFamily="18" charset="0"/>
                <a:ea typeface="Times New Roman" panose="02020603050405020304" pitchFamily="18" charset="0"/>
              </a:rPr>
              <a:t>.</a:t>
            </a:r>
          </a:p>
          <a:p>
            <a:pPr marL="342900" marR="0" lvl="0" indent="-342900">
              <a:buSzPts val="1000"/>
              <a:buFont typeface="Symbol" panose="05050102010706020507" pitchFamily="18" charset="2"/>
              <a:buChar char=""/>
              <a:tabLst>
                <a:tab pos="457200" algn="l"/>
              </a:tabLst>
            </a:pPr>
            <a:r>
              <a:rPr lang="en-US" dirty="0" smtClean="0">
                <a:effectLst/>
                <a:latin typeface="Times New Roman" panose="02020603050405020304" pitchFamily="18" charset="0"/>
                <a:ea typeface="Times New Roman" panose="02020603050405020304" pitchFamily="18" charset="0"/>
              </a:rPr>
              <a:t>This approach helps us understand why </a:t>
            </a:r>
            <a:r>
              <a:rPr lang="en-US" b="1" dirty="0" smtClean="0">
                <a:effectLst/>
                <a:latin typeface="Times New Roman" panose="02020603050405020304" pitchFamily="18" charset="0"/>
                <a:ea typeface="Times New Roman" panose="02020603050405020304" pitchFamily="18" charset="0"/>
              </a:rPr>
              <a:t>active loads are better than passive resistors</a:t>
            </a:r>
            <a:r>
              <a:rPr lang="en-US" dirty="0" smtClean="0">
                <a:effectLst/>
                <a:latin typeface="Times New Roman" panose="02020603050405020304" pitchFamily="18" charset="0"/>
                <a:ea typeface="Times New Roman" panose="02020603050405020304" pitchFamily="18" charset="0"/>
              </a:rPr>
              <a:t>.</a:t>
            </a:r>
            <a:endParaRPr lang="en-US" dirty="0">
              <a:effectLst/>
              <a:latin typeface="Times New Roman" panose="02020603050405020304" pitchFamily="18" charset="0"/>
              <a:ea typeface="Times New Roman" panose="02020603050405020304" pitchFamily="18" charset="0"/>
            </a:endParaRPr>
          </a:p>
        </p:txBody>
      </p:sp>
      <p:sp>
        <p:nvSpPr>
          <p:cNvPr id="12" name="Rectangle 11"/>
          <p:cNvSpPr/>
          <p:nvPr/>
        </p:nvSpPr>
        <p:spPr>
          <a:xfrm>
            <a:off x="296951" y="5355320"/>
            <a:ext cx="9463190" cy="1340688"/>
          </a:xfrm>
          <a:prstGeom prst="rect">
            <a:avLst/>
          </a:prstGeom>
        </p:spPr>
        <p:txBody>
          <a:bodyPr wrap="square">
            <a:spAutoFit/>
          </a:bodyPr>
          <a:lstStyle/>
          <a:p>
            <a:pPr>
              <a:lnSpc>
                <a:spcPct val="107000"/>
              </a:lnSpc>
              <a:spcBef>
                <a:spcPts val="200"/>
              </a:spcBef>
            </a:pPr>
            <a:r>
              <a:rPr lang="en-US" sz="1600"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4. Analogy: Active Load vs. Passive Resistor (Water Flow Model)</a:t>
            </a:r>
            <a:endParaRPr lang="en-US" sz="1600"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US" sz="1600" b="1" dirty="0" smtClean="0">
                <a:effectLst/>
                <a:latin typeface="Times New Roman" panose="02020603050405020304" pitchFamily="18" charset="0"/>
                <a:ea typeface="Times New Roman" panose="02020603050405020304" pitchFamily="18" charset="0"/>
              </a:rPr>
              <a:t>Imagine a water pipe system:</a:t>
            </a:r>
            <a:endParaRPr lang="en-US" sz="1600" dirty="0" smtClean="0">
              <a:effectLst/>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1600" b="1" dirty="0" smtClean="0">
                <a:effectLst/>
                <a:latin typeface="Times New Roman" panose="02020603050405020304" pitchFamily="18" charset="0"/>
                <a:ea typeface="Times New Roman" panose="02020603050405020304" pitchFamily="18" charset="0"/>
              </a:rPr>
              <a:t>Resistor as a fixed pipe:</a:t>
            </a:r>
            <a:r>
              <a:rPr lang="en-US" sz="1600" dirty="0" smtClean="0">
                <a:effectLst/>
                <a:latin typeface="Times New Roman" panose="02020603050405020304" pitchFamily="18" charset="0"/>
                <a:ea typeface="Times New Roman" panose="02020603050405020304" pitchFamily="18" charset="0"/>
              </a:rPr>
              <a:t> Fixed diameter, no adaptability.</a:t>
            </a:r>
          </a:p>
          <a:p>
            <a:pPr marL="342900" marR="0" lvl="0" indent="-342900">
              <a:buSzPts val="1000"/>
              <a:buFont typeface="Symbol" panose="05050102010706020507" pitchFamily="18" charset="2"/>
              <a:buChar char=""/>
              <a:tabLst>
                <a:tab pos="457200" algn="l"/>
              </a:tabLst>
            </a:pPr>
            <a:r>
              <a:rPr lang="en-US" sz="1600" b="1" dirty="0" smtClean="0">
                <a:effectLst/>
                <a:latin typeface="Times New Roman" panose="02020603050405020304" pitchFamily="18" charset="0"/>
                <a:ea typeface="Times New Roman" panose="02020603050405020304" pitchFamily="18" charset="0"/>
              </a:rPr>
              <a:t>Active load as a smart valve:</a:t>
            </a:r>
            <a:r>
              <a:rPr lang="en-US" sz="1600" dirty="0" smtClean="0">
                <a:effectLst/>
                <a:latin typeface="Times New Roman" panose="02020603050405020304" pitchFamily="18" charset="0"/>
                <a:ea typeface="Times New Roman" panose="02020603050405020304" pitchFamily="18" charset="0"/>
              </a:rPr>
              <a:t> Automatically adjusts flow based on pressure.</a:t>
            </a:r>
          </a:p>
          <a:p>
            <a:pPr marL="342900" marR="0" lvl="0" indent="-342900">
              <a:buSzPts val="1000"/>
              <a:buFont typeface="Symbol" panose="05050102010706020507" pitchFamily="18" charset="2"/>
              <a:buChar char=""/>
              <a:tabLst>
                <a:tab pos="457200" algn="l"/>
              </a:tabLst>
            </a:pPr>
            <a:r>
              <a:rPr lang="en-US" sz="1600" dirty="0" smtClean="0">
                <a:effectLst/>
                <a:latin typeface="Times New Roman" panose="02020603050405020304" pitchFamily="18" charset="0"/>
                <a:ea typeface="Times New Roman" panose="02020603050405020304" pitchFamily="18" charset="0"/>
              </a:rPr>
              <a:t>This dynamic control ensures a </a:t>
            </a:r>
            <a:r>
              <a:rPr lang="en-US" sz="1600" b="1" dirty="0" smtClean="0">
                <a:effectLst/>
                <a:latin typeface="Times New Roman" panose="02020603050405020304" pitchFamily="18" charset="0"/>
                <a:ea typeface="Times New Roman" panose="02020603050405020304" pitchFamily="18" charset="0"/>
              </a:rPr>
              <a:t>stable and optimized circuit operation</a:t>
            </a:r>
            <a:r>
              <a:rPr lang="en-US" sz="1600" dirty="0" smtClean="0">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81A3699F-279E-4EDA-A470-7DA0E35FD13B}" type="slidenum">
              <a:rPr lang="en-US" smtClean="0"/>
              <a:t>71</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4" name="Footer Placeholder 3"/>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38280950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7734" y="152733"/>
            <a:ext cx="11561469" cy="3556679"/>
          </a:xfrm>
          <a:prstGeom prst="rect">
            <a:avLst/>
          </a:prstGeom>
        </p:spPr>
        <p:txBody>
          <a:bodyPr wrap="square">
            <a:spAutoFit/>
          </a:bodyPr>
          <a:lstStyle/>
          <a:p>
            <a:pPr>
              <a:lnSpc>
                <a:spcPct val="107000"/>
              </a:lnSpc>
              <a:spcBef>
                <a:spcPts val="200"/>
              </a:spcBef>
            </a:pPr>
            <a:r>
              <a:rPr lang="en-US" sz="1600"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5. Why Active Loads Matter in Optical Transceivers</a:t>
            </a:r>
            <a:endParaRPr lang="en-US" sz="1600"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US" sz="1600" b="1" dirty="0" smtClean="0">
                <a:effectLst/>
                <a:latin typeface="Times New Roman" panose="02020603050405020304" pitchFamily="18" charset="0"/>
                <a:ea typeface="Times New Roman" panose="02020603050405020304" pitchFamily="18" charset="0"/>
              </a:rPr>
              <a:t>Key Benefits in Optical Circuit Blocks:</a:t>
            </a:r>
          </a:p>
          <a:p>
            <a:pPr marL="342900" marR="0" lvl="0" indent="-342900">
              <a:tabLst>
                <a:tab pos="457200" algn="l"/>
              </a:tabLst>
            </a:pPr>
            <a:r>
              <a:rPr lang="en-US" sz="1600" b="1" dirty="0" smtClean="0">
                <a:effectLst/>
                <a:latin typeface="Times New Roman" panose="02020603050405020304" pitchFamily="18" charset="0"/>
                <a:ea typeface="Times New Roman" panose="02020603050405020304" pitchFamily="18" charset="0"/>
              </a:rPr>
              <a:t>Boosts Gain (TIA, VGA):</a:t>
            </a:r>
            <a:endParaRPr lang="en-US" sz="1600" dirty="0" smtClean="0">
              <a:effectLst/>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Higher impedance → Higher voltage gain.</a:t>
            </a: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Essential for amplifying weak optical signals.</a:t>
            </a:r>
          </a:p>
          <a:p>
            <a:pPr marL="342900" marR="0" lvl="0" indent="-342900">
              <a:tabLst>
                <a:tab pos="457200" algn="l"/>
              </a:tabLst>
            </a:pPr>
            <a:r>
              <a:rPr lang="en-US" sz="1600" b="1" dirty="0" smtClean="0">
                <a:effectLst/>
                <a:latin typeface="Times New Roman" panose="02020603050405020304" pitchFamily="18" charset="0"/>
                <a:ea typeface="Times New Roman" panose="02020603050405020304" pitchFamily="18" charset="0"/>
              </a:rPr>
              <a:t>Improves Bandwidth (CTLE, Buffers):</a:t>
            </a:r>
            <a:endParaRPr lang="en-US" sz="1600" dirty="0" smtClean="0">
              <a:effectLst/>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Reduces parasitic capacitance compared to large resistors.</a:t>
            </a: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Helps in high-speed signal processing.</a:t>
            </a:r>
          </a:p>
          <a:p>
            <a:pPr marL="342900" marR="0" lvl="0" indent="-342900">
              <a:tabLst>
                <a:tab pos="457200" algn="l"/>
              </a:tabLst>
            </a:pPr>
            <a:r>
              <a:rPr lang="en-US" sz="1600" b="1" dirty="0" smtClean="0">
                <a:effectLst/>
                <a:latin typeface="Times New Roman" panose="02020603050405020304" pitchFamily="18" charset="0"/>
                <a:ea typeface="Times New Roman" panose="02020603050405020304" pitchFamily="18" charset="0"/>
              </a:rPr>
              <a:t>Enhances Process Variation Tolerance:</a:t>
            </a:r>
            <a:endParaRPr lang="en-US" sz="1600" dirty="0" smtClean="0">
              <a:effectLst/>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NMOS and PMOS in the same region track variations.</a:t>
            </a: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Ensures </a:t>
            </a:r>
            <a:r>
              <a:rPr lang="en-US"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better stability across fabrication changes</a:t>
            </a: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marR="0" lvl="0" indent="-342900">
              <a:tabLst>
                <a:tab pos="457200" algn="l"/>
              </a:tabLst>
            </a:pPr>
            <a:r>
              <a:rPr lang="en-US" sz="1600" b="1" dirty="0" smtClean="0">
                <a:effectLst/>
                <a:latin typeface="Times New Roman" panose="02020603050405020304" pitchFamily="18" charset="0"/>
                <a:ea typeface="Times New Roman" panose="02020603050405020304" pitchFamily="18" charset="0"/>
              </a:rPr>
              <a:t>Reduces Power Consumption (Optical Drivers):</a:t>
            </a:r>
            <a:endParaRPr lang="en-US" sz="1600" dirty="0" smtClean="0">
              <a:effectLst/>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Consumes </a:t>
            </a:r>
            <a:r>
              <a:rPr lang="en-US"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less static power</a:t>
            </a: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than a passive resistor.</a:t>
            </a:r>
          </a:p>
          <a:p>
            <a:pPr marL="742950" marR="0" lvl="1" indent="-285750">
              <a:buSzPts val="1000"/>
              <a:buFont typeface="Courier New" panose="02070309020205020404" pitchFamily="49" charset="0"/>
              <a:buChar char="o"/>
              <a:tabLst>
                <a:tab pos="914400" algn="l"/>
              </a:tabLs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Ideal for low-power, high-speed transceivers.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ectangle 4"/>
          <p:cNvSpPr/>
          <p:nvPr/>
        </p:nvSpPr>
        <p:spPr>
          <a:xfrm>
            <a:off x="210613" y="3759480"/>
            <a:ext cx="11853188" cy="2649700"/>
          </a:xfrm>
          <a:prstGeom prst="rect">
            <a:avLst/>
          </a:prstGeom>
        </p:spPr>
        <p:txBody>
          <a:bodyPr wrap="square">
            <a:spAutoFit/>
          </a:bodyPr>
          <a:lstStyle/>
          <a:p>
            <a:pPr>
              <a:lnSpc>
                <a:spcPct val="107000"/>
              </a:lnSpc>
              <a:spcBef>
                <a:spcPts val="200"/>
              </a:spcBef>
            </a:pPr>
            <a:r>
              <a:rPr lang="en-US"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6. Practical Design Considerations for Optical Applications</a:t>
            </a:r>
            <a:endParaRPr lang="en-US"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tabLst>
                <a:tab pos="457200" algn="l"/>
              </a:tabLst>
            </a:pPr>
            <a:r>
              <a:rPr lang="en-US" b="1" dirty="0" smtClean="0">
                <a:effectLst/>
                <a:latin typeface="Times New Roman" panose="02020603050405020304" pitchFamily="18" charset="0"/>
                <a:ea typeface="Times New Roman" panose="02020603050405020304" pitchFamily="18" charset="0"/>
              </a:rPr>
              <a:t>Balancing NMOS and PMOS sizes:</a:t>
            </a:r>
            <a:r>
              <a:rPr lang="en-US" dirty="0" smtClean="0">
                <a:effectLst/>
                <a:latin typeface="Times New Roman" panose="02020603050405020304" pitchFamily="18" charset="0"/>
                <a:ea typeface="Times New Roman" panose="02020603050405020304" pitchFamily="18" charset="0"/>
              </a:rPr>
              <a:t> Avoids mismatch that may degrade performance.</a:t>
            </a:r>
          </a:p>
          <a:p>
            <a:pPr marL="342900" marR="0" lvl="0" indent="-342900">
              <a:tabLst>
                <a:tab pos="457200" algn="l"/>
              </a:tabLst>
            </a:pPr>
            <a:r>
              <a:rPr lang="en-US" b="1" dirty="0" smtClean="0">
                <a:effectLst/>
                <a:latin typeface="Times New Roman" panose="02020603050405020304" pitchFamily="18" charset="0"/>
                <a:ea typeface="Times New Roman" panose="02020603050405020304" pitchFamily="18" charset="0"/>
              </a:rPr>
              <a:t>Optimizing bias for linearity (CTLE, VGA):</a:t>
            </a:r>
            <a:r>
              <a:rPr lang="en-US" dirty="0" smtClean="0">
                <a:effectLst/>
                <a:latin typeface="Times New Roman" panose="02020603050405020304" pitchFamily="18" charset="0"/>
                <a:ea typeface="Times New Roman" panose="02020603050405020304" pitchFamily="18" charset="0"/>
              </a:rPr>
              <a:t> Ensures consistent gain despite variations.</a:t>
            </a:r>
          </a:p>
          <a:p>
            <a:pPr marL="342900" marR="0" lvl="0" indent="-342900">
              <a:tabLst>
                <a:tab pos="457200" algn="l"/>
              </a:tabLst>
            </a:pPr>
            <a:r>
              <a:rPr lang="en-US" b="1" dirty="0" smtClean="0">
                <a:effectLst/>
                <a:latin typeface="Times New Roman" panose="02020603050405020304" pitchFamily="18" charset="0"/>
                <a:ea typeface="Times New Roman" panose="02020603050405020304" pitchFamily="18" charset="0"/>
              </a:rPr>
              <a:t>Minimizing noise impact (TIA, Equalizers):</a:t>
            </a:r>
            <a:r>
              <a:rPr lang="en-US" dirty="0" smtClean="0">
                <a:effectLst/>
                <a:latin typeface="Times New Roman" panose="02020603050405020304" pitchFamily="18" charset="0"/>
                <a:ea typeface="Times New Roman" panose="02020603050405020304" pitchFamily="18" charset="0"/>
              </a:rPr>
              <a:t> Reduces unwanted distortions.</a:t>
            </a:r>
          </a:p>
          <a:p>
            <a:pPr>
              <a:lnSpc>
                <a:spcPct val="107000"/>
              </a:lnSpc>
              <a:spcBef>
                <a:spcPts val="200"/>
              </a:spcBef>
            </a:pPr>
            <a:r>
              <a:rPr lang="en-US" b="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7. Summary: Why Active Loads are the Best Choice</a:t>
            </a:r>
            <a:endParaRPr lang="en-US" b="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US" dirty="0" smtClean="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dirty="0" smtClean="0">
                <a:effectLst/>
                <a:latin typeface="Times New Roman" panose="02020603050405020304" pitchFamily="18" charset="0"/>
                <a:ea typeface="Times New Roman" panose="02020603050405020304" pitchFamily="18" charset="0"/>
              </a:rPr>
              <a:t> </a:t>
            </a:r>
            <a:r>
              <a:rPr lang="en-US" b="1" dirty="0" smtClean="0">
                <a:effectLst/>
                <a:latin typeface="Times New Roman" panose="02020603050405020304" pitchFamily="18" charset="0"/>
                <a:ea typeface="Times New Roman" panose="02020603050405020304" pitchFamily="18" charset="0"/>
              </a:rPr>
              <a:t>Dynamic &amp; Self-Stabilizing</a:t>
            </a:r>
            <a:r>
              <a:rPr lang="en-US" dirty="0" smtClean="0">
                <a:effectLst/>
                <a:latin typeface="Times New Roman" panose="02020603050405020304" pitchFamily="18" charset="0"/>
                <a:ea typeface="Times New Roman" panose="02020603050405020304" pitchFamily="18" charset="0"/>
              </a:rPr>
              <a:t> → Adjusts impedance based on conditions. </a:t>
            </a:r>
            <a:r>
              <a:rPr lang="en-US" dirty="0" smtClean="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dirty="0" smtClean="0">
                <a:effectLst/>
                <a:latin typeface="Times New Roman" panose="02020603050405020304" pitchFamily="18" charset="0"/>
                <a:ea typeface="Times New Roman" panose="02020603050405020304" pitchFamily="18" charset="0"/>
              </a:rPr>
              <a:t> </a:t>
            </a:r>
            <a:r>
              <a:rPr lang="en-US" b="1" dirty="0" smtClean="0">
                <a:effectLst/>
                <a:latin typeface="Times New Roman" panose="02020603050405020304" pitchFamily="18" charset="0"/>
                <a:ea typeface="Times New Roman" panose="02020603050405020304" pitchFamily="18" charset="0"/>
              </a:rPr>
              <a:t>Higher Gain Without Large Resistors</a:t>
            </a:r>
            <a:r>
              <a:rPr lang="en-US" dirty="0" smtClean="0">
                <a:effectLst/>
                <a:latin typeface="Times New Roman" panose="02020603050405020304" pitchFamily="18" charset="0"/>
                <a:ea typeface="Times New Roman" panose="02020603050405020304" pitchFamily="18" charset="0"/>
              </a:rPr>
              <a:t> → Saves area and improves efficiency. </a:t>
            </a:r>
            <a:r>
              <a:rPr lang="en-US" dirty="0" smtClean="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dirty="0" smtClean="0">
                <a:effectLst/>
                <a:latin typeface="Times New Roman" panose="02020603050405020304" pitchFamily="18" charset="0"/>
                <a:ea typeface="Times New Roman" panose="02020603050405020304" pitchFamily="18" charset="0"/>
              </a:rPr>
              <a:t> </a:t>
            </a:r>
            <a:r>
              <a:rPr lang="en-US" b="1" dirty="0" smtClean="0">
                <a:effectLst/>
                <a:latin typeface="Times New Roman" panose="02020603050405020304" pitchFamily="18" charset="0"/>
                <a:ea typeface="Times New Roman" panose="02020603050405020304" pitchFamily="18" charset="0"/>
              </a:rPr>
              <a:t>Process Variation Resilience</a:t>
            </a:r>
            <a:r>
              <a:rPr lang="en-US" dirty="0" smtClean="0">
                <a:effectLst/>
                <a:latin typeface="Times New Roman" panose="02020603050405020304" pitchFamily="18" charset="0"/>
                <a:ea typeface="Times New Roman" panose="02020603050405020304" pitchFamily="18" charset="0"/>
              </a:rPr>
              <a:t> → Ensures robust operation. </a:t>
            </a:r>
            <a:r>
              <a:rPr lang="en-US" dirty="0" smtClean="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dirty="0" smtClean="0">
                <a:effectLst/>
                <a:latin typeface="Times New Roman" panose="02020603050405020304" pitchFamily="18" charset="0"/>
                <a:ea typeface="Times New Roman" panose="02020603050405020304" pitchFamily="18" charset="0"/>
              </a:rPr>
              <a:t> </a:t>
            </a:r>
            <a:r>
              <a:rPr lang="en-US" b="1" dirty="0" smtClean="0">
                <a:effectLst/>
                <a:latin typeface="Times New Roman" panose="02020603050405020304" pitchFamily="18" charset="0"/>
                <a:ea typeface="Times New Roman" panose="02020603050405020304" pitchFamily="18" charset="0"/>
              </a:rPr>
              <a:t>Bandwidth &amp; Noise Advantages</a:t>
            </a:r>
            <a:r>
              <a:rPr lang="en-US" dirty="0" smtClean="0">
                <a:effectLst/>
                <a:latin typeface="Times New Roman" panose="02020603050405020304" pitchFamily="18" charset="0"/>
                <a:ea typeface="Times New Roman" panose="02020603050405020304" pitchFamily="18" charset="0"/>
              </a:rPr>
              <a:t> → Crucial for high-speed GHz-range circuits. </a:t>
            </a:r>
            <a:r>
              <a:rPr lang="en-US" dirty="0" smtClean="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dirty="0" smtClean="0">
                <a:effectLst/>
                <a:latin typeface="Times New Roman" panose="02020603050405020304" pitchFamily="18" charset="0"/>
                <a:ea typeface="Times New Roman" panose="02020603050405020304" pitchFamily="18" charset="0"/>
              </a:rPr>
              <a:t> </a:t>
            </a:r>
            <a:r>
              <a:rPr lang="en-US" b="1" dirty="0" smtClean="0">
                <a:effectLst/>
                <a:latin typeface="Times New Roman" panose="02020603050405020304" pitchFamily="18" charset="0"/>
                <a:ea typeface="Times New Roman" panose="02020603050405020304" pitchFamily="18" charset="0"/>
              </a:rPr>
              <a:t>Energy Efficiency</a:t>
            </a:r>
            <a:r>
              <a:rPr lang="en-US" dirty="0" smtClean="0">
                <a:effectLst/>
                <a:latin typeface="Times New Roman" panose="02020603050405020304" pitchFamily="18" charset="0"/>
                <a:ea typeface="Times New Roman" panose="02020603050405020304" pitchFamily="18" charset="0"/>
              </a:rPr>
              <a:t> → Essential for power-sensitive optical receivers.</a:t>
            </a:r>
            <a:endParaRPr lang="en-US" dirty="0">
              <a:effectLst/>
              <a:latin typeface="Times New Roman" panose="02020603050405020304" pitchFamily="18" charset="0"/>
              <a:ea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81A3699F-279E-4EDA-A470-7DA0E35FD13B}" type="slidenum">
              <a:rPr lang="en-US" smtClean="0"/>
              <a:t>72</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89658388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2" name="Group 291">
            <a:extLst>
              <a:ext uri="{FF2B5EF4-FFF2-40B4-BE49-F238E27FC236}">
                <a16:creationId xmlns:a16="http://schemas.microsoft.com/office/drawing/2014/main" id="{5168BDB9-46B9-4B44-94B2-5F31B213EED1}"/>
              </a:ext>
            </a:extLst>
          </p:cNvPr>
          <p:cNvGrpSpPr/>
          <p:nvPr/>
        </p:nvGrpSpPr>
        <p:grpSpPr>
          <a:xfrm>
            <a:off x="377381" y="546486"/>
            <a:ext cx="5658280" cy="2818827"/>
            <a:chOff x="371260" y="0"/>
            <a:chExt cx="5658280" cy="2818827"/>
          </a:xfrm>
        </p:grpSpPr>
        <p:sp>
          <p:nvSpPr>
            <p:cNvPr id="289" name="Rectangle 288">
              <a:extLst>
                <a:ext uri="{FF2B5EF4-FFF2-40B4-BE49-F238E27FC236}">
                  <a16:creationId xmlns:a16="http://schemas.microsoft.com/office/drawing/2014/main" id="{C7A44929-ADA0-47EF-9946-148022F4EDFE}"/>
                </a:ext>
              </a:extLst>
            </p:cNvPr>
            <p:cNvSpPr/>
            <p:nvPr/>
          </p:nvSpPr>
          <p:spPr>
            <a:xfrm>
              <a:off x="371260" y="0"/>
              <a:ext cx="5658280" cy="2818827"/>
            </a:xfrm>
            <a:prstGeom prst="rect">
              <a:avLst/>
            </a:prstGeom>
            <a:solidFill>
              <a:schemeClr val="accent2">
                <a:lumMod val="20000"/>
                <a:lumOff val="80000"/>
              </a:schemeClr>
            </a:solidFill>
            <a:ln w="28575">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grpSp>
          <p:nvGrpSpPr>
            <p:cNvPr id="287" name="Group 286">
              <a:extLst>
                <a:ext uri="{FF2B5EF4-FFF2-40B4-BE49-F238E27FC236}">
                  <a16:creationId xmlns:a16="http://schemas.microsoft.com/office/drawing/2014/main" id="{ABEBCB57-BB75-4536-BB85-56AD2924DD42}"/>
                </a:ext>
              </a:extLst>
            </p:cNvPr>
            <p:cNvGrpSpPr/>
            <p:nvPr/>
          </p:nvGrpSpPr>
          <p:grpSpPr>
            <a:xfrm>
              <a:off x="687803" y="124566"/>
              <a:ext cx="5292372" cy="2411111"/>
              <a:chOff x="687803" y="124566"/>
              <a:chExt cx="5292372" cy="2411111"/>
            </a:xfrm>
          </p:grpSpPr>
          <p:sp>
            <p:nvSpPr>
              <p:cNvPr id="15" name="TextBox 14">
                <a:extLst>
                  <a:ext uri="{FF2B5EF4-FFF2-40B4-BE49-F238E27FC236}">
                    <a16:creationId xmlns:a16="http://schemas.microsoft.com/office/drawing/2014/main" id="{D1DCDD8E-C431-42B4-87EF-CACEBAB2798C}"/>
                  </a:ext>
                </a:extLst>
              </p:cNvPr>
              <p:cNvSpPr txBox="1"/>
              <p:nvPr/>
            </p:nvSpPr>
            <p:spPr>
              <a:xfrm>
                <a:off x="1857120" y="1301088"/>
                <a:ext cx="707264" cy="369332"/>
              </a:xfrm>
              <a:prstGeom prst="rect">
                <a:avLst/>
              </a:prstGeom>
              <a:noFill/>
            </p:spPr>
            <p:txBody>
              <a:bodyPr wrap="square">
                <a:spAutoFit/>
              </a:bodyPr>
              <a:lstStyle/>
              <a:p>
                <a:r>
                  <a:rPr lang="en-US" i="1">
                    <a:solidFill>
                      <a:srgbClr val="FF0000"/>
                    </a:solidFill>
                  </a:rPr>
                  <a:t>g</a:t>
                </a:r>
                <a:r>
                  <a:rPr lang="en-US" i="1" baseline="-25000">
                    <a:solidFill>
                      <a:srgbClr val="FF0000"/>
                    </a:solidFill>
                  </a:rPr>
                  <a:t>m </a:t>
                </a:r>
                <a:endParaRPr lang="en-BE" i="1">
                  <a:solidFill>
                    <a:srgbClr val="FF0000"/>
                  </a:solidFill>
                </a:endParaRPr>
              </a:p>
            </p:txBody>
          </p:sp>
          <p:grpSp>
            <p:nvGrpSpPr>
              <p:cNvPr id="180" name="Group 179">
                <a:extLst>
                  <a:ext uri="{FF2B5EF4-FFF2-40B4-BE49-F238E27FC236}">
                    <a16:creationId xmlns:a16="http://schemas.microsoft.com/office/drawing/2014/main" id="{DD674B3D-3DD8-4FCD-BC92-955555C81035}"/>
                  </a:ext>
                </a:extLst>
              </p:cNvPr>
              <p:cNvGrpSpPr/>
              <p:nvPr/>
            </p:nvGrpSpPr>
            <p:grpSpPr>
              <a:xfrm>
                <a:off x="687803" y="319667"/>
                <a:ext cx="2114257" cy="1178875"/>
                <a:chOff x="687803" y="319667"/>
                <a:chExt cx="2114257" cy="1178875"/>
              </a:xfrm>
            </p:grpSpPr>
            <p:grpSp>
              <p:nvGrpSpPr>
                <p:cNvPr id="6" name="Group 5">
                  <a:extLst>
                    <a:ext uri="{FF2B5EF4-FFF2-40B4-BE49-F238E27FC236}">
                      <a16:creationId xmlns:a16="http://schemas.microsoft.com/office/drawing/2014/main" id="{31427CC3-06DF-4463-ADEC-C815828FB608}"/>
                    </a:ext>
                  </a:extLst>
                </p:cNvPr>
                <p:cNvGrpSpPr/>
                <p:nvPr/>
              </p:nvGrpSpPr>
              <p:grpSpPr>
                <a:xfrm>
                  <a:off x="1594224" y="647009"/>
                  <a:ext cx="972185" cy="851533"/>
                  <a:chOff x="1116965" y="5086353"/>
                  <a:chExt cx="972185" cy="851533"/>
                </a:xfrm>
              </p:grpSpPr>
              <p:sp>
                <p:nvSpPr>
                  <p:cNvPr id="7" name="Isosceles Triangle 6">
                    <a:extLst>
                      <a:ext uri="{FF2B5EF4-FFF2-40B4-BE49-F238E27FC236}">
                        <a16:creationId xmlns:a16="http://schemas.microsoft.com/office/drawing/2014/main" id="{F37E8953-799A-450F-9CC2-F9770DA4AD63}"/>
                      </a:ext>
                    </a:extLst>
                  </p:cNvPr>
                  <p:cNvSpPr/>
                  <p:nvPr/>
                </p:nvSpPr>
                <p:spPr>
                  <a:xfrm rot="5400000">
                    <a:off x="1113790" y="5089528"/>
                    <a:ext cx="851533" cy="845184"/>
                  </a:xfrm>
                  <a:prstGeom prst="triangle">
                    <a:avLst/>
                  </a:prstGeom>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sp>
                <p:nvSpPr>
                  <p:cNvPr id="8" name="Oval 7">
                    <a:extLst>
                      <a:ext uri="{FF2B5EF4-FFF2-40B4-BE49-F238E27FC236}">
                        <a16:creationId xmlns:a16="http://schemas.microsoft.com/office/drawing/2014/main" id="{8684E28D-047F-4D6C-BEA7-0B041EB3BEB1}"/>
                      </a:ext>
                    </a:extLst>
                  </p:cNvPr>
                  <p:cNvSpPr/>
                  <p:nvPr/>
                </p:nvSpPr>
                <p:spPr>
                  <a:xfrm>
                    <a:off x="1981200" y="5467350"/>
                    <a:ext cx="107950" cy="108000"/>
                  </a:xfrm>
                  <a:prstGeom prst="ellipse">
                    <a:avLst/>
                  </a:prstGeom>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grpSp>
            <p:cxnSp>
              <p:nvCxnSpPr>
                <p:cNvPr id="9" name="Straight Connector 8">
                  <a:extLst>
                    <a:ext uri="{FF2B5EF4-FFF2-40B4-BE49-F238E27FC236}">
                      <a16:creationId xmlns:a16="http://schemas.microsoft.com/office/drawing/2014/main" id="{3BD36E27-6108-4CD5-BB0C-D3C856BA5C02}"/>
                    </a:ext>
                  </a:extLst>
                </p:cNvPr>
                <p:cNvCxnSpPr>
                  <a:cxnSpLocks/>
                  <a:stCxn id="8" idx="6"/>
                </p:cNvCxnSpPr>
                <p:nvPr/>
              </p:nvCxnSpPr>
              <p:spPr>
                <a:xfrm flipV="1">
                  <a:off x="2566409" y="1069916"/>
                  <a:ext cx="23565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AAE518-56DF-4FF4-855E-8BC3162D3F66}"/>
                    </a:ext>
                  </a:extLst>
                </p:cNvPr>
                <p:cNvCxnSpPr>
                  <a:cxnSpLocks/>
                </p:cNvCxnSpPr>
                <p:nvPr/>
              </p:nvCxnSpPr>
              <p:spPr>
                <a:xfrm>
                  <a:off x="1348479" y="329827"/>
                  <a:ext cx="58610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D50FB0-3E1C-4AAF-B2E5-9E8A24D0B1A7}"/>
                    </a:ext>
                  </a:extLst>
                </p:cNvPr>
                <p:cNvCxnSpPr>
                  <a:cxnSpLocks/>
                </p:cNvCxnSpPr>
                <p:nvPr/>
              </p:nvCxnSpPr>
              <p:spPr>
                <a:xfrm>
                  <a:off x="1376172" y="331732"/>
                  <a:ext cx="14175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7A3F46-2E1C-4B13-891A-3D470C0AB5C2}"/>
                    </a:ext>
                  </a:extLst>
                </p:cNvPr>
                <p:cNvCxnSpPr>
                  <a:cxnSpLocks/>
                </p:cNvCxnSpPr>
                <p:nvPr/>
              </p:nvCxnSpPr>
              <p:spPr>
                <a:xfrm flipV="1">
                  <a:off x="2788659" y="319667"/>
                  <a:ext cx="0" cy="76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2385B95-7E25-48D3-A136-A12558F9CE19}"/>
                    </a:ext>
                  </a:extLst>
                </p:cNvPr>
                <p:cNvCxnSpPr>
                  <a:cxnSpLocks/>
                </p:cNvCxnSpPr>
                <p:nvPr/>
              </p:nvCxnSpPr>
              <p:spPr>
                <a:xfrm flipV="1">
                  <a:off x="1358639" y="322207"/>
                  <a:ext cx="0" cy="76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DB1AD5E-3712-42DA-B7AE-04A6DBC85CAB}"/>
                    </a:ext>
                  </a:extLst>
                </p:cNvPr>
                <p:cNvSpPr/>
                <p:nvPr/>
              </p:nvSpPr>
              <p:spPr>
                <a:xfrm>
                  <a:off x="1305299" y="1005146"/>
                  <a:ext cx="107950" cy="108000"/>
                </a:xfrm>
                <a:prstGeom prst="ellipse">
                  <a:avLst/>
                </a:prstGeom>
                <a:solidFill>
                  <a:srgbClr val="FF0000"/>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grpSp>
              <p:nvGrpSpPr>
                <p:cNvPr id="16" name="Group 15">
                  <a:extLst>
                    <a:ext uri="{FF2B5EF4-FFF2-40B4-BE49-F238E27FC236}">
                      <a16:creationId xmlns:a16="http://schemas.microsoft.com/office/drawing/2014/main" id="{4F349161-1EFF-4B84-A5A9-0AE0580D2EF1}"/>
                    </a:ext>
                  </a:extLst>
                </p:cNvPr>
                <p:cNvGrpSpPr/>
                <p:nvPr/>
              </p:nvGrpSpPr>
              <p:grpSpPr>
                <a:xfrm>
                  <a:off x="1720958" y="985625"/>
                  <a:ext cx="423796" cy="149423"/>
                  <a:chOff x="8113531" y="2003901"/>
                  <a:chExt cx="565060" cy="199231"/>
                </a:xfrm>
              </p:grpSpPr>
              <p:sp>
                <p:nvSpPr>
                  <p:cNvPr id="17" name="Freeform 47">
                    <a:extLst>
                      <a:ext uri="{FF2B5EF4-FFF2-40B4-BE49-F238E27FC236}">
                        <a16:creationId xmlns:a16="http://schemas.microsoft.com/office/drawing/2014/main" id="{40623C67-DBD1-4049-8FF7-5F3219EBCCA0}"/>
                      </a:ext>
                    </a:extLst>
                  </p:cNvPr>
                  <p:cNvSpPr>
                    <a:spLocks/>
                  </p:cNvSpPr>
                  <p:nvPr/>
                </p:nvSpPr>
                <p:spPr bwMode="auto">
                  <a:xfrm>
                    <a:off x="8173856" y="2007869"/>
                    <a:ext cx="301625" cy="195263"/>
                  </a:xfrm>
                  <a:custGeom>
                    <a:avLst/>
                    <a:gdLst>
                      <a:gd name="T0" fmla="*/ 61 w 278"/>
                      <a:gd name="T1" fmla="*/ 180 h 180"/>
                      <a:gd name="T2" fmla="*/ 61 w 278"/>
                      <a:gd name="T3" fmla="*/ 180 h 180"/>
                      <a:gd name="T4" fmla="*/ 108 w 278"/>
                      <a:gd name="T5" fmla="*/ 5 h 180"/>
                      <a:gd name="T6" fmla="*/ 161 w 278"/>
                      <a:gd name="T7" fmla="*/ 180 h 180"/>
                      <a:gd name="T8" fmla="*/ 208 w 278"/>
                      <a:gd name="T9" fmla="*/ 5 h 180"/>
                      <a:gd name="T10" fmla="*/ 278 w 278"/>
                      <a:gd name="T11" fmla="*/ 92 h 180"/>
                    </a:gdLst>
                    <a:ahLst/>
                    <a:cxnLst>
                      <a:cxn ang="0">
                        <a:pos x="T0" y="T1"/>
                      </a:cxn>
                      <a:cxn ang="0">
                        <a:pos x="T2" y="T3"/>
                      </a:cxn>
                      <a:cxn ang="0">
                        <a:pos x="T4" y="T5"/>
                      </a:cxn>
                      <a:cxn ang="0">
                        <a:pos x="T6" y="T7"/>
                      </a:cxn>
                      <a:cxn ang="0">
                        <a:pos x="T8" y="T9"/>
                      </a:cxn>
                      <a:cxn ang="0">
                        <a:pos x="T10" y="T11"/>
                      </a:cxn>
                    </a:cxnLst>
                    <a:rect l="0" t="0" r="r" b="b"/>
                    <a:pathLst>
                      <a:path w="278" h="180">
                        <a:moveTo>
                          <a:pt x="61" y="180"/>
                        </a:moveTo>
                        <a:lnTo>
                          <a:pt x="61" y="180"/>
                        </a:lnTo>
                        <a:cubicBezTo>
                          <a:pt x="0" y="180"/>
                          <a:pt x="29" y="6"/>
                          <a:pt x="108" y="5"/>
                        </a:cubicBezTo>
                        <a:cubicBezTo>
                          <a:pt x="188" y="4"/>
                          <a:pt x="222" y="180"/>
                          <a:pt x="161" y="180"/>
                        </a:cubicBezTo>
                        <a:cubicBezTo>
                          <a:pt x="100" y="180"/>
                          <a:pt x="130" y="15"/>
                          <a:pt x="208" y="5"/>
                        </a:cubicBezTo>
                        <a:cubicBezTo>
                          <a:pt x="245" y="0"/>
                          <a:pt x="278" y="54"/>
                          <a:pt x="278"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8" name="Freeform 48">
                    <a:extLst>
                      <a:ext uri="{FF2B5EF4-FFF2-40B4-BE49-F238E27FC236}">
                        <a16:creationId xmlns:a16="http://schemas.microsoft.com/office/drawing/2014/main" id="{0CE44987-3336-47CE-B6D3-80B1C24EAFBC}"/>
                      </a:ext>
                    </a:extLst>
                  </p:cNvPr>
                  <p:cNvSpPr>
                    <a:spLocks/>
                  </p:cNvSpPr>
                  <p:nvPr/>
                </p:nvSpPr>
                <p:spPr bwMode="auto">
                  <a:xfrm>
                    <a:off x="8173856" y="2011044"/>
                    <a:ext cx="239712" cy="192088"/>
                  </a:xfrm>
                  <a:custGeom>
                    <a:avLst/>
                    <a:gdLst>
                      <a:gd name="T0" fmla="*/ 161 w 221"/>
                      <a:gd name="T1" fmla="*/ 176 h 176"/>
                      <a:gd name="T2" fmla="*/ 161 w 221"/>
                      <a:gd name="T3" fmla="*/ 176 h 176"/>
                      <a:gd name="T4" fmla="*/ 114 w 221"/>
                      <a:gd name="T5" fmla="*/ 1 h 176"/>
                      <a:gd name="T6" fmla="*/ 61 w 221"/>
                      <a:gd name="T7" fmla="*/ 176 h 176"/>
                      <a:gd name="T8" fmla="*/ 14 w 221"/>
                      <a:gd name="T9" fmla="*/ 1 h 176"/>
                    </a:gdLst>
                    <a:ahLst/>
                    <a:cxnLst>
                      <a:cxn ang="0">
                        <a:pos x="T0" y="T1"/>
                      </a:cxn>
                      <a:cxn ang="0">
                        <a:pos x="T2" y="T3"/>
                      </a:cxn>
                      <a:cxn ang="0">
                        <a:pos x="T4" y="T5"/>
                      </a:cxn>
                      <a:cxn ang="0">
                        <a:pos x="T6" y="T7"/>
                      </a:cxn>
                      <a:cxn ang="0">
                        <a:pos x="T8" y="T9"/>
                      </a:cxn>
                    </a:cxnLst>
                    <a:rect l="0" t="0" r="r" b="b"/>
                    <a:pathLst>
                      <a:path w="221" h="176">
                        <a:moveTo>
                          <a:pt x="161" y="176"/>
                        </a:moveTo>
                        <a:lnTo>
                          <a:pt x="161" y="176"/>
                        </a:lnTo>
                        <a:cubicBezTo>
                          <a:pt x="221" y="176"/>
                          <a:pt x="193" y="2"/>
                          <a:pt x="114" y="1"/>
                        </a:cubicBezTo>
                        <a:cubicBezTo>
                          <a:pt x="34" y="0"/>
                          <a:pt x="0" y="176"/>
                          <a:pt x="61" y="176"/>
                        </a:cubicBezTo>
                        <a:cubicBezTo>
                          <a:pt x="122" y="176"/>
                          <a:pt x="93" y="2"/>
                          <a:pt x="14" y="1"/>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9" name="Freeform 51">
                    <a:extLst>
                      <a:ext uri="{FF2B5EF4-FFF2-40B4-BE49-F238E27FC236}">
                        <a16:creationId xmlns:a16="http://schemas.microsoft.com/office/drawing/2014/main" id="{36C62C36-6EBA-4B3E-88E3-AEA71373F436}"/>
                      </a:ext>
                    </a:extLst>
                  </p:cNvPr>
                  <p:cNvSpPr>
                    <a:spLocks/>
                  </p:cNvSpPr>
                  <p:nvPr/>
                </p:nvSpPr>
                <p:spPr bwMode="auto">
                  <a:xfrm>
                    <a:off x="8113531" y="2007869"/>
                    <a:ext cx="76200" cy="98425"/>
                  </a:xfrm>
                  <a:custGeom>
                    <a:avLst/>
                    <a:gdLst>
                      <a:gd name="T0" fmla="*/ 70 w 70"/>
                      <a:gd name="T1" fmla="*/ 5 h 92"/>
                      <a:gd name="T2" fmla="*/ 70 w 70"/>
                      <a:gd name="T3" fmla="*/ 5 h 92"/>
                      <a:gd name="T4" fmla="*/ 0 w 70"/>
                      <a:gd name="T5" fmla="*/ 92 h 92"/>
                    </a:gdLst>
                    <a:ahLst/>
                    <a:cxnLst>
                      <a:cxn ang="0">
                        <a:pos x="T0" y="T1"/>
                      </a:cxn>
                      <a:cxn ang="0">
                        <a:pos x="T2" y="T3"/>
                      </a:cxn>
                      <a:cxn ang="0">
                        <a:pos x="T4" y="T5"/>
                      </a:cxn>
                    </a:cxnLst>
                    <a:rect l="0" t="0" r="r" b="b"/>
                    <a:pathLst>
                      <a:path w="70" h="92">
                        <a:moveTo>
                          <a:pt x="70" y="5"/>
                        </a:moveTo>
                        <a:lnTo>
                          <a:pt x="70" y="5"/>
                        </a:lnTo>
                        <a:cubicBezTo>
                          <a:pt x="33" y="0"/>
                          <a:pt x="0" y="54"/>
                          <a:pt x="0"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0" name="Freeform 47">
                    <a:extLst>
                      <a:ext uri="{FF2B5EF4-FFF2-40B4-BE49-F238E27FC236}">
                        <a16:creationId xmlns:a16="http://schemas.microsoft.com/office/drawing/2014/main" id="{D5A01B9E-B513-4681-AB69-D2EFA62F87D8}"/>
                      </a:ext>
                    </a:extLst>
                  </p:cNvPr>
                  <p:cNvSpPr>
                    <a:spLocks/>
                  </p:cNvSpPr>
                  <p:nvPr/>
                </p:nvSpPr>
                <p:spPr bwMode="auto">
                  <a:xfrm>
                    <a:off x="8376966" y="2003901"/>
                    <a:ext cx="301625" cy="195263"/>
                  </a:xfrm>
                  <a:custGeom>
                    <a:avLst/>
                    <a:gdLst>
                      <a:gd name="T0" fmla="*/ 61 w 278"/>
                      <a:gd name="T1" fmla="*/ 180 h 180"/>
                      <a:gd name="T2" fmla="*/ 61 w 278"/>
                      <a:gd name="T3" fmla="*/ 180 h 180"/>
                      <a:gd name="T4" fmla="*/ 108 w 278"/>
                      <a:gd name="T5" fmla="*/ 5 h 180"/>
                      <a:gd name="T6" fmla="*/ 161 w 278"/>
                      <a:gd name="T7" fmla="*/ 180 h 180"/>
                      <a:gd name="T8" fmla="*/ 208 w 278"/>
                      <a:gd name="T9" fmla="*/ 5 h 180"/>
                      <a:gd name="T10" fmla="*/ 278 w 278"/>
                      <a:gd name="T11" fmla="*/ 92 h 180"/>
                    </a:gdLst>
                    <a:ahLst/>
                    <a:cxnLst>
                      <a:cxn ang="0">
                        <a:pos x="T0" y="T1"/>
                      </a:cxn>
                      <a:cxn ang="0">
                        <a:pos x="T2" y="T3"/>
                      </a:cxn>
                      <a:cxn ang="0">
                        <a:pos x="T4" y="T5"/>
                      </a:cxn>
                      <a:cxn ang="0">
                        <a:pos x="T6" y="T7"/>
                      </a:cxn>
                      <a:cxn ang="0">
                        <a:pos x="T8" y="T9"/>
                      </a:cxn>
                      <a:cxn ang="0">
                        <a:pos x="T10" y="T11"/>
                      </a:cxn>
                    </a:cxnLst>
                    <a:rect l="0" t="0" r="r" b="b"/>
                    <a:pathLst>
                      <a:path w="278" h="180">
                        <a:moveTo>
                          <a:pt x="61" y="180"/>
                        </a:moveTo>
                        <a:lnTo>
                          <a:pt x="61" y="180"/>
                        </a:lnTo>
                        <a:cubicBezTo>
                          <a:pt x="0" y="180"/>
                          <a:pt x="29" y="6"/>
                          <a:pt x="108" y="5"/>
                        </a:cubicBezTo>
                        <a:cubicBezTo>
                          <a:pt x="188" y="4"/>
                          <a:pt x="222" y="180"/>
                          <a:pt x="161" y="180"/>
                        </a:cubicBezTo>
                        <a:cubicBezTo>
                          <a:pt x="100" y="180"/>
                          <a:pt x="130" y="15"/>
                          <a:pt x="208" y="5"/>
                        </a:cubicBezTo>
                        <a:cubicBezTo>
                          <a:pt x="245" y="0"/>
                          <a:pt x="278" y="54"/>
                          <a:pt x="278"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1" name="Freeform 48">
                    <a:extLst>
                      <a:ext uri="{FF2B5EF4-FFF2-40B4-BE49-F238E27FC236}">
                        <a16:creationId xmlns:a16="http://schemas.microsoft.com/office/drawing/2014/main" id="{598667C9-CAC1-40DD-97E6-59493C8DE2D4}"/>
                      </a:ext>
                    </a:extLst>
                  </p:cNvPr>
                  <p:cNvSpPr>
                    <a:spLocks/>
                  </p:cNvSpPr>
                  <p:nvPr/>
                </p:nvSpPr>
                <p:spPr bwMode="auto">
                  <a:xfrm>
                    <a:off x="8376966" y="2007076"/>
                    <a:ext cx="239712" cy="192088"/>
                  </a:xfrm>
                  <a:custGeom>
                    <a:avLst/>
                    <a:gdLst>
                      <a:gd name="T0" fmla="*/ 161 w 221"/>
                      <a:gd name="T1" fmla="*/ 176 h 176"/>
                      <a:gd name="T2" fmla="*/ 161 w 221"/>
                      <a:gd name="T3" fmla="*/ 176 h 176"/>
                      <a:gd name="T4" fmla="*/ 114 w 221"/>
                      <a:gd name="T5" fmla="*/ 1 h 176"/>
                      <a:gd name="T6" fmla="*/ 61 w 221"/>
                      <a:gd name="T7" fmla="*/ 176 h 176"/>
                      <a:gd name="T8" fmla="*/ 14 w 221"/>
                      <a:gd name="T9" fmla="*/ 1 h 176"/>
                    </a:gdLst>
                    <a:ahLst/>
                    <a:cxnLst>
                      <a:cxn ang="0">
                        <a:pos x="T0" y="T1"/>
                      </a:cxn>
                      <a:cxn ang="0">
                        <a:pos x="T2" y="T3"/>
                      </a:cxn>
                      <a:cxn ang="0">
                        <a:pos x="T4" y="T5"/>
                      </a:cxn>
                      <a:cxn ang="0">
                        <a:pos x="T6" y="T7"/>
                      </a:cxn>
                      <a:cxn ang="0">
                        <a:pos x="T8" y="T9"/>
                      </a:cxn>
                    </a:cxnLst>
                    <a:rect l="0" t="0" r="r" b="b"/>
                    <a:pathLst>
                      <a:path w="221" h="176">
                        <a:moveTo>
                          <a:pt x="161" y="176"/>
                        </a:moveTo>
                        <a:lnTo>
                          <a:pt x="161" y="176"/>
                        </a:lnTo>
                        <a:cubicBezTo>
                          <a:pt x="221" y="176"/>
                          <a:pt x="193" y="2"/>
                          <a:pt x="114" y="1"/>
                        </a:cubicBezTo>
                        <a:cubicBezTo>
                          <a:pt x="34" y="0"/>
                          <a:pt x="0" y="176"/>
                          <a:pt x="61" y="176"/>
                        </a:cubicBezTo>
                        <a:cubicBezTo>
                          <a:pt x="122" y="176"/>
                          <a:pt x="93" y="2"/>
                          <a:pt x="14" y="1"/>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2" name="Freeform 51">
                    <a:extLst>
                      <a:ext uri="{FF2B5EF4-FFF2-40B4-BE49-F238E27FC236}">
                        <a16:creationId xmlns:a16="http://schemas.microsoft.com/office/drawing/2014/main" id="{36255F20-57B0-4831-B003-9AB61DA703CD}"/>
                      </a:ext>
                    </a:extLst>
                  </p:cNvPr>
                  <p:cNvSpPr>
                    <a:spLocks/>
                  </p:cNvSpPr>
                  <p:nvPr/>
                </p:nvSpPr>
                <p:spPr bwMode="auto">
                  <a:xfrm>
                    <a:off x="8321403" y="2003901"/>
                    <a:ext cx="76200" cy="98425"/>
                  </a:xfrm>
                  <a:custGeom>
                    <a:avLst/>
                    <a:gdLst>
                      <a:gd name="T0" fmla="*/ 70 w 70"/>
                      <a:gd name="T1" fmla="*/ 5 h 92"/>
                      <a:gd name="T2" fmla="*/ 70 w 70"/>
                      <a:gd name="T3" fmla="*/ 5 h 92"/>
                      <a:gd name="T4" fmla="*/ 0 w 70"/>
                      <a:gd name="T5" fmla="*/ 92 h 92"/>
                    </a:gdLst>
                    <a:ahLst/>
                    <a:cxnLst>
                      <a:cxn ang="0">
                        <a:pos x="T0" y="T1"/>
                      </a:cxn>
                      <a:cxn ang="0">
                        <a:pos x="T2" y="T3"/>
                      </a:cxn>
                      <a:cxn ang="0">
                        <a:pos x="T4" y="T5"/>
                      </a:cxn>
                    </a:cxnLst>
                    <a:rect l="0" t="0" r="r" b="b"/>
                    <a:pathLst>
                      <a:path w="70" h="92">
                        <a:moveTo>
                          <a:pt x="70" y="5"/>
                        </a:moveTo>
                        <a:lnTo>
                          <a:pt x="70" y="5"/>
                        </a:lnTo>
                        <a:cubicBezTo>
                          <a:pt x="33" y="0"/>
                          <a:pt x="0" y="54"/>
                          <a:pt x="0"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grpSp>
            <p:cxnSp>
              <p:nvCxnSpPr>
                <p:cNvPr id="23" name="Straight Connector 22">
                  <a:extLst>
                    <a:ext uri="{FF2B5EF4-FFF2-40B4-BE49-F238E27FC236}">
                      <a16:creationId xmlns:a16="http://schemas.microsoft.com/office/drawing/2014/main" id="{617CAA92-6084-4037-9B87-D08C7DD35EA2}"/>
                    </a:ext>
                  </a:extLst>
                </p:cNvPr>
                <p:cNvCxnSpPr>
                  <a:cxnSpLocks/>
                </p:cNvCxnSpPr>
                <p:nvPr/>
              </p:nvCxnSpPr>
              <p:spPr>
                <a:xfrm>
                  <a:off x="896112" y="1057724"/>
                  <a:ext cx="7050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Freeform 38">
                  <a:extLst>
                    <a:ext uri="{FF2B5EF4-FFF2-40B4-BE49-F238E27FC236}">
                      <a16:creationId xmlns:a16="http://schemas.microsoft.com/office/drawing/2014/main" id="{7931B7CA-ABA1-44C1-A917-91F5A608F5E5}"/>
                    </a:ext>
                  </a:extLst>
                </p:cNvPr>
                <p:cNvSpPr>
                  <a:spLocks noEditPoints="1"/>
                </p:cNvSpPr>
                <p:nvPr/>
              </p:nvSpPr>
              <p:spPr bwMode="auto">
                <a:xfrm>
                  <a:off x="732646" y="968587"/>
                  <a:ext cx="205343" cy="187797"/>
                </a:xfrm>
                <a:custGeom>
                  <a:avLst/>
                  <a:gdLst>
                    <a:gd name="T0" fmla="*/ 48 w 101"/>
                    <a:gd name="T1" fmla="*/ 0 h 97"/>
                    <a:gd name="T2" fmla="*/ 48 w 101"/>
                    <a:gd name="T3" fmla="*/ 0 h 97"/>
                    <a:gd name="T4" fmla="*/ 0 w 101"/>
                    <a:gd name="T5" fmla="*/ 0 h 97"/>
                    <a:gd name="T6" fmla="*/ 0 w 101"/>
                    <a:gd name="T7" fmla="*/ 48 h 97"/>
                    <a:gd name="T8" fmla="*/ 101 w 101"/>
                    <a:gd name="T9" fmla="*/ 48 h 97"/>
                    <a:gd name="T10" fmla="*/ 101 w 101"/>
                    <a:gd name="T11" fmla="*/ 48 h 97"/>
                    <a:gd name="T12" fmla="*/ 48 w 101"/>
                    <a:gd name="T13" fmla="*/ 0 h 97"/>
                    <a:gd name="T14" fmla="*/ 0 w 101"/>
                    <a:gd name="T15" fmla="*/ 48 h 97"/>
                    <a:gd name="T16" fmla="*/ 0 w 101"/>
                    <a:gd name="T17" fmla="*/ 48 h 97"/>
                    <a:gd name="T18" fmla="*/ 0 w 101"/>
                    <a:gd name="T19" fmla="*/ 97 h 97"/>
                    <a:gd name="T20" fmla="*/ 48 w 101"/>
                    <a:gd name="T21" fmla="*/ 97 h 97"/>
                    <a:gd name="T22" fmla="*/ 101 w 101"/>
                    <a:gd name="T23"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97">
                      <a:moveTo>
                        <a:pt x="48" y="0"/>
                      </a:moveTo>
                      <a:lnTo>
                        <a:pt x="48" y="0"/>
                      </a:lnTo>
                      <a:lnTo>
                        <a:pt x="0" y="0"/>
                      </a:lnTo>
                      <a:lnTo>
                        <a:pt x="0" y="48"/>
                      </a:lnTo>
                      <a:moveTo>
                        <a:pt x="101" y="48"/>
                      </a:moveTo>
                      <a:lnTo>
                        <a:pt x="101" y="48"/>
                      </a:lnTo>
                      <a:lnTo>
                        <a:pt x="48" y="0"/>
                      </a:lnTo>
                      <a:moveTo>
                        <a:pt x="0" y="48"/>
                      </a:moveTo>
                      <a:lnTo>
                        <a:pt x="0" y="48"/>
                      </a:lnTo>
                      <a:lnTo>
                        <a:pt x="0" y="97"/>
                      </a:lnTo>
                      <a:lnTo>
                        <a:pt x="48" y="97"/>
                      </a:lnTo>
                      <a:lnTo>
                        <a:pt x="101" y="48"/>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6" name="Rectangle 25">
                  <a:extLst>
                    <a:ext uri="{FF2B5EF4-FFF2-40B4-BE49-F238E27FC236}">
                      <a16:creationId xmlns:a16="http://schemas.microsoft.com/office/drawing/2014/main" id="{BE26D256-A930-4E35-A951-E1CA0341EFDE}"/>
                    </a:ext>
                  </a:extLst>
                </p:cNvPr>
                <p:cNvSpPr>
                  <a:spLocks noChangeArrowheads="1"/>
                </p:cNvSpPr>
                <p:nvPr/>
              </p:nvSpPr>
              <p:spPr bwMode="auto">
                <a:xfrm>
                  <a:off x="687803" y="728332"/>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a:solidFill>
                        <a:srgbClr val="000000"/>
                      </a:solidFill>
                    </a:rPr>
                    <a:t>V</a:t>
                  </a:r>
                  <a:r>
                    <a:rPr lang="en-US" altLang="en-BE" sz="1050" b="1" baseline="-25000">
                      <a:solidFill>
                        <a:srgbClr val="000000"/>
                      </a:solidFill>
                    </a:rPr>
                    <a:t>IN</a:t>
                  </a:r>
                  <a:endParaRPr lang="en-BE" altLang="en-BE" sz="1350" b="1"/>
                </a:p>
              </p:txBody>
            </p:sp>
          </p:grpSp>
          <p:sp>
            <p:nvSpPr>
              <p:cNvPr id="73" name="TextBox 72">
                <a:extLst>
                  <a:ext uri="{FF2B5EF4-FFF2-40B4-BE49-F238E27FC236}">
                    <a16:creationId xmlns:a16="http://schemas.microsoft.com/office/drawing/2014/main" id="{E3FE371C-F704-4451-961E-54BBDC7566A2}"/>
                  </a:ext>
                </a:extLst>
              </p:cNvPr>
              <p:cNvSpPr txBox="1"/>
              <p:nvPr/>
            </p:nvSpPr>
            <p:spPr>
              <a:xfrm>
                <a:off x="1450848" y="1842850"/>
                <a:ext cx="963168" cy="246221"/>
              </a:xfrm>
              <a:prstGeom prst="rect">
                <a:avLst/>
              </a:prstGeom>
              <a:noFill/>
            </p:spPr>
            <p:txBody>
              <a:bodyPr wrap="square">
                <a:spAutoFit/>
              </a:bodyPr>
              <a:lstStyle/>
              <a:p>
                <a:r>
                  <a:rPr lang="en-US" sz="1000" b="0" i="0" u="none" strike="noStrike" baseline="0">
                    <a:latin typeface="UGentPannoText-Normal"/>
                  </a:rPr>
                  <a:t>(a) Symbol</a:t>
                </a:r>
                <a:endParaRPr lang="en-BE"/>
              </a:p>
            </p:txBody>
          </p:sp>
          <p:sp>
            <p:nvSpPr>
              <p:cNvPr id="77" name="TextBox 76">
                <a:extLst>
                  <a:ext uri="{FF2B5EF4-FFF2-40B4-BE49-F238E27FC236}">
                    <a16:creationId xmlns:a16="http://schemas.microsoft.com/office/drawing/2014/main" id="{59DDDFFE-B2D2-41A6-99C3-7DC2EB4EBD20}"/>
                  </a:ext>
                </a:extLst>
              </p:cNvPr>
              <p:cNvSpPr txBox="1"/>
              <p:nvPr/>
            </p:nvSpPr>
            <p:spPr>
              <a:xfrm>
                <a:off x="4541520" y="1995250"/>
                <a:ext cx="749808" cy="246221"/>
              </a:xfrm>
              <a:prstGeom prst="rect">
                <a:avLst/>
              </a:prstGeom>
              <a:noFill/>
            </p:spPr>
            <p:txBody>
              <a:bodyPr wrap="square">
                <a:spAutoFit/>
              </a:bodyPr>
              <a:lstStyle/>
              <a:p>
                <a:r>
                  <a:rPr lang="en-US" sz="1000" b="0" i="0" u="none" strike="noStrike" baseline="0">
                    <a:latin typeface="UGentPannoText-Normal"/>
                  </a:rPr>
                  <a:t>(b) Circuit</a:t>
                </a:r>
                <a:endParaRPr lang="en-BE"/>
              </a:p>
            </p:txBody>
          </p:sp>
          <p:sp>
            <p:nvSpPr>
              <p:cNvPr id="79" name="TextBox 78">
                <a:extLst>
                  <a:ext uri="{FF2B5EF4-FFF2-40B4-BE49-F238E27FC236}">
                    <a16:creationId xmlns:a16="http://schemas.microsoft.com/office/drawing/2014/main" id="{3108B54D-D010-4EEE-A3BD-2C30890E732C}"/>
                  </a:ext>
                </a:extLst>
              </p:cNvPr>
              <p:cNvSpPr txBox="1"/>
              <p:nvPr/>
            </p:nvSpPr>
            <p:spPr>
              <a:xfrm>
                <a:off x="1578864" y="2274067"/>
                <a:ext cx="4242816" cy="261610"/>
              </a:xfrm>
              <a:prstGeom prst="rect">
                <a:avLst/>
              </a:prstGeom>
              <a:noFill/>
            </p:spPr>
            <p:txBody>
              <a:bodyPr wrap="square">
                <a:spAutoFit/>
              </a:bodyPr>
              <a:lstStyle/>
              <a:p>
                <a:r>
                  <a:rPr lang="en-US" sz="1100" b="0" i="0" u="none" strike="noStrike" baseline="0">
                    <a:latin typeface="UGentPannoText-Normal"/>
                  </a:rPr>
                  <a:t>Figure 3: Symbol and circuit used for the active inductor</a:t>
                </a:r>
                <a:endParaRPr lang="en-BE"/>
              </a:p>
            </p:txBody>
          </p:sp>
          <p:grpSp>
            <p:nvGrpSpPr>
              <p:cNvPr id="286" name="Group 285">
                <a:extLst>
                  <a:ext uri="{FF2B5EF4-FFF2-40B4-BE49-F238E27FC236}">
                    <a16:creationId xmlns:a16="http://schemas.microsoft.com/office/drawing/2014/main" id="{1C7C6613-ECCA-4866-B475-35D45AB86007}"/>
                  </a:ext>
                </a:extLst>
              </p:cNvPr>
              <p:cNvGrpSpPr/>
              <p:nvPr/>
            </p:nvGrpSpPr>
            <p:grpSpPr>
              <a:xfrm>
                <a:off x="3507203" y="124566"/>
                <a:ext cx="2472972" cy="1849191"/>
                <a:chOff x="3507203" y="124566"/>
                <a:chExt cx="2472972" cy="1849191"/>
              </a:xfrm>
            </p:grpSpPr>
            <p:cxnSp>
              <p:nvCxnSpPr>
                <p:cNvPr id="65" name="Straight Connector 64">
                  <a:extLst>
                    <a:ext uri="{FF2B5EF4-FFF2-40B4-BE49-F238E27FC236}">
                      <a16:creationId xmlns:a16="http://schemas.microsoft.com/office/drawing/2014/main" id="{C09C4E0E-AEFA-4AD4-BAE5-74876EB6889A}"/>
                    </a:ext>
                  </a:extLst>
                </p:cNvPr>
                <p:cNvCxnSpPr>
                  <a:cxnSpLocks/>
                  <a:endCxn id="51" idx="3"/>
                </p:cNvCxnSpPr>
                <p:nvPr/>
              </p:nvCxnSpPr>
              <p:spPr>
                <a:xfrm>
                  <a:off x="3907536" y="1112588"/>
                  <a:ext cx="1218349" cy="110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5CA6508-A732-4803-B9E9-21790E03562E}"/>
                    </a:ext>
                  </a:extLst>
                </p:cNvPr>
                <p:cNvGrpSpPr/>
                <p:nvPr/>
              </p:nvGrpSpPr>
              <p:grpSpPr>
                <a:xfrm>
                  <a:off x="3889588" y="124566"/>
                  <a:ext cx="2090587" cy="1849191"/>
                  <a:chOff x="3889588" y="124566"/>
                  <a:chExt cx="2090587" cy="1849191"/>
                </a:xfrm>
              </p:grpSpPr>
              <p:grpSp>
                <p:nvGrpSpPr>
                  <p:cNvPr id="28" name="Group 27">
                    <a:extLst>
                      <a:ext uri="{FF2B5EF4-FFF2-40B4-BE49-F238E27FC236}">
                        <a16:creationId xmlns:a16="http://schemas.microsoft.com/office/drawing/2014/main" id="{7EB643E9-6648-4091-97B2-02F07C1F82C0}"/>
                      </a:ext>
                    </a:extLst>
                  </p:cNvPr>
                  <p:cNvGrpSpPr/>
                  <p:nvPr/>
                </p:nvGrpSpPr>
                <p:grpSpPr>
                  <a:xfrm>
                    <a:off x="4561687" y="124566"/>
                    <a:ext cx="1418488" cy="1849191"/>
                    <a:chOff x="5259778" y="172826"/>
                    <a:chExt cx="1418488" cy="1849191"/>
                  </a:xfrm>
                </p:grpSpPr>
                <p:sp>
                  <p:nvSpPr>
                    <p:cNvPr id="29" name="Freeform 88">
                      <a:extLst>
                        <a:ext uri="{FF2B5EF4-FFF2-40B4-BE49-F238E27FC236}">
                          <a16:creationId xmlns:a16="http://schemas.microsoft.com/office/drawing/2014/main" id="{F498D2CF-B358-43AC-A049-5F55DB0B71F7}"/>
                        </a:ext>
                      </a:extLst>
                    </p:cNvPr>
                    <p:cNvSpPr>
                      <a:spLocks/>
                    </p:cNvSpPr>
                    <p:nvPr/>
                  </p:nvSpPr>
                  <p:spPr bwMode="auto">
                    <a:xfrm>
                      <a:off x="5789824" y="1939864"/>
                      <a:ext cx="103584" cy="0"/>
                    </a:xfrm>
                    <a:custGeom>
                      <a:avLst/>
                      <a:gdLst>
                        <a:gd name="T0" fmla="*/ 0 w 127"/>
                        <a:gd name="T1" fmla="*/ 0 w 127"/>
                        <a:gd name="T2" fmla="*/ 127 w 127"/>
                      </a:gdLst>
                      <a:ahLst/>
                      <a:cxnLst>
                        <a:cxn ang="0">
                          <a:pos x="T0" y="0"/>
                        </a:cxn>
                        <a:cxn ang="0">
                          <a:pos x="T1" y="0"/>
                        </a:cxn>
                        <a:cxn ang="0">
                          <a:pos x="T2" y="0"/>
                        </a:cxn>
                      </a:cxnLst>
                      <a:rect l="0" t="0" r="r" b="b"/>
                      <a:pathLst>
                        <a:path w="127">
                          <a:moveTo>
                            <a:pt x="0" y="0"/>
                          </a:moveTo>
                          <a:lnTo>
                            <a:pt x="0" y="0"/>
                          </a:lnTo>
                          <a:lnTo>
                            <a:pt x="127"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0" name="Freeform 89">
                      <a:extLst>
                        <a:ext uri="{FF2B5EF4-FFF2-40B4-BE49-F238E27FC236}">
                          <a16:creationId xmlns:a16="http://schemas.microsoft.com/office/drawing/2014/main" id="{0F6B754B-0465-4E2C-B2AE-3A788485B73F}"/>
                        </a:ext>
                      </a:extLst>
                    </p:cNvPr>
                    <p:cNvSpPr>
                      <a:spLocks/>
                    </p:cNvSpPr>
                    <p:nvPr/>
                  </p:nvSpPr>
                  <p:spPr bwMode="auto">
                    <a:xfrm>
                      <a:off x="5816017" y="1981536"/>
                      <a:ext cx="51197" cy="0"/>
                    </a:xfrm>
                    <a:custGeom>
                      <a:avLst/>
                      <a:gdLst>
                        <a:gd name="T0" fmla="*/ 0 w 63"/>
                        <a:gd name="T1" fmla="*/ 0 w 63"/>
                        <a:gd name="T2" fmla="*/ 63 w 63"/>
                      </a:gdLst>
                      <a:ahLst/>
                      <a:cxnLst>
                        <a:cxn ang="0">
                          <a:pos x="T0" y="0"/>
                        </a:cxn>
                        <a:cxn ang="0">
                          <a:pos x="T1" y="0"/>
                        </a:cxn>
                        <a:cxn ang="0">
                          <a:pos x="T2" y="0"/>
                        </a:cxn>
                      </a:cxnLst>
                      <a:rect l="0" t="0" r="r" b="b"/>
                      <a:pathLst>
                        <a:path w="63">
                          <a:moveTo>
                            <a:pt x="0" y="0"/>
                          </a:moveTo>
                          <a:lnTo>
                            <a:pt x="0" y="0"/>
                          </a:lnTo>
                          <a:lnTo>
                            <a:pt x="63"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1" name="Freeform 90">
                      <a:extLst>
                        <a:ext uri="{FF2B5EF4-FFF2-40B4-BE49-F238E27FC236}">
                          <a16:creationId xmlns:a16="http://schemas.microsoft.com/office/drawing/2014/main" id="{9EB62A1A-FD7E-4E7A-A462-0475AC82B756}"/>
                        </a:ext>
                      </a:extLst>
                    </p:cNvPr>
                    <p:cNvSpPr>
                      <a:spLocks/>
                    </p:cNvSpPr>
                    <p:nvPr/>
                  </p:nvSpPr>
                  <p:spPr bwMode="auto">
                    <a:xfrm>
                      <a:off x="5836258" y="2022017"/>
                      <a:ext cx="11906" cy="0"/>
                    </a:xfrm>
                    <a:custGeom>
                      <a:avLst/>
                      <a:gdLst>
                        <a:gd name="T0" fmla="*/ 0 w 15"/>
                        <a:gd name="T1" fmla="*/ 0 w 15"/>
                        <a:gd name="T2" fmla="*/ 15 w 15"/>
                      </a:gdLst>
                      <a:ahLst/>
                      <a:cxnLst>
                        <a:cxn ang="0">
                          <a:pos x="T0" y="0"/>
                        </a:cxn>
                        <a:cxn ang="0">
                          <a:pos x="T1" y="0"/>
                        </a:cxn>
                        <a:cxn ang="0">
                          <a:pos x="T2" y="0"/>
                        </a:cxn>
                      </a:cxnLst>
                      <a:rect l="0" t="0" r="r" b="b"/>
                      <a:pathLst>
                        <a:path w="15">
                          <a:moveTo>
                            <a:pt x="0" y="0"/>
                          </a:moveTo>
                          <a:lnTo>
                            <a:pt x="0" y="0"/>
                          </a:lnTo>
                          <a:lnTo>
                            <a:pt x="15"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2" name="Freeform 14">
                      <a:extLst>
                        <a:ext uri="{FF2B5EF4-FFF2-40B4-BE49-F238E27FC236}">
                          <a16:creationId xmlns:a16="http://schemas.microsoft.com/office/drawing/2014/main" id="{01681B40-7B13-43F4-9435-16F295EF0ADE}"/>
                        </a:ext>
                      </a:extLst>
                    </p:cNvPr>
                    <p:cNvSpPr>
                      <a:spLocks/>
                    </p:cNvSpPr>
                    <p:nvPr/>
                  </p:nvSpPr>
                  <p:spPr bwMode="auto">
                    <a:xfrm flipH="1">
                      <a:off x="5606064" y="699710"/>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3" name="Freeform 15">
                      <a:extLst>
                        <a:ext uri="{FF2B5EF4-FFF2-40B4-BE49-F238E27FC236}">
                          <a16:creationId xmlns:a16="http://schemas.microsoft.com/office/drawing/2014/main" id="{72B2D70E-BB4E-42DE-88D3-C4D543BAF39A}"/>
                        </a:ext>
                      </a:extLst>
                    </p:cNvPr>
                    <p:cNvSpPr>
                      <a:spLocks/>
                    </p:cNvSpPr>
                    <p:nvPr/>
                  </p:nvSpPr>
                  <p:spPr bwMode="auto">
                    <a:xfrm flipH="1">
                      <a:off x="5821614" y="878304"/>
                      <a:ext cx="34290" cy="534114"/>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4" name="Freeform 17">
                      <a:extLst>
                        <a:ext uri="{FF2B5EF4-FFF2-40B4-BE49-F238E27FC236}">
                          <a16:creationId xmlns:a16="http://schemas.microsoft.com/office/drawing/2014/main" id="{91C69406-B5F5-4CB3-B939-953AD1D07844}"/>
                        </a:ext>
                      </a:extLst>
                    </p:cNvPr>
                    <p:cNvSpPr>
                      <a:spLocks/>
                    </p:cNvSpPr>
                    <p:nvPr/>
                  </p:nvSpPr>
                  <p:spPr bwMode="auto">
                    <a:xfrm flipH="1">
                      <a:off x="5684175" y="878304"/>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5" name="Freeform 18">
                      <a:extLst>
                        <a:ext uri="{FF2B5EF4-FFF2-40B4-BE49-F238E27FC236}">
                          <a16:creationId xmlns:a16="http://schemas.microsoft.com/office/drawing/2014/main" id="{A69795C0-FAF2-4836-88F2-43D05C8E83ED}"/>
                        </a:ext>
                      </a:extLst>
                    </p:cNvPr>
                    <p:cNvSpPr>
                      <a:spLocks/>
                    </p:cNvSpPr>
                    <p:nvPr/>
                  </p:nvSpPr>
                  <p:spPr bwMode="auto">
                    <a:xfrm flipH="1">
                      <a:off x="5684175" y="706854"/>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type="triangl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6" name="Freeform 19">
                      <a:extLst>
                        <a:ext uri="{FF2B5EF4-FFF2-40B4-BE49-F238E27FC236}">
                          <a16:creationId xmlns:a16="http://schemas.microsoft.com/office/drawing/2014/main" id="{FD0A3A41-59E0-46A6-B763-30FC07551608}"/>
                        </a:ext>
                      </a:extLst>
                    </p:cNvPr>
                    <p:cNvSpPr>
                      <a:spLocks/>
                    </p:cNvSpPr>
                    <p:nvPr/>
                  </p:nvSpPr>
                  <p:spPr bwMode="auto">
                    <a:xfrm flipH="1">
                      <a:off x="5684175" y="655657"/>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7" name="Freeform 15">
                      <a:extLst>
                        <a:ext uri="{FF2B5EF4-FFF2-40B4-BE49-F238E27FC236}">
                          <a16:creationId xmlns:a16="http://schemas.microsoft.com/office/drawing/2014/main" id="{88414C96-092C-4C83-9204-E5FD16A85AED}"/>
                        </a:ext>
                      </a:extLst>
                    </p:cNvPr>
                    <p:cNvSpPr>
                      <a:spLocks/>
                    </p:cNvSpPr>
                    <p:nvPr/>
                  </p:nvSpPr>
                  <p:spPr bwMode="auto">
                    <a:xfrm flipH="1">
                      <a:off x="5832090" y="402529"/>
                      <a:ext cx="34290" cy="30432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8" name="Freeform 14">
                      <a:extLst>
                        <a:ext uri="{FF2B5EF4-FFF2-40B4-BE49-F238E27FC236}">
                          <a16:creationId xmlns:a16="http://schemas.microsoft.com/office/drawing/2014/main" id="{5D32E9FE-E12D-4852-BDF6-30E68A8C2962}"/>
                        </a:ext>
                      </a:extLst>
                    </p:cNvPr>
                    <p:cNvSpPr>
                      <a:spLocks/>
                    </p:cNvSpPr>
                    <p:nvPr/>
                  </p:nvSpPr>
                  <p:spPr bwMode="auto">
                    <a:xfrm flipH="1">
                      <a:off x="5613692" y="1517907"/>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39" name="Freeform 15">
                      <a:extLst>
                        <a:ext uri="{FF2B5EF4-FFF2-40B4-BE49-F238E27FC236}">
                          <a16:creationId xmlns:a16="http://schemas.microsoft.com/office/drawing/2014/main" id="{67843B61-6076-46D3-AD59-493A9ACFBF40}"/>
                        </a:ext>
                      </a:extLst>
                    </p:cNvPr>
                    <p:cNvSpPr>
                      <a:spLocks/>
                    </p:cNvSpPr>
                    <p:nvPr/>
                  </p:nvSpPr>
                  <p:spPr bwMode="auto">
                    <a:xfrm flipH="1">
                      <a:off x="5809121" y="1704121"/>
                      <a:ext cx="34290" cy="235743"/>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0" name="Freeform 17">
                      <a:extLst>
                        <a:ext uri="{FF2B5EF4-FFF2-40B4-BE49-F238E27FC236}">
                          <a16:creationId xmlns:a16="http://schemas.microsoft.com/office/drawing/2014/main" id="{9F461C0D-5602-41C4-8E19-8D5F9133A1CF}"/>
                        </a:ext>
                      </a:extLst>
                    </p:cNvPr>
                    <p:cNvSpPr>
                      <a:spLocks/>
                    </p:cNvSpPr>
                    <p:nvPr/>
                  </p:nvSpPr>
                  <p:spPr bwMode="auto">
                    <a:xfrm flipH="1">
                      <a:off x="5684183" y="1694596"/>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type="triangle"/>
                      <a:tailEnd type="non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1" name="Freeform 18">
                      <a:extLst>
                        <a:ext uri="{FF2B5EF4-FFF2-40B4-BE49-F238E27FC236}">
                          <a16:creationId xmlns:a16="http://schemas.microsoft.com/office/drawing/2014/main" id="{C6D6E60D-5592-4C6A-BBDA-66115633E31F}"/>
                        </a:ext>
                      </a:extLst>
                    </p:cNvPr>
                    <p:cNvSpPr>
                      <a:spLocks/>
                    </p:cNvSpPr>
                    <p:nvPr/>
                  </p:nvSpPr>
                  <p:spPr bwMode="auto">
                    <a:xfrm flipH="1">
                      <a:off x="5684183" y="1523146"/>
                      <a:ext cx="171729"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2" name="Freeform 19">
                      <a:extLst>
                        <a:ext uri="{FF2B5EF4-FFF2-40B4-BE49-F238E27FC236}">
                          <a16:creationId xmlns:a16="http://schemas.microsoft.com/office/drawing/2014/main" id="{6BC4273E-EF60-47C5-8159-20E41B5FB444}"/>
                        </a:ext>
                      </a:extLst>
                    </p:cNvPr>
                    <p:cNvSpPr>
                      <a:spLocks/>
                    </p:cNvSpPr>
                    <p:nvPr/>
                  </p:nvSpPr>
                  <p:spPr bwMode="auto">
                    <a:xfrm flipH="1">
                      <a:off x="5684182" y="1471949"/>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3" name="Freeform 15">
                      <a:extLst>
                        <a:ext uri="{FF2B5EF4-FFF2-40B4-BE49-F238E27FC236}">
                          <a16:creationId xmlns:a16="http://schemas.microsoft.com/office/drawing/2014/main" id="{F9A5B546-8AE9-42BD-A8DA-601233854C47}"/>
                        </a:ext>
                      </a:extLst>
                    </p:cNvPr>
                    <p:cNvSpPr>
                      <a:spLocks/>
                    </p:cNvSpPr>
                    <p:nvPr/>
                  </p:nvSpPr>
                  <p:spPr bwMode="auto">
                    <a:xfrm flipH="1">
                      <a:off x="5855912" y="1417180"/>
                      <a:ext cx="0" cy="105966"/>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4" name="Freeform 35">
                      <a:extLst>
                        <a:ext uri="{FF2B5EF4-FFF2-40B4-BE49-F238E27FC236}">
                          <a16:creationId xmlns:a16="http://schemas.microsoft.com/office/drawing/2014/main" id="{7F5952F9-0C09-44B2-AF6A-F9CE80118CBF}"/>
                        </a:ext>
                      </a:extLst>
                    </p:cNvPr>
                    <p:cNvSpPr>
                      <a:spLocks/>
                    </p:cNvSpPr>
                    <p:nvPr/>
                  </p:nvSpPr>
                  <p:spPr bwMode="auto">
                    <a:xfrm>
                      <a:off x="5287507" y="793769"/>
                      <a:ext cx="304800"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5" name="Freeform 35">
                      <a:extLst>
                        <a:ext uri="{FF2B5EF4-FFF2-40B4-BE49-F238E27FC236}">
                          <a16:creationId xmlns:a16="http://schemas.microsoft.com/office/drawing/2014/main" id="{6BE219F8-72F9-4D1D-A722-2F3BA390EFCE}"/>
                        </a:ext>
                      </a:extLst>
                    </p:cNvPr>
                    <p:cNvSpPr>
                      <a:spLocks/>
                    </p:cNvSpPr>
                    <p:nvPr/>
                  </p:nvSpPr>
                  <p:spPr bwMode="auto">
                    <a:xfrm>
                      <a:off x="5291083" y="1610062"/>
                      <a:ext cx="304800"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6" name="Freeform 28">
                      <a:extLst>
                        <a:ext uri="{FF2B5EF4-FFF2-40B4-BE49-F238E27FC236}">
                          <a16:creationId xmlns:a16="http://schemas.microsoft.com/office/drawing/2014/main" id="{51656C64-527C-42A1-8FD9-E5306F724030}"/>
                        </a:ext>
                      </a:extLst>
                    </p:cNvPr>
                    <p:cNvSpPr>
                      <a:spLocks/>
                    </p:cNvSpPr>
                    <p:nvPr/>
                  </p:nvSpPr>
                  <p:spPr bwMode="auto">
                    <a:xfrm>
                      <a:off x="5793396" y="402529"/>
                      <a:ext cx="163115" cy="0"/>
                    </a:xfrm>
                    <a:custGeom>
                      <a:avLst/>
                      <a:gdLst>
                        <a:gd name="T0" fmla="*/ 0 w 201"/>
                        <a:gd name="T1" fmla="*/ 0 w 201"/>
                        <a:gd name="T2" fmla="*/ 201 w 201"/>
                      </a:gdLst>
                      <a:ahLst/>
                      <a:cxnLst>
                        <a:cxn ang="0">
                          <a:pos x="T0" y="0"/>
                        </a:cxn>
                        <a:cxn ang="0">
                          <a:pos x="T1" y="0"/>
                        </a:cxn>
                        <a:cxn ang="0">
                          <a:pos x="T2" y="0"/>
                        </a:cxn>
                      </a:cxnLst>
                      <a:rect l="0" t="0" r="r" b="b"/>
                      <a:pathLst>
                        <a:path w="201">
                          <a:moveTo>
                            <a:pt x="0" y="0"/>
                          </a:moveTo>
                          <a:lnTo>
                            <a:pt x="0" y="0"/>
                          </a:lnTo>
                          <a:lnTo>
                            <a:pt x="201" y="0"/>
                          </a:lnTo>
                        </a:path>
                      </a:pathLst>
                    </a:custGeom>
                    <a:noFill/>
                    <a:ln w="508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47" name="Rectangle 46">
                      <a:extLst>
                        <a:ext uri="{FF2B5EF4-FFF2-40B4-BE49-F238E27FC236}">
                          <a16:creationId xmlns:a16="http://schemas.microsoft.com/office/drawing/2014/main" id="{E3A6C97C-E89B-4568-AAE6-A1FB806B5133}"/>
                        </a:ext>
                      </a:extLst>
                    </p:cNvPr>
                    <p:cNvSpPr>
                      <a:spLocks noChangeArrowheads="1"/>
                    </p:cNvSpPr>
                    <p:nvPr/>
                  </p:nvSpPr>
                  <p:spPr bwMode="auto">
                    <a:xfrm>
                      <a:off x="5727970" y="172826"/>
                      <a:ext cx="27682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a:solidFill>
                            <a:srgbClr val="000000"/>
                          </a:solidFill>
                        </a:rPr>
                        <a:t>V</a:t>
                      </a:r>
                      <a:r>
                        <a:rPr lang="en-US" altLang="en-BE" sz="1050" b="1" baseline="-25000">
                          <a:solidFill>
                            <a:srgbClr val="000000"/>
                          </a:solidFill>
                        </a:rPr>
                        <a:t>DD</a:t>
                      </a:r>
                      <a:endParaRPr lang="en-BE" altLang="en-BE" sz="1350" b="1"/>
                    </a:p>
                  </p:txBody>
                </p:sp>
                <p:sp>
                  <p:nvSpPr>
                    <p:cNvPr id="48" name="Rectangle 47">
                      <a:extLst>
                        <a:ext uri="{FF2B5EF4-FFF2-40B4-BE49-F238E27FC236}">
                          <a16:creationId xmlns:a16="http://schemas.microsoft.com/office/drawing/2014/main" id="{362F5C52-BDEB-44FD-B5FB-017A06B99384}"/>
                        </a:ext>
                      </a:extLst>
                    </p:cNvPr>
                    <p:cNvSpPr>
                      <a:spLocks noChangeArrowheads="1"/>
                    </p:cNvSpPr>
                    <p:nvPr/>
                  </p:nvSpPr>
                  <p:spPr bwMode="auto">
                    <a:xfrm>
                      <a:off x="5814993" y="699514"/>
                      <a:ext cx="863273"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00" b="1" err="1">
                          <a:solidFill>
                            <a:srgbClr val="000000"/>
                          </a:solidFill>
                        </a:rPr>
                        <a:t>g</a:t>
                      </a:r>
                      <a:r>
                        <a:rPr lang="en-US" altLang="en-BE" sz="1000" b="1" baseline="-25000" err="1">
                          <a:solidFill>
                            <a:srgbClr val="000000"/>
                          </a:solidFill>
                        </a:rPr>
                        <a:t>m</a:t>
                      </a:r>
                      <a:r>
                        <a:rPr lang="en-US" altLang="en-BE" sz="1000" b="1" err="1">
                          <a:solidFill>
                            <a:srgbClr val="000000"/>
                          </a:solidFill>
                        </a:rPr>
                        <a:t>,PMOS</a:t>
                      </a:r>
                      <a:endParaRPr lang="en-BE" altLang="en-BE" sz="1000" b="1"/>
                    </a:p>
                  </p:txBody>
                </p:sp>
                <p:sp>
                  <p:nvSpPr>
                    <p:cNvPr id="50" name="Freeform 36">
                      <a:extLst>
                        <a:ext uri="{FF2B5EF4-FFF2-40B4-BE49-F238E27FC236}">
                          <a16:creationId xmlns:a16="http://schemas.microsoft.com/office/drawing/2014/main" id="{F88527BC-A073-4FAF-BED6-B7148B741212}"/>
                        </a:ext>
                      </a:extLst>
                    </p:cNvPr>
                    <p:cNvSpPr>
                      <a:spLocks noEditPoints="1"/>
                    </p:cNvSpPr>
                    <p:nvPr/>
                  </p:nvSpPr>
                  <p:spPr bwMode="auto">
                    <a:xfrm>
                      <a:off x="5259778" y="1130702"/>
                      <a:ext cx="65484"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51" name="Freeform 36">
                      <a:extLst>
                        <a:ext uri="{FF2B5EF4-FFF2-40B4-BE49-F238E27FC236}">
                          <a16:creationId xmlns:a16="http://schemas.microsoft.com/office/drawing/2014/main" id="{EB3D2D2D-65E1-4A28-8657-46CBD441EA87}"/>
                        </a:ext>
                      </a:extLst>
                    </p:cNvPr>
                    <p:cNvSpPr>
                      <a:spLocks noEditPoints="1"/>
                    </p:cNvSpPr>
                    <p:nvPr/>
                  </p:nvSpPr>
                  <p:spPr bwMode="auto">
                    <a:xfrm>
                      <a:off x="5823976" y="1129213"/>
                      <a:ext cx="65484"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grpSp>
              <p:sp>
                <p:nvSpPr>
                  <p:cNvPr id="52" name="Freeform 15">
                    <a:extLst>
                      <a:ext uri="{FF2B5EF4-FFF2-40B4-BE49-F238E27FC236}">
                        <a16:creationId xmlns:a16="http://schemas.microsoft.com/office/drawing/2014/main" id="{FE9D70C3-F8B5-48A8-843D-BB420C9EE6BD}"/>
                      </a:ext>
                    </a:extLst>
                  </p:cNvPr>
                  <p:cNvSpPr>
                    <a:spLocks/>
                  </p:cNvSpPr>
                  <p:nvPr/>
                </p:nvSpPr>
                <p:spPr bwMode="auto">
                  <a:xfrm>
                    <a:off x="4590148" y="754851"/>
                    <a:ext cx="45719" cy="65406"/>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grpSp>
                <p:nvGrpSpPr>
                  <p:cNvPr id="53" name="Group 52">
                    <a:extLst>
                      <a:ext uri="{FF2B5EF4-FFF2-40B4-BE49-F238E27FC236}">
                        <a16:creationId xmlns:a16="http://schemas.microsoft.com/office/drawing/2014/main" id="{A3BB0A3E-36C2-4F0D-BC69-59FD0E9E0367}"/>
                      </a:ext>
                    </a:extLst>
                  </p:cNvPr>
                  <p:cNvGrpSpPr/>
                  <p:nvPr/>
                </p:nvGrpSpPr>
                <p:grpSpPr>
                  <a:xfrm rot="10800000">
                    <a:off x="4537050" y="821703"/>
                    <a:ext cx="125015" cy="177402"/>
                    <a:chOff x="5542451" y="2102326"/>
                    <a:chExt cx="166687" cy="236537"/>
                  </a:xfrm>
                </p:grpSpPr>
                <p:sp>
                  <p:nvSpPr>
                    <p:cNvPr id="54" name="Freeform 43">
                      <a:extLst>
                        <a:ext uri="{FF2B5EF4-FFF2-40B4-BE49-F238E27FC236}">
                          <a16:creationId xmlns:a16="http://schemas.microsoft.com/office/drawing/2014/main" id="{A7EF139F-B999-4945-9444-87E8D3A43B56}"/>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285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ln>
                          <a:solidFill>
                            <a:schemeClr val="tx1"/>
                          </a:solidFill>
                        </a:ln>
                      </a:endParaRPr>
                    </a:p>
                  </p:txBody>
                </p:sp>
                <p:sp>
                  <p:nvSpPr>
                    <p:cNvPr id="55" name="Freeform 46">
                      <a:extLst>
                        <a:ext uri="{FF2B5EF4-FFF2-40B4-BE49-F238E27FC236}">
                          <a16:creationId xmlns:a16="http://schemas.microsoft.com/office/drawing/2014/main" id="{047029DC-00E0-4FC7-9C6F-BFB57D7A0BE1}"/>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285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ln>
                          <a:solidFill>
                            <a:schemeClr val="tx1"/>
                          </a:solidFill>
                        </a:ln>
                      </a:endParaRPr>
                    </a:p>
                  </p:txBody>
                </p:sp>
              </p:grpSp>
              <p:grpSp>
                <p:nvGrpSpPr>
                  <p:cNvPr id="56" name="Group 55">
                    <a:extLst>
                      <a:ext uri="{FF2B5EF4-FFF2-40B4-BE49-F238E27FC236}">
                        <a16:creationId xmlns:a16="http://schemas.microsoft.com/office/drawing/2014/main" id="{D00758FC-9E63-4905-8F74-B940C0A1CEE9}"/>
                      </a:ext>
                    </a:extLst>
                  </p:cNvPr>
                  <p:cNvGrpSpPr/>
                  <p:nvPr/>
                </p:nvGrpSpPr>
                <p:grpSpPr>
                  <a:xfrm rot="10800000">
                    <a:off x="4531970" y="1258583"/>
                    <a:ext cx="125015" cy="177402"/>
                    <a:chOff x="5542451" y="2102326"/>
                    <a:chExt cx="166687" cy="236537"/>
                  </a:xfrm>
                </p:grpSpPr>
                <p:sp>
                  <p:nvSpPr>
                    <p:cNvPr id="57" name="Freeform 43">
                      <a:extLst>
                        <a:ext uri="{FF2B5EF4-FFF2-40B4-BE49-F238E27FC236}">
                          <a16:creationId xmlns:a16="http://schemas.microsoft.com/office/drawing/2014/main" id="{411CF4F4-A1D9-4B78-9C4D-34D4749BF451}"/>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285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ln>
                          <a:solidFill>
                            <a:schemeClr val="tx1"/>
                          </a:solidFill>
                        </a:ln>
                      </a:endParaRPr>
                    </a:p>
                  </p:txBody>
                </p:sp>
                <p:sp>
                  <p:nvSpPr>
                    <p:cNvPr id="58" name="Freeform 46">
                      <a:extLst>
                        <a:ext uri="{FF2B5EF4-FFF2-40B4-BE49-F238E27FC236}">
                          <a16:creationId xmlns:a16="http://schemas.microsoft.com/office/drawing/2014/main" id="{996ECEC3-F9CE-4AC5-A7D7-017A92C21193}"/>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285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ln>
                          <a:solidFill>
                            <a:schemeClr val="tx1"/>
                          </a:solidFill>
                        </a:ln>
                      </a:endParaRPr>
                    </a:p>
                  </p:txBody>
                </p:sp>
              </p:grpSp>
              <p:sp>
                <p:nvSpPr>
                  <p:cNvPr id="59" name="Freeform 15">
                    <a:extLst>
                      <a:ext uri="{FF2B5EF4-FFF2-40B4-BE49-F238E27FC236}">
                        <a16:creationId xmlns:a16="http://schemas.microsoft.com/office/drawing/2014/main" id="{73E491A2-91E3-4391-8FF6-60F0895736BD}"/>
                      </a:ext>
                    </a:extLst>
                  </p:cNvPr>
                  <p:cNvSpPr>
                    <a:spLocks/>
                  </p:cNvSpPr>
                  <p:nvPr/>
                </p:nvSpPr>
                <p:spPr bwMode="auto">
                  <a:xfrm>
                    <a:off x="4601578" y="1008215"/>
                    <a:ext cx="0" cy="9969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60" name="Freeform 15">
                    <a:extLst>
                      <a:ext uri="{FF2B5EF4-FFF2-40B4-BE49-F238E27FC236}">
                        <a16:creationId xmlns:a16="http://schemas.microsoft.com/office/drawing/2014/main" id="{42ABCD2D-552E-4D16-8F52-FA83F58C8FA1}"/>
                      </a:ext>
                    </a:extLst>
                  </p:cNvPr>
                  <p:cNvSpPr>
                    <a:spLocks/>
                  </p:cNvSpPr>
                  <p:nvPr/>
                </p:nvSpPr>
                <p:spPr bwMode="auto">
                  <a:xfrm>
                    <a:off x="4592053" y="1144106"/>
                    <a:ext cx="45719" cy="106681"/>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61" name="Freeform 15">
                    <a:extLst>
                      <a:ext uri="{FF2B5EF4-FFF2-40B4-BE49-F238E27FC236}">
                        <a16:creationId xmlns:a16="http://schemas.microsoft.com/office/drawing/2014/main" id="{02E5B247-8227-456F-9756-38BD1B04114E}"/>
                      </a:ext>
                    </a:extLst>
                  </p:cNvPr>
                  <p:cNvSpPr>
                    <a:spLocks/>
                  </p:cNvSpPr>
                  <p:nvPr/>
                </p:nvSpPr>
                <p:spPr bwMode="auto">
                  <a:xfrm flipH="1">
                    <a:off x="4550142" y="1439382"/>
                    <a:ext cx="45719" cy="112394"/>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62" name="Rectangle 61">
                    <a:extLst>
                      <a:ext uri="{FF2B5EF4-FFF2-40B4-BE49-F238E27FC236}">
                        <a16:creationId xmlns:a16="http://schemas.microsoft.com/office/drawing/2014/main" id="{BCB963B3-A89C-4CB0-84D8-61E212B11FBB}"/>
                      </a:ext>
                    </a:extLst>
                  </p:cNvPr>
                  <p:cNvSpPr>
                    <a:spLocks noChangeArrowheads="1"/>
                  </p:cNvSpPr>
                  <p:nvPr/>
                </p:nvSpPr>
                <p:spPr bwMode="auto">
                  <a:xfrm>
                    <a:off x="3889588" y="778406"/>
                    <a:ext cx="572273"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50" b="1" err="1">
                        <a:solidFill>
                          <a:srgbClr val="000000"/>
                        </a:solidFill>
                      </a:rPr>
                      <a:t>R</a:t>
                    </a:r>
                    <a:r>
                      <a:rPr lang="en-US" altLang="en-BE" sz="1050" b="1" baseline="-25000" err="1">
                        <a:solidFill>
                          <a:srgbClr val="000000"/>
                        </a:solidFill>
                      </a:rPr>
                      <a:t>gate,PMOS</a:t>
                    </a:r>
                    <a:endParaRPr lang="en-BE" altLang="en-BE" sz="1350" b="1"/>
                  </a:p>
                </p:txBody>
              </p:sp>
            </p:grpSp>
            <p:sp>
              <p:nvSpPr>
                <p:cNvPr id="66" name="Freeform 38">
                  <a:extLst>
                    <a:ext uri="{FF2B5EF4-FFF2-40B4-BE49-F238E27FC236}">
                      <a16:creationId xmlns:a16="http://schemas.microsoft.com/office/drawing/2014/main" id="{A07DA917-555E-40C8-8E6B-2E5ADF0789CE}"/>
                    </a:ext>
                  </a:extLst>
                </p:cNvPr>
                <p:cNvSpPr>
                  <a:spLocks noEditPoints="1"/>
                </p:cNvSpPr>
                <p:nvPr/>
              </p:nvSpPr>
              <p:spPr bwMode="auto">
                <a:xfrm>
                  <a:off x="3744070" y="1023451"/>
                  <a:ext cx="205343" cy="187797"/>
                </a:xfrm>
                <a:custGeom>
                  <a:avLst/>
                  <a:gdLst>
                    <a:gd name="T0" fmla="*/ 48 w 101"/>
                    <a:gd name="T1" fmla="*/ 0 h 97"/>
                    <a:gd name="T2" fmla="*/ 48 w 101"/>
                    <a:gd name="T3" fmla="*/ 0 h 97"/>
                    <a:gd name="T4" fmla="*/ 0 w 101"/>
                    <a:gd name="T5" fmla="*/ 0 h 97"/>
                    <a:gd name="T6" fmla="*/ 0 w 101"/>
                    <a:gd name="T7" fmla="*/ 48 h 97"/>
                    <a:gd name="T8" fmla="*/ 101 w 101"/>
                    <a:gd name="T9" fmla="*/ 48 h 97"/>
                    <a:gd name="T10" fmla="*/ 101 w 101"/>
                    <a:gd name="T11" fmla="*/ 48 h 97"/>
                    <a:gd name="T12" fmla="*/ 48 w 101"/>
                    <a:gd name="T13" fmla="*/ 0 h 97"/>
                    <a:gd name="T14" fmla="*/ 0 w 101"/>
                    <a:gd name="T15" fmla="*/ 48 h 97"/>
                    <a:gd name="T16" fmla="*/ 0 w 101"/>
                    <a:gd name="T17" fmla="*/ 48 h 97"/>
                    <a:gd name="T18" fmla="*/ 0 w 101"/>
                    <a:gd name="T19" fmla="*/ 97 h 97"/>
                    <a:gd name="T20" fmla="*/ 48 w 101"/>
                    <a:gd name="T21" fmla="*/ 97 h 97"/>
                    <a:gd name="T22" fmla="*/ 101 w 101"/>
                    <a:gd name="T23"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97">
                      <a:moveTo>
                        <a:pt x="48" y="0"/>
                      </a:moveTo>
                      <a:lnTo>
                        <a:pt x="48" y="0"/>
                      </a:lnTo>
                      <a:lnTo>
                        <a:pt x="0" y="0"/>
                      </a:lnTo>
                      <a:lnTo>
                        <a:pt x="0" y="48"/>
                      </a:lnTo>
                      <a:moveTo>
                        <a:pt x="101" y="48"/>
                      </a:moveTo>
                      <a:lnTo>
                        <a:pt x="101" y="48"/>
                      </a:lnTo>
                      <a:lnTo>
                        <a:pt x="48" y="0"/>
                      </a:lnTo>
                      <a:moveTo>
                        <a:pt x="0" y="48"/>
                      </a:moveTo>
                      <a:lnTo>
                        <a:pt x="0" y="48"/>
                      </a:lnTo>
                      <a:lnTo>
                        <a:pt x="0" y="97"/>
                      </a:lnTo>
                      <a:lnTo>
                        <a:pt x="48" y="97"/>
                      </a:lnTo>
                      <a:lnTo>
                        <a:pt x="101" y="48"/>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67" name="Rectangle 66">
                  <a:extLst>
                    <a:ext uri="{FF2B5EF4-FFF2-40B4-BE49-F238E27FC236}">
                      <a16:creationId xmlns:a16="http://schemas.microsoft.com/office/drawing/2014/main" id="{4EB98463-0860-4615-BFBC-BE8BACB94600}"/>
                    </a:ext>
                  </a:extLst>
                </p:cNvPr>
                <p:cNvSpPr>
                  <a:spLocks noChangeArrowheads="1"/>
                </p:cNvSpPr>
                <p:nvPr/>
              </p:nvSpPr>
              <p:spPr bwMode="auto">
                <a:xfrm>
                  <a:off x="3883492" y="1217318"/>
                  <a:ext cx="577081"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50" b="1" err="1">
                      <a:solidFill>
                        <a:srgbClr val="000000"/>
                      </a:solidFill>
                    </a:rPr>
                    <a:t>R</a:t>
                  </a:r>
                  <a:r>
                    <a:rPr lang="en-US" altLang="en-BE" sz="1050" b="1" baseline="-25000" err="1">
                      <a:solidFill>
                        <a:srgbClr val="000000"/>
                      </a:solidFill>
                    </a:rPr>
                    <a:t>gate,NMOS</a:t>
                  </a:r>
                  <a:endParaRPr lang="en-BE" altLang="en-BE" sz="1350" b="1"/>
                </a:p>
              </p:txBody>
            </p:sp>
            <p:sp>
              <p:nvSpPr>
                <p:cNvPr id="69" name="Rectangle 68">
                  <a:extLst>
                    <a:ext uri="{FF2B5EF4-FFF2-40B4-BE49-F238E27FC236}">
                      <a16:creationId xmlns:a16="http://schemas.microsoft.com/office/drawing/2014/main" id="{14891454-43A3-4271-B5D5-0A5DAA8F3E66}"/>
                    </a:ext>
                  </a:extLst>
                </p:cNvPr>
                <p:cNvSpPr>
                  <a:spLocks noChangeArrowheads="1"/>
                </p:cNvSpPr>
                <p:nvPr/>
              </p:nvSpPr>
              <p:spPr bwMode="auto">
                <a:xfrm>
                  <a:off x="5055942" y="1462022"/>
                  <a:ext cx="863273"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00" b="1" err="1">
                      <a:solidFill>
                        <a:srgbClr val="000000"/>
                      </a:solidFill>
                    </a:rPr>
                    <a:t>g</a:t>
                  </a:r>
                  <a:r>
                    <a:rPr lang="en-US" altLang="en-BE" sz="1000" b="1" baseline="-25000" err="1">
                      <a:solidFill>
                        <a:srgbClr val="000000"/>
                      </a:solidFill>
                    </a:rPr>
                    <a:t>m</a:t>
                  </a:r>
                  <a:r>
                    <a:rPr lang="en-US" altLang="en-BE" sz="1000" b="1" err="1">
                      <a:solidFill>
                        <a:srgbClr val="000000"/>
                      </a:solidFill>
                    </a:rPr>
                    <a:t>,NMOS</a:t>
                  </a:r>
                  <a:endParaRPr lang="en-BE" altLang="en-BE" sz="1000" b="1"/>
                </a:p>
              </p:txBody>
            </p:sp>
            <p:sp>
              <p:nvSpPr>
                <p:cNvPr id="167" name="Rectangle 166">
                  <a:extLst>
                    <a:ext uri="{FF2B5EF4-FFF2-40B4-BE49-F238E27FC236}">
                      <a16:creationId xmlns:a16="http://schemas.microsoft.com/office/drawing/2014/main" id="{77687B7A-2141-4CCF-8358-62F9FBEBEE3E}"/>
                    </a:ext>
                  </a:extLst>
                </p:cNvPr>
                <p:cNvSpPr>
                  <a:spLocks noChangeArrowheads="1"/>
                </p:cNvSpPr>
                <p:nvPr/>
              </p:nvSpPr>
              <p:spPr bwMode="auto">
                <a:xfrm>
                  <a:off x="3507203" y="987412"/>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a:solidFill>
                        <a:srgbClr val="000000"/>
                      </a:solidFill>
                    </a:rPr>
                    <a:t>V</a:t>
                  </a:r>
                  <a:r>
                    <a:rPr lang="en-US" altLang="en-BE" sz="1050" b="1" baseline="-25000">
                      <a:solidFill>
                        <a:srgbClr val="000000"/>
                      </a:solidFill>
                    </a:rPr>
                    <a:t>IN</a:t>
                  </a:r>
                  <a:endParaRPr lang="en-BE" altLang="en-BE" sz="1350" b="1"/>
                </a:p>
              </p:txBody>
            </p:sp>
          </p:grpSp>
        </p:grpSp>
      </p:grpSp>
      <p:sp>
        <p:nvSpPr>
          <p:cNvPr id="290" name="Rectangle 289">
            <a:extLst>
              <a:ext uri="{FF2B5EF4-FFF2-40B4-BE49-F238E27FC236}">
                <a16:creationId xmlns:a16="http://schemas.microsoft.com/office/drawing/2014/main" id="{94A7B20D-26FC-4B2C-91CB-B57C169154A9}"/>
              </a:ext>
            </a:extLst>
          </p:cNvPr>
          <p:cNvSpPr/>
          <p:nvPr/>
        </p:nvSpPr>
        <p:spPr>
          <a:xfrm>
            <a:off x="6236186" y="573987"/>
            <a:ext cx="5918392" cy="2818827"/>
          </a:xfrm>
          <a:prstGeom prst="rect">
            <a:avLst/>
          </a:prstGeom>
          <a:solidFill>
            <a:schemeClr val="accent2">
              <a:lumMod val="20000"/>
              <a:lumOff val="80000"/>
            </a:schemeClr>
          </a:solidFill>
          <a:ln w="28575">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grpSp>
        <p:nvGrpSpPr>
          <p:cNvPr id="288" name="Group 287">
            <a:extLst>
              <a:ext uri="{FF2B5EF4-FFF2-40B4-BE49-F238E27FC236}">
                <a16:creationId xmlns:a16="http://schemas.microsoft.com/office/drawing/2014/main" id="{0756E0CF-11FF-4861-A5B6-625B49894309}"/>
              </a:ext>
            </a:extLst>
          </p:cNvPr>
          <p:cNvGrpSpPr/>
          <p:nvPr/>
        </p:nvGrpSpPr>
        <p:grpSpPr>
          <a:xfrm>
            <a:off x="6445057" y="595780"/>
            <a:ext cx="5427638" cy="2735333"/>
            <a:chOff x="6432061" y="159297"/>
            <a:chExt cx="5427638" cy="2735333"/>
          </a:xfrm>
        </p:grpSpPr>
        <p:grpSp>
          <p:nvGrpSpPr>
            <p:cNvPr id="190" name="Group 189">
              <a:extLst>
                <a:ext uri="{FF2B5EF4-FFF2-40B4-BE49-F238E27FC236}">
                  <a16:creationId xmlns:a16="http://schemas.microsoft.com/office/drawing/2014/main" id="{4691397E-F4A4-4A3F-89B0-D9D7FF2C72D8}"/>
                </a:ext>
              </a:extLst>
            </p:cNvPr>
            <p:cNvGrpSpPr/>
            <p:nvPr/>
          </p:nvGrpSpPr>
          <p:grpSpPr>
            <a:xfrm>
              <a:off x="6432061" y="175834"/>
              <a:ext cx="3073334" cy="2000553"/>
              <a:chOff x="5600163" y="93332"/>
              <a:chExt cx="3073334" cy="2000553"/>
            </a:xfrm>
          </p:grpSpPr>
          <p:cxnSp>
            <p:nvCxnSpPr>
              <p:cNvPr id="81" name="Straight Arrow Connector 80">
                <a:extLst>
                  <a:ext uri="{FF2B5EF4-FFF2-40B4-BE49-F238E27FC236}">
                    <a16:creationId xmlns:a16="http://schemas.microsoft.com/office/drawing/2014/main" id="{15F706C7-529B-4165-A48E-BAE738A6D277}"/>
                  </a:ext>
                </a:extLst>
              </p:cNvPr>
              <p:cNvCxnSpPr>
                <a:cxnSpLocks/>
              </p:cNvCxnSpPr>
              <p:nvPr/>
            </p:nvCxnSpPr>
            <p:spPr>
              <a:xfrm>
                <a:off x="5684520" y="325545"/>
                <a:ext cx="225351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2" name="Group 81">
                <a:extLst>
                  <a:ext uri="{FF2B5EF4-FFF2-40B4-BE49-F238E27FC236}">
                    <a16:creationId xmlns:a16="http://schemas.microsoft.com/office/drawing/2014/main" id="{1ED35623-60FD-4278-8A30-67B9E40E4B52}"/>
                  </a:ext>
                </a:extLst>
              </p:cNvPr>
              <p:cNvGrpSpPr/>
              <p:nvPr/>
            </p:nvGrpSpPr>
            <p:grpSpPr>
              <a:xfrm>
                <a:off x="6037064" y="321051"/>
                <a:ext cx="386849" cy="1745372"/>
                <a:chOff x="6923016" y="264244"/>
                <a:chExt cx="318614" cy="1447411"/>
              </a:xfrm>
            </p:grpSpPr>
            <p:grpSp>
              <p:nvGrpSpPr>
                <p:cNvPr id="97" name="Group 96">
                  <a:extLst>
                    <a:ext uri="{FF2B5EF4-FFF2-40B4-BE49-F238E27FC236}">
                      <a16:creationId xmlns:a16="http://schemas.microsoft.com/office/drawing/2014/main" id="{5C95181D-0A5D-41EF-B462-223A170E6161}"/>
                    </a:ext>
                  </a:extLst>
                </p:cNvPr>
                <p:cNvGrpSpPr/>
                <p:nvPr/>
              </p:nvGrpSpPr>
              <p:grpSpPr>
                <a:xfrm>
                  <a:off x="6923016" y="264244"/>
                  <a:ext cx="312936" cy="1297856"/>
                  <a:chOff x="6923016" y="264244"/>
                  <a:chExt cx="312936" cy="1297856"/>
                </a:xfrm>
              </p:grpSpPr>
              <p:grpSp>
                <p:nvGrpSpPr>
                  <p:cNvPr id="103" name="Group 102">
                    <a:extLst>
                      <a:ext uri="{FF2B5EF4-FFF2-40B4-BE49-F238E27FC236}">
                        <a16:creationId xmlns:a16="http://schemas.microsoft.com/office/drawing/2014/main" id="{2E81D06E-5B63-4156-95EF-3AAF407D8DAC}"/>
                      </a:ext>
                    </a:extLst>
                  </p:cNvPr>
                  <p:cNvGrpSpPr/>
                  <p:nvPr/>
                </p:nvGrpSpPr>
                <p:grpSpPr>
                  <a:xfrm>
                    <a:off x="6923016" y="585216"/>
                    <a:ext cx="312936" cy="448682"/>
                    <a:chOff x="6923016" y="739140"/>
                    <a:chExt cx="176919" cy="294758"/>
                  </a:xfrm>
                </p:grpSpPr>
                <p:sp>
                  <p:nvSpPr>
                    <p:cNvPr id="106" name="Freeform: Shape 105">
                      <a:extLst>
                        <a:ext uri="{FF2B5EF4-FFF2-40B4-BE49-F238E27FC236}">
                          <a16:creationId xmlns:a16="http://schemas.microsoft.com/office/drawing/2014/main" id="{367F89B2-1A02-40C8-92EE-FC0043505FC8}"/>
                        </a:ext>
                      </a:extLst>
                    </p:cNvPr>
                    <p:cNvSpPr/>
                    <p:nvPr/>
                  </p:nvSpPr>
                  <p:spPr>
                    <a:xfrm>
                      <a:off x="6923016" y="739140"/>
                      <a:ext cx="176919" cy="294758"/>
                    </a:xfrm>
                    <a:custGeom>
                      <a:avLst/>
                      <a:gdLst>
                        <a:gd name="connsiteX0" fmla="*/ 153244 w 176919"/>
                        <a:gd name="connsiteY0" fmla="*/ 142912 h 294758"/>
                        <a:gd name="connsiteX1" fmla="*/ 170192 w 176919"/>
                        <a:gd name="connsiteY1" fmla="*/ 169408 h 294758"/>
                        <a:gd name="connsiteX2" fmla="*/ 176919 w 176919"/>
                        <a:gd name="connsiteY2" fmla="*/ 204529 h 294758"/>
                        <a:gd name="connsiteX3" fmla="*/ 91317 w 176919"/>
                        <a:gd name="connsiteY3" fmla="*/ 294758 h 294758"/>
                        <a:gd name="connsiteX4" fmla="*/ 5715 w 176919"/>
                        <a:gd name="connsiteY4" fmla="*/ 204529 h 294758"/>
                        <a:gd name="connsiteX5" fmla="*/ 12442 w 176919"/>
                        <a:gd name="connsiteY5" fmla="*/ 169408 h 294758"/>
                        <a:gd name="connsiteX6" fmla="*/ 23675 w 176919"/>
                        <a:gd name="connsiteY6" fmla="*/ 151846 h 294758"/>
                        <a:gd name="connsiteX7" fmla="*/ 25072 w 176919"/>
                        <a:gd name="connsiteY7" fmla="*/ 154031 h 294758"/>
                        <a:gd name="connsiteX8" fmla="*/ 85602 w 176919"/>
                        <a:gd name="connsiteY8" fmla="*/ 180458 h 294758"/>
                        <a:gd name="connsiteX9" fmla="*/ 146132 w 176919"/>
                        <a:gd name="connsiteY9" fmla="*/ 154031 h 294758"/>
                        <a:gd name="connsiteX10" fmla="*/ 85602 w 176919"/>
                        <a:gd name="connsiteY10" fmla="*/ 0 h 294758"/>
                        <a:gd name="connsiteX11" fmla="*/ 171204 w 176919"/>
                        <a:gd name="connsiteY11" fmla="*/ 90229 h 294758"/>
                        <a:gd name="connsiteX12" fmla="*/ 164477 w 176919"/>
                        <a:gd name="connsiteY12" fmla="*/ 125350 h 294758"/>
                        <a:gd name="connsiteX13" fmla="*/ 153244 w 176919"/>
                        <a:gd name="connsiteY13" fmla="*/ 142912 h 294758"/>
                        <a:gd name="connsiteX14" fmla="*/ 151847 w 176919"/>
                        <a:gd name="connsiteY14" fmla="*/ 140728 h 294758"/>
                        <a:gd name="connsiteX15" fmla="*/ 91317 w 176919"/>
                        <a:gd name="connsiteY15" fmla="*/ 114300 h 294758"/>
                        <a:gd name="connsiteX16" fmla="*/ 30787 w 176919"/>
                        <a:gd name="connsiteY16" fmla="*/ 140728 h 294758"/>
                        <a:gd name="connsiteX17" fmla="*/ 23675 w 176919"/>
                        <a:gd name="connsiteY17" fmla="*/ 151846 h 294758"/>
                        <a:gd name="connsiteX18" fmla="*/ 6727 w 176919"/>
                        <a:gd name="connsiteY18" fmla="*/ 125350 h 294758"/>
                        <a:gd name="connsiteX19" fmla="*/ 0 w 176919"/>
                        <a:gd name="connsiteY19" fmla="*/ 90229 h 294758"/>
                        <a:gd name="connsiteX20" fmla="*/ 85602 w 176919"/>
                        <a:gd name="connsiteY20" fmla="*/ 0 h 29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919" h="294758">
                          <a:moveTo>
                            <a:pt x="153244" y="142912"/>
                          </a:moveTo>
                          <a:lnTo>
                            <a:pt x="170192" y="169408"/>
                          </a:lnTo>
                          <a:cubicBezTo>
                            <a:pt x="174524" y="180203"/>
                            <a:pt x="176919" y="192071"/>
                            <a:pt x="176919" y="204529"/>
                          </a:cubicBezTo>
                          <a:cubicBezTo>
                            <a:pt x="176919" y="254361"/>
                            <a:pt x="138594" y="294758"/>
                            <a:pt x="91317" y="294758"/>
                          </a:cubicBezTo>
                          <a:cubicBezTo>
                            <a:pt x="44040" y="294758"/>
                            <a:pt x="5715" y="254361"/>
                            <a:pt x="5715" y="204529"/>
                          </a:cubicBezTo>
                          <a:cubicBezTo>
                            <a:pt x="5715" y="192071"/>
                            <a:pt x="8111" y="180203"/>
                            <a:pt x="12442" y="169408"/>
                          </a:cubicBezTo>
                          <a:lnTo>
                            <a:pt x="23675" y="151846"/>
                          </a:lnTo>
                          <a:lnTo>
                            <a:pt x="25072" y="154031"/>
                          </a:lnTo>
                          <a:cubicBezTo>
                            <a:pt x="40563" y="170359"/>
                            <a:pt x="61964" y="180458"/>
                            <a:pt x="85602" y="180458"/>
                          </a:cubicBezTo>
                          <a:cubicBezTo>
                            <a:pt x="109241" y="180458"/>
                            <a:pt x="130641" y="170359"/>
                            <a:pt x="146132" y="154031"/>
                          </a:cubicBezTo>
                          <a:close/>
                          <a:moveTo>
                            <a:pt x="85602" y="0"/>
                          </a:moveTo>
                          <a:cubicBezTo>
                            <a:pt x="132879" y="0"/>
                            <a:pt x="171204" y="40397"/>
                            <a:pt x="171204" y="90229"/>
                          </a:cubicBezTo>
                          <a:cubicBezTo>
                            <a:pt x="171204" y="102687"/>
                            <a:pt x="168809" y="114555"/>
                            <a:pt x="164477" y="125350"/>
                          </a:cubicBezTo>
                          <a:lnTo>
                            <a:pt x="153244" y="142912"/>
                          </a:lnTo>
                          <a:lnTo>
                            <a:pt x="151847" y="140728"/>
                          </a:lnTo>
                          <a:cubicBezTo>
                            <a:pt x="136356" y="124399"/>
                            <a:pt x="114956" y="114300"/>
                            <a:pt x="91317" y="114300"/>
                          </a:cubicBezTo>
                          <a:cubicBezTo>
                            <a:pt x="67679" y="114300"/>
                            <a:pt x="46278" y="124399"/>
                            <a:pt x="30787" y="140728"/>
                          </a:cubicBezTo>
                          <a:lnTo>
                            <a:pt x="23675" y="151846"/>
                          </a:lnTo>
                          <a:lnTo>
                            <a:pt x="6727" y="125350"/>
                          </a:lnTo>
                          <a:cubicBezTo>
                            <a:pt x="2395" y="114555"/>
                            <a:pt x="0" y="102687"/>
                            <a:pt x="0" y="90229"/>
                          </a:cubicBezTo>
                          <a:cubicBezTo>
                            <a:pt x="0" y="40397"/>
                            <a:pt x="38325" y="0"/>
                            <a:pt x="85602" y="0"/>
                          </a:cubicBezTo>
                          <a:close/>
                        </a:path>
                      </a:pathLst>
                    </a:custGeom>
                    <a:ln w="19050">
                      <a:solidFill>
                        <a:schemeClr val="tx1"/>
                      </a:solidFill>
                    </a:ln>
                  </p:spPr>
                  <p:style>
                    <a:lnRef idx="2">
                      <a:schemeClr val="dk1"/>
                    </a:lnRef>
                    <a:fillRef idx="1">
                      <a:schemeClr val="lt1"/>
                    </a:fillRef>
                    <a:effectRef idx="0">
                      <a:schemeClr val="dk1"/>
                    </a:effectRef>
                    <a:fontRef idx="minor">
                      <a:schemeClr val="dk1"/>
                    </a:fontRef>
                  </p:style>
                  <p:txBody>
                    <a:bodyPr wrap="square" rtlCol="0" anchor="t">
                      <a:noAutofit/>
                    </a:bodyPr>
                    <a:lstStyle/>
                    <a:p>
                      <a:pPr algn="ctr"/>
                      <a:endParaRPr lang="en-BE"/>
                    </a:p>
                  </p:txBody>
                </p:sp>
                <p:cxnSp>
                  <p:nvCxnSpPr>
                    <p:cNvPr id="107" name="Straight Arrow Connector 106">
                      <a:extLst>
                        <a:ext uri="{FF2B5EF4-FFF2-40B4-BE49-F238E27FC236}">
                          <a16:creationId xmlns:a16="http://schemas.microsoft.com/office/drawing/2014/main" id="{C6C82DED-6307-40C1-83EA-896EAF5EF5B0}"/>
                        </a:ext>
                      </a:extLst>
                    </p:cNvPr>
                    <p:cNvCxnSpPr/>
                    <p:nvPr/>
                  </p:nvCxnSpPr>
                  <p:spPr>
                    <a:xfrm>
                      <a:off x="7010400" y="800100"/>
                      <a:ext cx="0" cy="216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4" name="Straight Arrow Connector 103">
                    <a:extLst>
                      <a:ext uri="{FF2B5EF4-FFF2-40B4-BE49-F238E27FC236}">
                        <a16:creationId xmlns:a16="http://schemas.microsoft.com/office/drawing/2014/main" id="{229BE2A7-3692-4199-99C1-0A2BE1F75B7F}"/>
                      </a:ext>
                    </a:extLst>
                  </p:cNvPr>
                  <p:cNvCxnSpPr>
                    <a:cxnSpLocks/>
                  </p:cNvCxnSpPr>
                  <p:nvPr/>
                </p:nvCxnSpPr>
                <p:spPr>
                  <a:xfrm>
                    <a:off x="7085964" y="1038436"/>
                    <a:ext cx="0" cy="52366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9FA06EE5-0C9D-4EC6-96ED-BDD088D361CA}"/>
                      </a:ext>
                    </a:extLst>
                  </p:cNvPr>
                  <p:cNvCxnSpPr/>
                  <p:nvPr/>
                </p:nvCxnSpPr>
                <p:spPr>
                  <a:xfrm>
                    <a:off x="7067676" y="264244"/>
                    <a:ext cx="0" cy="328796"/>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D564C809-FC61-481D-8AFC-B2F0B0FE9ED3}"/>
                    </a:ext>
                  </a:extLst>
                </p:cNvPr>
                <p:cNvGrpSpPr/>
                <p:nvPr/>
              </p:nvGrpSpPr>
              <p:grpSpPr>
                <a:xfrm>
                  <a:off x="6944360" y="1555445"/>
                  <a:ext cx="297270" cy="156210"/>
                  <a:chOff x="6944360" y="1555445"/>
                  <a:chExt cx="297270" cy="156210"/>
                </a:xfrm>
              </p:grpSpPr>
              <p:cxnSp>
                <p:nvCxnSpPr>
                  <p:cNvPr id="99" name="Straight Arrow Connector 98">
                    <a:extLst>
                      <a:ext uri="{FF2B5EF4-FFF2-40B4-BE49-F238E27FC236}">
                        <a16:creationId xmlns:a16="http://schemas.microsoft.com/office/drawing/2014/main" id="{CE6F2DB6-9C26-4CE5-A62D-22787F87752F}"/>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8E5D6AEB-FCC1-4643-BCF2-970EA76B9386}"/>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4C1174D0-3225-494A-8E33-A148B9650E89}"/>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954189E-7EEA-421C-81A5-44A91E13BFB8}"/>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84" name="TextBox 83">
                <a:extLst>
                  <a:ext uri="{FF2B5EF4-FFF2-40B4-BE49-F238E27FC236}">
                    <a16:creationId xmlns:a16="http://schemas.microsoft.com/office/drawing/2014/main" id="{085778FA-32B3-4B7F-A20E-AC46E61ACE06}"/>
                  </a:ext>
                </a:extLst>
              </p:cNvPr>
              <p:cNvSpPr txBox="1"/>
              <p:nvPr/>
            </p:nvSpPr>
            <p:spPr>
              <a:xfrm>
                <a:off x="6400030" y="648208"/>
                <a:ext cx="104521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FF0000"/>
                    </a:solidFill>
                    <a:effectLst/>
                    <a:uLnTx/>
                    <a:uFillTx/>
                    <a:latin typeface="Calibri" panose="020F0502020204030204" pitchFamily="34" charset="0"/>
                    <a:cs typeface="Calibri" panose="020F0502020204030204" pitchFamily="34" charset="0"/>
                  </a:rPr>
                  <a:t>g</a:t>
                </a:r>
                <a:r>
                  <a:rPr kumimoji="0" lang="en-US" sz="2400" b="1" i="1" u="none" strike="noStrike" kern="1200" cap="none" spc="0" normalizeH="0" baseline="-25000" noProof="0">
                    <a:ln>
                      <a:noFill/>
                    </a:ln>
                    <a:solidFill>
                      <a:srgbClr val="FF0000"/>
                    </a:solidFill>
                    <a:effectLst/>
                    <a:uLnTx/>
                    <a:uFillTx/>
                    <a:latin typeface="Calibri" panose="020F0502020204030204" pitchFamily="34" charset="0"/>
                    <a:cs typeface="Calibri" panose="020F0502020204030204" pitchFamily="34" charset="0"/>
                  </a:rPr>
                  <a:t>m </a:t>
                </a:r>
                <a:r>
                  <a:rPr lang="en-US" sz="2400" b="1" i="1">
                    <a:solidFill>
                      <a:srgbClr val="FF0000"/>
                    </a:solidFill>
                    <a:latin typeface="Calibri" panose="020F0502020204030204" pitchFamily="34" charset="0"/>
                    <a:cs typeface="Calibri" panose="020F0502020204030204" pitchFamily="34" charset="0"/>
                  </a:rPr>
                  <a:t>v</a:t>
                </a:r>
                <a:r>
                  <a:rPr lang="en-US" sz="2400" b="1" i="1" baseline="-25000">
                    <a:solidFill>
                      <a:srgbClr val="FF0000"/>
                    </a:solidFill>
                    <a:latin typeface="Calibri" panose="020F0502020204030204" pitchFamily="34" charset="0"/>
                    <a:cs typeface="Calibri" panose="020F0502020204030204" pitchFamily="34" charset="0"/>
                  </a:rPr>
                  <a:t>1 </a:t>
                </a:r>
                <a:endParaRPr lang="en-BE" sz="2400" b="1" i="1">
                  <a:solidFill>
                    <a:srgbClr val="FF0000"/>
                  </a:solidFill>
                  <a:latin typeface="Calibri" panose="020F0502020204030204" pitchFamily="34" charset="0"/>
                  <a:cs typeface="Calibri" panose="020F0502020204030204" pitchFamily="34" charset="0"/>
                </a:endParaRPr>
              </a:p>
            </p:txBody>
          </p:sp>
          <p:grpSp>
            <p:nvGrpSpPr>
              <p:cNvPr id="115" name="Group 114">
                <a:extLst>
                  <a:ext uri="{FF2B5EF4-FFF2-40B4-BE49-F238E27FC236}">
                    <a16:creationId xmlns:a16="http://schemas.microsoft.com/office/drawing/2014/main" id="{567355A1-2745-47E5-A919-1C82C4C59092}"/>
                  </a:ext>
                </a:extLst>
              </p:cNvPr>
              <p:cNvGrpSpPr/>
              <p:nvPr/>
            </p:nvGrpSpPr>
            <p:grpSpPr>
              <a:xfrm>
                <a:off x="7777813" y="1262262"/>
                <a:ext cx="349679" cy="281019"/>
                <a:chOff x="3607682" y="2217488"/>
                <a:chExt cx="288000" cy="233045"/>
              </a:xfrm>
            </p:grpSpPr>
            <p:cxnSp>
              <p:nvCxnSpPr>
                <p:cNvPr id="118" name="Straight Connector 117">
                  <a:extLst>
                    <a:ext uri="{FF2B5EF4-FFF2-40B4-BE49-F238E27FC236}">
                      <a16:creationId xmlns:a16="http://schemas.microsoft.com/office/drawing/2014/main" id="{40376957-B665-4A7D-9EAF-E7D6F9213C30}"/>
                    </a:ext>
                  </a:extLst>
                </p:cNvPr>
                <p:cNvCxnSpPr>
                  <a:cxnSpLocks/>
                </p:cNvCxnSpPr>
                <p:nvPr/>
              </p:nvCxnSpPr>
              <p:spPr>
                <a:xfrm>
                  <a:off x="3607682" y="2217488"/>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7FC6C00B-FA8B-48CD-9B62-5EEF14DBFB95}"/>
                    </a:ext>
                  </a:extLst>
                </p:cNvPr>
                <p:cNvGrpSpPr/>
                <p:nvPr/>
              </p:nvGrpSpPr>
              <p:grpSpPr>
                <a:xfrm>
                  <a:off x="3625843" y="2313373"/>
                  <a:ext cx="259080" cy="137160"/>
                  <a:chOff x="4084320" y="1447800"/>
                  <a:chExt cx="406400" cy="147320"/>
                </a:xfrm>
              </p:grpSpPr>
              <p:sp>
                <p:nvSpPr>
                  <p:cNvPr id="120" name="Arc 119">
                    <a:extLst>
                      <a:ext uri="{FF2B5EF4-FFF2-40B4-BE49-F238E27FC236}">
                        <a16:creationId xmlns:a16="http://schemas.microsoft.com/office/drawing/2014/main" id="{62018D18-AB37-460E-BC71-D369A2E87976}"/>
                      </a:ext>
                    </a:extLst>
                  </p:cNvPr>
                  <p:cNvSpPr/>
                  <p:nvPr/>
                </p:nvSpPr>
                <p:spPr>
                  <a:xfrm flipH="1">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21" name="Arc 120">
                    <a:extLst>
                      <a:ext uri="{FF2B5EF4-FFF2-40B4-BE49-F238E27FC236}">
                        <a16:creationId xmlns:a16="http://schemas.microsoft.com/office/drawing/2014/main" id="{964EDCA4-560A-4626-AB07-43DC364C1BDE}"/>
                      </a:ext>
                    </a:extLst>
                  </p:cNvPr>
                  <p:cNvSpPr/>
                  <p:nvPr/>
                </p:nvSpPr>
                <p:spPr>
                  <a:xfrm>
                    <a:off x="4084320" y="1447800"/>
                    <a:ext cx="406400" cy="14732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grpSp>
          </p:grpSp>
          <p:cxnSp>
            <p:nvCxnSpPr>
              <p:cNvPr id="116" name="Straight Arrow Connector 115">
                <a:extLst>
                  <a:ext uri="{FF2B5EF4-FFF2-40B4-BE49-F238E27FC236}">
                    <a16:creationId xmlns:a16="http://schemas.microsoft.com/office/drawing/2014/main" id="{000DA667-9268-4D24-9B09-FDFB7BB0528E}"/>
                  </a:ext>
                </a:extLst>
              </p:cNvPr>
              <p:cNvCxnSpPr>
                <a:cxnSpLocks/>
              </p:cNvCxnSpPr>
              <p:nvPr/>
            </p:nvCxnSpPr>
            <p:spPr>
              <a:xfrm>
                <a:off x="7931958" y="329565"/>
                <a:ext cx="0" cy="200787"/>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770CAC4A-4B50-4E13-8520-44D63EDB2559}"/>
                  </a:ext>
                </a:extLst>
              </p:cNvPr>
              <p:cNvCxnSpPr>
                <a:cxnSpLocks/>
                <a:stCxn id="121" idx="0"/>
              </p:cNvCxnSpPr>
              <p:nvPr/>
            </p:nvCxnSpPr>
            <p:spPr>
              <a:xfrm>
                <a:off x="7957145" y="1377886"/>
                <a:ext cx="0" cy="53473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B66BE8DD-E48C-4055-B283-2FA236404AA4}"/>
                  </a:ext>
                </a:extLst>
              </p:cNvPr>
              <p:cNvGrpSpPr/>
              <p:nvPr/>
            </p:nvGrpSpPr>
            <p:grpSpPr>
              <a:xfrm>
                <a:off x="7770408" y="1905518"/>
                <a:ext cx="360934" cy="188367"/>
                <a:chOff x="6944360" y="1555445"/>
                <a:chExt cx="297270" cy="156210"/>
              </a:xfrm>
            </p:grpSpPr>
            <p:cxnSp>
              <p:nvCxnSpPr>
                <p:cNvPr id="111" name="Straight Arrow Connector 110">
                  <a:extLst>
                    <a:ext uri="{FF2B5EF4-FFF2-40B4-BE49-F238E27FC236}">
                      <a16:creationId xmlns:a16="http://schemas.microsoft.com/office/drawing/2014/main" id="{E9110814-7460-4C03-8186-D61C6F6EF8EA}"/>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373BE9F6-35D6-46BF-B424-617ABBCE7F49}"/>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D0A2A982-6A6F-4B1F-B390-B8AEDCE798F0}"/>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2F0CB89A-F7DE-4DB9-9F17-8946E8E466FD}"/>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E3110082-8524-47CA-B8A9-63EBD1CD498B}"/>
                  </a:ext>
                </a:extLst>
              </p:cNvPr>
              <p:cNvGrpSpPr/>
              <p:nvPr/>
            </p:nvGrpSpPr>
            <p:grpSpPr>
              <a:xfrm>
                <a:off x="7810663" y="532202"/>
                <a:ext cx="255055" cy="530521"/>
                <a:chOff x="5542451" y="2102326"/>
                <a:chExt cx="174669" cy="355599"/>
              </a:xfrm>
            </p:grpSpPr>
            <p:grpSp>
              <p:nvGrpSpPr>
                <p:cNvPr id="125" name="Group 124">
                  <a:extLst>
                    <a:ext uri="{FF2B5EF4-FFF2-40B4-BE49-F238E27FC236}">
                      <a16:creationId xmlns:a16="http://schemas.microsoft.com/office/drawing/2014/main" id="{0293D3F1-F2AB-4369-9F38-54B7D152AB88}"/>
                    </a:ext>
                  </a:extLst>
                </p:cNvPr>
                <p:cNvGrpSpPr/>
                <p:nvPr/>
              </p:nvGrpSpPr>
              <p:grpSpPr>
                <a:xfrm>
                  <a:off x="5542451" y="2102326"/>
                  <a:ext cx="166687" cy="236537"/>
                  <a:chOff x="5542451" y="2102326"/>
                  <a:chExt cx="166687" cy="236537"/>
                </a:xfrm>
              </p:grpSpPr>
              <p:sp>
                <p:nvSpPr>
                  <p:cNvPr id="129" name="Freeform 43">
                    <a:extLst>
                      <a:ext uri="{FF2B5EF4-FFF2-40B4-BE49-F238E27FC236}">
                        <a16:creationId xmlns:a16="http://schemas.microsoft.com/office/drawing/2014/main" id="{A88BE854-77C7-44A2-9387-E531C0425140}"/>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130" name="Freeform 46">
                    <a:extLst>
                      <a:ext uri="{FF2B5EF4-FFF2-40B4-BE49-F238E27FC236}">
                        <a16:creationId xmlns:a16="http://schemas.microsoft.com/office/drawing/2014/main" id="{5F459964-256A-4C24-92A5-CA597BAE3952}"/>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nvGrpSpPr>
                <p:cNvPr id="126" name="Group 125">
                  <a:extLst>
                    <a:ext uri="{FF2B5EF4-FFF2-40B4-BE49-F238E27FC236}">
                      <a16:creationId xmlns:a16="http://schemas.microsoft.com/office/drawing/2014/main" id="{3CCBB47C-FBAD-451A-BA24-1B5A6D41FA1D}"/>
                    </a:ext>
                  </a:extLst>
                </p:cNvPr>
                <p:cNvGrpSpPr/>
                <p:nvPr/>
              </p:nvGrpSpPr>
              <p:grpSpPr>
                <a:xfrm>
                  <a:off x="5550433" y="2221388"/>
                  <a:ext cx="166687" cy="236537"/>
                  <a:chOff x="5542451" y="2102326"/>
                  <a:chExt cx="166687" cy="236537"/>
                </a:xfrm>
              </p:grpSpPr>
              <p:sp>
                <p:nvSpPr>
                  <p:cNvPr id="127" name="Freeform 43">
                    <a:extLst>
                      <a:ext uri="{FF2B5EF4-FFF2-40B4-BE49-F238E27FC236}">
                        <a16:creationId xmlns:a16="http://schemas.microsoft.com/office/drawing/2014/main" id="{2514B7E3-33CA-4D79-9C2B-CACA1FB3BDE9}"/>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128" name="Freeform 46">
                    <a:extLst>
                      <a:ext uri="{FF2B5EF4-FFF2-40B4-BE49-F238E27FC236}">
                        <a16:creationId xmlns:a16="http://schemas.microsoft.com/office/drawing/2014/main" id="{80EB2B4F-AE37-4F07-A890-8186631D7FA1}"/>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cxnSp>
            <p:nvCxnSpPr>
              <p:cNvPr id="131" name="Straight Arrow Connector 130">
                <a:extLst>
                  <a:ext uri="{FF2B5EF4-FFF2-40B4-BE49-F238E27FC236}">
                    <a16:creationId xmlns:a16="http://schemas.microsoft.com/office/drawing/2014/main" id="{376377BB-D705-4A40-99E3-15E973D1594D}"/>
                  </a:ext>
                </a:extLst>
              </p:cNvPr>
              <p:cNvCxnSpPr>
                <a:cxnSpLocks/>
              </p:cNvCxnSpPr>
              <p:nvPr/>
            </p:nvCxnSpPr>
            <p:spPr>
              <a:xfrm>
                <a:off x="7941102" y="1057853"/>
                <a:ext cx="0" cy="19868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CE4E4974-DE8A-4CBF-B186-C4D704175353}"/>
                  </a:ext>
                </a:extLst>
              </p:cNvPr>
              <p:cNvSpPr/>
              <p:nvPr/>
            </p:nvSpPr>
            <p:spPr>
              <a:xfrm rot="1342046">
                <a:off x="7557706" y="1156668"/>
                <a:ext cx="296751" cy="345347"/>
              </a:xfrm>
              <a:custGeom>
                <a:avLst/>
                <a:gdLst>
                  <a:gd name="connsiteX0" fmla="*/ 270619 w 270619"/>
                  <a:gd name="connsiteY0" fmla="*/ 386080 h 386080"/>
                  <a:gd name="connsiteX1" fmla="*/ 1379 w 270619"/>
                  <a:gd name="connsiteY1" fmla="*/ 284480 h 386080"/>
                  <a:gd name="connsiteX2" fmla="*/ 158859 w 270619"/>
                  <a:gd name="connsiteY2" fmla="*/ 0 h 386080"/>
                  <a:gd name="connsiteX3" fmla="*/ 158859 w 270619"/>
                  <a:gd name="connsiteY3" fmla="*/ 0 h 386080"/>
                </a:gdLst>
                <a:ahLst/>
                <a:cxnLst>
                  <a:cxn ang="0">
                    <a:pos x="connsiteX0" y="connsiteY0"/>
                  </a:cxn>
                  <a:cxn ang="0">
                    <a:pos x="connsiteX1" y="connsiteY1"/>
                  </a:cxn>
                  <a:cxn ang="0">
                    <a:pos x="connsiteX2" y="connsiteY2"/>
                  </a:cxn>
                  <a:cxn ang="0">
                    <a:pos x="connsiteX3" y="connsiteY3"/>
                  </a:cxn>
                </a:cxnLst>
                <a:rect l="l" t="t" r="r" b="b"/>
                <a:pathLst>
                  <a:path w="270619" h="386080">
                    <a:moveTo>
                      <a:pt x="270619" y="386080"/>
                    </a:moveTo>
                    <a:cubicBezTo>
                      <a:pt x="145312" y="367453"/>
                      <a:pt x="20006" y="348827"/>
                      <a:pt x="1379" y="284480"/>
                    </a:cubicBezTo>
                    <a:cubicBezTo>
                      <a:pt x="-17248" y="220133"/>
                      <a:pt x="158859" y="0"/>
                      <a:pt x="158859" y="0"/>
                    </a:cubicBezTo>
                    <a:lnTo>
                      <a:pt x="158859" y="0"/>
                    </a:ln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6" name="Freeform 36">
                <a:extLst>
                  <a:ext uri="{FF2B5EF4-FFF2-40B4-BE49-F238E27FC236}">
                    <a16:creationId xmlns:a16="http://schemas.microsoft.com/office/drawing/2014/main" id="{5759C073-2124-46D7-A166-FFE936A87C44}"/>
                  </a:ext>
                </a:extLst>
              </p:cNvPr>
              <p:cNvSpPr>
                <a:spLocks noEditPoints="1"/>
              </p:cNvSpPr>
              <p:nvPr/>
            </p:nvSpPr>
            <p:spPr bwMode="auto">
              <a:xfrm>
                <a:off x="5644044" y="284481"/>
                <a:ext cx="72000" cy="72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bg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168" name="Rectangle 167">
                <a:extLst>
                  <a:ext uri="{FF2B5EF4-FFF2-40B4-BE49-F238E27FC236}">
                    <a16:creationId xmlns:a16="http://schemas.microsoft.com/office/drawing/2014/main" id="{B2A2D89F-93CB-49A5-9624-3BC901FAD2C4}"/>
                  </a:ext>
                </a:extLst>
              </p:cNvPr>
              <p:cNvSpPr>
                <a:spLocks noChangeArrowheads="1"/>
              </p:cNvSpPr>
              <p:nvPr/>
            </p:nvSpPr>
            <p:spPr bwMode="auto">
              <a:xfrm>
                <a:off x="5600163" y="93332"/>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i="1">
                    <a:solidFill>
                      <a:srgbClr val="000000"/>
                    </a:solidFill>
                  </a:rPr>
                  <a:t>V</a:t>
                </a:r>
                <a:r>
                  <a:rPr lang="en-US" altLang="en-BE" sz="1050" b="1" i="1" baseline="-25000">
                    <a:solidFill>
                      <a:srgbClr val="000000"/>
                    </a:solidFill>
                  </a:rPr>
                  <a:t>IN</a:t>
                </a:r>
                <a:endParaRPr lang="en-BE" altLang="en-BE" sz="1350" b="1" i="1"/>
              </a:p>
            </p:txBody>
          </p:sp>
          <p:sp>
            <p:nvSpPr>
              <p:cNvPr id="169" name="Rectangle 168">
                <a:extLst>
                  <a:ext uri="{FF2B5EF4-FFF2-40B4-BE49-F238E27FC236}">
                    <a16:creationId xmlns:a16="http://schemas.microsoft.com/office/drawing/2014/main" id="{E0FC471A-F9D4-46A9-A89A-71CA6CD3B69E}"/>
                  </a:ext>
                </a:extLst>
              </p:cNvPr>
              <p:cNvSpPr>
                <a:spLocks noChangeArrowheads="1"/>
              </p:cNvSpPr>
              <p:nvPr/>
            </p:nvSpPr>
            <p:spPr bwMode="auto">
              <a:xfrm>
                <a:off x="7362923" y="1251572"/>
                <a:ext cx="139462"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i="1">
                    <a:solidFill>
                      <a:srgbClr val="000000"/>
                    </a:solidFill>
                  </a:rPr>
                  <a:t>V</a:t>
                </a:r>
                <a:r>
                  <a:rPr lang="en-US" altLang="en-BE" sz="1050" b="1" i="1" baseline="-25000">
                    <a:solidFill>
                      <a:srgbClr val="000000"/>
                    </a:solidFill>
                  </a:rPr>
                  <a:t>1</a:t>
                </a:r>
                <a:endParaRPr lang="en-BE" altLang="en-BE" sz="1350" b="1" i="1"/>
              </a:p>
            </p:txBody>
          </p:sp>
          <p:sp>
            <p:nvSpPr>
              <p:cNvPr id="170" name="Rectangle 169">
                <a:extLst>
                  <a:ext uri="{FF2B5EF4-FFF2-40B4-BE49-F238E27FC236}">
                    <a16:creationId xmlns:a16="http://schemas.microsoft.com/office/drawing/2014/main" id="{F263057F-B7C4-47B4-9DC6-E811B94EC15B}"/>
                  </a:ext>
                </a:extLst>
              </p:cNvPr>
              <p:cNvSpPr>
                <a:spLocks noChangeArrowheads="1"/>
              </p:cNvSpPr>
              <p:nvPr/>
            </p:nvSpPr>
            <p:spPr bwMode="auto">
              <a:xfrm>
                <a:off x="8155403" y="1256652"/>
                <a:ext cx="357470"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50" b="1" i="1">
                    <a:solidFill>
                      <a:srgbClr val="000000"/>
                    </a:solidFill>
                  </a:rPr>
                  <a:t>2C</a:t>
                </a:r>
                <a:r>
                  <a:rPr lang="en-US" altLang="en-BE" sz="1050" b="1" i="1" baseline="-25000">
                    <a:solidFill>
                      <a:srgbClr val="000000"/>
                    </a:solidFill>
                  </a:rPr>
                  <a:t>gate</a:t>
                </a:r>
                <a:endParaRPr lang="en-BE" altLang="en-BE" sz="1350" b="1" i="1"/>
              </a:p>
            </p:txBody>
          </p:sp>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3EF1C33-E67D-4432-953C-B5E81A087620}"/>
                      </a:ext>
                    </a:extLst>
                  </p:cNvPr>
                  <p:cNvSpPr txBox="1"/>
                  <p:nvPr/>
                </p:nvSpPr>
                <p:spPr>
                  <a:xfrm>
                    <a:off x="8092440" y="513080"/>
                    <a:ext cx="581057" cy="5249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BE"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𝑔𝑎𝑡𝑒</m:t>
                                  </m:r>
                                </m:sub>
                              </m:sSub>
                            </m:num>
                            <m:den>
                              <m:r>
                                <a:rPr lang="en-US" b="0" i="1" smtClean="0">
                                  <a:latin typeface="Cambria Math" panose="02040503050406030204" pitchFamily="18" charset="0"/>
                                  <a:ea typeface="Cambria Math" panose="02040503050406030204" pitchFamily="18" charset="0"/>
                                </a:rPr>
                                <m:t>2</m:t>
                              </m:r>
                            </m:den>
                          </m:f>
                        </m:oMath>
                      </m:oMathPara>
                    </a14:m>
                    <a:endParaRPr lang="en-BE">
                      <a:latin typeface="Cambria Math" panose="02040503050406030204" pitchFamily="18" charset="0"/>
                      <a:ea typeface="Cambria Math" panose="02040503050406030204" pitchFamily="18" charset="0"/>
                    </a:endParaRPr>
                  </a:p>
                </p:txBody>
              </p:sp>
            </mc:Choice>
            <mc:Fallback xmlns="">
              <p:sp>
                <p:nvSpPr>
                  <p:cNvPr id="171" name="TextBox 170">
                    <a:extLst>
                      <a:ext uri="{FF2B5EF4-FFF2-40B4-BE49-F238E27FC236}">
                        <a16:creationId xmlns:a16="http://schemas.microsoft.com/office/drawing/2014/main" id="{43EF1C33-E67D-4432-953C-B5E81A087620}"/>
                      </a:ext>
                    </a:extLst>
                  </p:cNvPr>
                  <p:cNvSpPr txBox="1">
                    <a:spLocks noRot="1" noChangeAspect="1" noMove="1" noResize="1" noEditPoints="1" noAdjustHandles="1" noChangeArrowheads="1" noChangeShapeType="1" noTextEdit="1"/>
                  </p:cNvSpPr>
                  <p:nvPr/>
                </p:nvSpPr>
                <p:spPr>
                  <a:xfrm>
                    <a:off x="8092440" y="513080"/>
                    <a:ext cx="581057" cy="524952"/>
                  </a:xfrm>
                  <a:prstGeom prst="rect">
                    <a:avLst/>
                  </a:prstGeom>
                  <a:blipFill>
                    <a:blip r:embed="rId2"/>
                    <a:stretch>
                      <a:fillRect/>
                    </a:stretch>
                  </a:blipFill>
                </p:spPr>
                <p:txBody>
                  <a:bodyPr/>
                  <a:lstStyle/>
                  <a:p>
                    <a:r>
                      <a:rPr lang="en-BE">
                        <a:noFill/>
                      </a:rPr>
                      <a:t> </a:t>
                    </a:r>
                  </a:p>
                </p:txBody>
              </p:sp>
            </mc:Fallback>
          </mc:AlternateContent>
        </p:grpSp>
        <p:grpSp>
          <p:nvGrpSpPr>
            <p:cNvPr id="189" name="Group 188">
              <a:extLst>
                <a:ext uri="{FF2B5EF4-FFF2-40B4-BE49-F238E27FC236}">
                  <a16:creationId xmlns:a16="http://schemas.microsoft.com/office/drawing/2014/main" id="{B3DCDF1C-91A8-4BD5-9430-27FFF4B60A56}"/>
                </a:ext>
              </a:extLst>
            </p:cNvPr>
            <p:cNvGrpSpPr/>
            <p:nvPr/>
          </p:nvGrpSpPr>
          <p:grpSpPr>
            <a:xfrm>
              <a:off x="9830007" y="159297"/>
              <a:ext cx="1955210" cy="2141149"/>
              <a:chOff x="8929358" y="228048"/>
              <a:chExt cx="1955210" cy="2141149"/>
            </a:xfrm>
          </p:grpSpPr>
          <p:cxnSp>
            <p:nvCxnSpPr>
              <p:cNvPr id="150" name="Straight Arrow Connector 149">
                <a:extLst>
                  <a:ext uri="{FF2B5EF4-FFF2-40B4-BE49-F238E27FC236}">
                    <a16:creationId xmlns:a16="http://schemas.microsoft.com/office/drawing/2014/main" id="{2C862043-E05F-4362-AB03-33C4130FA736}"/>
                  </a:ext>
                </a:extLst>
              </p:cNvPr>
              <p:cNvCxnSpPr>
                <a:cxnSpLocks/>
              </p:cNvCxnSpPr>
              <p:nvPr/>
            </p:nvCxnSpPr>
            <p:spPr>
              <a:xfrm>
                <a:off x="9933478" y="309245"/>
                <a:ext cx="0" cy="200787"/>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C2AB8BA5-18FD-4A05-B6E1-2248ED120ABB}"/>
                  </a:ext>
                </a:extLst>
              </p:cNvPr>
              <p:cNvCxnSpPr>
                <a:cxnSpLocks/>
              </p:cNvCxnSpPr>
              <p:nvPr/>
            </p:nvCxnSpPr>
            <p:spPr>
              <a:xfrm>
                <a:off x="9951789" y="1653198"/>
                <a:ext cx="0" cy="53473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2" name="Group 151">
                <a:extLst>
                  <a:ext uri="{FF2B5EF4-FFF2-40B4-BE49-F238E27FC236}">
                    <a16:creationId xmlns:a16="http://schemas.microsoft.com/office/drawing/2014/main" id="{2EDB262A-4201-417C-AFE8-15178F558247}"/>
                  </a:ext>
                </a:extLst>
              </p:cNvPr>
              <p:cNvGrpSpPr/>
              <p:nvPr/>
            </p:nvGrpSpPr>
            <p:grpSpPr>
              <a:xfrm>
                <a:off x="9765052" y="2180830"/>
                <a:ext cx="360934" cy="188367"/>
                <a:chOff x="6944360" y="1555445"/>
                <a:chExt cx="297270" cy="156210"/>
              </a:xfrm>
            </p:grpSpPr>
            <p:cxnSp>
              <p:nvCxnSpPr>
                <p:cNvPr id="153" name="Straight Arrow Connector 152">
                  <a:extLst>
                    <a:ext uri="{FF2B5EF4-FFF2-40B4-BE49-F238E27FC236}">
                      <a16:creationId xmlns:a16="http://schemas.microsoft.com/office/drawing/2014/main" id="{B3E8C54A-BF38-4A9F-AC86-034C89E29CCF}"/>
                    </a:ext>
                  </a:extLst>
                </p:cNvPr>
                <p:cNvCxnSpPr>
                  <a:cxnSpLocks/>
                </p:cNvCxnSpPr>
                <p:nvPr/>
              </p:nvCxnSpPr>
              <p:spPr>
                <a:xfrm>
                  <a:off x="6944360" y="1555445"/>
                  <a:ext cx="2972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B08ABAD1-C963-49D8-8E3F-2796A7EFD157}"/>
                    </a:ext>
                  </a:extLst>
                </p:cNvPr>
                <p:cNvCxnSpPr>
                  <a:cxnSpLocks/>
                </p:cNvCxnSpPr>
                <p:nvPr/>
              </p:nvCxnSpPr>
              <p:spPr>
                <a:xfrm>
                  <a:off x="6989445" y="1606880"/>
                  <a:ext cx="20837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CC23E93E-2DBE-478F-B2A2-F1D73527D3EC}"/>
                    </a:ext>
                  </a:extLst>
                </p:cNvPr>
                <p:cNvCxnSpPr>
                  <a:cxnSpLocks/>
                </p:cNvCxnSpPr>
                <p:nvPr/>
              </p:nvCxnSpPr>
              <p:spPr>
                <a:xfrm>
                  <a:off x="7046595" y="1662125"/>
                  <a:ext cx="11883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9EF8F670-0A5D-4F3A-84DA-D2AD9EC7B026}"/>
                    </a:ext>
                  </a:extLst>
                </p:cNvPr>
                <p:cNvCxnSpPr>
                  <a:cxnSpLocks/>
                </p:cNvCxnSpPr>
                <p:nvPr/>
              </p:nvCxnSpPr>
              <p:spPr>
                <a:xfrm>
                  <a:off x="7078980" y="1711655"/>
                  <a:ext cx="61685"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45E2B13D-F5A4-4DDE-9804-917F6E92498B}"/>
                  </a:ext>
                </a:extLst>
              </p:cNvPr>
              <p:cNvGrpSpPr/>
              <p:nvPr/>
            </p:nvGrpSpPr>
            <p:grpSpPr>
              <a:xfrm>
                <a:off x="9812183" y="511882"/>
                <a:ext cx="255055" cy="530521"/>
                <a:chOff x="5542451" y="2102326"/>
                <a:chExt cx="174669" cy="355599"/>
              </a:xfrm>
            </p:grpSpPr>
            <p:grpSp>
              <p:nvGrpSpPr>
                <p:cNvPr id="158" name="Group 157">
                  <a:extLst>
                    <a:ext uri="{FF2B5EF4-FFF2-40B4-BE49-F238E27FC236}">
                      <a16:creationId xmlns:a16="http://schemas.microsoft.com/office/drawing/2014/main" id="{E2DB0184-B6B4-4C4D-BE29-A12EE4AB7AA4}"/>
                    </a:ext>
                  </a:extLst>
                </p:cNvPr>
                <p:cNvGrpSpPr/>
                <p:nvPr/>
              </p:nvGrpSpPr>
              <p:grpSpPr>
                <a:xfrm>
                  <a:off x="5542451" y="2102326"/>
                  <a:ext cx="166687" cy="236537"/>
                  <a:chOff x="5542451" y="2102326"/>
                  <a:chExt cx="166687" cy="236537"/>
                </a:xfrm>
              </p:grpSpPr>
              <p:sp>
                <p:nvSpPr>
                  <p:cNvPr id="162" name="Freeform 43">
                    <a:extLst>
                      <a:ext uri="{FF2B5EF4-FFF2-40B4-BE49-F238E27FC236}">
                        <a16:creationId xmlns:a16="http://schemas.microsoft.com/office/drawing/2014/main" id="{CB4A8BD5-0EC4-43BD-B769-7EFABA92A841}"/>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163" name="Freeform 46">
                    <a:extLst>
                      <a:ext uri="{FF2B5EF4-FFF2-40B4-BE49-F238E27FC236}">
                        <a16:creationId xmlns:a16="http://schemas.microsoft.com/office/drawing/2014/main" id="{4865E491-9B45-4757-AB46-87CDDC6CD855}"/>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nvGrpSpPr>
                <p:cNvPr id="159" name="Group 158">
                  <a:extLst>
                    <a:ext uri="{FF2B5EF4-FFF2-40B4-BE49-F238E27FC236}">
                      <a16:creationId xmlns:a16="http://schemas.microsoft.com/office/drawing/2014/main" id="{7821D6A8-A95B-43E9-9C9D-C0A4EEFF11A9}"/>
                    </a:ext>
                  </a:extLst>
                </p:cNvPr>
                <p:cNvGrpSpPr/>
                <p:nvPr/>
              </p:nvGrpSpPr>
              <p:grpSpPr>
                <a:xfrm>
                  <a:off x="5550433" y="2221388"/>
                  <a:ext cx="166687" cy="236537"/>
                  <a:chOff x="5542451" y="2102326"/>
                  <a:chExt cx="166687" cy="236537"/>
                </a:xfrm>
              </p:grpSpPr>
              <p:sp>
                <p:nvSpPr>
                  <p:cNvPr id="160" name="Freeform 43">
                    <a:extLst>
                      <a:ext uri="{FF2B5EF4-FFF2-40B4-BE49-F238E27FC236}">
                        <a16:creationId xmlns:a16="http://schemas.microsoft.com/office/drawing/2014/main" id="{5CCCD744-6A98-4651-BC78-BDF25B569969}"/>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161" name="Freeform 46">
                    <a:extLst>
                      <a:ext uri="{FF2B5EF4-FFF2-40B4-BE49-F238E27FC236}">
                        <a16:creationId xmlns:a16="http://schemas.microsoft.com/office/drawing/2014/main" id="{1DD3E78A-10D5-4777-BCFE-5372A2BC338A}"/>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cxnSp>
            <p:nvCxnSpPr>
              <p:cNvPr id="164" name="Straight Arrow Connector 163">
                <a:extLst>
                  <a:ext uri="{FF2B5EF4-FFF2-40B4-BE49-F238E27FC236}">
                    <a16:creationId xmlns:a16="http://schemas.microsoft.com/office/drawing/2014/main" id="{DB028425-C24A-4727-BF7F-7D211B3B084D}"/>
                  </a:ext>
                </a:extLst>
              </p:cNvPr>
              <p:cNvCxnSpPr>
                <a:cxnSpLocks/>
              </p:cNvCxnSpPr>
              <p:nvPr/>
            </p:nvCxnSpPr>
            <p:spPr>
              <a:xfrm>
                <a:off x="9942622" y="1037533"/>
                <a:ext cx="0" cy="19868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ED36ECEA-B064-4DBA-9EE5-A4475A4352E7}"/>
                  </a:ext>
                </a:extLst>
              </p:cNvPr>
              <p:cNvGrpSpPr/>
              <p:nvPr/>
            </p:nvGrpSpPr>
            <p:grpSpPr>
              <a:xfrm rot="16200000">
                <a:off x="9731683" y="1371781"/>
                <a:ext cx="423795" cy="149423"/>
                <a:chOff x="8113531" y="2003901"/>
                <a:chExt cx="565060" cy="199231"/>
              </a:xfrm>
            </p:grpSpPr>
            <p:sp>
              <p:nvSpPr>
                <p:cNvPr id="174" name="Freeform 47">
                  <a:extLst>
                    <a:ext uri="{FF2B5EF4-FFF2-40B4-BE49-F238E27FC236}">
                      <a16:creationId xmlns:a16="http://schemas.microsoft.com/office/drawing/2014/main" id="{450883E6-38A1-4704-8006-4CDD564A4B0F}"/>
                    </a:ext>
                  </a:extLst>
                </p:cNvPr>
                <p:cNvSpPr>
                  <a:spLocks/>
                </p:cNvSpPr>
                <p:nvPr/>
              </p:nvSpPr>
              <p:spPr bwMode="auto">
                <a:xfrm>
                  <a:off x="8173856" y="2007869"/>
                  <a:ext cx="301625" cy="195263"/>
                </a:xfrm>
                <a:custGeom>
                  <a:avLst/>
                  <a:gdLst>
                    <a:gd name="T0" fmla="*/ 61 w 278"/>
                    <a:gd name="T1" fmla="*/ 180 h 180"/>
                    <a:gd name="T2" fmla="*/ 61 w 278"/>
                    <a:gd name="T3" fmla="*/ 180 h 180"/>
                    <a:gd name="T4" fmla="*/ 108 w 278"/>
                    <a:gd name="T5" fmla="*/ 5 h 180"/>
                    <a:gd name="T6" fmla="*/ 161 w 278"/>
                    <a:gd name="T7" fmla="*/ 180 h 180"/>
                    <a:gd name="T8" fmla="*/ 208 w 278"/>
                    <a:gd name="T9" fmla="*/ 5 h 180"/>
                    <a:gd name="T10" fmla="*/ 278 w 278"/>
                    <a:gd name="T11" fmla="*/ 92 h 180"/>
                  </a:gdLst>
                  <a:ahLst/>
                  <a:cxnLst>
                    <a:cxn ang="0">
                      <a:pos x="T0" y="T1"/>
                    </a:cxn>
                    <a:cxn ang="0">
                      <a:pos x="T2" y="T3"/>
                    </a:cxn>
                    <a:cxn ang="0">
                      <a:pos x="T4" y="T5"/>
                    </a:cxn>
                    <a:cxn ang="0">
                      <a:pos x="T6" y="T7"/>
                    </a:cxn>
                    <a:cxn ang="0">
                      <a:pos x="T8" y="T9"/>
                    </a:cxn>
                    <a:cxn ang="0">
                      <a:pos x="T10" y="T11"/>
                    </a:cxn>
                  </a:cxnLst>
                  <a:rect l="0" t="0" r="r" b="b"/>
                  <a:pathLst>
                    <a:path w="278" h="180">
                      <a:moveTo>
                        <a:pt x="61" y="180"/>
                      </a:moveTo>
                      <a:lnTo>
                        <a:pt x="61" y="180"/>
                      </a:lnTo>
                      <a:cubicBezTo>
                        <a:pt x="0" y="180"/>
                        <a:pt x="29" y="6"/>
                        <a:pt x="108" y="5"/>
                      </a:cubicBezTo>
                      <a:cubicBezTo>
                        <a:pt x="188" y="4"/>
                        <a:pt x="222" y="180"/>
                        <a:pt x="161" y="180"/>
                      </a:cubicBezTo>
                      <a:cubicBezTo>
                        <a:pt x="100" y="180"/>
                        <a:pt x="130" y="15"/>
                        <a:pt x="208" y="5"/>
                      </a:cubicBezTo>
                      <a:cubicBezTo>
                        <a:pt x="245" y="0"/>
                        <a:pt x="278" y="54"/>
                        <a:pt x="278"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75" name="Freeform 48">
                  <a:extLst>
                    <a:ext uri="{FF2B5EF4-FFF2-40B4-BE49-F238E27FC236}">
                      <a16:creationId xmlns:a16="http://schemas.microsoft.com/office/drawing/2014/main" id="{0B4B5157-8796-4E52-8D9F-DF243385920B}"/>
                    </a:ext>
                  </a:extLst>
                </p:cNvPr>
                <p:cNvSpPr>
                  <a:spLocks/>
                </p:cNvSpPr>
                <p:nvPr/>
              </p:nvSpPr>
              <p:spPr bwMode="auto">
                <a:xfrm>
                  <a:off x="8173856" y="2011044"/>
                  <a:ext cx="239712" cy="192088"/>
                </a:xfrm>
                <a:custGeom>
                  <a:avLst/>
                  <a:gdLst>
                    <a:gd name="T0" fmla="*/ 161 w 221"/>
                    <a:gd name="T1" fmla="*/ 176 h 176"/>
                    <a:gd name="T2" fmla="*/ 161 w 221"/>
                    <a:gd name="T3" fmla="*/ 176 h 176"/>
                    <a:gd name="T4" fmla="*/ 114 w 221"/>
                    <a:gd name="T5" fmla="*/ 1 h 176"/>
                    <a:gd name="T6" fmla="*/ 61 w 221"/>
                    <a:gd name="T7" fmla="*/ 176 h 176"/>
                    <a:gd name="T8" fmla="*/ 14 w 221"/>
                    <a:gd name="T9" fmla="*/ 1 h 176"/>
                  </a:gdLst>
                  <a:ahLst/>
                  <a:cxnLst>
                    <a:cxn ang="0">
                      <a:pos x="T0" y="T1"/>
                    </a:cxn>
                    <a:cxn ang="0">
                      <a:pos x="T2" y="T3"/>
                    </a:cxn>
                    <a:cxn ang="0">
                      <a:pos x="T4" y="T5"/>
                    </a:cxn>
                    <a:cxn ang="0">
                      <a:pos x="T6" y="T7"/>
                    </a:cxn>
                    <a:cxn ang="0">
                      <a:pos x="T8" y="T9"/>
                    </a:cxn>
                  </a:cxnLst>
                  <a:rect l="0" t="0" r="r" b="b"/>
                  <a:pathLst>
                    <a:path w="221" h="176">
                      <a:moveTo>
                        <a:pt x="161" y="176"/>
                      </a:moveTo>
                      <a:lnTo>
                        <a:pt x="161" y="176"/>
                      </a:lnTo>
                      <a:cubicBezTo>
                        <a:pt x="221" y="176"/>
                        <a:pt x="193" y="2"/>
                        <a:pt x="114" y="1"/>
                      </a:cubicBezTo>
                      <a:cubicBezTo>
                        <a:pt x="34" y="0"/>
                        <a:pt x="0" y="176"/>
                        <a:pt x="61" y="176"/>
                      </a:cubicBezTo>
                      <a:cubicBezTo>
                        <a:pt x="122" y="176"/>
                        <a:pt x="93" y="2"/>
                        <a:pt x="14" y="1"/>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76" name="Freeform 51">
                  <a:extLst>
                    <a:ext uri="{FF2B5EF4-FFF2-40B4-BE49-F238E27FC236}">
                      <a16:creationId xmlns:a16="http://schemas.microsoft.com/office/drawing/2014/main" id="{58EBD116-A78F-4B0E-9778-6CA0F30783A7}"/>
                    </a:ext>
                  </a:extLst>
                </p:cNvPr>
                <p:cNvSpPr>
                  <a:spLocks/>
                </p:cNvSpPr>
                <p:nvPr/>
              </p:nvSpPr>
              <p:spPr bwMode="auto">
                <a:xfrm>
                  <a:off x="8113531" y="2007869"/>
                  <a:ext cx="76200" cy="98425"/>
                </a:xfrm>
                <a:custGeom>
                  <a:avLst/>
                  <a:gdLst>
                    <a:gd name="T0" fmla="*/ 70 w 70"/>
                    <a:gd name="T1" fmla="*/ 5 h 92"/>
                    <a:gd name="T2" fmla="*/ 70 w 70"/>
                    <a:gd name="T3" fmla="*/ 5 h 92"/>
                    <a:gd name="T4" fmla="*/ 0 w 70"/>
                    <a:gd name="T5" fmla="*/ 92 h 92"/>
                  </a:gdLst>
                  <a:ahLst/>
                  <a:cxnLst>
                    <a:cxn ang="0">
                      <a:pos x="T0" y="T1"/>
                    </a:cxn>
                    <a:cxn ang="0">
                      <a:pos x="T2" y="T3"/>
                    </a:cxn>
                    <a:cxn ang="0">
                      <a:pos x="T4" y="T5"/>
                    </a:cxn>
                  </a:cxnLst>
                  <a:rect l="0" t="0" r="r" b="b"/>
                  <a:pathLst>
                    <a:path w="70" h="92">
                      <a:moveTo>
                        <a:pt x="70" y="5"/>
                      </a:moveTo>
                      <a:lnTo>
                        <a:pt x="70" y="5"/>
                      </a:lnTo>
                      <a:cubicBezTo>
                        <a:pt x="33" y="0"/>
                        <a:pt x="0" y="54"/>
                        <a:pt x="0"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77" name="Freeform 47">
                  <a:extLst>
                    <a:ext uri="{FF2B5EF4-FFF2-40B4-BE49-F238E27FC236}">
                      <a16:creationId xmlns:a16="http://schemas.microsoft.com/office/drawing/2014/main" id="{640530A8-9B40-4ECF-BC51-2110F77803A9}"/>
                    </a:ext>
                  </a:extLst>
                </p:cNvPr>
                <p:cNvSpPr>
                  <a:spLocks/>
                </p:cNvSpPr>
                <p:nvPr/>
              </p:nvSpPr>
              <p:spPr bwMode="auto">
                <a:xfrm>
                  <a:off x="8376966" y="2003901"/>
                  <a:ext cx="301625" cy="195263"/>
                </a:xfrm>
                <a:custGeom>
                  <a:avLst/>
                  <a:gdLst>
                    <a:gd name="T0" fmla="*/ 61 w 278"/>
                    <a:gd name="T1" fmla="*/ 180 h 180"/>
                    <a:gd name="T2" fmla="*/ 61 w 278"/>
                    <a:gd name="T3" fmla="*/ 180 h 180"/>
                    <a:gd name="T4" fmla="*/ 108 w 278"/>
                    <a:gd name="T5" fmla="*/ 5 h 180"/>
                    <a:gd name="T6" fmla="*/ 161 w 278"/>
                    <a:gd name="T7" fmla="*/ 180 h 180"/>
                    <a:gd name="T8" fmla="*/ 208 w 278"/>
                    <a:gd name="T9" fmla="*/ 5 h 180"/>
                    <a:gd name="T10" fmla="*/ 278 w 278"/>
                    <a:gd name="T11" fmla="*/ 92 h 180"/>
                  </a:gdLst>
                  <a:ahLst/>
                  <a:cxnLst>
                    <a:cxn ang="0">
                      <a:pos x="T0" y="T1"/>
                    </a:cxn>
                    <a:cxn ang="0">
                      <a:pos x="T2" y="T3"/>
                    </a:cxn>
                    <a:cxn ang="0">
                      <a:pos x="T4" y="T5"/>
                    </a:cxn>
                    <a:cxn ang="0">
                      <a:pos x="T6" y="T7"/>
                    </a:cxn>
                    <a:cxn ang="0">
                      <a:pos x="T8" y="T9"/>
                    </a:cxn>
                    <a:cxn ang="0">
                      <a:pos x="T10" y="T11"/>
                    </a:cxn>
                  </a:cxnLst>
                  <a:rect l="0" t="0" r="r" b="b"/>
                  <a:pathLst>
                    <a:path w="278" h="180">
                      <a:moveTo>
                        <a:pt x="61" y="180"/>
                      </a:moveTo>
                      <a:lnTo>
                        <a:pt x="61" y="180"/>
                      </a:lnTo>
                      <a:cubicBezTo>
                        <a:pt x="0" y="180"/>
                        <a:pt x="29" y="6"/>
                        <a:pt x="108" y="5"/>
                      </a:cubicBezTo>
                      <a:cubicBezTo>
                        <a:pt x="188" y="4"/>
                        <a:pt x="222" y="180"/>
                        <a:pt x="161" y="180"/>
                      </a:cubicBezTo>
                      <a:cubicBezTo>
                        <a:pt x="100" y="180"/>
                        <a:pt x="130" y="15"/>
                        <a:pt x="208" y="5"/>
                      </a:cubicBezTo>
                      <a:cubicBezTo>
                        <a:pt x="245" y="0"/>
                        <a:pt x="278" y="54"/>
                        <a:pt x="278"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78" name="Freeform 48">
                  <a:extLst>
                    <a:ext uri="{FF2B5EF4-FFF2-40B4-BE49-F238E27FC236}">
                      <a16:creationId xmlns:a16="http://schemas.microsoft.com/office/drawing/2014/main" id="{FE3C6F69-FDD7-4485-8DA6-BD2D60B4E483}"/>
                    </a:ext>
                  </a:extLst>
                </p:cNvPr>
                <p:cNvSpPr>
                  <a:spLocks/>
                </p:cNvSpPr>
                <p:nvPr/>
              </p:nvSpPr>
              <p:spPr bwMode="auto">
                <a:xfrm>
                  <a:off x="8376966" y="2007076"/>
                  <a:ext cx="239712" cy="192088"/>
                </a:xfrm>
                <a:custGeom>
                  <a:avLst/>
                  <a:gdLst>
                    <a:gd name="T0" fmla="*/ 161 w 221"/>
                    <a:gd name="T1" fmla="*/ 176 h 176"/>
                    <a:gd name="T2" fmla="*/ 161 w 221"/>
                    <a:gd name="T3" fmla="*/ 176 h 176"/>
                    <a:gd name="T4" fmla="*/ 114 w 221"/>
                    <a:gd name="T5" fmla="*/ 1 h 176"/>
                    <a:gd name="T6" fmla="*/ 61 w 221"/>
                    <a:gd name="T7" fmla="*/ 176 h 176"/>
                    <a:gd name="T8" fmla="*/ 14 w 221"/>
                    <a:gd name="T9" fmla="*/ 1 h 176"/>
                  </a:gdLst>
                  <a:ahLst/>
                  <a:cxnLst>
                    <a:cxn ang="0">
                      <a:pos x="T0" y="T1"/>
                    </a:cxn>
                    <a:cxn ang="0">
                      <a:pos x="T2" y="T3"/>
                    </a:cxn>
                    <a:cxn ang="0">
                      <a:pos x="T4" y="T5"/>
                    </a:cxn>
                    <a:cxn ang="0">
                      <a:pos x="T6" y="T7"/>
                    </a:cxn>
                    <a:cxn ang="0">
                      <a:pos x="T8" y="T9"/>
                    </a:cxn>
                  </a:cxnLst>
                  <a:rect l="0" t="0" r="r" b="b"/>
                  <a:pathLst>
                    <a:path w="221" h="176">
                      <a:moveTo>
                        <a:pt x="161" y="176"/>
                      </a:moveTo>
                      <a:lnTo>
                        <a:pt x="161" y="176"/>
                      </a:lnTo>
                      <a:cubicBezTo>
                        <a:pt x="221" y="176"/>
                        <a:pt x="193" y="2"/>
                        <a:pt x="114" y="1"/>
                      </a:cubicBezTo>
                      <a:cubicBezTo>
                        <a:pt x="34" y="0"/>
                        <a:pt x="0" y="176"/>
                        <a:pt x="61" y="176"/>
                      </a:cubicBezTo>
                      <a:cubicBezTo>
                        <a:pt x="122" y="176"/>
                        <a:pt x="93" y="2"/>
                        <a:pt x="14" y="1"/>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179" name="Freeform 51">
                  <a:extLst>
                    <a:ext uri="{FF2B5EF4-FFF2-40B4-BE49-F238E27FC236}">
                      <a16:creationId xmlns:a16="http://schemas.microsoft.com/office/drawing/2014/main" id="{67500F25-4B96-4A1A-BC08-2E338C7D2835}"/>
                    </a:ext>
                  </a:extLst>
                </p:cNvPr>
                <p:cNvSpPr>
                  <a:spLocks/>
                </p:cNvSpPr>
                <p:nvPr/>
              </p:nvSpPr>
              <p:spPr bwMode="auto">
                <a:xfrm>
                  <a:off x="8321403" y="2003901"/>
                  <a:ext cx="76200" cy="98425"/>
                </a:xfrm>
                <a:custGeom>
                  <a:avLst/>
                  <a:gdLst>
                    <a:gd name="T0" fmla="*/ 70 w 70"/>
                    <a:gd name="T1" fmla="*/ 5 h 92"/>
                    <a:gd name="T2" fmla="*/ 70 w 70"/>
                    <a:gd name="T3" fmla="*/ 5 h 92"/>
                    <a:gd name="T4" fmla="*/ 0 w 70"/>
                    <a:gd name="T5" fmla="*/ 92 h 92"/>
                  </a:gdLst>
                  <a:ahLst/>
                  <a:cxnLst>
                    <a:cxn ang="0">
                      <a:pos x="T0" y="T1"/>
                    </a:cxn>
                    <a:cxn ang="0">
                      <a:pos x="T2" y="T3"/>
                    </a:cxn>
                    <a:cxn ang="0">
                      <a:pos x="T4" y="T5"/>
                    </a:cxn>
                  </a:cxnLst>
                  <a:rect l="0" t="0" r="r" b="b"/>
                  <a:pathLst>
                    <a:path w="70" h="92">
                      <a:moveTo>
                        <a:pt x="70" y="5"/>
                      </a:moveTo>
                      <a:lnTo>
                        <a:pt x="70" y="5"/>
                      </a:lnTo>
                      <a:cubicBezTo>
                        <a:pt x="33" y="0"/>
                        <a:pt x="0" y="54"/>
                        <a:pt x="0" y="92"/>
                      </a:cubicBez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grpSp>
          <p:cxnSp>
            <p:nvCxnSpPr>
              <p:cNvPr id="181" name="Straight Arrow Connector 180">
                <a:extLst>
                  <a:ext uri="{FF2B5EF4-FFF2-40B4-BE49-F238E27FC236}">
                    <a16:creationId xmlns:a16="http://schemas.microsoft.com/office/drawing/2014/main" id="{497D7E8B-54AE-41FB-8648-BF9DAB2D3D93}"/>
                  </a:ext>
                </a:extLst>
              </p:cNvPr>
              <p:cNvCxnSpPr>
                <a:cxnSpLocks/>
              </p:cNvCxnSpPr>
              <p:nvPr/>
            </p:nvCxnSpPr>
            <p:spPr>
              <a:xfrm>
                <a:off x="9161780" y="312941"/>
                <a:ext cx="764330" cy="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2" name="Freeform 36">
                <a:extLst>
                  <a:ext uri="{FF2B5EF4-FFF2-40B4-BE49-F238E27FC236}">
                    <a16:creationId xmlns:a16="http://schemas.microsoft.com/office/drawing/2014/main" id="{68166596-3619-4744-A10C-849EF2542670}"/>
                  </a:ext>
                </a:extLst>
              </p:cNvPr>
              <p:cNvSpPr>
                <a:spLocks noEditPoints="1"/>
              </p:cNvSpPr>
              <p:nvPr/>
            </p:nvSpPr>
            <p:spPr bwMode="auto">
              <a:xfrm>
                <a:off x="9118019" y="276957"/>
                <a:ext cx="72000" cy="72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bg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183" name="Rectangle 182">
                <a:extLst>
                  <a:ext uri="{FF2B5EF4-FFF2-40B4-BE49-F238E27FC236}">
                    <a16:creationId xmlns:a16="http://schemas.microsoft.com/office/drawing/2014/main" id="{9808B4D7-3FA9-4D2C-A7FC-D0BC0F80C6EF}"/>
                  </a:ext>
                </a:extLst>
              </p:cNvPr>
              <p:cNvSpPr>
                <a:spLocks noChangeArrowheads="1"/>
              </p:cNvSpPr>
              <p:nvPr/>
            </p:nvSpPr>
            <p:spPr bwMode="auto">
              <a:xfrm>
                <a:off x="8929358" y="228048"/>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i="1">
                    <a:solidFill>
                      <a:srgbClr val="000000"/>
                    </a:solidFill>
                  </a:rPr>
                  <a:t>V</a:t>
                </a:r>
                <a:r>
                  <a:rPr lang="en-US" altLang="en-BE" sz="1050" b="1" i="1" baseline="-25000">
                    <a:solidFill>
                      <a:srgbClr val="000000"/>
                    </a:solidFill>
                  </a:rPr>
                  <a:t>IN</a:t>
                </a:r>
                <a:endParaRPr lang="en-BE" altLang="en-BE" sz="1350" b="1" i="1"/>
              </a:p>
            </p:txBody>
          </p:sp>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FC6D739-7A6C-4F51-97A7-8886C833E1C1}"/>
                      </a:ext>
                    </a:extLst>
                  </p:cNvPr>
                  <p:cNvSpPr txBox="1"/>
                  <p:nvPr/>
                </p:nvSpPr>
                <p:spPr>
                  <a:xfrm>
                    <a:off x="10024024" y="476098"/>
                    <a:ext cx="8181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𝑅</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𝐴𝑐𝑡𝑖𝑣𝑒𝐼𝑛𝑑</m:t>
                              </m:r>
                            </m:sub>
                          </m:sSub>
                        </m:oMath>
                      </m:oMathPara>
                    </a14:m>
                    <a:endParaRPr lang="en-BE"/>
                  </a:p>
                </p:txBody>
              </p:sp>
            </mc:Choice>
            <mc:Fallback xmlns="">
              <p:sp>
                <p:nvSpPr>
                  <p:cNvPr id="187" name="TextBox 186">
                    <a:extLst>
                      <a:ext uri="{FF2B5EF4-FFF2-40B4-BE49-F238E27FC236}">
                        <a16:creationId xmlns:a16="http://schemas.microsoft.com/office/drawing/2014/main" id="{2FC6D739-7A6C-4F51-97A7-8886C833E1C1}"/>
                      </a:ext>
                    </a:extLst>
                  </p:cNvPr>
                  <p:cNvSpPr txBox="1">
                    <a:spLocks noRot="1" noChangeAspect="1" noMove="1" noResize="1" noEditPoints="1" noAdjustHandles="1" noChangeArrowheads="1" noChangeShapeType="1" noTextEdit="1"/>
                  </p:cNvSpPr>
                  <p:nvPr/>
                </p:nvSpPr>
                <p:spPr>
                  <a:xfrm>
                    <a:off x="10024024" y="476098"/>
                    <a:ext cx="818147" cy="369332"/>
                  </a:xfrm>
                  <a:prstGeom prst="rect">
                    <a:avLst/>
                  </a:prstGeom>
                  <a:blipFill>
                    <a:blip r:embed="rId3"/>
                    <a:stretch>
                      <a:fillRect r="-32836" b="-1667"/>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5F75048-A35A-4F78-8147-A2226A949EF0}"/>
                      </a:ext>
                    </a:extLst>
                  </p:cNvPr>
                  <p:cNvSpPr txBox="1"/>
                  <p:nvPr/>
                </p:nvSpPr>
                <p:spPr>
                  <a:xfrm>
                    <a:off x="10066421" y="1185388"/>
                    <a:ext cx="8181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𝐿</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𝐴𝑐𝑡𝑖𝑣𝑒𝐼𝑛𝑑</m:t>
                              </m:r>
                            </m:sub>
                          </m:sSub>
                        </m:oMath>
                      </m:oMathPara>
                    </a14:m>
                    <a:endParaRPr lang="en-BE"/>
                  </a:p>
                </p:txBody>
              </p:sp>
            </mc:Choice>
            <mc:Fallback xmlns="">
              <p:sp>
                <p:nvSpPr>
                  <p:cNvPr id="188" name="TextBox 187">
                    <a:extLst>
                      <a:ext uri="{FF2B5EF4-FFF2-40B4-BE49-F238E27FC236}">
                        <a16:creationId xmlns:a16="http://schemas.microsoft.com/office/drawing/2014/main" id="{05F75048-A35A-4F78-8147-A2226A949EF0}"/>
                      </a:ext>
                    </a:extLst>
                  </p:cNvPr>
                  <p:cNvSpPr txBox="1">
                    <a:spLocks noRot="1" noChangeAspect="1" noMove="1" noResize="1" noEditPoints="1" noAdjustHandles="1" noChangeArrowheads="1" noChangeShapeType="1" noTextEdit="1"/>
                  </p:cNvSpPr>
                  <p:nvPr/>
                </p:nvSpPr>
                <p:spPr>
                  <a:xfrm>
                    <a:off x="10066421" y="1185388"/>
                    <a:ext cx="818147" cy="369332"/>
                  </a:xfrm>
                  <a:prstGeom prst="rect">
                    <a:avLst/>
                  </a:prstGeom>
                  <a:blipFill>
                    <a:blip r:embed="rId4"/>
                    <a:stretch>
                      <a:fillRect r="-30597"/>
                    </a:stretch>
                  </a:blipFill>
                </p:spPr>
                <p:txBody>
                  <a:bodyPr/>
                  <a:lstStyle/>
                  <a:p>
                    <a:r>
                      <a:rPr lang="en-BE">
                        <a:noFill/>
                      </a:rPr>
                      <a:t> </a:t>
                    </a:r>
                  </a:p>
                </p:txBody>
              </p:sp>
            </mc:Fallback>
          </mc:AlternateContent>
        </p:grpSp>
        <p:sp>
          <p:nvSpPr>
            <p:cNvPr id="192" name="TextBox 191">
              <a:extLst>
                <a:ext uri="{FF2B5EF4-FFF2-40B4-BE49-F238E27FC236}">
                  <a16:creationId xmlns:a16="http://schemas.microsoft.com/office/drawing/2014/main" id="{3EA54D13-1963-4CE4-9215-CAC5CDC46E46}"/>
                </a:ext>
              </a:extLst>
            </p:cNvPr>
            <p:cNvSpPr txBox="1"/>
            <p:nvPr/>
          </p:nvSpPr>
          <p:spPr>
            <a:xfrm>
              <a:off x="6858000" y="2331333"/>
              <a:ext cx="1949115" cy="246221"/>
            </a:xfrm>
            <a:prstGeom prst="rect">
              <a:avLst/>
            </a:prstGeom>
            <a:noFill/>
          </p:spPr>
          <p:txBody>
            <a:bodyPr wrap="square">
              <a:spAutoFit/>
            </a:bodyPr>
            <a:lstStyle/>
            <a:p>
              <a:r>
                <a:rPr lang="en-US" sz="1000" b="0" i="0" u="none" strike="noStrike" baseline="0">
                  <a:latin typeface="UGentPannoText-Normal"/>
                </a:rPr>
                <a:t>(a) Small signal approximation</a:t>
              </a:r>
              <a:endParaRPr lang="en-BE"/>
            </a:p>
          </p:txBody>
        </p:sp>
        <p:sp>
          <p:nvSpPr>
            <p:cNvPr id="194" name="TextBox 193">
              <a:extLst>
                <a:ext uri="{FF2B5EF4-FFF2-40B4-BE49-F238E27FC236}">
                  <a16:creationId xmlns:a16="http://schemas.microsoft.com/office/drawing/2014/main" id="{AE3C2A47-174C-433E-8D22-8B0E316BCF19}"/>
                </a:ext>
              </a:extLst>
            </p:cNvPr>
            <p:cNvSpPr txBox="1"/>
            <p:nvPr/>
          </p:nvSpPr>
          <p:spPr>
            <a:xfrm>
              <a:off x="9388069" y="2372584"/>
              <a:ext cx="2471630" cy="246221"/>
            </a:xfrm>
            <a:prstGeom prst="rect">
              <a:avLst/>
            </a:prstGeom>
            <a:noFill/>
          </p:spPr>
          <p:txBody>
            <a:bodyPr wrap="square">
              <a:spAutoFit/>
            </a:bodyPr>
            <a:lstStyle/>
            <a:p>
              <a:r>
                <a:rPr lang="en-US" sz="1000" b="0" i="0" u="none" strike="noStrike" baseline="0">
                  <a:latin typeface="UGentPannoText-Normal"/>
                </a:rPr>
                <a:t>(b) Simplified small signal approximation</a:t>
              </a:r>
              <a:endParaRPr lang="en-BE"/>
            </a:p>
          </p:txBody>
        </p:sp>
        <p:sp>
          <p:nvSpPr>
            <p:cNvPr id="196" name="TextBox 195">
              <a:extLst>
                <a:ext uri="{FF2B5EF4-FFF2-40B4-BE49-F238E27FC236}">
                  <a16:creationId xmlns:a16="http://schemas.microsoft.com/office/drawing/2014/main" id="{2F2763A5-6A44-4FA1-91A8-65E6D3C3A469}"/>
                </a:ext>
              </a:extLst>
            </p:cNvPr>
            <p:cNvSpPr txBox="1"/>
            <p:nvPr/>
          </p:nvSpPr>
          <p:spPr>
            <a:xfrm>
              <a:off x="7366764" y="2633020"/>
              <a:ext cx="3606036" cy="261610"/>
            </a:xfrm>
            <a:prstGeom prst="rect">
              <a:avLst/>
            </a:prstGeom>
            <a:noFill/>
          </p:spPr>
          <p:txBody>
            <a:bodyPr wrap="square">
              <a:spAutoFit/>
            </a:bodyPr>
            <a:lstStyle/>
            <a:p>
              <a:r>
                <a:rPr lang="en-US" sz="1100" b="0" i="0" u="none" strike="noStrike" baseline="0">
                  <a:latin typeface="UGentPannoText-Normal"/>
                </a:rPr>
                <a:t>Figure 4: Small signal approximation of active inductor</a:t>
              </a:r>
              <a:endParaRPr lang="en-BE"/>
            </a:p>
          </p:txBody>
        </p:sp>
      </p:grpSp>
      <p:sp>
        <p:nvSpPr>
          <p:cNvPr id="291" name="Rectangle 290">
            <a:extLst>
              <a:ext uri="{FF2B5EF4-FFF2-40B4-BE49-F238E27FC236}">
                <a16:creationId xmlns:a16="http://schemas.microsoft.com/office/drawing/2014/main" id="{EF4D71DC-0EAA-4BCC-B2C5-1730ABD302CB}"/>
              </a:ext>
            </a:extLst>
          </p:cNvPr>
          <p:cNvSpPr/>
          <p:nvPr/>
        </p:nvSpPr>
        <p:spPr>
          <a:xfrm>
            <a:off x="710260" y="3466569"/>
            <a:ext cx="5918392" cy="2818827"/>
          </a:xfrm>
          <a:prstGeom prst="rect">
            <a:avLst/>
          </a:prstGeom>
          <a:solidFill>
            <a:schemeClr val="accent2">
              <a:lumMod val="20000"/>
              <a:lumOff val="80000"/>
            </a:schemeClr>
          </a:solidFill>
          <a:ln w="28575">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grpSp>
        <p:nvGrpSpPr>
          <p:cNvPr id="2" name="Group 1">
            <a:extLst>
              <a:ext uri="{FF2B5EF4-FFF2-40B4-BE49-F238E27FC236}">
                <a16:creationId xmlns:a16="http://schemas.microsoft.com/office/drawing/2014/main" id="{FF379FB1-C716-ACD6-A6B6-83A1FCFADE49}"/>
              </a:ext>
            </a:extLst>
          </p:cNvPr>
          <p:cNvGrpSpPr/>
          <p:nvPr/>
        </p:nvGrpSpPr>
        <p:grpSpPr>
          <a:xfrm>
            <a:off x="4804149" y="3587128"/>
            <a:ext cx="1638558" cy="1849191"/>
            <a:chOff x="4804149" y="3587128"/>
            <a:chExt cx="1638558" cy="1849191"/>
          </a:xfrm>
        </p:grpSpPr>
        <p:sp>
          <p:nvSpPr>
            <p:cNvPr id="230" name="Freeform 88">
              <a:extLst>
                <a:ext uri="{FF2B5EF4-FFF2-40B4-BE49-F238E27FC236}">
                  <a16:creationId xmlns:a16="http://schemas.microsoft.com/office/drawing/2014/main" id="{44CFD988-524A-4DA4-B334-954901C2749D}"/>
                </a:ext>
              </a:extLst>
            </p:cNvPr>
            <p:cNvSpPr>
              <a:spLocks/>
            </p:cNvSpPr>
            <p:nvPr/>
          </p:nvSpPr>
          <p:spPr bwMode="auto">
            <a:xfrm flipH="1">
              <a:off x="5657265" y="5354166"/>
              <a:ext cx="115741" cy="0"/>
            </a:xfrm>
            <a:custGeom>
              <a:avLst/>
              <a:gdLst>
                <a:gd name="T0" fmla="*/ 0 w 127"/>
                <a:gd name="T1" fmla="*/ 0 w 127"/>
                <a:gd name="T2" fmla="*/ 127 w 127"/>
              </a:gdLst>
              <a:ahLst/>
              <a:cxnLst>
                <a:cxn ang="0">
                  <a:pos x="T0" y="0"/>
                </a:cxn>
                <a:cxn ang="0">
                  <a:pos x="T1" y="0"/>
                </a:cxn>
                <a:cxn ang="0">
                  <a:pos x="T2" y="0"/>
                </a:cxn>
              </a:cxnLst>
              <a:rect l="0" t="0" r="r" b="b"/>
              <a:pathLst>
                <a:path w="127">
                  <a:moveTo>
                    <a:pt x="0" y="0"/>
                  </a:moveTo>
                  <a:lnTo>
                    <a:pt x="0" y="0"/>
                  </a:lnTo>
                  <a:lnTo>
                    <a:pt x="127"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1" name="Freeform 89">
              <a:extLst>
                <a:ext uri="{FF2B5EF4-FFF2-40B4-BE49-F238E27FC236}">
                  <a16:creationId xmlns:a16="http://schemas.microsoft.com/office/drawing/2014/main" id="{9CA639BC-B24E-4A57-98A1-488DB4CB575C}"/>
                </a:ext>
              </a:extLst>
            </p:cNvPr>
            <p:cNvSpPr>
              <a:spLocks/>
            </p:cNvSpPr>
            <p:nvPr/>
          </p:nvSpPr>
          <p:spPr bwMode="auto">
            <a:xfrm flipH="1">
              <a:off x="5686534" y="5395838"/>
              <a:ext cx="57206" cy="0"/>
            </a:xfrm>
            <a:custGeom>
              <a:avLst/>
              <a:gdLst>
                <a:gd name="T0" fmla="*/ 0 w 63"/>
                <a:gd name="T1" fmla="*/ 0 w 63"/>
                <a:gd name="T2" fmla="*/ 63 w 63"/>
              </a:gdLst>
              <a:ahLst/>
              <a:cxnLst>
                <a:cxn ang="0">
                  <a:pos x="T0" y="0"/>
                </a:cxn>
                <a:cxn ang="0">
                  <a:pos x="T1" y="0"/>
                </a:cxn>
                <a:cxn ang="0">
                  <a:pos x="T2" y="0"/>
                </a:cxn>
              </a:cxnLst>
              <a:rect l="0" t="0" r="r" b="b"/>
              <a:pathLst>
                <a:path w="63">
                  <a:moveTo>
                    <a:pt x="0" y="0"/>
                  </a:moveTo>
                  <a:lnTo>
                    <a:pt x="0" y="0"/>
                  </a:lnTo>
                  <a:lnTo>
                    <a:pt x="63"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2" name="Freeform 90">
              <a:extLst>
                <a:ext uri="{FF2B5EF4-FFF2-40B4-BE49-F238E27FC236}">
                  <a16:creationId xmlns:a16="http://schemas.microsoft.com/office/drawing/2014/main" id="{180AABA0-5AD7-47A2-B7F3-F4C2F5E10791}"/>
                </a:ext>
              </a:extLst>
            </p:cNvPr>
            <p:cNvSpPr>
              <a:spLocks/>
            </p:cNvSpPr>
            <p:nvPr/>
          </p:nvSpPr>
          <p:spPr bwMode="auto">
            <a:xfrm flipH="1">
              <a:off x="5707819" y="5436319"/>
              <a:ext cx="13303" cy="0"/>
            </a:xfrm>
            <a:custGeom>
              <a:avLst/>
              <a:gdLst>
                <a:gd name="T0" fmla="*/ 0 w 15"/>
                <a:gd name="T1" fmla="*/ 0 w 15"/>
                <a:gd name="T2" fmla="*/ 15 w 15"/>
              </a:gdLst>
              <a:ahLst/>
              <a:cxnLst>
                <a:cxn ang="0">
                  <a:pos x="T0" y="0"/>
                </a:cxn>
                <a:cxn ang="0">
                  <a:pos x="T1" y="0"/>
                </a:cxn>
                <a:cxn ang="0">
                  <a:pos x="T2" y="0"/>
                </a:cxn>
              </a:cxnLst>
              <a:rect l="0" t="0" r="r" b="b"/>
              <a:pathLst>
                <a:path w="15">
                  <a:moveTo>
                    <a:pt x="0" y="0"/>
                  </a:moveTo>
                  <a:lnTo>
                    <a:pt x="0" y="0"/>
                  </a:lnTo>
                  <a:lnTo>
                    <a:pt x="15" y="0"/>
                  </a:lnTo>
                </a:path>
              </a:pathLst>
            </a:custGeom>
            <a:noFill/>
            <a:ln w="285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3" name="Freeform 14">
              <a:extLst>
                <a:ext uri="{FF2B5EF4-FFF2-40B4-BE49-F238E27FC236}">
                  <a16:creationId xmlns:a16="http://schemas.microsoft.com/office/drawing/2014/main" id="{6666F9D4-72B8-4EAF-AEE1-11841A642BB5}"/>
                </a:ext>
              </a:extLst>
            </p:cNvPr>
            <p:cNvSpPr>
              <a:spLocks/>
            </p:cNvSpPr>
            <p:nvPr/>
          </p:nvSpPr>
          <p:spPr bwMode="auto">
            <a:xfrm>
              <a:off x="5978333" y="4114012"/>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4" name="Freeform 15">
              <a:extLst>
                <a:ext uri="{FF2B5EF4-FFF2-40B4-BE49-F238E27FC236}">
                  <a16:creationId xmlns:a16="http://schemas.microsoft.com/office/drawing/2014/main" id="{FFE987E3-0DDF-40FC-8667-D1A0152E8256}"/>
                </a:ext>
              </a:extLst>
            </p:cNvPr>
            <p:cNvSpPr>
              <a:spLocks/>
            </p:cNvSpPr>
            <p:nvPr/>
          </p:nvSpPr>
          <p:spPr bwMode="auto">
            <a:xfrm>
              <a:off x="5699171" y="4292606"/>
              <a:ext cx="38314" cy="534114"/>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5" name="Freeform 17">
              <a:extLst>
                <a:ext uri="{FF2B5EF4-FFF2-40B4-BE49-F238E27FC236}">
                  <a16:creationId xmlns:a16="http://schemas.microsoft.com/office/drawing/2014/main" id="{3C8753E3-4A08-4B27-9DD2-D269ABECA8C3}"/>
                </a:ext>
              </a:extLst>
            </p:cNvPr>
            <p:cNvSpPr>
              <a:spLocks/>
            </p:cNvSpPr>
            <p:nvPr/>
          </p:nvSpPr>
          <p:spPr bwMode="auto">
            <a:xfrm>
              <a:off x="5699171" y="4292606"/>
              <a:ext cx="191884"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6" name="Freeform 18">
              <a:extLst>
                <a:ext uri="{FF2B5EF4-FFF2-40B4-BE49-F238E27FC236}">
                  <a16:creationId xmlns:a16="http://schemas.microsoft.com/office/drawing/2014/main" id="{214E9AB2-5778-492E-A53E-1D3DE5ABF8E1}"/>
                </a:ext>
              </a:extLst>
            </p:cNvPr>
            <p:cNvSpPr>
              <a:spLocks/>
            </p:cNvSpPr>
            <p:nvPr/>
          </p:nvSpPr>
          <p:spPr bwMode="auto">
            <a:xfrm>
              <a:off x="5699171" y="4121156"/>
              <a:ext cx="191884"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type="triangl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7" name="Freeform 19">
              <a:extLst>
                <a:ext uri="{FF2B5EF4-FFF2-40B4-BE49-F238E27FC236}">
                  <a16:creationId xmlns:a16="http://schemas.microsoft.com/office/drawing/2014/main" id="{EECD4344-876F-41AA-8F86-7975A7AF3782}"/>
                </a:ext>
              </a:extLst>
            </p:cNvPr>
            <p:cNvSpPr>
              <a:spLocks/>
            </p:cNvSpPr>
            <p:nvPr/>
          </p:nvSpPr>
          <p:spPr bwMode="auto">
            <a:xfrm>
              <a:off x="5891055" y="4069959"/>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8" name="Freeform 15">
              <a:extLst>
                <a:ext uri="{FF2B5EF4-FFF2-40B4-BE49-F238E27FC236}">
                  <a16:creationId xmlns:a16="http://schemas.microsoft.com/office/drawing/2014/main" id="{8D6A43C8-C6B0-41DB-89F3-03CE438B1637}"/>
                </a:ext>
              </a:extLst>
            </p:cNvPr>
            <p:cNvSpPr>
              <a:spLocks/>
            </p:cNvSpPr>
            <p:nvPr/>
          </p:nvSpPr>
          <p:spPr bwMode="auto">
            <a:xfrm>
              <a:off x="5687465" y="3816831"/>
              <a:ext cx="38314" cy="30432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39" name="Freeform 14">
              <a:extLst>
                <a:ext uri="{FF2B5EF4-FFF2-40B4-BE49-F238E27FC236}">
                  <a16:creationId xmlns:a16="http://schemas.microsoft.com/office/drawing/2014/main" id="{28209544-3603-4C19-8275-34554E047917}"/>
                </a:ext>
              </a:extLst>
            </p:cNvPr>
            <p:cNvSpPr>
              <a:spLocks/>
            </p:cNvSpPr>
            <p:nvPr/>
          </p:nvSpPr>
          <p:spPr bwMode="auto">
            <a:xfrm>
              <a:off x="5969810" y="4932209"/>
              <a:ext cx="0" cy="188119"/>
            </a:xfrm>
            <a:custGeom>
              <a:avLst/>
              <a:gdLst>
                <a:gd name="T0" fmla="*/ 2 w 2"/>
                <a:gd name="T1" fmla="*/ 0 h 232"/>
                <a:gd name="T2" fmla="*/ 2 w 2"/>
                <a:gd name="T3" fmla="*/ 0 h 232"/>
                <a:gd name="T4" fmla="*/ 0 w 2"/>
                <a:gd name="T5" fmla="*/ 232 h 232"/>
              </a:gdLst>
              <a:ahLst/>
              <a:cxnLst>
                <a:cxn ang="0">
                  <a:pos x="T0" y="T1"/>
                </a:cxn>
                <a:cxn ang="0">
                  <a:pos x="T2" y="T3"/>
                </a:cxn>
                <a:cxn ang="0">
                  <a:pos x="T4" y="T5"/>
                </a:cxn>
              </a:cxnLst>
              <a:rect l="0" t="0" r="r" b="b"/>
              <a:pathLst>
                <a:path w="2" h="232">
                  <a:moveTo>
                    <a:pt x="2" y="0"/>
                  </a:moveTo>
                  <a:lnTo>
                    <a:pt x="2" y="0"/>
                  </a:lnTo>
                  <a:lnTo>
                    <a:pt x="0" y="232"/>
                  </a:lnTo>
                </a:path>
              </a:pathLst>
            </a:custGeom>
            <a:noFill/>
            <a:ln w="38100"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0" name="Freeform 15">
              <a:extLst>
                <a:ext uri="{FF2B5EF4-FFF2-40B4-BE49-F238E27FC236}">
                  <a16:creationId xmlns:a16="http://schemas.microsoft.com/office/drawing/2014/main" id="{4B5C386C-49AA-46F6-84E8-8D756C4F8299}"/>
                </a:ext>
              </a:extLst>
            </p:cNvPr>
            <p:cNvSpPr>
              <a:spLocks/>
            </p:cNvSpPr>
            <p:nvPr/>
          </p:nvSpPr>
          <p:spPr bwMode="auto">
            <a:xfrm>
              <a:off x="5713130" y="5118423"/>
              <a:ext cx="38314" cy="235743"/>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1" name="Freeform 17">
              <a:extLst>
                <a:ext uri="{FF2B5EF4-FFF2-40B4-BE49-F238E27FC236}">
                  <a16:creationId xmlns:a16="http://schemas.microsoft.com/office/drawing/2014/main" id="{A1DA6826-B947-41DE-8C92-DC73ACE1BF0B}"/>
                </a:ext>
              </a:extLst>
            </p:cNvPr>
            <p:cNvSpPr>
              <a:spLocks/>
            </p:cNvSpPr>
            <p:nvPr/>
          </p:nvSpPr>
          <p:spPr bwMode="auto">
            <a:xfrm>
              <a:off x="5699162" y="5108898"/>
              <a:ext cx="191884"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type="triangle"/>
              <a:tailEnd type="none"/>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2" name="Freeform 18">
              <a:extLst>
                <a:ext uri="{FF2B5EF4-FFF2-40B4-BE49-F238E27FC236}">
                  <a16:creationId xmlns:a16="http://schemas.microsoft.com/office/drawing/2014/main" id="{3694A466-C239-44D9-808B-0E3A05416ADA}"/>
                </a:ext>
              </a:extLst>
            </p:cNvPr>
            <p:cNvSpPr>
              <a:spLocks/>
            </p:cNvSpPr>
            <p:nvPr/>
          </p:nvSpPr>
          <p:spPr bwMode="auto">
            <a:xfrm>
              <a:off x="5699162" y="4937448"/>
              <a:ext cx="191884" cy="0"/>
            </a:xfrm>
            <a:custGeom>
              <a:avLst/>
              <a:gdLst>
                <a:gd name="T0" fmla="*/ 0 w 212"/>
                <a:gd name="T1" fmla="*/ 0 w 212"/>
                <a:gd name="T2" fmla="*/ 212 w 212"/>
              </a:gdLst>
              <a:ahLst/>
              <a:cxnLst>
                <a:cxn ang="0">
                  <a:pos x="T0" y="0"/>
                </a:cxn>
                <a:cxn ang="0">
                  <a:pos x="T1" y="0"/>
                </a:cxn>
                <a:cxn ang="0">
                  <a:pos x="T2" y="0"/>
                </a:cxn>
              </a:cxnLst>
              <a:rect l="0" t="0" r="r" b="b"/>
              <a:pathLst>
                <a:path w="212">
                  <a:moveTo>
                    <a:pt x="0" y="0"/>
                  </a:moveTo>
                  <a:lnTo>
                    <a:pt x="0" y="0"/>
                  </a:lnTo>
                  <a:lnTo>
                    <a:pt x="212"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3" name="Freeform 19">
              <a:extLst>
                <a:ext uri="{FF2B5EF4-FFF2-40B4-BE49-F238E27FC236}">
                  <a16:creationId xmlns:a16="http://schemas.microsoft.com/office/drawing/2014/main" id="{35D9CD4D-5013-41DD-B64A-E52DCFCA4F39}"/>
                </a:ext>
              </a:extLst>
            </p:cNvPr>
            <p:cNvSpPr>
              <a:spLocks/>
            </p:cNvSpPr>
            <p:nvPr/>
          </p:nvSpPr>
          <p:spPr bwMode="auto">
            <a:xfrm>
              <a:off x="5891047" y="4886251"/>
              <a:ext cx="0" cy="273844"/>
            </a:xfrm>
            <a:custGeom>
              <a:avLst/>
              <a:gdLst>
                <a:gd name="T0" fmla="*/ 337 h 337"/>
                <a:gd name="T1" fmla="*/ 337 h 337"/>
                <a:gd name="T2" fmla="*/ 0 h 337"/>
              </a:gdLst>
              <a:ahLst/>
              <a:cxnLst>
                <a:cxn ang="0">
                  <a:pos x="0" y="T0"/>
                </a:cxn>
                <a:cxn ang="0">
                  <a:pos x="0" y="T1"/>
                </a:cxn>
                <a:cxn ang="0">
                  <a:pos x="0" y="T2"/>
                </a:cxn>
              </a:cxnLst>
              <a:rect l="0" t="0" r="r" b="b"/>
              <a:pathLst>
                <a:path h="337">
                  <a:moveTo>
                    <a:pt x="0" y="337"/>
                  </a:moveTo>
                  <a:lnTo>
                    <a:pt x="0" y="337"/>
                  </a:lnTo>
                  <a:lnTo>
                    <a:pt x="0" y="0"/>
                  </a:lnTo>
                </a:path>
              </a:pathLst>
            </a:custGeom>
            <a:noFill/>
            <a:ln w="28575" cap="sq">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4" name="Freeform 15">
              <a:extLst>
                <a:ext uri="{FF2B5EF4-FFF2-40B4-BE49-F238E27FC236}">
                  <a16:creationId xmlns:a16="http://schemas.microsoft.com/office/drawing/2014/main" id="{DC070F95-7789-41AA-960A-75896D085C4F}"/>
                </a:ext>
              </a:extLst>
            </p:cNvPr>
            <p:cNvSpPr>
              <a:spLocks/>
            </p:cNvSpPr>
            <p:nvPr/>
          </p:nvSpPr>
          <p:spPr bwMode="auto">
            <a:xfrm>
              <a:off x="5699162" y="4831482"/>
              <a:ext cx="0" cy="105966"/>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5" name="Freeform 35">
              <a:extLst>
                <a:ext uri="{FF2B5EF4-FFF2-40B4-BE49-F238E27FC236}">
                  <a16:creationId xmlns:a16="http://schemas.microsoft.com/office/drawing/2014/main" id="{24A00D89-8B06-4C4F-B66A-6A07571A7285}"/>
                </a:ext>
              </a:extLst>
            </p:cNvPr>
            <p:cNvSpPr>
              <a:spLocks/>
            </p:cNvSpPr>
            <p:nvPr/>
          </p:nvSpPr>
          <p:spPr bwMode="auto">
            <a:xfrm flipH="1">
              <a:off x="5993705" y="4208071"/>
              <a:ext cx="340572"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6" name="Freeform 35">
              <a:extLst>
                <a:ext uri="{FF2B5EF4-FFF2-40B4-BE49-F238E27FC236}">
                  <a16:creationId xmlns:a16="http://schemas.microsoft.com/office/drawing/2014/main" id="{9A7EA849-8985-4DDC-A932-48ABB880770E}"/>
                </a:ext>
              </a:extLst>
            </p:cNvPr>
            <p:cNvSpPr>
              <a:spLocks/>
            </p:cNvSpPr>
            <p:nvPr/>
          </p:nvSpPr>
          <p:spPr bwMode="auto">
            <a:xfrm flipH="1">
              <a:off x="5989709" y="5024364"/>
              <a:ext cx="340572" cy="0"/>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7" name="Freeform 28">
              <a:extLst>
                <a:ext uri="{FF2B5EF4-FFF2-40B4-BE49-F238E27FC236}">
                  <a16:creationId xmlns:a16="http://schemas.microsoft.com/office/drawing/2014/main" id="{196400DD-AE8D-4EC5-AE39-4D168B73C952}"/>
                </a:ext>
              </a:extLst>
            </p:cNvPr>
            <p:cNvSpPr>
              <a:spLocks/>
            </p:cNvSpPr>
            <p:nvPr/>
          </p:nvSpPr>
          <p:spPr bwMode="auto">
            <a:xfrm flipH="1">
              <a:off x="5586756" y="3816831"/>
              <a:ext cx="182259" cy="0"/>
            </a:xfrm>
            <a:custGeom>
              <a:avLst/>
              <a:gdLst>
                <a:gd name="T0" fmla="*/ 0 w 201"/>
                <a:gd name="T1" fmla="*/ 0 w 201"/>
                <a:gd name="T2" fmla="*/ 201 w 201"/>
              </a:gdLst>
              <a:ahLst/>
              <a:cxnLst>
                <a:cxn ang="0">
                  <a:pos x="T0" y="0"/>
                </a:cxn>
                <a:cxn ang="0">
                  <a:pos x="T1" y="0"/>
                </a:cxn>
                <a:cxn ang="0">
                  <a:pos x="T2" y="0"/>
                </a:cxn>
              </a:cxnLst>
              <a:rect l="0" t="0" r="r" b="b"/>
              <a:pathLst>
                <a:path w="201">
                  <a:moveTo>
                    <a:pt x="0" y="0"/>
                  </a:moveTo>
                  <a:lnTo>
                    <a:pt x="0" y="0"/>
                  </a:lnTo>
                  <a:lnTo>
                    <a:pt x="201" y="0"/>
                  </a:lnTo>
                </a:path>
              </a:pathLst>
            </a:custGeom>
            <a:noFill/>
            <a:ln w="508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48" name="Rectangle 247">
              <a:extLst>
                <a:ext uri="{FF2B5EF4-FFF2-40B4-BE49-F238E27FC236}">
                  <a16:creationId xmlns:a16="http://schemas.microsoft.com/office/drawing/2014/main" id="{BDC40175-CD88-4FDD-88BA-FFEC03B69972}"/>
                </a:ext>
              </a:extLst>
            </p:cNvPr>
            <p:cNvSpPr>
              <a:spLocks noChangeArrowheads="1"/>
            </p:cNvSpPr>
            <p:nvPr/>
          </p:nvSpPr>
          <p:spPr bwMode="auto">
            <a:xfrm flipH="1">
              <a:off x="5532811" y="3587128"/>
              <a:ext cx="309309"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a:solidFill>
                    <a:srgbClr val="000000"/>
                  </a:solidFill>
                </a:rPr>
                <a:t>V</a:t>
              </a:r>
              <a:r>
                <a:rPr lang="en-US" altLang="en-BE" sz="1050" b="1" baseline="-25000">
                  <a:solidFill>
                    <a:srgbClr val="000000"/>
                  </a:solidFill>
                </a:rPr>
                <a:t>DD</a:t>
              </a:r>
              <a:endParaRPr lang="en-BE" altLang="en-BE" sz="1350" b="1"/>
            </a:p>
          </p:txBody>
        </p:sp>
        <p:sp>
          <p:nvSpPr>
            <p:cNvPr id="249" name="Rectangle 248">
              <a:extLst>
                <a:ext uri="{FF2B5EF4-FFF2-40B4-BE49-F238E27FC236}">
                  <a16:creationId xmlns:a16="http://schemas.microsoft.com/office/drawing/2014/main" id="{E61F0A37-2F3D-4D8F-8558-D0A8F6ED9441}"/>
                </a:ext>
              </a:extLst>
            </p:cNvPr>
            <p:cNvSpPr>
              <a:spLocks noChangeArrowheads="1"/>
            </p:cNvSpPr>
            <p:nvPr/>
          </p:nvSpPr>
          <p:spPr bwMode="auto">
            <a:xfrm flipH="1">
              <a:off x="5166374" y="4123229"/>
              <a:ext cx="96459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00" b="1" err="1">
                  <a:solidFill>
                    <a:srgbClr val="000000"/>
                  </a:solidFill>
                </a:rPr>
                <a:t>g</a:t>
              </a:r>
              <a:r>
                <a:rPr lang="en-US" altLang="en-BE" sz="1000" b="1" baseline="-25000" err="1">
                  <a:solidFill>
                    <a:srgbClr val="000000"/>
                  </a:solidFill>
                </a:rPr>
                <a:t>m</a:t>
              </a:r>
              <a:r>
                <a:rPr lang="en-US" altLang="en-BE" sz="1000" b="1" err="1">
                  <a:solidFill>
                    <a:srgbClr val="000000"/>
                  </a:solidFill>
                </a:rPr>
                <a:t>,PMOS</a:t>
              </a:r>
              <a:endParaRPr lang="en-BE" altLang="en-BE" sz="1000" b="1"/>
            </a:p>
          </p:txBody>
        </p:sp>
        <p:sp>
          <p:nvSpPr>
            <p:cNvPr id="250" name="Freeform 36">
              <a:extLst>
                <a:ext uri="{FF2B5EF4-FFF2-40B4-BE49-F238E27FC236}">
                  <a16:creationId xmlns:a16="http://schemas.microsoft.com/office/drawing/2014/main" id="{A1439D6E-6A12-4ABE-9991-742FF2C653BC}"/>
                </a:ext>
              </a:extLst>
            </p:cNvPr>
            <p:cNvSpPr>
              <a:spLocks noEditPoints="1"/>
            </p:cNvSpPr>
            <p:nvPr/>
          </p:nvSpPr>
          <p:spPr bwMode="auto">
            <a:xfrm flipH="1">
              <a:off x="6305426" y="4545004"/>
              <a:ext cx="73169"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251" name="Freeform 36">
              <a:extLst>
                <a:ext uri="{FF2B5EF4-FFF2-40B4-BE49-F238E27FC236}">
                  <a16:creationId xmlns:a16="http://schemas.microsoft.com/office/drawing/2014/main" id="{4BD1711A-E51B-4B0C-8FB5-4DB6A033509D}"/>
                </a:ext>
              </a:extLst>
            </p:cNvPr>
            <p:cNvSpPr>
              <a:spLocks noEditPoints="1"/>
            </p:cNvSpPr>
            <p:nvPr/>
          </p:nvSpPr>
          <p:spPr bwMode="auto">
            <a:xfrm flipH="1">
              <a:off x="5661677" y="4543515"/>
              <a:ext cx="73169" cy="65485"/>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rgbClr val="01010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219" name="Freeform 15">
              <a:extLst>
                <a:ext uri="{FF2B5EF4-FFF2-40B4-BE49-F238E27FC236}">
                  <a16:creationId xmlns:a16="http://schemas.microsoft.com/office/drawing/2014/main" id="{5EDD8F06-0C1D-4CB1-BD56-09F4294DEF14}"/>
                </a:ext>
              </a:extLst>
            </p:cNvPr>
            <p:cNvSpPr>
              <a:spLocks/>
            </p:cNvSpPr>
            <p:nvPr/>
          </p:nvSpPr>
          <p:spPr bwMode="auto">
            <a:xfrm flipH="1">
              <a:off x="6276496" y="4208145"/>
              <a:ext cx="68405" cy="817245"/>
            </a:xfrm>
            <a:custGeom>
              <a:avLst/>
              <a:gdLst>
                <a:gd name="T0" fmla="*/ 0 h 130"/>
                <a:gd name="T1" fmla="*/ 0 h 130"/>
                <a:gd name="T2" fmla="*/ 130 h 130"/>
              </a:gdLst>
              <a:ahLst/>
              <a:cxnLst>
                <a:cxn ang="0">
                  <a:pos x="0" y="T0"/>
                </a:cxn>
                <a:cxn ang="0">
                  <a:pos x="0" y="T1"/>
                </a:cxn>
                <a:cxn ang="0">
                  <a:pos x="0" y="T2"/>
                </a:cxn>
              </a:cxnLst>
              <a:rect l="0" t="0" r="r" b="b"/>
              <a:pathLst>
                <a:path h="130">
                  <a:moveTo>
                    <a:pt x="0" y="0"/>
                  </a:moveTo>
                  <a:lnTo>
                    <a:pt x="0" y="0"/>
                  </a:lnTo>
                  <a:lnTo>
                    <a:pt x="0" y="13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61" name="Rectangle 260">
              <a:extLst>
                <a:ext uri="{FF2B5EF4-FFF2-40B4-BE49-F238E27FC236}">
                  <a16:creationId xmlns:a16="http://schemas.microsoft.com/office/drawing/2014/main" id="{DE01F1A2-C40C-4307-8E1F-D4C2633E16AD}"/>
                </a:ext>
              </a:extLst>
            </p:cNvPr>
            <p:cNvSpPr>
              <a:spLocks noChangeArrowheads="1"/>
            </p:cNvSpPr>
            <p:nvPr/>
          </p:nvSpPr>
          <p:spPr bwMode="auto">
            <a:xfrm flipH="1">
              <a:off x="5141373" y="4930517"/>
              <a:ext cx="863273"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BE" sz="1000" b="1" err="1">
                  <a:solidFill>
                    <a:srgbClr val="000000"/>
                  </a:solidFill>
                </a:rPr>
                <a:t>g</a:t>
              </a:r>
              <a:r>
                <a:rPr lang="en-US" altLang="en-BE" sz="1000" b="1" baseline="-25000" err="1">
                  <a:solidFill>
                    <a:srgbClr val="000000"/>
                  </a:solidFill>
                </a:rPr>
                <a:t>m</a:t>
              </a:r>
              <a:r>
                <a:rPr lang="en-US" altLang="en-BE" sz="1000" b="1" err="1">
                  <a:solidFill>
                    <a:srgbClr val="000000"/>
                  </a:solidFill>
                </a:rPr>
                <a:t>,NMOS</a:t>
              </a:r>
              <a:endParaRPr lang="en-BE" altLang="en-BE" sz="1000" b="1"/>
            </a:p>
          </p:txBody>
        </p:sp>
        <p:grpSp>
          <p:nvGrpSpPr>
            <p:cNvPr id="262" name="Group 261">
              <a:extLst>
                <a:ext uri="{FF2B5EF4-FFF2-40B4-BE49-F238E27FC236}">
                  <a16:creationId xmlns:a16="http://schemas.microsoft.com/office/drawing/2014/main" id="{554F261E-8D97-461E-A563-0608F3B1B9C8}"/>
                </a:ext>
              </a:extLst>
            </p:cNvPr>
            <p:cNvGrpSpPr/>
            <p:nvPr/>
          </p:nvGrpSpPr>
          <p:grpSpPr>
            <a:xfrm rot="5400000" flipH="1">
              <a:off x="5978219" y="4392883"/>
              <a:ext cx="149718" cy="366216"/>
              <a:chOff x="5542451" y="2102326"/>
              <a:chExt cx="174669" cy="355599"/>
            </a:xfrm>
          </p:grpSpPr>
          <p:grpSp>
            <p:nvGrpSpPr>
              <p:cNvPr id="263" name="Group 262">
                <a:extLst>
                  <a:ext uri="{FF2B5EF4-FFF2-40B4-BE49-F238E27FC236}">
                    <a16:creationId xmlns:a16="http://schemas.microsoft.com/office/drawing/2014/main" id="{8B6314E0-1B5A-4D42-8927-85BBCDD135D5}"/>
                  </a:ext>
                </a:extLst>
              </p:cNvPr>
              <p:cNvGrpSpPr/>
              <p:nvPr/>
            </p:nvGrpSpPr>
            <p:grpSpPr>
              <a:xfrm>
                <a:off x="5542451" y="2102326"/>
                <a:ext cx="166687" cy="236537"/>
                <a:chOff x="5542451" y="2102326"/>
                <a:chExt cx="166687" cy="236537"/>
              </a:xfrm>
            </p:grpSpPr>
            <p:sp>
              <p:nvSpPr>
                <p:cNvPr id="267" name="Freeform 43">
                  <a:extLst>
                    <a:ext uri="{FF2B5EF4-FFF2-40B4-BE49-F238E27FC236}">
                      <a16:creationId xmlns:a16="http://schemas.microsoft.com/office/drawing/2014/main" id="{163F29BE-A708-4034-A240-E1BFF9BCA829}"/>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268" name="Freeform 46">
                  <a:extLst>
                    <a:ext uri="{FF2B5EF4-FFF2-40B4-BE49-F238E27FC236}">
                      <a16:creationId xmlns:a16="http://schemas.microsoft.com/office/drawing/2014/main" id="{4701F8A3-0C38-43B1-BA9A-E1FDC5D33486}"/>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nvGrpSpPr>
              <p:cNvPr id="264" name="Group 263">
                <a:extLst>
                  <a:ext uri="{FF2B5EF4-FFF2-40B4-BE49-F238E27FC236}">
                    <a16:creationId xmlns:a16="http://schemas.microsoft.com/office/drawing/2014/main" id="{0B12F3F0-496D-4CA1-AC18-217B872CE34C}"/>
                  </a:ext>
                </a:extLst>
              </p:cNvPr>
              <p:cNvGrpSpPr/>
              <p:nvPr/>
            </p:nvGrpSpPr>
            <p:grpSpPr>
              <a:xfrm>
                <a:off x="5550433" y="2221388"/>
                <a:ext cx="166687" cy="236537"/>
                <a:chOff x="5542451" y="2102326"/>
                <a:chExt cx="166687" cy="236537"/>
              </a:xfrm>
            </p:grpSpPr>
            <p:sp>
              <p:nvSpPr>
                <p:cNvPr id="265" name="Freeform 43">
                  <a:extLst>
                    <a:ext uri="{FF2B5EF4-FFF2-40B4-BE49-F238E27FC236}">
                      <a16:creationId xmlns:a16="http://schemas.microsoft.com/office/drawing/2014/main" id="{020EF790-1C71-4F18-96E7-E81A7F4A58BD}"/>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266" name="Freeform 46">
                  <a:extLst>
                    <a:ext uri="{FF2B5EF4-FFF2-40B4-BE49-F238E27FC236}">
                      <a16:creationId xmlns:a16="http://schemas.microsoft.com/office/drawing/2014/main" id="{D32DB781-4FF5-4CF4-98E0-A2A5002F3B0E}"/>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sp>
          <p:nvSpPr>
            <p:cNvPr id="269" name="Freeform 35">
              <a:extLst>
                <a:ext uri="{FF2B5EF4-FFF2-40B4-BE49-F238E27FC236}">
                  <a16:creationId xmlns:a16="http://schemas.microsoft.com/office/drawing/2014/main" id="{D3623A37-9454-45DA-8F59-FF4D7EE3E58C}"/>
                </a:ext>
              </a:extLst>
            </p:cNvPr>
            <p:cNvSpPr>
              <a:spLocks/>
            </p:cNvSpPr>
            <p:nvPr/>
          </p:nvSpPr>
          <p:spPr bwMode="auto">
            <a:xfrm flipH="1">
              <a:off x="6246018" y="4579994"/>
              <a:ext cx="82177" cy="45719"/>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70" name="Freeform 35">
              <a:extLst>
                <a:ext uri="{FF2B5EF4-FFF2-40B4-BE49-F238E27FC236}">
                  <a16:creationId xmlns:a16="http://schemas.microsoft.com/office/drawing/2014/main" id="{2A7B8044-6806-4765-AA08-EE8A8899E6F0}"/>
                </a:ext>
              </a:extLst>
            </p:cNvPr>
            <p:cNvSpPr>
              <a:spLocks/>
            </p:cNvSpPr>
            <p:nvPr/>
          </p:nvSpPr>
          <p:spPr bwMode="auto">
            <a:xfrm flipH="1">
              <a:off x="5050062" y="4572374"/>
              <a:ext cx="813050" cy="56012"/>
            </a:xfrm>
            <a:custGeom>
              <a:avLst/>
              <a:gdLst>
                <a:gd name="T0" fmla="*/ 376 w 376"/>
                <a:gd name="T1" fmla="*/ 376 w 376"/>
                <a:gd name="T2" fmla="*/ 0 w 376"/>
              </a:gdLst>
              <a:ahLst/>
              <a:cxnLst>
                <a:cxn ang="0">
                  <a:pos x="T0" y="0"/>
                </a:cxn>
                <a:cxn ang="0">
                  <a:pos x="T1" y="0"/>
                </a:cxn>
                <a:cxn ang="0">
                  <a:pos x="T2" y="0"/>
                </a:cxn>
              </a:cxnLst>
              <a:rect l="0" t="0" r="r" b="b"/>
              <a:pathLst>
                <a:path w="376">
                  <a:moveTo>
                    <a:pt x="376" y="0"/>
                  </a:moveTo>
                  <a:lnTo>
                    <a:pt x="376" y="0"/>
                  </a:lnTo>
                  <a:lnTo>
                    <a:pt x="0" y="0"/>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73" name="Freeform 36">
              <a:extLst>
                <a:ext uri="{FF2B5EF4-FFF2-40B4-BE49-F238E27FC236}">
                  <a16:creationId xmlns:a16="http://schemas.microsoft.com/office/drawing/2014/main" id="{B28F7D21-BB55-4D97-B79E-501D7E9A9D45}"/>
                </a:ext>
              </a:extLst>
            </p:cNvPr>
            <p:cNvSpPr>
              <a:spLocks noEditPoints="1"/>
            </p:cNvSpPr>
            <p:nvPr/>
          </p:nvSpPr>
          <p:spPr bwMode="auto">
            <a:xfrm>
              <a:off x="5024052" y="4540229"/>
              <a:ext cx="72000" cy="72000"/>
            </a:xfrm>
            <a:custGeom>
              <a:avLst/>
              <a:gdLst>
                <a:gd name="T0" fmla="*/ 80 w 80"/>
                <a:gd name="T1" fmla="*/ 40 h 80"/>
                <a:gd name="T2" fmla="*/ 80 w 80"/>
                <a:gd name="T3" fmla="*/ 40 h 80"/>
                <a:gd name="T4" fmla="*/ 40 w 80"/>
                <a:gd name="T5" fmla="*/ 80 h 80"/>
                <a:gd name="T6" fmla="*/ 0 w 80"/>
                <a:gd name="T7" fmla="*/ 40 h 80"/>
                <a:gd name="T8" fmla="*/ 40 w 80"/>
                <a:gd name="T9" fmla="*/ 0 h 80"/>
                <a:gd name="T10" fmla="*/ 80 w 80"/>
                <a:gd name="T11" fmla="*/ 40 h 80"/>
                <a:gd name="T12" fmla="*/ 80 w 80"/>
                <a:gd name="T13" fmla="*/ 40 h 80"/>
                <a:gd name="T14" fmla="*/ 80 w 80"/>
                <a:gd name="T15" fmla="*/ 40 h 80"/>
                <a:gd name="T16" fmla="*/ 80 w 80"/>
                <a:gd name="T17"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40"/>
                  </a:moveTo>
                  <a:lnTo>
                    <a:pt x="80" y="40"/>
                  </a:lnTo>
                  <a:cubicBezTo>
                    <a:pt x="80" y="62"/>
                    <a:pt x="63" y="80"/>
                    <a:pt x="40" y="80"/>
                  </a:cubicBezTo>
                  <a:cubicBezTo>
                    <a:pt x="18" y="80"/>
                    <a:pt x="0" y="62"/>
                    <a:pt x="0" y="40"/>
                  </a:cubicBezTo>
                  <a:cubicBezTo>
                    <a:pt x="0" y="18"/>
                    <a:pt x="18" y="0"/>
                    <a:pt x="40" y="0"/>
                  </a:cubicBezTo>
                  <a:cubicBezTo>
                    <a:pt x="63" y="0"/>
                    <a:pt x="80" y="18"/>
                    <a:pt x="80" y="40"/>
                  </a:cubicBezTo>
                  <a:lnTo>
                    <a:pt x="80" y="40"/>
                  </a:lnTo>
                  <a:close/>
                  <a:moveTo>
                    <a:pt x="80" y="40"/>
                  </a:moveTo>
                  <a:lnTo>
                    <a:pt x="80" y="40"/>
                  </a:lnTo>
                  <a:close/>
                </a:path>
              </a:pathLst>
            </a:custGeom>
            <a:solidFill>
              <a:schemeClr val="bg1"/>
            </a:solidFill>
            <a:ln w="0">
              <a:solidFill>
                <a:srgbClr val="000000"/>
              </a:solidFill>
              <a:prstDash val="solid"/>
              <a:round/>
              <a:headEnd/>
              <a:tailEnd/>
            </a:ln>
          </p:spPr>
          <p:txBody>
            <a:bodyPr vert="horz" wrap="square" lIns="68580" tIns="34290" rIns="68580" bIns="34290" numCol="1" anchor="t" anchorCtr="0" compatLnSpc="1">
              <a:prstTxWarp prst="textNoShape">
                <a:avLst/>
              </a:prstTxWarp>
            </a:bodyPr>
            <a:lstStyle/>
            <a:p>
              <a:endParaRPr lang="en-BE" sz="1215"/>
            </a:p>
          </p:txBody>
        </p:sp>
        <p:sp>
          <p:nvSpPr>
            <p:cNvPr id="274" name="Rectangle 273">
              <a:extLst>
                <a:ext uri="{FF2B5EF4-FFF2-40B4-BE49-F238E27FC236}">
                  <a16:creationId xmlns:a16="http://schemas.microsoft.com/office/drawing/2014/main" id="{AA4DEBE5-EA4A-4118-90E2-CEDF9D1778A2}"/>
                </a:ext>
              </a:extLst>
            </p:cNvPr>
            <p:cNvSpPr>
              <a:spLocks noChangeArrowheads="1"/>
            </p:cNvSpPr>
            <p:nvPr/>
          </p:nvSpPr>
          <p:spPr bwMode="auto">
            <a:xfrm>
              <a:off x="4804149" y="4519514"/>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i="1">
                  <a:solidFill>
                    <a:srgbClr val="000000"/>
                  </a:solidFill>
                </a:rPr>
                <a:t>V</a:t>
              </a:r>
              <a:r>
                <a:rPr lang="en-US" altLang="en-BE" sz="1050" b="1" i="1" baseline="-25000">
                  <a:solidFill>
                    <a:srgbClr val="000000"/>
                  </a:solidFill>
                </a:rPr>
                <a:t>IN</a:t>
              </a:r>
              <a:endParaRPr lang="en-BE" altLang="en-BE" sz="1350" b="1" i="1"/>
            </a:p>
          </p:txBody>
        </p:sp>
        <mc:AlternateContent xmlns:mc="http://schemas.openxmlformats.org/markup-compatibility/2006" xmlns:a14="http://schemas.microsoft.com/office/drawing/2010/main">
          <mc:Choice Requires="a14">
            <p:sp>
              <p:nvSpPr>
                <p:cNvPr id="275" name="TextBox 274">
                  <a:extLst>
                    <a:ext uri="{FF2B5EF4-FFF2-40B4-BE49-F238E27FC236}">
                      <a16:creationId xmlns:a16="http://schemas.microsoft.com/office/drawing/2014/main" id="{8FD924E8-E9EE-40B3-ADB5-2D03D94D8730}"/>
                    </a:ext>
                  </a:extLst>
                </p:cNvPr>
                <p:cNvSpPr txBox="1"/>
                <p:nvPr/>
              </p:nvSpPr>
              <p:spPr>
                <a:xfrm>
                  <a:off x="5861650" y="4640422"/>
                  <a:ext cx="581057" cy="29161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BE" sz="1000" i="1" smtClean="0">
                                <a:latin typeface="Cambria Math" panose="02040503050406030204" pitchFamily="18" charset="0"/>
                                <a:ea typeface="Cambria Math" panose="02040503050406030204" pitchFamily="18" charset="0"/>
                              </a:rPr>
                            </m:ctrlPr>
                          </m:fPr>
                          <m:num>
                            <m:sSub>
                              <m:sSubPr>
                                <m:ctrlPr>
                                  <a:rPr lang="en-US" sz="1000" b="0" i="1" smtClean="0">
                                    <a:latin typeface="Cambria Math" panose="02040503050406030204" pitchFamily="18" charset="0"/>
                                    <a:ea typeface="Cambria Math" panose="02040503050406030204" pitchFamily="18" charset="0"/>
                                  </a:rPr>
                                </m:ctrlPr>
                              </m:sSubPr>
                              <m:e>
                                <m:r>
                                  <a:rPr lang="en-US" sz="1000" i="1">
                                    <a:latin typeface="Cambria Math" panose="02040503050406030204" pitchFamily="18" charset="0"/>
                                    <a:ea typeface="Cambria Math" panose="02040503050406030204" pitchFamily="18" charset="0"/>
                                  </a:rPr>
                                  <m:t>𝑅</m:t>
                                </m:r>
                              </m:e>
                              <m:sub>
                                <m:r>
                                  <a:rPr lang="en-US" sz="1000" b="0" i="1" smtClean="0">
                                    <a:latin typeface="Cambria Math" panose="02040503050406030204" pitchFamily="18" charset="0"/>
                                    <a:ea typeface="Cambria Math" panose="02040503050406030204" pitchFamily="18" charset="0"/>
                                  </a:rPr>
                                  <m:t>𝑔𝑎𝑡𝑒</m:t>
                                </m:r>
                              </m:sub>
                            </m:sSub>
                          </m:num>
                          <m:den>
                            <m:r>
                              <a:rPr lang="en-US" sz="1000" b="0" i="1" smtClean="0">
                                <a:latin typeface="Cambria Math" panose="02040503050406030204" pitchFamily="18" charset="0"/>
                                <a:ea typeface="Cambria Math" panose="02040503050406030204" pitchFamily="18" charset="0"/>
                              </a:rPr>
                              <m:t>2</m:t>
                            </m:r>
                          </m:den>
                        </m:f>
                      </m:oMath>
                    </m:oMathPara>
                  </a14:m>
                  <a:endParaRPr lang="en-BE" sz="1000">
                    <a:latin typeface="Cambria Math" panose="02040503050406030204" pitchFamily="18" charset="0"/>
                    <a:ea typeface="Cambria Math" panose="02040503050406030204" pitchFamily="18" charset="0"/>
                  </a:endParaRPr>
                </a:p>
              </p:txBody>
            </p:sp>
          </mc:Choice>
          <mc:Fallback xmlns="">
            <p:sp>
              <p:nvSpPr>
                <p:cNvPr id="275" name="TextBox 274">
                  <a:extLst>
                    <a:ext uri="{FF2B5EF4-FFF2-40B4-BE49-F238E27FC236}">
                      <a16:creationId xmlns:a16="http://schemas.microsoft.com/office/drawing/2014/main" id="{8FD924E8-E9EE-40B3-ADB5-2D03D94D8730}"/>
                    </a:ext>
                  </a:extLst>
                </p:cNvPr>
                <p:cNvSpPr txBox="1">
                  <a:spLocks noRot="1" noChangeAspect="1" noMove="1" noResize="1" noEditPoints="1" noAdjustHandles="1" noChangeArrowheads="1" noChangeShapeType="1" noTextEdit="1"/>
                </p:cNvSpPr>
                <p:nvPr/>
              </p:nvSpPr>
              <p:spPr>
                <a:xfrm>
                  <a:off x="5861650" y="4640422"/>
                  <a:ext cx="581057" cy="291618"/>
                </a:xfrm>
                <a:prstGeom prst="rect">
                  <a:avLst/>
                </a:prstGeom>
                <a:blipFill>
                  <a:blip r:embed="rId5"/>
                  <a:stretch>
                    <a:fillRect t="-2083" b="-14583"/>
                  </a:stretch>
                </a:blipFill>
              </p:spPr>
              <p:txBody>
                <a:bodyPr/>
                <a:lstStyle/>
                <a:p>
                  <a:r>
                    <a:rPr lang="en-BE">
                      <a:noFill/>
                    </a:rPr>
                    <a:t> </a:t>
                  </a:r>
                </a:p>
              </p:txBody>
            </p:sp>
          </mc:Fallback>
        </mc:AlternateContent>
      </p:grpSp>
      <p:grpSp>
        <p:nvGrpSpPr>
          <p:cNvPr id="284" name="Group 283">
            <a:extLst>
              <a:ext uri="{FF2B5EF4-FFF2-40B4-BE49-F238E27FC236}">
                <a16:creationId xmlns:a16="http://schemas.microsoft.com/office/drawing/2014/main" id="{892F6A9F-7E75-454B-B29E-5072A6D51629}"/>
              </a:ext>
            </a:extLst>
          </p:cNvPr>
          <p:cNvGrpSpPr/>
          <p:nvPr/>
        </p:nvGrpSpPr>
        <p:grpSpPr>
          <a:xfrm>
            <a:off x="758797" y="3752091"/>
            <a:ext cx="2114257" cy="1685585"/>
            <a:chOff x="1080835" y="3004190"/>
            <a:chExt cx="2114257" cy="1685585"/>
          </a:xfrm>
        </p:grpSpPr>
        <p:grpSp>
          <p:nvGrpSpPr>
            <p:cNvPr id="198" name="Group 197">
              <a:extLst>
                <a:ext uri="{FF2B5EF4-FFF2-40B4-BE49-F238E27FC236}">
                  <a16:creationId xmlns:a16="http://schemas.microsoft.com/office/drawing/2014/main" id="{44B1ADFE-B1DD-4956-8DE3-7D3BED938551}"/>
                </a:ext>
              </a:extLst>
            </p:cNvPr>
            <p:cNvGrpSpPr/>
            <p:nvPr/>
          </p:nvGrpSpPr>
          <p:grpSpPr>
            <a:xfrm>
              <a:off x="1987256" y="3838242"/>
              <a:ext cx="972185" cy="851533"/>
              <a:chOff x="1116965" y="5086353"/>
              <a:chExt cx="972185" cy="851533"/>
            </a:xfrm>
          </p:grpSpPr>
          <p:sp>
            <p:nvSpPr>
              <p:cNvPr id="215" name="Isosceles Triangle 214">
                <a:extLst>
                  <a:ext uri="{FF2B5EF4-FFF2-40B4-BE49-F238E27FC236}">
                    <a16:creationId xmlns:a16="http://schemas.microsoft.com/office/drawing/2014/main" id="{513BBCCF-1E27-42D1-80B9-4F56FC524827}"/>
                  </a:ext>
                </a:extLst>
              </p:cNvPr>
              <p:cNvSpPr/>
              <p:nvPr/>
            </p:nvSpPr>
            <p:spPr>
              <a:xfrm rot="5400000">
                <a:off x="1113790" y="5089528"/>
                <a:ext cx="851533" cy="845184"/>
              </a:xfrm>
              <a:prstGeom prst="triangle">
                <a:avLst/>
              </a:prstGeom>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sp>
            <p:nvSpPr>
              <p:cNvPr id="216" name="Oval 215">
                <a:extLst>
                  <a:ext uri="{FF2B5EF4-FFF2-40B4-BE49-F238E27FC236}">
                    <a16:creationId xmlns:a16="http://schemas.microsoft.com/office/drawing/2014/main" id="{93999A39-1ED8-4E49-8B82-4ACD658A8AD5}"/>
                  </a:ext>
                </a:extLst>
              </p:cNvPr>
              <p:cNvSpPr/>
              <p:nvPr/>
            </p:nvSpPr>
            <p:spPr>
              <a:xfrm>
                <a:off x="1981200" y="5467350"/>
                <a:ext cx="107950" cy="108000"/>
              </a:xfrm>
              <a:prstGeom prst="ellipse">
                <a:avLst/>
              </a:prstGeom>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grpSp>
        <p:cxnSp>
          <p:nvCxnSpPr>
            <p:cNvPr id="199" name="Straight Connector 198">
              <a:extLst>
                <a:ext uri="{FF2B5EF4-FFF2-40B4-BE49-F238E27FC236}">
                  <a16:creationId xmlns:a16="http://schemas.microsoft.com/office/drawing/2014/main" id="{F978CB4B-3F3C-4838-B117-914BB09540BE}"/>
                </a:ext>
              </a:extLst>
            </p:cNvPr>
            <p:cNvCxnSpPr>
              <a:cxnSpLocks/>
              <a:stCxn id="216" idx="6"/>
            </p:cNvCxnSpPr>
            <p:nvPr/>
          </p:nvCxnSpPr>
          <p:spPr>
            <a:xfrm flipV="1">
              <a:off x="2959441" y="4261149"/>
              <a:ext cx="23565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20EE35F5-FAA1-4596-86FF-7D84B0B62C6C}"/>
                </a:ext>
              </a:extLst>
            </p:cNvPr>
            <p:cNvCxnSpPr>
              <a:cxnSpLocks/>
              <a:endCxn id="259" idx="4"/>
            </p:cNvCxnSpPr>
            <p:nvPr/>
          </p:nvCxnSpPr>
          <p:spPr>
            <a:xfrm>
              <a:off x="1741511" y="3521060"/>
              <a:ext cx="48307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B08DDBC5-5009-4EE5-BC39-9AD997B00B8B}"/>
                </a:ext>
              </a:extLst>
            </p:cNvPr>
            <p:cNvCxnSpPr>
              <a:cxnSpLocks/>
            </p:cNvCxnSpPr>
            <p:nvPr/>
          </p:nvCxnSpPr>
          <p:spPr>
            <a:xfrm>
              <a:off x="2756950" y="3522965"/>
              <a:ext cx="42982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3AB5045-3AF1-4601-B6B5-05C1FDB13862}"/>
                </a:ext>
              </a:extLst>
            </p:cNvPr>
            <p:cNvCxnSpPr>
              <a:cxnSpLocks/>
            </p:cNvCxnSpPr>
            <p:nvPr/>
          </p:nvCxnSpPr>
          <p:spPr>
            <a:xfrm flipV="1">
              <a:off x="3181691" y="3510900"/>
              <a:ext cx="0" cy="76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D9926DC9-9100-4062-BA00-B3C99437EC61}"/>
                </a:ext>
              </a:extLst>
            </p:cNvPr>
            <p:cNvCxnSpPr>
              <a:cxnSpLocks/>
            </p:cNvCxnSpPr>
            <p:nvPr/>
          </p:nvCxnSpPr>
          <p:spPr>
            <a:xfrm flipV="1">
              <a:off x="1751671" y="3513440"/>
              <a:ext cx="0" cy="76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4" name="Oval 203">
              <a:extLst>
                <a:ext uri="{FF2B5EF4-FFF2-40B4-BE49-F238E27FC236}">
                  <a16:creationId xmlns:a16="http://schemas.microsoft.com/office/drawing/2014/main" id="{3C7E5D68-3C75-42EB-BDB2-6B16A1EFA530}"/>
                </a:ext>
              </a:extLst>
            </p:cNvPr>
            <p:cNvSpPr/>
            <p:nvPr/>
          </p:nvSpPr>
          <p:spPr>
            <a:xfrm>
              <a:off x="1698331" y="4196379"/>
              <a:ext cx="107950" cy="108000"/>
            </a:xfrm>
            <a:prstGeom prst="ellipse">
              <a:avLst/>
            </a:prstGeom>
            <a:solidFill>
              <a:srgbClr val="FF0000"/>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cxnSp>
          <p:nvCxnSpPr>
            <p:cNvPr id="206" name="Straight Connector 205">
              <a:extLst>
                <a:ext uri="{FF2B5EF4-FFF2-40B4-BE49-F238E27FC236}">
                  <a16:creationId xmlns:a16="http://schemas.microsoft.com/office/drawing/2014/main" id="{787D6521-3144-4956-81BB-33253F3B8B2A}"/>
                </a:ext>
              </a:extLst>
            </p:cNvPr>
            <p:cNvCxnSpPr>
              <a:cxnSpLocks/>
            </p:cNvCxnSpPr>
            <p:nvPr/>
          </p:nvCxnSpPr>
          <p:spPr>
            <a:xfrm>
              <a:off x="1289144" y="4248957"/>
              <a:ext cx="7050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7" name="Freeform 38">
              <a:extLst>
                <a:ext uri="{FF2B5EF4-FFF2-40B4-BE49-F238E27FC236}">
                  <a16:creationId xmlns:a16="http://schemas.microsoft.com/office/drawing/2014/main" id="{472C0DAE-5E4A-4173-85DD-B9803DF3EE8E}"/>
                </a:ext>
              </a:extLst>
            </p:cNvPr>
            <p:cNvSpPr>
              <a:spLocks noEditPoints="1"/>
            </p:cNvSpPr>
            <p:nvPr/>
          </p:nvSpPr>
          <p:spPr bwMode="auto">
            <a:xfrm>
              <a:off x="1125678" y="4159820"/>
              <a:ext cx="205343" cy="187797"/>
            </a:xfrm>
            <a:custGeom>
              <a:avLst/>
              <a:gdLst>
                <a:gd name="T0" fmla="*/ 48 w 101"/>
                <a:gd name="T1" fmla="*/ 0 h 97"/>
                <a:gd name="T2" fmla="*/ 48 w 101"/>
                <a:gd name="T3" fmla="*/ 0 h 97"/>
                <a:gd name="T4" fmla="*/ 0 w 101"/>
                <a:gd name="T5" fmla="*/ 0 h 97"/>
                <a:gd name="T6" fmla="*/ 0 w 101"/>
                <a:gd name="T7" fmla="*/ 48 h 97"/>
                <a:gd name="T8" fmla="*/ 101 w 101"/>
                <a:gd name="T9" fmla="*/ 48 h 97"/>
                <a:gd name="T10" fmla="*/ 101 w 101"/>
                <a:gd name="T11" fmla="*/ 48 h 97"/>
                <a:gd name="T12" fmla="*/ 48 w 101"/>
                <a:gd name="T13" fmla="*/ 0 h 97"/>
                <a:gd name="T14" fmla="*/ 0 w 101"/>
                <a:gd name="T15" fmla="*/ 48 h 97"/>
                <a:gd name="T16" fmla="*/ 0 w 101"/>
                <a:gd name="T17" fmla="*/ 48 h 97"/>
                <a:gd name="T18" fmla="*/ 0 w 101"/>
                <a:gd name="T19" fmla="*/ 97 h 97"/>
                <a:gd name="T20" fmla="*/ 48 w 101"/>
                <a:gd name="T21" fmla="*/ 97 h 97"/>
                <a:gd name="T22" fmla="*/ 101 w 101"/>
                <a:gd name="T23"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97">
                  <a:moveTo>
                    <a:pt x="48" y="0"/>
                  </a:moveTo>
                  <a:lnTo>
                    <a:pt x="48" y="0"/>
                  </a:lnTo>
                  <a:lnTo>
                    <a:pt x="0" y="0"/>
                  </a:lnTo>
                  <a:lnTo>
                    <a:pt x="0" y="48"/>
                  </a:lnTo>
                  <a:moveTo>
                    <a:pt x="101" y="48"/>
                  </a:moveTo>
                  <a:lnTo>
                    <a:pt x="101" y="48"/>
                  </a:lnTo>
                  <a:lnTo>
                    <a:pt x="48" y="0"/>
                  </a:lnTo>
                  <a:moveTo>
                    <a:pt x="0" y="48"/>
                  </a:moveTo>
                  <a:lnTo>
                    <a:pt x="0" y="48"/>
                  </a:lnTo>
                  <a:lnTo>
                    <a:pt x="0" y="97"/>
                  </a:lnTo>
                  <a:lnTo>
                    <a:pt x="48" y="97"/>
                  </a:lnTo>
                  <a:lnTo>
                    <a:pt x="101" y="48"/>
                  </a:lnTo>
                </a:path>
              </a:pathLst>
            </a:custGeom>
            <a:noFill/>
            <a:ln w="285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a:p>
          </p:txBody>
        </p:sp>
        <p:sp>
          <p:nvSpPr>
            <p:cNvPr id="208" name="Rectangle 207">
              <a:extLst>
                <a:ext uri="{FF2B5EF4-FFF2-40B4-BE49-F238E27FC236}">
                  <a16:creationId xmlns:a16="http://schemas.microsoft.com/office/drawing/2014/main" id="{2FBFFF0B-EE97-47BA-A908-EF5B7640605B}"/>
                </a:ext>
              </a:extLst>
            </p:cNvPr>
            <p:cNvSpPr>
              <a:spLocks noChangeArrowheads="1"/>
            </p:cNvSpPr>
            <p:nvPr/>
          </p:nvSpPr>
          <p:spPr bwMode="auto">
            <a:xfrm>
              <a:off x="1080835" y="3919565"/>
              <a:ext cx="179536"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85800"/>
              <a:r>
                <a:rPr lang="en-BE" altLang="en-BE" sz="1050" b="1">
                  <a:solidFill>
                    <a:srgbClr val="000000"/>
                  </a:solidFill>
                </a:rPr>
                <a:t>V</a:t>
              </a:r>
              <a:r>
                <a:rPr lang="en-US" altLang="en-BE" sz="1050" b="1" baseline="-25000">
                  <a:solidFill>
                    <a:srgbClr val="000000"/>
                  </a:solidFill>
                </a:rPr>
                <a:t>IN</a:t>
              </a:r>
              <a:endParaRPr lang="en-BE" altLang="en-BE" sz="1350" b="1"/>
            </a:p>
          </p:txBody>
        </p:sp>
        <p:grpSp>
          <p:nvGrpSpPr>
            <p:cNvPr id="253" name="Group 252">
              <a:extLst>
                <a:ext uri="{FF2B5EF4-FFF2-40B4-BE49-F238E27FC236}">
                  <a16:creationId xmlns:a16="http://schemas.microsoft.com/office/drawing/2014/main" id="{81E7394B-0694-43FF-885C-7D02885ACFD1}"/>
                </a:ext>
              </a:extLst>
            </p:cNvPr>
            <p:cNvGrpSpPr/>
            <p:nvPr/>
          </p:nvGrpSpPr>
          <p:grpSpPr>
            <a:xfrm rot="16200000">
              <a:off x="2362311" y="3262132"/>
              <a:ext cx="255055" cy="530520"/>
              <a:chOff x="5542451" y="2102326"/>
              <a:chExt cx="174669" cy="355599"/>
            </a:xfrm>
          </p:grpSpPr>
          <p:grpSp>
            <p:nvGrpSpPr>
              <p:cNvPr id="254" name="Group 253">
                <a:extLst>
                  <a:ext uri="{FF2B5EF4-FFF2-40B4-BE49-F238E27FC236}">
                    <a16:creationId xmlns:a16="http://schemas.microsoft.com/office/drawing/2014/main" id="{6AD07688-9C53-4961-B106-54EF7755C0E7}"/>
                  </a:ext>
                </a:extLst>
              </p:cNvPr>
              <p:cNvGrpSpPr/>
              <p:nvPr/>
            </p:nvGrpSpPr>
            <p:grpSpPr>
              <a:xfrm>
                <a:off x="5542451" y="2102326"/>
                <a:ext cx="166687" cy="236537"/>
                <a:chOff x="5542451" y="2102326"/>
                <a:chExt cx="166687" cy="236537"/>
              </a:xfrm>
            </p:grpSpPr>
            <p:sp>
              <p:nvSpPr>
                <p:cNvPr id="258" name="Freeform 43">
                  <a:extLst>
                    <a:ext uri="{FF2B5EF4-FFF2-40B4-BE49-F238E27FC236}">
                      <a16:creationId xmlns:a16="http://schemas.microsoft.com/office/drawing/2014/main" id="{FF4E57AA-FE9D-404D-AA8A-7FAF1DE2BBD3}"/>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259" name="Freeform 46">
                  <a:extLst>
                    <a:ext uri="{FF2B5EF4-FFF2-40B4-BE49-F238E27FC236}">
                      <a16:creationId xmlns:a16="http://schemas.microsoft.com/office/drawing/2014/main" id="{02A97692-27BE-4B1F-A967-836B2417BF8D}"/>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p:nvGrpSpPr>
              <p:cNvPr id="255" name="Group 254">
                <a:extLst>
                  <a:ext uri="{FF2B5EF4-FFF2-40B4-BE49-F238E27FC236}">
                    <a16:creationId xmlns:a16="http://schemas.microsoft.com/office/drawing/2014/main" id="{B6CE6836-1D05-4052-9D4B-5B121D320DCC}"/>
                  </a:ext>
                </a:extLst>
              </p:cNvPr>
              <p:cNvGrpSpPr/>
              <p:nvPr/>
            </p:nvGrpSpPr>
            <p:grpSpPr>
              <a:xfrm>
                <a:off x="5550433" y="2221388"/>
                <a:ext cx="166687" cy="236537"/>
                <a:chOff x="5542451" y="2102326"/>
                <a:chExt cx="166687" cy="236537"/>
              </a:xfrm>
            </p:grpSpPr>
            <p:sp>
              <p:nvSpPr>
                <p:cNvPr id="256" name="Freeform 43">
                  <a:extLst>
                    <a:ext uri="{FF2B5EF4-FFF2-40B4-BE49-F238E27FC236}">
                      <a16:creationId xmlns:a16="http://schemas.microsoft.com/office/drawing/2014/main" id="{A8B98075-E8CD-4813-B2EE-2F5FD4EAE146}"/>
                    </a:ext>
                  </a:extLst>
                </p:cNvPr>
                <p:cNvSpPr>
                  <a:spLocks/>
                </p:cNvSpPr>
                <p:nvPr/>
              </p:nvSpPr>
              <p:spPr bwMode="auto">
                <a:xfrm>
                  <a:off x="5542451" y="2221388"/>
                  <a:ext cx="166687" cy="117475"/>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sp>
              <p:nvSpPr>
                <p:cNvPr id="257" name="Freeform 46">
                  <a:extLst>
                    <a:ext uri="{FF2B5EF4-FFF2-40B4-BE49-F238E27FC236}">
                      <a16:creationId xmlns:a16="http://schemas.microsoft.com/office/drawing/2014/main" id="{58DCF1B7-A85C-436F-B3EC-DB9A62787C75}"/>
                    </a:ext>
                  </a:extLst>
                </p:cNvPr>
                <p:cNvSpPr>
                  <a:spLocks/>
                </p:cNvSpPr>
                <p:nvPr/>
              </p:nvSpPr>
              <p:spPr bwMode="auto">
                <a:xfrm>
                  <a:off x="5542451" y="2102326"/>
                  <a:ext cx="166687" cy="119063"/>
                </a:xfrm>
                <a:custGeom>
                  <a:avLst/>
                  <a:gdLst>
                    <a:gd name="T0" fmla="*/ 77 w 155"/>
                    <a:gd name="T1" fmla="*/ 109 h 109"/>
                    <a:gd name="T2" fmla="*/ 77 w 155"/>
                    <a:gd name="T3" fmla="*/ 109 h 109"/>
                    <a:gd name="T4" fmla="*/ 0 w 155"/>
                    <a:gd name="T5" fmla="*/ 82 h 109"/>
                    <a:gd name="T6" fmla="*/ 155 w 155"/>
                    <a:gd name="T7" fmla="*/ 28 h 109"/>
                    <a:gd name="T8" fmla="*/ 77 w 155"/>
                    <a:gd name="T9" fmla="*/ 0 h 109"/>
                  </a:gdLst>
                  <a:ahLst/>
                  <a:cxnLst>
                    <a:cxn ang="0">
                      <a:pos x="T0" y="T1"/>
                    </a:cxn>
                    <a:cxn ang="0">
                      <a:pos x="T2" y="T3"/>
                    </a:cxn>
                    <a:cxn ang="0">
                      <a:pos x="T4" y="T5"/>
                    </a:cxn>
                    <a:cxn ang="0">
                      <a:pos x="T6" y="T7"/>
                    </a:cxn>
                    <a:cxn ang="0">
                      <a:pos x="T8" y="T9"/>
                    </a:cxn>
                  </a:cxnLst>
                  <a:rect l="0" t="0" r="r" b="b"/>
                  <a:pathLst>
                    <a:path w="155" h="109">
                      <a:moveTo>
                        <a:pt x="77" y="109"/>
                      </a:moveTo>
                      <a:lnTo>
                        <a:pt x="77" y="109"/>
                      </a:lnTo>
                      <a:lnTo>
                        <a:pt x="0" y="82"/>
                      </a:lnTo>
                      <a:lnTo>
                        <a:pt x="155" y="28"/>
                      </a:lnTo>
                      <a:lnTo>
                        <a:pt x="77" y="0"/>
                      </a:lnTo>
                    </a:path>
                  </a:pathLst>
                </a:cu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BE" sz="1215" b="1"/>
                </a:p>
              </p:txBody>
            </p:sp>
          </p:grpSp>
        </p:grpSp>
        <mc:AlternateContent xmlns:mc="http://schemas.openxmlformats.org/markup-compatibility/2006" xmlns:a14="http://schemas.microsoft.com/office/drawing/2010/main">
          <mc:Choice Requires="a14">
            <p:sp>
              <p:nvSpPr>
                <p:cNvPr id="277" name="TextBox 276">
                  <a:extLst>
                    <a:ext uri="{FF2B5EF4-FFF2-40B4-BE49-F238E27FC236}">
                      <a16:creationId xmlns:a16="http://schemas.microsoft.com/office/drawing/2014/main" id="{371E806A-8F0D-4470-A846-674C622A53AD}"/>
                    </a:ext>
                  </a:extLst>
                </p:cNvPr>
                <p:cNvSpPr txBox="1"/>
                <p:nvPr/>
              </p:nvSpPr>
              <p:spPr>
                <a:xfrm>
                  <a:off x="2154570" y="3004190"/>
                  <a:ext cx="581057" cy="3500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BE" sz="1200" i="1" smtClean="0">
                                <a:latin typeface="Cambria Math" panose="02040503050406030204" pitchFamily="18" charset="0"/>
                                <a:ea typeface="Cambria Math" panose="02040503050406030204" pitchFamily="18" charset="0"/>
                              </a:rPr>
                            </m:ctrlPr>
                          </m:fPr>
                          <m:num>
                            <m:sSub>
                              <m:sSubPr>
                                <m:ctrlPr>
                                  <a:rPr lang="en-US" sz="1200" b="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𝑅</m:t>
                                </m:r>
                              </m:e>
                              <m:sub>
                                <m:r>
                                  <a:rPr lang="en-US" sz="1200" b="0" i="1" smtClean="0">
                                    <a:latin typeface="Cambria Math" panose="02040503050406030204" pitchFamily="18" charset="0"/>
                                    <a:ea typeface="Cambria Math" panose="02040503050406030204" pitchFamily="18" charset="0"/>
                                  </a:rPr>
                                  <m:t>𝑔𝑎𝑡𝑒</m:t>
                                </m:r>
                              </m:sub>
                            </m:sSub>
                          </m:num>
                          <m:den>
                            <m:r>
                              <a:rPr lang="en-US" sz="1200" b="0" i="1" smtClean="0">
                                <a:latin typeface="Cambria Math" panose="02040503050406030204" pitchFamily="18" charset="0"/>
                                <a:ea typeface="Cambria Math" panose="02040503050406030204" pitchFamily="18" charset="0"/>
                              </a:rPr>
                              <m:t>2</m:t>
                            </m:r>
                          </m:den>
                        </m:f>
                      </m:oMath>
                    </m:oMathPara>
                  </a14:m>
                  <a:endParaRPr lang="en-BE" sz="1200">
                    <a:latin typeface="Cambria Math" panose="02040503050406030204" pitchFamily="18" charset="0"/>
                    <a:ea typeface="Cambria Math" panose="02040503050406030204" pitchFamily="18" charset="0"/>
                  </a:endParaRPr>
                </a:p>
              </p:txBody>
            </p:sp>
          </mc:Choice>
          <mc:Fallback xmlns="">
            <p:sp>
              <p:nvSpPr>
                <p:cNvPr id="277" name="TextBox 276">
                  <a:extLst>
                    <a:ext uri="{FF2B5EF4-FFF2-40B4-BE49-F238E27FC236}">
                      <a16:creationId xmlns:a16="http://schemas.microsoft.com/office/drawing/2014/main" id="{371E806A-8F0D-4470-A846-674C622A53AD}"/>
                    </a:ext>
                  </a:extLst>
                </p:cNvPr>
                <p:cNvSpPr txBox="1">
                  <a:spLocks noRot="1" noChangeAspect="1" noMove="1" noResize="1" noEditPoints="1" noAdjustHandles="1" noChangeArrowheads="1" noChangeShapeType="1" noTextEdit="1"/>
                </p:cNvSpPr>
                <p:nvPr/>
              </p:nvSpPr>
              <p:spPr>
                <a:xfrm>
                  <a:off x="2154570" y="3004190"/>
                  <a:ext cx="581057" cy="350096"/>
                </a:xfrm>
                <a:prstGeom prst="rect">
                  <a:avLst/>
                </a:prstGeom>
                <a:blipFill>
                  <a:blip r:embed="rId6"/>
                  <a:stretch>
                    <a:fillRect t="-3509" b="-14035"/>
                  </a:stretch>
                </a:blipFill>
              </p:spPr>
              <p:txBody>
                <a:bodyPr/>
                <a:lstStyle/>
                <a:p>
                  <a:r>
                    <a:rPr lang="en-BE">
                      <a:noFill/>
                    </a:rPr>
                    <a:t> </a:t>
                  </a:r>
                </a:p>
              </p:txBody>
            </p:sp>
          </mc:Fallback>
        </mc:AlternateContent>
      </p:grpSp>
      <p:sp>
        <p:nvSpPr>
          <p:cNvPr id="279" name="TextBox 278">
            <a:extLst>
              <a:ext uri="{FF2B5EF4-FFF2-40B4-BE49-F238E27FC236}">
                <a16:creationId xmlns:a16="http://schemas.microsoft.com/office/drawing/2014/main" id="{B6E6BB7F-8ED4-460A-89F1-3E65A4C26FC0}"/>
              </a:ext>
            </a:extLst>
          </p:cNvPr>
          <p:cNvSpPr txBox="1"/>
          <p:nvPr/>
        </p:nvSpPr>
        <p:spPr>
          <a:xfrm>
            <a:off x="1530825" y="5506175"/>
            <a:ext cx="814710" cy="246221"/>
          </a:xfrm>
          <a:prstGeom prst="rect">
            <a:avLst/>
          </a:prstGeom>
          <a:noFill/>
        </p:spPr>
        <p:txBody>
          <a:bodyPr wrap="square">
            <a:spAutoFit/>
          </a:bodyPr>
          <a:lstStyle/>
          <a:p>
            <a:r>
              <a:rPr lang="en-US" sz="1000" b="0" i="0" u="none" strike="noStrike" baseline="0">
                <a:latin typeface="UGentPannoText-Normal"/>
              </a:rPr>
              <a:t>(a) Symbol</a:t>
            </a:r>
            <a:endParaRPr lang="en-BE"/>
          </a:p>
        </p:txBody>
      </p:sp>
      <p:sp>
        <p:nvSpPr>
          <p:cNvPr id="281" name="TextBox 280">
            <a:extLst>
              <a:ext uri="{FF2B5EF4-FFF2-40B4-BE49-F238E27FC236}">
                <a16:creationId xmlns:a16="http://schemas.microsoft.com/office/drawing/2014/main" id="{569A6455-99AB-4C44-BBB8-5C5563937BB4}"/>
              </a:ext>
            </a:extLst>
          </p:cNvPr>
          <p:cNvSpPr txBox="1"/>
          <p:nvPr/>
        </p:nvSpPr>
        <p:spPr>
          <a:xfrm>
            <a:off x="5332804" y="5629928"/>
            <a:ext cx="787209" cy="246221"/>
          </a:xfrm>
          <a:prstGeom prst="rect">
            <a:avLst/>
          </a:prstGeom>
          <a:noFill/>
        </p:spPr>
        <p:txBody>
          <a:bodyPr wrap="square">
            <a:spAutoFit/>
          </a:bodyPr>
          <a:lstStyle/>
          <a:p>
            <a:r>
              <a:rPr lang="en-US" sz="1000" b="0" i="0" u="none" strike="noStrike" baseline="0">
                <a:latin typeface="UGentPannoText-Normal"/>
              </a:rPr>
              <a:t>(b) Circuit</a:t>
            </a:r>
            <a:endParaRPr lang="en-BE"/>
          </a:p>
        </p:txBody>
      </p:sp>
      <p:sp>
        <p:nvSpPr>
          <p:cNvPr id="283" name="TextBox 282">
            <a:extLst>
              <a:ext uri="{FF2B5EF4-FFF2-40B4-BE49-F238E27FC236}">
                <a16:creationId xmlns:a16="http://schemas.microsoft.com/office/drawing/2014/main" id="{E1E5BB85-0C2B-487A-9C46-AC84471B2655}"/>
              </a:ext>
            </a:extLst>
          </p:cNvPr>
          <p:cNvSpPr txBox="1"/>
          <p:nvPr/>
        </p:nvSpPr>
        <p:spPr>
          <a:xfrm>
            <a:off x="1840209" y="5897241"/>
            <a:ext cx="3894794" cy="261610"/>
          </a:xfrm>
          <a:prstGeom prst="rect">
            <a:avLst/>
          </a:prstGeom>
          <a:noFill/>
        </p:spPr>
        <p:txBody>
          <a:bodyPr wrap="square">
            <a:spAutoFit/>
          </a:bodyPr>
          <a:lstStyle/>
          <a:p>
            <a:r>
              <a:rPr lang="en-US" sz="1100" b="0" i="0" u="none" strike="noStrike" baseline="0">
                <a:latin typeface="UGentPannoText-Normal"/>
              </a:rPr>
              <a:t>Figure </a:t>
            </a:r>
            <a:r>
              <a:rPr lang="en-US" sz="1100">
                <a:latin typeface="UGentPannoText-Normal"/>
              </a:rPr>
              <a:t>5</a:t>
            </a:r>
            <a:r>
              <a:rPr lang="en-US" sz="1100" b="0" i="0" u="none" strike="noStrike" baseline="0">
                <a:latin typeface="UGentPannoText-Normal"/>
              </a:rPr>
              <a:t>: Symbol and circuit for the modified active inductor</a:t>
            </a:r>
            <a:endParaRPr lang="en-BE"/>
          </a:p>
        </p:txBody>
      </p:sp>
      <mc:AlternateContent xmlns:mc="http://schemas.openxmlformats.org/markup-compatibility/2006" xmlns:a14="http://schemas.microsoft.com/office/drawing/2010/main">
        <mc:Choice Requires="a14">
          <p:sp>
            <p:nvSpPr>
              <p:cNvPr id="372" name="TextBox 371">
                <a:extLst>
                  <a:ext uri="{FF2B5EF4-FFF2-40B4-BE49-F238E27FC236}">
                    <a16:creationId xmlns:a16="http://schemas.microsoft.com/office/drawing/2014/main" id="{C3CBE29A-C28F-4C52-AF6B-29ACCD1DFE63}"/>
                  </a:ext>
                </a:extLst>
              </p:cNvPr>
              <p:cNvSpPr txBox="1"/>
              <p:nvPr/>
            </p:nvSpPr>
            <p:spPr>
              <a:xfrm>
                <a:off x="7460974" y="4106723"/>
                <a:ext cx="4527826" cy="1503938"/>
              </a:xfrm>
              <a:prstGeom prst="rect">
                <a:avLst/>
              </a:prstGeom>
              <a:noFill/>
            </p:spPr>
            <p:txBody>
              <a:bodyPr wrap="square">
                <a:spAutoFit/>
              </a:bodyPr>
              <a:lstStyle/>
              <a:p>
                <a:r>
                  <a:rPr lang="en-US" i="1" dirty="0">
                    <a:latin typeface="CMMI10"/>
                  </a:rPr>
                  <a:t>Z</a:t>
                </a:r>
                <a:r>
                  <a:rPr lang="en-US" dirty="0">
                    <a:latin typeface="CMR10"/>
                  </a:rPr>
                  <a:t>(</a:t>
                </a:r>
                <a:r>
                  <a:rPr lang="en-US" i="1" dirty="0">
                    <a:latin typeface="CMMI10"/>
                  </a:rPr>
                  <a:t>s</a:t>
                </a:r>
                <a:r>
                  <a:rPr lang="en-US" dirty="0">
                    <a:latin typeface="CMR10"/>
                  </a:rPr>
                  <a:t>) = </a:t>
                </a:r>
                <a14:m>
                  <m:oMath xmlns:m="http://schemas.openxmlformats.org/officeDocument/2006/math">
                    <m:f>
                      <m:fPr>
                        <m:ctrlPr>
                          <a:rPr lang="en-US" i="1" smtClean="0">
                            <a:latin typeface="Cambria Math" panose="02040503050406030204" pitchFamily="18" charset="0"/>
                          </a:rPr>
                        </m:ctrlPr>
                      </m:fPr>
                      <m:num>
                        <m:r>
                          <m:rPr>
                            <m:nor/>
                          </m:rPr>
                          <a:rPr lang="en-BE" dirty="0">
                            <a:latin typeface="CMR10"/>
                          </a:rPr>
                          <m:t>1 </m:t>
                        </m:r>
                      </m:num>
                      <m:den>
                        <m:r>
                          <m:rPr>
                            <m:nor/>
                          </m:rPr>
                          <a:rPr lang="en-US" i="1" dirty="0">
                            <a:solidFill>
                              <a:prstClr val="black"/>
                            </a:solidFill>
                            <a:latin typeface="CMMI10"/>
                          </a:rPr>
                          <m:t>g</m:t>
                        </m:r>
                        <m:r>
                          <m:rPr>
                            <m:nor/>
                          </m:rPr>
                          <a:rPr lang="en-US" sz="1100" i="1" dirty="0">
                            <a:solidFill>
                              <a:prstClr val="black"/>
                            </a:solidFill>
                            <a:latin typeface="CMMI8"/>
                          </a:rPr>
                          <m:t>m</m:t>
                        </m:r>
                        <m:r>
                          <m:rPr>
                            <m:nor/>
                          </m:rPr>
                          <a:rPr lang="en-US" sz="1100" i="1" dirty="0">
                            <a:solidFill>
                              <a:prstClr val="black"/>
                            </a:solidFill>
                            <a:latin typeface="CMMI8"/>
                          </a:rPr>
                          <m:t> </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dirty="0">
                            <a:solidFill>
                              <a:prstClr val="black"/>
                            </a:solidFill>
                            <a:latin typeface="CMR10"/>
                          </a:rPr>
                          <m:t>1 + </m:t>
                        </m:r>
                        <m:r>
                          <m:rPr>
                            <m:nor/>
                          </m:rPr>
                          <a:rPr lang="en-US" i="1" dirty="0">
                            <a:solidFill>
                              <a:prstClr val="black"/>
                            </a:solidFill>
                            <a:latin typeface="CMMI10"/>
                          </a:rPr>
                          <m:t>sR</m:t>
                        </m:r>
                        <m:r>
                          <m:rPr>
                            <m:nor/>
                          </m:rPr>
                          <a:rPr lang="en-US" sz="1100" i="1" dirty="0">
                            <a:solidFill>
                              <a:prstClr val="black"/>
                            </a:solidFill>
                            <a:latin typeface="CMMI8"/>
                          </a:rPr>
                          <m:t>gate</m:t>
                        </m:r>
                        <m:r>
                          <m:rPr>
                            <m:nor/>
                          </m:rPr>
                          <a:rPr lang="en-US" i="1" dirty="0">
                            <a:solidFill>
                              <a:prstClr val="black"/>
                            </a:solidFill>
                            <a:latin typeface="CMMI10"/>
                          </a:rPr>
                          <m:t>C</m:t>
                        </m:r>
                        <m:r>
                          <m:rPr>
                            <m:nor/>
                          </m:rPr>
                          <a:rPr lang="en-US" sz="1100" i="1" dirty="0">
                            <a:solidFill>
                              <a:prstClr val="black"/>
                            </a:solidFill>
                            <a:latin typeface="CMMI8"/>
                          </a:rPr>
                          <m:t>gate</m:t>
                        </m:r>
                        <m:r>
                          <m:rPr>
                            <m:nor/>
                          </m:rPr>
                          <a:rPr lang="en-US" sz="1100" i="1" dirty="0">
                            <a:solidFill>
                              <a:prstClr val="black"/>
                            </a:solidFill>
                            <a:latin typeface="CMMI8"/>
                          </a:rPr>
                          <m:t> </m:t>
                        </m:r>
                      </m:num>
                      <m:den>
                        <m:r>
                          <a:rPr lang="en-US" b="0" i="1" smtClean="0">
                            <a:latin typeface="Cambria Math" panose="02040503050406030204" pitchFamily="18" charset="0"/>
                          </a:rPr>
                          <m:t>1+</m:t>
                        </m:r>
                        <m:r>
                          <a:rPr lang="en-US" b="0" i="1" smtClean="0">
                            <a:latin typeface="Cambria Math" panose="02040503050406030204" pitchFamily="18" charset="0"/>
                          </a:rPr>
                          <m:t>𝑠</m:t>
                        </m:r>
                        <m:f>
                          <m:fPr>
                            <m:ctrlPr>
                              <a:rPr lang="en-US" i="1">
                                <a:latin typeface="Cambria Math" panose="02040503050406030204" pitchFamily="18" charset="0"/>
                              </a:rPr>
                            </m:ctrlPr>
                          </m:fPr>
                          <m:num>
                            <m:r>
                              <m:rPr>
                                <m:nor/>
                              </m:rPr>
                              <a:rPr lang="en-US" sz="1100" dirty="0">
                                <a:solidFill>
                                  <a:prstClr val="black"/>
                                </a:solidFill>
                                <a:latin typeface="CMR8"/>
                              </a:rPr>
                              <m:t>2</m:t>
                            </m:r>
                            <m:r>
                              <m:rPr>
                                <m:nor/>
                              </m:rPr>
                              <a:rPr lang="en-US" sz="1100" i="1" dirty="0">
                                <a:solidFill>
                                  <a:prstClr val="black"/>
                                </a:solidFill>
                                <a:latin typeface="CMMI8"/>
                              </a:rPr>
                              <m:t>C</m:t>
                            </m:r>
                            <m:r>
                              <m:rPr>
                                <m:nor/>
                              </m:rPr>
                              <a:rPr lang="en-US" sz="800" i="1" dirty="0">
                                <a:solidFill>
                                  <a:prstClr val="black"/>
                                </a:solidFill>
                                <a:latin typeface="CMMI6"/>
                              </a:rPr>
                              <m:t>gate</m:t>
                            </m:r>
                            <m:r>
                              <m:rPr>
                                <m:nor/>
                              </m:rPr>
                              <a:rPr lang="en-US" sz="800" i="1" dirty="0">
                                <a:solidFill>
                                  <a:prstClr val="black"/>
                                </a:solidFill>
                                <a:latin typeface="CMMI6"/>
                              </a:rPr>
                              <m:t> </m:t>
                            </m:r>
                          </m:num>
                          <m:den>
                            <m:r>
                              <m:rPr>
                                <m:nor/>
                              </m:rPr>
                              <a:rPr lang="en-US" i="1" dirty="0">
                                <a:solidFill>
                                  <a:prstClr val="black"/>
                                </a:solidFill>
                                <a:latin typeface="CMMI10"/>
                              </a:rPr>
                              <m:t>g</m:t>
                            </m:r>
                            <m:r>
                              <m:rPr>
                                <m:nor/>
                              </m:rPr>
                              <a:rPr lang="en-US" sz="1100" i="1" dirty="0">
                                <a:solidFill>
                                  <a:prstClr val="black"/>
                                </a:solidFill>
                                <a:latin typeface="CMMI8"/>
                              </a:rPr>
                              <m:t>m</m:t>
                            </m:r>
                            <m:r>
                              <m:rPr>
                                <m:nor/>
                              </m:rPr>
                              <a:rPr lang="en-US" sz="1100" i="1" dirty="0">
                                <a:solidFill>
                                  <a:prstClr val="black"/>
                                </a:solidFill>
                                <a:latin typeface="CMMI8"/>
                              </a:rPr>
                              <m:t> </m:t>
                            </m:r>
                          </m:den>
                        </m:f>
                      </m:den>
                    </m:f>
                  </m:oMath>
                </a14:m>
                <a:r>
                  <a:rPr lang="en-US" dirty="0">
                    <a:latin typeface="CMR10"/>
                  </a:rPr>
                  <a:t>         </a:t>
                </a:r>
              </a:p>
              <a:p>
                <a:endParaRPr lang="en-BE" sz="1800" b="0" i="0" u="none" strike="noStrike" baseline="0" dirty="0">
                  <a:latin typeface="UGentPannoText-Normal"/>
                </a:endParaRPr>
              </a:p>
              <a:p>
                <a:r>
                  <a:rPr lang="en-US" i="1" dirty="0">
                    <a:latin typeface="CMMI10"/>
                  </a:rPr>
                  <a:t>Z</a:t>
                </a:r>
                <a:r>
                  <a:rPr lang="en-US" dirty="0">
                    <a:latin typeface="CMR10"/>
                  </a:rPr>
                  <a:t>(</a:t>
                </a:r>
                <a:r>
                  <a:rPr lang="en-US" i="1" dirty="0">
                    <a:latin typeface="CMMI10"/>
                  </a:rPr>
                  <a:t>s</a:t>
                </a:r>
                <a:r>
                  <a:rPr lang="en-US" dirty="0">
                    <a:latin typeface="CMR10"/>
                  </a:rPr>
                  <a:t>) = </a:t>
                </a:r>
                <a14:m>
                  <m:oMath xmlns:m="http://schemas.openxmlformats.org/officeDocument/2006/math">
                    <m:f>
                      <m:fPr>
                        <m:ctrlPr>
                          <a:rPr lang="en-US" i="1" smtClean="0">
                            <a:latin typeface="Cambria Math" panose="02040503050406030204" pitchFamily="18" charset="0"/>
                          </a:rPr>
                        </m:ctrlPr>
                      </m:fPr>
                      <m:num>
                        <m:r>
                          <m:rPr>
                            <m:nor/>
                          </m:rPr>
                          <a:rPr lang="en-BE" dirty="0">
                            <a:latin typeface="CMR10"/>
                          </a:rPr>
                          <m:t>1 </m:t>
                        </m:r>
                      </m:num>
                      <m:den>
                        <m:r>
                          <m:rPr>
                            <m:nor/>
                          </m:rPr>
                          <a:rPr lang="en-US" i="1" dirty="0">
                            <a:solidFill>
                              <a:prstClr val="black"/>
                            </a:solidFill>
                            <a:latin typeface="CMMI10"/>
                          </a:rPr>
                          <m:t>g</m:t>
                        </m:r>
                        <m:r>
                          <m:rPr>
                            <m:nor/>
                          </m:rPr>
                          <a:rPr lang="en-US" sz="1100" i="1" dirty="0">
                            <a:solidFill>
                              <a:prstClr val="black"/>
                            </a:solidFill>
                            <a:latin typeface="CMMI8"/>
                          </a:rPr>
                          <m:t>m</m:t>
                        </m:r>
                        <m:r>
                          <m:rPr>
                            <m:nor/>
                          </m:rPr>
                          <a:rPr lang="en-US" sz="1100" i="1" dirty="0">
                            <a:solidFill>
                              <a:prstClr val="black"/>
                            </a:solidFill>
                            <a:latin typeface="CMMI8"/>
                          </a:rPr>
                          <m:t> </m:t>
                        </m:r>
                      </m:den>
                    </m:f>
                    <m:r>
                      <a:rPr lang="en-US" sz="1100" b="0" i="1" dirty="0" smtClean="0">
                        <a:solidFill>
                          <a:prstClr val="black"/>
                        </a:solidFill>
                        <a:latin typeface="Cambria Math" panose="02040503050406030204" pitchFamily="18" charset="0"/>
                      </a:rPr>
                      <m:t>+</m:t>
                    </m:r>
                    <m:r>
                      <a:rPr lang="en-US" b="0" i="1" smtClean="0">
                        <a:latin typeface="Cambria Math" panose="02040503050406030204" pitchFamily="18" charset="0"/>
                      </a:rPr>
                      <m:t>𝑠</m:t>
                    </m:r>
                    <m:f>
                      <m:fPr>
                        <m:ctrlPr>
                          <a:rPr lang="en-US" b="0" i="1" smtClean="0">
                            <a:latin typeface="Cambria Math" panose="02040503050406030204" pitchFamily="18" charset="0"/>
                          </a:rPr>
                        </m:ctrlPr>
                      </m:fPr>
                      <m:num>
                        <m:r>
                          <m:rPr>
                            <m:nor/>
                          </m:rPr>
                          <a:rPr lang="en-US" i="1" dirty="0">
                            <a:solidFill>
                              <a:prstClr val="black"/>
                            </a:solidFill>
                            <a:latin typeface="CMMI10"/>
                          </a:rPr>
                          <m:t>R</m:t>
                        </m:r>
                        <m:r>
                          <m:rPr>
                            <m:nor/>
                          </m:rPr>
                          <a:rPr lang="en-US" sz="1100" i="1" dirty="0">
                            <a:solidFill>
                              <a:prstClr val="black"/>
                            </a:solidFill>
                            <a:latin typeface="CMMI8"/>
                          </a:rPr>
                          <m:t>gate</m:t>
                        </m:r>
                        <m:r>
                          <m:rPr>
                            <m:nor/>
                          </m:rPr>
                          <a:rPr lang="en-US" i="1" dirty="0">
                            <a:solidFill>
                              <a:prstClr val="black"/>
                            </a:solidFill>
                            <a:latin typeface="CMMI10"/>
                          </a:rPr>
                          <m:t>C</m:t>
                        </m:r>
                        <m:r>
                          <m:rPr>
                            <m:nor/>
                          </m:rPr>
                          <a:rPr lang="en-US" sz="1100" i="1" dirty="0">
                            <a:solidFill>
                              <a:prstClr val="black"/>
                            </a:solidFill>
                            <a:latin typeface="CMMI8"/>
                          </a:rPr>
                          <m:t>gate</m:t>
                        </m:r>
                        <m:r>
                          <m:rPr>
                            <m:nor/>
                          </m:rPr>
                          <a:rPr lang="en-US" sz="1100" i="1" dirty="0">
                            <a:solidFill>
                              <a:prstClr val="black"/>
                            </a:solidFill>
                            <a:latin typeface="CMMI8"/>
                          </a:rPr>
                          <m:t> </m:t>
                        </m:r>
                      </m:num>
                      <m:den>
                        <m:r>
                          <m:rPr>
                            <m:nor/>
                          </m:rPr>
                          <a:rPr lang="en-US" i="1" dirty="0">
                            <a:solidFill>
                              <a:prstClr val="black"/>
                            </a:solidFill>
                            <a:latin typeface="CMMI10"/>
                          </a:rPr>
                          <m:t>g</m:t>
                        </m:r>
                        <m:r>
                          <m:rPr>
                            <m:nor/>
                          </m:rPr>
                          <a:rPr lang="en-US" sz="1100" i="1" dirty="0">
                            <a:solidFill>
                              <a:prstClr val="black"/>
                            </a:solidFill>
                            <a:latin typeface="CMMI8"/>
                          </a:rPr>
                          <m:t>m</m:t>
                        </m:r>
                      </m:den>
                    </m:f>
                    <m:r>
                      <a:rPr lang="en-US" sz="1100" i="1" dirty="0">
                        <a:solidFill>
                          <a:prstClr val="black"/>
                        </a:solidFill>
                        <a:latin typeface="Cambria Math" panose="02040503050406030204" pitchFamily="18" charset="0"/>
                      </a:rPr>
                      <m:t> </m:t>
                    </m:r>
                  </m:oMath>
                </a14:m>
                <a:r>
                  <a:rPr lang="en-US" sz="1800" b="0" i="0" u="none" strike="noStrike" baseline="0" dirty="0">
                    <a:latin typeface="CMR10"/>
                  </a:rPr>
                  <a:t>= </a:t>
                </a:r>
                <a:r>
                  <a:rPr lang="en-US" sz="1800" b="0" i="1" u="none" strike="noStrike" baseline="0" dirty="0" err="1">
                    <a:latin typeface="CMMI10"/>
                  </a:rPr>
                  <a:t>R</a:t>
                </a:r>
                <a:r>
                  <a:rPr lang="en-US" sz="1100" b="0" i="1" u="none" strike="noStrike" baseline="0" dirty="0" err="1">
                    <a:latin typeface="CMMI8"/>
                  </a:rPr>
                  <a:t>ActiveInd</a:t>
                </a:r>
                <a:r>
                  <a:rPr lang="en-US" sz="1100" b="0" i="1" u="none" strike="noStrike" baseline="0" dirty="0">
                    <a:latin typeface="CMMI8"/>
                  </a:rPr>
                  <a:t> </a:t>
                </a:r>
                <a:r>
                  <a:rPr lang="en-US" sz="1800" b="0" i="0" u="none" strike="noStrike" baseline="0" dirty="0">
                    <a:latin typeface="CMR10"/>
                  </a:rPr>
                  <a:t>+ </a:t>
                </a:r>
                <a:r>
                  <a:rPr lang="en-US" sz="1800" b="0" i="1" u="none" strike="noStrike" baseline="0" dirty="0" err="1">
                    <a:latin typeface="CMMI10"/>
                  </a:rPr>
                  <a:t>sL</a:t>
                </a:r>
                <a:r>
                  <a:rPr lang="en-US" sz="1100" b="0" i="1" u="none" strike="noStrike" baseline="0" dirty="0" err="1">
                    <a:latin typeface="CMMI8"/>
                  </a:rPr>
                  <a:t>ActiveInd</a:t>
                </a:r>
                <a:endParaRPr lang="en-BE" dirty="0"/>
              </a:p>
            </p:txBody>
          </p:sp>
        </mc:Choice>
        <mc:Fallback xmlns="">
          <p:sp>
            <p:nvSpPr>
              <p:cNvPr id="372" name="TextBox 371">
                <a:extLst>
                  <a:ext uri="{FF2B5EF4-FFF2-40B4-BE49-F238E27FC236}">
                    <a16:creationId xmlns:a16="http://schemas.microsoft.com/office/drawing/2014/main" id="{C3CBE29A-C28F-4C52-AF6B-29ACCD1DFE63}"/>
                  </a:ext>
                </a:extLst>
              </p:cNvPr>
              <p:cNvSpPr txBox="1">
                <a:spLocks noRot="1" noChangeAspect="1" noMove="1" noResize="1" noEditPoints="1" noAdjustHandles="1" noChangeArrowheads="1" noChangeShapeType="1" noTextEdit="1"/>
              </p:cNvSpPr>
              <p:nvPr/>
            </p:nvSpPr>
            <p:spPr>
              <a:xfrm>
                <a:off x="7460974" y="4106723"/>
                <a:ext cx="4527826" cy="1503938"/>
              </a:xfrm>
              <a:prstGeom prst="rect">
                <a:avLst/>
              </a:prstGeom>
              <a:blipFill>
                <a:blip r:embed="rId7"/>
                <a:stretch>
                  <a:fillRect l="-1211"/>
                </a:stretch>
              </a:blipFill>
            </p:spPr>
            <p:txBody>
              <a:bodyPr/>
              <a:lstStyle/>
              <a:p>
                <a:r>
                  <a:rPr lang="en-US">
                    <a:noFill/>
                  </a:rPr>
                  <a:t> </a:t>
                </a:r>
              </a:p>
            </p:txBody>
          </p:sp>
        </mc:Fallback>
      </mc:AlternateContent>
      <p:sp>
        <p:nvSpPr>
          <p:cNvPr id="209" name="Title 1">
            <a:extLst>
              <a:ext uri="{FF2B5EF4-FFF2-40B4-BE49-F238E27FC236}">
                <a16:creationId xmlns:a16="http://schemas.microsoft.com/office/drawing/2014/main" id="{39A0200F-769B-B6FB-E7AD-FFF9F0289236}"/>
              </a:ext>
            </a:extLst>
          </p:cNvPr>
          <p:cNvSpPr>
            <a:spLocks noGrp="1"/>
          </p:cNvSpPr>
          <p:nvPr>
            <p:ph type="title"/>
          </p:nvPr>
        </p:nvSpPr>
        <p:spPr>
          <a:xfrm>
            <a:off x="3658555" y="-405109"/>
            <a:ext cx="4794505" cy="1325563"/>
          </a:xfrm>
        </p:spPr>
        <p:txBody>
          <a:bodyPr/>
          <a:lstStyle/>
          <a:p>
            <a:r>
              <a:rPr lang="en-US" b="1" dirty="0">
                <a:solidFill>
                  <a:srgbClr val="FF0000"/>
                </a:solidFill>
              </a:rPr>
              <a:t>ACTIVE_INDUCTORS</a:t>
            </a:r>
            <a:endParaRPr lang="en-BE" b="1" dirty="0">
              <a:solidFill>
                <a:srgbClr val="FF0000"/>
              </a:solidFill>
            </a:endParaRPr>
          </a:p>
        </p:txBody>
      </p:sp>
      <p:sp>
        <p:nvSpPr>
          <p:cNvPr id="3" name="Slide Number Placeholder 2"/>
          <p:cNvSpPr>
            <a:spLocks noGrp="1"/>
          </p:cNvSpPr>
          <p:nvPr>
            <p:ph type="sldNum" sz="quarter" idx="12"/>
          </p:nvPr>
        </p:nvSpPr>
        <p:spPr/>
        <p:txBody>
          <a:bodyPr/>
          <a:lstStyle/>
          <a:p>
            <a:fld id="{81A3699F-279E-4EDA-A470-7DA0E35FD13B}" type="slidenum">
              <a:rPr lang="en-US" smtClean="0"/>
              <a:t>73</a:t>
            </a:fld>
            <a:endParaRPr lang="en-US"/>
          </a:p>
        </p:txBody>
      </p:sp>
      <p:sp>
        <p:nvSpPr>
          <p:cNvPr id="4" name="Date Placeholder 3"/>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11424403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061103"/>
            <a:ext cx="11760200" cy="5298886"/>
          </a:xfrm>
          <a:prstGeom prst="rect">
            <a:avLst/>
          </a:prstGeom>
        </p:spPr>
        <p:txBody>
          <a:bodyPr wrap="square">
            <a:spAutoFit/>
          </a:bodyPr>
          <a:lstStyle/>
          <a:p>
            <a:pPr>
              <a:lnSpc>
                <a:spcPct val="107000"/>
              </a:lnSpc>
              <a:spcBef>
                <a:spcPts val="200"/>
              </a:spcBef>
            </a:pPr>
            <a:r>
              <a:rPr lang="en-US" sz="2000" i="1" dirty="0" smtClean="0">
                <a:solidFill>
                  <a:srgbClr val="2E74B5"/>
                </a:solidFill>
                <a:latin typeface="Calibri Light" panose="020F0302020204030204" pitchFamily="34" charset="0"/>
                <a:ea typeface="Times New Roman" panose="02020603050405020304" pitchFamily="18" charset="0"/>
                <a:cs typeface="Times New Roman" panose="02020603050405020304" pitchFamily="18" charset="0"/>
              </a:rPr>
              <a:t>Symbolic </a:t>
            </a:r>
            <a:r>
              <a:rPr lang="en-US" sz="2000" i="1"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rPr>
              <a:t>Representation &amp; Circuit Implementation</a:t>
            </a:r>
            <a:endParaRPr lang="en-US" sz="2000" b="1" i="1"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a:latin typeface="Calibri" panose="020F0502020204030204" pitchFamily="34" charset="0"/>
                <a:ea typeface="Calibri" panose="020F0502020204030204" pitchFamily="34" charset="0"/>
                <a:cs typeface="Times New Roman" panose="02020603050405020304" pitchFamily="18" charset="0"/>
              </a:rPr>
              <a:t>Figure 3(a)</a:t>
            </a:r>
            <a:r>
              <a:rPr lang="en-US" sz="2000" dirty="0">
                <a:latin typeface="Calibri" panose="020F0502020204030204" pitchFamily="34" charset="0"/>
                <a:ea typeface="Calibri" panose="020F0502020204030204" pitchFamily="34" charset="0"/>
                <a:cs typeface="Times New Roman" panose="02020603050405020304" pitchFamily="18" charset="0"/>
              </a:rPr>
              <a:t> shows a symbolic representation of an </a:t>
            </a:r>
            <a:r>
              <a:rPr lang="en-US" sz="2000" b="1" dirty="0">
                <a:latin typeface="Calibri" panose="020F0502020204030204" pitchFamily="34" charset="0"/>
                <a:ea typeface="Calibri" panose="020F0502020204030204" pitchFamily="34" charset="0"/>
                <a:cs typeface="Times New Roman" panose="02020603050405020304" pitchFamily="18" charset="0"/>
              </a:rPr>
              <a:t>active inductor</a:t>
            </a:r>
            <a:r>
              <a:rPr lang="en-US" sz="2000" dirty="0">
                <a:latin typeface="Calibri" panose="020F0502020204030204" pitchFamily="34" charset="0"/>
                <a:ea typeface="Calibri" panose="020F0502020204030204" pitchFamily="34" charset="0"/>
                <a:cs typeface="Times New Roman" panose="02020603050405020304" pitchFamily="18" charset="0"/>
              </a:rPr>
              <a:t>. Unlike a traditional passive inductor, an active inductor is implemented using transistors and an amplifier, making it more compact and tunable.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a:latin typeface="Calibri" panose="020F0502020204030204" pitchFamily="34" charset="0"/>
                <a:ea typeface="Calibri" panose="020F0502020204030204" pitchFamily="34" charset="0"/>
                <a:cs typeface="Times New Roman" panose="02020603050405020304" pitchFamily="18" charset="0"/>
              </a:rPr>
              <a:t>Figure 3(b)</a:t>
            </a:r>
            <a:r>
              <a:rPr lang="en-US" sz="2000" dirty="0">
                <a:latin typeface="Calibri" panose="020F0502020204030204" pitchFamily="34" charset="0"/>
                <a:ea typeface="Calibri" panose="020F0502020204030204" pitchFamily="34" charset="0"/>
                <a:cs typeface="Times New Roman" panose="02020603050405020304" pitchFamily="18" charset="0"/>
              </a:rPr>
              <a:t> presents the circuit implementation using an NMOS-PMOS transistor pair in a feedback configuration, with </a:t>
            </a:r>
            <a:r>
              <a:rPr lang="en-US" sz="2000" b="1" dirty="0">
                <a:latin typeface="Calibri" panose="020F0502020204030204" pitchFamily="34" charset="0"/>
                <a:ea typeface="Calibri" panose="020F0502020204030204" pitchFamily="34" charset="0"/>
                <a:cs typeface="Times New Roman" panose="02020603050405020304" pitchFamily="18" charset="0"/>
              </a:rPr>
              <a:t>gate resistors</a:t>
            </a:r>
            <a:r>
              <a:rPr lang="en-US" sz="2000" dirty="0">
                <a:latin typeface="Calibri" panose="020F0502020204030204" pitchFamily="34" charset="0"/>
                <a:ea typeface="Calibri" panose="020F0502020204030204" pitchFamily="34" charset="0"/>
                <a:cs typeface="Times New Roman" panose="02020603050405020304" pitchFamily="18" charset="0"/>
              </a:rPr>
              <a:t> included. The </a:t>
            </a:r>
            <a:r>
              <a:rPr lang="en-US" sz="2000" dirty="0" err="1">
                <a:latin typeface="Calibri" panose="020F0502020204030204" pitchFamily="34" charset="0"/>
                <a:ea typeface="Calibri" panose="020F0502020204030204" pitchFamily="34" charset="0"/>
                <a:cs typeface="Times New Roman" panose="02020603050405020304" pitchFamily="18" charset="0"/>
              </a:rPr>
              <a:t>transconductance</a:t>
            </a:r>
            <a:r>
              <a:rPr lang="en-US" sz="2000" dirty="0">
                <a:latin typeface="Calibri" panose="020F0502020204030204" pitchFamily="34" charset="0"/>
                <a:ea typeface="Calibri" panose="020F0502020204030204" pitchFamily="34" charset="0"/>
                <a:cs typeface="Times New Roman" panose="02020603050405020304" pitchFamily="18" charset="0"/>
              </a:rPr>
              <a:t> (</a:t>
            </a:r>
            <a:r>
              <a:rPr lang="en-US" sz="2000" dirty="0" err="1">
                <a:latin typeface="Calibri" panose="020F0502020204030204" pitchFamily="34" charset="0"/>
                <a:ea typeface="Calibri" panose="020F0502020204030204" pitchFamily="34" charset="0"/>
                <a:cs typeface="Times New Roman" panose="02020603050405020304" pitchFamily="18" charset="0"/>
              </a:rPr>
              <a:t>gmg_mgm</a:t>
            </a:r>
            <a:r>
              <a:rPr lang="en-US" sz="2000" dirty="0">
                <a:latin typeface="Calibri" panose="020F0502020204030204" pitchFamily="34" charset="0"/>
                <a:ea typeface="Calibri" panose="020F0502020204030204" pitchFamily="34" charset="0"/>
                <a:cs typeface="Times New Roman" panose="02020603050405020304" pitchFamily="18" charset="0"/>
              </a:rPr>
              <a:t>​) of the transistors plays a key role in defining the impedance of the circuit.</a:t>
            </a:r>
          </a:p>
          <a:p>
            <a:pPr>
              <a:lnSpc>
                <a:spcPct val="107000"/>
              </a:lnSpc>
              <a:spcBef>
                <a:spcPts val="200"/>
              </a:spcBef>
            </a:pPr>
            <a:r>
              <a:rPr lang="en-US" sz="2000" i="1"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rPr>
              <a:t>Analogy &amp; Intuition</a:t>
            </a:r>
            <a:endParaRPr lang="en-US" sz="2000" b="1" i="1"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a:p>
            <a:r>
              <a:rPr lang="en-US" sz="2400" dirty="0" smtClean="0">
                <a:effectLst/>
                <a:latin typeface="Times New Roman" panose="02020603050405020304" pitchFamily="18" charset="0"/>
                <a:ea typeface="Times New Roman" panose="02020603050405020304" pitchFamily="18" charset="0"/>
              </a:rPr>
              <a:t>Imagine a </a:t>
            </a:r>
            <a:r>
              <a:rPr lang="en-US" sz="2400" b="1" dirty="0" smtClean="0">
                <a:effectLst/>
                <a:latin typeface="Times New Roman" panose="02020603050405020304" pitchFamily="18" charset="0"/>
                <a:ea typeface="Times New Roman" panose="02020603050405020304" pitchFamily="18" charset="0"/>
              </a:rPr>
              <a:t>spring-dashpot system</a:t>
            </a:r>
            <a:r>
              <a:rPr lang="en-US" sz="2400" dirty="0" smtClean="0">
                <a:effectLst/>
                <a:latin typeface="Times New Roman" panose="02020603050405020304" pitchFamily="18" charset="0"/>
                <a:ea typeface="Times New Roman" panose="02020603050405020304" pitchFamily="18" charset="0"/>
              </a:rPr>
              <a:t> where: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Calibri" panose="020F0502020204030204" pitchFamily="34" charset="0"/>
                <a:ea typeface="Calibri" panose="020F0502020204030204" pitchFamily="34" charset="0"/>
                <a:cs typeface="Times New Roman" panose="02020603050405020304" pitchFamily="18" charset="0"/>
              </a:rPr>
              <a:t>A </a:t>
            </a:r>
            <a:r>
              <a:rPr lang="en-US" sz="2000" b="1" dirty="0">
                <a:latin typeface="Calibri" panose="020F0502020204030204" pitchFamily="34" charset="0"/>
                <a:ea typeface="Calibri" panose="020F0502020204030204" pitchFamily="34" charset="0"/>
                <a:cs typeface="Times New Roman" panose="02020603050405020304" pitchFamily="18" charset="0"/>
              </a:rPr>
              <a:t>passive inductor</a:t>
            </a:r>
            <a:r>
              <a:rPr lang="en-US" sz="2000" dirty="0">
                <a:latin typeface="Calibri" panose="020F0502020204030204" pitchFamily="34" charset="0"/>
                <a:ea typeface="Calibri" panose="020F0502020204030204" pitchFamily="34" charset="0"/>
                <a:cs typeface="Times New Roman" panose="02020603050405020304" pitchFamily="18" charset="0"/>
              </a:rPr>
              <a:t> is like a pure spring—it stores and releases energy.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Calibri" panose="020F0502020204030204" pitchFamily="34" charset="0"/>
                <a:ea typeface="Calibri" panose="020F0502020204030204" pitchFamily="34" charset="0"/>
                <a:cs typeface="Times New Roman" panose="02020603050405020304" pitchFamily="18" charset="0"/>
              </a:rPr>
              <a:t>An </a:t>
            </a:r>
            <a:r>
              <a:rPr lang="en-US" sz="2000" b="1" dirty="0">
                <a:latin typeface="Calibri" panose="020F0502020204030204" pitchFamily="34" charset="0"/>
                <a:ea typeface="Calibri" panose="020F0502020204030204" pitchFamily="34" charset="0"/>
                <a:cs typeface="Times New Roman" panose="02020603050405020304" pitchFamily="18" charset="0"/>
              </a:rPr>
              <a:t>active inductor</a:t>
            </a:r>
            <a:r>
              <a:rPr lang="en-US" sz="2000" dirty="0">
                <a:latin typeface="Calibri" panose="020F0502020204030204" pitchFamily="34" charset="0"/>
                <a:ea typeface="Calibri" panose="020F0502020204030204" pitchFamily="34" charset="0"/>
                <a:cs typeface="Times New Roman" panose="02020603050405020304" pitchFamily="18" charset="0"/>
              </a:rPr>
              <a:t> is like an engineered suspension system with a feedback loop—it </a:t>
            </a:r>
            <a:r>
              <a:rPr lang="en-US" sz="2000" b="1" dirty="0">
                <a:latin typeface="Calibri" panose="020F0502020204030204" pitchFamily="34" charset="0"/>
                <a:ea typeface="Calibri" panose="020F0502020204030204" pitchFamily="34" charset="0"/>
                <a:cs typeface="Times New Roman" panose="02020603050405020304" pitchFamily="18" charset="0"/>
              </a:rPr>
              <a:t>mimics</a:t>
            </a:r>
            <a:r>
              <a:rPr lang="en-US" sz="2000" dirty="0">
                <a:latin typeface="Calibri" panose="020F0502020204030204" pitchFamily="34" charset="0"/>
                <a:ea typeface="Calibri" panose="020F0502020204030204" pitchFamily="34" charset="0"/>
                <a:cs typeface="Times New Roman" panose="02020603050405020304" pitchFamily="18" charset="0"/>
              </a:rPr>
              <a:t> the behavior of a spring using active elements (transistors), while gate resistors help in controlling its dynamic behavior.</a:t>
            </a:r>
          </a:p>
          <a:p>
            <a:r>
              <a:rPr lang="en-US" sz="2400" dirty="0" smtClean="0">
                <a:effectLst/>
                <a:latin typeface="Times New Roman" panose="02020603050405020304" pitchFamily="18" charset="0"/>
                <a:ea typeface="Times New Roman" panose="02020603050405020304" pitchFamily="18" charset="0"/>
              </a:rPr>
              <a:t>The </a:t>
            </a:r>
            <a:r>
              <a:rPr lang="en-US" sz="2400" b="1" dirty="0" smtClean="0">
                <a:effectLst/>
                <a:latin typeface="Times New Roman" panose="02020603050405020304" pitchFamily="18" charset="0"/>
                <a:ea typeface="Times New Roman" panose="02020603050405020304" pitchFamily="18" charset="0"/>
              </a:rPr>
              <a:t>gate resistors</a:t>
            </a:r>
            <a:r>
              <a:rPr lang="en-US" sz="2400" dirty="0" smtClean="0">
                <a:effectLst/>
                <a:latin typeface="Times New Roman" panose="02020603050405020304" pitchFamily="18" charset="0"/>
                <a:ea typeface="Times New Roman" panose="02020603050405020304" pitchFamily="18" charset="0"/>
              </a:rPr>
              <a:t> act as a damper, preventing excessive oscillations at high frequencies. The reason for adding them is the </a:t>
            </a:r>
            <a:r>
              <a:rPr lang="en-US" sz="2400" b="1" dirty="0" smtClean="0">
                <a:effectLst/>
                <a:latin typeface="Times New Roman" panose="02020603050405020304" pitchFamily="18" charset="0"/>
                <a:ea typeface="Times New Roman" panose="02020603050405020304" pitchFamily="18" charset="0"/>
              </a:rPr>
              <a:t>gate capacitance (</a:t>
            </a:r>
            <a:r>
              <a:rPr lang="en-US" sz="2400" b="1" dirty="0" err="1" smtClean="0">
                <a:effectLst/>
                <a:latin typeface="Times New Roman" panose="02020603050405020304" pitchFamily="18" charset="0"/>
                <a:ea typeface="Times New Roman" panose="02020603050405020304" pitchFamily="18" charset="0"/>
              </a:rPr>
              <a:t>Cgate</a:t>
            </a:r>
            <a:r>
              <a:rPr lang="en-US" sz="2400" b="1" dirty="0" smtClean="0">
                <a:effectLst/>
                <a:latin typeface="Times New Roman" panose="02020603050405020304" pitchFamily="18" charset="0"/>
                <a:ea typeface="Times New Roman" panose="02020603050405020304" pitchFamily="18" charset="0"/>
              </a:rPr>
              <a:t>​) of MOSFETs, which introduces unwanted parasitic effects. </a:t>
            </a:r>
            <a:endParaRPr lang="en-US" sz="2000" dirty="0"/>
          </a:p>
        </p:txBody>
      </p:sp>
      <p:sp>
        <p:nvSpPr>
          <p:cNvPr id="5" name="Rectangle 4"/>
          <p:cNvSpPr/>
          <p:nvPr/>
        </p:nvSpPr>
        <p:spPr>
          <a:xfrm>
            <a:off x="2241550" y="170647"/>
            <a:ext cx="8159750" cy="523220"/>
          </a:xfrm>
          <a:prstGeom prst="rect">
            <a:avLst/>
          </a:prstGeom>
        </p:spPr>
        <p:txBody>
          <a:bodyPr wrap="square">
            <a:spAutoFit/>
          </a:bodyPr>
          <a:lstStyle/>
          <a:p>
            <a:pPr lvl="0"/>
            <a:r>
              <a:rPr lang="en-US" sz="2800" b="1" dirty="0">
                <a:solidFill>
                  <a:prstClr val="black"/>
                </a:solidFill>
                <a:latin typeface="Times New Roman" panose="02020603050405020304" pitchFamily="18" charset="0"/>
                <a:ea typeface="Times New Roman" panose="02020603050405020304" pitchFamily="18" charset="0"/>
              </a:rPr>
              <a:t>Understanding Figure 3: Active Inductor Concept</a:t>
            </a:r>
          </a:p>
        </p:txBody>
      </p:sp>
      <p:sp>
        <p:nvSpPr>
          <p:cNvPr id="2" name="Slide Number Placeholder 1"/>
          <p:cNvSpPr>
            <a:spLocks noGrp="1"/>
          </p:cNvSpPr>
          <p:nvPr>
            <p:ph type="sldNum" sz="quarter" idx="12"/>
          </p:nvPr>
        </p:nvSpPr>
        <p:spPr/>
        <p:txBody>
          <a:bodyPr/>
          <a:lstStyle/>
          <a:p>
            <a:fld id="{81A3699F-279E-4EDA-A470-7DA0E35FD13B}" type="slidenum">
              <a:rPr lang="en-US" smtClean="0"/>
              <a:t>74</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78207027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850" y="824745"/>
            <a:ext cx="12192000" cy="6033255"/>
          </a:xfrm>
          <a:prstGeom prst="rect">
            <a:avLst/>
          </a:prstGeom>
        </p:spPr>
        <p:txBody>
          <a:bodyPr wrap="square">
            <a:spAutoFit/>
          </a:bodyPr>
          <a:lstStyle/>
          <a:p>
            <a:pPr>
              <a:lnSpc>
                <a:spcPct val="107000"/>
              </a:lnSpc>
              <a:spcBef>
                <a:spcPts val="200"/>
              </a:spcBef>
            </a:pPr>
            <a:r>
              <a:rPr lang="en-US" sz="1600" b="0" i="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Figure 4(a): Small-Signal Representation</a:t>
            </a:r>
            <a:endParaRPr lang="en-US" sz="1600" b="1" i="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voltage-controlled current source</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(gmv1​) models the active device behavior.</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circuit is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simplified</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to a basic equivalent network containing:</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Gate resistance (</a:t>
            </a:r>
            <a:r>
              <a:rPr lang="en-US" sz="1600" dirty="0" err="1" smtClean="0">
                <a:effectLst/>
                <a:latin typeface="Calibri" panose="020F0502020204030204" pitchFamily="34" charset="0"/>
                <a:ea typeface="Calibri" panose="020F0502020204030204" pitchFamily="34" charset="0"/>
                <a:cs typeface="Times New Roman" panose="02020603050405020304" pitchFamily="18" charset="0"/>
              </a:rPr>
              <a:t>Rgate</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Gate capacitance (</a:t>
            </a:r>
            <a:r>
              <a:rPr lang="en-US" sz="1600" dirty="0" err="1" smtClean="0">
                <a:effectLst/>
                <a:latin typeface="Calibri" panose="020F0502020204030204" pitchFamily="34" charset="0"/>
                <a:ea typeface="Calibri" panose="020F0502020204030204" pitchFamily="34" charset="0"/>
                <a:cs typeface="Times New Roman" panose="02020603050405020304" pitchFamily="18" charset="0"/>
              </a:rPr>
              <a:t>Cgate</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which appears as 2Cgate​ due to symmetry.</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resulting impedance mimics an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inductive behavior</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Bef>
                <a:spcPts val="200"/>
              </a:spcBef>
            </a:pPr>
            <a:r>
              <a:rPr lang="en-US" sz="1600" b="0" i="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Figure 4(b): Equivalent Inductor Model</a:t>
            </a:r>
            <a:endParaRPr lang="en-US" sz="1600" b="1" i="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At lower frequencies, the impedance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resembles an inductor</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with an associated resistance: Z(s)=1/</a:t>
            </a:r>
            <a:r>
              <a:rPr lang="en-US" sz="1600" dirty="0" err="1" smtClean="0">
                <a:effectLst/>
                <a:latin typeface="Calibri" panose="020F0502020204030204" pitchFamily="34" charset="0"/>
                <a:ea typeface="Calibri" panose="020F0502020204030204" pitchFamily="34" charset="0"/>
                <a:cs typeface="Times New Roman" panose="02020603050405020304" pitchFamily="18" charset="0"/>
              </a:rPr>
              <a:t>gm+sRgateCgate</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/gm</a:t>
            </a:r>
          </a:p>
          <a:p>
            <a:pPr marL="742950" marR="0" lvl="1" indent="-285750">
              <a:lnSpc>
                <a:spcPct val="107000"/>
              </a:lnSpc>
              <a:spcBef>
                <a:spcPts val="0"/>
              </a:spcBef>
              <a:spcAft>
                <a:spcPts val="800"/>
              </a:spcAft>
              <a:buSzPts val="1000"/>
              <a:buFont typeface="Courier New" panose="02070309020205020404" pitchFamily="49" charset="0"/>
              <a:buChar char="o"/>
              <a:tabLst>
                <a:tab pos="457200" algn="l"/>
                <a:tab pos="9144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first term</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represents a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resistive component</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1600" dirty="0" err="1" smtClean="0">
                <a:effectLst/>
                <a:latin typeface="Calibri" panose="020F0502020204030204" pitchFamily="34" charset="0"/>
                <a:ea typeface="Calibri" panose="020F0502020204030204" pitchFamily="34" charset="0"/>
                <a:cs typeface="Times New Roman" panose="02020603050405020304" pitchFamily="18" charset="0"/>
              </a:rPr>
              <a:t>RActiveInd</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457200" algn="l"/>
                <a:tab pos="9144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second term</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mimics the impedance of an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inductor</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US" sz="1600" dirty="0" err="1" smtClean="0">
                <a:effectLst/>
                <a:latin typeface="Calibri" panose="020F0502020204030204" pitchFamily="34" charset="0"/>
                <a:ea typeface="Calibri" panose="020F0502020204030204" pitchFamily="34" charset="0"/>
                <a:cs typeface="Times New Roman" panose="02020603050405020304" pitchFamily="18" charset="0"/>
              </a:rPr>
              <a:t>LActiveInd</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0" i="1" dirty="0" smtClean="0">
                <a:solidFill>
                  <a:srgbClr val="2E74B5"/>
                </a:solidFill>
                <a:effectLst/>
                <a:latin typeface="Calibri Light" panose="020F0302020204030204" pitchFamily="34" charset="0"/>
                <a:ea typeface="Calibri" panose="020F0502020204030204" pitchFamily="34" charset="0"/>
                <a:cs typeface="Times New Roman" panose="02020603050405020304" pitchFamily="18" charset="0"/>
              </a:rPr>
              <a:t>Analogy &amp; Intuition</a:t>
            </a:r>
            <a:endParaRPr lang="en-US" sz="1600" b="1" i="1" dirty="0" smtClean="0">
              <a:solidFill>
                <a:srgbClr val="2E74B5"/>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Think of this as a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mechanical mass-spring-damper system</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MOSFETs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act like a controlled force generator</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(voltage-controlled current source).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gate capacitance behaves like a mass</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which introduces inertia in the electrical domain.</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gate resistance</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provides damping, ensuring stability at high frequencies.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The overall effect is an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artificial inductor</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behaving like a mass-spring system under forced oscillations.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Thus, at certain frequencies, this circuit </a:t>
            </a:r>
            <a:r>
              <a:rPr lang="en-US" sz="1600" b="1" dirty="0" smtClean="0">
                <a:effectLst/>
                <a:latin typeface="Calibri" panose="020F0502020204030204" pitchFamily="34" charset="0"/>
                <a:ea typeface="Calibri" panose="020F0502020204030204" pitchFamily="34" charset="0"/>
                <a:cs typeface="Times New Roman" panose="02020603050405020304" pitchFamily="18" charset="0"/>
              </a:rPr>
              <a:t>mimics the behavior of a physical inductor</a:t>
            </a: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 using only transistors and passive elements.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2810397" y="120134"/>
            <a:ext cx="5466305" cy="369332"/>
          </a:xfrm>
          <a:prstGeom prst="rect">
            <a:avLst/>
          </a:prstGeom>
        </p:spPr>
        <p:txBody>
          <a:bodyPr wrap="none">
            <a:spAutoFit/>
          </a:bodyPr>
          <a:lstStyle/>
          <a:p>
            <a:pPr lvl="0"/>
            <a:r>
              <a:rPr lang="en-US" b="1" dirty="0">
                <a:solidFill>
                  <a:prstClr val="black"/>
                </a:solidFill>
                <a:latin typeface="Times New Roman" panose="02020603050405020304" pitchFamily="18" charset="0"/>
                <a:ea typeface="Times New Roman" panose="02020603050405020304" pitchFamily="18" charset="0"/>
              </a:rPr>
              <a:t>Understanding Figure 4: Small Signal Approximation</a:t>
            </a:r>
          </a:p>
        </p:txBody>
      </p:sp>
      <p:sp>
        <p:nvSpPr>
          <p:cNvPr id="2" name="Slide Number Placeholder 1"/>
          <p:cNvSpPr>
            <a:spLocks noGrp="1"/>
          </p:cNvSpPr>
          <p:nvPr>
            <p:ph type="sldNum" sz="quarter" idx="12"/>
          </p:nvPr>
        </p:nvSpPr>
        <p:spPr/>
        <p:txBody>
          <a:bodyPr/>
          <a:lstStyle/>
          <a:p>
            <a:fld id="{81A3699F-279E-4EDA-A470-7DA0E35FD13B}" type="slidenum">
              <a:rPr lang="en-US" smtClean="0"/>
              <a:t>75</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280102679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387350" y="841909"/>
            <a:ext cx="11455400" cy="448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Key Changes &amp; Motivation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previous design assumed identical gate capacitances</a:t>
            </a: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for NMOS and PMOS, which is </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always true</a:t>
            </a: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compensate for this imbalance, the modification in </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Figure 5(b)</a:t>
            </a: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introduces a single resistor, making impedance calculations easier.</a:t>
            </a:r>
            <a:endParaRPr kumimoji="0" lang="en-US" altLang="en-US"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Why Is This Important?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 real designs, </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PMOS transistors require larger sizes</a:t>
            </a:r>
            <a:r>
              <a:rPr kumimoji="0" lang="en-US" altLang="en-US"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to achieve the same current drive, leading to a larger </a:t>
            </a:r>
            <a:r>
              <a:rPr kumimoji="0" lang="en-US" altLang="en-US" b="1"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CCgate,PMOS</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By replacing two separate resistors (</a:t>
            </a:r>
            <a:r>
              <a:rPr kumimoji="0" lang="en-US" altLang="en-US" b="1"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Rgate,NMOS</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and </a:t>
            </a:r>
            <a:r>
              <a:rPr kumimoji="0" lang="en-US" altLang="en-US" b="1"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Rgate,PMOS</a:t>
            </a: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with one shared resistor, we ensure better symmetry and avoid unwanted mismatches. </a:t>
            </a:r>
            <a:endParaRPr kumimoji="0" lang="en-US" altLang="en-US" b="0" i="1"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Analogy &amp; Intuition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Think of this change like tuning a suspension system:</a:t>
            </a:r>
            <a:endPar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Initially, the left and right suspension had different spring stiffness values, causing instability.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Now, a single unified damper ensures equal force distribution, preventing one side from dominating the behavior.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This ensures a well-balanced response, improving the performance of the active inductor across different frequencies</a:t>
            </a:r>
            <a:endParaRPr kumimoji="0" lang="en-US" altLang="en-US"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2343150" y="71507"/>
            <a:ext cx="6845300" cy="400110"/>
          </a:xfrm>
          <a:prstGeom prst="rect">
            <a:avLst/>
          </a:prstGeom>
        </p:spPr>
        <p:txBody>
          <a:bodyPr wrap="square">
            <a:spAutoFit/>
          </a:bodyPr>
          <a:lstStyle/>
          <a:p>
            <a:pPr lvl="0" algn="just" eaLnBrk="0" fontAlgn="base" hangingPunct="0">
              <a:spcBef>
                <a:spcPct val="0"/>
              </a:spcBef>
              <a:spcAft>
                <a:spcPct val="0"/>
              </a:spcAft>
            </a:pPr>
            <a:r>
              <a:rPr lang="en-US" altLang="en-US" sz="2000" b="1" dirty="0">
                <a:solidFill>
                  <a:prstClr val="black"/>
                </a:solidFill>
                <a:latin typeface="Arial" panose="020B0604020202020204" pitchFamily="34" charset="0"/>
                <a:ea typeface="Times New Roman" panose="02020603050405020304" pitchFamily="18" charset="0"/>
              </a:rPr>
              <a:t>Understanding Figure 5: Modified Active Inductor</a:t>
            </a:r>
          </a:p>
        </p:txBody>
      </p:sp>
      <p:sp>
        <p:nvSpPr>
          <p:cNvPr id="2" name="Slide Number Placeholder 1"/>
          <p:cNvSpPr>
            <a:spLocks noGrp="1"/>
          </p:cNvSpPr>
          <p:nvPr>
            <p:ph type="sldNum" sz="quarter" idx="12"/>
          </p:nvPr>
        </p:nvSpPr>
        <p:spPr/>
        <p:txBody>
          <a:bodyPr/>
          <a:lstStyle/>
          <a:p>
            <a:fld id="{81A3699F-279E-4EDA-A470-7DA0E35FD13B}" type="slidenum">
              <a:rPr lang="en-US" smtClean="0"/>
              <a:t>76</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4" name="Footer Placeholder 3"/>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391956351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921202"/>
            <a:ext cx="11918950" cy="5834418"/>
          </a:xfrm>
          <a:prstGeom prst="rect">
            <a:avLst/>
          </a:prstGeom>
        </p:spPr>
        <p:txBody>
          <a:bodyPr wrap="square">
            <a:spAutoFit/>
          </a:bodyPr>
          <a:lstStyle/>
          <a:p>
            <a:r>
              <a:rPr lang="en-US" sz="2400" dirty="0" smtClean="0">
                <a:effectLst/>
                <a:latin typeface="Times New Roman" panose="02020603050405020304" pitchFamily="18" charset="0"/>
                <a:ea typeface="Times New Roman" panose="02020603050405020304" pitchFamily="18" charset="0"/>
              </a:rPr>
              <a:t>Active inductors are particularly useful in </a:t>
            </a:r>
            <a:r>
              <a:rPr lang="en-US" sz="2400" b="1" dirty="0" smtClean="0">
                <a:effectLst/>
                <a:latin typeface="Times New Roman" panose="02020603050405020304" pitchFamily="18" charset="0"/>
                <a:ea typeface="Times New Roman" panose="02020603050405020304" pitchFamily="18" charset="0"/>
              </a:rPr>
              <a:t>high-frequency circuits</a:t>
            </a:r>
            <a:r>
              <a:rPr lang="en-US" sz="2400" dirty="0" smtClean="0">
                <a:effectLst/>
                <a:latin typeface="Times New Roman" panose="02020603050405020304" pitchFamily="18" charset="0"/>
                <a:ea typeface="Times New Roman" panose="02020603050405020304" pitchFamily="18" charset="0"/>
              </a:rPr>
              <a:t> where passive inductors are impractical due to:</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Large area consumption</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in on-chip implementations.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Difficult </a:t>
            </a:r>
            <a:r>
              <a:rPr lang="en-US" sz="2000" b="1" dirty="0" err="1" smtClean="0">
                <a:effectLst/>
                <a:latin typeface="Calibri" panose="020F0502020204030204" pitchFamily="34" charset="0"/>
                <a:ea typeface="Calibri" panose="020F0502020204030204" pitchFamily="34" charset="0"/>
                <a:cs typeface="Times New Roman" panose="02020603050405020304" pitchFamily="18" charset="0"/>
              </a:rPr>
              <a:t>tunability</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as passive components are fixed in value.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Higher losses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at very high frequencies.</a:t>
            </a:r>
          </a:p>
          <a:p>
            <a:pPr>
              <a:lnSpc>
                <a:spcPct val="107000"/>
              </a:lnSpc>
              <a:spcBef>
                <a:spcPts val="200"/>
              </a:spcBef>
            </a:pPr>
            <a:r>
              <a:rPr lang="en-US" sz="2000" b="0" i="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Potential Applications:</a:t>
            </a:r>
            <a:endParaRPr lang="en-US" sz="2000" b="1" i="1"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Optical Transceivers: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Used in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high-speed filters, equalizers, and amplifiers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in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optical front-ends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Helps in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matching networks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for RF and millimeter-wave applications.</a:t>
            </a:r>
          </a:p>
          <a:p>
            <a:pPr marL="342900" marR="0" lvl="0" indent="-342900">
              <a:lnSpc>
                <a:spcPct val="107000"/>
              </a:lnSpc>
              <a:spcBef>
                <a:spcPts val="0"/>
              </a:spcBef>
              <a:spcAft>
                <a:spcPts val="800"/>
              </a:spcAft>
              <a:buFont typeface="+mj-lt"/>
              <a:buAutoNum type="arabicPeriod"/>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RF Circuits: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Used in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low-noise amplifiers (LNAs)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for impedance matching.</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Essential in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voltage-controlled oscillators (VCOs)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for frequency synthesis.</a:t>
            </a:r>
          </a:p>
          <a:p>
            <a:pPr marL="342900" marR="0" lvl="0" indent="-342900">
              <a:lnSpc>
                <a:spcPct val="107000"/>
              </a:lnSpc>
              <a:spcBef>
                <a:spcPts val="0"/>
              </a:spcBef>
              <a:spcAft>
                <a:spcPts val="800"/>
              </a:spcAft>
              <a:buFont typeface="+mj-lt"/>
              <a:buAutoNum type="arabicPeriod"/>
              <a:tabLst>
                <a:tab pos="457200" algn="l"/>
              </a:tabLst>
            </a:pP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High-Speed Data Communication:</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Key component in </a:t>
            </a:r>
            <a:r>
              <a:rPr lang="en-US" sz="2000" b="1" dirty="0" smtClean="0">
                <a:effectLst/>
                <a:latin typeface="Calibri" panose="020F0502020204030204" pitchFamily="34" charset="0"/>
                <a:ea typeface="Calibri" panose="020F0502020204030204" pitchFamily="34" charset="0"/>
                <a:cs typeface="Times New Roman" panose="02020603050405020304" pitchFamily="18" charset="0"/>
              </a:rPr>
              <a:t>broadband amplifiers and adaptive equalizers</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for handling high-speed signals.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2425700" y="111552"/>
            <a:ext cx="8134350" cy="461665"/>
          </a:xfrm>
          <a:prstGeom prst="rect">
            <a:avLst/>
          </a:prstGeom>
        </p:spPr>
        <p:txBody>
          <a:bodyPr wrap="square">
            <a:spAutoFit/>
          </a:bodyPr>
          <a:lstStyle/>
          <a:p>
            <a:pPr lvl="0"/>
            <a:r>
              <a:rPr lang="en-US" sz="2400" b="1" dirty="0">
                <a:solidFill>
                  <a:prstClr val="black"/>
                </a:solidFill>
                <a:latin typeface="Times New Roman" panose="02020603050405020304" pitchFamily="18" charset="0"/>
                <a:ea typeface="Times New Roman" panose="02020603050405020304" pitchFamily="18" charset="0"/>
              </a:rPr>
              <a:t>Relevance to Optical Transceivers &amp; Other Applications</a:t>
            </a:r>
          </a:p>
        </p:txBody>
      </p:sp>
      <p:sp>
        <p:nvSpPr>
          <p:cNvPr id="2" name="Slide Number Placeholder 1"/>
          <p:cNvSpPr>
            <a:spLocks noGrp="1"/>
          </p:cNvSpPr>
          <p:nvPr>
            <p:ph type="sldNum" sz="quarter" idx="12"/>
          </p:nvPr>
        </p:nvSpPr>
        <p:spPr/>
        <p:txBody>
          <a:bodyPr/>
          <a:lstStyle/>
          <a:p>
            <a:fld id="{81A3699F-279E-4EDA-A470-7DA0E35FD13B}" type="slidenum">
              <a:rPr lang="en-US" smtClean="0"/>
              <a:t>77</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6" name="Footer Placeholder 5"/>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164743018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03190"/>
            <a:ext cx="11849100" cy="2031325"/>
          </a:xfrm>
          <a:prstGeom prst="rect">
            <a:avLst/>
          </a:prstGeom>
        </p:spPr>
        <p:txBody>
          <a:bodyPr wrap="square">
            <a:spAutoFit/>
          </a:bodyPr>
          <a:lstStyle/>
          <a:p>
            <a:pPr algn="just"/>
            <a:r>
              <a:rPr lang="en-US" b="1" dirty="0" smtClean="0"/>
              <a:t>Conclusion</a:t>
            </a:r>
          </a:p>
          <a:p>
            <a:pPr algn="just">
              <a:buFont typeface="Arial" panose="020B0604020202020204" pitchFamily="34" charset="0"/>
              <a:buChar char="•"/>
            </a:pPr>
            <a:r>
              <a:rPr lang="en-US" dirty="0" smtClean="0"/>
              <a:t>Active inductors provide a </a:t>
            </a:r>
            <a:r>
              <a:rPr lang="en-US" b="1" dirty="0" smtClean="0"/>
              <a:t>compact and tunable alternative</a:t>
            </a:r>
            <a:r>
              <a:rPr lang="en-US" dirty="0" smtClean="0"/>
              <a:t> to bulky passive inductors.</a:t>
            </a:r>
          </a:p>
          <a:p>
            <a:pPr algn="just">
              <a:buFont typeface="Arial" panose="020B0604020202020204" pitchFamily="34" charset="0"/>
              <a:buChar char="•"/>
            </a:pPr>
            <a:r>
              <a:rPr lang="en-US" dirty="0" smtClean="0"/>
              <a:t>The circuit's </a:t>
            </a:r>
            <a:r>
              <a:rPr lang="en-US" b="1" dirty="0" smtClean="0"/>
              <a:t>equivalent impedance mimics an inductor</a:t>
            </a:r>
            <a:r>
              <a:rPr lang="en-US" dirty="0" smtClean="0"/>
              <a:t>, making it useful in high-frequency circuits.</a:t>
            </a:r>
          </a:p>
          <a:p>
            <a:pPr algn="just">
              <a:buFont typeface="Arial" panose="020B0604020202020204" pitchFamily="34" charset="0"/>
              <a:buChar char="•"/>
            </a:pPr>
            <a:r>
              <a:rPr lang="en-US" b="1" dirty="0" smtClean="0"/>
              <a:t>Adding gate resistors improves stability</a:t>
            </a:r>
            <a:r>
              <a:rPr lang="en-US" dirty="0" smtClean="0"/>
              <a:t>, and the </a:t>
            </a:r>
            <a:r>
              <a:rPr lang="en-US" b="1" dirty="0" smtClean="0"/>
              <a:t>modified design further refines balance</a:t>
            </a:r>
            <a:r>
              <a:rPr lang="en-US" dirty="0" smtClean="0"/>
              <a:t> between NMOS and PMOS components.</a:t>
            </a:r>
          </a:p>
          <a:p>
            <a:pPr algn="just">
              <a:buFont typeface="Arial" panose="020B0604020202020204" pitchFamily="34" charset="0"/>
              <a:buChar char="•"/>
            </a:pPr>
            <a:r>
              <a:rPr lang="en-US" dirty="0" smtClean="0"/>
              <a:t>This technique is highly relevant for </a:t>
            </a:r>
            <a:r>
              <a:rPr lang="en-US" b="1" dirty="0" smtClean="0"/>
              <a:t>optical and RF applications</a:t>
            </a:r>
            <a:r>
              <a:rPr lang="en-US" dirty="0" smtClean="0"/>
              <a:t>, especially in </a:t>
            </a:r>
            <a:r>
              <a:rPr lang="en-US" b="1" dirty="0" smtClean="0"/>
              <a:t>high-speed transceivers</a:t>
            </a:r>
            <a:r>
              <a:rPr lang="en-US" dirty="0" smtClean="0"/>
              <a:t>.</a:t>
            </a:r>
          </a:p>
          <a:p>
            <a:pPr algn="just"/>
            <a:r>
              <a:rPr lang="en-US" dirty="0" smtClean="0"/>
              <a:t>Would you like any modifications or further breakdowns for your presentation?</a:t>
            </a:r>
            <a:endParaRPr lang="en-US" dirty="0"/>
          </a:p>
        </p:txBody>
      </p:sp>
      <p:sp>
        <p:nvSpPr>
          <p:cNvPr id="2" name="Slide Number Placeholder 1"/>
          <p:cNvSpPr>
            <a:spLocks noGrp="1"/>
          </p:cNvSpPr>
          <p:nvPr>
            <p:ph type="sldNum" sz="quarter" idx="12"/>
          </p:nvPr>
        </p:nvSpPr>
        <p:spPr/>
        <p:txBody>
          <a:bodyPr/>
          <a:lstStyle/>
          <a:p>
            <a:fld id="{81A3699F-279E-4EDA-A470-7DA0E35FD13B}" type="slidenum">
              <a:rPr lang="en-US" smtClean="0"/>
              <a:t>78</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5" name="Footer Placeholder 4"/>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36479440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3145535" y="167387"/>
            <a:ext cx="5546090" cy="604520"/>
          </a:xfrm>
          <a:prstGeom prst="rect">
            <a:avLst/>
          </a:prstGeom>
        </p:spPr>
        <p:txBody>
          <a:bodyPr vert="horz" wrap="square" lIns="0" tIns="12065" rIns="0" bIns="0" rtlCol="0">
            <a:spAutoFit/>
          </a:bodyPr>
          <a:lstStyle/>
          <a:p>
            <a:pPr marL="12700">
              <a:lnSpc>
                <a:spcPct val="100000"/>
              </a:lnSpc>
              <a:spcBef>
                <a:spcPts val="95"/>
              </a:spcBef>
            </a:pPr>
            <a:r>
              <a:rPr spc="-5" dirty="0"/>
              <a:t>An</a:t>
            </a:r>
            <a:r>
              <a:rPr spc="-15" dirty="0"/>
              <a:t> </a:t>
            </a:r>
            <a:r>
              <a:rPr spc="-10" dirty="0"/>
              <a:t>Electro-Optical</a:t>
            </a:r>
            <a:r>
              <a:rPr spc="20" dirty="0"/>
              <a:t> </a:t>
            </a:r>
            <a:r>
              <a:rPr spc="-10" dirty="0"/>
              <a:t>Link</a:t>
            </a:r>
          </a:p>
        </p:txBody>
      </p:sp>
      <p:grpSp>
        <p:nvGrpSpPr>
          <p:cNvPr id="136" name="Group 135"/>
          <p:cNvGrpSpPr/>
          <p:nvPr/>
        </p:nvGrpSpPr>
        <p:grpSpPr>
          <a:xfrm>
            <a:off x="9356597" y="1804416"/>
            <a:ext cx="2157984" cy="2129028"/>
            <a:chOff x="9356597" y="1804416"/>
            <a:chExt cx="2157984" cy="2129028"/>
          </a:xfrm>
        </p:grpSpPr>
        <p:sp>
          <p:nvSpPr>
            <p:cNvPr id="34" name="object 34"/>
            <p:cNvSpPr/>
            <p:nvPr/>
          </p:nvSpPr>
          <p:spPr>
            <a:xfrm>
              <a:off x="9904730" y="3761994"/>
              <a:ext cx="143510" cy="171450"/>
            </a:xfrm>
            <a:custGeom>
              <a:avLst/>
              <a:gdLst/>
              <a:ahLst/>
              <a:cxnLst/>
              <a:rect l="l" t="t" r="r" b="b"/>
              <a:pathLst>
                <a:path w="143509" h="171450">
                  <a:moveTo>
                    <a:pt x="143510" y="133350"/>
                  </a:moveTo>
                  <a:lnTo>
                    <a:pt x="38100" y="133350"/>
                  </a:lnTo>
                  <a:lnTo>
                    <a:pt x="38100" y="0"/>
                  </a:lnTo>
                  <a:lnTo>
                    <a:pt x="19050" y="0"/>
                  </a:lnTo>
                  <a:lnTo>
                    <a:pt x="0" y="0"/>
                  </a:lnTo>
                  <a:lnTo>
                    <a:pt x="0" y="152400"/>
                  </a:lnTo>
                  <a:lnTo>
                    <a:pt x="19050" y="152400"/>
                  </a:lnTo>
                  <a:lnTo>
                    <a:pt x="19558" y="152400"/>
                  </a:lnTo>
                  <a:lnTo>
                    <a:pt x="19558" y="171450"/>
                  </a:lnTo>
                  <a:lnTo>
                    <a:pt x="38100" y="171450"/>
                  </a:lnTo>
                  <a:lnTo>
                    <a:pt x="38608" y="171450"/>
                  </a:lnTo>
                  <a:lnTo>
                    <a:pt x="143510" y="171450"/>
                  </a:lnTo>
                  <a:lnTo>
                    <a:pt x="143510" y="13335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bject 35"/>
            <p:cNvSpPr/>
            <p:nvPr/>
          </p:nvSpPr>
          <p:spPr>
            <a:xfrm>
              <a:off x="9905238" y="34952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p:cNvSpPr/>
            <p:nvPr/>
          </p:nvSpPr>
          <p:spPr>
            <a:xfrm>
              <a:off x="9905238" y="32285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object 37"/>
            <p:cNvSpPr/>
            <p:nvPr/>
          </p:nvSpPr>
          <p:spPr>
            <a:xfrm>
              <a:off x="9905238" y="29618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object 38"/>
            <p:cNvSpPr/>
            <p:nvPr/>
          </p:nvSpPr>
          <p:spPr>
            <a:xfrm>
              <a:off x="9905238" y="24284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bject 39"/>
            <p:cNvSpPr/>
            <p:nvPr/>
          </p:nvSpPr>
          <p:spPr>
            <a:xfrm>
              <a:off x="9905238" y="21617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40"/>
            <p:cNvSpPr/>
            <p:nvPr/>
          </p:nvSpPr>
          <p:spPr>
            <a:xfrm>
              <a:off x="9905238" y="18950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bject 41"/>
            <p:cNvSpPr/>
            <p:nvPr/>
          </p:nvSpPr>
          <p:spPr>
            <a:xfrm>
              <a:off x="99661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bject 42"/>
            <p:cNvSpPr/>
            <p:nvPr/>
          </p:nvSpPr>
          <p:spPr>
            <a:xfrm>
              <a:off x="102328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bject 43"/>
            <p:cNvSpPr/>
            <p:nvPr/>
          </p:nvSpPr>
          <p:spPr>
            <a:xfrm>
              <a:off x="104995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bject 44"/>
            <p:cNvSpPr/>
            <p:nvPr/>
          </p:nvSpPr>
          <p:spPr>
            <a:xfrm>
              <a:off x="107662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bject 45"/>
            <p:cNvSpPr/>
            <p:nvPr/>
          </p:nvSpPr>
          <p:spPr>
            <a:xfrm>
              <a:off x="110329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bject 46"/>
            <p:cNvSpPr/>
            <p:nvPr/>
          </p:nvSpPr>
          <p:spPr>
            <a:xfrm>
              <a:off x="11299697" y="1804416"/>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bject 47"/>
            <p:cNvSpPr/>
            <p:nvPr/>
          </p:nvSpPr>
          <p:spPr>
            <a:xfrm>
              <a:off x="11476481" y="18943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bject 48"/>
            <p:cNvSpPr/>
            <p:nvPr/>
          </p:nvSpPr>
          <p:spPr>
            <a:xfrm>
              <a:off x="11476481" y="21610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bject 49"/>
            <p:cNvSpPr/>
            <p:nvPr/>
          </p:nvSpPr>
          <p:spPr>
            <a:xfrm>
              <a:off x="11476481" y="24277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bject 50"/>
            <p:cNvSpPr/>
            <p:nvPr/>
          </p:nvSpPr>
          <p:spPr>
            <a:xfrm>
              <a:off x="11476481" y="26944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bject 51"/>
            <p:cNvSpPr/>
            <p:nvPr/>
          </p:nvSpPr>
          <p:spPr>
            <a:xfrm>
              <a:off x="11476481" y="29611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bject 52"/>
            <p:cNvSpPr/>
            <p:nvPr/>
          </p:nvSpPr>
          <p:spPr>
            <a:xfrm>
              <a:off x="11476481" y="3227832"/>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bject 53"/>
            <p:cNvSpPr/>
            <p:nvPr/>
          </p:nvSpPr>
          <p:spPr>
            <a:xfrm>
              <a:off x="11476481" y="3494532"/>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bject 54"/>
            <p:cNvSpPr/>
            <p:nvPr/>
          </p:nvSpPr>
          <p:spPr>
            <a:xfrm>
              <a:off x="11476481" y="3761232"/>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bject 55"/>
            <p:cNvSpPr/>
            <p:nvPr/>
          </p:nvSpPr>
          <p:spPr>
            <a:xfrm>
              <a:off x="112295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object 56"/>
            <p:cNvSpPr/>
            <p:nvPr/>
          </p:nvSpPr>
          <p:spPr>
            <a:xfrm>
              <a:off x="109628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bject 57"/>
            <p:cNvSpPr/>
            <p:nvPr/>
          </p:nvSpPr>
          <p:spPr>
            <a:xfrm>
              <a:off x="106961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object 58"/>
            <p:cNvSpPr/>
            <p:nvPr/>
          </p:nvSpPr>
          <p:spPr>
            <a:xfrm>
              <a:off x="104294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bject 59"/>
            <p:cNvSpPr/>
            <p:nvPr/>
          </p:nvSpPr>
          <p:spPr>
            <a:xfrm>
              <a:off x="10162793"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0" name="object 60"/>
            <p:cNvGrpSpPr/>
            <p:nvPr/>
          </p:nvGrpSpPr>
          <p:grpSpPr>
            <a:xfrm>
              <a:off x="9905238" y="2442210"/>
              <a:ext cx="1480820" cy="899160"/>
              <a:chOff x="9905238" y="2442210"/>
              <a:chExt cx="1480820" cy="899160"/>
            </a:xfrm>
          </p:grpSpPr>
          <p:sp>
            <p:nvSpPr>
              <p:cNvPr id="61" name="object 61"/>
              <p:cNvSpPr/>
              <p:nvPr/>
            </p:nvSpPr>
            <p:spPr>
              <a:xfrm>
                <a:off x="9905238" y="26951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object 62"/>
              <p:cNvSpPr/>
              <p:nvPr/>
            </p:nvSpPr>
            <p:spPr>
              <a:xfrm>
                <a:off x="10100310" y="2888742"/>
                <a:ext cx="567690" cy="38100"/>
              </a:xfrm>
              <a:custGeom>
                <a:avLst/>
                <a:gdLst/>
                <a:ahLst/>
                <a:cxnLst/>
                <a:rect l="l" t="t" r="r" b="b"/>
                <a:pathLst>
                  <a:path w="567690" h="38100">
                    <a:moveTo>
                      <a:pt x="567690" y="38100"/>
                    </a:moveTo>
                    <a:lnTo>
                      <a:pt x="567690" y="0"/>
                    </a:lnTo>
                    <a:lnTo>
                      <a:pt x="0" y="0"/>
                    </a:lnTo>
                    <a:lnTo>
                      <a:pt x="0" y="38100"/>
                    </a:lnTo>
                    <a:lnTo>
                      <a:pt x="567690" y="381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object 63"/>
              <p:cNvSpPr/>
              <p:nvPr/>
            </p:nvSpPr>
            <p:spPr>
              <a:xfrm>
                <a:off x="10077450" y="2794254"/>
                <a:ext cx="338455" cy="199390"/>
              </a:xfrm>
              <a:custGeom>
                <a:avLst/>
                <a:gdLst/>
                <a:ahLst/>
                <a:cxnLst/>
                <a:rect l="l" t="t" r="r" b="b"/>
                <a:pathLst>
                  <a:path w="338454" h="199389">
                    <a:moveTo>
                      <a:pt x="338328" y="99822"/>
                    </a:moveTo>
                    <a:lnTo>
                      <a:pt x="335244" y="60757"/>
                    </a:lnTo>
                    <a:lnTo>
                      <a:pt x="326802" y="29051"/>
                    </a:lnTo>
                    <a:lnTo>
                      <a:pt x="314217" y="7774"/>
                    </a:lnTo>
                    <a:lnTo>
                      <a:pt x="298704" y="0"/>
                    </a:lnTo>
                    <a:lnTo>
                      <a:pt x="0" y="0"/>
                    </a:lnTo>
                    <a:lnTo>
                      <a:pt x="15192" y="7774"/>
                    </a:lnTo>
                    <a:lnTo>
                      <a:pt x="27812" y="29051"/>
                    </a:lnTo>
                    <a:lnTo>
                      <a:pt x="36433" y="60757"/>
                    </a:lnTo>
                    <a:lnTo>
                      <a:pt x="39623" y="99822"/>
                    </a:lnTo>
                    <a:lnTo>
                      <a:pt x="36433" y="138445"/>
                    </a:lnTo>
                    <a:lnTo>
                      <a:pt x="27813" y="169926"/>
                    </a:lnTo>
                    <a:lnTo>
                      <a:pt x="15192" y="191119"/>
                    </a:lnTo>
                    <a:lnTo>
                      <a:pt x="0" y="198882"/>
                    </a:lnTo>
                    <a:lnTo>
                      <a:pt x="298704" y="198882"/>
                    </a:lnTo>
                    <a:lnTo>
                      <a:pt x="314217" y="191119"/>
                    </a:lnTo>
                    <a:lnTo>
                      <a:pt x="326802" y="169926"/>
                    </a:lnTo>
                    <a:lnTo>
                      <a:pt x="335244" y="138445"/>
                    </a:lnTo>
                    <a:lnTo>
                      <a:pt x="338328" y="99822"/>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4" name="object 64"/>
              <p:cNvPicPr/>
              <p:nvPr/>
            </p:nvPicPr>
            <p:blipFill>
              <a:blip r:embed="rId3" cstate="print"/>
              <a:stretch>
                <a:fillRect/>
              </a:stretch>
            </p:blipFill>
            <p:spPr>
              <a:xfrm>
                <a:off x="10037826" y="2794254"/>
                <a:ext cx="79248" cy="198882"/>
              </a:xfrm>
              <a:prstGeom prst="rect">
                <a:avLst/>
              </a:prstGeom>
            </p:spPr>
          </p:pic>
          <p:sp>
            <p:nvSpPr>
              <p:cNvPr id="65" name="object 65"/>
              <p:cNvSpPr/>
              <p:nvPr/>
            </p:nvSpPr>
            <p:spPr>
              <a:xfrm>
                <a:off x="10023348" y="2779776"/>
                <a:ext cx="407034" cy="227965"/>
              </a:xfrm>
              <a:custGeom>
                <a:avLst/>
                <a:gdLst/>
                <a:ahLst/>
                <a:cxnLst/>
                <a:rect l="l" t="t" r="r" b="b"/>
                <a:pathLst>
                  <a:path w="407034" h="227964">
                    <a:moveTo>
                      <a:pt x="90593" y="28956"/>
                    </a:moveTo>
                    <a:lnTo>
                      <a:pt x="87630" y="23621"/>
                    </a:lnTo>
                    <a:lnTo>
                      <a:pt x="83820" y="17525"/>
                    </a:lnTo>
                    <a:lnTo>
                      <a:pt x="80010" y="12953"/>
                    </a:lnTo>
                    <a:lnTo>
                      <a:pt x="80010" y="12191"/>
                    </a:lnTo>
                    <a:lnTo>
                      <a:pt x="79248" y="12191"/>
                    </a:lnTo>
                    <a:lnTo>
                      <a:pt x="74676" y="7619"/>
                    </a:lnTo>
                    <a:lnTo>
                      <a:pt x="73914" y="7619"/>
                    </a:lnTo>
                    <a:lnTo>
                      <a:pt x="73152" y="6857"/>
                    </a:lnTo>
                    <a:lnTo>
                      <a:pt x="69342" y="4571"/>
                    </a:lnTo>
                    <a:lnTo>
                      <a:pt x="67818" y="3047"/>
                    </a:lnTo>
                    <a:lnTo>
                      <a:pt x="67056" y="3047"/>
                    </a:lnTo>
                    <a:lnTo>
                      <a:pt x="63246" y="1523"/>
                    </a:lnTo>
                    <a:lnTo>
                      <a:pt x="61722" y="761"/>
                    </a:lnTo>
                    <a:lnTo>
                      <a:pt x="59436" y="761"/>
                    </a:lnTo>
                    <a:lnTo>
                      <a:pt x="56388" y="152"/>
                    </a:lnTo>
                    <a:lnTo>
                      <a:pt x="51435" y="76"/>
                    </a:lnTo>
                    <a:lnTo>
                      <a:pt x="48006" y="762"/>
                    </a:lnTo>
                    <a:lnTo>
                      <a:pt x="45720" y="762"/>
                    </a:lnTo>
                    <a:lnTo>
                      <a:pt x="44958" y="1524"/>
                    </a:lnTo>
                    <a:lnTo>
                      <a:pt x="41148" y="3048"/>
                    </a:lnTo>
                    <a:lnTo>
                      <a:pt x="39624" y="3048"/>
                    </a:lnTo>
                    <a:lnTo>
                      <a:pt x="38100" y="4572"/>
                    </a:lnTo>
                    <a:lnTo>
                      <a:pt x="34290" y="6858"/>
                    </a:lnTo>
                    <a:lnTo>
                      <a:pt x="33528" y="7620"/>
                    </a:lnTo>
                    <a:lnTo>
                      <a:pt x="32766" y="7620"/>
                    </a:lnTo>
                    <a:lnTo>
                      <a:pt x="9144" y="46482"/>
                    </a:lnTo>
                    <a:lnTo>
                      <a:pt x="0" y="103632"/>
                    </a:lnTo>
                    <a:lnTo>
                      <a:pt x="0" y="124968"/>
                    </a:lnTo>
                    <a:lnTo>
                      <a:pt x="1524" y="145542"/>
                    </a:lnTo>
                    <a:lnTo>
                      <a:pt x="3048" y="155448"/>
                    </a:lnTo>
                    <a:lnTo>
                      <a:pt x="5334" y="164592"/>
                    </a:lnTo>
                    <a:lnTo>
                      <a:pt x="6858" y="173736"/>
                    </a:lnTo>
                    <a:lnTo>
                      <a:pt x="23622" y="210311"/>
                    </a:lnTo>
                    <a:lnTo>
                      <a:pt x="28194" y="215537"/>
                    </a:lnTo>
                    <a:lnTo>
                      <a:pt x="28194" y="113538"/>
                    </a:lnTo>
                    <a:lnTo>
                      <a:pt x="28956" y="104394"/>
                    </a:lnTo>
                    <a:lnTo>
                      <a:pt x="28956" y="94488"/>
                    </a:lnTo>
                    <a:lnTo>
                      <a:pt x="30480" y="86106"/>
                    </a:lnTo>
                    <a:lnTo>
                      <a:pt x="31242" y="76962"/>
                    </a:lnTo>
                    <a:lnTo>
                      <a:pt x="32766" y="69342"/>
                    </a:lnTo>
                    <a:lnTo>
                      <a:pt x="35052" y="61722"/>
                    </a:lnTo>
                    <a:lnTo>
                      <a:pt x="36576" y="54864"/>
                    </a:lnTo>
                    <a:lnTo>
                      <a:pt x="38862" y="48006"/>
                    </a:lnTo>
                    <a:lnTo>
                      <a:pt x="41910" y="42672"/>
                    </a:lnTo>
                    <a:lnTo>
                      <a:pt x="44196" y="38100"/>
                    </a:lnTo>
                    <a:lnTo>
                      <a:pt x="46482" y="34290"/>
                    </a:lnTo>
                    <a:lnTo>
                      <a:pt x="49530" y="31242"/>
                    </a:lnTo>
                    <a:lnTo>
                      <a:pt x="49530" y="30480"/>
                    </a:lnTo>
                    <a:lnTo>
                      <a:pt x="51816" y="28956"/>
                    </a:lnTo>
                    <a:lnTo>
                      <a:pt x="51816" y="28194"/>
                    </a:lnTo>
                    <a:lnTo>
                      <a:pt x="55626" y="28194"/>
                    </a:lnTo>
                    <a:lnTo>
                      <a:pt x="55626" y="28803"/>
                    </a:lnTo>
                    <a:lnTo>
                      <a:pt x="56007" y="28879"/>
                    </a:lnTo>
                    <a:lnTo>
                      <a:pt x="90593" y="28956"/>
                    </a:lnTo>
                    <a:close/>
                  </a:path>
                  <a:path w="407034" h="227964">
                    <a:moveTo>
                      <a:pt x="51435" y="198501"/>
                    </a:moveTo>
                    <a:lnTo>
                      <a:pt x="32766" y="158496"/>
                    </a:lnTo>
                    <a:lnTo>
                      <a:pt x="28956" y="132588"/>
                    </a:lnTo>
                    <a:lnTo>
                      <a:pt x="28956" y="123444"/>
                    </a:lnTo>
                    <a:lnTo>
                      <a:pt x="28194" y="113538"/>
                    </a:lnTo>
                    <a:lnTo>
                      <a:pt x="28194" y="215537"/>
                    </a:lnTo>
                    <a:lnTo>
                      <a:pt x="28956" y="216408"/>
                    </a:lnTo>
                    <a:lnTo>
                      <a:pt x="33528" y="220979"/>
                    </a:lnTo>
                    <a:lnTo>
                      <a:pt x="34290" y="220979"/>
                    </a:lnTo>
                    <a:lnTo>
                      <a:pt x="38100" y="223265"/>
                    </a:lnTo>
                    <a:lnTo>
                      <a:pt x="39624" y="224790"/>
                    </a:lnTo>
                    <a:lnTo>
                      <a:pt x="40386" y="224790"/>
                    </a:lnTo>
                    <a:lnTo>
                      <a:pt x="44958" y="226314"/>
                    </a:lnTo>
                    <a:lnTo>
                      <a:pt x="45720" y="227076"/>
                    </a:lnTo>
                    <a:lnTo>
                      <a:pt x="48006" y="227076"/>
                    </a:lnTo>
                    <a:lnTo>
                      <a:pt x="49530" y="227380"/>
                    </a:lnTo>
                    <a:lnTo>
                      <a:pt x="49530" y="197358"/>
                    </a:lnTo>
                    <a:lnTo>
                      <a:pt x="51435" y="198501"/>
                    </a:lnTo>
                    <a:close/>
                  </a:path>
                  <a:path w="407034" h="227964">
                    <a:moveTo>
                      <a:pt x="51816" y="28956"/>
                    </a:moveTo>
                    <a:lnTo>
                      <a:pt x="49530" y="30480"/>
                    </a:lnTo>
                    <a:lnTo>
                      <a:pt x="51435" y="29337"/>
                    </a:lnTo>
                    <a:lnTo>
                      <a:pt x="51816" y="28956"/>
                    </a:lnTo>
                    <a:close/>
                  </a:path>
                  <a:path w="407034" h="227964">
                    <a:moveTo>
                      <a:pt x="51435" y="29337"/>
                    </a:moveTo>
                    <a:lnTo>
                      <a:pt x="49530" y="30480"/>
                    </a:lnTo>
                    <a:lnTo>
                      <a:pt x="49530" y="31242"/>
                    </a:lnTo>
                    <a:lnTo>
                      <a:pt x="51435" y="29337"/>
                    </a:lnTo>
                    <a:close/>
                  </a:path>
                  <a:path w="407034" h="227964">
                    <a:moveTo>
                      <a:pt x="51816" y="198882"/>
                    </a:moveTo>
                    <a:lnTo>
                      <a:pt x="51435" y="198501"/>
                    </a:lnTo>
                    <a:lnTo>
                      <a:pt x="49530" y="197358"/>
                    </a:lnTo>
                    <a:lnTo>
                      <a:pt x="51816" y="198882"/>
                    </a:lnTo>
                    <a:close/>
                  </a:path>
                  <a:path w="407034" h="227964">
                    <a:moveTo>
                      <a:pt x="53008" y="199445"/>
                    </a:moveTo>
                    <a:lnTo>
                      <a:pt x="52251" y="198990"/>
                    </a:lnTo>
                    <a:lnTo>
                      <a:pt x="51816" y="198882"/>
                    </a:lnTo>
                    <a:lnTo>
                      <a:pt x="49530" y="197358"/>
                    </a:lnTo>
                    <a:lnTo>
                      <a:pt x="49530" y="227380"/>
                    </a:lnTo>
                    <a:lnTo>
                      <a:pt x="51816" y="227838"/>
                    </a:lnTo>
                    <a:lnTo>
                      <a:pt x="51816" y="199644"/>
                    </a:lnTo>
                    <a:lnTo>
                      <a:pt x="53008" y="199445"/>
                    </a:lnTo>
                    <a:close/>
                  </a:path>
                  <a:path w="407034" h="227964">
                    <a:moveTo>
                      <a:pt x="53824" y="28609"/>
                    </a:moveTo>
                    <a:lnTo>
                      <a:pt x="53644" y="28590"/>
                    </a:lnTo>
                    <a:lnTo>
                      <a:pt x="52425" y="28834"/>
                    </a:lnTo>
                    <a:lnTo>
                      <a:pt x="52197" y="28956"/>
                    </a:lnTo>
                    <a:lnTo>
                      <a:pt x="51054" y="29718"/>
                    </a:lnTo>
                    <a:lnTo>
                      <a:pt x="53824" y="28609"/>
                    </a:lnTo>
                    <a:close/>
                  </a:path>
                  <a:path w="407034" h="227964">
                    <a:moveTo>
                      <a:pt x="53721" y="199186"/>
                    </a:moveTo>
                    <a:lnTo>
                      <a:pt x="51054" y="198120"/>
                    </a:lnTo>
                    <a:lnTo>
                      <a:pt x="52197" y="198882"/>
                    </a:lnTo>
                    <a:lnTo>
                      <a:pt x="52425" y="199003"/>
                    </a:lnTo>
                    <a:lnTo>
                      <a:pt x="53054" y="199129"/>
                    </a:lnTo>
                    <a:lnTo>
                      <a:pt x="53721" y="199186"/>
                    </a:lnTo>
                    <a:close/>
                  </a:path>
                  <a:path w="407034" h="227964">
                    <a:moveTo>
                      <a:pt x="52197" y="28879"/>
                    </a:moveTo>
                    <a:lnTo>
                      <a:pt x="51816" y="28956"/>
                    </a:lnTo>
                    <a:lnTo>
                      <a:pt x="51435" y="29337"/>
                    </a:lnTo>
                    <a:lnTo>
                      <a:pt x="52197" y="28879"/>
                    </a:lnTo>
                    <a:close/>
                  </a:path>
                  <a:path w="407034" h="227964">
                    <a:moveTo>
                      <a:pt x="52197" y="198958"/>
                    </a:moveTo>
                    <a:lnTo>
                      <a:pt x="51435" y="198501"/>
                    </a:lnTo>
                    <a:lnTo>
                      <a:pt x="51816" y="198882"/>
                    </a:lnTo>
                    <a:lnTo>
                      <a:pt x="52197" y="198958"/>
                    </a:lnTo>
                    <a:close/>
                  </a:path>
                  <a:path w="407034" h="227964">
                    <a:moveTo>
                      <a:pt x="53067" y="28357"/>
                    </a:moveTo>
                    <a:lnTo>
                      <a:pt x="52578" y="28194"/>
                    </a:lnTo>
                    <a:lnTo>
                      <a:pt x="51816" y="28194"/>
                    </a:lnTo>
                    <a:lnTo>
                      <a:pt x="52578" y="28321"/>
                    </a:lnTo>
                    <a:lnTo>
                      <a:pt x="53067" y="28357"/>
                    </a:lnTo>
                    <a:close/>
                  </a:path>
                  <a:path w="407034" h="227964">
                    <a:moveTo>
                      <a:pt x="53008" y="28392"/>
                    </a:moveTo>
                    <a:lnTo>
                      <a:pt x="51816" y="28194"/>
                    </a:lnTo>
                    <a:lnTo>
                      <a:pt x="51816" y="28956"/>
                    </a:lnTo>
                    <a:lnTo>
                      <a:pt x="52251" y="28847"/>
                    </a:lnTo>
                    <a:lnTo>
                      <a:pt x="53008" y="28392"/>
                    </a:lnTo>
                    <a:close/>
                  </a:path>
                  <a:path w="407034" h="227964">
                    <a:moveTo>
                      <a:pt x="53035" y="199461"/>
                    </a:moveTo>
                    <a:lnTo>
                      <a:pt x="51816" y="199644"/>
                    </a:lnTo>
                    <a:lnTo>
                      <a:pt x="52578" y="199644"/>
                    </a:lnTo>
                    <a:lnTo>
                      <a:pt x="53035" y="199461"/>
                    </a:lnTo>
                    <a:close/>
                  </a:path>
                  <a:path w="407034" h="227964">
                    <a:moveTo>
                      <a:pt x="90508" y="199644"/>
                    </a:moveTo>
                    <a:lnTo>
                      <a:pt x="51816" y="199644"/>
                    </a:lnTo>
                    <a:lnTo>
                      <a:pt x="51816" y="227838"/>
                    </a:lnTo>
                    <a:lnTo>
                      <a:pt x="56007" y="227761"/>
                    </a:lnTo>
                    <a:lnTo>
                      <a:pt x="59436" y="227076"/>
                    </a:lnTo>
                    <a:lnTo>
                      <a:pt x="61722" y="227076"/>
                    </a:lnTo>
                    <a:lnTo>
                      <a:pt x="63246" y="226314"/>
                    </a:lnTo>
                    <a:lnTo>
                      <a:pt x="67056" y="224790"/>
                    </a:lnTo>
                    <a:lnTo>
                      <a:pt x="67818" y="224790"/>
                    </a:lnTo>
                    <a:lnTo>
                      <a:pt x="69342" y="223265"/>
                    </a:lnTo>
                    <a:lnTo>
                      <a:pt x="73152" y="220979"/>
                    </a:lnTo>
                    <a:lnTo>
                      <a:pt x="73914" y="220979"/>
                    </a:lnTo>
                    <a:lnTo>
                      <a:pt x="79248" y="215646"/>
                    </a:lnTo>
                    <a:lnTo>
                      <a:pt x="80010" y="215646"/>
                    </a:lnTo>
                    <a:lnTo>
                      <a:pt x="80010" y="214884"/>
                    </a:lnTo>
                    <a:lnTo>
                      <a:pt x="84582" y="209550"/>
                    </a:lnTo>
                    <a:lnTo>
                      <a:pt x="88392" y="203454"/>
                    </a:lnTo>
                    <a:lnTo>
                      <a:pt x="90508" y="199644"/>
                    </a:lnTo>
                    <a:close/>
                  </a:path>
                  <a:path w="407034" h="227964">
                    <a:moveTo>
                      <a:pt x="53721" y="28575"/>
                    </a:moveTo>
                    <a:lnTo>
                      <a:pt x="53086" y="28638"/>
                    </a:lnTo>
                    <a:lnTo>
                      <a:pt x="52578" y="28765"/>
                    </a:lnTo>
                    <a:lnTo>
                      <a:pt x="52360" y="28847"/>
                    </a:lnTo>
                    <a:lnTo>
                      <a:pt x="53721" y="28575"/>
                    </a:lnTo>
                    <a:close/>
                  </a:path>
                  <a:path w="407034" h="227964">
                    <a:moveTo>
                      <a:pt x="53594" y="199237"/>
                    </a:moveTo>
                    <a:lnTo>
                      <a:pt x="52360" y="198990"/>
                    </a:lnTo>
                    <a:lnTo>
                      <a:pt x="52578" y="199072"/>
                    </a:lnTo>
                    <a:lnTo>
                      <a:pt x="53086" y="199199"/>
                    </a:lnTo>
                    <a:lnTo>
                      <a:pt x="53594" y="199237"/>
                    </a:lnTo>
                    <a:close/>
                  </a:path>
                  <a:path w="407034" h="227964">
                    <a:moveTo>
                      <a:pt x="53557" y="28520"/>
                    </a:moveTo>
                    <a:lnTo>
                      <a:pt x="53008" y="28414"/>
                    </a:lnTo>
                    <a:lnTo>
                      <a:pt x="52425" y="28803"/>
                    </a:lnTo>
                    <a:lnTo>
                      <a:pt x="53557" y="28520"/>
                    </a:lnTo>
                    <a:close/>
                  </a:path>
                  <a:path w="407034" h="227964">
                    <a:moveTo>
                      <a:pt x="53457" y="199292"/>
                    </a:moveTo>
                    <a:lnTo>
                      <a:pt x="52425" y="199034"/>
                    </a:lnTo>
                    <a:lnTo>
                      <a:pt x="53008" y="199423"/>
                    </a:lnTo>
                    <a:lnTo>
                      <a:pt x="53457" y="199292"/>
                    </a:lnTo>
                    <a:close/>
                  </a:path>
                  <a:path w="407034" h="227964">
                    <a:moveTo>
                      <a:pt x="53149" y="28308"/>
                    </a:moveTo>
                    <a:lnTo>
                      <a:pt x="52578" y="28194"/>
                    </a:lnTo>
                    <a:lnTo>
                      <a:pt x="53008" y="28337"/>
                    </a:lnTo>
                    <a:lnTo>
                      <a:pt x="53149" y="28308"/>
                    </a:lnTo>
                    <a:close/>
                  </a:path>
                  <a:path w="407034" h="227964">
                    <a:moveTo>
                      <a:pt x="53149" y="199529"/>
                    </a:moveTo>
                    <a:lnTo>
                      <a:pt x="53008" y="199471"/>
                    </a:lnTo>
                    <a:lnTo>
                      <a:pt x="52578" y="199644"/>
                    </a:lnTo>
                    <a:lnTo>
                      <a:pt x="53149" y="199529"/>
                    </a:lnTo>
                    <a:close/>
                  </a:path>
                  <a:path w="407034" h="227964">
                    <a:moveTo>
                      <a:pt x="53848" y="28448"/>
                    </a:moveTo>
                    <a:lnTo>
                      <a:pt x="53086" y="28363"/>
                    </a:lnTo>
                    <a:lnTo>
                      <a:pt x="53557" y="28484"/>
                    </a:lnTo>
                    <a:lnTo>
                      <a:pt x="53848" y="28448"/>
                    </a:lnTo>
                    <a:close/>
                  </a:path>
                  <a:path w="407034" h="227964">
                    <a:moveTo>
                      <a:pt x="53644" y="199339"/>
                    </a:moveTo>
                    <a:lnTo>
                      <a:pt x="53340" y="199339"/>
                    </a:lnTo>
                    <a:lnTo>
                      <a:pt x="53122" y="199426"/>
                    </a:lnTo>
                    <a:lnTo>
                      <a:pt x="53644" y="199339"/>
                    </a:lnTo>
                    <a:close/>
                  </a:path>
                  <a:path w="407034" h="227964">
                    <a:moveTo>
                      <a:pt x="54326" y="28328"/>
                    </a:moveTo>
                    <a:lnTo>
                      <a:pt x="53164" y="28311"/>
                    </a:lnTo>
                    <a:lnTo>
                      <a:pt x="53721" y="28422"/>
                    </a:lnTo>
                    <a:lnTo>
                      <a:pt x="54326" y="28328"/>
                    </a:lnTo>
                    <a:close/>
                  </a:path>
                  <a:path w="407034" h="227964">
                    <a:moveTo>
                      <a:pt x="54309" y="199505"/>
                    </a:moveTo>
                    <a:lnTo>
                      <a:pt x="53721" y="199415"/>
                    </a:lnTo>
                    <a:lnTo>
                      <a:pt x="53164" y="199526"/>
                    </a:lnTo>
                    <a:lnTo>
                      <a:pt x="54102" y="199644"/>
                    </a:lnTo>
                    <a:lnTo>
                      <a:pt x="54309" y="199505"/>
                    </a:lnTo>
                    <a:close/>
                  </a:path>
                  <a:path w="407034" h="227964">
                    <a:moveTo>
                      <a:pt x="56388" y="198120"/>
                    </a:moveTo>
                    <a:lnTo>
                      <a:pt x="53721" y="199186"/>
                    </a:lnTo>
                    <a:lnTo>
                      <a:pt x="54864" y="199136"/>
                    </a:lnTo>
                    <a:lnTo>
                      <a:pt x="56388" y="198120"/>
                    </a:lnTo>
                    <a:close/>
                  </a:path>
                  <a:path w="407034" h="227964">
                    <a:moveTo>
                      <a:pt x="55372" y="28956"/>
                    </a:moveTo>
                    <a:lnTo>
                      <a:pt x="54981" y="28721"/>
                    </a:lnTo>
                    <a:lnTo>
                      <a:pt x="53824" y="28609"/>
                    </a:lnTo>
                    <a:lnTo>
                      <a:pt x="54864" y="28955"/>
                    </a:lnTo>
                    <a:lnTo>
                      <a:pt x="55372" y="28956"/>
                    </a:lnTo>
                    <a:close/>
                  </a:path>
                  <a:path w="407034" h="227964">
                    <a:moveTo>
                      <a:pt x="54981" y="28721"/>
                    </a:moveTo>
                    <a:lnTo>
                      <a:pt x="53967" y="28552"/>
                    </a:lnTo>
                    <a:lnTo>
                      <a:pt x="54981" y="28721"/>
                    </a:lnTo>
                    <a:close/>
                  </a:path>
                  <a:path w="407034" h="227964">
                    <a:moveTo>
                      <a:pt x="54864" y="199136"/>
                    </a:moveTo>
                    <a:lnTo>
                      <a:pt x="53967" y="199285"/>
                    </a:lnTo>
                    <a:lnTo>
                      <a:pt x="54755" y="199208"/>
                    </a:lnTo>
                    <a:close/>
                  </a:path>
                  <a:path w="407034" h="227964">
                    <a:moveTo>
                      <a:pt x="54356" y="28321"/>
                    </a:moveTo>
                    <a:lnTo>
                      <a:pt x="54102" y="28194"/>
                    </a:lnTo>
                    <a:lnTo>
                      <a:pt x="54309" y="28318"/>
                    </a:lnTo>
                    <a:close/>
                  </a:path>
                  <a:path w="407034" h="227964">
                    <a:moveTo>
                      <a:pt x="54864" y="28651"/>
                    </a:moveTo>
                    <a:lnTo>
                      <a:pt x="54102" y="28498"/>
                    </a:lnTo>
                    <a:lnTo>
                      <a:pt x="54864" y="28651"/>
                    </a:lnTo>
                    <a:close/>
                  </a:path>
                  <a:path w="407034" h="227964">
                    <a:moveTo>
                      <a:pt x="54864" y="28956"/>
                    </a:moveTo>
                    <a:lnTo>
                      <a:pt x="54102" y="28702"/>
                    </a:lnTo>
                    <a:lnTo>
                      <a:pt x="54102" y="28956"/>
                    </a:lnTo>
                    <a:lnTo>
                      <a:pt x="54864" y="28956"/>
                    </a:lnTo>
                    <a:close/>
                  </a:path>
                  <a:path w="407034" h="227964">
                    <a:moveTo>
                      <a:pt x="54755" y="199208"/>
                    </a:moveTo>
                    <a:lnTo>
                      <a:pt x="54102" y="199339"/>
                    </a:lnTo>
                    <a:lnTo>
                      <a:pt x="54537" y="199353"/>
                    </a:lnTo>
                    <a:lnTo>
                      <a:pt x="54755" y="199208"/>
                    </a:lnTo>
                    <a:close/>
                  </a:path>
                  <a:path w="407034" h="227964">
                    <a:moveTo>
                      <a:pt x="54864" y="199644"/>
                    </a:moveTo>
                    <a:lnTo>
                      <a:pt x="54309" y="199519"/>
                    </a:lnTo>
                    <a:lnTo>
                      <a:pt x="54102" y="199644"/>
                    </a:lnTo>
                    <a:lnTo>
                      <a:pt x="54864" y="199644"/>
                    </a:lnTo>
                    <a:close/>
                  </a:path>
                  <a:path w="407034" h="227964">
                    <a:moveTo>
                      <a:pt x="54864" y="199644"/>
                    </a:moveTo>
                    <a:lnTo>
                      <a:pt x="54326" y="199509"/>
                    </a:lnTo>
                    <a:lnTo>
                      <a:pt x="54864" y="199644"/>
                    </a:lnTo>
                    <a:close/>
                  </a:path>
                  <a:path w="407034" h="227964">
                    <a:moveTo>
                      <a:pt x="55626" y="199644"/>
                    </a:moveTo>
                    <a:lnTo>
                      <a:pt x="55245" y="199567"/>
                    </a:lnTo>
                    <a:lnTo>
                      <a:pt x="54406" y="199461"/>
                    </a:lnTo>
                    <a:lnTo>
                      <a:pt x="54755" y="199600"/>
                    </a:lnTo>
                    <a:lnTo>
                      <a:pt x="55626" y="199644"/>
                    </a:lnTo>
                    <a:close/>
                  </a:path>
                  <a:path w="407034" h="227964">
                    <a:moveTo>
                      <a:pt x="55626" y="28194"/>
                    </a:moveTo>
                    <a:lnTo>
                      <a:pt x="54755" y="28237"/>
                    </a:lnTo>
                    <a:lnTo>
                      <a:pt x="54440" y="28363"/>
                    </a:lnTo>
                    <a:lnTo>
                      <a:pt x="55372" y="28244"/>
                    </a:lnTo>
                    <a:lnTo>
                      <a:pt x="55626" y="28194"/>
                    </a:lnTo>
                    <a:close/>
                  </a:path>
                  <a:path w="407034" h="227964">
                    <a:moveTo>
                      <a:pt x="55118" y="28702"/>
                    </a:moveTo>
                    <a:lnTo>
                      <a:pt x="54755" y="28520"/>
                    </a:lnTo>
                    <a:lnTo>
                      <a:pt x="54483" y="28422"/>
                    </a:lnTo>
                    <a:lnTo>
                      <a:pt x="54755" y="28585"/>
                    </a:lnTo>
                    <a:lnTo>
                      <a:pt x="55118" y="28702"/>
                    </a:lnTo>
                    <a:close/>
                  </a:path>
                  <a:path w="407034" h="227964">
                    <a:moveTo>
                      <a:pt x="56388" y="199644"/>
                    </a:moveTo>
                    <a:lnTo>
                      <a:pt x="56388" y="198882"/>
                    </a:lnTo>
                    <a:lnTo>
                      <a:pt x="55118" y="199136"/>
                    </a:lnTo>
                    <a:lnTo>
                      <a:pt x="54755" y="199252"/>
                    </a:lnTo>
                    <a:lnTo>
                      <a:pt x="54483" y="199415"/>
                    </a:lnTo>
                    <a:lnTo>
                      <a:pt x="55118" y="199542"/>
                    </a:lnTo>
                    <a:lnTo>
                      <a:pt x="56388" y="199644"/>
                    </a:lnTo>
                    <a:close/>
                  </a:path>
                  <a:path w="407034" h="227964">
                    <a:moveTo>
                      <a:pt x="55626" y="28803"/>
                    </a:moveTo>
                    <a:lnTo>
                      <a:pt x="55626" y="28194"/>
                    </a:lnTo>
                    <a:lnTo>
                      <a:pt x="54537" y="28411"/>
                    </a:lnTo>
                    <a:lnTo>
                      <a:pt x="54981" y="28633"/>
                    </a:lnTo>
                    <a:lnTo>
                      <a:pt x="55372" y="28752"/>
                    </a:lnTo>
                    <a:lnTo>
                      <a:pt x="55626" y="28803"/>
                    </a:lnTo>
                    <a:close/>
                  </a:path>
                  <a:path w="407034" h="227964">
                    <a:moveTo>
                      <a:pt x="56007" y="29336"/>
                    </a:moveTo>
                    <a:lnTo>
                      <a:pt x="55372" y="28956"/>
                    </a:lnTo>
                    <a:lnTo>
                      <a:pt x="54864" y="28956"/>
                    </a:lnTo>
                    <a:lnTo>
                      <a:pt x="56007" y="29336"/>
                    </a:lnTo>
                    <a:close/>
                  </a:path>
                  <a:path w="407034" h="227964">
                    <a:moveTo>
                      <a:pt x="56388" y="198882"/>
                    </a:moveTo>
                    <a:lnTo>
                      <a:pt x="55245" y="199072"/>
                    </a:lnTo>
                    <a:lnTo>
                      <a:pt x="54864" y="199186"/>
                    </a:lnTo>
                    <a:lnTo>
                      <a:pt x="56388" y="198882"/>
                    </a:lnTo>
                    <a:close/>
                  </a:path>
                  <a:path w="407034" h="227964">
                    <a:moveTo>
                      <a:pt x="55626" y="28956"/>
                    </a:moveTo>
                    <a:lnTo>
                      <a:pt x="55372" y="28828"/>
                    </a:lnTo>
                    <a:lnTo>
                      <a:pt x="54981" y="28721"/>
                    </a:lnTo>
                    <a:lnTo>
                      <a:pt x="55245" y="28879"/>
                    </a:lnTo>
                    <a:lnTo>
                      <a:pt x="55626" y="28956"/>
                    </a:lnTo>
                    <a:close/>
                  </a:path>
                  <a:path w="407034" h="227964">
                    <a:moveTo>
                      <a:pt x="56007" y="198501"/>
                    </a:moveTo>
                    <a:lnTo>
                      <a:pt x="54981" y="199116"/>
                    </a:lnTo>
                    <a:lnTo>
                      <a:pt x="55626" y="199009"/>
                    </a:lnTo>
                    <a:lnTo>
                      <a:pt x="56007" y="198501"/>
                    </a:lnTo>
                    <a:close/>
                  </a:path>
                  <a:path w="407034" h="227964">
                    <a:moveTo>
                      <a:pt x="56388" y="28956"/>
                    </a:moveTo>
                    <a:lnTo>
                      <a:pt x="55118" y="28702"/>
                    </a:lnTo>
                    <a:lnTo>
                      <a:pt x="55626" y="28829"/>
                    </a:lnTo>
                    <a:lnTo>
                      <a:pt x="56388" y="28956"/>
                    </a:lnTo>
                    <a:close/>
                  </a:path>
                  <a:path w="407034" h="227964">
                    <a:moveTo>
                      <a:pt x="56388" y="28956"/>
                    </a:moveTo>
                    <a:lnTo>
                      <a:pt x="55245" y="28765"/>
                    </a:lnTo>
                    <a:lnTo>
                      <a:pt x="55626" y="28955"/>
                    </a:lnTo>
                    <a:lnTo>
                      <a:pt x="56388" y="28956"/>
                    </a:lnTo>
                    <a:close/>
                  </a:path>
                  <a:path w="407034" h="227964">
                    <a:moveTo>
                      <a:pt x="57150" y="29718"/>
                    </a:moveTo>
                    <a:lnTo>
                      <a:pt x="55626" y="28956"/>
                    </a:lnTo>
                    <a:lnTo>
                      <a:pt x="55372" y="28956"/>
                    </a:lnTo>
                    <a:lnTo>
                      <a:pt x="56007" y="29336"/>
                    </a:lnTo>
                    <a:lnTo>
                      <a:pt x="57150" y="29718"/>
                    </a:lnTo>
                    <a:close/>
                  </a:path>
                  <a:path w="407034" h="227964">
                    <a:moveTo>
                      <a:pt x="406908" y="124205"/>
                    </a:moveTo>
                    <a:lnTo>
                      <a:pt x="406908" y="102869"/>
                    </a:lnTo>
                    <a:lnTo>
                      <a:pt x="406146" y="92201"/>
                    </a:lnTo>
                    <a:lnTo>
                      <a:pt x="399288" y="54101"/>
                    </a:lnTo>
                    <a:lnTo>
                      <a:pt x="377952" y="11429"/>
                    </a:lnTo>
                    <a:lnTo>
                      <a:pt x="374142" y="8381"/>
                    </a:lnTo>
                    <a:lnTo>
                      <a:pt x="374142" y="7619"/>
                    </a:lnTo>
                    <a:lnTo>
                      <a:pt x="373380" y="7619"/>
                    </a:lnTo>
                    <a:lnTo>
                      <a:pt x="372618" y="6857"/>
                    </a:lnTo>
                    <a:lnTo>
                      <a:pt x="368808" y="4571"/>
                    </a:lnTo>
                    <a:lnTo>
                      <a:pt x="368046" y="3809"/>
                    </a:lnTo>
                    <a:lnTo>
                      <a:pt x="366522" y="3047"/>
                    </a:lnTo>
                    <a:lnTo>
                      <a:pt x="365760" y="3047"/>
                    </a:lnTo>
                    <a:lnTo>
                      <a:pt x="361950" y="1523"/>
                    </a:lnTo>
                    <a:lnTo>
                      <a:pt x="361188" y="761"/>
                    </a:lnTo>
                    <a:lnTo>
                      <a:pt x="358902" y="761"/>
                    </a:lnTo>
                    <a:lnTo>
                      <a:pt x="353568" y="95"/>
                    </a:lnTo>
                    <a:lnTo>
                      <a:pt x="55626" y="0"/>
                    </a:lnTo>
                    <a:lnTo>
                      <a:pt x="59436" y="761"/>
                    </a:lnTo>
                    <a:lnTo>
                      <a:pt x="61722" y="761"/>
                    </a:lnTo>
                    <a:lnTo>
                      <a:pt x="63246" y="1523"/>
                    </a:lnTo>
                    <a:lnTo>
                      <a:pt x="67056" y="3047"/>
                    </a:lnTo>
                    <a:lnTo>
                      <a:pt x="67818" y="3047"/>
                    </a:lnTo>
                    <a:lnTo>
                      <a:pt x="69342" y="4571"/>
                    </a:lnTo>
                    <a:lnTo>
                      <a:pt x="73152" y="6857"/>
                    </a:lnTo>
                    <a:lnTo>
                      <a:pt x="73914" y="7619"/>
                    </a:lnTo>
                    <a:lnTo>
                      <a:pt x="74676" y="7619"/>
                    </a:lnTo>
                    <a:lnTo>
                      <a:pt x="79248" y="12191"/>
                    </a:lnTo>
                    <a:lnTo>
                      <a:pt x="80010" y="12191"/>
                    </a:lnTo>
                    <a:lnTo>
                      <a:pt x="80010" y="12953"/>
                    </a:lnTo>
                    <a:lnTo>
                      <a:pt x="83820" y="17525"/>
                    </a:lnTo>
                    <a:lnTo>
                      <a:pt x="87630" y="23621"/>
                    </a:lnTo>
                    <a:lnTo>
                      <a:pt x="90593" y="28955"/>
                    </a:lnTo>
                    <a:lnTo>
                      <a:pt x="352044" y="28955"/>
                    </a:lnTo>
                    <a:lnTo>
                      <a:pt x="352044" y="28193"/>
                    </a:lnTo>
                    <a:lnTo>
                      <a:pt x="352806" y="28384"/>
                    </a:lnTo>
                    <a:lnTo>
                      <a:pt x="352806" y="28193"/>
                    </a:lnTo>
                    <a:lnTo>
                      <a:pt x="353568" y="28574"/>
                    </a:lnTo>
                    <a:lnTo>
                      <a:pt x="355092" y="28955"/>
                    </a:lnTo>
                    <a:lnTo>
                      <a:pt x="358902" y="32765"/>
                    </a:lnTo>
                    <a:lnTo>
                      <a:pt x="360426" y="35813"/>
                    </a:lnTo>
                    <a:lnTo>
                      <a:pt x="362712" y="38861"/>
                    </a:lnTo>
                    <a:lnTo>
                      <a:pt x="365760" y="43433"/>
                    </a:lnTo>
                    <a:lnTo>
                      <a:pt x="370332" y="55625"/>
                    </a:lnTo>
                    <a:lnTo>
                      <a:pt x="371856" y="62483"/>
                    </a:lnTo>
                    <a:lnTo>
                      <a:pt x="374142" y="70103"/>
                    </a:lnTo>
                    <a:lnTo>
                      <a:pt x="375666" y="77723"/>
                    </a:lnTo>
                    <a:lnTo>
                      <a:pt x="377952" y="104393"/>
                    </a:lnTo>
                    <a:lnTo>
                      <a:pt x="377952" y="216190"/>
                    </a:lnTo>
                    <a:lnTo>
                      <a:pt x="379476" y="214884"/>
                    </a:lnTo>
                    <a:lnTo>
                      <a:pt x="384048" y="209550"/>
                    </a:lnTo>
                    <a:lnTo>
                      <a:pt x="387858" y="203454"/>
                    </a:lnTo>
                    <a:lnTo>
                      <a:pt x="390906" y="196595"/>
                    </a:lnTo>
                    <a:lnTo>
                      <a:pt x="394716" y="188976"/>
                    </a:lnTo>
                    <a:lnTo>
                      <a:pt x="397002" y="181355"/>
                    </a:lnTo>
                    <a:lnTo>
                      <a:pt x="399288" y="172973"/>
                    </a:lnTo>
                    <a:lnTo>
                      <a:pt x="403860" y="154685"/>
                    </a:lnTo>
                    <a:lnTo>
                      <a:pt x="404622" y="144779"/>
                    </a:lnTo>
                    <a:lnTo>
                      <a:pt x="406146" y="134873"/>
                    </a:lnTo>
                    <a:lnTo>
                      <a:pt x="406908" y="124205"/>
                    </a:lnTo>
                    <a:close/>
                  </a:path>
                  <a:path w="407034" h="227964">
                    <a:moveTo>
                      <a:pt x="107442" y="124205"/>
                    </a:moveTo>
                    <a:lnTo>
                      <a:pt x="107442" y="102870"/>
                    </a:lnTo>
                    <a:lnTo>
                      <a:pt x="105918" y="82296"/>
                    </a:lnTo>
                    <a:lnTo>
                      <a:pt x="104394" y="72390"/>
                    </a:lnTo>
                    <a:lnTo>
                      <a:pt x="102870" y="63246"/>
                    </a:lnTo>
                    <a:lnTo>
                      <a:pt x="100584" y="54102"/>
                    </a:lnTo>
                    <a:lnTo>
                      <a:pt x="97536" y="45720"/>
                    </a:lnTo>
                    <a:lnTo>
                      <a:pt x="95250" y="37338"/>
                    </a:lnTo>
                    <a:lnTo>
                      <a:pt x="90593" y="28956"/>
                    </a:lnTo>
                    <a:lnTo>
                      <a:pt x="55626" y="28956"/>
                    </a:lnTo>
                    <a:lnTo>
                      <a:pt x="57150" y="29718"/>
                    </a:lnTo>
                    <a:lnTo>
                      <a:pt x="57150" y="30022"/>
                    </a:lnTo>
                    <a:lnTo>
                      <a:pt x="57912" y="30480"/>
                    </a:lnTo>
                    <a:lnTo>
                      <a:pt x="57912" y="31242"/>
                    </a:lnTo>
                    <a:lnTo>
                      <a:pt x="61722" y="35052"/>
                    </a:lnTo>
                    <a:lnTo>
                      <a:pt x="76200" y="77724"/>
                    </a:lnTo>
                    <a:lnTo>
                      <a:pt x="79248" y="199644"/>
                    </a:lnTo>
                    <a:lnTo>
                      <a:pt x="90508" y="199644"/>
                    </a:lnTo>
                    <a:lnTo>
                      <a:pt x="104394" y="154686"/>
                    </a:lnTo>
                    <a:lnTo>
                      <a:pt x="105918" y="144780"/>
                    </a:lnTo>
                    <a:lnTo>
                      <a:pt x="107442" y="124205"/>
                    </a:lnTo>
                    <a:close/>
                  </a:path>
                  <a:path w="407034" h="227964">
                    <a:moveTo>
                      <a:pt x="59436" y="32766"/>
                    </a:moveTo>
                    <a:lnTo>
                      <a:pt x="57912" y="31242"/>
                    </a:lnTo>
                    <a:lnTo>
                      <a:pt x="57912" y="30480"/>
                    </a:lnTo>
                    <a:lnTo>
                      <a:pt x="55626" y="29718"/>
                    </a:lnTo>
                    <a:lnTo>
                      <a:pt x="59436" y="32766"/>
                    </a:lnTo>
                    <a:close/>
                  </a:path>
                  <a:path w="407034" h="227964">
                    <a:moveTo>
                      <a:pt x="57912" y="197358"/>
                    </a:moveTo>
                    <a:lnTo>
                      <a:pt x="56007" y="198501"/>
                    </a:lnTo>
                    <a:lnTo>
                      <a:pt x="55626" y="198882"/>
                    </a:lnTo>
                    <a:lnTo>
                      <a:pt x="57912" y="197358"/>
                    </a:lnTo>
                    <a:close/>
                  </a:path>
                  <a:path w="407034" h="227964">
                    <a:moveTo>
                      <a:pt x="57912" y="199644"/>
                    </a:moveTo>
                    <a:lnTo>
                      <a:pt x="57912" y="197358"/>
                    </a:lnTo>
                    <a:lnTo>
                      <a:pt x="55626" y="198882"/>
                    </a:lnTo>
                    <a:lnTo>
                      <a:pt x="56388" y="198882"/>
                    </a:lnTo>
                    <a:lnTo>
                      <a:pt x="56388" y="199644"/>
                    </a:lnTo>
                    <a:lnTo>
                      <a:pt x="57912" y="199644"/>
                    </a:lnTo>
                    <a:close/>
                  </a:path>
                  <a:path w="407034" h="227964">
                    <a:moveTo>
                      <a:pt x="352806" y="199339"/>
                    </a:moveTo>
                    <a:lnTo>
                      <a:pt x="351282" y="199644"/>
                    </a:lnTo>
                    <a:lnTo>
                      <a:pt x="90508" y="199644"/>
                    </a:lnTo>
                    <a:lnTo>
                      <a:pt x="88392" y="203454"/>
                    </a:lnTo>
                    <a:lnTo>
                      <a:pt x="84582" y="209550"/>
                    </a:lnTo>
                    <a:lnTo>
                      <a:pt x="80010" y="214884"/>
                    </a:lnTo>
                    <a:lnTo>
                      <a:pt x="80010" y="215646"/>
                    </a:lnTo>
                    <a:lnTo>
                      <a:pt x="79248" y="215646"/>
                    </a:lnTo>
                    <a:lnTo>
                      <a:pt x="73914" y="220979"/>
                    </a:lnTo>
                    <a:lnTo>
                      <a:pt x="73152" y="220979"/>
                    </a:lnTo>
                    <a:lnTo>
                      <a:pt x="69342" y="223265"/>
                    </a:lnTo>
                    <a:lnTo>
                      <a:pt x="67818" y="224790"/>
                    </a:lnTo>
                    <a:lnTo>
                      <a:pt x="67056" y="224790"/>
                    </a:lnTo>
                    <a:lnTo>
                      <a:pt x="63246" y="226314"/>
                    </a:lnTo>
                    <a:lnTo>
                      <a:pt x="61722" y="227076"/>
                    </a:lnTo>
                    <a:lnTo>
                      <a:pt x="59436" y="227076"/>
                    </a:lnTo>
                    <a:lnTo>
                      <a:pt x="55626" y="227838"/>
                    </a:lnTo>
                    <a:lnTo>
                      <a:pt x="352044" y="227838"/>
                    </a:lnTo>
                    <a:lnTo>
                      <a:pt x="352044" y="199644"/>
                    </a:lnTo>
                    <a:lnTo>
                      <a:pt x="352806" y="199339"/>
                    </a:lnTo>
                    <a:close/>
                  </a:path>
                  <a:path w="407034" h="227964">
                    <a:moveTo>
                      <a:pt x="57150" y="30022"/>
                    </a:moveTo>
                    <a:lnTo>
                      <a:pt x="57150" y="29718"/>
                    </a:lnTo>
                    <a:lnTo>
                      <a:pt x="56007" y="29336"/>
                    </a:lnTo>
                    <a:lnTo>
                      <a:pt x="57150" y="30022"/>
                    </a:lnTo>
                    <a:close/>
                  </a:path>
                  <a:path w="407034" h="227964">
                    <a:moveTo>
                      <a:pt x="79248" y="199644"/>
                    </a:moveTo>
                    <a:lnTo>
                      <a:pt x="79248" y="124205"/>
                    </a:lnTo>
                    <a:lnTo>
                      <a:pt x="77724" y="142494"/>
                    </a:lnTo>
                    <a:lnTo>
                      <a:pt x="76200" y="150876"/>
                    </a:lnTo>
                    <a:lnTo>
                      <a:pt x="73152" y="166116"/>
                    </a:lnTo>
                    <a:lnTo>
                      <a:pt x="68580" y="179832"/>
                    </a:lnTo>
                    <a:lnTo>
                      <a:pt x="66294" y="185166"/>
                    </a:lnTo>
                    <a:lnTo>
                      <a:pt x="63246" y="189738"/>
                    </a:lnTo>
                    <a:lnTo>
                      <a:pt x="60960" y="193548"/>
                    </a:lnTo>
                    <a:lnTo>
                      <a:pt x="56007" y="198501"/>
                    </a:lnTo>
                    <a:lnTo>
                      <a:pt x="57912" y="197358"/>
                    </a:lnTo>
                    <a:lnTo>
                      <a:pt x="57912" y="199644"/>
                    </a:lnTo>
                    <a:lnTo>
                      <a:pt x="79248" y="199644"/>
                    </a:lnTo>
                    <a:close/>
                  </a:path>
                  <a:path w="407034" h="227964">
                    <a:moveTo>
                      <a:pt x="354076" y="28955"/>
                    </a:moveTo>
                    <a:lnTo>
                      <a:pt x="353350" y="28520"/>
                    </a:lnTo>
                    <a:lnTo>
                      <a:pt x="352044" y="28193"/>
                    </a:lnTo>
                    <a:lnTo>
                      <a:pt x="353822" y="28905"/>
                    </a:lnTo>
                    <a:lnTo>
                      <a:pt x="354076" y="28955"/>
                    </a:lnTo>
                    <a:close/>
                  </a:path>
                  <a:path w="407034" h="227964">
                    <a:moveTo>
                      <a:pt x="353949" y="28955"/>
                    </a:moveTo>
                    <a:lnTo>
                      <a:pt x="352044" y="28193"/>
                    </a:lnTo>
                    <a:lnTo>
                      <a:pt x="352044" y="28955"/>
                    </a:lnTo>
                    <a:lnTo>
                      <a:pt x="353949" y="28955"/>
                    </a:lnTo>
                    <a:close/>
                  </a:path>
                  <a:path w="407034" h="227964">
                    <a:moveTo>
                      <a:pt x="353568" y="199186"/>
                    </a:moveTo>
                    <a:lnTo>
                      <a:pt x="352806" y="199339"/>
                    </a:lnTo>
                    <a:lnTo>
                      <a:pt x="352044" y="199644"/>
                    </a:lnTo>
                    <a:lnTo>
                      <a:pt x="353350" y="199317"/>
                    </a:lnTo>
                    <a:lnTo>
                      <a:pt x="353568" y="199186"/>
                    </a:lnTo>
                    <a:close/>
                  </a:path>
                  <a:path w="407034" h="227964">
                    <a:moveTo>
                      <a:pt x="353350" y="199317"/>
                    </a:moveTo>
                    <a:lnTo>
                      <a:pt x="352044" y="199644"/>
                    </a:lnTo>
                    <a:lnTo>
                      <a:pt x="352044" y="227838"/>
                    </a:lnTo>
                    <a:lnTo>
                      <a:pt x="352806" y="227838"/>
                    </a:lnTo>
                    <a:lnTo>
                      <a:pt x="352806" y="199644"/>
                    </a:lnTo>
                    <a:lnTo>
                      <a:pt x="353350" y="199317"/>
                    </a:lnTo>
                    <a:close/>
                  </a:path>
                  <a:path w="407034" h="227964">
                    <a:moveTo>
                      <a:pt x="353568" y="28574"/>
                    </a:moveTo>
                    <a:lnTo>
                      <a:pt x="352806" y="28193"/>
                    </a:lnTo>
                    <a:lnTo>
                      <a:pt x="353350" y="28520"/>
                    </a:lnTo>
                    <a:lnTo>
                      <a:pt x="353568" y="28574"/>
                    </a:lnTo>
                    <a:close/>
                  </a:path>
                  <a:path w="407034" h="227964">
                    <a:moveTo>
                      <a:pt x="353350" y="28520"/>
                    </a:moveTo>
                    <a:lnTo>
                      <a:pt x="352806" y="28193"/>
                    </a:lnTo>
                    <a:lnTo>
                      <a:pt x="352806" y="28384"/>
                    </a:lnTo>
                    <a:lnTo>
                      <a:pt x="353350" y="28520"/>
                    </a:lnTo>
                    <a:close/>
                  </a:path>
                  <a:path w="407034" h="227964">
                    <a:moveTo>
                      <a:pt x="354330" y="198729"/>
                    </a:moveTo>
                    <a:lnTo>
                      <a:pt x="352806" y="199339"/>
                    </a:lnTo>
                    <a:lnTo>
                      <a:pt x="353568" y="199186"/>
                    </a:lnTo>
                    <a:lnTo>
                      <a:pt x="354330" y="198729"/>
                    </a:lnTo>
                    <a:close/>
                  </a:path>
                  <a:path w="407034" h="227964">
                    <a:moveTo>
                      <a:pt x="353568" y="199263"/>
                    </a:moveTo>
                    <a:lnTo>
                      <a:pt x="353350" y="199317"/>
                    </a:lnTo>
                    <a:lnTo>
                      <a:pt x="352806" y="199644"/>
                    </a:lnTo>
                    <a:lnTo>
                      <a:pt x="353568" y="199263"/>
                    </a:lnTo>
                    <a:close/>
                  </a:path>
                  <a:path w="407034" h="227964">
                    <a:moveTo>
                      <a:pt x="377952" y="216190"/>
                    </a:moveTo>
                    <a:lnTo>
                      <a:pt x="377952" y="124205"/>
                    </a:lnTo>
                    <a:lnTo>
                      <a:pt x="376428" y="142494"/>
                    </a:lnTo>
                    <a:lnTo>
                      <a:pt x="374904" y="150876"/>
                    </a:lnTo>
                    <a:lnTo>
                      <a:pt x="362712" y="189737"/>
                    </a:lnTo>
                    <a:lnTo>
                      <a:pt x="359664" y="193547"/>
                    </a:lnTo>
                    <a:lnTo>
                      <a:pt x="357378" y="196595"/>
                    </a:lnTo>
                    <a:lnTo>
                      <a:pt x="355092" y="198881"/>
                    </a:lnTo>
                    <a:lnTo>
                      <a:pt x="353568" y="199263"/>
                    </a:lnTo>
                    <a:lnTo>
                      <a:pt x="352806" y="199644"/>
                    </a:lnTo>
                    <a:lnTo>
                      <a:pt x="352806" y="227838"/>
                    </a:lnTo>
                    <a:lnTo>
                      <a:pt x="354330" y="227838"/>
                    </a:lnTo>
                    <a:lnTo>
                      <a:pt x="358902" y="227076"/>
                    </a:lnTo>
                    <a:lnTo>
                      <a:pt x="361188" y="227076"/>
                    </a:lnTo>
                    <a:lnTo>
                      <a:pt x="361950" y="226314"/>
                    </a:lnTo>
                    <a:lnTo>
                      <a:pt x="365760" y="224790"/>
                    </a:lnTo>
                    <a:lnTo>
                      <a:pt x="366522" y="224790"/>
                    </a:lnTo>
                    <a:lnTo>
                      <a:pt x="368046" y="224028"/>
                    </a:lnTo>
                    <a:lnTo>
                      <a:pt x="368808" y="223265"/>
                    </a:lnTo>
                    <a:lnTo>
                      <a:pt x="372618" y="220979"/>
                    </a:lnTo>
                    <a:lnTo>
                      <a:pt x="373380" y="220979"/>
                    </a:lnTo>
                    <a:lnTo>
                      <a:pt x="373380" y="220218"/>
                    </a:lnTo>
                    <a:lnTo>
                      <a:pt x="374142" y="219456"/>
                    </a:lnTo>
                    <a:lnTo>
                      <a:pt x="377952" y="216190"/>
                    </a:lnTo>
                    <a:close/>
                  </a:path>
                  <a:path w="407034" h="227964">
                    <a:moveTo>
                      <a:pt x="354330" y="28955"/>
                    </a:moveTo>
                    <a:lnTo>
                      <a:pt x="353568" y="28574"/>
                    </a:lnTo>
                    <a:lnTo>
                      <a:pt x="353350" y="28520"/>
                    </a:lnTo>
                    <a:lnTo>
                      <a:pt x="353949" y="28879"/>
                    </a:lnTo>
                    <a:lnTo>
                      <a:pt x="354330" y="28955"/>
                    </a:lnTo>
                    <a:close/>
                  </a:path>
                  <a:path w="407034" h="227964">
                    <a:moveTo>
                      <a:pt x="353822" y="199135"/>
                    </a:moveTo>
                    <a:lnTo>
                      <a:pt x="353568" y="199186"/>
                    </a:lnTo>
                    <a:lnTo>
                      <a:pt x="353350" y="199317"/>
                    </a:lnTo>
                    <a:lnTo>
                      <a:pt x="353568" y="199263"/>
                    </a:lnTo>
                    <a:lnTo>
                      <a:pt x="353822" y="199135"/>
                    </a:lnTo>
                    <a:close/>
                  </a:path>
                  <a:path w="407034" h="227964">
                    <a:moveTo>
                      <a:pt x="355092" y="28955"/>
                    </a:moveTo>
                    <a:lnTo>
                      <a:pt x="353568" y="28574"/>
                    </a:lnTo>
                    <a:lnTo>
                      <a:pt x="354076" y="28828"/>
                    </a:lnTo>
                    <a:lnTo>
                      <a:pt x="355092" y="28955"/>
                    </a:lnTo>
                    <a:close/>
                  </a:path>
                  <a:path w="407034" h="227964">
                    <a:moveTo>
                      <a:pt x="355854" y="198120"/>
                    </a:moveTo>
                    <a:lnTo>
                      <a:pt x="354330" y="198729"/>
                    </a:lnTo>
                    <a:lnTo>
                      <a:pt x="353568" y="199186"/>
                    </a:lnTo>
                    <a:lnTo>
                      <a:pt x="353949" y="199072"/>
                    </a:lnTo>
                    <a:lnTo>
                      <a:pt x="355854" y="198120"/>
                    </a:lnTo>
                    <a:close/>
                  </a:path>
                  <a:path w="407034" h="227964">
                    <a:moveTo>
                      <a:pt x="355092" y="198881"/>
                    </a:moveTo>
                    <a:lnTo>
                      <a:pt x="353822" y="199135"/>
                    </a:lnTo>
                    <a:lnTo>
                      <a:pt x="353568" y="199263"/>
                    </a:lnTo>
                    <a:lnTo>
                      <a:pt x="355092" y="198881"/>
                    </a:lnTo>
                    <a:close/>
                  </a:path>
                  <a:path w="407034" h="227964">
                    <a:moveTo>
                      <a:pt x="355854" y="198120"/>
                    </a:moveTo>
                    <a:lnTo>
                      <a:pt x="353822" y="199135"/>
                    </a:lnTo>
                    <a:lnTo>
                      <a:pt x="355092" y="198881"/>
                    </a:lnTo>
                    <a:lnTo>
                      <a:pt x="355854" y="198120"/>
                    </a:lnTo>
                    <a:close/>
                  </a:path>
                  <a:path w="407034" h="227964">
                    <a:moveTo>
                      <a:pt x="354330" y="29108"/>
                    </a:moveTo>
                    <a:lnTo>
                      <a:pt x="354076" y="28955"/>
                    </a:lnTo>
                    <a:lnTo>
                      <a:pt x="354330" y="29108"/>
                    </a:lnTo>
                    <a:close/>
                  </a:path>
                  <a:path w="407034" h="227964">
                    <a:moveTo>
                      <a:pt x="355854" y="29717"/>
                    </a:moveTo>
                    <a:lnTo>
                      <a:pt x="354330" y="28955"/>
                    </a:lnTo>
                    <a:lnTo>
                      <a:pt x="354076" y="28955"/>
                    </a:lnTo>
                    <a:lnTo>
                      <a:pt x="354330" y="29108"/>
                    </a:lnTo>
                    <a:lnTo>
                      <a:pt x="355854" y="29717"/>
                    </a:lnTo>
                    <a:close/>
                  </a:path>
                  <a:path w="407034" h="227964">
                    <a:moveTo>
                      <a:pt x="355854" y="29717"/>
                    </a:moveTo>
                    <a:lnTo>
                      <a:pt x="355092" y="28955"/>
                    </a:lnTo>
                    <a:lnTo>
                      <a:pt x="354330" y="28955"/>
                    </a:lnTo>
                    <a:lnTo>
                      <a:pt x="355854" y="29717"/>
                    </a:lnTo>
                    <a:close/>
                  </a:path>
                  <a:path w="407034" h="227964">
                    <a:moveTo>
                      <a:pt x="356616" y="30479"/>
                    </a:moveTo>
                    <a:lnTo>
                      <a:pt x="355854" y="29717"/>
                    </a:lnTo>
                    <a:lnTo>
                      <a:pt x="354330" y="29108"/>
                    </a:lnTo>
                    <a:lnTo>
                      <a:pt x="356616" y="30479"/>
                    </a:lnTo>
                    <a:close/>
                  </a:path>
                  <a:path w="407034" h="227964">
                    <a:moveTo>
                      <a:pt x="356616" y="197358"/>
                    </a:moveTo>
                    <a:lnTo>
                      <a:pt x="354330" y="198729"/>
                    </a:lnTo>
                    <a:lnTo>
                      <a:pt x="355854" y="198120"/>
                    </a:lnTo>
                    <a:lnTo>
                      <a:pt x="356616" y="19735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object 66"/>
              <p:cNvSpPr/>
              <p:nvPr/>
            </p:nvSpPr>
            <p:spPr>
              <a:xfrm>
                <a:off x="10668000" y="2475738"/>
                <a:ext cx="681355" cy="832485"/>
              </a:xfrm>
              <a:custGeom>
                <a:avLst/>
                <a:gdLst/>
                <a:ahLst/>
                <a:cxnLst/>
                <a:rect l="l" t="t" r="r" b="b"/>
                <a:pathLst>
                  <a:path w="681354" h="832485">
                    <a:moveTo>
                      <a:pt x="681228" y="416052"/>
                    </a:moveTo>
                    <a:lnTo>
                      <a:pt x="0" y="0"/>
                    </a:lnTo>
                    <a:lnTo>
                      <a:pt x="0" y="832104"/>
                    </a:lnTo>
                    <a:lnTo>
                      <a:pt x="681228" y="416052"/>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object 67"/>
              <p:cNvSpPr/>
              <p:nvPr/>
            </p:nvSpPr>
            <p:spPr>
              <a:xfrm>
                <a:off x="10648950" y="2442210"/>
                <a:ext cx="737235" cy="899160"/>
              </a:xfrm>
              <a:custGeom>
                <a:avLst/>
                <a:gdLst/>
                <a:ahLst/>
                <a:cxnLst/>
                <a:rect l="l" t="t" r="r" b="b"/>
                <a:pathLst>
                  <a:path w="737234" h="899160">
                    <a:moveTo>
                      <a:pt x="736854" y="449580"/>
                    </a:moveTo>
                    <a:lnTo>
                      <a:pt x="0" y="0"/>
                    </a:lnTo>
                    <a:lnTo>
                      <a:pt x="0" y="899160"/>
                    </a:lnTo>
                    <a:lnTo>
                      <a:pt x="9144" y="893580"/>
                    </a:lnTo>
                    <a:lnTo>
                      <a:pt x="9144" y="49530"/>
                    </a:lnTo>
                    <a:lnTo>
                      <a:pt x="38100" y="33528"/>
                    </a:lnTo>
                    <a:lnTo>
                      <a:pt x="38100" y="67214"/>
                    </a:lnTo>
                    <a:lnTo>
                      <a:pt x="664146" y="449565"/>
                    </a:lnTo>
                    <a:lnTo>
                      <a:pt x="690372" y="433578"/>
                    </a:lnTo>
                    <a:lnTo>
                      <a:pt x="690372" y="477940"/>
                    </a:lnTo>
                    <a:lnTo>
                      <a:pt x="736854" y="449580"/>
                    </a:lnTo>
                    <a:close/>
                  </a:path>
                  <a:path w="737234" h="899160">
                    <a:moveTo>
                      <a:pt x="38100" y="67214"/>
                    </a:moveTo>
                    <a:lnTo>
                      <a:pt x="38100" y="33528"/>
                    </a:lnTo>
                    <a:lnTo>
                      <a:pt x="9144" y="49530"/>
                    </a:lnTo>
                    <a:lnTo>
                      <a:pt x="38100" y="67214"/>
                    </a:lnTo>
                    <a:close/>
                  </a:path>
                  <a:path w="737234" h="899160">
                    <a:moveTo>
                      <a:pt x="38100" y="831215"/>
                    </a:moveTo>
                    <a:lnTo>
                      <a:pt x="38100" y="67214"/>
                    </a:lnTo>
                    <a:lnTo>
                      <a:pt x="9144" y="49530"/>
                    </a:lnTo>
                    <a:lnTo>
                      <a:pt x="9144" y="848868"/>
                    </a:lnTo>
                    <a:lnTo>
                      <a:pt x="38100" y="831215"/>
                    </a:lnTo>
                    <a:close/>
                  </a:path>
                  <a:path w="737234" h="899160">
                    <a:moveTo>
                      <a:pt x="690372" y="477940"/>
                    </a:moveTo>
                    <a:lnTo>
                      <a:pt x="690372" y="465581"/>
                    </a:lnTo>
                    <a:lnTo>
                      <a:pt x="664146" y="449565"/>
                    </a:lnTo>
                    <a:lnTo>
                      <a:pt x="9144" y="848868"/>
                    </a:lnTo>
                    <a:lnTo>
                      <a:pt x="38100" y="865632"/>
                    </a:lnTo>
                    <a:lnTo>
                      <a:pt x="38100" y="875913"/>
                    </a:lnTo>
                    <a:lnTo>
                      <a:pt x="690372" y="477940"/>
                    </a:lnTo>
                    <a:close/>
                  </a:path>
                  <a:path w="737234" h="899160">
                    <a:moveTo>
                      <a:pt x="38100" y="875913"/>
                    </a:moveTo>
                    <a:lnTo>
                      <a:pt x="38100" y="865632"/>
                    </a:lnTo>
                    <a:lnTo>
                      <a:pt x="9144" y="848868"/>
                    </a:lnTo>
                    <a:lnTo>
                      <a:pt x="9144" y="893580"/>
                    </a:lnTo>
                    <a:lnTo>
                      <a:pt x="38100" y="875913"/>
                    </a:lnTo>
                    <a:close/>
                  </a:path>
                  <a:path w="737234" h="899160">
                    <a:moveTo>
                      <a:pt x="690372" y="465581"/>
                    </a:moveTo>
                    <a:lnTo>
                      <a:pt x="690372" y="433578"/>
                    </a:lnTo>
                    <a:lnTo>
                      <a:pt x="664146" y="449565"/>
                    </a:lnTo>
                    <a:lnTo>
                      <a:pt x="690372" y="46558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8" name="object 68"/>
            <p:cNvSpPr txBox="1"/>
            <p:nvPr/>
          </p:nvSpPr>
          <p:spPr>
            <a:xfrm>
              <a:off x="10115804" y="1813051"/>
              <a:ext cx="1168400" cy="635000"/>
            </a:xfrm>
            <a:prstGeom prst="rect">
              <a:avLst/>
            </a:prstGeom>
          </p:spPr>
          <p:txBody>
            <a:bodyPr vert="horz" wrap="square" lIns="0" tIns="12065" rIns="0" bIns="0" rtlCol="0">
              <a:spAutoFit/>
            </a:bodyPr>
            <a:lstStyle/>
            <a:p>
              <a:pPr marL="418465" marR="5080" lvl="0" indent="-40640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Electrical  I/O</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72" name="object 72"/>
            <p:cNvSpPr/>
            <p:nvPr/>
          </p:nvSpPr>
          <p:spPr>
            <a:xfrm>
              <a:off x="9356597" y="2866644"/>
              <a:ext cx="795020" cy="38100"/>
            </a:xfrm>
            <a:custGeom>
              <a:avLst/>
              <a:gdLst/>
              <a:ahLst/>
              <a:cxnLst/>
              <a:rect l="l" t="t" r="r" b="b"/>
              <a:pathLst>
                <a:path w="795020" h="38100">
                  <a:moveTo>
                    <a:pt x="794766" y="38100"/>
                  </a:moveTo>
                  <a:lnTo>
                    <a:pt x="794766" y="0"/>
                  </a:lnTo>
                  <a:lnTo>
                    <a:pt x="0" y="0"/>
                  </a:lnTo>
                  <a:lnTo>
                    <a:pt x="0" y="38100"/>
                  </a:lnTo>
                  <a:lnTo>
                    <a:pt x="794766" y="381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6" name="object 76"/>
          <p:cNvSpPr txBox="1"/>
          <p:nvPr/>
        </p:nvSpPr>
        <p:spPr>
          <a:xfrm>
            <a:off x="6995921" y="1328166"/>
            <a:ext cx="2814955" cy="390525"/>
          </a:xfrm>
          <a:prstGeom prst="rect">
            <a:avLst/>
          </a:prstGeom>
          <a:solidFill>
            <a:srgbClr val="D8DEE4"/>
          </a:solidFill>
        </p:spPr>
        <p:txBody>
          <a:bodyPr vert="horz" wrap="square" lIns="0" tIns="39369" rIns="0" bIns="0" rtlCol="0">
            <a:spAutoFit/>
          </a:bodyPr>
          <a:lstStyle/>
          <a:p>
            <a:pPr marL="0" marR="0" lvl="0" indent="0" algn="ctr" defTabSz="914400" rtl="0" eaLnBrk="1" fontAlgn="auto" latinLnBrk="0" hangingPunct="1">
              <a:lnSpc>
                <a:spcPct val="100000"/>
              </a:lnSpc>
              <a:spcBef>
                <a:spcPts val="309"/>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O/E</a:t>
            </a:r>
            <a:r>
              <a:rPr kumimoji="0" sz="2000" b="0" i="0" u="none" strike="noStrike" kern="1200" cap="none" spc="-4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RX</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grpSp>
        <p:nvGrpSpPr>
          <p:cNvPr id="77" name="object 77"/>
          <p:cNvGrpSpPr/>
          <p:nvPr/>
        </p:nvGrpSpPr>
        <p:grpSpPr>
          <a:xfrm>
            <a:off x="5190744" y="2142744"/>
            <a:ext cx="3326129" cy="1028065"/>
            <a:chOff x="5190744" y="2142744"/>
            <a:chExt cx="3326129" cy="1028065"/>
          </a:xfrm>
        </p:grpSpPr>
        <p:sp>
          <p:nvSpPr>
            <p:cNvPr id="78" name="object 78"/>
            <p:cNvSpPr/>
            <p:nvPr/>
          </p:nvSpPr>
          <p:spPr>
            <a:xfrm>
              <a:off x="8073389" y="2637281"/>
              <a:ext cx="407034" cy="499109"/>
            </a:xfrm>
            <a:custGeom>
              <a:avLst/>
              <a:gdLst/>
              <a:ahLst/>
              <a:cxnLst/>
              <a:rect l="l" t="t" r="r" b="b"/>
              <a:pathLst>
                <a:path w="407034" h="499110">
                  <a:moveTo>
                    <a:pt x="406908" y="249935"/>
                  </a:moveTo>
                  <a:lnTo>
                    <a:pt x="0" y="0"/>
                  </a:lnTo>
                  <a:lnTo>
                    <a:pt x="0" y="499109"/>
                  </a:lnTo>
                  <a:lnTo>
                    <a:pt x="406908" y="249935"/>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object 79"/>
            <p:cNvSpPr/>
            <p:nvPr/>
          </p:nvSpPr>
          <p:spPr>
            <a:xfrm>
              <a:off x="5190744" y="2142743"/>
              <a:ext cx="3326129" cy="1028065"/>
            </a:xfrm>
            <a:custGeom>
              <a:avLst/>
              <a:gdLst/>
              <a:ahLst/>
              <a:cxnLst/>
              <a:rect l="l" t="t" r="r" b="b"/>
              <a:pathLst>
                <a:path w="3326129" h="1028064">
                  <a:moveTo>
                    <a:pt x="548640" y="1524"/>
                  </a:moveTo>
                  <a:lnTo>
                    <a:pt x="546354" y="0"/>
                  </a:lnTo>
                  <a:lnTo>
                    <a:pt x="539496" y="0"/>
                  </a:lnTo>
                  <a:lnTo>
                    <a:pt x="539496" y="9144"/>
                  </a:lnTo>
                  <a:lnTo>
                    <a:pt x="539496" y="361950"/>
                  </a:lnTo>
                  <a:lnTo>
                    <a:pt x="9906" y="361950"/>
                  </a:lnTo>
                  <a:lnTo>
                    <a:pt x="9906" y="9144"/>
                  </a:lnTo>
                  <a:lnTo>
                    <a:pt x="539496" y="9144"/>
                  </a:lnTo>
                  <a:lnTo>
                    <a:pt x="539496" y="0"/>
                  </a:lnTo>
                  <a:lnTo>
                    <a:pt x="2286" y="0"/>
                  </a:lnTo>
                  <a:lnTo>
                    <a:pt x="0" y="1524"/>
                  </a:lnTo>
                  <a:lnTo>
                    <a:pt x="0" y="368808"/>
                  </a:lnTo>
                  <a:lnTo>
                    <a:pt x="2286" y="371094"/>
                  </a:lnTo>
                  <a:lnTo>
                    <a:pt x="4572" y="371094"/>
                  </a:lnTo>
                  <a:lnTo>
                    <a:pt x="9906" y="371094"/>
                  </a:lnTo>
                  <a:lnTo>
                    <a:pt x="539496" y="371094"/>
                  </a:lnTo>
                  <a:lnTo>
                    <a:pt x="544068" y="371094"/>
                  </a:lnTo>
                  <a:lnTo>
                    <a:pt x="546354" y="371094"/>
                  </a:lnTo>
                  <a:lnTo>
                    <a:pt x="548640" y="368808"/>
                  </a:lnTo>
                  <a:lnTo>
                    <a:pt x="548640" y="1524"/>
                  </a:lnTo>
                  <a:close/>
                </a:path>
                <a:path w="3326129" h="1028064">
                  <a:moveTo>
                    <a:pt x="3326130" y="744474"/>
                  </a:moveTo>
                  <a:lnTo>
                    <a:pt x="3252965" y="699516"/>
                  </a:lnTo>
                  <a:lnTo>
                    <a:pt x="3252965" y="744093"/>
                  </a:lnTo>
                  <a:lnTo>
                    <a:pt x="2901696" y="959866"/>
                  </a:lnTo>
                  <a:lnTo>
                    <a:pt x="2901696" y="528332"/>
                  </a:lnTo>
                  <a:lnTo>
                    <a:pt x="3252965" y="744093"/>
                  </a:lnTo>
                  <a:lnTo>
                    <a:pt x="3252965" y="699516"/>
                  </a:lnTo>
                  <a:lnTo>
                    <a:pt x="2863596" y="460248"/>
                  </a:lnTo>
                  <a:lnTo>
                    <a:pt x="2863596" y="1027938"/>
                  </a:lnTo>
                  <a:lnTo>
                    <a:pt x="2872740" y="1022337"/>
                  </a:lnTo>
                  <a:lnTo>
                    <a:pt x="2901696" y="1004595"/>
                  </a:lnTo>
                  <a:lnTo>
                    <a:pt x="3279648" y="772972"/>
                  </a:lnTo>
                  <a:lnTo>
                    <a:pt x="3326130" y="744474"/>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1" name="object 91"/>
          <p:cNvSpPr txBox="1"/>
          <p:nvPr/>
        </p:nvSpPr>
        <p:spPr>
          <a:xfrm>
            <a:off x="8064500" y="4144010"/>
            <a:ext cx="4006850" cy="1976755"/>
          </a:xfrm>
          <a:prstGeom prst="rect">
            <a:avLst/>
          </a:prstGeom>
        </p:spPr>
        <p:txBody>
          <a:bodyPr vert="horz" wrap="square" lIns="0" tIns="12700" rIns="0" bIns="0" rtlCol="0">
            <a:spAutoFit/>
          </a:bodyPr>
          <a:lstStyle/>
          <a:p>
            <a:pPr marL="12700" marR="2120265" lvl="0" indent="0" algn="l" defTabSz="914400" rtl="0" eaLnBrk="1" fontAlgn="auto" latinLnBrk="0" hangingPunct="1">
              <a:lnSpc>
                <a:spcPct val="100000"/>
              </a:lnSpc>
              <a:spcBef>
                <a:spcPts val="10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Verdana"/>
                <a:ea typeface="+mn-ea"/>
                <a:cs typeface="Verdana"/>
              </a:rPr>
              <a:t>I/O: Input/Output </a:t>
            </a:r>
            <a:r>
              <a:rPr kumimoji="0" sz="1600" b="0" i="0" u="none" strike="noStrike" kern="1200" cap="none" spc="-550"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Mod.: Modulator </a:t>
            </a:r>
            <a:r>
              <a:rPr kumimoji="0" sz="1600" b="0" i="0" u="none" strike="noStrike" kern="1200" cap="none" spc="0"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PD:</a:t>
            </a:r>
            <a:r>
              <a:rPr kumimoji="0" sz="1600" b="0" i="0" u="none" strike="noStrike" kern="1200" cap="none" spc="-75"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Photodetector</a:t>
            </a:r>
            <a:endParaRPr kumimoji="0" sz="1600" b="0" i="0" u="none" strike="noStrike" kern="1200" cap="none" spc="0" normalizeH="0" baseline="0" noProof="0" dirty="0">
              <a:ln>
                <a:noFill/>
              </a:ln>
              <a:solidFill>
                <a:prstClr val="black"/>
              </a:solidFill>
              <a:effectLst/>
              <a:uLnTx/>
              <a:uFillTx/>
              <a:latin typeface="Verdana"/>
              <a:ea typeface="+mn-ea"/>
              <a:cs typeface="Verdana"/>
            </a:endParaRPr>
          </a:p>
          <a:p>
            <a:pPr marL="12700" marR="1431925"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Verdana"/>
                <a:ea typeface="+mn-ea"/>
                <a:cs typeface="Verdana"/>
              </a:rPr>
              <a:t>E/O: Electrical-to-Optical </a:t>
            </a:r>
            <a:r>
              <a:rPr kumimoji="0" sz="1600" b="0" i="0" u="none" strike="noStrike" kern="1200" cap="none" spc="-550"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CTRL:</a:t>
            </a:r>
            <a:r>
              <a:rPr kumimoji="0" sz="1600" b="0" i="0" u="none" strike="noStrike" kern="1200" cap="none" spc="-30"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Controller</a:t>
            </a:r>
            <a:endParaRPr kumimoji="0" sz="1600" b="0" i="0" u="none" strike="noStrike" kern="1200" cap="none" spc="0" normalizeH="0" baseline="0" noProof="0" dirty="0">
              <a:ln>
                <a:noFill/>
              </a:ln>
              <a:solidFill>
                <a:prstClr val="black"/>
              </a:solidFill>
              <a:effectLst/>
              <a:uLnTx/>
              <a:uFillTx/>
              <a:latin typeface="Verdana"/>
              <a:ea typeface="+mn-ea"/>
              <a:cs typeface="Verdana"/>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Verdana"/>
                <a:ea typeface="+mn-ea"/>
                <a:cs typeface="Verdana"/>
              </a:rPr>
              <a:t>O/E:</a:t>
            </a:r>
            <a:r>
              <a:rPr kumimoji="0" sz="1600" b="0" i="0" u="none" strike="noStrike" kern="1200" cap="none" spc="-40"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Optical-to-Electrical</a:t>
            </a:r>
            <a:endParaRPr kumimoji="0" sz="1600" b="0" i="0" u="none" strike="noStrike" kern="1200" cap="none" spc="0" normalizeH="0" baseline="0" noProof="0" dirty="0">
              <a:ln>
                <a:noFill/>
              </a:ln>
              <a:solidFill>
                <a:prstClr val="black"/>
              </a:solidFill>
              <a:effectLst/>
              <a:uLnTx/>
              <a:uFillTx/>
              <a:latin typeface="Verdana"/>
              <a:ea typeface="+mn-ea"/>
              <a:cs typeface="Verdana"/>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Verdana"/>
                <a:ea typeface="+mn-ea"/>
                <a:cs typeface="Verdana"/>
              </a:rPr>
              <a:t>TIA:</a:t>
            </a:r>
            <a:r>
              <a:rPr kumimoji="0" sz="1600" b="0" i="0" u="none" strike="noStrike" kern="1200" cap="none" spc="-15" normalizeH="0" baseline="0" noProof="0" dirty="0">
                <a:ln>
                  <a:noFill/>
                </a:ln>
                <a:solidFill>
                  <a:prstClr val="black"/>
                </a:solidFill>
                <a:effectLst/>
                <a:uLnTx/>
                <a:uFillTx/>
                <a:latin typeface="Verdana"/>
                <a:ea typeface="+mn-ea"/>
                <a:cs typeface="Verdana"/>
              </a:rPr>
              <a:t> Transimpedance</a:t>
            </a:r>
            <a:r>
              <a:rPr kumimoji="0" sz="1600" b="0" i="0" u="none" strike="noStrike" kern="1200" cap="none" spc="0" normalizeH="0" baseline="0" noProof="0" dirty="0">
                <a:ln>
                  <a:noFill/>
                </a:ln>
                <a:solidFill>
                  <a:prstClr val="black"/>
                </a:solidFill>
                <a:effectLst/>
                <a:uLnTx/>
                <a:uFillTx/>
                <a:latin typeface="Verdana"/>
                <a:ea typeface="+mn-ea"/>
                <a:cs typeface="Verdana"/>
              </a:rPr>
              <a:t> Amplifier</a:t>
            </a: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dirty="0">
                <a:ln>
                  <a:noFill/>
                </a:ln>
                <a:solidFill>
                  <a:prstClr val="black"/>
                </a:solidFill>
                <a:effectLst/>
                <a:uLnTx/>
                <a:uFillTx/>
                <a:latin typeface="Verdana"/>
                <a:ea typeface="+mn-ea"/>
                <a:cs typeface="Verdana"/>
              </a:rPr>
              <a:t>Amp:</a:t>
            </a:r>
            <a:r>
              <a:rPr kumimoji="0" sz="1600" b="0" i="0" u="none" strike="noStrike" kern="1200" cap="none" spc="-15"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Verdana"/>
                <a:ea typeface="+mn-ea"/>
                <a:cs typeface="Verdana"/>
              </a:rPr>
              <a:t>Limiting</a:t>
            </a:r>
            <a:r>
              <a:rPr kumimoji="0" sz="1600" b="0" i="0" u="none" strike="noStrike" kern="1200" cap="none" spc="-3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Verdana"/>
                <a:ea typeface="+mn-ea"/>
                <a:cs typeface="Verdana"/>
              </a:rPr>
              <a:t>Amplifier/Main</a:t>
            </a:r>
            <a:r>
              <a:rPr kumimoji="0" sz="1600" b="0" i="0" u="none" strike="noStrike" kern="1200" cap="none" spc="-15"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Verdana"/>
                <a:ea typeface="+mn-ea"/>
                <a:cs typeface="Verdana"/>
              </a:rPr>
              <a:t>Amplifier</a:t>
            </a:r>
          </a:p>
        </p:txBody>
      </p:sp>
      <p:sp>
        <p:nvSpPr>
          <p:cNvPr id="92" name="object 92"/>
          <p:cNvSpPr txBox="1"/>
          <p:nvPr/>
        </p:nvSpPr>
        <p:spPr>
          <a:xfrm>
            <a:off x="2657855" y="1325880"/>
            <a:ext cx="3260725" cy="391160"/>
          </a:xfrm>
          <a:prstGeom prst="rect">
            <a:avLst/>
          </a:prstGeom>
          <a:solidFill>
            <a:srgbClr val="D8DEE4"/>
          </a:solidFill>
        </p:spPr>
        <p:txBody>
          <a:bodyPr vert="horz" wrap="square" lIns="0" tIns="39370" rIns="0" bIns="0" rtlCol="0">
            <a:spAutoFit/>
          </a:bodyPr>
          <a:lstStyle/>
          <a:p>
            <a:pPr marL="635" marR="0" lvl="0" indent="0" algn="ctr" defTabSz="914400" rtl="0" eaLnBrk="1" fontAlgn="auto" latinLnBrk="0" hangingPunct="1">
              <a:lnSpc>
                <a:spcPct val="100000"/>
              </a:lnSpc>
              <a:spcBef>
                <a:spcPts val="310"/>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E/O</a:t>
            </a:r>
            <a:r>
              <a:rPr kumimoji="0" sz="2000" b="0" i="0" u="none" strike="noStrike" kern="1200" cap="none" spc="-50" normalizeH="0" baseline="0" noProof="0" dirty="0">
                <a:ln>
                  <a:noFill/>
                </a:ln>
                <a:solidFill>
                  <a:prstClr val="black"/>
                </a:solidFill>
                <a:effectLst/>
                <a:uLnTx/>
                <a:uFillTx/>
                <a:latin typeface="Verdana"/>
                <a:ea typeface="+mn-ea"/>
                <a:cs typeface="Verdana"/>
              </a:rPr>
              <a:t> </a:t>
            </a:r>
            <a:r>
              <a:rPr kumimoji="0" sz="2000" b="0" i="0" u="none" strike="noStrike" kern="1200" cap="none" spc="-10" normalizeH="0" baseline="0" noProof="0" dirty="0">
                <a:ln>
                  <a:noFill/>
                </a:ln>
                <a:solidFill>
                  <a:prstClr val="black"/>
                </a:solidFill>
                <a:effectLst/>
                <a:uLnTx/>
                <a:uFillTx/>
                <a:latin typeface="Verdana"/>
                <a:ea typeface="+mn-ea"/>
                <a:cs typeface="Verdana"/>
              </a:rPr>
              <a:t>TX</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133" name="Group 132"/>
          <p:cNvGrpSpPr/>
          <p:nvPr/>
        </p:nvGrpSpPr>
        <p:grpSpPr>
          <a:xfrm>
            <a:off x="2360676" y="1771650"/>
            <a:ext cx="2322194" cy="2194560"/>
            <a:chOff x="2360676" y="1771650"/>
            <a:chExt cx="2322194" cy="2194560"/>
          </a:xfrm>
        </p:grpSpPr>
        <p:sp>
          <p:nvSpPr>
            <p:cNvPr id="82" name="object 82"/>
            <p:cNvSpPr/>
            <p:nvPr/>
          </p:nvSpPr>
          <p:spPr>
            <a:xfrm>
              <a:off x="2360676" y="2958845"/>
              <a:ext cx="1600200" cy="38100"/>
            </a:xfrm>
            <a:custGeom>
              <a:avLst/>
              <a:gdLst/>
              <a:ahLst/>
              <a:cxnLst/>
              <a:rect l="l" t="t" r="r" b="b"/>
              <a:pathLst>
                <a:path w="1600200" h="38100">
                  <a:moveTo>
                    <a:pt x="567677" y="0"/>
                  </a:moveTo>
                  <a:lnTo>
                    <a:pt x="0" y="0"/>
                  </a:lnTo>
                  <a:lnTo>
                    <a:pt x="0" y="38100"/>
                  </a:lnTo>
                  <a:lnTo>
                    <a:pt x="567677" y="38100"/>
                  </a:lnTo>
                  <a:lnTo>
                    <a:pt x="567677" y="0"/>
                  </a:lnTo>
                  <a:close/>
                </a:path>
                <a:path w="1600200" h="38100">
                  <a:moveTo>
                    <a:pt x="1600200" y="0"/>
                  </a:moveTo>
                  <a:lnTo>
                    <a:pt x="1277112" y="0"/>
                  </a:lnTo>
                  <a:lnTo>
                    <a:pt x="1277112" y="38100"/>
                  </a:lnTo>
                  <a:lnTo>
                    <a:pt x="1600200" y="38100"/>
                  </a:lnTo>
                  <a:lnTo>
                    <a:pt x="160020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bject 83"/>
            <p:cNvSpPr/>
            <p:nvPr/>
          </p:nvSpPr>
          <p:spPr>
            <a:xfrm>
              <a:off x="2638806" y="1771650"/>
              <a:ext cx="2044064" cy="2194560"/>
            </a:xfrm>
            <a:custGeom>
              <a:avLst/>
              <a:gdLst/>
              <a:ahLst/>
              <a:cxnLst/>
              <a:rect l="l" t="t" r="r" b="b"/>
              <a:pathLst>
                <a:path w="2044064" h="2194560">
                  <a:moveTo>
                    <a:pt x="38100" y="2156460"/>
                  </a:moveTo>
                  <a:lnTo>
                    <a:pt x="38100" y="2023110"/>
                  </a:lnTo>
                  <a:lnTo>
                    <a:pt x="0" y="2023110"/>
                  </a:lnTo>
                  <a:lnTo>
                    <a:pt x="0" y="2175510"/>
                  </a:lnTo>
                  <a:lnTo>
                    <a:pt x="19050" y="2175510"/>
                  </a:lnTo>
                  <a:lnTo>
                    <a:pt x="19050" y="2156460"/>
                  </a:lnTo>
                  <a:lnTo>
                    <a:pt x="38100" y="2156460"/>
                  </a:lnTo>
                  <a:close/>
                </a:path>
                <a:path w="2044064" h="2194560">
                  <a:moveTo>
                    <a:pt x="76200" y="2194560"/>
                  </a:moveTo>
                  <a:lnTo>
                    <a:pt x="76200" y="2156460"/>
                  </a:lnTo>
                  <a:lnTo>
                    <a:pt x="19050" y="2156460"/>
                  </a:lnTo>
                  <a:lnTo>
                    <a:pt x="19050" y="2175510"/>
                  </a:lnTo>
                  <a:lnTo>
                    <a:pt x="38100" y="2175510"/>
                  </a:lnTo>
                  <a:lnTo>
                    <a:pt x="38100" y="2194560"/>
                  </a:lnTo>
                  <a:lnTo>
                    <a:pt x="76200" y="2194560"/>
                  </a:lnTo>
                  <a:close/>
                </a:path>
                <a:path w="2044064" h="2194560">
                  <a:moveTo>
                    <a:pt x="38100" y="2194560"/>
                  </a:moveTo>
                  <a:lnTo>
                    <a:pt x="38100" y="2175510"/>
                  </a:lnTo>
                  <a:lnTo>
                    <a:pt x="19050" y="2175510"/>
                  </a:lnTo>
                  <a:lnTo>
                    <a:pt x="19050" y="2194560"/>
                  </a:lnTo>
                  <a:lnTo>
                    <a:pt x="38100" y="2194560"/>
                  </a:lnTo>
                  <a:close/>
                </a:path>
                <a:path w="2044064" h="2194560">
                  <a:moveTo>
                    <a:pt x="38100" y="1908810"/>
                  </a:moveTo>
                  <a:lnTo>
                    <a:pt x="38100" y="1756410"/>
                  </a:lnTo>
                  <a:lnTo>
                    <a:pt x="0" y="1756410"/>
                  </a:lnTo>
                  <a:lnTo>
                    <a:pt x="0" y="1908810"/>
                  </a:lnTo>
                  <a:lnTo>
                    <a:pt x="38100" y="1908810"/>
                  </a:lnTo>
                  <a:close/>
                </a:path>
                <a:path w="2044064" h="2194560">
                  <a:moveTo>
                    <a:pt x="38100" y="1642110"/>
                  </a:moveTo>
                  <a:lnTo>
                    <a:pt x="38100" y="1489710"/>
                  </a:lnTo>
                  <a:lnTo>
                    <a:pt x="0" y="1489710"/>
                  </a:lnTo>
                  <a:lnTo>
                    <a:pt x="0" y="1642110"/>
                  </a:lnTo>
                  <a:lnTo>
                    <a:pt x="38100" y="1642110"/>
                  </a:lnTo>
                  <a:close/>
                </a:path>
                <a:path w="2044064" h="2194560">
                  <a:moveTo>
                    <a:pt x="38100" y="1375410"/>
                  </a:moveTo>
                  <a:lnTo>
                    <a:pt x="38100" y="1223010"/>
                  </a:lnTo>
                  <a:lnTo>
                    <a:pt x="0" y="1223010"/>
                  </a:lnTo>
                  <a:lnTo>
                    <a:pt x="0" y="1375410"/>
                  </a:lnTo>
                  <a:lnTo>
                    <a:pt x="38100" y="1375410"/>
                  </a:lnTo>
                  <a:close/>
                </a:path>
                <a:path w="2044064" h="2194560">
                  <a:moveTo>
                    <a:pt x="38100" y="1108710"/>
                  </a:moveTo>
                  <a:lnTo>
                    <a:pt x="38100" y="956310"/>
                  </a:lnTo>
                  <a:lnTo>
                    <a:pt x="0" y="956310"/>
                  </a:lnTo>
                  <a:lnTo>
                    <a:pt x="0" y="1108710"/>
                  </a:lnTo>
                  <a:lnTo>
                    <a:pt x="38100" y="1108710"/>
                  </a:lnTo>
                  <a:close/>
                </a:path>
                <a:path w="2044064" h="2194560">
                  <a:moveTo>
                    <a:pt x="38100" y="842010"/>
                  </a:moveTo>
                  <a:lnTo>
                    <a:pt x="38100" y="689610"/>
                  </a:lnTo>
                  <a:lnTo>
                    <a:pt x="0" y="689610"/>
                  </a:lnTo>
                  <a:lnTo>
                    <a:pt x="0" y="842010"/>
                  </a:lnTo>
                  <a:lnTo>
                    <a:pt x="38100" y="842010"/>
                  </a:lnTo>
                  <a:close/>
                </a:path>
                <a:path w="2044064" h="2194560">
                  <a:moveTo>
                    <a:pt x="38100" y="575310"/>
                  </a:moveTo>
                  <a:lnTo>
                    <a:pt x="38100" y="422910"/>
                  </a:lnTo>
                  <a:lnTo>
                    <a:pt x="0" y="422910"/>
                  </a:lnTo>
                  <a:lnTo>
                    <a:pt x="0" y="575310"/>
                  </a:lnTo>
                  <a:lnTo>
                    <a:pt x="38100" y="575310"/>
                  </a:lnTo>
                  <a:close/>
                </a:path>
                <a:path w="2044064" h="2194560">
                  <a:moveTo>
                    <a:pt x="38100" y="308610"/>
                  </a:moveTo>
                  <a:lnTo>
                    <a:pt x="38100" y="156210"/>
                  </a:lnTo>
                  <a:lnTo>
                    <a:pt x="0" y="156210"/>
                  </a:lnTo>
                  <a:lnTo>
                    <a:pt x="0" y="308610"/>
                  </a:lnTo>
                  <a:lnTo>
                    <a:pt x="38100" y="308610"/>
                  </a:lnTo>
                  <a:close/>
                </a:path>
                <a:path w="2044064" h="2194560">
                  <a:moveTo>
                    <a:pt x="148589" y="38100"/>
                  </a:moveTo>
                  <a:lnTo>
                    <a:pt x="148589" y="0"/>
                  </a:lnTo>
                  <a:lnTo>
                    <a:pt x="0" y="0"/>
                  </a:lnTo>
                  <a:lnTo>
                    <a:pt x="0" y="41910"/>
                  </a:lnTo>
                  <a:lnTo>
                    <a:pt x="19050" y="41910"/>
                  </a:lnTo>
                  <a:lnTo>
                    <a:pt x="19050" y="38100"/>
                  </a:lnTo>
                  <a:lnTo>
                    <a:pt x="38100" y="19050"/>
                  </a:lnTo>
                  <a:lnTo>
                    <a:pt x="38100" y="38100"/>
                  </a:lnTo>
                  <a:lnTo>
                    <a:pt x="148589" y="38100"/>
                  </a:lnTo>
                  <a:close/>
                </a:path>
                <a:path w="2044064" h="2194560">
                  <a:moveTo>
                    <a:pt x="38100" y="38100"/>
                  </a:moveTo>
                  <a:lnTo>
                    <a:pt x="38100" y="19050"/>
                  </a:lnTo>
                  <a:lnTo>
                    <a:pt x="19050" y="38100"/>
                  </a:lnTo>
                  <a:lnTo>
                    <a:pt x="38100" y="38100"/>
                  </a:lnTo>
                  <a:close/>
                </a:path>
                <a:path w="2044064" h="2194560">
                  <a:moveTo>
                    <a:pt x="38100" y="41910"/>
                  </a:moveTo>
                  <a:lnTo>
                    <a:pt x="38100" y="38100"/>
                  </a:lnTo>
                  <a:lnTo>
                    <a:pt x="19050" y="38100"/>
                  </a:lnTo>
                  <a:lnTo>
                    <a:pt x="19050" y="41910"/>
                  </a:lnTo>
                  <a:lnTo>
                    <a:pt x="38100" y="41910"/>
                  </a:lnTo>
                  <a:close/>
                </a:path>
                <a:path w="2044064" h="2194560">
                  <a:moveTo>
                    <a:pt x="415289" y="38099"/>
                  </a:moveTo>
                  <a:lnTo>
                    <a:pt x="415289" y="0"/>
                  </a:lnTo>
                  <a:lnTo>
                    <a:pt x="262889" y="0"/>
                  </a:lnTo>
                  <a:lnTo>
                    <a:pt x="262889" y="38100"/>
                  </a:lnTo>
                  <a:lnTo>
                    <a:pt x="415289" y="38099"/>
                  </a:lnTo>
                  <a:close/>
                </a:path>
                <a:path w="2044064" h="2194560">
                  <a:moveTo>
                    <a:pt x="681990" y="38099"/>
                  </a:moveTo>
                  <a:lnTo>
                    <a:pt x="681990" y="0"/>
                  </a:lnTo>
                  <a:lnTo>
                    <a:pt x="529589" y="0"/>
                  </a:lnTo>
                  <a:lnTo>
                    <a:pt x="529589" y="38099"/>
                  </a:lnTo>
                  <a:lnTo>
                    <a:pt x="681990" y="38099"/>
                  </a:lnTo>
                  <a:close/>
                </a:path>
                <a:path w="2044064" h="2194560">
                  <a:moveTo>
                    <a:pt x="948690" y="38099"/>
                  </a:moveTo>
                  <a:lnTo>
                    <a:pt x="948690" y="0"/>
                  </a:lnTo>
                  <a:lnTo>
                    <a:pt x="796290" y="0"/>
                  </a:lnTo>
                  <a:lnTo>
                    <a:pt x="796290" y="38099"/>
                  </a:lnTo>
                  <a:lnTo>
                    <a:pt x="948690" y="38099"/>
                  </a:lnTo>
                  <a:close/>
                </a:path>
                <a:path w="2044064" h="2194560">
                  <a:moveTo>
                    <a:pt x="1215390" y="38099"/>
                  </a:moveTo>
                  <a:lnTo>
                    <a:pt x="1215390" y="0"/>
                  </a:lnTo>
                  <a:lnTo>
                    <a:pt x="1062990" y="0"/>
                  </a:lnTo>
                  <a:lnTo>
                    <a:pt x="1062990" y="38099"/>
                  </a:lnTo>
                  <a:lnTo>
                    <a:pt x="1215390" y="38099"/>
                  </a:lnTo>
                  <a:close/>
                </a:path>
                <a:path w="2044064" h="2194560">
                  <a:moveTo>
                    <a:pt x="1482090" y="38099"/>
                  </a:moveTo>
                  <a:lnTo>
                    <a:pt x="1482090" y="0"/>
                  </a:lnTo>
                  <a:lnTo>
                    <a:pt x="1329690" y="0"/>
                  </a:lnTo>
                  <a:lnTo>
                    <a:pt x="1329690" y="38099"/>
                  </a:lnTo>
                  <a:lnTo>
                    <a:pt x="1482090" y="38099"/>
                  </a:lnTo>
                  <a:close/>
                </a:path>
                <a:path w="2044064" h="2194560">
                  <a:moveTo>
                    <a:pt x="1748790" y="38099"/>
                  </a:moveTo>
                  <a:lnTo>
                    <a:pt x="1748790" y="0"/>
                  </a:lnTo>
                  <a:lnTo>
                    <a:pt x="1596390" y="0"/>
                  </a:lnTo>
                  <a:lnTo>
                    <a:pt x="1596390" y="38099"/>
                  </a:lnTo>
                  <a:lnTo>
                    <a:pt x="1748790" y="38099"/>
                  </a:lnTo>
                  <a:close/>
                </a:path>
                <a:path w="2044064" h="2194560">
                  <a:moveTo>
                    <a:pt x="2015490" y="38099"/>
                  </a:moveTo>
                  <a:lnTo>
                    <a:pt x="2015490" y="0"/>
                  </a:lnTo>
                  <a:lnTo>
                    <a:pt x="1863090" y="0"/>
                  </a:lnTo>
                  <a:lnTo>
                    <a:pt x="1863090" y="38099"/>
                  </a:lnTo>
                  <a:lnTo>
                    <a:pt x="2015490" y="38099"/>
                  </a:lnTo>
                  <a:close/>
                </a:path>
                <a:path w="2044064" h="2194560">
                  <a:moveTo>
                    <a:pt x="2043683" y="276605"/>
                  </a:moveTo>
                  <a:lnTo>
                    <a:pt x="2043683" y="124205"/>
                  </a:lnTo>
                  <a:lnTo>
                    <a:pt x="2005583" y="124205"/>
                  </a:lnTo>
                  <a:lnTo>
                    <a:pt x="2005583" y="276605"/>
                  </a:lnTo>
                  <a:lnTo>
                    <a:pt x="2043683" y="276605"/>
                  </a:lnTo>
                  <a:close/>
                </a:path>
                <a:path w="2044064" h="2194560">
                  <a:moveTo>
                    <a:pt x="2043683" y="543305"/>
                  </a:moveTo>
                  <a:lnTo>
                    <a:pt x="2043683" y="390905"/>
                  </a:lnTo>
                  <a:lnTo>
                    <a:pt x="2005583" y="390905"/>
                  </a:lnTo>
                  <a:lnTo>
                    <a:pt x="2005583" y="543305"/>
                  </a:lnTo>
                  <a:lnTo>
                    <a:pt x="2043683" y="543305"/>
                  </a:lnTo>
                  <a:close/>
                </a:path>
                <a:path w="2044064" h="2194560">
                  <a:moveTo>
                    <a:pt x="2043683" y="810005"/>
                  </a:moveTo>
                  <a:lnTo>
                    <a:pt x="2043683" y="657605"/>
                  </a:lnTo>
                  <a:lnTo>
                    <a:pt x="2005583" y="657605"/>
                  </a:lnTo>
                  <a:lnTo>
                    <a:pt x="2005583" y="810005"/>
                  </a:lnTo>
                  <a:lnTo>
                    <a:pt x="2043683" y="810005"/>
                  </a:lnTo>
                  <a:close/>
                </a:path>
                <a:path w="2044064" h="2194560">
                  <a:moveTo>
                    <a:pt x="2043683" y="1076705"/>
                  </a:moveTo>
                  <a:lnTo>
                    <a:pt x="2043683" y="924305"/>
                  </a:lnTo>
                  <a:lnTo>
                    <a:pt x="2005583" y="924305"/>
                  </a:lnTo>
                  <a:lnTo>
                    <a:pt x="2005583" y="1076705"/>
                  </a:lnTo>
                  <a:lnTo>
                    <a:pt x="2043683" y="1076705"/>
                  </a:lnTo>
                  <a:close/>
                </a:path>
                <a:path w="2044064" h="2194560">
                  <a:moveTo>
                    <a:pt x="2043683" y="1343405"/>
                  </a:moveTo>
                  <a:lnTo>
                    <a:pt x="2043683" y="1191005"/>
                  </a:lnTo>
                  <a:lnTo>
                    <a:pt x="2005583" y="1191005"/>
                  </a:lnTo>
                  <a:lnTo>
                    <a:pt x="2005583" y="1343405"/>
                  </a:lnTo>
                  <a:lnTo>
                    <a:pt x="2043683" y="1343405"/>
                  </a:lnTo>
                  <a:close/>
                </a:path>
                <a:path w="2044064" h="2194560">
                  <a:moveTo>
                    <a:pt x="2043683" y="1610105"/>
                  </a:moveTo>
                  <a:lnTo>
                    <a:pt x="2043683" y="1457705"/>
                  </a:lnTo>
                  <a:lnTo>
                    <a:pt x="2005583" y="1457705"/>
                  </a:lnTo>
                  <a:lnTo>
                    <a:pt x="2005583" y="1610105"/>
                  </a:lnTo>
                  <a:lnTo>
                    <a:pt x="2043683" y="1610105"/>
                  </a:lnTo>
                  <a:close/>
                </a:path>
                <a:path w="2044064" h="2194560">
                  <a:moveTo>
                    <a:pt x="2043683" y="1876805"/>
                  </a:moveTo>
                  <a:lnTo>
                    <a:pt x="2043683" y="1724405"/>
                  </a:lnTo>
                  <a:lnTo>
                    <a:pt x="2005583" y="1724405"/>
                  </a:lnTo>
                  <a:lnTo>
                    <a:pt x="2005583" y="1876805"/>
                  </a:lnTo>
                  <a:lnTo>
                    <a:pt x="2043683" y="1876805"/>
                  </a:lnTo>
                  <a:close/>
                </a:path>
                <a:path w="2044064" h="2194560">
                  <a:moveTo>
                    <a:pt x="2043683" y="2143505"/>
                  </a:moveTo>
                  <a:lnTo>
                    <a:pt x="2043683" y="1991105"/>
                  </a:lnTo>
                  <a:lnTo>
                    <a:pt x="2005583" y="1991105"/>
                  </a:lnTo>
                  <a:lnTo>
                    <a:pt x="2005583" y="2143505"/>
                  </a:lnTo>
                  <a:lnTo>
                    <a:pt x="2043683" y="2143505"/>
                  </a:lnTo>
                  <a:close/>
                </a:path>
                <a:path w="2044064" h="2194560">
                  <a:moveTo>
                    <a:pt x="1942338" y="2194560"/>
                  </a:moveTo>
                  <a:lnTo>
                    <a:pt x="1942338" y="2156460"/>
                  </a:lnTo>
                  <a:lnTo>
                    <a:pt x="1789938" y="2156460"/>
                  </a:lnTo>
                  <a:lnTo>
                    <a:pt x="1789938" y="2194560"/>
                  </a:lnTo>
                  <a:lnTo>
                    <a:pt x="1942338" y="2194560"/>
                  </a:lnTo>
                  <a:close/>
                </a:path>
                <a:path w="2044064" h="2194560">
                  <a:moveTo>
                    <a:pt x="1675638" y="2194560"/>
                  </a:moveTo>
                  <a:lnTo>
                    <a:pt x="1675638" y="2156460"/>
                  </a:lnTo>
                  <a:lnTo>
                    <a:pt x="1523238" y="2156460"/>
                  </a:lnTo>
                  <a:lnTo>
                    <a:pt x="1523238" y="2194560"/>
                  </a:lnTo>
                  <a:lnTo>
                    <a:pt x="1675638" y="2194560"/>
                  </a:lnTo>
                  <a:close/>
                </a:path>
                <a:path w="2044064" h="2194560">
                  <a:moveTo>
                    <a:pt x="1408938" y="2194560"/>
                  </a:moveTo>
                  <a:lnTo>
                    <a:pt x="1408938" y="2156460"/>
                  </a:lnTo>
                  <a:lnTo>
                    <a:pt x="1256538" y="2156460"/>
                  </a:lnTo>
                  <a:lnTo>
                    <a:pt x="1256538" y="2194560"/>
                  </a:lnTo>
                  <a:lnTo>
                    <a:pt x="1408938" y="2194560"/>
                  </a:lnTo>
                  <a:close/>
                </a:path>
                <a:path w="2044064" h="2194560">
                  <a:moveTo>
                    <a:pt x="1142238" y="2194560"/>
                  </a:moveTo>
                  <a:lnTo>
                    <a:pt x="1142238" y="2156460"/>
                  </a:lnTo>
                  <a:lnTo>
                    <a:pt x="989838" y="2156460"/>
                  </a:lnTo>
                  <a:lnTo>
                    <a:pt x="989838" y="2194560"/>
                  </a:lnTo>
                  <a:lnTo>
                    <a:pt x="1142238" y="2194560"/>
                  </a:lnTo>
                  <a:close/>
                </a:path>
                <a:path w="2044064" h="2194560">
                  <a:moveTo>
                    <a:pt x="875538" y="2194560"/>
                  </a:moveTo>
                  <a:lnTo>
                    <a:pt x="875538" y="2156460"/>
                  </a:lnTo>
                  <a:lnTo>
                    <a:pt x="723138" y="2156460"/>
                  </a:lnTo>
                  <a:lnTo>
                    <a:pt x="723138" y="2194560"/>
                  </a:lnTo>
                  <a:lnTo>
                    <a:pt x="875538" y="2194560"/>
                  </a:lnTo>
                  <a:close/>
                </a:path>
                <a:path w="2044064" h="2194560">
                  <a:moveTo>
                    <a:pt x="608838" y="2194560"/>
                  </a:moveTo>
                  <a:lnTo>
                    <a:pt x="608838" y="2156460"/>
                  </a:lnTo>
                  <a:lnTo>
                    <a:pt x="457200" y="2156460"/>
                  </a:lnTo>
                  <a:lnTo>
                    <a:pt x="457200" y="2194560"/>
                  </a:lnTo>
                  <a:lnTo>
                    <a:pt x="608838" y="2194560"/>
                  </a:lnTo>
                  <a:close/>
                </a:path>
                <a:path w="2044064" h="2194560">
                  <a:moveTo>
                    <a:pt x="342900" y="2194560"/>
                  </a:moveTo>
                  <a:lnTo>
                    <a:pt x="342900" y="2156460"/>
                  </a:lnTo>
                  <a:lnTo>
                    <a:pt x="190500" y="2156460"/>
                  </a:lnTo>
                  <a:lnTo>
                    <a:pt x="190500" y="2194560"/>
                  </a:lnTo>
                  <a:lnTo>
                    <a:pt x="342900" y="2194560"/>
                  </a:lnTo>
                  <a:close/>
                </a:path>
              </a:pathLst>
            </a:custGeom>
            <a:solidFill>
              <a:srgbClr val="DC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object 85"/>
            <p:cNvSpPr/>
            <p:nvPr/>
          </p:nvSpPr>
          <p:spPr>
            <a:xfrm>
              <a:off x="2884932" y="2726436"/>
              <a:ext cx="765810" cy="516890"/>
            </a:xfrm>
            <a:custGeom>
              <a:avLst/>
              <a:gdLst/>
              <a:ahLst/>
              <a:cxnLst/>
              <a:rect l="l" t="t" r="r" b="b"/>
              <a:pathLst>
                <a:path w="765810" h="516889">
                  <a:moveTo>
                    <a:pt x="765809" y="516636"/>
                  </a:moveTo>
                  <a:lnTo>
                    <a:pt x="765809" y="0"/>
                  </a:lnTo>
                  <a:lnTo>
                    <a:pt x="0" y="0"/>
                  </a:lnTo>
                  <a:lnTo>
                    <a:pt x="0" y="516636"/>
                  </a:lnTo>
                  <a:lnTo>
                    <a:pt x="765809" y="516636"/>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object 86"/>
            <p:cNvSpPr/>
            <p:nvPr/>
          </p:nvSpPr>
          <p:spPr>
            <a:xfrm>
              <a:off x="2865882" y="2707386"/>
              <a:ext cx="803910" cy="554990"/>
            </a:xfrm>
            <a:custGeom>
              <a:avLst/>
              <a:gdLst/>
              <a:ahLst/>
              <a:cxnLst/>
              <a:rect l="l" t="t" r="r" b="b"/>
              <a:pathLst>
                <a:path w="803910" h="554989">
                  <a:moveTo>
                    <a:pt x="803909" y="554736"/>
                  </a:moveTo>
                  <a:lnTo>
                    <a:pt x="803909" y="0"/>
                  </a:lnTo>
                  <a:lnTo>
                    <a:pt x="0" y="0"/>
                  </a:lnTo>
                  <a:lnTo>
                    <a:pt x="0" y="554736"/>
                  </a:lnTo>
                  <a:lnTo>
                    <a:pt x="19050" y="554736"/>
                  </a:lnTo>
                  <a:lnTo>
                    <a:pt x="19050" y="38100"/>
                  </a:lnTo>
                  <a:lnTo>
                    <a:pt x="38100" y="19050"/>
                  </a:lnTo>
                  <a:lnTo>
                    <a:pt x="38100" y="38100"/>
                  </a:lnTo>
                  <a:lnTo>
                    <a:pt x="765809" y="38100"/>
                  </a:lnTo>
                  <a:lnTo>
                    <a:pt x="765809" y="19050"/>
                  </a:lnTo>
                  <a:lnTo>
                    <a:pt x="784859" y="38100"/>
                  </a:lnTo>
                  <a:lnTo>
                    <a:pt x="784859" y="554736"/>
                  </a:lnTo>
                  <a:lnTo>
                    <a:pt x="803909" y="554736"/>
                  </a:lnTo>
                  <a:close/>
                </a:path>
                <a:path w="803910" h="554989">
                  <a:moveTo>
                    <a:pt x="38100" y="38100"/>
                  </a:moveTo>
                  <a:lnTo>
                    <a:pt x="38100" y="19050"/>
                  </a:lnTo>
                  <a:lnTo>
                    <a:pt x="19050" y="38100"/>
                  </a:lnTo>
                  <a:lnTo>
                    <a:pt x="38100" y="38100"/>
                  </a:lnTo>
                  <a:close/>
                </a:path>
                <a:path w="803910" h="554989">
                  <a:moveTo>
                    <a:pt x="38100" y="516636"/>
                  </a:moveTo>
                  <a:lnTo>
                    <a:pt x="38100" y="38100"/>
                  </a:lnTo>
                  <a:lnTo>
                    <a:pt x="19050" y="38100"/>
                  </a:lnTo>
                  <a:lnTo>
                    <a:pt x="19050" y="516636"/>
                  </a:lnTo>
                  <a:lnTo>
                    <a:pt x="38100" y="516636"/>
                  </a:lnTo>
                  <a:close/>
                </a:path>
                <a:path w="803910" h="554989">
                  <a:moveTo>
                    <a:pt x="784859" y="516636"/>
                  </a:moveTo>
                  <a:lnTo>
                    <a:pt x="19050" y="516636"/>
                  </a:lnTo>
                  <a:lnTo>
                    <a:pt x="38100" y="535686"/>
                  </a:lnTo>
                  <a:lnTo>
                    <a:pt x="38100" y="554736"/>
                  </a:lnTo>
                  <a:lnTo>
                    <a:pt x="765809" y="554736"/>
                  </a:lnTo>
                  <a:lnTo>
                    <a:pt x="765809" y="535686"/>
                  </a:lnTo>
                  <a:lnTo>
                    <a:pt x="784859" y="516636"/>
                  </a:lnTo>
                  <a:close/>
                </a:path>
                <a:path w="803910" h="554989">
                  <a:moveTo>
                    <a:pt x="38100" y="554736"/>
                  </a:moveTo>
                  <a:lnTo>
                    <a:pt x="38100" y="535686"/>
                  </a:lnTo>
                  <a:lnTo>
                    <a:pt x="19050" y="516636"/>
                  </a:lnTo>
                  <a:lnTo>
                    <a:pt x="19050" y="554736"/>
                  </a:lnTo>
                  <a:lnTo>
                    <a:pt x="38100" y="554736"/>
                  </a:lnTo>
                  <a:close/>
                </a:path>
                <a:path w="803910" h="554989">
                  <a:moveTo>
                    <a:pt x="784859" y="38100"/>
                  </a:moveTo>
                  <a:lnTo>
                    <a:pt x="765809" y="19050"/>
                  </a:lnTo>
                  <a:lnTo>
                    <a:pt x="765809" y="38100"/>
                  </a:lnTo>
                  <a:lnTo>
                    <a:pt x="784859" y="38100"/>
                  </a:lnTo>
                  <a:close/>
                </a:path>
                <a:path w="803910" h="554989">
                  <a:moveTo>
                    <a:pt x="784859" y="516636"/>
                  </a:moveTo>
                  <a:lnTo>
                    <a:pt x="784859" y="38100"/>
                  </a:lnTo>
                  <a:lnTo>
                    <a:pt x="765809" y="38100"/>
                  </a:lnTo>
                  <a:lnTo>
                    <a:pt x="765809" y="516636"/>
                  </a:lnTo>
                  <a:lnTo>
                    <a:pt x="784859" y="516636"/>
                  </a:lnTo>
                  <a:close/>
                </a:path>
                <a:path w="803910" h="554989">
                  <a:moveTo>
                    <a:pt x="784859" y="554736"/>
                  </a:moveTo>
                  <a:lnTo>
                    <a:pt x="784859" y="516636"/>
                  </a:lnTo>
                  <a:lnTo>
                    <a:pt x="765809" y="535686"/>
                  </a:lnTo>
                  <a:lnTo>
                    <a:pt x="765809" y="554736"/>
                  </a:lnTo>
                  <a:lnTo>
                    <a:pt x="784859" y="55473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object 93"/>
            <p:cNvSpPr txBox="1"/>
            <p:nvPr/>
          </p:nvSpPr>
          <p:spPr>
            <a:xfrm>
              <a:off x="3020060" y="3226562"/>
              <a:ext cx="55308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Pre-</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94" name="object 94"/>
            <p:cNvSpPr txBox="1"/>
            <p:nvPr/>
          </p:nvSpPr>
          <p:spPr>
            <a:xfrm>
              <a:off x="2893567" y="3531361"/>
              <a:ext cx="806450"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Dri</a:t>
              </a:r>
              <a:r>
                <a:rPr kumimoji="0" sz="2000" b="0" i="0" u="none" strike="noStrike" kern="1200" cap="none" spc="-25" normalizeH="0" baseline="0" noProof="0" dirty="0">
                  <a:ln>
                    <a:noFill/>
                  </a:ln>
                  <a:solidFill>
                    <a:prstClr val="black"/>
                  </a:solidFill>
                  <a:effectLst/>
                  <a:uLnTx/>
                  <a:uFillTx/>
                  <a:latin typeface="Verdana"/>
                  <a:ea typeface="+mn-ea"/>
                  <a:cs typeface="Verdana"/>
                </a:rPr>
                <a:t>v</a:t>
              </a:r>
              <a:r>
                <a:rPr kumimoji="0" sz="2000" b="0" i="0" u="none" strike="noStrike" kern="1200" cap="none" spc="-10" normalizeH="0" baseline="0" noProof="0" dirty="0">
                  <a:ln>
                    <a:noFill/>
                  </a:ln>
                  <a:solidFill>
                    <a:prstClr val="black"/>
                  </a:solidFill>
                  <a:effectLst/>
                  <a:uLnTx/>
                  <a:uFillTx/>
                  <a:latin typeface="Verdana"/>
                  <a:ea typeface="+mn-ea"/>
                  <a:cs typeface="Verdana"/>
                </a:rPr>
                <a:t>er</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95" name="object 95"/>
            <p:cNvSpPr txBox="1"/>
            <p:nvPr/>
          </p:nvSpPr>
          <p:spPr>
            <a:xfrm>
              <a:off x="3852169" y="3304284"/>
              <a:ext cx="806450"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Dri</a:t>
              </a:r>
              <a:r>
                <a:rPr kumimoji="0" sz="2000" b="0" i="0" u="none" strike="noStrike" kern="1200" cap="none" spc="-25" normalizeH="0" baseline="0" noProof="0" dirty="0">
                  <a:ln>
                    <a:noFill/>
                  </a:ln>
                  <a:solidFill>
                    <a:prstClr val="black"/>
                  </a:solidFill>
                  <a:effectLst/>
                  <a:uLnTx/>
                  <a:uFillTx/>
                  <a:latin typeface="Verdana"/>
                  <a:ea typeface="+mn-ea"/>
                  <a:cs typeface="Verdana"/>
                </a:rPr>
                <a:t>v</a:t>
              </a:r>
              <a:r>
                <a:rPr kumimoji="0" sz="2000" b="0" i="0" u="none" strike="noStrike" kern="1200" cap="none" spc="-10" normalizeH="0" baseline="0" noProof="0" dirty="0">
                  <a:ln>
                    <a:noFill/>
                  </a:ln>
                  <a:solidFill>
                    <a:prstClr val="black"/>
                  </a:solidFill>
                  <a:effectLst/>
                  <a:uLnTx/>
                  <a:uFillTx/>
                  <a:latin typeface="Verdana"/>
                  <a:ea typeface="+mn-ea"/>
                  <a:cs typeface="Verdana"/>
                </a:rPr>
                <a:t>er</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nvGrpSpPr>
            <p:cNvPr id="96" name="object 96"/>
            <p:cNvGrpSpPr/>
            <p:nvPr/>
          </p:nvGrpSpPr>
          <p:grpSpPr>
            <a:xfrm>
              <a:off x="3474720" y="2048255"/>
              <a:ext cx="1082040" cy="1297305"/>
              <a:chOff x="3474720" y="2048255"/>
              <a:chExt cx="1082040" cy="1297305"/>
            </a:xfrm>
          </p:grpSpPr>
          <p:sp>
            <p:nvSpPr>
              <p:cNvPr id="97" name="object 97"/>
              <p:cNvSpPr/>
              <p:nvPr/>
            </p:nvSpPr>
            <p:spPr>
              <a:xfrm>
                <a:off x="3978402" y="2637281"/>
                <a:ext cx="542925" cy="673735"/>
              </a:xfrm>
              <a:custGeom>
                <a:avLst/>
                <a:gdLst/>
                <a:ahLst/>
                <a:cxnLst/>
                <a:rect l="l" t="t" r="r" b="b"/>
                <a:pathLst>
                  <a:path w="542925" h="673735">
                    <a:moveTo>
                      <a:pt x="542544" y="336803"/>
                    </a:moveTo>
                    <a:lnTo>
                      <a:pt x="0" y="0"/>
                    </a:lnTo>
                    <a:lnTo>
                      <a:pt x="0" y="673608"/>
                    </a:lnTo>
                    <a:lnTo>
                      <a:pt x="542544" y="336803"/>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object 98"/>
              <p:cNvSpPr/>
              <p:nvPr/>
            </p:nvSpPr>
            <p:spPr>
              <a:xfrm>
                <a:off x="3959352" y="2602991"/>
                <a:ext cx="597535" cy="742315"/>
              </a:xfrm>
              <a:custGeom>
                <a:avLst/>
                <a:gdLst/>
                <a:ahLst/>
                <a:cxnLst/>
                <a:rect l="l" t="t" r="r" b="b"/>
                <a:pathLst>
                  <a:path w="597535" h="742314">
                    <a:moveTo>
                      <a:pt x="597408" y="371093"/>
                    </a:moveTo>
                    <a:lnTo>
                      <a:pt x="0" y="0"/>
                    </a:lnTo>
                    <a:lnTo>
                      <a:pt x="0" y="742188"/>
                    </a:lnTo>
                    <a:lnTo>
                      <a:pt x="9144" y="736507"/>
                    </a:lnTo>
                    <a:lnTo>
                      <a:pt x="9144" y="50292"/>
                    </a:lnTo>
                    <a:lnTo>
                      <a:pt x="38100" y="34290"/>
                    </a:lnTo>
                    <a:lnTo>
                      <a:pt x="38100" y="68292"/>
                    </a:lnTo>
                    <a:lnTo>
                      <a:pt x="525156" y="371075"/>
                    </a:lnTo>
                    <a:lnTo>
                      <a:pt x="550926" y="355091"/>
                    </a:lnTo>
                    <a:lnTo>
                      <a:pt x="550926" y="399967"/>
                    </a:lnTo>
                    <a:lnTo>
                      <a:pt x="597408" y="371093"/>
                    </a:lnTo>
                    <a:close/>
                  </a:path>
                  <a:path w="597535" h="742314">
                    <a:moveTo>
                      <a:pt x="38100" y="68292"/>
                    </a:moveTo>
                    <a:lnTo>
                      <a:pt x="38100" y="34290"/>
                    </a:lnTo>
                    <a:lnTo>
                      <a:pt x="9144" y="50292"/>
                    </a:lnTo>
                    <a:lnTo>
                      <a:pt x="38100" y="68292"/>
                    </a:lnTo>
                    <a:close/>
                  </a:path>
                  <a:path w="597535" h="742314">
                    <a:moveTo>
                      <a:pt x="38100" y="673173"/>
                    </a:moveTo>
                    <a:lnTo>
                      <a:pt x="38100" y="68292"/>
                    </a:lnTo>
                    <a:lnTo>
                      <a:pt x="9144" y="50292"/>
                    </a:lnTo>
                    <a:lnTo>
                      <a:pt x="9144" y="691134"/>
                    </a:lnTo>
                    <a:lnTo>
                      <a:pt x="38100" y="673173"/>
                    </a:lnTo>
                    <a:close/>
                  </a:path>
                  <a:path w="597535" h="742314">
                    <a:moveTo>
                      <a:pt x="550926" y="399967"/>
                    </a:moveTo>
                    <a:lnTo>
                      <a:pt x="550926" y="387095"/>
                    </a:lnTo>
                    <a:lnTo>
                      <a:pt x="525156" y="371075"/>
                    </a:lnTo>
                    <a:lnTo>
                      <a:pt x="9144" y="691134"/>
                    </a:lnTo>
                    <a:lnTo>
                      <a:pt x="38100" y="707898"/>
                    </a:lnTo>
                    <a:lnTo>
                      <a:pt x="38100" y="718521"/>
                    </a:lnTo>
                    <a:lnTo>
                      <a:pt x="550926" y="399967"/>
                    </a:lnTo>
                    <a:close/>
                  </a:path>
                  <a:path w="597535" h="742314">
                    <a:moveTo>
                      <a:pt x="38100" y="718521"/>
                    </a:moveTo>
                    <a:lnTo>
                      <a:pt x="38100" y="707898"/>
                    </a:lnTo>
                    <a:lnTo>
                      <a:pt x="9144" y="691134"/>
                    </a:lnTo>
                    <a:lnTo>
                      <a:pt x="9144" y="736507"/>
                    </a:lnTo>
                    <a:lnTo>
                      <a:pt x="38100" y="718521"/>
                    </a:lnTo>
                    <a:close/>
                  </a:path>
                  <a:path w="597535" h="742314">
                    <a:moveTo>
                      <a:pt x="550926" y="387095"/>
                    </a:moveTo>
                    <a:lnTo>
                      <a:pt x="550926" y="355091"/>
                    </a:lnTo>
                    <a:lnTo>
                      <a:pt x="525156" y="371075"/>
                    </a:lnTo>
                    <a:lnTo>
                      <a:pt x="550926" y="38709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object 99"/>
              <p:cNvSpPr/>
              <p:nvPr/>
            </p:nvSpPr>
            <p:spPr>
              <a:xfrm>
                <a:off x="3493770" y="2067305"/>
                <a:ext cx="765810" cy="307975"/>
              </a:xfrm>
              <a:custGeom>
                <a:avLst/>
                <a:gdLst/>
                <a:ahLst/>
                <a:cxnLst/>
                <a:rect l="l" t="t" r="r" b="b"/>
                <a:pathLst>
                  <a:path w="765810" h="307975">
                    <a:moveTo>
                      <a:pt x="765810" y="307848"/>
                    </a:moveTo>
                    <a:lnTo>
                      <a:pt x="765810" y="0"/>
                    </a:lnTo>
                    <a:lnTo>
                      <a:pt x="0" y="0"/>
                    </a:lnTo>
                    <a:lnTo>
                      <a:pt x="0" y="307848"/>
                    </a:lnTo>
                    <a:lnTo>
                      <a:pt x="765810" y="307848"/>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object 100"/>
              <p:cNvSpPr/>
              <p:nvPr/>
            </p:nvSpPr>
            <p:spPr>
              <a:xfrm>
                <a:off x="3474720" y="2048255"/>
                <a:ext cx="803910" cy="346075"/>
              </a:xfrm>
              <a:custGeom>
                <a:avLst/>
                <a:gdLst/>
                <a:ahLst/>
                <a:cxnLst/>
                <a:rect l="l" t="t" r="r" b="b"/>
                <a:pathLst>
                  <a:path w="803910" h="346075">
                    <a:moveTo>
                      <a:pt x="803910" y="345948"/>
                    </a:moveTo>
                    <a:lnTo>
                      <a:pt x="803910" y="0"/>
                    </a:lnTo>
                    <a:lnTo>
                      <a:pt x="0" y="0"/>
                    </a:lnTo>
                    <a:lnTo>
                      <a:pt x="0" y="345948"/>
                    </a:lnTo>
                    <a:lnTo>
                      <a:pt x="19050" y="345948"/>
                    </a:lnTo>
                    <a:lnTo>
                      <a:pt x="19050" y="38100"/>
                    </a:lnTo>
                    <a:lnTo>
                      <a:pt x="38100" y="19050"/>
                    </a:lnTo>
                    <a:lnTo>
                      <a:pt x="38100" y="38100"/>
                    </a:lnTo>
                    <a:lnTo>
                      <a:pt x="765809" y="38100"/>
                    </a:lnTo>
                    <a:lnTo>
                      <a:pt x="765809" y="19050"/>
                    </a:lnTo>
                    <a:lnTo>
                      <a:pt x="784859" y="38100"/>
                    </a:lnTo>
                    <a:lnTo>
                      <a:pt x="784859" y="345948"/>
                    </a:lnTo>
                    <a:lnTo>
                      <a:pt x="803910" y="345948"/>
                    </a:lnTo>
                    <a:close/>
                  </a:path>
                  <a:path w="803910" h="346075">
                    <a:moveTo>
                      <a:pt x="38100" y="38100"/>
                    </a:moveTo>
                    <a:lnTo>
                      <a:pt x="38100" y="19050"/>
                    </a:lnTo>
                    <a:lnTo>
                      <a:pt x="19050" y="38100"/>
                    </a:lnTo>
                    <a:lnTo>
                      <a:pt x="38100" y="38100"/>
                    </a:lnTo>
                    <a:close/>
                  </a:path>
                  <a:path w="803910" h="346075">
                    <a:moveTo>
                      <a:pt x="38100" y="307848"/>
                    </a:moveTo>
                    <a:lnTo>
                      <a:pt x="38100" y="38100"/>
                    </a:lnTo>
                    <a:lnTo>
                      <a:pt x="19050" y="38100"/>
                    </a:lnTo>
                    <a:lnTo>
                      <a:pt x="19050" y="307848"/>
                    </a:lnTo>
                    <a:lnTo>
                      <a:pt x="38100" y="307848"/>
                    </a:lnTo>
                    <a:close/>
                  </a:path>
                  <a:path w="803910" h="346075">
                    <a:moveTo>
                      <a:pt x="784859" y="307848"/>
                    </a:moveTo>
                    <a:lnTo>
                      <a:pt x="19050" y="307848"/>
                    </a:lnTo>
                    <a:lnTo>
                      <a:pt x="38100" y="326898"/>
                    </a:lnTo>
                    <a:lnTo>
                      <a:pt x="38100" y="345948"/>
                    </a:lnTo>
                    <a:lnTo>
                      <a:pt x="765809" y="345948"/>
                    </a:lnTo>
                    <a:lnTo>
                      <a:pt x="765809" y="326898"/>
                    </a:lnTo>
                    <a:lnTo>
                      <a:pt x="784859" y="307848"/>
                    </a:lnTo>
                    <a:close/>
                  </a:path>
                  <a:path w="803910" h="346075">
                    <a:moveTo>
                      <a:pt x="38100" y="345948"/>
                    </a:moveTo>
                    <a:lnTo>
                      <a:pt x="38100" y="326898"/>
                    </a:lnTo>
                    <a:lnTo>
                      <a:pt x="19050" y="307848"/>
                    </a:lnTo>
                    <a:lnTo>
                      <a:pt x="19050" y="345948"/>
                    </a:lnTo>
                    <a:lnTo>
                      <a:pt x="38100" y="345948"/>
                    </a:lnTo>
                    <a:close/>
                  </a:path>
                  <a:path w="803910" h="346075">
                    <a:moveTo>
                      <a:pt x="784859" y="38100"/>
                    </a:moveTo>
                    <a:lnTo>
                      <a:pt x="765809" y="19050"/>
                    </a:lnTo>
                    <a:lnTo>
                      <a:pt x="765809" y="38100"/>
                    </a:lnTo>
                    <a:lnTo>
                      <a:pt x="784859" y="38100"/>
                    </a:lnTo>
                    <a:close/>
                  </a:path>
                  <a:path w="803910" h="346075">
                    <a:moveTo>
                      <a:pt x="784859" y="307848"/>
                    </a:moveTo>
                    <a:lnTo>
                      <a:pt x="784859" y="38100"/>
                    </a:lnTo>
                    <a:lnTo>
                      <a:pt x="765809" y="38100"/>
                    </a:lnTo>
                    <a:lnTo>
                      <a:pt x="765809" y="307848"/>
                    </a:lnTo>
                    <a:lnTo>
                      <a:pt x="784859" y="307848"/>
                    </a:lnTo>
                    <a:close/>
                  </a:path>
                  <a:path w="803910" h="346075">
                    <a:moveTo>
                      <a:pt x="784859" y="345948"/>
                    </a:moveTo>
                    <a:lnTo>
                      <a:pt x="784859" y="307848"/>
                    </a:lnTo>
                    <a:lnTo>
                      <a:pt x="765809" y="326898"/>
                    </a:lnTo>
                    <a:lnTo>
                      <a:pt x="765809" y="345948"/>
                    </a:lnTo>
                    <a:lnTo>
                      <a:pt x="784859" y="34594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1" name="object 101"/>
            <p:cNvSpPr txBox="1"/>
            <p:nvPr/>
          </p:nvSpPr>
          <p:spPr>
            <a:xfrm>
              <a:off x="2773933" y="2053082"/>
              <a:ext cx="67754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CTRL</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grpSp>
      <p:sp>
        <p:nvSpPr>
          <p:cNvPr id="116" name="object 116"/>
          <p:cNvSpPr txBox="1"/>
          <p:nvPr/>
        </p:nvSpPr>
        <p:spPr>
          <a:xfrm>
            <a:off x="3564890" y="4601209"/>
            <a:ext cx="241617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Coupler/Connector</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pic>
        <p:nvPicPr>
          <p:cNvPr id="120" name="object 120"/>
          <p:cNvPicPr/>
          <p:nvPr/>
        </p:nvPicPr>
        <p:blipFill>
          <a:blip r:embed="rId4" cstate="print"/>
          <a:stretch>
            <a:fillRect/>
          </a:stretch>
        </p:blipFill>
        <p:spPr>
          <a:xfrm>
            <a:off x="279654" y="4526280"/>
            <a:ext cx="2913921" cy="1524000"/>
          </a:xfrm>
          <a:prstGeom prst="rect">
            <a:avLst/>
          </a:prstGeom>
        </p:spPr>
      </p:pic>
      <p:sp>
        <p:nvSpPr>
          <p:cNvPr id="121" name="object 121"/>
          <p:cNvSpPr txBox="1"/>
          <p:nvPr/>
        </p:nvSpPr>
        <p:spPr>
          <a:xfrm>
            <a:off x="483869" y="4187190"/>
            <a:ext cx="977265" cy="1076960"/>
          </a:xfrm>
          <a:prstGeom prst="rect">
            <a:avLst/>
          </a:prstGeom>
          <a:solidFill>
            <a:srgbClr val="D8D8D8"/>
          </a:solidFill>
        </p:spPr>
        <p:txBody>
          <a:bodyPr vert="horz" wrap="square" lIns="0" tIns="44450" rIns="0" bIns="0" rtlCol="0">
            <a:spAutoFit/>
          </a:bodyPr>
          <a:lstStyle/>
          <a:p>
            <a:pPr marL="92075" marR="142875" lvl="0" indent="0" algn="l" defTabSz="914400" rtl="0" eaLnBrk="1" fontAlgn="auto" latinLnBrk="0" hangingPunct="1">
              <a:lnSpc>
                <a:spcPct val="100000"/>
              </a:lnSpc>
              <a:spcBef>
                <a:spcPts val="35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Verdana"/>
                <a:ea typeface="+mn-ea"/>
                <a:cs typeface="Verdana"/>
              </a:rPr>
              <a:t>E/O </a:t>
            </a:r>
            <a:r>
              <a:rPr kumimoji="0" sz="1600" b="0" i="0" u="none" strike="noStrike" kern="1200" cap="none" spc="0" normalizeH="0" baseline="0" noProof="0" dirty="0">
                <a:ln>
                  <a:noFill/>
                </a:ln>
                <a:solidFill>
                  <a:prstClr val="black"/>
                </a:solidFill>
                <a:effectLst/>
                <a:uLnTx/>
                <a:uFillTx/>
                <a:latin typeface="Verdana"/>
                <a:ea typeface="+mn-ea"/>
                <a:cs typeface="Verdana"/>
              </a:rPr>
              <a:t>TX </a:t>
            </a:r>
            <a:r>
              <a:rPr kumimoji="0" sz="1600" b="0" i="0" u="none" strike="noStrike" kern="1200" cap="none" spc="-550"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Verdana"/>
                <a:ea typeface="+mn-ea"/>
                <a:cs typeface="Verdana"/>
              </a:rPr>
              <a:t>O/E</a:t>
            </a:r>
            <a:r>
              <a:rPr kumimoji="0" sz="1600" b="0" i="0" u="none" strike="noStrike" kern="1200" cap="none" spc="-95" normalizeH="0" baseline="0" noProof="0" dirty="0">
                <a:ln>
                  <a:noFill/>
                </a:ln>
                <a:solidFill>
                  <a:prstClr val="black"/>
                </a:solidFill>
                <a:effectLst/>
                <a:uLnTx/>
                <a:uFillTx/>
                <a:latin typeface="Verdana"/>
                <a:ea typeface="+mn-ea"/>
                <a:cs typeface="Verdana"/>
              </a:rPr>
              <a:t> </a:t>
            </a:r>
            <a:r>
              <a:rPr kumimoji="0" sz="1600" b="0" i="0" u="none" strike="noStrike" kern="1200" cap="none" spc="0" normalizeH="0" baseline="0" noProof="0" dirty="0">
                <a:ln>
                  <a:noFill/>
                </a:ln>
                <a:solidFill>
                  <a:prstClr val="black"/>
                </a:solidFill>
                <a:effectLst/>
                <a:uLnTx/>
                <a:uFillTx/>
                <a:latin typeface="Verdana"/>
                <a:ea typeface="+mn-ea"/>
                <a:cs typeface="Verdana"/>
              </a:rPr>
              <a:t>RX</a:t>
            </a:r>
            <a:endParaRPr kumimoji="0" sz="1600" b="0" i="0" u="none" strike="noStrike" kern="1200" cap="none" spc="0" normalizeH="0" baseline="0" noProof="0">
              <a:ln>
                <a:noFill/>
              </a:ln>
              <a:solidFill>
                <a:prstClr val="black"/>
              </a:solidFill>
              <a:effectLst/>
              <a:uLnTx/>
              <a:uFillTx/>
              <a:latin typeface="Verdana"/>
              <a:ea typeface="+mn-ea"/>
              <a:cs typeface="Verdana"/>
            </a:endParaRPr>
          </a:p>
          <a:p>
            <a:pPr marL="92075" marR="9398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dirty="0">
                <a:ln>
                  <a:noFill/>
                </a:ln>
                <a:solidFill>
                  <a:prstClr val="black"/>
                </a:solidFill>
                <a:effectLst/>
                <a:uLnTx/>
                <a:uFillTx/>
                <a:latin typeface="Verdana"/>
                <a:ea typeface="+mn-ea"/>
                <a:cs typeface="Verdana"/>
              </a:rPr>
              <a:t>Laser </a:t>
            </a:r>
            <a:r>
              <a:rPr kumimoji="0" sz="1600" b="0" i="0" u="none" strike="noStrike" kern="1200" cap="none" spc="5" normalizeH="0" baseline="0" noProof="0" dirty="0">
                <a:ln>
                  <a:noFill/>
                </a:ln>
                <a:solidFill>
                  <a:prstClr val="black"/>
                </a:solidFill>
                <a:effectLst/>
                <a:uLnTx/>
                <a:uFillTx/>
                <a:latin typeface="Verdana"/>
                <a:ea typeface="+mn-ea"/>
                <a:cs typeface="Verdana"/>
              </a:rPr>
              <a:t> </a:t>
            </a:r>
            <a:r>
              <a:rPr kumimoji="0" sz="1600" b="0" i="0" u="none" strike="noStrike" kern="1200" cap="none" spc="-5" normalizeH="0" baseline="0" noProof="0" dirty="0">
                <a:ln>
                  <a:noFill/>
                </a:ln>
                <a:solidFill>
                  <a:prstClr val="black"/>
                </a:solidFill>
                <a:effectLst/>
                <a:uLnTx/>
                <a:uFillTx/>
                <a:latin typeface="Verdana"/>
                <a:ea typeface="+mn-ea"/>
                <a:cs typeface="Verdana"/>
              </a:rPr>
              <a:t>Isolator</a:t>
            </a:r>
            <a:endParaRPr kumimoji="0" sz="1600" b="0" i="0" u="none" strike="noStrike" kern="1200" cap="none" spc="0" normalizeH="0" baseline="0" noProof="0">
              <a:ln>
                <a:noFill/>
              </a:ln>
              <a:solidFill>
                <a:prstClr val="black"/>
              </a:solidFill>
              <a:effectLst/>
              <a:uLnTx/>
              <a:uFillTx/>
              <a:latin typeface="Verdana"/>
              <a:ea typeface="+mn-ea"/>
              <a:cs typeface="Verdana"/>
            </a:endParaRPr>
          </a:p>
        </p:txBody>
      </p:sp>
      <p:sp>
        <p:nvSpPr>
          <p:cNvPr id="123" name="object 123"/>
          <p:cNvSpPr/>
          <p:nvPr/>
        </p:nvSpPr>
        <p:spPr>
          <a:xfrm>
            <a:off x="1482852" y="4416552"/>
            <a:ext cx="892810" cy="295910"/>
          </a:xfrm>
          <a:custGeom>
            <a:avLst/>
            <a:gdLst/>
            <a:ahLst/>
            <a:cxnLst/>
            <a:rect l="l" t="t" r="r" b="b"/>
            <a:pathLst>
              <a:path w="892810" h="295910">
                <a:moveTo>
                  <a:pt x="131064" y="16001"/>
                </a:moveTo>
                <a:lnTo>
                  <a:pt x="123444" y="2285"/>
                </a:lnTo>
                <a:lnTo>
                  <a:pt x="114300" y="0"/>
                </a:lnTo>
                <a:lnTo>
                  <a:pt x="107442" y="3809"/>
                </a:lnTo>
                <a:lnTo>
                  <a:pt x="0" y="65531"/>
                </a:lnTo>
                <a:lnTo>
                  <a:pt x="28194" y="82247"/>
                </a:lnTo>
                <a:lnTo>
                  <a:pt x="28194" y="80009"/>
                </a:lnTo>
                <a:lnTo>
                  <a:pt x="28956" y="51053"/>
                </a:lnTo>
                <a:lnTo>
                  <a:pt x="81738" y="51713"/>
                </a:lnTo>
                <a:lnTo>
                  <a:pt x="121920" y="28955"/>
                </a:lnTo>
                <a:lnTo>
                  <a:pt x="128778" y="25145"/>
                </a:lnTo>
                <a:lnTo>
                  <a:pt x="131064" y="16001"/>
                </a:lnTo>
                <a:close/>
              </a:path>
              <a:path w="892810" h="295910">
                <a:moveTo>
                  <a:pt x="81738" y="51713"/>
                </a:moveTo>
                <a:lnTo>
                  <a:pt x="28956" y="51053"/>
                </a:lnTo>
                <a:lnTo>
                  <a:pt x="28194" y="80009"/>
                </a:lnTo>
                <a:lnTo>
                  <a:pt x="35814" y="80104"/>
                </a:lnTo>
                <a:lnTo>
                  <a:pt x="35814" y="53339"/>
                </a:lnTo>
                <a:lnTo>
                  <a:pt x="56751" y="65865"/>
                </a:lnTo>
                <a:lnTo>
                  <a:pt x="81738" y="51713"/>
                </a:lnTo>
                <a:close/>
              </a:path>
              <a:path w="892810" h="295910">
                <a:moveTo>
                  <a:pt x="130302" y="116585"/>
                </a:moveTo>
                <a:lnTo>
                  <a:pt x="128016" y="108203"/>
                </a:lnTo>
                <a:lnTo>
                  <a:pt x="121158" y="104393"/>
                </a:lnTo>
                <a:lnTo>
                  <a:pt x="81496" y="80668"/>
                </a:lnTo>
                <a:lnTo>
                  <a:pt x="28194" y="80009"/>
                </a:lnTo>
                <a:lnTo>
                  <a:pt x="28194" y="82247"/>
                </a:lnTo>
                <a:lnTo>
                  <a:pt x="106680" y="128777"/>
                </a:lnTo>
                <a:lnTo>
                  <a:pt x="113538" y="132587"/>
                </a:lnTo>
                <a:lnTo>
                  <a:pt x="121920" y="130301"/>
                </a:lnTo>
                <a:lnTo>
                  <a:pt x="125730" y="123443"/>
                </a:lnTo>
                <a:lnTo>
                  <a:pt x="130302" y="116585"/>
                </a:lnTo>
                <a:close/>
              </a:path>
              <a:path w="892810" h="295910">
                <a:moveTo>
                  <a:pt x="56751" y="65865"/>
                </a:moveTo>
                <a:lnTo>
                  <a:pt x="35814" y="53339"/>
                </a:lnTo>
                <a:lnTo>
                  <a:pt x="35814" y="77723"/>
                </a:lnTo>
                <a:lnTo>
                  <a:pt x="56751" y="65865"/>
                </a:lnTo>
                <a:close/>
              </a:path>
              <a:path w="892810" h="295910">
                <a:moveTo>
                  <a:pt x="81496" y="80668"/>
                </a:moveTo>
                <a:lnTo>
                  <a:pt x="56751" y="65865"/>
                </a:lnTo>
                <a:lnTo>
                  <a:pt x="35814" y="77723"/>
                </a:lnTo>
                <a:lnTo>
                  <a:pt x="35814" y="80104"/>
                </a:lnTo>
                <a:lnTo>
                  <a:pt x="81496" y="80668"/>
                </a:lnTo>
                <a:close/>
              </a:path>
              <a:path w="892810" h="295910">
                <a:moveTo>
                  <a:pt x="892302" y="240029"/>
                </a:moveTo>
                <a:lnTo>
                  <a:pt x="892302" y="237743"/>
                </a:lnTo>
                <a:lnTo>
                  <a:pt x="890778" y="228599"/>
                </a:lnTo>
                <a:lnTo>
                  <a:pt x="890778" y="226313"/>
                </a:lnTo>
                <a:lnTo>
                  <a:pt x="890016" y="224789"/>
                </a:lnTo>
                <a:lnTo>
                  <a:pt x="886968" y="216407"/>
                </a:lnTo>
                <a:lnTo>
                  <a:pt x="886206" y="215645"/>
                </a:lnTo>
                <a:lnTo>
                  <a:pt x="886206" y="214883"/>
                </a:lnTo>
                <a:lnTo>
                  <a:pt x="885444" y="213359"/>
                </a:lnTo>
                <a:lnTo>
                  <a:pt x="880110" y="204977"/>
                </a:lnTo>
                <a:lnTo>
                  <a:pt x="878586" y="203453"/>
                </a:lnTo>
                <a:lnTo>
                  <a:pt x="869442" y="193547"/>
                </a:lnTo>
                <a:lnTo>
                  <a:pt x="831342" y="166877"/>
                </a:lnTo>
                <a:lnTo>
                  <a:pt x="796290" y="150113"/>
                </a:lnTo>
                <a:lnTo>
                  <a:pt x="731520" y="128015"/>
                </a:lnTo>
                <a:lnTo>
                  <a:pt x="680466" y="114299"/>
                </a:lnTo>
                <a:lnTo>
                  <a:pt x="623316" y="102107"/>
                </a:lnTo>
                <a:lnTo>
                  <a:pt x="560832" y="90677"/>
                </a:lnTo>
                <a:lnTo>
                  <a:pt x="493014" y="80771"/>
                </a:lnTo>
                <a:lnTo>
                  <a:pt x="419862" y="72389"/>
                </a:lnTo>
                <a:lnTo>
                  <a:pt x="381762" y="67817"/>
                </a:lnTo>
                <a:lnTo>
                  <a:pt x="342900" y="64769"/>
                </a:lnTo>
                <a:lnTo>
                  <a:pt x="303276" y="61721"/>
                </a:lnTo>
                <a:lnTo>
                  <a:pt x="262128" y="58673"/>
                </a:lnTo>
                <a:lnTo>
                  <a:pt x="220218" y="56387"/>
                </a:lnTo>
                <a:lnTo>
                  <a:pt x="176784" y="54837"/>
                </a:lnTo>
                <a:lnTo>
                  <a:pt x="89916" y="51815"/>
                </a:lnTo>
                <a:lnTo>
                  <a:pt x="81738" y="51713"/>
                </a:lnTo>
                <a:lnTo>
                  <a:pt x="56751" y="65865"/>
                </a:lnTo>
                <a:lnTo>
                  <a:pt x="81496" y="80668"/>
                </a:lnTo>
                <a:lnTo>
                  <a:pt x="89916" y="80771"/>
                </a:lnTo>
                <a:lnTo>
                  <a:pt x="176784" y="83057"/>
                </a:lnTo>
                <a:lnTo>
                  <a:pt x="262128" y="87716"/>
                </a:lnTo>
                <a:lnTo>
                  <a:pt x="300990" y="89915"/>
                </a:lnTo>
                <a:lnTo>
                  <a:pt x="340614" y="92963"/>
                </a:lnTo>
                <a:lnTo>
                  <a:pt x="379476" y="96773"/>
                </a:lnTo>
                <a:lnTo>
                  <a:pt x="453390" y="104393"/>
                </a:lnTo>
                <a:lnTo>
                  <a:pt x="523494" y="114299"/>
                </a:lnTo>
                <a:lnTo>
                  <a:pt x="556260" y="118871"/>
                </a:lnTo>
                <a:lnTo>
                  <a:pt x="617982" y="130301"/>
                </a:lnTo>
                <a:lnTo>
                  <a:pt x="674370" y="142493"/>
                </a:lnTo>
                <a:lnTo>
                  <a:pt x="700278" y="149351"/>
                </a:lnTo>
                <a:lnTo>
                  <a:pt x="723900" y="155447"/>
                </a:lnTo>
                <a:lnTo>
                  <a:pt x="746760" y="162305"/>
                </a:lnTo>
                <a:lnTo>
                  <a:pt x="767334" y="169925"/>
                </a:lnTo>
                <a:lnTo>
                  <a:pt x="786384" y="176783"/>
                </a:lnTo>
                <a:lnTo>
                  <a:pt x="831342" y="199643"/>
                </a:lnTo>
                <a:lnTo>
                  <a:pt x="855726" y="220810"/>
                </a:lnTo>
                <a:lnTo>
                  <a:pt x="855726" y="220217"/>
                </a:lnTo>
                <a:lnTo>
                  <a:pt x="857250" y="222503"/>
                </a:lnTo>
                <a:lnTo>
                  <a:pt x="857250" y="222830"/>
                </a:lnTo>
                <a:lnTo>
                  <a:pt x="860297" y="228055"/>
                </a:lnTo>
                <a:lnTo>
                  <a:pt x="860297" y="226313"/>
                </a:lnTo>
                <a:lnTo>
                  <a:pt x="862584" y="233171"/>
                </a:lnTo>
                <a:lnTo>
                  <a:pt x="862584" y="232409"/>
                </a:lnTo>
                <a:lnTo>
                  <a:pt x="863346" y="235457"/>
                </a:lnTo>
                <a:lnTo>
                  <a:pt x="863346" y="290114"/>
                </a:lnTo>
                <a:lnTo>
                  <a:pt x="864108" y="289559"/>
                </a:lnTo>
                <a:lnTo>
                  <a:pt x="889254" y="256031"/>
                </a:lnTo>
                <a:lnTo>
                  <a:pt x="889254" y="255269"/>
                </a:lnTo>
                <a:lnTo>
                  <a:pt x="890016" y="254507"/>
                </a:lnTo>
                <a:lnTo>
                  <a:pt x="891540" y="248411"/>
                </a:lnTo>
                <a:lnTo>
                  <a:pt x="891540" y="246125"/>
                </a:lnTo>
                <a:lnTo>
                  <a:pt x="892302" y="240029"/>
                </a:lnTo>
                <a:close/>
              </a:path>
              <a:path w="892810" h="295910">
                <a:moveTo>
                  <a:pt x="862126" y="246430"/>
                </a:moveTo>
                <a:lnTo>
                  <a:pt x="860297" y="250697"/>
                </a:lnTo>
                <a:lnTo>
                  <a:pt x="858012" y="255269"/>
                </a:lnTo>
                <a:lnTo>
                  <a:pt x="854202" y="259079"/>
                </a:lnTo>
                <a:lnTo>
                  <a:pt x="850392" y="263651"/>
                </a:lnTo>
                <a:lnTo>
                  <a:pt x="845058" y="268985"/>
                </a:lnTo>
                <a:lnTo>
                  <a:pt x="838200" y="273557"/>
                </a:lnTo>
                <a:lnTo>
                  <a:pt x="855726" y="295655"/>
                </a:lnTo>
                <a:lnTo>
                  <a:pt x="861822" y="291222"/>
                </a:lnTo>
                <a:lnTo>
                  <a:pt x="861822" y="247649"/>
                </a:lnTo>
                <a:lnTo>
                  <a:pt x="862126" y="246430"/>
                </a:lnTo>
                <a:close/>
              </a:path>
              <a:path w="892810" h="295910">
                <a:moveTo>
                  <a:pt x="857250" y="222503"/>
                </a:moveTo>
                <a:lnTo>
                  <a:pt x="855726" y="220217"/>
                </a:lnTo>
                <a:lnTo>
                  <a:pt x="856708" y="221902"/>
                </a:lnTo>
                <a:lnTo>
                  <a:pt x="857250" y="222503"/>
                </a:lnTo>
                <a:close/>
              </a:path>
              <a:path w="892810" h="295910">
                <a:moveTo>
                  <a:pt x="856708" y="221902"/>
                </a:moveTo>
                <a:lnTo>
                  <a:pt x="855726" y="220217"/>
                </a:lnTo>
                <a:lnTo>
                  <a:pt x="855726" y="220810"/>
                </a:lnTo>
                <a:lnTo>
                  <a:pt x="856708" y="221902"/>
                </a:lnTo>
                <a:close/>
              </a:path>
              <a:path w="892810" h="295910">
                <a:moveTo>
                  <a:pt x="857250" y="222830"/>
                </a:moveTo>
                <a:lnTo>
                  <a:pt x="857250" y="222503"/>
                </a:lnTo>
                <a:lnTo>
                  <a:pt x="856708" y="221902"/>
                </a:lnTo>
                <a:lnTo>
                  <a:pt x="857250" y="222830"/>
                </a:lnTo>
                <a:close/>
              </a:path>
              <a:path w="892810" h="295910">
                <a:moveTo>
                  <a:pt x="861060" y="229361"/>
                </a:moveTo>
                <a:lnTo>
                  <a:pt x="860297" y="226313"/>
                </a:lnTo>
                <a:lnTo>
                  <a:pt x="860297" y="228055"/>
                </a:lnTo>
                <a:lnTo>
                  <a:pt x="861060" y="229361"/>
                </a:lnTo>
                <a:close/>
              </a:path>
              <a:path w="892810" h="295910">
                <a:moveTo>
                  <a:pt x="862584" y="245363"/>
                </a:moveTo>
                <a:lnTo>
                  <a:pt x="862126" y="246430"/>
                </a:lnTo>
                <a:lnTo>
                  <a:pt x="861822" y="247649"/>
                </a:lnTo>
                <a:lnTo>
                  <a:pt x="862584" y="245363"/>
                </a:lnTo>
                <a:close/>
              </a:path>
              <a:path w="892810" h="295910">
                <a:moveTo>
                  <a:pt x="862584" y="290668"/>
                </a:moveTo>
                <a:lnTo>
                  <a:pt x="862584" y="245363"/>
                </a:lnTo>
                <a:lnTo>
                  <a:pt x="861822" y="247649"/>
                </a:lnTo>
                <a:lnTo>
                  <a:pt x="861822" y="291222"/>
                </a:lnTo>
                <a:lnTo>
                  <a:pt x="862584" y="290668"/>
                </a:lnTo>
                <a:close/>
              </a:path>
              <a:path w="892810" h="295910">
                <a:moveTo>
                  <a:pt x="863346" y="290114"/>
                </a:moveTo>
                <a:lnTo>
                  <a:pt x="863346" y="241553"/>
                </a:lnTo>
                <a:lnTo>
                  <a:pt x="862126" y="246430"/>
                </a:lnTo>
                <a:lnTo>
                  <a:pt x="862584" y="245363"/>
                </a:lnTo>
                <a:lnTo>
                  <a:pt x="862584" y="290668"/>
                </a:lnTo>
                <a:lnTo>
                  <a:pt x="863346" y="290114"/>
                </a:lnTo>
                <a:close/>
              </a:path>
              <a:path w="892810" h="295910">
                <a:moveTo>
                  <a:pt x="863346" y="235457"/>
                </a:moveTo>
                <a:lnTo>
                  <a:pt x="862584" y="232409"/>
                </a:lnTo>
                <a:lnTo>
                  <a:pt x="862679" y="233457"/>
                </a:lnTo>
                <a:lnTo>
                  <a:pt x="863346" y="235457"/>
                </a:lnTo>
                <a:close/>
              </a:path>
              <a:path w="892810" h="295910">
                <a:moveTo>
                  <a:pt x="862679" y="233457"/>
                </a:moveTo>
                <a:lnTo>
                  <a:pt x="862584" y="232409"/>
                </a:lnTo>
                <a:lnTo>
                  <a:pt x="862584" y="233171"/>
                </a:lnTo>
                <a:lnTo>
                  <a:pt x="862679" y="233457"/>
                </a:lnTo>
                <a:close/>
              </a:path>
              <a:path w="892810" h="295910">
                <a:moveTo>
                  <a:pt x="863346" y="240791"/>
                </a:moveTo>
                <a:lnTo>
                  <a:pt x="863346" y="235457"/>
                </a:lnTo>
                <a:lnTo>
                  <a:pt x="862679" y="233457"/>
                </a:lnTo>
                <a:lnTo>
                  <a:pt x="863346" y="24079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2" name="Group 131"/>
          <p:cNvGrpSpPr/>
          <p:nvPr/>
        </p:nvGrpSpPr>
        <p:grpSpPr>
          <a:xfrm>
            <a:off x="786383" y="1804416"/>
            <a:ext cx="1664463" cy="2129408"/>
            <a:chOff x="786383" y="1804416"/>
            <a:chExt cx="1664463" cy="2129408"/>
          </a:xfrm>
        </p:grpSpPr>
        <p:sp>
          <p:nvSpPr>
            <p:cNvPr id="4" name="object 4"/>
            <p:cNvSpPr/>
            <p:nvPr/>
          </p:nvSpPr>
          <p:spPr>
            <a:xfrm>
              <a:off x="2412491" y="29070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684782" y="2849879"/>
              <a:ext cx="684530" cy="227965"/>
            </a:xfrm>
            <a:custGeom>
              <a:avLst/>
              <a:gdLst/>
              <a:ahLst/>
              <a:cxnLst/>
              <a:rect l="l" t="t" r="r" b="b"/>
              <a:pathLst>
                <a:path w="684530" h="227964">
                  <a:moveTo>
                    <a:pt x="331787" y="199453"/>
                  </a:moveTo>
                  <a:lnTo>
                    <a:pt x="331152" y="199453"/>
                  </a:lnTo>
                  <a:lnTo>
                    <a:pt x="331787" y="199453"/>
                  </a:lnTo>
                  <a:close/>
                </a:path>
                <a:path w="684530" h="227964">
                  <a:moveTo>
                    <a:pt x="331978" y="28498"/>
                  </a:moveTo>
                  <a:lnTo>
                    <a:pt x="331698" y="28409"/>
                  </a:lnTo>
                  <a:lnTo>
                    <a:pt x="331101" y="28524"/>
                  </a:lnTo>
                  <a:lnTo>
                    <a:pt x="331978" y="28498"/>
                  </a:lnTo>
                  <a:close/>
                </a:path>
                <a:path w="684530" h="227964">
                  <a:moveTo>
                    <a:pt x="684530" y="102870"/>
                  </a:moveTo>
                  <a:lnTo>
                    <a:pt x="683260" y="92202"/>
                  </a:lnTo>
                  <a:lnTo>
                    <a:pt x="683260" y="82296"/>
                  </a:lnTo>
                  <a:lnTo>
                    <a:pt x="681990" y="72390"/>
                  </a:lnTo>
                  <a:lnTo>
                    <a:pt x="664210" y="23622"/>
                  </a:lnTo>
                  <a:lnTo>
                    <a:pt x="656590" y="12954"/>
                  </a:lnTo>
                  <a:lnTo>
                    <a:pt x="656590" y="114300"/>
                  </a:lnTo>
                  <a:lnTo>
                    <a:pt x="655320" y="124206"/>
                  </a:lnTo>
                  <a:lnTo>
                    <a:pt x="655320" y="133350"/>
                  </a:lnTo>
                  <a:lnTo>
                    <a:pt x="654050" y="142494"/>
                  </a:lnTo>
                  <a:lnTo>
                    <a:pt x="652780" y="150876"/>
                  </a:lnTo>
                  <a:lnTo>
                    <a:pt x="651510" y="158496"/>
                  </a:lnTo>
                  <a:lnTo>
                    <a:pt x="648970" y="166116"/>
                  </a:lnTo>
                  <a:lnTo>
                    <a:pt x="645160" y="179832"/>
                  </a:lnTo>
                  <a:lnTo>
                    <a:pt x="628650" y="199644"/>
                  </a:lnTo>
                  <a:lnTo>
                    <a:pt x="367868" y="199644"/>
                  </a:lnTo>
                  <a:lnTo>
                    <a:pt x="369570" y="196596"/>
                  </a:lnTo>
                  <a:lnTo>
                    <a:pt x="375920" y="181356"/>
                  </a:lnTo>
                  <a:lnTo>
                    <a:pt x="381000" y="164592"/>
                  </a:lnTo>
                  <a:lnTo>
                    <a:pt x="384810" y="134874"/>
                  </a:lnTo>
                  <a:lnTo>
                    <a:pt x="386080" y="113538"/>
                  </a:lnTo>
                  <a:lnTo>
                    <a:pt x="384810" y="92202"/>
                  </a:lnTo>
                  <a:lnTo>
                    <a:pt x="378460" y="54102"/>
                  </a:lnTo>
                  <a:lnTo>
                    <a:pt x="368719" y="28956"/>
                  </a:lnTo>
                  <a:lnTo>
                    <a:pt x="629920" y="28956"/>
                  </a:lnTo>
                  <a:lnTo>
                    <a:pt x="631825" y="28956"/>
                  </a:lnTo>
                  <a:lnTo>
                    <a:pt x="632879" y="29387"/>
                  </a:lnTo>
                  <a:lnTo>
                    <a:pt x="648970" y="62484"/>
                  </a:lnTo>
                  <a:lnTo>
                    <a:pt x="651510" y="70104"/>
                  </a:lnTo>
                  <a:lnTo>
                    <a:pt x="652780" y="77724"/>
                  </a:lnTo>
                  <a:lnTo>
                    <a:pt x="654050" y="86106"/>
                  </a:lnTo>
                  <a:lnTo>
                    <a:pt x="655320" y="95250"/>
                  </a:lnTo>
                  <a:lnTo>
                    <a:pt x="655320" y="104394"/>
                  </a:lnTo>
                  <a:lnTo>
                    <a:pt x="656590" y="114300"/>
                  </a:lnTo>
                  <a:lnTo>
                    <a:pt x="656590" y="12954"/>
                  </a:lnTo>
                  <a:lnTo>
                    <a:pt x="655320" y="11430"/>
                  </a:lnTo>
                  <a:lnTo>
                    <a:pt x="651510" y="8382"/>
                  </a:lnTo>
                  <a:lnTo>
                    <a:pt x="651510" y="7620"/>
                  </a:lnTo>
                  <a:lnTo>
                    <a:pt x="646430" y="4572"/>
                  </a:lnTo>
                  <a:lnTo>
                    <a:pt x="645160" y="3048"/>
                  </a:lnTo>
                  <a:lnTo>
                    <a:pt x="643890" y="3048"/>
                  </a:lnTo>
                  <a:lnTo>
                    <a:pt x="640080" y="1524"/>
                  </a:lnTo>
                  <a:lnTo>
                    <a:pt x="638810" y="762"/>
                  </a:lnTo>
                  <a:lnTo>
                    <a:pt x="636270" y="762"/>
                  </a:lnTo>
                  <a:lnTo>
                    <a:pt x="629920" y="0"/>
                  </a:lnTo>
                  <a:lnTo>
                    <a:pt x="356870" y="0"/>
                  </a:lnTo>
                  <a:lnTo>
                    <a:pt x="356870" y="104394"/>
                  </a:lnTo>
                  <a:lnTo>
                    <a:pt x="356870" y="124206"/>
                  </a:lnTo>
                  <a:lnTo>
                    <a:pt x="350520" y="166116"/>
                  </a:lnTo>
                  <a:lnTo>
                    <a:pt x="340360" y="189738"/>
                  </a:lnTo>
                  <a:lnTo>
                    <a:pt x="339090" y="193548"/>
                  </a:lnTo>
                  <a:lnTo>
                    <a:pt x="336550" y="196596"/>
                  </a:lnTo>
                  <a:lnTo>
                    <a:pt x="336550" y="195072"/>
                  </a:lnTo>
                  <a:lnTo>
                    <a:pt x="334848" y="197612"/>
                  </a:lnTo>
                  <a:lnTo>
                    <a:pt x="332740" y="198882"/>
                  </a:lnTo>
                  <a:lnTo>
                    <a:pt x="331647" y="199212"/>
                  </a:lnTo>
                  <a:lnTo>
                    <a:pt x="332308" y="199136"/>
                  </a:lnTo>
                  <a:lnTo>
                    <a:pt x="332105" y="199263"/>
                  </a:lnTo>
                  <a:lnTo>
                    <a:pt x="332308" y="199224"/>
                  </a:lnTo>
                  <a:lnTo>
                    <a:pt x="331978" y="199339"/>
                  </a:lnTo>
                  <a:lnTo>
                    <a:pt x="332282" y="199326"/>
                  </a:lnTo>
                  <a:lnTo>
                    <a:pt x="332105" y="199390"/>
                  </a:lnTo>
                  <a:lnTo>
                    <a:pt x="332308" y="199478"/>
                  </a:lnTo>
                  <a:lnTo>
                    <a:pt x="331889" y="199478"/>
                  </a:lnTo>
                  <a:lnTo>
                    <a:pt x="332740" y="199644"/>
                  </a:lnTo>
                  <a:lnTo>
                    <a:pt x="331787" y="199529"/>
                  </a:lnTo>
                  <a:lnTo>
                    <a:pt x="331647" y="199542"/>
                  </a:lnTo>
                  <a:lnTo>
                    <a:pt x="331470" y="199644"/>
                  </a:lnTo>
                  <a:lnTo>
                    <a:pt x="330835" y="199517"/>
                  </a:lnTo>
                  <a:lnTo>
                    <a:pt x="331152" y="199453"/>
                  </a:lnTo>
                  <a:lnTo>
                    <a:pt x="330835" y="199453"/>
                  </a:lnTo>
                  <a:lnTo>
                    <a:pt x="331038" y="199390"/>
                  </a:lnTo>
                  <a:lnTo>
                    <a:pt x="330200" y="199453"/>
                  </a:lnTo>
                  <a:lnTo>
                    <a:pt x="330962" y="199339"/>
                  </a:lnTo>
                  <a:lnTo>
                    <a:pt x="330835" y="199263"/>
                  </a:lnTo>
                  <a:lnTo>
                    <a:pt x="331647" y="199212"/>
                  </a:lnTo>
                  <a:lnTo>
                    <a:pt x="328930" y="198120"/>
                  </a:lnTo>
                  <a:lnTo>
                    <a:pt x="327660" y="197358"/>
                  </a:lnTo>
                  <a:lnTo>
                    <a:pt x="328930" y="198882"/>
                  </a:lnTo>
                  <a:lnTo>
                    <a:pt x="325120" y="195072"/>
                  </a:lnTo>
                  <a:lnTo>
                    <a:pt x="323850" y="192786"/>
                  </a:lnTo>
                  <a:lnTo>
                    <a:pt x="321310" y="188976"/>
                  </a:lnTo>
                  <a:lnTo>
                    <a:pt x="318770" y="184404"/>
                  </a:lnTo>
                  <a:lnTo>
                    <a:pt x="316230" y="179070"/>
                  </a:lnTo>
                  <a:lnTo>
                    <a:pt x="313690" y="172212"/>
                  </a:lnTo>
                  <a:lnTo>
                    <a:pt x="312420" y="165354"/>
                  </a:lnTo>
                  <a:lnTo>
                    <a:pt x="309880" y="158496"/>
                  </a:lnTo>
                  <a:lnTo>
                    <a:pt x="308610" y="150114"/>
                  </a:lnTo>
                  <a:lnTo>
                    <a:pt x="308610" y="141732"/>
                  </a:lnTo>
                  <a:lnTo>
                    <a:pt x="306070" y="123444"/>
                  </a:lnTo>
                  <a:lnTo>
                    <a:pt x="306070" y="104394"/>
                  </a:lnTo>
                  <a:lnTo>
                    <a:pt x="307340" y="94488"/>
                  </a:lnTo>
                  <a:lnTo>
                    <a:pt x="308610" y="86106"/>
                  </a:lnTo>
                  <a:lnTo>
                    <a:pt x="308610" y="76962"/>
                  </a:lnTo>
                  <a:lnTo>
                    <a:pt x="309880" y="69342"/>
                  </a:lnTo>
                  <a:lnTo>
                    <a:pt x="312420" y="61722"/>
                  </a:lnTo>
                  <a:lnTo>
                    <a:pt x="317500" y="48006"/>
                  </a:lnTo>
                  <a:lnTo>
                    <a:pt x="320040" y="42672"/>
                  </a:lnTo>
                  <a:lnTo>
                    <a:pt x="321310" y="38100"/>
                  </a:lnTo>
                  <a:lnTo>
                    <a:pt x="325120" y="34290"/>
                  </a:lnTo>
                  <a:lnTo>
                    <a:pt x="327660" y="31242"/>
                  </a:lnTo>
                  <a:lnTo>
                    <a:pt x="328295" y="30099"/>
                  </a:lnTo>
                  <a:lnTo>
                    <a:pt x="328930" y="29718"/>
                  </a:lnTo>
                  <a:lnTo>
                    <a:pt x="331470" y="28714"/>
                  </a:lnTo>
                  <a:lnTo>
                    <a:pt x="331470" y="28956"/>
                  </a:lnTo>
                  <a:lnTo>
                    <a:pt x="332740" y="28956"/>
                  </a:lnTo>
                  <a:lnTo>
                    <a:pt x="334010" y="29718"/>
                  </a:lnTo>
                  <a:lnTo>
                    <a:pt x="335280" y="31242"/>
                  </a:lnTo>
                  <a:lnTo>
                    <a:pt x="336550" y="32766"/>
                  </a:lnTo>
                  <a:lnTo>
                    <a:pt x="336550" y="31242"/>
                  </a:lnTo>
                  <a:lnTo>
                    <a:pt x="341630" y="38862"/>
                  </a:lnTo>
                  <a:lnTo>
                    <a:pt x="344170" y="43434"/>
                  </a:lnTo>
                  <a:lnTo>
                    <a:pt x="347980" y="55626"/>
                  </a:lnTo>
                  <a:lnTo>
                    <a:pt x="350520" y="62484"/>
                  </a:lnTo>
                  <a:lnTo>
                    <a:pt x="354330" y="77724"/>
                  </a:lnTo>
                  <a:lnTo>
                    <a:pt x="355600" y="86106"/>
                  </a:lnTo>
                  <a:lnTo>
                    <a:pt x="356870" y="104394"/>
                  </a:lnTo>
                  <a:lnTo>
                    <a:pt x="356870" y="0"/>
                  </a:lnTo>
                  <a:lnTo>
                    <a:pt x="332740" y="0"/>
                  </a:lnTo>
                  <a:lnTo>
                    <a:pt x="334327" y="241"/>
                  </a:lnTo>
                  <a:lnTo>
                    <a:pt x="332740" y="215"/>
                  </a:lnTo>
                  <a:lnTo>
                    <a:pt x="332740" y="28194"/>
                  </a:lnTo>
                  <a:lnTo>
                    <a:pt x="331978" y="28346"/>
                  </a:lnTo>
                  <a:lnTo>
                    <a:pt x="332308" y="28371"/>
                  </a:lnTo>
                  <a:lnTo>
                    <a:pt x="332740" y="28575"/>
                  </a:lnTo>
                  <a:lnTo>
                    <a:pt x="332105" y="28448"/>
                  </a:lnTo>
                  <a:lnTo>
                    <a:pt x="332308" y="28536"/>
                  </a:lnTo>
                  <a:lnTo>
                    <a:pt x="331978" y="28498"/>
                  </a:lnTo>
                  <a:lnTo>
                    <a:pt x="332308" y="28702"/>
                  </a:lnTo>
                  <a:lnTo>
                    <a:pt x="331470" y="28702"/>
                  </a:lnTo>
                  <a:lnTo>
                    <a:pt x="331698" y="28613"/>
                  </a:lnTo>
                  <a:lnTo>
                    <a:pt x="330835" y="28575"/>
                  </a:lnTo>
                  <a:lnTo>
                    <a:pt x="330962" y="28498"/>
                  </a:lnTo>
                  <a:lnTo>
                    <a:pt x="330200" y="28384"/>
                  </a:lnTo>
                  <a:lnTo>
                    <a:pt x="331216" y="28346"/>
                  </a:lnTo>
                  <a:lnTo>
                    <a:pt x="330962" y="28498"/>
                  </a:lnTo>
                  <a:lnTo>
                    <a:pt x="331787" y="28384"/>
                  </a:lnTo>
                  <a:lnTo>
                    <a:pt x="331660" y="28321"/>
                  </a:lnTo>
                  <a:lnTo>
                    <a:pt x="331889" y="28371"/>
                  </a:lnTo>
                  <a:lnTo>
                    <a:pt x="331711" y="28308"/>
                  </a:lnTo>
                  <a:lnTo>
                    <a:pt x="331978" y="28346"/>
                  </a:lnTo>
                  <a:lnTo>
                    <a:pt x="332740" y="28194"/>
                  </a:lnTo>
                  <a:lnTo>
                    <a:pt x="332740" y="215"/>
                  </a:lnTo>
                  <a:lnTo>
                    <a:pt x="328295" y="127"/>
                  </a:lnTo>
                  <a:lnTo>
                    <a:pt x="325120" y="762"/>
                  </a:lnTo>
                  <a:lnTo>
                    <a:pt x="323850" y="762"/>
                  </a:lnTo>
                  <a:lnTo>
                    <a:pt x="322580" y="1524"/>
                  </a:lnTo>
                  <a:lnTo>
                    <a:pt x="318770" y="3048"/>
                  </a:lnTo>
                  <a:lnTo>
                    <a:pt x="317500" y="3048"/>
                  </a:lnTo>
                  <a:lnTo>
                    <a:pt x="316230" y="3810"/>
                  </a:lnTo>
                  <a:lnTo>
                    <a:pt x="316230" y="4572"/>
                  </a:lnTo>
                  <a:lnTo>
                    <a:pt x="311150" y="7620"/>
                  </a:lnTo>
                  <a:lnTo>
                    <a:pt x="309880" y="7620"/>
                  </a:lnTo>
                  <a:lnTo>
                    <a:pt x="309880" y="8382"/>
                  </a:lnTo>
                  <a:lnTo>
                    <a:pt x="287020" y="46482"/>
                  </a:lnTo>
                  <a:lnTo>
                    <a:pt x="283210" y="64008"/>
                  </a:lnTo>
                  <a:lnTo>
                    <a:pt x="280670" y="73152"/>
                  </a:lnTo>
                  <a:lnTo>
                    <a:pt x="279984" y="78486"/>
                  </a:lnTo>
                  <a:lnTo>
                    <a:pt x="0" y="78486"/>
                  </a:lnTo>
                  <a:lnTo>
                    <a:pt x="0" y="116586"/>
                  </a:lnTo>
                  <a:lnTo>
                    <a:pt x="278130" y="116586"/>
                  </a:lnTo>
                  <a:lnTo>
                    <a:pt x="278130" y="135636"/>
                  </a:lnTo>
                  <a:lnTo>
                    <a:pt x="280670" y="155448"/>
                  </a:lnTo>
                  <a:lnTo>
                    <a:pt x="285750" y="173736"/>
                  </a:lnTo>
                  <a:lnTo>
                    <a:pt x="287020" y="182118"/>
                  </a:lnTo>
                  <a:lnTo>
                    <a:pt x="290830" y="190500"/>
                  </a:lnTo>
                  <a:lnTo>
                    <a:pt x="293370" y="197358"/>
                  </a:lnTo>
                  <a:lnTo>
                    <a:pt x="297180" y="204216"/>
                  </a:lnTo>
                  <a:lnTo>
                    <a:pt x="306070" y="216408"/>
                  </a:lnTo>
                  <a:lnTo>
                    <a:pt x="309880" y="219456"/>
                  </a:lnTo>
                  <a:lnTo>
                    <a:pt x="309880" y="220218"/>
                  </a:lnTo>
                  <a:lnTo>
                    <a:pt x="311150" y="220980"/>
                  </a:lnTo>
                  <a:lnTo>
                    <a:pt x="312420" y="220980"/>
                  </a:lnTo>
                  <a:lnTo>
                    <a:pt x="316230" y="223266"/>
                  </a:lnTo>
                  <a:lnTo>
                    <a:pt x="317500" y="224790"/>
                  </a:lnTo>
                  <a:lnTo>
                    <a:pt x="318770" y="224790"/>
                  </a:lnTo>
                  <a:lnTo>
                    <a:pt x="322580" y="226314"/>
                  </a:lnTo>
                  <a:lnTo>
                    <a:pt x="323850" y="227076"/>
                  </a:lnTo>
                  <a:lnTo>
                    <a:pt x="325120" y="227076"/>
                  </a:lnTo>
                  <a:lnTo>
                    <a:pt x="328930" y="227838"/>
                  </a:lnTo>
                  <a:lnTo>
                    <a:pt x="333324" y="227761"/>
                  </a:lnTo>
                  <a:lnTo>
                    <a:pt x="332740" y="227838"/>
                  </a:lnTo>
                  <a:lnTo>
                    <a:pt x="629920" y="227838"/>
                  </a:lnTo>
                  <a:lnTo>
                    <a:pt x="631190" y="227838"/>
                  </a:lnTo>
                  <a:lnTo>
                    <a:pt x="632968" y="227736"/>
                  </a:lnTo>
                  <a:lnTo>
                    <a:pt x="635000" y="227330"/>
                  </a:lnTo>
                  <a:lnTo>
                    <a:pt x="636270" y="227076"/>
                  </a:lnTo>
                  <a:lnTo>
                    <a:pt x="638810" y="227076"/>
                  </a:lnTo>
                  <a:lnTo>
                    <a:pt x="640080" y="226314"/>
                  </a:lnTo>
                  <a:lnTo>
                    <a:pt x="643890" y="224790"/>
                  </a:lnTo>
                  <a:lnTo>
                    <a:pt x="645160" y="224790"/>
                  </a:lnTo>
                  <a:lnTo>
                    <a:pt x="646430" y="223266"/>
                  </a:lnTo>
                  <a:lnTo>
                    <a:pt x="650240" y="220980"/>
                  </a:lnTo>
                  <a:lnTo>
                    <a:pt x="651510" y="220980"/>
                  </a:lnTo>
                  <a:lnTo>
                    <a:pt x="651510" y="219456"/>
                  </a:lnTo>
                  <a:lnTo>
                    <a:pt x="656590" y="214884"/>
                  </a:lnTo>
                  <a:lnTo>
                    <a:pt x="661670" y="209550"/>
                  </a:lnTo>
                  <a:lnTo>
                    <a:pt x="665480" y="203454"/>
                  </a:lnTo>
                  <a:lnTo>
                    <a:pt x="668020" y="196596"/>
                  </a:lnTo>
                  <a:lnTo>
                    <a:pt x="671830" y="188976"/>
                  </a:lnTo>
                  <a:lnTo>
                    <a:pt x="674370" y="181356"/>
                  </a:lnTo>
                  <a:lnTo>
                    <a:pt x="678180" y="172974"/>
                  </a:lnTo>
                  <a:lnTo>
                    <a:pt x="679450" y="163830"/>
                  </a:lnTo>
                  <a:lnTo>
                    <a:pt x="681990" y="154686"/>
                  </a:lnTo>
                  <a:lnTo>
                    <a:pt x="683260" y="144780"/>
                  </a:lnTo>
                  <a:lnTo>
                    <a:pt x="683260" y="134874"/>
                  </a:lnTo>
                  <a:lnTo>
                    <a:pt x="684530" y="124206"/>
                  </a:lnTo>
                  <a:lnTo>
                    <a:pt x="684530" y="10287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1004316" y="2530601"/>
              <a:ext cx="681355" cy="831850"/>
            </a:xfrm>
            <a:custGeom>
              <a:avLst/>
              <a:gdLst/>
              <a:ahLst/>
              <a:cxnLst/>
              <a:rect l="l" t="t" r="r" b="b"/>
              <a:pathLst>
                <a:path w="681355" h="831850">
                  <a:moveTo>
                    <a:pt x="681228" y="416052"/>
                  </a:moveTo>
                  <a:lnTo>
                    <a:pt x="0" y="0"/>
                  </a:lnTo>
                  <a:lnTo>
                    <a:pt x="0" y="831341"/>
                  </a:lnTo>
                  <a:lnTo>
                    <a:pt x="681228" y="416052"/>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985266" y="2496311"/>
              <a:ext cx="737235" cy="900430"/>
            </a:xfrm>
            <a:custGeom>
              <a:avLst/>
              <a:gdLst/>
              <a:ahLst/>
              <a:cxnLst/>
              <a:rect l="l" t="t" r="r" b="b"/>
              <a:pathLst>
                <a:path w="737235" h="900429">
                  <a:moveTo>
                    <a:pt x="736854" y="450342"/>
                  </a:moveTo>
                  <a:lnTo>
                    <a:pt x="0" y="0"/>
                  </a:lnTo>
                  <a:lnTo>
                    <a:pt x="0" y="899922"/>
                  </a:lnTo>
                  <a:lnTo>
                    <a:pt x="9143" y="894342"/>
                  </a:lnTo>
                  <a:lnTo>
                    <a:pt x="9144" y="50292"/>
                  </a:lnTo>
                  <a:lnTo>
                    <a:pt x="38100" y="34290"/>
                  </a:lnTo>
                  <a:lnTo>
                    <a:pt x="38100" y="67976"/>
                  </a:lnTo>
                  <a:lnTo>
                    <a:pt x="663547" y="449961"/>
                  </a:lnTo>
                  <a:lnTo>
                    <a:pt x="690372" y="433578"/>
                  </a:lnTo>
                  <a:lnTo>
                    <a:pt x="690372" y="478702"/>
                  </a:lnTo>
                  <a:lnTo>
                    <a:pt x="736854" y="450342"/>
                  </a:lnTo>
                  <a:close/>
                </a:path>
                <a:path w="737235" h="900429">
                  <a:moveTo>
                    <a:pt x="38100" y="67976"/>
                  </a:moveTo>
                  <a:lnTo>
                    <a:pt x="38100" y="34290"/>
                  </a:lnTo>
                  <a:lnTo>
                    <a:pt x="9144" y="50292"/>
                  </a:lnTo>
                  <a:lnTo>
                    <a:pt x="38100" y="67976"/>
                  </a:lnTo>
                  <a:close/>
                </a:path>
                <a:path w="737235" h="900429">
                  <a:moveTo>
                    <a:pt x="38100" y="831945"/>
                  </a:moveTo>
                  <a:lnTo>
                    <a:pt x="38100" y="67976"/>
                  </a:lnTo>
                  <a:lnTo>
                    <a:pt x="9144" y="50292"/>
                  </a:lnTo>
                  <a:lnTo>
                    <a:pt x="9144" y="849630"/>
                  </a:lnTo>
                  <a:lnTo>
                    <a:pt x="38100" y="831945"/>
                  </a:lnTo>
                  <a:close/>
                </a:path>
                <a:path w="737235" h="900429">
                  <a:moveTo>
                    <a:pt x="690372" y="478702"/>
                  </a:moveTo>
                  <a:lnTo>
                    <a:pt x="690372" y="466344"/>
                  </a:lnTo>
                  <a:lnTo>
                    <a:pt x="663547" y="449960"/>
                  </a:lnTo>
                  <a:lnTo>
                    <a:pt x="9144" y="849630"/>
                  </a:lnTo>
                  <a:lnTo>
                    <a:pt x="38100" y="865632"/>
                  </a:lnTo>
                  <a:lnTo>
                    <a:pt x="38100" y="876675"/>
                  </a:lnTo>
                  <a:lnTo>
                    <a:pt x="690372" y="478702"/>
                  </a:lnTo>
                  <a:close/>
                </a:path>
                <a:path w="737235" h="900429">
                  <a:moveTo>
                    <a:pt x="38100" y="876675"/>
                  </a:moveTo>
                  <a:lnTo>
                    <a:pt x="38100" y="865632"/>
                  </a:lnTo>
                  <a:lnTo>
                    <a:pt x="9144" y="849630"/>
                  </a:lnTo>
                  <a:lnTo>
                    <a:pt x="9143" y="894342"/>
                  </a:lnTo>
                  <a:lnTo>
                    <a:pt x="38100" y="876675"/>
                  </a:lnTo>
                  <a:close/>
                </a:path>
                <a:path w="737235" h="900429">
                  <a:moveTo>
                    <a:pt x="690372" y="466344"/>
                  </a:moveTo>
                  <a:lnTo>
                    <a:pt x="690372" y="433578"/>
                  </a:lnTo>
                  <a:lnTo>
                    <a:pt x="663547" y="449960"/>
                  </a:lnTo>
                  <a:lnTo>
                    <a:pt x="690372" y="466344"/>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p:nvPr/>
          </p:nvSpPr>
          <p:spPr>
            <a:xfrm>
              <a:off x="2219706" y="3173729"/>
              <a:ext cx="231140" cy="760095"/>
            </a:xfrm>
            <a:custGeom>
              <a:avLst/>
              <a:gdLst/>
              <a:ahLst/>
              <a:cxnLst/>
              <a:rect l="l" t="t" r="r" b="b"/>
              <a:pathLst>
                <a:path w="231139" h="760095">
                  <a:moveTo>
                    <a:pt x="152400" y="721614"/>
                  </a:moveTo>
                  <a:lnTo>
                    <a:pt x="0" y="721614"/>
                  </a:lnTo>
                  <a:lnTo>
                    <a:pt x="0" y="759714"/>
                  </a:lnTo>
                  <a:lnTo>
                    <a:pt x="152400" y="759714"/>
                  </a:lnTo>
                  <a:lnTo>
                    <a:pt x="152400" y="721614"/>
                  </a:lnTo>
                  <a:close/>
                </a:path>
                <a:path w="231139" h="760095">
                  <a:moveTo>
                    <a:pt x="230886" y="533400"/>
                  </a:moveTo>
                  <a:lnTo>
                    <a:pt x="192786" y="533400"/>
                  </a:lnTo>
                  <a:lnTo>
                    <a:pt x="192786" y="685800"/>
                  </a:lnTo>
                  <a:lnTo>
                    <a:pt x="230886" y="685800"/>
                  </a:lnTo>
                  <a:lnTo>
                    <a:pt x="230886" y="533400"/>
                  </a:lnTo>
                  <a:close/>
                </a:path>
                <a:path w="231139" h="760095">
                  <a:moveTo>
                    <a:pt x="230886" y="266700"/>
                  </a:moveTo>
                  <a:lnTo>
                    <a:pt x="192786" y="266700"/>
                  </a:lnTo>
                  <a:lnTo>
                    <a:pt x="192786" y="419100"/>
                  </a:lnTo>
                  <a:lnTo>
                    <a:pt x="230886" y="419100"/>
                  </a:lnTo>
                  <a:lnTo>
                    <a:pt x="230886" y="266700"/>
                  </a:lnTo>
                  <a:close/>
                </a:path>
                <a:path w="231139" h="760095">
                  <a:moveTo>
                    <a:pt x="230886" y="0"/>
                  </a:moveTo>
                  <a:lnTo>
                    <a:pt x="192786" y="0"/>
                  </a:lnTo>
                  <a:lnTo>
                    <a:pt x="192786" y="152400"/>
                  </a:lnTo>
                  <a:lnTo>
                    <a:pt x="230886" y="152400"/>
                  </a:lnTo>
                  <a:lnTo>
                    <a:pt x="230886" y="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10"/>
            <p:cNvSpPr/>
            <p:nvPr/>
          </p:nvSpPr>
          <p:spPr>
            <a:xfrm>
              <a:off x="786383" y="3761994"/>
              <a:ext cx="38100" cy="152400"/>
            </a:xfrm>
            <a:custGeom>
              <a:avLst/>
              <a:gdLst/>
              <a:ahLst/>
              <a:cxnLst/>
              <a:rect l="l" t="t" r="r" b="b"/>
              <a:pathLst>
                <a:path w="38100" h="152400">
                  <a:moveTo>
                    <a:pt x="38099" y="152400"/>
                  </a:moveTo>
                  <a:lnTo>
                    <a:pt x="38099" y="0"/>
                  </a:lnTo>
                  <a:lnTo>
                    <a:pt x="0" y="0"/>
                  </a:lnTo>
                  <a:lnTo>
                    <a:pt x="0" y="152400"/>
                  </a:lnTo>
                  <a:lnTo>
                    <a:pt x="38099"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11"/>
            <p:cNvSpPr/>
            <p:nvPr/>
          </p:nvSpPr>
          <p:spPr>
            <a:xfrm>
              <a:off x="786383" y="34952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2"/>
            <p:cNvSpPr/>
            <p:nvPr/>
          </p:nvSpPr>
          <p:spPr>
            <a:xfrm>
              <a:off x="786383" y="3228594"/>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3"/>
            <p:cNvSpPr/>
            <p:nvPr/>
          </p:nvSpPr>
          <p:spPr>
            <a:xfrm>
              <a:off x="786383" y="29618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4"/>
            <p:cNvSpPr/>
            <p:nvPr/>
          </p:nvSpPr>
          <p:spPr>
            <a:xfrm>
              <a:off x="786383" y="26951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5"/>
            <p:cNvSpPr/>
            <p:nvPr/>
          </p:nvSpPr>
          <p:spPr>
            <a:xfrm>
              <a:off x="786383" y="24284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6"/>
            <p:cNvSpPr/>
            <p:nvPr/>
          </p:nvSpPr>
          <p:spPr>
            <a:xfrm>
              <a:off x="786383" y="21617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7"/>
            <p:cNvSpPr/>
            <p:nvPr/>
          </p:nvSpPr>
          <p:spPr>
            <a:xfrm>
              <a:off x="786383" y="1895094"/>
              <a:ext cx="38100" cy="152400"/>
            </a:xfrm>
            <a:custGeom>
              <a:avLst/>
              <a:gdLst/>
              <a:ahLst/>
              <a:cxnLst/>
              <a:rect l="l" t="t" r="r" b="b"/>
              <a:pathLst>
                <a:path w="38100" h="152400">
                  <a:moveTo>
                    <a:pt x="38100" y="152399"/>
                  </a:moveTo>
                  <a:lnTo>
                    <a:pt x="38100" y="0"/>
                  </a:lnTo>
                  <a:lnTo>
                    <a:pt x="0" y="0"/>
                  </a:lnTo>
                  <a:lnTo>
                    <a:pt x="0" y="152399"/>
                  </a:lnTo>
                  <a:lnTo>
                    <a:pt x="38100" y="1523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8"/>
            <p:cNvSpPr/>
            <p:nvPr/>
          </p:nvSpPr>
          <p:spPr>
            <a:xfrm>
              <a:off x="8481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9"/>
            <p:cNvSpPr/>
            <p:nvPr/>
          </p:nvSpPr>
          <p:spPr>
            <a:xfrm>
              <a:off x="11148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bject 20"/>
            <p:cNvSpPr/>
            <p:nvPr/>
          </p:nvSpPr>
          <p:spPr>
            <a:xfrm>
              <a:off x="13815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21"/>
            <p:cNvSpPr/>
            <p:nvPr/>
          </p:nvSpPr>
          <p:spPr>
            <a:xfrm>
              <a:off x="16482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bject 22"/>
            <p:cNvSpPr/>
            <p:nvPr/>
          </p:nvSpPr>
          <p:spPr>
            <a:xfrm>
              <a:off x="19149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3"/>
            <p:cNvSpPr/>
            <p:nvPr/>
          </p:nvSpPr>
          <p:spPr>
            <a:xfrm>
              <a:off x="2181605" y="1804416"/>
              <a:ext cx="152400" cy="38100"/>
            </a:xfrm>
            <a:custGeom>
              <a:avLst/>
              <a:gdLst/>
              <a:ahLst/>
              <a:cxnLst/>
              <a:rect l="l" t="t" r="r" b="b"/>
              <a:pathLst>
                <a:path w="152400" h="38100">
                  <a:moveTo>
                    <a:pt x="152400" y="38099"/>
                  </a:moveTo>
                  <a:lnTo>
                    <a:pt x="152400" y="0"/>
                  </a:lnTo>
                  <a:lnTo>
                    <a:pt x="0" y="0"/>
                  </a:lnTo>
                  <a:lnTo>
                    <a:pt x="0" y="38099"/>
                  </a:lnTo>
                  <a:lnTo>
                    <a:pt x="152400" y="38099"/>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object 24"/>
            <p:cNvSpPr/>
            <p:nvPr/>
          </p:nvSpPr>
          <p:spPr>
            <a:xfrm>
              <a:off x="2412492" y="18402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object 25"/>
            <p:cNvSpPr/>
            <p:nvPr/>
          </p:nvSpPr>
          <p:spPr>
            <a:xfrm>
              <a:off x="2412492" y="21069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object 26"/>
            <p:cNvSpPr/>
            <p:nvPr/>
          </p:nvSpPr>
          <p:spPr>
            <a:xfrm>
              <a:off x="2412492" y="23736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bject 27"/>
            <p:cNvSpPr/>
            <p:nvPr/>
          </p:nvSpPr>
          <p:spPr>
            <a:xfrm>
              <a:off x="2412492" y="2640329"/>
              <a:ext cx="38100" cy="152400"/>
            </a:xfrm>
            <a:custGeom>
              <a:avLst/>
              <a:gdLst/>
              <a:ahLst/>
              <a:cxnLst/>
              <a:rect l="l" t="t" r="r" b="b"/>
              <a:pathLst>
                <a:path w="38100" h="152400">
                  <a:moveTo>
                    <a:pt x="38100" y="152400"/>
                  </a:moveTo>
                  <a:lnTo>
                    <a:pt x="38100" y="0"/>
                  </a:lnTo>
                  <a:lnTo>
                    <a:pt x="0" y="0"/>
                  </a:lnTo>
                  <a:lnTo>
                    <a:pt x="0" y="152400"/>
                  </a:lnTo>
                  <a:lnTo>
                    <a:pt x="38100" y="1524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bject 28"/>
            <p:cNvSpPr/>
            <p:nvPr/>
          </p:nvSpPr>
          <p:spPr>
            <a:xfrm>
              <a:off x="19530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object 29"/>
            <p:cNvSpPr/>
            <p:nvPr/>
          </p:nvSpPr>
          <p:spPr>
            <a:xfrm>
              <a:off x="16863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object 30"/>
            <p:cNvSpPr/>
            <p:nvPr/>
          </p:nvSpPr>
          <p:spPr>
            <a:xfrm>
              <a:off x="14196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object 31"/>
            <p:cNvSpPr/>
            <p:nvPr/>
          </p:nvSpPr>
          <p:spPr>
            <a:xfrm>
              <a:off x="11529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object 32"/>
            <p:cNvSpPr/>
            <p:nvPr/>
          </p:nvSpPr>
          <p:spPr>
            <a:xfrm>
              <a:off x="886205" y="3895344"/>
              <a:ext cx="152400" cy="38100"/>
            </a:xfrm>
            <a:custGeom>
              <a:avLst/>
              <a:gdLst/>
              <a:ahLst/>
              <a:cxnLst/>
              <a:rect l="l" t="t" r="r" b="b"/>
              <a:pathLst>
                <a:path w="152400" h="38100">
                  <a:moveTo>
                    <a:pt x="152400" y="38100"/>
                  </a:moveTo>
                  <a:lnTo>
                    <a:pt x="152400" y="0"/>
                  </a:lnTo>
                  <a:lnTo>
                    <a:pt x="0" y="0"/>
                  </a:lnTo>
                  <a:lnTo>
                    <a:pt x="0" y="38100"/>
                  </a:lnTo>
                  <a:lnTo>
                    <a:pt x="152400" y="38100"/>
                  </a:lnTo>
                  <a:close/>
                </a:path>
              </a:pathLst>
            </a:custGeom>
            <a:solidFill>
              <a:srgbClr val="D8DE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object 33"/>
            <p:cNvSpPr txBox="1"/>
            <p:nvPr/>
          </p:nvSpPr>
          <p:spPr>
            <a:xfrm>
              <a:off x="1088389" y="1858010"/>
              <a:ext cx="1169035" cy="635000"/>
            </a:xfrm>
            <a:prstGeom prst="rect">
              <a:avLst/>
            </a:prstGeom>
          </p:spPr>
          <p:txBody>
            <a:bodyPr vert="horz" wrap="square" lIns="0" tIns="12065" rIns="0" bIns="0" rtlCol="0">
              <a:spAutoFit/>
            </a:bodyPr>
            <a:lstStyle/>
            <a:p>
              <a:pPr marL="373380" marR="5080" lvl="0" indent="-361315"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Electrical  I/O</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pic>
          <p:nvPicPr>
            <p:cNvPr id="124" name="object 124"/>
            <p:cNvPicPr/>
            <p:nvPr/>
          </p:nvPicPr>
          <p:blipFill>
            <a:blip r:embed="rId5" cstate="print"/>
            <a:stretch>
              <a:fillRect/>
            </a:stretch>
          </p:blipFill>
          <p:spPr>
            <a:xfrm>
              <a:off x="1235963" y="3259074"/>
              <a:ext cx="1172717" cy="413004"/>
            </a:xfrm>
            <a:prstGeom prst="rect">
              <a:avLst/>
            </a:prstGeom>
          </p:spPr>
        </p:pic>
      </p:grpSp>
      <p:grpSp>
        <p:nvGrpSpPr>
          <p:cNvPr id="135" name="Group 134"/>
          <p:cNvGrpSpPr/>
          <p:nvPr/>
        </p:nvGrpSpPr>
        <p:grpSpPr>
          <a:xfrm>
            <a:off x="7437882" y="1771650"/>
            <a:ext cx="2391916" cy="2194560"/>
            <a:chOff x="7437882" y="1771650"/>
            <a:chExt cx="2391916" cy="2194560"/>
          </a:xfrm>
        </p:grpSpPr>
        <p:sp>
          <p:nvSpPr>
            <p:cNvPr id="70" name="object 70"/>
            <p:cNvSpPr/>
            <p:nvPr/>
          </p:nvSpPr>
          <p:spPr>
            <a:xfrm>
              <a:off x="7437882" y="2845307"/>
              <a:ext cx="1440180" cy="64135"/>
            </a:xfrm>
            <a:custGeom>
              <a:avLst/>
              <a:gdLst/>
              <a:ahLst/>
              <a:cxnLst/>
              <a:rect l="l" t="t" r="r" b="b"/>
              <a:pathLst>
                <a:path w="1440179" h="64135">
                  <a:moveTo>
                    <a:pt x="907542" y="0"/>
                  </a:moveTo>
                  <a:lnTo>
                    <a:pt x="0" y="0"/>
                  </a:lnTo>
                  <a:lnTo>
                    <a:pt x="0" y="38100"/>
                  </a:lnTo>
                  <a:lnTo>
                    <a:pt x="907542" y="38100"/>
                  </a:lnTo>
                  <a:lnTo>
                    <a:pt x="907542" y="0"/>
                  </a:lnTo>
                  <a:close/>
                </a:path>
                <a:path w="1440179" h="64135">
                  <a:moveTo>
                    <a:pt x="1440180" y="25908"/>
                  </a:moveTo>
                  <a:lnTo>
                    <a:pt x="1034034" y="25908"/>
                  </a:lnTo>
                  <a:lnTo>
                    <a:pt x="1034034" y="64008"/>
                  </a:lnTo>
                  <a:lnTo>
                    <a:pt x="1440180" y="64008"/>
                  </a:lnTo>
                  <a:lnTo>
                    <a:pt x="1440180" y="2590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object 71"/>
            <p:cNvSpPr/>
            <p:nvPr/>
          </p:nvSpPr>
          <p:spPr>
            <a:xfrm>
              <a:off x="7852409" y="1771650"/>
              <a:ext cx="1977389" cy="2194560"/>
            </a:xfrm>
            <a:custGeom>
              <a:avLst/>
              <a:gdLst/>
              <a:ahLst/>
              <a:cxnLst/>
              <a:rect l="l" t="t" r="r" b="b"/>
              <a:pathLst>
                <a:path w="1977390" h="2194560">
                  <a:moveTo>
                    <a:pt x="38100" y="2175510"/>
                  </a:moveTo>
                  <a:lnTo>
                    <a:pt x="38100" y="2023110"/>
                  </a:lnTo>
                  <a:lnTo>
                    <a:pt x="0" y="2023110"/>
                  </a:lnTo>
                  <a:lnTo>
                    <a:pt x="0" y="2175510"/>
                  </a:lnTo>
                  <a:lnTo>
                    <a:pt x="38100" y="2175510"/>
                  </a:lnTo>
                  <a:close/>
                </a:path>
                <a:path w="1977390" h="2194560">
                  <a:moveTo>
                    <a:pt x="38100" y="1908810"/>
                  </a:moveTo>
                  <a:lnTo>
                    <a:pt x="38100" y="1756410"/>
                  </a:lnTo>
                  <a:lnTo>
                    <a:pt x="0" y="1756410"/>
                  </a:lnTo>
                  <a:lnTo>
                    <a:pt x="0" y="1908810"/>
                  </a:lnTo>
                  <a:lnTo>
                    <a:pt x="38100" y="1908810"/>
                  </a:lnTo>
                  <a:close/>
                </a:path>
                <a:path w="1977390" h="2194560">
                  <a:moveTo>
                    <a:pt x="38100" y="1642110"/>
                  </a:moveTo>
                  <a:lnTo>
                    <a:pt x="38100" y="1489710"/>
                  </a:lnTo>
                  <a:lnTo>
                    <a:pt x="0" y="1489710"/>
                  </a:lnTo>
                  <a:lnTo>
                    <a:pt x="0" y="1642110"/>
                  </a:lnTo>
                  <a:lnTo>
                    <a:pt x="38100" y="1642110"/>
                  </a:lnTo>
                  <a:close/>
                </a:path>
                <a:path w="1977390" h="2194560">
                  <a:moveTo>
                    <a:pt x="38100" y="1375410"/>
                  </a:moveTo>
                  <a:lnTo>
                    <a:pt x="38100" y="1223010"/>
                  </a:lnTo>
                  <a:lnTo>
                    <a:pt x="0" y="1223010"/>
                  </a:lnTo>
                  <a:lnTo>
                    <a:pt x="0" y="1375410"/>
                  </a:lnTo>
                  <a:lnTo>
                    <a:pt x="38100" y="1375410"/>
                  </a:lnTo>
                  <a:close/>
                </a:path>
                <a:path w="1977390" h="2194560">
                  <a:moveTo>
                    <a:pt x="38100" y="1108710"/>
                  </a:moveTo>
                  <a:lnTo>
                    <a:pt x="38100" y="956310"/>
                  </a:lnTo>
                  <a:lnTo>
                    <a:pt x="0" y="956310"/>
                  </a:lnTo>
                  <a:lnTo>
                    <a:pt x="0" y="1108710"/>
                  </a:lnTo>
                  <a:lnTo>
                    <a:pt x="38100" y="1108710"/>
                  </a:lnTo>
                  <a:close/>
                </a:path>
                <a:path w="1977390" h="2194560">
                  <a:moveTo>
                    <a:pt x="38100" y="842010"/>
                  </a:moveTo>
                  <a:lnTo>
                    <a:pt x="38100" y="689610"/>
                  </a:lnTo>
                  <a:lnTo>
                    <a:pt x="0" y="689610"/>
                  </a:lnTo>
                  <a:lnTo>
                    <a:pt x="0" y="842010"/>
                  </a:lnTo>
                  <a:lnTo>
                    <a:pt x="38100" y="842010"/>
                  </a:lnTo>
                  <a:close/>
                </a:path>
                <a:path w="1977390" h="2194560">
                  <a:moveTo>
                    <a:pt x="38100" y="575310"/>
                  </a:moveTo>
                  <a:lnTo>
                    <a:pt x="38100" y="422910"/>
                  </a:lnTo>
                  <a:lnTo>
                    <a:pt x="0" y="422910"/>
                  </a:lnTo>
                  <a:lnTo>
                    <a:pt x="0" y="575310"/>
                  </a:lnTo>
                  <a:lnTo>
                    <a:pt x="38100" y="575310"/>
                  </a:lnTo>
                  <a:close/>
                </a:path>
                <a:path w="1977390" h="2194560">
                  <a:moveTo>
                    <a:pt x="38100" y="308610"/>
                  </a:moveTo>
                  <a:lnTo>
                    <a:pt x="38100" y="156210"/>
                  </a:lnTo>
                  <a:lnTo>
                    <a:pt x="0" y="156210"/>
                  </a:lnTo>
                  <a:lnTo>
                    <a:pt x="0" y="308610"/>
                  </a:lnTo>
                  <a:lnTo>
                    <a:pt x="38100" y="308610"/>
                  </a:lnTo>
                  <a:close/>
                </a:path>
                <a:path w="1977390" h="2194560">
                  <a:moveTo>
                    <a:pt x="148590" y="38100"/>
                  </a:moveTo>
                  <a:lnTo>
                    <a:pt x="148590" y="0"/>
                  </a:lnTo>
                  <a:lnTo>
                    <a:pt x="0" y="0"/>
                  </a:lnTo>
                  <a:lnTo>
                    <a:pt x="0" y="41910"/>
                  </a:lnTo>
                  <a:lnTo>
                    <a:pt x="19050" y="41910"/>
                  </a:lnTo>
                  <a:lnTo>
                    <a:pt x="19050" y="38100"/>
                  </a:lnTo>
                  <a:lnTo>
                    <a:pt x="38100" y="19050"/>
                  </a:lnTo>
                  <a:lnTo>
                    <a:pt x="38100" y="38100"/>
                  </a:lnTo>
                  <a:lnTo>
                    <a:pt x="148590" y="38100"/>
                  </a:lnTo>
                  <a:close/>
                </a:path>
                <a:path w="1977390" h="2194560">
                  <a:moveTo>
                    <a:pt x="38100" y="38100"/>
                  </a:moveTo>
                  <a:lnTo>
                    <a:pt x="38100" y="19050"/>
                  </a:lnTo>
                  <a:lnTo>
                    <a:pt x="19050" y="38100"/>
                  </a:lnTo>
                  <a:lnTo>
                    <a:pt x="38100" y="38100"/>
                  </a:lnTo>
                  <a:close/>
                </a:path>
                <a:path w="1977390" h="2194560">
                  <a:moveTo>
                    <a:pt x="38100" y="41910"/>
                  </a:moveTo>
                  <a:lnTo>
                    <a:pt x="38100" y="38100"/>
                  </a:lnTo>
                  <a:lnTo>
                    <a:pt x="19050" y="38100"/>
                  </a:lnTo>
                  <a:lnTo>
                    <a:pt x="19050" y="41910"/>
                  </a:lnTo>
                  <a:lnTo>
                    <a:pt x="38100" y="41910"/>
                  </a:lnTo>
                  <a:close/>
                </a:path>
                <a:path w="1977390" h="2194560">
                  <a:moveTo>
                    <a:pt x="415290" y="38100"/>
                  </a:moveTo>
                  <a:lnTo>
                    <a:pt x="415290" y="0"/>
                  </a:lnTo>
                  <a:lnTo>
                    <a:pt x="262890" y="0"/>
                  </a:lnTo>
                  <a:lnTo>
                    <a:pt x="262890" y="38100"/>
                  </a:lnTo>
                  <a:lnTo>
                    <a:pt x="415290" y="38100"/>
                  </a:lnTo>
                  <a:close/>
                </a:path>
                <a:path w="1977390" h="2194560">
                  <a:moveTo>
                    <a:pt x="681990" y="38100"/>
                  </a:moveTo>
                  <a:lnTo>
                    <a:pt x="681990" y="0"/>
                  </a:lnTo>
                  <a:lnTo>
                    <a:pt x="529590" y="0"/>
                  </a:lnTo>
                  <a:lnTo>
                    <a:pt x="529590" y="38100"/>
                  </a:lnTo>
                  <a:lnTo>
                    <a:pt x="681990" y="38100"/>
                  </a:lnTo>
                  <a:close/>
                </a:path>
                <a:path w="1977390" h="2194560">
                  <a:moveTo>
                    <a:pt x="948690" y="38100"/>
                  </a:moveTo>
                  <a:lnTo>
                    <a:pt x="948690" y="0"/>
                  </a:lnTo>
                  <a:lnTo>
                    <a:pt x="796290" y="0"/>
                  </a:lnTo>
                  <a:lnTo>
                    <a:pt x="796290" y="38100"/>
                  </a:lnTo>
                  <a:lnTo>
                    <a:pt x="948690" y="38100"/>
                  </a:lnTo>
                  <a:close/>
                </a:path>
                <a:path w="1977390" h="2194560">
                  <a:moveTo>
                    <a:pt x="1215390" y="38100"/>
                  </a:moveTo>
                  <a:lnTo>
                    <a:pt x="1215390" y="0"/>
                  </a:lnTo>
                  <a:lnTo>
                    <a:pt x="1062990" y="0"/>
                  </a:lnTo>
                  <a:lnTo>
                    <a:pt x="1062990" y="38100"/>
                  </a:lnTo>
                  <a:lnTo>
                    <a:pt x="1215390" y="38100"/>
                  </a:lnTo>
                  <a:close/>
                </a:path>
                <a:path w="1977390" h="2194560">
                  <a:moveTo>
                    <a:pt x="1482090" y="38100"/>
                  </a:moveTo>
                  <a:lnTo>
                    <a:pt x="1482090" y="0"/>
                  </a:lnTo>
                  <a:lnTo>
                    <a:pt x="1329690" y="0"/>
                  </a:lnTo>
                  <a:lnTo>
                    <a:pt x="1329690" y="38100"/>
                  </a:lnTo>
                  <a:lnTo>
                    <a:pt x="1482090" y="38100"/>
                  </a:lnTo>
                  <a:close/>
                </a:path>
                <a:path w="1977390" h="2194560">
                  <a:moveTo>
                    <a:pt x="1748790" y="38100"/>
                  </a:moveTo>
                  <a:lnTo>
                    <a:pt x="1748790" y="0"/>
                  </a:lnTo>
                  <a:lnTo>
                    <a:pt x="1596390" y="0"/>
                  </a:lnTo>
                  <a:lnTo>
                    <a:pt x="1596390" y="38100"/>
                  </a:lnTo>
                  <a:lnTo>
                    <a:pt x="1748790" y="38100"/>
                  </a:lnTo>
                  <a:close/>
                </a:path>
                <a:path w="1977390" h="2194560">
                  <a:moveTo>
                    <a:pt x="1977390" y="76200"/>
                  </a:moveTo>
                  <a:lnTo>
                    <a:pt x="1977390" y="0"/>
                  </a:lnTo>
                  <a:lnTo>
                    <a:pt x="1863090" y="0"/>
                  </a:lnTo>
                  <a:lnTo>
                    <a:pt x="1863090" y="38100"/>
                  </a:lnTo>
                  <a:lnTo>
                    <a:pt x="1939290" y="38100"/>
                  </a:lnTo>
                  <a:lnTo>
                    <a:pt x="1939290" y="19050"/>
                  </a:lnTo>
                  <a:lnTo>
                    <a:pt x="1958340" y="38100"/>
                  </a:lnTo>
                  <a:lnTo>
                    <a:pt x="1958340" y="76200"/>
                  </a:lnTo>
                  <a:lnTo>
                    <a:pt x="1977390" y="76200"/>
                  </a:lnTo>
                  <a:close/>
                </a:path>
                <a:path w="1977390" h="2194560">
                  <a:moveTo>
                    <a:pt x="1958340" y="38100"/>
                  </a:moveTo>
                  <a:lnTo>
                    <a:pt x="1939290" y="19050"/>
                  </a:lnTo>
                  <a:lnTo>
                    <a:pt x="1939290" y="38100"/>
                  </a:lnTo>
                  <a:lnTo>
                    <a:pt x="1958340" y="38100"/>
                  </a:lnTo>
                  <a:close/>
                </a:path>
                <a:path w="1977390" h="2194560">
                  <a:moveTo>
                    <a:pt x="1958340" y="76200"/>
                  </a:moveTo>
                  <a:lnTo>
                    <a:pt x="1958340" y="38100"/>
                  </a:lnTo>
                  <a:lnTo>
                    <a:pt x="1939290" y="38100"/>
                  </a:lnTo>
                  <a:lnTo>
                    <a:pt x="1939290" y="76200"/>
                  </a:lnTo>
                  <a:lnTo>
                    <a:pt x="1958340" y="76200"/>
                  </a:lnTo>
                  <a:close/>
                </a:path>
                <a:path w="1977390" h="2194560">
                  <a:moveTo>
                    <a:pt x="1977390" y="342900"/>
                  </a:moveTo>
                  <a:lnTo>
                    <a:pt x="1977390" y="190500"/>
                  </a:lnTo>
                  <a:lnTo>
                    <a:pt x="1939290" y="190500"/>
                  </a:lnTo>
                  <a:lnTo>
                    <a:pt x="1939290" y="342900"/>
                  </a:lnTo>
                  <a:lnTo>
                    <a:pt x="1977390" y="342900"/>
                  </a:lnTo>
                  <a:close/>
                </a:path>
                <a:path w="1977390" h="2194560">
                  <a:moveTo>
                    <a:pt x="1977390" y="609600"/>
                  </a:moveTo>
                  <a:lnTo>
                    <a:pt x="1977390" y="457200"/>
                  </a:lnTo>
                  <a:lnTo>
                    <a:pt x="1939290" y="457200"/>
                  </a:lnTo>
                  <a:lnTo>
                    <a:pt x="1939290" y="609600"/>
                  </a:lnTo>
                  <a:lnTo>
                    <a:pt x="1977390" y="609600"/>
                  </a:lnTo>
                  <a:close/>
                </a:path>
                <a:path w="1977390" h="2194560">
                  <a:moveTo>
                    <a:pt x="1977390" y="876300"/>
                  </a:moveTo>
                  <a:lnTo>
                    <a:pt x="1977390" y="723900"/>
                  </a:lnTo>
                  <a:lnTo>
                    <a:pt x="1939290" y="723900"/>
                  </a:lnTo>
                  <a:lnTo>
                    <a:pt x="1939290" y="876300"/>
                  </a:lnTo>
                  <a:lnTo>
                    <a:pt x="1977390" y="876300"/>
                  </a:lnTo>
                  <a:close/>
                </a:path>
                <a:path w="1977390" h="2194560">
                  <a:moveTo>
                    <a:pt x="1977390" y="1143000"/>
                  </a:moveTo>
                  <a:lnTo>
                    <a:pt x="1977390" y="990600"/>
                  </a:lnTo>
                  <a:lnTo>
                    <a:pt x="1939290" y="990600"/>
                  </a:lnTo>
                  <a:lnTo>
                    <a:pt x="1939290" y="1143000"/>
                  </a:lnTo>
                  <a:lnTo>
                    <a:pt x="1977390" y="1143000"/>
                  </a:lnTo>
                  <a:close/>
                </a:path>
                <a:path w="1977390" h="2194560">
                  <a:moveTo>
                    <a:pt x="1977390" y="1409700"/>
                  </a:moveTo>
                  <a:lnTo>
                    <a:pt x="1977390" y="1257300"/>
                  </a:lnTo>
                  <a:lnTo>
                    <a:pt x="1939290" y="1257300"/>
                  </a:lnTo>
                  <a:lnTo>
                    <a:pt x="1939290" y="1409700"/>
                  </a:lnTo>
                  <a:lnTo>
                    <a:pt x="1977390" y="1409700"/>
                  </a:lnTo>
                  <a:close/>
                </a:path>
                <a:path w="1977390" h="2194560">
                  <a:moveTo>
                    <a:pt x="1977390" y="1676400"/>
                  </a:moveTo>
                  <a:lnTo>
                    <a:pt x="1977390" y="1524000"/>
                  </a:lnTo>
                  <a:lnTo>
                    <a:pt x="1939290" y="1524000"/>
                  </a:lnTo>
                  <a:lnTo>
                    <a:pt x="1939290" y="1676400"/>
                  </a:lnTo>
                  <a:lnTo>
                    <a:pt x="1977390" y="1676400"/>
                  </a:lnTo>
                  <a:close/>
                </a:path>
                <a:path w="1977390" h="2194560">
                  <a:moveTo>
                    <a:pt x="1977390" y="1943100"/>
                  </a:moveTo>
                  <a:lnTo>
                    <a:pt x="1977390" y="1790700"/>
                  </a:lnTo>
                  <a:lnTo>
                    <a:pt x="1939290" y="1790700"/>
                  </a:lnTo>
                  <a:lnTo>
                    <a:pt x="1939290" y="1943100"/>
                  </a:lnTo>
                  <a:lnTo>
                    <a:pt x="1977390" y="1943100"/>
                  </a:lnTo>
                  <a:close/>
                </a:path>
                <a:path w="1977390" h="2194560">
                  <a:moveTo>
                    <a:pt x="1958340" y="2156460"/>
                  </a:moveTo>
                  <a:lnTo>
                    <a:pt x="1924050" y="2156460"/>
                  </a:lnTo>
                  <a:lnTo>
                    <a:pt x="1924050" y="2194560"/>
                  </a:lnTo>
                  <a:lnTo>
                    <a:pt x="1939290" y="2194560"/>
                  </a:lnTo>
                  <a:lnTo>
                    <a:pt x="1939290" y="2175510"/>
                  </a:lnTo>
                  <a:lnTo>
                    <a:pt x="1958340" y="2156460"/>
                  </a:lnTo>
                  <a:close/>
                </a:path>
                <a:path w="1977390" h="2194560">
                  <a:moveTo>
                    <a:pt x="1977390" y="2194560"/>
                  </a:moveTo>
                  <a:lnTo>
                    <a:pt x="1977390" y="2057400"/>
                  </a:lnTo>
                  <a:lnTo>
                    <a:pt x="1939290" y="2057400"/>
                  </a:lnTo>
                  <a:lnTo>
                    <a:pt x="1939290" y="2156460"/>
                  </a:lnTo>
                  <a:lnTo>
                    <a:pt x="1958340" y="2156460"/>
                  </a:lnTo>
                  <a:lnTo>
                    <a:pt x="1958340" y="2194560"/>
                  </a:lnTo>
                  <a:lnTo>
                    <a:pt x="1977390" y="2194560"/>
                  </a:lnTo>
                  <a:close/>
                </a:path>
                <a:path w="1977390" h="2194560">
                  <a:moveTo>
                    <a:pt x="1958340" y="2194560"/>
                  </a:moveTo>
                  <a:lnTo>
                    <a:pt x="1958340" y="2156460"/>
                  </a:lnTo>
                  <a:lnTo>
                    <a:pt x="1939290" y="2175510"/>
                  </a:lnTo>
                  <a:lnTo>
                    <a:pt x="1939290" y="2194560"/>
                  </a:lnTo>
                  <a:lnTo>
                    <a:pt x="1958340" y="2194560"/>
                  </a:lnTo>
                  <a:close/>
                </a:path>
                <a:path w="1977390" h="2194560">
                  <a:moveTo>
                    <a:pt x="1809750" y="2194560"/>
                  </a:moveTo>
                  <a:lnTo>
                    <a:pt x="1809750" y="2156460"/>
                  </a:lnTo>
                  <a:lnTo>
                    <a:pt x="1657350" y="2156460"/>
                  </a:lnTo>
                  <a:lnTo>
                    <a:pt x="1657350" y="2194560"/>
                  </a:lnTo>
                  <a:lnTo>
                    <a:pt x="1809750" y="2194560"/>
                  </a:lnTo>
                  <a:close/>
                </a:path>
                <a:path w="1977390" h="2194560">
                  <a:moveTo>
                    <a:pt x="1543050" y="2194560"/>
                  </a:moveTo>
                  <a:lnTo>
                    <a:pt x="1543050" y="2156460"/>
                  </a:lnTo>
                  <a:lnTo>
                    <a:pt x="1390650" y="2156460"/>
                  </a:lnTo>
                  <a:lnTo>
                    <a:pt x="1390650" y="2194560"/>
                  </a:lnTo>
                  <a:lnTo>
                    <a:pt x="1543050" y="2194560"/>
                  </a:lnTo>
                  <a:close/>
                </a:path>
                <a:path w="1977390" h="2194560">
                  <a:moveTo>
                    <a:pt x="1276350" y="2194560"/>
                  </a:moveTo>
                  <a:lnTo>
                    <a:pt x="1276350" y="2156460"/>
                  </a:lnTo>
                  <a:lnTo>
                    <a:pt x="1123950" y="2156460"/>
                  </a:lnTo>
                  <a:lnTo>
                    <a:pt x="1123950" y="2194560"/>
                  </a:lnTo>
                  <a:lnTo>
                    <a:pt x="1276350" y="2194560"/>
                  </a:lnTo>
                  <a:close/>
                </a:path>
                <a:path w="1977390" h="2194560">
                  <a:moveTo>
                    <a:pt x="1009650" y="2194560"/>
                  </a:moveTo>
                  <a:lnTo>
                    <a:pt x="1009650" y="2156460"/>
                  </a:lnTo>
                  <a:lnTo>
                    <a:pt x="857250" y="2156460"/>
                  </a:lnTo>
                  <a:lnTo>
                    <a:pt x="857250" y="2194560"/>
                  </a:lnTo>
                  <a:lnTo>
                    <a:pt x="1009650" y="2194560"/>
                  </a:lnTo>
                  <a:close/>
                </a:path>
                <a:path w="1977390" h="2194560">
                  <a:moveTo>
                    <a:pt x="742950" y="2194560"/>
                  </a:moveTo>
                  <a:lnTo>
                    <a:pt x="742950" y="2156460"/>
                  </a:lnTo>
                  <a:lnTo>
                    <a:pt x="590550" y="2156460"/>
                  </a:lnTo>
                  <a:lnTo>
                    <a:pt x="590550" y="2194560"/>
                  </a:lnTo>
                  <a:lnTo>
                    <a:pt x="742950" y="2194560"/>
                  </a:lnTo>
                  <a:close/>
                </a:path>
                <a:path w="1977390" h="2194560">
                  <a:moveTo>
                    <a:pt x="476250" y="2194560"/>
                  </a:moveTo>
                  <a:lnTo>
                    <a:pt x="476250" y="2156460"/>
                  </a:lnTo>
                  <a:lnTo>
                    <a:pt x="323850" y="2156460"/>
                  </a:lnTo>
                  <a:lnTo>
                    <a:pt x="323850" y="2194560"/>
                  </a:lnTo>
                  <a:lnTo>
                    <a:pt x="476250" y="2194560"/>
                  </a:lnTo>
                  <a:close/>
                </a:path>
                <a:path w="1977390" h="2194560">
                  <a:moveTo>
                    <a:pt x="209550" y="2194560"/>
                  </a:moveTo>
                  <a:lnTo>
                    <a:pt x="209550" y="2156460"/>
                  </a:lnTo>
                  <a:lnTo>
                    <a:pt x="57150" y="2156460"/>
                  </a:lnTo>
                  <a:lnTo>
                    <a:pt x="57150" y="2194560"/>
                  </a:lnTo>
                  <a:lnTo>
                    <a:pt x="209550" y="2194560"/>
                  </a:lnTo>
                  <a:close/>
                </a:path>
              </a:pathLst>
            </a:custGeom>
            <a:solidFill>
              <a:srgbClr val="DC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object 73"/>
            <p:cNvSpPr/>
            <p:nvPr/>
          </p:nvSpPr>
          <p:spPr>
            <a:xfrm>
              <a:off x="8887205" y="2462022"/>
              <a:ext cx="681355" cy="836294"/>
            </a:xfrm>
            <a:custGeom>
              <a:avLst/>
              <a:gdLst/>
              <a:ahLst/>
              <a:cxnLst/>
              <a:rect l="l" t="t" r="r" b="b"/>
              <a:pathLst>
                <a:path w="681354" h="836295">
                  <a:moveTo>
                    <a:pt x="681228" y="417576"/>
                  </a:moveTo>
                  <a:lnTo>
                    <a:pt x="0" y="0"/>
                  </a:lnTo>
                  <a:lnTo>
                    <a:pt x="0" y="835913"/>
                  </a:lnTo>
                  <a:lnTo>
                    <a:pt x="681228" y="417576"/>
                  </a:lnTo>
                  <a:close/>
                </a:path>
              </a:pathLst>
            </a:custGeom>
            <a:solidFill>
              <a:srgbClr val="FFB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object 74"/>
            <p:cNvSpPr/>
            <p:nvPr/>
          </p:nvSpPr>
          <p:spPr>
            <a:xfrm>
              <a:off x="8868155" y="2427731"/>
              <a:ext cx="736600" cy="904240"/>
            </a:xfrm>
            <a:custGeom>
              <a:avLst/>
              <a:gdLst/>
              <a:ahLst/>
              <a:cxnLst/>
              <a:rect l="l" t="t" r="r" b="b"/>
              <a:pathLst>
                <a:path w="736600" h="904239">
                  <a:moveTo>
                    <a:pt x="736092" y="451866"/>
                  </a:moveTo>
                  <a:lnTo>
                    <a:pt x="0" y="0"/>
                  </a:lnTo>
                  <a:lnTo>
                    <a:pt x="0" y="903732"/>
                  </a:lnTo>
                  <a:lnTo>
                    <a:pt x="9144" y="898118"/>
                  </a:lnTo>
                  <a:lnTo>
                    <a:pt x="9144" y="50292"/>
                  </a:lnTo>
                  <a:lnTo>
                    <a:pt x="38100" y="34290"/>
                  </a:lnTo>
                  <a:lnTo>
                    <a:pt x="38100" y="68061"/>
                  </a:lnTo>
                  <a:lnTo>
                    <a:pt x="663533" y="451866"/>
                  </a:lnTo>
                  <a:lnTo>
                    <a:pt x="689610" y="435864"/>
                  </a:lnTo>
                  <a:lnTo>
                    <a:pt x="689610" y="480399"/>
                  </a:lnTo>
                  <a:lnTo>
                    <a:pt x="736092" y="451866"/>
                  </a:lnTo>
                  <a:close/>
                </a:path>
                <a:path w="736600" h="904239">
                  <a:moveTo>
                    <a:pt x="38100" y="68061"/>
                  </a:moveTo>
                  <a:lnTo>
                    <a:pt x="38100" y="34290"/>
                  </a:lnTo>
                  <a:lnTo>
                    <a:pt x="9144" y="50292"/>
                  </a:lnTo>
                  <a:lnTo>
                    <a:pt x="38100" y="68061"/>
                  </a:lnTo>
                  <a:close/>
                </a:path>
                <a:path w="736600" h="904239">
                  <a:moveTo>
                    <a:pt x="38100" y="835670"/>
                  </a:moveTo>
                  <a:lnTo>
                    <a:pt x="38100" y="68061"/>
                  </a:lnTo>
                  <a:lnTo>
                    <a:pt x="9144" y="50292"/>
                  </a:lnTo>
                  <a:lnTo>
                    <a:pt x="9144" y="853440"/>
                  </a:lnTo>
                  <a:lnTo>
                    <a:pt x="38100" y="835670"/>
                  </a:lnTo>
                  <a:close/>
                </a:path>
                <a:path w="736600" h="904239">
                  <a:moveTo>
                    <a:pt x="689610" y="480399"/>
                  </a:moveTo>
                  <a:lnTo>
                    <a:pt x="689610" y="467868"/>
                  </a:lnTo>
                  <a:lnTo>
                    <a:pt x="663533" y="451866"/>
                  </a:lnTo>
                  <a:lnTo>
                    <a:pt x="9144" y="853440"/>
                  </a:lnTo>
                  <a:lnTo>
                    <a:pt x="38100" y="870204"/>
                  </a:lnTo>
                  <a:lnTo>
                    <a:pt x="38100" y="880343"/>
                  </a:lnTo>
                  <a:lnTo>
                    <a:pt x="689610" y="480399"/>
                  </a:lnTo>
                  <a:close/>
                </a:path>
                <a:path w="736600" h="904239">
                  <a:moveTo>
                    <a:pt x="38100" y="880343"/>
                  </a:moveTo>
                  <a:lnTo>
                    <a:pt x="38100" y="870204"/>
                  </a:lnTo>
                  <a:lnTo>
                    <a:pt x="9144" y="853440"/>
                  </a:lnTo>
                  <a:lnTo>
                    <a:pt x="9144" y="898118"/>
                  </a:lnTo>
                  <a:lnTo>
                    <a:pt x="38100" y="880343"/>
                  </a:lnTo>
                  <a:close/>
                </a:path>
                <a:path w="736600" h="904239">
                  <a:moveTo>
                    <a:pt x="689610" y="467868"/>
                  </a:moveTo>
                  <a:lnTo>
                    <a:pt x="689610" y="435864"/>
                  </a:lnTo>
                  <a:lnTo>
                    <a:pt x="663533" y="451866"/>
                  </a:lnTo>
                  <a:lnTo>
                    <a:pt x="689610" y="46786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object 75"/>
            <p:cNvSpPr txBox="1"/>
            <p:nvPr/>
          </p:nvSpPr>
          <p:spPr>
            <a:xfrm>
              <a:off x="8024112" y="3308857"/>
              <a:ext cx="1608455" cy="635000"/>
            </a:xfrm>
            <a:prstGeom prst="rect">
              <a:avLst/>
            </a:prstGeom>
          </p:spPr>
          <p:txBody>
            <a:bodyPr vert="horz" wrap="square" lIns="0" tIns="12065" rIns="0" bIns="0" rtlCol="0">
              <a:spAutoFit/>
            </a:bodyPr>
            <a:lstStyle/>
            <a:p>
              <a:pPr marL="822325" marR="5080" lvl="0" indent="-810260" algn="l" defTabSz="914400" rtl="0" eaLnBrk="1" fontAlgn="auto" latinLnBrk="0" hangingPunct="1">
                <a:lnSpc>
                  <a:spcPct val="100000"/>
                </a:lnSpc>
                <a:spcBef>
                  <a:spcPts val="95"/>
                </a:spcBef>
                <a:spcAft>
                  <a:spcPts val="0"/>
                </a:spcAft>
                <a:buClrTx/>
                <a:buSzTx/>
                <a:buFontTx/>
                <a:buNone/>
                <a:tabLst>
                  <a:tab pos="86106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TIA		Amp/ </a:t>
              </a:r>
              <a:r>
                <a:rPr kumimoji="0" sz="2000" b="0" i="0" u="none" strike="noStrike" kern="1200" cap="none" spc="-690" normalizeH="0" baseline="0" noProof="0" dirty="0">
                  <a:ln>
                    <a:noFill/>
                  </a:ln>
                  <a:solidFill>
                    <a:prstClr val="black"/>
                  </a:solidFill>
                  <a:effectLst/>
                  <a:uLnTx/>
                  <a:uFillTx/>
                  <a:latin typeface="Verdana"/>
                  <a:ea typeface="+mn-ea"/>
                  <a:cs typeface="Verdana"/>
                </a:rPr>
                <a:t> </a:t>
              </a:r>
              <a:r>
                <a:rPr kumimoji="0" sz="2000" b="0" i="0" u="none" strike="noStrike" kern="1200" cap="none" spc="-5" normalizeH="0" baseline="0" noProof="0" dirty="0">
                  <a:ln>
                    <a:noFill/>
                  </a:ln>
                  <a:solidFill>
                    <a:prstClr val="black"/>
                  </a:solidFill>
                  <a:effectLst/>
                  <a:uLnTx/>
                  <a:uFillTx/>
                  <a:latin typeface="Verdana"/>
                  <a:ea typeface="+mn-ea"/>
                  <a:cs typeface="Verdana"/>
                </a:rPr>
                <a:t>Buffer</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pic>
          <p:nvPicPr>
            <p:cNvPr id="126" name="object 126"/>
            <p:cNvPicPr/>
            <p:nvPr/>
          </p:nvPicPr>
          <p:blipFill>
            <a:blip r:embed="rId5" cstate="print"/>
            <a:stretch>
              <a:fillRect/>
            </a:stretch>
          </p:blipFill>
          <p:spPr>
            <a:xfrm>
              <a:off x="8300466" y="1969008"/>
              <a:ext cx="1173480" cy="413004"/>
            </a:xfrm>
            <a:prstGeom prst="rect">
              <a:avLst/>
            </a:prstGeom>
          </p:spPr>
        </p:pic>
      </p:grpSp>
      <p:grpSp>
        <p:nvGrpSpPr>
          <p:cNvPr id="134" name="Group 133"/>
          <p:cNvGrpSpPr/>
          <p:nvPr/>
        </p:nvGrpSpPr>
        <p:grpSpPr>
          <a:xfrm>
            <a:off x="4249673" y="1766316"/>
            <a:ext cx="3445891" cy="2860548"/>
            <a:chOff x="4249673" y="1766316"/>
            <a:chExt cx="3445891" cy="2860548"/>
          </a:xfrm>
        </p:grpSpPr>
        <p:pic>
          <p:nvPicPr>
            <p:cNvPr id="3" name="object 3"/>
            <p:cNvPicPr/>
            <p:nvPr/>
          </p:nvPicPr>
          <p:blipFill>
            <a:blip r:embed="rId6" cstate="print"/>
            <a:stretch>
              <a:fillRect/>
            </a:stretch>
          </p:blipFill>
          <p:spPr>
            <a:xfrm>
              <a:off x="4987289" y="3694938"/>
              <a:ext cx="1131569" cy="499232"/>
            </a:xfrm>
            <a:prstGeom prst="rect">
              <a:avLst/>
            </a:prstGeom>
          </p:spPr>
        </p:pic>
        <p:sp>
          <p:nvSpPr>
            <p:cNvPr id="80" name="object 80"/>
            <p:cNvSpPr txBox="1"/>
            <p:nvPr/>
          </p:nvSpPr>
          <p:spPr>
            <a:xfrm>
              <a:off x="5789167" y="1805432"/>
              <a:ext cx="710565" cy="3302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Laser</a:t>
              </a:r>
              <a:endParaRPr kumimoji="0" sz="2000" b="0" i="0" u="none" strike="noStrike" kern="1200" cap="none" spc="0" normalizeH="0" baseline="0" noProof="0">
                <a:ln>
                  <a:noFill/>
                </a:ln>
                <a:solidFill>
                  <a:prstClr val="black"/>
                </a:solidFill>
                <a:effectLst/>
                <a:uLnTx/>
                <a:uFillTx/>
                <a:latin typeface="Verdana"/>
                <a:ea typeface="+mn-ea"/>
                <a:cs typeface="Verdana"/>
              </a:endParaRPr>
            </a:p>
          </p:txBody>
        </p:sp>
        <p:sp>
          <p:nvSpPr>
            <p:cNvPr id="84" name="object 84"/>
            <p:cNvSpPr/>
            <p:nvPr/>
          </p:nvSpPr>
          <p:spPr>
            <a:xfrm>
              <a:off x="4521326" y="2951227"/>
              <a:ext cx="751459" cy="45719"/>
            </a:xfrm>
            <a:custGeom>
              <a:avLst/>
              <a:gdLst/>
              <a:ahLst/>
              <a:cxnLst/>
              <a:rect l="l" t="t" r="r" b="b"/>
              <a:pathLst>
                <a:path w="1022350" h="38100">
                  <a:moveTo>
                    <a:pt x="1021841" y="38100"/>
                  </a:moveTo>
                  <a:lnTo>
                    <a:pt x="1021841" y="0"/>
                  </a:lnTo>
                  <a:lnTo>
                    <a:pt x="0" y="0"/>
                  </a:lnTo>
                  <a:lnTo>
                    <a:pt x="0" y="38100"/>
                  </a:lnTo>
                  <a:lnTo>
                    <a:pt x="1021841" y="381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object 87"/>
            <p:cNvSpPr/>
            <p:nvPr/>
          </p:nvSpPr>
          <p:spPr>
            <a:xfrm>
              <a:off x="6179820" y="3451860"/>
              <a:ext cx="546100" cy="481330"/>
            </a:xfrm>
            <a:custGeom>
              <a:avLst/>
              <a:gdLst/>
              <a:ahLst/>
              <a:cxnLst/>
              <a:rect l="l" t="t" r="r" b="b"/>
              <a:pathLst>
                <a:path w="546100" h="481329">
                  <a:moveTo>
                    <a:pt x="545592" y="240791"/>
                  </a:moveTo>
                  <a:lnTo>
                    <a:pt x="541203" y="197614"/>
                  </a:lnTo>
                  <a:lnTo>
                    <a:pt x="528549" y="156932"/>
                  </a:lnTo>
                  <a:lnTo>
                    <a:pt x="508395" y="119436"/>
                  </a:lnTo>
                  <a:lnTo>
                    <a:pt x="481504" y="85816"/>
                  </a:lnTo>
                  <a:lnTo>
                    <a:pt x="448643" y="56762"/>
                  </a:lnTo>
                  <a:lnTo>
                    <a:pt x="410576" y="32963"/>
                  </a:lnTo>
                  <a:lnTo>
                    <a:pt x="368070" y="15110"/>
                  </a:lnTo>
                  <a:lnTo>
                    <a:pt x="321888" y="3892"/>
                  </a:lnTo>
                  <a:lnTo>
                    <a:pt x="272796" y="0"/>
                  </a:lnTo>
                  <a:lnTo>
                    <a:pt x="223703" y="3892"/>
                  </a:lnTo>
                  <a:lnTo>
                    <a:pt x="177521" y="15110"/>
                  </a:lnTo>
                  <a:lnTo>
                    <a:pt x="135015" y="32963"/>
                  </a:lnTo>
                  <a:lnTo>
                    <a:pt x="96948" y="56762"/>
                  </a:lnTo>
                  <a:lnTo>
                    <a:pt x="64087" y="85816"/>
                  </a:lnTo>
                  <a:lnTo>
                    <a:pt x="37196" y="119436"/>
                  </a:lnTo>
                  <a:lnTo>
                    <a:pt x="17042" y="156932"/>
                  </a:lnTo>
                  <a:lnTo>
                    <a:pt x="4388" y="197614"/>
                  </a:lnTo>
                  <a:lnTo>
                    <a:pt x="0" y="240791"/>
                  </a:lnTo>
                  <a:lnTo>
                    <a:pt x="4388" y="283943"/>
                  </a:lnTo>
                  <a:lnTo>
                    <a:pt x="17042" y="324555"/>
                  </a:lnTo>
                  <a:lnTo>
                    <a:pt x="37196" y="361949"/>
                  </a:lnTo>
                  <a:lnTo>
                    <a:pt x="64087" y="395449"/>
                  </a:lnTo>
                  <a:lnTo>
                    <a:pt x="68580" y="399404"/>
                  </a:lnTo>
                  <a:lnTo>
                    <a:pt x="68580" y="240791"/>
                  </a:lnTo>
                  <a:lnTo>
                    <a:pt x="75875" y="195283"/>
                  </a:lnTo>
                  <a:lnTo>
                    <a:pt x="96463" y="154347"/>
                  </a:lnTo>
                  <a:lnTo>
                    <a:pt x="128397" y="119633"/>
                  </a:lnTo>
                  <a:lnTo>
                    <a:pt x="169728" y="92794"/>
                  </a:lnTo>
                  <a:lnTo>
                    <a:pt x="218510" y="75480"/>
                  </a:lnTo>
                  <a:lnTo>
                    <a:pt x="272796" y="69341"/>
                  </a:lnTo>
                  <a:lnTo>
                    <a:pt x="327081" y="75480"/>
                  </a:lnTo>
                  <a:lnTo>
                    <a:pt x="375863" y="92794"/>
                  </a:lnTo>
                  <a:lnTo>
                    <a:pt x="417195" y="119633"/>
                  </a:lnTo>
                  <a:lnTo>
                    <a:pt x="449128" y="154347"/>
                  </a:lnTo>
                  <a:lnTo>
                    <a:pt x="469716" y="195283"/>
                  </a:lnTo>
                  <a:lnTo>
                    <a:pt x="477012" y="240791"/>
                  </a:lnTo>
                  <a:lnTo>
                    <a:pt x="477012" y="399404"/>
                  </a:lnTo>
                  <a:lnTo>
                    <a:pt x="481504" y="395449"/>
                  </a:lnTo>
                  <a:lnTo>
                    <a:pt x="508395" y="361949"/>
                  </a:lnTo>
                  <a:lnTo>
                    <a:pt x="528549" y="324555"/>
                  </a:lnTo>
                  <a:lnTo>
                    <a:pt x="541203" y="283943"/>
                  </a:lnTo>
                  <a:lnTo>
                    <a:pt x="545592" y="240791"/>
                  </a:lnTo>
                  <a:close/>
                </a:path>
                <a:path w="546100" h="481329">
                  <a:moveTo>
                    <a:pt x="477012" y="399404"/>
                  </a:moveTo>
                  <a:lnTo>
                    <a:pt x="477012" y="240791"/>
                  </a:lnTo>
                  <a:lnTo>
                    <a:pt x="469716" y="286300"/>
                  </a:lnTo>
                  <a:lnTo>
                    <a:pt x="449128" y="327236"/>
                  </a:lnTo>
                  <a:lnTo>
                    <a:pt x="417195" y="361949"/>
                  </a:lnTo>
                  <a:lnTo>
                    <a:pt x="375863" y="388789"/>
                  </a:lnTo>
                  <a:lnTo>
                    <a:pt x="327081" y="406103"/>
                  </a:lnTo>
                  <a:lnTo>
                    <a:pt x="272796" y="412241"/>
                  </a:lnTo>
                  <a:lnTo>
                    <a:pt x="218510" y="406103"/>
                  </a:lnTo>
                  <a:lnTo>
                    <a:pt x="169728" y="388789"/>
                  </a:lnTo>
                  <a:lnTo>
                    <a:pt x="128397" y="361949"/>
                  </a:lnTo>
                  <a:lnTo>
                    <a:pt x="96463" y="327236"/>
                  </a:lnTo>
                  <a:lnTo>
                    <a:pt x="75875" y="286300"/>
                  </a:lnTo>
                  <a:lnTo>
                    <a:pt x="68580" y="240791"/>
                  </a:lnTo>
                  <a:lnTo>
                    <a:pt x="68580" y="399404"/>
                  </a:lnTo>
                  <a:lnTo>
                    <a:pt x="135015" y="448055"/>
                  </a:lnTo>
                  <a:lnTo>
                    <a:pt x="177521" y="465807"/>
                  </a:lnTo>
                  <a:lnTo>
                    <a:pt x="223703" y="476955"/>
                  </a:lnTo>
                  <a:lnTo>
                    <a:pt x="272796" y="480821"/>
                  </a:lnTo>
                  <a:lnTo>
                    <a:pt x="321888" y="476955"/>
                  </a:lnTo>
                  <a:lnTo>
                    <a:pt x="368070" y="465807"/>
                  </a:lnTo>
                  <a:lnTo>
                    <a:pt x="410576" y="448055"/>
                  </a:lnTo>
                  <a:lnTo>
                    <a:pt x="448643" y="424377"/>
                  </a:lnTo>
                  <a:lnTo>
                    <a:pt x="477012" y="399404"/>
                  </a:lnTo>
                  <a:close/>
                </a:path>
              </a:pathLst>
            </a:custGeom>
            <a:solidFill>
              <a:srgbClr val="FFF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bject 88"/>
            <p:cNvSpPr/>
            <p:nvPr/>
          </p:nvSpPr>
          <p:spPr>
            <a:xfrm>
              <a:off x="6174485" y="3447288"/>
              <a:ext cx="554990" cy="490220"/>
            </a:xfrm>
            <a:custGeom>
              <a:avLst/>
              <a:gdLst/>
              <a:ahLst/>
              <a:cxnLst/>
              <a:rect l="l" t="t" r="r" b="b"/>
              <a:pathLst>
                <a:path w="554990" h="490220">
                  <a:moveTo>
                    <a:pt x="554990" y="257555"/>
                  </a:moveTo>
                  <a:lnTo>
                    <a:pt x="554990" y="232409"/>
                  </a:lnTo>
                  <a:lnTo>
                    <a:pt x="553720" y="220217"/>
                  </a:lnTo>
                  <a:lnTo>
                    <a:pt x="542290" y="172211"/>
                  </a:lnTo>
                  <a:lnTo>
                    <a:pt x="521970" y="128015"/>
                  </a:lnTo>
                  <a:lnTo>
                    <a:pt x="482600" y="80009"/>
                  </a:lnTo>
                  <a:lnTo>
                    <a:pt x="453390" y="55625"/>
                  </a:lnTo>
                  <a:lnTo>
                    <a:pt x="443230" y="48767"/>
                  </a:lnTo>
                  <a:lnTo>
                    <a:pt x="408940" y="29717"/>
                  </a:lnTo>
                  <a:lnTo>
                    <a:pt x="373380" y="15239"/>
                  </a:lnTo>
                  <a:lnTo>
                    <a:pt x="320040" y="3047"/>
                  </a:lnTo>
                  <a:lnTo>
                    <a:pt x="278130" y="0"/>
                  </a:lnTo>
                  <a:lnTo>
                    <a:pt x="262890" y="761"/>
                  </a:lnTo>
                  <a:lnTo>
                    <a:pt x="220979" y="5333"/>
                  </a:lnTo>
                  <a:lnTo>
                    <a:pt x="168910" y="19049"/>
                  </a:lnTo>
                  <a:lnTo>
                    <a:pt x="121919" y="41909"/>
                  </a:lnTo>
                  <a:lnTo>
                    <a:pt x="111759" y="48767"/>
                  </a:lnTo>
                  <a:lnTo>
                    <a:pt x="100330" y="56387"/>
                  </a:lnTo>
                  <a:lnTo>
                    <a:pt x="54609" y="98297"/>
                  </a:lnTo>
                  <a:lnTo>
                    <a:pt x="26669" y="138683"/>
                  </a:lnTo>
                  <a:lnTo>
                    <a:pt x="21589" y="150113"/>
                  </a:lnTo>
                  <a:lnTo>
                    <a:pt x="16509" y="160781"/>
                  </a:lnTo>
                  <a:lnTo>
                    <a:pt x="8889" y="183641"/>
                  </a:lnTo>
                  <a:lnTo>
                    <a:pt x="5079" y="195833"/>
                  </a:lnTo>
                  <a:lnTo>
                    <a:pt x="1269" y="220217"/>
                  </a:lnTo>
                  <a:lnTo>
                    <a:pt x="0" y="232409"/>
                  </a:lnTo>
                  <a:lnTo>
                    <a:pt x="0" y="258317"/>
                  </a:lnTo>
                  <a:lnTo>
                    <a:pt x="1270" y="270509"/>
                  </a:lnTo>
                  <a:lnTo>
                    <a:pt x="5080" y="294893"/>
                  </a:lnTo>
                  <a:lnTo>
                    <a:pt x="8890" y="307085"/>
                  </a:lnTo>
                  <a:lnTo>
                    <a:pt x="8889" y="233171"/>
                  </a:lnTo>
                  <a:lnTo>
                    <a:pt x="11429" y="220979"/>
                  </a:lnTo>
                  <a:lnTo>
                    <a:pt x="21589" y="175259"/>
                  </a:lnTo>
                  <a:lnTo>
                    <a:pt x="54609" y="113537"/>
                  </a:lnTo>
                  <a:lnTo>
                    <a:pt x="87630" y="78485"/>
                  </a:lnTo>
                  <a:lnTo>
                    <a:pt x="138429" y="44195"/>
                  </a:lnTo>
                  <a:lnTo>
                    <a:pt x="210820" y="16763"/>
                  </a:lnTo>
                  <a:lnTo>
                    <a:pt x="250190" y="10667"/>
                  </a:lnTo>
                  <a:lnTo>
                    <a:pt x="262890" y="9975"/>
                  </a:lnTo>
                  <a:lnTo>
                    <a:pt x="292100" y="9975"/>
                  </a:lnTo>
                  <a:lnTo>
                    <a:pt x="331470" y="14477"/>
                  </a:lnTo>
                  <a:lnTo>
                    <a:pt x="382270" y="28193"/>
                  </a:lnTo>
                  <a:lnTo>
                    <a:pt x="438150" y="56387"/>
                  </a:lnTo>
                  <a:lnTo>
                    <a:pt x="448309" y="64007"/>
                  </a:lnTo>
                  <a:lnTo>
                    <a:pt x="458470" y="70865"/>
                  </a:lnTo>
                  <a:lnTo>
                    <a:pt x="467359" y="79247"/>
                  </a:lnTo>
                  <a:lnTo>
                    <a:pt x="476250" y="86867"/>
                  </a:lnTo>
                  <a:lnTo>
                    <a:pt x="485140" y="96011"/>
                  </a:lnTo>
                  <a:lnTo>
                    <a:pt x="492759" y="104393"/>
                  </a:lnTo>
                  <a:lnTo>
                    <a:pt x="500380" y="113537"/>
                  </a:lnTo>
                  <a:lnTo>
                    <a:pt x="514350" y="133349"/>
                  </a:lnTo>
                  <a:lnTo>
                    <a:pt x="519430" y="143255"/>
                  </a:lnTo>
                  <a:lnTo>
                    <a:pt x="525780" y="153923"/>
                  </a:lnTo>
                  <a:lnTo>
                    <a:pt x="533400" y="175259"/>
                  </a:lnTo>
                  <a:lnTo>
                    <a:pt x="541020" y="198119"/>
                  </a:lnTo>
                  <a:lnTo>
                    <a:pt x="542290" y="209549"/>
                  </a:lnTo>
                  <a:lnTo>
                    <a:pt x="544830" y="221741"/>
                  </a:lnTo>
                  <a:lnTo>
                    <a:pt x="546100" y="233171"/>
                  </a:lnTo>
                  <a:lnTo>
                    <a:pt x="546100" y="306323"/>
                  </a:lnTo>
                  <a:lnTo>
                    <a:pt x="549910" y="294893"/>
                  </a:lnTo>
                  <a:lnTo>
                    <a:pt x="553720" y="270509"/>
                  </a:lnTo>
                  <a:lnTo>
                    <a:pt x="554990" y="257555"/>
                  </a:lnTo>
                  <a:close/>
                </a:path>
                <a:path w="554990" h="490220">
                  <a:moveTo>
                    <a:pt x="546100" y="306323"/>
                  </a:moveTo>
                  <a:lnTo>
                    <a:pt x="546100" y="257555"/>
                  </a:lnTo>
                  <a:lnTo>
                    <a:pt x="544830" y="269747"/>
                  </a:lnTo>
                  <a:lnTo>
                    <a:pt x="542290" y="281177"/>
                  </a:lnTo>
                  <a:lnTo>
                    <a:pt x="529590" y="326135"/>
                  </a:lnTo>
                  <a:lnTo>
                    <a:pt x="506730" y="367283"/>
                  </a:lnTo>
                  <a:lnTo>
                    <a:pt x="500380" y="376427"/>
                  </a:lnTo>
                  <a:lnTo>
                    <a:pt x="492759" y="386333"/>
                  </a:lnTo>
                  <a:lnTo>
                    <a:pt x="485140" y="394715"/>
                  </a:lnTo>
                  <a:lnTo>
                    <a:pt x="476250" y="403859"/>
                  </a:lnTo>
                  <a:lnTo>
                    <a:pt x="467359" y="411479"/>
                  </a:lnTo>
                  <a:lnTo>
                    <a:pt x="458470" y="419861"/>
                  </a:lnTo>
                  <a:lnTo>
                    <a:pt x="427990" y="440435"/>
                  </a:lnTo>
                  <a:lnTo>
                    <a:pt x="405130" y="452627"/>
                  </a:lnTo>
                  <a:lnTo>
                    <a:pt x="393700" y="457199"/>
                  </a:lnTo>
                  <a:lnTo>
                    <a:pt x="382270" y="462533"/>
                  </a:lnTo>
                  <a:lnTo>
                    <a:pt x="358140" y="470153"/>
                  </a:lnTo>
                  <a:lnTo>
                    <a:pt x="331470" y="476249"/>
                  </a:lnTo>
                  <a:lnTo>
                    <a:pt x="318770" y="477773"/>
                  </a:lnTo>
                  <a:lnTo>
                    <a:pt x="290830" y="480821"/>
                  </a:lnTo>
                  <a:lnTo>
                    <a:pt x="264160" y="480821"/>
                  </a:lnTo>
                  <a:lnTo>
                    <a:pt x="223520" y="476249"/>
                  </a:lnTo>
                  <a:lnTo>
                    <a:pt x="172720" y="462533"/>
                  </a:lnTo>
                  <a:lnTo>
                    <a:pt x="127000" y="440435"/>
                  </a:lnTo>
                  <a:lnTo>
                    <a:pt x="87630" y="411479"/>
                  </a:lnTo>
                  <a:lnTo>
                    <a:pt x="48260" y="367283"/>
                  </a:lnTo>
                  <a:lnTo>
                    <a:pt x="25400" y="326135"/>
                  </a:lnTo>
                  <a:lnTo>
                    <a:pt x="21590" y="314705"/>
                  </a:lnTo>
                  <a:lnTo>
                    <a:pt x="17780" y="304037"/>
                  </a:lnTo>
                  <a:lnTo>
                    <a:pt x="12700" y="281177"/>
                  </a:lnTo>
                  <a:lnTo>
                    <a:pt x="11430" y="268985"/>
                  </a:lnTo>
                  <a:lnTo>
                    <a:pt x="8890" y="257555"/>
                  </a:lnTo>
                  <a:lnTo>
                    <a:pt x="8890" y="307085"/>
                  </a:lnTo>
                  <a:lnTo>
                    <a:pt x="27940" y="352043"/>
                  </a:lnTo>
                  <a:lnTo>
                    <a:pt x="34290" y="362711"/>
                  </a:lnTo>
                  <a:lnTo>
                    <a:pt x="39370" y="372617"/>
                  </a:lnTo>
                  <a:lnTo>
                    <a:pt x="54610" y="392429"/>
                  </a:lnTo>
                  <a:lnTo>
                    <a:pt x="72390" y="410717"/>
                  </a:lnTo>
                  <a:lnTo>
                    <a:pt x="81280" y="419099"/>
                  </a:lnTo>
                  <a:lnTo>
                    <a:pt x="91440" y="426719"/>
                  </a:lnTo>
                  <a:lnTo>
                    <a:pt x="100330" y="434339"/>
                  </a:lnTo>
                  <a:lnTo>
                    <a:pt x="133350" y="454913"/>
                  </a:lnTo>
                  <a:lnTo>
                    <a:pt x="168910" y="470916"/>
                  </a:lnTo>
                  <a:lnTo>
                    <a:pt x="208279" y="482345"/>
                  </a:lnTo>
                  <a:lnTo>
                    <a:pt x="248920" y="489203"/>
                  </a:lnTo>
                  <a:lnTo>
                    <a:pt x="262890" y="489966"/>
                  </a:lnTo>
                  <a:lnTo>
                    <a:pt x="292100" y="489966"/>
                  </a:lnTo>
                  <a:lnTo>
                    <a:pt x="332740" y="485393"/>
                  </a:lnTo>
                  <a:lnTo>
                    <a:pt x="373380" y="475487"/>
                  </a:lnTo>
                  <a:lnTo>
                    <a:pt x="410209" y="461009"/>
                  </a:lnTo>
                  <a:lnTo>
                    <a:pt x="443230" y="441959"/>
                  </a:lnTo>
                  <a:lnTo>
                    <a:pt x="454659" y="434339"/>
                  </a:lnTo>
                  <a:lnTo>
                    <a:pt x="464820" y="426719"/>
                  </a:lnTo>
                  <a:lnTo>
                    <a:pt x="473709" y="418337"/>
                  </a:lnTo>
                  <a:lnTo>
                    <a:pt x="483870" y="409955"/>
                  </a:lnTo>
                  <a:lnTo>
                    <a:pt x="515620" y="372617"/>
                  </a:lnTo>
                  <a:lnTo>
                    <a:pt x="538480" y="329945"/>
                  </a:lnTo>
                  <a:lnTo>
                    <a:pt x="542290" y="318515"/>
                  </a:lnTo>
                  <a:lnTo>
                    <a:pt x="546100" y="306323"/>
                  </a:lnTo>
                  <a:close/>
                </a:path>
                <a:path w="554990" h="490220">
                  <a:moveTo>
                    <a:pt x="486409" y="254507"/>
                  </a:moveTo>
                  <a:lnTo>
                    <a:pt x="486409" y="236219"/>
                  </a:lnTo>
                  <a:lnTo>
                    <a:pt x="485140" y="227075"/>
                  </a:lnTo>
                  <a:lnTo>
                    <a:pt x="483870" y="218693"/>
                  </a:lnTo>
                  <a:lnTo>
                    <a:pt x="481330" y="209549"/>
                  </a:lnTo>
                  <a:lnTo>
                    <a:pt x="477520" y="192785"/>
                  </a:lnTo>
                  <a:lnTo>
                    <a:pt x="473709" y="184403"/>
                  </a:lnTo>
                  <a:lnTo>
                    <a:pt x="469900" y="176783"/>
                  </a:lnTo>
                  <a:lnTo>
                    <a:pt x="466090" y="168401"/>
                  </a:lnTo>
                  <a:lnTo>
                    <a:pt x="461009" y="160781"/>
                  </a:lnTo>
                  <a:lnTo>
                    <a:pt x="455930" y="153923"/>
                  </a:lnTo>
                  <a:lnTo>
                    <a:pt x="450850" y="146303"/>
                  </a:lnTo>
                  <a:lnTo>
                    <a:pt x="444500" y="139445"/>
                  </a:lnTo>
                  <a:lnTo>
                    <a:pt x="431800" y="126491"/>
                  </a:lnTo>
                  <a:lnTo>
                    <a:pt x="424180" y="120395"/>
                  </a:lnTo>
                  <a:lnTo>
                    <a:pt x="417830" y="115061"/>
                  </a:lnTo>
                  <a:lnTo>
                    <a:pt x="410209" y="108965"/>
                  </a:lnTo>
                  <a:lnTo>
                    <a:pt x="402590" y="103631"/>
                  </a:lnTo>
                  <a:lnTo>
                    <a:pt x="386080" y="94487"/>
                  </a:lnTo>
                  <a:lnTo>
                    <a:pt x="377190" y="90677"/>
                  </a:lnTo>
                  <a:lnTo>
                    <a:pt x="367030" y="86105"/>
                  </a:lnTo>
                  <a:lnTo>
                    <a:pt x="320040" y="72389"/>
                  </a:lnTo>
                  <a:lnTo>
                    <a:pt x="288290" y="69341"/>
                  </a:lnTo>
                  <a:lnTo>
                    <a:pt x="266700" y="69341"/>
                  </a:lnTo>
                  <a:lnTo>
                    <a:pt x="215900" y="76961"/>
                  </a:lnTo>
                  <a:lnTo>
                    <a:pt x="179070" y="89915"/>
                  </a:lnTo>
                  <a:lnTo>
                    <a:pt x="137160" y="114299"/>
                  </a:lnTo>
                  <a:lnTo>
                    <a:pt x="104139" y="146303"/>
                  </a:lnTo>
                  <a:lnTo>
                    <a:pt x="77470" y="192785"/>
                  </a:lnTo>
                  <a:lnTo>
                    <a:pt x="68580" y="236219"/>
                  </a:lnTo>
                  <a:lnTo>
                    <a:pt x="68580" y="254507"/>
                  </a:lnTo>
                  <a:lnTo>
                    <a:pt x="69850" y="262889"/>
                  </a:lnTo>
                  <a:lnTo>
                    <a:pt x="71120" y="272033"/>
                  </a:lnTo>
                  <a:lnTo>
                    <a:pt x="72390" y="280415"/>
                  </a:lnTo>
                  <a:lnTo>
                    <a:pt x="76200" y="289559"/>
                  </a:lnTo>
                  <a:lnTo>
                    <a:pt x="77470" y="297941"/>
                  </a:lnTo>
                  <a:lnTo>
                    <a:pt x="77470" y="245363"/>
                  </a:lnTo>
                  <a:lnTo>
                    <a:pt x="80010" y="220217"/>
                  </a:lnTo>
                  <a:lnTo>
                    <a:pt x="82550" y="211835"/>
                  </a:lnTo>
                  <a:lnTo>
                    <a:pt x="83820" y="204215"/>
                  </a:lnTo>
                  <a:lnTo>
                    <a:pt x="87630" y="195833"/>
                  </a:lnTo>
                  <a:lnTo>
                    <a:pt x="90170" y="188213"/>
                  </a:lnTo>
                  <a:lnTo>
                    <a:pt x="93980" y="180593"/>
                  </a:lnTo>
                  <a:lnTo>
                    <a:pt x="97790" y="173735"/>
                  </a:lnTo>
                  <a:lnTo>
                    <a:pt x="102870" y="166115"/>
                  </a:lnTo>
                  <a:lnTo>
                    <a:pt x="106680" y="159257"/>
                  </a:lnTo>
                  <a:lnTo>
                    <a:pt x="111760" y="152399"/>
                  </a:lnTo>
                  <a:lnTo>
                    <a:pt x="118110" y="146303"/>
                  </a:lnTo>
                  <a:lnTo>
                    <a:pt x="123189" y="139445"/>
                  </a:lnTo>
                  <a:lnTo>
                    <a:pt x="157480" y="112013"/>
                  </a:lnTo>
                  <a:lnTo>
                    <a:pt x="218440" y="86105"/>
                  </a:lnTo>
                  <a:lnTo>
                    <a:pt x="256540" y="79247"/>
                  </a:lnTo>
                  <a:lnTo>
                    <a:pt x="267970" y="79163"/>
                  </a:lnTo>
                  <a:lnTo>
                    <a:pt x="278130" y="78485"/>
                  </a:lnTo>
                  <a:lnTo>
                    <a:pt x="288290" y="78570"/>
                  </a:lnTo>
                  <a:lnTo>
                    <a:pt x="298450" y="79247"/>
                  </a:lnTo>
                  <a:lnTo>
                    <a:pt x="317500" y="82295"/>
                  </a:lnTo>
                  <a:lnTo>
                    <a:pt x="327660" y="83819"/>
                  </a:lnTo>
                  <a:lnTo>
                    <a:pt x="336550" y="86105"/>
                  </a:lnTo>
                  <a:lnTo>
                    <a:pt x="364490" y="95249"/>
                  </a:lnTo>
                  <a:lnTo>
                    <a:pt x="381000" y="102869"/>
                  </a:lnTo>
                  <a:lnTo>
                    <a:pt x="388620" y="107441"/>
                  </a:lnTo>
                  <a:lnTo>
                    <a:pt x="397510" y="112013"/>
                  </a:lnTo>
                  <a:lnTo>
                    <a:pt x="405130" y="116585"/>
                  </a:lnTo>
                  <a:lnTo>
                    <a:pt x="411480" y="121919"/>
                  </a:lnTo>
                  <a:lnTo>
                    <a:pt x="419100" y="128015"/>
                  </a:lnTo>
                  <a:lnTo>
                    <a:pt x="448309" y="159257"/>
                  </a:lnTo>
                  <a:lnTo>
                    <a:pt x="468630" y="195833"/>
                  </a:lnTo>
                  <a:lnTo>
                    <a:pt x="469900" y="203453"/>
                  </a:lnTo>
                  <a:lnTo>
                    <a:pt x="472440" y="211835"/>
                  </a:lnTo>
                  <a:lnTo>
                    <a:pt x="473709" y="220217"/>
                  </a:lnTo>
                  <a:lnTo>
                    <a:pt x="476250" y="227837"/>
                  </a:lnTo>
                  <a:lnTo>
                    <a:pt x="476250" y="299618"/>
                  </a:lnTo>
                  <a:lnTo>
                    <a:pt x="480059" y="289559"/>
                  </a:lnTo>
                  <a:lnTo>
                    <a:pt x="481330" y="281177"/>
                  </a:lnTo>
                  <a:lnTo>
                    <a:pt x="483870" y="272033"/>
                  </a:lnTo>
                  <a:lnTo>
                    <a:pt x="485140" y="263651"/>
                  </a:lnTo>
                  <a:lnTo>
                    <a:pt x="486409" y="254507"/>
                  </a:lnTo>
                  <a:close/>
                </a:path>
                <a:path w="554990" h="490220">
                  <a:moveTo>
                    <a:pt x="476250" y="299618"/>
                  </a:moveTo>
                  <a:lnTo>
                    <a:pt x="476250" y="253745"/>
                  </a:lnTo>
                  <a:lnTo>
                    <a:pt x="474980" y="270509"/>
                  </a:lnTo>
                  <a:lnTo>
                    <a:pt x="472440" y="278891"/>
                  </a:lnTo>
                  <a:lnTo>
                    <a:pt x="468630" y="294131"/>
                  </a:lnTo>
                  <a:lnTo>
                    <a:pt x="464820" y="302513"/>
                  </a:lnTo>
                  <a:lnTo>
                    <a:pt x="461009" y="309371"/>
                  </a:lnTo>
                  <a:lnTo>
                    <a:pt x="453390" y="324611"/>
                  </a:lnTo>
                  <a:lnTo>
                    <a:pt x="419100" y="362711"/>
                  </a:lnTo>
                  <a:lnTo>
                    <a:pt x="381000" y="387857"/>
                  </a:lnTo>
                  <a:lnTo>
                    <a:pt x="336550" y="404621"/>
                  </a:lnTo>
                  <a:lnTo>
                    <a:pt x="290830" y="411289"/>
                  </a:lnTo>
                  <a:lnTo>
                    <a:pt x="266700" y="411395"/>
                  </a:lnTo>
                  <a:lnTo>
                    <a:pt x="256540" y="410717"/>
                  </a:lnTo>
                  <a:lnTo>
                    <a:pt x="218440" y="404621"/>
                  </a:lnTo>
                  <a:lnTo>
                    <a:pt x="173990" y="387857"/>
                  </a:lnTo>
                  <a:lnTo>
                    <a:pt x="129539" y="357377"/>
                  </a:lnTo>
                  <a:lnTo>
                    <a:pt x="118110" y="344423"/>
                  </a:lnTo>
                  <a:lnTo>
                    <a:pt x="111760" y="338327"/>
                  </a:lnTo>
                  <a:lnTo>
                    <a:pt x="106680" y="331469"/>
                  </a:lnTo>
                  <a:lnTo>
                    <a:pt x="102870" y="324611"/>
                  </a:lnTo>
                  <a:lnTo>
                    <a:pt x="97790" y="316991"/>
                  </a:lnTo>
                  <a:lnTo>
                    <a:pt x="93980" y="310133"/>
                  </a:lnTo>
                  <a:lnTo>
                    <a:pt x="90170" y="302513"/>
                  </a:lnTo>
                  <a:lnTo>
                    <a:pt x="87630" y="294893"/>
                  </a:lnTo>
                  <a:lnTo>
                    <a:pt x="85090" y="286511"/>
                  </a:lnTo>
                  <a:lnTo>
                    <a:pt x="82550" y="278891"/>
                  </a:lnTo>
                  <a:lnTo>
                    <a:pt x="80010" y="270509"/>
                  </a:lnTo>
                  <a:lnTo>
                    <a:pt x="77470" y="245363"/>
                  </a:lnTo>
                  <a:lnTo>
                    <a:pt x="77470" y="297941"/>
                  </a:lnTo>
                  <a:lnTo>
                    <a:pt x="99060" y="336803"/>
                  </a:lnTo>
                  <a:lnTo>
                    <a:pt x="129539" y="370331"/>
                  </a:lnTo>
                  <a:lnTo>
                    <a:pt x="168910" y="396239"/>
                  </a:lnTo>
                  <a:lnTo>
                    <a:pt x="179070" y="400049"/>
                  </a:lnTo>
                  <a:lnTo>
                    <a:pt x="186690" y="403859"/>
                  </a:lnTo>
                  <a:lnTo>
                    <a:pt x="226060" y="416051"/>
                  </a:lnTo>
                  <a:lnTo>
                    <a:pt x="266700" y="421385"/>
                  </a:lnTo>
                  <a:lnTo>
                    <a:pt x="288290" y="421385"/>
                  </a:lnTo>
                  <a:lnTo>
                    <a:pt x="298450" y="420623"/>
                  </a:lnTo>
                  <a:lnTo>
                    <a:pt x="308610" y="419099"/>
                  </a:lnTo>
                  <a:lnTo>
                    <a:pt x="320040" y="417575"/>
                  </a:lnTo>
                  <a:lnTo>
                    <a:pt x="358140" y="407669"/>
                  </a:lnTo>
                  <a:lnTo>
                    <a:pt x="393700" y="391667"/>
                  </a:lnTo>
                  <a:lnTo>
                    <a:pt x="401320" y="386333"/>
                  </a:lnTo>
                  <a:lnTo>
                    <a:pt x="410209" y="381761"/>
                  </a:lnTo>
                  <a:lnTo>
                    <a:pt x="417830" y="375665"/>
                  </a:lnTo>
                  <a:lnTo>
                    <a:pt x="424180" y="370331"/>
                  </a:lnTo>
                  <a:lnTo>
                    <a:pt x="431800" y="364235"/>
                  </a:lnTo>
                  <a:lnTo>
                    <a:pt x="444500" y="351281"/>
                  </a:lnTo>
                  <a:lnTo>
                    <a:pt x="450850" y="344423"/>
                  </a:lnTo>
                  <a:lnTo>
                    <a:pt x="455930" y="336803"/>
                  </a:lnTo>
                  <a:lnTo>
                    <a:pt x="461009" y="329945"/>
                  </a:lnTo>
                  <a:lnTo>
                    <a:pt x="466090" y="322325"/>
                  </a:lnTo>
                  <a:lnTo>
                    <a:pt x="469900" y="313943"/>
                  </a:lnTo>
                  <a:lnTo>
                    <a:pt x="473709" y="306323"/>
                  </a:lnTo>
                  <a:lnTo>
                    <a:pt x="476250" y="29961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object 89"/>
            <p:cNvSpPr/>
            <p:nvPr/>
          </p:nvSpPr>
          <p:spPr>
            <a:xfrm>
              <a:off x="5422392" y="3451860"/>
              <a:ext cx="2025650" cy="83185"/>
            </a:xfrm>
            <a:custGeom>
              <a:avLst/>
              <a:gdLst/>
              <a:ahLst/>
              <a:cxnLst/>
              <a:rect l="l" t="t" r="r" b="b"/>
              <a:pathLst>
                <a:path w="2025650" h="83185">
                  <a:moveTo>
                    <a:pt x="2025395" y="83058"/>
                  </a:moveTo>
                  <a:lnTo>
                    <a:pt x="2025395" y="0"/>
                  </a:lnTo>
                  <a:lnTo>
                    <a:pt x="0" y="0"/>
                  </a:lnTo>
                  <a:lnTo>
                    <a:pt x="0" y="83058"/>
                  </a:lnTo>
                  <a:lnTo>
                    <a:pt x="2025395" y="83058"/>
                  </a:lnTo>
                  <a:close/>
                </a:path>
              </a:pathLst>
            </a:custGeom>
            <a:solidFill>
              <a:srgbClr val="FFF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object 90"/>
            <p:cNvSpPr/>
            <p:nvPr/>
          </p:nvSpPr>
          <p:spPr>
            <a:xfrm>
              <a:off x="5402580" y="2154173"/>
              <a:ext cx="2049780" cy="1385570"/>
            </a:xfrm>
            <a:custGeom>
              <a:avLst/>
              <a:gdLst/>
              <a:ahLst/>
              <a:cxnLst/>
              <a:rect l="l" t="t" r="r" b="b"/>
              <a:pathLst>
                <a:path w="2049779" h="1385570">
                  <a:moveTo>
                    <a:pt x="114300" y="197358"/>
                  </a:moveTo>
                  <a:lnTo>
                    <a:pt x="76200" y="197358"/>
                  </a:lnTo>
                  <a:lnTo>
                    <a:pt x="76200" y="70307"/>
                  </a:lnTo>
                  <a:lnTo>
                    <a:pt x="83908" y="65151"/>
                  </a:lnTo>
                  <a:lnTo>
                    <a:pt x="92189" y="53060"/>
                  </a:lnTo>
                  <a:lnTo>
                    <a:pt x="95250" y="38100"/>
                  </a:lnTo>
                  <a:lnTo>
                    <a:pt x="92189" y="23152"/>
                  </a:lnTo>
                  <a:lnTo>
                    <a:pt x="83908" y="11049"/>
                  </a:lnTo>
                  <a:lnTo>
                    <a:pt x="71780" y="2959"/>
                  </a:lnTo>
                  <a:lnTo>
                    <a:pt x="57150" y="0"/>
                  </a:lnTo>
                  <a:lnTo>
                    <a:pt x="42189" y="2959"/>
                  </a:lnTo>
                  <a:lnTo>
                    <a:pt x="30099" y="11049"/>
                  </a:lnTo>
                  <a:lnTo>
                    <a:pt x="21996" y="23152"/>
                  </a:lnTo>
                  <a:lnTo>
                    <a:pt x="19050" y="38100"/>
                  </a:lnTo>
                  <a:lnTo>
                    <a:pt x="21996" y="53060"/>
                  </a:lnTo>
                  <a:lnTo>
                    <a:pt x="30099" y="65151"/>
                  </a:lnTo>
                  <a:lnTo>
                    <a:pt x="38100" y="70510"/>
                  </a:lnTo>
                  <a:lnTo>
                    <a:pt x="38100" y="197358"/>
                  </a:lnTo>
                  <a:lnTo>
                    <a:pt x="0" y="197358"/>
                  </a:lnTo>
                  <a:lnTo>
                    <a:pt x="38100" y="273558"/>
                  </a:lnTo>
                  <a:lnTo>
                    <a:pt x="57150" y="311658"/>
                  </a:lnTo>
                  <a:lnTo>
                    <a:pt x="76200" y="273558"/>
                  </a:lnTo>
                  <a:lnTo>
                    <a:pt x="114300" y="197358"/>
                  </a:lnTo>
                  <a:close/>
                </a:path>
                <a:path w="2049779" h="1385570">
                  <a:moveTo>
                    <a:pt x="2049780" y="1295400"/>
                  </a:moveTo>
                  <a:lnTo>
                    <a:pt x="2047494" y="1293114"/>
                  </a:lnTo>
                  <a:lnTo>
                    <a:pt x="2040636" y="1293114"/>
                  </a:lnTo>
                  <a:lnTo>
                    <a:pt x="2040636" y="1303020"/>
                  </a:lnTo>
                  <a:lnTo>
                    <a:pt x="2040636" y="1376172"/>
                  </a:lnTo>
                  <a:lnTo>
                    <a:pt x="25146" y="1376172"/>
                  </a:lnTo>
                  <a:lnTo>
                    <a:pt x="25146" y="1303020"/>
                  </a:lnTo>
                  <a:lnTo>
                    <a:pt x="2040636" y="1303020"/>
                  </a:lnTo>
                  <a:lnTo>
                    <a:pt x="2040636" y="1293114"/>
                  </a:lnTo>
                  <a:lnTo>
                    <a:pt x="17526" y="1293114"/>
                  </a:lnTo>
                  <a:lnTo>
                    <a:pt x="15240" y="1295400"/>
                  </a:lnTo>
                  <a:lnTo>
                    <a:pt x="15240" y="1383030"/>
                  </a:lnTo>
                  <a:lnTo>
                    <a:pt x="17526" y="1385316"/>
                  </a:lnTo>
                  <a:lnTo>
                    <a:pt x="19812" y="1385316"/>
                  </a:lnTo>
                  <a:lnTo>
                    <a:pt x="25146" y="1385316"/>
                  </a:lnTo>
                  <a:lnTo>
                    <a:pt x="2040636" y="1385316"/>
                  </a:lnTo>
                  <a:lnTo>
                    <a:pt x="2045208" y="1385316"/>
                  </a:lnTo>
                  <a:lnTo>
                    <a:pt x="2047494" y="1385316"/>
                  </a:lnTo>
                  <a:lnTo>
                    <a:pt x="2049780" y="1383030"/>
                  </a:lnTo>
                  <a:lnTo>
                    <a:pt x="2049780" y="12954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object 103"/>
            <p:cNvSpPr/>
            <p:nvPr/>
          </p:nvSpPr>
          <p:spPr>
            <a:xfrm>
              <a:off x="4249673" y="2164841"/>
              <a:ext cx="690880" cy="114300"/>
            </a:xfrm>
            <a:custGeom>
              <a:avLst/>
              <a:gdLst/>
              <a:ahLst/>
              <a:cxnLst/>
              <a:rect l="l" t="t" r="r" b="b"/>
              <a:pathLst>
                <a:path w="690879" h="114300">
                  <a:moveTo>
                    <a:pt x="114300" y="38100"/>
                  </a:moveTo>
                  <a:lnTo>
                    <a:pt x="114300" y="0"/>
                  </a:lnTo>
                  <a:lnTo>
                    <a:pt x="0" y="57150"/>
                  </a:lnTo>
                  <a:lnTo>
                    <a:pt x="95250" y="104775"/>
                  </a:lnTo>
                  <a:lnTo>
                    <a:pt x="95250" y="38100"/>
                  </a:lnTo>
                  <a:lnTo>
                    <a:pt x="114300" y="38100"/>
                  </a:lnTo>
                  <a:close/>
                </a:path>
                <a:path w="690879" h="114300">
                  <a:moveTo>
                    <a:pt x="595122" y="76200"/>
                  </a:moveTo>
                  <a:lnTo>
                    <a:pt x="595122" y="38100"/>
                  </a:lnTo>
                  <a:lnTo>
                    <a:pt x="95250" y="38100"/>
                  </a:lnTo>
                  <a:lnTo>
                    <a:pt x="95250" y="76200"/>
                  </a:lnTo>
                  <a:lnTo>
                    <a:pt x="595122" y="76200"/>
                  </a:lnTo>
                  <a:close/>
                </a:path>
                <a:path w="690879" h="114300">
                  <a:moveTo>
                    <a:pt x="114300" y="114300"/>
                  </a:moveTo>
                  <a:lnTo>
                    <a:pt x="114300" y="76200"/>
                  </a:lnTo>
                  <a:lnTo>
                    <a:pt x="95250" y="76200"/>
                  </a:lnTo>
                  <a:lnTo>
                    <a:pt x="95250" y="104775"/>
                  </a:lnTo>
                  <a:lnTo>
                    <a:pt x="114300" y="114300"/>
                  </a:lnTo>
                  <a:close/>
                </a:path>
                <a:path w="690879" h="114300">
                  <a:moveTo>
                    <a:pt x="690372" y="57150"/>
                  </a:moveTo>
                  <a:lnTo>
                    <a:pt x="576072" y="0"/>
                  </a:lnTo>
                  <a:lnTo>
                    <a:pt x="576072" y="38100"/>
                  </a:lnTo>
                  <a:lnTo>
                    <a:pt x="595122" y="38100"/>
                  </a:lnTo>
                  <a:lnTo>
                    <a:pt x="595122" y="104775"/>
                  </a:lnTo>
                  <a:lnTo>
                    <a:pt x="690372" y="57150"/>
                  </a:lnTo>
                  <a:close/>
                </a:path>
                <a:path w="690879" h="114300">
                  <a:moveTo>
                    <a:pt x="595122" y="104775"/>
                  </a:moveTo>
                  <a:lnTo>
                    <a:pt x="595122" y="76200"/>
                  </a:lnTo>
                  <a:lnTo>
                    <a:pt x="576072" y="76200"/>
                  </a:lnTo>
                  <a:lnTo>
                    <a:pt x="576072" y="114300"/>
                  </a:lnTo>
                  <a:lnTo>
                    <a:pt x="595122" y="10477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4" name="object 104"/>
            <p:cNvPicPr/>
            <p:nvPr/>
          </p:nvPicPr>
          <p:blipFill>
            <a:blip r:embed="rId7" cstate="print"/>
            <a:stretch>
              <a:fillRect/>
            </a:stretch>
          </p:blipFill>
          <p:spPr>
            <a:xfrm>
              <a:off x="5099303" y="2514600"/>
              <a:ext cx="2445257" cy="935736"/>
            </a:xfrm>
            <a:prstGeom prst="rect">
              <a:avLst/>
            </a:prstGeom>
          </p:spPr>
        </p:pic>
        <p:sp>
          <p:nvSpPr>
            <p:cNvPr id="105" name="object 105"/>
            <p:cNvSpPr/>
            <p:nvPr/>
          </p:nvSpPr>
          <p:spPr>
            <a:xfrm>
              <a:off x="7355586" y="3047237"/>
              <a:ext cx="55244" cy="337820"/>
            </a:xfrm>
            <a:custGeom>
              <a:avLst/>
              <a:gdLst/>
              <a:ahLst/>
              <a:cxnLst/>
              <a:rect l="l" t="t" r="r" b="b"/>
              <a:pathLst>
                <a:path w="55245" h="337820">
                  <a:moveTo>
                    <a:pt x="54864" y="0"/>
                  </a:moveTo>
                  <a:lnTo>
                    <a:pt x="54089" y="0"/>
                  </a:lnTo>
                  <a:lnTo>
                    <a:pt x="762" y="0"/>
                  </a:lnTo>
                  <a:lnTo>
                    <a:pt x="0" y="0"/>
                  </a:lnTo>
                  <a:lnTo>
                    <a:pt x="0" y="135636"/>
                  </a:lnTo>
                  <a:lnTo>
                    <a:pt x="0" y="337566"/>
                  </a:lnTo>
                  <a:lnTo>
                    <a:pt x="762" y="337566"/>
                  </a:lnTo>
                  <a:lnTo>
                    <a:pt x="54089" y="337566"/>
                  </a:lnTo>
                  <a:lnTo>
                    <a:pt x="54864" y="337566"/>
                  </a:lnTo>
                  <a:lnTo>
                    <a:pt x="54864" y="0"/>
                  </a:lnTo>
                  <a:close/>
                </a:path>
              </a:pathLst>
            </a:custGeom>
            <a:solidFill>
              <a:srgbClr val="00AF4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object 106"/>
            <p:cNvSpPr/>
            <p:nvPr/>
          </p:nvSpPr>
          <p:spPr>
            <a:xfrm>
              <a:off x="4895849" y="1771650"/>
              <a:ext cx="2799715" cy="2194560"/>
            </a:xfrm>
            <a:custGeom>
              <a:avLst/>
              <a:gdLst/>
              <a:ahLst/>
              <a:cxnLst/>
              <a:rect l="l" t="t" r="r" b="b"/>
              <a:pathLst>
                <a:path w="2799715" h="2194560">
                  <a:moveTo>
                    <a:pt x="38100" y="2175510"/>
                  </a:moveTo>
                  <a:lnTo>
                    <a:pt x="38100" y="2023110"/>
                  </a:lnTo>
                  <a:lnTo>
                    <a:pt x="0" y="2023110"/>
                  </a:lnTo>
                  <a:lnTo>
                    <a:pt x="0" y="2175510"/>
                  </a:lnTo>
                  <a:lnTo>
                    <a:pt x="38100" y="2175510"/>
                  </a:lnTo>
                  <a:close/>
                </a:path>
                <a:path w="2799715" h="2194560">
                  <a:moveTo>
                    <a:pt x="38100" y="1908810"/>
                  </a:moveTo>
                  <a:lnTo>
                    <a:pt x="38100" y="1756410"/>
                  </a:lnTo>
                  <a:lnTo>
                    <a:pt x="0" y="1756410"/>
                  </a:lnTo>
                  <a:lnTo>
                    <a:pt x="0" y="1908810"/>
                  </a:lnTo>
                  <a:lnTo>
                    <a:pt x="38100" y="1908810"/>
                  </a:lnTo>
                  <a:close/>
                </a:path>
                <a:path w="2799715" h="2194560">
                  <a:moveTo>
                    <a:pt x="38100" y="1642110"/>
                  </a:moveTo>
                  <a:lnTo>
                    <a:pt x="38100" y="1489710"/>
                  </a:lnTo>
                  <a:lnTo>
                    <a:pt x="0" y="1489710"/>
                  </a:lnTo>
                  <a:lnTo>
                    <a:pt x="0" y="1642110"/>
                  </a:lnTo>
                  <a:lnTo>
                    <a:pt x="38100" y="1642110"/>
                  </a:lnTo>
                  <a:close/>
                </a:path>
                <a:path w="2799715" h="2194560">
                  <a:moveTo>
                    <a:pt x="38100" y="1375409"/>
                  </a:moveTo>
                  <a:lnTo>
                    <a:pt x="38100" y="1223009"/>
                  </a:lnTo>
                  <a:lnTo>
                    <a:pt x="0" y="1223009"/>
                  </a:lnTo>
                  <a:lnTo>
                    <a:pt x="0" y="1375409"/>
                  </a:lnTo>
                  <a:lnTo>
                    <a:pt x="38100" y="1375409"/>
                  </a:lnTo>
                  <a:close/>
                </a:path>
                <a:path w="2799715" h="2194560">
                  <a:moveTo>
                    <a:pt x="38100" y="1108709"/>
                  </a:moveTo>
                  <a:lnTo>
                    <a:pt x="38100" y="956309"/>
                  </a:lnTo>
                  <a:lnTo>
                    <a:pt x="0" y="956309"/>
                  </a:lnTo>
                  <a:lnTo>
                    <a:pt x="0" y="1108709"/>
                  </a:lnTo>
                  <a:lnTo>
                    <a:pt x="38100" y="1108709"/>
                  </a:lnTo>
                  <a:close/>
                </a:path>
                <a:path w="2799715" h="2194560">
                  <a:moveTo>
                    <a:pt x="38100" y="842009"/>
                  </a:moveTo>
                  <a:lnTo>
                    <a:pt x="38100" y="689609"/>
                  </a:lnTo>
                  <a:lnTo>
                    <a:pt x="0" y="689609"/>
                  </a:lnTo>
                  <a:lnTo>
                    <a:pt x="0" y="842009"/>
                  </a:lnTo>
                  <a:lnTo>
                    <a:pt x="38100" y="842009"/>
                  </a:lnTo>
                  <a:close/>
                </a:path>
                <a:path w="2799715" h="2194560">
                  <a:moveTo>
                    <a:pt x="38100" y="575309"/>
                  </a:moveTo>
                  <a:lnTo>
                    <a:pt x="38100" y="422909"/>
                  </a:lnTo>
                  <a:lnTo>
                    <a:pt x="0" y="422909"/>
                  </a:lnTo>
                  <a:lnTo>
                    <a:pt x="0" y="575309"/>
                  </a:lnTo>
                  <a:lnTo>
                    <a:pt x="38100" y="575309"/>
                  </a:lnTo>
                  <a:close/>
                </a:path>
                <a:path w="2799715" h="2194560">
                  <a:moveTo>
                    <a:pt x="38100" y="308609"/>
                  </a:moveTo>
                  <a:lnTo>
                    <a:pt x="38100" y="156209"/>
                  </a:lnTo>
                  <a:lnTo>
                    <a:pt x="0" y="156209"/>
                  </a:lnTo>
                  <a:lnTo>
                    <a:pt x="0" y="308609"/>
                  </a:lnTo>
                  <a:lnTo>
                    <a:pt x="38100" y="308609"/>
                  </a:lnTo>
                  <a:close/>
                </a:path>
                <a:path w="2799715" h="2194560">
                  <a:moveTo>
                    <a:pt x="147827" y="38099"/>
                  </a:moveTo>
                  <a:lnTo>
                    <a:pt x="147827" y="0"/>
                  </a:lnTo>
                  <a:lnTo>
                    <a:pt x="0" y="0"/>
                  </a:lnTo>
                  <a:lnTo>
                    <a:pt x="0" y="41909"/>
                  </a:lnTo>
                  <a:lnTo>
                    <a:pt x="19050" y="41909"/>
                  </a:lnTo>
                  <a:lnTo>
                    <a:pt x="19050" y="38099"/>
                  </a:lnTo>
                  <a:lnTo>
                    <a:pt x="38100" y="19049"/>
                  </a:lnTo>
                  <a:lnTo>
                    <a:pt x="38100" y="38099"/>
                  </a:lnTo>
                  <a:lnTo>
                    <a:pt x="147827" y="38099"/>
                  </a:lnTo>
                  <a:close/>
                </a:path>
                <a:path w="2799715" h="2194560">
                  <a:moveTo>
                    <a:pt x="38100" y="38099"/>
                  </a:moveTo>
                  <a:lnTo>
                    <a:pt x="38100" y="19049"/>
                  </a:lnTo>
                  <a:lnTo>
                    <a:pt x="19050" y="38099"/>
                  </a:lnTo>
                  <a:lnTo>
                    <a:pt x="38100" y="38099"/>
                  </a:lnTo>
                  <a:close/>
                </a:path>
                <a:path w="2799715" h="2194560">
                  <a:moveTo>
                    <a:pt x="38100" y="41909"/>
                  </a:moveTo>
                  <a:lnTo>
                    <a:pt x="38100" y="38099"/>
                  </a:lnTo>
                  <a:lnTo>
                    <a:pt x="19050" y="38099"/>
                  </a:lnTo>
                  <a:lnTo>
                    <a:pt x="19050" y="41909"/>
                  </a:lnTo>
                  <a:lnTo>
                    <a:pt x="38100" y="41909"/>
                  </a:lnTo>
                  <a:close/>
                </a:path>
                <a:path w="2799715" h="2194560">
                  <a:moveTo>
                    <a:pt x="414527" y="38099"/>
                  </a:moveTo>
                  <a:lnTo>
                    <a:pt x="414527" y="0"/>
                  </a:lnTo>
                  <a:lnTo>
                    <a:pt x="262127" y="0"/>
                  </a:lnTo>
                  <a:lnTo>
                    <a:pt x="262127" y="38099"/>
                  </a:lnTo>
                  <a:lnTo>
                    <a:pt x="414527" y="38099"/>
                  </a:lnTo>
                  <a:close/>
                </a:path>
                <a:path w="2799715" h="2194560">
                  <a:moveTo>
                    <a:pt x="681227" y="38099"/>
                  </a:moveTo>
                  <a:lnTo>
                    <a:pt x="681227" y="0"/>
                  </a:lnTo>
                  <a:lnTo>
                    <a:pt x="528827" y="0"/>
                  </a:lnTo>
                  <a:lnTo>
                    <a:pt x="528827" y="38099"/>
                  </a:lnTo>
                  <a:lnTo>
                    <a:pt x="681227" y="38099"/>
                  </a:lnTo>
                  <a:close/>
                </a:path>
                <a:path w="2799715" h="2194560">
                  <a:moveTo>
                    <a:pt x="947927" y="38099"/>
                  </a:moveTo>
                  <a:lnTo>
                    <a:pt x="947927" y="0"/>
                  </a:lnTo>
                  <a:lnTo>
                    <a:pt x="795527" y="0"/>
                  </a:lnTo>
                  <a:lnTo>
                    <a:pt x="795527" y="38099"/>
                  </a:lnTo>
                  <a:lnTo>
                    <a:pt x="947927" y="38099"/>
                  </a:lnTo>
                  <a:close/>
                </a:path>
                <a:path w="2799715" h="2194560">
                  <a:moveTo>
                    <a:pt x="1214627" y="38099"/>
                  </a:moveTo>
                  <a:lnTo>
                    <a:pt x="1214627" y="0"/>
                  </a:lnTo>
                  <a:lnTo>
                    <a:pt x="1062227" y="0"/>
                  </a:lnTo>
                  <a:lnTo>
                    <a:pt x="1062227" y="38099"/>
                  </a:lnTo>
                  <a:lnTo>
                    <a:pt x="1214627" y="38099"/>
                  </a:lnTo>
                  <a:close/>
                </a:path>
                <a:path w="2799715" h="2194560">
                  <a:moveTo>
                    <a:pt x="1481327" y="38099"/>
                  </a:moveTo>
                  <a:lnTo>
                    <a:pt x="1481327" y="0"/>
                  </a:lnTo>
                  <a:lnTo>
                    <a:pt x="1328927" y="0"/>
                  </a:lnTo>
                  <a:lnTo>
                    <a:pt x="1328927" y="38099"/>
                  </a:lnTo>
                  <a:lnTo>
                    <a:pt x="1481327" y="38099"/>
                  </a:lnTo>
                  <a:close/>
                </a:path>
                <a:path w="2799715" h="2194560">
                  <a:moveTo>
                    <a:pt x="1748027" y="38099"/>
                  </a:moveTo>
                  <a:lnTo>
                    <a:pt x="1748027" y="0"/>
                  </a:lnTo>
                  <a:lnTo>
                    <a:pt x="1595627" y="0"/>
                  </a:lnTo>
                  <a:lnTo>
                    <a:pt x="1595627" y="38099"/>
                  </a:lnTo>
                  <a:lnTo>
                    <a:pt x="1748027" y="38099"/>
                  </a:lnTo>
                  <a:close/>
                </a:path>
                <a:path w="2799715" h="2194560">
                  <a:moveTo>
                    <a:pt x="2014727" y="38099"/>
                  </a:moveTo>
                  <a:lnTo>
                    <a:pt x="2014727" y="0"/>
                  </a:lnTo>
                  <a:lnTo>
                    <a:pt x="1862327" y="0"/>
                  </a:lnTo>
                  <a:lnTo>
                    <a:pt x="1862327" y="38099"/>
                  </a:lnTo>
                  <a:lnTo>
                    <a:pt x="2014727" y="38099"/>
                  </a:lnTo>
                  <a:close/>
                </a:path>
                <a:path w="2799715" h="2194560">
                  <a:moveTo>
                    <a:pt x="2281428" y="38099"/>
                  </a:moveTo>
                  <a:lnTo>
                    <a:pt x="2281428" y="0"/>
                  </a:lnTo>
                  <a:lnTo>
                    <a:pt x="2129028" y="0"/>
                  </a:lnTo>
                  <a:lnTo>
                    <a:pt x="2129028" y="38099"/>
                  </a:lnTo>
                  <a:lnTo>
                    <a:pt x="2281428" y="38099"/>
                  </a:lnTo>
                  <a:close/>
                </a:path>
                <a:path w="2799715" h="2194560">
                  <a:moveTo>
                    <a:pt x="2548128" y="38099"/>
                  </a:moveTo>
                  <a:lnTo>
                    <a:pt x="2548128" y="0"/>
                  </a:lnTo>
                  <a:lnTo>
                    <a:pt x="2395728" y="0"/>
                  </a:lnTo>
                  <a:lnTo>
                    <a:pt x="2395728" y="38099"/>
                  </a:lnTo>
                  <a:lnTo>
                    <a:pt x="2548128" y="38099"/>
                  </a:lnTo>
                  <a:close/>
                </a:path>
                <a:path w="2799715" h="2194560">
                  <a:moveTo>
                    <a:pt x="2799588" y="53339"/>
                  </a:moveTo>
                  <a:lnTo>
                    <a:pt x="2799588" y="0"/>
                  </a:lnTo>
                  <a:lnTo>
                    <a:pt x="2662428" y="0"/>
                  </a:lnTo>
                  <a:lnTo>
                    <a:pt x="2662428" y="38099"/>
                  </a:lnTo>
                  <a:lnTo>
                    <a:pt x="2761488" y="38099"/>
                  </a:lnTo>
                  <a:lnTo>
                    <a:pt x="2761488" y="19049"/>
                  </a:lnTo>
                  <a:lnTo>
                    <a:pt x="2780538" y="38099"/>
                  </a:lnTo>
                  <a:lnTo>
                    <a:pt x="2780538" y="53339"/>
                  </a:lnTo>
                  <a:lnTo>
                    <a:pt x="2799588" y="53339"/>
                  </a:lnTo>
                  <a:close/>
                </a:path>
                <a:path w="2799715" h="2194560">
                  <a:moveTo>
                    <a:pt x="2780538" y="38099"/>
                  </a:moveTo>
                  <a:lnTo>
                    <a:pt x="2761488" y="19049"/>
                  </a:lnTo>
                  <a:lnTo>
                    <a:pt x="2761488" y="38099"/>
                  </a:lnTo>
                  <a:lnTo>
                    <a:pt x="2780538" y="38099"/>
                  </a:lnTo>
                  <a:close/>
                </a:path>
                <a:path w="2799715" h="2194560">
                  <a:moveTo>
                    <a:pt x="2780538" y="53339"/>
                  </a:moveTo>
                  <a:lnTo>
                    <a:pt x="2780538" y="38099"/>
                  </a:lnTo>
                  <a:lnTo>
                    <a:pt x="2761488" y="38099"/>
                  </a:lnTo>
                  <a:lnTo>
                    <a:pt x="2761488" y="53339"/>
                  </a:lnTo>
                  <a:lnTo>
                    <a:pt x="2780538" y="53339"/>
                  </a:lnTo>
                  <a:close/>
                </a:path>
                <a:path w="2799715" h="2194560">
                  <a:moveTo>
                    <a:pt x="2799588" y="320039"/>
                  </a:moveTo>
                  <a:lnTo>
                    <a:pt x="2799588" y="167639"/>
                  </a:lnTo>
                  <a:lnTo>
                    <a:pt x="2761488" y="167639"/>
                  </a:lnTo>
                  <a:lnTo>
                    <a:pt x="2761488" y="320039"/>
                  </a:lnTo>
                  <a:lnTo>
                    <a:pt x="2799588" y="320039"/>
                  </a:lnTo>
                  <a:close/>
                </a:path>
                <a:path w="2799715" h="2194560">
                  <a:moveTo>
                    <a:pt x="2799588" y="586739"/>
                  </a:moveTo>
                  <a:lnTo>
                    <a:pt x="2799588" y="434339"/>
                  </a:lnTo>
                  <a:lnTo>
                    <a:pt x="2761488" y="434339"/>
                  </a:lnTo>
                  <a:lnTo>
                    <a:pt x="2761488" y="586739"/>
                  </a:lnTo>
                  <a:lnTo>
                    <a:pt x="2799588" y="586739"/>
                  </a:lnTo>
                  <a:close/>
                </a:path>
                <a:path w="2799715" h="2194560">
                  <a:moveTo>
                    <a:pt x="2799588" y="853439"/>
                  </a:moveTo>
                  <a:lnTo>
                    <a:pt x="2799588" y="701039"/>
                  </a:lnTo>
                  <a:lnTo>
                    <a:pt x="2761488" y="701039"/>
                  </a:lnTo>
                  <a:lnTo>
                    <a:pt x="2761488" y="853439"/>
                  </a:lnTo>
                  <a:lnTo>
                    <a:pt x="2799588" y="853439"/>
                  </a:lnTo>
                  <a:close/>
                </a:path>
                <a:path w="2799715" h="2194560">
                  <a:moveTo>
                    <a:pt x="2799588" y="1120139"/>
                  </a:moveTo>
                  <a:lnTo>
                    <a:pt x="2799588" y="967739"/>
                  </a:lnTo>
                  <a:lnTo>
                    <a:pt x="2761488" y="967739"/>
                  </a:lnTo>
                  <a:lnTo>
                    <a:pt x="2761488" y="1120139"/>
                  </a:lnTo>
                  <a:lnTo>
                    <a:pt x="2799588" y="1120139"/>
                  </a:lnTo>
                  <a:close/>
                </a:path>
                <a:path w="2799715" h="2194560">
                  <a:moveTo>
                    <a:pt x="2799588" y="1386839"/>
                  </a:moveTo>
                  <a:lnTo>
                    <a:pt x="2799588" y="1234439"/>
                  </a:lnTo>
                  <a:lnTo>
                    <a:pt x="2761488" y="1234439"/>
                  </a:lnTo>
                  <a:lnTo>
                    <a:pt x="2761488" y="1386839"/>
                  </a:lnTo>
                  <a:lnTo>
                    <a:pt x="2799588" y="1386839"/>
                  </a:lnTo>
                  <a:close/>
                </a:path>
                <a:path w="2799715" h="2194560">
                  <a:moveTo>
                    <a:pt x="2799588" y="1653539"/>
                  </a:moveTo>
                  <a:lnTo>
                    <a:pt x="2799588" y="1501139"/>
                  </a:lnTo>
                  <a:lnTo>
                    <a:pt x="2761488" y="1501139"/>
                  </a:lnTo>
                  <a:lnTo>
                    <a:pt x="2761488" y="1653539"/>
                  </a:lnTo>
                  <a:lnTo>
                    <a:pt x="2799588" y="1653539"/>
                  </a:lnTo>
                  <a:close/>
                </a:path>
                <a:path w="2799715" h="2194560">
                  <a:moveTo>
                    <a:pt x="2799588" y="1920239"/>
                  </a:moveTo>
                  <a:lnTo>
                    <a:pt x="2799588" y="1767839"/>
                  </a:lnTo>
                  <a:lnTo>
                    <a:pt x="2761488" y="1767839"/>
                  </a:lnTo>
                  <a:lnTo>
                    <a:pt x="2761488" y="1920239"/>
                  </a:lnTo>
                  <a:lnTo>
                    <a:pt x="2799588" y="1920239"/>
                  </a:lnTo>
                  <a:close/>
                </a:path>
                <a:path w="2799715" h="2194560">
                  <a:moveTo>
                    <a:pt x="2799588" y="2194559"/>
                  </a:moveTo>
                  <a:lnTo>
                    <a:pt x="2799588" y="2034539"/>
                  </a:lnTo>
                  <a:lnTo>
                    <a:pt x="2761488" y="2034539"/>
                  </a:lnTo>
                  <a:lnTo>
                    <a:pt x="2761488" y="2175509"/>
                  </a:lnTo>
                  <a:lnTo>
                    <a:pt x="2769870" y="2167128"/>
                  </a:lnTo>
                  <a:lnTo>
                    <a:pt x="2769870" y="2156459"/>
                  </a:lnTo>
                  <a:lnTo>
                    <a:pt x="2780538" y="2156459"/>
                  </a:lnTo>
                  <a:lnTo>
                    <a:pt x="2780538" y="2194559"/>
                  </a:lnTo>
                  <a:lnTo>
                    <a:pt x="2799588" y="2194559"/>
                  </a:lnTo>
                  <a:close/>
                </a:path>
                <a:path w="2799715" h="2194560">
                  <a:moveTo>
                    <a:pt x="2780538" y="2156459"/>
                  </a:moveTo>
                  <a:lnTo>
                    <a:pt x="2769870" y="2156459"/>
                  </a:lnTo>
                  <a:lnTo>
                    <a:pt x="2769870" y="2167128"/>
                  </a:lnTo>
                  <a:lnTo>
                    <a:pt x="2780538" y="2156459"/>
                  </a:lnTo>
                  <a:close/>
                </a:path>
                <a:path w="2799715" h="2194560">
                  <a:moveTo>
                    <a:pt x="2780538" y="2194559"/>
                  </a:moveTo>
                  <a:lnTo>
                    <a:pt x="2780538" y="2156459"/>
                  </a:lnTo>
                  <a:lnTo>
                    <a:pt x="2769870" y="2167128"/>
                  </a:lnTo>
                  <a:lnTo>
                    <a:pt x="2769870" y="2194559"/>
                  </a:lnTo>
                  <a:lnTo>
                    <a:pt x="2780538" y="2194559"/>
                  </a:lnTo>
                  <a:close/>
                </a:path>
                <a:path w="2799715" h="2194560">
                  <a:moveTo>
                    <a:pt x="2655570" y="2194559"/>
                  </a:moveTo>
                  <a:lnTo>
                    <a:pt x="2655570" y="2156459"/>
                  </a:lnTo>
                  <a:lnTo>
                    <a:pt x="2503170" y="2156459"/>
                  </a:lnTo>
                  <a:lnTo>
                    <a:pt x="2503170" y="2194559"/>
                  </a:lnTo>
                  <a:lnTo>
                    <a:pt x="2655570" y="2194559"/>
                  </a:lnTo>
                  <a:close/>
                </a:path>
                <a:path w="2799715" h="2194560">
                  <a:moveTo>
                    <a:pt x="2388870" y="2194559"/>
                  </a:moveTo>
                  <a:lnTo>
                    <a:pt x="2388870" y="2156459"/>
                  </a:lnTo>
                  <a:lnTo>
                    <a:pt x="2236470" y="2156459"/>
                  </a:lnTo>
                  <a:lnTo>
                    <a:pt x="2236470" y="2194559"/>
                  </a:lnTo>
                  <a:lnTo>
                    <a:pt x="2388870" y="2194559"/>
                  </a:lnTo>
                  <a:close/>
                </a:path>
                <a:path w="2799715" h="2194560">
                  <a:moveTo>
                    <a:pt x="2122170" y="2194559"/>
                  </a:moveTo>
                  <a:lnTo>
                    <a:pt x="2122170" y="2156459"/>
                  </a:lnTo>
                  <a:lnTo>
                    <a:pt x="1969770" y="2156459"/>
                  </a:lnTo>
                  <a:lnTo>
                    <a:pt x="1969770" y="2194559"/>
                  </a:lnTo>
                  <a:lnTo>
                    <a:pt x="2122170" y="2194559"/>
                  </a:lnTo>
                  <a:close/>
                </a:path>
                <a:path w="2799715" h="2194560">
                  <a:moveTo>
                    <a:pt x="1855470" y="2194559"/>
                  </a:moveTo>
                  <a:lnTo>
                    <a:pt x="1855470" y="2156459"/>
                  </a:lnTo>
                  <a:lnTo>
                    <a:pt x="1703070" y="2156459"/>
                  </a:lnTo>
                  <a:lnTo>
                    <a:pt x="1703070" y="2194559"/>
                  </a:lnTo>
                  <a:lnTo>
                    <a:pt x="1855470" y="2194559"/>
                  </a:lnTo>
                  <a:close/>
                </a:path>
                <a:path w="2799715" h="2194560">
                  <a:moveTo>
                    <a:pt x="1588770" y="2194559"/>
                  </a:moveTo>
                  <a:lnTo>
                    <a:pt x="1588770" y="2156459"/>
                  </a:lnTo>
                  <a:lnTo>
                    <a:pt x="1436370" y="2156459"/>
                  </a:lnTo>
                  <a:lnTo>
                    <a:pt x="1436370" y="2194559"/>
                  </a:lnTo>
                  <a:lnTo>
                    <a:pt x="1588770" y="2194559"/>
                  </a:lnTo>
                  <a:close/>
                </a:path>
                <a:path w="2799715" h="2194560">
                  <a:moveTo>
                    <a:pt x="1322070" y="2194559"/>
                  </a:moveTo>
                  <a:lnTo>
                    <a:pt x="1322070" y="2156459"/>
                  </a:lnTo>
                  <a:lnTo>
                    <a:pt x="1169670" y="2156459"/>
                  </a:lnTo>
                  <a:lnTo>
                    <a:pt x="1169670" y="2194559"/>
                  </a:lnTo>
                  <a:lnTo>
                    <a:pt x="1322070" y="2194559"/>
                  </a:lnTo>
                  <a:close/>
                </a:path>
                <a:path w="2799715" h="2194560">
                  <a:moveTo>
                    <a:pt x="1055370" y="2194559"/>
                  </a:moveTo>
                  <a:lnTo>
                    <a:pt x="1055370" y="2156459"/>
                  </a:lnTo>
                  <a:lnTo>
                    <a:pt x="902970" y="2156460"/>
                  </a:lnTo>
                  <a:lnTo>
                    <a:pt x="902970" y="2194560"/>
                  </a:lnTo>
                  <a:lnTo>
                    <a:pt x="1055370" y="2194559"/>
                  </a:lnTo>
                  <a:close/>
                </a:path>
                <a:path w="2799715" h="2194560">
                  <a:moveTo>
                    <a:pt x="788670" y="2194560"/>
                  </a:moveTo>
                  <a:lnTo>
                    <a:pt x="788670" y="2156460"/>
                  </a:lnTo>
                  <a:lnTo>
                    <a:pt x="636270" y="2156460"/>
                  </a:lnTo>
                  <a:lnTo>
                    <a:pt x="636270" y="2194560"/>
                  </a:lnTo>
                  <a:lnTo>
                    <a:pt x="788670" y="2194560"/>
                  </a:lnTo>
                  <a:close/>
                </a:path>
                <a:path w="2799715" h="2194560">
                  <a:moveTo>
                    <a:pt x="521970" y="2194560"/>
                  </a:moveTo>
                  <a:lnTo>
                    <a:pt x="521970" y="2156460"/>
                  </a:lnTo>
                  <a:lnTo>
                    <a:pt x="369570" y="2156460"/>
                  </a:lnTo>
                  <a:lnTo>
                    <a:pt x="369570" y="2194560"/>
                  </a:lnTo>
                  <a:lnTo>
                    <a:pt x="521970" y="2194560"/>
                  </a:lnTo>
                  <a:close/>
                </a:path>
                <a:path w="2799715" h="2194560">
                  <a:moveTo>
                    <a:pt x="255270" y="2194560"/>
                  </a:moveTo>
                  <a:lnTo>
                    <a:pt x="255270" y="2156460"/>
                  </a:lnTo>
                  <a:lnTo>
                    <a:pt x="102870" y="2156460"/>
                  </a:lnTo>
                  <a:lnTo>
                    <a:pt x="102870" y="2194560"/>
                  </a:lnTo>
                  <a:lnTo>
                    <a:pt x="255270" y="2194560"/>
                  </a:lnTo>
                  <a:close/>
                </a:path>
              </a:pathLst>
            </a:custGeom>
            <a:solidFill>
              <a:srgbClr val="DC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bject 107"/>
            <p:cNvSpPr/>
            <p:nvPr/>
          </p:nvSpPr>
          <p:spPr>
            <a:xfrm>
              <a:off x="5311902" y="2631185"/>
              <a:ext cx="311785" cy="730885"/>
            </a:xfrm>
            <a:custGeom>
              <a:avLst/>
              <a:gdLst/>
              <a:ahLst/>
              <a:cxnLst/>
              <a:rect l="l" t="t" r="r" b="b"/>
              <a:pathLst>
                <a:path w="311785" h="730885">
                  <a:moveTo>
                    <a:pt x="311658" y="227838"/>
                  </a:moveTo>
                  <a:lnTo>
                    <a:pt x="309372" y="222504"/>
                  </a:lnTo>
                  <a:lnTo>
                    <a:pt x="304800" y="218694"/>
                  </a:lnTo>
                  <a:lnTo>
                    <a:pt x="273558" y="192963"/>
                  </a:lnTo>
                  <a:lnTo>
                    <a:pt x="273558" y="242176"/>
                  </a:lnTo>
                  <a:lnTo>
                    <a:pt x="273558" y="411619"/>
                  </a:lnTo>
                  <a:lnTo>
                    <a:pt x="158267" y="505828"/>
                  </a:lnTo>
                  <a:lnTo>
                    <a:pt x="38100" y="414959"/>
                  </a:lnTo>
                  <a:lnTo>
                    <a:pt x="38100" y="247459"/>
                  </a:lnTo>
                  <a:lnTo>
                    <a:pt x="136398" y="173736"/>
                  </a:lnTo>
                  <a:lnTo>
                    <a:pt x="144780" y="167449"/>
                  </a:lnTo>
                  <a:lnTo>
                    <a:pt x="164350" y="152768"/>
                  </a:lnTo>
                  <a:lnTo>
                    <a:pt x="183642" y="168554"/>
                  </a:lnTo>
                  <a:lnTo>
                    <a:pt x="190500" y="174180"/>
                  </a:lnTo>
                  <a:lnTo>
                    <a:pt x="273558" y="242176"/>
                  </a:lnTo>
                  <a:lnTo>
                    <a:pt x="273558" y="192963"/>
                  </a:lnTo>
                  <a:lnTo>
                    <a:pt x="190500" y="124523"/>
                  </a:lnTo>
                  <a:lnTo>
                    <a:pt x="190500" y="0"/>
                  </a:lnTo>
                  <a:lnTo>
                    <a:pt x="174498" y="0"/>
                  </a:lnTo>
                  <a:lnTo>
                    <a:pt x="152400" y="0"/>
                  </a:lnTo>
                  <a:lnTo>
                    <a:pt x="136398" y="0"/>
                  </a:lnTo>
                  <a:lnTo>
                    <a:pt x="136398" y="126644"/>
                  </a:lnTo>
                  <a:lnTo>
                    <a:pt x="7620" y="222504"/>
                  </a:lnTo>
                  <a:lnTo>
                    <a:pt x="2286" y="226314"/>
                  </a:lnTo>
                  <a:lnTo>
                    <a:pt x="0" y="232410"/>
                  </a:lnTo>
                  <a:lnTo>
                    <a:pt x="0" y="430530"/>
                  </a:lnTo>
                  <a:lnTo>
                    <a:pt x="2286" y="435864"/>
                  </a:lnTo>
                  <a:lnTo>
                    <a:pt x="6858" y="439674"/>
                  </a:lnTo>
                  <a:lnTo>
                    <a:pt x="29718" y="456882"/>
                  </a:lnTo>
                  <a:lnTo>
                    <a:pt x="30480" y="457454"/>
                  </a:lnTo>
                  <a:lnTo>
                    <a:pt x="38100" y="463181"/>
                  </a:lnTo>
                  <a:lnTo>
                    <a:pt x="132588" y="534289"/>
                  </a:lnTo>
                  <a:lnTo>
                    <a:pt x="132588" y="721614"/>
                  </a:lnTo>
                  <a:lnTo>
                    <a:pt x="156210" y="721614"/>
                  </a:lnTo>
                  <a:lnTo>
                    <a:pt x="156210" y="730758"/>
                  </a:lnTo>
                  <a:lnTo>
                    <a:pt x="163830" y="730758"/>
                  </a:lnTo>
                  <a:lnTo>
                    <a:pt x="194310" y="730758"/>
                  </a:lnTo>
                  <a:lnTo>
                    <a:pt x="194310" y="536448"/>
                  </a:lnTo>
                  <a:lnTo>
                    <a:pt x="192024" y="531114"/>
                  </a:lnTo>
                  <a:lnTo>
                    <a:pt x="189344" y="529209"/>
                  </a:lnTo>
                  <a:lnTo>
                    <a:pt x="273558" y="460019"/>
                  </a:lnTo>
                  <a:lnTo>
                    <a:pt x="281178" y="453758"/>
                  </a:lnTo>
                  <a:lnTo>
                    <a:pt x="304800" y="434340"/>
                  </a:lnTo>
                  <a:lnTo>
                    <a:pt x="309372" y="431292"/>
                  </a:lnTo>
                  <a:lnTo>
                    <a:pt x="311658" y="425196"/>
                  </a:lnTo>
                  <a:lnTo>
                    <a:pt x="311658" y="227838"/>
                  </a:lnTo>
                  <a:close/>
                </a:path>
              </a:pathLst>
            </a:custGeom>
            <a:solidFill>
              <a:srgbClr val="00AF4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bject 108"/>
            <p:cNvSpPr txBox="1"/>
            <p:nvPr/>
          </p:nvSpPr>
          <p:spPr>
            <a:xfrm>
              <a:off x="5679427" y="2178819"/>
              <a:ext cx="1692275" cy="2258695"/>
            </a:xfrm>
            <a:prstGeom prst="rect">
              <a:avLst/>
            </a:prstGeom>
          </p:spPr>
          <p:txBody>
            <a:bodyPr vert="horz" wrap="square" lIns="0" tIns="12065" rIns="0" bIns="0" rtlCol="0">
              <a:spAutoFit/>
            </a:bodyPr>
            <a:lstStyle/>
            <a:p>
              <a:pPr marL="127635" marR="0" lvl="0" indent="0" algn="l" defTabSz="914400" rtl="0" eaLnBrk="1" fontAlgn="auto" latinLnBrk="0" hangingPunct="1">
                <a:lnSpc>
                  <a:spcPct val="100000"/>
                </a:lnSpc>
                <a:spcBef>
                  <a:spcPts val="9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Isolator</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50" b="0" i="0" u="none" strike="noStrike" kern="1200" cap="none" spc="0" normalizeH="0" baseline="0" noProof="0" dirty="0">
                <a:ln>
                  <a:noFill/>
                </a:ln>
                <a:solidFill>
                  <a:prstClr val="black"/>
                </a:solidFill>
                <a:effectLst/>
                <a:uLnTx/>
                <a:uFillTx/>
                <a:latin typeface="Verdana"/>
                <a:ea typeface="+mn-ea"/>
                <a:cs typeface="Verdana"/>
              </a:endParaRPr>
            </a:p>
            <a:p>
              <a:pPr marL="12700" marR="0" lvl="0" indent="0" algn="l" defTabSz="914400" rtl="0" eaLnBrk="1" fontAlgn="auto" latinLnBrk="0" hangingPunct="1">
                <a:lnSpc>
                  <a:spcPct val="100000"/>
                </a:lnSpc>
                <a:spcBef>
                  <a:spcPts val="5"/>
                </a:spcBef>
                <a:spcAft>
                  <a:spcPts val="0"/>
                </a:spcAft>
                <a:buClrTx/>
                <a:buSzTx/>
                <a:buFontTx/>
                <a:buNone/>
                <a:tabLst>
                  <a:tab pos="1228090" algn="l"/>
                </a:tabLst>
                <a:defRPr/>
              </a:pPr>
              <a:r>
                <a:rPr kumimoji="0" sz="2000" b="0" i="0" u="none" strike="noStrike" kern="1200" cap="none" spc="-5" normalizeH="0" baseline="0" noProof="0" dirty="0">
                  <a:ln>
                    <a:noFill/>
                  </a:ln>
                  <a:solidFill>
                    <a:prstClr val="black"/>
                  </a:solidFill>
                  <a:effectLst/>
                  <a:uLnTx/>
                  <a:uFillTx/>
                  <a:latin typeface="Verdana"/>
                  <a:ea typeface="+mn-ea"/>
                  <a:cs typeface="Verdana"/>
                </a:rPr>
                <a:t>Mod.	</a:t>
              </a:r>
              <a:r>
                <a:rPr kumimoji="0" sz="2000" b="0" i="0" u="none" strike="noStrike" kern="1200" cap="none" spc="-10" normalizeH="0" baseline="0" noProof="0" dirty="0">
                  <a:ln>
                    <a:noFill/>
                  </a:ln>
                  <a:solidFill>
                    <a:prstClr val="black"/>
                  </a:solidFill>
                  <a:effectLst/>
                  <a:uLnTx/>
                  <a:uFillTx/>
                  <a:latin typeface="Verdana"/>
                  <a:ea typeface="+mn-ea"/>
                  <a:cs typeface="Verdana"/>
                </a:rPr>
                <a:t>PD</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sz="2950" b="0" i="0" u="none" strike="noStrike" kern="1200" cap="none" spc="0" normalizeH="0" baseline="0" noProof="0" dirty="0">
                <a:ln>
                  <a:noFill/>
                </a:ln>
                <a:solidFill>
                  <a:prstClr val="black"/>
                </a:solidFill>
                <a:effectLst/>
                <a:uLnTx/>
                <a:uFillTx/>
                <a:latin typeface="Verdana"/>
                <a:ea typeface="+mn-ea"/>
                <a:cs typeface="Verdana"/>
              </a:endParaRPr>
            </a:p>
            <a:p>
              <a:pPr marL="330200" marR="5080" lvl="0" indent="716915" algn="l" defTabSz="914400" rtl="0" eaLnBrk="1" fontAlgn="auto" latinLnBrk="0" hangingPunct="1">
                <a:lnSpc>
                  <a:spcPct val="143800"/>
                </a:lnSpc>
                <a:spcBef>
                  <a:spcPts val="5"/>
                </a:spcBef>
                <a:spcAft>
                  <a:spcPts val="0"/>
                </a:spcAft>
                <a:buClrTx/>
                <a:buSzTx/>
                <a:buFontTx/>
                <a:buNone/>
                <a:tabLst/>
                <a:defRPr/>
              </a:pPr>
              <a:r>
                <a:rPr kumimoji="0" sz="2000" b="0" i="0" u="none" strike="noStrike" kern="1200" cap="none" spc="-10" normalizeH="0" baseline="0" noProof="0" dirty="0">
                  <a:ln>
                    <a:noFill/>
                  </a:ln>
                  <a:solidFill>
                    <a:prstClr val="black"/>
                  </a:solidFill>
                  <a:effectLst/>
                  <a:uLnTx/>
                  <a:uFillTx/>
                  <a:latin typeface="Verdana"/>
                  <a:ea typeface="+mn-ea"/>
                  <a:cs typeface="Verdana"/>
                </a:rPr>
                <a:t>Fiber  Optics</a:t>
              </a:r>
              <a:endParaRPr kumimoji="0" sz="2000" b="0" i="0" u="none" strike="noStrike" kern="1200" cap="none" spc="0" normalizeH="0" baseline="0" noProof="0" dirty="0">
                <a:ln>
                  <a:noFill/>
                </a:ln>
                <a:solidFill>
                  <a:prstClr val="black"/>
                </a:solidFill>
                <a:effectLst/>
                <a:uLnTx/>
                <a:uFillTx/>
                <a:latin typeface="Verdana"/>
                <a:ea typeface="+mn-ea"/>
                <a:cs typeface="Verdana"/>
              </a:endParaRPr>
            </a:p>
          </p:txBody>
        </p:sp>
        <p:grpSp>
          <p:nvGrpSpPr>
            <p:cNvPr id="109" name="object 109"/>
            <p:cNvGrpSpPr/>
            <p:nvPr/>
          </p:nvGrpSpPr>
          <p:grpSpPr>
            <a:xfrm>
              <a:off x="4741164" y="2512314"/>
              <a:ext cx="2708275" cy="2114550"/>
              <a:chOff x="4741164" y="2512314"/>
              <a:chExt cx="2708275" cy="2114550"/>
            </a:xfrm>
          </p:grpSpPr>
          <p:pic>
            <p:nvPicPr>
              <p:cNvPr id="110" name="object 110"/>
              <p:cNvPicPr/>
              <p:nvPr/>
            </p:nvPicPr>
            <p:blipFill>
              <a:blip r:embed="rId8" cstate="print"/>
              <a:stretch>
                <a:fillRect/>
              </a:stretch>
            </p:blipFill>
            <p:spPr>
              <a:xfrm>
                <a:off x="7331964" y="2750820"/>
                <a:ext cx="108966" cy="294893"/>
              </a:xfrm>
              <a:prstGeom prst="rect">
                <a:avLst/>
              </a:prstGeom>
            </p:spPr>
          </p:pic>
          <p:sp>
            <p:nvSpPr>
              <p:cNvPr id="111" name="object 111"/>
              <p:cNvSpPr/>
              <p:nvPr/>
            </p:nvSpPr>
            <p:spPr>
              <a:xfrm>
                <a:off x="7328154" y="2744724"/>
                <a:ext cx="121285" cy="307340"/>
              </a:xfrm>
              <a:custGeom>
                <a:avLst/>
                <a:gdLst/>
                <a:ahLst/>
                <a:cxnLst/>
                <a:rect l="l" t="t" r="r" b="b"/>
                <a:pathLst>
                  <a:path w="121284" h="307339">
                    <a:moveTo>
                      <a:pt x="121157" y="307085"/>
                    </a:moveTo>
                    <a:lnTo>
                      <a:pt x="121157" y="0"/>
                    </a:lnTo>
                    <a:lnTo>
                      <a:pt x="0" y="0"/>
                    </a:lnTo>
                    <a:lnTo>
                      <a:pt x="0" y="307085"/>
                    </a:lnTo>
                    <a:lnTo>
                      <a:pt x="6096" y="307085"/>
                    </a:lnTo>
                    <a:lnTo>
                      <a:pt x="6096" y="12191"/>
                    </a:lnTo>
                    <a:lnTo>
                      <a:pt x="12192" y="6095"/>
                    </a:lnTo>
                    <a:lnTo>
                      <a:pt x="12192" y="12191"/>
                    </a:lnTo>
                    <a:lnTo>
                      <a:pt x="108203" y="12191"/>
                    </a:lnTo>
                    <a:lnTo>
                      <a:pt x="108203" y="6095"/>
                    </a:lnTo>
                    <a:lnTo>
                      <a:pt x="115062" y="12191"/>
                    </a:lnTo>
                    <a:lnTo>
                      <a:pt x="115062" y="307085"/>
                    </a:lnTo>
                    <a:lnTo>
                      <a:pt x="121157" y="307085"/>
                    </a:lnTo>
                    <a:close/>
                  </a:path>
                  <a:path w="121284" h="307339">
                    <a:moveTo>
                      <a:pt x="12192" y="12191"/>
                    </a:moveTo>
                    <a:lnTo>
                      <a:pt x="12192" y="6095"/>
                    </a:lnTo>
                    <a:lnTo>
                      <a:pt x="6096" y="12191"/>
                    </a:lnTo>
                    <a:lnTo>
                      <a:pt x="12192" y="12191"/>
                    </a:lnTo>
                    <a:close/>
                  </a:path>
                  <a:path w="121284" h="307339">
                    <a:moveTo>
                      <a:pt x="12192" y="294893"/>
                    </a:moveTo>
                    <a:lnTo>
                      <a:pt x="12192" y="12191"/>
                    </a:lnTo>
                    <a:lnTo>
                      <a:pt x="6096" y="12191"/>
                    </a:lnTo>
                    <a:lnTo>
                      <a:pt x="6096" y="294893"/>
                    </a:lnTo>
                    <a:lnTo>
                      <a:pt x="12192" y="294893"/>
                    </a:lnTo>
                    <a:close/>
                  </a:path>
                  <a:path w="121284" h="307339">
                    <a:moveTo>
                      <a:pt x="115062" y="294893"/>
                    </a:moveTo>
                    <a:lnTo>
                      <a:pt x="6096" y="294893"/>
                    </a:lnTo>
                    <a:lnTo>
                      <a:pt x="12192" y="300989"/>
                    </a:lnTo>
                    <a:lnTo>
                      <a:pt x="12192" y="307085"/>
                    </a:lnTo>
                    <a:lnTo>
                      <a:pt x="108203" y="307085"/>
                    </a:lnTo>
                    <a:lnTo>
                      <a:pt x="108203" y="300989"/>
                    </a:lnTo>
                    <a:lnTo>
                      <a:pt x="115062" y="294893"/>
                    </a:lnTo>
                    <a:close/>
                  </a:path>
                  <a:path w="121284" h="307339">
                    <a:moveTo>
                      <a:pt x="12192" y="307085"/>
                    </a:moveTo>
                    <a:lnTo>
                      <a:pt x="12192" y="300989"/>
                    </a:lnTo>
                    <a:lnTo>
                      <a:pt x="6096" y="294893"/>
                    </a:lnTo>
                    <a:lnTo>
                      <a:pt x="6096" y="307085"/>
                    </a:lnTo>
                    <a:lnTo>
                      <a:pt x="12192" y="307085"/>
                    </a:lnTo>
                    <a:close/>
                  </a:path>
                  <a:path w="121284" h="307339">
                    <a:moveTo>
                      <a:pt x="115062" y="12191"/>
                    </a:moveTo>
                    <a:lnTo>
                      <a:pt x="108203" y="6095"/>
                    </a:lnTo>
                    <a:lnTo>
                      <a:pt x="108203" y="12191"/>
                    </a:lnTo>
                    <a:lnTo>
                      <a:pt x="115062" y="12191"/>
                    </a:lnTo>
                    <a:close/>
                  </a:path>
                  <a:path w="121284" h="307339">
                    <a:moveTo>
                      <a:pt x="115062" y="294893"/>
                    </a:moveTo>
                    <a:lnTo>
                      <a:pt x="115062" y="12191"/>
                    </a:lnTo>
                    <a:lnTo>
                      <a:pt x="108203" y="12191"/>
                    </a:lnTo>
                    <a:lnTo>
                      <a:pt x="108203" y="294893"/>
                    </a:lnTo>
                    <a:lnTo>
                      <a:pt x="115062" y="294893"/>
                    </a:lnTo>
                    <a:close/>
                  </a:path>
                  <a:path w="121284" h="307339">
                    <a:moveTo>
                      <a:pt x="115062" y="307085"/>
                    </a:moveTo>
                    <a:lnTo>
                      <a:pt x="115062" y="294893"/>
                    </a:lnTo>
                    <a:lnTo>
                      <a:pt x="108203" y="300989"/>
                    </a:lnTo>
                    <a:lnTo>
                      <a:pt x="108203" y="307085"/>
                    </a:lnTo>
                    <a:lnTo>
                      <a:pt x="115062" y="30708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2" name="object 112"/>
              <p:cNvPicPr/>
              <p:nvPr/>
            </p:nvPicPr>
            <p:blipFill>
              <a:blip r:embed="rId9" cstate="print"/>
              <a:stretch>
                <a:fillRect/>
              </a:stretch>
            </p:blipFill>
            <p:spPr>
              <a:xfrm>
                <a:off x="7328154" y="3321558"/>
                <a:ext cx="115824" cy="131063"/>
              </a:xfrm>
              <a:prstGeom prst="rect">
                <a:avLst/>
              </a:prstGeom>
            </p:spPr>
          </p:pic>
          <p:pic>
            <p:nvPicPr>
              <p:cNvPr id="113" name="object 113"/>
              <p:cNvPicPr/>
              <p:nvPr/>
            </p:nvPicPr>
            <p:blipFill>
              <a:blip r:embed="rId10" cstate="print"/>
              <a:stretch>
                <a:fillRect/>
              </a:stretch>
            </p:blipFill>
            <p:spPr>
              <a:xfrm>
                <a:off x="5416296" y="3321558"/>
                <a:ext cx="115824" cy="131063"/>
              </a:xfrm>
              <a:prstGeom prst="rect">
                <a:avLst/>
              </a:prstGeom>
            </p:spPr>
          </p:pic>
          <p:pic>
            <p:nvPicPr>
              <p:cNvPr id="114" name="object 114"/>
              <p:cNvPicPr/>
              <p:nvPr/>
            </p:nvPicPr>
            <p:blipFill>
              <a:blip r:embed="rId11" cstate="print"/>
              <a:stretch>
                <a:fillRect/>
              </a:stretch>
            </p:blipFill>
            <p:spPr>
              <a:xfrm>
                <a:off x="5416296" y="2512314"/>
                <a:ext cx="115824" cy="131064"/>
              </a:xfrm>
              <a:prstGeom prst="rect">
                <a:avLst/>
              </a:prstGeom>
            </p:spPr>
          </p:pic>
          <p:sp>
            <p:nvSpPr>
              <p:cNvPr id="115" name="object 115"/>
              <p:cNvSpPr/>
              <p:nvPr/>
            </p:nvSpPr>
            <p:spPr>
              <a:xfrm>
                <a:off x="4741164" y="2649473"/>
                <a:ext cx="2569845" cy="1977389"/>
              </a:xfrm>
              <a:custGeom>
                <a:avLst/>
                <a:gdLst/>
                <a:ahLst/>
                <a:cxnLst/>
                <a:rect l="l" t="t" r="r" b="b"/>
                <a:pathLst>
                  <a:path w="2569845" h="1977389">
                    <a:moveTo>
                      <a:pt x="2569464" y="762000"/>
                    </a:moveTo>
                    <a:lnTo>
                      <a:pt x="2484120" y="759714"/>
                    </a:lnTo>
                    <a:lnTo>
                      <a:pt x="2498547" y="790282"/>
                    </a:lnTo>
                    <a:lnTo>
                      <a:pt x="15265" y="1962124"/>
                    </a:lnTo>
                    <a:lnTo>
                      <a:pt x="603021" y="854494"/>
                    </a:lnTo>
                    <a:lnTo>
                      <a:pt x="608838" y="857592"/>
                    </a:lnTo>
                    <a:lnTo>
                      <a:pt x="632460" y="870204"/>
                    </a:lnTo>
                    <a:lnTo>
                      <a:pt x="634746" y="784860"/>
                    </a:lnTo>
                    <a:lnTo>
                      <a:pt x="565404" y="834390"/>
                    </a:lnTo>
                    <a:lnTo>
                      <a:pt x="594601" y="849998"/>
                    </a:lnTo>
                    <a:lnTo>
                      <a:pt x="25984" y="1921560"/>
                    </a:lnTo>
                    <a:lnTo>
                      <a:pt x="615670" y="73710"/>
                    </a:lnTo>
                    <a:lnTo>
                      <a:pt x="619506" y="74917"/>
                    </a:lnTo>
                    <a:lnTo>
                      <a:pt x="647700" y="83820"/>
                    </a:lnTo>
                    <a:lnTo>
                      <a:pt x="634746" y="0"/>
                    </a:lnTo>
                    <a:lnTo>
                      <a:pt x="575310" y="60960"/>
                    </a:lnTo>
                    <a:lnTo>
                      <a:pt x="606488" y="70815"/>
                    </a:lnTo>
                    <a:lnTo>
                      <a:pt x="609" y="1969389"/>
                    </a:lnTo>
                    <a:lnTo>
                      <a:pt x="0" y="1970532"/>
                    </a:lnTo>
                    <a:lnTo>
                      <a:pt x="203" y="1970646"/>
                    </a:lnTo>
                    <a:lnTo>
                      <a:pt x="0" y="1971294"/>
                    </a:lnTo>
                    <a:lnTo>
                      <a:pt x="3581" y="1972500"/>
                    </a:lnTo>
                    <a:lnTo>
                      <a:pt x="4191" y="1972843"/>
                    </a:lnTo>
                    <a:lnTo>
                      <a:pt x="6096" y="1977390"/>
                    </a:lnTo>
                    <a:lnTo>
                      <a:pt x="2502484" y="798601"/>
                    </a:lnTo>
                    <a:lnTo>
                      <a:pt x="2513838" y="822617"/>
                    </a:lnTo>
                    <a:lnTo>
                      <a:pt x="2516886" y="829056"/>
                    </a:lnTo>
                    <a:lnTo>
                      <a:pt x="2569464" y="762000"/>
                    </a:lnTo>
                    <a:close/>
                  </a:path>
                </a:pathLst>
              </a:custGeom>
              <a:solidFill>
                <a:srgbClr val="58585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8" name="object 118"/>
            <p:cNvSpPr/>
            <p:nvPr/>
          </p:nvSpPr>
          <p:spPr>
            <a:xfrm>
              <a:off x="5266182" y="2853690"/>
              <a:ext cx="38100" cy="215265"/>
            </a:xfrm>
            <a:custGeom>
              <a:avLst/>
              <a:gdLst/>
              <a:ahLst/>
              <a:cxnLst/>
              <a:rect l="l" t="t" r="r" b="b"/>
              <a:pathLst>
                <a:path w="38100" h="215264">
                  <a:moveTo>
                    <a:pt x="38100" y="214884"/>
                  </a:moveTo>
                  <a:lnTo>
                    <a:pt x="38100" y="0"/>
                  </a:lnTo>
                  <a:lnTo>
                    <a:pt x="0" y="0"/>
                  </a:lnTo>
                  <a:lnTo>
                    <a:pt x="0" y="214884"/>
                  </a:lnTo>
                  <a:lnTo>
                    <a:pt x="38100" y="214884"/>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9" name="object 119"/>
            <p:cNvPicPr/>
            <p:nvPr/>
          </p:nvPicPr>
          <p:blipFill>
            <a:blip r:embed="rId12" cstate="print"/>
            <a:stretch>
              <a:fillRect/>
            </a:stretch>
          </p:blipFill>
          <p:spPr>
            <a:xfrm>
              <a:off x="5261609" y="1766316"/>
              <a:ext cx="395477" cy="390906"/>
            </a:xfrm>
            <a:prstGeom prst="rect">
              <a:avLst/>
            </a:prstGeom>
          </p:spPr>
        </p:pic>
        <p:pic>
          <p:nvPicPr>
            <p:cNvPr id="125" name="object 125"/>
            <p:cNvPicPr/>
            <p:nvPr/>
          </p:nvPicPr>
          <p:blipFill>
            <a:blip r:embed="rId13" cstate="print"/>
            <a:stretch>
              <a:fillRect/>
            </a:stretch>
          </p:blipFill>
          <p:spPr>
            <a:xfrm>
              <a:off x="6541769" y="1803654"/>
              <a:ext cx="790194" cy="316229"/>
            </a:xfrm>
            <a:prstGeom prst="rect">
              <a:avLst/>
            </a:prstGeom>
          </p:spPr>
        </p:pic>
        <p:pic>
          <p:nvPicPr>
            <p:cNvPr id="127" name="object 127"/>
            <p:cNvPicPr/>
            <p:nvPr/>
          </p:nvPicPr>
          <p:blipFill>
            <a:blip r:embed="rId14" cstate="print"/>
            <a:stretch>
              <a:fillRect/>
            </a:stretch>
          </p:blipFill>
          <p:spPr>
            <a:xfrm>
              <a:off x="4962143" y="3694938"/>
              <a:ext cx="1181100" cy="216408"/>
            </a:xfrm>
            <a:prstGeom prst="rect">
              <a:avLst/>
            </a:prstGeom>
          </p:spPr>
        </p:pic>
        <p:sp>
          <p:nvSpPr>
            <p:cNvPr id="128" name="object 128"/>
            <p:cNvSpPr/>
            <p:nvPr/>
          </p:nvSpPr>
          <p:spPr>
            <a:xfrm>
              <a:off x="6568440" y="1855470"/>
              <a:ext cx="725170" cy="38100"/>
            </a:xfrm>
            <a:custGeom>
              <a:avLst/>
              <a:gdLst/>
              <a:ahLst/>
              <a:cxnLst/>
              <a:rect l="l" t="t" r="r" b="b"/>
              <a:pathLst>
                <a:path w="725170" h="38100">
                  <a:moveTo>
                    <a:pt x="724661" y="38100"/>
                  </a:moveTo>
                  <a:lnTo>
                    <a:pt x="724661" y="0"/>
                  </a:lnTo>
                  <a:lnTo>
                    <a:pt x="0" y="0"/>
                  </a:lnTo>
                  <a:lnTo>
                    <a:pt x="0" y="38100"/>
                  </a:lnTo>
                  <a:lnTo>
                    <a:pt x="724661" y="38100"/>
                  </a:lnTo>
                  <a:close/>
                </a:path>
              </a:pathLst>
            </a:custGeom>
            <a:solidFill>
              <a:srgbClr val="B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9" name="Slide Number Placeholder 128"/>
          <p:cNvSpPr>
            <a:spLocks noGrp="1"/>
          </p:cNvSpPr>
          <p:nvPr>
            <p:ph type="sldNum" sz="quarter" idx="4294967295"/>
          </p:nvPr>
        </p:nvSpPr>
        <p:spPr/>
        <p:txBody>
          <a:bodyPr/>
          <a:lstStyle/>
          <a:p>
            <a:pPr marL="135255">
              <a:lnSpc>
                <a:spcPct val="100000"/>
              </a:lnSpc>
              <a:spcBef>
                <a:spcPts val="110"/>
              </a:spcBef>
            </a:pPr>
            <a:fld id="{81D60167-4931-47E6-BA6A-407CBD079E47}" type="slidenum">
              <a:rPr lang="en-US" spc="-50" smtClean="0"/>
              <a:t>79</a:t>
            </a:fld>
            <a:endParaRPr lang="en-US" spc="-50" dirty="0"/>
          </a:p>
        </p:txBody>
      </p:sp>
      <p:sp>
        <p:nvSpPr>
          <p:cNvPr id="130" name="Date Placeholder 129"/>
          <p:cNvSpPr>
            <a:spLocks noGrp="1"/>
          </p:cNvSpPr>
          <p:nvPr>
            <p:ph type="dt" sz="half" idx="4294967295"/>
          </p:nvPr>
        </p:nvSpPr>
        <p:spPr/>
        <p:txBody>
          <a:bodyPr/>
          <a:lstStyle/>
          <a:p>
            <a:pPr marL="12700">
              <a:lnSpc>
                <a:spcPct val="100000"/>
              </a:lnSpc>
              <a:spcBef>
                <a:spcPts val="105"/>
              </a:spcBef>
            </a:pPr>
            <a:r>
              <a:rPr lang="en-US" smtClean="0"/>
              <a:t>Feburary 28, 2025</a:t>
            </a:r>
            <a:endParaRPr lang="en-US" spc="-10" dirty="0"/>
          </a:p>
        </p:txBody>
      </p:sp>
      <p:sp>
        <p:nvSpPr>
          <p:cNvPr id="131" name="Footer Placeholder 130"/>
          <p:cNvSpPr>
            <a:spLocks noGrp="1"/>
          </p:cNvSpPr>
          <p:nvPr>
            <p:ph type="ftr" sz="quarter" idx="4294967295"/>
          </p:nvPr>
        </p:nvSpPr>
        <p:spPr/>
        <p:txBody>
          <a:bodyPr/>
          <a:lstStyle/>
          <a:p>
            <a:pPr marL="13335">
              <a:lnSpc>
                <a:spcPct val="100000"/>
              </a:lnSpc>
              <a:spcBef>
                <a:spcPts val="105"/>
              </a:spcBef>
            </a:pPr>
            <a:r>
              <a:rPr lang="en-US" smtClean="0"/>
              <a:t>Workshop "Robust and Reliable VLSI Circuits"</a:t>
            </a:r>
            <a:endParaRPr lang="en-US" spc="-10" dirty="0"/>
          </a:p>
        </p:txBody>
      </p:sp>
    </p:spTree>
    <p:extLst>
      <p:ext uri="{BB962C8B-B14F-4D97-AF65-F5344CB8AC3E}">
        <p14:creationId xmlns:p14="http://schemas.microsoft.com/office/powerpoint/2010/main" val="366430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91" grpId="0"/>
      <p:bldP spid="92" grpId="0" animBg="1"/>
      <p:bldP spid="121" grpId="0" animBg="1"/>
      <p:bldP spid="12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1A3699F-279E-4EDA-A470-7DA0E35FD13B}" type="slidenum">
              <a:rPr lang="en-US" smtClean="0"/>
              <a:t>80</a:t>
            </a:fld>
            <a:endParaRPr lang="en-US"/>
          </a:p>
        </p:txBody>
      </p:sp>
      <p:sp>
        <p:nvSpPr>
          <p:cNvPr id="3" name="Date Placeholder 2"/>
          <p:cNvSpPr>
            <a:spLocks noGrp="1"/>
          </p:cNvSpPr>
          <p:nvPr>
            <p:ph type="dt" sz="half" idx="10"/>
          </p:nvPr>
        </p:nvSpPr>
        <p:spPr/>
        <p:txBody>
          <a:bodyPr/>
          <a:lstStyle/>
          <a:p>
            <a:r>
              <a:rPr lang="en-US" smtClean="0"/>
              <a:t>Feburary 28, 2025</a:t>
            </a:r>
            <a:endParaRPr lang="en-US"/>
          </a:p>
        </p:txBody>
      </p:sp>
      <p:sp>
        <p:nvSpPr>
          <p:cNvPr id="4" name="Footer Placeholder 3"/>
          <p:cNvSpPr>
            <a:spLocks noGrp="1"/>
          </p:cNvSpPr>
          <p:nvPr>
            <p:ph type="ftr" sz="quarter" idx="11"/>
          </p:nvPr>
        </p:nvSpPr>
        <p:spPr/>
        <p:txBody>
          <a:bodyPr/>
          <a:lstStyle/>
          <a:p>
            <a:r>
              <a:rPr lang="en-US" smtClean="0"/>
              <a:t>Workshop "Robust and Reliable VLSI Circuits"</a:t>
            </a:r>
            <a:endParaRPr lang="en-US"/>
          </a:p>
        </p:txBody>
      </p:sp>
    </p:spTree>
    <p:extLst>
      <p:ext uri="{BB962C8B-B14F-4D97-AF65-F5344CB8AC3E}">
        <p14:creationId xmlns:p14="http://schemas.microsoft.com/office/powerpoint/2010/main" val="293337171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5.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SSCC_202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Arial Rounded MT Bold"/>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SCC_2022" id="{50B85531-4B33-3248-BC6A-864F795275DD}" vid="{39D564C5-71F4-A84C-8816-90C4E58AF93A}"/>
    </a:ext>
  </a:extLst>
</a:theme>
</file>

<file path=ppt/theme/theme3.xml><?xml version="1.0" encoding="utf-8"?>
<a:theme xmlns:a="http://schemas.openxmlformats.org/drawingml/2006/main" name="1_ASSCC_202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Arial Rounded MT Bold"/>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SCC_2022" id="{50B85531-4B33-3248-BC6A-864F795275DD}" vid="{39D564C5-71F4-A84C-8816-90C4E58AF93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4">
    <a:dk1>
      <a:srgbClr val="000000"/>
    </a:dk1>
    <a:lt1>
      <a:srgbClr val="FFFFFF"/>
    </a:lt1>
    <a:dk2>
      <a:srgbClr val="44546A"/>
    </a:dk2>
    <a:lt2>
      <a:srgbClr val="E7E6E6"/>
    </a:lt2>
    <a:accent1>
      <a:srgbClr val="155B0E"/>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17955</TotalTime>
  <Words>12360</Words>
  <Application>Microsoft Office PowerPoint</Application>
  <PresentationFormat>Widescreen</PresentationFormat>
  <Paragraphs>1987</Paragraphs>
  <Slides>80</Slides>
  <Notes>46</Notes>
  <HiddenSlides>12</HiddenSlides>
  <MMClips>0</MMClips>
  <ScaleCrop>false</ScaleCrop>
  <HeadingPairs>
    <vt:vector size="6" baseType="variant">
      <vt:variant>
        <vt:lpstr>Fonts Used</vt:lpstr>
      </vt:variant>
      <vt:variant>
        <vt:i4>25</vt:i4>
      </vt:variant>
      <vt:variant>
        <vt:lpstr>Theme</vt:lpstr>
      </vt:variant>
      <vt:variant>
        <vt:i4>3</vt:i4>
      </vt:variant>
      <vt:variant>
        <vt:lpstr>Slide Titles</vt:lpstr>
      </vt:variant>
      <vt:variant>
        <vt:i4>80</vt:i4>
      </vt:variant>
    </vt:vector>
  </HeadingPairs>
  <TitlesOfParts>
    <vt:vector size="108" baseType="lpstr">
      <vt:lpstr>맑은 고딕</vt:lpstr>
      <vt:lpstr>맑은 고딕</vt:lpstr>
      <vt:lpstr>Arial</vt:lpstr>
      <vt:lpstr>Arial</vt:lpstr>
      <vt:lpstr>Arial Bold</vt:lpstr>
      <vt:lpstr>Arial MT</vt:lpstr>
      <vt:lpstr>Calibri</vt:lpstr>
      <vt:lpstr>Calibri Light</vt:lpstr>
      <vt:lpstr>Cambria Math</vt:lpstr>
      <vt:lpstr>CMMI10</vt:lpstr>
      <vt:lpstr>CMMI6</vt:lpstr>
      <vt:lpstr>CMMI8</vt:lpstr>
      <vt:lpstr>CMR10</vt:lpstr>
      <vt:lpstr>CMR8</vt:lpstr>
      <vt:lpstr>Courier New</vt:lpstr>
      <vt:lpstr>Gill Sans MT</vt:lpstr>
      <vt:lpstr>Helvetica</vt:lpstr>
      <vt:lpstr>LucidaGrande</vt:lpstr>
      <vt:lpstr>Microsoft Sans Serif</vt:lpstr>
      <vt:lpstr>Segoe UI Symbol</vt:lpstr>
      <vt:lpstr>Symbol</vt:lpstr>
      <vt:lpstr>Times New Roman</vt:lpstr>
      <vt:lpstr>UGentPannoText-Normal</vt:lpstr>
      <vt:lpstr>Verdana</vt:lpstr>
      <vt:lpstr>Wingdings</vt:lpstr>
      <vt:lpstr>Office Theme</vt:lpstr>
      <vt:lpstr>ASSCC_2022</vt:lpstr>
      <vt:lpstr>1_ASSCC_2022</vt:lpstr>
      <vt:lpstr>PowerPoint Presentation</vt:lpstr>
      <vt:lpstr>PowerPoint Presentation</vt:lpstr>
      <vt:lpstr>Areas Covered in this Talk</vt:lpstr>
      <vt:lpstr>Motivation</vt:lpstr>
      <vt:lpstr>Importance of Wireline/Optical Links</vt:lpstr>
      <vt:lpstr>Consumer High-Speed Serial Links</vt:lpstr>
      <vt:lpstr>Industry High-Speed Serial Links</vt:lpstr>
      <vt:lpstr>Datacenters</vt:lpstr>
      <vt:lpstr>Trend of Ever-Increasing Data Rate</vt:lpstr>
      <vt:lpstr>Wireline Link Fundamentals</vt:lpstr>
      <vt:lpstr>Basic Wireline Link - SerDes</vt:lpstr>
      <vt:lpstr>Anatomy of a Wireline Link</vt:lpstr>
      <vt:lpstr>FinFET Impact on Wireline Circuits &amp; Systems</vt:lpstr>
      <vt:lpstr>Wireline Research at ISSCC</vt:lpstr>
      <vt:lpstr>Wireline/Optical Links Performance Parameters</vt:lpstr>
      <vt:lpstr>Electrical I/O Channel Loss  ISI</vt:lpstr>
      <vt:lpstr>Inter Symbol Interference (1)</vt:lpstr>
      <vt:lpstr>Inter Symbol Interference (2)</vt:lpstr>
      <vt:lpstr>NRZ and PAM4 Eye Diagram</vt:lpstr>
      <vt:lpstr>Eye Diagram (1)</vt:lpstr>
      <vt:lpstr>Eye Diagram (2)</vt:lpstr>
      <vt:lpstr>NRZ Eye Diagram Analysis</vt:lpstr>
      <vt:lpstr>Bit Error Rate (BER)</vt:lpstr>
      <vt:lpstr>Bit Error Rate (BER) II</vt:lpstr>
      <vt:lpstr>Bit Error Rate (BER) III</vt:lpstr>
      <vt:lpstr>PAM4 Eye Linearity</vt:lpstr>
      <vt:lpstr>Basic Wireline Link - TX</vt:lpstr>
      <vt:lpstr>Role of Equalizers in Wireline/Optical Links</vt:lpstr>
      <vt:lpstr>Channel Behaviors</vt:lpstr>
      <vt:lpstr>Equalization</vt:lpstr>
      <vt:lpstr>Continuous Time Linear Equalizer</vt:lpstr>
      <vt:lpstr>Active CTLE</vt:lpstr>
      <vt:lpstr>Feed Forward Equalization (1)</vt:lpstr>
      <vt:lpstr>Feed Forward Equalization (2)</vt:lpstr>
      <vt:lpstr>Feed Forward Equalization (3)</vt:lpstr>
      <vt:lpstr>A 2-tap FFE TX Example</vt:lpstr>
      <vt:lpstr>Current Mode FFE (1)</vt:lpstr>
      <vt:lpstr>Current Mode FFE (2)</vt:lpstr>
      <vt:lpstr>Current Mode FFE (3)</vt:lpstr>
      <vt:lpstr>Coefficient Control</vt:lpstr>
      <vt:lpstr>Optical Transceiver Basics</vt:lpstr>
      <vt:lpstr>Optical Fiber</vt:lpstr>
      <vt:lpstr>An Electro-Optical Link</vt:lpstr>
      <vt:lpstr>Targeted Co-packaged Optical RX Front-end Architecture</vt:lpstr>
      <vt:lpstr>PD to RX  Interconnect Optimization Criticality of Optical Receiver Design </vt:lpstr>
      <vt:lpstr>PD to RX Interconnect Optimization Opportunity</vt:lpstr>
      <vt:lpstr>PD to RX Interconnect Optimization Passive Modelling</vt:lpstr>
      <vt:lpstr>PD to RX Interconnect Optimization Simulations</vt:lpstr>
      <vt:lpstr>Inverter-Based Design for Bandwidth &amp; Gain</vt:lpstr>
      <vt:lpstr>Design Choice: Inverter-Based Stages</vt:lpstr>
      <vt:lpstr>Design Choice: Inverter-Based CTLE Architecture</vt:lpstr>
      <vt:lpstr>Design Choice: Low-BW First Stage Followed by CTLEs </vt:lpstr>
      <vt:lpstr>Proposed TIA Overview</vt:lpstr>
      <vt:lpstr>Proposed TIA Schematic – Stage 1</vt:lpstr>
      <vt:lpstr>Proposed TIA Schematic – Stage 2</vt:lpstr>
      <vt:lpstr>Proposed TIA Schematic – Stage 3</vt:lpstr>
      <vt:lpstr>Proposed TIA Schematic – Stage 3 S2D</vt:lpstr>
      <vt:lpstr>TIA Transfer Characteristics Post-Layout Simulations</vt:lpstr>
      <vt:lpstr>Invertor Based TIA: Prior Art</vt:lpstr>
      <vt:lpstr>Proposed TIA</vt:lpstr>
      <vt:lpstr>TIA Architecture</vt:lpstr>
      <vt:lpstr>TIA: Low Noise Design</vt:lpstr>
      <vt:lpstr>Overall RX Architecture</vt:lpstr>
      <vt:lpstr>Why no DFE ?</vt:lpstr>
      <vt:lpstr>Summary</vt:lpstr>
      <vt:lpstr>PowerPoint Presentation</vt:lpstr>
      <vt:lpstr>INVERTER BASED DESIGN</vt:lpstr>
      <vt:lpstr>PowerPoint Presentation</vt:lpstr>
      <vt:lpstr>PowerPoint Presentation</vt:lpstr>
      <vt:lpstr>PowerPoint Presentation</vt:lpstr>
      <vt:lpstr>PowerPoint Presentation</vt:lpstr>
      <vt:lpstr>PowerPoint Presentation</vt:lpstr>
      <vt:lpstr>ACTIVE_INDUCTORS</vt:lpstr>
      <vt:lpstr>PowerPoint Presentation</vt:lpstr>
      <vt:lpstr>PowerPoint Presentation</vt:lpstr>
      <vt:lpstr>PowerPoint Presentation</vt:lpstr>
      <vt:lpstr>PowerPoint Presentation</vt:lpstr>
      <vt:lpstr>PowerPoint Presentation</vt:lpstr>
      <vt:lpstr>An Electro-Optical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51</cp:revision>
  <dcterms:created xsi:type="dcterms:W3CDTF">2025-02-14T11:06:55Z</dcterms:created>
  <dcterms:modified xsi:type="dcterms:W3CDTF">2025-10-22T06:06:16Z</dcterms:modified>
</cp:coreProperties>
</file>