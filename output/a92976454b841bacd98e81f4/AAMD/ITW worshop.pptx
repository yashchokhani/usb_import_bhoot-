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5" r:id="rId5"/>
    <p:sldMasterId id="214748367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y="6858000" cx="12192000"/>
  <p:notesSz cx="7772400" cy="10058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08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425A3DD-1160-4790-A75F-663CD4476C9B}">
  <a:tblStyle styleId="{0425A3DD-1160-4790-A75F-663CD4476C9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08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36867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402138" y="0"/>
            <a:ext cx="336867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869950" y="1257300"/>
            <a:ext cx="6032500" cy="3394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553575"/>
            <a:ext cx="3368675" cy="504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:notes"/>
          <p:cNvSpPr txBox="1"/>
          <p:nvPr>
            <p:ph idx="1" type="body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:notes"/>
          <p:cNvSpPr/>
          <p:nvPr>
            <p:ph idx="2" type="sldImg"/>
          </p:nvPr>
        </p:nvSpPr>
        <p:spPr>
          <a:xfrm>
            <a:off x="869950" y="1257300"/>
            <a:ext cx="6032500" cy="3394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:notes"/>
          <p:cNvSpPr txBox="1"/>
          <p:nvPr>
            <p:ph idx="1" type="body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:notes"/>
          <p:cNvSpPr/>
          <p:nvPr>
            <p:ph idx="2" type="sldImg"/>
          </p:nvPr>
        </p:nvSpPr>
        <p:spPr>
          <a:xfrm>
            <a:off x="869950" y="1257300"/>
            <a:ext cx="6032500" cy="3394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:notes"/>
          <p:cNvSpPr txBox="1"/>
          <p:nvPr>
            <p:ph idx="1" type="body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:notes"/>
          <p:cNvSpPr/>
          <p:nvPr>
            <p:ph idx="2" type="sldImg"/>
          </p:nvPr>
        </p:nvSpPr>
        <p:spPr>
          <a:xfrm>
            <a:off x="869950" y="1257300"/>
            <a:ext cx="6032500" cy="3394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9f3454b705_0_56:notes"/>
          <p:cNvSpPr/>
          <p:nvPr>
            <p:ph idx="2" type="sldImg"/>
          </p:nvPr>
        </p:nvSpPr>
        <p:spPr>
          <a:xfrm>
            <a:off x="869950" y="1257300"/>
            <a:ext cx="6032400" cy="339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9f3454b705_0_56:notes"/>
          <p:cNvSpPr txBox="1"/>
          <p:nvPr>
            <p:ph idx="1" type="body"/>
          </p:nvPr>
        </p:nvSpPr>
        <p:spPr>
          <a:xfrm>
            <a:off x="777875" y="4840288"/>
            <a:ext cx="6216600" cy="396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9f3454b705_0_56:notes"/>
          <p:cNvSpPr txBox="1"/>
          <p:nvPr>
            <p:ph idx="12" type="sldNum"/>
          </p:nvPr>
        </p:nvSpPr>
        <p:spPr>
          <a:xfrm>
            <a:off x="4402138" y="9553575"/>
            <a:ext cx="3368700" cy="504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:notes"/>
          <p:cNvSpPr txBox="1"/>
          <p:nvPr>
            <p:ph idx="1" type="body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4:notes"/>
          <p:cNvSpPr/>
          <p:nvPr>
            <p:ph idx="2" type="sldImg"/>
          </p:nvPr>
        </p:nvSpPr>
        <p:spPr>
          <a:xfrm>
            <a:off x="869950" y="1257300"/>
            <a:ext cx="6032500" cy="3394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/>
          <p:nvPr>
            <p:ph idx="1" type="body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:notes"/>
          <p:cNvSpPr/>
          <p:nvPr>
            <p:ph idx="2" type="sldImg"/>
          </p:nvPr>
        </p:nvSpPr>
        <p:spPr>
          <a:xfrm>
            <a:off x="869950" y="1257300"/>
            <a:ext cx="6032500" cy="3394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:notes"/>
          <p:cNvSpPr txBox="1"/>
          <p:nvPr>
            <p:ph idx="1" type="body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8:notes"/>
          <p:cNvSpPr/>
          <p:nvPr>
            <p:ph idx="2" type="sldImg"/>
          </p:nvPr>
        </p:nvSpPr>
        <p:spPr>
          <a:xfrm>
            <a:off x="869950" y="1257300"/>
            <a:ext cx="6032500" cy="3394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9f04ada593_0_98:notes"/>
          <p:cNvSpPr/>
          <p:nvPr>
            <p:ph idx="2" type="sldImg"/>
          </p:nvPr>
        </p:nvSpPr>
        <p:spPr>
          <a:xfrm>
            <a:off x="869950" y="1257300"/>
            <a:ext cx="6032400" cy="339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9f04ada593_0_98:notes"/>
          <p:cNvSpPr txBox="1"/>
          <p:nvPr>
            <p:ph idx="1" type="body"/>
          </p:nvPr>
        </p:nvSpPr>
        <p:spPr>
          <a:xfrm>
            <a:off x="777875" y="4840288"/>
            <a:ext cx="6216600" cy="396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9f04ada593_0_98:notes"/>
          <p:cNvSpPr txBox="1"/>
          <p:nvPr>
            <p:ph idx="12" type="sldNum"/>
          </p:nvPr>
        </p:nvSpPr>
        <p:spPr>
          <a:xfrm>
            <a:off x="4402138" y="9553575"/>
            <a:ext cx="3368700" cy="504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9f04ada593_0_107:notes"/>
          <p:cNvSpPr/>
          <p:nvPr>
            <p:ph idx="2" type="sldImg"/>
          </p:nvPr>
        </p:nvSpPr>
        <p:spPr>
          <a:xfrm>
            <a:off x="869950" y="1257300"/>
            <a:ext cx="6032400" cy="339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9f04ada593_0_107:notes"/>
          <p:cNvSpPr txBox="1"/>
          <p:nvPr>
            <p:ph idx="1" type="body"/>
          </p:nvPr>
        </p:nvSpPr>
        <p:spPr>
          <a:xfrm>
            <a:off x="777875" y="4840288"/>
            <a:ext cx="6216600" cy="396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9f04ada593_0_107:notes"/>
          <p:cNvSpPr txBox="1"/>
          <p:nvPr>
            <p:ph idx="12" type="sldNum"/>
          </p:nvPr>
        </p:nvSpPr>
        <p:spPr>
          <a:xfrm>
            <a:off x="4402138" y="9553575"/>
            <a:ext cx="3368700" cy="504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9f04ada593_0_114:notes"/>
          <p:cNvSpPr/>
          <p:nvPr>
            <p:ph idx="2" type="sldImg"/>
          </p:nvPr>
        </p:nvSpPr>
        <p:spPr>
          <a:xfrm>
            <a:off x="869950" y="1257300"/>
            <a:ext cx="6032400" cy="339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9f04ada593_0_114:notes"/>
          <p:cNvSpPr txBox="1"/>
          <p:nvPr>
            <p:ph idx="1" type="body"/>
          </p:nvPr>
        </p:nvSpPr>
        <p:spPr>
          <a:xfrm>
            <a:off x="777875" y="4840288"/>
            <a:ext cx="6216600" cy="396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9f04ada593_0_114:notes"/>
          <p:cNvSpPr txBox="1"/>
          <p:nvPr>
            <p:ph idx="12" type="sldNum"/>
          </p:nvPr>
        </p:nvSpPr>
        <p:spPr>
          <a:xfrm>
            <a:off x="4402138" y="9553575"/>
            <a:ext cx="3368700" cy="504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9f04ada593_0_123:notes"/>
          <p:cNvSpPr/>
          <p:nvPr>
            <p:ph idx="2" type="sldImg"/>
          </p:nvPr>
        </p:nvSpPr>
        <p:spPr>
          <a:xfrm>
            <a:off x="869950" y="1257300"/>
            <a:ext cx="6032400" cy="339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9f04ada593_0_123:notes"/>
          <p:cNvSpPr txBox="1"/>
          <p:nvPr>
            <p:ph idx="1" type="body"/>
          </p:nvPr>
        </p:nvSpPr>
        <p:spPr>
          <a:xfrm>
            <a:off x="777875" y="4840288"/>
            <a:ext cx="6216600" cy="396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9f04ada593_0_123:notes"/>
          <p:cNvSpPr txBox="1"/>
          <p:nvPr>
            <p:ph idx="12" type="sldNum"/>
          </p:nvPr>
        </p:nvSpPr>
        <p:spPr>
          <a:xfrm>
            <a:off x="4402138" y="9553575"/>
            <a:ext cx="3368700" cy="504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9f04ada593_0_130:notes"/>
          <p:cNvSpPr/>
          <p:nvPr>
            <p:ph idx="2" type="sldImg"/>
          </p:nvPr>
        </p:nvSpPr>
        <p:spPr>
          <a:xfrm>
            <a:off x="869950" y="1257300"/>
            <a:ext cx="6032400" cy="339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9f04ada593_0_130:notes"/>
          <p:cNvSpPr txBox="1"/>
          <p:nvPr>
            <p:ph idx="1" type="body"/>
          </p:nvPr>
        </p:nvSpPr>
        <p:spPr>
          <a:xfrm>
            <a:off x="777875" y="4840288"/>
            <a:ext cx="6216600" cy="396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9f04ada593_0_130:notes"/>
          <p:cNvSpPr txBox="1"/>
          <p:nvPr>
            <p:ph idx="12" type="sldNum"/>
          </p:nvPr>
        </p:nvSpPr>
        <p:spPr>
          <a:xfrm>
            <a:off x="4402138" y="9553575"/>
            <a:ext cx="3368700" cy="504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9f04ada593_0_157:notes"/>
          <p:cNvSpPr/>
          <p:nvPr>
            <p:ph idx="2" type="sldImg"/>
          </p:nvPr>
        </p:nvSpPr>
        <p:spPr>
          <a:xfrm>
            <a:off x="869950" y="1257300"/>
            <a:ext cx="6032400" cy="339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9f04ada593_0_157:notes"/>
          <p:cNvSpPr txBox="1"/>
          <p:nvPr>
            <p:ph idx="1" type="body"/>
          </p:nvPr>
        </p:nvSpPr>
        <p:spPr>
          <a:xfrm>
            <a:off x="777875" y="4840288"/>
            <a:ext cx="6216600" cy="396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9f04ada593_0_157:notes"/>
          <p:cNvSpPr txBox="1"/>
          <p:nvPr>
            <p:ph idx="12" type="sldNum"/>
          </p:nvPr>
        </p:nvSpPr>
        <p:spPr>
          <a:xfrm>
            <a:off x="4402138" y="9553575"/>
            <a:ext cx="3368700" cy="504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9f3454b705_0_2:notes"/>
          <p:cNvSpPr/>
          <p:nvPr>
            <p:ph idx="2" type="sldImg"/>
          </p:nvPr>
        </p:nvSpPr>
        <p:spPr>
          <a:xfrm>
            <a:off x="869950" y="1257300"/>
            <a:ext cx="6032400" cy="339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9f3454b705_0_2:notes"/>
          <p:cNvSpPr txBox="1"/>
          <p:nvPr>
            <p:ph idx="1" type="body"/>
          </p:nvPr>
        </p:nvSpPr>
        <p:spPr>
          <a:xfrm>
            <a:off x="777875" y="4840288"/>
            <a:ext cx="6216600" cy="396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9f3454b705_0_2:notes"/>
          <p:cNvSpPr txBox="1"/>
          <p:nvPr>
            <p:ph idx="12" type="sldNum"/>
          </p:nvPr>
        </p:nvSpPr>
        <p:spPr>
          <a:xfrm>
            <a:off x="4402138" y="9553575"/>
            <a:ext cx="3368700" cy="504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9f3454b705_0_45:notes"/>
          <p:cNvSpPr/>
          <p:nvPr>
            <p:ph idx="2" type="sldImg"/>
          </p:nvPr>
        </p:nvSpPr>
        <p:spPr>
          <a:xfrm>
            <a:off x="869950" y="1257300"/>
            <a:ext cx="6032400" cy="339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9f3454b705_0_45:notes"/>
          <p:cNvSpPr txBox="1"/>
          <p:nvPr>
            <p:ph idx="1" type="body"/>
          </p:nvPr>
        </p:nvSpPr>
        <p:spPr>
          <a:xfrm>
            <a:off x="777875" y="4840288"/>
            <a:ext cx="6216600" cy="396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9f3454b705_0_45:notes"/>
          <p:cNvSpPr txBox="1"/>
          <p:nvPr>
            <p:ph idx="12" type="sldNum"/>
          </p:nvPr>
        </p:nvSpPr>
        <p:spPr>
          <a:xfrm>
            <a:off x="4402138" y="9553575"/>
            <a:ext cx="3368700" cy="504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9f3454b705_0_9:notes"/>
          <p:cNvSpPr/>
          <p:nvPr>
            <p:ph idx="2" type="sldImg"/>
          </p:nvPr>
        </p:nvSpPr>
        <p:spPr>
          <a:xfrm>
            <a:off x="869950" y="1257300"/>
            <a:ext cx="6032400" cy="339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9f3454b705_0_9:notes"/>
          <p:cNvSpPr txBox="1"/>
          <p:nvPr>
            <p:ph idx="1" type="body"/>
          </p:nvPr>
        </p:nvSpPr>
        <p:spPr>
          <a:xfrm>
            <a:off x="777875" y="4840288"/>
            <a:ext cx="6216600" cy="396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39f3454b705_0_9:notes"/>
          <p:cNvSpPr txBox="1"/>
          <p:nvPr>
            <p:ph idx="12" type="sldNum"/>
          </p:nvPr>
        </p:nvSpPr>
        <p:spPr>
          <a:xfrm>
            <a:off x="4402138" y="9553575"/>
            <a:ext cx="3368700" cy="504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9f3454b705_0_19:notes"/>
          <p:cNvSpPr/>
          <p:nvPr>
            <p:ph idx="2" type="sldImg"/>
          </p:nvPr>
        </p:nvSpPr>
        <p:spPr>
          <a:xfrm>
            <a:off x="869950" y="1257300"/>
            <a:ext cx="6032400" cy="339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9f3454b705_0_19:notes"/>
          <p:cNvSpPr txBox="1"/>
          <p:nvPr>
            <p:ph idx="1" type="body"/>
          </p:nvPr>
        </p:nvSpPr>
        <p:spPr>
          <a:xfrm>
            <a:off x="777875" y="4840288"/>
            <a:ext cx="6216600" cy="396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9f3454b705_0_19:notes"/>
          <p:cNvSpPr txBox="1"/>
          <p:nvPr>
            <p:ph idx="12" type="sldNum"/>
          </p:nvPr>
        </p:nvSpPr>
        <p:spPr>
          <a:xfrm>
            <a:off x="4402138" y="9553575"/>
            <a:ext cx="3368700" cy="504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9f3454b705_0_30:notes"/>
          <p:cNvSpPr/>
          <p:nvPr>
            <p:ph idx="2" type="sldImg"/>
          </p:nvPr>
        </p:nvSpPr>
        <p:spPr>
          <a:xfrm>
            <a:off x="869950" y="1257300"/>
            <a:ext cx="6032400" cy="339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9f3454b705_0_30:notes"/>
          <p:cNvSpPr txBox="1"/>
          <p:nvPr>
            <p:ph idx="1" type="body"/>
          </p:nvPr>
        </p:nvSpPr>
        <p:spPr>
          <a:xfrm>
            <a:off x="777875" y="4840288"/>
            <a:ext cx="6216600" cy="396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9f3454b705_0_30:notes"/>
          <p:cNvSpPr txBox="1"/>
          <p:nvPr>
            <p:ph idx="12" type="sldNum"/>
          </p:nvPr>
        </p:nvSpPr>
        <p:spPr>
          <a:xfrm>
            <a:off x="4402138" y="9553575"/>
            <a:ext cx="3368700" cy="504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9f3454b705_0_37:notes"/>
          <p:cNvSpPr/>
          <p:nvPr>
            <p:ph idx="2" type="sldImg"/>
          </p:nvPr>
        </p:nvSpPr>
        <p:spPr>
          <a:xfrm>
            <a:off x="869950" y="1257300"/>
            <a:ext cx="6032400" cy="339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9f3454b705_0_37:notes"/>
          <p:cNvSpPr txBox="1"/>
          <p:nvPr>
            <p:ph idx="1" type="body"/>
          </p:nvPr>
        </p:nvSpPr>
        <p:spPr>
          <a:xfrm>
            <a:off x="777875" y="4840288"/>
            <a:ext cx="6216600" cy="396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9f3454b705_0_37:notes"/>
          <p:cNvSpPr txBox="1"/>
          <p:nvPr>
            <p:ph idx="12" type="sldNum"/>
          </p:nvPr>
        </p:nvSpPr>
        <p:spPr>
          <a:xfrm>
            <a:off x="4402138" y="9553575"/>
            <a:ext cx="3368700" cy="504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1:notes"/>
          <p:cNvSpPr txBox="1"/>
          <p:nvPr>
            <p:ph idx="1" type="body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1:notes"/>
          <p:cNvSpPr/>
          <p:nvPr>
            <p:ph idx="2" type="sldImg"/>
          </p:nvPr>
        </p:nvSpPr>
        <p:spPr>
          <a:xfrm>
            <a:off x="869950" y="1257300"/>
            <a:ext cx="6032500" cy="3394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"/>
          <p:cNvSpPr txBox="1"/>
          <p:nvPr>
            <p:ph idx="1" type="body"/>
          </p:nvPr>
        </p:nvSpPr>
        <p:spPr>
          <a:xfrm>
            <a:off x="3352800" y="5410200"/>
            <a:ext cx="8026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type="title"/>
          </p:nvPr>
        </p:nvSpPr>
        <p:spPr>
          <a:xfrm>
            <a:off x="3352800" y="3810000"/>
            <a:ext cx="80264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BITS_university_logo_whitevert.png" id="26" name="Google Shape;26;p2"/>
          <p:cNvPicPr preferRelativeResize="0"/>
          <p:nvPr/>
        </p:nvPicPr>
        <p:blipFill rotWithShape="1">
          <a:blip r:embed="rId3">
            <a:alphaModFix/>
          </a:blip>
          <a:srcRect b="28592" l="0" r="0" t="2"/>
          <a:stretch/>
        </p:blipFill>
        <p:spPr>
          <a:xfrm>
            <a:off x="101600" y="3352800"/>
            <a:ext cx="2743200" cy="19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2"/>
          <p:cNvSpPr txBox="1"/>
          <p:nvPr/>
        </p:nvSpPr>
        <p:spPr>
          <a:xfrm>
            <a:off x="-101600" y="5257800"/>
            <a:ext cx="29464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b="0" i="0" lang="en-IN" sz="2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28" name="Google Shape;28;p2"/>
          <p:cNvSpPr txBox="1"/>
          <p:nvPr/>
        </p:nvSpPr>
        <p:spPr>
          <a:xfrm>
            <a:off x="203200" y="5666602"/>
            <a:ext cx="2540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2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2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10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2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16"/>
          <p:cNvGrpSpPr/>
          <p:nvPr/>
        </p:nvGrpSpPr>
        <p:grpSpPr>
          <a:xfrm>
            <a:off x="2778517" y="6550672"/>
            <a:ext cx="9413483" cy="48665"/>
            <a:chOff x="2083888" y="6550671"/>
            <a:chExt cx="7060112" cy="48665"/>
          </a:xfrm>
        </p:grpSpPr>
        <p:sp>
          <p:nvSpPr>
            <p:cNvPr id="99" name="Google Shape;99;p16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6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Picture 7.png" id="102" name="Google Shape;102;p16"/>
          <p:cNvPicPr preferRelativeResize="0"/>
          <p:nvPr/>
        </p:nvPicPr>
        <p:blipFill rotWithShape="1">
          <a:blip r:embed="rId2">
            <a:alphaModFix/>
          </a:blip>
          <a:srcRect b="5335" l="1923" r="0" t="0"/>
          <a:stretch/>
        </p:blipFill>
        <p:spPr>
          <a:xfrm>
            <a:off x="8839201" y="-1"/>
            <a:ext cx="2924257" cy="6926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" name="Google Shape;103;p16"/>
          <p:cNvGrpSpPr/>
          <p:nvPr/>
        </p:nvGrpSpPr>
        <p:grpSpPr>
          <a:xfrm>
            <a:off x="2844800" y="6553201"/>
            <a:ext cx="9347201" cy="45719"/>
            <a:chOff x="1905000" y="6553200"/>
            <a:chExt cx="7010400" cy="45719"/>
          </a:xfrm>
        </p:grpSpPr>
        <p:sp>
          <p:nvSpPr>
            <p:cNvPr id="104" name="Google Shape;104;p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7" name="Google Shape;107;p16"/>
          <p:cNvGrpSpPr/>
          <p:nvPr/>
        </p:nvGrpSpPr>
        <p:grpSpPr>
          <a:xfrm>
            <a:off x="0" y="1295401"/>
            <a:ext cx="9347201" cy="45719"/>
            <a:chOff x="1905000" y="6553200"/>
            <a:chExt cx="7010400" cy="45719"/>
          </a:xfrm>
        </p:grpSpPr>
        <p:sp>
          <p:nvSpPr>
            <p:cNvPr id="108" name="Google Shape;108;p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6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" name="Google Shape;111;p16"/>
          <p:cNvSpPr txBox="1"/>
          <p:nvPr>
            <p:ph idx="1" type="body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16"/>
          <p:cNvSpPr txBox="1"/>
          <p:nvPr>
            <p:ph idx="11" type="ftr"/>
          </p:nvPr>
        </p:nvSpPr>
        <p:spPr>
          <a:xfrm>
            <a:off x="0" y="6554056"/>
            <a:ext cx="12192000" cy="30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6"/>
          <p:cNvSpPr txBox="1"/>
          <p:nvPr>
            <p:ph idx="12" type="sldNum"/>
          </p:nvPr>
        </p:nvSpPr>
        <p:spPr>
          <a:xfrm>
            <a:off x="11815" y="6554055"/>
            <a:ext cx="1218018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8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9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0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20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p23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23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4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24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p24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5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2" name="Google Shape;142;p25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25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7" name="Google Shape;147;p26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7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27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27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27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8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7" name="Google Shape;157;p28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8" name="Google Shape;158;p28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28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0" name="Google Shape;160;p28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1" name="Google Shape;161;p28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3.jp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6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3352680"/>
            <a:ext cx="11581200" cy="2742120"/>
          </a:xfrm>
          <a:prstGeom prst="rect">
            <a:avLst/>
          </a:prstGeom>
          <a:solidFill>
            <a:srgbClr val="101141"/>
          </a:solidFill>
          <a:ln>
            <a:noFill/>
          </a:ln>
          <a:effectLst>
            <a:outerShdw blurRad="4000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3860640" y="6095880"/>
            <a:ext cx="3859560" cy="75240"/>
          </a:xfrm>
          <a:prstGeom prst="rect">
            <a:avLst/>
          </a:prstGeom>
          <a:solidFill>
            <a:srgbClr val="76C2E5"/>
          </a:solidFill>
          <a:ln>
            <a:noFill/>
          </a:ln>
          <a:effectLst>
            <a:outerShdw blurRad="4000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"/>
          <p:cNvSpPr/>
          <p:nvPr/>
        </p:nvSpPr>
        <p:spPr>
          <a:xfrm>
            <a:off x="0" y="6095880"/>
            <a:ext cx="3859560" cy="75240"/>
          </a:xfrm>
          <a:prstGeom prst="rect">
            <a:avLst/>
          </a:prstGeom>
          <a:solidFill>
            <a:srgbClr val="FCB017"/>
          </a:solidFill>
          <a:ln>
            <a:noFill/>
          </a:ln>
          <a:effectLst>
            <a:outerShdw blurRad="4000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7721640" y="6095880"/>
            <a:ext cx="3859560" cy="7524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4000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" name="Google Shape;14;p1"/>
          <p:cNvPicPr preferRelativeResize="0"/>
          <p:nvPr/>
        </p:nvPicPr>
        <p:blipFill rotWithShape="1">
          <a:blip r:embed="rId2">
            <a:alphaModFix/>
          </a:blip>
          <a:srcRect b="28589" l="0" r="0" t="0"/>
          <a:stretch/>
        </p:blipFill>
        <p:spPr>
          <a:xfrm>
            <a:off x="101520" y="3352680"/>
            <a:ext cx="2742120" cy="1978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/>
          <p:nvPr/>
        </p:nvSpPr>
        <p:spPr>
          <a:xfrm>
            <a:off x="-101520" y="5257800"/>
            <a:ext cx="2945160" cy="531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b="0" i="0" lang="en-IN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203040" y="5666760"/>
            <a:ext cx="2539080" cy="272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" name="Google Shape;18;p1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4368960" y="6596280"/>
            <a:ext cx="7822080" cy="257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100" strike="noStrik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lang="en-IN" sz="1100" strike="noStrik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b="0" sz="11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" name="Google Shape;82;p15"/>
          <p:cNvGrpSpPr/>
          <p:nvPr/>
        </p:nvGrpSpPr>
        <p:grpSpPr>
          <a:xfrm>
            <a:off x="2778480" y="6550560"/>
            <a:ext cx="9412560" cy="47520"/>
            <a:chOff x="2778480" y="6550560"/>
            <a:chExt cx="9412560" cy="47520"/>
          </a:xfrm>
        </p:grpSpPr>
        <p:sp>
          <p:nvSpPr>
            <p:cNvPr id="83" name="Google Shape;83;p15"/>
            <p:cNvSpPr/>
            <p:nvPr/>
          </p:nvSpPr>
          <p:spPr>
            <a:xfrm>
              <a:off x="6174000" y="6550560"/>
              <a:ext cx="3103560" cy="4752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>
              <a:outerShdw blurRad="40000" rotWithShape="0" dir="5400000" dist="2304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5"/>
            <p:cNvSpPr/>
            <p:nvPr/>
          </p:nvSpPr>
          <p:spPr>
            <a:xfrm>
              <a:off x="9210600" y="6550560"/>
              <a:ext cx="2980440" cy="44640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>
              <a:outerShdw blurRad="40000" rotWithShape="0" dir="5400000" dist="2304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2778480" y="6550560"/>
              <a:ext cx="3439800" cy="4752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>
              <a:outerShdw blurRad="40000" rotWithShape="0" dir="5400000" dist="2304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6" name="Google Shape;86;p15"/>
          <p:cNvPicPr preferRelativeResize="0"/>
          <p:nvPr/>
        </p:nvPicPr>
        <p:blipFill rotWithShape="1">
          <a:blip r:embed="rId1">
            <a:alphaModFix/>
          </a:blip>
          <a:srcRect b="5315" l="1916" r="0" t="0"/>
          <a:stretch/>
        </p:blipFill>
        <p:spPr>
          <a:xfrm>
            <a:off x="8839080" y="0"/>
            <a:ext cx="2923200" cy="6915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" name="Google Shape;87;p15"/>
          <p:cNvGrpSpPr/>
          <p:nvPr/>
        </p:nvGrpSpPr>
        <p:grpSpPr>
          <a:xfrm>
            <a:off x="2844720" y="6553080"/>
            <a:ext cx="9345960" cy="44640"/>
            <a:chOff x="2844720" y="6553080"/>
            <a:chExt cx="9345960" cy="44640"/>
          </a:xfrm>
        </p:grpSpPr>
        <p:sp>
          <p:nvSpPr>
            <p:cNvPr id="88" name="Google Shape;88;p15"/>
            <p:cNvSpPr/>
            <p:nvPr/>
          </p:nvSpPr>
          <p:spPr>
            <a:xfrm>
              <a:off x="5994360" y="6553080"/>
              <a:ext cx="3103560" cy="4464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>
              <a:outerShdw blurRad="40000" rotWithShape="0" dir="5400000" dist="2304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2844720" y="6553080"/>
              <a:ext cx="3148560" cy="4464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>
              <a:outerShdw blurRad="40000" rotWithShape="0" dir="5400000" dist="2304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9087120" y="6553080"/>
              <a:ext cx="3103560" cy="4464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outerShdw blurRad="40000" rotWithShape="0" dir="5400000" dist="2304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" name="Google Shape;91;p15"/>
          <p:cNvGrpSpPr/>
          <p:nvPr/>
        </p:nvGrpSpPr>
        <p:grpSpPr>
          <a:xfrm>
            <a:off x="0" y="1295280"/>
            <a:ext cx="9345960" cy="44640"/>
            <a:chOff x="0" y="1295280"/>
            <a:chExt cx="9345960" cy="44640"/>
          </a:xfrm>
        </p:grpSpPr>
        <p:sp>
          <p:nvSpPr>
            <p:cNvPr id="92" name="Google Shape;92;p15"/>
            <p:cNvSpPr/>
            <p:nvPr/>
          </p:nvSpPr>
          <p:spPr>
            <a:xfrm>
              <a:off x="3149640" y="1295280"/>
              <a:ext cx="3103560" cy="4464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>
              <a:outerShdw blurRad="40000" rotWithShape="0" dir="5400000" dist="2304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0" y="1295280"/>
              <a:ext cx="3148560" cy="4464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>
              <a:outerShdw blurRad="40000" rotWithShape="0" dir="5400000" dist="2304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6242400" y="1295280"/>
              <a:ext cx="3103560" cy="4464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outerShdw blurRad="40000" rotWithShape="0" dir="5400000" dist="2304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1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6" name="Google Shape;96;p15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Relationship Id="rId4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png"/><Relationship Id="rId4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/>
        </p:nvSpPr>
        <p:spPr>
          <a:xfrm>
            <a:off x="3733798" y="4070981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100">
                <a:solidFill>
                  <a:schemeClr val="lt1"/>
                </a:solidFill>
              </a:rPr>
              <a:t>CMOS Inverter</a:t>
            </a:r>
            <a:endParaRPr b="1" i="1" sz="3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30"/>
          <p:cNvSpPr txBox="1"/>
          <p:nvPr/>
        </p:nvSpPr>
        <p:spPr>
          <a:xfrm>
            <a:off x="3690302" y="3497791"/>
            <a:ext cx="670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lt1"/>
                </a:solidFill>
              </a:rPr>
              <a:t>ITW Workshop Part-II (Teaching Demo)</a:t>
            </a:r>
            <a:endParaRPr/>
          </a:p>
        </p:txBody>
      </p:sp>
      <p:sp>
        <p:nvSpPr>
          <p:cNvPr id="170" name="Google Shape;170;p30"/>
          <p:cNvSpPr txBox="1"/>
          <p:nvPr/>
        </p:nvSpPr>
        <p:spPr>
          <a:xfrm>
            <a:off x="10178283" y="0"/>
            <a:ext cx="19543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Date: 01/11/2025</a:t>
            </a:r>
            <a:endParaRPr/>
          </a:p>
        </p:txBody>
      </p:sp>
      <p:sp>
        <p:nvSpPr>
          <p:cNvPr id="171" name="Google Shape;171;p30"/>
          <p:cNvSpPr txBox="1"/>
          <p:nvPr/>
        </p:nvSpPr>
        <p:spPr>
          <a:xfrm>
            <a:off x="7353852" y="5078825"/>
            <a:ext cx="41757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900">
                <a:solidFill>
                  <a:schemeClr val="lt1"/>
                </a:solidFill>
              </a:rPr>
              <a:t>R</a:t>
            </a:r>
            <a:r>
              <a:rPr lang="en-IN" sz="2900">
                <a:solidFill>
                  <a:schemeClr val="lt1"/>
                </a:solidFill>
              </a:rPr>
              <a:t>amesh Sambangi</a:t>
            </a:r>
            <a:endParaRPr sz="29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900">
                <a:solidFill>
                  <a:schemeClr val="lt1"/>
                </a:solidFill>
              </a:rPr>
              <a:t>  EEE Department</a:t>
            </a:r>
            <a:endParaRPr sz="2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/>
          <p:nvPr>
            <p:ph idx="1" type="body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IN">
                <a:solidFill>
                  <a:srgbClr val="C66B5A"/>
                </a:solidFill>
              </a:rPr>
              <a:t>Inverter</a:t>
            </a:r>
            <a:endParaRPr>
              <a:solidFill>
                <a:srgbClr val="C66B5A"/>
              </a:solidFill>
            </a:endParaRPr>
          </a:p>
        </p:txBody>
      </p:sp>
      <p:sp>
        <p:nvSpPr>
          <p:cNvPr id="177" name="Google Shape;177;p31"/>
          <p:cNvSpPr txBox="1"/>
          <p:nvPr/>
        </p:nvSpPr>
        <p:spPr>
          <a:xfrm>
            <a:off x="841360" y="1489702"/>
            <a:ext cx="10501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8" name="Google Shape;178;p31"/>
          <p:cNvPicPr preferRelativeResize="0"/>
          <p:nvPr/>
        </p:nvPicPr>
        <p:blipFill rotWithShape="1">
          <a:blip r:embed="rId3">
            <a:alphaModFix/>
          </a:blip>
          <a:srcRect b="40532" l="0" r="68866" t="0"/>
          <a:stretch/>
        </p:blipFill>
        <p:spPr>
          <a:xfrm>
            <a:off x="4067135" y="1971699"/>
            <a:ext cx="2052875" cy="1635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1"/>
          <p:cNvSpPr txBox="1"/>
          <p:nvPr/>
        </p:nvSpPr>
        <p:spPr>
          <a:xfrm>
            <a:off x="1554275" y="4052078"/>
            <a:ext cx="954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</a:rPr>
              <a:t>An </a:t>
            </a:r>
            <a:r>
              <a:rPr b="1" lang="en-IN" sz="2000">
                <a:solidFill>
                  <a:schemeClr val="dk1"/>
                </a:solidFill>
              </a:rPr>
              <a:t>inverter</a:t>
            </a:r>
            <a:r>
              <a:rPr lang="en-IN" sz="2000">
                <a:solidFill>
                  <a:schemeClr val="dk1"/>
                </a:solidFill>
              </a:rPr>
              <a:t> is an electronic circuit that </a:t>
            </a:r>
            <a:r>
              <a:rPr b="1" lang="en-IN" sz="2000">
                <a:solidFill>
                  <a:schemeClr val="dk1"/>
                </a:solidFill>
              </a:rPr>
              <a:t>flips</a:t>
            </a:r>
            <a:r>
              <a:rPr lang="en-IN" sz="2000">
                <a:solidFill>
                  <a:schemeClr val="dk1"/>
                </a:solidFill>
              </a:rPr>
              <a:t> whatever signal it receives.</a:t>
            </a:r>
            <a:endParaRPr sz="2000"/>
          </a:p>
        </p:txBody>
      </p:sp>
      <p:sp>
        <p:nvSpPr>
          <p:cNvPr id="180" name="Google Shape;180;p31"/>
          <p:cNvSpPr txBox="1"/>
          <p:nvPr/>
        </p:nvSpPr>
        <p:spPr>
          <a:xfrm>
            <a:off x="3685641" y="2427120"/>
            <a:ext cx="609000" cy="7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</a:rPr>
              <a:t>A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81" name="Google Shape;181;p31"/>
          <p:cNvSpPr txBox="1"/>
          <p:nvPr/>
        </p:nvSpPr>
        <p:spPr>
          <a:xfrm>
            <a:off x="6230353" y="2478024"/>
            <a:ext cx="1239600" cy="7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</a:rPr>
              <a:t>Y = </a:t>
            </a:r>
            <a:r>
              <a:rPr lang="en-IN" sz="2800">
                <a:solidFill>
                  <a:schemeClr val="dk1"/>
                </a:solidFill>
              </a:rPr>
              <a:t>A</a:t>
            </a:r>
            <a:endParaRPr sz="2800">
              <a:solidFill>
                <a:schemeClr val="dk1"/>
              </a:solidFill>
            </a:endParaRPr>
          </a:p>
        </p:txBody>
      </p:sp>
      <p:cxnSp>
        <p:nvCxnSpPr>
          <p:cNvPr id="182" name="Google Shape;182;p31"/>
          <p:cNvCxnSpPr/>
          <p:nvPr/>
        </p:nvCxnSpPr>
        <p:spPr>
          <a:xfrm flipH="1" rot="10800000">
            <a:off x="6902103" y="2553152"/>
            <a:ext cx="411300" cy="1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83" name="Google Shape;183;p31"/>
          <p:cNvGraphicFramePr/>
          <p:nvPr/>
        </p:nvGraphicFramePr>
        <p:xfrm>
          <a:off x="9784775" y="22047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{0425A3DD-1160-4790-A75F-663CD4476C9B}</a:tableStyleId>
              </a:tblPr>
              <a:tblGrid>
                <a:gridCol w="976325"/>
                <a:gridCol w="976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4" name="Google Shape;184;p31"/>
          <p:cNvSpPr txBox="1"/>
          <p:nvPr/>
        </p:nvSpPr>
        <p:spPr>
          <a:xfrm>
            <a:off x="9970950" y="1798522"/>
            <a:ext cx="16128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</a:rPr>
              <a:t>Truth Table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/>
          <p:nvPr>
            <p:ph idx="1" type="body"/>
          </p:nvPr>
        </p:nvSpPr>
        <p:spPr>
          <a:xfrm>
            <a:off x="406400" y="152400"/>
            <a:ext cx="8432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IN">
                <a:solidFill>
                  <a:srgbClr val="C66B5A"/>
                </a:solidFill>
              </a:rPr>
              <a:t>CMOS inverter</a:t>
            </a:r>
            <a:endParaRPr>
              <a:solidFill>
                <a:srgbClr val="C66B5A"/>
              </a:solidFill>
            </a:endParaRPr>
          </a:p>
        </p:txBody>
      </p:sp>
      <p:sp>
        <p:nvSpPr>
          <p:cNvPr id="190" name="Google Shape;190;p32"/>
          <p:cNvSpPr txBox="1"/>
          <p:nvPr/>
        </p:nvSpPr>
        <p:spPr>
          <a:xfrm>
            <a:off x="4201831" y="2444034"/>
            <a:ext cx="64962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</a:rPr>
              <a:t>A CMOS inverter is the simplest and most important logic gate built using CMOS technology.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91" name="Google Shape;19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675" y="1727338"/>
            <a:ext cx="2992575" cy="355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2"/>
          <p:cNvPicPr preferRelativeResize="0"/>
          <p:nvPr/>
        </p:nvPicPr>
        <p:blipFill rotWithShape="1">
          <a:blip r:embed="rId4">
            <a:alphaModFix/>
          </a:blip>
          <a:srcRect b="40532" l="0" r="68866" t="0"/>
          <a:stretch/>
        </p:blipFill>
        <p:spPr>
          <a:xfrm>
            <a:off x="10114089" y="1156883"/>
            <a:ext cx="1434361" cy="1143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3" name="Google Shape;193;p32"/>
          <p:cNvGraphicFramePr/>
          <p:nvPr/>
        </p:nvGraphicFramePr>
        <p:xfrm>
          <a:off x="4838242" y="33250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{0425A3DD-1160-4790-A75F-663CD4476C9B}</a:tableStyleId>
              </a:tblPr>
              <a:tblGrid>
                <a:gridCol w="3114050"/>
                <a:gridCol w="3114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/>
                        <a:t>Feature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/>
                        <a:t>Explanation</a:t>
                      </a:r>
                      <a:endParaRPr b="1"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/>
                        <a:t>Very low power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Almost no current flows except during switching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/>
                        <a:t>High noise immunity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Stable and reliable operation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/>
                        <a:t>High speed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Fast switching due to complementary action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/>
                        <a:t>Compact design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Needs only two transistors per inverter</a:t>
                      </a:r>
                      <a:endParaRPr sz="1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4" name="Google Shape;194;p32"/>
          <p:cNvGraphicFramePr/>
          <p:nvPr/>
        </p:nvGraphicFramePr>
        <p:xfrm>
          <a:off x="244471" y="55249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{0425A3DD-1160-4790-A75F-663CD4476C9B}</a:tableStyleId>
              </a:tblPr>
              <a:tblGrid>
                <a:gridCol w="976325"/>
                <a:gridCol w="976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5" name="Google Shape;195;p32"/>
          <p:cNvSpPr txBox="1"/>
          <p:nvPr/>
        </p:nvSpPr>
        <p:spPr>
          <a:xfrm>
            <a:off x="430646" y="5118780"/>
            <a:ext cx="16128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</a:rPr>
              <a:t>Truth Table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3"/>
          <p:cNvSpPr txBox="1"/>
          <p:nvPr>
            <p:ph idx="1" type="body"/>
          </p:nvPr>
        </p:nvSpPr>
        <p:spPr>
          <a:xfrm>
            <a:off x="406400" y="152400"/>
            <a:ext cx="8432700" cy="114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188" y="4971850"/>
            <a:ext cx="10669626" cy="126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4174" y="1447800"/>
            <a:ext cx="9815749" cy="3371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4"/>
          <p:cNvSpPr txBox="1"/>
          <p:nvPr>
            <p:ph idx="1" type="body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IN">
                <a:solidFill>
                  <a:srgbClr val="C66B5A"/>
                </a:solidFill>
              </a:rPr>
              <a:t>CMOS Inverter</a:t>
            </a:r>
            <a:endParaRPr i="1">
              <a:solidFill>
                <a:srgbClr val="C66B5A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i="1" lang="en-IN">
                <a:solidFill>
                  <a:srgbClr val="C66B5A"/>
                </a:solidFill>
              </a:rPr>
              <a:t>First-Order DC Analysis</a:t>
            </a:r>
            <a:endParaRPr/>
          </a:p>
        </p:txBody>
      </p:sp>
      <p:sp>
        <p:nvSpPr>
          <p:cNvPr id="209" name="Google Shape;209;p34"/>
          <p:cNvSpPr txBox="1"/>
          <p:nvPr/>
        </p:nvSpPr>
        <p:spPr>
          <a:xfrm>
            <a:off x="406399" y="1565731"/>
            <a:ext cx="10879909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0" name="Google Shape;21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5650" y="1876875"/>
            <a:ext cx="4554774" cy="4403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5800" y="1997938"/>
            <a:ext cx="2992575" cy="355572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4"/>
          <p:cNvSpPr/>
          <p:nvPr/>
        </p:nvSpPr>
        <p:spPr>
          <a:xfrm>
            <a:off x="6821200" y="5890350"/>
            <a:ext cx="194700" cy="313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34"/>
          <p:cNvSpPr txBox="1"/>
          <p:nvPr/>
        </p:nvSpPr>
        <p:spPr>
          <a:xfrm>
            <a:off x="6745420" y="5672712"/>
            <a:ext cx="41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</a:rPr>
              <a:t>=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214" name="Google Shape;214;p34"/>
          <p:cNvSpPr/>
          <p:nvPr/>
        </p:nvSpPr>
        <p:spPr>
          <a:xfrm>
            <a:off x="9603799" y="5880392"/>
            <a:ext cx="194700" cy="313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4"/>
          <p:cNvSpPr txBox="1"/>
          <p:nvPr/>
        </p:nvSpPr>
        <p:spPr>
          <a:xfrm>
            <a:off x="9528019" y="5695226"/>
            <a:ext cx="41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</a:rPr>
              <a:t>=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5"/>
          <p:cNvSpPr txBox="1"/>
          <p:nvPr>
            <p:ph idx="1" type="body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>
                <a:solidFill>
                  <a:srgbClr val="C66B5A"/>
                </a:solidFill>
              </a:rPr>
              <a:t>CMOS Inverter: Transient Response</a:t>
            </a:r>
            <a:endParaRPr/>
          </a:p>
        </p:txBody>
      </p:sp>
      <p:sp>
        <p:nvSpPr>
          <p:cNvPr id="221" name="Google Shape;221;p35"/>
          <p:cNvSpPr txBox="1"/>
          <p:nvPr/>
        </p:nvSpPr>
        <p:spPr>
          <a:xfrm>
            <a:off x="718457" y="1907177"/>
            <a:ext cx="10411097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2" name="Google Shape;22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513" y="1387618"/>
            <a:ext cx="6525574" cy="5046301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5"/>
          <p:cNvSpPr txBox="1"/>
          <p:nvPr/>
        </p:nvSpPr>
        <p:spPr>
          <a:xfrm>
            <a:off x="7140900" y="2160350"/>
            <a:ext cx="3083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rgbClr val="000082"/>
                </a:solidFill>
              </a:rPr>
              <a:t>t</a:t>
            </a:r>
            <a:r>
              <a:rPr b="1" baseline="-25000" lang="en-IN" sz="3000">
                <a:solidFill>
                  <a:srgbClr val="000082"/>
                </a:solidFill>
              </a:rPr>
              <a:t>pLH</a:t>
            </a:r>
            <a:r>
              <a:rPr b="1" lang="en-IN" sz="2400">
                <a:solidFill>
                  <a:srgbClr val="000082"/>
                </a:solidFill>
              </a:rPr>
              <a:t> = 0.69 C</a:t>
            </a:r>
            <a:r>
              <a:rPr b="1" baseline="-25000" lang="en-IN" sz="3000">
                <a:solidFill>
                  <a:srgbClr val="000082"/>
                </a:solidFill>
              </a:rPr>
              <a:t>L</a:t>
            </a:r>
            <a:r>
              <a:rPr b="1" lang="en-IN" sz="2400">
                <a:solidFill>
                  <a:srgbClr val="000082"/>
                </a:solidFill>
              </a:rPr>
              <a:t>R</a:t>
            </a:r>
            <a:r>
              <a:rPr b="1" baseline="-25000" lang="en-IN" sz="3000">
                <a:solidFill>
                  <a:srgbClr val="000082"/>
                </a:solidFill>
              </a:rPr>
              <a:t>eqp</a:t>
            </a:r>
            <a:endParaRPr b="1" sz="2400">
              <a:solidFill>
                <a:srgbClr val="000082"/>
              </a:solidFill>
            </a:endParaRPr>
          </a:p>
        </p:txBody>
      </p:sp>
      <p:sp>
        <p:nvSpPr>
          <p:cNvPr id="224" name="Google Shape;224;p35"/>
          <p:cNvSpPr txBox="1"/>
          <p:nvPr/>
        </p:nvSpPr>
        <p:spPr>
          <a:xfrm>
            <a:off x="7182750" y="318195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rgbClr val="000082"/>
                </a:solidFill>
              </a:rPr>
              <a:t>t</a:t>
            </a:r>
            <a:r>
              <a:rPr b="1" baseline="-25000" lang="en-IN" sz="3000">
                <a:solidFill>
                  <a:srgbClr val="000082"/>
                </a:solidFill>
              </a:rPr>
              <a:t>pHL</a:t>
            </a:r>
            <a:r>
              <a:rPr b="1" lang="en-IN" sz="2400">
                <a:solidFill>
                  <a:srgbClr val="000082"/>
                </a:solidFill>
              </a:rPr>
              <a:t> = 0.69 C</a:t>
            </a:r>
            <a:r>
              <a:rPr b="1" baseline="-25000" lang="en-IN" sz="3000">
                <a:solidFill>
                  <a:srgbClr val="000082"/>
                </a:solidFill>
              </a:rPr>
              <a:t>L</a:t>
            </a:r>
            <a:r>
              <a:rPr b="1" lang="en-IN" sz="2400">
                <a:solidFill>
                  <a:srgbClr val="000082"/>
                </a:solidFill>
              </a:rPr>
              <a:t>R</a:t>
            </a:r>
            <a:r>
              <a:rPr b="1" baseline="-25000" lang="en-IN" sz="3000">
                <a:solidFill>
                  <a:srgbClr val="000082"/>
                </a:solidFill>
              </a:rPr>
              <a:t>eqn</a:t>
            </a:r>
            <a:endParaRPr b="1" sz="2400">
              <a:solidFill>
                <a:srgbClr val="00008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6"/>
          <p:cNvSpPr txBox="1"/>
          <p:nvPr>
            <p:ph idx="1" type="body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IN">
                <a:solidFill>
                  <a:srgbClr val="C66B5A"/>
                </a:solidFill>
              </a:rPr>
              <a:t>Contd.</a:t>
            </a:r>
            <a:endParaRPr>
              <a:solidFill>
                <a:srgbClr val="C66B5A"/>
              </a:solidFill>
            </a:endParaRPr>
          </a:p>
        </p:txBody>
      </p:sp>
      <p:pic>
        <p:nvPicPr>
          <p:cNvPr id="230" name="Google Shape;23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12825"/>
            <a:ext cx="6737500" cy="5446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6769" y="4498116"/>
            <a:ext cx="5953125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38199" y="1346301"/>
            <a:ext cx="3553801" cy="2748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7"/>
          <p:cNvSpPr txBox="1"/>
          <p:nvPr>
            <p:ph idx="1" type="body"/>
          </p:nvPr>
        </p:nvSpPr>
        <p:spPr>
          <a:xfrm>
            <a:off x="406400" y="152400"/>
            <a:ext cx="8432700" cy="114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 sz="4400">
                <a:solidFill>
                  <a:srgbClr val="C66B5A"/>
                </a:solidFill>
              </a:rPr>
              <a:t>Design for Performance</a:t>
            </a:r>
            <a:endParaRPr/>
          </a:p>
        </p:txBody>
      </p:sp>
      <p:pic>
        <p:nvPicPr>
          <p:cNvPr id="239" name="Google Shape;23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379" y="1491297"/>
            <a:ext cx="9836436" cy="525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8"/>
          <p:cNvSpPr txBox="1"/>
          <p:nvPr>
            <p:ph idx="1" type="body"/>
          </p:nvPr>
        </p:nvSpPr>
        <p:spPr>
          <a:xfrm>
            <a:off x="406400" y="-36086"/>
            <a:ext cx="8432700" cy="114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 sz="4400">
                <a:solidFill>
                  <a:srgbClr val="C66B5A"/>
                </a:solidFill>
              </a:rPr>
              <a:t>Delay as a function of V</a:t>
            </a:r>
            <a:r>
              <a:rPr baseline="-25000" i="1" lang="en-IN" sz="5200">
                <a:solidFill>
                  <a:srgbClr val="C66B5A"/>
                </a:solidFill>
              </a:rPr>
              <a:t>DD</a:t>
            </a:r>
            <a:endParaRPr sz="1500"/>
          </a:p>
        </p:txBody>
      </p:sp>
      <p:pic>
        <p:nvPicPr>
          <p:cNvPr id="246" name="Google Shape;246;p38"/>
          <p:cNvPicPr preferRelativeResize="0"/>
          <p:nvPr/>
        </p:nvPicPr>
        <p:blipFill rotWithShape="1">
          <a:blip r:embed="rId3">
            <a:alphaModFix/>
          </a:blip>
          <a:srcRect b="0" l="0" r="7261" t="4561"/>
          <a:stretch/>
        </p:blipFill>
        <p:spPr>
          <a:xfrm>
            <a:off x="406398" y="1426700"/>
            <a:ext cx="5432401" cy="419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0994" y="5616900"/>
            <a:ext cx="9144101" cy="91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9"/>
          <p:cNvSpPr txBox="1"/>
          <p:nvPr>
            <p:ph idx="1" type="body"/>
          </p:nvPr>
        </p:nvSpPr>
        <p:spPr>
          <a:xfrm>
            <a:off x="406400" y="152400"/>
            <a:ext cx="8432700" cy="114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 sz="4400">
                <a:solidFill>
                  <a:srgbClr val="C66B5A"/>
                </a:solidFill>
              </a:rPr>
              <a:t>Device Sizing</a:t>
            </a:r>
            <a:endParaRPr/>
          </a:p>
        </p:txBody>
      </p:sp>
      <p:pic>
        <p:nvPicPr>
          <p:cNvPr id="254" name="Google Shape;25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720" y="1404325"/>
            <a:ext cx="10096580" cy="5453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8874" y="1685323"/>
            <a:ext cx="4481550" cy="76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0"/>
          <p:cNvSpPr txBox="1"/>
          <p:nvPr>
            <p:ph idx="1" type="body"/>
          </p:nvPr>
        </p:nvSpPr>
        <p:spPr>
          <a:xfrm>
            <a:off x="406400" y="152400"/>
            <a:ext cx="8432700" cy="114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 sz="4400">
                <a:solidFill>
                  <a:srgbClr val="C66B5A"/>
                </a:solidFill>
              </a:rPr>
              <a:t>NMOS/PMOS ratio</a:t>
            </a:r>
            <a:endParaRPr/>
          </a:p>
        </p:txBody>
      </p:sp>
      <p:pic>
        <p:nvPicPr>
          <p:cNvPr id="262" name="Google Shape;26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886" y="1447800"/>
            <a:ext cx="9140053" cy="525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7849" y="4725573"/>
            <a:ext cx="4612050" cy="78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1"/>
          <p:cNvSpPr txBox="1"/>
          <p:nvPr>
            <p:ph idx="1" type="body"/>
          </p:nvPr>
        </p:nvSpPr>
        <p:spPr>
          <a:xfrm>
            <a:off x="406400" y="152400"/>
            <a:ext cx="8432700" cy="114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 sz="4400">
                <a:solidFill>
                  <a:srgbClr val="C66B5A"/>
                </a:solidFill>
              </a:rPr>
              <a:t>Power Dissipation</a:t>
            </a:r>
            <a:endParaRPr/>
          </a:p>
        </p:txBody>
      </p:sp>
      <p:sp>
        <p:nvSpPr>
          <p:cNvPr id="270" name="Google Shape;270;p41"/>
          <p:cNvSpPr txBox="1"/>
          <p:nvPr/>
        </p:nvSpPr>
        <p:spPr>
          <a:xfrm>
            <a:off x="739428" y="1638375"/>
            <a:ext cx="8890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700">
                <a:solidFill>
                  <a:schemeClr val="dk1"/>
                </a:solidFill>
              </a:rPr>
              <a:t>• Dynamic Power Consumption</a:t>
            </a:r>
            <a:endParaRPr b="1" sz="2700">
              <a:solidFill>
                <a:schemeClr val="dk1"/>
              </a:solidFill>
            </a:endParaRPr>
          </a:p>
        </p:txBody>
      </p:sp>
      <p:sp>
        <p:nvSpPr>
          <p:cNvPr id="271" name="Google Shape;271;p41"/>
          <p:cNvSpPr txBox="1"/>
          <p:nvPr/>
        </p:nvSpPr>
        <p:spPr>
          <a:xfrm>
            <a:off x="1246890" y="2304600"/>
            <a:ext cx="741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</a:rPr>
              <a:t>Charging and Discharging Capacitors</a:t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272" name="Google Shape;272;p41"/>
          <p:cNvSpPr txBox="1"/>
          <p:nvPr/>
        </p:nvSpPr>
        <p:spPr>
          <a:xfrm>
            <a:off x="811939" y="3088275"/>
            <a:ext cx="5831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700">
                <a:solidFill>
                  <a:schemeClr val="dk1"/>
                </a:solidFill>
              </a:rPr>
              <a:t>• Short Circuit Currents</a:t>
            </a:r>
            <a:endParaRPr b="1" sz="2700">
              <a:solidFill>
                <a:schemeClr val="dk1"/>
              </a:solidFill>
            </a:endParaRPr>
          </a:p>
        </p:txBody>
      </p:sp>
      <p:sp>
        <p:nvSpPr>
          <p:cNvPr id="273" name="Google Shape;273;p41"/>
          <p:cNvSpPr txBox="1"/>
          <p:nvPr/>
        </p:nvSpPr>
        <p:spPr>
          <a:xfrm>
            <a:off x="1333946" y="3697242"/>
            <a:ext cx="10369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</a:rPr>
              <a:t>Short Circuit Path between Supply Rails during Switching</a:t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274" name="Google Shape;274;p41"/>
          <p:cNvSpPr txBox="1"/>
          <p:nvPr/>
        </p:nvSpPr>
        <p:spPr>
          <a:xfrm>
            <a:off x="869937" y="4378681"/>
            <a:ext cx="3000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700">
                <a:solidFill>
                  <a:schemeClr val="dk1"/>
                </a:solidFill>
              </a:rPr>
              <a:t>• Leakage</a:t>
            </a:r>
            <a:endParaRPr b="1" sz="2700">
              <a:solidFill>
                <a:schemeClr val="dk1"/>
              </a:solidFill>
            </a:endParaRPr>
          </a:p>
        </p:txBody>
      </p:sp>
      <p:sp>
        <p:nvSpPr>
          <p:cNvPr id="275" name="Google Shape;275;p41"/>
          <p:cNvSpPr txBox="1"/>
          <p:nvPr/>
        </p:nvSpPr>
        <p:spPr>
          <a:xfrm>
            <a:off x="1406380" y="4857145"/>
            <a:ext cx="725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</a:rPr>
              <a:t>Leaking diodes and transistors</a:t>
            </a:r>
            <a:endParaRPr b="1"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2"/>
          <p:cNvSpPr txBox="1"/>
          <p:nvPr>
            <p:ph idx="1" type="body"/>
          </p:nvPr>
        </p:nvSpPr>
        <p:spPr>
          <a:xfrm>
            <a:off x="406400" y="152400"/>
            <a:ext cx="8432700" cy="114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 sz="4400">
                <a:solidFill>
                  <a:srgbClr val="C66B5A"/>
                </a:solidFill>
              </a:rPr>
              <a:t>Dynamic Power Dissipation</a:t>
            </a:r>
            <a:endParaRPr/>
          </a:p>
        </p:txBody>
      </p:sp>
      <p:pic>
        <p:nvPicPr>
          <p:cNvPr id="282" name="Google Shape;28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7350" y="1562100"/>
            <a:ext cx="6829425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7000" y="5100325"/>
            <a:ext cx="5880177" cy="12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3"/>
          <p:cNvSpPr txBox="1"/>
          <p:nvPr>
            <p:ph idx="1" type="body"/>
          </p:nvPr>
        </p:nvSpPr>
        <p:spPr>
          <a:xfrm>
            <a:off x="406400" y="152400"/>
            <a:ext cx="8432700" cy="114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IN" sz="4800">
                <a:solidFill>
                  <a:srgbClr val="C66B5A"/>
                </a:solidFill>
              </a:rPr>
              <a:t>Short Circuit Currents</a:t>
            </a:r>
            <a:endParaRPr i="1" sz="4800">
              <a:solidFill>
                <a:srgbClr val="C66B5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0" name="Google Shape;29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8776" y="1418800"/>
            <a:ext cx="5325099" cy="514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4"/>
          <p:cNvSpPr txBox="1"/>
          <p:nvPr>
            <p:ph idx="1" type="body"/>
          </p:nvPr>
        </p:nvSpPr>
        <p:spPr>
          <a:xfrm>
            <a:off x="406400" y="152400"/>
            <a:ext cx="8432700" cy="114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 sz="4400">
                <a:solidFill>
                  <a:srgbClr val="C66B5A"/>
                </a:solidFill>
              </a:rPr>
              <a:t>Leakage </a:t>
            </a:r>
            <a:endParaRPr/>
          </a:p>
        </p:txBody>
      </p:sp>
      <p:pic>
        <p:nvPicPr>
          <p:cNvPr id="297" name="Google Shape;29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900" y="1708540"/>
            <a:ext cx="5340392" cy="359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8350" y="1621787"/>
            <a:ext cx="6271250" cy="405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5"/>
          <p:cNvSpPr txBox="1"/>
          <p:nvPr>
            <p:ph idx="1" type="body"/>
          </p:nvPr>
        </p:nvSpPr>
        <p:spPr>
          <a:xfrm>
            <a:off x="406400" y="152400"/>
            <a:ext cx="8432700" cy="114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 sz="4400">
                <a:solidFill>
                  <a:srgbClr val="C66B5A"/>
                </a:solidFill>
              </a:rPr>
              <a:t>Principles for Power Reduction</a:t>
            </a:r>
            <a:endParaRPr/>
          </a:p>
        </p:txBody>
      </p:sp>
      <p:pic>
        <p:nvPicPr>
          <p:cNvPr id="305" name="Google Shape;30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2337" y="1230316"/>
            <a:ext cx="8720742" cy="5257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45"/>
          <p:cNvSpPr/>
          <p:nvPr/>
        </p:nvSpPr>
        <p:spPr>
          <a:xfrm>
            <a:off x="1554275" y="5384900"/>
            <a:ext cx="7284900" cy="1103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7" name="Google Shape;307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2970" y="5230815"/>
            <a:ext cx="5880177" cy="12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6"/>
          <p:cNvSpPr txBox="1"/>
          <p:nvPr>
            <p:ph idx="1" type="body"/>
          </p:nvPr>
        </p:nvSpPr>
        <p:spPr>
          <a:xfrm>
            <a:off x="406400" y="152400"/>
            <a:ext cx="8432700" cy="114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 sz="4000">
                <a:solidFill>
                  <a:srgbClr val="C66B5A"/>
                </a:solidFill>
              </a:rPr>
              <a:t>Combinational Logic Design</a:t>
            </a:r>
            <a:endParaRPr/>
          </a:p>
        </p:txBody>
      </p:sp>
      <p:pic>
        <p:nvPicPr>
          <p:cNvPr id="314" name="Google Shape;314;p46"/>
          <p:cNvPicPr preferRelativeResize="0"/>
          <p:nvPr/>
        </p:nvPicPr>
        <p:blipFill rotWithShape="1">
          <a:blip r:embed="rId3">
            <a:alphaModFix/>
          </a:blip>
          <a:srcRect b="0" l="0" r="52590" t="0"/>
          <a:stretch/>
        </p:blipFill>
        <p:spPr>
          <a:xfrm>
            <a:off x="1950250" y="2883625"/>
            <a:ext cx="5635574" cy="288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6175" y="3588999"/>
            <a:ext cx="2544425" cy="74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7"/>
          <p:cNvSpPr txBox="1"/>
          <p:nvPr>
            <p:ph idx="1" type="body"/>
          </p:nvPr>
        </p:nvSpPr>
        <p:spPr>
          <a:xfrm>
            <a:off x="406400" y="152400"/>
            <a:ext cx="8432700" cy="114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 sz="4400">
                <a:solidFill>
                  <a:srgbClr val="C66B5A"/>
                </a:solidFill>
              </a:rPr>
              <a:t>Static Complementary CMOS</a:t>
            </a:r>
            <a:endParaRPr/>
          </a:p>
        </p:txBody>
      </p:sp>
      <p:pic>
        <p:nvPicPr>
          <p:cNvPr id="322" name="Google Shape;32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2225" y="1360800"/>
            <a:ext cx="6924367" cy="525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8"/>
          <p:cNvSpPr txBox="1"/>
          <p:nvPr>
            <p:ph idx="1" type="body"/>
          </p:nvPr>
        </p:nvSpPr>
        <p:spPr>
          <a:xfrm>
            <a:off x="406400" y="152400"/>
            <a:ext cx="8432700" cy="114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 sz="4400">
                <a:solidFill>
                  <a:srgbClr val="C66B5A"/>
                </a:solidFill>
              </a:rPr>
              <a:t>Example Gate: NAND</a:t>
            </a:r>
            <a:endParaRPr/>
          </a:p>
        </p:txBody>
      </p:sp>
      <p:pic>
        <p:nvPicPr>
          <p:cNvPr id="329" name="Google Shape;32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1775" y="1433300"/>
            <a:ext cx="7490760" cy="525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9"/>
          <p:cNvSpPr txBox="1"/>
          <p:nvPr/>
        </p:nvSpPr>
        <p:spPr>
          <a:xfrm>
            <a:off x="4185669" y="2921168"/>
            <a:ext cx="3820661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